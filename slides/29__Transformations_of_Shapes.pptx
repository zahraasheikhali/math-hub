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9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1540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63840" y="1005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6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△  →  △</a:t>
            </a:r>
            <a:endParaRPr lang="en-US" sz="46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44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· Rotation · Reflection · Enlargement · Performing &amp; Describing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Transformations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jobs in every exam: PERFORM the transformation (draw the image) or DESCRIBE it fully.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needs specific details — miss one and you lose the mark.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— a slide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Rotation — a turn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— a flip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Enlargement — a resize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Describing fully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· image · vector · centre · mirror line · scale factor · congruent · similar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Describing: What You MUST State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NAME, then every detail.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transformation only — never write ‘reflect then translate’ for a single mark.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3383280" cy="50292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2286000"/>
            <a:ext cx="3163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114800" y="2286000"/>
            <a:ext cx="3931920" cy="50292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4224528" y="2286000"/>
            <a:ext cx="3712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must state…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8229600" y="2286000"/>
            <a:ext cx="3401568" cy="50292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8" name="Text 46"/>
          <p:cNvSpPr/>
          <p:nvPr/>
        </p:nvSpPr>
        <p:spPr>
          <a:xfrm>
            <a:off x="8339328" y="2286000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66928" y="2816352"/>
            <a:ext cx="3383280" cy="7315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3232" y="2816352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114800" y="2816352"/>
            <a:ext cx="3931920" cy="7315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61104" y="2816352"/>
            <a:ext cx="3639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column vector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8229600" y="2816352"/>
            <a:ext cx="3401568" cy="7315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75904" y="281635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vector (3, −2)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66928" y="3593592"/>
            <a:ext cx="3383280" cy="7315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3232" y="3593592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ROTATION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114800" y="3593592"/>
            <a:ext cx="3931920" cy="7315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261104" y="3593592"/>
            <a:ext cx="3639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 + direction + centre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8229600" y="3593592"/>
            <a:ext cx="3401568" cy="7315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375904" y="35935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90° clockwise about (0, 0)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566928" y="4370832"/>
            <a:ext cx="3383280" cy="7315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3232" y="4370832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4114800" y="4370832"/>
            <a:ext cx="3931920" cy="7315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61104" y="4370832"/>
            <a:ext cx="3639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mirror line (its equation)</a:t>
            </a:r>
            <a:endParaRPr lang="en-US" sz="1350" dirty="0"/>
          </a:p>
        </p:txBody>
      </p:sp>
      <p:sp>
        <p:nvSpPr>
          <p:cNvPr id="65" name="Shape 63"/>
          <p:cNvSpPr/>
          <p:nvPr/>
        </p:nvSpPr>
        <p:spPr>
          <a:xfrm>
            <a:off x="8229600" y="4370832"/>
            <a:ext cx="3401568" cy="7315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75904" y="43708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line x = 2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566928" y="5148072"/>
            <a:ext cx="3383280" cy="7315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3232" y="5148072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ENLARGEMENT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0" y="5148072"/>
            <a:ext cx="3931920" cy="7315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261104" y="5148072"/>
            <a:ext cx="3639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factor + centre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8229600" y="5148072"/>
            <a:ext cx="3401568" cy="7315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375904" y="5148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2, centre (1, 1)</a:t>
            </a:r>
            <a:endParaRPr lang="en-US" sz="1350" dirty="0"/>
          </a:p>
        </p:txBody>
      </p:sp>
      <p:sp>
        <p:nvSpPr>
          <p:cNvPr id="73" name="Text 71"/>
          <p:cNvSpPr/>
          <p:nvPr/>
        </p:nvSpPr>
        <p:spPr>
          <a:xfrm>
            <a:off x="566928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Translation, rotation and reflection keep the shape the SAME size (congruent). Enlargement changes the size (similar).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· PERFORMING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Every Corner the Same Way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triangle A by the vector (2, 5):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right, 5 up. Move each vertex, then join them up.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229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61722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506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8445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782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" y="55168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059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2960" y="51892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336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" y="48615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4612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45339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1165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2960" y="38785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442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2960" y="35509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19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32232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0995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" y="28956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72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22960" y="25679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548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2960" y="22402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6217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2331720" y="60807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4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2331720" y="57531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2771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2331720" y="5425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6047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331720" y="50977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9324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2331720" y="4770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22600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2331720" y="44424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9154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2331720" y="37871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32430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2331720" y="3459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35707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233172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38983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2331720" y="2804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2260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2331720" y="2476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5537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233172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4736592" y="42428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288036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3116580" y="4533900"/>
            <a:ext cx="655625" cy="982980"/>
          </a:xfrm>
          <a:custGeom>
            <a:avLst/>
            <a:gdLst/>
            <a:ahLst/>
            <a:cxnLst/>
            <a:rect l="l" t="t" r="r" b="b"/>
            <a:pathLst>
              <a:path w="655625" h="982980">
                <a:moveTo>
                  <a:pt x="0" y="982980"/>
                </a:moveTo>
                <a:lnTo>
                  <a:pt x="655625" y="982980"/>
                </a:lnTo>
                <a:lnTo>
                  <a:pt x="0" y="0"/>
                </a:lnTo>
                <a:close/>
              </a:path>
            </a:pathLst>
          </a:custGeom>
          <a:solidFill>
            <a:srgbClr val="E0AC2B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084576" y="515569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99" name="Shape 97"/>
          <p:cNvSpPr/>
          <p:nvPr/>
        </p:nvSpPr>
        <p:spPr>
          <a:xfrm>
            <a:off x="3771900" y="2895600"/>
            <a:ext cx="655625" cy="982980"/>
          </a:xfrm>
          <a:custGeom>
            <a:avLst/>
            <a:gdLst/>
            <a:ahLst/>
            <a:cxnLst/>
            <a:rect l="l" t="t" r="r" b="b"/>
            <a:pathLst>
              <a:path w="655625" h="982980">
                <a:moveTo>
                  <a:pt x="0" y="982980"/>
                </a:moveTo>
                <a:lnTo>
                  <a:pt x="655625" y="982980"/>
                </a:lnTo>
                <a:lnTo>
                  <a:pt x="0" y="0"/>
                </a:lnTo>
                <a:close/>
              </a:path>
            </a:pathLst>
          </a:custGeom>
          <a:solidFill>
            <a:srgbClr val="C84F2F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739896" y="351739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01" name="Shape 99"/>
          <p:cNvSpPr/>
          <p:nvPr/>
        </p:nvSpPr>
        <p:spPr>
          <a:xfrm>
            <a:off x="3116580" y="5516880"/>
            <a:ext cx="655320" cy="0"/>
          </a:xfrm>
          <a:prstGeom prst="line">
            <a:avLst/>
          </a:prstGeom>
          <a:noFill/>
          <a:ln w="25400">
            <a:solidFill>
              <a:srgbClr val="E0AC2B"/>
            </a:solidFill>
            <a:prstDash val="dash"/>
            <a:tailEnd type="triangle"/>
          </a:ln>
        </p:spPr>
      </p:sp>
      <p:sp>
        <p:nvSpPr>
          <p:cNvPr id="102" name="Shape 100"/>
          <p:cNvSpPr/>
          <p:nvPr/>
        </p:nvSpPr>
        <p:spPr>
          <a:xfrm>
            <a:off x="5577840" y="2194560"/>
            <a:ext cx="6053328" cy="3657600"/>
          </a:xfrm>
          <a:prstGeom prst="roundRect">
            <a:avLst>
              <a:gd name="adj" fmla="val 15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5943600" y="2432304"/>
            <a:ext cx="5321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column vector</a:t>
            </a:r>
            <a:endParaRPr lang="en-US" sz="1700" dirty="0"/>
          </a:p>
        </p:txBody>
      </p:sp>
      <p:sp>
        <p:nvSpPr>
          <p:cNvPr id="104" name="Shape 102"/>
          <p:cNvSpPr/>
          <p:nvPr/>
        </p:nvSpPr>
        <p:spPr>
          <a:xfrm>
            <a:off x="5897880" y="3035808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5" name="Text 103"/>
          <p:cNvSpPr/>
          <p:nvPr/>
        </p:nvSpPr>
        <p:spPr>
          <a:xfrm>
            <a:off x="6172200" y="289864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number = movement LEFT/RIGHT  (+ right, − left).</a:t>
            </a:r>
            <a:endParaRPr lang="en-US" sz="1350" dirty="0"/>
          </a:p>
        </p:txBody>
      </p:sp>
      <p:sp>
        <p:nvSpPr>
          <p:cNvPr id="106" name="Shape 104"/>
          <p:cNvSpPr/>
          <p:nvPr/>
        </p:nvSpPr>
        <p:spPr>
          <a:xfrm>
            <a:off x="5897880" y="363931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7" name="Text 105"/>
          <p:cNvSpPr/>
          <p:nvPr/>
        </p:nvSpPr>
        <p:spPr>
          <a:xfrm>
            <a:off x="6172200" y="350215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 number = movement UP/DOWN  (+ up, − down).</a:t>
            </a:r>
            <a:endParaRPr lang="en-US" sz="1350" dirty="0"/>
          </a:p>
        </p:txBody>
      </p:sp>
      <p:sp>
        <p:nvSpPr>
          <p:cNvPr id="108" name="Shape 106"/>
          <p:cNvSpPr/>
          <p:nvPr/>
        </p:nvSpPr>
        <p:spPr>
          <a:xfrm>
            <a:off x="5897880" y="4242816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9" name="Text 107"/>
          <p:cNvSpPr/>
          <p:nvPr/>
        </p:nvSpPr>
        <p:spPr>
          <a:xfrm>
            <a:off x="6172200" y="41056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 the vector is 2 across and 5 up.</a:t>
            </a:r>
            <a:endParaRPr lang="en-US" sz="1350" dirty="0"/>
          </a:p>
        </p:txBody>
      </p:sp>
      <p:sp>
        <p:nvSpPr>
          <p:cNvPr id="110" name="Shape 108"/>
          <p:cNvSpPr/>
          <p:nvPr/>
        </p:nvSpPr>
        <p:spPr>
          <a:xfrm>
            <a:off x="5897880" y="484632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1" name="Text 109"/>
          <p:cNvSpPr/>
          <p:nvPr/>
        </p:nvSpPr>
        <p:spPr>
          <a:xfrm>
            <a:off x="6172200" y="47091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vertex moves by exactly the same amount.</a:t>
            </a:r>
            <a:endParaRPr lang="en-US" sz="1350" dirty="0"/>
          </a:p>
        </p:txBody>
      </p:sp>
      <p:sp>
        <p:nvSpPr>
          <p:cNvPr id="112" name="Shape 110"/>
          <p:cNvSpPr/>
          <p:nvPr/>
        </p:nvSpPr>
        <p:spPr>
          <a:xfrm>
            <a:off x="5897880" y="5449824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3" name="Text 111"/>
          <p:cNvSpPr/>
          <p:nvPr/>
        </p:nvSpPr>
        <p:spPr>
          <a:xfrm>
            <a:off x="6172200" y="531266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image B is the same size and shape — congruent.</a:t>
            </a:r>
            <a:endParaRPr lang="en-US" sz="1350" dirty="0"/>
          </a:p>
        </p:txBody>
      </p:sp>
      <p:sp>
        <p:nvSpPr>
          <p:cNvPr id="114" name="Text 11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vector as a column: 2 on top, 5 underneath.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· DESCRIBING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from Object to Image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transformation that maps A onto B.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corner and count across, then up or down.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229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61722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506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8445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782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" y="55168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059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2960" y="51892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336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" y="48615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4612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45339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1165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2960" y="38785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442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2960" y="35509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19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32232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0995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" y="28956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72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22960" y="25679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548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2960" y="22402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6217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2331720" y="60807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4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2331720" y="57531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2771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2331720" y="5425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6047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331720" y="50977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9324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2331720" y="4770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22600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2331720" y="44424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9154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2331720" y="37871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32430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2331720" y="3459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35707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233172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38983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2331720" y="2804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2260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2331720" y="2476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5537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233172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4736592" y="42428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288036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1150620" y="2567940"/>
            <a:ext cx="655625" cy="982980"/>
          </a:xfrm>
          <a:custGeom>
            <a:avLst/>
            <a:gdLst/>
            <a:ahLst/>
            <a:cxnLst/>
            <a:rect l="l" t="t" r="r" b="b"/>
            <a:pathLst>
              <a:path w="655625" h="982980">
                <a:moveTo>
                  <a:pt x="0" y="982980"/>
                </a:moveTo>
                <a:lnTo>
                  <a:pt x="655625" y="982980"/>
                </a:lnTo>
                <a:lnTo>
                  <a:pt x="0" y="0"/>
                </a:lnTo>
                <a:close/>
              </a:path>
            </a:pathLst>
          </a:custGeom>
          <a:solidFill>
            <a:srgbClr val="E0AC2B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118616" y="318973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99" name="Shape 97"/>
          <p:cNvSpPr/>
          <p:nvPr/>
        </p:nvSpPr>
        <p:spPr>
          <a:xfrm>
            <a:off x="3444240" y="4533900"/>
            <a:ext cx="655625" cy="982980"/>
          </a:xfrm>
          <a:custGeom>
            <a:avLst/>
            <a:gdLst/>
            <a:ahLst/>
            <a:cxnLst/>
            <a:rect l="l" t="t" r="r" b="b"/>
            <a:pathLst>
              <a:path w="655625" h="982980">
                <a:moveTo>
                  <a:pt x="0" y="982980"/>
                </a:moveTo>
                <a:lnTo>
                  <a:pt x="655625" y="982980"/>
                </a:lnTo>
                <a:lnTo>
                  <a:pt x="0" y="0"/>
                </a:lnTo>
                <a:close/>
              </a:path>
            </a:pathLst>
          </a:custGeom>
          <a:solidFill>
            <a:srgbClr val="C84F2F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412236" y="515569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01" name="Shape 99"/>
          <p:cNvSpPr/>
          <p:nvPr/>
        </p:nvSpPr>
        <p:spPr>
          <a:xfrm>
            <a:off x="1150620" y="3550920"/>
            <a:ext cx="2293620" cy="1965960"/>
          </a:xfrm>
          <a:prstGeom prst="line">
            <a:avLst/>
          </a:prstGeom>
          <a:noFill/>
          <a:ln w="25400">
            <a:solidFill>
              <a:srgbClr val="E0AC2B"/>
            </a:solidFill>
            <a:prstDash val="dash"/>
            <a:tailEnd type="triangle"/>
          </a:ln>
        </p:spPr>
      </p:sp>
      <p:sp>
        <p:nvSpPr>
          <p:cNvPr id="102" name="Shape 100"/>
          <p:cNvSpPr/>
          <p:nvPr/>
        </p:nvSpPr>
        <p:spPr>
          <a:xfrm>
            <a:off x="5577840" y="2194560"/>
            <a:ext cx="6053328" cy="3657600"/>
          </a:xfrm>
          <a:prstGeom prst="roundRect">
            <a:avLst>
              <a:gd name="adj" fmla="val 15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5943600" y="2432304"/>
            <a:ext cx="5321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describe it</a:t>
            </a:r>
            <a:endParaRPr lang="en-US" sz="1700" dirty="0"/>
          </a:p>
        </p:txBody>
      </p:sp>
      <p:sp>
        <p:nvSpPr>
          <p:cNvPr id="104" name="Shape 102"/>
          <p:cNvSpPr/>
          <p:nvPr/>
        </p:nvSpPr>
        <p:spPr>
          <a:xfrm>
            <a:off x="5897880" y="3035808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5" name="Text 103"/>
          <p:cNvSpPr/>
          <p:nvPr/>
        </p:nvSpPr>
        <p:spPr>
          <a:xfrm>
            <a:off x="6172200" y="289864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a corner of A and the MATCHING corner of B.</a:t>
            </a:r>
            <a:endParaRPr lang="en-US" sz="1350" dirty="0"/>
          </a:p>
        </p:txBody>
      </p:sp>
      <p:sp>
        <p:nvSpPr>
          <p:cNvPr id="106" name="Shape 104"/>
          <p:cNvSpPr/>
          <p:nvPr/>
        </p:nvSpPr>
        <p:spPr>
          <a:xfrm>
            <a:off x="5897880" y="363931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7" name="Text 105"/>
          <p:cNvSpPr/>
          <p:nvPr/>
        </p:nvSpPr>
        <p:spPr>
          <a:xfrm>
            <a:off x="6172200" y="350215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(−5, 2) to (2, −4):  7 right, 6 down.</a:t>
            </a:r>
            <a:endParaRPr lang="en-US" sz="1350" dirty="0"/>
          </a:p>
        </p:txBody>
      </p:sp>
      <p:sp>
        <p:nvSpPr>
          <p:cNvPr id="108" name="Shape 106"/>
          <p:cNvSpPr/>
          <p:nvPr/>
        </p:nvSpPr>
        <p:spPr>
          <a:xfrm>
            <a:off x="5897880" y="4242816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9" name="Text 107"/>
          <p:cNvSpPr/>
          <p:nvPr/>
        </p:nvSpPr>
        <p:spPr>
          <a:xfrm>
            <a:off x="6172200" y="41056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Answer: a TRANSLATION by the vector (7, −6).</a:t>
            </a:r>
            <a:endParaRPr lang="en-US" sz="1350" dirty="0"/>
          </a:p>
        </p:txBody>
      </p:sp>
      <p:sp>
        <p:nvSpPr>
          <p:cNvPr id="110" name="Shape 108"/>
          <p:cNvSpPr/>
          <p:nvPr/>
        </p:nvSpPr>
        <p:spPr>
          <a:xfrm>
            <a:off x="5897880" y="484632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1" name="Text 109"/>
          <p:cNvSpPr/>
          <p:nvPr/>
        </p:nvSpPr>
        <p:spPr>
          <a:xfrm>
            <a:off x="6172200" y="47091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 and left are NEGATIVE.</a:t>
            </a:r>
            <a:endParaRPr lang="en-US" sz="1350" dirty="0"/>
          </a:p>
        </p:txBody>
      </p:sp>
      <p:sp>
        <p:nvSpPr>
          <p:cNvPr id="112" name="Shape 110"/>
          <p:cNvSpPr/>
          <p:nvPr/>
        </p:nvSpPr>
        <p:spPr>
          <a:xfrm>
            <a:off x="5897880" y="5449824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3" name="Text 111"/>
          <p:cNvSpPr/>
          <p:nvPr/>
        </p:nvSpPr>
        <p:spPr>
          <a:xfrm>
            <a:off x="6172200" y="531266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‘translation’ and give the vector — both are needed.</a:t>
            </a:r>
            <a:endParaRPr lang="en-US" sz="1350" dirty="0"/>
          </a:p>
        </p:txBody>
      </p:sp>
      <p:sp>
        <p:nvSpPr>
          <p:cNvPr id="114" name="Text 11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say ‘moved’ — the exam wants the word TRANSLATION and the vector.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· PERFORMING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About a Centre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triangle A 90° clockwise about the origin (0, 0).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tracing paper if it helps.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229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61722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506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8445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782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" y="55168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059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2960" y="51892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336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" y="48615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4612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45339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1165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2960" y="38785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442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2960" y="35509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19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32232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0995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" y="28956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72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22960" y="25679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548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2960" y="22402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6217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2331720" y="60807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4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2331720" y="57531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2771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2331720" y="5425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6047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331720" y="50977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9324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2331720" y="4770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22600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2331720" y="44424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9154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2331720" y="37871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32430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2331720" y="3459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35707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233172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38983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2331720" y="2804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2260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2331720" y="2476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5537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233172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4736592" y="42428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288036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3116580" y="2567940"/>
            <a:ext cx="655625" cy="982980"/>
          </a:xfrm>
          <a:custGeom>
            <a:avLst/>
            <a:gdLst/>
            <a:ahLst/>
            <a:cxnLst/>
            <a:rect l="l" t="t" r="r" b="b"/>
            <a:pathLst>
              <a:path w="655625" h="982980">
                <a:moveTo>
                  <a:pt x="0" y="982980"/>
                </a:moveTo>
                <a:lnTo>
                  <a:pt x="655625" y="982980"/>
                </a:lnTo>
                <a:lnTo>
                  <a:pt x="0" y="0"/>
                </a:lnTo>
                <a:close/>
              </a:path>
            </a:pathLst>
          </a:custGeom>
          <a:solidFill>
            <a:srgbClr val="E0AC2B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084576" y="318973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99" name="Shape 97"/>
          <p:cNvSpPr/>
          <p:nvPr/>
        </p:nvSpPr>
        <p:spPr>
          <a:xfrm>
            <a:off x="3444240" y="4533900"/>
            <a:ext cx="982980" cy="655625"/>
          </a:xfrm>
          <a:custGeom>
            <a:avLst/>
            <a:gdLst/>
            <a:ahLst/>
            <a:cxnLst/>
            <a:rect l="l" t="t" r="r" b="b"/>
            <a:pathLst>
              <a:path w="982980" h="655625">
                <a:moveTo>
                  <a:pt x="0" y="0"/>
                </a:moveTo>
                <a:lnTo>
                  <a:pt x="0" y="655625"/>
                </a:lnTo>
                <a:lnTo>
                  <a:pt x="982980" y="0"/>
                </a:lnTo>
                <a:close/>
              </a:path>
            </a:pathLst>
          </a:custGeom>
          <a:solidFill>
            <a:srgbClr val="C84F2F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412236" y="456590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01" name="Shape 99"/>
          <p:cNvSpPr/>
          <p:nvPr/>
        </p:nvSpPr>
        <p:spPr>
          <a:xfrm>
            <a:off x="2724912" y="4142232"/>
            <a:ext cx="128016" cy="128016"/>
          </a:xfrm>
          <a:prstGeom prst="ellipse">
            <a:avLst/>
          </a:prstGeom>
          <a:solidFill>
            <a:srgbClr val="C84F2F"/>
          </a:solidFill>
          <a:ln w="12700">
            <a:solidFill>
              <a:srgbClr val="1C2A2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880360" y="38953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(0,0)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5577840" y="2194560"/>
            <a:ext cx="6053328" cy="3657600"/>
          </a:xfrm>
          <a:prstGeom prst="roundRect">
            <a:avLst>
              <a:gd name="adj" fmla="val 15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5943600" y="2432304"/>
            <a:ext cx="5321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things you need</a:t>
            </a:r>
            <a:endParaRPr lang="en-US" sz="1700" dirty="0"/>
          </a:p>
        </p:txBody>
      </p:sp>
      <p:sp>
        <p:nvSpPr>
          <p:cNvPr id="105" name="Shape 103"/>
          <p:cNvSpPr/>
          <p:nvPr/>
        </p:nvSpPr>
        <p:spPr>
          <a:xfrm>
            <a:off x="5897880" y="3035808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6" name="Text 104"/>
          <p:cNvSpPr/>
          <p:nvPr/>
        </p:nvSpPr>
        <p:spPr>
          <a:xfrm>
            <a:off x="6172200" y="289864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ANGLE: 90°, 180° or 270°.</a:t>
            </a:r>
            <a:endParaRPr lang="en-US" sz="1350" dirty="0"/>
          </a:p>
        </p:txBody>
      </p:sp>
      <p:sp>
        <p:nvSpPr>
          <p:cNvPr id="107" name="Shape 105"/>
          <p:cNvSpPr/>
          <p:nvPr/>
        </p:nvSpPr>
        <p:spPr>
          <a:xfrm>
            <a:off x="5897880" y="363931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8" name="Text 106"/>
          <p:cNvSpPr/>
          <p:nvPr/>
        </p:nvSpPr>
        <p:spPr>
          <a:xfrm>
            <a:off x="6172200" y="350215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DIRECTION: clockwise or anticlockwise.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5897880" y="4242816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0" name="Text 108"/>
          <p:cNvSpPr/>
          <p:nvPr/>
        </p:nvSpPr>
        <p:spPr>
          <a:xfrm>
            <a:off x="6172200" y="41056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CENTRE: the point it turns about.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5897880" y="484632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2" name="Text 110"/>
          <p:cNvSpPr/>
          <p:nvPr/>
        </p:nvSpPr>
        <p:spPr>
          <a:xfrm>
            <a:off x="6172200" y="47091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Coordinate rule (90° clockwise about O):  (x, y) → (y, −x).</a:t>
            </a:r>
            <a:endParaRPr lang="en-US" sz="1350" dirty="0"/>
          </a:p>
        </p:txBody>
      </p:sp>
      <p:sp>
        <p:nvSpPr>
          <p:cNvPr id="113" name="Shape 111"/>
          <p:cNvSpPr/>
          <p:nvPr/>
        </p:nvSpPr>
        <p:spPr>
          <a:xfrm>
            <a:off x="5897880" y="5449824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4" name="Text 112"/>
          <p:cNvSpPr/>
          <p:nvPr/>
        </p:nvSpPr>
        <p:spPr>
          <a:xfrm>
            <a:off x="6172200" y="531266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180°:  (x, y) → (−x, −y)  — direction does not matter.</a:t>
            </a:r>
            <a:endParaRPr lang="en-US" sz="1350" dirty="0"/>
          </a:p>
        </p:txBody>
      </p:sp>
      <p:sp>
        <p:nvSpPr>
          <p:cNvPr id="115" name="Text 113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paper: trace the shape, put your pencil on the centre, and turn.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· DESCRIBING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Angle, Direction &amp; Centre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details or no marks.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centre with tracing paper — the point that stays still.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40280"/>
            <a:ext cx="5440680" cy="3291840"/>
          </a:xfrm>
          <a:prstGeom prst="roundRect">
            <a:avLst>
              <a:gd name="adj" fmla="val 1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4780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about the origin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971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90° clockwise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291840" y="29718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(x, y) → (y, −x)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14400" y="36850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90° anticlockwise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3291840" y="36850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(x, y) → (−y, x)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14400" y="4398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180° (either way)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3291840" y="4398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(x, y) → (−x, −y)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914400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270° clockwise = 90° anticlockwise.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6190488" y="2240280"/>
            <a:ext cx="5440680" cy="3291840"/>
          </a:xfrm>
          <a:prstGeom prst="roundRect">
            <a:avLst>
              <a:gd name="adj" fmla="val 1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556248" y="24780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Describing — the checklist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6492240" y="304495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0" y="2926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the word ROTATION.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6492240" y="354787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6766560" y="3429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the ANGLE (90°, 180°…).</a:t>
            </a:r>
            <a:endParaRPr lang="en-US" sz="1350" dirty="0"/>
          </a:p>
        </p:txBody>
      </p:sp>
      <p:sp>
        <p:nvSpPr>
          <p:cNvPr id="58" name="Shape 56"/>
          <p:cNvSpPr/>
          <p:nvPr/>
        </p:nvSpPr>
        <p:spPr>
          <a:xfrm>
            <a:off x="6492240" y="405079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9" name="Text 57"/>
          <p:cNvSpPr/>
          <p:nvPr/>
        </p:nvSpPr>
        <p:spPr>
          <a:xfrm>
            <a:off x="6766560" y="3931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the DIRECTION (clockwise / anticlockwise).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6492240" y="455371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676656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the CENTRE as coordinates.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6492240" y="505663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3" name="Text 61"/>
          <p:cNvSpPr/>
          <p:nvPr/>
        </p:nvSpPr>
        <p:spPr>
          <a:xfrm>
            <a:off x="6766560" y="49377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180° needs no direction.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566928" y="56692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841248" y="56692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‘Rotation of 90° clockwise about (0, 0)’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· PERFORMING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in the Mirror Line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triangle A in the y-axis (the line x = 0).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stays the same distance from the mirror, on the other side.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229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61722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506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8445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782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" y="55168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059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2960" y="51892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336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" y="48615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4612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45339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1165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2960" y="38785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442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2960" y="35509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19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32232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0995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" y="28956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72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22960" y="25679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548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2960" y="22402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6217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2331720" y="60807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4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2331720" y="57531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2771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2331720" y="5425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6047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331720" y="50977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9324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2331720" y="4770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22600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2331720" y="44424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9154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2331720" y="37871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32430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2331720" y="3459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35707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233172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38983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2331720" y="2804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2260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2331720" y="2476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5537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233172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4736592" y="42428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288036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3116580" y="3223260"/>
            <a:ext cx="982980" cy="655625"/>
          </a:xfrm>
          <a:custGeom>
            <a:avLst/>
            <a:gdLst/>
            <a:ahLst/>
            <a:cxnLst/>
            <a:rect l="l" t="t" r="r" b="b"/>
            <a:pathLst>
              <a:path w="982980" h="655625">
                <a:moveTo>
                  <a:pt x="0" y="655625"/>
                </a:moveTo>
                <a:lnTo>
                  <a:pt x="982980" y="655625"/>
                </a:lnTo>
                <a:lnTo>
                  <a:pt x="0" y="0"/>
                </a:lnTo>
                <a:close/>
              </a:path>
            </a:pathLst>
          </a:custGeom>
          <a:solidFill>
            <a:srgbClr val="E0AC2B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182874" y="351739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99" name="Shape 97"/>
          <p:cNvSpPr/>
          <p:nvPr/>
        </p:nvSpPr>
        <p:spPr>
          <a:xfrm>
            <a:off x="1478280" y="3223260"/>
            <a:ext cx="982980" cy="655625"/>
          </a:xfrm>
          <a:custGeom>
            <a:avLst/>
            <a:gdLst/>
            <a:ahLst/>
            <a:cxnLst/>
            <a:rect l="l" t="t" r="r" b="b"/>
            <a:pathLst>
              <a:path w="982980" h="655625">
                <a:moveTo>
                  <a:pt x="982980" y="655625"/>
                </a:moveTo>
                <a:lnTo>
                  <a:pt x="0" y="655625"/>
                </a:lnTo>
                <a:lnTo>
                  <a:pt x="982980" y="0"/>
                </a:lnTo>
                <a:close/>
              </a:path>
            </a:pathLst>
          </a:custGeom>
          <a:solidFill>
            <a:srgbClr val="C84F2F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937766" y="351739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01" name="Shape 99"/>
          <p:cNvSpPr/>
          <p:nvPr/>
        </p:nvSpPr>
        <p:spPr>
          <a:xfrm>
            <a:off x="5577840" y="2194560"/>
            <a:ext cx="6053328" cy="3657600"/>
          </a:xfrm>
          <a:prstGeom prst="roundRect">
            <a:avLst>
              <a:gd name="adj" fmla="val 15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5943600" y="2432304"/>
            <a:ext cx="5321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 lines you must know</a:t>
            </a:r>
            <a:endParaRPr lang="en-US" sz="1700" dirty="0"/>
          </a:p>
        </p:txBody>
      </p:sp>
      <p:sp>
        <p:nvSpPr>
          <p:cNvPr id="103" name="Shape 101"/>
          <p:cNvSpPr/>
          <p:nvPr/>
        </p:nvSpPr>
        <p:spPr>
          <a:xfrm>
            <a:off x="5897880" y="3035808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72200" y="289864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x-axis  →  the line  y = 0        (x, y) → (x, −y)</a:t>
            </a:r>
            <a:endParaRPr lang="en-US" sz="1350" dirty="0"/>
          </a:p>
        </p:txBody>
      </p:sp>
      <p:sp>
        <p:nvSpPr>
          <p:cNvPr id="105" name="Shape 103"/>
          <p:cNvSpPr/>
          <p:nvPr/>
        </p:nvSpPr>
        <p:spPr>
          <a:xfrm>
            <a:off x="5897880" y="363931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6" name="Text 104"/>
          <p:cNvSpPr/>
          <p:nvPr/>
        </p:nvSpPr>
        <p:spPr>
          <a:xfrm>
            <a:off x="6172200" y="350215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y-axis  →  the line  x = 0        (x, y) → (−x, y)</a:t>
            </a:r>
            <a:endParaRPr lang="en-US" sz="1350" dirty="0"/>
          </a:p>
        </p:txBody>
      </p:sp>
      <p:sp>
        <p:nvSpPr>
          <p:cNvPr id="107" name="Shape 105"/>
          <p:cNvSpPr/>
          <p:nvPr/>
        </p:nvSpPr>
        <p:spPr>
          <a:xfrm>
            <a:off x="5897880" y="4242816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8" name="Text 106"/>
          <p:cNvSpPr/>
          <p:nvPr/>
        </p:nvSpPr>
        <p:spPr>
          <a:xfrm>
            <a:off x="6172200" y="41056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line  y = x                   (x, y) → (y, x)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5897880" y="484632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0" name="Text 108"/>
          <p:cNvSpPr/>
          <p:nvPr/>
        </p:nvSpPr>
        <p:spPr>
          <a:xfrm>
            <a:off x="6172200" y="47091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line  y = −x                  (x, y) → (−y, −x)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5897880" y="5449824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2" name="Text 110"/>
          <p:cNvSpPr/>
          <p:nvPr/>
        </p:nvSpPr>
        <p:spPr>
          <a:xfrm>
            <a:off x="6172200" y="531266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x = 2, y = 3 and so on — count squares across.</a:t>
            </a:r>
            <a:endParaRPr lang="en-US" sz="1350" dirty="0"/>
          </a:p>
        </p:txBody>
      </p:sp>
      <p:sp>
        <p:nvSpPr>
          <p:cNvPr id="113" name="Text 111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perpendicular to the mirror: same distance the other side.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· DESCRIBING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Mirror Line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transformation mapping A onto B.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mirror line sits exactly halfway between them.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229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61722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506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8445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782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" y="55168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059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2960" y="51892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336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" y="48615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4612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45339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1165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2960" y="38785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442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2960" y="35509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19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32232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0995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" y="28956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72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22960" y="25679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548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2960" y="22402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6217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2331720" y="60807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4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2331720" y="57531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2771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2331720" y="5425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6047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331720" y="50977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9324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2331720" y="4770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22600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2331720" y="44424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9154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2331720" y="37871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32430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2331720" y="3459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35707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233172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38983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2331720" y="2804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2260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2331720" y="2476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5537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233172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4736592" y="42428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288036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3116580" y="2895600"/>
            <a:ext cx="655625" cy="982980"/>
          </a:xfrm>
          <a:custGeom>
            <a:avLst/>
            <a:gdLst/>
            <a:ahLst/>
            <a:cxnLst/>
            <a:rect l="l" t="t" r="r" b="b"/>
            <a:pathLst>
              <a:path w="655625" h="982980">
                <a:moveTo>
                  <a:pt x="0" y="982980"/>
                </a:moveTo>
                <a:lnTo>
                  <a:pt x="655625" y="982980"/>
                </a:lnTo>
                <a:lnTo>
                  <a:pt x="0" y="0"/>
                </a:lnTo>
                <a:close/>
              </a:path>
            </a:pathLst>
          </a:custGeom>
          <a:solidFill>
            <a:srgbClr val="E0AC2B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117342" y="348462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99" name="Shape 97"/>
          <p:cNvSpPr/>
          <p:nvPr/>
        </p:nvSpPr>
        <p:spPr>
          <a:xfrm>
            <a:off x="3116580" y="3878580"/>
            <a:ext cx="655625" cy="982980"/>
          </a:xfrm>
          <a:custGeom>
            <a:avLst/>
            <a:gdLst/>
            <a:ahLst/>
            <a:cxnLst/>
            <a:rect l="l" t="t" r="r" b="b"/>
            <a:pathLst>
              <a:path w="655625" h="982980">
                <a:moveTo>
                  <a:pt x="0" y="0"/>
                </a:moveTo>
                <a:lnTo>
                  <a:pt x="655625" y="0"/>
                </a:lnTo>
                <a:lnTo>
                  <a:pt x="0" y="982980"/>
                </a:lnTo>
                <a:close/>
              </a:path>
            </a:pathLst>
          </a:custGeom>
          <a:solidFill>
            <a:srgbClr val="C84F2F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117342" y="397611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01" name="Shape 99"/>
          <p:cNvSpPr/>
          <p:nvPr/>
        </p:nvSpPr>
        <p:spPr>
          <a:xfrm>
            <a:off x="822960" y="3878580"/>
            <a:ext cx="393192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dash"/>
          </a:ln>
        </p:spPr>
      </p:sp>
      <p:sp>
        <p:nvSpPr>
          <p:cNvPr id="102" name="Text 100"/>
          <p:cNvSpPr/>
          <p:nvPr/>
        </p:nvSpPr>
        <p:spPr>
          <a:xfrm>
            <a:off x="4165092" y="35859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1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5577840" y="2194560"/>
            <a:ext cx="6053328" cy="3657600"/>
          </a:xfrm>
          <a:prstGeom prst="roundRect">
            <a:avLst>
              <a:gd name="adj" fmla="val 15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5943600" y="2432304"/>
            <a:ext cx="5321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find it</a:t>
            </a:r>
            <a:endParaRPr lang="en-US" sz="1700" dirty="0"/>
          </a:p>
        </p:txBody>
      </p:sp>
      <p:sp>
        <p:nvSpPr>
          <p:cNvPr id="105" name="Shape 103"/>
          <p:cNvSpPr/>
          <p:nvPr/>
        </p:nvSpPr>
        <p:spPr>
          <a:xfrm>
            <a:off x="5897880" y="3035808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6" name="Text 104"/>
          <p:cNvSpPr/>
          <p:nvPr/>
        </p:nvSpPr>
        <p:spPr>
          <a:xfrm>
            <a:off x="6172200" y="289864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a point to its image; the mirror crosses the middle at 90°.</a:t>
            </a:r>
            <a:endParaRPr lang="en-US" sz="1350" dirty="0"/>
          </a:p>
        </p:txBody>
      </p:sp>
      <p:sp>
        <p:nvSpPr>
          <p:cNvPr id="107" name="Shape 105"/>
          <p:cNvSpPr/>
          <p:nvPr/>
        </p:nvSpPr>
        <p:spPr>
          <a:xfrm>
            <a:off x="5897880" y="363931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8" name="Text 106"/>
          <p:cNvSpPr/>
          <p:nvPr/>
        </p:nvSpPr>
        <p:spPr>
          <a:xfrm>
            <a:off x="6172200" y="350215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 every point is the same distance above/below y = 1.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5897880" y="4242816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0" name="Text 108"/>
          <p:cNvSpPr/>
          <p:nvPr/>
        </p:nvSpPr>
        <p:spPr>
          <a:xfrm>
            <a:off x="6172200" y="41056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Answer: a REFLECTION in the line y = 1.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5897880" y="484632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2" name="Text 110"/>
          <p:cNvSpPr/>
          <p:nvPr/>
        </p:nvSpPr>
        <p:spPr>
          <a:xfrm>
            <a:off x="6172200" y="47091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give the EQUATION of the mirror line.</a:t>
            </a:r>
            <a:endParaRPr lang="en-US" sz="1350" dirty="0"/>
          </a:p>
        </p:txBody>
      </p:sp>
      <p:sp>
        <p:nvSpPr>
          <p:cNvPr id="113" name="Shape 111"/>
          <p:cNvSpPr/>
          <p:nvPr/>
        </p:nvSpPr>
        <p:spPr>
          <a:xfrm>
            <a:off x="5897880" y="5449824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4" name="Text 112"/>
          <p:cNvSpPr/>
          <p:nvPr/>
        </p:nvSpPr>
        <p:spPr>
          <a:xfrm>
            <a:off x="6172200" y="531266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‘Reflected in a horizontal line’ is not enough.</a:t>
            </a:r>
            <a:endParaRPr lang="en-US" sz="1350" dirty="0"/>
          </a:p>
        </p:txBody>
      </p:sp>
      <p:sp>
        <p:nvSpPr>
          <p:cNvPr id="115" name="Text 113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REFLECTION and the equation of the mirror line — both are needed.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ENLARGEMENT · PERFORMING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Factor and Centre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 triangle A by scale factor 2, centre (0, 0).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from the centre are multiplied by 2.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229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61722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506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8445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782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2960" y="55168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059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2960" y="51892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336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" y="48615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4612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45339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1165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2960" y="38785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4424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2960" y="355092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190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322326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09956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" y="289560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722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22960" y="256794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54880" y="2240280"/>
            <a:ext cx="0" cy="393192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2960" y="2240280"/>
            <a:ext cx="39319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2960" y="4206240"/>
            <a:ext cx="393192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2788920" y="2240280"/>
            <a:ext cx="0" cy="393192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6217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2331720" y="60807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4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2331720" y="57531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2771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2331720" y="54254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6047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331720" y="50977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19324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2331720" y="4770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22600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2331720" y="44424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9154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2331720" y="37871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324307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2331720" y="3459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357073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233172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389839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2331720" y="2804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22605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2331720" y="2476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553712" y="425196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233172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4736592" y="42428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288036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3444240" y="2240280"/>
            <a:ext cx="655625" cy="1310335"/>
          </a:xfrm>
          <a:custGeom>
            <a:avLst/>
            <a:gdLst/>
            <a:ahLst/>
            <a:cxnLst/>
            <a:rect l="l" t="t" r="r" b="b"/>
            <a:pathLst>
              <a:path w="655625" h="1310335">
                <a:moveTo>
                  <a:pt x="0" y="1310335"/>
                </a:moveTo>
                <a:lnTo>
                  <a:pt x="655625" y="1310335"/>
                </a:lnTo>
                <a:lnTo>
                  <a:pt x="0" y="0"/>
                </a:lnTo>
                <a:close/>
              </a:path>
            </a:pathLst>
          </a:custGeom>
          <a:solidFill>
            <a:srgbClr val="C84F2F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543300" y="318973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99" name="Shape 97"/>
          <p:cNvSpPr/>
          <p:nvPr/>
        </p:nvSpPr>
        <p:spPr>
          <a:xfrm>
            <a:off x="3116580" y="3223260"/>
            <a:ext cx="327355" cy="655625"/>
          </a:xfrm>
          <a:custGeom>
            <a:avLst/>
            <a:gdLst/>
            <a:ahLst/>
            <a:cxnLst/>
            <a:rect l="l" t="t" r="r" b="b"/>
            <a:pathLst>
              <a:path w="327355" h="655625">
                <a:moveTo>
                  <a:pt x="0" y="655625"/>
                </a:moveTo>
                <a:lnTo>
                  <a:pt x="327355" y="655625"/>
                </a:lnTo>
                <a:lnTo>
                  <a:pt x="0" y="0"/>
                </a:lnTo>
                <a:close/>
              </a:path>
            </a:pathLst>
          </a:custGeom>
          <a:solidFill>
            <a:srgbClr val="E0AC2B">
              <a:alpha val="5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019044" y="355015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101" name="Shape 99"/>
          <p:cNvSpPr/>
          <p:nvPr/>
        </p:nvSpPr>
        <p:spPr>
          <a:xfrm>
            <a:off x="2724912" y="4142232"/>
            <a:ext cx="128016" cy="128016"/>
          </a:xfrm>
          <a:prstGeom prst="ellipse">
            <a:avLst/>
          </a:prstGeom>
          <a:solidFill>
            <a:srgbClr val="C84F2F"/>
          </a:solidFill>
          <a:ln w="12700">
            <a:solidFill>
              <a:srgbClr val="1C2A2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880360" y="38953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2788920" y="4206240"/>
            <a:ext cx="655320" cy="0"/>
          </a:xfrm>
          <a:prstGeom prst="line">
            <a:avLst/>
          </a:prstGeom>
          <a:noFill/>
          <a:ln w="33020">
            <a:solidFill>
              <a:srgbClr val="5C6B60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>
            <a:off x="2788920" y="4206240"/>
            <a:ext cx="1310640" cy="0"/>
          </a:xfrm>
          <a:prstGeom prst="line">
            <a:avLst/>
          </a:prstGeom>
          <a:noFill/>
          <a:ln w="33020">
            <a:solidFill>
              <a:srgbClr val="5C6B60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>
            <a:off x="5577840" y="2194560"/>
            <a:ext cx="6053328" cy="3657600"/>
          </a:xfrm>
          <a:prstGeom prst="roundRect">
            <a:avLst>
              <a:gd name="adj" fmla="val 15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6" name="Text 104"/>
          <p:cNvSpPr/>
          <p:nvPr/>
        </p:nvSpPr>
        <p:spPr>
          <a:xfrm>
            <a:off x="5943600" y="2432304"/>
            <a:ext cx="5321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do it</a:t>
            </a:r>
            <a:endParaRPr lang="en-US" sz="1700" dirty="0"/>
          </a:p>
        </p:txBody>
      </p:sp>
      <p:sp>
        <p:nvSpPr>
          <p:cNvPr id="107" name="Shape 105"/>
          <p:cNvSpPr/>
          <p:nvPr/>
        </p:nvSpPr>
        <p:spPr>
          <a:xfrm>
            <a:off x="5897880" y="3035808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8" name="Text 106"/>
          <p:cNvSpPr/>
          <p:nvPr/>
        </p:nvSpPr>
        <p:spPr>
          <a:xfrm>
            <a:off x="6172200" y="289864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rays from the CENTRE through each corner.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5897880" y="3639312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0" name="Text 108"/>
          <p:cNvSpPr/>
          <p:nvPr/>
        </p:nvSpPr>
        <p:spPr>
          <a:xfrm>
            <a:off x="6172200" y="350215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the distance from the centre by the SCALE FACTOR.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5897880" y="4242816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2" name="Text 110"/>
          <p:cNvSpPr/>
          <p:nvPr/>
        </p:nvSpPr>
        <p:spPr>
          <a:xfrm>
            <a:off x="6172200" y="41056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2: each corner goes TWICE as far from the centre.</a:t>
            </a:r>
            <a:endParaRPr lang="en-US" sz="1350" dirty="0"/>
          </a:p>
        </p:txBody>
      </p:sp>
      <p:sp>
        <p:nvSpPr>
          <p:cNvPr id="113" name="Shape 111"/>
          <p:cNvSpPr/>
          <p:nvPr/>
        </p:nvSpPr>
        <p:spPr>
          <a:xfrm>
            <a:off x="5897880" y="484632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4" name="Text 112"/>
          <p:cNvSpPr/>
          <p:nvPr/>
        </p:nvSpPr>
        <p:spPr>
          <a:xfrm>
            <a:off x="6172200" y="47091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length doubles; the angles stay the same.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5897880" y="5449824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72200" y="531266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and image are SIMILAR (same shape, different size).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for centre (0,0): multiply both coordinates by the scale factor.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ENLARGEMENT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Fractional &amp; Negative Scale Factors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‘enlargement’ can make a shape SMALLER or flip it.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 factor tells you which.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3957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greater than 1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14400" y="28529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120640" y="228600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3 → 3× as far from the centre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66928" y="35204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14400" y="3630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between 0 and 1 (a fraction)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14400" y="40873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5120640" y="352044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½ → half as far from the centre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14400" y="48646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SF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14400" y="53218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side of the centre, upside down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120640" y="47548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−2 → twice as far, but through the centre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66928" y="59893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841248" y="59893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image is still called an enlargement — even when it gets smaller.</a:t>
            </a:r>
            <a:endParaRPr lang="en-US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ENLARGEMENT · DESCRIBING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Scale Factor &amp; Centre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to find: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 factor (compare lengths) and the centre (draw rays).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40280"/>
            <a:ext cx="5440680" cy="3383280"/>
          </a:xfrm>
          <a:prstGeom prst="roundRect">
            <a:avLst>
              <a:gd name="adj" fmla="val 1622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4780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The scale factor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 =  image length ÷ object length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object side 2, image side 6  →  SF = 3</a:t>
            </a:r>
            <a:endParaRPr lang="en-US" sz="15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image is smaller, the SF is a fraction (e.g. ½).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190488" y="2240280"/>
            <a:ext cx="5440680" cy="3383280"/>
          </a:xfrm>
          <a:prstGeom prst="roundRect">
            <a:avLst>
              <a:gd name="adj" fmla="val 1622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4780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The centre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a RAY through each corner and its image.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rays all meet at ONE point — that is the centre.</a:t>
            </a:r>
            <a:endParaRPr lang="en-US" sz="15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it as coordinates, e.g. (1, 2).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66928" y="58064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806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‘Enlargement, scale factor 2, centre (1, 1)’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Congruent or Similar?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7160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71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transformations keep the size; one changes it.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CONGRUENT  (same size)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868680" y="3227832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170432" y="3108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— a slide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68680" y="3886200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170432" y="37673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Rotation — a turn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68680" y="4544568"/>
            <a:ext cx="164592" cy="164592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170432" y="442569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— a flip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914400" y="5029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Lengths and angles are unchanged.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6190488" y="2286000"/>
            <a:ext cx="5440680" cy="320040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  (different size)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6492240" y="3227832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6793992" y="3108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Enlargement — a resize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492240" y="3886200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6793992" y="37673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Angles stay the same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492240" y="4544568"/>
            <a:ext cx="164592" cy="164592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9" name="Text 57"/>
          <p:cNvSpPr/>
          <p:nvPr/>
        </p:nvSpPr>
        <p:spPr>
          <a:xfrm>
            <a:off x="6793992" y="442569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Lengths are multiplied by the SF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537960" y="5029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size changes — the shape is the same.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566928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exam: describe ONE transformation only, with every detail.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are grid questions — shown exactly as they appear in the exam.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 or describe?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describing: name it, then give EVERY detail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tracing paper for rotations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rays to find a centre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999336" y="2808293"/>
            <a:ext cx="8193024" cy="252157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488" y="2881445"/>
            <a:ext cx="8046720" cy="23752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638084" y="1481328"/>
            <a:ext cx="4915528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1236" y="1554480"/>
            <a:ext cx="476922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51069" y="1481328"/>
            <a:ext cx="6889558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221" y="1554480"/>
            <a:ext cx="674325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123561" y="1481328"/>
            <a:ext cx="7944574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713" y="1554480"/>
            <a:ext cx="779827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41760" y="1481328"/>
            <a:ext cx="7508176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4912" y="1554480"/>
            <a:ext cx="736187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77640" y="1481328"/>
            <a:ext cx="6636415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792" y="1554480"/>
            <a:ext cx="649011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95670" y="1481328"/>
            <a:ext cx="7400356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22" y="1554480"/>
            <a:ext cx="725405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771849" y="1481328"/>
            <a:ext cx="4647997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001" y="1554480"/>
            <a:ext cx="450169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67910" y="1481328"/>
            <a:ext cx="7255876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062" y="1554480"/>
            <a:ext cx="710957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254779" y="1481328"/>
            <a:ext cx="7682138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trfq-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7931" y="1554480"/>
            <a:ext cx="753583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→ give the column vector (across, up).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→ give the angle, the direction AND the centre.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→ give the EQUATION of the mirror line.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ENLARGEMENT → give the scale factor AND the centre.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Translation, rotation, reflection: congruent. Enlargement: similar.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the transformation, then give every detail — one transformation only.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1821</Words>
  <Application>Microsoft Office PowerPoint</Application>
  <PresentationFormat>Custom</PresentationFormat>
  <Paragraphs>420</Paragraphs>
  <Slides>25</Slides>
  <Notes>25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2</cp:revision>
  <dcterms:created xsi:type="dcterms:W3CDTF">2026-07-12T09:35:48Z</dcterms:created>
  <dcterms:modified xsi:type="dcterms:W3CDTF">2026-07-23T19:47:53Z</dcterms:modified>
</cp:coreProperties>
</file>