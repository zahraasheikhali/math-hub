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7941453-2DDB-4E0F-B111-F12F8C9DD28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1D745D9-0BE8-41EC-AE08-7CDF6B432E7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DAC04E8-14C4-4474-BF5C-83AAEE7913A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52921E-98D3-42B8-A82B-0CD325B2A66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A2B2FFD-CB86-4B2E-9F8A-449A0A40865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C498767-A352-43A5-B902-E542C3E5BB3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85D1958-CC9E-4810-972B-BADB5A3F22B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1A55FB-A528-4D1E-81C1-D5D982A2F81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B274FE8-9461-48D4-9499-9FC2358A34E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87DE344-8AFD-4424-8FF5-CF32931F946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C4CDA3-4AD9-45BA-A278-58D69D86829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2217DD5-FB91-4C3C-B30E-D0EAEABE746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3BEDF02-B0D4-4283-90F2-FE631556039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CCC666F-4B6C-4733-A3A5-AC3CE2BE176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D68DD0-50EF-42F1-9319-21B798F4A61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C11B636-F82A-4C72-93E9-2F321943815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E6D5640-DA9F-46B0-B39F-B7D6CE200E4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1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9CB2CE4-B639-47F8-ADAA-796605AF150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6FD58E0-03DF-45A9-B24E-37B8623D094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C1B2867-9C19-48B4-B9B5-4DE9D73F20C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93A29B1-7731-41C1-B588-201A36D803A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E6B30E5-73CC-4656-9F79-461B1614A43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6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274AE1E-56A8-4269-A329-0C74E5B9D8A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7F6782B-56B9-4579-9FF5-DCAF4B1DFC7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4D7E14-E82D-48AA-8F7D-B63175709F2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6646917-9658-4B2B-B9C4-4A9DA8BC540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863840" y="100584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△  →  △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Transformations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Translation · Rotation · Reflection · Enlargement · Performing &amp; Describing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Four Transformations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Two jobs in every exam: PERFORM the transformation (draw the image) or DESCRIBE it fully.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Describing needs specific details — miss one and you lose the mark.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Translation — a slide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Rotation — a turn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Reflection — a flip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Enlargement — a resize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Describing fully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object · image · vector · centre · mirror line · scale factor · congruent · similar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Describing: What You MUST State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Say the NAME, then every detail.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One transformation only — never write ‘reflect then translate’ for a single mark.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1"/>
          <p:cNvSpPr/>
          <p:nvPr/>
        </p:nvSpPr>
        <p:spPr>
          <a:xfrm>
            <a:off x="567000" y="2286000"/>
            <a:ext cx="338292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676800" y="2286000"/>
            <a:ext cx="3163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Transformation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3"/>
          <p:cNvSpPr/>
          <p:nvPr/>
        </p:nvSpPr>
        <p:spPr>
          <a:xfrm>
            <a:off x="4114800" y="2286000"/>
            <a:ext cx="393156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44"/>
          <p:cNvSpPr/>
          <p:nvPr/>
        </p:nvSpPr>
        <p:spPr>
          <a:xfrm>
            <a:off x="4224600" y="2286000"/>
            <a:ext cx="3711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You must state…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5"/>
          <p:cNvSpPr/>
          <p:nvPr/>
        </p:nvSpPr>
        <p:spPr>
          <a:xfrm>
            <a:off x="8229600" y="2286000"/>
            <a:ext cx="340128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46"/>
          <p:cNvSpPr/>
          <p:nvPr/>
        </p:nvSpPr>
        <p:spPr>
          <a:xfrm>
            <a:off x="8339400" y="2286000"/>
            <a:ext cx="318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Example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7"/>
          <p:cNvSpPr/>
          <p:nvPr/>
        </p:nvSpPr>
        <p:spPr>
          <a:xfrm>
            <a:off x="567000" y="2816280"/>
            <a:ext cx="3382920" cy="7311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8"/>
          <p:cNvSpPr/>
          <p:nvPr/>
        </p:nvSpPr>
        <p:spPr>
          <a:xfrm>
            <a:off x="713160" y="2816280"/>
            <a:ext cx="309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TRANSLATION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9"/>
          <p:cNvSpPr/>
          <p:nvPr/>
        </p:nvSpPr>
        <p:spPr>
          <a:xfrm>
            <a:off x="4114800" y="2816280"/>
            <a:ext cx="3931560" cy="7311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50"/>
          <p:cNvSpPr/>
          <p:nvPr/>
        </p:nvSpPr>
        <p:spPr>
          <a:xfrm>
            <a:off x="4260960" y="2816280"/>
            <a:ext cx="363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the column vector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1"/>
          <p:cNvSpPr/>
          <p:nvPr/>
        </p:nvSpPr>
        <p:spPr>
          <a:xfrm>
            <a:off x="8229600" y="2816280"/>
            <a:ext cx="3401280" cy="7311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2"/>
          <p:cNvSpPr/>
          <p:nvPr/>
        </p:nvSpPr>
        <p:spPr>
          <a:xfrm>
            <a:off x="8375760" y="281628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by the vector (3, −2)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3"/>
          <p:cNvSpPr/>
          <p:nvPr/>
        </p:nvSpPr>
        <p:spPr>
          <a:xfrm>
            <a:off x="567000" y="3593520"/>
            <a:ext cx="3382920" cy="7311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4"/>
          <p:cNvSpPr/>
          <p:nvPr/>
        </p:nvSpPr>
        <p:spPr>
          <a:xfrm>
            <a:off x="713160" y="3593520"/>
            <a:ext cx="309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ROTATION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5"/>
          <p:cNvSpPr/>
          <p:nvPr/>
        </p:nvSpPr>
        <p:spPr>
          <a:xfrm>
            <a:off x="4114800" y="3593520"/>
            <a:ext cx="3931560" cy="7311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6"/>
          <p:cNvSpPr/>
          <p:nvPr/>
        </p:nvSpPr>
        <p:spPr>
          <a:xfrm>
            <a:off x="4260960" y="3593520"/>
            <a:ext cx="363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angle + direction + centre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7"/>
          <p:cNvSpPr/>
          <p:nvPr/>
        </p:nvSpPr>
        <p:spPr>
          <a:xfrm>
            <a:off x="8229600" y="3593520"/>
            <a:ext cx="3401280" cy="7311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8"/>
          <p:cNvSpPr/>
          <p:nvPr/>
        </p:nvSpPr>
        <p:spPr>
          <a:xfrm>
            <a:off x="8375760" y="359352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90° clockwise about (0, 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9"/>
          <p:cNvSpPr/>
          <p:nvPr/>
        </p:nvSpPr>
        <p:spPr>
          <a:xfrm>
            <a:off x="567000" y="4370760"/>
            <a:ext cx="3382920" cy="7311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60"/>
          <p:cNvSpPr/>
          <p:nvPr/>
        </p:nvSpPr>
        <p:spPr>
          <a:xfrm>
            <a:off x="713160" y="4370760"/>
            <a:ext cx="309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REFLECTION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61"/>
          <p:cNvSpPr/>
          <p:nvPr/>
        </p:nvSpPr>
        <p:spPr>
          <a:xfrm>
            <a:off x="4114800" y="4370760"/>
            <a:ext cx="3931560" cy="7311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62"/>
          <p:cNvSpPr/>
          <p:nvPr/>
        </p:nvSpPr>
        <p:spPr>
          <a:xfrm>
            <a:off x="4260960" y="4370760"/>
            <a:ext cx="363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the mirror line (its equation)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63"/>
          <p:cNvSpPr/>
          <p:nvPr/>
        </p:nvSpPr>
        <p:spPr>
          <a:xfrm>
            <a:off x="8229600" y="4370760"/>
            <a:ext cx="3401280" cy="7311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64"/>
          <p:cNvSpPr/>
          <p:nvPr/>
        </p:nvSpPr>
        <p:spPr>
          <a:xfrm>
            <a:off x="8375760" y="437076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in the line x = 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65"/>
          <p:cNvSpPr/>
          <p:nvPr/>
        </p:nvSpPr>
        <p:spPr>
          <a:xfrm>
            <a:off x="567000" y="5148000"/>
            <a:ext cx="3382920" cy="7311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66"/>
          <p:cNvSpPr/>
          <p:nvPr/>
        </p:nvSpPr>
        <p:spPr>
          <a:xfrm>
            <a:off x="713160" y="5148000"/>
            <a:ext cx="309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ENLARGEMENT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67"/>
          <p:cNvSpPr/>
          <p:nvPr/>
        </p:nvSpPr>
        <p:spPr>
          <a:xfrm>
            <a:off x="4114800" y="5148000"/>
            <a:ext cx="3931560" cy="7311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68"/>
          <p:cNvSpPr/>
          <p:nvPr/>
        </p:nvSpPr>
        <p:spPr>
          <a:xfrm>
            <a:off x="4260960" y="5148000"/>
            <a:ext cx="363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scale factor + centre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69"/>
          <p:cNvSpPr/>
          <p:nvPr/>
        </p:nvSpPr>
        <p:spPr>
          <a:xfrm>
            <a:off x="8229600" y="5148000"/>
            <a:ext cx="3401280" cy="7311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70"/>
          <p:cNvSpPr/>
          <p:nvPr/>
        </p:nvSpPr>
        <p:spPr>
          <a:xfrm>
            <a:off x="8375760" y="514800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SF 2, centre (1, 1)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71"/>
          <p:cNvSpPr/>
          <p:nvPr/>
        </p:nvSpPr>
        <p:spPr>
          <a:xfrm>
            <a:off x="567000" y="6080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Translation, rotation and reflection keep the shape the SAME size (congruent). Enlargement changes the size (similar).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TRANSLATION · PERFORMING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Slide Every Corner the Same Way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Translate triangle A by the vector (2, 5):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2 right, 5 up. Move each vertex, then join them up.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1"/>
          <p:cNvSpPr/>
          <p:nvPr/>
        </p:nvSpPr>
        <p:spPr>
          <a:xfrm>
            <a:off x="822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2"/>
          <p:cNvSpPr/>
          <p:nvPr/>
        </p:nvSpPr>
        <p:spPr>
          <a:xfrm>
            <a:off x="822960" y="617220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43"/>
          <p:cNvSpPr/>
          <p:nvPr/>
        </p:nvSpPr>
        <p:spPr>
          <a:xfrm>
            <a:off x="11505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44"/>
          <p:cNvSpPr/>
          <p:nvPr/>
        </p:nvSpPr>
        <p:spPr>
          <a:xfrm>
            <a:off x="822960" y="5844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45"/>
          <p:cNvSpPr/>
          <p:nvPr/>
        </p:nvSpPr>
        <p:spPr>
          <a:xfrm>
            <a:off x="14781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6"/>
          <p:cNvSpPr/>
          <p:nvPr/>
        </p:nvSpPr>
        <p:spPr>
          <a:xfrm>
            <a:off x="822960" y="55166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7"/>
          <p:cNvSpPr/>
          <p:nvPr/>
        </p:nvSpPr>
        <p:spPr>
          <a:xfrm>
            <a:off x="18057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48"/>
          <p:cNvSpPr/>
          <p:nvPr/>
        </p:nvSpPr>
        <p:spPr>
          <a:xfrm>
            <a:off x="822960" y="51890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9"/>
          <p:cNvSpPr/>
          <p:nvPr/>
        </p:nvSpPr>
        <p:spPr>
          <a:xfrm>
            <a:off x="21333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50"/>
          <p:cNvSpPr/>
          <p:nvPr/>
        </p:nvSpPr>
        <p:spPr>
          <a:xfrm>
            <a:off x="822960" y="48614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1"/>
          <p:cNvSpPr/>
          <p:nvPr/>
        </p:nvSpPr>
        <p:spPr>
          <a:xfrm>
            <a:off x="2460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52"/>
          <p:cNvSpPr/>
          <p:nvPr/>
        </p:nvSpPr>
        <p:spPr>
          <a:xfrm>
            <a:off x="822960" y="45338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53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54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55"/>
          <p:cNvSpPr/>
          <p:nvPr/>
        </p:nvSpPr>
        <p:spPr>
          <a:xfrm>
            <a:off x="31165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56"/>
          <p:cNvSpPr/>
          <p:nvPr/>
        </p:nvSpPr>
        <p:spPr>
          <a:xfrm>
            <a:off x="822960" y="3878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57"/>
          <p:cNvSpPr/>
          <p:nvPr/>
        </p:nvSpPr>
        <p:spPr>
          <a:xfrm>
            <a:off x="34441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58"/>
          <p:cNvSpPr/>
          <p:nvPr/>
        </p:nvSpPr>
        <p:spPr>
          <a:xfrm>
            <a:off x="822960" y="35506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59"/>
          <p:cNvSpPr/>
          <p:nvPr/>
        </p:nvSpPr>
        <p:spPr>
          <a:xfrm>
            <a:off x="37717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60"/>
          <p:cNvSpPr/>
          <p:nvPr/>
        </p:nvSpPr>
        <p:spPr>
          <a:xfrm>
            <a:off x="822960" y="32230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61"/>
          <p:cNvSpPr/>
          <p:nvPr/>
        </p:nvSpPr>
        <p:spPr>
          <a:xfrm>
            <a:off x="40993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62"/>
          <p:cNvSpPr/>
          <p:nvPr/>
        </p:nvSpPr>
        <p:spPr>
          <a:xfrm>
            <a:off x="822960" y="28954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63"/>
          <p:cNvSpPr/>
          <p:nvPr/>
        </p:nvSpPr>
        <p:spPr>
          <a:xfrm>
            <a:off x="4426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64"/>
          <p:cNvSpPr/>
          <p:nvPr/>
        </p:nvSpPr>
        <p:spPr>
          <a:xfrm>
            <a:off x="822960" y="25678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65"/>
          <p:cNvSpPr/>
          <p:nvPr/>
        </p:nvSpPr>
        <p:spPr>
          <a:xfrm>
            <a:off x="475488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66"/>
          <p:cNvSpPr/>
          <p:nvPr/>
        </p:nvSpPr>
        <p:spPr>
          <a:xfrm>
            <a:off x="822960" y="2240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67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68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69"/>
          <p:cNvSpPr/>
          <p:nvPr/>
        </p:nvSpPr>
        <p:spPr>
          <a:xfrm>
            <a:off x="6217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70"/>
          <p:cNvSpPr/>
          <p:nvPr/>
        </p:nvSpPr>
        <p:spPr>
          <a:xfrm>
            <a:off x="2331720" y="60807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71"/>
          <p:cNvSpPr/>
          <p:nvPr/>
        </p:nvSpPr>
        <p:spPr>
          <a:xfrm>
            <a:off x="9493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72"/>
          <p:cNvSpPr/>
          <p:nvPr/>
        </p:nvSpPr>
        <p:spPr>
          <a:xfrm>
            <a:off x="2331720" y="5753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73"/>
          <p:cNvSpPr/>
          <p:nvPr/>
        </p:nvSpPr>
        <p:spPr>
          <a:xfrm>
            <a:off x="1277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74"/>
          <p:cNvSpPr/>
          <p:nvPr/>
        </p:nvSpPr>
        <p:spPr>
          <a:xfrm>
            <a:off x="2331720" y="542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75"/>
          <p:cNvSpPr/>
          <p:nvPr/>
        </p:nvSpPr>
        <p:spPr>
          <a:xfrm>
            <a:off x="16048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76"/>
          <p:cNvSpPr/>
          <p:nvPr/>
        </p:nvSpPr>
        <p:spPr>
          <a:xfrm>
            <a:off x="2331720" y="5097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77"/>
          <p:cNvSpPr/>
          <p:nvPr/>
        </p:nvSpPr>
        <p:spPr>
          <a:xfrm>
            <a:off x="19324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78"/>
          <p:cNvSpPr/>
          <p:nvPr/>
        </p:nvSpPr>
        <p:spPr>
          <a:xfrm>
            <a:off x="2331720" y="4770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79"/>
          <p:cNvSpPr/>
          <p:nvPr/>
        </p:nvSpPr>
        <p:spPr>
          <a:xfrm>
            <a:off x="22600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80"/>
          <p:cNvSpPr/>
          <p:nvPr/>
        </p:nvSpPr>
        <p:spPr>
          <a:xfrm>
            <a:off x="2331720" y="4442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81"/>
          <p:cNvSpPr/>
          <p:nvPr/>
        </p:nvSpPr>
        <p:spPr>
          <a:xfrm>
            <a:off x="2915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82"/>
          <p:cNvSpPr/>
          <p:nvPr/>
        </p:nvSpPr>
        <p:spPr>
          <a:xfrm>
            <a:off x="2331720" y="3787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83"/>
          <p:cNvSpPr/>
          <p:nvPr/>
        </p:nvSpPr>
        <p:spPr>
          <a:xfrm>
            <a:off x="32432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84"/>
          <p:cNvSpPr/>
          <p:nvPr/>
        </p:nvSpPr>
        <p:spPr>
          <a:xfrm>
            <a:off x="2331720" y="34596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85"/>
          <p:cNvSpPr/>
          <p:nvPr/>
        </p:nvSpPr>
        <p:spPr>
          <a:xfrm>
            <a:off x="35708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86"/>
          <p:cNvSpPr/>
          <p:nvPr/>
        </p:nvSpPr>
        <p:spPr>
          <a:xfrm>
            <a:off x="2331720" y="3132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87"/>
          <p:cNvSpPr/>
          <p:nvPr/>
        </p:nvSpPr>
        <p:spPr>
          <a:xfrm>
            <a:off x="38984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88"/>
          <p:cNvSpPr/>
          <p:nvPr/>
        </p:nvSpPr>
        <p:spPr>
          <a:xfrm>
            <a:off x="2331720" y="28040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89"/>
          <p:cNvSpPr/>
          <p:nvPr/>
        </p:nvSpPr>
        <p:spPr>
          <a:xfrm>
            <a:off x="42260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90"/>
          <p:cNvSpPr/>
          <p:nvPr/>
        </p:nvSpPr>
        <p:spPr>
          <a:xfrm>
            <a:off x="2331720" y="24764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91"/>
          <p:cNvSpPr/>
          <p:nvPr/>
        </p:nvSpPr>
        <p:spPr>
          <a:xfrm>
            <a:off x="45536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92"/>
          <p:cNvSpPr/>
          <p:nvPr/>
        </p:nvSpPr>
        <p:spPr>
          <a:xfrm>
            <a:off x="2331720" y="21488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93"/>
          <p:cNvSpPr/>
          <p:nvPr/>
        </p:nvSpPr>
        <p:spPr>
          <a:xfrm>
            <a:off x="4736520" y="42429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94"/>
          <p:cNvSpPr/>
          <p:nvPr/>
        </p:nvSpPr>
        <p:spPr>
          <a:xfrm>
            <a:off x="2880360" y="21945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95"/>
          <p:cNvSpPr/>
          <p:nvPr/>
        </p:nvSpPr>
        <p:spPr>
          <a:xfrm>
            <a:off x="3116520" y="4533840"/>
            <a:ext cx="655200" cy="982800"/>
          </a:xfrm>
          <a:custGeom>
            <a:avLst/>
            <a:gdLst>
              <a:gd name="textAreaLeft" fmla="*/ 0 w 655200"/>
              <a:gd name="textAreaRight" fmla="*/ 655560 w 655200"/>
              <a:gd name="textAreaTop" fmla="*/ 0 h 982800"/>
              <a:gd name="textAreaBottom" fmla="*/ 983160 h 982800"/>
            </a:gdLst>
            <a:ahLst/>
            <a:rect l="textAreaLeft" t="textAreaTop" r="textAreaRight" b="textAreaBottom"/>
            <a:pathLst>
              <a:path w="655625" h="982980">
                <a:moveTo>
                  <a:pt x="0" y="982980"/>
                </a:moveTo>
                <a:lnTo>
                  <a:pt x="655625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e0ac2b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96"/>
          <p:cNvSpPr/>
          <p:nvPr/>
        </p:nvSpPr>
        <p:spPr>
          <a:xfrm>
            <a:off x="3084480" y="51555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97"/>
          <p:cNvSpPr/>
          <p:nvPr/>
        </p:nvSpPr>
        <p:spPr>
          <a:xfrm>
            <a:off x="3772080" y="2895480"/>
            <a:ext cx="655200" cy="982800"/>
          </a:xfrm>
          <a:custGeom>
            <a:avLst/>
            <a:gdLst>
              <a:gd name="textAreaLeft" fmla="*/ 0 w 655200"/>
              <a:gd name="textAreaRight" fmla="*/ 655560 w 655200"/>
              <a:gd name="textAreaTop" fmla="*/ 0 h 982800"/>
              <a:gd name="textAreaBottom" fmla="*/ 983160 h 982800"/>
            </a:gdLst>
            <a:ahLst/>
            <a:rect l="textAreaLeft" t="textAreaTop" r="textAreaRight" b="textAreaBottom"/>
            <a:pathLst>
              <a:path w="655625" h="982980">
                <a:moveTo>
                  <a:pt x="0" y="982980"/>
                </a:moveTo>
                <a:lnTo>
                  <a:pt x="655625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c84f2f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98"/>
          <p:cNvSpPr/>
          <p:nvPr/>
        </p:nvSpPr>
        <p:spPr>
          <a:xfrm>
            <a:off x="3740040" y="35175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99"/>
          <p:cNvSpPr/>
          <p:nvPr/>
        </p:nvSpPr>
        <p:spPr>
          <a:xfrm>
            <a:off x="3116520" y="5516640"/>
            <a:ext cx="655200" cy="360"/>
          </a:xfrm>
          <a:prstGeom prst="line">
            <a:avLst/>
          </a:prstGeom>
          <a:ln w="25400">
            <a:solidFill>
              <a:srgbClr val="e0ac2b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00"/>
          <p:cNvSpPr/>
          <p:nvPr/>
        </p:nvSpPr>
        <p:spPr>
          <a:xfrm>
            <a:off x="5577840" y="2194560"/>
            <a:ext cx="605304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01"/>
          <p:cNvSpPr/>
          <p:nvPr/>
        </p:nvSpPr>
        <p:spPr>
          <a:xfrm>
            <a:off x="5943600" y="2432160"/>
            <a:ext cx="532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column vector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02"/>
          <p:cNvSpPr/>
          <p:nvPr/>
        </p:nvSpPr>
        <p:spPr>
          <a:xfrm>
            <a:off x="5897880" y="3035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03"/>
          <p:cNvSpPr/>
          <p:nvPr/>
        </p:nvSpPr>
        <p:spPr>
          <a:xfrm>
            <a:off x="6172200" y="28987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Top number = movement LEFT/RIGHT  (+ right, − left).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04"/>
          <p:cNvSpPr/>
          <p:nvPr/>
        </p:nvSpPr>
        <p:spPr>
          <a:xfrm>
            <a:off x="5897880" y="3639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05"/>
          <p:cNvSpPr/>
          <p:nvPr/>
        </p:nvSpPr>
        <p:spPr>
          <a:xfrm>
            <a:off x="6172200" y="350208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Bottom number = movement UP/DOWN  (+ up, − down).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06"/>
          <p:cNvSpPr/>
          <p:nvPr/>
        </p:nvSpPr>
        <p:spPr>
          <a:xfrm>
            <a:off x="5897880" y="42429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07"/>
          <p:cNvSpPr/>
          <p:nvPr/>
        </p:nvSpPr>
        <p:spPr>
          <a:xfrm>
            <a:off x="6172200" y="410580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Here the vector is 2 across and 5 up.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08"/>
          <p:cNvSpPr/>
          <p:nvPr/>
        </p:nvSpPr>
        <p:spPr>
          <a:xfrm>
            <a:off x="5897880" y="48463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109"/>
          <p:cNvSpPr/>
          <p:nvPr/>
        </p:nvSpPr>
        <p:spPr>
          <a:xfrm>
            <a:off x="6172200" y="470916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Every vertex moves by exactly the same amount.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10"/>
          <p:cNvSpPr/>
          <p:nvPr/>
        </p:nvSpPr>
        <p:spPr>
          <a:xfrm>
            <a:off x="5897880" y="54496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11"/>
          <p:cNvSpPr/>
          <p:nvPr/>
        </p:nvSpPr>
        <p:spPr>
          <a:xfrm>
            <a:off x="6172200" y="53125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The image B is the same size and shape — congruent.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12"/>
          <p:cNvSpPr/>
          <p:nvPr/>
        </p:nvSpPr>
        <p:spPr>
          <a:xfrm>
            <a:off x="567000" y="62636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Write the vector as a column: 2 on top, 5 underneath.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TRANSLATION · DESCRIBING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Count from Object to Image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Describe the transformation that maps A onto B.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Pick one corner and count across, then up or down.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41"/>
          <p:cNvSpPr/>
          <p:nvPr/>
        </p:nvSpPr>
        <p:spPr>
          <a:xfrm>
            <a:off x="822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42"/>
          <p:cNvSpPr/>
          <p:nvPr/>
        </p:nvSpPr>
        <p:spPr>
          <a:xfrm>
            <a:off x="822960" y="617220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43"/>
          <p:cNvSpPr/>
          <p:nvPr/>
        </p:nvSpPr>
        <p:spPr>
          <a:xfrm>
            <a:off x="11505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44"/>
          <p:cNvSpPr/>
          <p:nvPr/>
        </p:nvSpPr>
        <p:spPr>
          <a:xfrm>
            <a:off x="822960" y="5844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45"/>
          <p:cNvSpPr/>
          <p:nvPr/>
        </p:nvSpPr>
        <p:spPr>
          <a:xfrm>
            <a:off x="14781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46"/>
          <p:cNvSpPr/>
          <p:nvPr/>
        </p:nvSpPr>
        <p:spPr>
          <a:xfrm>
            <a:off x="822960" y="55166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47"/>
          <p:cNvSpPr/>
          <p:nvPr/>
        </p:nvSpPr>
        <p:spPr>
          <a:xfrm>
            <a:off x="18057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48"/>
          <p:cNvSpPr/>
          <p:nvPr/>
        </p:nvSpPr>
        <p:spPr>
          <a:xfrm>
            <a:off x="822960" y="51890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49"/>
          <p:cNvSpPr/>
          <p:nvPr/>
        </p:nvSpPr>
        <p:spPr>
          <a:xfrm>
            <a:off x="21333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50"/>
          <p:cNvSpPr/>
          <p:nvPr/>
        </p:nvSpPr>
        <p:spPr>
          <a:xfrm>
            <a:off x="822960" y="48614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51"/>
          <p:cNvSpPr/>
          <p:nvPr/>
        </p:nvSpPr>
        <p:spPr>
          <a:xfrm>
            <a:off x="2460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52"/>
          <p:cNvSpPr/>
          <p:nvPr/>
        </p:nvSpPr>
        <p:spPr>
          <a:xfrm>
            <a:off x="822960" y="45338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53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54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55"/>
          <p:cNvSpPr/>
          <p:nvPr/>
        </p:nvSpPr>
        <p:spPr>
          <a:xfrm>
            <a:off x="31165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56"/>
          <p:cNvSpPr/>
          <p:nvPr/>
        </p:nvSpPr>
        <p:spPr>
          <a:xfrm>
            <a:off x="822960" y="3878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57"/>
          <p:cNvSpPr/>
          <p:nvPr/>
        </p:nvSpPr>
        <p:spPr>
          <a:xfrm>
            <a:off x="34441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58"/>
          <p:cNvSpPr/>
          <p:nvPr/>
        </p:nvSpPr>
        <p:spPr>
          <a:xfrm>
            <a:off x="822960" y="35506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59"/>
          <p:cNvSpPr/>
          <p:nvPr/>
        </p:nvSpPr>
        <p:spPr>
          <a:xfrm>
            <a:off x="37717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60"/>
          <p:cNvSpPr/>
          <p:nvPr/>
        </p:nvSpPr>
        <p:spPr>
          <a:xfrm>
            <a:off x="822960" y="32230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61"/>
          <p:cNvSpPr/>
          <p:nvPr/>
        </p:nvSpPr>
        <p:spPr>
          <a:xfrm>
            <a:off x="40993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62"/>
          <p:cNvSpPr/>
          <p:nvPr/>
        </p:nvSpPr>
        <p:spPr>
          <a:xfrm>
            <a:off x="822960" y="28954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63"/>
          <p:cNvSpPr/>
          <p:nvPr/>
        </p:nvSpPr>
        <p:spPr>
          <a:xfrm>
            <a:off x="4426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64"/>
          <p:cNvSpPr/>
          <p:nvPr/>
        </p:nvSpPr>
        <p:spPr>
          <a:xfrm>
            <a:off x="822960" y="25678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65"/>
          <p:cNvSpPr/>
          <p:nvPr/>
        </p:nvSpPr>
        <p:spPr>
          <a:xfrm>
            <a:off x="475488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66"/>
          <p:cNvSpPr/>
          <p:nvPr/>
        </p:nvSpPr>
        <p:spPr>
          <a:xfrm>
            <a:off x="822960" y="2240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67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68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69"/>
          <p:cNvSpPr/>
          <p:nvPr/>
        </p:nvSpPr>
        <p:spPr>
          <a:xfrm>
            <a:off x="6217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70"/>
          <p:cNvSpPr/>
          <p:nvPr/>
        </p:nvSpPr>
        <p:spPr>
          <a:xfrm>
            <a:off x="2331720" y="60807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71"/>
          <p:cNvSpPr/>
          <p:nvPr/>
        </p:nvSpPr>
        <p:spPr>
          <a:xfrm>
            <a:off x="9493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72"/>
          <p:cNvSpPr/>
          <p:nvPr/>
        </p:nvSpPr>
        <p:spPr>
          <a:xfrm>
            <a:off x="2331720" y="5753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73"/>
          <p:cNvSpPr/>
          <p:nvPr/>
        </p:nvSpPr>
        <p:spPr>
          <a:xfrm>
            <a:off x="1277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74"/>
          <p:cNvSpPr/>
          <p:nvPr/>
        </p:nvSpPr>
        <p:spPr>
          <a:xfrm>
            <a:off x="2331720" y="542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75"/>
          <p:cNvSpPr/>
          <p:nvPr/>
        </p:nvSpPr>
        <p:spPr>
          <a:xfrm>
            <a:off x="16048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2331720" y="5097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77"/>
          <p:cNvSpPr/>
          <p:nvPr/>
        </p:nvSpPr>
        <p:spPr>
          <a:xfrm>
            <a:off x="19324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78"/>
          <p:cNvSpPr/>
          <p:nvPr/>
        </p:nvSpPr>
        <p:spPr>
          <a:xfrm>
            <a:off x="2331720" y="4770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79"/>
          <p:cNvSpPr/>
          <p:nvPr/>
        </p:nvSpPr>
        <p:spPr>
          <a:xfrm>
            <a:off x="22600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80"/>
          <p:cNvSpPr/>
          <p:nvPr/>
        </p:nvSpPr>
        <p:spPr>
          <a:xfrm>
            <a:off x="2331720" y="4442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81"/>
          <p:cNvSpPr/>
          <p:nvPr/>
        </p:nvSpPr>
        <p:spPr>
          <a:xfrm>
            <a:off x="2915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82"/>
          <p:cNvSpPr/>
          <p:nvPr/>
        </p:nvSpPr>
        <p:spPr>
          <a:xfrm>
            <a:off x="2331720" y="3787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83"/>
          <p:cNvSpPr/>
          <p:nvPr/>
        </p:nvSpPr>
        <p:spPr>
          <a:xfrm>
            <a:off x="32432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84"/>
          <p:cNvSpPr/>
          <p:nvPr/>
        </p:nvSpPr>
        <p:spPr>
          <a:xfrm>
            <a:off x="2331720" y="34596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85"/>
          <p:cNvSpPr/>
          <p:nvPr/>
        </p:nvSpPr>
        <p:spPr>
          <a:xfrm>
            <a:off x="35708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86"/>
          <p:cNvSpPr/>
          <p:nvPr/>
        </p:nvSpPr>
        <p:spPr>
          <a:xfrm>
            <a:off x="2331720" y="3132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87"/>
          <p:cNvSpPr/>
          <p:nvPr/>
        </p:nvSpPr>
        <p:spPr>
          <a:xfrm>
            <a:off x="38984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88"/>
          <p:cNvSpPr/>
          <p:nvPr/>
        </p:nvSpPr>
        <p:spPr>
          <a:xfrm>
            <a:off x="2331720" y="28040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89"/>
          <p:cNvSpPr/>
          <p:nvPr/>
        </p:nvSpPr>
        <p:spPr>
          <a:xfrm>
            <a:off x="42260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90"/>
          <p:cNvSpPr/>
          <p:nvPr/>
        </p:nvSpPr>
        <p:spPr>
          <a:xfrm>
            <a:off x="2331720" y="24764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91"/>
          <p:cNvSpPr/>
          <p:nvPr/>
        </p:nvSpPr>
        <p:spPr>
          <a:xfrm>
            <a:off x="45536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92"/>
          <p:cNvSpPr/>
          <p:nvPr/>
        </p:nvSpPr>
        <p:spPr>
          <a:xfrm>
            <a:off x="2331720" y="21488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93"/>
          <p:cNvSpPr/>
          <p:nvPr/>
        </p:nvSpPr>
        <p:spPr>
          <a:xfrm>
            <a:off x="4736520" y="42429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94"/>
          <p:cNvSpPr/>
          <p:nvPr/>
        </p:nvSpPr>
        <p:spPr>
          <a:xfrm>
            <a:off x="2880360" y="21945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95"/>
          <p:cNvSpPr/>
          <p:nvPr/>
        </p:nvSpPr>
        <p:spPr>
          <a:xfrm>
            <a:off x="1150560" y="2567880"/>
            <a:ext cx="655200" cy="982800"/>
          </a:xfrm>
          <a:custGeom>
            <a:avLst/>
            <a:gdLst>
              <a:gd name="textAreaLeft" fmla="*/ 0 w 655200"/>
              <a:gd name="textAreaRight" fmla="*/ 655560 w 655200"/>
              <a:gd name="textAreaTop" fmla="*/ 0 h 982800"/>
              <a:gd name="textAreaBottom" fmla="*/ 983160 h 982800"/>
            </a:gdLst>
            <a:ahLst/>
            <a:rect l="textAreaLeft" t="textAreaTop" r="textAreaRight" b="textAreaBottom"/>
            <a:pathLst>
              <a:path w="655625" h="982980">
                <a:moveTo>
                  <a:pt x="0" y="982980"/>
                </a:moveTo>
                <a:lnTo>
                  <a:pt x="655625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e0ac2b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96"/>
          <p:cNvSpPr/>
          <p:nvPr/>
        </p:nvSpPr>
        <p:spPr>
          <a:xfrm>
            <a:off x="1118520" y="318960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97"/>
          <p:cNvSpPr/>
          <p:nvPr/>
        </p:nvSpPr>
        <p:spPr>
          <a:xfrm>
            <a:off x="3444120" y="4533840"/>
            <a:ext cx="655200" cy="982800"/>
          </a:xfrm>
          <a:custGeom>
            <a:avLst/>
            <a:gdLst>
              <a:gd name="textAreaLeft" fmla="*/ 0 w 655200"/>
              <a:gd name="textAreaRight" fmla="*/ 655560 w 655200"/>
              <a:gd name="textAreaTop" fmla="*/ 0 h 982800"/>
              <a:gd name="textAreaBottom" fmla="*/ 983160 h 982800"/>
            </a:gdLst>
            <a:ahLst/>
            <a:rect l="textAreaLeft" t="textAreaTop" r="textAreaRight" b="textAreaBottom"/>
            <a:pathLst>
              <a:path w="655625" h="982980">
                <a:moveTo>
                  <a:pt x="0" y="982980"/>
                </a:moveTo>
                <a:lnTo>
                  <a:pt x="655625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c84f2f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98"/>
          <p:cNvSpPr/>
          <p:nvPr/>
        </p:nvSpPr>
        <p:spPr>
          <a:xfrm>
            <a:off x="3412080" y="51555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99"/>
          <p:cNvSpPr/>
          <p:nvPr/>
        </p:nvSpPr>
        <p:spPr>
          <a:xfrm>
            <a:off x="1150560" y="3550680"/>
            <a:ext cx="2293560" cy="1965960"/>
          </a:xfrm>
          <a:prstGeom prst="line">
            <a:avLst/>
          </a:prstGeom>
          <a:ln w="25400">
            <a:solidFill>
              <a:srgbClr val="e0ac2b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00"/>
          <p:cNvSpPr/>
          <p:nvPr/>
        </p:nvSpPr>
        <p:spPr>
          <a:xfrm>
            <a:off x="5577840" y="2194560"/>
            <a:ext cx="605304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01"/>
          <p:cNvSpPr/>
          <p:nvPr/>
        </p:nvSpPr>
        <p:spPr>
          <a:xfrm>
            <a:off x="5943600" y="2432160"/>
            <a:ext cx="532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How to describe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02"/>
          <p:cNvSpPr/>
          <p:nvPr/>
        </p:nvSpPr>
        <p:spPr>
          <a:xfrm>
            <a:off x="5897880" y="3035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103"/>
          <p:cNvSpPr/>
          <p:nvPr/>
        </p:nvSpPr>
        <p:spPr>
          <a:xfrm>
            <a:off x="6172200" y="28987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Choose a corner of A and the MATCHING corner of B.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04"/>
          <p:cNvSpPr/>
          <p:nvPr/>
        </p:nvSpPr>
        <p:spPr>
          <a:xfrm>
            <a:off x="5897880" y="3639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105"/>
          <p:cNvSpPr/>
          <p:nvPr/>
        </p:nvSpPr>
        <p:spPr>
          <a:xfrm>
            <a:off x="6172200" y="350208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From (−5, 2) to (2, −4):  7 right, 6 down.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06"/>
          <p:cNvSpPr/>
          <p:nvPr/>
        </p:nvSpPr>
        <p:spPr>
          <a:xfrm>
            <a:off x="5897880" y="42429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107"/>
          <p:cNvSpPr/>
          <p:nvPr/>
        </p:nvSpPr>
        <p:spPr>
          <a:xfrm>
            <a:off x="6172200" y="410580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Answer: a TRANSLATION by the vector (7, −6).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08"/>
          <p:cNvSpPr/>
          <p:nvPr/>
        </p:nvSpPr>
        <p:spPr>
          <a:xfrm>
            <a:off x="5897880" y="48463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109"/>
          <p:cNvSpPr/>
          <p:nvPr/>
        </p:nvSpPr>
        <p:spPr>
          <a:xfrm>
            <a:off x="6172200" y="470916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Down and left are NEGATIVE.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10"/>
          <p:cNvSpPr/>
          <p:nvPr/>
        </p:nvSpPr>
        <p:spPr>
          <a:xfrm>
            <a:off x="5897880" y="54496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111"/>
          <p:cNvSpPr/>
          <p:nvPr/>
        </p:nvSpPr>
        <p:spPr>
          <a:xfrm>
            <a:off x="6172200" y="53125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Say ‘translation’ and give the vector — both are needed.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112"/>
          <p:cNvSpPr/>
          <p:nvPr/>
        </p:nvSpPr>
        <p:spPr>
          <a:xfrm>
            <a:off x="567000" y="62636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Never say ‘moved’ — the exam wants the word TRANSLATION and the vector.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ROTATION · PERFORMING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Turn About a Centre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Rotate triangle A 90° clockwise about the origin (0, 0).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Use tracing paper if it helps.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41"/>
          <p:cNvSpPr/>
          <p:nvPr/>
        </p:nvSpPr>
        <p:spPr>
          <a:xfrm>
            <a:off x="822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42"/>
          <p:cNvSpPr/>
          <p:nvPr/>
        </p:nvSpPr>
        <p:spPr>
          <a:xfrm>
            <a:off x="822960" y="617220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43"/>
          <p:cNvSpPr/>
          <p:nvPr/>
        </p:nvSpPr>
        <p:spPr>
          <a:xfrm>
            <a:off x="11505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44"/>
          <p:cNvSpPr/>
          <p:nvPr/>
        </p:nvSpPr>
        <p:spPr>
          <a:xfrm>
            <a:off x="822960" y="5844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45"/>
          <p:cNvSpPr/>
          <p:nvPr/>
        </p:nvSpPr>
        <p:spPr>
          <a:xfrm>
            <a:off x="14781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46"/>
          <p:cNvSpPr/>
          <p:nvPr/>
        </p:nvSpPr>
        <p:spPr>
          <a:xfrm>
            <a:off x="822960" y="55166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47"/>
          <p:cNvSpPr/>
          <p:nvPr/>
        </p:nvSpPr>
        <p:spPr>
          <a:xfrm>
            <a:off x="18057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48"/>
          <p:cNvSpPr/>
          <p:nvPr/>
        </p:nvSpPr>
        <p:spPr>
          <a:xfrm>
            <a:off x="822960" y="51890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49"/>
          <p:cNvSpPr/>
          <p:nvPr/>
        </p:nvSpPr>
        <p:spPr>
          <a:xfrm>
            <a:off x="21333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50"/>
          <p:cNvSpPr/>
          <p:nvPr/>
        </p:nvSpPr>
        <p:spPr>
          <a:xfrm>
            <a:off x="822960" y="48614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51"/>
          <p:cNvSpPr/>
          <p:nvPr/>
        </p:nvSpPr>
        <p:spPr>
          <a:xfrm>
            <a:off x="2460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52"/>
          <p:cNvSpPr/>
          <p:nvPr/>
        </p:nvSpPr>
        <p:spPr>
          <a:xfrm>
            <a:off x="822960" y="45338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53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54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55"/>
          <p:cNvSpPr/>
          <p:nvPr/>
        </p:nvSpPr>
        <p:spPr>
          <a:xfrm>
            <a:off x="31165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56"/>
          <p:cNvSpPr/>
          <p:nvPr/>
        </p:nvSpPr>
        <p:spPr>
          <a:xfrm>
            <a:off x="822960" y="3878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57"/>
          <p:cNvSpPr/>
          <p:nvPr/>
        </p:nvSpPr>
        <p:spPr>
          <a:xfrm>
            <a:off x="34441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58"/>
          <p:cNvSpPr/>
          <p:nvPr/>
        </p:nvSpPr>
        <p:spPr>
          <a:xfrm>
            <a:off x="822960" y="35506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59"/>
          <p:cNvSpPr/>
          <p:nvPr/>
        </p:nvSpPr>
        <p:spPr>
          <a:xfrm>
            <a:off x="37717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60"/>
          <p:cNvSpPr/>
          <p:nvPr/>
        </p:nvSpPr>
        <p:spPr>
          <a:xfrm>
            <a:off x="822960" y="32230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61"/>
          <p:cNvSpPr/>
          <p:nvPr/>
        </p:nvSpPr>
        <p:spPr>
          <a:xfrm>
            <a:off x="40993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62"/>
          <p:cNvSpPr/>
          <p:nvPr/>
        </p:nvSpPr>
        <p:spPr>
          <a:xfrm>
            <a:off x="822960" y="28954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63"/>
          <p:cNvSpPr/>
          <p:nvPr/>
        </p:nvSpPr>
        <p:spPr>
          <a:xfrm>
            <a:off x="4426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64"/>
          <p:cNvSpPr/>
          <p:nvPr/>
        </p:nvSpPr>
        <p:spPr>
          <a:xfrm>
            <a:off x="822960" y="25678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65"/>
          <p:cNvSpPr/>
          <p:nvPr/>
        </p:nvSpPr>
        <p:spPr>
          <a:xfrm>
            <a:off x="475488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66"/>
          <p:cNvSpPr/>
          <p:nvPr/>
        </p:nvSpPr>
        <p:spPr>
          <a:xfrm>
            <a:off x="822960" y="2240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67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68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69"/>
          <p:cNvSpPr/>
          <p:nvPr/>
        </p:nvSpPr>
        <p:spPr>
          <a:xfrm>
            <a:off x="6217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70"/>
          <p:cNvSpPr/>
          <p:nvPr/>
        </p:nvSpPr>
        <p:spPr>
          <a:xfrm>
            <a:off x="2331720" y="60807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71"/>
          <p:cNvSpPr/>
          <p:nvPr/>
        </p:nvSpPr>
        <p:spPr>
          <a:xfrm>
            <a:off x="9493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72"/>
          <p:cNvSpPr/>
          <p:nvPr/>
        </p:nvSpPr>
        <p:spPr>
          <a:xfrm>
            <a:off x="2331720" y="5753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73"/>
          <p:cNvSpPr/>
          <p:nvPr/>
        </p:nvSpPr>
        <p:spPr>
          <a:xfrm>
            <a:off x="1277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74"/>
          <p:cNvSpPr/>
          <p:nvPr/>
        </p:nvSpPr>
        <p:spPr>
          <a:xfrm>
            <a:off x="2331720" y="542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75"/>
          <p:cNvSpPr/>
          <p:nvPr/>
        </p:nvSpPr>
        <p:spPr>
          <a:xfrm>
            <a:off x="16048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76"/>
          <p:cNvSpPr/>
          <p:nvPr/>
        </p:nvSpPr>
        <p:spPr>
          <a:xfrm>
            <a:off x="2331720" y="5097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77"/>
          <p:cNvSpPr/>
          <p:nvPr/>
        </p:nvSpPr>
        <p:spPr>
          <a:xfrm>
            <a:off x="19324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78"/>
          <p:cNvSpPr/>
          <p:nvPr/>
        </p:nvSpPr>
        <p:spPr>
          <a:xfrm>
            <a:off x="2331720" y="4770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79"/>
          <p:cNvSpPr/>
          <p:nvPr/>
        </p:nvSpPr>
        <p:spPr>
          <a:xfrm>
            <a:off x="22600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80"/>
          <p:cNvSpPr/>
          <p:nvPr/>
        </p:nvSpPr>
        <p:spPr>
          <a:xfrm>
            <a:off x="2331720" y="4442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81"/>
          <p:cNvSpPr/>
          <p:nvPr/>
        </p:nvSpPr>
        <p:spPr>
          <a:xfrm>
            <a:off x="2915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82"/>
          <p:cNvSpPr/>
          <p:nvPr/>
        </p:nvSpPr>
        <p:spPr>
          <a:xfrm>
            <a:off x="2331720" y="3787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83"/>
          <p:cNvSpPr/>
          <p:nvPr/>
        </p:nvSpPr>
        <p:spPr>
          <a:xfrm>
            <a:off x="32432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84"/>
          <p:cNvSpPr/>
          <p:nvPr/>
        </p:nvSpPr>
        <p:spPr>
          <a:xfrm>
            <a:off x="2331720" y="34596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85"/>
          <p:cNvSpPr/>
          <p:nvPr/>
        </p:nvSpPr>
        <p:spPr>
          <a:xfrm>
            <a:off x="35708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86"/>
          <p:cNvSpPr/>
          <p:nvPr/>
        </p:nvSpPr>
        <p:spPr>
          <a:xfrm>
            <a:off x="2331720" y="3132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87"/>
          <p:cNvSpPr/>
          <p:nvPr/>
        </p:nvSpPr>
        <p:spPr>
          <a:xfrm>
            <a:off x="38984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88"/>
          <p:cNvSpPr/>
          <p:nvPr/>
        </p:nvSpPr>
        <p:spPr>
          <a:xfrm>
            <a:off x="2331720" y="28040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89"/>
          <p:cNvSpPr/>
          <p:nvPr/>
        </p:nvSpPr>
        <p:spPr>
          <a:xfrm>
            <a:off x="42260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90"/>
          <p:cNvSpPr/>
          <p:nvPr/>
        </p:nvSpPr>
        <p:spPr>
          <a:xfrm>
            <a:off x="2331720" y="24764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91"/>
          <p:cNvSpPr/>
          <p:nvPr/>
        </p:nvSpPr>
        <p:spPr>
          <a:xfrm>
            <a:off x="45536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92"/>
          <p:cNvSpPr/>
          <p:nvPr/>
        </p:nvSpPr>
        <p:spPr>
          <a:xfrm>
            <a:off x="2331720" y="21488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93"/>
          <p:cNvSpPr/>
          <p:nvPr/>
        </p:nvSpPr>
        <p:spPr>
          <a:xfrm>
            <a:off x="4736520" y="42429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94"/>
          <p:cNvSpPr/>
          <p:nvPr/>
        </p:nvSpPr>
        <p:spPr>
          <a:xfrm>
            <a:off x="2880360" y="21945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95"/>
          <p:cNvSpPr/>
          <p:nvPr/>
        </p:nvSpPr>
        <p:spPr>
          <a:xfrm>
            <a:off x="3116520" y="2567880"/>
            <a:ext cx="655200" cy="982800"/>
          </a:xfrm>
          <a:custGeom>
            <a:avLst/>
            <a:gdLst>
              <a:gd name="textAreaLeft" fmla="*/ 0 w 655200"/>
              <a:gd name="textAreaRight" fmla="*/ 655560 w 655200"/>
              <a:gd name="textAreaTop" fmla="*/ 0 h 982800"/>
              <a:gd name="textAreaBottom" fmla="*/ 983160 h 982800"/>
            </a:gdLst>
            <a:ahLst/>
            <a:rect l="textAreaLeft" t="textAreaTop" r="textAreaRight" b="textAreaBottom"/>
            <a:pathLst>
              <a:path w="655625" h="982980">
                <a:moveTo>
                  <a:pt x="0" y="982980"/>
                </a:moveTo>
                <a:lnTo>
                  <a:pt x="655625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e0ac2b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96"/>
          <p:cNvSpPr/>
          <p:nvPr/>
        </p:nvSpPr>
        <p:spPr>
          <a:xfrm>
            <a:off x="3084480" y="318960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97"/>
          <p:cNvSpPr/>
          <p:nvPr/>
        </p:nvSpPr>
        <p:spPr>
          <a:xfrm>
            <a:off x="3444120" y="4533840"/>
            <a:ext cx="982800" cy="655200"/>
          </a:xfrm>
          <a:custGeom>
            <a:avLst/>
            <a:gdLst>
              <a:gd name="textAreaLeft" fmla="*/ 0 w 982800"/>
              <a:gd name="textAreaRight" fmla="*/ 983160 w 982800"/>
              <a:gd name="textAreaTop" fmla="*/ 0 h 655200"/>
              <a:gd name="textAreaBottom" fmla="*/ 655560 h 655200"/>
            </a:gdLst>
            <a:ahLst/>
            <a:rect l="textAreaLeft" t="textAreaTop" r="textAreaRight" b="textAreaBottom"/>
            <a:pathLst>
              <a:path w="982980" h="655625">
                <a:moveTo>
                  <a:pt x="0" y="0"/>
                </a:moveTo>
                <a:lnTo>
                  <a:pt x="0" y="655625"/>
                </a:lnTo>
                <a:lnTo>
                  <a:pt x="982980" y="0"/>
                </a:lnTo>
                <a:close/>
              </a:path>
            </a:pathLst>
          </a:custGeom>
          <a:solidFill>
            <a:srgbClr val="c84f2f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98"/>
          <p:cNvSpPr/>
          <p:nvPr/>
        </p:nvSpPr>
        <p:spPr>
          <a:xfrm>
            <a:off x="3412080" y="456588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99"/>
          <p:cNvSpPr/>
          <p:nvPr/>
        </p:nvSpPr>
        <p:spPr>
          <a:xfrm>
            <a:off x="2724840" y="4142160"/>
            <a:ext cx="127800" cy="127800"/>
          </a:xfrm>
          <a:prstGeom prst="ellipse">
            <a:avLst/>
          </a:prstGeom>
          <a:solidFill>
            <a:srgbClr val="c84f2f"/>
          </a:solidFill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100"/>
          <p:cNvSpPr/>
          <p:nvPr/>
        </p:nvSpPr>
        <p:spPr>
          <a:xfrm>
            <a:off x="2880360" y="38952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84f2f"/>
                </a:solidFill>
                <a:latin typeface="Calibri"/>
                <a:ea typeface="Calibri"/>
              </a:rPr>
              <a:t>centre (0,0)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01"/>
          <p:cNvSpPr/>
          <p:nvPr/>
        </p:nvSpPr>
        <p:spPr>
          <a:xfrm>
            <a:off x="5577840" y="2194560"/>
            <a:ext cx="605304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102"/>
          <p:cNvSpPr/>
          <p:nvPr/>
        </p:nvSpPr>
        <p:spPr>
          <a:xfrm>
            <a:off x="5943600" y="2432160"/>
            <a:ext cx="532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three things you need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03"/>
          <p:cNvSpPr/>
          <p:nvPr/>
        </p:nvSpPr>
        <p:spPr>
          <a:xfrm>
            <a:off x="5897880" y="3035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104"/>
          <p:cNvSpPr/>
          <p:nvPr/>
        </p:nvSpPr>
        <p:spPr>
          <a:xfrm>
            <a:off x="6172200" y="28987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ANGLE: 90°, 180° or 270°.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105"/>
          <p:cNvSpPr/>
          <p:nvPr/>
        </p:nvSpPr>
        <p:spPr>
          <a:xfrm>
            <a:off x="5897880" y="3639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06"/>
          <p:cNvSpPr/>
          <p:nvPr/>
        </p:nvSpPr>
        <p:spPr>
          <a:xfrm>
            <a:off x="6172200" y="350208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DIRECTION: clockwise or anticlockwise.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07"/>
          <p:cNvSpPr/>
          <p:nvPr/>
        </p:nvSpPr>
        <p:spPr>
          <a:xfrm>
            <a:off x="5897880" y="42429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108"/>
          <p:cNvSpPr/>
          <p:nvPr/>
        </p:nvSpPr>
        <p:spPr>
          <a:xfrm>
            <a:off x="6172200" y="410580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CENTRE: the point it turns about.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109"/>
          <p:cNvSpPr/>
          <p:nvPr/>
        </p:nvSpPr>
        <p:spPr>
          <a:xfrm>
            <a:off x="5897880" y="48463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110"/>
          <p:cNvSpPr/>
          <p:nvPr/>
        </p:nvSpPr>
        <p:spPr>
          <a:xfrm>
            <a:off x="6172200" y="470916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Coordinate rule (90° clockwise about O):  (x, y) → (y, −x).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11"/>
          <p:cNvSpPr/>
          <p:nvPr/>
        </p:nvSpPr>
        <p:spPr>
          <a:xfrm>
            <a:off x="5897880" y="54496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112"/>
          <p:cNvSpPr/>
          <p:nvPr/>
        </p:nvSpPr>
        <p:spPr>
          <a:xfrm>
            <a:off x="6172200" y="53125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180°:  (x, y) → (−x, −y)  — direction does not matter.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113"/>
          <p:cNvSpPr/>
          <p:nvPr/>
        </p:nvSpPr>
        <p:spPr>
          <a:xfrm>
            <a:off x="567000" y="62636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Tracing paper: trace the shape, put your pencil on the centre, and turn.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ROTATION · DESCRIBING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Angle, Direction &amp; Centre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All three details or no marks.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Find the centre with tracing paper — the point that stays still.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41"/>
          <p:cNvSpPr/>
          <p:nvPr/>
        </p:nvSpPr>
        <p:spPr>
          <a:xfrm>
            <a:off x="567000" y="224028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42"/>
          <p:cNvSpPr/>
          <p:nvPr/>
        </p:nvSpPr>
        <p:spPr>
          <a:xfrm>
            <a:off x="932760" y="24778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Rules about the origin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43"/>
          <p:cNvSpPr/>
          <p:nvPr/>
        </p:nvSpPr>
        <p:spPr>
          <a:xfrm>
            <a:off x="914400" y="297180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90° clockwise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44"/>
          <p:cNvSpPr/>
          <p:nvPr/>
        </p:nvSpPr>
        <p:spPr>
          <a:xfrm>
            <a:off x="3291840" y="29718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(x, y) → (y, −x)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45"/>
          <p:cNvSpPr/>
          <p:nvPr/>
        </p:nvSpPr>
        <p:spPr>
          <a:xfrm>
            <a:off x="914400" y="368496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90° anticlockwise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46"/>
          <p:cNvSpPr/>
          <p:nvPr/>
        </p:nvSpPr>
        <p:spPr>
          <a:xfrm>
            <a:off x="3291840" y="36849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(x, y) → (−y, x)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47"/>
          <p:cNvSpPr/>
          <p:nvPr/>
        </p:nvSpPr>
        <p:spPr>
          <a:xfrm>
            <a:off x="914400" y="439812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180° (either way)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48"/>
          <p:cNvSpPr/>
          <p:nvPr/>
        </p:nvSpPr>
        <p:spPr>
          <a:xfrm>
            <a:off x="3291840" y="439812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(x, y) → (−x, −y)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49"/>
          <p:cNvSpPr/>
          <p:nvPr/>
        </p:nvSpPr>
        <p:spPr>
          <a:xfrm>
            <a:off x="914400" y="50749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270° clockwise = 90° anticlockwise.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50"/>
          <p:cNvSpPr/>
          <p:nvPr/>
        </p:nvSpPr>
        <p:spPr>
          <a:xfrm>
            <a:off x="6190560" y="224028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51"/>
          <p:cNvSpPr/>
          <p:nvPr/>
        </p:nvSpPr>
        <p:spPr>
          <a:xfrm>
            <a:off x="6556320" y="24778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Describing — the checklist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52"/>
          <p:cNvSpPr/>
          <p:nvPr/>
        </p:nvSpPr>
        <p:spPr>
          <a:xfrm>
            <a:off x="6492240" y="3044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53"/>
          <p:cNvSpPr/>
          <p:nvPr/>
        </p:nvSpPr>
        <p:spPr>
          <a:xfrm>
            <a:off x="6766560" y="2926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Say the word ROTATION.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54"/>
          <p:cNvSpPr/>
          <p:nvPr/>
        </p:nvSpPr>
        <p:spPr>
          <a:xfrm>
            <a:off x="6492240" y="354780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55"/>
          <p:cNvSpPr/>
          <p:nvPr/>
        </p:nvSpPr>
        <p:spPr>
          <a:xfrm>
            <a:off x="6766560" y="342900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State the ANGLE (90°, 180°…).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56"/>
          <p:cNvSpPr/>
          <p:nvPr/>
        </p:nvSpPr>
        <p:spPr>
          <a:xfrm>
            <a:off x="6492240" y="40507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57"/>
          <p:cNvSpPr/>
          <p:nvPr/>
        </p:nvSpPr>
        <p:spPr>
          <a:xfrm>
            <a:off x="6766560" y="39319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State the DIRECTION (clockwise / anticlockwise).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58"/>
          <p:cNvSpPr/>
          <p:nvPr/>
        </p:nvSpPr>
        <p:spPr>
          <a:xfrm>
            <a:off x="6492240" y="45536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59"/>
          <p:cNvSpPr/>
          <p:nvPr/>
        </p:nvSpPr>
        <p:spPr>
          <a:xfrm>
            <a:off x="6766560" y="44348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State the CENTRE as coordinates.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60"/>
          <p:cNvSpPr/>
          <p:nvPr/>
        </p:nvSpPr>
        <p:spPr>
          <a:xfrm>
            <a:off x="6492240" y="50565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61"/>
          <p:cNvSpPr/>
          <p:nvPr/>
        </p:nvSpPr>
        <p:spPr>
          <a:xfrm>
            <a:off x="6766560" y="49377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180° needs no direction.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62"/>
          <p:cNvSpPr/>
          <p:nvPr/>
        </p:nvSpPr>
        <p:spPr>
          <a:xfrm>
            <a:off x="567000" y="566928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63"/>
          <p:cNvSpPr/>
          <p:nvPr/>
        </p:nvSpPr>
        <p:spPr>
          <a:xfrm>
            <a:off x="841320" y="566928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e.g. ‘Rotation of 90° clockwise about (0, 0)’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REFLECTION · PERFORMING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Flip in the Mirror Line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Reflect triangle A in the y-axis (the line x = 0).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Each point stays the same distance from the mirror, on the other side.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41"/>
          <p:cNvSpPr/>
          <p:nvPr/>
        </p:nvSpPr>
        <p:spPr>
          <a:xfrm>
            <a:off x="822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42"/>
          <p:cNvSpPr/>
          <p:nvPr/>
        </p:nvSpPr>
        <p:spPr>
          <a:xfrm>
            <a:off x="822960" y="617220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43"/>
          <p:cNvSpPr/>
          <p:nvPr/>
        </p:nvSpPr>
        <p:spPr>
          <a:xfrm>
            <a:off x="11505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44"/>
          <p:cNvSpPr/>
          <p:nvPr/>
        </p:nvSpPr>
        <p:spPr>
          <a:xfrm>
            <a:off x="822960" y="5844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45"/>
          <p:cNvSpPr/>
          <p:nvPr/>
        </p:nvSpPr>
        <p:spPr>
          <a:xfrm>
            <a:off x="14781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46"/>
          <p:cNvSpPr/>
          <p:nvPr/>
        </p:nvSpPr>
        <p:spPr>
          <a:xfrm>
            <a:off x="822960" y="55166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47"/>
          <p:cNvSpPr/>
          <p:nvPr/>
        </p:nvSpPr>
        <p:spPr>
          <a:xfrm>
            <a:off x="18057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48"/>
          <p:cNvSpPr/>
          <p:nvPr/>
        </p:nvSpPr>
        <p:spPr>
          <a:xfrm>
            <a:off x="822960" y="51890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49"/>
          <p:cNvSpPr/>
          <p:nvPr/>
        </p:nvSpPr>
        <p:spPr>
          <a:xfrm>
            <a:off x="21333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50"/>
          <p:cNvSpPr/>
          <p:nvPr/>
        </p:nvSpPr>
        <p:spPr>
          <a:xfrm>
            <a:off x="822960" y="48614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51"/>
          <p:cNvSpPr/>
          <p:nvPr/>
        </p:nvSpPr>
        <p:spPr>
          <a:xfrm>
            <a:off x="2460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52"/>
          <p:cNvSpPr/>
          <p:nvPr/>
        </p:nvSpPr>
        <p:spPr>
          <a:xfrm>
            <a:off x="822960" y="45338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53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54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55"/>
          <p:cNvSpPr/>
          <p:nvPr/>
        </p:nvSpPr>
        <p:spPr>
          <a:xfrm>
            <a:off x="31165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56"/>
          <p:cNvSpPr/>
          <p:nvPr/>
        </p:nvSpPr>
        <p:spPr>
          <a:xfrm>
            <a:off x="822960" y="3878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57"/>
          <p:cNvSpPr/>
          <p:nvPr/>
        </p:nvSpPr>
        <p:spPr>
          <a:xfrm>
            <a:off x="34441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58"/>
          <p:cNvSpPr/>
          <p:nvPr/>
        </p:nvSpPr>
        <p:spPr>
          <a:xfrm>
            <a:off x="822960" y="35506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59"/>
          <p:cNvSpPr/>
          <p:nvPr/>
        </p:nvSpPr>
        <p:spPr>
          <a:xfrm>
            <a:off x="37717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60"/>
          <p:cNvSpPr/>
          <p:nvPr/>
        </p:nvSpPr>
        <p:spPr>
          <a:xfrm>
            <a:off x="822960" y="32230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61"/>
          <p:cNvSpPr/>
          <p:nvPr/>
        </p:nvSpPr>
        <p:spPr>
          <a:xfrm>
            <a:off x="40993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62"/>
          <p:cNvSpPr/>
          <p:nvPr/>
        </p:nvSpPr>
        <p:spPr>
          <a:xfrm>
            <a:off x="822960" y="28954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63"/>
          <p:cNvSpPr/>
          <p:nvPr/>
        </p:nvSpPr>
        <p:spPr>
          <a:xfrm>
            <a:off x="4426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64"/>
          <p:cNvSpPr/>
          <p:nvPr/>
        </p:nvSpPr>
        <p:spPr>
          <a:xfrm>
            <a:off x="822960" y="25678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65"/>
          <p:cNvSpPr/>
          <p:nvPr/>
        </p:nvSpPr>
        <p:spPr>
          <a:xfrm>
            <a:off x="475488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66"/>
          <p:cNvSpPr/>
          <p:nvPr/>
        </p:nvSpPr>
        <p:spPr>
          <a:xfrm>
            <a:off x="822960" y="2240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67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68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69"/>
          <p:cNvSpPr/>
          <p:nvPr/>
        </p:nvSpPr>
        <p:spPr>
          <a:xfrm>
            <a:off x="6217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70"/>
          <p:cNvSpPr/>
          <p:nvPr/>
        </p:nvSpPr>
        <p:spPr>
          <a:xfrm>
            <a:off x="2331720" y="60807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71"/>
          <p:cNvSpPr/>
          <p:nvPr/>
        </p:nvSpPr>
        <p:spPr>
          <a:xfrm>
            <a:off x="9493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72"/>
          <p:cNvSpPr/>
          <p:nvPr/>
        </p:nvSpPr>
        <p:spPr>
          <a:xfrm>
            <a:off x="2331720" y="5753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73"/>
          <p:cNvSpPr/>
          <p:nvPr/>
        </p:nvSpPr>
        <p:spPr>
          <a:xfrm>
            <a:off x="1277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74"/>
          <p:cNvSpPr/>
          <p:nvPr/>
        </p:nvSpPr>
        <p:spPr>
          <a:xfrm>
            <a:off x="2331720" y="542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75"/>
          <p:cNvSpPr/>
          <p:nvPr/>
        </p:nvSpPr>
        <p:spPr>
          <a:xfrm>
            <a:off x="16048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76"/>
          <p:cNvSpPr/>
          <p:nvPr/>
        </p:nvSpPr>
        <p:spPr>
          <a:xfrm>
            <a:off x="2331720" y="5097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77"/>
          <p:cNvSpPr/>
          <p:nvPr/>
        </p:nvSpPr>
        <p:spPr>
          <a:xfrm>
            <a:off x="19324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78"/>
          <p:cNvSpPr/>
          <p:nvPr/>
        </p:nvSpPr>
        <p:spPr>
          <a:xfrm>
            <a:off x="2331720" y="4770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79"/>
          <p:cNvSpPr/>
          <p:nvPr/>
        </p:nvSpPr>
        <p:spPr>
          <a:xfrm>
            <a:off x="22600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80"/>
          <p:cNvSpPr/>
          <p:nvPr/>
        </p:nvSpPr>
        <p:spPr>
          <a:xfrm>
            <a:off x="2331720" y="4442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81"/>
          <p:cNvSpPr/>
          <p:nvPr/>
        </p:nvSpPr>
        <p:spPr>
          <a:xfrm>
            <a:off x="2915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82"/>
          <p:cNvSpPr/>
          <p:nvPr/>
        </p:nvSpPr>
        <p:spPr>
          <a:xfrm>
            <a:off x="2331720" y="3787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83"/>
          <p:cNvSpPr/>
          <p:nvPr/>
        </p:nvSpPr>
        <p:spPr>
          <a:xfrm>
            <a:off x="32432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84"/>
          <p:cNvSpPr/>
          <p:nvPr/>
        </p:nvSpPr>
        <p:spPr>
          <a:xfrm>
            <a:off x="2331720" y="34596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85"/>
          <p:cNvSpPr/>
          <p:nvPr/>
        </p:nvSpPr>
        <p:spPr>
          <a:xfrm>
            <a:off x="35708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86"/>
          <p:cNvSpPr/>
          <p:nvPr/>
        </p:nvSpPr>
        <p:spPr>
          <a:xfrm>
            <a:off x="2331720" y="3132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87"/>
          <p:cNvSpPr/>
          <p:nvPr/>
        </p:nvSpPr>
        <p:spPr>
          <a:xfrm>
            <a:off x="38984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88"/>
          <p:cNvSpPr/>
          <p:nvPr/>
        </p:nvSpPr>
        <p:spPr>
          <a:xfrm>
            <a:off x="2331720" y="28040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89"/>
          <p:cNvSpPr/>
          <p:nvPr/>
        </p:nvSpPr>
        <p:spPr>
          <a:xfrm>
            <a:off x="42260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90"/>
          <p:cNvSpPr/>
          <p:nvPr/>
        </p:nvSpPr>
        <p:spPr>
          <a:xfrm>
            <a:off x="2331720" y="24764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91"/>
          <p:cNvSpPr/>
          <p:nvPr/>
        </p:nvSpPr>
        <p:spPr>
          <a:xfrm>
            <a:off x="45536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92"/>
          <p:cNvSpPr/>
          <p:nvPr/>
        </p:nvSpPr>
        <p:spPr>
          <a:xfrm>
            <a:off x="2331720" y="21488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93"/>
          <p:cNvSpPr/>
          <p:nvPr/>
        </p:nvSpPr>
        <p:spPr>
          <a:xfrm>
            <a:off x="4736520" y="42429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94"/>
          <p:cNvSpPr/>
          <p:nvPr/>
        </p:nvSpPr>
        <p:spPr>
          <a:xfrm>
            <a:off x="2880360" y="21945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95"/>
          <p:cNvSpPr/>
          <p:nvPr/>
        </p:nvSpPr>
        <p:spPr>
          <a:xfrm>
            <a:off x="3116520" y="3223440"/>
            <a:ext cx="982800" cy="655200"/>
          </a:xfrm>
          <a:custGeom>
            <a:avLst/>
            <a:gdLst>
              <a:gd name="textAreaLeft" fmla="*/ 0 w 982800"/>
              <a:gd name="textAreaRight" fmla="*/ 983160 w 982800"/>
              <a:gd name="textAreaTop" fmla="*/ 0 h 655200"/>
              <a:gd name="textAreaBottom" fmla="*/ 655560 h 655200"/>
            </a:gdLst>
            <a:ahLst/>
            <a:rect l="textAreaLeft" t="textAreaTop" r="textAreaRight" b="textAreaBottom"/>
            <a:pathLst>
              <a:path w="982980" h="655625">
                <a:moveTo>
                  <a:pt x="0" y="655625"/>
                </a:moveTo>
                <a:lnTo>
                  <a:pt x="982980" y="655625"/>
                </a:lnTo>
                <a:lnTo>
                  <a:pt x="0" y="0"/>
                </a:lnTo>
                <a:close/>
              </a:path>
            </a:pathLst>
          </a:custGeom>
          <a:solidFill>
            <a:srgbClr val="e0ac2b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96"/>
          <p:cNvSpPr/>
          <p:nvPr/>
        </p:nvSpPr>
        <p:spPr>
          <a:xfrm>
            <a:off x="3182760" y="35175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97"/>
          <p:cNvSpPr/>
          <p:nvPr/>
        </p:nvSpPr>
        <p:spPr>
          <a:xfrm>
            <a:off x="1478160" y="3223440"/>
            <a:ext cx="982800" cy="655200"/>
          </a:xfrm>
          <a:custGeom>
            <a:avLst/>
            <a:gdLst>
              <a:gd name="textAreaLeft" fmla="*/ 0 w 982800"/>
              <a:gd name="textAreaRight" fmla="*/ 983160 w 982800"/>
              <a:gd name="textAreaTop" fmla="*/ 0 h 655200"/>
              <a:gd name="textAreaBottom" fmla="*/ 655560 h 655200"/>
            </a:gdLst>
            <a:ahLst/>
            <a:rect l="textAreaLeft" t="textAreaTop" r="textAreaRight" b="textAreaBottom"/>
            <a:pathLst>
              <a:path w="982980" h="655625">
                <a:moveTo>
                  <a:pt x="982980" y="655625"/>
                </a:moveTo>
                <a:lnTo>
                  <a:pt x="0" y="655625"/>
                </a:lnTo>
                <a:lnTo>
                  <a:pt x="982980" y="0"/>
                </a:lnTo>
                <a:close/>
              </a:path>
            </a:pathLst>
          </a:custGeom>
          <a:solidFill>
            <a:srgbClr val="c84f2f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98"/>
          <p:cNvSpPr/>
          <p:nvPr/>
        </p:nvSpPr>
        <p:spPr>
          <a:xfrm>
            <a:off x="1937880" y="351756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99"/>
          <p:cNvSpPr/>
          <p:nvPr/>
        </p:nvSpPr>
        <p:spPr>
          <a:xfrm>
            <a:off x="5577840" y="2194560"/>
            <a:ext cx="605304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100"/>
          <p:cNvSpPr/>
          <p:nvPr/>
        </p:nvSpPr>
        <p:spPr>
          <a:xfrm>
            <a:off x="5943600" y="2432160"/>
            <a:ext cx="532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Mirror lines you must know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01"/>
          <p:cNvSpPr/>
          <p:nvPr/>
        </p:nvSpPr>
        <p:spPr>
          <a:xfrm>
            <a:off x="5897880" y="3035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102"/>
          <p:cNvSpPr/>
          <p:nvPr/>
        </p:nvSpPr>
        <p:spPr>
          <a:xfrm>
            <a:off x="6172200" y="28987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x-axis  →  the line  y = 0        (x, y) → (x, −y)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03"/>
          <p:cNvSpPr/>
          <p:nvPr/>
        </p:nvSpPr>
        <p:spPr>
          <a:xfrm>
            <a:off x="5897880" y="3639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104"/>
          <p:cNvSpPr/>
          <p:nvPr/>
        </p:nvSpPr>
        <p:spPr>
          <a:xfrm>
            <a:off x="6172200" y="350208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y-axis  →  the line  x = 0        (x, y) → (−x, y)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05"/>
          <p:cNvSpPr/>
          <p:nvPr/>
        </p:nvSpPr>
        <p:spPr>
          <a:xfrm>
            <a:off x="5897880" y="42429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06"/>
          <p:cNvSpPr/>
          <p:nvPr/>
        </p:nvSpPr>
        <p:spPr>
          <a:xfrm>
            <a:off x="6172200" y="410580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The line  y = x                   (x, y) → (y, x)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07"/>
          <p:cNvSpPr/>
          <p:nvPr/>
        </p:nvSpPr>
        <p:spPr>
          <a:xfrm>
            <a:off x="5897880" y="48463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108"/>
          <p:cNvSpPr/>
          <p:nvPr/>
        </p:nvSpPr>
        <p:spPr>
          <a:xfrm>
            <a:off x="6172200" y="470916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The line  y = −x                  (x, y) → (−y, −x)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109"/>
          <p:cNvSpPr/>
          <p:nvPr/>
        </p:nvSpPr>
        <p:spPr>
          <a:xfrm>
            <a:off x="5897880" y="54496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110"/>
          <p:cNvSpPr/>
          <p:nvPr/>
        </p:nvSpPr>
        <p:spPr>
          <a:xfrm>
            <a:off x="6172200" y="53125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Also x = 2, y = 3 and so on — count squares across.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111"/>
          <p:cNvSpPr/>
          <p:nvPr/>
        </p:nvSpPr>
        <p:spPr>
          <a:xfrm>
            <a:off x="567000" y="62636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Measure perpendicular to the mirror: same distance the other side.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REFLECTION · DESCRIBING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 the Mirror Line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Describe the transformation mapping A onto B.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mirror line sits exactly halfway between them.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41"/>
          <p:cNvSpPr/>
          <p:nvPr/>
        </p:nvSpPr>
        <p:spPr>
          <a:xfrm>
            <a:off x="822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42"/>
          <p:cNvSpPr/>
          <p:nvPr/>
        </p:nvSpPr>
        <p:spPr>
          <a:xfrm>
            <a:off x="822960" y="617220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43"/>
          <p:cNvSpPr/>
          <p:nvPr/>
        </p:nvSpPr>
        <p:spPr>
          <a:xfrm>
            <a:off x="11505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44"/>
          <p:cNvSpPr/>
          <p:nvPr/>
        </p:nvSpPr>
        <p:spPr>
          <a:xfrm>
            <a:off x="822960" y="5844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45"/>
          <p:cNvSpPr/>
          <p:nvPr/>
        </p:nvSpPr>
        <p:spPr>
          <a:xfrm>
            <a:off x="14781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46"/>
          <p:cNvSpPr/>
          <p:nvPr/>
        </p:nvSpPr>
        <p:spPr>
          <a:xfrm>
            <a:off x="822960" y="55166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47"/>
          <p:cNvSpPr/>
          <p:nvPr/>
        </p:nvSpPr>
        <p:spPr>
          <a:xfrm>
            <a:off x="18057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48"/>
          <p:cNvSpPr/>
          <p:nvPr/>
        </p:nvSpPr>
        <p:spPr>
          <a:xfrm>
            <a:off x="822960" y="51890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49"/>
          <p:cNvSpPr/>
          <p:nvPr/>
        </p:nvSpPr>
        <p:spPr>
          <a:xfrm>
            <a:off x="21333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50"/>
          <p:cNvSpPr/>
          <p:nvPr/>
        </p:nvSpPr>
        <p:spPr>
          <a:xfrm>
            <a:off x="822960" y="48614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51"/>
          <p:cNvSpPr/>
          <p:nvPr/>
        </p:nvSpPr>
        <p:spPr>
          <a:xfrm>
            <a:off x="2460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52"/>
          <p:cNvSpPr/>
          <p:nvPr/>
        </p:nvSpPr>
        <p:spPr>
          <a:xfrm>
            <a:off x="822960" y="45338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53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54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55"/>
          <p:cNvSpPr/>
          <p:nvPr/>
        </p:nvSpPr>
        <p:spPr>
          <a:xfrm>
            <a:off x="31165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56"/>
          <p:cNvSpPr/>
          <p:nvPr/>
        </p:nvSpPr>
        <p:spPr>
          <a:xfrm>
            <a:off x="822960" y="3878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57"/>
          <p:cNvSpPr/>
          <p:nvPr/>
        </p:nvSpPr>
        <p:spPr>
          <a:xfrm>
            <a:off x="34441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58"/>
          <p:cNvSpPr/>
          <p:nvPr/>
        </p:nvSpPr>
        <p:spPr>
          <a:xfrm>
            <a:off x="822960" y="35506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59"/>
          <p:cNvSpPr/>
          <p:nvPr/>
        </p:nvSpPr>
        <p:spPr>
          <a:xfrm>
            <a:off x="37717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60"/>
          <p:cNvSpPr/>
          <p:nvPr/>
        </p:nvSpPr>
        <p:spPr>
          <a:xfrm>
            <a:off x="822960" y="32230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61"/>
          <p:cNvSpPr/>
          <p:nvPr/>
        </p:nvSpPr>
        <p:spPr>
          <a:xfrm>
            <a:off x="40993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62"/>
          <p:cNvSpPr/>
          <p:nvPr/>
        </p:nvSpPr>
        <p:spPr>
          <a:xfrm>
            <a:off x="822960" y="28954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63"/>
          <p:cNvSpPr/>
          <p:nvPr/>
        </p:nvSpPr>
        <p:spPr>
          <a:xfrm>
            <a:off x="4426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64"/>
          <p:cNvSpPr/>
          <p:nvPr/>
        </p:nvSpPr>
        <p:spPr>
          <a:xfrm>
            <a:off x="822960" y="25678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65"/>
          <p:cNvSpPr/>
          <p:nvPr/>
        </p:nvSpPr>
        <p:spPr>
          <a:xfrm>
            <a:off x="475488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66"/>
          <p:cNvSpPr/>
          <p:nvPr/>
        </p:nvSpPr>
        <p:spPr>
          <a:xfrm>
            <a:off x="822960" y="2240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67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68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69"/>
          <p:cNvSpPr/>
          <p:nvPr/>
        </p:nvSpPr>
        <p:spPr>
          <a:xfrm>
            <a:off x="6217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70"/>
          <p:cNvSpPr/>
          <p:nvPr/>
        </p:nvSpPr>
        <p:spPr>
          <a:xfrm>
            <a:off x="2331720" y="60807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71"/>
          <p:cNvSpPr/>
          <p:nvPr/>
        </p:nvSpPr>
        <p:spPr>
          <a:xfrm>
            <a:off x="9493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 72"/>
          <p:cNvSpPr/>
          <p:nvPr/>
        </p:nvSpPr>
        <p:spPr>
          <a:xfrm>
            <a:off x="2331720" y="5753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73"/>
          <p:cNvSpPr/>
          <p:nvPr/>
        </p:nvSpPr>
        <p:spPr>
          <a:xfrm>
            <a:off x="1277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 74"/>
          <p:cNvSpPr/>
          <p:nvPr/>
        </p:nvSpPr>
        <p:spPr>
          <a:xfrm>
            <a:off x="2331720" y="542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75"/>
          <p:cNvSpPr/>
          <p:nvPr/>
        </p:nvSpPr>
        <p:spPr>
          <a:xfrm>
            <a:off x="16048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 76"/>
          <p:cNvSpPr/>
          <p:nvPr/>
        </p:nvSpPr>
        <p:spPr>
          <a:xfrm>
            <a:off x="2331720" y="5097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77"/>
          <p:cNvSpPr/>
          <p:nvPr/>
        </p:nvSpPr>
        <p:spPr>
          <a:xfrm>
            <a:off x="19324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78"/>
          <p:cNvSpPr/>
          <p:nvPr/>
        </p:nvSpPr>
        <p:spPr>
          <a:xfrm>
            <a:off x="2331720" y="4770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79"/>
          <p:cNvSpPr/>
          <p:nvPr/>
        </p:nvSpPr>
        <p:spPr>
          <a:xfrm>
            <a:off x="22600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80"/>
          <p:cNvSpPr/>
          <p:nvPr/>
        </p:nvSpPr>
        <p:spPr>
          <a:xfrm>
            <a:off x="2331720" y="4442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81"/>
          <p:cNvSpPr/>
          <p:nvPr/>
        </p:nvSpPr>
        <p:spPr>
          <a:xfrm>
            <a:off x="2915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82"/>
          <p:cNvSpPr/>
          <p:nvPr/>
        </p:nvSpPr>
        <p:spPr>
          <a:xfrm>
            <a:off x="2331720" y="3787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83"/>
          <p:cNvSpPr/>
          <p:nvPr/>
        </p:nvSpPr>
        <p:spPr>
          <a:xfrm>
            <a:off x="32432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84"/>
          <p:cNvSpPr/>
          <p:nvPr/>
        </p:nvSpPr>
        <p:spPr>
          <a:xfrm>
            <a:off x="2331720" y="34596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85"/>
          <p:cNvSpPr/>
          <p:nvPr/>
        </p:nvSpPr>
        <p:spPr>
          <a:xfrm>
            <a:off x="35708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 86"/>
          <p:cNvSpPr/>
          <p:nvPr/>
        </p:nvSpPr>
        <p:spPr>
          <a:xfrm>
            <a:off x="2331720" y="3132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87"/>
          <p:cNvSpPr/>
          <p:nvPr/>
        </p:nvSpPr>
        <p:spPr>
          <a:xfrm>
            <a:off x="38984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88"/>
          <p:cNvSpPr/>
          <p:nvPr/>
        </p:nvSpPr>
        <p:spPr>
          <a:xfrm>
            <a:off x="2331720" y="28040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89"/>
          <p:cNvSpPr/>
          <p:nvPr/>
        </p:nvSpPr>
        <p:spPr>
          <a:xfrm>
            <a:off x="42260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Text 90"/>
          <p:cNvSpPr/>
          <p:nvPr/>
        </p:nvSpPr>
        <p:spPr>
          <a:xfrm>
            <a:off x="2331720" y="24764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91"/>
          <p:cNvSpPr/>
          <p:nvPr/>
        </p:nvSpPr>
        <p:spPr>
          <a:xfrm>
            <a:off x="45536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 92"/>
          <p:cNvSpPr/>
          <p:nvPr/>
        </p:nvSpPr>
        <p:spPr>
          <a:xfrm>
            <a:off x="2331720" y="21488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93"/>
          <p:cNvSpPr/>
          <p:nvPr/>
        </p:nvSpPr>
        <p:spPr>
          <a:xfrm>
            <a:off x="4736520" y="42429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94"/>
          <p:cNvSpPr/>
          <p:nvPr/>
        </p:nvSpPr>
        <p:spPr>
          <a:xfrm>
            <a:off x="2880360" y="21945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95"/>
          <p:cNvSpPr/>
          <p:nvPr/>
        </p:nvSpPr>
        <p:spPr>
          <a:xfrm>
            <a:off x="3116520" y="2895480"/>
            <a:ext cx="655200" cy="982800"/>
          </a:xfrm>
          <a:custGeom>
            <a:avLst/>
            <a:gdLst>
              <a:gd name="textAreaLeft" fmla="*/ 0 w 655200"/>
              <a:gd name="textAreaRight" fmla="*/ 655560 w 655200"/>
              <a:gd name="textAreaTop" fmla="*/ 0 h 982800"/>
              <a:gd name="textAreaBottom" fmla="*/ 983160 h 982800"/>
            </a:gdLst>
            <a:ahLst/>
            <a:rect l="textAreaLeft" t="textAreaTop" r="textAreaRight" b="textAreaBottom"/>
            <a:pathLst>
              <a:path w="655625" h="982980">
                <a:moveTo>
                  <a:pt x="0" y="982980"/>
                </a:moveTo>
                <a:lnTo>
                  <a:pt x="655625" y="982980"/>
                </a:lnTo>
                <a:lnTo>
                  <a:pt x="0" y="0"/>
                </a:lnTo>
                <a:close/>
              </a:path>
            </a:pathLst>
          </a:custGeom>
          <a:solidFill>
            <a:srgbClr val="e0ac2b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 96"/>
          <p:cNvSpPr/>
          <p:nvPr/>
        </p:nvSpPr>
        <p:spPr>
          <a:xfrm>
            <a:off x="3117240" y="348480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97"/>
          <p:cNvSpPr/>
          <p:nvPr/>
        </p:nvSpPr>
        <p:spPr>
          <a:xfrm>
            <a:off x="3116520" y="3878640"/>
            <a:ext cx="655200" cy="982800"/>
          </a:xfrm>
          <a:custGeom>
            <a:avLst/>
            <a:gdLst>
              <a:gd name="textAreaLeft" fmla="*/ 0 w 655200"/>
              <a:gd name="textAreaRight" fmla="*/ 655560 w 655200"/>
              <a:gd name="textAreaTop" fmla="*/ 0 h 982800"/>
              <a:gd name="textAreaBottom" fmla="*/ 983160 h 982800"/>
            </a:gdLst>
            <a:ahLst/>
            <a:rect l="textAreaLeft" t="textAreaTop" r="textAreaRight" b="textAreaBottom"/>
            <a:pathLst>
              <a:path w="655625" h="982980">
                <a:moveTo>
                  <a:pt x="0" y="0"/>
                </a:moveTo>
                <a:lnTo>
                  <a:pt x="655625" y="0"/>
                </a:lnTo>
                <a:lnTo>
                  <a:pt x="0" y="982980"/>
                </a:lnTo>
                <a:close/>
              </a:path>
            </a:pathLst>
          </a:custGeom>
          <a:solidFill>
            <a:srgbClr val="c84f2f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98"/>
          <p:cNvSpPr/>
          <p:nvPr/>
        </p:nvSpPr>
        <p:spPr>
          <a:xfrm>
            <a:off x="3117240" y="397620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99"/>
          <p:cNvSpPr/>
          <p:nvPr/>
        </p:nvSpPr>
        <p:spPr>
          <a:xfrm>
            <a:off x="822960" y="3878280"/>
            <a:ext cx="3931920" cy="360"/>
          </a:xfrm>
          <a:prstGeom prst="line">
            <a:avLst/>
          </a:prstGeom>
          <a:ln w="33020">
            <a:solidFill>
              <a:srgbClr val="c84f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Text 100"/>
          <p:cNvSpPr/>
          <p:nvPr/>
        </p:nvSpPr>
        <p:spPr>
          <a:xfrm>
            <a:off x="4165200" y="35859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y =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101"/>
          <p:cNvSpPr/>
          <p:nvPr/>
        </p:nvSpPr>
        <p:spPr>
          <a:xfrm>
            <a:off x="5577840" y="2194560"/>
            <a:ext cx="605304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102"/>
          <p:cNvSpPr/>
          <p:nvPr/>
        </p:nvSpPr>
        <p:spPr>
          <a:xfrm>
            <a:off x="5943600" y="2432160"/>
            <a:ext cx="532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How to find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103"/>
          <p:cNvSpPr/>
          <p:nvPr/>
        </p:nvSpPr>
        <p:spPr>
          <a:xfrm>
            <a:off x="5897880" y="3035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104"/>
          <p:cNvSpPr/>
          <p:nvPr/>
        </p:nvSpPr>
        <p:spPr>
          <a:xfrm>
            <a:off x="6172200" y="28987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Join a point to its image; the mirror crosses the middle at 90°.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105"/>
          <p:cNvSpPr/>
          <p:nvPr/>
        </p:nvSpPr>
        <p:spPr>
          <a:xfrm>
            <a:off x="5897880" y="3639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106"/>
          <p:cNvSpPr/>
          <p:nvPr/>
        </p:nvSpPr>
        <p:spPr>
          <a:xfrm>
            <a:off x="6172200" y="350208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Here every point is the same distance above/below y = 1.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107"/>
          <p:cNvSpPr/>
          <p:nvPr/>
        </p:nvSpPr>
        <p:spPr>
          <a:xfrm>
            <a:off x="5897880" y="42429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108"/>
          <p:cNvSpPr/>
          <p:nvPr/>
        </p:nvSpPr>
        <p:spPr>
          <a:xfrm>
            <a:off x="6172200" y="410580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Answer: a REFLECTION in the line y = 1.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109"/>
          <p:cNvSpPr/>
          <p:nvPr/>
        </p:nvSpPr>
        <p:spPr>
          <a:xfrm>
            <a:off x="5897880" y="48463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 110"/>
          <p:cNvSpPr/>
          <p:nvPr/>
        </p:nvSpPr>
        <p:spPr>
          <a:xfrm>
            <a:off x="6172200" y="470916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Always give the EQUATION of the mirror line.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11"/>
          <p:cNvSpPr/>
          <p:nvPr/>
        </p:nvSpPr>
        <p:spPr>
          <a:xfrm>
            <a:off x="5897880" y="54496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Text 112"/>
          <p:cNvSpPr/>
          <p:nvPr/>
        </p:nvSpPr>
        <p:spPr>
          <a:xfrm>
            <a:off x="6172200" y="53125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‘</a:t>
            </a: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Reflected in a horizontal line’ is not enough.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 113"/>
          <p:cNvSpPr/>
          <p:nvPr/>
        </p:nvSpPr>
        <p:spPr>
          <a:xfrm>
            <a:off x="567000" y="62636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Say REFLECTION and the equation of the mirror line — both are needed.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ENLARGEMENT · PERFORMING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Scale Factor and Centre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Enlarge triangle A by scale factor 2, centre (0, 0).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Distances from the centre are multiplied by 2.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41"/>
          <p:cNvSpPr/>
          <p:nvPr/>
        </p:nvSpPr>
        <p:spPr>
          <a:xfrm>
            <a:off x="822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42"/>
          <p:cNvSpPr/>
          <p:nvPr/>
        </p:nvSpPr>
        <p:spPr>
          <a:xfrm>
            <a:off x="822960" y="617220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43"/>
          <p:cNvSpPr/>
          <p:nvPr/>
        </p:nvSpPr>
        <p:spPr>
          <a:xfrm>
            <a:off x="11505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44"/>
          <p:cNvSpPr/>
          <p:nvPr/>
        </p:nvSpPr>
        <p:spPr>
          <a:xfrm>
            <a:off x="822960" y="5844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45"/>
          <p:cNvSpPr/>
          <p:nvPr/>
        </p:nvSpPr>
        <p:spPr>
          <a:xfrm>
            <a:off x="14781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46"/>
          <p:cNvSpPr/>
          <p:nvPr/>
        </p:nvSpPr>
        <p:spPr>
          <a:xfrm>
            <a:off x="822960" y="55166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47"/>
          <p:cNvSpPr/>
          <p:nvPr/>
        </p:nvSpPr>
        <p:spPr>
          <a:xfrm>
            <a:off x="18057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48"/>
          <p:cNvSpPr/>
          <p:nvPr/>
        </p:nvSpPr>
        <p:spPr>
          <a:xfrm>
            <a:off x="822960" y="51890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49"/>
          <p:cNvSpPr/>
          <p:nvPr/>
        </p:nvSpPr>
        <p:spPr>
          <a:xfrm>
            <a:off x="21333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50"/>
          <p:cNvSpPr/>
          <p:nvPr/>
        </p:nvSpPr>
        <p:spPr>
          <a:xfrm>
            <a:off x="822960" y="48614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51"/>
          <p:cNvSpPr/>
          <p:nvPr/>
        </p:nvSpPr>
        <p:spPr>
          <a:xfrm>
            <a:off x="246096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52"/>
          <p:cNvSpPr/>
          <p:nvPr/>
        </p:nvSpPr>
        <p:spPr>
          <a:xfrm>
            <a:off x="822960" y="45338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53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54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55"/>
          <p:cNvSpPr/>
          <p:nvPr/>
        </p:nvSpPr>
        <p:spPr>
          <a:xfrm>
            <a:off x="31165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56"/>
          <p:cNvSpPr/>
          <p:nvPr/>
        </p:nvSpPr>
        <p:spPr>
          <a:xfrm>
            <a:off x="822960" y="3878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57"/>
          <p:cNvSpPr/>
          <p:nvPr/>
        </p:nvSpPr>
        <p:spPr>
          <a:xfrm>
            <a:off x="34441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58"/>
          <p:cNvSpPr/>
          <p:nvPr/>
        </p:nvSpPr>
        <p:spPr>
          <a:xfrm>
            <a:off x="822960" y="35506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59"/>
          <p:cNvSpPr/>
          <p:nvPr/>
        </p:nvSpPr>
        <p:spPr>
          <a:xfrm>
            <a:off x="37717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60"/>
          <p:cNvSpPr/>
          <p:nvPr/>
        </p:nvSpPr>
        <p:spPr>
          <a:xfrm>
            <a:off x="822960" y="32230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61"/>
          <p:cNvSpPr/>
          <p:nvPr/>
        </p:nvSpPr>
        <p:spPr>
          <a:xfrm>
            <a:off x="40993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62"/>
          <p:cNvSpPr/>
          <p:nvPr/>
        </p:nvSpPr>
        <p:spPr>
          <a:xfrm>
            <a:off x="822960" y="28954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63"/>
          <p:cNvSpPr/>
          <p:nvPr/>
        </p:nvSpPr>
        <p:spPr>
          <a:xfrm>
            <a:off x="442692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64"/>
          <p:cNvSpPr/>
          <p:nvPr/>
        </p:nvSpPr>
        <p:spPr>
          <a:xfrm>
            <a:off x="822960" y="25678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65"/>
          <p:cNvSpPr/>
          <p:nvPr/>
        </p:nvSpPr>
        <p:spPr>
          <a:xfrm>
            <a:off x="4754880" y="2240280"/>
            <a:ext cx="360" cy="393192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66"/>
          <p:cNvSpPr/>
          <p:nvPr/>
        </p:nvSpPr>
        <p:spPr>
          <a:xfrm>
            <a:off x="822960" y="2240280"/>
            <a:ext cx="39319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67"/>
          <p:cNvSpPr/>
          <p:nvPr/>
        </p:nvSpPr>
        <p:spPr>
          <a:xfrm>
            <a:off x="822960" y="4206240"/>
            <a:ext cx="3931920" cy="36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68"/>
          <p:cNvSpPr/>
          <p:nvPr/>
        </p:nvSpPr>
        <p:spPr>
          <a:xfrm>
            <a:off x="2788920" y="2240280"/>
            <a:ext cx="360" cy="3931920"/>
          </a:xfrm>
          <a:prstGeom prst="line">
            <a:avLst/>
          </a:prstGeom>
          <a:ln w="19050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 69"/>
          <p:cNvSpPr/>
          <p:nvPr/>
        </p:nvSpPr>
        <p:spPr>
          <a:xfrm>
            <a:off x="6217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ext 70"/>
          <p:cNvSpPr/>
          <p:nvPr/>
        </p:nvSpPr>
        <p:spPr>
          <a:xfrm>
            <a:off x="2331720" y="60807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 71"/>
          <p:cNvSpPr/>
          <p:nvPr/>
        </p:nvSpPr>
        <p:spPr>
          <a:xfrm>
            <a:off x="94932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ext 72"/>
          <p:cNvSpPr/>
          <p:nvPr/>
        </p:nvSpPr>
        <p:spPr>
          <a:xfrm>
            <a:off x="2331720" y="57531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ext 73"/>
          <p:cNvSpPr/>
          <p:nvPr/>
        </p:nvSpPr>
        <p:spPr>
          <a:xfrm>
            <a:off x="1277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ext 74"/>
          <p:cNvSpPr/>
          <p:nvPr/>
        </p:nvSpPr>
        <p:spPr>
          <a:xfrm>
            <a:off x="2331720" y="54255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ext 75"/>
          <p:cNvSpPr/>
          <p:nvPr/>
        </p:nvSpPr>
        <p:spPr>
          <a:xfrm>
            <a:off x="16048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ext 76"/>
          <p:cNvSpPr/>
          <p:nvPr/>
        </p:nvSpPr>
        <p:spPr>
          <a:xfrm>
            <a:off x="2331720" y="50979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 77"/>
          <p:cNvSpPr/>
          <p:nvPr/>
        </p:nvSpPr>
        <p:spPr>
          <a:xfrm>
            <a:off x="19324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 78"/>
          <p:cNvSpPr/>
          <p:nvPr/>
        </p:nvSpPr>
        <p:spPr>
          <a:xfrm>
            <a:off x="2331720" y="4770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ext 79"/>
          <p:cNvSpPr/>
          <p:nvPr/>
        </p:nvSpPr>
        <p:spPr>
          <a:xfrm>
            <a:off x="22600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 80"/>
          <p:cNvSpPr/>
          <p:nvPr/>
        </p:nvSpPr>
        <p:spPr>
          <a:xfrm>
            <a:off x="2331720" y="44424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-1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ext 81"/>
          <p:cNvSpPr/>
          <p:nvPr/>
        </p:nvSpPr>
        <p:spPr>
          <a:xfrm>
            <a:off x="291528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ext 82"/>
          <p:cNvSpPr/>
          <p:nvPr/>
        </p:nvSpPr>
        <p:spPr>
          <a:xfrm>
            <a:off x="2331720" y="3787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 83"/>
          <p:cNvSpPr/>
          <p:nvPr/>
        </p:nvSpPr>
        <p:spPr>
          <a:xfrm>
            <a:off x="32432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Text 84"/>
          <p:cNvSpPr/>
          <p:nvPr/>
        </p:nvSpPr>
        <p:spPr>
          <a:xfrm>
            <a:off x="2331720" y="34596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85"/>
          <p:cNvSpPr/>
          <p:nvPr/>
        </p:nvSpPr>
        <p:spPr>
          <a:xfrm>
            <a:off x="35708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 86"/>
          <p:cNvSpPr/>
          <p:nvPr/>
        </p:nvSpPr>
        <p:spPr>
          <a:xfrm>
            <a:off x="2331720" y="31320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 87"/>
          <p:cNvSpPr/>
          <p:nvPr/>
        </p:nvSpPr>
        <p:spPr>
          <a:xfrm>
            <a:off x="38984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 88"/>
          <p:cNvSpPr/>
          <p:nvPr/>
        </p:nvSpPr>
        <p:spPr>
          <a:xfrm>
            <a:off x="2331720" y="28040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Text 89"/>
          <p:cNvSpPr/>
          <p:nvPr/>
        </p:nvSpPr>
        <p:spPr>
          <a:xfrm>
            <a:off x="42260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Text 90"/>
          <p:cNvSpPr/>
          <p:nvPr/>
        </p:nvSpPr>
        <p:spPr>
          <a:xfrm>
            <a:off x="2331720" y="24764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Text 91"/>
          <p:cNvSpPr/>
          <p:nvPr/>
        </p:nvSpPr>
        <p:spPr>
          <a:xfrm>
            <a:off x="4553640" y="4251960"/>
            <a:ext cx="402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Text 92"/>
          <p:cNvSpPr/>
          <p:nvPr/>
        </p:nvSpPr>
        <p:spPr>
          <a:xfrm>
            <a:off x="2331720" y="21488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6b60"/>
                </a:solidFill>
                <a:latin typeface="Calibri"/>
                <a:ea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93"/>
          <p:cNvSpPr/>
          <p:nvPr/>
        </p:nvSpPr>
        <p:spPr>
          <a:xfrm>
            <a:off x="4736520" y="42429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94"/>
          <p:cNvSpPr/>
          <p:nvPr/>
        </p:nvSpPr>
        <p:spPr>
          <a:xfrm>
            <a:off x="2880360" y="21945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95"/>
          <p:cNvSpPr/>
          <p:nvPr/>
        </p:nvSpPr>
        <p:spPr>
          <a:xfrm>
            <a:off x="3444120" y="2240280"/>
            <a:ext cx="655200" cy="1310040"/>
          </a:xfrm>
          <a:custGeom>
            <a:avLst/>
            <a:gdLst>
              <a:gd name="textAreaLeft" fmla="*/ 0 w 655200"/>
              <a:gd name="textAreaRight" fmla="*/ 655560 w 655200"/>
              <a:gd name="textAreaTop" fmla="*/ 0 h 1310040"/>
              <a:gd name="textAreaBottom" fmla="*/ 1310400 h 1310040"/>
            </a:gdLst>
            <a:ahLst/>
            <a:rect l="textAreaLeft" t="textAreaTop" r="textAreaRight" b="textAreaBottom"/>
            <a:pathLst>
              <a:path w="655625" h="1310335">
                <a:moveTo>
                  <a:pt x="0" y="1310335"/>
                </a:moveTo>
                <a:lnTo>
                  <a:pt x="655625" y="1310335"/>
                </a:lnTo>
                <a:lnTo>
                  <a:pt x="0" y="0"/>
                </a:lnTo>
                <a:close/>
              </a:path>
            </a:pathLst>
          </a:custGeom>
          <a:solidFill>
            <a:srgbClr val="c84f2f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96"/>
          <p:cNvSpPr/>
          <p:nvPr/>
        </p:nvSpPr>
        <p:spPr>
          <a:xfrm>
            <a:off x="3543480" y="318960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97"/>
          <p:cNvSpPr/>
          <p:nvPr/>
        </p:nvSpPr>
        <p:spPr>
          <a:xfrm>
            <a:off x="3116520" y="3223440"/>
            <a:ext cx="326880" cy="655200"/>
          </a:xfrm>
          <a:custGeom>
            <a:avLst/>
            <a:gdLst>
              <a:gd name="textAreaLeft" fmla="*/ 0 w 326880"/>
              <a:gd name="textAreaRight" fmla="*/ 327240 w 326880"/>
              <a:gd name="textAreaTop" fmla="*/ 0 h 655200"/>
              <a:gd name="textAreaBottom" fmla="*/ 655560 h 655200"/>
            </a:gdLst>
            <a:ahLst/>
            <a:rect l="textAreaLeft" t="textAreaTop" r="textAreaRight" b="textAreaBottom"/>
            <a:pathLst>
              <a:path w="327355" h="655625">
                <a:moveTo>
                  <a:pt x="0" y="655625"/>
                </a:moveTo>
                <a:lnTo>
                  <a:pt x="327355" y="655625"/>
                </a:lnTo>
                <a:lnTo>
                  <a:pt x="0" y="0"/>
                </a:lnTo>
                <a:close/>
              </a:path>
            </a:pathLst>
          </a:custGeom>
          <a:solidFill>
            <a:srgbClr val="e0ac2b">
              <a:alpha val="5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98"/>
          <p:cNvSpPr/>
          <p:nvPr/>
        </p:nvSpPr>
        <p:spPr>
          <a:xfrm>
            <a:off x="3018960" y="3550320"/>
            <a:ext cx="456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99"/>
          <p:cNvSpPr/>
          <p:nvPr/>
        </p:nvSpPr>
        <p:spPr>
          <a:xfrm>
            <a:off x="2724840" y="4142160"/>
            <a:ext cx="127800" cy="127800"/>
          </a:xfrm>
          <a:prstGeom prst="ellipse">
            <a:avLst/>
          </a:prstGeom>
          <a:solidFill>
            <a:srgbClr val="c84f2f"/>
          </a:solidFill>
          <a:ln w="127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 100"/>
          <p:cNvSpPr/>
          <p:nvPr/>
        </p:nvSpPr>
        <p:spPr>
          <a:xfrm>
            <a:off x="2880360" y="38952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84f2f"/>
                </a:solidFill>
                <a:latin typeface="Calibri"/>
                <a:ea typeface="Calibri"/>
              </a:rPr>
              <a:t>centre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101"/>
          <p:cNvSpPr/>
          <p:nvPr/>
        </p:nvSpPr>
        <p:spPr>
          <a:xfrm>
            <a:off x="2788920" y="4206240"/>
            <a:ext cx="655200" cy="360"/>
          </a:xfrm>
          <a:prstGeom prst="line">
            <a:avLst/>
          </a:prstGeom>
          <a:ln w="33020">
            <a:solidFill>
              <a:srgbClr val="5c6b6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02"/>
          <p:cNvSpPr/>
          <p:nvPr/>
        </p:nvSpPr>
        <p:spPr>
          <a:xfrm>
            <a:off x="2788920" y="4206240"/>
            <a:ext cx="1310400" cy="360"/>
          </a:xfrm>
          <a:prstGeom prst="line">
            <a:avLst/>
          </a:prstGeom>
          <a:ln w="33020">
            <a:solidFill>
              <a:srgbClr val="5c6b6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03"/>
          <p:cNvSpPr/>
          <p:nvPr/>
        </p:nvSpPr>
        <p:spPr>
          <a:xfrm>
            <a:off x="5577840" y="2194560"/>
            <a:ext cx="6053040" cy="3657240"/>
          </a:xfrm>
          <a:prstGeom prst="roundRect">
            <a:avLst>
              <a:gd name="adj" fmla="val 1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 104"/>
          <p:cNvSpPr/>
          <p:nvPr/>
        </p:nvSpPr>
        <p:spPr>
          <a:xfrm>
            <a:off x="5943600" y="2432160"/>
            <a:ext cx="5321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How to do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105"/>
          <p:cNvSpPr/>
          <p:nvPr/>
        </p:nvSpPr>
        <p:spPr>
          <a:xfrm>
            <a:off x="5897880" y="3035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Text 106"/>
          <p:cNvSpPr/>
          <p:nvPr/>
        </p:nvSpPr>
        <p:spPr>
          <a:xfrm>
            <a:off x="6172200" y="28987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Draw rays from the CENTRE through each corner.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107"/>
          <p:cNvSpPr/>
          <p:nvPr/>
        </p:nvSpPr>
        <p:spPr>
          <a:xfrm>
            <a:off x="5897880" y="3639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Text 108"/>
          <p:cNvSpPr/>
          <p:nvPr/>
        </p:nvSpPr>
        <p:spPr>
          <a:xfrm>
            <a:off x="6172200" y="350208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Multiply the distance from the centre by the SCALE FACTOR.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109"/>
          <p:cNvSpPr/>
          <p:nvPr/>
        </p:nvSpPr>
        <p:spPr>
          <a:xfrm>
            <a:off x="5897880" y="42429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Text 110"/>
          <p:cNvSpPr/>
          <p:nvPr/>
        </p:nvSpPr>
        <p:spPr>
          <a:xfrm>
            <a:off x="6172200" y="410580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SF 2: each corner goes TWICE as far from the centre.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111"/>
          <p:cNvSpPr/>
          <p:nvPr/>
        </p:nvSpPr>
        <p:spPr>
          <a:xfrm>
            <a:off x="5897880" y="48463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Text 112"/>
          <p:cNvSpPr/>
          <p:nvPr/>
        </p:nvSpPr>
        <p:spPr>
          <a:xfrm>
            <a:off x="6172200" y="470916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Every length doubles; the angles stay the same.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113"/>
          <p:cNvSpPr/>
          <p:nvPr/>
        </p:nvSpPr>
        <p:spPr>
          <a:xfrm>
            <a:off x="5897880" y="54496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114"/>
          <p:cNvSpPr/>
          <p:nvPr/>
        </p:nvSpPr>
        <p:spPr>
          <a:xfrm>
            <a:off x="6172200" y="5312520"/>
            <a:ext cx="5303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Object and image are SIMILAR (same shape, different size).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 115"/>
          <p:cNvSpPr/>
          <p:nvPr/>
        </p:nvSpPr>
        <p:spPr>
          <a:xfrm>
            <a:off x="567000" y="62636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Rule for centre (0,0): multiply both coordinates by the scale factor.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ENLARGEMENT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Fractional &amp; Negative Scale Factors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An ‘enlargement’ can make a shape SMALLER or flip it.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scale factor tells you which.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41"/>
          <p:cNvSpPr/>
          <p:nvPr/>
        </p:nvSpPr>
        <p:spPr>
          <a:xfrm>
            <a:off x="567000" y="2286000"/>
            <a:ext cx="11063880" cy="109692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Text 42"/>
          <p:cNvSpPr/>
          <p:nvPr/>
        </p:nvSpPr>
        <p:spPr>
          <a:xfrm>
            <a:off x="914400" y="239580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SF greater than 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 43"/>
          <p:cNvSpPr/>
          <p:nvPr/>
        </p:nvSpPr>
        <p:spPr>
          <a:xfrm>
            <a:off x="914400" y="285300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bigger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 44"/>
          <p:cNvSpPr/>
          <p:nvPr/>
        </p:nvSpPr>
        <p:spPr>
          <a:xfrm>
            <a:off x="5120640" y="2286000"/>
            <a:ext cx="6309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SF 3 → 3× as far from the centre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45"/>
          <p:cNvSpPr/>
          <p:nvPr/>
        </p:nvSpPr>
        <p:spPr>
          <a:xfrm>
            <a:off x="567000" y="3520440"/>
            <a:ext cx="11063880" cy="1096920"/>
          </a:xfrm>
          <a:prstGeom prst="roundRect">
            <a:avLst>
              <a:gd name="adj" fmla="val 5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Text 46"/>
          <p:cNvSpPr/>
          <p:nvPr/>
        </p:nvSpPr>
        <p:spPr>
          <a:xfrm>
            <a:off x="914400" y="363024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SF between 0 and 1 (a fraction)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47"/>
          <p:cNvSpPr/>
          <p:nvPr/>
        </p:nvSpPr>
        <p:spPr>
          <a:xfrm>
            <a:off x="914400" y="408744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SMALLER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Text 48"/>
          <p:cNvSpPr/>
          <p:nvPr/>
        </p:nvSpPr>
        <p:spPr>
          <a:xfrm>
            <a:off x="5120640" y="3520440"/>
            <a:ext cx="6309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SF ½ → half as far from the centre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49"/>
          <p:cNvSpPr/>
          <p:nvPr/>
        </p:nvSpPr>
        <p:spPr>
          <a:xfrm>
            <a:off x="567000" y="4754880"/>
            <a:ext cx="11063880" cy="109692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 50"/>
          <p:cNvSpPr/>
          <p:nvPr/>
        </p:nvSpPr>
        <p:spPr>
          <a:xfrm>
            <a:off x="914400" y="486468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NEGATIVE SF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51"/>
          <p:cNvSpPr/>
          <p:nvPr/>
        </p:nvSpPr>
        <p:spPr>
          <a:xfrm>
            <a:off x="914400" y="532188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other side of the centre, upside down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Text 52"/>
          <p:cNvSpPr/>
          <p:nvPr/>
        </p:nvSpPr>
        <p:spPr>
          <a:xfrm>
            <a:off x="5120640" y="4754880"/>
            <a:ext cx="6309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SF −2 → twice as far, but through the centre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53"/>
          <p:cNvSpPr/>
          <p:nvPr/>
        </p:nvSpPr>
        <p:spPr>
          <a:xfrm>
            <a:off x="567000" y="598932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Text 54"/>
          <p:cNvSpPr/>
          <p:nvPr/>
        </p:nvSpPr>
        <p:spPr>
          <a:xfrm>
            <a:off x="841320" y="59893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The image is still called an enlargement — even when it gets smaller.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ENLARGEMENT · DESCRIBING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Scale Factor &amp; Centre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Two things to find: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scale factor (compare lengths) and the centre (draw rays).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41"/>
          <p:cNvSpPr/>
          <p:nvPr/>
        </p:nvSpPr>
        <p:spPr>
          <a:xfrm>
            <a:off x="567000" y="2240280"/>
            <a:ext cx="5440320" cy="3382920"/>
          </a:xfrm>
          <a:prstGeom prst="roundRect">
            <a:avLst>
              <a:gd name="adj" fmla="val 162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Text 42"/>
          <p:cNvSpPr/>
          <p:nvPr/>
        </p:nvSpPr>
        <p:spPr>
          <a:xfrm>
            <a:off x="932760" y="24778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1. The scale factor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Text 43"/>
          <p:cNvSpPr/>
          <p:nvPr/>
        </p:nvSpPr>
        <p:spPr>
          <a:xfrm>
            <a:off x="914400" y="292608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Cambria"/>
                <a:ea typeface="Cambria"/>
              </a:rPr>
              <a:t>SF  =  image length ÷ object length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ambria"/>
                <a:ea typeface="Cambria"/>
              </a:rPr>
              <a:t>e.g. object side 2, image side 6  →  SF =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If the image is smaller, the SF is a fraction (e.g. ½).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44"/>
          <p:cNvSpPr/>
          <p:nvPr/>
        </p:nvSpPr>
        <p:spPr>
          <a:xfrm>
            <a:off x="6190560" y="2240280"/>
            <a:ext cx="5440320" cy="3382920"/>
          </a:xfrm>
          <a:prstGeom prst="roundRect">
            <a:avLst>
              <a:gd name="adj" fmla="val 162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Text 45"/>
          <p:cNvSpPr/>
          <p:nvPr/>
        </p:nvSpPr>
        <p:spPr>
          <a:xfrm>
            <a:off x="6556320" y="24778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2. The centre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 46"/>
          <p:cNvSpPr/>
          <p:nvPr/>
        </p:nvSpPr>
        <p:spPr>
          <a:xfrm>
            <a:off x="6537960" y="292608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ambria"/>
                <a:ea typeface="Cambria"/>
              </a:rPr>
              <a:t>Draw a RAY through each corner and its image.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Cambria"/>
                <a:ea typeface="Cambria"/>
              </a:rPr>
              <a:t>The rays all meet at ONE point — that is the centre.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Give it as coordinates, e.g. (1, 2).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47"/>
          <p:cNvSpPr/>
          <p:nvPr/>
        </p:nvSpPr>
        <p:spPr>
          <a:xfrm>
            <a:off x="567000" y="580644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48"/>
          <p:cNvSpPr/>
          <p:nvPr/>
        </p:nvSpPr>
        <p:spPr>
          <a:xfrm>
            <a:off x="841320" y="580644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e.g. ‘Enlargement, scale factor 2, centre (1, 1)’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REVISION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Congruent or Similar?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Three transformations keep the size; one changes it.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41"/>
          <p:cNvSpPr/>
          <p:nvPr/>
        </p:nvSpPr>
        <p:spPr>
          <a:xfrm>
            <a:off x="567000" y="228600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CONGRUENT  (same size)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43"/>
          <p:cNvSpPr/>
          <p:nvPr/>
        </p:nvSpPr>
        <p:spPr>
          <a:xfrm>
            <a:off x="868680" y="322776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Text 44"/>
          <p:cNvSpPr/>
          <p:nvPr/>
        </p:nvSpPr>
        <p:spPr>
          <a:xfrm>
            <a:off x="1170360" y="3108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Translation — a slide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45"/>
          <p:cNvSpPr/>
          <p:nvPr/>
        </p:nvSpPr>
        <p:spPr>
          <a:xfrm>
            <a:off x="868680" y="388620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Text 46"/>
          <p:cNvSpPr/>
          <p:nvPr/>
        </p:nvSpPr>
        <p:spPr>
          <a:xfrm>
            <a:off x="1170360" y="376740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Rotation — a turn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47"/>
          <p:cNvSpPr/>
          <p:nvPr/>
        </p:nvSpPr>
        <p:spPr>
          <a:xfrm>
            <a:off x="868680" y="454464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Text 48"/>
          <p:cNvSpPr/>
          <p:nvPr/>
        </p:nvSpPr>
        <p:spPr>
          <a:xfrm>
            <a:off x="1170360" y="44258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Reflection — a flip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Text 49"/>
          <p:cNvSpPr/>
          <p:nvPr/>
        </p:nvSpPr>
        <p:spPr>
          <a:xfrm>
            <a:off x="914400" y="50292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Lengths and angles are unchanged.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50"/>
          <p:cNvSpPr/>
          <p:nvPr/>
        </p:nvSpPr>
        <p:spPr>
          <a:xfrm>
            <a:off x="6190560" y="228600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Text 51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SIMILAR  (different size)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52"/>
          <p:cNvSpPr/>
          <p:nvPr/>
        </p:nvSpPr>
        <p:spPr>
          <a:xfrm>
            <a:off x="6492240" y="322776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Text 53"/>
          <p:cNvSpPr/>
          <p:nvPr/>
        </p:nvSpPr>
        <p:spPr>
          <a:xfrm>
            <a:off x="6793920" y="3108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Enlargement — a resize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54"/>
          <p:cNvSpPr/>
          <p:nvPr/>
        </p:nvSpPr>
        <p:spPr>
          <a:xfrm>
            <a:off x="6492240" y="388620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Text 55"/>
          <p:cNvSpPr/>
          <p:nvPr/>
        </p:nvSpPr>
        <p:spPr>
          <a:xfrm>
            <a:off x="6793920" y="376740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Angles stay the same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56"/>
          <p:cNvSpPr/>
          <p:nvPr/>
        </p:nvSpPr>
        <p:spPr>
          <a:xfrm>
            <a:off x="6492240" y="454464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Text 57"/>
          <p:cNvSpPr/>
          <p:nvPr/>
        </p:nvSpPr>
        <p:spPr>
          <a:xfrm>
            <a:off x="6793920" y="44258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Lengths are multiplied by the SF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Text 58"/>
          <p:cNvSpPr/>
          <p:nvPr/>
        </p:nvSpPr>
        <p:spPr>
          <a:xfrm>
            <a:off x="6537960" y="50292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Only the size changes — the shape is the same.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Text 59"/>
          <p:cNvSpPr/>
          <p:nvPr/>
        </p:nvSpPr>
        <p:spPr>
          <a:xfrm>
            <a:off x="567000" y="5760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In the exam: describe ONE transformation only, with every detail.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6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These are grid questions — shown exactly as they appear in the exam.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Perform or describe?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1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2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If describing: name it, then give EVERY detail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6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Use tracing paper for rotations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7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Draw rays to find a centre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39"/>
          <p:cNvSpPr/>
          <p:nvPr/>
        </p:nvSpPr>
        <p:spPr>
          <a:xfrm>
            <a:off x="1999440" y="2808360"/>
            <a:ext cx="8192520" cy="252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0" name="Image 0" descr="/tmp/work/trfq-34.png"/>
          <p:cNvPicPr/>
          <p:nvPr/>
        </p:nvPicPr>
        <p:blipFill>
          <a:blip r:embed="rId1"/>
          <a:stretch/>
        </p:blipFill>
        <p:spPr>
          <a:xfrm>
            <a:off x="2072520" y="2881440"/>
            <a:ext cx="8046360" cy="237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39"/>
          <p:cNvSpPr/>
          <p:nvPr/>
        </p:nvSpPr>
        <p:spPr>
          <a:xfrm>
            <a:off x="3638160" y="1481400"/>
            <a:ext cx="491508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1" name="Image 0" descr="/tmp/work/trfq-35.png"/>
          <p:cNvPicPr/>
          <p:nvPr/>
        </p:nvPicPr>
        <p:blipFill>
          <a:blip r:embed="rId1"/>
          <a:stretch/>
        </p:blipFill>
        <p:spPr>
          <a:xfrm>
            <a:off x="3711240" y="1554480"/>
            <a:ext cx="476892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39"/>
          <p:cNvSpPr/>
          <p:nvPr/>
        </p:nvSpPr>
        <p:spPr>
          <a:xfrm>
            <a:off x="2651040" y="1481400"/>
            <a:ext cx="688932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2" name="Image 0" descr="/tmp/work/trfq-36.png"/>
          <p:cNvPicPr/>
          <p:nvPr/>
        </p:nvPicPr>
        <p:blipFill>
          <a:blip r:embed="rId1"/>
          <a:stretch/>
        </p:blipFill>
        <p:spPr>
          <a:xfrm>
            <a:off x="2724120" y="1554480"/>
            <a:ext cx="674280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39"/>
          <p:cNvSpPr/>
          <p:nvPr/>
        </p:nvSpPr>
        <p:spPr>
          <a:xfrm>
            <a:off x="2123640" y="1481400"/>
            <a:ext cx="794412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3" name="Image 0" descr="/tmp/work/trfq-37.png"/>
          <p:cNvPicPr/>
          <p:nvPr/>
        </p:nvPicPr>
        <p:blipFill>
          <a:blip r:embed="rId1"/>
          <a:stretch/>
        </p:blipFill>
        <p:spPr>
          <a:xfrm>
            <a:off x="2196720" y="1554480"/>
            <a:ext cx="779796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39"/>
          <p:cNvSpPr/>
          <p:nvPr/>
        </p:nvSpPr>
        <p:spPr>
          <a:xfrm>
            <a:off x="2341800" y="1481400"/>
            <a:ext cx="750780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4" name="Image 0" descr="/tmp/work/trfq-38.png"/>
          <p:cNvPicPr/>
          <p:nvPr/>
        </p:nvPicPr>
        <p:blipFill>
          <a:blip r:embed="rId1"/>
          <a:stretch/>
        </p:blipFill>
        <p:spPr>
          <a:xfrm>
            <a:off x="2414880" y="1554480"/>
            <a:ext cx="73616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39"/>
          <p:cNvSpPr/>
          <p:nvPr/>
        </p:nvSpPr>
        <p:spPr>
          <a:xfrm>
            <a:off x="2777760" y="1481400"/>
            <a:ext cx="663588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5" name="Image 0" descr="/tmp/work/trfq-39.png"/>
          <p:cNvPicPr/>
          <p:nvPr/>
        </p:nvPicPr>
        <p:blipFill>
          <a:blip r:embed="rId1"/>
          <a:stretch/>
        </p:blipFill>
        <p:spPr>
          <a:xfrm>
            <a:off x="2850840" y="1554480"/>
            <a:ext cx="648972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Shape 39"/>
          <p:cNvSpPr/>
          <p:nvPr/>
        </p:nvSpPr>
        <p:spPr>
          <a:xfrm>
            <a:off x="2395800" y="1481400"/>
            <a:ext cx="740016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6" name="Image 0" descr="/tmp/work/trfq-40.png"/>
          <p:cNvPicPr/>
          <p:nvPr/>
        </p:nvPicPr>
        <p:blipFill>
          <a:blip r:embed="rId1"/>
          <a:stretch/>
        </p:blipFill>
        <p:spPr>
          <a:xfrm>
            <a:off x="2468880" y="1554480"/>
            <a:ext cx="72536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39"/>
          <p:cNvSpPr/>
          <p:nvPr/>
        </p:nvSpPr>
        <p:spPr>
          <a:xfrm>
            <a:off x="3771720" y="1481400"/>
            <a:ext cx="464760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7" name="Image 0" descr="/tmp/work/trfq-41.png"/>
          <p:cNvPicPr/>
          <p:nvPr/>
        </p:nvPicPr>
        <p:blipFill>
          <a:blip r:embed="rId1"/>
          <a:stretch/>
        </p:blipFill>
        <p:spPr>
          <a:xfrm>
            <a:off x="3845160" y="1554480"/>
            <a:ext cx="45014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Shape 39"/>
          <p:cNvSpPr/>
          <p:nvPr/>
        </p:nvSpPr>
        <p:spPr>
          <a:xfrm>
            <a:off x="2467800" y="1481400"/>
            <a:ext cx="725544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8" name="Image 0" descr="/tmp/work/trfq-42.png"/>
          <p:cNvPicPr/>
          <p:nvPr/>
        </p:nvPicPr>
        <p:blipFill>
          <a:blip r:embed="rId1"/>
          <a:stretch/>
        </p:blipFill>
        <p:spPr>
          <a:xfrm>
            <a:off x="2541240" y="1554480"/>
            <a:ext cx="710928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Shape 39"/>
          <p:cNvSpPr/>
          <p:nvPr/>
        </p:nvSpPr>
        <p:spPr>
          <a:xfrm>
            <a:off x="2254680" y="1481400"/>
            <a:ext cx="768168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9" name="Image 0" descr="/tmp/work/trfq-43.png"/>
          <p:cNvPicPr/>
          <p:nvPr/>
        </p:nvPicPr>
        <p:blipFill>
          <a:blip r:embed="rId1"/>
          <a:stretch/>
        </p:blipFill>
        <p:spPr>
          <a:xfrm>
            <a:off x="2327760" y="1554480"/>
            <a:ext cx="753552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5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6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7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9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TRANSLATION → give the column vector (across, up).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1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ROTATION → give the angle, the direction AND the centre.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3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4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REFLECTION → give the EQUATION of the mirror line.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5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6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ENLARGEMENT → give the scale factor AND the centre.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7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8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Translation, rotation, reflection: congruent. Enlargement: similar.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9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0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name the transformation, then give every detail — one transformation only.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1821</Words>
  <Paragraphs>420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2026-07-12T09:35:48Z</dcterms:created>
  <dc:creator>Zahra Sheikh Ali</dc:creator>
  <dc:description/>
  <dc:language>en-US</dc:language>
  <cp:lastModifiedBy>zahraa sheik ali</cp:lastModifiedBy>
  <dcterms:modified xsi:type="dcterms:W3CDTF">2026-07-23T19:47:53Z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25</vt:r8>
  </property>
  <property fmtid="{D5CDD505-2E9C-101B-9397-08002B2CF9AE}" pid="3" name="PresentationFormat">
    <vt:lpwstr>Custom</vt:lpwstr>
  </property>
  <property fmtid="{D5CDD505-2E9C-101B-9397-08002B2CF9AE}" pid="4" name="Slides">
    <vt:r8>25</vt:r8>
  </property>
</Properties>
</file>