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9144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 &lt; x ≤ 3</a:t>
            </a:r>
            <a:endParaRPr lang="en-US" sz="50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Inequalities</a:t>
            </a:r>
            <a:endParaRPr lang="en-US" sz="46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 · Number Lines · Solving · Compound · Manipulating · Past-Paper Practice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inequality compares two amounts.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them, show them on number lines, solve them (mind the negative-flip rule), then handle compound and ‘manipulated’ inequalities — with lots of exam practice.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 &amp; meaning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 lines &amp; values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inequalities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 inequalities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Manipulating (range of x²)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· less/greater than · integer · compound · range · solution set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NOTATION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Symbols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7830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66928" y="20574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</a:t>
            </a:r>
            <a:endParaRPr lang="en-US" sz="5800" dirty="0"/>
          </a:p>
        </p:txBody>
      </p:sp>
      <p:sp>
        <p:nvSpPr>
          <p:cNvPr id="43" name="Text 41"/>
          <p:cNvSpPr/>
          <p:nvPr/>
        </p:nvSpPr>
        <p:spPr>
          <a:xfrm>
            <a:off x="749808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less than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346704" y="17830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46704" y="20574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5800" dirty="0"/>
          </a:p>
        </p:txBody>
      </p:sp>
      <p:sp>
        <p:nvSpPr>
          <p:cNvPr id="46" name="Text 44"/>
          <p:cNvSpPr/>
          <p:nvPr/>
        </p:nvSpPr>
        <p:spPr>
          <a:xfrm>
            <a:off x="3529584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greater than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17830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26480" y="20574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</a:t>
            </a:r>
            <a:endParaRPr lang="en-US" sz="5800" dirty="0"/>
          </a:p>
        </p:txBody>
      </p:sp>
      <p:sp>
        <p:nvSpPr>
          <p:cNvPr id="49" name="Text 47"/>
          <p:cNvSpPr/>
          <p:nvPr/>
        </p:nvSpPr>
        <p:spPr>
          <a:xfrm>
            <a:off x="6309360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 to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8906256" y="17830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906256" y="20574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</a:t>
            </a:r>
            <a:endParaRPr lang="en-US" sz="5800" dirty="0"/>
          </a:p>
        </p:txBody>
      </p:sp>
      <p:sp>
        <p:nvSpPr>
          <p:cNvPr id="52" name="Text 50"/>
          <p:cNvSpPr/>
          <p:nvPr/>
        </p:nvSpPr>
        <p:spPr>
          <a:xfrm>
            <a:off x="9089136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or equal to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566928" y="4343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86968" y="43434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variable.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&gt; 9 means ‘x is greater than 9’; −5 ≤ n &lt; 2 means n is from −5 (included) up to 2 (not included).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66928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  </a:t>
            </a:r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pPr algn="ctr"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equals     </a:t>
            </a:r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</a:t>
            </a:r>
            <a:pPr algn="ctr"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approximately equals     </a:t>
            </a:r>
            <a:pPr algn="ctr"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</a:t>
            </a:r>
            <a:pPr algn="ctr"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not equal to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NUMBER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Hollow or Solid Circle?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Hollow ○ for &lt; or &gt;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(value NOT included).   </a:t>
            </a:r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● for ≤ or ≥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(value IS included). The arrow shows the direction.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188720" y="269748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188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87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645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44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03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01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5603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591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0175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163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474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73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931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0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389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87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8463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451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3035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023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760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59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217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016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675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73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389120" y="2697480"/>
            <a:ext cx="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4311396" y="261975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0" y="2496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&gt; 1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188720" y="365760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188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7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1645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444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103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901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25603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3591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0175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163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3474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73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3931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730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389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187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48463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6451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3035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1023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760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559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6217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016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6675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73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017520" y="3657600"/>
            <a:ext cx="-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101" name="Shape 99"/>
          <p:cNvSpPr/>
          <p:nvPr/>
        </p:nvSpPr>
        <p:spPr>
          <a:xfrm>
            <a:off x="2939796" y="357987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315200" y="34564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≤ −2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1188720" y="461772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1188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87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1645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444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2103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01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25603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3591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30175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8163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3474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73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3931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730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4389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187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48463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451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53035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023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5760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559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6217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016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6675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473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2560320" y="4617720"/>
            <a:ext cx="320040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82596" y="453999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682996" y="453999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315200" y="4416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&lt; x ≤ 4</a:t>
            </a:r>
            <a:endParaRPr lang="en-US" sz="1800" dirty="0"/>
          </a:p>
        </p:txBody>
      </p:sp>
      <p:sp>
        <p:nvSpPr>
          <p:cNvPr id="134" name="Text 132"/>
          <p:cNvSpPr/>
          <p:nvPr/>
        </p:nvSpPr>
        <p:spPr>
          <a:xfrm>
            <a:off x="566928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circles shows a value trapped between two bounds.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Inequality Shown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inequalities split into two parts — read them as ‘… or …’.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188720" y="269748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188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87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645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44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03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01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5603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591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0175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163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474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73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931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0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389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87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8463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451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3035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023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7607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595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2179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0167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675120" y="264261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73952" y="277977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474720" y="2697480"/>
            <a:ext cx="228600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96996" y="261975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82996" y="261975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315200" y="2496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&lt; n ≤ 4</a:t>
            </a:r>
            <a:endParaRPr lang="en-US" sz="1700" dirty="0"/>
          </a:p>
        </p:txBody>
      </p:sp>
      <p:sp>
        <p:nvSpPr>
          <p:cNvPr id="74" name="Shape 72"/>
          <p:cNvSpPr/>
          <p:nvPr/>
        </p:nvSpPr>
        <p:spPr>
          <a:xfrm>
            <a:off x="1188720" y="365760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188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87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645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444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2103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01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25603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591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30175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8163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3474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273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3931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730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4389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87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463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6451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53035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023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57607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5595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62179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0167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6675120" y="360273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473952" y="37398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3017520" y="3657600"/>
            <a:ext cx="-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2939796" y="357987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389120" y="3657600"/>
            <a:ext cx="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4311396" y="357987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315200" y="34564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≤ −2  or  x ≥ 1</a:t>
            </a:r>
            <a:endParaRPr lang="en-US" sz="1700" dirty="0"/>
          </a:p>
        </p:txBody>
      </p:sp>
      <p:sp>
        <p:nvSpPr>
          <p:cNvPr id="106" name="Shape 104"/>
          <p:cNvSpPr/>
          <p:nvPr/>
        </p:nvSpPr>
        <p:spPr>
          <a:xfrm>
            <a:off x="1188720" y="4617720"/>
            <a:ext cx="548640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1188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87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109" name="Shape 107"/>
          <p:cNvSpPr/>
          <p:nvPr/>
        </p:nvSpPr>
        <p:spPr>
          <a:xfrm>
            <a:off x="1645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444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2103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01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25603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3591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30175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8163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3474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73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119" name="Shape 117"/>
          <p:cNvSpPr/>
          <p:nvPr/>
        </p:nvSpPr>
        <p:spPr>
          <a:xfrm>
            <a:off x="3931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730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4389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187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48463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451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53035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023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57607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5595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62179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0167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131" name="Shape 129"/>
          <p:cNvSpPr/>
          <p:nvPr/>
        </p:nvSpPr>
        <p:spPr>
          <a:xfrm>
            <a:off x="6675120" y="45628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473952" y="47000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3474720" y="4617720"/>
            <a:ext cx="-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3396996" y="453999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846320" y="4617720"/>
            <a:ext cx="100584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4768596" y="453999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315200" y="4416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&lt; −1  or  b &gt; 2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566928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arrows pointing outwards = an ‘or’ inequality; one bar between circles = a single range.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VALUES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Integers Fit?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end.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 circle ● means that value IS allowed; a hollow circle ○ means it is NOT.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011680" y="2788920"/>
            <a:ext cx="813816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01168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1051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68986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8869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36804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6687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04622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4505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72440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2323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0258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0141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08076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959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75894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5777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43712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3595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11530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1413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9348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9231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47166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27049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49840" y="2734056"/>
            <a:ext cx="0" cy="109728"/>
          </a:xfrm>
          <a:prstGeom prst="line">
            <a:avLst/>
          </a:prstGeom>
          <a:noFill/>
          <a:ln w="12700">
            <a:solidFill>
              <a:srgbClr val="1C2A2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948672" y="28712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724400" y="2788920"/>
            <a:ext cx="3390900" cy="0"/>
          </a:xfrm>
          <a:prstGeom prst="line">
            <a:avLst/>
          </a:prstGeom>
          <a:noFill/>
          <a:ln w="44450">
            <a:solidFill>
              <a:srgbClr val="C84F2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646676" y="2711196"/>
            <a:ext cx="155448" cy="155448"/>
          </a:xfrm>
          <a:prstGeom prst="ellipse">
            <a:avLst/>
          </a:prstGeom>
          <a:solidFill>
            <a:srgbClr val="C84F2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37576" y="2711196"/>
            <a:ext cx="155448" cy="155448"/>
          </a:xfrm>
          <a:prstGeom prst="ellipse">
            <a:avLst/>
          </a:prstGeom>
          <a:solidFill>
            <a:srgbClr val="F7F6EF"/>
          </a:solidFill>
          <a:ln w="25400">
            <a:solidFill>
              <a:srgbClr val="C84F2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" y="3246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 is an integer  and  −2 ≤ x &lt; 3</a:t>
            </a:r>
            <a:endParaRPr lang="en-US" sz="2100" dirty="0"/>
          </a:p>
        </p:txBody>
      </p:sp>
      <p:sp>
        <p:nvSpPr>
          <p:cNvPr id="74" name="Shape 72"/>
          <p:cNvSpPr/>
          <p:nvPr/>
        </p:nvSpPr>
        <p:spPr>
          <a:xfrm>
            <a:off x="1371600" y="38862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1691640" y="388620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●  −2 is included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means ‘or equal to’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6446520" y="38862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6766560" y="388620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  3 is NOT included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stops just before 3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566928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−2,  −1,  0,  1,  2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Inequalities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like an equation — with one golden rule.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the same to both sides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brackets first if needed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the sign if you × or ÷ by a negative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the answer on a number line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ONE STEP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Add, Subtract, Multiply, Divide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173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1732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same to both sides.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move reverses the sign: multiplying or dividing by a negative.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86968" y="24688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86968" y="27614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− 3 &lt; 5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886968" y="32369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 to both sides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6968" y="35112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 </a:t>
            </a:r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&lt; 8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217920" y="228600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537960" y="24688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537960" y="27614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+ 4 ≥ 6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6537960" y="32369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4 from both sides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537960" y="35112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 </a:t>
            </a:r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≥ 2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66928" y="416052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86968" y="4343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A POSITIVE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86968" y="46360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 ≤ 12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886968" y="51114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3   (sign stays)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86968" y="53858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 </a:t>
            </a:r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≤ 4</a:t>
            </a:r>
            <a:endParaRPr lang="en-US" sz="2000" dirty="0"/>
          </a:p>
        </p:txBody>
      </p:sp>
      <p:sp>
        <p:nvSpPr>
          <p:cNvPr id="58" name="Shape 56"/>
          <p:cNvSpPr/>
          <p:nvPr/>
        </p:nvSpPr>
        <p:spPr>
          <a:xfrm>
            <a:off x="6217920" y="416052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6537960" y="4343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A NEGATIVE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537960" y="46360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−2x &lt; 6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537960" y="51114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(−2)  —  FLIP the sign!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537960" y="53858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 </a:t>
            </a:r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&gt; −3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and subtracting never change the sign — only × or ÷ by a negative flips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BRACKETS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Expand, then Solve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any brackets before solving.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a POSITIVE keeps the sign the same.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a range, shown with the same symbol.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example — on a number line: a solid circle at 7, arrow pointing right.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4(2x − 1) ≥ 52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 8x − 4 ≥ 52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4:  8x ≥ 56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8: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≥ 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≥ 7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by a Negative — Flip!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or dividing by a negative reverses the inequality.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becomes ≥ (and &lt; becomes &gt;).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and subtracting NEVER flip the sign.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negative × or ÷ flips the sign.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 + 2(1 − 5a) ≤ 20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 8a + 2 − 10a ≤ 20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Simplify:  −2a + 2 ≤ 20  →  −2a ≤ 18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−2 — FLIP: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≥ −9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≥ −9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Inequalities with Two Sides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‘and’ vs ‘or’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do, do it to all three parts.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‘and’ → a single range between two numbers.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‘or’ → two separate rays, e.g. y ≥ 8 or y &lt; −4.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solutions here: 3, 4, 5, 6.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&lt; 3x − 1 ≤ 17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to all three parts: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&lt; 3x ≤ 18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all by 3: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&lt; x ≤ 6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&lt; x ≤ 6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· x ON BOTH SIDES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x Appears on Each 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the x-terms on ONE side first.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SMALLER x-term (here 2x) so x stays positive — no flip needed.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solve it like a one-sided inequality.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the smaller x-term keeps x positive and avoids a sign flip.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 − 1 ≥ 2x + 11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2x from both sides:  4x − 1 ≥ 11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1:  4x ≥ 12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4: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≥ 3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≥ 3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Manipulating Inequalities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range of an expression from the range of its letters.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square is never negative — check 0 too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Largest square = value furthest from 0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− b: biggest a minus smallest b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test BOTH ends carefully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MANIPULATING · SQUARES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Range of x²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square is never negative, so the smallest value is often 0 (if the range includes 0).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square comes from the end FURTHEST from zero — here (−3)² = 9.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just square the end values blindly.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0 lies between −3 and 2, the smallest square is 0, not (−3)².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≤ x ≤ 2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x²:  at x = 0  →  x² = 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x²:  at x = −3  →  x² = 9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≤ x² ≤ 9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≤ x² ≤ 9</a:t>
            </a:r>
            <a:endParaRPr lang="en-US" sz="2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MANIPULATING · SUBTRACTION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Range of a − b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− b, the maximum uses the biggest a and the SMALLEST b.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uses the smallest a and the LARGEST b.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adds — 4 − (−3) = 7.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 + n with 1 ≤ m ≤ 5 and −9 ≤ n ≤ 2:  −8 ≤ m + n ≤ 7.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 </a:t>
            </a:r>
            <a:pPr indent="0" marL="0">
              <a:buNone/>
            </a:pPr>
            <a:r>
              <a:rPr lang="en-US" sz="1400" b="1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≤ a ≤ 4   and   −3 ≤ b ≤ 2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 − b:  4 − (−3) = 7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 − b:  1 − 2 = −1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≤ a − b ≤ 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 ≤ a − b ≤ 7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 (1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—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each inequality, showing clear working. List integers where asked.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5d − 3 &gt; d + 17        (Edexcel, Jan 2013 Paper 2)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 &lt; 3x − 1 ≤ 17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4(2x − 1) ≥ 52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7 − 2x &lt; 3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is an integer.  List the values with  −3 &lt; n ≤ 2</a:t>
            </a:r>
            <a:endParaRPr lang="en-US" sz="155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2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d &gt; 5     2) 2 &lt; x ≤ 6     3) x ≥ 7     4) x &gt; 2     5) −2, −1, 0, 1, 2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 (2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Solving — Exam-Style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exam-style questions for extra practice. Show every step.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4x + 1 &gt; 19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3(x − 2) ≤ 9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5x + 2 ≥ 2x − 7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  6x − 5 &lt; 2x + 11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 −1 ≤ x &lt; 4  on a number line, and list the integers</a:t>
            </a:r>
            <a:endParaRPr lang="en-US" sz="155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2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x &gt; 4.5     2) x ≤ 5     3) x ≥ −3     4) x &lt; 4     5) −1, 0, 1, 2, 3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 (3 of 3)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Manipulating &amp; Ranges —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inequality for each expression from the ranges given.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≤ m ≤ 5 and −9 ≤ n ≤ 2.  Find an inequality for m + n     (June 2012 Paper 1)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question 1, find an inequality for (m + n)²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 −3 ≤ x ≤ 2,  work out the range of  x²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≤ a ≤ 4 and −3 ≤ b ≤ 2.  Find an inequality for a − b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≤ p ≤ 6 and 1 ≤ q ≤ 4.  Find an inequality for p − q</a:t>
            </a:r>
            <a:endParaRPr lang="en-US" sz="155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2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−8 ≤ m+n ≤ 7   2) 0 ≤ (m+n)² ≤ 64   3) 0 ≤ x² ≤ 9   4) −1 ≤ a−b ≤ 7   5) −2 ≤ p−q ≤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Hollow circle for &lt; &gt;, solid circle for ≤ ≥; the arrow shows the direction.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like equations — but FLIP the sign when you × or ÷ by a negative.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on both sides: move the smaller x-term first to keep x positive.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Compound: do the same to all parts; ‘and’ = one range, ‘or’ = two rays.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Manipulating: a square is never negative; for a − b use biggest a minus smallest b.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or dividing an inequality by a negative reverses the sign.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2026-06-29T11:55:53Z</dcterms:created>
  <dcterms:modified xsi:type="dcterms:W3CDTF">2026-06-29T11:55:53Z</dcterms:modified>
</cp:coreProperties>
</file>