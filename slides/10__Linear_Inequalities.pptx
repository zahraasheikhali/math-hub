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B7A1FF5-A36A-4686-978B-416C718F470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BDF0F7-933E-4AA5-BE47-D739B7E7651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CB741D-AC1B-4E4A-B2C9-8F2DFBEC21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E5972A-A2FB-4DC5-98A5-CBE2CE6792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0286CB-0289-492F-8D70-FECC599340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807256-3D2B-472E-A383-0E2AC95050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FED786-56F9-48FF-A8E4-3E14521721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87A39-30E3-4E1C-8029-2E89D8BF0B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A49183-A555-4989-9C8C-4894C31C41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AE5105-F973-4BCD-A6DB-5119B64E21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FFDB53-0AAC-45D0-9B10-0D2E741FEA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AD6FE4-DCE1-44D9-851C-C8C7F436EE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5AC7E5-17E8-4612-9B11-2F6DEACBC1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B3B0CD-19B0-4982-98B1-D2E4319256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C8415E-4601-441E-B27E-3B93ADE7D5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6D8E19-801D-485B-85E7-6D9190E50C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FFA444-A298-45FC-BF9A-178FF1612A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CF5A9A-9FF4-4BCE-BB46-DA44C2CDFD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EDA482-C38E-4DCB-979B-D36E852C66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F179E2-5E07-4FE8-84F0-0AFB782482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7680960" y="914400"/>
            <a:ext cx="4023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000" spc="-1" strike="noStrike">
                <a:solidFill>
                  <a:srgbClr val="33463a"/>
                </a:solidFill>
                <a:latin typeface="Cambria"/>
                <a:ea typeface="Cambria"/>
              </a:rPr>
              <a:t>−</a:t>
            </a:r>
            <a:r>
              <a:rPr b="1" i="1" lang="en-US" sz="5000" spc="-1" strike="noStrike">
                <a:solidFill>
                  <a:srgbClr val="33463a"/>
                </a:solidFill>
                <a:latin typeface="Cambria"/>
                <a:ea typeface="Cambria"/>
              </a:rPr>
              <a:t>5 &lt; x ≤ 3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e0ac2b"/>
                </a:solidFill>
                <a:latin typeface="Cambria"/>
                <a:ea typeface="Cambria"/>
              </a:rPr>
              <a:t>Linear Inequalities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Notation · Number Lines · Solving · Compound · Manipulating · Past-Paper Practice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What We Will Cover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An inequality compares two amounts.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Read and write them, show them on number lines, solve them (mind the negative-flip rule), then handle compound and ‘manipulated’ inequalities — with lots of exam practice.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Notation &amp; meaning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Number lines &amp; values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Solving inequalities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Compound inequalities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Manipulating (range of x²)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inequality · less/greater than · integer · compound · range · solution set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1 · NOTATION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Symbols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567000" y="1783080"/>
            <a:ext cx="2605680" cy="2285640"/>
          </a:xfrm>
          <a:prstGeom prst="roundRect">
            <a:avLst>
              <a:gd name="adj" fmla="val 24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40"/>
          <p:cNvSpPr/>
          <p:nvPr/>
        </p:nvSpPr>
        <p:spPr>
          <a:xfrm>
            <a:off x="567000" y="2057400"/>
            <a:ext cx="2605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1c2a22"/>
                </a:solidFill>
                <a:latin typeface="Cambria"/>
                <a:ea typeface="Cambria"/>
              </a:rPr>
              <a:t>&lt;</a:t>
            </a:r>
            <a:endParaRPr b="0" lang="en-US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41"/>
          <p:cNvSpPr/>
          <p:nvPr/>
        </p:nvSpPr>
        <p:spPr>
          <a:xfrm>
            <a:off x="749880" y="320040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is less than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42"/>
          <p:cNvSpPr/>
          <p:nvPr/>
        </p:nvSpPr>
        <p:spPr>
          <a:xfrm>
            <a:off x="3346560" y="1783080"/>
            <a:ext cx="2605680" cy="2285640"/>
          </a:xfrm>
          <a:prstGeom prst="roundRect">
            <a:avLst>
              <a:gd name="adj" fmla="val 24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3"/>
          <p:cNvSpPr/>
          <p:nvPr/>
        </p:nvSpPr>
        <p:spPr>
          <a:xfrm>
            <a:off x="3346560" y="2057400"/>
            <a:ext cx="2605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1c2a22"/>
                </a:solidFill>
                <a:latin typeface="Cambria"/>
                <a:ea typeface="Cambria"/>
              </a:rPr>
              <a:t>&gt;</a:t>
            </a:r>
            <a:endParaRPr b="0" lang="en-US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4"/>
          <p:cNvSpPr/>
          <p:nvPr/>
        </p:nvSpPr>
        <p:spPr>
          <a:xfrm>
            <a:off x="3529440" y="320040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is greater than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5"/>
          <p:cNvSpPr/>
          <p:nvPr/>
        </p:nvSpPr>
        <p:spPr>
          <a:xfrm>
            <a:off x="6126480" y="1783080"/>
            <a:ext cx="2605680" cy="2285640"/>
          </a:xfrm>
          <a:prstGeom prst="roundRect">
            <a:avLst>
              <a:gd name="adj" fmla="val 24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46"/>
          <p:cNvSpPr/>
          <p:nvPr/>
        </p:nvSpPr>
        <p:spPr>
          <a:xfrm>
            <a:off x="6126480" y="2057400"/>
            <a:ext cx="2605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1c2a22"/>
                </a:solidFill>
                <a:latin typeface="Cambria"/>
                <a:ea typeface="Cambria"/>
              </a:rPr>
              <a:t>≤</a:t>
            </a:r>
            <a:endParaRPr b="0" lang="en-US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7"/>
          <p:cNvSpPr/>
          <p:nvPr/>
        </p:nvSpPr>
        <p:spPr>
          <a:xfrm>
            <a:off x="6309360" y="320040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less than or equal to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48"/>
          <p:cNvSpPr/>
          <p:nvPr/>
        </p:nvSpPr>
        <p:spPr>
          <a:xfrm>
            <a:off x="8906400" y="1783080"/>
            <a:ext cx="2605680" cy="2285640"/>
          </a:xfrm>
          <a:prstGeom prst="roundRect">
            <a:avLst>
              <a:gd name="adj" fmla="val 24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9"/>
          <p:cNvSpPr/>
          <p:nvPr/>
        </p:nvSpPr>
        <p:spPr>
          <a:xfrm>
            <a:off x="8906400" y="2057400"/>
            <a:ext cx="2605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1c2a22"/>
                </a:solidFill>
                <a:latin typeface="Cambria"/>
                <a:ea typeface="Cambria"/>
              </a:rPr>
              <a:t>≥</a:t>
            </a:r>
            <a:endParaRPr b="0" lang="en-US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50"/>
          <p:cNvSpPr/>
          <p:nvPr/>
        </p:nvSpPr>
        <p:spPr>
          <a:xfrm>
            <a:off x="9089280" y="320040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greater than or equal to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51"/>
          <p:cNvSpPr/>
          <p:nvPr/>
        </p:nvSpPr>
        <p:spPr>
          <a:xfrm>
            <a:off x="567000" y="434340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52"/>
          <p:cNvSpPr/>
          <p:nvPr/>
        </p:nvSpPr>
        <p:spPr>
          <a:xfrm>
            <a:off x="887040" y="4343400"/>
            <a:ext cx="10423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Read from the variable.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x &gt; 9 means ‘x is greater than 9’; −5 ≤ n &lt; 2 means n is from −5 (included) up to 2 (not included).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53"/>
          <p:cNvSpPr/>
          <p:nvPr/>
        </p:nvSpPr>
        <p:spPr>
          <a:xfrm>
            <a:off x="567000" y="544068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Also: 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= 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equals   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≈ 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approximately equals   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≠ 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is not equal to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2 · NUMBER LINES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Hollow or Solid Circle?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9"/>
          <p:cNvSpPr/>
          <p:nvPr/>
        </p:nvSpPr>
        <p:spPr>
          <a:xfrm>
            <a:off x="567000" y="141732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40"/>
          <p:cNvSpPr/>
          <p:nvPr/>
        </p:nvSpPr>
        <p:spPr>
          <a:xfrm>
            <a:off x="887040" y="1417320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Hollow ○ for &lt; or &gt;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(value NOT included).   </a:t>
            </a: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Solid ● for ≤ or ≥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(value IS included). The arrow shows the direction.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41"/>
          <p:cNvSpPr/>
          <p:nvPr/>
        </p:nvSpPr>
        <p:spPr>
          <a:xfrm>
            <a:off x="1188720" y="2697480"/>
            <a:ext cx="548640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42"/>
          <p:cNvSpPr/>
          <p:nvPr/>
        </p:nvSpPr>
        <p:spPr>
          <a:xfrm>
            <a:off x="11887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43"/>
          <p:cNvSpPr/>
          <p:nvPr/>
        </p:nvSpPr>
        <p:spPr>
          <a:xfrm>
            <a:off x="9874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44"/>
          <p:cNvSpPr/>
          <p:nvPr/>
        </p:nvSpPr>
        <p:spPr>
          <a:xfrm>
            <a:off x="16459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45"/>
          <p:cNvSpPr/>
          <p:nvPr/>
        </p:nvSpPr>
        <p:spPr>
          <a:xfrm>
            <a:off x="14446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46"/>
          <p:cNvSpPr/>
          <p:nvPr/>
        </p:nvSpPr>
        <p:spPr>
          <a:xfrm>
            <a:off x="21031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47"/>
          <p:cNvSpPr/>
          <p:nvPr/>
        </p:nvSpPr>
        <p:spPr>
          <a:xfrm>
            <a:off x="19018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48"/>
          <p:cNvSpPr/>
          <p:nvPr/>
        </p:nvSpPr>
        <p:spPr>
          <a:xfrm>
            <a:off x="25603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49"/>
          <p:cNvSpPr/>
          <p:nvPr/>
        </p:nvSpPr>
        <p:spPr>
          <a:xfrm>
            <a:off x="23590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50"/>
          <p:cNvSpPr/>
          <p:nvPr/>
        </p:nvSpPr>
        <p:spPr>
          <a:xfrm>
            <a:off x="30175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51"/>
          <p:cNvSpPr/>
          <p:nvPr/>
        </p:nvSpPr>
        <p:spPr>
          <a:xfrm>
            <a:off x="28162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52"/>
          <p:cNvSpPr/>
          <p:nvPr/>
        </p:nvSpPr>
        <p:spPr>
          <a:xfrm>
            <a:off x="34747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53"/>
          <p:cNvSpPr/>
          <p:nvPr/>
        </p:nvSpPr>
        <p:spPr>
          <a:xfrm>
            <a:off x="32734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54"/>
          <p:cNvSpPr/>
          <p:nvPr/>
        </p:nvSpPr>
        <p:spPr>
          <a:xfrm>
            <a:off x="39319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55"/>
          <p:cNvSpPr/>
          <p:nvPr/>
        </p:nvSpPr>
        <p:spPr>
          <a:xfrm>
            <a:off x="37306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56"/>
          <p:cNvSpPr/>
          <p:nvPr/>
        </p:nvSpPr>
        <p:spPr>
          <a:xfrm>
            <a:off x="43891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57"/>
          <p:cNvSpPr/>
          <p:nvPr/>
        </p:nvSpPr>
        <p:spPr>
          <a:xfrm>
            <a:off x="41878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58"/>
          <p:cNvSpPr/>
          <p:nvPr/>
        </p:nvSpPr>
        <p:spPr>
          <a:xfrm>
            <a:off x="48463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59"/>
          <p:cNvSpPr/>
          <p:nvPr/>
        </p:nvSpPr>
        <p:spPr>
          <a:xfrm>
            <a:off x="46450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60"/>
          <p:cNvSpPr/>
          <p:nvPr/>
        </p:nvSpPr>
        <p:spPr>
          <a:xfrm>
            <a:off x="53035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61"/>
          <p:cNvSpPr/>
          <p:nvPr/>
        </p:nvSpPr>
        <p:spPr>
          <a:xfrm>
            <a:off x="51022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62"/>
          <p:cNvSpPr/>
          <p:nvPr/>
        </p:nvSpPr>
        <p:spPr>
          <a:xfrm>
            <a:off x="57607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63"/>
          <p:cNvSpPr/>
          <p:nvPr/>
        </p:nvSpPr>
        <p:spPr>
          <a:xfrm>
            <a:off x="55594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64"/>
          <p:cNvSpPr/>
          <p:nvPr/>
        </p:nvSpPr>
        <p:spPr>
          <a:xfrm>
            <a:off x="62179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65"/>
          <p:cNvSpPr/>
          <p:nvPr/>
        </p:nvSpPr>
        <p:spPr>
          <a:xfrm>
            <a:off x="60166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66"/>
          <p:cNvSpPr/>
          <p:nvPr/>
        </p:nvSpPr>
        <p:spPr>
          <a:xfrm>
            <a:off x="66751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67"/>
          <p:cNvSpPr/>
          <p:nvPr/>
        </p:nvSpPr>
        <p:spPr>
          <a:xfrm>
            <a:off x="64738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68"/>
          <p:cNvSpPr/>
          <p:nvPr/>
        </p:nvSpPr>
        <p:spPr>
          <a:xfrm>
            <a:off x="4389120" y="2697480"/>
            <a:ext cx="1005840" cy="360"/>
          </a:xfrm>
          <a:prstGeom prst="line">
            <a:avLst/>
          </a:prstGeom>
          <a:ln w="44450">
            <a:solidFill>
              <a:srgbClr val="c84f2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69"/>
          <p:cNvSpPr/>
          <p:nvPr/>
        </p:nvSpPr>
        <p:spPr>
          <a:xfrm>
            <a:off x="4311360" y="2619720"/>
            <a:ext cx="155160" cy="155160"/>
          </a:xfrm>
          <a:prstGeom prst="ellipse">
            <a:avLst/>
          </a:prstGeom>
          <a:solidFill>
            <a:srgbClr val="f7f6e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70"/>
          <p:cNvSpPr/>
          <p:nvPr/>
        </p:nvSpPr>
        <p:spPr>
          <a:xfrm>
            <a:off x="7315200" y="2496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x &gt;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71"/>
          <p:cNvSpPr/>
          <p:nvPr/>
        </p:nvSpPr>
        <p:spPr>
          <a:xfrm>
            <a:off x="1188720" y="3657600"/>
            <a:ext cx="548640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72"/>
          <p:cNvSpPr/>
          <p:nvPr/>
        </p:nvSpPr>
        <p:spPr>
          <a:xfrm>
            <a:off x="11887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73"/>
          <p:cNvSpPr/>
          <p:nvPr/>
        </p:nvSpPr>
        <p:spPr>
          <a:xfrm>
            <a:off x="9874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74"/>
          <p:cNvSpPr/>
          <p:nvPr/>
        </p:nvSpPr>
        <p:spPr>
          <a:xfrm>
            <a:off x="16459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75"/>
          <p:cNvSpPr/>
          <p:nvPr/>
        </p:nvSpPr>
        <p:spPr>
          <a:xfrm>
            <a:off x="14446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76"/>
          <p:cNvSpPr/>
          <p:nvPr/>
        </p:nvSpPr>
        <p:spPr>
          <a:xfrm>
            <a:off x="21031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77"/>
          <p:cNvSpPr/>
          <p:nvPr/>
        </p:nvSpPr>
        <p:spPr>
          <a:xfrm>
            <a:off x="19018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78"/>
          <p:cNvSpPr/>
          <p:nvPr/>
        </p:nvSpPr>
        <p:spPr>
          <a:xfrm>
            <a:off x="25603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79"/>
          <p:cNvSpPr/>
          <p:nvPr/>
        </p:nvSpPr>
        <p:spPr>
          <a:xfrm>
            <a:off x="23590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80"/>
          <p:cNvSpPr/>
          <p:nvPr/>
        </p:nvSpPr>
        <p:spPr>
          <a:xfrm>
            <a:off x="30175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81"/>
          <p:cNvSpPr/>
          <p:nvPr/>
        </p:nvSpPr>
        <p:spPr>
          <a:xfrm>
            <a:off x="28162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82"/>
          <p:cNvSpPr/>
          <p:nvPr/>
        </p:nvSpPr>
        <p:spPr>
          <a:xfrm>
            <a:off x="34747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83"/>
          <p:cNvSpPr/>
          <p:nvPr/>
        </p:nvSpPr>
        <p:spPr>
          <a:xfrm>
            <a:off x="32734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84"/>
          <p:cNvSpPr/>
          <p:nvPr/>
        </p:nvSpPr>
        <p:spPr>
          <a:xfrm>
            <a:off x="39319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85"/>
          <p:cNvSpPr/>
          <p:nvPr/>
        </p:nvSpPr>
        <p:spPr>
          <a:xfrm>
            <a:off x="37306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86"/>
          <p:cNvSpPr/>
          <p:nvPr/>
        </p:nvSpPr>
        <p:spPr>
          <a:xfrm>
            <a:off x="43891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87"/>
          <p:cNvSpPr/>
          <p:nvPr/>
        </p:nvSpPr>
        <p:spPr>
          <a:xfrm>
            <a:off x="41878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88"/>
          <p:cNvSpPr/>
          <p:nvPr/>
        </p:nvSpPr>
        <p:spPr>
          <a:xfrm>
            <a:off x="48463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89"/>
          <p:cNvSpPr/>
          <p:nvPr/>
        </p:nvSpPr>
        <p:spPr>
          <a:xfrm>
            <a:off x="46450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90"/>
          <p:cNvSpPr/>
          <p:nvPr/>
        </p:nvSpPr>
        <p:spPr>
          <a:xfrm>
            <a:off x="53035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91"/>
          <p:cNvSpPr/>
          <p:nvPr/>
        </p:nvSpPr>
        <p:spPr>
          <a:xfrm>
            <a:off x="51022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92"/>
          <p:cNvSpPr/>
          <p:nvPr/>
        </p:nvSpPr>
        <p:spPr>
          <a:xfrm>
            <a:off x="57607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93"/>
          <p:cNvSpPr/>
          <p:nvPr/>
        </p:nvSpPr>
        <p:spPr>
          <a:xfrm>
            <a:off x="55594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94"/>
          <p:cNvSpPr/>
          <p:nvPr/>
        </p:nvSpPr>
        <p:spPr>
          <a:xfrm>
            <a:off x="62179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95"/>
          <p:cNvSpPr/>
          <p:nvPr/>
        </p:nvSpPr>
        <p:spPr>
          <a:xfrm>
            <a:off x="60166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96"/>
          <p:cNvSpPr/>
          <p:nvPr/>
        </p:nvSpPr>
        <p:spPr>
          <a:xfrm>
            <a:off x="66751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97"/>
          <p:cNvSpPr/>
          <p:nvPr/>
        </p:nvSpPr>
        <p:spPr>
          <a:xfrm>
            <a:off x="64738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98"/>
          <p:cNvSpPr/>
          <p:nvPr/>
        </p:nvSpPr>
        <p:spPr>
          <a:xfrm flipH="1">
            <a:off x="2011680" y="3657600"/>
            <a:ext cx="1005840" cy="360"/>
          </a:xfrm>
          <a:prstGeom prst="line">
            <a:avLst/>
          </a:prstGeom>
          <a:ln w="44450">
            <a:solidFill>
              <a:srgbClr val="c84f2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99"/>
          <p:cNvSpPr/>
          <p:nvPr/>
        </p:nvSpPr>
        <p:spPr>
          <a:xfrm>
            <a:off x="2939760" y="3579840"/>
            <a:ext cx="155160" cy="155160"/>
          </a:xfrm>
          <a:prstGeom prst="ellipse">
            <a:avLst/>
          </a:prstGeom>
          <a:solidFill>
            <a:srgbClr val="c84f2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00"/>
          <p:cNvSpPr/>
          <p:nvPr/>
        </p:nvSpPr>
        <p:spPr>
          <a:xfrm>
            <a:off x="7315200" y="34563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x ≤ −2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01"/>
          <p:cNvSpPr/>
          <p:nvPr/>
        </p:nvSpPr>
        <p:spPr>
          <a:xfrm>
            <a:off x="1188720" y="4617720"/>
            <a:ext cx="548640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02"/>
          <p:cNvSpPr/>
          <p:nvPr/>
        </p:nvSpPr>
        <p:spPr>
          <a:xfrm>
            <a:off x="11887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03"/>
          <p:cNvSpPr/>
          <p:nvPr/>
        </p:nvSpPr>
        <p:spPr>
          <a:xfrm>
            <a:off x="9874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04"/>
          <p:cNvSpPr/>
          <p:nvPr/>
        </p:nvSpPr>
        <p:spPr>
          <a:xfrm>
            <a:off x="16459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105"/>
          <p:cNvSpPr/>
          <p:nvPr/>
        </p:nvSpPr>
        <p:spPr>
          <a:xfrm>
            <a:off x="14446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06"/>
          <p:cNvSpPr/>
          <p:nvPr/>
        </p:nvSpPr>
        <p:spPr>
          <a:xfrm>
            <a:off x="21031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107"/>
          <p:cNvSpPr/>
          <p:nvPr/>
        </p:nvSpPr>
        <p:spPr>
          <a:xfrm>
            <a:off x="19018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108"/>
          <p:cNvSpPr/>
          <p:nvPr/>
        </p:nvSpPr>
        <p:spPr>
          <a:xfrm>
            <a:off x="25603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09"/>
          <p:cNvSpPr/>
          <p:nvPr/>
        </p:nvSpPr>
        <p:spPr>
          <a:xfrm>
            <a:off x="23590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10"/>
          <p:cNvSpPr/>
          <p:nvPr/>
        </p:nvSpPr>
        <p:spPr>
          <a:xfrm>
            <a:off x="30175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111"/>
          <p:cNvSpPr/>
          <p:nvPr/>
        </p:nvSpPr>
        <p:spPr>
          <a:xfrm>
            <a:off x="28162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112"/>
          <p:cNvSpPr/>
          <p:nvPr/>
        </p:nvSpPr>
        <p:spPr>
          <a:xfrm>
            <a:off x="34747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13"/>
          <p:cNvSpPr/>
          <p:nvPr/>
        </p:nvSpPr>
        <p:spPr>
          <a:xfrm>
            <a:off x="32734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14"/>
          <p:cNvSpPr/>
          <p:nvPr/>
        </p:nvSpPr>
        <p:spPr>
          <a:xfrm>
            <a:off x="39319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15"/>
          <p:cNvSpPr/>
          <p:nvPr/>
        </p:nvSpPr>
        <p:spPr>
          <a:xfrm>
            <a:off x="37306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16"/>
          <p:cNvSpPr/>
          <p:nvPr/>
        </p:nvSpPr>
        <p:spPr>
          <a:xfrm>
            <a:off x="43891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17"/>
          <p:cNvSpPr/>
          <p:nvPr/>
        </p:nvSpPr>
        <p:spPr>
          <a:xfrm>
            <a:off x="41878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18"/>
          <p:cNvSpPr/>
          <p:nvPr/>
        </p:nvSpPr>
        <p:spPr>
          <a:xfrm>
            <a:off x="48463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19"/>
          <p:cNvSpPr/>
          <p:nvPr/>
        </p:nvSpPr>
        <p:spPr>
          <a:xfrm>
            <a:off x="46450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20"/>
          <p:cNvSpPr/>
          <p:nvPr/>
        </p:nvSpPr>
        <p:spPr>
          <a:xfrm>
            <a:off x="53035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21"/>
          <p:cNvSpPr/>
          <p:nvPr/>
        </p:nvSpPr>
        <p:spPr>
          <a:xfrm>
            <a:off x="51022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22"/>
          <p:cNvSpPr/>
          <p:nvPr/>
        </p:nvSpPr>
        <p:spPr>
          <a:xfrm>
            <a:off x="57607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23"/>
          <p:cNvSpPr/>
          <p:nvPr/>
        </p:nvSpPr>
        <p:spPr>
          <a:xfrm>
            <a:off x="55594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24"/>
          <p:cNvSpPr/>
          <p:nvPr/>
        </p:nvSpPr>
        <p:spPr>
          <a:xfrm>
            <a:off x="62179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25"/>
          <p:cNvSpPr/>
          <p:nvPr/>
        </p:nvSpPr>
        <p:spPr>
          <a:xfrm>
            <a:off x="60166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26"/>
          <p:cNvSpPr/>
          <p:nvPr/>
        </p:nvSpPr>
        <p:spPr>
          <a:xfrm>
            <a:off x="66751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127"/>
          <p:cNvSpPr/>
          <p:nvPr/>
        </p:nvSpPr>
        <p:spPr>
          <a:xfrm>
            <a:off x="64738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28"/>
          <p:cNvSpPr/>
          <p:nvPr/>
        </p:nvSpPr>
        <p:spPr>
          <a:xfrm>
            <a:off x="2560320" y="4617720"/>
            <a:ext cx="3200400" cy="360"/>
          </a:xfrm>
          <a:prstGeom prst="line">
            <a:avLst/>
          </a:prstGeom>
          <a:ln w="4445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29"/>
          <p:cNvSpPr/>
          <p:nvPr/>
        </p:nvSpPr>
        <p:spPr>
          <a:xfrm>
            <a:off x="2482560" y="4539960"/>
            <a:ext cx="155160" cy="155160"/>
          </a:xfrm>
          <a:prstGeom prst="ellipse">
            <a:avLst/>
          </a:prstGeom>
          <a:solidFill>
            <a:srgbClr val="f7f6e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30"/>
          <p:cNvSpPr/>
          <p:nvPr/>
        </p:nvSpPr>
        <p:spPr>
          <a:xfrm>
            <a:off x="5682960" y="4539960"/>
            <a:ext cx="155160" cy="155160"/>
          </a:xfrm>
          <a:prstGeom prst="ellipse">
            <a:avLst/>
          </a:prstGeom>
          <a:solidFill>
            <a:srgbClr val="c84f2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131"/>
          <p:cNvSpPr/>
          <p:nvPr/>
        </p:nvSpPr>
        <p:spPr>
          <a:xfrm>
            <a:off x="7315200" y="44164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 &lt; x ≤ 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32"/>
          <p:cNvSpPr/>
          <p:nvPr/>
        </p:nvSpPr>
        <p:spPr>
          <a:xfrm>
            <a:off x="567000" y="53949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 bar between two circles shows a value trapped between two bounds.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NUMBER LINES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Write the Inequality Shown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39"/>
          <p:cNvSpPr/>
          <p:nvPr/>
        </p:nvSpPr>
        <p:spPr>
          <a:xfrm>
            <a:off x="567000" y="14173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40"/>
          <p:cNvSpPr/>
          <p:nvPr/>
        </p:nvSpPr>
        <p:spPr>
          <a:xfrm>
            <a:off x="887040" y="14173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Some inequalities split into two parts — read them as ‘… or …’.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41"/>
          <p:cNvSpPr/>
          <p:nvPr/>
        </p:nvSpPr>
        <p:spPr>
          <a:xfrm>
            <a:off x="1188720" y="2697480"/>
            <a:ext cx="548640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42"/>
          <p:cNvSpPr/>
          <p:nvPr/>
        </p:nvSpPr>
        <p:spPr>
          <a:xfrm>
            <a:off x="11887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3"/>
          <p:cNvSpPr/>
          <p:nvPr/>
        </p:nvSpPr>
        <p:spPr>
          <a:xfrm>
            <a:off x="9874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44"/>
          <p:cNvSpPr/>
          <p:nvPr/>
        </p:nvSpPr>
        <p:spPr>
          <a:xfrm>
            <a:off x="16459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45"/>
          <p:cNvSpPr/>
          <p:nvPr/>
        </p:nvSpPr>
        <p:spPr>
          <a:xfrm>
            <a:off x="14446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46"/>
          <p:cNvSpPr/>
          <p:nvPr/>
        </p:nvSpPr>
        <p:spPr>
          <a:xfrm>
            <a:off x="21031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47"/>
          <p:cNvSpPr/>
          <p:nvPr/>
        </p:nvSpPr>
        <p:spPr>
          <a:xfrm>
            <a:off x="19018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48"/>
          <p:cNvSpPr/>
          <p:nvPr/>
        </p:nvSpPr>
        <p:spPr>
          <a:xfrm>
            <a:off x="25603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49"/>
          <p:cNvSpPr/>
          <p:nvPr/>
        </p:nvSpPr>
        <p:spPr>
          <a:xfrm>
            <a:off x="23590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50"/>
          <p:cNvSpPr/>
          <p:nvPr/>
        </p:nvSpPr>
        <p:spPr>
          <a:xfrm>
            <a:off x="30175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51"/>
          <p:cNvSpPr/>
          <p:nvPr/>
        </p:nvSpPr>
        <p:spPr>
          <a:xfrm>
            <a:off x="28162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52"/>
          <p:cNvSpPr/>
          <p:nvPr/>
        </p:nvSpPr>
        <p:spPr>
          <a:xfrm>
            <a:off x="34747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53"/>
          <p:cNvSpPr/>
          <p:nvPr/>
        </p:nvSpPr>
        <p:spPr>
          <a:xfrm>
            <a:off x="32734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54"/>
          <p:cNvSpPr/>
          <p:nvPr/>
        </p:nvSpPr>
        <p:spPr>
          <a:xfrm>
            <a:off x="39319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55"/>
          <p:cNvSpPr/>
          <p:nvPr/>
        </p:nvSpPr>
        <p:spPr>
          <a:xfrm>
            <a:off x="37306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56"/>
          <p:cNvSpPr/>
          <p:nvPr/>
        </p:nvSpPr>
        <p:spPr>
          <a:xfrm>
            <a:off x="43891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57"/>
          <p:cNvSpPr/>
          <p:nvPr/>
        </p:nvSpPr>
        <p:spPr>
          <a:xfrm>
            <a:off x="41878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58"/>
          <p:cNvSpPr/>
          <p:nvPr/>
        </p:nvSpPr>
        <p:spPr>
          <a:xfrm>
            <a:off x="48463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59"/>
          <p:cNvSpPr/>
          <p:nvPr/>
        </p:nvSpPr>
        <p:spPr>
          <a:xfrm>
            <a:off x="46450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60"/>
          <p:cNvSpPr/>
          <p:nvPr/>
        </p:nvSpPr>
        <p:spPr>
          <a:xfrm>
            <a:off x="53035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61"/>
          <p:cNvSpPr/>
          <p:nvPr/>
        </p:nvSpPr>
        <p:spPr>
          <a:xfrm>
            <a:off x="51022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62"/>
          <p:cNvSpPr/>
          <p:nvPr/>
        </p:nvSpPr>
        <p:spPr>
          <a:xfrm>
            <a:off x="57607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63"/>
          <p:cNvSpPr/>
          <p:nvPr/>
        </p:nvSpPr>
        <p:spPr>
          <a:xfrm>
            <a:off x="55594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64"/>
          <p:cNvSpPr/>
          <p:nvPr/>
        </p:nvSpPr>
        <p:spPr>
          <a:xfrm>
            <a:off x="62179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65"/>
          <p:cNvSpPr/>
          <p:nvPr/>
        </p:nvSpPr>
        <p:spPr>
          <a:xfrm>
            <a:off x="60166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66"/>
          <p:cNvSpPr/>
          <p:nvPr/>
        </p:nvSpPr>
        <p:spPr>
          <a:xfrm>
            <a:off x="6675120" y="264240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67"/>
          <p:cNvSpPr/>
          <p:nvPr/>
        </p:nvSpPr>
        <p:spPr>
          <a:xfrm>
            <a:off x="6473880" y="277992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68"/>
          <p:cNvSpPr/>
          <p:nvPr/>
        </p:nvSpPr>
        <p:spPr>
          <a:xfrm>
            <a:off x="3474720" y="2697480"/>
            <a:ext cx="2286000" cy="360"/>
          </a:xfrm>
          <a:prstGeom prst="line">
            <a:avLst/>
          </a:prstGeom>
          <a:ln w="4445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69"/>
          <p:cNvSpPr/>
          <p:nvPr/>
        </p:nvSpPr>
        <p:spPr>
          <a:xfrm>
            <a:off x="3396960" y="2619720"/>
            <a:ext cx="155160" cy="155160"/>
          </a:xfrm>
          <a:prstGeom prst="ellipse">
            <a:avLst/>
          </a:prstGeom>
          <a:solidFill>
            <a:srgbClr val="f7f6e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70"/>
          <p:cNvSpPr/>
          <p:nvPr/>
        </p:nvSpPr>
        <p:spPr>
          <a:xfrm>
            <a:off x="5682960" y="2619720"/>
            <a:ext cx="155160" cy="155160"/>
          </a:xfrm>
          <a:prstGeom prst="ellipse">
            <a:avLst/>
          </a:prstGeom>
          <a:solidFill>
            <a:srgbClr val="c84f2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71"/>
          <p:cNvSpPr/>
          <p:nvPr/>
        </p:nvSpPr>
        <p:spPr>
          <a:xfrm>
            <a:off x="7315200" y="24962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1 &lt; n ≤ 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72"/>
          <p:cNvSpPr/>
          <p:nvPr/>
        </p:nvSpPr>
        <p:spPr>
          <a:xfrm>
            <a:off x="1188720" y="3657600"/>
            <a:ext cx="548640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73"/>
          <p:cNvSpPr/>
          <p:nvPr/>
        </p:nvSpPr>
        <p:spPr>
          <a:xfrm>
            <a:off x="11887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74"/>
          <p:cNvSpPr/>
          <p:nvPr/>
        </p:nvSpPr>
        <p:spPr>
          <a:xfrm>
            <a:off x="9874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75"/>
          <p:cNvSpPr/>
          <p:nvPr/>
        </p:nvSpPr>
        <p:spPr>
          <a:xfrm>
            <a:off x="16459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76"/>
          <p:cNvSpPr/>
          <p:nvPr/>
        </p:nvSpPr>
        <p:spPr>
          <a:xfrm>
            <a:off x="14446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77"/>
          <p:cNvSpPr/>
          <p:nvPr/>
        </p:nvSpPr>
        <p:spPr>
          <a:xfrm>
            <a:off x="21031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78"/>
          <p:cNvSpPr/>
          <p:nvPr/>
        </p:nvSpPr>
        <p:spPr>
          <a:xfrm>
            <a:off x="19018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79"/>
          <p:cNvSpPr/>
          <p:nvPr/>
        </p:nvSpPr>
        <p:spPr>
          <a:xfrm>
            <a:off x="25603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80"/>
          <p:cNvSpPr/>
          <p:nvPr/>
        </p:nvSpPr>
        <p:spPr>
          <a:xfrm>
            <a:off x="23590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81"/>
          <p:cNvSpPr/>
          <p:nvPr/>
        </p:nvSpPr>
        <p:spPr>
          <a:xfrm>
            <a:off x="30175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82"/>
          <p:cNvSpPr/>
          <p:nvPr/>
        </p:nvSpPr>
        <p:spPr>
          <a:xfrm>
            <a:off x="28162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83"/>
          <p:cNvSpPr/>
          <p:nvPr/>
        </p:nvSpPr>
        <p:spPr>
          <a:xfrm>
            <a:off x="34747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84"/>
          <p:cNvSpPr/>
          <p:nvPr/>
        </p:nvSpPr>
        <p:spPr>
          <a:xfrm>
            <a:off x="32734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85"/>
          <p:cNvSpPr/>
          <p:nvPr/>
        </p:nvSpPr>
        <p:spPr>
          <a:xfrm>
            <a:off x="39319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86"/>
          <p:cNvSpPr/>
          <p:nvPr/>
        </p:nvSpPr>
        <p:spPr>
          <a:xfrm>
            <a:off x="37306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87"/>
          <p:cNvSpPr/>
          <p:nvPr/>
        </p:nvSpPr>
        <p:spPr>
          <a:xfrm>
            <a:off x="43891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88"/>
          <p:cNvSpPr/>
          <p:nvPr/>
        </p:nvSpPr>
        <p:spPr>
          <a:xfrm>
            <a:off x="41878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89"/>
          <p:cNvSpPr/>
          <p:nvPr/>
        </p:nvSpPr>
        <p:spPr>
          <a:xfrm>
            <a:off x="48463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90"/>
          <p:cNvSpPr/>
          <p:nvPr/>
        </p:nvSpPr>
        <p:spPr>
          <a:xfrm>
            <a:off x="46450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91"/>
          <p:cNvSpPr/>
          <p:nvPr/>
        </p:nvSpPr>
        <p:spPr>
          <a:xfrm>
            <a:off x="53035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92"/>
          <p:cNvSpPr/>
          <p:nvPr/>
        </p:nvSpPr>
        <p:spPr>
          <a:xfrm>
            <a:off x="51022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93"/>
          <p:cNvSpPr/>
          <p:nvPr/>
        </p:nvSpPr>
        <p:spPr>
          <a:xfrm>
            <a:off x="57607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94"/>
          <p:cNvSpPr/>
          <p:nvPr/>
        </p:nvSpPr>
        <p:spPr>
          <a:xfrm>
            <a:off x="55594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95"/>
          <p:cNvSpPr/>
          <p:nvPr/>
        </p:nvSpPr>
        <p:spPr>
          <a:xfrm>
            <a:off x="62179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96"/>
          <p:cNvSpPr/>
          <p:nvPr/>
        </p:nvSpPr>
        <p:spPr>
          <a:xfrm>
            <a:off x="60166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97"/>
          <p:cNvSpPr/>
          <p:nvPr/>
        </p:nvSpPr>
        <p:spPr>
          <a:xfrm>
            <a:off x="6675120" y="360252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98"/>
          <p:cNvSpPr/>
          <p:nvPr/>
        </p:nvSpPr>
        <p:spPr>
          <a:xfrm>
            <a:off x="6473880" y="374004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99"/>
          <p:cNvSpPr/>
          <p:nvPr/>
        </p:nvSpPr>
        <p:spPr>
          <a:xfrm flipH="1">
            <a:off x="2011680" y="3657600"/>
            <a:ext cx="1005840" cy="360"/>
          </a:xfrm>
          <a:prstGeom prst="line">
            <a:avLst/>
          </a:prstGeom>
          <a:ln w="44450">
            <a:solidFill>
              <a:srgbClr val="c84f2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00"/>
          <p:cNvSpPr/>
          <p:nvPr/>
        </p:nvSpPr>
        <p:spPr>
          <a:xfrm>
            <a:off x="2939760" y="3579840"/>
            <a:ext cx="155160" cy="155160"/>
          </a:xfrm>
          <a:prstGeom prst="ellipse">
            <a:avLst/>
          </a:prstGeom>
          <a:solidFill>
            <a:srgbClr val="c84f2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101"/>
          <p:cNvSpPr/>
          <p:nvPr/>
        </p:nvSpPr>
        <p:spPr>
          <a:xfrm>
            <a:off x="4389120" y="3657600"/>
            <a:ext cx="1005840" cy="360"/>
          </a:xfrm>
          <a:prstGeom prst="line">
            <a:avLst/>
          </a:prstGeom>
          <a:ln w="44450">
            <a:solidFill>
              <a:srgbClr val="c84f2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102"/>
          <p:cNvSpPr/>
          <p:nvPr/>
        </p:nvSpPr>
        <p:spPr>
          <a:xfrm>
            <a:off x="4311360" y="3579840"/>
            <a:ext cx="155160" cy="155160"/>
          </a:xfrm>
          <a:prstGeom prst="ellipse">
            <a:avLst/>
          </a:prstGeom>
          <a:solidFill>
            <a:srgbClr val="c84f2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103"/>
          <p:cNvSpPr/>
          <p:nvPr/>
        </p:nvSpPr>
        <p:spPr>
          <a:xfrm>
            <a:off x="7315200" y="345636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x ≤ −2  or  x ≥ 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104"/>
          <p:cNvSpPr/>
          <p:nvPr/>
        </p:nvSpPr>
        <p:spPr>
          <a:xfrm>
            <a:off x="1188720" y="4617720"/>
            <a:ext cx="548640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105"/>
          <p:cNvSpPr/>
          <p:nvPr/>
        </p:nvSpPr>
        <p:spPr>
          <a:xfrm>
            <a:off x="11887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106"/>
          <p:cNvSpPr/>
          <p:nvPr/>
        </p:nvSpPr>
        <p:spPr>
          <a:xfrm>
            <a:off x="9874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107"/>
          <p:cNvSpPr/>
          <p:nvPr/>
        </p:nvSpPr>
        <p:spPr>
          <a:xfrm>
            <a:off x="16459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108"/>
          <p:cNvSpPr/>
          <p:nvPr/>
        </p:nvSpPr>
        <p:spPr>
          <a:xfrm>
            <a:off x="14446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109"/>
          <p:cNvSpPr/>
          <p:nvPr/>
        </p:nvSpPr>
        <p:spPr>
          <a:xfrm>
            <a:off x="21031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110"/>
          <p:cNvSpPr/>
          <p:nvPr/>
        </p:nvSpPr>
        <p:spPr>
          <a:xfrm>
            <a:off x="19018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111"/>
          <p:cNvSpPr/>
          <p:nvPr/>
        </p:nvSpPr>
        <p:spPr>
          <a:xfrm>
            <a:off x="25603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112"/>
          <p:cNvSpPr/>
          <p:nvPr/>
        </p:nvSpPr>
        <p:spPr>
          <a:xfrm>
            <a:off x="23590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113"/>
          <p:cNvSpPr/>
          <p:nvPr/>
        </p:nvSpPr>
        <p:spPr>
          <a:xfrm>
            <a:off x="30175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114"/>
          <p:cNvSpPr/>
          <p:nvPr/>
        </p:nvSpPr>
        <p:spPr>
          <a:xfrm>
            <a:off x="28162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115"/>
          <p:cNvSpPr/>
          <p:nvPr/>
        </p:nvSpPr>
        <p:spPr>
          <a:xfrm>
            <a:off x="34747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116"/>
          <p:cNvSpPr/>
          <p:nvPr/>
        </p:nvSpPr>
        <p:spPr>
          <a:xfrm>
            <a:off x="32734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17"/>
          <p:cNvSpPr/>
          <p:nvPr/>
        </p:nvSpPr>
        <p:spPr>
          <a:xfrm>
            <a:off x="39319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118"/>
          <p:cNvSpPr/>
          <p:nvPr/>
        </p:nvSpPr>
        <p:spPr>
          <a:xfrm>
            <a:off x="37306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119"/>
          <p:cNvSpPr/>
          <p:nvPr/>
        </p:nvSpPr>
        <p:spPr>
          <a:xfrm>
            <a:off x="43891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120"/>
          <p:cNvSpPr/>
          <p:nvPr/>
        </p:nvSpPr>
        <p:spPr>
          <a:xfrm>
            <a:off x="41878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21"/>
          <p:cNvSpPr/>
          <p:nvPr/>
        </p:nvSpPr>
        <p:spPr>
          <a:xfrm>
            <a:off x="48463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22"/>
          <p:cNvSpPr/>
          <p:nvPr/>
        </p:nvSpPr>
        <p:spPr>
          <a:xfrm>
            <a:off x="46450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23"/>
          <p:cNvSpPr/>
          <p:nvPr/>
        </p:nvSpPr>
        <p:spPr>
          <a:xfrm>
            <a:off x="53035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124"/>
          <p:cNvSpPr/>
          <p:nvPr/>
        </p:nvSpPr>
        <p:spPr>
          <a:xfrm>
            <a:off x="51022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125"/>
          <p:cNvSpPr/>
          <p:nvPr/>
        </p:nvSpPr>
        <p:spPr>
          <a:xfrm>
            <a:off x="57607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26"/>
          <p:cNvSpPr/>
          <p:nvPr/>
        </p:nvSpPr>
        <p:spPr>
          <a:xfrm>
            <a:off x="55594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27"/>
          <p:cNvSpPr/>
          <p:nvPr/>
        </p:nvSpPr>
        <p:spPr>
          <a:xfrm>
            <a:off x="62179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128"/>
          <p:cNvSpPr/>
          <p:nvPr/>
        </p:nvSpPr>
        <p:spPr>
          <a:xfrm>
            <a:off x="60166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29"/>
          <p:cNvSpPr/>
          <p:nvPr/>
        </p:nvSpPr>
        <p:spPr>
          <a:xfrm>
            <a:off x="6675120" y="45626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130"/>
          <p:cNvSpPr/>
          <p:nvPr/>
        </p:nvSpPr>
        <p:spPr>
          <a:xfrm>
            <a:off x="6473880" y="47001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31"/>
          <p:cNvSpPr/>
          <p:nvPr/>
        </p:nvSpPr>
        <p:spPr>
          <a:xfrm flipH="1">
            <a:off x="2468880" y="4617720"/>
            <a:ext cx="1005840" cy="360"/>
          </a:xfrm>
          <a:prstGeom prst="line">
            <a:avLst/>
          </a:prstGeom>
          <a:ln w="44450">
            <a:solidFill>
              <a:srgbClr val="c84f2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132"/>
          <p:cNvSpPr/>
          <p:nvPr/>
        </p:nvSpPr>
        <p:spPr>
          <a:xfrm>
            <a:off x="3396960" y="4539960"/>
            <a:ext cx="155160" cy="155160"/>
          </a:xfrm>
          <a:prstGeom prst="ellipse">
            <a:avLst/>
          </a:prstGeom>
          <a:solidFill>
            <a:srgbClr val="f7f6e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33"/>
          <p:cNvSpPr/>
          <p:nvPr/>
        </p:nvSpPr>
        <p:spPr>
          <a:xfrm>
            <a:off x="4846320" y="4617720"/>
            <a:ext cx="1005840" cy="360"/>
          </a:xfrm>
          <a:prstGeom prst="line">
            <a:avLst/>
          </a:prstGeom>
          <a:ln w="44450">
            <a:solidFill>
              <a:srgbClr val="c84f2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34"/>
          <p:cNvSpPr/>
          <p:nvPr/>
        </p:nvSpPr>
        <p:spPr>
          <a:xfrm>
            <a:off x="4768560" y="4539960"/>
            <a:ext cx="155160" cy="155160"/>
          </a:xfrm>
          <a:prstGeom prst="ellipse">
            <a:avLst/>
          </a:prstGeom>
          <a:solidFill>
            <a:srgbClr val="f7f6e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135"/>
          <p:cNvSpPr/>
          <p:nvPr/>
        </p:nvSpPr>
        <p:spPr>
          <a:xfrm>
            <a:off x="7315200" y="4416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b &lt; −1  or  b &gt; 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136"/>
          <p:cNvSpPr/>
          <p:nvPr/>
        </p:nvSpPr>
        <p:spPr>
          <a:xfrm>
            <a:off x="567000" y="53949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Two arrows pointing outwards = an ‘or’ inequality; one bar between circles = a single range.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POSSIBLE VALUES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Which Integers Fit?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39"/>
          <p:cNvSpPr/>
          <p:nvPr/>
        </p:nvSpPr>
        <p:spPr>
          <a:xfrm>
            <a:off x="567000" y="1417320"/>
            <a:ext cx="11063880" cy="73116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40"/>
          <p:cNvSpPr/>
          <p:nvPr/>
        </p:nvSpPr>
        <p:spPr>
          <a:xfrm>
            <a:off x="887040" y="141732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Check each end.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A solid circle ● means that value IS allowed; a hollow circle ○ means it is NOT.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41"/>
          <p:cNvSpPr/>
          <p:nvPr/>
        </p:nvSpPr>
        <p:spPr>
          <a:xfrm>
            <a:off x="2011680" y="2788920"/>
            <a:ext cx="813816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42"/>
          <p:cNvSpPr/>
          <p:nvPr/>
        </p:nvSpPr>
        <p:spPr>
          <a:xfrm>
            <a:off x="201168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43"/>
          <p:cNvSpPr/>
          <p:nvPr/>
        </p:nvSpPr>
        <p:spPr>
          <a:xfrm>
            <a:off x="181044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44"/>
          <p:cNvSpPr/>
          <p:nvPr/>
        </p:nvSpPr>
        <p:spPr>
          <a:xfrm>
            <a:off x="268956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45"/>
          <p:cNvSpPr/>
          <p:nvPr/>
        </p:nvSpPr>
        <p:spPr>
          <a:xfrm>
            <a:off x="248868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46"/>
          <p:cNvSpPr/>
          <p:nvPr/>
        </p:nvSpPr>
        <p:spPr>
          <a:xfrm>
            <a:off x="336780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47"/>
          <p:cNvSpPr/>
          <p:nvPr/>
        </p:nvSpPr>
        <p:spPr>
          <a:xfrm>
            <a:off x="316692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48"/>
          <p:cNvSpPr/>
          <p:nvPr/>
        </p:nvSpPr>
        <p:spPr>
          <a:xfrm>
            <a:off x="404604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49"/>
          <p:cNvSpPr/>
          <p:nvPr/>
        </p:nvSpPr>
        <p:spPr>
          <a:xfrm>
            <a:off x="384516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50"/>
          <p:cNvSpPr/>
          <p:nvPr/>
        </p:nvSpPr>
        <p:spPr>
          <a:xfrm>
            <a:off x="472428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51"/>
          <p:cNvSpPr/>
          <p:nvPr/>
        </p:nvSpPr>
        <p:spPr>
          <a:xfrm>
            <a:off x="452340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52"/>
          <p:cNvSpPr/>
          <p:nvPr/>
        </p:nvSpPr>
        <p:spPr>
          <a:xfrm>
            <a:off x="540252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53"/>
          <p:cNvSpPr/>
          <p:nvPr/>
        </p:nvSpPr>
        <p:spPr>
          <a:xfrm>
            <a:off x="520128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54"/>
          <p:cNvSpPr/>
          <p:nvPr/>
        </p:nvSpPr>
        <p:spPr>
          <a:xfrm>
            <a:off x="608076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55"/>
          <p:cNvSpPr/>
          <p:nvPr/>
        </p:nvSpPr>
        <p:spPr>
          <a:xfrm>
            <a:off x="587952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56"/>
          <p:cNvSpPr/>
          <p:nvPr/>
        </p:nvSpPr>
        <p:spPr>
          <a:xfrm>
            <a:off x="675864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57"/>
          <p:cNvSpPr/>
          <p:nvPr/>
        </p:nvSpPr>
        <p:spPr>
          <a:xfrm>
            <a:off x="655776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58"/>
          <p:cNvSpPr/>
          <p:nvPr/>
        </p:nvSpPr>
        <p:spPr>
          <a:xfrm>
            <a:off x="743688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59"/>
          <p:cNvSpPr/>
          <p:nvPr/>
        </p:nvSpPr>
        <p:spPr>
          <a:xfrm>
            <a:off x="723600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60"/>
          <p:cNvSpPr/>
          <p:nvPr/>
        </p:nvSpPr>
        <p:spPr>
          <a:xfrm>
            <a:off x="811512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61"/>
          <p:cNvSpPr/>
          <p:nvPr/>
        </p:nvSpPr>
        <p:spPr>
          <a:xfrm>
            <a:off x="791424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62"/>
          <p:cNvSpPr/>
          <p:nvPr/>
        </p:nvSpPr>
        <p:spPr>
          <a:xfrm>
            <a:off x="879336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63"/>
          <p:cNvSpPr/>
          <p:nvPr/>
        </p:nvSpPr>
        <p:spPr>
          <a:xfrm>
            <a:off x="859248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64"/>
          <p:cNvSpPr/>
          <p:nvPr/>
        </p:nvSpPr>
        <p:spPr>
          <a:xfrm>
            <a:off x="947160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65"/>
          <p:cNvSpPr/>
          <p:nvPr/>
        </p:nvSpPr>
        <p:spPr>
          <a:xfrm>
            <a:off x="927036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66"/>
          <p:cNvSpPr/>
          <p:nvPr/>
        </p:nvSpPr>
        <p:spPr>
          <a:xfrm>
            <a:off x="10149840" y="2733840"/>
            <a:ext cx="360" cy="109800"/>
          </a:xfrm>
          <a:prstGeom prst="line">
            <a:avLst/>
          </a:prstGeom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67"/>
          <p:cNvSpPr/>
          <p:nvPr/>
        </p:nvSpPr>
        <p:spPr>
          <a:xfrm>
            <a:off x="9948600" y="2871360"/>
            <a:ext cx="402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68"/>
          <p:cNvSpPr/>
          <p:nvPr/>
        </p:nvSpPr>
        <p:spPr>
          <a:xfrm>
            <a:off x="4724280" y="2788920"/>
            <a:ext cx="3390840" cy="360"/>
          </a:xfrm>
          <a:prstGeom prst="line">
            <a:avLst/>
          </a:prstGeom>
          <a:ln w="4445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69"/>
          <p:cNvSpPr/>
          <p:nvPr/>
        </p:nvSpPr>
        <p:spPr>
          <a:xfrm>
            <a:off x="4646520" y="2711160"/>
            <a:ext cx="155160" cy="155160"/>
          </a:xfrm>
          <a:prstGeom prst="ellipse">
            <a:avLst/>
          </a:prstGeom>
          <a:solidFill>
            <a:srgbClr val="c84f2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70"/>
          <p:cNvSpPr/>
          <p:nvPr/>
        </p:nvSpPr>
        <p:spPr>
          <a:xfrm>
            <a:off x="8037720" y="2711160"/>
            <a:ext cx="155160" cy="155160"/>
          </a:xfrm>
          <a:prstGeom prst="ellipse">
            <a:avLst/>
          </a:prstGeom>
          <a:solidFill>
            <a:srgbClr val="f7f6ef"/>
          </a:solidFill>
          <a:ln w="2540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71"/>
          <p:cNvSpPr/>
          <p:nvPr/>
        </p:nvSpPr>
        <p:spPr>
          <a:xfrm>
            <a:off x="567000" y="324612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x  is an integer  and  −2 ≤ x &lt; 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72"/>
          <p:cNvSpPr/>
          <p:nvPr/>
        </p:nvSpPr>
        <p:spPr>
          <a:xfrm>
            <a:off x="1371600" y="3886200"/>
            <a:ext cx="4388760" cy="1142640"/>
          </a:xfrm>
          <a:prstGeom prst="roundRect">
            <a:avLst>
              <a:gd name="adj" fmla="val 48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73"/>
          <p:cNvSpPr/>
          <p:nvPr/>
        </p:nvSpPr>
        <p:spPr>
          <a:xfrm>
            <a:off x="1691640" y="3886200"/>
            <a:ext cx="39315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●  −</a:t>
            </a: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2 is included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5c6b60"/>
                </a:solidFill>
                <a:latin typeface="Cambria"/>
                <a:ea typeface="Cambria"/>
              </a:rPr>
              <a:t>≤ </a:t>
            </a:r>
            <a:r>
              <a:rPr b="0" i="1" lang="en-US" sz="1600" spc="-1" strike="noStrike">
                <a:solidFill>
                  <a:srgbClr val="5c6b60"/>
                </a:solidFill>
                <a:latin typeface="Cambria"/>
                <a:ea typeface="Cambria"/>
              </a:rPr>
              <a:t>means ‘or equal to’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74"/>
          <p:cNvSpPr/>
          <p:nvPr/>
        </p:nvSpPr>
        <p:spPr>
          <a:xfrm>
            <a:off x="6446520" y="3886200"/>
            <a:ext cx="4388760" cy="1142640"/>
          </a:xfrm>
          <a:prstGeom prst="roundRect">
            <a:avLst>
              <a:gd name="adj" fmla="val 48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75"/>
          <p:cNvSpPr/>
          <p:nvPr/>
        </p:nvSpPr>
        <p:spPr>
          <a:xfrm>
            <a:off x="6766560" y="3886200"/>
            <a:ext cx="39315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○  </a:t>
            </a: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3 is NOT included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5c6b60"/>
                </a:solidFill>
                <a:latin typeface="Cambria"/>
                <a:ea typeface="Cambria"/>
              </a:rPr>
              <a:t>&lt; stops just before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76"/>
          <p:cNvSpPr/>
          <p:nvPr/>
        </p:nvSpPr>
        <p:spPr>
          <a:xfrm>
            <a:off x="567000" y="5257800"/>
            <a:ext cx="11063880" cy="91404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77"/>
          <p:cNvSpPr/>
          <p:nvPr/>
        </p:nvSpPr>
        <p:spPr>
          <a:xfrm>
            <a:off x="841320" y="525780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= −2,  −1,  0,  1,  2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3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Solving Inequalities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Solve like an equation — with one golden rule.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Do the same to both sides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Expand brackets first if needed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Flip the sign if you × or ÷ by a negative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Show the answer on a number line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SOLVING · ONE STEP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Add, Subtract, Multiply, Divide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39"/>
          <p:cNvSpPr/>
          <p:nvPr/>
        </p:nvSpPr>
        <p:spPr>
          <a:xfrm>
            <a:off x="567000" y="14173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40"/>
          <p:cNvSpPr/>
          <p:nvPr/>
        </p:nvSpPr>
        <p:spPr>
          <a:xfrm>
            <a:off x="887040" y="14173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Do the same to both sides.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Only one move reverses the sign: multiplying or dividing by a negative.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41"/>
          <p:cNvSpPr/>
          <p:nvPr/>
        </p:nvSpPr>
        <p:spPr>
          <a:xfrm>
            <a:off x="567000" y="2286000"/>
            <a:ext cx="5394600" cy="1691280"/>
          </a:xfrm>
          <a:prstGeom prst="roundRect">
            <a:avLst>
              <a:gd name="adj" fmla="val 324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42"/>
          <p:cNvSpPr/>
          <p:nvPr/>
        </p:nvSpPr>
        <p:spPr>
          <a:xfrm>
            <a:off x="887040" y="246888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c84f2f"/>
                </a:solidFill>
                <a:latin typeface="Calibri"/>
                <a:ea typeface="Calibri"/>
              </a:rPr>
              <a:t>ADD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43"/>
          <p:cNvSpPr/>
          <p:nvPr/>
        </p:nvSpPr>
        <p:spPr>
          <a:xfrm>
            <a:off x="887040" y="276156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x − 3 &lt; 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44"/>
          <p:cNvSpPr/>
          <p:nvPr/>
        </p:nvSpPr>
        <p:spPr>
          <a:xfrm>
            <a:off x="887040" y="32371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add 3 to both sides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45"/>
          <p:cNvSpPr/>
          <p:nvPr/>
        </p:nvSpPr>
        <p:spPr>
          <a:xfrm>
            <a:off x="887040" y="35114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5c6b60"/>
                </a:solidFill>
                <a:latin typeface="Cambria"/>
                <a:ea typeface="Cambria"/>
              </a:rPr>
              <a:t>→   </a:t>
            </a: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x &lt; 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46"/>
          <p:cNvSpPr/>
          <p:nvPr/>
        </p:nvSpPr>
        <p:spPr>
          <a:xfrm>
            <a:off x="6217920" y="2286000"/>
            <a:ext cx="5394600" cy="1691280"/>
          </a:xfrm>
          <a:prstGeom prst="roundRect">
            <a:avLst>
              <a:gd name="adj" fmla="val 324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47"/>
          <p:cNvSpPr/>
          <p:nvPr/>
        </p:nvSpPr>
        <p:spPr>
          <a:xfrm>
            <a:off x="6537960" y="246888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c84f2f"/>
                </a:solidFill>
                <a:latin typeface="Calibri"/>
                <a:ea typeface="Calibri"/>
              </a:rPr>
              <a:t>SUBTRACT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48"/>
          <p:cNvSpPr/>
          <p:nvPr/>
        </p:nvSpPr>
        <p:spPr>
          <a:xfrm>
            <a:off x="6537960" y="276156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x + 4 ≥ 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49"/>
          <p:cNvSpPr/>
          <p:nvPr/>
        </p:nvSpPr>
        <p:spPr>
          <a:xfrm>
            <a:off x="6537960" y="32371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subtract 4 from both sides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50"/>
          <p:cNvSpPr/>
          <p:nvPr/>
        </p:nvSpPr>
        <p:spPr>
          <a:xfrm>
            <a:off x="6537960" y="35114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5c6b60"/>
                </a:solidFill>
                <a:latin typeface="Cambria"/>
                <a:ea typeface="Cambria"/>
              </a:rPr>
              <a:t>→   </a:t>
            </a: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x ≥ 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51"/>
          <p:cNvSpPr/>
          <p:nvPr/>
        </p:nvSpPr>
        <p:spPr>
          <a:xfrm>
            <a:off x="567000" y="4160520"/>
            <a:ext cx="5394600" cy="1691280"/>
          </a:xfrm>
          <a:prstGeom prst="roundRect">
            <a:avLst>
              <a:gd name="adj" fmla="val 324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52"/>
          <p:cNvSpPr/>
          <p:nvPr/>
        </p:nvSpPr>
        <p:spPr>
          <a:xfrm>
            <a:off x="887040" y="434340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c84f2f"/>
                </a:solidFill>
                <a:latin typeface="Calibri"/>
                <a:ea typeface="Calibri"/>
              </a:rPr>
              <a:t>DIVIDE BY A POSITIVE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53"/>
          <p:cNvSpPr/>
          <p:nvPr/>
        </p:nvSpPr>
        <p:spPr>
          <a:xfrm>
            <a:off x="887040" y="463608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3x ≤ 12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54"/>
          <p:cNvSpPr/>
          <p:nvPr/>
        </p:nvSpPr>
        <p:spPr>
          <a:xfrm>
            <a:off x="887040" y="511164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÷ 3   (sign stays)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55"/>
          <p:cNvSpPr/>
          <p:nvPr/>
        </p:nvSpPr>
        <p:spPr>
          <a:xfrm>
            <a:off x="887040" y="53859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5c6b60"/>
                </a:solidFill>
                <a:latin typeface="Cambria"/>
                <a:ea typeface="Cambria"/>
              </a:rPr>
              <a:t>→   </a:t>
            </a: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x ≤ 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56"/>
          <p:cNvSpPr/>
          <p:nvPr/>
        </p:nvSpPr>
        <p:spPr>
          <a:xfrm>
            <a:off x="6217920" y="4160520"/>
            <a:ext cx="5394600" cy="1691280"/>
          </a:xfrm>
          <a:prstGeom prst="roundRect">
            <a:avLst>
              <a:gd name="adj" fmla="val 324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57"/>
          <p:cNvSpPr/>
          <p:nvPr/>
        </p:nvSpPr>
        <p:spPr>
          <a:xfrm>
            <a:off x="6537960" y="434340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c84f2f"/>
                </a:solidFill>
                <a:latin typeface="Calibri"/>
                <a:ea typeface="Calibri"/>
              </a:rPr>
              <a:t>DIVIDE BY A NEGATIVE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58"/>
          <p:cNvSpPr/>
          <p:nvPr/>
        </p:nvSpPr>
        <p:spPr>
          <a:xfrm>
            <a:off x="6537960" y="463608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2x &lt; 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59"/>
          <p:cNvSpPr/>
          <p:nvPr/>
        </p:nvSpPr>
        <p:spPr>
          <a:xfrm>
            <a:off x="6537960" y="511164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÷ (−2)  —  FLIP the sign!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60"/>
          <p:cNvSpPr/>
          <p:nvPr/>
        </p:nvSpPr>
        <p:spPr>
          <a:xfrm>
            <a:off x="6537960" y="53859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5c6b60"/>
                </a:solidFill>
                <a:latin typeface="Cambria"/>
                <a:ea typeface="Cambria"/>
              </a:rPr>
              <a:t>→   </a:t>
            </a: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x &gt; −3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61"/>
          <p:cNvSpPr/>
          <p:nvPr/>
        </p:nvSpPr>
        <p:spPr>
          <a:xfrm>
            <a:off x="567000" y="6126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Adding and subtracting never change the sign — only × or ÷ by a negative flips it.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SOLVING · BRACKETS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Expand, then Solve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Expand any brackets before solving.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Dividing by a POSITIVE keeps the sign the same.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answer is a range, shown with the same symbol.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Source example — on a number line: a solid circle at 7, arrow pointing right.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Solve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4(2x − 1) ≥ 52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Expand:  8x − 4 ≥ 52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Add 4:  8x ≥ 56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Divide by 8: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x ≥ 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≥ 7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GOLDEN RULE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Dividing by a Negative — Flip!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Watch out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Multiplying or dividing by a negative reverses the inequality.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≤ </a:t>
            </a: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becomes ≥ (and &lt; becomes &gt;).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Adding and subtracting NEVER flip the sign.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Only the negative × or ÷ flips the sign.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Solve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8a + 2(1 − 5a) ≤ 20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Expand:  8a + 2 − 10a ≤ 20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Simplify:  −2a + 2 ≤ 20  →  −2a ≤ 18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Divide by −2 — FLIP: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a ≥ −9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a ≥ −9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COMPOUND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Inequalities with Two Sides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‘</a:t>
            </a: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and’ vs ‘or’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Whatever you do, do it to all three parts.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‘</a:t>
            </a: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and’ → a single range between two numbers.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‘</a:t>
            </a: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or’ → two separate rays, e.g. y ≥ 8 or y &lt; −4.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Integer solutions here: 3, 4, 5, 6.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Solve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5 &lt; 3x − 1 ≤ 17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Add 1 to all three parts: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6 &lt; 3x ≤ 18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Divide all by 3: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2 &lt; x ≤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2 &lt; x ≤ 6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SOLVING · x ON BOTH SIDES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When x Appears on Each Side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Collect the x-terms on ONE side first.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Move the SMALLER x-term (here 2x) so x stays positive — no flip needed.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Then solve it like a one-sided inequality.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Moving the smaller x-term keeps x positive and avoids a sign flip.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5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Solve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6x − 1 ≥ 2x + 11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Subtract 2x from both sides:  4x − 1 ≥ 11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Add 1:  4x ≥ 12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4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Divide by 4: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x ≥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≥ 3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4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6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Manipulating Inequalities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Find the range of an expression from the range of its letters.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 square is never negative — check 0 too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Largest square = value furthest from 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5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For a − b: biggest a minus smallest b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Always test BOTH ends carefully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MANIPULATING · SQUARES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Range of x²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 square is never negative, so the smallest value is often 0 (if the range includes 0).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largest square comes from the end FURTHEST from zero — here (−3)² = 9.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Do NOT just square the end values blindly.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Because 0 lies between −3 and 2, the smallest square is 0, not (−3)².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Given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−3 ≤ x ≤ 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Smallest x²:  at x = 0  →  x² = 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Largest x²:  at x = −3  →  x² = 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So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0 ≤ x² ≤ 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0 ≤ x² ≤ 9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MANIPULATING · SUBTRACTION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Range of a − b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For a − b, the maximum uses the biggest a and the SMALLEST b.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minimum uses the smallest a and the LARGEST b.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Subtracting a negative adds — 4 − (−3) = 7.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For m + n with 1 ≤ m ≤ 5 and −9 ≤ n ≤ 2:  −8 ≤ m + n ≤ 7.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Given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1 ≤ a ≤ 4   and   −3 ≤ b ≤ 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6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Largest a − b:  4 − (−3) = 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9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Smallest a − b:  1 − 2 = −1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So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−1 ≤ a − b ≤ 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5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−</a:t>
            </a: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1 ≤ a − b ≤ 7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 (1 of 3)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Solving — Exam Questions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6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Solve each inequality, showing clear working. List integers where asked.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9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Solve   5d − 3 &gt; d + 17        (Edexcel, Jan 2013 Paper 2)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Solve   5 &lt; 3x − 1 ≤ 17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9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Solve   4(2x − 1) ≥ 52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Solve   7 − 2x &lt; 3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61"/>
          <p:cNvSpPr/>
          <p:nvPr/>
        </p:nvSpPr>
        <p:spPr>
          <a:xfrm>
            <a:off x="567000" y="52210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62"/>
          <p:cNvSpPr/>
          <p:nvPr/>
        </p:nvSpPr>
        <p:spPr>
          <a:xfrm>
            <a:off x="822960" y="53308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9" name="Text 63"/>
          <p:cNvSpPr/>
          <p:nvPr/>
        </p:nvSpPr>
        <p:spPr>
          <a:xfrm>
            <a:off x="822960" y="5330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Text 64"/>
          <p:cNvSpPr/>
          <p:nvPr/>
        </p:nvSpPr>
        <p:spPr>
          <a:xfrm>
            <a:off x="1417320" y="522108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n is an integer.  List the values with  −3 &lt; n ≤ 2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Text 65"/>
          <p:cNvSpPr/>
          <p:nvPr/>
        </p:nvSpPr>
        <p:spPr>
          <a:xfrm>
            <a:off x="10607040" y="522108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3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libri"/>
                <a:ea typeface="Calibri"/>
              </a:rPr>
              <a:t>Answers:  </a:t>
            </a:r>
            <a:r>
              <a:rPr b="0" lang="en-US" sz="1200" spc="-1" strike="noStrike">
                <a:solidFill>
                  <a:srgbClr val="edebdd"/>
                </a:solidFill>
                <a:latin typeface="Calibri"/>
                <a:ea typeface="Calibri"/>
              </a:rPr>
              <a:t>1) d &gt; 5     2) 2 &lt; x ≤ 6     3) x ≥ 7     4) x &gt; 2     5) −2, −1, 0, 1,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 (2 of 3)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More Solving — Exam-Style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4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Further exam-style questions for extra practice. Show every step.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7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Solve   4x + 1 &gt; 19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2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Solve   3(x − 2) ≤ 9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7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Solve   5x + 2 ≥ 2x − 7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2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Solve   6x − 5 &lt; 2x + 11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61"/>
          <p:cNvSpPr/>
          <p:nvPr/>
        </p:nvSpPr>
        <p:spPr>
          <a:xfrm>
            <a:off x="567000" y="52210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62"/>
          <p:cNvSpPr/>
          <p:nvPr/>
        </p:nvSpPr>
        <p:spPr>
          <a:xfrm>
            <a:off x="822960" y="53308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7" name="Text 63"/>
          <p:cNvSpPr/>
          <p:nvPr/>
        </p:nvSpPr>
        <p:spPr>
          <a:xfrm>
            <a:off x="822960" y="5330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Text 64"/>
          <p:cNvSpPr/>
          <p:nvPr/>
        </p:nvSpPr>
        <p:spPr>
          <a:xfrm>
            <a:off x="1417320" y="522108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Show  −1 ≤ x &lt; 4  on a number line, and list the integers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Text 65"/>
          <p:cNvSpPr/>
          <p:nvPr/>
        </p:nvSpPr>
        <p:spPr>
          <a:xfrm>
            <a:off x="10607040" y="522108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1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libri"/>
                <a:ea typeface="Calibri"/>
              </a:rPr>
              <a:t>Answers:  </a:t>
            </a:r>
            <a:r>
              <a:rPr b="0" lang="en-US" sz="1200" spc="-1" strike="noStrike">
                <a:solidFill>
                  <a:srgbClr val="edebdd"/>
                </a:solidFill>
                <a:latin typeface="Calibri"/>
                <a:ea typeface="Calibri"/>
              </a:rPr>
              <a:t>1) x &gt; 4.5     2) x ≤ 5     3) x ≥ −3     4) x &lt; 4     5) −1, 0, 1, 2, 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 (3 of 3)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Manipulating &amp; Ranges — Exam Questions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2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Find an inequality for each expression from the ranges given.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5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1 ≤ m ≤ 5 and −9 ≤ n ≤ 2.  Find an inequality for m + n     (June 2012 Paper 1)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0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Using question 1, find an inequality for (m + n)²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5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Given  −3 ≤ x ≤ 2,  work out the range of  x²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0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1 ≤ a ≤ 4 and −3 ≤ b ≤ 2.  Find an inequality for a − b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61"/>
          <p:cNvSpPr/>
          <p:nvPr/>
        </p:nvSpPr>
        <p:spPr>
          <a:xfrm>
            <a:off x="567000" y="52210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62"/>
          <p:cNvSpPr/>
          <p:nvPr/>
        </p:nvSpPr>
        <p:spPr>
          <a:xfrm>
            <a:off x="822960" y="53308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5" name="Text 63"/>
          <p:cNvSpPr/>
          <p:nvPr/>
        </p:nvSpPr>
        <p:spPr>
          <a:xfrm>
            <a:off x="822960" y="5330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Text 64"/>
          <p:cNvSpPr/>
          <p:nvPr/>
        </p:nvSpPr>
        <p:spPr>
          <a:xfrm>
            <a:off x="1417320" y="522108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2 ≤ p ≤ 6 and 1 ≤ q ≤ 4.  Find an inequality for p − q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Text 65"/>
          <p:cNvSpPr/>
          <p:nvPr/>
        </p:nvSpPr>
        <p:spPr>
          <a:xfrm>
            <a:off x="10607040" y="522108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9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libri"/>
                <a:ea typeface="Calibri"/>
              </a:rPr>
              <a:t>Answers:  </a:t>
            </a:r>
            <a:r>
              <a:rPr b="0" lang="en-US" sz="1200" spc="-1" strike="noStrike">
                <a:solidFill>
                  <a:srgbClr val="edebdd"/>
                </a:solidFill>
                <a:latin typeface="Calibri"/>
                <a:ea typeface="Calibri"/>
              </a:rPr>
              <a:t>1) −8 ≤ m+n ≤ 7   2) 0 ≤ (m+n)² ≤ 64   3) 0 ≤ x² ≤ 9   4) −1 ≤ a−b ≤ 7   5) −2 ≤ p−q ≤ 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5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6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7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8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9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0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Hollow circle for &lt; &gt;, solid circle for ≤ ≥; the arrow shows the direction.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1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2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Solve like equations — but FLIP the sign when you × or ÷ by a negative.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3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4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x on both sides: move the smaller x-term first to keep x positive.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5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6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Compound: do the same to all parts; ‘and’ = one range, ‘or’ = two rays.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7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8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Manipulating: a square is never negative; for a − b use biggest a minus smallest b.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9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multiplying or dividing an inequality by a negative reverses the sign.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2026-06-29T11:55:53Z</dcterms:created>
  <dc:creator>Zahra Sheikh Ali</dc:creator>
  <dc:description/>
  <dc:language>en-US</dc:language>
  <cp:lastModifiedBy>Zahra Sheikh Ali</cp:lastModifiedBy>
  <dcterms:modified xsi:type="dcterms:W3CDTF">2026-06-29T11:55:53Z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19</vt:r8>
  </property>
  <property fmtid="{D5CDD505-2E9C-101B-9397-08002B2CF9AE}" pid="3" name="PresentationFormat">
    <vt:lpwstr>On-screen Show (16:9)</vt:lpwstr>
  </property>
  <property fmtid="{D5CDD505-2E9C-101B-9397-08002B2CF9AE}" pid="4" name="Slides">
    <vt:r8>19</vt:r8>
  </property>
</Properties>
</file>