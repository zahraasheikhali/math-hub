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621F2FB-8D52-459B-8D02-E1219EBBADD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160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1" name="PlaceHolder 3"/>
          <p:cNvSpPr>
            <a:spLocks noGrp="1"/>
          </p:cNvSpPr>
          <p:nvPr>
            <p:ph type="sldNum" idx="4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4C7826-AADD-4664-BC8A-2C8A3D4E439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163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" name="PlaceHolder 3"/>
          <p:cNvSpPr>
            <a:spLocks noGrp="1"/>
          </p:cNvSpPr>
          <p:nvPr>
            <p:ph type="sldNum" idx="5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D9B9FE-EE90-4C34-BC2D-E70997AE998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166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7" name="PlaceHolder 3"/>
          <p:cNvSpPr>
            <a:spLocks noGrp="1"/>
          </p:cNvSpPr>
          <p:nvPr>
            <p:ph type="sldNum" idx="6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3E6D18-2C4E-46C1-B3E6-01CD0019FE0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169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0" name="PlaceHolder 3"/>
          <p:cNvSpPr>
            <a:spLocks noGrp="1"/>
          </p:cNvSpPr>
          <p:nvPr>
            <p:ph type="sldNum" idx="7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597ED4-6243-41BE-B00A-FA50DF758DE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172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PlaceHolder 3"/>
          <p:cNvSpPr>
            <a:spLocks noGrp="1"/>
          </p:cNvSpPr>
          <p:nvPr>
            <p:ph type="sldNum" idx="8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110A40-C0EC-476B-9472-DEC47547048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175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" name="PlaceHolder 3"/>
          <p:cNvSpPr>
            <a:spLocks noGrp="1"/>
          </p:cNvSpPr>
          <p:nvPr>
            <p:ph type="sldNum" idx="9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2F331D-566E-4C5B-83C4-01589D1B504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178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9" name="PlaceHolder 3"/>
          <p:cNvSpPr>
            <a:spLocks noGrp="1"/>
          </p:cNvSpPr>
          <p:nvPr>
            <p:ph type="sldNum" idx="10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4A4259-4026-4FA8-ADC4-A2D8B307DBD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181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2" name="PlaceHolder 3"/>
          <p:cNvSpPr>
            <a:spLocks noGrp="1"/>
          </p:cNvSpPr>
          <p:nvPr>
            <p:ph type="sldNum" idx="11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3C995B-DA4D-4798-BEFB-958ACA1032F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184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5" name="PlaceHolder 3"/>
          <p:cNvSpPr>
            <a:spLocks noGrp="1"/>
          </p:cNvSpPr>
          <p:nvPr>
            <p:ph type="sldNum" idx="12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2526AF-8AD5-4F48-B579-EDF83DEF2C3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187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" name="PlaceHolder 3"/>
          <p:cNvSpPr>
            <a:spLocks noGrp="1"/>
          </p:cNvSpPr>
          <p:nvPr>
            <p:ph type="sldNum" idx="13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ED0830-9A39-49A0-A13D-6918D6AD82F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190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1" name="PlaceHolder 3"/>
          <p:cNvSpPr>
            <a:spLocks noGrp="1"/>
          </p:cNvSpPr>
          <p:nvPr>
            <p:ph type="sldNum" idx="14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264432-F863-4BC7-9FA0-A2CC1831643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193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4" name="PlaceHolder 3"/>
          <p:cNvSpPr>
            <a:spLocks noGrp="1"/>
          </p:cNvSpPr>
          <p:nvPr>
            <p:ph type="sldNum" idx="15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FC460F-987A-4842-BC68-E1BD3618222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196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" name="PlaceHolder 3"/>
          <p:cNvSpPr>
            <a:spLocks noGrp="1"/>
          </p:cNvSpPr>
          <p:nvPr>
            <p:ph type="sldNum" idx="16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D019C9-D95F-4F81-B91F-4BDCC13CE05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199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" name="PlaceHolder 3"/>
          <p:cNvSpPr>
            <a:spLocks noGrp="1"/>
          </p:cNvSpPr>
          <p:nvPr>
            <p:ph type="sldNum" idx="17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18CA69-0D26-495A-B8F0-9FB249C956C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202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3" name="PlaceHolder 3"/>
          <p:cNvSpPr>
            <a:spLocks noGrp="1"/>
          </p:cNvSpPr>
          <p:nvPr>
            <p:ph type="sldNum" idx="18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162750-8231-4710-9653-A3D3C5CA463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205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6" name="PlaceHolder 3"/>
          <p:cNvSpPr>
            <a:spLocks noGrp="1"/>
          </p:cNvSpPr>
          <p:nvPr>
            <p:ph type="sldNum" idx="19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9D07F7-FF77-43CD-8D9C-D74F63633CE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208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9" name="PlaceHolder 3"/>
          <p:cNvSpPr>
            <a:spLocks noGrp="1"/>
          </p:cNvSpPr>
          <p:nvPr>
            <p:ph type="sldNum" idx="20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1A6EC5-301B-479D-9C07-241731FEBDC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211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2" name="PlaceHolder 3"/>
          <p:cNvSpPr>
            <a:spLocks noGrp="1"/>
          </p:cNvSpPr>
          <p:nvPr>
            <p:ph type="sldNum" idx="21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03DF33-2785-4729-B39B-23DBFC2456D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214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5" name="PlaceHolder 3"/>
          <p:cNvSpPr>
            <a:spLocks noGrp="1"/>
          </p:cNvSpPr>
          <p:nvPr>
            <p:ph type="sldNum" idx="22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D2B0EB-221C-4FCD-8C16-FDF0D0AE8AB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217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PlaceHolder 3"/>
          <p:cNvSpPr>
            <a:spLocks noGrp="1"/>
          </p:cNvSpPr>
          <p:nvPr>
            <p:ph type="sldNum" idx="23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8308F4-A8BE-45EB-8A09-D4E139E58CE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220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1" name="PlaceHolder 3"/>
          <p:cNvSpPr>
            <a:spLocks noGrp="1"/>
          </p:cNvSpPr>
          <p:nvPr>
            <p:ph type="sldNum" idx="24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633CCB-78E9-4E1E-B443-ED0A736BF2A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223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4" name="PlaceHolder 3"/>
          <p:cNvSpPr>
            <a:spLocks noGrp="1"/>
          </p:cNvSpPr>
          <p:nvPr>
            <p:ph type="sldNum" idx="25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EF5956-8D8C-494F-8AA5-6DB088BCACA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7680960" y="1005840"/>
            <a:ext cx="4023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4600" spc="-1" strike="noStrike">
                <a:solidFill>
                  <a:srgbClr val="33463a"/>
                </a:solidFill>
                <a:latin typeface="Cambria"/>
                <a:ea typeface="Cambria"/>
              </a:rPr>
              <a:t>y = mx + c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e0ac2b"/>
                </a:solidFill>
                <a:latin typeface="Cambria"/>
                <a:ea typeface="Cambria"/>
              </a:rPr>
              <a:t>Straight Line Equations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y = mx + c · Gradient &amp; Intercept · Drawing Lines · Finding the Equation · Midpoint &amp; Distance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Everything from y = mx + c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Every straight line has the form y = mx + c.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m is the gradient (steepness), c is where it crosses the y-axis. Find those two and you have the equation.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Lines &amp; linear equations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Vertical &amp; horizontal lines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Drawing a line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Gradient and intercept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Finding the equation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Midpoint &amp; distance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linear · gradient · y-intercept · substitute · rearrange · midpoint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WHAT IS A STRAIGHT LINE?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Linear Equations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39"/>
          <p:cNvSpPr/>
          <p:nvPr/>
        </p:nvSpPr>
        <p:spPr>
          <a:xfrm>
            <a:off x="567000" y="1371600"/>
            <a:ext cx="11063880" cy="731160"/>
          </a:xfrm>
          <a:prstGeom prst="roundRect">
            <a:avLst>
              <a:gd name="adj" fmla="val 75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40"/>
          <p:cNvSpPr/>
          <p:nvPr/>
        </p:nvSpPr>
        <p:spPr>
          <a:xfrm>
            <a:off x="887040" y="1371600"/>
            <a:ext cx="10423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A linear equation has every variable to the power 1.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No x², no x³, no 1/x — those curve. Linear equations always give a STRAIGHT line.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41"/>
          <p:cNvSpPr/>
          <p:nvPr/>
        </p:nvSpPr>
        <p:spPr>
          <a:xfrm>
            <a:off x="567000" y="2331720"/>
            <a:ext cx="5440320" cy="3108600"/>
          </a:xfrm>
          <a:prstGeom prst="roundRect">
            <a:avLst>
              <a:gd name="adj" fmla="val 1765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42"/>
          <p:cNvSpPr/>
          <p:nvPr/>
        </p:nvSpPr>
        <p:spPr>
          <a:xfrm>
            <a:off x="932760" y="256932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Straight (linear)  ✓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43"/>
          <p:cNvSpPr/>
          <p:nvPr/>
        </p:nvSpPr>
        <p:spPr>
          <a:xfrm>
            <a:off x="868680" y="3099960"/>
            <a:ext cx="164160" cy="16416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44"/>
          <p:cNvSpPr/>
          <p:nvPr/>
        </p:nvSpPr>
        <p:spPr>
          <a:xfrm>
            <a:off x="1170360" y="301752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y = 2x + 3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45"/>
          <p:cNvSpPr/>
          <p:nvPr/>
        </p:nvSpPr>
        <p:spPr>
          <a:xfrm>
            <a:off x="868680" y="3666600"/>
            <a:ext cx="164160" cy="16416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46"/>
          <p:cNvSpPr/>
          <p:nvPr/>
        </p:nvSpPr>
        <p:spPr>
          <a:xfrm>
            <a:off x="1170360" y="358452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y = 5 − x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47"/>
          <p:cNvSpPr/>
          <p:nvPr/>
        </p:nvSpPr>
        <p:spPr>
          <a:xfrm>
            <a:off x="868680" y="4233600"/>
            <a:ext cx="164160" cy="16416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48"/>
          <p:cNvSpPr/>
          <p:nvPr/>
        </p:nvSpPr>
        <p:spPr>
          <a:xfrm>
            <a:off x="1170360" y="415152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2y + 7x = 10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49"/>
          <p:cNvSpPr/>
          <p:nvPr/>
        </p:nvSpPr>
        <p:spPr>
          <a:xfrm>
            <a:off x="868680" y="4800600"/>
            <a:ext cx="164160" cy="16416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50"/>
          <p:cNvSpPr/>
          <p:nvPr/>
        </p:nvSpPr>
        <p:spPr>
          <a:xfrm>
            <a:off x="1170360" y="471816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x = 4   /   y = −1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51"/>
          <p:cNvSpPr/>
          <p:nvPr/>
        </p:nvSpPr>
        <p:spPr>
          <a:xfrm>
            <a:off x="6190560" y="2331720"/>
            <a:ext cx="5440320" cy="3108600"/>
          </a:xfrm>
          <a:prstGeom prst="roundRect">
            <a:avLst>
              <a:gd name="adj" fmla="val 1765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52"/>
          <p:cNvSpPr/>
          <p:nvPr/>
        </p:nvSpPr>
        <p:spPr>
          <a:xfrm>
            <a:off x="6556320" y="256932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NOT straight  ✗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53"/>
          <p:cNvSpPr/>
          <p:nvPr/>
        </p:nvSpPr>
        <p:spPr>
          <a:xfrm>
            <a:off x="6492240" y="3099960"/>
            <a:ext cx="164160" cy="1641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54"/>
          <p:cNvSpPr/>
          <p:nvPr/>
        </p:nvSpPr>
        <p:spPr>
          <a:xfrm>
            <a:off x="6793920" y="301752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y = x² + 1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55"/>
          <p:cNvSpPr/>
          <p:nvPr/>
        </p:nvSpPr>
        <p:spPr>
          <a:xfrm>
            <a:off x="6492240" y="3666600"/>
            <a:ext cx="164160" cy="1641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56"/>
          <p:cNvSpPr/>
          <p:nvPr/>
        </p:nvSpPr>
        <p:spPr>
          <a:xfrm>
            <a:off x="6793920" y="358452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y = x³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57"/>
          <p:cNvSpPr/>
          <p:nvPr/>
        </p:nvSpPr>
        <p:spPr>
          <a:xfrm>
            <a:off x="6492240" y="4233600"/>
            <a:ext cx="164160" cy="1641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58"/>
          <p:cNvSpPr/>
          <p:nvPr/>
        </p:nvSpPr>
        <p:spPr>
          <a:xfrm>
            <a:off x="6793920" y="415152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y = 1/x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59"/>
          <p:cNvSpPr/>
          <p:nvPr/>
        </p:nvSpPr>
        <p:spPr>
          <a:xfrm>
            <a:off x="6492240" y="4800600"/>
            <a:ext cx="164160" cy="1641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60"/>
          <p:cNvSpPr/>
          <p:nvPr/>
        </p:nvSpPr>
        <p:spPr>
          <a:xfrm>
            <a:off x="6793920" y="471816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y = √x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61"/>
          <p:cNvSpPr/>
          <p:nvPr/>
        </p:nvSpPr>
        <p:spPr>
          <a:xfrm>
            <a:off x="567000" y="566928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A power of 1 on x and y → a straight line.  Any other power → a curve.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SPECIAL LINES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Vertical &amp; Horizontal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39"/>
          <p:cNvSpPr/>
          <p:nvPr/>
        </p:nvSpPr>
        <p:spPr>
          <a:xfrm>
            <a:off x="567000" y="137160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40"/>
          <p:cNvSpPr/>
          <p:nvPr/>
        </p:nvSpPr>
        <p:spPr>
          <a:xfrm>
            <a:off x="887040" y="137160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Look at what the points have in common.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If every x is the same → x = c.  If every y is the same → y = c.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41"/>
          <p:cNvSpPr/>
          <p:nvPr/>
        </p:nvSpPr>
        <p:spPr>
          <a:xfrm>
            <a:off x="567000" y="2286000"/>
            <a:ext cx="5440320" cy="3200040"/>
          </a:xfrm>
          <a:prstGeom prst="roundRect">
            <a:avLst>
              <a:gd name="adj" fmla="val 1714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42"/>
          <p:cNvSpPr/>
          <p:nvPr/>
        </p:nvSpPr>
        <p:spPr>
          <a:xfrm>
            <a:off x="93276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Vertical:  x = c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43"/>
          <p:cNvSpPr/>
          <p:nvPr/>
        </p:nvSpPr>
        <p:spPr>
          <a:xfrm>
            <a:off x="914400" y="2971800"/>
            <a:ext cx="47545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c6b60"/>
                </a:solidFill>
                <a:latin typeface="Cambria"/>
                <a:ea typeface="Cambria"/>
              </a:rPr>
              <a:t>(2, 3), (2, 1), (2, −2), (2, 4)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mbria"/>
                <a:ea typeface="Cambria"/>
              </a:rPr>
              <a:t>Every x-coordinate is 2.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Equation:  x = 2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mbria"/>
                <a:ea typeface="Cambria"/>
              </a:rPr>
              <a:t>It cuts the x-axis at (2, 0).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mbria"/>
                <a:ea typeface="Cambria"/>
              </a:rPr>
              <a:t>Gradient is undefined (infinitely steep).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44"/>
          <p:cNvSpPr/>
          <p:nvPr/>
        </p:nvSpPr>
        <p:spPr>
          <a:xfrm>
            <a:off x="6190560" y="2286000"/>
            <a:ext cx="5440320" cy="3200040"/>
          </a:xfrm>
          <a:prstGeom prst="roundRect">
            <a:avLst>
              <a:gd name="adj" fmla="val 1714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45"/>
          <p:cNvSpPr/>
          <p:nvPr/>
        </p:nvSpPr>
        <p:spPr>
          <a:xfrm>
            <a:off x="655632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Horizontal:  y = c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46"/>
          <p:cNvSpPr/>
          <p:nvPr/>
        </p:nvSpPr>
        <p:spPr>
          <a:xfrm>
            <a:off x="6537960" y="2971800"/>
            <a:ext cx="47545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c6b60"/>
                </a:solidFill>
                <a:latin typeface="Cambria"/>
                <a:ea typeface="Cambria"/>
              </a:rPr>
              <a:t>(0, 1), (3, 1), (−2, 1), (2, 1)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mbria"/>
                <a:ea typeface="Cambria"/>
              </a:rPr>
              <a:t>Every y-coordinate is 1.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Equation:  y = 1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mbria"/>
                <a:ea typeface="Cambria"/>
              </a:rPr>
              <a:t>It cuts the y-axis at (0, 1).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mbria"/>
                <a:ea typeface="Cambria"/>
              </a:rPr>
              <a:t>Gradient = 0 (flat).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47"/>
          <p:cNvSpPr/>
          <p:nvPr/>
        </p:nvSpPr>
        <p:spPr>
          <a:xfrm>
            <a:off x="567000" y="57150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Remember: the x-axis is y = 0, and the y-axis is x = 0.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SUBSTITUTING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Does the Point Lie on the Line?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Method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Put the x-value into the equation.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Work out y.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If it matches the point's y-value, the point is on the line.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Always give a reason in the exam: state the y-value you calculated.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Substitute the coordinates and check both sides match.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y = 2x − 6 and (3, 0):  2(3) − 6 = 0  ✓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lies on the line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y = 3x + 2 and (4, 11):  3(4) + 2 = 14, not 11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✗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does NOT lie on the line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Substitute x, then compare the y-values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KEY IDEA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y = mx + c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39"/>
          <p:cNvSpPr/>
          <p:nvPr/>
        </p:nvSpPr>
        <p:spPr>
          <a:xfrm>
            <a:off x="2194560" y="1600200"/>
            <a:ext cx="7799400" cy="1234080"/>
          </a:xfrm>
          <a:prstGeom prst="roundRect">
            <a:avLst>
              <a:gd name="adj" fmla="val 4444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40"/>
          <p:cNvSpPr/>
          <p:nvPr/>
        </p:nvSpPr>
        <p:spPr>
          <a:xfrm>
            <a:off x="2194560" y="1600200"/>
            <a:ext cx="779940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debdd"/>
                </a:solidFill>
                <a:latin typeface="Cambria"/>
                <a:ea typeface="Cambria"/>
              </a:rPr>
              <a:t>y  =  </a:t>
            </a: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m</a:t>
            </a:r>
            <a:r>
              <a:rPr b="1" lang="en-US" sz="3800" spc="-1" strike="noStrike">
                <a:solidFill>
                  <a:srgbClr val="edebdd"/>
                </a:solidFill>
                <a:latin typeface="Cambria"/>
                <a:ea typeface="Cambria"/>
              </a:rPr>
              <a:t>x  +  </a:t>
            </a:r>
            <a:r>
              <a:rPr b="1" lang="en-US" sz="3800" spc="-1" strike="noStrike">
                <a:solidFill>
                  <a:srgbClr val="e8623d"/>
                </a:solidFill>
                <a:latin typeface="Cambria"/>
                <a:ea typeface="Cambria"/>
              </a:rPr>
              <a:t>c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41"/>
          <p:cNvSpPr/>
          <p:nvPr/>
        </p:nvSpPr>
        <p:spPr>
          <a:xfrm>
            <a:off x="567000" y="3063240"/>
            <a:ext cx="5440320" cy="1828440"/>
          </a:xfrm>
          <a:prstGeom prst="roundRect">
            <a:avLst>
              <a:gd name="adj" fmla="val 300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42"/>
          <p:cNvSpPr/>
          <p:nvPr/>
        </p:nvSpPr>
        <p:spPr>
          <a:xfrm>
            <a:off x="932760" y="330084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m  =  the GRADIENT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43"/>
          <p:cNvSpPr/>
          <p:nvPr/>
        </p:nvSpPr>
        <p:spPr>
          <a:xfrm>
            <a:off x="914400" y="3749040"/>
            <a:ext cx="47545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mbria"/>
                <a:ea typeface="Cambria"/>
              </a:rPr>
              <a:t>How steep the line is.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c6b60"/>
                </a:solidFill>
                <a:latin typeface="Cambria"/>
                <a:ea typeface="Cambria"/>
              </a:rPr>
              <a:t>The number in front of x.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44"/>
          <p:cNvSpPr/>
          <p:nvPr/>
        </p:nvSpPr>
        <p:spPr>
          <a:xfrm>
            <a:off x="6190560" y="3063240"/>
            <a:ext cx="5440320" cy="1828440"/>
          </a:xfrm>
          <a:prstGeom prst="roundRect">
            <a:avLst>
              <a:gd name="adj" fmla="val 300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45"/>
          <p:cNvSpPr/>
          <p:nvPr/>
        </p:nvSpPr>
        <p:spPr>
          <a:xfrm>
            <a:off x="6556320" y="330084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c  =  the y-INTERCEPT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46"/>
          <p:cNvSpPr/>
          <p:nvPr/>
        </p:nvSpPr>
        <p:spPr>
          <a:xfrm>
            <a:off x="6537960" y="3749040"/>
            <a:ext cx="47545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mbria"/>
                <a:ea typeface="Cambria"/>
              </a:rPr>
              <a:t>Where the line crosses the y-axis.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c6b60"/>
                </a:solidFill>
                <a:latin typeface="Cambria"/>
                <a:ea typeface="Cambria"/>
              </a:rPr>
              <a:t>The number on its own — the point (0, c).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47"/>
          <p:cNvSpPr/>
          <p:nvPr/>
        </p:nvSpPr>
        <p:spPr>
          <a:xfrm>
            <a:off x="567000" y="5120640"/>
            <a:ext cx="11063880" cy="1051200"/>
          </a:xfrm>
          <a:prstGeom prst="roundRect">
            <a:avLst>
              <a:gd name="adj" fmla="val 521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48"/>
          <p:cNvSpPr/>
          <p:nvPr/>
        </p:nvSpPr>
        <p:spPr>
          <a:xfrm>
            <a:off x="841320" y="5120640"/>
            <a:ext cx="105152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y = 3x + 2  →  gradient 3, crosses the y-axis at (0, 2)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READING m AND c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Rearrange into y = mx + c First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Golden rule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You can only read m and c when y is ALONE on one side.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Rearrange first: get y = …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m is the number multiplying x (with its sign).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A common exam question: ‘find the gradient of 5x + 2y = 7’ — you must rearrange.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y = 5x − 4     →   m = 5,   c = −4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y = 3 − 2x     →   m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−2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,   c = 3   (watch the sign!)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5x + 2y = 7  →  2y = 7 − 5x  →  y = 3.5 − 2.5x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→   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m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−2.5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,   c = 3.5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5x + 2y = 7  →  gradient = −2.5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GRADIENT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From Two Points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39"/>
          <p:cNvSpPr/>
          <p:nvPr/>
        </p:nvSpPr>
        <p:spPr>
          <a:xfrm>
            <a:off x="567000" y="137160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 40"/>
          <p:cNvSpPr/>
          <p:nvPr/>
        </p:nvSpPr>
        <p:spPr>
          <a:xfrm>
            <a:off x="887040" y="137160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Gradient = rise ÷ run.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Take the change in y over the change in x.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41"/>
          <p:cNvSpPr/>
          <p:nvPr/>
        </p:nvSpPr>
        <p:spPr>
          <a:xfrm>
            <a:off x="3108960" y="2194560"/>
            <a:ext cx="5943240" cy="1371240"/>
          </a:xfrm>
          <a:prstGeom prst="roundRect">
            <a:avLst>
              <a:gd name="adj" fmla="val 4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 42"/>
          <p:cNvSpPr/>
          <p:nvPr/>
        </p:nvSpPr>
        <p:spPr>
          <a:xfrm>
            <a:off x="3657600" y="2194560"/>
            <a:ext cx="1096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e0ac2b"/>
                </a:solidFill>
                <a:latin typeface="Cambria"/>
                <a:ea typeface="Cambria"/>
              </a:rPr>
              <a:t>m  =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 43"/>
          <p:cNvSpPr/>
          <p:nvPr/>
        </p:nvSpPr>
        <p:spPr>
          <a:xfrm>
            <a:off x="4846320" y="233172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debdd"/>
                </a:solidFill>
                <a:latin typeface="Cambria"/>
                <a:ea typeface="Cambria"/>
              </a:rPr>
              <a:t>y₂ − y₁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44"/>
          <p:cNvSpPr/>
          <p:nvPr/>
        </p:nvSpPr>
        <p:spPr>
          <a:xfrm>
            <a:off x="4846320" y="2880360"/>
            <a:ext cx="2194560" cy="360"/>
          </a:xfrm>
          <a:prstGeom prst="line">
            <a:avLst/>
          </a:prstGeom>
          <a:ln w="25400">
            <a:solidFill>
              <a:srgbClr val="e0ac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 45"/>
          <p:cNvSpPr/>
          <p:nvPr/>
        </p:nvSpPr>
        <p:spPr>
          <a:xfrm>
            <a:off x="4846320" y="292608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debdd"/>
                </a:solidFill>
                <a:latin typeface="Cambria"/>
                <a:ea typeface="Cambria"/>
              </a:rPr>
              <a:t>x₂ − x₁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46"/>
          <p:cNvSpPr/>
          <p:nvPr/>
        </p:nvSpPr>
        <p:spPr>
          <a:xfrm>
            <a:off x="567000" y="3794760"/>
            <a:ext cx="5440320" cy="1737000"/>
          </a:xfrm>
          <a:prstGeom prst="roundRect">
            <a:avLst>
              <a:gd name="adj" fmla="val 315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 47"/>
          <p:cNvSpPr/>
          <p:nvPr/>
        </p:nvSpPr>
        <p:spPr>
          <a:xfrm>
            <a:off x="932760" y="403236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Example: (2, 3) and (5, 12)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 48"/>
          <p:cNvSpPr/>
          <p:nvPr/>
        </p:nvSpPr>
        <p:spPr>
          <a:xfrm>
            <a:off x="914400" y="4480560"/>
            <a:ext cx="4754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mbria"/>
                <a:ea typeface="Cambria"/>
              </a:rPr>
              <a:t>m = (12 − 3) ÷ (5 − 2)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= 9 ÷ 3 = 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49"/>
          <p:cNvSpPr/>
          <p:nvPr/>
        </p:nvSpPr>
        <p:spPr>
          <a:xfrm>
            <a:off x="6190560" y="3794760"/>
            <a:ext cx="5440320" cy="1737000"/>
          </a:xfrm>
          <a:prstGeom prst="roundRect">
            <a:avLst>
              <a:gd name="adj" fmla="val 3158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 50"/>
          <p:cNvSpPr/>
          <p:nvPr/>
        </p:nvSpPr>
        <p:spPr>
          <a:xfrm>
            <a:off x="6556320" y="403236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Example: (4, 5) and (2, −3)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 51"/>
          <p:cNvSpPr/>
          <p:nvPr/>
        </p:nvSpPr>
        <p:spPr>
          <a:xfrm>
            <a:off x="6537960" y="4480560"/>
            <a:ext cx="4754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mbria"/>
                <a:ea typeface="Cambria"/>
              </a:rPr>
              <a:t>m = (5 − (−3)) ÷ (4 − 2)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= 8 ÷ 2 = 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 52"/>
          <p:cNvSpPr/>
          <p:nvPr/>
        </p:nvSpPr>
        <p:spPr>
          <a:xfrm>
            <a:off x="567000" y="5760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Subtract in the SAME order on top and bottom.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GRADIENT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Positive, Negative, Zero or Undefined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39"/>
          <p:cNvSpPr/>
          <p:nvPr/>
        </p:nvSpPr>
        <p:spPr>
          <a:xfrm>
            <a:off x="567000" y="1371600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 40"/>
          <p:cNvSpPr/>
          <p:nvPr/>
        </p:nvSpPr>
        <p:spPr>
          <a:xfrm>
            <a:off x="887040" y="1371600"/>
            <a:ext cx="10423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The sign of m tells you which way the line slopes.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41"/>
          <p:cNvSpPr/>
          <p:nvPr/>
        </p:nvSpPr>
        <p:spPr>
          <a:xfrm>
            <a:off x="567000" y="2148840"/>
            <a:ext cx="5394600" cy="1691280"/>
          </a:xfrm>
          <a:prstGeom prst="roundRect">
            <a:avLst>
              <a:gd name="adj" fmla="val 3243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 42"/>
          <p:cNvSpPr/>
          <p:nvPr/>
        </p:nvSpPr>
        <p:spPr>
          <a:xfrm>
            <a:off x="887040" y="2331720"/>
            <a:ext cx="4754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POSITIVE  m &gt; 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 43"/>
          <p:cNvSpPr/>
          <p:nvPr/>
        </p:nvSpPr>
        <p:spPr>
          <a:xfrm>
            <a:off x="887040" y="2807280"/>
            <a:ext cx="4754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upward slope  /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 44"/>
          <p:cNvSpPr/>
          <p:nvPr/>
        </p:nvSpPr>
        <p:spPr>
          <a:xfrm>
            <a:off x="887040" y="3246120"/>
            <a:ext cx="4754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c6b60"/>
                </a:solidFill>
                <a:latin typeface="Calibri"/>
                <a:ea typeface="Calibri"/>
              </a:rPr>
              <a:t>e.g. y = 2x + 1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45"/>
          <p:cNvSpPr/>
          <p:nvPr/>
        </p:nvSpPr>
        <p:spPr>
          <a:xfrm>
            <a:off x="6217920" y="2148840"/>
            <a:ext cx="5394600" cy="1691280"/>
          </a:xfrm>
          <a:prstGeom prst="roundRect">
            <a:avLst>
              <a:gd name="adj" fmla="val 3243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 46"/>
          <p:cNvSpPr/>
          <p:nvPr/>
        </p:nvSpPr>
        <p:spPr>
          <a:xfrm>
            <a:off x="6537960" y="2331720"/>
            <a:ext cx="4754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NEGATIVE  m &lt; 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 47"/>
          <p:cNvSpPr/>
          <p:nvPr/>
        </p:nvSpPr>
        <p:spPr>
          <a:xfrm>
            <a:off x="6537960" y="2807280"/>
            <a:ext cx="4754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downward slope  \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 48"/>
          <p:cNvSpPr/>
          <p:nvPr/>
        </p:nvSpPr>
        <p:spPr>
          <a:xfrm>
            <a:off x="6537960" y="3246120"/>
            <a:ext cx="4754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c6b60"/>
                </a:solidFill>
                <a:latin typeface="Calibri"/>
                <a:ea typeface="Calibri"/>
              </a:rPr>
              <a:t>e.g. y = 3 − 2x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49"/>
          <p:cNvSpPr/>
          <p:nvPr/>
        </p:nvSpPr>
        <p:spPr>
          <a:xfrm>
            <a:off x="567000" y="4069080"/>
            <a:ext cx="5394600" cy="1691280"/>
          </a:xfrm>
          <a:prstGeom prst="roundRect">
            <a:avLst>
              <a:gd name="adj" fmla="val 3243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Text 50"/>
          <p:cNvSpPr/>
          <p:nvPr/>
        </p:nvSpPr>
        <p:spPr>
          <a:xfrm>
            <a:off x="887040" y="4251960"/>
            <a:ext cx="4754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ZERO  m = 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 51"/>
          <p:cNvSpPr/>
          <p:nvPr/>
        </p:nvSpPr>
        <p:spPr>
          <a:xfrm>
            <a:off x="887040" y="4727520"/>
            <a:ext cx="4754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horizontal  —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 52"/>
          <p:cNvSpPr/>
          <p:nvPr/>
        </p:nvSpPr>
        <p:spPr>
          <a:xfrm>
            <a:off x="887040" y="5166360"/>
            <a:ext cx="4754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c6b60"/>
                </a:solidFill>
                <a:latin typeface="Calibri"/>
                <a:ea typeface="Calibri"/>
              </a:rPr>
              <a:t>e.g. y = 4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53"/>
          <p:cNvSpPr/>
          <p:nvPr/>
        </p:nvSpPr>
        <p:spPr>
          <a:xfrm>
            <a:off x="6217920" y="4069080"/>
            <a:ext cx="5394600" cy="1691280"/>
          </a:xfrm>
          <a:prstGeom prst="roundRect">
            <a:avLst>
              <a:gd name="adj" fmla="val 3243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 54"/>
          <p:cNvSpPr/>
          <p:nvPr/>
        </p:nvSpPr>
        <p:spPr>
          <a:xfrm>
            <a:off x="6537960" y="4251960"/>
            <a:ext cx="4754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UNDEFINED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 55"/>
          <p:cNvSpPr/>
          <p:nvPr/>
        </p:nvSpPr>
        <p:spPr>
          <a:xfrm>
            <a:off x="6537960" y="4727520"/>
            <a:ext cx="4754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vertical  |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 56"/>
          <p:cNvSpPr/>
          <p:nvPr/>
        </p:nvSpPr>
        <p:spPr>
          <a:xfrm>
            <a:off x="6537960" y="5166360"/>
            <a:ext cx="4754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c6b60"/>
                </a:solidFill>
                <a:latin typeface="Calibri"/>
                <a:ea typeface="Calibri"/>
              </a:rPr>
              <a:t>e.g. x = 2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Text 57"/>
          <p:cNvSpPr/>
          <p:nvPr/>
        </p:nvSpPr>
        <p:spPr>
          <a:xfrm>
            <a:off x="567000" y="612648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Steeper line → bigger |m|.  A gradient of ½ is gentle; a gradient of 5 is steep.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FINDING THE EQUATION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Given the Gradient and a Point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Method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Put m into y = mx + c.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Substitute the point's x and y to find c.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Write the full equation.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If the point is (0, 5), then c = 5 straight away — it IS the y-intercept.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The gradient is 3 and the line passes through (4, 5).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Start with  y = 3x + 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Substitute the point:  5 = 3(4) + c  →  5 = 12 + 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c = −7,  so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y = 3x − 7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y = 3x − 7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FINDING THE EQUATION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Given Two Points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Two steps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FIRST find the gradient from the two points.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THEN substitute either point to find c.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Check with the other point: 5 × 3 − 3 = 12 ✓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Some exams want the answer as ax + by = c — rearrange at the end.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The line passes through (3, 6) and (5, 12).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Gradient:  m = (12 − 6) ÷ (5 − 3) = 6 ÷ 2 = 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y = 3x + c.  Substitute (3, 6):  6 = 9 + c  →  c = −3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6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So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y = 3x − 3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y = 3x − 3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FINDING THE EQUATION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From a Graph — Positive Gradients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39"/>
          <p:cNvSpPr/>
          <p:nvPr/>
        </p:nvSpPr>
        <p:spPr>
          <a:xfrm>
            <a:off x="567000" y="128016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0" name="Text 40"/>
          <p:cNvSpPr/>
          <p:nvPr/>
        </p:nvSpPr>
        <p:spPr>
          <a:xfrm>
            <a:off x="887040" y="128016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Read c where the line crosses the y-axis, find m by rise ÷ run, then write y = mx + c.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41"/>
          <p:cNvSpPr/>
          <p:nvPr/>
        </p:nvSpPr>
        <p:spPr>
          <a:xfrm>
            <a:off x="2218320" y="1911240"/>
            <a:ext cx="7754400" cy="420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2" name="Image 0" descr="/tmp/work/slg/g-eq1.png"/>
          <p:cNvPicPr/>
          <p:nvPr/>
        </p:nvPicPr>
        <p:blipFill>
          <a:blip r:embed="rId1"/>
          <a:stretch/>
        </p:blipFill>
        <p:spPr>
          <a:xfrm>
            <a:off x="2300760" y="1993320"/>
            <a:ext cx="7589880" cy="4041360"/>
          </a:xfrm>
          <a:prstGeom prst="rect">
            <a:avLst/>
          </a:prstGeom>
          <a:ln w="0">
            <a:noFill/>
          </a:ln>
        </p:spPr>
      </p:pic>
      <p:sp>
        <p:nvSpPr>
          <p:cNvPr id="663" name="Shape 42"/>
          <p:cNvSpPr/>
          <p:nvPr/>
        </p:nvSpPr>
        <p:spPr>
          <a:xfrm>
            <a:off x="567000" y="6263640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" name="Text 43"/>
          <p:cNvSpPr/>
          <p:nvPr/>
        </p:nvSpPr>
        <p:spPr>
          <a:xfrm>
            <a:off x="841320" y="62636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Find c first (easy to read), then m — then put them into y = mx + c.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FINDING THE EQUATION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From a Graph — Negative Gradients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39"/>
          <p:cNvSpPr/>
          <p:nvPr/>
        </p:nvSpPr>
        <p:spPr>
          <a:xfrm>
            <a:off x="567000" y="128016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5" name="Text 40"/>
          <p:cNvSpPr/>
          <p:nvPr/>
        </p:nvSpPr>
        <p:spPr>
          <a:xfrm>
            <a:off x="887040" y="128016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If the line slopes DOWN from left to right, the gradient is negative.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41"/>
          <p:cNvSpPr/>
          <p:nvPr/>
        </p:nvSpPr>
        <p:spPr>
          <a:xfrm>
            <a:off x="2794320" y="1911240"/>
            <a:ext cx="6602760" cy="420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7" name="Image 0" descr="/tmp/work/slg/g-eq2.png"/>
          <p:cNvPicPr/>
          <p:nvPr/>
        </p:nvPicPr>
        <p:blipFill>
          <a:blip r:embed="rId1"/>
          <a:stretch/>
        </p:blipFill>
        <p:spPr>
          <a:xfrm>
            <a:off x="2876400" y="1993320"/>
            <a:ext cx="6438240" cy="4041360"/>
          </a:xfrm>
          <a:prstGeom prst="rect">
            <a:avLst/>
          </a:prstGeom>
          <a:ln w="0">
            <a:noFill/>
          </a:ln>
        </p:spPr>
      </p:pic>
      <p:sp>
        <p:nvSpPr>
          <p:cNvPr id="708" name="Shape 42"/>
          <p:cNvSpPr/>
          <p:nvPr/>
        </p:nvSpPr>
        <p:spPr>
          <a:xfrm>
            <a:off x="567000" y="6263640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9" name="Text 43"/>
          <p:cNvSpPr/>
          <p:nvPr/>
        </p:nvSpPr>
        <p:spPr>
          <a:xfrm>
            <a:off x="841320" y="62636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A downward slope means m is NEGATIVE — do not forget the minus sign.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TWO LAST THINGS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Midpoint &amp; Distance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Shape 39"/>
          <p:cNvSpPr/>
          <p:nvPr/>
        </p:nvSpPr>
        <p:spPr>
          <a:xfrm>
            <a:off x="567000" y="1645920"/>
            <a:ext cx="5440320" cy="2102760"/>
          </a:xfrm>
          <a:prstGeom prst="roundRect">
            <a:avLst>
              <a:gd name="adj" fmla="val 2609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Text 40"/>
          <p:cNvSpPr/>
          <p:nvPr/>
        </p:nvSpPr>
        <p:spPr>
          <a:xfrm>
            <a:off x="932760" y="188352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Midpoint — average the coordinates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Text 41"/>
          <p:cNvSpPr/>
          <p:nvPr/>
        </p:nvSpPr>
        <p:spPr>
          <a:xfrm>
            <a:off x="914400" y="2514600"/>
            <a:ext cx="822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M  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Text 42"/>
          <p:cNvSpPr/>
          <p:nvPr/>
        </p:nvSpPr>
        <p:spPr>
          <a:xfrm>
            <a:off x="1737360" y="2514600"/>
            <a:ext cx="4023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(  x₁ + x₂ ,  y₁ + y₂  )  ÷ 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Text 43"/>
          <p:cNvSpPr/>
          <p:nvPr/>
        </p:nvSpPr>
        <p:spPr>
          <a:xfrm>
            <a:off x="914400" y="315468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c6b60"/>
                </a:solidFill>
                <a:latin typeface="Calibri"/>
                <a:ea typeface="Calibri"/>
              </a:rPr>
              <a:t>e.g. (5, 4) and (13, 1)  →  (9, 2.5)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44"/>
          <p:cNvSpPr/>
          <p:nvPr/>
        </p:nvSpPr>
        <p:spPr>
          <a:xfrm>
            <a:off x="6190560" y="1645920"/>
            <a:ext cx="5440320" cy="2102760"/>
          </a:xfrm>
          <a:prstGeom prst="roundRect">
            <a:avLst>
              <a:gd name="adj" fmla="val 2609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Text 45"/>
          <p:cNvSpPr/>
          <p:nvPr/>
        </p:nvSpPr>
        <p:spPr>
          <a:xfrm>
            <a:off x="6556320" y="188352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Distance — Pythagoras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Text 46"/>
          <p:cNvSpPr/>
          <p:nvPr/>
        </p:nvSpPr>
        <p:spPr>
          <a:xfrm>
            <a:off x="6537960" y="2514600"/>
            <a:ext cx="4754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d = √( (x₂−x₁)</a:t>
            </a:r>
            <a:r>
              <a:rPr b="1" lang="en-US" sz="17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 + (y₂−y₁)</a:t>
            </a:r>
            <a:r>
              <a:rPr b="1" lang="en-US" sz="17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 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Text 47"/>
          <p:cNvSpPr/>
          <p:nvPr/>
        </p:nvSpPr>
        <p:spPr>
          <a:xfrm>
            <a:off x="6537960" y="315468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c6b60"/>
                </a:solidFill>
                <a:latin typeface="Calibri"/>
                <a:ea typeface="Calibri"/>
              </a:rPr>
              <a:t>e.g. (0, 0) and (3, 4)  →  √(9 + 16) = 5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48"/>
          <p:cNvSpPr/>
          <p:nvPr/>
        </p:nvSpPr>
        <p:spPr>
          <a:xfrm>
            <a:off x="567000" y="3931920"/>
            <a:ext cx="11063880" cy="776880"/>
          </a:xfrm>
          <a:prstGeom prst="roundRect">
            <a:avLst>
              <a:gd name="adj" fmla="val 7059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9" name="Text 49"/>
          <p:cNvSpPr/>
          <p:nvPr/>
        </p:nvSpPr>
        <p:spPr>
          <a:xfrm>
            <a:off x="887040" y="3931920"/>
            <a:ext cx="10423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libri"/>
                <a:ea typeface="Calibri"/>
              </a:rPr>
              <a:t>Midpoint: ADD and halve. </a:t>
            </a:r>
            <a:r>
              <a:rPr b="0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Distance: SUBTRACT, square, add, square-root.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Shape 50"/>
          <p:cNvSpPr/>
          <p:nvPr/>
        </p:nvSpPr>
        <p:spPr>
          <a:xfrm>
            <a:off x="567000" y="4937760"/>
            <a:ext cx="11063880" cy="1234080"/>
          </a:xfrm>
          <a:prstGeom prst="roundRect">
            <a:avLst>
              <a:gd name="adj" fmla="val 4444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Text 51"/>
          <p:cNvSpPr/>
          <p:nvPr/>
        </p:nvSpPr>
        <p:spPr>
          <a:xfrm>
            <a:off x="914400" y="4937760"/>
            <a:ext cx="103323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Exam example:  </a:t>
            </a: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A(−3, 11) and B(47, b). The midpoint of AB is (a, −19). Find a and b.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a = (−3 + 47) ÷ 2 = 22.     (11 + b) ÷ 2 = −19  →  11 + b = −38  →  b = −49.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7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8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9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0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Past-Paper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1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Rearrange to y = mx + c, then read off m and c — or find them from points.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2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3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Rearrange first if y is not alone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5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6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7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Gradient from two points: rise ÷ run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8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0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Substitute a point to find c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1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2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3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Give the answer in the form asked for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QUESTIONS (1 of 3)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Gradient, Intercept &amp; Points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Shape 39"/>
          <p:cNvSpPr/>
          <p:nvPr/>
        </p:nvSpPr>
        <p:spPr>
          <a:xfrm>
            <a:off x="567000" y="1691640"/>
            <a:ext cx="11063880" cy="141696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Shape 40"/>
          <p:cNvSpPr/>
          <p:nvPr/>
        </p:nvSpPr>
        <p:spPr>
          <a:xfrm>
            <a:off x="868680" y="214884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5" name="Text 41"/>
          <p:cNvSpPr/>
          <p:nvPr/>
        </p:nvSpPr>
        <p:spPr>
          <a:xfrm>
            <a:off x="868680" y="2148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Text 42"/>
          <p:cNvSpPr/>
          <p:nvPr/>
        </p:nvSpPr>
        <p:spPr>
          <a:xfrm>
            <a:off x="1481400" y="1801440"/>
            <a:ext cx="763488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Line L has equation y = 2 − 3x.  (a) Write down the gradient of L.  (b) Does the point (100, −302) lie on L? Give a reason.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Shape 43"/>
          <p:cNvSpPr/>
          <p:nvPr/>
        </p:nvSpPr>
        <p:spPr>
          <a:xfrm>
            <a:off x="9326880" y="2075760"/>
            <a:ext cx="2121120" cy="658080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8" name="Text 44"/>
          <p:cNvSpPr/>
          <p:nvPr/>
        </p:nvSpPr>
        <p:spPr>
          <a:xfrm>
            <a:off x="9326880" y="2075760"/>
            <a:ext cx="212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850" spc="97" strike="noStrike">
                <a:solidFill>
                  <a:srgbClr val="e0ac2b"/>
                </a:solidFill>
                <a:latin typeface="Cambria"/>
                <a:ea typeface="Cambria"/>
              </a:rPr>
              <a:t>ANSWER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bdd"/>
                </a:solidFill>
                <a:latin typeface="Cambria"/>
                <a:ea typeface="Cambria"/>
              </a:rPr>
              <a:t>m = −3;  No: y = −298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Shape 45"/>
          <p:cNvSpPr/>
          <p:nvPr/>
        </p:nvSpPr>
        <p:spPr>
          <a:xfrm>
            <a:off x="567000" y="3246120"/>
            <a:ext cx="11063880" cy="1416960"/>
          </a:xfrm>
          <a:prstGeom prst="roundRect">
            <a:avLst>
              <a:gd name="adj" fmla="val 387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Shape 46"/>
          <p:cNvSpPr/>
          <p:nvPr/>
        </p:nvSpPr>
        <p:spPr>
          <a:xfrm>
            <a:off x="868680" y="37033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1" name="Text 47"/>
          <p:cNvSpPr/>
          <p:nvPr/>
        </p:nvSpPr>
        <p:spPr>
          <a:xfrm>
            <a:off x="868680" y="3703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Text 48"/>
          <p:cNvSpPr/>
          <p:nvPr/>
        </p:nvSpPr>
        <p:spPr>
          <a:xfrm>
            <a:off x="1481400" y="3355920"/>
            <a:ext cx="763488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Find the gradient of the straight line with equation  5x + 2y = 7.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Shape 49"/>
          <p:cNvSpPr/>
          <p:nvPr/>
        </p:nvSpPr>
        <p:spPr>
          <a:xfrm>
            <a:off x="9326880" y="3630240"/>
            <a:ext cx="2121120" cy="658080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4" name="Text 50"/>
          <p:cNvSpPr/>
          <p:nvPr/>
        </p:nvSpPr>
        <p:spPr>
          <a:xfrm>
            <a:off x="9326880" y="3630240"/>
            <a:ext cx="212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850" spc="97" strike="noStrike">
                <a:solidFill>
                  <a:srgbClr val="e0ac2b"/>
                </a:solidFill>
                <a:latin typeface="Cambria"/>
                <a:ea typeface="Cambria"/>
              </a:rPr>
              <a:t>ANSWER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bdd"/>
                </a:solidFill>
                <a:latin typeface="Cambria"/>
                <a:ea typeface="Cambria"/>
              </a:rPr>
              <a:t>m = −2.5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Shape 51"/>
          <p:cNvSpPr/>
          <p:nvPr/>
        </p:nvSpPr>
        <p:spPr>
          <a:xfrm>
            <a:off x="567000" y="4800600"/>
            <a:ext cx="11063880" cy="141696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Shape 52"/>
          <p:cNvSpPr/>
          <p:nvPr/>
        </p:nvSpPr>
        <p:spPr>
          <a:xfrm>
            <a:off x="868680" y="52578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7" name="Text 53"/>
          <p:cNvSpPr/>
          <p:nvPr/>
        </p:nvSpPr>
        <p:spPr>
          <a:xfrm>
            <a:off x="868680" y="5257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Text 54"/>
          <p:cNvSpPr/>
          <p:nvPr/>
        </p:nvSpPr>
        <p:spPr>
          <a:xfrm>
            <a:off x="1481400" y="4910400"/>
            <a:ext cx="763488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The straight line L has equation 2y + 7x = 10. (a) Find the gradient of L. (b) Find where L crosses the y-axis.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Shape 55"/>
          <p:cNvSpPr/>
          <p:nvPr/>
        </p:nvSpPr>
        <p:spPr>
          <a:xfrm>
            <a:off x="9326880" y="5184720"/>
            <a:ext cx="2121120" cy="658080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0" name="Text 56"/>
          <p:cNvSpPr/>
          <p:nvPr/>
        </p:nvSpPr>
        <p:spPr>
          <a:xfrm>
            <a:off x="9326880" y="5184720"/>
            <a:ext cx="212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850" spc="97" strike="noStrike">
                <a:solidFill>
                  <a:srgbClr val="e0ac2b"/>
                </a:solidFill>
                <a:latin typeface="Cambria"/>
                <a:ea typeface="Cambria"/>
              </a:rPr>
              <a:t>ANSWER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bdd"/>
                </a:solidFill>
                <a:latin typeface="Cambria"/>
                <a:ea typeface="Cambria"/>
              </a:rPr>
              <a:t>m = −3.5;  (0, 5)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7" dur="5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0" dur="5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5" dur="500"/>
                                        <p:tgtEl>
                                          <p:spTgt spid="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8" dur="500"/>
                                        <p:tgtEl>
                                          <p:spTgt spid="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3" dur="500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6" dur="5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QUESTIONS (2 of 3)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Finding the Equation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Shape 39"/>
          <p:cNvSpPr/>
          <p:nvPr/>
        </p:nvSpPr>
        <p:spPr>
          <a:xfrm>
            <a:off x="567000" y="1691640"/>
            <a:ext cx="11063880" cy="141696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Shape 40"/>
          <p:cNvSpPr/>
          <p:nvPr/>
        </p:nvSpPr>
        <p:spPr>
          <a:xfrm>
            <a:off x="868680" y="214884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2" name="Text 41"/>
          <p:cNvSpPr/>
          <p:nvPr/>
        </p:nvSpPr>
        <p:spPr>
          <a:xfrm>
            <a:off x="868680" y="2148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Text 42"/>
          <p:cNvSpPr/>
          <p:nvPr/>
        </p:nvSpPr>
        <p:spPr>
          <a:xfrm>
            <a:off x="1481400" y="1801440"/>
            <a:ext cx="763488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Write down an equation of the straight line with gradient −3 that passes through (0, 5).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Shape 43"/>
          <p:cNvSpPr/>
          <p:nvPr/>
        </p:nvSpPr>
        <p:spPr>
          <a:xfrm>
            <a:off x="9326880" y="2075760"/>
            <a:ext cx="2121120" cy="658080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5" name="Text 44"/>
          <p:cNvSpPr/>
          <p:nvPr/>
        </p:nvSpPr>
        <p:spPr>
          <a:xfrm>
            <a:off x="9326880" y="2075760"/>
            <a:ext cx="212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850" spc="97" strike="noStrike">
                <a:solidFill>
                  <a:srgbClr val="e0ac2b"/>
                </a:solidFill>
                <a:latin typeface="Cambria"/>
                <a:ea typeface="Cambria"/>
              </a:rPr>
              <a:t>ANSWER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bdd"/>
                </a:solidFill>
                <a:latin typeface="Cambria"/>
                <a:ea typeface="Cambria"/>
              </a:rPr>
              <a:t>y = −3x + 5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Shape 45"/>
          <p:cNvSpPr/>
          <p:nvPr/>
        </p:nvSpPr>
        <p:spPr>
          <a:xfrm>
            <a:off x="567000" y="3246120"/>
            <a:ext cx="11063880" cy="1416960"/>
          </a:xfrm>
          <a:prstGeom prst="roundRect">
            <a:avLst>
              <a:gd name="adj" fmla="val 387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Shape 46"/>
          <p:cNvSpPr/>
          <p:nvPr/>
        </p:nvSpPr>
        <p:spPr>
          <a:xfrm>
            <a:off x="868680" y="37033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8" name="Text 47"/>
          <p:cNvSpPr/>
          <p:nvPr/>
        </p:nvSpPr>
        <p:spPr>
          <a:xfrm>
            <a:off x="868680" y="3703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Text 48"/>
          <p:cNvSpPr/>
          <p:nvPr/>
        </p:nvSpPr>
        <p:spPr>
          <a:xfrm>
            <a:off x="1481400" y="3355920"/>
            <a:ext cx="763488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Line L has gradient −2 and passes through (1, 3). Find an equation of L in the form ax + by = c.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Shape 49"/>
          <p:cNvSpPr/>
          <p:nvPr/>
        </p:nvSpPr>
        <p:spPr>
          <a:xfrm>
            <a:off x="9326880" y="3630240"/>
            <a:ext cx="2121120" cy="658080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1" name="Text 50"/>
          <p:cNvSpPr/>
          <p:nvPr/>
        </p:nvSpPr>
        <p:spPr>
          <a:xfrm>
            <a:off x="9326880" y="3630240"/>
            <a:ext cx="212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850" spc="97" strike="noStrike">
                <a:solidFill>
                  <a:srgbClr val="e0ac2b"/>
                </a:solidFill>
                <a:latin typeface="Cambria"/>
                <a:ea typeface="Cambria"/>
              </a:rPr>
              <a:t>ANSWER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bdd"/>
                </a:solidFill>
                <a:latin typeface="Cambria"/>
                <a:ea typeface="Cambria"/>
              </a:rPr>
              <a:t>2x + y = 5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Shape 51"/>
          <p:cNvSpPr/>
          <p:nvPr/>
        </p:nvSpPr>
        <p:spPr>
          <a:xfrm>
            <a:off x="567000" y="4800600"/>
            <a:ext cx="11063880" cy="141696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Shape 52"/>
          <p:cNvSpPr/>
          <p:nvPr/>
        </p:nvSpPr>
        <p:spPr>
          <a:xfrm>
            <a:off x="868680" y="52578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4" name="Text 53"/>
          <p:cNvSpPr/>
          <p:nvPr/>
        </p:nvSpPr>
        <p:spPr>
          <a:xfrm>
            <a:off x="868680" y="5257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Text 54"/>
          <p:cNvSpPr/>
          <p:nvPr/>
        </p:nvSpPr>
        <p:spPr>
          <a:xfrm>
            <a:off x="1481400" y="4910400"/>
            <a:ext cx="763488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The points (1, −1) and (4, 7) lie on line L. Find an equation for L in the form ax + by = c.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Shape 55"/>
          <p:cNvSpPr/>
          <p:nvPr/>
        </p:nvSpPr>
        <p:spPr>
          <a:xfrm>
            <a:off x="9326880" y="5184720"/>
            <a:ext cx="2121120" cy="658080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7" name="Text 56"/>
          <p:cNvSpPr/>
          <p:nvPr/>
        </p:nvSpPr>
        <p:spPr>
          <a:xfrm>
            <a:off x="9326880" y="5184720"/>
            <a:ext cx="212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850" spc="97" strike="noStrike">
                <a:solidFill>
                  <a:srgbClr val="e0ac2b"/>
                </a:solidFill>
                <a:latin typeface="Cambria"/>
                <a:ea typeface="Cambria"/>
              </a:rPr>
              <a:t>ANSWER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bdd"/>
                </a:solidFill>
                <a:latin typeface="Cambria"/>
                <a:ea typeface="Cambria"/>
              </a:rPr>
              <a:t>8x − 3y = 11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" dur="indefinite" restart="never" nodeType="tmRoot">
          <p:childTnLst>
            <p:seq>
              <p:cTn id="28" dur="indefinite" nodeType="mainSeq">
                <p:childTnLst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33" dur="500"/>
                                        <p:tgtEl>
                                          <p:spTgt spid="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36"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41" dur="500"/>
                                        <p:tgtEl>
                                          <p:spTgt spid="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44" dur="500"/>
                                        <p:tgtEl>
                                          <p:spTgt spid="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49"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52" dur="5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QUESTIONS (3 of 3)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Equations, Midpoint &amp; Coordinates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Shape 39"/>
          <p:cNvSpPr/>
          <p:nvPr/>
        </p:nvSpPr>
        <p:spPr>
          <a:xfrm>
            <a:off x="567000" y="1691640"/>
            <a:ext cx="11063880" cy="141696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8" name="Shape 40"/>
          <p:cNvSpPr/>
          <p:nvPr/>
        </p:nvSpPr>
        <p:spPr>
          <a:xfrm>
            <a:off x="868680" y="214884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9" name="Text 41"/>
          <p:cNvSpPr/>
          <p:nvPr/>
        </p:nvSpPr>
        <p:spPr>
          <a:xfrm>
            <a:off x="868680" y="2148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7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Text 42"/>
          <p:cNvSpPr/>
          <p:nvPr/>
        </p:nvSpPr>
        <p:spPr>
          <a:xfrm>
            <a:off x="1481400" y="1801440"/>
            <a:ext cx="763488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Find an equation of the line through (−3, 5) and (1, 2). Give your answer as ax + by = c.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1" name="Shape 43"/>
          <p:cNvSpPr/>
          <p:nvPr/>
        </p:nvSpPr>
        <p:spPr>
          <a:xfrm>
            <a:off x="9326880" y="2075760"/>
            <a:ext cx="2121120" cy="658080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2" name="Text 44"/>
          <p:cNvSpPr/>
          <p:nvPr/>
        </p:nvSpPr>
        <p:spPr>
          <a:xfrm>
            <a:off x="9326880" y="2075760"/>
            <a:ext cx="212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850" spc="97" strike="noStrike">
                <a:solidFill>
                  <a:srgbClr val="e0ac2b"/>
                </a:solidFill>
                <a:latin typeface="Cambria"/>
                <a:ea typeface="Cambria"/>
              </a:rPr>
              <a:t>ANSWER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bdd"/>
                </a:solidFill>
                <a:latin typeface="Cambria"/>
                <a:ea typeface="Cambria"/>
              </a:rPr>
              <a:t>3x + 4y = 11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Shape 45"/>
          <p:cNvSpPr/>
          <p:nvPr/>
        </p:nvSpPr>
        <p:spPr>
          <a:xfrm>
            <a:off x="567000" y="3246120"/>
            <a:ext cx="11063880" cy="1416960"/>
          </a:xfrm>
          <a:prstGeom prst="roundRect">
            <a:avLst>
              <a:gd name="adj" fmla="val 387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4" name="Shape 46"/>
          <p:cNvSpPr/>
          <p:nvPr/>
        </p:nvSpPr>
        <p:spPr>
          <a:xfrm>
            <a:off x="868680" y="37033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5" name="Text 47"/>
          <p:cNvSpPr/>
          <p:nvPr/>
        </p:nvSpPr>
        <p:spPr>
          <a:xfrm>
            <a:off x="868680" y="3703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8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Text 48"/>
          <p:cNvSpPr/>
          <p:nvPr/>
        </p:nvSpPr>
        <p:spPr>
          <a:xfrm>
            <a:off x="1481400" y="3355920"/>
            <a:ext cx="763488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A is (5, 4) and B is (13, 1). Work out the coordinates of the midpoint of AB.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" name="Shape 49"/>
          <p:cNvSpPr/>
          <p:nvPr/>
        </p:nvSpPr>
        <p:spPr>
          <a:xfrm>
            <a:off x="9326880" y="3630240"/>
            <a:ext cx="2121120" cy="658080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8" name="Text 50"/>
          <p:cNvSpPr/>
          <p:nvPr/>
        </p:nvSpPr>
        <p:spPr>
          <a:xfrm>
            <a:off x="9326880" y="3630240"/>
            <a:ext cx="212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850" spc="97" strike="noStrike">
                <a:solidFill>
                  <a:srgbClr val="e0ac2b"/>
                </a:solidFill>
                <a:latin typeface="Cambria"/>
                <a:ea typeface="Cambria"/>
              </a:rPr>
              <a:t>ANSWER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bdd"/>
                </a:solidFill>
                <a:latin typeface="Cambria"/>
                <a:ea typeface="Cambria"/>
              </a:rPr>
              <a:t>(9, 2.5)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Shape 51"/>
          <p:cNvSpPr/>
          <p:nvPr/>
        </p:nvSpPr>
        <p:spPr>
          <a:xfrm>
            <a:off x="567000" y="4800600"/>
            <a:ext cx="11063880" cy="141696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0" name="Shape 52"/>
          <p:cNvSpPr/>
          <p:nvPr/>
        </p:nvSpPr>
        <p:spPr>
          <a:xfrm>
            <a:off x="868680" y="52578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1" name="Text 53"/>
          <p:cNvSpPr/>
          <p:nvPr/>
        </p:nvSpPr>
        <p:spPr>
          <a:xfrm>
            <a:off x="868680" y="5257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9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Text 54"/>
          <p:cNvSpPr/>
          <p:nvPr/>
        </p:nvSpPr>
        <p:spPr>
          <a:xfrm>
            <a:off x="1481400" y="4910400"/>
            <a:ext cx="763488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A is (−3, 11), B is (47, b). The midpoint of AB is (a, −19). Find a and b.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Shape 55"/>
          <p:cNvSpPr/>
          <p:nvPr/>
        </p:nvSpPr>
        <p:spPr>
          <a:xfrm>
            <a:off x="9326880" y="5184720"/>
            <a:ext cx="2121120" cy="658080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4" name="Text 56"/>
          <p:cNvSpPr/>
          <p:nvPr/>
        </p:nvSpPr>
        <p:spPr>
          <a:xfrm>
            <a:off x="9326880" y="5184720"/>
            <a:ext cx="2121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850" spc="97" strike="noStrike">
                <a:solidFill>
                  <a:srgbClr val="e0ac2b"/>
                </a:solidFill>
                <a:latin typeface="Cambria"/>
                <a:ea typeface="Cambria"/>
              </a:rPr>
              <a:t>ANSWER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debdd"/>
                </a:solidFill>
                <a:latin typeface="Cambria"/>
                <a:ea typeface="Cambria"/>
              </a:rPr>
              <a:t>a = 22,  b = −49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" dur="indefinite" restart="never" nodeType="tmRoot">
          <p:childTnLst>
            <p:seq>
              <p:cTn id="54" dur="indefinite" nodeType="mainSeq">
                <p:childTnLst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59"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62" dur="500"/>
                                        <p:tgtEl>
                                          <p:spTgt spid="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67" dur="500"/>
                                        <p:tgtEl>
                                          <p:spTgt spid="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70" dur="500"/>
                                        <p:tgtEl>
                                          <p:spTgt spid="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75" dur="5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78" dur="5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· ON THE GRID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10 — find an equation for L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Shape 39"/>
          <p:cNvSpPr/>
          <p:nvPr/>
        </p:nvSpPr>
        <p:spPr>
          <a:xfrm>
            <a:off x="3593520" y="1481400"/>
            <a:ext cx="5004360" cy="5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5" name="Image 0" descr="/tmp/work/slq-54.png"/>
          <p:cNvPicPr/>
          <p:nvPr/>
        </p:nvPicPr>
        <p:blipFill>
          <a:blip r:embed="rId1"/>
          <a:stretch/>
        </p:blipFill>
        <p:spPr>
          <a:xfrm>
            <a:off x="3666600" y="1554480"/>
            <a:ext cx="4858200" cy="50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· ON THE GRID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11 — find an equation for L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Shape 39"/>
          <p:cNvSpPr/>
          <p:nvPr/>
        </p:nvSpPr>
        <p:spPr>
          <a:xfrm>
            <a:off x="2792520" y="1481400"/>
            <a:ext cx="6606000" cy="5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6" name="Image 0" descr="/tmp/work/slq-55.png"/>
          <p:cNvPicPr/>
          <p:nvPr/>
        </p:nvPicPr>
        <p:blipFill>
          <a:blip r:embed="rId1"/>
          <a:stretch/>
        </p:blipFill>
        <p:spPr>
          <a:xfrm>
            <a:off x="2865600" y="1554480"/>
            <a:ext cx="6459840" cy="50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· ON THE GRID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12 — give your answer as y = mx + c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Shape 39"/>
          <p:cNvSpPr/>
          <p:nvPr/>
        </p:nvSpPr>
        <p:spPr>
          <a:xfrm>
            <a:off x="3188520" y="1481400"/>
            <a:ext cx="5814360" cy="5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7" name="Image 0" descr="/tmp/work/slq-63.png"/>
          <p:cNvPicPr/>
          <p:nvPr/>
        </p:nvPicPr>
        <p:blipFill>
          <a:blip r:embed="rId1"/>
          <a:stretch/>
        </p:blipFill>
        <p:spPr>
          <a:xfrm>
            <a:off x="3261600" y="1554480"/>
            <a:ext cx="5668200" cy="50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3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4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5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6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7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8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Every straight line is  y = mx + c:  m = gradient, c = y-intercept.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9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0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Rearrange to y = … BEFORE reading off m and c.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1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2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Gradient from two points = (y₂ − y₁) ÷ (x₂ − x₁).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3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4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Given m and a point: substitute to find c.  Given two points: find m first.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5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6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Vertical lines are x = c;  horizontal lines are y = c.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7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8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find the gradient and the y-intercept — those two numbers are the equation.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LibreOffice/24.2.7.2$Linux_X86_64 LibreOffice_project/420$Build-2</Application>
  <AppVersion>15.0000</AppVersion>
  <Words>2054</Words>
  <Paragraphs>287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2026-07-12T09:21:08Z</dcterms:created>
  <dc:creator>Zahra Sheikh Ali</dc:creator>
  <dc:description/>
  <dc:language>en-US</dc:language>
  <cp:lastModifiedBy>zahraa sheik ali</cp:lastModifiedBy>
  <dcterms:modified xsi:type="dcterms:W3CDTF">2026-07-24T08:56:43Z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22</vt:r8>
  </property>
  <property fmtid="{D5CDD505-2E9C-101B-9397-08002B2CF9AE}" pid="3" name="PresentationFormat">
    <vt:lpwstr>Custom</vt:lpwstr>
  </property>
  <property fmtid="{D5CDD505-2E9C-101B-9397-08002B2CF9AE}" pid="4" name="Slides">
    <vt:r8>22</vt:r8>
  </property>
</Properties>
</file>