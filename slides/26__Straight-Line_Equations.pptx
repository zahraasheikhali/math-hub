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8" r:id="rId13"/>
    <p:sldId id="279" r:id="rId14"/>
    <p:sldId id="268" r:id="rId15"/>
    <p:sldId id="269" r:id="rId16"/>
    <p:sldId id="270" r:id="rId17"/>
    <p:sldId id="271" r:id="rId18"/>
    <p:sldId id="272" r:id="rId19"/>
    <p:sldId id="274" r:id="rId20"/>
    <p:sldId id="275" r:id="rId21"/>
    <p:sldId id="276" r:id="rId22"/>
    <p:sldId id="277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75" d="100"/>
          <a:sy n="75" d="100"/>
        </p:scale>
        <p:origin x="-946" y="-341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49DE2C-82FB-41D2-BD5C-387235F46D96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A0F2FC-00BB-480A-B04D-DE2BFB58B4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0002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680960" y="100584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600" b="1" i="1" dirty="0">
                <a:solidFill>
                  <a:srgbClr val="334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= mx + c</a:t>
            </a:r>
            <a:endParaRPr lang="en-US" sz="4600" dirty="0"/>
          </a:p>
        </p:txBody>
      </p:sp>
      <p:sp>
        <p:nvSpPr>
          <p:cNvPr id="38" name="Shape 36"/>
          <p:cNvSpPr/>
          <p:nvPr/>
        </p:nvSpPr>
        <p:spPr>
          <a:xfrm>
            <a:off x="777240" y="6400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623D"/>
          </a:solidFill>
          <a:ln/>
        </p:spPr>
      </p:sp>
      <p:sp>
        <p:nvSpPr>
          <p:cNvPr id="39" name="Text 37"/>
          <p:cNvSpPr/>
          <p:nvPr/>
        </p:nvSpPr>
        <p:spPr>
          <a:xfrm>
            <a:off x="777240" y="640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2160" dirty="0"/>
          </a:p>
        </p:txBody>
      </p:sp>
      <p:sp>
        <p:nvSpPr>
          <p:cNvPr id="40" name="Text 38"/>
          <p:cNvSpPr/>
          <p:nvPr/>
        </p:nvSpPr>
        <p:spPr>
          <a:xfrm>
            <a:off x="1600200" y="60350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Zπ  MATHS HUB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1600200" y="914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D2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Edexcel IGCSE (9–1) · Higher Tier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777240" y="224028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Straight Line Equations</a:t>
            </a:r>
            <a:endParaRPr lang="en-US" sz="4000" dirty="0"/>
          </a:p>
        </p:txBody>
      </p:sp>
      <p:sp>
        <p:nvSpPr>
          <p:cNvPr id="43" name="Text 41"/>
          <p:cNvSpPr/>
          <p:nvPr/>
        </p:nvSpPr>
        <p:spPr>
          <a:xfrm>
            <a:off x="804672" y="331012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= mx + c · Gradient &amp; Intercept · Drawing Lines · Finding the Equation · Midpoint &amp; Distance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77240" y="4297680"/>
            <a:ext cx="6766560" cy="1691640"/>
          </a:xfrm>
          <a:prstGeom prst="roundRect">
            <a:avLst>
              <a:gd name="adj" fmla="val 3243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097280" y="4498848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Zahra Sheikh Ali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1097280" y="4956048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C9D2C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IGCSE Mathematics Teacher  ·  M.Sc. Differential Geometry &amp; Geometric Control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1097280" y="5394960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8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☎  66613748      ✉  zahraa.sheikhali@outlook.com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OVERVIEW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from y = mx + c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481328"/>
            <a:ext cx="11064240" cy="822960"/>
          </a:xfrm>
          <a:prstGeom prst="roundRect">
            <a:avLst>
              <a:gd name="adj" fmla="val 6667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48132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straight line has the form y = mx + c. </a:t>
            </a: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is the gradient (steepness), c is where it crosses the y-axis. Find those two and you have the equation.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566928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822960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5" name="Text 43"/>
          <p:cNvSpPr/>
          <p:nvPr/>
        </p:nvSpPr>
        <p:spPr>
          <a:xfrm>
            <a:off x="822960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46" name="Text 44"/>
          <p:cNvSpPr/>
          <p:nvPr/>
        </p:nvSpPr>
        <p:spPr>
          <a:xfrm>
            <a:off x="1435608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Lines &amp; linear equations</a:t>
            </a:r>
            <a:endParaRPr lang="en-US" sz="1350" dirty="0"/>
          </a:p>
        </p:txBody>
      </p:sp>
      <p:sp>
        <p:nvSpPr>
          <p:cNvPr id="47" name="Shape 45"/>
          <p:cNvSpPr/>
          <p:nvPr/>
        </p:nvSpPr>
        <p:spPr>
          <a:xfrm>
            <a:off x="4343400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4599432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4599432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50" name="Text 48"/>
          <p:cNvSpPr/>
          <p:nvPr/>
        </p:nvSpPr>
        <p:spPr>
          <a:xfrm>
            <a:off x="5212080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Vertical &amp; horizontal lines</a:t>
            </a:r>
            <a:endParaRPr lang="en-US" sz="1350" dirty="0"/>
          </a:p>
        </p:txBody>
      </p:sp>
      <p:sp>
        <p:nvSpPr>
          <p:cNvPr id="51" name="Shape 49"/>
          <p:cNvSpPr/>
          <p:nvPr/>
        </p:nvSpPr>
        <p:spPr>
          <a:xfrm>
            <a:off x="8119872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8375904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375904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54" name="Text 52"/>
          <p:cNvSpPr/>
          <p:nvPr/>
        </p:nvSpPr>
        <p:spPr>
          <a:xfrm>
            <a:off x="8988552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Drawing a line</a:t>
            </a:r>
            <a:endParaRPr lang="en-US" sz="1350" dirty="0"/>
          </a:p>
        </p:txBody>
      </p:sp>
      <p:sp>
        <p:nvSpPr>
          <p:cNvPr id="55" name="Shape 53"/>
          <p:cNvSpPr/>
          <p:nvPr/>
        </p:nvSpPr>
        <p:spPr>
          <a:xfrm>
            <a:off x="566928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822960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7" name="Text 55"/>
          <p:cNvSpPr/>
          <p:nvPr/>
        </p:nvSpPr>
        <p:spPr>
          <a:xfrm>
            <a:off x="822960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58" name="Text 56"/>
          <p:cNvSpPr/>
          <p:nvPr/>
        </p:nvSpPr>
        <p:spPr>
          <a:xfrm>
            <a:off x="1435608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Gradient and intercept</a:t>
            </a:r>
            <a:endParaRPr lang="en-US" sz="1350" dirty="0"/>
          </a:p>
        </p:txBody>
      </p:sp>
      <p:sp>
        <p:nvSpPr>
          <p:cNvPr id="59" name="Shape 57"/>
          <p:cNvSpPr/>
          <p:nvPr/>
        </p:nvSpPr>
        <p:spPr>
          <a:xfrm>
            <a:off x="4343400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4599432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1" name="Text 59"/>
          <p:cNvSpPr/>
          <p:nvPr/>
        </p:nvSpPr>
        <p:spPr>
          <a:xfrm>
            <a:off x="4599432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62" name="Text 60"/>
          <p:cNvSpPr/>
          <p:nvPr/>
        </p:nvSpPr>
        <p:spPr>
          <a:xfrm>
            <a:off x="5212080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 the equation</a:t>
            </a:r>
            <a:endParaRPr lang="en-US" sz="1350" dirty="0"/>
          </a:p>
        </p:txBody>
      </p:sp>
      <p:sp>
        <p:nvSpPr>
          <p:cNvPr id="63" name="Shape 61"/>
          <p:cNvSpPr/>
          <p:nvPr/>
        </p:nvSpPr>
        <p:spPr>
          <a:xfrm>
            <a:off x="8119872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8375904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5" name="Text 63"/>
          <p:cNvSpPr/>
          <p:nvPr/>
        </p:nvSpPr>
        <p:spPr>
          <a:xfrm>
            <a:off x="8375904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66" name="Text 64"/>
          <p:cNvSpPr/>
          <p:nvPr/>
        </p:nvSpPr>
        <p:spPr>
          <a:xfrm>
            <a:off x="8988552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Midpoint &amp; distance</a:t>
            </a:r>
            <a:endParaRPr lang="en-US" sz="1350" dirty="0"/>
          </a:p>
        </p:txBody>
      </p:sp>
      <p:sp>
        <p:nvSpPr>
          <p:cNvPr id="67" name="Text 65"/>
          <p:cNvSpPr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words:  </a:t>
            </a:r>
            <a:r>
              <a:rPr lang="en-US" sz="13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· gradient · y-intercept · substitute · rearrange · midpoint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STRAIGHT LINE?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Linear Equations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371600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37160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linear equation has every variable to the power 1. </a:t>
            </a: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x², no x³, no 1/x — those curve. Linear equations always give a STRAIGHT line.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566928" y="2331720"/>
            <a:ext cx="5440680" cy="3108960"/>
          </a:xfrm>
          <a:prstGeom prst="roundRect">
            <a:avLst>
              <a:gd name="adj" fmla="val 1765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932688" y="256946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Straight (linear)  ✓</a:t>
            </a:r>
            <a:endParaRPr lang="en-US" sz="1700" dirty="0"/>
          </a:p>
        </p:txBody>
      </p:sp>
      <p:sp>
        <p:nvSpPr>
          <p:cNvPr id="45" name="Shape 43"/>
          <p:cNvSpPr/>
          <p:nvPr/>
        </p:nvSpPr>
        <p:spPr>
          <a:xfrm>
            <a:off x="868680" y="3099816"/>
            <a:ext cx="164592" cy="164592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6" name="Text 44"/>
          <p:cNvSpPr/>
          <p:nvPr/>
        </p:nvSpPr>
        <p:spPr>
          <a:xfrm>
            <a:off x="1170432" y="301752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= 2x + 3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868680" y="3666744"/>
            <a:ext cx="164592" cy="164592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8" name="Text 46"/>
          <p:cNvSpPr/>
          <p:nvPr/>
        </p:nvSpPr>
        <p:spPr>
          <a:xfrm>
            <a:off x="1170432" y="3584448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= 5 − x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868680" y="4233672"/>
            <a:ext cx="164592" cy="164592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50" name="Text 48"/>
          <p:cNvSpPr/>
          <p:nvPr/>
        </p:nvSpPr>
        <p:spPr>
          <a:xfrm>
            <a:off x="1170432" y="4151376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2y + 7x = 10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868680" y="4800600"/>
            <a:ext cx="164592" cy="164592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52" name="Text 50"/>
          <p:cNvSpPr/>
          <p:nvPr/>
        </p:nvSpPr>
        <p:spPr>
          <a:xfrm>
            <a:off x="1170432" y="4718304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= 4   /   y = −1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6190488" y="2331720"/>
            <a:ext cx="5440680" cy="3108960"/>
          </a:xfrm>
          <a:prstGeom prst="roundRect">
            <a:avLst>
              <a:gd name="adj" fmla="val 1765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6556248" y="256946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straight  ✗</a:t>
            </a:r>
            <a:endParaRPr lang="en-US" sz="1700" dirty="0"/>
          </a:p>
        </p:txBody>
      </p:sp>
      <p:sp>
        <p:nvSpPr>
          <p:cNvPr id="55" name="Shape 53"/>
          <p:cNvSpPr/>
          <p:nvPr/>
        </p:nvSpPr>
        <p:spPr>
          <a:xfrm>
            <a:off x="6492240" y="3099816"/>
            <a:ext cx="164592" cy="164592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6" name="Text 54"/>
          <p:cNvSpPr/>
          <p:nvPr/>
        </p:nvSpPr>
        <p:spPr>
          <a:xfrm>
            <a:off x="6793992" y="301752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= x² + 1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6492240" y="3666744"/>
            <a:ext cx="164592" cy="164592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8" name="Text 56"/>
          <p:cNvSpPr/>
          <p:nvPr/>
        </p:nvSpPr>
        <p:spPr>
          <a:xfrm>
            <a:off x="6793992" y="3584448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= x³</a:t>
            </a:r>
            <a:endParaRPr lang="en-US" sz="1600" dirty="0"/>
          </a:p>
        </p:txBody>
      </p:sp>
      <p:sp>
        <p:nvSpPr>
          <p:cNvPr id="59" name="Shape 57"/>
          <p:cNvSpPr/>
          <p:nvPr/>
        </p:nvSpPr>
        <p:spPr>
          <a:xfrm>
            <a:off x="6492240" y="4233672"/>
            <a:ext cx="164592" cy="164592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0" name="Text 58"/>
          <p:cNvSpPr/>
          <p:nvPr/>
        </p:nvSpPr>
        <p:spPr>
          <a:xfrm>
            <a:off x="6793992" y="4151376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= 1/x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6492240" y="4800600"/>
            <a:ext cx="164592" cy="164592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2" name="Text 60"/>
          <p:cNvSpPr/>
          <p:nvPr/>
        </p:nvSpPr>
        <p:spPr>
          <a:xfrm>
            <a:off x="6793992" y="4718304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= √x</a:t>
            </a:r>
            <a:endParaRPr lang="en-US" sz="1600" dirty="0"/>
          </a:p>
        </p:txBody>
      </p:sp>
      <p:sp>
        <p:nvSpPr>
          <p:cNvPr id="63" name="Text 61"/>
          <p:cNvSpPr/>
          <p:nvPr/>
        </p:nvSpPr>
        <p:spPr>
          <a:xfrm>
            <a:off x="566928" y="5669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power of 1 on x and y → a straight line.  Any other power → a curve.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LINES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Vertical &amp; Horizontal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37160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37160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what the points have in common. </a:t>
            </a: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every x is the same → x = c.  If every y is the same → y = c.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566928" y="2286000"/>
            <a:ext cx="5440680" cy="3200400"/>
          </a:xfrm>
          <a:prstGeom prst="roundRect">
            <a:avLst>
              <a:gd name="adj" fmla="val 1714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932688" y="252374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Vertical:  x = c</a:t>
            </a:r>
            <a:endParaRPr lang="en-US" sz="1700" dirty="0"/>
          </a:p>
        </p:txBody>
      </p:sp>
      <p:sp>
        <p:nvSpPr>
          <p:cNvPr id="45" name="Text 43"/>
          <p:cNvSpPr/>
          <p:nvPr/>
        </p:nvSpPr>
        <p:spPr>
          <a:xfrm>
            <a:off x="914400" y="297180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400" i="1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(2, 3), (2, 1), (2, −2), (2, 4)</a:t>
            </a:r>
            <a:endParaRPr lang="en-US" sz="16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x-coordinate is 2.</a:t>
            </a:r>
            <a:endParaRPr lang="en-US" sz="16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9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Equation:  x = 2</a:t>
            </a:r>
            <a:endParaRPr lang="en-US" sz="16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cuts the x-axis at (2, 0).</a:t>
            </a:r>
            <a:endParaRPr lang="en-US" sz="1600" dirty="0"/>
          </a:p>
          <a:p>
            <a:pPr marL="0" indent="0">
              <a:buNone/>
            </a:pPr>
            <a:r>
              <a:rPr lang="en-US" sz="1300" i="1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Gradient is undefined (infinitely steep).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6190488" y="2286000"/>
            <a:ext cx="5440680" cy="3200400"/>
          </a:xfrm>
          <a:prstGeom prst="roundRect">
            <a:avLst>
              <a:gd name="adj" fmla="val 1714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6556248" y="252374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Horizontal:  y = c</a:t>
            </a:r>
            <a:endParaRPr lang="en-US" sz="1700" dirty="0"/>
          </a:p>
        </p:txBody>
      </p:sp>
      <p:sp>
        <p:nvSpPr>
          <p:cNvPr id="48" name="Text 46"/>
          <p:cNvSpPr/>
          <p:nvPr/>
        </p:nvSpPr>
        <p:spPr>
          <a:xfrm>
            <a:off x="6537960" y="297180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400" i="1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(0, 1), (3, 1), (−2, 1), (2, 1)</a:t>
            </a:r>
            <a:endParaRPr lang="en-US" sz="16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y-coordinate is 1.</a:t>
            </a:r>
            <a:endParaRPr lang="en-US" sz="16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9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Equation:  y = 1</a:t>
            </a:r>
            <a:endParaRPr lang="en-US" sz="16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cuts the y-axis at (0, 1).</a:t>
            </a:r>
            <a:endParaRPr lang="en-US" sz="1600" dirty="0"/>
          </a:p>
          <a:p>
            <a:pPr marL="0" indent="0">
              <a:buNone/>
            </a:pPr>
            <a:r>
              <a:rPr lang="en-US" sz="1300" i="1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Gradient = 0 (flat).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566928" y="5715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Remember: the x-axis is y = 0, and the y-axis is x = 0.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SUBSTITUTING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the Point Lie on the Line?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554480"/>
            <a:ext cx="6126480" cy="324612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903720" y="1554480"/>
            <a:ext cx="4727448" cy="324612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17804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223760" y="224028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the x-value into the equation.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y.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matches the point's y-value, the point is on the line.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566928" y="6327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give a reason in the exam: state the y-value you calculated.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868680" y="184708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7" name="Text 45"/>
          <p:cNvSpPr/>
          <p:nvPr/>
        </p:nvSpPr>
        <p:spPr>
          <a:xfrm>
            <a:off x="868680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1362456" y="181051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 the coordinates and check both sides match.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868680" y="257860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0" name="Text 48"/>
          <p:cNvSpPr/>
          <p:nvPr/>
        </p:nvSpPr>
        <p:spPr>
          <a:xfrm>
            <a:off x="868680" y="2578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1362456" y="254203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2x − 6 and (3, 0):  2(3) − 6 = 0  ✓  </a:t>
            </a:r>
            <a:r>
              <a:rPr lang="en-US" sz="14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lies on the line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868680" y="331012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68680" y="3310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1362456" y="327355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3x + 2 and (4, 11):  3(4) + 2 = 14, not 11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868680" y="404164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6" name="Text 54"/>
          <p:cNvSpPr/>
          <p:nvPr/>
        </p:nvSpPr>
        <p:spPr>
          <a:xfrm>
            <a:off x="868680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1362456" y="40050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r>
              <a:rPr lang="en-US" sz="14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lie on the line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566928" y="507492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41248" y="507492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Substitute x, then compare the y-values</a:t>
            </a:r>
            <a:endParaRPr lang="en-US" sz="2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IDEA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= mx + c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194560" y="1600200"/>
            <a:ext cx="7799832" cy="1234440"/>
          </a:xfrm>
          <a:prstGeom prst="roundRect">
            <a:avLst>
              <a:gd name="adj" fmla="val 4444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2194560" y="1600200"/>
            <a:ext cx="77998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 =  </a:t>
            </a:r>
            <a:r>
              <a:rPr lang="en-US" sz="38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r>
              <a:rPr lang="en-US" sz="3800" b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 +  </a:t>
            </a:r>
            <a:r>
              <a:rPr lang="en-US" sz="3800" b="1" dirty="0">
                <a:solidFill>
                  <a:srgbClr val="E862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3800" dirty="0"/>
          </a:p>
        </p:txBody>
      </p:sp>
      <p:sp>
        <p:nvSpPr>
          <p:cNvPr id="43" name="Shape 41"/>
          <p:cNvSpPr/>
          <p:nvPr/>
        </p:nvSpPr>
        <p:spPr>
          <a:xfrm>
            <a:off x="566928" y="3063240"/>
            <a:ext cx="5440680" cy="1828800"/>
          </a:xfrm>
          <a:prstGeom prst="roundRect">
            <a:avLst>
              <a:gd name="adj" fmla="val 3000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932688" y="330098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  =  the GRADIENT</a:t>
            </a:r>
            <a:endParaRPr lang="en-US" sz="1700" dirty="0"/>
          </a:p>
        </p:txBody>
      </p:sp>
      <p:sp>
        <p:nvSpPr>
          <p:cNvPr id="45" name="Text 43"/>
          <p:cNvSpPr/>
          <p:nvPr/>
        </p:nvSpPr>
        <p:spPr>
          <a:xfrm>
            <a:off x="914400" y="374904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steep the line is.</a:t>
            </a:r>
            <a:endParaRPr lang="en-US" sz="1600" dirty="0"/>
          </a:p>
          <a:p>
            <a:pPr marL="0" indent="0">
              <a:buNone/>
            </a:pPr>
            <a:r>
              <a:rPr lang="en-US" sz="1350" i="1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number in front of x.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6190488" y="3063240"/>
            <a:ext cx="5440680" cy="1828800"/>
          </a:xfrm>
          <a:prstGeom prst="roundRect">
            <a:avLst>
              <a:gd name="adj" fmla="val 300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6556248" y="330098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  =  the y-INTERCEPT</a:t>
            </a:r>
            <a:endParaRPr lang="en-US" sz="1700" dirty="0"/>
          </a:p>
        </p:txBody>
      </p:sp>
      <p:sp>
        <p:nvSpPr>
          <p:cNvPr id="48" name="Text 46"/>
          <p:cNvSpPr/>
          <p:nvPr/>
        </p:nvSpPr>
        <p:spPr>
          <a:xfrm>
            <a:off x="6537960" y="374904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line crosses the y-axis.</a:t>
            </a:r>
            <a:endParaRPr lang="en-US" sz="1600" dirty="0"/>
          </a:p>
          <a:p>
            <a:pPr marL="0" indent="0">
              <a:buNone/>
            </a:pPr>
            <a:r>
              <a:rPr lang="en-US" sz="1350" i="1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number on its own — the point (0, c).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566928" y="512064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841248" y="512064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= 3x + 2  →  gradient 3, crosses the y-axis at (0, 2)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m AND c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Rearrange into y = mx + c First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554480"/>
            <a:ext cx="6126480" cy="324612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903720" y="1554480"/>
            <a:ext cx="4727448" cy="324612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17804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Golden rule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223760" y="224028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only read m and c when y is ALONE on one side.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Rearrange first: get y = …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is the number multiplying x (with its sign).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566928" y="6327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common exam question: ‘find the gradient of 5x + 2y = 7’ — you must rearrange.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868680" y="184708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7" name="Text 45"/>
          <p:cNvSpPr/>
          <p:nvPr/>
        </p:nvSpPr>
        <p:spPr>
          <a:xfrm>
            <a:off x="868680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1362456" y="181051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5x − 4     →   m = 5,   c = −4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868680" y="257860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0" name="Text 48"/>
          <p:cNvSpPr/>
          <p:nvPr/>
        </p:nvSpPr>
        <p:spPr>
          <a:xfrm>
            <a:off x="868680" y="2578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1362456" y="254203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3 − 2x     →   m = </a:t>
            </a:r>
            <a:r>
              <a:rPr lang="en-US" sz="14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</a:t>
            </a: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  c = 3   (watch the sign!)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868680" y="331012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68680" y="3310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1362456" y="327355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5x + 2y = 7  →  2y = 7 − 5x  →  y = 3.5 − 2.5x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1362456" y="40050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 m = </a:t>
            </a:r>
            <a:r>
              <a:rPr lang="en-US" sz="14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−2.5</a:t>
            </a: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  c = 3.5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566928" y="507492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41248" y="507492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5x + 2y = 7  →  gradient = −2.5</a:t>
            </a:r>
            <a:endParaRPr lang="en-US" sz="2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Two Points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37160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37160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= rise ÷ run. </a:t>
            </a: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change in y over the change in x.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3108960" y="2194560"/>
            <a:ext cx="5943600" cy="1371600"/>
          </a:xfrm>
          <a:prstGeom prst="roundRect">
            <a:avLst>
              <a:gd name="adj" fmla="val 4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3657600" y="2194560"/>
            <a:ext cx="1097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  =</a:t>
            </a:r>
            <a:endParaRPr lang="en-US" sz="2600" dirty="0"/>
          </a:p>
        </p:txBody>
      </p:sp>
      <p:sp>
        <p:nvSpPr>
          <p:cNvPr id="45" name="Text 43"/>
          <p:cNvSpPr/>
          <p:nvPr/>
        </p:nvSpPr>
        <p:spPr>
          <a:xfrm>
            <a:off x="4846320" y="23317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y₂ − y₁</a:t>
            </a:r>
            <a:endParaRPr lang="en-US" sz="2100" dirty="0"/>
          </a:p>
        </p:txBody>
      </p:sp>
      <p:sp>
        <p:nvSpPr>
          <p:cNvPr id="46" name="Shape 44"/>
          <p:cNvSpPr/>
          <p:nvPr/>
        </p:nvSpPr>
        <p:spPr>
          <a:xfrm>
            <a:off x="4846320" y="2880360"/>
            <a:ext cx="2194560" cy="0"/>
          </a:xfrm>
          <a:prstGeom prst="line">
            <a:avLst/>
          </a:prstGeom>
          <a:noFill/>
          <a:ln w="25400">
            <a:solidFill>
              <a:srgbClr val="E0AC2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46320" y="2926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x₂ − x₁</a:t>
            </a:r>
            <a:endParaRPr lang="en-US" sz="2100" dirty="0"/>
          </a:p>
        </p:txBody>
      </p:sp>
      <p:sp>
        <p:nvSpPr>
          <p:cNvPr id="48" name="Shape 46"/>
          <p:cNvSpPr/>
          <p:nvPr/>
        </p:nvSpPr>
        <p:spPr>
          <a:xfrm>
            <a:off x="566928" y="3794760"/>
            <a:ext cx="5440680" cy="1737360"/>
          </a:xfrm>
          <a:prstGeom prst="roundRect">
            <a:avLst>
              <a:gd name="adj" fmla="val 3158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932688" y="403250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Example: (2, 3) and (5, 12)</a:t>
            </a:r>
            <a:endParaRPr lang="en-US" sz="1700" dirty="0"/>
          </a:p>
        </p:txBody>
      </p:sp>
      <p:sp>
        <p:nvSpPr>
          <p:cNvPr id="50" name="Text 48"/>
          <p:cNvSpPr/>
          <p:nvPr/>
        </p:nvSpPr>
        <p:spPr>
          <a:xfrm>
            <a:off x="914400" y="448056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 = (12 − 3) ÷ (5 − 2)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9 ÷ 3 = 3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6190488" y="3794760"/>
            <a:ext cx="5440680" cy="1737360"/>
          </a:xfrm>
          <a:prstGeom prst="roundRect">
            <a:avLst>
              <a:gd name="adj" fmla="val 3158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6556248" y="403250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Example: (4, 5) and (2, −3)</a:t>
            </a:r>
            <a:endParaRPr lang="en-US" sz="1700" dirty="0"/>
          </a:p>
        </p:txBody>
      </p:sp>
      <p:sp>
        <p:nvSpPr>
          <p:cNvPr id="53" name="Text 51"/>
          <p:cNvSpPr/>
          <p:nvPr/>
        </p:nvSpPr>
        <p:spPr>
          <a:xfrm>
            <a:off x="6537960" y="448056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 = (5 − (−3)) ÷ (4 − 2)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8 ÷ 2 = 4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566928" y="5760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 in the SAME order on top and bottom.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Positive, Negative, Zero or Undefined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371600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371600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 of m tells you which way the line slopes.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566928" y="2148840"/>
            <a:ext cx="5394960" cy="1691640"/>
          </a:xfrm>
          <a:prstGeom prst="roundRect">
            <a:avLst>
              <a:gd name="adj" fmla="val 3243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886968" y="233172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POSITIVE  m &gt; 0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886968" y="280720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upward slope  /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886968" y="324612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y = 2x + 1</a:t>
            </a:r>
            <a:endParaRPr lang="en-US" sz="1350" dirty="0"/>
          </a:p>
        </p:txBody>
      </p:sp>
      <p:sp>
        <p:nvSpPr>
          <p:cNvPr id="47" name="Shape 45"/>
          <p:cNvSpPr/>
          <p:nvPr/>
        </p:nvSpPr>
        <p:spPr>
          <a:xfrm>
            <a:off x="6217920" y="2148840"/>
            <a:ext cx="5394960" cy="1691640"/>
          </a:xfrm>
          <a:prstGeom prst="roundRect">
            <a:avLst>
              <a:gd name="adj" fmla="val 3243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6537960" y="233172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NEGATIVE  m &lt; 0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6537960" y="280720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downward slope  \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6537960" y="324612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y = 3 − 2x</a:t>
            </a:r>
            <a:endParaRPr lang="en-US" sz="1350" dirty="0"/>
          </a:p>
        </p:txBody>
      </p:sp>
      <p:sp>
        <p:nvSpPr>
          <p:cNvPr id="51" name="Shape 49"/>
          <p:cNvSpPr/>
          <p:nvPr/>
        </p:nvSpPr>
        <p:spPr>
          <a:xfrm>
            <a:off x="566928" y="4069080"/>
            <a:ext cx="5394960" cy="1691640"/>
          </a:xfrm>
          <a:prstGeom prst="roundRect">
            <a:avLst>
              <a:gd name="adj" fmla="val 3243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886968" y="425196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  m = 0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886968" y="472744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horizontal  —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886968" y="516636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y = 4</a:t>
            </a:r>
            <a:endParaRPr lang="en-US" sz="1350" dirty="0"/>
          </a:p>
        </p:txBody>
      </p:sp>
      <p:sp>
        <p:nvSpPr>
          <p:cNvPr id="55" name="Shape 53"/>
          <p:cNvSpPr/>
          <p:nvPr/>
        </p:nvSpPr>
        <p:spPr>
          <a:xfrm>
            <a:off x="6217920" y="4069080"/>
            <a:ext cx="5394960" cy="1691640"/>
          </a:xfrm>
          <a:prstGeom prst="roundRect">
            <a:avLst>
              <a:gd name="adj" fmla="val 3243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6537960" y="425196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UNDEFINED</a:t>
            </a: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6537960" y="472744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vertical  |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6537960" y="516636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x = 2</a:t>
            </a:r>
            <a:endParaRPr lang="en-US" sz="1350" dirty="0"/>
          </a:p>
        </p:txBody>
      </p:sp>
      <p:sp>
        <p:nvSpPr>
          <p:cNvPr id="59" name="Text 57"/>
          <p:cNvSpPr/>
          <p:nvPr/>
        </p:nvSpPr>
        <p:spPr>
          <a:xfrm>
            <a:off x="566928" y="61264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Steeper line → bigger |m|.  A gradient of ½ is gentle; a gradient of 5 is steep.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THE EQUATION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Given the Gradient and a Point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554480"/>
            <a:ext cx="6126480" cy="324612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903720" y="1554480"/>
            <a:ext cx="4727448" cy="324612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17804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223760" y="224028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m into y = mx + c.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 the point's x and y to find c.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full equation.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566928" y="6327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point is (0, 5), then c = 5 straight away — it IS the y-intercept.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868680" y="184708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7" name="Text 45"/>
          <p:cNvSpPr/>
          <p:nvPr/>
        </p:nvSpPr>
        <p:spPr>
          <a:xfrm>
            <a:off x="868680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1362456" y="181051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gradient is 3 and the line passes through (4, 5).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868680" y="257860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0" name="Text 48"/>
          <p:cNvSpPr/>
          <p:nvPr/>
        </p:nvSpPr>
        <p:spPr>
          <a:xfrm>
            <a:off x="868680" y="2578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1362456" y="254203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 y = 3x + c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868680" y="331012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68680" y="3310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1362456" y="327355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 the point:  5 = 3(4) + c  →  5 = 12 + c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868680" y="404164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6" name="Text 54"/>
          <p:cNvSpPr/>
          <p:nvPr/>
        </p:nvSpPr>
        <p:spPr>
          <a:xfrm>
            <a:off x="868680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1362456" y="40050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= −7,  so  </a:t>
            </a:r>
            <a:r>
              <a:rPr lang="en-US" sz="14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3x − 7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566928" y="507492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41248" y="507492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= 3x − 7</a:t>
            </a:r>
            <a:endParaRPr lang="en-US" sz="2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THE EQUATION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Given Two Points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554480"/>
            <a:ext cx="6126480" cy="324612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903720" y="1554480"/>
            <a:ext cx="4727448" cy="324612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17804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steps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223760" y="224028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find the gradient from the two points.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substitute either point to find c.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with the other point: 5 × 3 − 3 = 12 ✓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566928" y="6327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exams want the answer as ax + by = c — rearrange at the end.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868680" y="184708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7" name="Text 45"/>
          <p:cNvSpPr/>
          <p:nvPr/>
        </p:nvSpPr>
        <p:spPr>
          <a:xfrm>
            <a:off x="868680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1362456" y="181051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line passes through (3, 6) and (5, 12).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868680" y="257860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0" name="Text 48"/>
          <p:cNvSpPr/>
          <p:nvPr/>
        </p:nvSpPr>
        <p:spPr>
          <a:xfrm>
            <a:off x="868680" y="2578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1362456" y="254203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Gradient:  m = (12 − 6) ÷ (5 − 3) = 6 ÷ 2 = 3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868680" y="331012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68680" y="3310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1362456" y="327355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3x + c.  Substitute (3, 6):  6 = 9 + c  →  c = −3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868680" y="404164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6" name="Text 54"/>
          <p:cNvSpPr/>
          <p:nvPr/>
        </p:nvSpPr>
        <p:spPr>
          <a:xfrm>
            <a:off x="868680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1362456" y="40050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 </a:t>
            </a:r>
            <a:r>
              <a:rPr lang="en-US" sz="14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3x − 3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566928" y="507492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41248" y="507492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= 3x − 3</a:t>
            </a:r>
            <a:endParaRPr lang="en-US" sz="2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THE EQUATION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 Graph — Positive Gradients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280160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2801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 where the line crosses the y-axis, find m by rise ÷ run, then write y = mx + c.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218397" y="1911096"/>
            <a:ext cx="775490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4" name="Image 0" descr="/tmp/work/slg/g-eq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0693" y="1993392"/>
            <a:ext cx="7590308" cy="4041648"/>
          </a:xfrm>
          <a:prstGeom prst="rect">
            <a:avLst/>
          </a:prstGeom>
        </p:spPr>
      </p:pic>
      <p:sp>
        <p:nvSpPr>
          <p:cNvPr id="45" name="Shape 42"/>
          <p:cNvSpPr/>
          <p:nvPr/>
        </p:nvSpPr>
        <p:spPr>
          <a:xfrm>
            <a:off x="566928" y="6263640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6" name="Text 43"/>
          <p:cNvSpPr/>
          <p:nvPr/>
        </p:nvSpPr>
        <p:spPr>
          <a:xfrm>
            <a:off x="841248" y="626364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c first (easy to read), then m — then put them into y = mx + c.</a:t>
            </a:r>
            <a:endParaRPr lang="en-US" sz="2300" dirty="0"/>
          </a:p>
        </p:txBody>
      </p:sp>
    </p:spTree>
    <p:extLst>
      <p:ext uri="{BB962C8B-B14F-4D97-AF65-F5344CB8AC3E}">
        <p14:creationId xmlns:p14="http://schemas.microsoft.com/office/powerpoint/2010/main" val="12132073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THE EQUATION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 Graph — Negative Gradients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280160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2801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line slopes DOWN from left to right, the gradient is negative.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794258" y="1911096"/>
            <a:ext cx="660318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4" name="Image 0" descr="/tmp/work/slg/g-eq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6554" y="1993392"/>
            <a:ext cx="6438588" cy="4041648"/>
          </a:xfrm>
          <a:prstGeom prst="rect">
            <a:avLst/>
          </a:prstGeom>
        </p:spPr>
      </p:pic>
      <p:sp>
        <p:nvSpPr>
          <p:cNvPr id="45" name="Shape 42"/>
          <p:cNvSpPr/>
          <p:nvPr/>
        </p:nvSpPr>
        <p:spPr>
          <a:xfrm>
            <a:off x="566928" y="6263640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6" name="Text 43"/>
          <p:cNvSpPr/>
          <p:nvPr/>
        </p:nvSpPr>
        <p:spPr>
          <a:xfrm>
            <a:off x="841248" y="626364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downward slope means m is NEGATIVE — do not forget the minus sign.</a:t>
            </a:r>
            <a:endParaRPr lang="en-US" sz="2300" dirty="0"/>
          </a:p>
        </p:txBody>
      </p:sp>
    </p:spTree>
    <p:extLst>
      <p:ext uri="{BB962C8B-B14F-4D97-AF65-F5344CB8AC3E}">
        <p14:creationId xmlns:p14="http://schemas.microsoft.com/office/powerpoint/2010/main" val="12847667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LAST THINGS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Midpoint &amp; Distance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645920"/>
            <a:ext cx="5440680" cy="2103120"/>
          </a:xfrm>
          <a:prstGeom prst="roundRect">
            <a:avLst>
              <a:gd name="adj" fmla="val 2609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932688" y="188366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Midpoint — average the coordinates</a:t>
            </a:r>
            <a:endParaRPr lang="en-US" sz="1700" dirty="0"/>
          </a:p>
        </p:txBody>
      </p:sp>
      <p:sp>
        <p:nvSpPr>
          <p:cNvPr id="43" name="Text 41"/>
          <p:cNvSpPr/>
          <p:nvPr/>
        </p:nvSpPr>
        <p:spPr>
          <a:xfrm>
            <a:off x="914400" y="25146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  =</a:t>
            </a:r>
            <a:endParaRPr lang="en-US" sz="1900" dirty="0"/>
          </a:p>
        </p:txBody>
      </p:sp>
      <p:sp>
        <p:nvSpPr>
          <p:cNvPr id="44" name="Text 42"/>
          <p:cNvSpPr/>
          <p:nvPr/>
        </p:nvSpPr>
        <p:spPr>
          <a:xfrm>
            <a:off x="1737360" y="251460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  x₁ + x₂ ,  y₁ + y₂  )  ÷ 2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914400" y="31546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(5, 4) and (13, 1)  →  (9, 2.5)</a:t>
            </a:r>
            <a:endParaRPr lang="en-US" sz="1350" dirty="0"/>
          </a:p>
        </p:txBody>
      </p:sp>
      <p:sp>
        <p:nvSpPr>
          <p:cNvPr id="46" name="Shape 44"/>
          <p:cNvSpPr/>
          <p:nvPr/>
        </p:nvSpPr>
        <p:spPr>
          <a:xfrm>
            <a:off x="6190488" y="1645920"/>
            <a:ext cx="5440680" cy="2103120"/>
          </a:xfrm>
          <a:prstGeom prst="roundRect">
            <a:avLst>
              <a:gd name="adj" fmla="val 2609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6556248" y="188366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Distance — Pythagoras</a:t>
            </a:r>
            <a:endParaRPr lang="en-US" sz="1700" dirty="0"/>
          </a:p>
        </p:txBody>
      </p:sp>
      <p:sp>
        <p:nvSpPr>
          <p:cNvPr id="48" name="Text 46"/>
          <p:cNvSpPr/>
          <p:nvPr/>
        </p:nvSpPr>
        <p:spPr>
          <a:xfrm>
            <a:off x="6537960" y="251460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 = √( (x₂−x₁)</a:t>
            </a:r>
            <a:r>
              <a:rPr lang="en-US" sz="1700" b="1" baseline="300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(y₂−y₁)</a:t>
            </a:r>
            <a:r>
              <a:rPr lang="en-US" sz="1700" b="1" baseline="300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)</a:t>
            </a:r>
            <a:endParaRPr lang="en-US" sz="1700" dirty="0"/>
          </a:p>
        </p:txBody>
      </p:sp>
      <p:sp>
        <p:nvSpPr>
          <p:cNvPr id="49" name="Text 47"/>
          <p:cNvSpPr/>
          <p:nvPr/>
        </p:nvSpPr>
        <p:spPr>
          <a:xfrm>
            <a:off x="6537960" y="31546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(0, 0) and (3, 4)  →  √(9 + 16) = 5</a:t>
            </a:r>
            <a:endParaRPr lang="en-US" sz="1350" dirty="0"/>
          </a:p>
        </p:txBody>
      </p:sp>
      <p:sp>
        <p:nvSpPr>
          <p:cNvPr id="50" name="Shape 48"/>
          <p:cNvSpPr/>
          <p:nvPr/>
        </p:nvSpPr>
        <p:spPr>
          <a:xfrm>
            <a:off x="566928" y="3931920"/>
            <a:ext cx="11064240" cy="777240"/>
          </a:xfrm>
          <a:prstGeom prst="roundRect">
            <a:avLst>
              <a:gd name="adj" fmla="val 7059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886968" y="393192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Midpoint: ADD and halve. </a:t>
            </a:r>
            <a:r>
              <a:rPr lang="en-US" sz="14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Distance: SUBTRACT, square, add, square-root.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566928" y="4937760"/>
            <a:ext cx="11064240" cy="1234440"/>
          </a:xfrm>
          <a:prstGeom prst="roundRect">
            <a:avLst>
              <a:gd name="adj" fmla="val 4444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914400" y="4937760"/>
            <a:ext cx="10332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 example:  </a:t>
            </a:r>
            <a:r>
              <a:rPr lang="en-US" sz="14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A(−3, 11) and B(47, b). The midpoint of AB is (a, −19). Find a and b.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= (−3 + 47) ÷ 2 = 22.     (11 + b) ÷ 2 = −19  →  11 + b = −38  →  b = −49.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64008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640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980" dirty="0"/>
          </a:p>
        </p:txBody>
      </p:sp>
      <p:sp>
        <p:nvSpPr>
          <p:cNvPr id="39" name="Text 37"/>
          <p:cNvSpPr/>
          <p:nvPr/>
        </p:nvSpPr>
        <p:spPr>
          <a:xfrm>
            <a:off x="1554480" y="676656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77240" y="169164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Past-Paper Questions</a:t>
            </a:r>
            <a:endParaRPr lang="en-US" sz="4400" dirty="0"/>
          </a:p>
        </p:txBody>
      </p:sp>
      <p:sp>
        <p:nvSpPr>
          <p:cNvPr id="41" name="Text 39"/>
          <p:cNvSpPr/>
          <p:nvPr/>
        </p:nvSpPr>
        <p:spPr>
          <a:xfrm>
            <a:off x="804672" y="26974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Rearrange to y = mx + c, then read off m and c — or find them from points.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868680" y="3611880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3" name="Text 41"/>
          <p:cNvSpPr/>
          <p:nvPr/>
        </p:nvSpPr>
        <p:spPr>
          <a:xfrm>
            <a:off x="868680" y="36118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1554480" y="3611880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Rearrange first if y is not alone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868680" y="4325112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6" name="Text 44"/>
          <p:cNvSpPr/>
          <p:nvPr/>
        </p:nvSpPr>
        <p:spPr>
          <a:xfrm>
            <a:off x="868680" y="43251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1554480" y="4325112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Gradient from two points: rise ÷ run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868680" y="5038344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868680" y="50383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1554480" y="5038344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Substitute a point to find c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868680" y="5751576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2" name="Text 50"/>
          <p:cNvSpPr/>
          <p:nvPr/>
        </p:nvSpPr>
        <p:spPr>
          <a:xfrm>
            <a:off x="868680" y="57515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1554480" y="5751576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Give the answer in the form asked for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QUESTIONS (1 of 3)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Gradient, Intercept &amp; Points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691640"/>
            <a:ext cx="11064240" cy="1417320"/>
          </a:xfrm>
          <a:prstGeom prst="roundRect">
            <a:avLst>
              <a:gd name="adj" fmla="val 3871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868680" y="21488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3" name="Text 41"/>
          <p:cNvSpPr/>
          <p:nvPr/>
        </p:nvSpPr>
        <p:spPr>
          <a:xfrm>
            <a:off x="86868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1481328" y="1801368"/>
            <a:ext cx="763524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Line L has equation y = 2 − 3x.  (a) Write down the gradient of L.  (b) Does the point (100, −302) lie on L? Give a reason.</a:t>
            </a:r>
            <a:endParaRPr lang="en-US" sz="1250" dirty="0"/>
          </a:p>
        </p:txBody>
      </p:sp>
      <p:sp>
        <p:nvSpPr>
          <p:cNvPr id="45" name="Shape 43"/>
          <p:cNvSpPr/>
          <p:nvPr/>
        </p:nvSpPr>
        <p:spPr>
          <a:xfrm>
            <a:off x="9326880" y="2075688"/>
            <a:ext cx="2121408" cy="658368"/>
          </a:xfrm>
          <a:prstGeom prst="roundRect">
            <a:avLst>
              <a:gd name="adj" fmla="val 6944"/>
            </a:avLst>
          </a:prstGeom>
          <a:solidFill>
            <a:srgbClr val="16261F"/>
          </a:solidFill>
          <a:ln/>
        </p:spPr>
      </p:sp>
      <p:sp>
        <p:nvSpPr>
          <p:cNvPr id="46" name="Text 44"/>
          <p:cNvSpPr/>
          <p:nvPr/>
        </p:nvSpPr>
        <p:spPr>
          <a:xfrm>
            <a:off x="9326880" y="2075688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200"/>
              </a:spcAft>
              <a:buNone/>
            </a:pPr>
            <a:r>
              <a:rPr lang="en-US" sz="850" b="1" kern="0" spc="100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</a:t>
            </a:r>
            <a:endParaRPr lang="en-US" sz="8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 = −3;  No: y = −298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566928" y="3246120"/>
            <a:ext cx="11064240" cy="1417320"/>
          </a:xfrm>
          <a:prstGeom prst="roundRect">
            <a:avLst>
              <a:gd name="adj" fmla="val 3871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868680" y="370332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868680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1481328" y="3355848"/>
            <a:ext cx="763524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the gradient of the straight line with equation  5x + 2y = 7.</a:t>
            </a:r>
            <a:endParaRPr lang="en-US" sz="1250" dirty="0"/>
          </a:p>
        </p:txBody>
      </p:sp>
      <p:sp>
        <p:nvSpPr>
          <p:cNvPr id="51" name="Shape 49"/>
          <p:cNvSpPr/>
          <p:nvPr/>
        </p:nvSpPr>
        <p:spPr>
          <a:xfrm>
            <a:off x="9326880" y="3630168"/>
            <a:ext cx="2121408" cy="658368"/>
          </a:xfrm>
          <a:prstGeom prst="roundRect">
            <a:avLst>
              <a:gd name="adj" fmla="val 6944"/>
            </a:avLst>
          </a:prstGeom>
          <a:solidFill>
            <a:srgbClr val="16261F"/>
          </a:solidFill>
          <a:ln/>
        </p:spPr>
      </p:sp>
      <p:sp>
        <p:nvSpPr>
          <p:cNvPr id="52" name="Text 50"/>
          <p:cNvSpPr/>
          <p:nvPr/>
        </p:nvSpPr>
        <p:spPr>
          <a:xfrm>
            <a:off x="9326880" y="3630168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200"/>
              </a:spcAft>
              <a:buNone/>
            </a:pPr>
            <a:r>
              <a:rPr lang="en-US" sz="850" b="1" kern="0" spc="100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</a:t>
            </a:r>
            <a:endParaRPr lang="en-US" sz="8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 = −2.5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566928" y="4800600"/>
            <a:ext cx="11064240" cy="1417320"/>
          </a:xfrm>
          <a:prstGeom prst="roundRect">
            <a:avLst>
              <a:gd name="adj" fmla="val 3871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868680" y="525780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5" name="Text 53"/>
          <p:cNvSpPr/>
          <p:nvPr/>
        </p:nvSpPr>
        <p:spPr>
          <a:xfrm>
            <a:off x="868680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1481328" y="4910328"/>
            <a:ext cx="763524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straight line L has equation 2y + 7x = 10. (a) Find the gradient of L. (b) Find where L crosses the y-axis.</a:t>
            </a:r>
            <a:endParaRPr lang="en-US" sz="1250" dirty="0"/>
          </a:p>
        </p:txBody>
      </p:sp>
      <p:sp>
        <p:nvSpPr>
          <p:cNvPr id="57" name="Shape 55"/>
          <p:cNvSpPr/>
          <p:nvPr/>
        </p:nvSpPr>
        <p:spPr>
          <a:xfrm>
            <a:off x="9326880" y="5184648"/>
            <a:ext cx="2121408" cy="658368"/>
          </a:xfrm>
          <a:prstGeom prst="roundRect">
            <a:avLst>
              <a:gd name="adj" fmla="val 6944"/>
            </a:avLst>
          </a:prstGeom>
          <a:solidFill>
            <a:srgbClr val="16261F"/>
          </a:solidFill>
          <a:ln/>
        </p:spPr>
      </p:sp>
      <p:sp>
        <p:nvSpPr>
          <p:cNvPr id="58" name="Text 56"/>
          <p:cNvSpPr/>
          <p:nvPr/>
        </p:nvSpPr>
        <p:spPr>
          <a:xfrm>
            <a:off x="9326880" y="5184648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200"/>
              </a:spcAft>
              <a:buNone/>
            </a:pPr>
            <a:r>
              <a:rPr lang="en-US" sz="850" b="1" kern="0" spc="100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</a:t>
            </a:r>
            <a:endParaRPr lang="en-US" sz="8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 = −3.5;  (0, 5)</a:t>
            </a:r>
            <a:endParaRPr lang="en-US" sz="8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3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6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 animBg="1"/>
      <p:bldP spid="52" grpId="0" animBg="1"/>
      <p:bldP spid="5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QUESTIONS (2 of 3)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 the Equation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691640"/>
            <a:ext cx="11064240" cy="1417320"/>
          </a:xfrm>
          <a:prstGeom prst="roundRect">
            <a:avLst>
              <a:gd name="adj" fmla="val 3871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868680" y="21488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3" name="Text 41"/>
          <p:cNvSpPr/>
          <p:nvPr/>
        </p:nvSpPr>
        <p:spPr>
          <a:xfrm>
            <a:off x="86868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1481328" y="1801368"/>
            <a:ext cx="763524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down an equation of the straight line with gradient −3 that passes through (0, 5).</a:t>
            </a:r>
            <a:endParaRPr lang="en-US" sz="1250" dirty="0"/>
          </a:p>
        </p:txBody>
      </p:sp>
      <p:sp>
        <p:nvSpPr>
          <p:cNvPr id="45" name="Shape 43"/>
          <p:cNvSpPr/>
          <p:nvPr/>
        </p:nvSpPr>
        <p:spPr>
          <a:xfrm>
            <a:off x="9326880" y="2075688"/>
            <a:ext cx="2121408" cy="658368"/>
          </a:xfrm>
          <a:prstGeom prst="roundRect">
            <a:avLst>
              <a:gd name="adj" fmla="val 6944"/>
            </a:avLst>
          </a:prstGeom>
          <a:solidFill>
            <a:srgbClr val="16261F"/>
          </a:solidFill>
          <a:ln/>
        </p:spPr>
      </p:sp>
      <p:sp>
        <p:nvSpPr>
          <p:cNvPr id="46" name="Text 44"/>
          <p:cNvSpPr/>
          <p:nvPr/>
        </p:nvSpPr>
        <p:spPr>
          <a:xfrm>
            <a:off x="9326880" y="2075688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200"/>
              </a:spcAft>
              <a:buNone/>
            </a:pPr>
            <a:r>
              <a:rPr lang="en-US" sz="850" b="1" kern="0" spc="100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</a:t>
            </a:r>
            <a:endParaRPr lang="en-US" sz="8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= −3x + 5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566928" y="3246120"/>
            <a:ext cx="11064240" cy="1417320"/>
          </a:xfrm>
          <a:prstGeom prst="roundRect">
            <a:avLst>
              <a:gd name="adj" fmla="val 3871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868680" y="370332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868680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1481328" y="3355848"/>
            <a:ext cx="763524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Line L has gradient −2 and passes through (1, 3). Find an equation of L in the form ax + by = c.</a:t>
            </a:r>
            <a:endParaRPr lang="en-US" sz="1250" dirty="0"/>
          </a:p>
        </p:txBody>
      </p:sp>
      <p:sp>
        <p:nvSpPr>
          <p:cNvPr id="51" name="Shape 49"/>
          <p:cNvSpPr/>
          <p:nvPr/>
        </p:nvSpPr>
        <p:spPr>
          <a:xfrm>
            <a:off x="9326880" y="3630168"/>
            <a:ext cx="2121408" cy="658368"/>
          </a:xfrm>
          <a:prstGeom prst="roundRect">
            <a:avLst>
              <a:gd name="adj" fmla="val 6944"/>
            </a:avLst>
          </a:prstGeom>
          <a:solidFill>
            <a:srgbClr val="16261F"/>
          </a:solidFill>
          <a:ln/>
        </p:spPr>
      </p:sp>
      <p:sp>
        <p:nvSpPr>
          <p:cNvPr id="52" name="Text 50"/>
          <p:cNvSpPr/>
          <p:nvPr/>
        </p:nvSpPr>
        <p:spPr>
          <a:xfrm>
            <a:off x="9326880" y="3630168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200"/>
              </a:spcAft>
              <a:buNone/>
            </a:pPr>
            <a:r>
              <a:rPr lang="en-US" sz="850" b="1" kern="0" spc="100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</a:t>
            </a:r>
            <a:endParaRPr lang="en-US" sz="8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2x + y = 5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566928" y="4800600"/>
            <a:ext cx="11064240" cy="1417320"/>
          </a:xfrm>
          <a:prstGeom prst="roundRect">
            <a:avLst>
              <a:gd name="adj" fmla="val 3871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868680" y="525780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5" name="Text 53"/>
          <p:cNvSpPr/>
          <p:nvPr/>
        </p:nvSpPr>
        <p:spPr>
          <a:xfrm>
            <a:off x="868680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1481328" y="4910328"/>
            <a:ext cx="763524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points (1, −1) and (4, 7) lie on line L. Find an equation for L in the form ax + by = c.</a:t>
            </a:r>
            <a:endParaRPr lang="en-US" sz="1250" dirty="0"/>
          </a:p>
        </p:txBody>
      </p:sp>
      <p:sp>
        <p:nvSpPr>
          <p:cNvPr id="57" name="Shape 55"/>
          <p:cNvSpPr/>
          <p:nvPr/>
        </p:nvSpPr>
        <p:spPr>
          <a:xfrm>
            <a:off x="9326880" y="5184648"/>
            <a:ext cx="2121408" cy="658368"/>
          </a:xfrm>
          <a:prstGeom prst="roundRect">
            <a:avLst>
              <a:gd name="adj" fmla="val 6944"/>
            </a:avLst>
          </a:prstGeom>
          <a:solidFill>
            <a:srgbClr val="16261F"/>
          </a:solidFill>
          <a:ln/>
        </p:spPr>
      </p:sp>
      <p:sp>
        <p:nvSpPr>
          <p:cNvPr id="58" name="Text 56"/>
          <p:cNvSpPr/>
          <p:nvPr/>
        </p:nvSpPr>
        <p:spPr>
          <a:xfrm>
            <a:off x="9326880" y="5184648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200"/>
              </a:spcAft>
              <a:buNone/>
            </a:pPr>
            <a:r>
              <a:rPr lang="en-US" sz="850" b="1" kern="0" spc="100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</a:t>
            </a:r>
            <a:endParaRPr lang="en-US" sz="8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8x − 3y = 11</a:t>
            </a:r>
            <a:endParaRPr lang="en-US" sz="8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3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6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 animBg="1"/>
      <p:bldP spid="52" grpId="0" animBg="1"/>
      <p:bldP spid="5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QUESTIONS (3 of 3)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Equations, Midpoint &amp; Coordinates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691640"/>
            <a:ext cx="11064240" cy="1417320"/>
          </a:xfrm>
          <a:prstGeom prst="roundRect">
            <a:avLst>
              <a:gd name="adj" fmla="val 3871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868680" y="21488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3" name="Text 41"/>
          <p:cNvSpPr/>
          <p:nvPr/>
        </p:nvSpPr>
        <p:spPr>
          <a:xfrm>
            <a:off x="86868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1481328" y="1801368"/>
            <a:ext cx="763524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an equation of the line through (−3, 5) and (1, 2). Give your answer as ax + by = c.</a:t>
            </a:r>
            <a:endParaRPr lang="en-US" sz="1250" dirty="0"/>
          </a:p>
        </p:txBody>
      </p:sp>
      <p:sp>
        <p:nvSpPr>
          <p:cNvPr id="45" name="Shape 43"/>
          <p:cNvSpPr/>
          <p:nvPr/>
        </p:nvSpPr>
        <p:spPr>
          <a:xfrm>
            <a:off x="9326880" y="2075688"/>
            <a:ext cx="2121408" cy="658368"/>
          </a:xfrm>
          <a:prstGeom prst="roundRect">
            <a:avLst>
              <a:gd name="adj" fmla="val 6944"/>
            </a:avLst>
          </a:prstGeom>
          <a:solidFill>
            <a:srgbClr val="16261F"/>
          </a:solidFill>
          <a:ln/>
        </p:spPr>
      </p:sp>
      <p:sp>
        <p:nvSpPr>
          <p:cNvPr id="46" name="Text 44"/>
          <p:cNvSpPr/>
          <p:nvPr/>
        </p:nvSpPr>
        <p:spPr>
          <a:xfrm>
            <a:off x="9326880" y="2075688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200"/>
              </a:spcAft>
              <a:buNone/>
            </a:pPr>
            <a:r>
              <a:rPr lang="en-US" sz="850" b="1" kern="0" spc="100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</a:t>
            </a:r>
            <a:endParaRPr lang="en-US" sz="8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3x + 4y = 11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566928" y="3246120"/>
            <a:ext cx="11064240" cy="1417320"/>
          </a:xfrm>
          <a:prstGeom prst="roundRect">
            <a:avLst>
              <a:gd name="adj" fmla="val 3871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868680" y="370332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868680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1481328" y="3355848"/>
            <a:ext cx="763524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is (5, 4) and B is (13, 1). Work out the coordinates of the midpoint of AB.</a:t>
            </a:r>
            <a:endParaRPr lang="en-US" sz="1250" dirty="0"/>
          </a:p>
        </p:txBody>
      </p:sp>
      <p:sp>
        <p:nvSpPr>
          <p:cNvPr id="51" name="Shape 49"/>
          <p:cNvSpPr/>
          <p:nvPr/>
        </p:nvSpPr>
        <p:spPr>
          <a:xfrm>
            <a:off x="9326880" y="3630168"/>
            <a:ext cx="2121408" cy="658368"/>
          </a:xfrm>
          <a:prstGeom prst="roundRect">
            <a:avLst>
              <a:gd name="adj" fmla="val 6944"/>
            </a:avLst>
          </a:prstGeom>
          <a:solidFill>
            <a:srgbClr val="16261F"/>
          </a:solidFill>
          <a:ln/>
        </p:spPr>
      </p:sp>
      <p:sp>
        <p:nvSpPr>
          <p:cNvPr id="52" name="Text 50"/>
          <p:cNvSpPr/>
          <p:nvPr/>
        </p:nvSpPr>
        <p:spPr>
          <a:xfrm>
            <a:off x="9326880" y="3630168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200"/>
              </a:spcAft>
              <a:buNone/>
            </a:pPr>
            <a:r>
              <a:rPr lang="en-US" sz="850" b="1" kern="0" spc="100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</a:t>
            </a:r>
            <a:endParaRPr lang="en-US" sz="8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(9, 2.5)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566928" y="4800600"/>
            <a:ext cx="11064240" cy="1417320"/>
          </a:xfrm>
          <a:prstGeom prst="roundRect">
            <a:avLst>
              <a:gd name="adj" fmla="val 3871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868680" y="525780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5" name="Text 53"/>
          <p:cNvSpPr/>
          <p:nvPr/>
        </p:nvSpPr>
        <p:spPr>
          <a:xfrm>
            <a:off x="868680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1481328" y="4910328"/>
            <a:ext cx="763524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is (−3, 11), B is (47, b). The midpoint of AB is (a, −19). Find a and b.</a:t>
            </a:r>
            <a:endParaRPr lang="en-US" sz="1250" dirty="0"/>
          </a:p>
        </p:txBody>
      </p:sp>
      <p:sp>
        <p:nvSpPr>
          <p:cNvPr id="57" name="Shape 55"/>
          <p:cNvSpPr/>
          <p:nvPr/>
        </p:nvSpPr>
        <p:spPr>
          <a:xfrm>
            <a:off x="9326880" y="5184648"/>
            <a:ext cx="2121408" cy="658368"/>
          </a:xfrm>
          <a:prstGeom prst="roundRect">
            <a:avLst>
              <a:gd name="adj" fmla="val 6944"/>
            </a:avLst>
          </a:prstGeom>
          <a:solidFill>
            <a:srgbClr val="16261F"/>
          </a:solidFill>
          <a:ln/>
        </p:spPr>
      </p:sp>
      <p:sp>
        <p:nvSpPr>
          <p:cNvPr id="58" name="Text 56"/>
          <p:cNvSpPr/>
          <p:nvPr/>
        </p:nvSpPr>
        <p:spPr>
          <a:xfrm>
            <a:off x="9326880" y="5184648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200"/>
              </a:spcAft>
              <a:buNone/>
            </a:pPr>
            <a:r>
              <a:rPr lang="en-US" sz="850" b="1" kern="0" spc="100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</a:t>
            </a:r>
            <a:endParaRPr lang="en-US" sz="8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= 22,  b = −49</a:t>
            </a:r>
            <a:endParaRPr lang="en-US" sz="8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3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6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 animBg="1"/>
      <p:bldP spid="52" grpId="0" animBg="1"/>
      <p:bldP spid="5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· ON THE GRID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</a:t>
            </a:r>
            <a:r>
              <a:rPr lang="en-US" sz="2700" b="1" dirty="0" smtClean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</a:t>
            </a: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 find an equation for L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3593421" y="1481328"/>
            <a:ext cx="5004853" cy="5175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slq-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6573" y="1554480"/>
            <a:ext cx="4858549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· ON THE GRID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</a:t>
            </a:r>
            <a:r>
              <a:rPr lang="en-US" sz="2700" b="1" dirty="0" smtClean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 </a:t>
            </a: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 find an equation for L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792615" y="1481328"/>
            <a:ext cx="6606464" cy="5175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slq-5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5767" y="1554480"/>
            <a:ext cx="646016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· ON THE GRID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</a:t>
            </a:r>
            <a:r>
              <a:rPr lang="en-US" sz="2700" b="1" dirty="0" smtClean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</a:t>
            </a: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 give your answer as y = mx + c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3188488" y="1481328"/>
            <a:ext cx="5814720" cy="5175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slq-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1640" y="1554480"/>
            <a:ext cx="5668416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64008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640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980" dirty="0"/>
          </a:p>
        </p:txBody>
      </p:sp>
      <p:sp>
        <p:nvSpPr>
          <p:cNvPr id="39" name="Text 37"/>
          <p:cNvSpPr/>
          <p:nvPr/>
        </p:nvSpPr>
        <p:spPr>
          <a:xfrm>
            <a:off x="1554480" y="67665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77240" y="13716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</a:t>
            </a:r>
            <a:endParaRPr lang="en-US" sz="3800" dirty="0"/>
          </a:p>
        </p:txBody>
      </p:sp>
      <p:sp>
        <p:nvSpPr>
          <p:cNvPr id="41" name="Shape 39"/>
          <p:cNvSpPr/>
          <p:nvPr/>
        </p:nvSpPr>
        <p:spPr>
          <a:xfrm>
            <a:off x="868680" y="2368296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2" name="Text 40"/>
          <p:cNvSpPr/>
          <p:nvPr/>
        </p:nvSpPr>
        <p:spPr>
          <a:xfrm>
            <a:off x="1234440" y="233172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straight line is  y = mx + c:  m = gradient, c = y-intercept.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868680" y="2935224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4" name="Text 42"/>
          <p:cNvSpPr/>
          <p:nvPr/>
        </p:nvSpPr>
        <p:spPr>
          <a:xfrm>
            <a:off x="1234440" y="289864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Rearrange to y = … BEFORE reading off m and c.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868680" y="3502152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6" name="Text 44"/>
          <p:cNvSpPr/>
          <p:nvPr/>
        </p:nvSpPr>
        <p:spPr>
          <a:xfrm>
            <a:off x="1234440" y="3465576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from two points = (y₂ − y₁) ÷ (x₂ − x₁).</a:t>
            </a:r>
            <a:endParaRPr lang="en-US" sz="1500" dirty="0"/>
          </a:p>
        </p:txBody>
      </p:sp>
      <p:sp>
        <p:nvSpPr>
          <p:cNvPr id="47" name="Shape 45"/>
          <p:cNvSpPr/>
          <p:nvPr/>
        </p:nvSpPr>
        <p:spPr>
          <a:xfrm>
            <a:off x="868680" y="4069080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8" name="Text 46"/>
          <p:cNvSpPr/>
          <p:nvPr/>
        </p:nvSpPr>
        <p:spPr>
          <a:xfrm>
            <a:off x="1234440" y="40325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m and a point: substitute to find c.  Given two points: find m first.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868680" y="4636008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50" name="Text 48"/>
          <p:cNvSpPr/>
          <p:nvPr/>
        </p:nvSpPr>
        <p:spPr>
          <a:xfrm>
            <a:off x="1234440" y="45994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 lines are x = c;  horizontal lines are y = c.</a:t>
            </a:r>
            <a:endParaRPr lang="en-US" sz="1500" dirty="0"/>
          </a:p>
        </p:txBody>
      </p:sp>
      <p:sp>
        <p:nvSpPr>
          <p:cNvPr id="51" name="Shape 49"/>
          <p:cNvSpPr/>
          <p:nvPr/>
        </p:nvSpPr>
        <p:spPr>
          <a:xfrm>
            <a:off x="777240" y="5440680"/>
            <a:ext cx="10607040" cy="86868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777240" y="54406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Golden rule:  </a:t>
            </a:r>
            <a:r>
              <a:rPr lang="en-US" sz="17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the gradient and the y-intercept — those two numbers are the equation.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2054</Words>
  <Application>Microsoft Office PowerPoint</Application>
  <PresentationFormat>Custom</PresentationFormat>
  <Paragraphs>287</Paragraphs>
  <Slides>22</Slides>
  <Notes>22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3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Zahra Sheikh Ali</dc:creator>
  <cp:lastModifiedBy>zahraa sheik ali</cp:lastModifiedBy>
  <cp:revision>5</cp:revision>
  <dcterms:created xsi:type="dcterms:W3CDTF">2026-07-12T09:21:08Z</dcterms:created>
  <dcterms:modified xsi:type="dcterms:W3CDTF">2026-07-24T08:56:43Z</dcterms:modified>
</cp:coreProperties>
</file>