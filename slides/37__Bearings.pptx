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7B3A96C-8688-4D4D-8180-373FAF9B547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F1667CD-E526-4555-BBAC-B34C12F9353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44BF2FC-C97A-4F3D-A871-AD06831D2587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A1A52A6-6F55-48BF-827C-7DC54C9E7279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060E3F5-8FAF-41F0-A3A4-E8337C1B0A16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1964AEC-E08A-4181-8620-2F6641A67641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707C900-335F-4647-B3F8-3D8AA043A301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1477205-875D-4751-A143-92D1FD8248B2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E9610E3-2006-4AD1-8820-1CE8819C98B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692CD50-38A7-45B1-B3D5-03B00E47B042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6D143E3-7C21-4363-A885-FD1322D6CD29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D22B3F1-8426-46C9-8177-837FD8EEAF33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ABE6B96-F401-448F-B7D9-969E01E54DCB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FEE3DF4-36F5-40C4-9792-2328EABA1889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94693D7-B6CD-4D84-8CAE-0CA0E204D943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0B36C6E-C6B5-40C6-AE4A-D81E7E0C466E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10241280" y="68580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33463a"/>
                </a:solidFill>
                <a:latin typeface="Cambria"/>
                <a:ea typeface="Cambria"/>
              </a:rPr>
              <a:t>N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10607040" y="2377440"/>
            <a:ext cx="360" cy="360"/>
          </a:xfrm>
          <a:prstGeom prst="line">
            <a:avLst/>
          </a:prstGeom>
          <a:ln w="50800">
            <a:solidFill>
              <a:srgbClr val="33463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Bearings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Measured from NORTH · Clockwise · Always Three Figures · Back Bearings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43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6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Three Rules, Every Time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 bearing is a direction.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Measure it from NORTH, go CLOCKWISE, and write it with THREE figures. Get those three right and bearings are easy.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Measure from NORTH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Go CLOCKWISE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Always 3 figures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‘</a:t>
            </a: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A from B’ — where to draw N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Back bearings (±180°)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bearing · north line · clockwise · three figures · back bearing · angles on parallel lines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What Is a Bearing?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9"/>
          <p:cNvSpPr/>
          <p:nvPr/>
        </p:nvSpPr>
        <p:spPr>
          <a:xfrm>
            <a:off x="567000" y="1298520"/>
            <a:ext cx="11063880" cy="621360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40"/>
          <p:cNvSpPr/>
          <p:nvPr/>
        </p:nvSpPr>
        <p:spPr>
          <a:xfrm>
            <a:off x="887040" y="1298520"/>
            <a:ext cx="104238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bearing is a measure of DIRECTION.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41"/>
          <p:cNvSpPr/>
          <p:nvPr/>
        </p:nvSpPr>
        <p:spPr>
          <a:xfrm>
            <a:off x="1417320" y="2286000"/>
            <a:ext cx="3200040" cy="3200040"/>
          </a:xfrm>
          <a:prstGeom prst="ellipse">
            <a:avLst/>
          </a:prstGeom>
          <a:noFill/>
          <a:ln w="190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42"/>
          <p:cNvSpPr/>
          <p:nvPr/>
        </p:nvSpPr>
        <p:spPr>
          <a:xfrm>
            <a:off x="3017520" y="2057400"/>
            <a:ext cx="360" cy="3657600"/>
          </a:xfrm>
          <a:prstGeom prst="line">
            <a:avLst/>
          </a:prstGeom>
          <a:ln w="15240">
            <a:solidFill>
              <a:srgbClr val="5c6b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43"/>
          <p:cNvSpPr/>
          <p:nvPr/>
        </p:nvSpPr>
        <p:spPr>
          <a:xfrm>
            <a:off x="1188720" y="3886200"/>
            <a:ext cx="3657600" cy="360"/>
          </a:xfrm>
          <a:prstGeom prst="line">
            <a:avLst/>
          </a:prstGeom>
          <a:ln w="15240">
            <a:solidFill>
              <a:srgbClr val="5c6b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44"/>
          <p:cNvSpPr/>
          <p:nvPr/>
        </p:nvSpPr>
        <p:spPr>
          <a:xfrm>
            <a:off x="2606040" y="1645920"/>
            <a:ext cx="8226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c6b60"/>
                </a:solidFill>
                <a:latin typeface="Cambria"/>
                <a:ea typeface="Cambria"/>
              </a:rPr>
              <a:t>000°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45"/>
          <p:cNvSpPr/>
          <p:nvPr/>
        </p:nvSpPr>
        <p:spPr>
          <a:xfrm>
            <a:off x="4008960" y="2226960"/>
            <a:ext cx="8226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c6b60"/>
                </a:solidFill>
                <a:latin typeface="Cambria"/>
                <a:ea typeface="Cambria"/>
              </a:rPr>
              <a:t>045°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6"/>
          <p:cNvSpPr/>
          <p:nvPr/>
        </p:nvSpPr>
        <p:spPr>
          <a:xfrm>
            <a:off x="4590360" y="3630240"/>
            <a:ext cx="8226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c6b60"/>
                </a:solidFill>
                <a:latin typeface="Cambria"/>
                <a:ea typeface="Cambria"/>
              </a:rPr>
              <a:t>090°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47"/>
          <p:cNvSpPr/>
          <p:nvPr/>
        </p:nvSpPr>
        <p:spPr>
          <a:xfrm>
            <a:off x="4008960" y="5033160"/>
            <a:ext cx="8226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SE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c6b60"/>
                </a:solidFill>
                <a:latin typeface="Cambria"/>
                <a:ea typeface="Cambria"/>
              </a:rPr>
              <a:t>135°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48"/>
          <p:cNvSpPr/>
          <p:nvPr/>
        </p:nvSpPr>
        <p:spPr>
          <a:xfrm>
            <a:off x="2606040" y="5614560"/>
            <a:ext cx="8226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c6b60"/>
                </a:solidFill>
                <a:latin typeface="Cambria"/>
                <a:ea typeface="Cambria"/>
              </a:rPr>
              <a:t>180°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49"/>
          <p:cNvSpPr/>
          <p:nvPr/>
        </p:nvSpPr>
        <p:spPr>
          <a:xfrm>
            <a:off x="1203120" y="5033160"/>
            <a:ext cx="8226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SW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c6b60"/>
                </a:solidFill>
                <a:latin typeface="Cambria"/>
                <a:ea typeface="Cambria"/>
              </a:rPr>
              <a:t>225°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50"/>
          <p:cNvSpPr/>
          <p:nvPr/>
        </p:nvSpPr>
        <p:spPr>
          <a:xfrm>
            <a:off x="621720" y="3630240"/>
            <a:ext cx="8226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W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c6b60"/>
                </a:solidFill>
                <a:latin typeface="Cambria"/>
                <a:ea typeface="Cambria"/>
              </a:rPr>
              <a:t>270°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51"/>
          <p:cNvSpPr/>
          <p:nvPr/>
        </p:nvSpPr>
        <p:spPr>
          <a:xfrm>
            <a:off x="1203120" y="2226960"/>
            <a:ext cx="8226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NW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5c6b60"/>
                </a:solidFill>
                <a:latin typeface="Cambria"/>
                <a:ea typeface="Cambria"/>
              </a:rPr>
              <a:t>315°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52"/>
          <p:cNvSpPr/>
          <p:nvPr/>
        </p:nvSpPr>
        <p:spPr>
          <a:xfrm>
            <a:off x="3017520" y="3886200"/>
            <a:ext cx="360" cy="360"/>
          </a:xfrm>
          <a:prstGeom prst="line">
            <a:avLst/>
          </a:prstGeom>
          <a:ln w="38100">
            <a:solidFill>
              <a:srgbClr val="c84f2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53"/>
          <p:cNvSpPr/>
          <p:nvPr/>
        </p:nvSpPr>
        <p:spPr>
          <a:xfrm>
            <a:off x="5943600" y="2194560"/>
            <a:ext cx="5687280" cy="1005480"/>
          </a:xfrm>
          <a:prstGeom prst="roundRect">
            <a:avLst>
              <a:gd name="adj" fmla="val 545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54"/>
          <p:cNvSpPr/>
          <p:nvPr/>
        </p:nvSpPr>
        <p:spPr>
          <a:xfrm>
            <a:off x="6217920" y="246888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55"/>
          <p:cNvSpPr/>
          <p:nvPr/>
        </p:nvSpPr>
        <p:spPr>
          <a:xfrm>
            <a:off x="6217920" y="24688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56"/>
          <p:cNvSpPr/>
          <p:nvPr/>
        </p:nvSpPr>
        <p:spPr>
          <a:xfrm>
            <a:off x="6858000" y="23043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Measured from the NORTH line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57"/>
          <p:cNvSpPr/>
          <p:nvPr/>
        </p:nvSpPr>
        <p:spPr>
          <a:xfrm>
            <a:off x="6858000" y="27248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always start at north (000°)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58"/>
          <p:cNvSpPr/>
          <p:nvPr/>
        </p:nvSpPr>
        <p:spPr>
          <a:xfrm>
            <a:off x="5943600" y="3337560"/>
            <a:ext cx="5687280" cy="1005480"/>
          </a:xfrm>
          <a:prstGeom prst="roundRect">
            <a:avLst>
              <a:gd name="adj" fmla="val 5455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59"/>
          <p:cNvSpPr/>
          <p:nvPr/>
        </p:nvSpPr>
        <p:spPr>
          <a:xfrm>
            <a:off x="6217920" y="361188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60"/>
          <p:cNvSpPr/>
          <p:nvPr/>
        </p:nvSpPr>
        <p:spPr>
          <a:xfrm>
            <a:off x="6217920" y="36118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61"/>
          <p:cNvSpPr/>
          <p:nvPr/>
        </p:nvSpPr>
        <p:spPr>
          <a:xfrm>
            <a:off x="6858000" y="34473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Measured CLOCKWISE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62"/>
          <p:cNvSpPr/>
          <p:nvPr/>
        </p:nvSpPr>
        <p:spPr>
          <a:xfrm>
            <a:off x="6858000" y="38678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never anticlockwise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63"/>
          <p:cNvSpPr/>
          <p:nvPr/>
        </p:nvSpPr>
        <p:spPr>
          <a:xfrm>
            <a:off x="5943600" y="4480560"/>
            <a:ext cx="5687280" cy="1005480"/>
          </a:xfrm>
          <a:prstGeom prst="roundRect">
            <a:avLst>
              <a:gd name="adj" fmla="val 545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64"/>
          <p:cNvSpPr/>
          <p:nvPr/>
        </p:nvSpPr>
        <p:spPr>
          <a:xfrm>
            <a:off x="6217920" y="475488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 65"/>
          <p:cNvSpPr/>
          <p:nvPr/>
        </p:nvSpPr>
        <p:spPr>
          <a:xfrm>
            <a:off x="6217920" y="47548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66"/>
          <p:cNvSpPr/>
          <p:nvPr/>
        </p:nvSpPr>
        <p:spPr>
          <a:xfrm>
            <a:off x="6858000" y="45903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Written with THREE figures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67"/>
          <p:cNvSpPr/>
          <p:nvPr/>
        </p:nvSpPr>
        <p:spPr>
          <a:xfrm>
            <a:off x="6858000" y="50108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60° is written 060°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68"/>
          <p:cNvSpPr/>
          <p:nvPr/>
        </p:nvSpPr>
        <p:spPr>
          <a:xfrm>
            <a:off x="567000" y="580644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69"/>
          <p:cNvSpPr/>
          <p:nvPr/>
        </p:nvSpPr>
        <p:spPr>
          <a:xfrm>
            <a:off x="841320" y="580644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From NORTH · CLOCKWISE · THREE FIGURES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GOLDEN RULE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‘</a:t>
            </a: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Bearing of A from B’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39"/>
          <p:cNvSpPr/>
          <p:nvPr/>
        </p:nvSpPr>
        <p:spPr>
          <a:xfrm>
            <a:off x="1567800" y="1190880"/>
            <a:ext cx="917568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Draw the North line at the point AFTER the word ‘from’.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That is where you are standing.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Box 5"/>
          <p:cNvSpPr/>
          <p:nvPr/>
        </p:nvSpPr>
        <p:spPr>
          <a:xfrm>
            <a:off x="3140640" y="1353240"/>
            <a:ext cx="6190920" cy="10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3200" spc="-1" strike="noStrike">
                <a:solidFill>
                  <a:srgbClr val="000000"/>
                </a:solidFill>
                <a:latin typeface="Calibri"/>
              </a:rPr>
              <a:t>When it is the bearing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GB" sz="3200" spc="-1" strike="noStrike">
                <a:solidFill>
                  <a:srgbClr val="000000"/>
                </a:solidFill>
                <a:latin typeface="Calibri"/>
              </a:rPr>
              <a:t>of </a:t>
            </a:r>
            <a:r>
              <a:rPr b="1" lang="en-GB" sz="3200" spc="-1" strike="noStrike">
                <a:solidFill>
                  <a:schemeClr val="accent6">
                    <a:lumMod val="75000"/>
                  </a:schemeClr>
                </a:solidFill>
                <a:latin typeface="Calibri"/>
              </a:rPr>
              <a:t>something</a:t>
            </a:r>
            <a:r>
              <a:rPr b="0" lang="en-GB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1" lang="en-GB" sz="3200" spc="-1" strike="noStrike">
                <a:solidFill>
                  <a:schemeClr val="accent5"/>
                </a:solidFill>
                <a:latin typeface="Calibri"/>
              </a:rPr>
              <a:t>from</a:t>
            </a:r>
            <a:r>
              <a:rPr b="0" lang="en-GB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1" lang="en-GB" sz="3200" spc="-1" strike="noStrike">
                <a:solidFill>
                  <a:srgbClr val="009900"/>
                </a:solidFill>
                <a:latin typeface="Calibri"/>
              </a:rPr>
              <a:t>something</a:t>
            </a:r>
            <a:r>
              <a:rPr b="0" lang="en-GB" sz="3200" spc="-1" strike="noStrike">
                <a:solidFill>
                  <a:srgbClr val="000000"/>
                </a:solidFill>
                <a:latin typeface="Calibri"/>
              </a:rPr>
              <a:t>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34" name="Group 6"/>
          <p:cNvGrpSpPr/>
          <p:nvPr/>
        </p:nvGrpSpPr>
        <p:grpSpPr>
          <a:xfrm>
            <a:off x="2203200" y="2196000"/>
            <a:ext cx="3944880" cy="2783160"/>
            <a:chOff x="2203200" y="2196000"/>
            <a:chExt cx="3944880" cy="2783160"/>
          </a:xfrm>
        </p:grpSpPr>
        <p:grpSp>
          <p:nvGrpSpPr>
            <p:cNvPr id="235" name="Group 7"/>
            <p:cNvGrpSpPr/>
            <p:nvPr/>
          </p:nvGrpSpPr>
          <p:grpSpPr>
            <a:xfrm>
              <a:off x="2428920" y="2196000"/>
              <a:ext cx="2139840" cy="2382480"/>
              <a:chOff x="2428920" y="2196000"/>
              <a:chExt cx="2139840" cy="2382480"/>
            </a:xfrm>
          </p:grpSpPr>
          <p:grpSp>
            <p:nvGrpSpPr>
              <p:cNvPr id="236" name="Group 8"/>
              <p:cNvGrpSpPr/>
              <p:nvPr/>
            </p:nvGrpSpPr>
            <p:grpSpPr>
              <a:xfrm>
                <a:off x="2641320" y="2694600"/>
                <a:ext cx="1927440" cy="1883880"/>
                <a:chOff x="2641320" y="2694600"/>
                <a:chExt cx="1927440" cy="1883880"/>
              </a:xfrm>
            </p:grpSpPr>
            <p:grpSp>
              <p:nvGrpSpPr>
                <p:cNvPr id="237" name="Group 51"/>
                <p:cNvGrpSpPr/>
                <p:nvPr/>
              </p:nvGrpSpPr>
              <p:grpSpPr>
                <a:xfrm>
                  <a:off x="2641320" y="2694600"/>
                  <a:ext cx="1927440" cy="1883880"/>
                  <a:chOff x="2641320" y="2694600"/>
                  <a:chExt cx="1927440" cy="1883880"/>
                </a:xfrm>
              </p:grpSpPr>
              <p:sp>
                <p:nvSpPr>
                  <p:cNvPr id="238" name="Line 10"/>
                  <p:cNvSpPr/>
                  <p:nvPr/>
                </p:nvSpPr>
                <p:spPr>
                  <a:xfrm flipV="1">
                    <a:off x="2641320" y="2694600"/>
                    <a:ext cx="360" cy="1883880"/>
                  </a:xfrm>
                  <a:prstGeom prst="line">
                    <a:avLst/>
                  </a:prstGeom>
                  <a:ln w="38100">
                    <a:solidFill>
                      <a:srgbClr val="000000"/>
                    </a:solidFill>
                    <a:round/>
                    <a:tailEnd len="lg" type="triangle" w="lg"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noAutofit/>
                  </a:bodyPr>
                  <a:p>
                    <a:endParaRPr b="0" lang="en-GB" sz="1400" spc="-1" strike="noStrike">
                      <a:solidFill>
                        <a:srgbClr val="000000"/>
                      </a:solidFill>
                      <a:latin typeface="Calibri"/>
                    </a:endParaRPr>
                  </a:p>
                </p:txBody>
              </p:sp>
              <p:sp>
                <p:nvSpPr>
                  <p:cNvPr id="239" name="Line 11"/>
                  <p:cNvSpPr/>
                  <p:nvPr/>
                </p:nvSpPr>
                <p:spPr>
                  <a:xfrm flipV="1">
                    <a:off x="2641320" y="3746520"/>
                    <a:ext cx="1927440" cy="830880"/>
                  </a:xfrm>
                  <a:prstGeom prst="line">
                    <a:avLst/>
                  </a:prstGeom>
                  <a:ln w="38100">
                    <a:solidFill>
                      <a:srgbClr val="000000"/>
                    </a:solidFill>
                    <a:round/>
                    <a:tailEnd len="lg" type="triangle" w="lg"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noAutofit/>
                  </a:bodyPr>
                  <a:p>
                    <a:endParaRPr b="0" lang="en-GB" sz="1400" spc="-1" strike="noStrike">
                      <a:solidFill>
                        <a:srgbClr val="000000"/>
                      </a:solidFill>
                      <a:latin typeface="Calibri"/>
                    </a:endParaRPr>
                  </a:p>
                </p:txBody>
              </p:sp>
              <p:sp>
                <p:nvSpPr>
                  <p:cNvPr id="240" name="Freeform 12"/>
                  <p:cNvSpPr/>
                  <p:nvPr/>
                </p:nvSpPr>
                <p:spPr>
                  <a:xfrm>
                    <a:off x="2641680" y="3987360"/>
                    <a:ext cx="619920" cy="313560"/>
                  </a:xfrm>
                  <a:custGeom>
                    <a:avLst/>
                    <a:gdLst>
                      <a:gd name="textAreaLeft" fmla="*/ 0 w 619920"/>
                      <a:gd name="textAreaRight" fmla="*/ 620280 w 619920"/>
                      <a:gd name="textAreaTop" fmla="*/ 0 h 313560"/>
                      <a:gd name="textAreaBottom" fmla="*/ 313920 h 313560"/>
                    </a:gdLst>
                    <a:ahLst/>
                    <a:rect l="textAreaLeft" t="textAreaTop" r="textAreaRight" b="textAreaBottom"/>
                    <a:pathLst>
                      <a:path w="409" h="257">
                        <a:moveTo>
                          <a:pt x="0" y="76"/>
                        </a:moveTo>
                        <a:cubicBezTo>
                          <a:pt x="79" y="38"/>
                          <a:pt x="159" y="0"/>
                          <a:pt x="227" y="30"/>
                        </a:cubicBezTo>
                        <a:cubicBezTo>
                          <a:pt x="295" y="60"/>
                          <a:pt x="352" y="158"/>
                          <a:pt x="409" y="257"/>
                        </a:cubicBezTo>
                      </a:path>
                    </a:pathLst>
                  </a:custGeom>
                  <a:noFill/>
                  <a:ln w="38100">
                    <a:solidFill>
                      <a:srgbClr val="5b9bd5"/>
                    </a:solidFill>
                    <a:round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90000" rIns="90000" tIns="45000" bIns="45000" anchor="t">
                    <a:noAutofit/>
                  </a:bodyPr>
                  <a:p>
                    <a:pPr defTabSz="914400">
                      <a:lnSpc>
                        <a:spcPct val="100000"/>
                      </a:lnSpc>
                    </a:pPr>
                    <a:endParaRPr b="0" lang="en-GB" sz="1400" spc="-1" strike="noStrike">
                      <a:solidFill>
                        <a:srgbClr val="000000"/>
                      </a:solidFill>
                      <a:latin typeface="Calibri"/>
                    </a:endParaRPr>
                  </a:p>
                </p:txBody>
              </p:sp>
            </p:grpSp>
            <p:sp>
              <p:nvSpPr>
                <p:cNvPr id="241" name="Text Box 13"/>
                <p:cNvSpPr/>
                <p:nvPr/>
              </p:nvSpPr>
              <p:spPr>
                <a:xfrm>
                  <a:off x="2641680" y="4135320"/>
                  <a:ext cx="175680" cy="258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90000" rIns="90000" tIns="45000" bIns="45000" anchor="t">
                  <a:sp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GB" sz="1600" spc="-1" strike="noStrike">
                    <a:solidFill>
                      <a:srgbClr val="000000"/>
                    </a:solidFill>
                    <a:latin typeface="Calibri"/>
                  </a:endParaRPr>
                </a:p>
              </p:txBody>
            </p:sp>
          </p:grpSp>
          <p:sp>
            <p:nvSpPr>
              <p:cNvPr id="242" name="Text Box 14"/>
              <p:cNvSpPr/>
              <p:nvPr/>
            </p:nvSpPr>
            <p:spPr>
              <a:xfrm>
                <a:off x="2428920" y="2196000"/>
                <a:ext cx="441720" cy="57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14400">
                  <a:lnSpc>
                    <a:spcPct val="100000"/>
                  </a:lnSpc>
                </a:pPr>
                <a:r>
                  <a:rPr b="0" lang="en-GB" sz="3200" spc="-1" strike="noStrike">
                    <a:solidFill>
                      <a:srgbClr val="000000"/>
                    </a:solidFill>
                    <a:latin typeface="Calibri"/>
                  </a:rPr>
                  <a:t>N</a:t>
                </a:r>
                <a:endParaRPr b="0" lang="en-US" sz="32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243" name="Text Box 15"/>
            <p:cNvSpPr/>
            <p:nvPr/>
          </p:nvSpPr>
          <p:spPr>
            <a:xfrm>
              <a:off x="4610520" y="3581640"/>
              <a:ext cx="1537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GB" sz="2400" spc="-1" strike="noStrike">
                  <a:solidFill>
                    <a:schemeClr val="accent6">
                      <a:lumMod val="75000"/>
                    </a:schemeClr>
                  </a:solidFill>
                  <a:latin typeface="Calibri"/>
                </a:rPr>
                <a:t>Something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4" name="Text Box 16"/>
            <p:cNvSpPr/>
            <p:nvPr/>
          </p:nvSpPr>
          <p:spPr>
            <a:xfrm>
              <a:off x="2203200" y="4523760"/>
              <a:ext cx="1537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GB" sz="2400" spc="-1" strike="noStrike">
                  <a:solidFill>
                    <a:srgbClr val="009900"/>
                  </a:solidFill>
                  <a:latin typeface="Calibri"/>
                </a:rPr>
                <a:t>Something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45" name="Group 28"/>
          <p:cNvGrpSpPr/>
          <p:nvPr/>
        </p:nvGrpSpPr>
        <p:grpSpPr>
          <a:xfrm>
            <a:off x="7099920" y="2135520"/>
            <a:ext cx="2855880" cy="3059640"/>
            <a:chOff x="7099920" y="2135520"/>
            <a:chExt cx="2855880" cy="3059640"/>
          </a:xfrm>
        </p:grpSpPr>
        <p:sp>
          <p:nvSpPr>
            <p:cNvPr id="246" name="Line 18"/>
            <p:cNvSpPr/>
            <p:nvPr/>
          </p:nvSpPr>
          <p:spPr>
            <a:xfrm flipV="1">
              <a:off x="7537320" y="2910240"/>
              <a:ext cx="360" cy="1884240"/>
            </a:xfrm>
            <a:prstGeom prst="line">
              <a:avLst/>
            </a:prstGeom>
            <a:ln w="38100">
              <a:solidFill>
                <a:srgbClr val="000000"/>
              </a:solidFill>
              <a:round/>
              <a:tailEnd len="lg" type="triangle" w="lg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247" name="Line 19"/>
            <p:cNvSpPr/>
            <p:nvPr/>
          </p:nvSpPr>
          <p:spPr>
            <a:xfrm flipV="1">
              <a:off x="7537320" y="3962520"/>
              <a:ext cx="1927080" cy="830880"/>
            </a:xfrm>
            <a:prstGeom prst="line">
              <a:avLst/>
            </a:prstGeom>
            <a:ln w="381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248" name="Freeform 20"/>
            <p:cNvSpPr/>
            <p:nvPr/>
          </p:nvSpPr>
          <p:spPr>
            <a:xfrm>
              <a:off x="7537680" y="4203360"/>
              <a:ext cx="619920" cy="313560"/>
            </a:xfrm>
            <a:custGeom>
              <a:avLst/>
              <a:gdLst>
                <a:gd name="textAreaLeft" fmla="*/ 0 w 619920"/>
                <a:gd name="textAreaRight" fmla="*/ 620280 w 619920"/>
                <a:gd name="textAreaTop" fmla="*/ 0 h 313560"/>
                <a:gd name="textAreaBottom" fmla="*/ 313920 h 313560"/>
              </a:gdLst>
              <a:ahLst/>
              <a:rect l="textAreaLeft" t="textAreaTop" r="textAreaRight" b="textAreaBottom"/>
              <a:pathLst>
                <a:path w="409" h="257">
                  <a:moveTo>
                    <a:pt x="0" y="76"/>
                  </a:moveTo>
                  <a:cubicBezTo>
                    <a:pt x="79" y="38"/>
                    <a:pt x="159" y="0"/>
                    <a:pt x="227" y="30"/>
                  </a:cubicBezTo>
                  <a:cubicBezTo>
                    <a:pt x="295" y="60"/>
                    <a:pt x="352" y="158"/>
                    <a:pt x="409" y="257"/>
                  </a:cubicBezTo>
                </a:path>
              </a:pathLst>
            </a:custGeom>
            <a:noFill/>
            <a:ln w="381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249" name="Text Box 21"/>
            <p:cNvSpPr/>
            <p:nvPr/>
          </p:nvSpPr>
          <p:spPr>
            <a:xfrm>
              <a:off x="7537680" y="4351320"/>
              <a:ext cx="175680" cy="25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endParaRPr b="0" lang="en-GB" sz="16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250" name="Text Box 22"/>
            <p:cNvSpPr/>
            <p:nvPr/>
          </p:nvSpPr>
          <p:spPr>
            <a:xfrm>
              <a:off x="7324920" y="2412000"/>
              <a:ext cx="441720" cy="57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GB" sz="3200" spc="-1" strike="noStrike">
                  <a:solidFill>
                    <a:srgbClr val="000000"/>
                  </a:solidFill>
                  <a:latin typeface="Calibri"/>
                </a:rPr>
                <a:t>N</a:t>
              </a:r>
              <a:endParaRPr b="0" lang="en-US" sz="3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1" name="Text Box 23"/>
            <p:cNvSpPr/>
            <p:nvPr/>
          </p:nvSpPr>
          <p:spPr>
            <a:xfrm>
              <a:off x="7856640" y="3687840"/>
              <a:ext cx="1537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GB" sz="2400" spc="-1" strike="noStrike">
                  <a:solidFill>
                    <a:srgbClr val="009900"/>
                  </a:solidFill>
                  <a:latin typeface="Calibri"/>
                </a:rPr>
                <a:t>Something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2" name="Text Box 24"/>
            <p:cNvSpPr/>
            <p:nvPr/>
          </p:nvSpPr>
          <p:spPr>
            <a:xfrm>
              <a:off x="7099920" y="4739760"/>
              <a:ext cx="15375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GB" sz="2400" spc="-1" strike="noStrike">
                  <a:solidFill>
                    <a:schemeClr val="accent6">
                      <a:lumMod val="75000"/>
                    </a:schemeClr>
                  </a:solidFill>
                  <a:latin typeface="Calibri"/>
                </a:rPr>
                <a:t>Something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53" name="Line 26"/>
            <p:cNvSpPr/>
            <p:nvPr/>
          </p:nvSpPr>
          <p:spPr>
            <a:xfrm flipV="1">
              <a:off x="9462960" y="2135520"/>
              <a:ext cx="360" cy="1828080"/>
            </a:xfrm>
            <a:prstGeom prst="line">
              <a:avLst/>
            </a:prstGeom>
            <a:ln w="38100">
              <a:solidFill>
                <a:srgbClr val="000000"/>
              </a:solidFill>
              <a:round/>
              <a:tailEnd len="lg" type="triangle" w="lg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254" name="Freeform 27"/>
            <p:cNvSpPr/>
            <p:nvPr/>
          </p:nvSpPr>
          <p:spPr>
            <a:xfrm>
              <a:off x="9050760" y="3631320"/>
              <a:ext cx="905040" cy="793800"/>
            </a:xfrm>
            <a:custGeom>
              <a:avLst/>
              <a:gdLst>
                <a:gd name="textAreaLeft" fmla="*/ 0 w 905040"/>
                <a:gd name="textAreaRight" fmla="*/ 905400 w 905040"/>
                <a:gd name="textAreaTop" fmla="*/ 0 h 793800"/>
                <a:gd name="textAreaBottom" fmla="*/ 794160 h 793800"/>
              </a:gdLst>
              <a:ahLst/>
              <a:rect l="textAreaLeft" t="textAreaTop" r="textAreaRight" b="textAreaBottom"/>
              <a:pathLst>
                <a:path w="597" h="650">
                  <a:moveTo>
                    <a:pt x="272" y="0"/>
                  </a:moveTo>
                  <a:cubicBezTo>
                    <a:pt x="427" y="106"/>
                    <a:pt x="583" y="212"/>
                    <a:pt x="590" y="318"/>
                  </a:cubicBezTo>
                  <a:cubicBezTo>
                    <a:pt x="597" y="424"/>
                    <a:pt x="415" y="620"/>
                    <a:pt x="317" y="635"/>
                  </a:cubicBezTo>
                  <a:cubicBezTo>
                    <a:pt x="219" y="650"/>
                    <a:pt x="109" y="529"/>
                    <a:pt x="0" y="408"/>
                  </a:cubicBezTo>
                </a:path>
              </a:pathLst>
            </a:custGeom>
            <a:noFill/>
            <a:ln w="38100">
              <a:solidFill>
                <a:srgbClr val="5b9bd5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4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sp>
        <p:nvSpPr>
          <p:cNvPr id="255" name="Text Box 29"/>
          <p:cNvSpPr/>
          <p:nvPr/>
        </p:nvSpPr>
        <p:spPr>
          <a:xfrm>
            <a:off x="2215800" y="5308920"/>
            <a:ext cx="80402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use a North line at the point that is </a:t>
            </a:r>
            <a:r>
              <a:rPr b="1" lang="en-GB" sz="2800" spc="-1" strike="noStrike">
                <a:solidFill>
                  <a:srgbClr val="009900"/>
                </a:solidFill>
                <a:latin typeface="Calibri"/>
              </a:rPr>
              <a:t>after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 the </a:t>
            </a:r>
            <a:r>
              <a:rPr b="1" lang="en-GB" sz="2800" spc="-1" strike="noStrike">
                <a:solidFill>
                  <a:schemeClr val="accent5"/>
                </a:solidFill>
                <a:latin typeface="Calibri"/>
              </a:rPr>
              <a:t>“from”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GOLDEN RULE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Where Do I Put the North Line?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39"/>
          <p:cNvSpPr/>
          <p:nvPr/>
        </p:nvSpPr>
        <p:spPr>
          <a:xfrm>
            <a:off x="567000" y="129852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40"/>
          <p:cNvSpPr/>
          <p:nvPr/>
        </p:nvSpPr>
        <p:spPr>
          <a:xfrm>
            <a:off x="887040" y="129852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“</a:t>
            </a: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Find the bearing of A FROM B”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— you are standing at B, looking at A. So the North line goes at B.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41"/>
          <p:cNvSpPr/>
          <p:nvPr/>
        </p:nvSpPr>
        <p:spPr>
          <a:xfrm>
            <a:off x="567000" y="214884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 42"/>
          <p:cNvSpPr/>
          <p:nvPr/>
        </p:nvSpPr>
        <p:spPr>
          <a:xfrm>
            <a:off x="932760" y="2386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Bearing of A FROM B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43"/>
          <p:cNvSpPr/>
          <p:nvPr/>
        </p:nvSpPr>
        <p:spPr>
          <a:xfrm>
            <a:off x="914400" y="2880360"/>
            <a:ext cx="475452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You are at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B</a:t>
            </a: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 (after the ‘from’).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1.  Draw the North line at B.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2.  Turn CLOCKWISE from north.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3.  Stop when you point at A.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4.  Write it with 3 figures.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44"/>
          <p:cNvSpPr/>
          <p:nvPr/>
        </p:nvSpPr>
        <p:spPr>
          <a:xfrm>
            <a:off x="6190560" y="214884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45"/>
          <p:cNvSpPr/>
          <p:nvPr/>
        </p:nvSpPr>
        <p:spPr>
          <a:xfrm>
            <a:off x="6556320" y="2386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Remember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46"/>
          <p:cNvSpPr/>
          <p:nvPr/>
        </p:nvSpPr>
        <p:spPr>
          <a:xfrm>
            <a:off x="6492240" y="302652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 47"/>
          <p:cNvSpPr/>
          <p:nvPr/>
        </p:nvSpPr>
        <p:spPr>
          <a:xfrm>
            <a:off x="6766560" y="288036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The North line is ALWAYS at the point you are standing at.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48"/>
          <p:cNvSpPr/>
          <p:nvPr/>
        </p:nvSpPr>
        <p:spPr>
          <a:xfrm>
            <a:off x="6492240" y="362088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49"/>
          <p:cNvSpPr/>
          <p:nvPr/>
        </p:nvSpPr>
        <p:spPr>
          <a:xfrm>
            <a:off x="6766560" y="347472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If the diagram has no North line there — draw one!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50"/>
          <p:cNvSpPr/>
          <p:nvPr/>
        </p:nvSpPr>
        <p:spPr>
          <a:xfrm>
            <a:off x="6492240" y="4215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 51"/>
          <p:cNvSpPr/>
          <p:nvPr/>
        </p:nvSpPr>
        <p:spPr>
          <a:xfrm>
            <a:off x="6766560" y="406908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North lines are PARALLEL — use alternate/co-interior angles.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52"/>
          <p:cNvSpPr/>
          <p:nvPr/>
        </p:nvSpPr>
        <p:spPr>
          <a:xfrm>
            <a:off x="6492240" y="480960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Text 53"/>
          <p:cNvSpPr/>
          <p:nvPr/>
        </p:nvSpPr>
        <p:spPr>
          <a:xfrm>
            <a:off x="6766560" y="466344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Bearings can be anything from 000° to 360°.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54"/>
          <p:cNvSpPr/>
          <p:nvPr/>
        </p:nvSpPr>
        <p:spPr>
          <a:xfrm>
            <a:off x="567000" y="5577840"/>
            <a:ext cx="110638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 55"/>
          <p:cNvSpPr/>
          <p:nvPr/>
        </p:nvSpPr>
        <p:spPr>
          <a:xfrm>
            <a:off x="841320" y="5577840"/>
            <a:ext cx="10515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‘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from’ tells you where to STAND — that is where the North line goes.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EXAMPLE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Bearing of B from A — the BACK Bearing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39"/>
          <p:cNvSpPr/>
          <p:nvPr/>
        </p:nvSpPr>
        <p:spPr>
          <a:xfrm>
            <a:off x="2859840" y="1353240"/>
            <a:ext cx="804024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Now stand at A. The answer is 240° — exactly 180° more than 060°.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Can you explain why?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 Box 3"/>
          <p:cNvSpPr/>
          <p:nvPr/>
        </p:nvSpPr>
        <p:spPr>
          <a:xfrm>
            <a:off x="2987640" y="1402920"/>
            <a:ext cx="55548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3200" spc="-1" strike="noStrike">
                <a:solidFill>
                  <a:srgbClr val="000000"/>
                </a:solidFill>
                <a:latin typeface="Calibri"/>
              </a:rPr>
              <a:t>What is the bearing of B from A?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55" name="Group 17"/>
          <p:cNvGrpSpPr/>
          <p:nvPr/>
        </p:nvGrpSpPr>
        <p:grpSpPr>
          <a:xfrm>
            <a:off x="3251520" y="2987280"/>
            <a:ext cx="2446920" cy="3479400"/>
            <a:chOff x="3251520" y="2987280"/>
            <a:chExt cx="2446920" cy="3479400"/>
          </a:xfrm>
        </p:grpSpPr>
        <p:sp>
          <p:nvSpPr>
            <p:cNvPr id="356" name="Line 8"/>
            <p:cNvSpPr/>
            <p:nvPr/>
          </p:nvSpPr>
          <p:spPr>
            <a:xfrm flipV="1">
              <a:off x="3680640" y="3634560"/>
              <a:ext cx="360" cy="2448000"/>
            </a:xfrm>
            <a:prstGeom prst="line">
              <a:avLst/>
            </a:prstGeom>
            <a:ln w="38100">
              <a:solidFill>
                <a:srgbClr val="000000"/>
              </a:solidFill>
              <a:round/>
              <a:tailEnd len="lg" type="triangle" w="lg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57" name="Line 9"/>
            <p:cNvSpPr/>
            <p:nvPr/>
          </p:nvSpPr>
          <p:spPr>
            <a:xfrm flipV="1">
              <a:off x="3680640" y="5001480"/>
              <a:ext cx="2017800" cy="1079640"/>
            </a:xfrm>
            <a:prstGeom prst="line">
              <a:avLst/>
            </a:prstGeom>
            <a:ln w="381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58" name="Freeform 10"/>
            <p:cNvSpPr/>
            <p:nvPr/>
          </p:nvSpPr>
          <p:spPr>
            <a:xfrm>
              <a:off x="3680640" y="5314320"/>
              <a:ext cx="649080" cy="407520"/>
            </a:xfrm>
            <a:custGeom>
              <a:avLst/>
              <a:gdLst>
                <a:gd name="textAreaLeft" fmla="*/ 0 w 649080"/>
                <a:gd name="textAreaRight" fmla="*/ 649440 w 649080"/>
                <a:gd name="textAreaTop" fmla="*/ 0 h 407520"/>
                <a:gd name="textAreaBottom" fmla="*/ 407880 h 407520"/>
              </a:gdLst>
              <a:ahLst/>
              <a:rect l="textAreaLeft" t="textAreaTop" r="textAreaRight" b="textAreaBottom"/>
              <a:pathLst>
                <a:path w="409" h="257">
                  <a:moveTo>
                    <a:pt x="0" y="76"/>
                  </a:moveTo>
                  <a:cubicBezTo>
                    <a:pt x="79" y="38"/>
                    <a:pt x="159" y="0"/>
                    <a:pt x="227" y="30"/>
                  </a:cubicBezTo>
                  <a:cubicBezTo>
                    <a:pt x="295" y="60"/>
                    <a:pt x="352" y="158"/>
                    <a:pt x="409" y="257"/>
                  </a:cubicBezTo>
                </a:path>
              </a:pathLst>
            </a:custGeom>
            <a:noFill/>
            <a:ln w="381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59" name="Text Box 11"/>
            <p:cNvSpPr/>
            <p:nvPr/>
          </p:nvSpPr>
          <p:spPr>
            <a:xfrm>
              <a:off x="3684240" y="5506560"/>
              <a:ext cx="450720" cy="33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GB" sz="1600" spc="-1" strike="noStrike">
                  <a:solidFill>
                    <a:srgbClr val="000000"/>
                  </a:solidFill>
                  <a:latin typeface="Calibri"/>
                </a:rPr>
                <a:t>60˚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0" name="Text Box 12"/>
            <p:cNvSpPr/>
            <p:nvPr/>
          </p:nvSpPr>
          <p:spPr>
            <a:xfrm>
              <a:off x="3467880" y="2987280"/>
              <a:ext cx="443160" cy="57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GB" sz="3200" spc="-1" strike="noStrike">
                  <a:solidFill>
                    <a:srgbClr val="000000"/>
                  </a:solidFill>
                  <a:latin typeface="Calibri"/>
                </a:rPr>
                <a:t>N</a:t>
              </a:r>
              <a:endParaRPr b="0" lang="en-US" sz="3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1" name="Text Box 13"/>
            <p:cNvSpPr/>
            <p:nvPr/>
          </p:nvSpPr>
          <p:spPr>
            <a:xfrm>
              <a:off x="5051520" y="4644720"/>
              <a:ext cx="3564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GB" sz="2400" spc="-1" strike="noStrike">
                  <a:solidFill>
                    <a:srgbClr val="000000"/>
                  </a:solidFill>
                  <a:latin typeface="Calibri"/>
                </a:rPr>
                <a:t>A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2" name="Text Box 14"/>
            <p:cNvSpPr/>
            <p:nvPr/>
          </p:nvSpPr>
          <p:spPr>
            <a:xfrm>
              <a:off x="3251520" y="6011280"/>
              <a:ext cx="345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0" lang="en-GB" sz="2400" spc="-1" strike="noStrike">
                  <a:solidFill>
                    <a:srgbClr val="000000"/>
                  </a:solidFill>
                  <a:latin typeface="Calibri"/>
                </a:rPr>
                <a:t>B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3" name="Group 20"/>
          <p:cNvGrpSpPr/>
          <p:nvPr/>
        </p:nvGrpSpPr>
        <p:grpSpPr>
          <a:xfrm>
            <a:off x="5265000" y="2628360"/>
            <a:ext cx="947520" cy="2974680"/>
            <a:chOff x="5265000" y="2628360"/>
            <a:chExt cx="947520" cy="2974680"/>
          </a:xfrm>
        </p:grpSpPr>
        <p:sp>
          <p:nvSpPr>
            <p:cNvPr id="364" name="Line 18"/>
            <p:cNvSpPr/>
            <p:nvPr/>
          </p:nvSpPr>
          <p:spPr>
            <a:xfrm flipV="1">
              <a:off x="5696640" y="2628360"/>
              <a:ext cx="360" cy="2374920"/>
            </a:xfrm>
            <a:prstGeom prst="line">
              <a:avLst/>
            </a:prstGeom>
            <a:ln w="38100">
              <a:solidFill>
                <a:srgbClr val="000000"/>
              </a:solidFill>
              <a:round/>
              <a:tailEnd len="lg" type="triangle" w="lg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4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65" name="Freeform 19"/>
            <p:cNvSpPr/>
            <p:nvPr/>
          </p:nvSpPr>
          <p:spPr>
            <a:xfrm>
              <a:off x="5265000" y="4571640"/>
              <a:ext cx="947520" cy="1031400"/>
            </a:xfrm>
            <a:custGeom>
              <a:avLst/>
              <a:gdLst>
                <a:gd name="textAreaLeft" fmla="*/ 0 w 947520"/>
                <a:gd name="textAreaRight" fmla="*/ 947880 w 947520"/>
                <a:gd name="textAreaTop" fmla="*/ 0 h 1031400"/>
                <a:gd name="textAreaBottom" fmla="*/ 1031760 h 1031400"/>
              </a:gdLst>
              <a:ahLst/>
              <a:rect l="textAreaLeft" t="textAreaTop" r="textAreaRight" b="textAreaBottom"/>
              <a:pathLst>
                <a:path w="597" h="650">
                  <a:moveTo>
                    <a:pt x="272" y="0"/>
                  </a:moveTo>
                  <a:cubicBezTo>
                    <a:pt x="427" y="106"/>
                    <a:pt x="583" y="212"/>
                    <a:pt x="590" y="318"/>
                  </a:cubicBezTo>
                  <a:cubicBezTo>
                    <a:pt x="597" y="424"/>
                    <a:pt x="415" y="620"/>
                    <a:pt x="317" y="635"/>
                  </a:cubicBezTo>
                  <a:cubicBezTo>
                    <a:pt x="219" y="650"/>
                    <a:pt x="109" y="529"/>
                    <a:pt x="0" y="408"/>
                  </a:cubicBezTo>
                </a:path>
              </a:pathLst>
            </a:custGeom>
            <a:noFill/>
            <a:ln w="381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4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sp>
        <p:nvSpPr>
          <p:cNvPr id="366" name="Text Box 21"/>
          <p:cNvSpPr/>
          <p:nvPr/>
        </p:nvSpPr>
        <p:spPr>
          <a:xfrm>
            <a:off x="7281360" y="3131640"/>
            <a:ext cx="304452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The bearing of B from A is 240˚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Can you explain why?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Rectangle 57"/>
          <p:cNvSpPr/>
          <p:nvPr/>
        </p:nvSpPr>
        <p:spPr>
          <a:xfrm>
            <a:off x="7257600" y="2613600"/>
            <a:ext cx="3049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The bearing of A from B is 060˚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11" dur="500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BACK BEARINGS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± 180° Rule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39"/>
          <p:cNvSpPr/>
          <p:nvPr/>
        </p:nvSpPr>
        <p:spPr>
          <a:xfrm>
            <a:off x="567000" y="129852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 40"/>
          <p:cNvSpPr/>
          <p:nvPr/>
        </p:nvSpPr>
        <p:spPr>
          <a:xfrm>
            <a:off x="887040" y="129852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The bearing of A from B and the bearing of B from A always differ by 180°.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This is because the North lines are parallel.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41"/>
          <p:cNvSpPr/>
          <p:nvPr/>
        </p:nvSpPr>
        <p:spPr>
          <a:xfrm>
            <a:off x="567000" y="2148840"/>
            <a:ext cx="5440320" cy="3108600"/>
          </a:xfrm>
          <a:prstGeom prst="roundRect">
            <a:avLst>
              <a:gd name="adj" fmla="val 176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 42"/>
          <p:cNvSpPr/>
          <p:nvPr/>
        </p:nvSpPr>
        <p:spPr>
          <a:xfrm>
            <a:off x="932760" y="2386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If the bearing is LESS than 180°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 43"/>
          <p:cNvSpPr/>
          <p:nvPr/>
        </p:nvSpPr>
        <p:spPr>
          <a:xfrm>
            <a:off x="914400" y="2926080"/>
            <a:ext cx="47545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1" lang="en-US" sz="2200" spc="-1" strike="noStrike">
                <a:solidFill>
                  <a:srgbClr val="c84f2f"/>
                </a:solidFill>
                <a:latin typeface="Cambria"/>
                <a:ea typeface="Cambria"/>
              </a:rPr>
              <a:t>ADD 180°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e.g. bearing of A from B = 060°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→ </a:t>
            </a: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bearing of B from A = 060 + 180 =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240°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44"/>
          <p:cNvSpPr/>
          <p:nvPr/>
        </p:nvSpPr>
        <p:spPr>
          <a:xfrm>
            <a:off x="6190560" y="2148840"/>
            <a:ext cx="5440320" cy="3108600"/>
          </a:xfrm>
          <a:prstGeom prst="roundRect">
            <a:avLst>
              <a:gd name="adj" fmla="val 1765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 45"/>
          <p:cNvSpPr/>
          <p:nvPr/>
        </p:nvSpPr>
        <p:spPr>
          <a:xfrm>
            <a:off x="6556320" y="2386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If the bearing is MORE than 180°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 46"/>
          <p:cNvSpPr/>
          <p:nvPr/>
        </p:nvSpPr>
        <p:spPr>
          <a:xfrm>
            <a:off x="6537960" y="2926080"/>
            <a:ext cx="47545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1" lang="en-US" sz="2200" spc="-1" strike="noStrike">
                <a:solidFill>
                  <a:srgbClr val="c84f2f"/>
                </a:solidFill>
                <a:latin typeface="Cambria"/>
                <a:ea typeface="Cambria"/>
              </a:rPr>
              <a:t>SUBTRACT 180°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e.g. bearing of A from B = 240°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→ </a:t>
            </a: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bearing of B from A = 240 − 180 =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060°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 47"/>
          <p:cNvSpPr/>
          <p:nvPr/>
        </p:nvSpPr>
        <p:spPr>
          <a:xfrm>
            <a:off x="567000" y="54406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Answers must stay between 000° and 360° — that is why you add OR subtract.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48"/>
          <p:cNvSpPr/>
          <p:nvPr/>
        </p:nvSpPr>
        <p:spPr>
          <a:xfrm>
            <a:off x="567000" y="5852160"/>
            <a:ext cx="11063880" cy="77688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Text 49"/>
          <p:cNvSpPr/>
          <p:nvPr/>
        </p:nvSpPr>
        <p:spPr>
          <a:xfrm>
            <a:off x="841320" y="5852160"/>
            <a:ext cx="10515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Back bearing = original ± 180°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 37"/>
          <p:cNvSpPr/>
          <p:nvPr/>
        </p:nvSpPr>
        <p:spPr>
          <a:xfrm>
            <a:off x="1286640" y="11160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TASK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 38"/>
          <p:cNvSpPr/>
          <p:nvPr/>
        </p:nvSpPr>
        <p:spPr>
          <a:xfrm>
            <a:off x="1286640" y="3294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 the Bearing of B from A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39"/>
          <p:cNvSpPr/>
          <p:nvPr/>
        </p:nvSpPr>
        <p:spPr>
          <a:xfrm>
            <a:off x="1814400" y="969120"/>
            <a:ext cx="9222120" cy="5478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40"/>
          <p:cNvSpPr/>
          <p:nvPr/>
        </p:nvSpPr>
        <p:spPr>
          <a:xfrm>
            <a:off x="516240" y="6419160"/>
            <a:ext cx="11063880" cy="32076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Text 41"/>
          <p:cNvSpPr/>
          <p:nvPr/>
        </p:nvSpPr>
        <p:spPr>
          <a:xfrm>
            <a:off x="887040" y="627768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Nine to try. North line at A each time, then measure clockwise.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 Placeholder 2"/>
          <p:cNvSpPr/>
          <p:nvPr/>
        </p:nvSpPr>
        <p:spPr>
          <a:xfrm>
            <a:off x="1835280" y="896400"/>
            <a:ext cx="9143640" cy="55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Calibri"/>
              </a:rPr>
              <a:t>Task: Find the bearing of B from 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 Box 9"/>
          <p:cNvSpPr/>
          <p:nvPr/>
        </p:nvSpPr>
        <p:spPr>
          <a:xfrm>
            <a:off x="2036880" y="1616040"/>
            <a:ext cx="7062480" cy="47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/>
            </a:pP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                    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2)                      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3)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 startAt="4"/>
              <a:tabLst>
                <a:tab algn="l" pos="0"/>
              </a:tabLst>
            </a:pP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                    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5)                      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6)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              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7)                   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 8)                     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GB" sz="2800" spc="-1" strike="noStrike">
                <a:solidFill>
                  <a:srgbClr val="000000"/>
                </a:solidFill>
                <a:latin typeface="Calibri"/>
              </a:rPr>
              <a:t> 9)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Line 6"/>
          <p:cNvSpPr/>
          <p:nvPr/>
        </p:nvSpPr>
        <p:spPr>
          <a:xfrm flipV="1">
            <a:off x="3527280" y="1615680"/>
            <a:ext cx="360" cy="129564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3" name="Line 7"/>
          <p:cNvSpPr/>
          <p:nvPr/>
        </p:nvSpPr>
        <p:spPr>
          <a:xfrm flipV="1">
            <a:off x="3527280" y="2408040"/>
            <a:ext cx="1079640" cy="50328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4" name="Text Box 8"/>
          <p:cNvSpPr/>
          <p:nvPr/>
        </p:nvSpPr>
        <p:spPr>
          <a:xfrm>
            <a:off x="1814400" y="1677960"/>
            <a:ext cx="18396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5" name="Line 11"/>
          <p:cNvSpPr/>
          <p:nvPr/>
        </p:nvSpPr>
        <p:spPr>
          <a:xfrm flipV="1">
            <a:off x="4174920" y="4856040"/>
            <a:ext cx="360" cy="129528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6" name="Line 12"/>
          <p:cNvSpPr/>
          <p:nvPr/>
        </p:nvSpPr>
        <p:spPr>
          <a:xfrm flipH="1" flipV="1">
            <a:off x="3454200" y="5216400"/>
            <a:ext cx="719280" cy="93348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7" name="Line 13"/>
          <p:cNvSpPr/>
          <p:nvPr/>
        </p:nvSpPr>
        <p:spPr>
          <a:xfrm flipV="1">
            <a:off x="9072360" y="1255320"/>
            <a:ext cx="360" cy="107964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8" name="Line 14"/>
          <p:cNvSpPr/>
          <p:nvPr/>
        </p:nvSpPr>
        <p:spPr>
          <a:xfrm flipV="1">
            <a:off x="9072360" y="1903320"/>
            <a:ext cx="863640" cy="43164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9" name="Line 15"/>
          <p:cNvSpPr/>
          <p:nvPr/>
        </p:nvSpPr>
        <p:spPr>
          <a:xfrm flipV="1">
            <a:off x="9144000" y="4782960"/>
            <a:ext cx="360" cy="57636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0" name="Line 16"/>
          <p:cNvSpPr/>
          <p:nvPr/>
        </p:nvSpPr>
        <p:spPr>
          <a:xfrm flipH="1">
            <a:off x="8640720" y="5359320"/>
            <a:ext cx="503280" cy="86328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1" name="Line 17"/>
          <p:cNvSpPr/>
          <p:nvPr/>
        </p:nvSpPr>
        <p:spPr>
          <a:xfrm flipV="1">
            <a:off x="6840360" y="3200040"/>
            <a:ext cx="360" cy="129564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2" name="Line 18"/>
          <p:cNvSpPr/>
          <p:nvPr/>
        </p:nvSpPr>
        <p:spPr>
          <a:xfrm flipH="1">
            <a:off x="5614920" y="4495680"/>
            <a:ext cx="1224000" cy="36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3" name="Freeform 27"/>
          <p:cNvSpPr/>
          <p:nvPr/>
        </p:nvSpPr>
        <p:spPr>
          <a:xfrm>
            <a:off x="3527280" y="2335320"/>
            <a:ext cx="504360" cy="360000"/>
          </a:xfrm>
          <a:custGeom>
            <a:avLst/>
            <a:gdLst>
              <a:gd name="textAreaLeft" fmla="*/ 0 w 504360"/>
              <a:gd name="textAreaRight" fmla="*/ 504720 w 504360"/>
              <a:gd name="textAreaTop" fmla="*/ 0 h 360000"/>
              <a:gd name="textAreaBottom" fmla="*/ 360360 h 360000"/>
            </a:gdLst>
            <a:ahLst/>
            <a:rect l="textAreaLeft" t="textAreaTop" r="textAreaRight" b="textAreaBottom"/>
            <a:pathLst>
              <a:path w="318" h="227">
                <a:moveTo>
                  <a:pt x="0" y="0"/>
                </a:moveTo>
                <a:cubicBezTo>
                  <a:pt x="87" y="4"/>
                  <a:pt x="174" y="8"/>
                  <a:pt x="227" y="46"/>
                </a:cubicBezTo>
                <a:cubicBezTo>
                  <a:pt x="280" y="84"/>
                  <a:pt x="299" y="155"/>
                  <a:pt x="318" y="2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4" name="Freeform 28"/>
          <p:cNvSpPr/>
          <p:nvPr/>
        </p:nvSpPr>
        <p:spPr>
          <a:xfrm>
            <a:off x="3670200" y="5251320"/>
            <a:ext cx="504360" cy="252000"/>
          </a:xfrm>
          <a:custGeom>
            <a:avLst/>
            <a:gdLst>
              <a:gd name="textAreaLeft" fmla="*/ 0 w 504360"/>
              <a:gd name="textAreaRight" fmla="*/ 504720 w 504360"/>
              <a:gd name="textAreaTop" fmla="*/ 0 h 252000"/>
              <a:gd name="textAreaBottom" fmla="*/ 252360 h 252000"/>
            </a:gdLst>
            <a:ahLst/>
            <a:rect l="textAreaLeft" t="textAreaTop" r="textAreaRight" b="textAreaBottom"/>
            <a:pathLst>
              <a:path w="318" h="159">
                <a:moveTo>
                  <a:pt x="318" y="23"/>
                </a:moveTo>
                <a:cubicBezTo>
                  <a:pt x="253" y="11"/>
                  <a:pt x="189" y="0"/>
                  <a:pt x="136" y="23"/>
                </a:cubicBezTo>
                <a:cubicBezTo>
                  <a:pt x="83" y="46"/>
                  <a:pt x="41" y="102"/>
                  <a:pt x="0" y="159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5" name="Line 29"/>
          <p:cNvSpPr/>
          <p:nvPr/>
        </p:nvSpPr>
        <p:spPr>
          <a:xfrm flipV="1">
            <a:off x="9072360" y="2263680"/>
            <a:ext cx="360" cy="720720"/>
          </a:xfrm>
          <a:prstGeom prst="line">
            <a:avLst/>
          </a:prstGeom>
          <a:ln w="9525">
            <a:solidFill>
              <a:srgbClr val="0000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6" name="Line 30"/>
          <p:cNvSpPr/>
          <p:nvPr/>
        </p:nvSpPr>
        <p:spPr>
          <a:xfrm>
            <a:off x="9144000" y="5359320"/>
            <a:ext cx="360" cy="863280"/>
          </a:xfrm>
          <a:prstGeom prst="line">
            <a:avLst/>
          </a:prstGeom>
          <a:ln w="9525">
            <a:solidFill>
              <a:srgbClr val="0000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7" name="Freeform 31"/>
          <p:cNvSpPr/>
          <p:nvPr/>
        </p:nvSpPr>
        <p:spPr>
          <a:xfrm rot="6168600">
            <a:off x="8993160" y="2170080"/>
            <a:ext cx="734760" cy="433080"/>
          </a:xfrm>
          <a:custGeom>
            <a:avLst/>
            <a:gdLst>
              <a:gd name="textAreaLeft" fmla="*/ 0 w 734760"/>
              <a:gd name="textAreaRight" fmla="*/ 735120 w 734760"/>
              <a:gd name="textAreaTop" fmla="*/ 0 h 433080"/>
              <a:gd name="textAreaBottom" fmla="*/ 433440 h 433080"/>
            </a:gdLst>
            <a:ahLst/>
            <a:rect l="textAreaLeft" t="textAreaTop" r="textAreaRight" b="textAreaBottom"/>
            <a:pathLst>
              <a:path w="317" h="181">
                <a:moveTo>
                  <a:pt x="0" y="0"/>
                </a:moveTo>
                <a:cubicBezTo>
                  <a:pt x="87" y="7"/>
                  <a:pt x="174" y="15"/>
                  <a:pt x="227" y="45"/>
                </a:cubicBezTo>
                <a:cubicBezTo>
                  <a:pt x="280" y="75"/>
                  <a:pt x="298" y="128"/>
                  <a:pt x="317" y="181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8" name="Freeform 32"/>
          <p:cNvSpPr/>
          <p:nvPr/>
        </p:nvSpPr>
        <p:spPr>
          <a:xfrm>
            <a:off x="8783640" y="6006960"/>
            <a:ext cx="360000" cy="226800"/>
          </a:xfrm>
          <a:custGeom>
            <a:avLst/>
            <a:gdLst>
              <a:gd name="textAreaLeft" fmla="*/ 0 w 360000"/>
              <a:gd name="textAreaRight" fmla="*/ 360360 w 360000"/>
              <a:gd name="textAreaTop" fmla="*/ 0 h 226800"/>
              <a:gd name="textAreaBottom" fmla="*/ 227160 h 226800"/>
            </a:gdLst>
            <a:ahLst/>
            <a:rect l="textAreaLeft" t="textAreaTop" r="textAreaRight" b="textAreaBottom"/>
            <a:pathLst>
              <a:path w="272" h="143">
                <a:moveTo>
                  <a:pt x="0" y="0"/>
                </a:moveTo>
                <a:cubicBezTo>
                  <a:pt x="45" y="64"/>
                  <a:pt x="91" y="129"/>
                  <a:pt x="136" y="136"/>
                </a:cubicBezTo>
                <a:cubicBezTo>
                  <a:pt x="181" y="143"/>
                  <a:pt x="226" y="94"/>
                  <a:pt x="272" y="45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9" name="Rectangle 33"/>
          <p:cNvSpPr/>
          <p:nvPr/>
        </p:nvSpPr>
        <p:spPr>
          <a:xfrm>
            <a:off x="6696000" y="4351320"/>
            <a:ext cx="144000" cy="14400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0" name="Line 34"/>
          <p:cNvSpPr/>
          <p:nvPr/>
        </p:nvSpPr>
        <p:spPr>
          <a:xfrm flipV="1">
            <a:off x="9072360" y="3200040"/>
            <a:ext cx="360" cy="129564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1" name="Line 35"/>
          <p:cNvSpPr/>
          <p:nvPr/>
        </p:nvSpPr>
        <p:spPr>
          <a:xfrm flipV="1">
            <a:off x="9072360" y="3992400"/>
            <a:ext cx="1079640" cy="50328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2" name="Freeform 36"/>
          <p:cNvSpPr/>
          <p:nvPr/>
        </p:nvSpPr>
        <p:spPr>
          <a:xfrm>
            <a:off x="9072720" y="3919320"/>
            <a:ext cx="504360" cy="360000"/>
          </a:xfrm>
          <a:custGeom>
            <a:avLst/>
            <a:gdLst>
              <a:gd name="textAreaLeft" fmla="*/ 0 w 504360"/>
              <a:gd name="textAreaRight" fmla="*/ 504720 w 504360"/>
              <a:gd name="textAreaTop" fmla="*/ 0 h 360000"/>
              <a:gd name="textAreaBottom" fmla="*/ 360360 h 360000"/>
            </a:gdLst>
            <a:ahLst/>
            <a:rect l="textAreaLeft" t="textAreaTop" r="textAreaRight" b="textAreaBottom"/>
            <a:pathLst>
              <a:path w="318" h="227">
                <a:moveTo>
                  <a:pt x="0" y="0"/>
                </a:moveTo>
                <a:cubicBezTo>
                  <a:pt x="87" y="4"/>
                  <a:pt x="174" y="8"/>
                  <a:pt x="227" y="46"/>
                </a:cubicBezTo>
                <a:cubicBezTo>
                  <a:pt x="280" y="84"/>
                  <a:pt x="299" y="155"/>
                  <a:pt x="318" y="2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3" name="Line 37"/>
          <p:cNvSpPr/>
          <p:nvPr/>
        </p:nvSpPr>
        <p:spPr>
          <a:xfrm flipV="1">
            <a:off x="6840360" y="1400040"/>
            <a:ext cx="360" cy="129528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4" name="Line 38"/>
          <p:cNvSpPr/>
          <p:nvPr/>
        </p:nvSpPr>
        <p:spPr>
          <a:xfrm flipH="1" flipV="1">
            <a:off x="6119640" y="1760400"/>
            <a:ext cx="719280" cy="93348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5" name="Freeform 39"/>
          <p:cNvSpPr/>
          <p:nvPr/>
        </p:nvSpPr>
        <p:spPr>
          <a:xfrm>
            <a:off x="6335640" y="1795320"/>
            <a:ext cx="504360" cy="252000"/>
          </a:xfrm>
          <a:custGeom>
            <a:avLst/>
            <a:gdLst>
              <a:gd name="textAreaLeft" fmla="*/ 0 w 504360"/>
              <a:gd name="textAreaRight" fmla="*/ 504720 w 504360"/>
              <a:gd name="textAreaTop" fmla="*/ 0 h 252000"/>
              <a:gd name="textAreaBottom" fmla="*/ 252360 h 252000"/>
            </a:gdLst>
            <a:ahLst/>
            <a:rect l="textAreaLeft" t="textAreaTop" r="textAreaRight" b="textAreaBottom"/>
            <a:pathLst>
              <a:path w="318" h="159">
                <a:moveTo>
                  <a:pt x="318" y="23"/>
                </a:moveTo>
                <a:cubicBezTo>
                  <a:pt x="253" y="11"/>
                  <a:pt x="189" y="0"/>
                  <a:pt x="136" y="23"/>
                </a:cubicBezTo>
                <a:cubicBezTo>
                  <a:pt x="83" y="46"/>
                  <a:pt x="41" y="102"/>
                  <a:pt x="0" y="159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6" name="Line 40"/>
          <p:cNvSpPr/>
          <p:nvPr/>
        </p:nvSpPr>
        <p:spPr>
          <a:xfrm flipV="1">
            <a:off x="6048360" y="4784400"/>
            <a:ext cx="360" cy="107964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7" name="Line 41"/>
          <p:cNvSpPr/>
          <p:nvPr/>
        </p:nvSpPr>
        <p:spPr>
          <a:xfrm flipV="1">
            <a:off x="6048360" y="5432040"/>
            <a:ext cx="863280" cy="43200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8" name="Line 42"/>
          <p:cNvSpPr/>
          <p:nvPr/>
        </p:nvSpPr>
        <p:spPr>
          <a:xfrm flipV="1">
            <a:off x="6048360" y="5792400"/>
            <a:ext cx="360" cy="720720"/>
          </a:xfrm>
          <a:prstGeom prst="line">
            <a:avLst/>
          </a:prstGeom>
          <a:ln w="9525">
            <a:solidFill>
              <a:srgbClr val="0000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9" name="Line 48"/>
          <p:cNvSpPr/>
          <p:nvPr/>
        </p:nvSpPr>
        <p:spPr>
          <a:xfrm flipV="1">
            <a:off x="4032000" y="2984400"/>
            <a:ext cx="360" cy="57600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0" name="Line 49"/>
          <p:cNvSpPr/>
          <p:nvPr/>
        </p:nvSpPr>
        <p:spPr>
          <a:xfrm flipH="1">
            <a:off x="3528720" y="3560400"/>
            <a:ext cx="503280" cy="86364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1" name="Line 50"/>
          <p:cNvSpPr/>
          <p:nvPr/>
        </p:nvSpPr>
        <p:spPr>
          <a:xfrm>
            <a:off x="4032000" y="3560400"/>
            <a:ext cx="360" cy="863640"/>
          </a:xfrm>
          <a:prstGeom prst="line">
            <a:avLst/>
          </a:prstGeom>
          <a:ln w="9525">
            <a:solidFill>
              <a:srgbClr val="00000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2" name="Freeform 51"/>
          <p:cNvSpPr/>
          <p:nvPr/>
        </p:nvSpPr>
        <p:spPr>
          <a:xfrm>
            <a:off x="3672000" y="4208400"/>
            <a:ext cx="360000" cy="226800"/>
          </a:xfrm>
          <a:custGeom>
            <a:avLst/>
            <a:gdLst>
              <a:gd name="textAreaLeft" fmla="*/ 0 w 360000"/>
              <a:gd name="textAreaRight" fmla="*/ 360360 w 360000"/>
              <a:gd name="textAreaTop" fmla="*/ 0 h 226800"/>
              <a:gd name="textAreaBottom" fmla="*/ 227160 h 226800"/>
            </a:gdLst>
            <a:ahLst/>
            <a:rect l="textAreaLeft" t="textAreaTop" r="textAreaRight" b="textAreaBottom"/>
            <a:pathLst>
              <a:path w="272" h="143">
                <a:moveTo>
                  <a:pt x="0" y="0"/>
                </a:moveTo>
                <a:cubicBezTo>
                  <a:pt x="45" y="64"/>
                  <a:pt x="91" y="129"/>
                  <a:pt x="136" y="136"/>
                </a:cubicBezTo>
                <a:cubicBezTo>
                  <a:pt x="181" y="143"/>
                  <a:pt x="226" y="94"/>
                  <a:pt x="272" y="45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3" name="Text Box 52"/>
          <p:cNvSpPr/>
          <p:nvPr/>
        </p:nvSpPr>
        <p:spPr>
          <a:xfrm>
            <a:off x="4609440" y="2192400"/>
            <a:ext cx="277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 Box 53"/>
          <p:cNvSpPr/>
          <p:nvPr/>
        </p:nvSpPr>
        <p:spPr>
          <a:xfrm>
            <a:off x="6842880" y="4351320"/>
            <a:ext cx="28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 Box 54"/>
          <p:cNvSpPr/>
          <p:nvPr/>
        </p:nvSpPr>
        <p:spPr>
          <a:xfrm>
            <a:off x="4034880" y="3416400"/>
            <a:ext cx="28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 Box 55"/>
          <p:cNvSpPr/>
          <p:nvPr/>
        </p:nvSpPr>
        <p:spPr>
          <a:xfrm>
            <a:off x="8714880" y="2192400"/>
            <a:ext cx="28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Text Box 56"/>
          <p:cNvSpPr/>
          <p:nvPr/>
        </p:nvSpPr>
        <p:spPr>
          <a:xfrm>
            <a:off x="6842880" y="2550960"/>
            <a:ext cx="28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 Box 57"/>
          <p:cNvSpPr/>
          <p:nvPr/>
        </p:nvSpPr>
        <p:spPr>
          <a:xfrm>
            <a:off x="3169440" y="2768400"/>
            <a:ext cx="28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 Box 58"/>
          <p:cNvSpPr/>
          <p:nvPr/>
        </p:nvSpPr>
        <p:spPr>
          <a:xfrm>
            <a:off x="8282880" y="6080040"/>
            <a:ext cx="28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 Box 59"/>
          <p:cNvSpPr/>
          <p:nvPr/>
        </p:nvSpPr>
        <p:spPr>
          <a:xfrm>
            <a:off x="6914520" y="5143320"/>
            <a:ext cx="28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 Box 60"/>
          <p:cNvSpPr/>
          <p:nvPr/>
        </p:nvSpPr>
        <p:spPr>
          <a:xfrm>
            <a:off x="3169440" y="5000400"/>
            <a:ext cx="28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 Box 61"/>
          <p:cNvSpPr/>
          <p:nvPr/>
        </p:nvSpPr>
        <p:spPr>
          <a:xfrm>
            <a:off x="10154520" y="3776760"/>
            <a:ext cx="28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Text Box 62"/>
          <p:cNvSpPr/>
          <p:nvPr/>
        </p:nvSpPr>
        <p:spPr>
          <a:xfrm>
            <a:off x="9146520" y="5288040"/>
            <a:ext cx="277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Text Box 63"/>
          <p:cNvSpPr/>
          <p:nvPr/>
        </p:nvSpPr>
        <p:spPr>
          <a:xfrm>
            <a:off x="5761800" y="5792760"/>
            <a:ext cx="277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Text Box 64"/>
          <p:cNvSpPr/>
          <p:nvPr/>
        </p:nvSpPr>
        <p:spPr>
          <a:xfrm>
            <a:off x="4106160" y="6151680"/>
            <a:ext cx="277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 Box 65"/>
          <p:cNvSpPr/>
          <p:nvPr/>
        </p:nvSpPr>
        <p:spPr>
          <a:xfrm>
            <a:off x="8714880" y="4351320"/>
            <a:ext cx="277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 Box 66"/>
          <p:cNvSpPr/>
          <p:nvPr/>
        </p:nvSpPr>
        <p:spPr>
          <a:xfrm>
            <a:off x="5258880" y="4279680"/>
            <a:ext cx="277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 Box 67"/>
          <p:cNvSpPr/>
          <p:nvPr/>
        </p:nvSpPr>
        <p:spPr>
          <a:xfrm>
            <a:off x="3242520" y="4279680"/>
            <a:ext cx="277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 Box 68"/>
          <p:cNvSpPr/>
          <p:nvPr/>
        </p:nvSpPr>
        <p:spPr>
          <a:xfrm>
            <a:off x="9938520" y="1760400"/>
            <a:ext cx="277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 Box 69"/>
          <p:cNvSpPr/>
          <p:nvPr/>
        </p:nvSpPr>
        <p:spPr>
          <a:xfrm>
            <a:off x="5977800" y="1542960"/>
            <a:ext cx="277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B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 Box 70"/>
          <p:cNvSpPr/>
          <p:nvPr/>
        </p:nvSpPr>
        <p:spPr>
          <a:xfrm>
            <a:off x="3530160" y="2408040"/>
            <a:ext cx="41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68˚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 Box 71"/>
          <p:cNvSpPr/>
          <p:nvPr/>
        </p:nvSpPr>
        <p:spPr>
          <a:xfrm>
            <a:off x="6410160" y="1976400"/>
            <a:ext cx="41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32˚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 Box 73"/>
          <p:cNvSpPr/>
          <p:nvPr/>
        </p:nvSpPr>
        <p:spPr>
          <a:xfrm>
            <a:off x="9003240" y="2263680"/>
            <a:ext cx="50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117˚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 Box 74"/>
          <p:cNvSpPr/>
          <p:nvPr/>
        </p:nvSpPr>
        <p:spPr>
          <a:xfrm>
            <a:off x="3674880" y="4064040"/>
            <a:ext cx="41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41˚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 Box 75"/>
          <p:cNvSpPr/>
          <p:nvPr/>
        </p:nvSpPr>
        <p:spPr>
          <a:xfrm>
            <a:off x="9075600" y="3992400"/>
            <a:ext cx="41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68˚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 Box 76"/>
          <p:cNvSpPr/>
          <p:nvPr/>
        </p:nvSpPr>
        <p:spPr>
          <a:xfrm>
            <a:off x="3746160" y="5359320"/>
            <a:ext cx="41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32˚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 Box 77"/>
          <p:cNvSpPr/>
          <p:nvPr/>
        </p:nvSpPr>
        <p:spPr>
          <a:xfrm>
            <a:off x="4970160" y="5935680"/>
            <a:ext cx="41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32˚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Freeform 78"/>
          <p:cNvSpPr/>
          <p:nvPr/>
        </p:nvSpPr>
        <p:spPr>
          <a:xfrm rot="6168600">
            <a:off x="5969160" y="5654520"/>
            <a:ext cx="734760" cy="433080"/>
          </a:xfrm>
          <a:custGeom>
            <a:avLst/>
            <a:gdLst>
              <a:gd name="textAreaLeft" fmla="*/ 0 w 734760"/>
              <a:gd name="textAreaRight" fmla="*/ 735120 w 734760"/>
              <a:gd name="textAreaTop" fmla="*/ 0 h 433080"/>
              <a:gd name="textAreaBottom" fmla="*/ 433440 h 433080"/>
            </a:gdLst>
            <a:ahLst/>
            <a:rect l="textAreaLeft" t="textAreaTop" r="textAreaRight" b="textAreaBottom"/>
            <a:pathLst>
              <a:path w="317" h="181">
                <a:moveTo>
                  <a:pt x="0" y="0"/>
                </a:moveTo>
                <a:cubicBezTo>
                  <a:pt x="87" y="7"/>
                  <a:pt x="174" y="15"/>
                  <a:pt x="227" y="45"/>
                </a:cubicBezTo>
                <a:cubicBezTo>
                  <a:pt x="280" y="75"/>
                  <a:pt x="298" y="128"/>
                  <a:pt x="317" y="181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GB" sz="1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9" name="Text Box 79"/>
          <p:cNvSpPr/>
          <p:nvPr/>
        </p:nvSpPr>
        <p:spPr>
          <a:xfrm>
            <a:off x="6051960" y="5792760"/>
            <a:ext cx="50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117˚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 Box 80"/>
          <p:cNvSpPr/>
          <p:nvPr/>
        </p:nvSpPr>
        <p:spPr>
          <a:xfrm>
            <a:off x="8786520" y="5792760"/>
            <a:ext cx="41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alibri"/>
              </a:rPr>
              <a:t>41˚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 Box 81"/>
          <p:cNvSpPr/>
          <p:nvPr/>
        </p:nvSpPr>
        <p:spPr>
          <a:xfrm>
            <a:off x="3881520" y="1760760"/>
            <a:ext cx="649080" cy="39456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068˚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 Box 82"/>
          <p:cNvSpPr/>
          <p:nvPr/>
        </p:nvSpPr>
        <p:spPr>
          <a:xfrm>
            <a:off x="5762160" y="2265120"/>
            <a:ext cx="649080" cy="39456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328˚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Text Box 83"/>
          <p:cNvSpPr/>
          <p:nvPr/>
        </p:nvSpPr>
        <p:spPr>
          <a:xfrm>
            <a:off x="9786960" y="2408760"/>
            <a:ext cx="649080" cy="39456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063˚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 Box 84"/>
          <p:cNvSpPr/>
          <p:nvPr/>
        </p:nvSpPr>
        <p:spPr>
          <a:xfrm>
            <a:off x="3162240" y="3416760"/>
            <a:ext cx="649080" cy="39456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221˚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 Box 85"/>
          <p:cNvSpPr/>
          <p:nvPr/>
        </p:nvSpPr>
        <p:spPr>
          <a:xfrm>
            <a:off x="5970600" y="3705480"/>
            <a:ext cx="649080" cy="39456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270˚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 Box 86"/>
          <p:cNvSpPr/>
          <p:nvPr/>
        </p:nvSpPr>
        <p:spPr>
          <a:xfrm>
            <a:off x="9930960" y="4241160"/>
            <a:ext cx="649080" cy="39456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248˚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 Box 87"/>
          <p:cNvSpPr/>
          <p:nvPr/>
        </p:nvSpPr>
        <p:spPr>
          <a:xfrm>
            <a:off x="3089160" y="5793120"/>
            <a:ext cx="649080" cy="39456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148˚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 Box 88"/>
          <p:cNvSpPr/>
          <p:nvPr/>
        </p:nvSpPr>
        <p:spPr>
          <a:xfrm>
            <a:off x="6834240" y="5648760"/>
            <a:ext cx="649080" cy="39456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248˚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 Box 89"/>
          <p:cNvSpPr/>
          <p:nvPr/>
        </p:nvSpPr>
        <p:spPr>
          <a:xfrm>
            <a:off x="9570960" y="5721840"/>
            <a:ext cx="649080" cy="394560"/>
          </a:xfrm>
          <a:prstGeom prst="rect">
            <a:avLst/>
          </a:prstGeom>
          <a:solidFill>
            <a:srgbClr val="ffffff"/>
          </a:solidFill>
          <a:ln>
            <a:solidFill>
              <a:srgbClr val="70ad47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2000" spc="-1" strike="noStrike">
                <a:solidFill>
                  <a:schemeClr val="dk1"/>
                </a:solidFill>
                <a:latin typeface="Calibri"/>
              </a:rPr>
              <a:t>041˚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6" dur="indefinite" restart="never" nodeType="tmRoot">
          <p:childTnLst>
            <p:seq>
              <p:cTn id="17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EXAM TECHNIQUE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Common Mistakes to Avoid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39"/>
          <p:cNvSpPr/>
          <p:nvPr/>
        </p:nvSpPr>
        <p:spPr>
          <a:xfrm>
            <a:off x="567000" y="1298520"/>
            <a:ext cx="11063880" cy="566640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Text 40"/>
          <p:cNvSpPr/>
          <p:nvPr/>
        </p:nvSpPr>
        <p:spPr>
          <a:xfrm>
            <a:off x="887040" y="129852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Most lost marks come from these four things.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41"/>
          <p:cNvSpPr/>
          <p:nvPr/>
        </p:nvSpPr>
        <p:spPr>
          <a:xfrm>
            <a:off x="567000" y="2103120"/>
            <a:ext cx="11063880" cy="712800"/>
          </a:xfrm>
          <a:prstGeom prst="roundRect">
            <a:avLst>
              <a:gd name="adj" fmla="val 7692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Text 42"/>
          <p:cNvSpPr/>
          <p:nvPr/>
        </p:nvSpPr>
        <p:spPr>
          <a:xfrm>
            <a:off x="914400" y="2103120"/>
            <a:ext cx="365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✗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 43"/>
          <p:cNvSpPr/>
          <p:nvPr/>
        </p:nvSpPr>
        <p:spPr>
          <a:xfrm>
            <a:off x="1371600" y="2103120"/>
            <a:ext cx="42058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Measuring from the wrong point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 44"/>
          <p:cNvSpPr/>
          <p:nvPr/>
        </p:nvSpPr>
        <p:spPr>
          <a:xfrm>
            <a:off x="5669280" y="2103120"/>
            <a:ext cx="57603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Read the ‘from’ carefully — that is where you stand.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45"/>
          <p:cNvSpPr/>
          <p:nvPr/>
        </p:nvSpPr>
        <p:spPr>
          <a:xfrm>
            <a:off x="567000" y="2926080"/>
            <a:ext cx="11063880" cy="712800"/>
          </a:xfrm>
          <a:prstGeom prst="roundRect">
            <a:avLst>
              <a:gd name="adj" fmla="val 7692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 46"/>
          <p:cNvSpPr/>
          <p:nvPr/>
        </p:nvSpPr>
        <p:spPr>
          <a:xfrm>
            <a:off x="914400" y="2926080"/>
            <a:ext cx="365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✗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 47"/>
          <p:cNvSpPr/>
          <p:nvPr/>
        </p:nvSpPr>
        <p:spPr>
          <a:xfrm>
            <a:off x="1371600" y="2926080"/>
            <a:ext cx="42058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Going anticlockwise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 48"/>
          <p:cNvSpPr/>
          <p:nvPr/>
        </p:nvSpPr>
        <p:spPr>
          <a:xfrm>
            <a:off x="5669280" y="2926080"/>
            <a:ext cx="57603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Bearings are ALWAYS clockwise from north.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49"/>
          <p:cNvSpPr/>
          <p:nvPr/>
        </p:nvSpPr>
        <p:spPr>
          <a:xfrm>
            <a:off x="567000" y="3749040"/>
            <a:ext cx="11063880" cy="712800"/>
          </a:xfrm>
          <a:prstGeom prst="roundRect">
            <a:avLst>
              <a:gd name="adj" fmla="val 7692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 50"/>
          <p:cNvSpPr/>
          <p:nvPr/>
        </p:nvSpPr>
        <p:spPr>
          <a:xfrm>
            <a:off x="914400" y="3749040"/>
            <a:ext cx="365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✗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 51"/>
          <p:cNvSpPr/>
          <p:nvPr/>
        </p:nvSpPr>
        <p:spPr>
          <a:xfrm>
            <a:off x="1371600" y="3749040"/>
            <a:ext cx="42058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Writing 60° instead of 060°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 52"/>
          <p:cNvSpPr/>
          <p:nvPr/>
        </p:nvSpPr>
        <p:spPr>
          <a:xfrm>
            <a:off x="5669280" y="3749040"/>
            <a:ext cx="57603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Three figures — always. Add a leading zero.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53"/>
          <p:cNvSpPr/>
          <p:nvPr/>
        </p:nvSpPr>
        <p:spPr>
          <a:xfrm>
            <a:off x="567000" y="4572000"/>
            <a:ext cx="11063880" cy="712800"/>
          </a:xfrm>
          <a:prstGeom prst="roundRect">
            <a:avLst>
              <a:gd name="adj" fmla="val 7692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Text 54"/>
          <p:cNvSpPr/>
          <p:nvPr/>
        </p:nvSpPr>
        <p:spPr>
          <a:xfrm>
            <a:off x="914400" y="4572000"/>
            <a:ext cx="365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✗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 55"/>
          <p:cNvSpPr/>
          <p:nvPr/>
        </p:nvSpPr>
        <p:spPr>
          <a:xfrm>
            <a:off x="1371600" y="4572000"/>
            <a:ext cx="42058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Forgetting the North line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 56"/>
          <p:cNvSpPr/>
          <p:nvPr/>
        </p:nvSpPr>
        <p:spPr>
          <a:xfrm>
            <a:off x="5669280" y="4572000"/>
            <a:ext cx="57603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If it is not drawn, draw it yourself at the right point.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57"/>
          <p:cNvSpPr/>
          <p:nvPr/>
        </p:nvSpPr>
        <p:spPr>
          <a:xfrm>
            <a:off x="567000" y="5394960"/>
            <a:ext cx="11063880" cy="712800"/>
          </a:xfrm>
          <a:prstGeom prst="roundRect">
            <a:avLst>
              <a:gd name="adj" fmla="val 7692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 58"/>
          <p:cNvSpPr/>
          <p:nvPr/>
        </p:nvSpPr>
        <p:spPr>
          <a:xfrm>
            <a:off x="914400" y="5394960"/>
            <a:ext cx="365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✗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 59"/>
          <p:cNvSpPr/>
          <p:nvPr/>
        </p:nvSpPr>
        <p:spPr>
          <a:xfrm>
            <a:off x="1371600" y="5394960"/>
            <a:ext cx="42058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Not using parallel north lines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 60"/>
          <p:cNvSpPr/>
          <p:nvPr/>
        </p:nvSpPr>
        <p:spPr>
          <a:xfrm>
            <a:off x="5669280" y="5394960"/>
            <a:ext cx="57603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Alternate and co-interior angles solve most exam questions.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 61"/>
          <p:cNvSpPr/>
          <p:nvPr/>
        </p:nvSpPr>
        <p:spPr>
          <a:xfrm>
            <a:off x="567000" y="63550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Bearings questions often combine with SOHCAHTOA or the sine/cosine rule — sketch the triangle.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Worksheets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North line at the ‘from’ point, clockwise, three figures.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Mark the North line at the right point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Use parallel north lines (alternate angles)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Back bearing? ± 180°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3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Write your answer with three figures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WORKSHEET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Set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39"/>
          <p:cNvSpPr/>
          <p:nvPr/>
        </p:nvSpPr>
        <p:spPr>
          <a:xfrm>
            <a:off x="1368360" y="1398960"/>
            <a:ext cx="9454680" cy="457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4" name="Picture 42" descr=""/>
          <p:cNvPicPr/>
          <p:nvPr/>
        </p:nvPicPr>
        <p:blipFill>
          <a:blip r:embed="rId1"/>
          <a:stretch/>
        </p:blipFill>
        <p:spPr>
          <a:xfrm>
            <a:off x="1368360" y="1564560"/>
            <a:ext cx="8510040" cy="2403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WORKSHEET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Set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39"/>
          <p:cNvSpPr/>
          <p:nvPr/>
        </p:nvSpPr>
        <p:spPr>
          <a:xfrm>
            <a:off x="2596680" y="1398960"/>
            <a:ext cx="699804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5" name="Picture 42" descr=""/>
          <p:cNvPicPr/>
          <p:nvPr/>
        </p:nvPicPr>
        <p:blipFill>
          <a:blip r:embed="rId1"/>
          <a:stretch/>
        </p:blipFill>
        <p:spPr>
          <a:xfrm>
            <a:off x="2602800" y="1288440"/>
            <a:ext cx="6790320" cy="3813480"/>
          </a:xfrm>
          <a:prstGeom prst="rect">
            <a:avLst/>
          </a:prstGeom>
          <a:ln w="0">
            <a:noFill/>
          </a:ln>
        </p:spPr>
      </p:pic>
      <p:pic>
        <p:nvPicPr>
          <p:cNvPr id="726" name="Picture 43" descr=""/>
          <p:cNvPicPr/>
          <p:nvPr/>
        </p:nvPicPr>
        <p:blipFill>
          <a:blip r:embed="rId2"/>
          <a:stretch/>
        </p:blipFill>
        <p:spPr>
          <a:xfrm>
            <a:off x="2600640" y="5096880"/>
            <a:ext cx="6790320" cy="1148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WORKSHEET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Set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39"/>
          <p:cNvSpPr/>
          <p:nvPr/>
        </p:nvSpPr>
        <p:spPr>
          <a:xfrm>
            <a:off x="2612160" y="1398960"/>
            <a:ext cx="696744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7" name="Picture 42" descr=""/>
          <p:cNvPicPr/>
          <p:nvPr/>
        </p:nvPicPr>
        <p:blipFill>
          <a:blip r:embed="rId1"/>
          <a:stretch/>
        </p:blipFill>
        <p:spPr>
          <a:xfrm>
            <a:off x="3103560" y="1447920"/>
            <a:ext cx="6037920" cy="496440"/>
          </a:xfrm>
          <a:prstGeom prst="rect">
            <a:avLst/>
          </a:prstGeom>
          <a:ln w="0">
            <a:noFill/>
          </a:ln>
        </p:spPr>
      </p:pic>
      <p:pic>
        <p:nvPicPr>
          <p:cNvPr id="768" name="Picture 43" descr=""/>
          <p:cNvPicPr/>
          <p:nvPr/>
        </p:nvPicPr>
        <p:blipFill>
          <a:blip r:embed="rId2"/>
          <a:stretch/>
        </p:blipFill>
        <p:spPr>
          <a:xfrm>
            <a:off x="3097800" y="1944720"/>
            <a:ext cx="6043680" cy="4581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WORKSHEET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Set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Shape 39"/>
          <p:cNvSpPr/>
          <p:nvPr/>
        </p:nvSpPr>
        <p:spPr>
          <a:xfrm>
            <a:off x="4231800" y="1243440"/>
            <a:ext cx="5637600" cy="5248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9" name="Picture 42" descr=""/>
          <p:cNvPicPr/>
          <p:nvPr/>
        </p:nvPicPr>
        <p:blipFill>
          <a:blip r:embed="rId1"/>
          <a:stretch/>
        </p:blipFill>
        <p:spPr>
          <a:xfrm>
            <a:off x="3973680" y="251280"/>
            <a:ext cx="7364520" cy="655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5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8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9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 bearing is measured from NORTH, CLOCKWISE, with THREE figures (060° not 60°).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1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2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‘</a:t>
            </a: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The bearing of A from B’ — stand at B: the North line goes at B.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North lines are PARALLEL — use alternate and co-interior angles.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5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Back bearing = original ± 180° (add if under 180°, subtract if over).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Bearings often combine with trigonometry — sketch the triangle and label it.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the word ‘from’ tells you where to put the North line.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LibreOffice/24.2.7.2$Linux_X86_64 LibreOffice_project/420$Build-2</Application>
  <AppVersion>15.0000</AppVersion>
  <Words>1012</Words>
  <Paragraphs>230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2026-07-14T20:03:15Z</dcterms:created>
  <dc:creator>Zahra Sheikh Ali</dc:creator>
  <dc:description/>
  <dc:language>en-US</dc:language>
  <cp:lastModifiedBy>zahraa sheik ali</cp:lastModifiedBy>
  <dcterms:modified xsi:type="dcterms:W3CDTF">2026-07-27T09:40:33Z</dcterms:modified>
  <cp:revision>5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15</vt:r8>
  </property>
  <property fmtid="{D5CDD505-2E9C-101B-9397-08002B2CF9AE}" pid="3" name="PresentationFormat">
    <vt:lpwstr>Custom</vt:lpwstr>
  </property>
  <property fmtid="{D5CDD505-2E9C-101B-9397-08002B2CF9AE}" pid="4" name="Slides">
    <vt:r8>15</vt:r8>
  </property>
</Properties>
</file>