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946" y="-34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217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41280" y="685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10607040" y="2377440"/>
            <a:ext cx="0" cy="0"/>
          </a:xfrm>
          <a:prstGeom prst="line">
            <a:avLst/>
          </a:prstGeom>
          <a:noFill/>
          <a:ln w="50800">
            <a:solidFill>
              <a:srgbClr val="33463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1" name="Text 39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Bearings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from NORTH · Clockwise · Always Three Figures · Back Bearings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Rules, Every Time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bearing is a direction.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it from NORTH, go CLOCKWISE, and write it with THREE figures. Get those three right and bearings are easy.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from NORTH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CLOCKWISE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3 figures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‘A from B’ — where to draw N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bearings (±180°)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· north line · clockwise · three figures · back bearing · angles on parallel lines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Bearing?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bearing is a measure of DIRECTION.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417320" y="2286000"/>
            <a:ext cx="3200400" cy="3200400"/>
          </a:xfrm>
          <a:prstGeom prst="ellipse">
            <a:avLst/>
          </a:prstGeom>
          <a:ln w="19050">
            <a:solidFill>
              <a:srgbClr val="E4E2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7520" y="2057400"/>
            <a:ext cx="0" cy="3657600"/>
          </a:xfrm>
          <a:prstGeom prst="line">
            <a:avLst/>
          </a:prstGeom>
          <a:noFill/>
          <a:ln w="15240">
            <a:solidFill>
              <a:srgbClr val="5C6B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88720" y="3886200"/>
            <a:ext cx="3657600" cy="0"/>
          </a:xfrm>
          <a:prstGeom prst="line">
            <a:avLst/>
          </a:prstGeom>
          <a:noFill/>
          <a:ln w="15240">
            <a:solidFill>
              <a:srgbClr val="5C6B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06040" y="164592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000°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009115" y="2227093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045°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90288" y="363016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090°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009115" y="5033243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135°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606040" y="5614416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180°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02965" y="5033243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225°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1792" y="3630168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2965" y="2227093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NW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315°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017520" y="3886200"/>
            <a:ext cx="0" cy="0"/>
          </a:xfrm>
          <a:prstGeom prst="line">
            <a:avLst/>
          </a:prstGeom>
          <a:noFill/>
          <a:ln w="38100">
            <a:solidFill>
              <a:srgbClr val="C84F2F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943600" y="2194560"/>
            <a:ext cx="5687568" cy="1005840"/>
          </a:xfrm>
          <a:prstGeom prst="roundRect">
            <a:avLst>
              <a:gd name="adj" fmla="val 545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246888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685800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from the NORTH line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6858000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at north (000°)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5943600" y="3337560"/>
            <a:ext cx="5687568" cy="1005840"/>
          </a:xfrm>
          <a:prstGeom prst="roundRect">
            <a:avLst>
              <a:gd name="adj" fmla="val 545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217920" y="361188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2" name="Text 60"/>
          <p:cNvSpPr/>
          <p:nvPr/>
        </p:nvSpPr>
        <p:spPr>
          <a:xfrm>
            <a:off x="6217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6858000" y="3447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CLOCKWISE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6858000" y="3867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anticlockwise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5943600" y="4480560"/>
            <a:ext cx="5687568" cy="1005840"/>
          </a:xfrm>
          <a:prstGeom prst="roundRect">
            <a:avLst>
              <a:gd name="adj" fmla="val 545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217920" y="475488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7" name="Text 65"/>
          <p:cNvSpPr/>
          <p:nvPr/>
        </p:nvSpPr>
        <p:spPr>
          <a:xfrm>
            <a:off x="62179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6858000" y="4590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with THREE figures</a:t>
            </a:r>
            <a:endParaRPr lang="en-US" sz="1450" dirty="0"/>
          </a:p>
        </p:txBody>
      </p:sp>
      <p:sp>
        <p:nvSpPr>
          <p:cNvPr id="69" name="Text 67"/>
          <p:cNvSpPr/>
          <p:nvPr/>
        </p:nvSpPr>
        <p:spPr>
          <a:xfrm>
            <a:off x="6858000" y="5010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60° is written 060°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566928" y="580644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841248" y="5806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NORTH · CLOCKWISE · THREE FIGURES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‘The Bearing of A from B’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67956" y="1190922"/>
            <a:ext cx="9176084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North line at the point AFTER the word ‘from’.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where you are standing.</a:t>
            </a:r>
            <a:endParaRPr lang="en-US" sz="1300" dirty="0"/>
          </a:p>
        </p:txBody>
      </p: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3140625" y="1353312"/>
            <a:ext cx="619116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3200" dirty="0">
                <a:solidFill>
                  <a:srgbClr val="000000"/>
                </a:solidFill>
              </a:rPr>
              <a:t>When it is the bearing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3200" dirty="0">
                <a:solidFill>
                  <a:srgbClr val="000000"/>
                </a:solidFill>
              </a:rPr>
              <a:t>of </a:t>
            </a:r>
            <a:r>
              <a:rPr lang="en-GB" altLang="en-US" sz="3200" b="1" dirty="0">
                <a:solidFill>
                  <a:schemeClr val="accent6">
                    <a:lumMod val="75000"/>
                  </a:schemeClr>
                </a:solidFill>
              </a:rPr>
              <a:t>something</a:t>
            </a:r>
            <a:r>
              <a:rPr lang="en-GB" altLang="en-US" sz="3200" dirty="0">
                <a:solidFill>
                  <a:srgbClr val="000000"/>
                </a:solidFill>
              </a:rPr>
              <a:t> </a:t>
            </a:r>
            <a:r>
              <a:rPr lang="en-GB" altLang="en-US" sz="3200" b="1" dirty="0">
                <a:solidFill>
                  <a:schemeClr val="accent5"/>
                </a:solidFill>
              </a:rPr>
              <a:t>from</a:t>
            </a:r>
            <a:r>
              <a:rPr lang="en-GB" altLang="en-US" sz="3200" dirty="0">
                <a:solidFill>
                  <a:srgbClr val="000000"/>
                </a:solidFill>
              </a:rPr>
              <a:t> </a:t>
            </a:r>
            <a:r>
              <a:rPr lang="en-GB" altLang="en-US" sz="3200" b="1" dirty="0">
                <a:solidFill>
                  <a:srgbClr val="009900"/>
                </a:solidFill>
              </a:rPr>
              <a:t>something</a:t>
            </a:r>
            <a:r>
              <a:rPr lang="en-GB" altLang="en-US" sz="3200" dirty="0">
                <a:solidFill>
                  <a:srgbClr val="000000"/>
                </a:solidFill>
              </a:rPr>
              <a:t>:</a:t>
            </a:r>
            <a:endParaRPr lang="en-US" altLang="en-US" sz="3200" dirty="0">
              <a:solidFill>
                <a:srgbClr val="009900"/>
              </a:solidFill>
            </a:endParaRPr>
          </a:p>
        </p:txBody>
      </p:sp>
      <p:grpSp>
        <p:nvGrpSpPr>
          <p:cNvPr id="46" name="Group 6"/>
          <p:cNvGrpSpPr>
            <a:grpSpLocks/>
          </p:cNvGrpSpPr>
          <p:nvPr/>
        </p:nvGrpSpPr>
        <p:grpSpPr bwMode="auto">
          <a:xfrm>
            <a:off x="2229211" y="2196083"/>
            <a:ext cx="3893930" cy="2683341"/>
            <a:chOff x="1474" y="1117"/>
            <a:chExt cx="2568" cy="2196"/>
          </a:xfrm>
        </p:grpSpPr>
        <p:grpSp>
          <p:nvGrpSpPr>
            <p:cNvPr id="47" name="Group 7"/>
            <p:cNvGrpSpPr>
              <a:grpSpLocks/>
            </p:cNvGrpSpPr>
            <p:nvPr/>
          </p:nvGrpSpPr>
          <p:grpSpPr bwMode="auto">
            <a:xfrm>
              <a:off x="1610" y="1117"/>
              <a:ext cx="1407" cy="1950"/>
              <a:chOff x="1610" y="1117"/>
              <a:chExt cx="1407" cy="1950"/>
            </a:xfrm>
          </p:grpSpPr>
          <p:grpSp>
            <p:nvGrpSpPr>
              <p:cNvPr id="50" name="Group 8"/>
              <p:cNvGrpSpPr>
                <a:grpSpLocks/>
              </p:cNvGrpSpPr>
              <p:nvPr/>
            </p:nvGrpSpPr>
            <p:grpSpPr bwMode="auto">
              <a:xfrm>
                <a:off x="1746" y="1525"/>
                <a:ext cx="1271" cy="1542"/>
                <a:chOff x="2245" y="1661"/>
                <a:chExt cx="1271" cy="1542"/>
              </a:xfrm>
            </p:grpSpPr>
            <p:grpSp>
              <p:nvGrpSpPr>
                <p:cNvPr id="52" name="Group 51"/>
                <p:cNvGrpSpPr>
                  <a:grpSpLocks/>
                </p:cNvGrpSpPr>
                <p:nvPr/>
              </p:nvGrpSpPr>
              <p:grpSpPr bwMode="auto">
                <a:xfrm>
                  <a:off x="2245" y="1661"/>
                  <a:ext cx="1271" cy="1542"/>
                  <a:chOff x="2562" y="1344"/>
                  <a:chExt cx="1271" cy="1542"/>
                </a:xfrm>
              </p:grpSpPr>
              <p:sp>
                <p:nvSpPr>
                  <p:cNvPr id="54" name="Line 1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62" y="1344"/>
                    <a:ext cx="0" cy="154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1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55" name="Line 1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562" y="2205"/>
                    <a:ext cx="1271" cy="68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14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56" name="Freeform 12"/>
                  <p:cNvSpPr>
                    <a:spLocks/>
                  </p:cNvSpPr>
                  <p:nvPr/>
                </p:nvSpPr>
                <p:spPr bwMode="auto">
                  <a:xfrm>
                    <a:off x="2562" y="2402"/>
                    <a:ext cx="409" cy="257"/>
                  </a:xfrm>
                  <a:custGeom>
                    <a:avLst/>
                    <a:gdLst>
                      <a:gd name="T0" fmla="*/ 0 w 409"/>
                      <a:gd name="T1" fmla="*/ 76 h 257"/>
                      <a:gd name="T2" fmla="*/ 227 w 409"/>
                      <a:gd name="T3" fmla="*/ 30 h 257"/>
                      <a:gd name="T4" fmla="*/ 409 w 409"/>
                      <a:gd name="T5" fmla="*/ 257 h 2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09" h="257">
                        <a:moveTo>
                          <a:pt x="0" y="76"/>
                        </a:moveTo>
                        <a:cubicBezTo>
                          <a:pt x="79" y="38"/>
                          <a:pt x="159" y="0"/>
                          <a:pt x="227" y="30"/>
                        </a:cubicBezTo>
                        <a:cubicBezTo>
                          <a:pt x="295" y="60"/>
                          <a:pt x="352" y="158"/>
                          <a:pt x="409" y="257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accent5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GB" sz="140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53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245" y="2840"/>
                  <a:ext cx="11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altLang="en-US" sz="160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51" name="Text Box 14"/>
              <p:cNvSpPr txBox="1">
                <a:spLocks noChangeArrowheads="1"/>
              </p:cNvSpPr>
              <p:nvPr/>
            </p:nvSpPr>
            <p:spPr bwMode="auto">
              <a:xfrm>
                <a:off x="1610" y="1117"/>
                <a:ext cx="283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altLang="en-US" sz="3200">
                    <a:solidFill>
                      <a:srgbClr val="000000"/>
                    </a:solidFill>
                  </a:rPr>
                  <a:t>N</a:t>
                </a:r>
                <a:endParaRPr lang="en-US" altLang="en-US" sz="3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3061" y="2251"/>
              <a:ext cx="9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Something</a:t>
              </a:r>
              <a:endParaRPr lang="en-US" alt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1474" y="3022"/>
              <a:ext cx="9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400" b="1" dirty="0">
                  <a:solidFill>
                    <a:srgbClr val="009900"/>
                  </a:solidFill>
                </a:rPr>
                <a:t>Something</a:t>
              </a:r>
              <a:endParaRPr lang="en-US" altLang="en-US" sz="2400" b="1" dirty="0">
                <a:solidFill>
                  <a:srgbClr val="009900"/>
                </a:solidFill>
              </a:endParaRPr>
            </a:p>
          </p:txBody>
        </p:sp>
      </p:grpSp>
      <p:grpSp>
        <p:nvGrpSpPr>
          <p:cNvPr id="57" name="Group 28"/>
          <p:cNvGrpSpPr>
            <a:grpSpLocks/>
          </p:cNvGrpSpPr>
          <p:nvPr/>
        </p:nvGrpSpPr>
        <p:grpSpPr bwMode="auto">
          <a:xfrm>
            <a:off x="7125061" y="2135828"/>
            <a:ext cx="2830985" cy="2959496"/>
            <a:chOff x="3152" y="1253"/>
            <a:chExt cx="1867" cy="2422"/>
          </a:xfrm>
        </p:grpSpPr>
        <p:sp>
          <p:nvSpPr>
            <p:cNvPr id="58" name="Line 18"/>
            <p:cNvSpPr>
              <a:spLocks noChangeShapeType="1"/>
            </p:cNvSpPr>
            <p:nvPr/>
          </p:nvSpPr>
          <p:spPr bwMode="auto">
            <a:xfrm flipV="1">
              <a:off x="3424" y="1887"/>
              <a:ext cx="0" cy="15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59" name="Line 19"/>
            <p:cNvSpPr>
              <a:spLocks noChangeShapeType="1"/>
            </p:cNvSpPr>
            <p:nvPr/>
          </p:nvSpPr>
          <p:spPr bwMode="auto">
            <a:xfrm flipV="1">
              <a:off x="3424" y="2748"/>
              <a:ext cx="1271" cy="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60" name="Freeform 20"/>
            <p:cNvSpPr>
              <a:spLocks/>
            </p:cNvSpPr>
            <p:nvPr/>
          </p:nvSpPr>
          <p:spPr bwMode="auto">
            <a:xfrm>
              <a:off x="3424" y="2945"/>
              <a:ext cx="409" cy="257"/>
            </a:xfrm>
            <a:custGeom>
              <a:avLst/>
              <a:gdLst>
                <a:gd name="T0" fmla="*/ 0 w 409"/>
                <a:gd name="T1" fmla="*/ 76 h 257"/>
                <a:gd name="T2" fmla="*/ 227 w 409"/>
                <a:gd name="T3" fmla="*/ 30 h 257"/>
                <a:gd name="T4" fmla="*/ 409 w 409"/>
                <a:gd name="T5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9" h="257">
                  <a:moveTo>
                    <a:pt x="0" y="76"/>
                  </a:moveTo>
                  <a:cubicBezTo>
                    <a:pt x="79" y="38"/>
                    <a:pt x="159" y="0"/>
                    <a:pt x="227" y="30"/>
                  </a:cubicBezTo>
                  <a:cubicBezTo>
                    <a:pt x="295" y="60"/>
                    <a:pt x="352" y="158"/>
                    <a:pt x="409" y="25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61" name="Text Box 21"/>
            <p:cNvSpPr txBox="1">
              <a:spLocks noChangeArrowheads="1"/>
            </p:cNvSpPr>
            <p:nvPr/>
          </p:nvSpPr>
          <p:spPr bwMode="auto">
            <a:xfrm>
              <a:off x="3424" y="3066"/>
              <a:ext cx="11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62" name="Text Box 22"/>
            <p:cNvSpPr txBox="1">
              <a:spLocks noChangeArrowheads="1"/>
            </p:cNvSpPr>
            <p:nvPr/>
          </p:nvSpPr>
          <p:spPr bwMode="auto">
            <a:xfrm>
              <a:off x="3288" y="1479"/>
              <a:ext cx="28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200">
                  <a:solidFill>
                    <a:srgbClr val="000000"/>
                  </a:solidFill>
                </a:rPr>
                <a:t>N</a:t>
              </a:r>
              <a:endParaRPr lang="en-US" altLang="en-US" sz="3200">
                <a:solidFill>
                  <a:srgbClr val="000000"/>
                </a:solidFill>
              </a:endParaRPr>
            </a:p>
          </p:txBody>
        </p:sp>
        <p:sp>
          <p:nvSpPr>
            <p:cNvPr id="63" name="Text Box 23"/>
            <p:cNvSpPr txBox="1">
              <a:spLocks noChangeArrowheads="1"/>
            </p:cNvSpPr>
            <p:nvPr/>
          </p:nvSpPr>
          <p:spPr bwMode="auto">
            <a:xfrm>
              <a:off x="3651" y="2523"/>
              <a:ext cx="9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400" b="1" dirty="0">
                  <a:solidFill>
                    <a:srgbClr val="009900"/>
                  </a:solidFill>
                </a:rPr>
                <a:t>Something</a:t>
              </a:r>
              <a:endParaRPr lang="en-US" altLang="en-US" sz="2400" b="1" dirty="0">
                <a:solidFill>
                  <a:srgbClr val="009900"/>
                </a:solidFill>
              </a:endParaRPr>
            </a:p>
          </p:txBody>
        </p:sp>
        <p:sp>
          <p:nvSpPr>
            <p:cNvPr id="64" name="Text Box 24"/>
            <p:cNvSpPr txBox="1">
              <a:spLocks noChangeArrowheads="1"/>
            </p:cNvSpPr>
            <p:nvPr/>
          </p:nvSpPr>
          <p:spPr bwMode="auto">
            <a:xfrm>
              <a:off x="3152" y="3384"/>
              <a:ext cx="98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Something</a:t>
              </a:r>
              <a:endParaRPr lang="en-US" alt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65" name="Line 26"/>
            <p:cNvSpPr>
              <a:spLocks noChangeShapeType="1"/>
            </p:cNvSpPr>
            <p:nvPr/>
          </p:nvSpPr>
          <p:spPr bwMode="auto">
            <a:xfrm flipV="1">
              <a:off x="4694" y="1253"/>
              <a:ext cx="0" cy="14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66" name="Freeform 27"/>
            <p:cNvSpPr>
              <a:spLocks/>
            </p:cNvSpPr>
            <p:nvPr/>
          </p:nvSpPr>
          <p:spPr bwMode="auto">
            <a:xfrm>
              <a:off x="4422" y="2477"/>
              <a:ext cx="597" cy="650"/>
            </a:xfrm>
            <a:custGeom>
              <a:avLst/>
              <a:gdLst>
                <a:gd name="T0" fmla="*/ 272 w 597"/>
                <a:gd name="T1" fmla="*/ 0 h 650"/>
                <a:gd name="T2" fmla="*/ 590 w 597"/>
                <a:gd name="T3" fmla="*/ 318 h 650"/>
                <a:gd name="T4" fmla="*/ 317 w 597"/>
                <a:gd name="T5" fmla="*/ 635 h 650"/>
                <a:gd name="T6" fmla="*/ 0 w 597"/>
                <a:gd name="T7" fmla="*/ 408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7" h="650">
                  <a:moveTo>
                    <a:pt x="272" y="0"/>
                  </a:moveTo>
                  <a:cubicBezTo>
                    <a:pt x="427" y="106"/>
                    <a:pt x="583" y="212"/>
                    <a:pt x="590" y="318"/>
                  </a:cubicBezTo>
                  <a:cubicBezTo>
                    <a:pt x="597" y="424"/>
                    <a:pt x="415" y="620"/>
                    <a:pt x="317" y="635"/>
                  </a:cubicBezTo>
                  <a:cubicBezTo>
                    <a:pt x="219" y="650"/>
                    <a:pt x="109" y="529"/>
                    <a:pt x="0" y="408"/>
                  </a:cubicBezTo>
                </a:path>
              </a:pathLst>
            </a:custGeom>
            <a:noFill/>
            <a:ln w="38100">
              <a:solidFill>
                <a:schemeClr val="accent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</p:grpSp>
      <p:sp>
        <p:nvSpPr>
          <p:cNvPr id="67" name="Text Box 29"/>
          <p:cNvSpPr txBox="1">
            <a:spLocks noChangeArrowheads="1"/>
          </p:cNvSpPr>
          <p:nvPr/>
        </p:nvSpPr>
        <p:spPr bwMode="auto">
          <a:xfrm>
            <a:off x="2215887" y="5308956"/>
            <a:ext cx="804064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800" dirty="0">
                <a:solidFill>
                  <a:srgbClr val="000000"/>
                </a:solidFill>
              </a:rPr>
              <a:t>use a North line at the point that is </a:t>
            </a:r>
            <a:r>
              <a:rPr lang="en-GB" altLang="en-US" sz="2800" b="1" dirty="0">
                <a:solidFill>
                  <a:srgbClr val="009900"/>
                </a:solidFill>
              </a:rPr>
              <a:t>after</a:t>
            </a:r>
            <a:r>
              <a:rPr lang="en-GB" altLang="en-US" sz="2800" dirty="0">
                <a:solidFill>
                  <a:srgbClr val="000000"/>
                </a:solidFill>
              </a:rPr>
              <a:t> the </a:t>
            </a:r>
            <a:r>
              <a:rPr lang="en-GB" altLang="en-US" sz="2800" b="1" dirty="0">
                <a:solidFill>
                  <a:schemeClr val="accent5"/>
                </a:solidFill>
              </a:rPr>
              <a:t>“from”</a:t>
            </a:r>
            <a:endParaRPr lang="en-US" altLang="en-US" sz="28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I Put the North Line?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bearing of A FROM B”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you are standing at B, looking at A. So the North line goes at B.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Bearing of A FROM B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8803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at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(after the ‘from’).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Draw the North line at B.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Turn CLOCKWISE from north.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Stop when you point at A.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Write it with 3 figures.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14884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6492240" y="302666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North line is ALWAYS at the point you are standing at.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92240" y="362102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1" name="Text 49"/>
          <p:cNvSpPr/>
          <p:nvPr/>
        </p:nvSpPr>
        <p:spPr>
          <a:xfrm>
            <a:off x="6766560" y="3474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diagram has no North line there — draw one!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92240" y="421538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6766560" y="40690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lines are PARALLEL — use alternate/co-interior angles.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492240" y="4809744"/>
            <a:ext cx="146304" cy="14630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6766560" y="4663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Bearings can be anything from 000° to 360°.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66928" y="55778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41248" y="5577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‘from’ tells you where to STAND — that is where the North line goes.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Bearing of B from A — the BACK Bearing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860015" y="1353312"/>
            <a:ext cx="8040596" cy="4654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6928" y="614476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1447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stand at A. The answer is 240° — exactly 180° more than 060°. </a:t>
            </a:r>
            <a:r>
              <a:rPr lang="en-US" sz="13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explain why?</a:t>
            </a:r>
            <a:endParaRPr lang="en-US" sz="1300" dirty="0"/>
          </a:p>
        </p:txBody>
      </p:sp>
      <p:sp>
        <p:nvSpPr>
          <p:cNvPr id="45" name="Text Box 3"/>
          <p:cNvSpPr txBox="1">
            <a:spLocks noChangeArrowheads="1"/>
          </p:cNvSpPr>
          <p:nvPr/>
        </p:nvSpPr>
        <p:spPr bwMode="auto">
          <a:xfrm>
            <a:off x="2960019" y="1402884"/>
            <a:ext cx="56108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3200">
                <a:solidFill>
                  <a:srgbClr val="000000"/>
                </a:solidFill>
              </a:rPr>
              <a:t>What is the bearing of B from A?</a:t>
            </a:r>
            <a:endParaRPr lang="en-US" altLang="en-US" sz="3200">
              <a:solidFill>
                <a:srgbClr val="000000"/>
              </a:solidFill>
            </a:endParaRPr>
          </a:p>
        </p:txBody>
      </p:sp>
      <p:grpSp>
        <p:nvGrpSpPr>
          <p:cNvPr id="46" name="Group 17"/>
          <p:cNvGrpSpPr>
            <a:grpSpLocks/>
          </p:cNvGrpSpPr>
          <p:nvPr/>
        </p:nvGrpSpPr>
        <p:grpSpPr bwMode="auto">
          <a:xfrm>
            <a:off x="3248944" y="2987209"/>
            <a:ext cx="2449512" cy="3486151"/>
            <a:chOff x="839" y="1570"/>
            <a:chExt cx="1543" cy="2196"/>
          </a:xfrm>
        </p:grpSpPr>
        <p:sp>
          <p:nvSpPr>
            <p:cNvPr id="47" name="Line 8"/>
            <p:cNvSpPr>
              <a:spLocks noChangeShapeType="1"/>
            </p:cNvSpPr>
            <p:nvPr/>
          </p:nvSpPr>
          <p:spPr bwMode="auto">
            <a:xfrm flipV="1">
              <a:off x="1111" y="1978"/>
              <a:ext cx="0" cy="15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48" name="Line 9"/>
            <p:cNvSpPr>
              <a:spLocks noChangeShapeType="1"/>
            </p:cNvSpPr>
            <p:nvPr/>
          </p:nvSpPr>
          <p:spPr bwMode="auto">
            <a:xfrm flipV="1">
              <a:off x="1111" y="2839"/>
              <a:ext cx="1271" cy="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1111" y="3036"/>
              <a:ext cx="409" cy="257"/>
            </a:xfrm>
            <a:custGeom>
              <a:avLst/>
              <a:gdLst>
                <a:gd name="T0" fmla="*/ 0 w 409"/>
                <a:gd name="T1" fmla="*/ 76 h 257"/>
                <a:gd name="T2" fmla="*/ 227 w 409"/>
                <a:gd name="T3" fmla="*/ 30 h 257"/>
                <a:gd name="T4" fmla="*/ 409 w 409"/>
                <a:gd name="T5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9" h="257">
                  <a:moveTo>
                    <a:pt x="0" y="76"/>
                  </a:moveTo>
                  <a:cubicBezTo>
                    <a:pt x="79" y="38"/>
                    <a:pt x="159" y="0"/>
                    <a:pt x="227" y="30"/>
                  </a:cubicBezTo>
                  <a:cubicBezTo>
                    <a:pt x="295" y="60"/>
                    <a:pt x="352" y="158"/>
                    <a:pt x="409" y="25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50" name="Text Box 11"/>
            <p:cNvSpPr txBox="1">
              <a:spLocks noChangeArrowheads="1"/>
            </p:cNvSpPr>
            <p:nvPr/>
          </p:nvSpPr>
          <p:spPr bwMode="auto">
            <a:xfrm>
              <a:off x="1111" y="3157"/>
              <a:ext cx="289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600">
                  <a:solidFill>
                    <a:srgbClr val="000000"/>
                  </a:solidFill>
                </a:rPr>
                <a:t>60˚</a:t>
              </a:r>
            </a:p>
          </p:txBody>
        </p:sp>
        <p:sp>
          <p:nvSpPr>
            <p:cNvPr id="51" name="Text Box 12"/>
            <p:cNvSpPr txBox="1">
              <a:spLocks noChangeArrowheads="1"/>
            </p:cNvSpPr>
            <p:nvPr/>
          </p:nvSpPr>
          <p:spPr bwMode="auto">
            <a:xfrm>
              <a:off x="975" y="1570"/>
              <a:ext cx="28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3200">
                  <a:solidFill>
                    <a:srgbClr val="000000"/>
                  </a:solidFill>
                </a:rPr>
                <a:t>N</a:t>
              </a:r>
              <a:endParaRPr lang="en-US" altLang="en-US" sz="3200">
                <a:solidFill>
                  <a:srgbClr val="000000"/>
                </a:solidFill>
              </a:endParaRPr>
            </a:p>
          </p:txBody>
        </p:sp>
        <p:sp>
          <p:nvSpPr>
            <p:cNvPr id="52" name="Text Box 13"/>
            <p:cNvSpPr txBox="1">
              <a:spLocks noChangeArrowheads="1"/>
            </p:cNvSpPr>
            <p:nvPr/>
          </p:nvSpPr>
          <p:spPr bwMode="auto">
            <a:xfrm>
              <a:off x="1973" y="2614"/>
              <a:ext cx="2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400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3" name="Text Box 14"/>
            <p:cNvSpPr txBox="1">
              <a:spLocks noChangeArrowheads="1"/>
            </p:cNvSpPr>
            <p:nvPr/>
          </p:nvSpPr>
          <p:spPr bwMode="auto">
            <a:xfrm>
              <a:off x="839" y="3475"/>
              <a:ext cx="2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2400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54" name="Group 20"/>
          <p:cNvGrpSpPr>
            <a:grpSpLocks/>
          </p:cNvGrpSpPr>
          <p:nvPr/>
        </p:nvGrpSpPr>
        <p:grpSpPr bwMode="auto">
          <a:xfrm>
            <a:off x="5265069" y="2628434"/>
            <a:ext cx="947737" cy="2974975"/>
            <a:chOff x="2109" y="1344"/>
            <a:chExt cx="597" cy="1874"/>
          </a:xfrm>
        </p:grpSpPr>
        <p:sp>
          <p:nvSpPr>
            <p:cNvPr id="55" name="Line 18"/>
            <p:cNvSpPr>
              <a:spLocks noChangeShapeType="1"/>
            </p:cNvSpPr>
            <p:nvPr/>
          </p:nvSpPr>
          <p:spPr bwMode="auto">
            <a:xfrm flipV="1">
              <a:off x="2381" y="1344"/>
              <a:ext cx="0" cy="14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  <p:sp>
          <p:nvSpPr>
            <p:cNvPr id="56" name="Freeform 19"/>
            <p:cNvSpPr>
              <a:spLocks/>
            </p:cNvSpPr>
            <p:nvPr/>
          </p:nvSpPr>
          <p:spPr bwMode="auto">
            <a:xfrm>
              <a:off x="2109" y="2568"/>
              <a:ext cx="597" cy="650"/>
            </a:xfrm>
            <a:custGeom>
              <a:avLst/>
              <a:gdLst>
                <a:gd name="T0" fmla="*/ 272 w 597"/>
                <a:gd name="T1" fmla="*/ 0 h 650"/>
                <a:gd name="T2" fmla="*/ 590 w 597"/>
                <a:gd name="T3" fmla="*/ 318 h 650"/>
                <a:gd name="T4" fmla="*/ 317 w 597"/>
                <a:gd name="T5" fmla="*/ 635 h 650"/>
                <a:gd name="T6" fmla="*/ 0 w 597"/>
                <a:gd name="T7" fmla="*/ 408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7" h="650">
                  <a:moveTo>
                    <a:pt x="272" y="0"/>
                  </a:moveTo>
                  <a:cubicBezTo>
                    <a:pt x="427" y="106"/>
                    <a:pt x="583" y="212"/>
                    <a:pt x="590" y="318"/>
                  </a:cubicBezTo>
                  <a:cubicBezTo>
                    <a:pt x="597" y="424"/>
                    <a:pt x="415" y="620"/>
                    <a:pt x="317" y="635"/>
                  </a:cubicBezTo>
                  <a:cubicBezTo>
                    <a:pt x="219" y="650"/>
                    <a:pt x="109" y="529"/>
                    <a:pt x="0" y="40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GB" sz="1400">
                <a:solidFill>
                  <a:srgbClr val="000000"/>
                </a:solidFill>
              </a:endParaRPr>
            </a:p>
          </p:txBody>
        </p:sp>
      </p:grpSp>
      <p:sp>
        <p:nvSpPr>
          <p:cNvPr id="57" name="Text Box 21"/>
          <p:cNvSpPr txBox="1">
            <a:spLocks noChangeArrowheads="1"/>
          </p:cNvSpPr>
          <p:nvPr/>
        </p:nvSpPr>
        <p:spPr bwMode="auto">
          <a:xfrm>
            <a:off x="7281194" y="3131672"/>
            <a:ext cx="30448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>
                <a:solidFill>
                  <a:srgbClr val="000000"/>
                </a:solidFill>
              </a:rPr>
              <a:t>The bearing of B from A is 240˚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400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400" dirty="0">
                <a:solidFill>
                  <a:srgbClr val="000000"/>
                </a:solidFill>
              </a:rPr>
              <a:t>Can you explain why?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38827" y="2613685"/>
            <a:ext cx="3087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dirty="0">
                <a:solidFill>
                  <a:srgbClr val="000000"/>
                </a:solidFill>
              </a:rPr>
              <a:t>The bearing of A from B is 060˚</a:t>
            </a:r>
            <a:endParaRPr lang="en-GB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BEARINGS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± 180° Rule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bearing of A from B and the bearing of B from A always differ by 180°.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because the North lines are parallel.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4884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bearing is LESS than 180°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4400" y="29260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180°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bearing of A from B = 060°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bearing of B from A = 060 + 180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240°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190488" y="214884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56248" y="238658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bearing is MORE than 180°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537960" y="29260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 180°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e.g. bearing of A from B = 240°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bearing of B from A = 240 − 180 = </a:t>
            </a:r>
            <a:r>
              <a:rPr lang="en-US" sz="15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060°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66928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must stay between 000° and 360° — that is why you add OR subtract.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566928" y="58521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41248" y="5852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bearing = original ± 180°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86511" y="1117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286511" y="32956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Bearing of B from A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814514" y="969265"/>
            <a:ext cx="9222454" cy="54788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16257" y="6419088"/>
            <a:ext cx="11064240" cy="32123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886968" y="6277731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to try. North line at A each time, then measure clockwise.</a:t>
            </a:r>
            <a:endParaRPr lang="en-US" sz="1300" dirty="0"/>
          </a:p>
        </p:txBody>
      </p:sp>
      <p:sp>
        <p:nvSpPr>
          <p:cNvPr id="45" name="Text Placeholder 2"/>
          <p:cNvSpPr txBox="1">
            <a:spLocks/>
          </p:cNvSpPr>
          <p:nvPr/>
        </p:nvSpPr>
        <p:spPr>
          <a:xfrm>
            <a:off x="1835151" y="896492"/>
            <a:ext cx="9144000" cy="55895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800" dirty="0" smtClean="0"/>
              <a:t>Task: Find the bearing of B from A</a:t>
            </a:r>
            <a:endParaRPr lang="en-GB" sz="2800" dirty="0"/>
          </a:p>
        </p:txBody>
      </p:sp>
      <p:sp>
        <p:nvSpPr>
          <p:cNvPr id="46" name="Text Box 9"/>
          <p:cNvSpPr txBox="1">
            <a:spLocks noChangeArrowheads="1"/>
          </p:cNvSpPr>
          <p:nvPr/>
        </p:nvSpPr>
        <p:spPr bwMode="auto">
          <a:xfrm>
            <a:off x="2519364" y="1616025"/>
            <a:ext cx="609814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arenR"/>
            </a:pPr>
            <a:r>
              <a:rPr lang="en-GB" altLang="en-US" sz="2800" dirty="0">
                <a:solidFill>
                  <a:srgbClr val="000000"/>
                </a:solidFill>
                <a:latin typeface="+mn-lt"/>
              </a:rPr>
              <a:t>                    	2)                      	3)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800" dirty="0">
              <a:solidFill>
                <a:srgbClr val="000000"/>
              </a:solidFill>
              <a:latin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800" dirty="0">
              <a:solidFill>
                <a:srgbClr val="000000"/>
              </a:solidFill>
              <a:latin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800" dirty="0">
              <a:solidFill>
                <a:srgbClr val="000000"/>
              </a:solidFill>
              <a:latin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arenR" startAt="4"/>
            </a:pPr>
            <a:r>
              <a:rPr lang="en-GB" altLang="en-US" sz="2800" dirty="0">
                <a:solidFill>
                  <a:srgbClr val="000000"/>
                </a:solidFill>
                <a:latin typeface="+mn-lt"/>
              </a:rPr>
              <a:t>                    	5)                      	6)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800" dirty="0">
                <a:solidFill>
                  <a:srgbClr val="000000"/>
                </a:solidFill>
                <a:latin typeface="+mn-lt"/>
              </a:rPr>
              <a:t>        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800" dirty="0">
              <a:solidFill>
                <a:srgbClr val="000000"/>
              </a:solidFill>
              <a:latin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800" dirty="0">
              <a:solidFill>
                <a:srgbClr val="000000"/>
              </a:solidFill>
              <a:latin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800" dirty="0">
                <a:solidFill>
                  <a:srgbClr val="000000"/>
                </a:solidFill>
                <a:latin typeface="+mn-lt"/>
              </a:rPr>
              <a:t>7)                   		 8)                     	 9)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altLang="en-US" sz="2800" dirty="0">
              <a:solidFill>
                <a:srgbClr val="000000"/>
              </a:solidFill>
              <a:latin typeface="+mn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7" name="Line 6"/>
          <p:cNvSpPr>
            <a:spLocks noChangeShapeType="1"/>
          </p:cNvSpPr>
          <p:nvPr/>
        </p:nvSpPr>
        <p:spPr bwMode="auto">
          <a:xfrm flipV="1">
            <a:off x="3527427" y="1616025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48" name="Line 7"/>
          <p:cNvSpPr>
            <a:spLocks noChangeShapeType="1"/>
          </p:cNvSpPr>
          <p:nvPr/>
        </p:nvSpPr>
        <p:spPr bwMode="auto">
          <a:xfrm flipV="1">
            <a:off x="3527427" y="2408188"/>
            <a:ext cx="10795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49" name="Text Box 8"/>
          <p:cNvSpPr txBox="1">
            <a:spLocks noChangeArrowheads="1"/>
          </p:cNvSpPr>
          <p:nvPr/>
        </p:nvSpPr>
        <p:spPr bwMode="auto">
          <a:xfrm>
            <a:off x="1814514" y="167793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0" name="Line 11"/>
          <p:cNvSpPr>
            <a:spLocks noChangeShapeType="1"/>
          </p:cNvSpPr>
          <p:nvPr/>
        </p:nvSpPr>
        <p:spPr bwMode="auto">
          <a:xfrm flipV="1">
            <a:off x="4175127" y="4856113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1" name="Line 12"/>
          <p:cNvSpPr>
            <a:spLocks noChangeShapeType="1"/>
          </p:cNvSpPr>
          <p:nvPr/>
        </p:nvSpPr>
        <p:spPr bwMode="auto">
          <a:xfrm flipH="1" flipV="1">
            <a:off x="3454402" y="5216475"/>
            <a:ext cx="719137" cy="933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2" name="Line 13"/>
          <p:cNvSpPr>
            <a:spLocks noChangeShapeType="1"/>
          </p:cNvSpPr>
          <p:nvPr/>
        </p:nvSpPr>
        <p:spPr bwMode="auto">
          <a:xfrm flipV="1">
            <a:off x="9072564" y="1255663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3" name="Line 14"/>
          <p:cNvSpPr>
            <a:spLocks noChangeShapeType="1"/>
          </p:cNvSpPr>
          <p:nvPr/>
        </p:nvSpPr>
        <p:spPr bwMode="auto">
          <a:xfrm flipV="1">
            <a:off x="9072564" y="1903363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4" name="Line 15"/>
          <p:cNvSpPr>
            <a:spLocks noChangeShapeType="1"/>
          </p:cNvSpPr>
          <p:nvPr/>
        </p:nvSpPr>
        <p:spPr bwMode="auto">
          <a:xfrm flipV="1">
            <a:off x="9144002" y="4783088"/>
            <a:ext cx="0" cy="576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5" name="Line 16"/>
          <p:cNvSpPr>
            <a:spLocks noChangeShapeType="1"/>
          </p:cNvSpPr>
          <p:nvPr/>
        </p:nvSpPr>
        <p:spPr bwMode="auto">
          <a:xfrm flipH="1">
            <a:off x="8640764" y="5359350"/>
            <a:ext cx="50323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6" name="Line 17"/>
          <p:cNvSpPr>
            <a:spLocks noChangeShapeType="1"/>
          </p:cNvSpPr>
          <p:nvPr/>
        </p:nvSpPr>
        <p:spPr bwMode="auto">
          <a:xfrm flipV="1">
            <a:off x="6840539" y="320035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7" name="Line 18"/>
          <p:cNvSpPr>
            <a:spLocks noChangeShapeType="1"/>
          </p:cNvSpPr>
          <p:nvPr/>
        </p:nvSpPr>
        <p:spPr bwMode="auto">
          <a:xfrm flipH="1" flipV="1">
            <a:off x="5614989" y="4495750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8" name="Freeform 27"/>
          <p:cNvSpPr>
            <a:spLocks/>
          </p:cNvSpPr>
          <p:nvPr/>
        </p:nvSpPr>
        <p:spPr bwMode="auto">
          <a:xfrm>
            <a:off x="3527427" y="2335163"/>
            <a:ext cx="504825" cy="360362"/>
          </a:xfrm>
          <a:custGeom>
            <a:avLst/>
            <a:gdLst>
              <a:gd name="T0" fmla="*/ 0 w 318"/>
              <a:gd name="T1" fmla="*/ 0 h 227"/>
              <a:gd name="T2" fmla="*/ 227 w 318"/>
              <a:gd name="T3" fmla="*/ 46 h 227"/>
              <a:gd name="T4" fmla="*/ 318 w 318"/>
              <a:gd name="T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8" h="227">
                <a:moveTo>
                  <a:pt x="0" y="0"/>
                </a:moveTo>
                <a:cubicBezTo>
                  <a:pt x="87" y="4"/>
                  <a:pt x="174" y="8"/>
                  <a:pt x="227" y="46"/>
                </a:cubicBezTo>
                <a:cubicBezTo>
                  <a:pt x="280" y="84"/>
                  <a:pt x="299" y="155"/>
                  <a:pt x="318" y="22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59" name="Freeform 28"/>
          <p:cNvSpPr>
            <a:spLocks/>
          </p:cNvSpPr>
          <p:nvPr/>
        </p:nvSpPr>
        <p:spPr bwMode="auto">
          <a:xfrm>
            <a:off x="3670302" y="5251400"/>
            <a:ext cx="504825" cy="252413"/>
          </a:xfrm>
          <a:custGeom>
            <a:avLst/>
            <a:gdLst>
              <a:gd name="T0" fmla="*/ 318 w 318"/>
              <a:gd name="T1" fmla="*/ 23 h 159"/>
              <a:gd name="T2" fmla="*/ 136 w 318"/>
              <a:gd name="T3" fmla="*/ 23 h 159"/>
              <a:gd name="T4" fmla="*/ 0 w 318"/>
              <a:gd name="T5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8" h="159">
                <a:moveTo>
                  <a:pt x="318" y="23"/>
                </a:moveTo>
                <a:cubicBezTo>
                  <a:pt x="253" y="11"/>
                  <a:pt x="189" y="0"/>
                  <a:pt x="136" y="23"/>
                </a:cubicBezTo>
                <a:cubicBezTo>
                  <a:pt x="83" y="46"/>
                  <a:pt x="41" y="102"/>
                  <a:pt x="0" y="15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0" name="Line 29"/>
          <p:cNvSpPr>
            <a:spLocks noChangeShapeType="1"/>
          </p:cNvSpPr>
          <p:nvPr/>
        </p:nvSpPr>
        <p:spPr bwMode="auto">
          <a:xfrm flipV="1">
            <a:off x="9072564" y="2263725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1" name="Line 30"/>
          <p:cNvSpPr>
            <a:spLocks noChangeShapeType="1"/>
          </p:cNvSpPr>
          <p:nvPr/>
        </p:nvSpPr>
        <p:spPr bwMode="auto">
          <a:xfrm>
            <a:off x="9144002" y="5359350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2" name="Freeform 31"/>
          <p:cNvSpPr>
            <a:spLocks/>
          </p:cNvSpPr>
          <p:nvPr/>
        </p:nvSpPr>
        <p:spPr bwMode="auto">
          <a:xfrm rot="6168795">
            <a:off x="8993189" y="2170063"/>
            <a:ext cx="735013" cy="433387"/>
          </a:xfrm>
          <a:custGeom>
            <a:avLst/>
            <a:gdLst>
              <a:gd name="T0" fmla="*/ 0 w 317"/>
              <a:gd name="T1" fmla="*/ 0 h 181"/>
              <a:gd name="T2" fmla="*/ 227 w 317"/>
              <a:gd name="T3" fmla="*/ 45 h 181"/>
              <a:gd name="T4" fmla="*/ 317 w 317"/>
              <a:gd name="T5" fmla="*/ 181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7" h="181">
                <a:moveTo>
                  <a:pt x="0" y="0"/>
                </a:moveTo>
                <a:cubicBezTo>
                  <a:pt x="87" y="7"/>
                  <a:pt x="174" y="15"/>
                  <a:pt x="227" y="45"/>
                </a:cubicBezTo>
                <a:cubicBezTo>
                  <a:pt x="280" y="75"/>
                  <a:pt x="298" y="128"/>
                  <a:pt x="317" y="18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3" name="Freeform 32"/>
          <p:cNvSpPr>
            <a:spLocks/>
          </p:cNvSpPr>
          <p:nvPr/>
        </p:nvSpPr>
        <p:spPr bwMode="auto">
          <a:xfrm>
            <a:off x="8783639" y="6007050"/>
            <a:ext cx="360363" cy="227013"/>
          </a:xfrm>
          <a:custGeom>
            <a:avLst/>
            <a:gdLst>
              <a:gd name="T0" fmla="*/ 0 w 272"/>
              <a:gd name="T1" fmla="*/ 0 h 143"/>
              <a:gd name="T2" fmla="*/ 136 w 272"/>
              <a:gd name="T3" fmla="*/ 136 h 143"/>
              <a:gd name="T4" fmla="*/ 272 w 272"/>
              <a:gd name="T5" fmla="*/ 45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2" h="143">
                <a:moveTo>
                  <a:pt x="0" y="0"/>
                </a:moveTo>
                <a:cubicBezTo>
                  <a:pt x="45" y="64"/>
                  <a:pt x="91" y="129"/>
                  <a:pt x="136" y="136"/>
                </a:cubicBezTo>
                <a:cubicBezTo>
                  <a:pt x="181" y="143"/>
                  <a:pt x="226" y="94"/>
                  <a:pt x="272" y="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4" name="Rectangle 33"/>
          <p:cNvSpPr>
            <a:spLocks noChangeArrowheads="1"/>
          </p:cNvSpPr>
          <p:nvPr/>
        </p:nvSpPr>
        <p:spPr bwMode="auto">
          <a:xfrm>
            <a:off x="6696077" y="4351288"/>
            <a:ext cx="144462" cy="144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5" name="Line 34"/>
          <p:cNvSpPr>
            <a:spLocks noChangeShapeType="1"/>
          </p:cNvSpPr>
          <p:nvPr/>
        </p:nvSpPr>
        <p:spPr bwMode="auto">
          <a:xfrm flipV="1">
            <a:off x="9072564" y="320035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6" name="Line 35"/>
          <p:cNvSpPr>
            <a:spLocks noChangeShapeType="1"/>
          </p:cNvSpPr>
          <p:nvPr/>
        </p:nvSpPr>
        <p:spPr bwMode="auto">
          <a:xfrm flipV="1">
            <a:off x="9072564" y="3992513"/>
            <a:ext cx="1079500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7" name="Freeform 36"/>
          <p:cNvSpPr>
            <a:spLocks/>
          </p:cNvSpPr>
          <p:nvPr/>
        </p:nvSpPr>
        <p:spPr bwMode="auto">
          <a:xfrm>
            <a:off x="9072564" y="3919488"/>
            <a:ext cx="504825" cy="360362"/>
          </a:xfrm>
          <a:custGeom>
            <a:avLst/>
            <a:gdLst>
              <a:gd name="T0" fmla="*/ 0 w 318"/>
              <a:gd name="T1" fmla="*/ 0 h 227"/>
              <a:gd name="T2" fmla="*/ 227 w 318"/>
              <a:gd name="T3" fmla="*/ 46 h 227"/>
              <a:gd name="T4" fmla="*/ 318 w 318"/>
              <a:gd name="T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8" h="227">
                <a:moveTo>
                  <a:pt x="0" y="0"/>
                </a:moveTo>
                <a:cubicBezTo>
                  <a:pt x="87" y="4"/>
                  <a:pt x="174" y="8"/>
                  <a:pt x="227" y="46"/>
                </a:cubicBezTo>
                <a:cubicBezTo>
                  <a:pt x="280" y="84"/>
                  <a:pt x="299" y="155"/>
                  <a:pt x="318" y="22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8" name="Line 37"/>
          <p:cNvSpPr>
            <a:spLocks noChangeShapeType="1"/>
          </p:cNvSpPr>
          <p:nvPr/>
        </p:nvSpPr>
        <p:spPr bwMode="auto">
          <a:xfrm flipV="1">
            <a:off x="6840539" y="1400125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69" name="Line 38"/>
          <p:cNvSpPr>
            <a:spLocks noChangeShapeType="1"/>
          </p:cNvSpPr>
          <p:nvPr/>
        </p:nvSpPr>
        <p:spPr bwMode="auto">
          <a:xfrm flipH="1" flipV="1">
            <a:off x="6119814" y="1760488"/>
            <a:ext cx="719138" cy="933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0" name="Freeform 39"/>
          <p:cNvSpPr>
            <a:spLocks/>
          </p:cNvSpPr>
          <p:nvPr/>
        </p:nvSpPr>
        <p:spPr bwMode="auto">
          <a:xfrm>
            <a:off x="6335714" y="1795413"/>
            <a:ext cx="504825" cy="252412"/>
          </a:xfrm>
          <a:custGeom>
            <a:avLst/>
            <a:gdLst>
              <a:gd name="T0" fmla="*/ 318 w 318"/>
              <a:gd name="T1" fmla="*/ 23 h 159"/>
              <a:gd name="T2" fmla="*/ 136 w 318"/>
              <a:gd name="T3" fmla="*/ 23 h 159"/>
              <a:gd name="T4" fmla="*/ 0 w 318"/>
              <a:gd name="T5" fmla="*/ 159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8" h="159">
                <a:moveTo>
                  <a:pt x="318" y="23"/>
                </a:moveTo>
                <a:cubicBezTo>
                  <a:pt x="253" y="11"/>
                  <a:pt x="189" y="0"/>
                  <a:pt x="136" y="23"/>
                </a:cubicBezTo>
                <a:cubicBezTo>
                  <a:pt x="83" y="46"/>
                  <a:pt x="41" y="102"/>
                  <a:pt x="0" y="15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1" name="Line 40"/>
          <p:cNvSpPr>
            <a:spLocks noChangeShapeType="1"/>
          </p:cNvSpPr>
          <p:nvPr/>
        </p:nvSpPr>
        <p:spPr bwMode="auto">
          <a:xfrm flipV="1">
            <a:off x="6048377" y="478467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2" name="Line 41"/>
          <p:cNvSpPr>
            <a:spLocks noChangeShapeType="1"/>
          </p:cNvSpPr>
          <p:nvPr/>
        </p:nvSpPr>
        <p:spPr bwMode="auto">
          <a:xfrm flipV="1">
            <a:off x="6048377" y="5432375"/>
            <a:ext cx="8636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3" name="Line 42"/>
          <p:cNvSpPr>
            <a:spLocks noChangeShapeType="1"/>
          </p:cNvSpPr>
          <p:nvPr/>
        </p:nvSpPr>
        <p:spPr bwMode="auto">
          <a:xfrm flipV="1">
            <a:off x="6048377" y="5792738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4" name="Line 48"/>
          <p:cNvSpPr>
            <a:spLocks noChangeShapeType="1"/>
          </p:cNvSpPr>
          <p:nvPr/>
        </p:nvSpPr>
        <p:spPr bwMode="auto">
          <a:xfrm flipV="1">
            <a:off x="4032252" y="298445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5" name="Line 49"/>
          <p:cNvSpPr>
            <a:spLocks noChangeShapeType="1"/>
          </p:cNvSpPr>
          <p:nvPr/>
        </p:nvSpPr>
        <p:spPr bwMode="auto">
          <a:xfrm flipH="1">
            <a:off x="3529014" y="3560713"/>
            <a:ext cx="503238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6" name="Line 50"/>
          <p:cNvSpPr>
            <a:spLocks noChangeShapeType="1"/>
          </p:cNvSpPr>
          <p:nvPr/>
        </p:nvSpPr>
        <p:spPr bwMode="auto">
          <a:xfrm>
            <a:off x="4032252" y="3560713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7" name="Freeform 51"/>
          <p:cNvSpPr>
            <a:spLocks/>
          </p:cNvSpPr>
          <p:nvPr/>
        </p:nvSpPr>
        <p:spPr bwMode="auto">
          <a:xfrm>
            <a:off x="3671889" y="4208413"/>
            <a:ext cx="360363" cy="227012"/>
          </a:xfrm>
          <a:custGeom>
            <a:avLst/>
            <a:gdLst>
              <a:gd name="T0" fmla="*/ 0 w 272"/>
              <a:gd name="T1" fmla="*/ 0 h 143"/>
              <a:gd name="T2" fmla="*/ 136 w 272"/>
              <a:gd name="T3" fmla="*/ 136 h 143"/>
              <a:gd name="T4" fmla="*/ 272 w 272"/>
              <a:gd name="T5" fmla="*/ 45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2" h="143">
                <a:moveTo>
                  <a:pt x="0" y="0"/>
                </a:moveTo>
                <a:cubicBezTo>
                  <a:pt x="45" y="64"/>
                  <a:pt x="91" y="129"/>
                  <a:pt x="136" y="136"/>
                </a:cubicBezTo>
                <a:cubicBezTo>
                  <a:pt x="181" y="143"/>
                  <a:pt x="226" y="94"/>
                  <a:pt x="272" y="4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78" name="Text Box 52"/>
          <p:cNvSpPr txBox="1">
            <a:spLocks noChangeArrowheads="1"/>
          </p:cNvSpPr>
          <p:nvPr/>
        </p:nvSpPr>
        <p:spPr bwMode="auto">
          <a:xfrm>
            <a:off x="4606927" y="2192288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79" name="Text Box 53"/>
          <p:cNvSpPr txBox="1">
            <a:spLocks noChangeArrowheads="1"/>
          </p:cNvSpPr>
          <p:nvPr/>
        </p:nvSpPr>
        <p:spPr bwMode="auto">
          <a:xfrm>
            <a:off x="6840539" y="43512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0" name="Text Box 54"/>
          <p:cNvSpPr txBox="1">
            <a:spLocks noChangeArrowheads="1"/>
          </p:cNvSpPr>
          <p:nvPr/>
        </p:nvSpPr>
        <p:spPr bwMode="auto">
          <a:xfrm>
            <a:off x="4032252" y="341625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1" name="Text Box 55"/>
          <p:cNvSpPr txBox="1">
            <a:spLocks noChangeArrowheads="1"/>
          </p:cNvSpPr>
          <p:nvPr/>
        </p:nvSpPr>
        <p:spPr bwMode="auto">
          <a:xfrm>
            <a:off x="8712202" y="2192288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2" name="Text Box 56"/>
          <p:cNvSpPr txBox="1">
            <a:spLocks noChangeArrowheads="1"/>
          </p:cNvSpPr>
          <p:nvPr/>
        </p:nvSpPr>
        <p:spPr bwMode="auto">
          <a:xfrm>
            <a:off x="6840539" y="2551063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3" name="Text Box 57"/>
          <p:cNvSpPr txBox="1">
            <a:spLocks noChangeArrowheads="1"/>
          </p:cNvSpPr>
          <p:nvPr/>
        </p:nvSpPr>
        <p:spPr bwMode="auto">
          <a:xfrm>
            <a:off x="3167064" y="276855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4" name="Text Box 58"/>
          <p:cNvSpPr txBox="1">
            <a:spLocks noChangeArrowheads="1"/>
          </p:cNvSpPr>
          <p:nvPr/>
        </p:nvSpPr>
        <p:spPr bwMode="auto">
          <a:xfrm>
            <a:off x="8280402" y="6080075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5" name="Text Box 59"/>
          <p:cNvSpPr txBox="1">
            <a:spLocks noChangeArrowheads="1"/>
          </p:cNvSpPr>
          <p:nvPr/>
        </p:nvSpPr>
        <p:spPr bwMode="auto">
          <a:xfrm>
            <a:off x="6911977" y="5143450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6" name="Text Box 60"/>
          <p:cNvSpPr txBox="1">
            <a:spLocks noChangeArrowheads="1"/>
          </p:cNvSpPr>
          <p:nvPr/>
        </p:nvSpPr>
        <p:spPr bwMode="auto">
          <a:xfrm>
            <a:off x="3167064" y="5000575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7" name="Text Box 61"/>
          <p:cNvSpPr txBox="1">
            <a:spLocks noChangeArrowheads="1"/>
          </p:cNvSpPr>
          <p:nvPr/>
        </p:nvSpPr>
        <p:spPr bwMode="auto">
          <a:xfrm>
            <a:off x="10152064" y="3776613"/>
            <a:ext cx="28886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A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8" name="Text Box 62"/>
          <p:cNvSpPr txBox="1">
            <a:spLocks noChangeArrowheads="1"/>
          </p:cNvSpPr>
          <p:nvPr/>
        </p:nvSpPr>
        <p:spPr bwMode="auto">
          <a:xfrm>
            <a:off x="9144002" y="5287913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89" name="Text Box 63"/>
          <p:cNvSpPr txBox="1">
            <a:spLocks noChangeArrowheads="1"/>
          </p:cNvSpPr>
          <p:nvPr/>
        </p:nvSpPr>
        <p:spPr bwMode="auto">
          <a:xfrm>
            <a:off x="5759452" y="5792738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0" name="Text Box 64"/>
          <p:cNvSpPr txBox="1">
            <a:spLocks noChangeArrowheads="1"/>
          </p:cNvSpPr>
          <p:nvPr/>
        </p:nvSpPr>
        <p:spPr bwMode="auto">
          <a:xfrm>
            <a:off x="4103689" y="6151513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1" name="Text Box 65"/>
          <p:cNvSpPr txBox="1">
            <a:spLocks noChangeArrowheads="1"/>
          </p:cNvSpPr>
          <p:nvPr/>
        </p:nvSpPr>
        <p:spPr bwMode="auto">
          <a:xfrm>
            <a:off x="8712202" y="4351288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2" name="Text Box 66"/>
          <p:cNvSpPr txBox="1">
            <a:spLocks noChangeArrowheads="1"/>
          </p:cNvSpPr>
          <p:nvPr/>
        </p:nvSpPr>
        <p:spPr bwMode="auto">
          <a:xfrm>
            <a:off x="5256214" y="4279850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3" name="Text Box 67"/>
          <p:cNvSpPr txBox="1">
            <a:spLocks noChangeArrowheads="1"/>
          </p:cNvSpPr>
          <p:nvPr/>
        </p:nvSpPr>
        <p:spPr bwMode="auto">
          <a:xfrm>
            <a:off x="3240089" y="4279850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4" name="Text Box 68"/>
          <p:cNvSpPr txBox="1">
            <a:spLocks noChangeArrowheads="1"/>
          </p:cNvSpPr>
          <p:nvPr/>
        </p:nvSpPr>
        <p:spPr bwMode="auto">
          <a:xfrm>
            <a:off x="9936164" y="1760488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5" name="Text Box 69"/>
          <p:cNvSpPr txBox="1">
            <a:spLocks noChangeArrowheads="1"/>
          </p:cNvSpPr>
          <p:nvPr/>
        </p:nvSpPr>
        <p:spPr bwMode="auto">
          <a:xfrm>
            <a:off x="5975352" y="1543000"/>
            <a:ext cx="28245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B</a:t>
            </a:r>
            <a:endParaRPr lang="en-US" altLang="en-US" sz="1400">
              <a:solidFill>
                <a:srgbClr val="000000"/>
              </a:solidFill>
            </a:endParaRPr>
          </a:p>
        </p:txBody>
      </p:sp>
      <p:sp>
        <p:nvSpPr>
          <p:cNvPr id="96" name="Text Box 70"/>
          <p:cNvSpPr txBox="1">
            <a:spLocks noChangeArrowheads="1"/>
          </p:cNvSpPr>
          <p:nvPr/>
        </p:nvSpPr>
        <p:spPr bwMode="auto">
          <a:xfrm>
            <a:off x="3527427" y="2408188"/>
            <a:ext cx="4251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68˚</a:t>
            </a:r>
          </a:p>
        </p:txBody>
      </p:sp>
      <p:sp>
        <p:nvSpPr>
          <p:cNvPr id="97" name="Text Box 71"/>
          <p:cNvSpPr txBox="1">
            <a:spLocks noChangeArrowheads="1"/>
          </p:cNvSpPr>
          <p:nvPr/>
        </p:nvSpPr>
        <p:spPr bwMode="auto">
          <a:xfrm>
            <a:off x="6407152" y="1976388"/>
            <a:ext cx="4251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32˚</a:t>
            </a:r>
          </a:p>
        </p:txBody>
      </p:sp>
      <p:sp>
        <p:nvSpPr>
          <p:cNvPr id="98" name="Text Box 73"/>
          <p:cNvSpPr txBox="1">
            <a:spLocks noChangeArrowheads="1"/>
          </p:cNvSpPr>
          <p:nvPr/>
        </p:nvSpPr>
        <p:spPr bwMode="auto">
          <a:xfrm>
            <a:off x="8999539" y="2263725"/>
            <a:ext cx="5164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117˚</a:t>
            </a:r>
          </a:p>
        </p:txBody>
      </p:sp>
      <p:sp>
        <p:nvSpPr>
          <p:cNvPr id="99" name="Text Box 74"/>
          <p:cNvSpPr txBox="1">
            <a:spLocks noChangeArrowheads="1"/>
          </p:cNvSpPr>
          <p:nvPr/>
        </p:nvSpPr>
        <p:spPr bwMode="auto">
          <a:xfrm>
            <a:off x="3671889" y="4063950"/>
            <a:ext cx="4251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41˚</a:t>
            </a:r>
          </a:p>
        </p:txBody>
      </p:sp>
      <p:sp>
        <p:nvSpPr>
          <p:cNvPr id="100" name="Text Box 75"/>
          <p:cNvSpPr txBox="1">
            <a:spLocks noChangeArrowheads="1"/>
          </p:cNvSpPr>
          <p:nvPr/>
        </p:nvSpPr>
        <p:spPr bwMode="auto">
          <a:xfrm>
            <a:off x="9072564" y="3992513"/>
            <a:ext cx="4251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68˚</a:t>
            </a:r>
          </a:p>
        </p:txBody>
      </p:sp>
      <p:sp>
        <p:nvSpPr>
          <p:cNvPr id="101" name="Text Box 76"/>
          <p:cNvSpPr txBox="1">
            <a:spLocks noChangeArrowheads="1"/>
          </p:cNvSpPr>
          <p:nvPr/>
        </p:nvSpPr>
        <p:spPr bwMode="auto">
          <a:xfrm>
            <a:off x="3743327" y="5359350"/>
            <a:ext cx="4251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32˚</a:t>
            </a:r>
          </a:p>
        </p:txBody>
      </p:sp>
      <p:sp>
        <p:nvSpPr>
          <p:cNvPr id="102" name="Text Box 77"/>
          <p:cNvSpPr txBox="1">
            <a:spLocks noChangeArrowheads="1"/>
          </p:cNvSpPr>
          <p:nvPr/>
        </p:nvSpPr>
        <p:spPr bwMode="auto">
          <a:xfrm>
            <a:off x="4967289" y="5935613"/>
            <a:ext cx="4251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32˚</a:t>
            </a:r>
          </a:p>
        </p:txBody>
      </p:sp>
      <p:sp>
        <p:nvSpPr>
          <p:cNvPr id="103" name="Freeform 78"/>
          <p:cNvSpPr>
            <a:spLocks/>
          </p:cNvSpPr>
          <p:nvPr/>
        </p:nvSpPr>
        <p:spPr bwMode="auto">
          <a:xfrm rot="6168795">
            <a:off x="5969002" y="5654625"/>
            <a:ext cx="735012" cy="433388"/>
          </a:xfrm>
          <a:custGeom>
            <a:avLst/>
            <a:gdLst>
              <a:gd name="T0" fmla="*/ 0 w 317"/>
              <a:gd name="T1" fmla="*/ 0 h 181"/>
              <a:gd name="T2" fmla="*/ 227 w 317"/>
              <a:gd name="T3" fmla="*/ 45 h 181"/>
              <a:gd name="T4" fmla="*/ 317 w 317"/>
              <a:gd name="T5" fmla="*/ 181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7" h="181">
                <a:moveTo>
                  <a:pt x="0" y="0"/>
                </a:moveTo>
                <a:cubicBezTo>
                  <a:pt x="87" y="7"/>
                  <a:pt x="174" y="15"/>
                  <a:pt x="227" y="45"/>
                </a:cubicBezTo>
                <a:cubicBezTo>
                  <a:pt x="280" y="75"/>
                  <a:pt x="298" y="128"/>
                  <a:pt x="317" y="18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GB" sz="1400">
              <a:solidFill>
                <a:srgbClr val="000000"/>
              </a:solidFill>
            </a:endParaRPr>
          </a:p>
        </p:txBody>
      </p:sp>
      <p:sp>
        <p:nvSpPr>
          <p:cNvPr id="104" name="Text Box 79"/>
          <p:cNvSpPr txBox="1">
            <a:spLocks noChangeArrowheads="1"/>
          </p:cNvSpPr>
          <p:nvPr/>
        </p:nvSpPr>
        <p:spPr bwMode="auto">
          <a:xfrm>
            <a:off x="6048377" y="5792738"/>
            <a:ext cx="5164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117˚</a:t>
            </a:r>
          </a:p>
        </p:txBody>
      </p:sp>
      <p:sp>
        <p:nvSpPr>
          <p:cNvPr id="105" name="Text Box 80"/>
          <p:cNvSpPr txBox="1">
            <a:spLocks noChangeArrowheads="1"/>
          </p:cNvSpPr>
          <p:nvPr/>
        </p:nvSpPr>
        <p:spPr bwMode="auto">
          <a:xfrm>
            <a:off x="8783639" y="5792738"/>
            <a:ext cx="4251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1400">
                <a:solidFill>
                  <a:srgbClr val="000000"/>
                </a:solidFill>
              </a:rPr>
              <a:t>41˚</a:t>
            </a:r>
          </a:p>
        </p:txBody>
      </p:sp>
      <p:sp>
        <p:nvSpPr>
          <p:cNvPr id="106" name="Text Box 81"/>
          <p:cNvSpPr txBox="1">
            <a:spLocks noChangeArrowheads="1"/>
          </p:cNvSpPr>
          <p:nvPr/>
        </p:nvSpPr>
        <p:spPr bwMode="auto">
          <a:xfrm>
            <a:off x="3878150" y="1760935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 dirty="0">
                <a:solidFill>
                  <a:schemeClr val="tx1"/>
                </a:solidFill>
              </a:rPr>
              <a:t>068˚</a:t>
            </a:r>
          </a:p>
        </p:txBody>
      </p:sp>
      <p:sp>
        <p:nvSpPr>
          <p:cNvPr id="107" name="Text Box 82"/>
          <p:cNvSpPr txBox="1">
            <a:spLocks noChangeArrowheads="1"/>
          </p:cNvSpPr>
          <p:nvPr/>
        </p:nvSpPr>
        <p:spPr bwMode="auto">
          <a:xfrm>
            <a:off x="5759079" y="2264991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328˚</a:t>
            </a:r>
          </a:p>
        </p:txBody>
      </p:sp>
      <p:sp>
        <p:nvSpPr>
          <p:cNvPr id="108" name="Text Box 83"/>
          <p:cNvSpPr txBox="1">
            <a:spLocks noChangeArrowheads="1"/>
          </p:cNvSpPr>
          <p:nvPr/>
        </p:nvSpPr>
        <p:spPr bwMode="auto">
          <a:xfrm>
            <a:off x="9783650" y="2408635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063˚</a:t>
            </a:r>
          </a:p>
        </p:txBody>
      </p:sp>
      <p:sp>
        <p:nvSpPr>
          <p:cNvPr id="109" name="Text Box 84"/>
          <p:cNvSpPr txBox="1">
            <a:spLocks noChangeArrowheads="1"/>
          </p:cNvSpPr>
          <p:nvPr/>
        </p:nvSpPr>
        <p:spPr bwMode="auto">
          <a:xfrm>
            <a:off x="3159012" y="3416698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221˚</a:t>
            </a:r>
          </a:p>
        </p:txBody>
      </p:sp>
      <p:sp>
        <p:nvSpPr>
          <p:cNvPr id="110" name="Text Box 85"/>
          <p:cNvSpPr txBox="1">
            <a:spLocks noChangeArrowheads="1"/>
          </p:cNvSpPr>
          <p:nvPr/>
        </p:nvSpPr>
        <p:spPr bwMode="auto">
          <a:xfrm>
            <a:off x="5967300" y="3705623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270˚</a:t>
            </a:r>
          </a:p>
        </p:txBody>
      </p:sp>
      <p:sp>
        <p:nvSpPr>
          <p:cNvPr id="111" name="Text Box 86"/>
          <p:cNvSpPr txBox="1">
            <a:spLocks noChangeArrowheads="1"/>
          </p:cNvSpPr>
          <p:nvPr/>
        </p:nvSpPr>
        <p:spPr bwMode="auto">
          <a:xfrm>
            <a:off x="9927666" y="4241145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248˚</a:t>
            </a:r>
          </a:p>
        </p:txBody>
      </p:sp>
      <p:sp>
        <p:nvSpPr>
          <p:cNvPr id="112" name="Text Box 87"/>
          <p:cNvSpPr txBox="1">
            <a:spLocks noChangeArrowheads="1"/>
          </p:cNvSpPr>
          <p:nvPr/>
        </p:nvSpPr>
        <p:spPr bwMode="auto">
          <a:xfrm>
            <a:off x="3085987" y="5793185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148˚</a:t>
            </a:r>
          </a:p>
        </p:txBody>
      </p:sp>
      <p:sp>
        <p:nvSpPr>
          <p:cNvPr id="113" name="Text Box 88"/>
          <p:cNvSpPr txBox="1">
            <a:spLocks noChangeArrowheads="1"/>
          </p:cNvSpPr>
          <p:nvPr/>
        </p:nvSpPr>
        <p:spPr bwMode="auto">
          <a:xfrm>
            <a:off x="6830900" y="5648723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248˚</a:t>
            </a:r>
          </a:p>
        </p:txBody>
      </p:sp>
      <p:sp>
        <p:nvSpPr>
          <p:cNvPr id="114" name="Text Box 89"/>
          <p:cNvSpPr txBox="1">
            <a:spLocks noChangeArrowheads="1"/>
          </p:cNvSpPr>
          <p:nvPr/>
        </p:nvSpPr>
        <p:spPr bwMode="auto">
          <a:xfrm>
            <a:off x="9567750" y="5721748"/>
            <a:ext cx="655949" cy="40011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 sz="2000">
                <a:solidFill>
                  <a:schemeClr val="tx1"/>
                </a:solidFill>
              </a:rPr>
              <a:t>041˚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TECHNIQUE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 to Avoid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29844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29844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lost marks come from these four things.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14400" y="210312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71600" y="210312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from the wrong point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669280" y="210312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‘from’ carefully — that is where you stand.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66928" y="29260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14400" y="29260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71600" y="29260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anticlockwise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669280" y="292608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Bearings are ALWAYS clockwise from north.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66928" y="37490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14400" y="374904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71600" y="37490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60° instead of 060°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669280" y="374904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figures — always. Add a leading zero.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45720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914400" y="45720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371600" y="45720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Forgetting the North line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5669280" y="457200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is not drawn, draw it yourself at the right point.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66928" y="53949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14400" y="53949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371600" y="539496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using parallel north lines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5669280" y="5394960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 and co-interior angles solve most exam questions.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66928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Bearings questions often combine with SOHCAHTOA or the sine/cosine rule — sketch the triangle.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Worksheets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line at the ‘from’ point, clockwise, three figures.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North line at the right point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parallel north lines (alternate angles)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bearing? ± 180°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your answer with three figures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WORKSHEET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Set 1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368400" y="1399032"/>
            <a:ext cx="9454896" cy="457382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57147A2B-D364-4892-9C45-E8A0114DF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00" y="1564496"/>
            <a:ext cx="8510531" cy="240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WORKSHEET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Set 2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96705" y="1399032"/>
            <a:ext cx="6998284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5BC1F464-46BC-4366-BBD8-FB63E79C8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774" y="1288571"/>
            <a:ext cx="6790726" cy="3813781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4E7532B5-14F1-40A7-A11F-780EC93C8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769" y="5097036"/>
            <a:ext cx="6790726" cy="11485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WORKSHEET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Set 3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612000" y="1399032"/>
            <a:ext cx="6967695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747FBB4B-5D16-4F37-A2E6-69E739537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571" y="1447800"/>
            <a:ext cx="6038243" cy="4967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xmlns="" id="{418FD978-A8F1-4566-8CE5-CB8B4C43E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754" y="1944575"/>
            <a:ext cx="6044061" cy="458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WORKSHEET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Set 4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231902" y="1243584"/>
            <a:ext cx="5637971" cy="5248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4AE386F7-09FE-4F54-9722-ADA537AA2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649" y="251174"/>
            <a:ext cx="7364911" cy="65519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bearing is measured from NORTH, CLOCKWISE, with THREE figures (060° not 60°).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‘The bearing of A from B’ — stand at B: the North line goes at B.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lines are PARALLEL — use alternate and co-interior angles.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bearing = original ± 180° (add if under 180°, subtract if over).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Bearings often combine with trigonometry — sketch the triangle and label it.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word ‘from’ tells you where to put the North line.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1012</Words>
  <Application>Microsoft Office PowerPoint</Application>
  <PresentationFormat>Custom</PresentationFormat>
  <Paragraphs>230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5</cp:revision>
  <dcterms:created xsi:type="dcterms:W3CDTF">2026-07-14T20:03:15Z</dcterms:created>
  <dcterms:modified xsi:type="dcterms:W3CDTF">2026-07-27T09:40:33Z</dcterms:modified>
</cp:coreProperties>
</file>