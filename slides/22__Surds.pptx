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95" d="100"/>
          <a:sy n="95" d="100"/>
        </p:scale>
        <p:origin x="-178" y="13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18137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18" Type="http://schemas.openxmlformats.org/officeDocument/2006/relationships/image" Target="../media/image2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17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5" Type="http://schemas.openxmlformats.org/officeDocument/2006/relationships/image" Target="../media/image2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418320" y="1658772"/>
            <a:ext cx="102819" cy="192786"/>
          </a:xfrm>
          <a:prstGeom prst="line">
            <a:avLst/>
          </a:prstGeom>
          <a:noFill/>
          <a:ln w="22860">
            <a:solidFill>
              <a:srgbClr val="33463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521139" y="1851558"/>
            <a:ext cx="141376" cy="0"/>
          </a:xfrm>
          <a:prstGeom prst="line">
            <a:avLst/>
          </a:prstGeom>
          <a:noFill/>
          <a:ln w="25400">
            <a:solidFill>
              <a:srgbClr val="33463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662516" y="1247496"/>
            <a:ext cx="1463040" cy="0"/>
          </a:xfrm>
          <a:prstGeom prst="line">
            <a:avLst/>
          </a:prstGeom>
          <a:noFill/>
          <a:ln w="22860">
            <a:solidFill>
              <a:srgbClr val="33463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675368" y="1274928"/>
            <a:ext cx="1371600" cy="674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334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400" dirty="0"/>
          </a:p>
        </p:txBody>
      </p:sp>
      <p:sp>
        <p:nvSpPr>
          <p:cNvPr id="41" name="Shape 39"/>
          <p:cNvSpPr/>
          <p:nvPr/>
        </p:nvSpPr>
        <p:spPr>
          <a:xfrm>
            <a:off x="777240" y="6400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/>
        </p:spPr>
      </p:sp>
      <p:sp>
        <p:nvSpPr>
          <p:cNvPr id="42" name="Text 40"/>
          <p:cNvSpPr/>
          <p:nvPr/>
        </p:nvSpPr>
        <p:spPr>
          <a:xfrm>
            <a:off x="777240" y="640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2160" dirty="0"/>
          </a:p>
        </p:txBody>
      </p:sp>
      <p:sp>
        <p:nvSpPr>
          <p:cNvPr id="43" name="Text 41"/>
          <p:cNvSpPr/>
          <p:nvPr/>
        </p:nvSpPr>
        <p:spPr>
          <a:xfrm>
            <a:off x="1600200" y="6035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Zπ  MATHS HUB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60020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Edexcel IGCSE (9–1) · Higher Tier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777240" y="224028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Roots &amp; Surds</a:t>
            </a:r>
            <a:endParaRPr lang="en-US" sz="3800" dirty="0"/>
          </a:p>
        </p:txBody>
      </p:sp>
      <p:sp>
        <p:nvSpPr>
          <p:cNvPr id="46" name="Text 44"/>
          <p:cNvSpPr/>
          <p:nvPr/>
        </p:nvSpPr>
        <p:spPr>
          <a:xfrm>
            <a:off x="804672" y="33101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Simplifying · Multiplying &amp; Dividing · Adding Like Surds · Expanding · Rationalising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777240" y="4297680"/>
            <a:ext cx="6766560" cy="169164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1097280" y="4498848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Zahra Sheikh Ali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1097280" y="4956048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C9D2C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IGCSE Mathematics Teacher  ·  M.Sc. Differential Geometry &amp; Geometric Control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1097280" y="5394960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  66613748      ✉  zahraa.sheikhali@outlook.com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OVERVIEW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with Exact Roots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81328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813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SURD is a root that cannot be worked out exactly,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√2 or √5. We leave it as a root so the answer stays exact — never round it.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1435608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Simplifying a surd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4343400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599432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4599432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5212080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Multiplying &amp; dividing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8119872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375904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375904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8988552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Adding like surds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566928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22960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822960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58" name="Text 56"/>
          <p:cNvSpPr/>
          <p:nvPr/>
        </p:nvSpPr>
        <p:spPr>
          <a:xfrm>
            <a:off x="1435608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Expanding brackets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4343400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599432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1" name="Text 59"/>
          <p:cNvSpPr/>
          <p:nvPr/>
        </p:nvSpPr>
        <p:spPr>
          <a:xfrm>
            <a:off x="4599432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5212080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Rationalising the denominator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8119872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375904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5" name="Text 63"/>
          <p:cNvSpPr/>
          <p:nvPr/>
        </p:nvSpPr>
        <p:spPr>
          <a:xfrm>
            <a:off x="8375904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66" name="Text 64"/>
          <p:cNvSpPr/>
          <p:nvPr/>
        </p:nvSpPr>
        <p:spPr>
          <a:xfrm>
            <a:off x="8988552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1300" dirty="0"/>
          </a:p>
        </p:txBody>
      </p:sp>
      <p:sp>
        <p:nvSpPr>
          <p:cNvPr id="67" name="Text 65"/>
          <p:cNvSpPr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words:  </a:t>
            </a: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surd · exact · simplify · square factor · like surds · rationalise · conjugate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60422" y="-736493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IDEA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Surd Rules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8016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80160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these four — every question uses one of them.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66928" y="228600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 45"/>
              <p:cNvSpPr/>
              <p:nvPr/>
            </p:nvSpPr>
            <p:spPr>
              <a:xfrm>
                <a:off x="1214120" y="2571242"/>
                <a:ext cx="384048" cy="3067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2000" b="1" i="1" smtClean="0">
                              <a:solidFill>
                                <a:srgbClr val="C84F2F"/>
                              </a:solidFill>
                              <a:latin typeface="Cambria Math"/>
                              <a:ea typeface="Cambria" pitchFamily="34" charset="-122"/>
                            </a:rPr>
                          </m:ctrlPr>
                        </m:radPr>
                        <m:deg/>
                        <m:e>
                          <m:r>
                            <m:rPr>
                              <m:nor/>
                            </m:rPr>
                            <a:rPr lang="en-US" sz="2000" b="1" dirty="0">
                              <a:solidFill>
                                <a:srgbClr val="C84F2F"/>
                              </a:solidFill>
                              <a:latin typeface="Cambria" pitchFamily="34" charset="0"/>
                              <a:ea typeface="Cambria" pitchFamily="34" charset="-122"/>
                              <a:cs typeface="Cambria" pitchFamily="34" charset="-120"/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lang="en-US" sz="2000" dirty="0"/>
                            <m:t> </m:t>
                          </m:r>
                        </m:e>
                      </m:rad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47" name="Text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4120" y="2571242"/>
                <a:ext cx="384048" cy="306705"/>
              </a:xfrm>
              <a:prstGeom prst="rect">
                <a:avLst/>
              </a:prstGeom>
              <a:blipFill rotWithShape="1">
                <a:blip r:embed="rId3"/>
                <a:stretch>
                  <a:fillRect l="-317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 46"/>
          <p:cNvSpPr/>
          <p:nvPr/>
        </p:nvSpPr>
        <p:spPr>
          <a:xfrm>
            <a:off x="1738630" y="2487168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en-US" sz="2000" dirty="0"/>
          </a:p>
        </p:txBody>
      </p:sp>
      <p:sp>
        <p:nvSpPr>
          <p:cNvPr id="53" name="Text 51"/>
          <p:cNvSpPr/>
          <p:nvPr/>
        </p:nvSpPr>
        <p:spPr>
          <a:xfrm>
            <a:off x="2764028" y="2487168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000" dirty="0"/>
          </a:p>
        </p:txBody>
      </p:sp>
      <p:sp>
        <p:nvSpPr>
          <p:cNvPr id="58" name="Text 56"/>
          <p:cNvSpPr/>
          <p:nvPr/>
        </p:nvSpPr>
        <p:spPr>
          <a:xfrm>
            <a:off x="6766560" y="228600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the numbers inside one root.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566928" y="324612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1738630" y="3447288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÷</a:t>
            </a:r>
            <a:endParaRPr lang="en-US" sz="2000" dirty="0"/>
          </a:p>
        </p:txBody>
      </p:sp>
      <p:sp>
        <p:nvSpPr>
          <p:cNvPr id="69" name="Text 67"/>
          <p:cNvSpPr/>
          <p:nvPr/>
        </p:nvSpPr>
        <p:spPr>
          <a:xfrm>
            <a:off x="2764028" y="3447288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000" dirty="0"/>
          </a:p>
        </p:txBody>
      </p:sp>
      <p:sp>
        <p:nvSpPr>
          <p:cNvPr id="73" name="Text 71"/>
          <p:cNvSpPr/>
          <p:nvPr/>
        </p:nvSpPr>
        <p:spPr>
          <a:xfrm>
            <a:off x="3264916" y="3531362"/>
            <a:ext cx="603504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4" name="Text 72"/>
              <p:cNvSpPr/>
              <p:nvPr/>
            </p:nvSpPr>
            <p:spPr>
              <a:xfrm>
                <a:off x="3109468" y="3506724"/>
                <a:ext cx="457200" cy="34747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b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1300" i="1" smtClean="0">
                              <a:solidFill>
                                <a:srgbClr val="C00000"/>
                              </a:solidFill>
                              <a:latin typeface="Cambria Math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1300" i="1" smtClean="0">
                                  <a:solidFill>
                                    <a:srgbClr val="C00000"/>
                                  </a:solidFill>
                                  <a:latin typeface="Cambria Math"/>
                                </a:rPr>
                              </m:ctrlPr>
                            </m:fPr>
                            <m:num>
                              <m:r>
                                <a:rPr lang="en-US" sz="1300" b="0" i="1" smtClean="0">
                                  <a:solidFill>
                                    <a:srgbClr val="C00000"/>
                                  </a:solidFill>
                                  <a:latin typeface="Cambria Math"/>
                                </a:rPr>
                                <m:t>𝑎</m:t>
                              </m:r>
                            </m:num>
                            <m:den>
                              <m:r>
                                <a:rPr lang="en-US" sz="1300" b="0" i="1" smtClean="0">
                                  <a:solidFill>
                                    <a:srgbClr val="C00000"/>
                                  </a:solidFill>
                                  <a:latin typeface="Cambria Math"/>
                                </a:rPr>
                                <m:t>𝑏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en-US" sz="13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74" name="Text 7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9468" y="3506724"/>
                <a:ext cx="457200" cy="347472"/>
              </a:xfrm>
              <a:prstGeom prst="rect">
                <a:avLst/>
              </a:prstGeom>
              <a:blipFill rotWithShape="1">
                <a:blip r:embed="rId4"/>
                <a:stretch>
                  <a:fillRect t="-7018" b="-12281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" name="Text 75"/>
          <p:cNvSpPr/>
          <p:nvPr/>
        </p:nvSpPr>
        <p:spPr>
          <a:xfrm>
            <a:off x="6766560" y="32461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the numbers inside one root.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566928" y="420624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9" name="Text 77"/>
          <p:cNvSpPr/>
          <p:nvPr/>
        </p:nvSpPr>
        <p:spPr>
          <a:xfrm>
            <a:off x="1097280" y="4407408"/>
            <a:ext cx="256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000" dirty="0"/>
          </a:p>
        </p:txBody>
      </p:sp>
      <p:sp>
        <p:nvSpPr>
          <p:cNvPr id="84" name="Text 82"/>
          <p:cNvSpPr/>
          <p:nvPr/>
        </p:nvSpPr>
        <p:spPr>
          <a:xfrm>
            <a:off x="1994662" y="4407408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000" dirty="0"/>
          </a:p>
        </p:txBody>
      </p:sp>
      <p:sp>
        <p:nvSpPr>
          <p:cNvPr id="85" name="Text 83"/>
          <p:cNvSpPr/>
          <p:nvPr/>
        </p:nvSpPr>
        <p:spPr>
          <a:xfrm>
            <a:off x="2378710" y="4407408"/>
            <a:ext cx="256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000" dirty="0"/>
          </a:p>
        </p:txBody>
      </p:sp>
      <p:sp>
        <p:nvSpPr>
          <p:cNvPr id="90" name="Text 88"/>
          <p:cNvSpPr/>
          <p:nvPr/>
        </p:nvSpPr>
        <p:spPr>
          <a:xfrm>
            <a:off x="3276092" y="4407408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 (p + q)</a:t>
            </a:r>
            <a:endParaRPr lang="en-US" sz="2000" dirty="0"/>
          </a:p>
        </p:txBody>
      </p:sp>
      <p:sp>
        <p:nvSpPr>
          <p:cNvPr id="95" name="Text 93"/>
          <p:cNvSpPr/>
          <p:nvPr/>
        </p:nvSpPr>
        <p:spPr>
          <a:xfrm>
            <a:off x="6766560" y="42062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LIKE surds (same number inside) can be added.</a:t>
            </a:r>
            <a:endParaRPr lang="en-US" sz="1200" dirty="0"/>
          </a:p>
        </p:txBody>
      </p:sp>
      <p:sp>
        <p:nvSpPr>
          <p:cNvPr id="96" name="Shape 94"/>
          <p:cNvSpPr/>
          <p:nvPr/>
        </p:nvSpPr>
        <p:spPr>
          <a:xfrm>
            <a:off x="566928" y="516636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7" name="Text 95"/>
          <p:cNvSpPr/>
          <p:nvPr/>
        </p:nvSpPr>
        <p:spPr>
          <a:xfrm>
            <a:off x="1097280" y="5367528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 x +</a:t>
            </a:r>
            <a:endParaRPr lang="en-US" sz="2000" dirty="0"/>
          </a:p>
        </p:txBody>
      </p:sp>
      <p:sp>
        <p:nvSpPr>
          <p:cNvPr id="102" name="Text 100"/>
          <p:cNvSpPr/>
          <p:nvPr/>
        </p:nvSpPr>
        <p:spPr>
          <a:xfrm>
            <a:off x="2607310" y="5367528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( x −</a:t>
            </a:r>
            <a:endParaRPr lang="en-US" sz="2000" dirty="0"/>
          </a:p>
        </p:txBody>
      </p:sp>
      <p:sp>
        <p:nvSpPr>
          <p:cNvPr id="107" name="Text 105"/>
          <p:cNvSpPr/>
          <p:nvPr/>
        </p:nvSpPr>
        <p:spPr>
          <a:xfrm>
            <a:off x="4483100" y="5367528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 =  x</a:t>
            </a:r>
            <a:endParaRPr lang="en-US" sz="2000" dirty="0"/>
          </a:p>
        </p:txBody>
      </p:sp>
      <p:sp>
        <p:nvSpPr>
          <p:cNvPr id="108" name="Text 106"/>
          <p:cNvSpPr/>
          <p:nvPr/>
        </p:nvSpPr>
        <p:spPr>
          <a:xfrm>
            <a:off x="5102352" y="5330952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baseline="300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9" name="Text 107"/>
          <p:cNvSpPr/>
          <p:nvPr/>
        </p:nvSpPr>
        <p:spPr>
          <a:xfrm>
            <a:off x="5315204" y="5371381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 y</a:t>
            </a:r>
            <a:endParaRPr lang="en-US" sz="2000" dirty="0"/>
          </a:p>
        </p:txBody>
      </p:sp>
      <p:sp>
        <p:nvSpPr>
          <p:cNvPr id="110" name="Text 108"/>
          <p:cNvSpPr/>
          <p:nvPr/>
        </p:nvSpPr>
        <p:spPr>
          <a:xfrm>
            <a:off x="6766560" y="516636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surd disappears — this is why the conjugate works.</a:t>
            </a:r>
            <a:endParaRPr lang="en-US" sz="1200" dirty="0"/>
          </a:p>
        </p:txBody>
      </p:sp>
      <p:sp>
        <p:nvSpPr>
          <p:cNvPr id="111" name="Shape 109"/>
          <p:cNvSpPr/>
          <p:nvPr/>
        </p:nvSpPr>
        <p:spPr>
          <a:xfrm>
            <a:off x="606044" y="6248240"/>
            <a:ext cx="11064240" cy="457200"/>
          </a:xfrm>
          <a:prstGeom prst="roundRect">
            <a:avLst>
              <a:gd name="adj" fmla="val 12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2" name="Text 110"/>
          <p:cNvSpPr/>
          <p:nvPr/>
        </p:nvSpPr>
        <p:spPr>
          <a:xfrm>
            <a:off x="672806" y="6248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answers EXACT — leave the surd in, never round it.</a:t>
            </a:r>
            <a:endParaRPr lang="en-US" sz="23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3" name="Rectangle 112"/>
              <p:cNvSpPr/>
              <p:nvPr/>
            </p:nvSpPr>
            <p:spPr>
              <a:xfrm>
                <a:off x="2092635" y="2533141"/>
                <a:ext cx="565476" cy="40895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b="1" i="1">
                              <a:solidFill>
                                <a:srgbClr val="C84F2F"/>
                              </a:solidFill>
                              <a:latin typeface="Cambria Math"/>
                              <a:ea typeface="Cambria" pitchFamily="34" charset="-122"/>
                            </a:rPr>
                          </m:ctrlPr>
                        </m:radPr>
                        <m:deg/>
                        <m:e>
                          <m:r>
                            <m:rPr>
                              <m:nor/>
                            </m:rPr>
                            <a:rPr lang="en-US" b="1" i="0" smtClean="0">
                              <a:solidFill>
                                <a:srgbClr val="C84F2F"/>
                              </a:solidFill>
                              <a:latin typeface="Cambria Math"/>
                              <a:ea typeface="Cambria" pitchFamily="34" charset="-122"/>
                            </a:rPr>
                            <m:t>b</m:t>
                          </m:r>
                          <m:r>
                            <m:rPr>
                              <m:nor/>
                            </m:rPr>
                            <a:rPr lang="en-US" dirty="0"/>
                            <m:t> </m:t>
                          </m:r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13" name="Rectangle 1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2635" y="2533141"/>
                <a:ext cx="565476" cy="408958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4" name="Rectangle 113"/>
              <p:cNvSpPr/>
              <p:nvPr/>
            </p:nvSpPr>
            <p:spPr>
              <a:xfrm>
                <a:off x="3002498" y="2503549"/>
                <a:ext cx="701731" cy="40767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b="1" i="1">
                              <a:solidFill>
                                <a:srgbClr val="C84F2F"/>
                              </a:solidFill>
                              <a:latin typeface="Cambria Math"/>
                              <a:ea typeface="Cambria" pitchFamily="34" charset="-122"/>
                            </a:rPr>
                          </m:ctrlPr>
                        </m:radPr>
                        <m:deg/>
                        <m:e>
                          <m:r>
                            <m:rPr>
                              <m:nor/>
                            </m:rPr>
                            <a:rPr lang="en-US" b="1" dirty="0">
                              <a:solidFill>
                                <a:srgbClr val="C84F2F"/>
                              </a:solidFill>
                              <a:latin typeface="Cambria" pitchFamily="34" charset="0"/>
                              <a:ea typeface="Cambria" pitchFamily="34" charset="-122"/>
                              <a:cs typeface="Cambria" pitchFamily="34" charset="-120"/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lang="en-US" b="1" i="0" dirty="0" smtClean="0">
                              <a:solidFill>
                                <a:srgbClr val="C84F2F"/>
                              </a:solidFill>
                              <a:latin typeface="Cambria" pitchFamily="34" charset="0"/>
                              <a:ea typeface="Cambria" pitchFamily="34" charset="-122"/>
                              <a:cs typeface="Cambria" pitchFamily="34" charset="-120"/>
                            </a:rPr>
                            <m:t>b</m:t>
                          </m:r>
                          <m:r>
                            <m:rPr>
                              <m:nor/>
                            </m:rPr>
                            <a:rPr lang="en-US" dirty="0"/>
                            <m:t> </m:t>
                          </m:r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14" name="Rectangle 1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2498" y="2503549"/>
                <a:ext cx="701731" cy="407676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5" name="Text 45"/>
              <p:cNvSpPr/>
              <p:nvPr/>
            </p:nvSpPr>
            <p:spPr>
              <a:xfrm>
                <a:off x="1219574" y="3531679"/>
                <a:ext cx="384048" cy="3067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2000" b="1" i="1" smtClean="0">
                              <a:solidFill>
                                <a:srgbClr val="C84F2F"/>
                              </a:solidFill>
                              <a:latin typeface="Cambria Math"/>
                              <a:ea typeface="Cambria" pitchFamily="34" charset="-122"/>
                            </a:rPr>
                          </m:ctrlPr>
                        </m:radPr>
                        <m:deg/>
                        <m:e>
                          <m:r>
                            <m:rPr>
                              <m:nor/>
                            </m:rPr>
                            <a:rPr lang="en-US" sz="2000" b="1" dirty="0">
                              <a:solidFill>
                                <a:srgbClr val="C84F2F"/>
                              </a:solidFill>
                              <a:latin typeface="Cambria" pitchFamily="34" charset="0"/>
                              <a:ea typeface="Cambria" pitchFamily="34" charset="-122"/>
                              <a:cs typeface="Cambria" pitchFamily="34" charset="-120"/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lang="en-US" sz="2000" dirty="0"/>
                            <m:t> </m:t>
                          </m:r>
                        </m:e>
                      </m:rad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15" name="Text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574" y="3531679"/>
                <a:ext cx="384048" cy="306705"/>
              </a:xfrm>
              <a:prstGeom prst="rect">
                <a:avLst/>
              </a:prstGeom>
              <a:blipFill rotWithShape="1">
                <a:blip r:embed="rId7"/>
                <a:stretch>
                  <a:fillRect l="-317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6" name="Rectangle 115"/>
              <p:cNvSpPr/>
              <p:nvPr/>
            </p:nvSpPr>
            <p:spPr>
              <a:xfrm>
                <a:off x="2112620" y="3496149"/>
                <a:ext cx="565476" cy="40895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b="1" i="1">
                              <a:solidFill>
                                <a:srgbClr val="C84F2F"/>
                              </a:solidFill>
                              <a:latin typeface="Cambria Math"/>
                              <a:ea typeface="Cambria" pitchFamily="34" charset="-122"/>
                            </a:rPr>
                          </m:ctrlPr>
                        </m:radPr>
                        <m:deg/>
                        <m:e>
                          <m:r>
                            <m:rPr>
                              <m:nor/>
                            </m:rPr>
                            <a:rPr lang="en-US" b="1" i="0" smtClean="0">
                              <a:solidFill>
                                <a:srgbClr val="C84F2F"/>
                              </a:solidFill>
                              <a:latin typeface="Cambria Math"/>
                              <a:ea typeface="Cambria" pitchFamily="34" charset="-122"/>
                            </a:rPr>
                            <m:t>b</m:t>
                          </m:r>
                          <m:r>
                            <m:rPr>
                              <m:nor/>
                            </m:rPr>
                            <a:rPr lang="en-US" dirty="0"/>
                            <m:t> </m:t>
                          </m:r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16" name="Rectangle 1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2620" y="3496149"/>
                <a:ext cx="565476" cy="408958"/>
              </a:xfrm>
              <a:prstGeom prst="rect">
                <a:avLst/>
              </a:prstGeom>
              <a:blipFill rotWithShape="1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Text 45"/>
              <p:cNvSpPr/>
              <p:nvPr/>
            </p:nvSpPr>
            <p:spPr>
              <a:xfrm>
                <a:off x="1339596" y="4505913"/>
                <a:ext cx="384048" cy="3067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2000" b="1" i="1" smtClean="0">
                              <a:solidFill>
                                <a:srgbClr val="C84F2F"/>
                              </a:solidFill>
                              <a:latin typeface="Cambria Math"/>
                              <a:ea typeface="Cambria" pitchFamily="34" charset="-122"/>
                            </a:rPr>
                          </m:ctrlPr>
                        </m:radPr>
                        <m:deg/>
                        <m:e>
                          <m:r>
                            <m:rPr>
                              <m:nor/>
                            </m:rPr>
                            <a:rPr lang="en-US" sz="2000" b="1" i="0" smtClean="0">
                              <a:solidFill>
                                <a:srgbClr val="C84F2F"/>
                              </a:solidFill>
                              <a:latin typeface="Cambria Math"/>
                              <a:ea typeface="Cambria" pitchFamily="34" charset="-122"/>
                            </a:rPr>
                            <m:t>c</m:t>
                          </m:r>
                          <m:r>
                            <m:rPr>
                              <m:nor/>
                            </m:rPr>
                            <a:rPr lang="en-US" sz="2000" dirty="0"/>
                            <m:t> </m:t>
                          </m:r>
                        </m:e>
                      </m:rad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18" name="Text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9596" y="4505913"/>
                <a:ext cx="384048" cy="306705"/>
              </a:xfrm>
              <a:prstGeom prst="rect">
                <a:avLst/>
              </a:prstGeom>
              <a:blipFill rotWithShape="1">
                <a:blip r:embed="rId9"/>
                <a:stretch>
                  <a:fillRect l="-1587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9" name="Text 45"/>
              <p:cNvSpPr/>
              <p:nvPr/>
            </p:nvSpPr>
            <p:spPr>
              <a:xfrm>
                <a:off x="2618606" y="4512323"/>
                <a:ext cx="384048" cy="3067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2000" b="1" i="1" smtClean="0">
                              <a:solidFill>
                                <a:srgbClr val="C84F2F"/>
                              </a:solidFill>
                              <a:latin typeface="Cambria Math"/>
                              <a:ea typeface="Cambria" pitchFamily="34" charset="-122"/>
                            </a:rPr>
                          </m:ctrlPr>
                        </m:radPr>
                        <m:deg/>
                        <m:e>
                          <m:r>
                            <m:rPr>
                              <m:nor/>
                            </m:rPr>
                            <a:rPr lang="en-US" sz="2000" b="1" i="0" smtClean="0">
                              <a:solidFill>
                                <a:srgbClr val="C84F2F"/>
                              </a:solidFill>
                              <a:latin typeface="Cambria Math"/>
                              <a:ea typeface="Cambria" pitchFamily="34" charset="-122"/>
                            </a:rPr>
                            <m:t>c</m:t>
                          </m:r>
                          <m:r>
                            <m:rPr>
                              <m:nor/>
                            </m:rPr>
                            <a:rPr lang="en-US" sz="2000" dirty="0"/>
                            <m:t> </m:t>
                          </m:r>
                        </m:e>
                      </m:rad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19" name="Text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8606" y="4512323"/>
                <a:ext cx="384048" cy="306705"/>
              </a:xfrm>
              <a:prstGeom prst="rect">
                <a:avLst/>
              </a:prstGeom>
              <a:blipFill rotWithShape="1">
                <a:blip r:embed="rId10"/>
                <a:stretch>
                  <a:fillRect l="-1587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0" name="Text 45"/>
              <p:cNvSpPr/>
              <p:nvPr/>
            </p:nvSpPr>
            <p:spPr>
              <a:xfrm>
                <a:off x="4343400" y="4487227"/>
                <a:ext cx="384048" cy="3067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2000" b="1" i="1" smtClean="0">
                              <a:solidFill>
                                <a:srgbClr val="C84F2F"/>
                              </a:solidFill>
                              <a:latin typeface="Cambria Math"/>
                              <a:ea typeface="Cambria" pitchFamily="34" charset="-122"/>
                            </a:rPr>
                          </m:ctrlPr>
                        </m:radPr>
                        <m:deg/>
                        <m:e>
                          <m:r>
                            <m:rPr>
                              <m:nor/>
                            </m:rPr>
                            <a:rPr lang="en-US" sz="2000" b="1" i="0" smtClean="0">
                              <a:solidFill>
                                <a:srgbClr val="C84F2F"/>
                              </a:solidFill>
                              <a:latin typeface="Cambria Math"/>
                              <a:ea typeface="Cambria" pitchFamily="34" charset="-122"/>
                            </a:rPr>
                            <m:t>c</m:t>
                          </m:r>
                          <m:r>
                            <m:rPr>
                              <m:nor/>
                            </m:rPr>
                            <a:rPr lang="en-US" sz="2000" dirty="0"/>
                            <m:t> </m:t>
                          </m:r>
                        </m:e>
                      </m:rad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20" name="Text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3400" y="4487227"/>
                <a:ext cx="384048" cy="306705"/>
              </a:xfrm>
              <a:prstGeom prst="rect">
                <a:avLst/>
              </a:prstGeom>
              <a:blipFill rotWithShape="1">
                <a:blip r:embed="rId11"/>
                <a:stretch>
                  <a:fillRect l="-1587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1" name="Text 45"/>
              <p:cNvSpPr/>
              <p:nvPr/>
            </p:nvSpPr>
            <p:spPr>
              <a:xfrm>
                <a:off x="1920596" y="5451601"/>
                <a:ext cx="384048" cy="3067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2000" b="1" i="1" smtClean="0">
                              <a:solidFill>
                                <a:srgbClr val="C84F2F"/>
                              </a:solidFill>
                              <a:latin typeface="Cambria Math"/>
                              <a:ea typeface="Cambria" pitchFamily="34" charset="-122"/>
                            </a:rPr>
                          </m:ctrlPr>
                        </m:radPr>
                        <m:deg/>
                        <m:e>
                          <m:r>
                            <m:rPr>
                              <m:nor/>
                            </m:rPr>
                            <a:rPr lang="en-US" sz="2000" b="1" i="0" smtClean="0">
                              <a:solidFill>
                                <a:srgbClr val="C84F2F"/>
                              </a:solidFill>
                              <a:latin typeface="Cambria Math"/>
                              <a:ea typeface="Cambria" pitchFamily="34" charset="-122"/>
                            </a:rPr>
                            <m:t>y</m:t>
                          </m:r>
                          <m:r>
                            <m:rPr>
                              <m:nor/>
                            </m:rPr>
                            <a:rPr lang="en-US" sz="2000" dirty="0"/>
                            <m:t> </m:t>
                          </m:r>
                        </m:e>
                      </m:rad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21" name="Text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0596" y="5451601"/>
                <a:ext cx="384048" cy="306705"/>
              </a:xfrm>
              <a:prstGeom prst="rect">
                <a:avLst/>
              </a:prstGeom>
              <a:blipFill rotWithShape="1">
                <a:blip r:embed="rId12"/>
                <a:stretch>
                  <a:fillRect l="-1587" b="-23529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2" name="Text 45"/>
              <p:cNvSpPr/>
              <p:nvPr/>
            </p:nvSpPr>
            <p:spPr>
              <a:xfrm>
                <a:off x="3649726" y="5455773"/>
                <a:ext cx="384048" cy="3067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2000" b="1" i="1" smtClean="0">
                              <a:solidFill>
                                <a:srgbClr val="C84F2F"/>
                              </a:solidFill>
                              <a:latin typeface="Cambria Math"/>
                              <a:ea typeface="Cambria" pitchFamily="34" charset="-122"/>
                            </a:rPr>
                          </m:ctrlPr>
                        </m:radPr>
                        <m:deg/>
                        <m:e>
                          <m:r>
                            <m:rPr>
                              <m:nor/>
                            </m:rPr>
                            <a:rPr lang="en-US" sz="2000" b="1" i="0" smtClean="0">
                              <a:solidFill>
                                <a:srgbClr val="C84F2F"/>
                              </a:solidFill>
                              <a:latin typeface="Cambria Math"/>
                              <a:ea typeface="Cambria" pitchFamily="34" charset="-122"/>
                            </a:rPr>
                            <m:t>y</m:t>
                          </m:r>
                          <m:r>
                            <m:rPr>
                              <m:nor/>
                            </m:rPr>
                            <a:rPr lang="en-US" sz="2000" dirty="0"/>
                            <m:t> </m:t>
                          </m:r>
                        </m:e>
                      </m:rad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22" name="Text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9726" y="5455773"/>
                <a:ext cx="384048" cy="306705"/>
              </a:xfrm>
              <a:prstGeom prst="rect">
                <a:avLst/>
              </a:prstGeom>
              <a:blipFill rotWithShape="1">
                <a:blip r:embed="rId13"/>
                <a:stretch>
                  <a:fillRect l="-3175" b="-26000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SIMPLIFYING A SURD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 Out the Largest Square Factor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8016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80160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 the biggest square number (4, 9, 16, 25, 36 …) that divides into it.</a:t>
            </a:r>
            <a:endParaRPr lang="en-US" sz="13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 44"/>
              <p:cNvSpPr/>
              <p:nvPr/>
            </p:nvSpPr>
            <p:spPr>
              <a:xfrm>
                <a:off x="1340612" y="2443759"/>
                <a:ext cx="685800" cy="39871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2600" b="1" i="1" smtClean="0">
                              <a:solidFill>
                                <a:srgbClr val="1C2A22"/>
                              </a:solidFill>
                              <a:latin typeface="Cambria Math"/>
                              <a:ea typeface="Cambria" pitchFamily="34" charset="-122"/>
                            </a:rPr>
                          </m:ctrlPr>
                        </m:radPr>
                        <m:deg/>
                        <m:e>
                          <m:r>
                            <a:rPr lang="en-US" sz="2600" b="1" i="1" smtClean="0">
                              <a:solidFill>
                                <a:srgbClr val="1C2A22"/>
                              </a:solidFill>
                              <a:latin typeface="Cambria Math"/>
                              <a:ea typeface="Cambria" pitchFamily="34" charset="-122"/>
                            </a:rPr>
                            <m:t>𝟕𝟐</m:t>
                          </m:r>
                        </m:e>
                      </m:rad>
                    </m:oMath>
                  </m:oMathPara>
                </a14:m>
                <a:endParaRPr lang="en-US" sz="2600" dirty="0"/>
              </a:p>
            </p:txBody>
          </p:sp>
        </mc:Choice>
        <mc:Fallback>
          <p:sp>
            <p:nvSpPr>
              <p:cNvPr id="46" name="Text 4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0612" y="2443759"/>
                <a:ext cx="685800" cy="398717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Text 60"/>
          <p:cNvSpPr/>
          <p:nvPr/>
        </p:nvSpPr>
        <p:spPr>
          <a:xfrm>
            <a:off x="2137611" y="2387522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 6</a:t>
            </a:r>
            <a:endParaRPr lang="en-US" sz="3000" dirty="0"/>
          </a:p>
        </p:txBody>
      </p:sp>
      <p:sp>
        <p:nvSpPr>
          <p:cNvPr id="67" name="Shape 65"/>
          <p:cNvSpPr/>
          <p:nvPr/>
        </p:nvSpPr>
        <p:spPr>
          <a:xfrm>
            <a:off x="6766560" y="2194560"/>
            <a:ext cx="4864608" cy="3017520"/>
          </a:xfrm>
          <a:prstGeom prst="roundRect">
            <a:avLst>
              <a:gd name="adj" fmla="val 1818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8" name="Text 66"/>
          <p:cNvSpPr/>
          <p:nvPr/>
        </p:nvSpPr>
        <p:spPr>
          <a:xfrm>
            <a:off x="7132320" y="2432304"/>
            <a:ext cx="4133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700" dirty="0"/>
          </a:p>
        </p:txBody>
      </p:sp>
      <p:sp>
        <p:nvSpPr>
          <p:cNvPr id="69" name="Shape 67"/>
          <p:cNvSpPr/>
          <p:nvPr/>
        </p:nvSpPr>
        <p:spPr>
          <a:xfrm>
            <a:off x="7040880" y="3017520"/>
            <a:ext cx="128016" cy="128016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70" name="Text 68"/>
          <p:cNvSpPr/>
          <p:nvPr/>
        </p:nvSpPr>
        <p:spPr>
          <a:xfrm>
            <a:off x="7269480" y="2926080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largest SQUARE factor.</a:t>
            </a:r>
            <a:endParaRPr lang="en-US" sz="1250" dirty="0"/>
          </a:p>
        </p:txBody>
      </p:sp>
      <p:sp>
        <p:nvSpPr>
          <p:cNvPr id="71" name="Shape 69"/>
          <p:cNvSpPr/>
          <p:nvPr/>
        </p:nvSpPr>
        <p:spPr>
          <a:xfrm>
            <a:off x="7040880" y="3474720"/>
            <a:ext cx="128016" cy="128016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72" name="Text 70"/>
          <p:cNvSpPr/>
          <p:nvPr/>
        </p:nvSpPr>
        <p:spPr>
          <a:xfrm>
            <a:off x="7269480" y="3383280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 = 36 × 2, and 36 is a square.</a:t>
            </a:r>
            <a:endParaRPr lang="en-US" sz="1250" dirty="0"/>
          </a:p>
        </p:txBody>
      </p:sp>
      <p:sp>
        <p:nvSpPr>
          <p:cNvPr id="73" name="Shape 71"/>
          <p:cNvSpPr/>
          <p:nvPr/>
        </p:nvSpPr>
        <p:spPr>
          <a:xfrm>
            <a:off x="7040880" y="3931920"/>
            <a:ext cx="128016" cy="128016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74" name="Text 72"/>
          <p:cNvSpPr/>
          <p:nvPr/>
        </p:nvSpPr>
        <p:spPr>
          <a:xfrm>
            <a:off x="7269480" y="3840480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Split the root into two roots.</a:t>
            </a:r>
            <a:endParaRPr lang="en-US" sz="1250" dirty="0"/>
          </a:p>
        </p:txBody>
      </p:sp>
      <p:sp>
        <p:nvSpPr>
          <p:cNvPr id="75" name="Shape 73"/>
          <p:cNvSpPr/>
          <p:nvPr/>
        </p:nvSpPr>
        <p:spPr>
          <a:xfrm>
            <a:off x="7040880" y="4389120"/>
            <a:ext cx="128016" cy="128016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76" name="Text 74"/>
          <p:cNvSpPr/>
          <p:nvPr/>
        </p:nvSpPr>
        <p:spPr>
          <a:xfrm>
            <a:off x="7269480" y="4297680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√36 = 6, so the answer is 6√2.</a:t>
            </a:r>
            <a:endParaRPr lang="en-US" sz="1250" dirty="0"/>
          </a:p>
        </p:txBody>
      </p:sp>
      <p:sp>
        <p:nvSpPr>
          <p:cNvPr id="77" name="Shape 75"/>
          <p:cNvSpPr/>
          <p:nvPr/>
        </p:nvSpPr>
        <p:spPr>
          <a:xfrm>
            <a:off x="7040880" y="4846320"/>
            <a:ext cx="128016" cy="128016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78" name="Text 76"/>
          <p:cNvSpPr/>
          <p:nvPr/>
        </p:nvSpPr>
        <p:spPr>
          <a:xfrm>
            <a:off x="7269480" y="4754880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Check: 6² × 2 = 72 ✓</a:t>
            </a:r>
            <a:endParaRPr lang="en-US" sz="1250" dirty="0"/>
          </a:p>
        </p:txBody>
      </p:sp>
      <p:sp>
        <p:nvSpPr>
          <p:cNvPr id="79" name="Shape 77"/>
          <p:cNvSpPr/>
          <p:nvPr/>
        </p:nvSpPr>
        <p:spPr>
          <a:xfrm>
            <a:off x="566928" y="5120640"/>
            <a:ext cx="5852160" cy="685800"/>
          </a:xfrm>
          <a:prstGeom prst="roundRect">
            <a:avLst>
              <a:gd name="adj" fmla="val 8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0" name="Text 78"/>
          <p:cNvSpPr/>
          <p:nvPr/>
        </p:nvSpPr>
        <p:spPr>
          <a:xfrm>
            <a:off x="841248" y="512064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√72 = 6√2</a:t>
            </a:r>
            <a:endParaRPr lang="en-US" sz="23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1" name="Text 45"/>
              <p:cNvSpPr/>
              <p:nvPr/>
            </p:nvSpPr>
            <p:spPr>
              <a:xfrm>
                <a:off x="2783279" y="2471913"/>
                <a:ext cx="384048" cy="3067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2000" b="1" i="1" smtClean="0">
                              <a:solidFill>
                                <a:srgbClr val="C84F2F"/>
                              </a:solidFill>
                              <a:latin typeface="Cambria Math"/>
                              <a:ea typeface="Cambria" pitchFamily="34" charset="-122"/>
                            </a:rPr>
                          </m:ctrlPr>
                        </m:radPr>
                        <m:deg/>
                        <m:e>
                          <m:r>
                            <m:rPr>
                              <m:nor/>
                            </m:rPr>
                            <a:rPr lang="en-US" sz="2000" b="1" i="0" smtClean="0">
                              <a:solidFill>
                                <a:srgbClr val="C84F2F"/>
                              </a:solidFill>
                              <a:latin typeface="Cambria Math"/>
                              <a:ea typeface="Cambria" pitchFamily="34" charset="-122"/>
                            </a:rPr>
                            <m:t>2</m:t>
                          </m:r>
                          <m:r>
                            <m:rPr>
                              <m:nor/>
                            </m:rPr>
                            <a:rPr lang="en-US" sz="2000" dirty="0"/>
                            <m:t> </m:t>
                          </m:r>
                        </m:e>
                      </m:rad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81" name="Text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3279" y="2471913"/>
                <a:ext cx="384048" cy="306705"/>
              </a:xfrm>
              <a:prstGeom prst="rect">
                <a:avLst/>
              </a:prstGeom>
              <a:blipFill rotWithShape="1">
                <a:blip r:embed="rId4"/>
                <a:stretch>
                  <a:fillRect l="-4762" b="-1372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2" name="Rectangle 81"/>
              <p:cNvSpPr/>
              <p:nvPr/>
            </p:nvSpPr>
            <p:spPr>
              <a:xfrm>
                <a:off x="1325880" y="3059668"/>
                <a:ext cx="51328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solidFill>
                            <a:srgbClr val="1C2A22"/>
                          </a:solidFill>
                          <a:latin typeface="Cambria Math"/>
                          <a:ea typeface="Cambria" pitchFamily="34" charset="-122"/>
                        </a:rPr>
                        <m:t>𝟕𝟐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2" name="Rectangle 8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5880" y="3059668"/>
                <a:ext cx="513282" cy="369332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4" name="Straight Connector 83"/>
          <p:cNvCxnSpPr/>
          <p:nvPr/>
        </p:nvCxnSpPr>
        <p:spPr>
          <a:xfrm>
            <a:off x="1839162" y="3059668"/>
            <a:ext cx="0" cy="191466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5" name="Rectangle 84"/>
              <p:cNvSpPr/>
              <p:nvPr/>
            </p:nvSpPr>
            <p:spPr>
              <a:xfrm>
                <a:off x="1880970" y="3036407"/>
                <a:ext cx="37542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solidFill>
                            <a:srgbClr val="1C2A22"/>
                          </a:solidFill>
                          <a:latin typeface="Cambria Math"/>
                          <a:ea typeface="Cambria" pitchFamily="34" charset="-122"/>
                        </a:rPr>
                        <m:t>𝟐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5" name="Rectangle 8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0970" y="3036407"/>
                <a:ext cx="375423" cy="369332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6" name="Rectangle 85"/>
              <p:cNvSpPr/>
              <p:nvPr/>
            </p:nvSpPr>
            <p:spPr>
              <a:xfrm>
                <a:off x="1367688" y="3362906"/>
                <a:ext cx="49404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/>
                        </a:rPr>
                        <m:t>36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6" name="Rectangle 8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7688" y="3362906"/>
                <a:ext cx="494046" cy="369332"/>
              </a:xfrm>
              <a:prstGeom prst="rect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7" name="Rectangle 86"/>
              <p:cNvSpPr/>
              <p:nvPr/>
            </p:nvSpPr>
            <p:spPr>
              <a:xfrm>
                <a:off x="1922778" y="3339645"/>
                <a:ext cx="37542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solidFill>
                            <a:srgbClr val="1C2A22"/>
                          </a:solidFill>
                          <a:latin typeface="Cambria Math"/>
                          <a:ea typeface="Cambria" pitchFamily="34" charset="-122"/>
                        </a:rPr>
                        <m:t>𝟐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7" name="Rectangle 8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2778" y="3339645"/>
                <a:ext cx="375423" cy="369332"/>
              </a:xfrm>
              <a:prstGeom prst="rect">
                <a:avLst/>
              </a:prstGeom>
              <a:blipFill rotWithShape="1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8" name="Rectangle 87"/>
              <p:cNvSpPr/>
              <p:nvPr/>
            </p:nvSpPr>
            <p:spPr>
              <a:xfrm>
                <a:off x="1394809" y="3735885"/>
                <a:ext cx="49404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/>
                        </a:rPr>
                        <m:t>18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8" name="Rectangle 8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4809" y="3735885"/>
                <a:ext cx="494046" cy="369332"/>
              </a:xfrm>
              <a:prstGeom prst="rect">
                <a:avLst/>
              </a:prstGeom>
              <a:blipFill rotWithShape="1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9" name="Rectangle 88"/>
              <p:cNvSpPr/>
              <p:nvPr/>
            </p:nvSpPr>
            <p:spPr>
              <a:xfrm>
                <a:off x="1879237" y="3690604"/>
                <a:ext cx="37542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solidFill>
                            <a:srgbClr val="1C2A22"/>
                          </a:solidFill>
                          <a:latin typeface="Cambria Math"/>
                          <a:ea typeface="Cambria" pitchFamily="34" charset="-122"/>
                        </a:rPr>
                        <m:t>𝟐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9" name="Rectangle 8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9237" y="3690604"/>
                <a:ext cx="375423" cy="369332"/>
              </a:xfrm>
              <a:prstGeom prst="rect">
                <a:avLst/>
              </a:prstGeom>
              <a:blipFill rotWithShape="1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0" name="Rectangle 89"/>
              <p:cNvSpPr/>
              <p:nvPr/>
            </p:nvSpPr>
            <p:spPr>
              <a:xfrm>
                <a:off x="1436472" y="4074053"/>
                <a:ext cx="37542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1C2A22"/>
                          </a:solidFill>
                          <a:latin typeface="Cambria Math"/>
                          <a:ea typeface="Cambria" pitchFamily="34" charset="-122"/>
                        </a:rPr>
                        <m:t>𝟗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0" name="Rectangle 8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6472" y="4074053"/>
                <a:ext cx="375423" cy="369332"/>
              </a:xfrm>
              <a:prstGeom prst="rect">
                <a:avLst/>
              </a:prstGeom>
              <a:blipFill rotWithShape="1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" name="Rectangle 90"/>
          <p:cNvSpPr/>
          <p:nvPr/>
        </p:nvSpPr>
        <p:spPr>
          <a:xfrm>
            <a:off x="1917082" y="4050792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3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2" name="Rectangle 91"/>
              <p:cNvSpPr/>
              <p:nvPr/>
            </p:nvSpPr>
            <p:spPr>
              <a:xfrm>
                <a:off x="1436617" y="4420124"/>
                <a:ext cx="37542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1C2A22"/>
                          </a:solidFill>
                          <a:latin typeface="Cambria Math"/>
                          <a:ea typeface="Cambria" pitchFamily="34" charset="-122"/>
                        </a:rPr>
                        <m:t>𝟑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2" name="Rectangle 9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6617" y="4420124"/>
                <a:ext cx="375423" cy="369332"/>
              </a:xfrm>
              <a:prstGeom prst="rect">
                <a:avLst/>
              </a:prstGeom>
              <a:blipFill rotWithShape="1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3" name="Rectangle 92"/>
              <p:cNvSpPr/>
              <p:nvPr/>
            </p:nvSpPr>
            <p:spPr>
              <a:xfrm>
                <a:off x="1888855" y="4443385"/>
                <a:ext cx="365805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/>
                        </a:rPr>
                        <m:t>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3" name="Rectangle 9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8855" y="4443385"/>
                <a:ext cx="365805" cy="369332"/>
              </a:xfrm>
              <a:prstGeom prst="rect">
                <a:avLst/>
              </a:prstGeom>
              <a:blipFill rotWithShape="1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4" name="Rectangle 93"/>
              <p:cNvSpPr/>
              <p:nvPr/>
            </p:nvSpPr>
            <p:spPr>
              <a:xfrm>
                <a:off x="1436617" y="4708176"/>
                <a:ext cx="37542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1C2A22"/>
                          </a:solidFill>
                          <a:latin typeface="Cambria Math"/>
                          <a:ea typeface="Cambria" pitchFamily="34" charset="-122"/>
                        </a:rPr>
                        <m:t>𝟏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4" name="Rectangle 9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6617" y="4708176"/>
                <a:ext cx="375423" cy="369332"/>
              </a:xfrm>
              <a:prstGeom prst="rect">
                <a:avLst/>
              </a:prstGeom>
              <a:blipFill rotWithShape="1"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7" name="Oval 96"/>
          <p:cNvSpPr/>
          <p:nvPr/>
        </p:nvSpPr>
        <p:spPr>
          <a:xfrm>
            <a:off x="1861734" y="3081528"/>
            <a:ext cx="357034" cy="621792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Oval 97"/>
          <p:cNvSpPr/>
          <p:nvPr/>
        </p:nvSpPr>
        <p:spPr>
          <a:xfrm>
            <a:off x="1893240" y="4109046"/>
            <a:ext cx="357034" cy="621792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0" name="Straight Arrow Connector 99"/>
          <p:cNvCxnSpPr/>
          <p:nvPr/>
        </p:nvCxnSpPr>
        <p:spPr>
          <a:xfrm>
            <a:off x="2358189" y="3339645"/>
            <a:ext cx="693822" cy="7059"/>
          </a:xfrm>
          <a:prstGeom prst="straightConnector1">
            <a:avLst/>
          </a:prstGeom>
          <a:ln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/>
          <p:cNvCxnSpPr/>
          <p:nvPr/>
        </p:nvCxnSpPr>
        <p:spPr>
          <a:xfrm>
            <a:off x="2381745" y="4500933"/>
            <a:ext cx="693822" cy="7059"/>
          </a:xfrm>
          <a:prstGeom prst="straightConnector1">
            <a:avLst/>
          </a:prstGeom>
          <a:ln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2" name="Rectangle 101"/>
              <p:cNvSpPr/>
              <p:nvPr/>
            </p:nvSpPr>
            <p:spPr>
              <a:xfrm>
                <a:off x="3168071" y="3136392"/>
                <a:ext cx="37542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C00000"/>
                          </a:solidFill>
                          <a:latin typeface="Cambria Math"/>
                          <a:ea typeface="Cambria" pitchFamily="34" charset="-122"/>
                        </a:rPr>
                        <m:t>𝟐</m:t>
                      </m:r>
                    </m:oMath>
                  </m:oMathPara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02" name="Rectangle 10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8071" y="3136392"/>
                <a:ext cx="375423" cy="369332"/>
              </a:xfrm>
              <a:prstGeom prst="rect">
                <a:avLst/>
              </a:prstGeom>
              <a:blipFill rotWithShape="1"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3" name="Rectangle 102"/>
              <p:cNvSpPr/>
              <p:nvPr/>
            </p:nvSpPr>
            <p:spPr>
              <a:xfrm>
                <a:off x="3167327" y="4268462"/>
                <a:ext cx="37542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C00000"/>
                          </a:solidFill>
                          <a:latin typeface="Cambria Math"/>
                          <a:ea typeface="Cambria" pitchFamily="34" charset="-122"/>
                        </a:rPr>
                        <m:t>𝟑</m:t>
                      </m:r>
                    </m:oMath>
                  </m:oMathPara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03" name="Rectangle 10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7327" y="4268462"/>
                <a:ext cx="375423" cy="369332"/>
              </a:xfrm>
              <a:prstGeom prst="rect">
                <a:avLst/>
              </a:prstGeom>
              <a:blipFill rotWithShape="1"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4" name="Rectangle 103"/>
              <p:cNvSpPr/>
              <p:nvPr/>
            </p:nvSpPr>
            <p:spPr>
              <a:xfrm>
                <a:off x="3167326" y="3713084"/>
                <a:ext cx="40267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C00000"/>
                          </a:solidFill>
                          <a:latin typeface="Cambria Math"/>
                          <a:ea typeface="Cambria Math"/>
                        </a:rPr>
                        <m:t>×</m:t>
                      </m:r>
                    </m:oMath>
                  </m:oMathPara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04" name="Rectangle 10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7326" y="3713084"/>
                <a:ext cx="402674" cy="369332"/>
              </a:xfrm>
              <a:prstGeom prst="rect">
                <a:avLst/>
              </a:prstGeom>
              <a:blipFill rotWithShape="1"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5" name="Rectangle 104"/>
              <p:cNvSpPr/>
              <p:nvPr/>
            </p:nvSpPr>
            <p:spPr>
              <a:xfrm>
                <a:off x="4033599" y="3545968"/>
                <a:ext cx="645626" cy="40197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/>
                          <a:ea typeface="Cambria Math"/>
                        </a:rPr>
                        <m:t>6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/>
                              <a:ea typeface="Cambria Math"/>
                            </a:rPr>
                          </m:ctrlPr>
                        </m:radPr>
                        <m:deg/>
                        <m:e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/>
                              <a:ea typeface="Cambria Math"/>
                            </a:rPr>
                            <m:t>2</m:t>
                          </m:r>
                        </m:e>
                      </m:rad>
                    </m:oMath>
                  </m:oMathPara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05" name="Rectangle 10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3599" y="3545968"/>
                <a:ext cx="645626" cy="401970"/>
              </a:xfrm>
              <a:prstGeom prst="rect">
                <a:avLst/>
              </a:prstGeom>
              <a:blipFill rotWithShape="1"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· MULTIPLY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Multiply the Numbers Inside One Root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8016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80160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√a × √b = √(ab)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1550521" y="3429000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 6</a:t>
            </a:r>
            <a:endParaRPr lang="en-US" sz="3000" dirty="0"/>
          </a:p>
        </p:txBody>
      </p:sp>
      <p:sp>
        <p:nvSpPr>
          <p:cNvPr id="63" name="Shape 61"/>
          <p:cNvSpPr/>
          <p:nvPr/>
        </p:nvSpPr>
        <p:spPr>
          <a:xfrm>
            <a:off x="6766560" y="2194560"/>
            <a:ext cx="4864608" cy="2743200"/>
          </a:xfrm>
          <a:prstGeom prst="roundRect">
            <a:avLst>
              <a:gd name="adj" fmla="val 200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7132320" y="2432304"/>
            <a:ext cx="4133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</a:t>
            </a:r>
            <a:endParaRPr lang="en-US" sz="1700" dirty="0"/>
          </a:p>
        </p:txBody>
      </p:sp>
      <p:sp>
        <p:nvSpPr>
          <p:cNvPr id="65" name="Text 63"/>
          <p:cNvSpPr/>
          <p:nvPr/>
        </p:nvSpPr>
        <p:spPr>
          <a:xfrm>
            <a:off x="7086600" y="2926080"/>
            <a:ext cx="4206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Here the answer is a whole number, because 36 is a perfect square.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it is not a perfect square, simplify it instead — e.g. √2 × √10 = √20 = 2√5.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566928" y="4892040"/>
            <a:ext cx="5852160" cy="685800"/>
          </a:xfrm>
          <a:prstGeom prst="roundRect">
            <a:avLst>
              <a:gd name="adj" fmla="val 8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841248" y="489204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√3 × √12 = √36 = 6</a:t>
            </a:r>
            <a:endParaRPr lang="en-US" sz="23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8" name="Text 44"/>
              <p:cNvSpPr/>
              <p:nvPr/>
            </p:nvSpPr>
            <p:spPr>
              <a:xfrm>
                <a:off x="1081238" y="2653569"/>
                <a:ext cx="1620522" cy="39871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2600" b="1" i="1" smtClean="0">
                              <a:solidFill>
                                <a:srgbClr val="1C2A22"/>
                              </a:solidFill>
                              <a:latin typeface="Cambria Math"/>
                              <a:ea typeface="Cambria" pitchFamily="34" charset="-122"/>
                            </a:rPr>
                          </m:ctrlPr>
                        </m:radPr>
                        <m:deg/>
                        <m:e>
                          <m:r>
                            <a:rPr lang="en-US" sz="2600" b="1" i="1" smtClean="0">
                              <a:solidFill>
                                <a:srgbClr val="1C2A22"/>
                              </a:solidFill>
                              <a:latin typeface="Cambria Math"/>
                              <a:ea typeface="Cambria" pitchFamily="34" charset="-122"/>
                            </a:rPr>
                            <m:t>𝟑</m:t>
                          </m:r>
                        </m:e>
                      </m:rad>
                      <m:r>
                        <m:rPr>
                          <m:nor/>
                        </m:rPr>
                        <a:rPr lang="en-US" sz="2600" b="1" dirty="0">
                          <a:solidFill>
                            <a:srgbClr val="1C2A22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m:t>×</m:t>
                      </m:r>
                      <m:rad>
                        <m:radPr>
                          <m:degHide m:val="on"/>
                          <m:ctrlPr>
                            <a:rPr lang="en-US" sz="2600" b="1" i="1" smtClean="0">
                              <a:solidFill>
                                <a:srgbClr val="1C2A22"/>
                              </a:solidFill>
                              <a:latin typeface="Cambria Math"/>
                              <a:ea typeface="Cambria" pitchFamily="34" charset="-122"/>
                            </a:rPr>
                          </m:ctrlPr>
                        </m:radPr>
                        <m:deg/>
                        <m:e>
                          <m:r>
                            <a:rPr lang="en-US" sz="2600" b="1" i="1" smtClean="0">
                              <a:solidFill>
                                <a:srgbClr val="1C2A22"/>
                              </a:solidFill>
                              <a:latin typeface="Cambria Math"/>
                              <a:ea typeface="Cambria" pitchFamily="34" charset="-122"/>
                            </a:rPr>
                            <m:t>𝟏𝟐</m:t>
                          </m:r>
                        </m:e>
                      </m:rad>
                    </m:oMath>
                  </m:oMathPara>
                </a14:m>
                <a:endParaRPr lang="en-US" sz="2600" dirty="0"/>
              </a:p>
              <a:p>
                <a:pPr marL="0" indent="0" algn="ctr">
                  <a:buNone/>
                </a:pPr>
                <a:endParaRPr lang="en-US" sz="2600" dirty="0"/>
              </a:p>
            </p:txBody>
          </p:sp>
        </mc:Choice>
        <mc:Fallback>
          <p:sp>
            <p:nvSpPr>
              <p:cNvPr id="68" name="Text 4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238" y="2653569"/>
                <a:ext cx="1620522" cy="398717"/>
              </a:xfrm>
              <a:prstGeom prst="rect">
                <a:avLst/>
              </a:prstGeom>
              <a:blipFill rotWithShape="1">
                <a:blip r:embed="rId3"/>
                <a:stretch>
                  <a:fillRect t="-40909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Text 50"/>
          <p:cNvSpPr/>
          <p:nvPr/>
        </p:nvSpPr>
        <p:spPr>
          <a:xfrm>
            <a:off x="2647801" y="2437437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1" name="Rectangle 70"/>
              <p:cNvSpPr/>
              <p:nvPr/>
            </p:nvSpPr>
            <p:spPr>
              <a:xfrm>
                <a:off x="2876531" y="2353747"/>
                <a:ext cx="1359859" cy="57394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2800" b="1" i="1" smtClean="0">
                              <a:solidFill>
                                <a:srgbClr val="1C2A22"/>
                              </a:solidFill>
                              <a:latin typeface="Cambria Math"/>
                              <a:ea typeface="Cambria" pitchFamily="34" charset="-122"/>
                            </a:rPr>
                          </m:ctrlPr>
                        </m:radPr>
                        <m:deg/>
                        <m:e>
                          <m:r>
                            <a:rPr lang="en-US" sz="2800" b="1" i="1">
                              <a:solidFill>
                                <a:srgbClr val="1C2A22"/>
                              </a:solidFill>
                              <a:latin typeface="Cambria Math"/>
                              <a:ea typeface="Cambria" pitchFamily="34" charset="-122"/>
                            </a:rPr>
                            <m:t>𝟑</m:t>
                          </m:r>
                          <m:r>
                            <m:rPr>
                              <m:nor/>
                            </m:rPr>
                            <a:rPr lang="en-US" sz="2800" b="1" dirty="0">
                              <a:solidFill>
                                <a:srgbClr val="1C2A22"/>
                              </a:solidFill>
                              <a:latin typeface="Cambria" pitchFamily="34" charset="0"/>
                              <a:ea typeface="Cambria" pitchFamily="34" charset="-122"/>
                              <a:cs typeface="Cambria" pitchFamily="34" charset="-120"/>
                            </a:rPr>
                            <m:t>×</m:t>
                          </m:r>
                          <m:r>
                            <a:rPr lang="en-US" sz="2800" b="1" i="1" dirty="0" smtClean="0">
                              <a:solidFill>
                                <a:srgbClr val="1C2A22"/>
                              </a:solidFill>
                              <a:latin typeface="Cambria Math"/>
                              <a:ea typeface="Cambria" pitchFamily="34" charset="-122"/>
                              <a:cs typeface="Cambria" pitchFamily="34" charset="-120"/>
                            </a:rPr>
                            <m:t>𝟏𝟐</m:t>
                          </m:r>
                        </m:e>
                      </m:rad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71" name="Rectangle 7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6531" y="2353747"/>
                <a:ext cx="1359859" cy="573940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 55"/>
          <p:cNvSpPr/>
          <p:nvPr/>
        </p:nvSpPr>
        <p:spPr>
          <a:xfrm>
            <a:off x="4176613" y="2377440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3" name="Rectangle 72"/>
              <p:cNvSpPr/>
              <p:nvPr/>
            </p:nvSpPr>
            <p:spPr>
              <a:xfrm>
                <a:off x="4432395" y="2322141"/>
                <a:ext cx="931858" cy="57394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2800" b="1" i="1" smtClean="0">
                              <a:solidFill>
                                <a:srgbClr val="1C2A22"/>
                              </a:solidFill>
                              <a:latin typeface="Cambria Math"/>
                              <a:ea typeface="Cambria" pitchFamily="34" charset="-122"/>
                            </a:rPr>
                          </m:ctrlPr>
                        </m:radPr>
                        <m:deg/>
                        <m:e>
                          <m:r>
                            <a:rPr lang="en-US" sz="2800" b="1" i="1" smtClean="0">
                              <a:solidFill>
                                <a:srgbClr val="1C2A22"/>
                              </a:solidFill>
                              <a:latin typeface="Cambria Math"/>
                              <a:ea typeface="Cambria" pitchFamily="34" charset="-122"/>
                            </a:rPr>
                            <m:t>𝟑𝟔</m:t>
                          </m:r>
                        </m:e>
                      </m:rad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73" name="Rectangle 7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2395" y="2322141"/>
                <a:ext cx="931858" cy="573940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· DIVIDE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Divide the Numbers Inside One Root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8016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80160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√a ÷ √b = √(a/b)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1188720" y="3785616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 3</a:t>
            </a:r>
            <a:endParaRPr lang="en-US" sz="3000" dirty="0"/>
          </a:p>
        </p:txBody>
      </p:sp>
      <p:sp>
        <p:nvSpPr>
          <p:cNvPr id="66" name="Shape 64"/>
          <p:cNvSpPr/>
          <p:nvPr/>
        </p:nvSpPr>
        <p:spPr>
          <a:xfrm>
            <a:off x="6766560" y="2194560"/>
            <a:ext cx="4864608" cy="2743200"/>
          </a:xfrm>
          <a:prstGeom prst="roundRect">
            <a:avLst>
              <a:gd name="adj" fmla="val 200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7132320" y="2432304"/>
            <a:ext cx="4133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700" dirty="0"/>
          </a:p>
        </p:txBody>
      </p:sp>
      <p:sp>
        <p:nvSpPr>
          <p:cNvPr id="68" name="Text 66"/>
          <p:cNvSpPr/>
          <p:nvPr/>
        </p:nvSpPr>
        <p:spPr>
          <a:xfrm>
            <a:off x="7086600" y="2926080"/>
            <a:ext cx="4206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 both numbers under ONE root as a fraction.</a:t>
            </a: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 ÷ 8 = 9,  and √9 = 3.</a:t>
            </a:r>
            <a:endParaRPr lang="en-US" sz="1300" dirty="0"/>
          </a:p>
          <a:p>
            <a:pPr marL="0" indent="0">
              <a:buNone/>
            </a:pPr>
            <a:r>
              <a:rPr lang="en-US" sz="125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divide first, then take the root.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566928" y="4892040"/>
            <a:ext cx="5852160" cy="685800"/>
          </a:xfrm>
          <a:prstGeom prst="roundRect">
            <a:avLst>
              <a:gd name="adj" fmla="val 8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841248" y="489204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√72 ÷ √8 = √9 = 3</a:t>
            </a:r>
            <a:endParaRPr lang="en-US" sz="23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 44"/>
              <p:cNvSpPr/>
              <p:nvPr/>
            </p:nvSpPr>
            <p:spPr>
              <a:xfrm>
                <a:off x="655871" y="2610687"/>
                <a:ext cx="2408979" cy="39871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2600" b="1" i="1" smtClean="0">
                              <a:solidFill>
                                <a:srgbClr val="1C2A22"/>
                              </a:solidFill>
                              <a:latin typeface="Cambria Math"/>
                              <a:ea typeface="Cambria" pitchFamily="34" charset="-122"/>
                            </a:rPr>
                          </m:ctrlPr>
                        </m:radPr>
                        <m:deg/>
                        <m:e>
                          <m:r>
                            <a:rPr lang="en-US" sz="2600" b="1" i="1" smtClean="0">
                              <a:solidFill>
                                <a:srgbClr val="1C2A22"/>
                              </a:solidFill>
                              <a:latin typeface="Cambria Math"/>
                              <a:ea typeface="Cambria" pitchFamily="34" charset="-122"/>
                            </a:rPr>
                            <m:t>𝟕𝟐</m:t>
                          </m:r>
                        </m:e>
                      </m:rad>
                      <m:r>
                        <m:rPr>
                          <m:nor/>
                        </m:rPr>
                        <a:rPr lang="en-US" sz="2600" b="1" i="0" smtClean="0">
                          <a:solidFill>
                            <a:srgbClr val="1C2A22"/>
                          </a:solidFill>
                          <a:latin typeface="Cambria Math"/>
                          <a:ea typeface="Cambria" pitchFamily="34" charset="-122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2600" b="1" dirty="0">
                          <a:solidFill>
                            <a:srgbClr val="1C2A22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m:t>÷</m:t>
                      </m:r>
                      <m:r>
                        <m:rPr>
                          <m:nor/>
                        </m:rPr>
                        <a:rPr lang="en-US" sz="2600" b="1" i="0" dirty="0" smtClean="0">
                          <a:solidFill>
                            <a:srgbClr val="1C2A22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m:t>  </m:t>
                      </m:r>
                      <m:rad>
                        <m:radPr>
                          <m:degHide m:val="on"/>
                          <m:ctrlPr>
                            <a:rPr lang="en-US" sz="2600" b="1" i="1" smtClean="0">
                              <a:solidFill>
                                <a:srgbClr val="1C2A22"/>
                              </a:solidFill>
                              <a:latin typeface="Cambria Math"/>
                              <a:ea typeface="Cambria" pitchFamily="34" charset="-122"/>
                            </a:rPr>
                          </m:ctrlPr>
                        </m:radPr>
                        <m:deg/>
                        <m:e>
                          <m:r>
                            <a:rPr lang="en-US" sz="2600" b="1" i="1" smtClean="0">
                              <a:solidFill>
                                <a:srgbClr val="1C2A22"/>
                              </a:solidFill>
                              <a:latin typeface="Cambria Math"/>
                              <a:ea typeface="Cambria" pitchFamily="34" charset="-122"/>
                            </a:rPr>
                            <m:t>𝟖</m:t>
                          </m:r>
                        </m:e>
                      </m:rad>
                    </m:oMath>
                  </m:oMathPara>
                </a14:m>
                <a:endParaRPr lang="en-US" sz="2600" dirty="0"/>
              </a:p>
              <a:p>
                <a:pPr marL="0" indent="0" algn="ctr">
                  <a:buNone/>
                </a:pPr>
                <a:endParaRPr lang="en-US" sz="2600" dirty="0"/>
              </a:p>
            </p:txBody>
          </p:sp>
        </mc:Choice>
        <mc:Fallback>
          <p:sp>
            <p:nvSpPr>
              <p:cNvPr id="71" name="Text 4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871" y="2610687"/>
                <a:ext cx="2408979" cy="398717"/>
              </a:xfrm>
              <a:prstGeom prst="rect">
                <a:avLst/>
              </a:prstGeom>
              <a:blipFill rotWithShape="1">
                <a:blip r:embed="rId3"/>
                <a:stretch>
                  <a:fillRect t="-40909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 50"/>
          <p:cNvSpPr/>
          <p:nvPr/>
        </p:nvSpPr>
        <p:spPr>
          <a:xfrm>
            <a:off x="2721181" y="235140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3" name="Rectangle 72"/>
              <p:cNvSpPr/>
              <p:nvPr/>
            </p:nvSpPr>
            <p:spPr>
              <a:xfrm>
                <a:off x="2926921" y="2267712"/>
                <a:ext cx="1403140" cy="57624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2800" b="1" i="1" smtClean="0">
                              <a:solidFill>
                                <a:srgbClr val="1C2A22"/>
                              </a:solidFill>
                              <a:latin typeface="Cambria Math"/>
                              <a:ea typeface="Cambria" pitchFamily="34" charset="-122"/>
                            </a:rPr>
                          </m:ctrlPr>
                        </m:radPr>
                        <m:deg/>
                        <m:e>
                          <m:r>
                            <m:rPr>
                              <m:nor/>
                            </m:rPr>
                            <a:rPr lang="en-US" sz="2800" b="1" i="0" smtClean="0">
                              <a:solidFill>
                                <a:srgbClr val="1C2A22"/>
                              </a:solidFill>
                              <a:latin typeface="Cambria Math"/>
                              <a:ea typeface="Cambria" pitchFamily="34" charset="-122"/>
                            </a:rPr>
                            <m:t>72</m:t>
                          </m:r>
                          <m:r>
                            <m:rPr>
                              <m:nor/>
                            </m:rPr>
                            <a:rPr lang="en-US" sz="2800" b="1" dirty="0">
                              <a:solidFill>
                                <a:srgbClr val="1C2A22"/>
                              </a:solidFill>
                              <a:latin typeface="Cambria" pitchFamily="34" charset="0"/>
                              <a:ea typeface="Cambria" pitchFamily="34" charset="-122"/>
                              <a:cs typeface="Cambria" pitchFamily="34" charset="-120"/>
                            </a:rPr>
                            <m:t>÷</m:t>
                          </m:r>
                          <m:r>
                            <m:rPr>
                              <m:nor/>
                            </m:rPr>
                            <a:rPr lang="en-US" sz="2800" dirty="0"/>
                            <m:t> </m:t>
                          </m:r>
                          <m:r>
                            <a:rPr lang="en-US" sz="2800" b="1" i="1" dirty="0" smtClean="0">
                              <a:solidFill>
                                <a:srgbClr val="1C2A22"/>
                              </a:solidFill>
                              <a:latin typeface="Cambria Math"/>
                              <a:ea typeface="Cambria" pitchFamily="34" charset="-122"/>
                              <a:cs typeface="Cambria" pitchFamily="34" charset="-120"/>
                            </a:rPr>
                            <m:t>𝟖</m:t>
                          </m:r>
                        </m:e>
                      </m:rad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73" name="Rectangle 7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6921" y="2267712"/>
                <a:ext cx="1403140" cy="576248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4" name="Text 55"/>
          <p:cNvSpPr/>
          <p:nvPr/>
        </p:nvSpPr>
        <p:spPr>
          <a:xfrm>
            <a:off x="4387922" y="2291405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5" name="Rectangle 74"/>
              <p:cNvSpPr/>
              <p:nvPr/>
            </p:nvSpPr>
            <p:spPr>
              <a:xfrm>
                <a:off x="4643704" y="2236106"/>
                <a:ext cx="717055" cy="57394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2800" b="1" i="1" smtClean="0">
                              <a:solidFill>
                                <a:srgbClr val="1C2A22"/>
                              </a:solidFill>
                              <a:latin typeface="Cambria Math"/>
                              <a:ea typeface="Cambria" pitchFamily="34" charset="-122"/>
                            </a:rPr>
                          </m:ctrlPr>
                        </m:radPr>
                        <m:deg/>
                        <m:e>
                          <m:r>
                            <a:rPr lang="en-US" sz="2800" b="1" i="1" smtClean="0">
                              <a:solidFill>
                                <a:srgbClr val="1C2A22"/>
                              </a:solidFill>
                              <a:latin typeface="Cambria Math"/>
                              <a:ea typeface="Cambria" pitchFamily="34" charset="-122"/>
                            </a:rPr>
                            <m:t>𝟗</m:t>
                          </m:r>
                        </m:e>
                      </m:rad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75" name="Rectangle 7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3704" y="2236106"/>
                <a:ext cx="717055" cy="573940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· ADD LIKE SURDS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Add Surds with the SAME Number Inside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8016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80160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p√c + q√c = (p + q)√c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1188720" y="2505456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48" name="Text 46"/>
          <p:cNvSpPr/>
          <p:nvPr/>
        </p:nvSpPr>
        <p:spPr>
          <a:xfrm>
            <a:off x="2219985" y="2505456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600" dirty="0"/>
          </a:p>
        </p:txBody>
      </p:sp>
      <p:sp>
        <p:nvSpPr>
          <p:cNvPr id="49" name="Text 47"/>
          <p:cNvSpPr/>
          <p:nvPr/>
        </p:nvSpPr>
        <p:spPr>
          <a:xfrm>
            <a:off x="2604033" y="2505456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54" name="Text 52"/>
          <p:cNvSpPr/>
          <p:nvPr/>
        </p:nvSpPr>
        <p:spPr>
          <a:xfrm>
            <a:off x="3635299" y="2505456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600" dirty="0"/>
          </a:p>
        </p:txBody>
      </p:sp>
      <p:sp>
        <p:nvSpPr>
          <p:cNvPr id="60" name="Shape 58"/>
          <p:cNvSpPr/>
          <p:nvPr/>
        </p:nvSpPr>
        <p:spPr>
          <a:xfrm>
            <a:off x="566928" y="3794760"/>
            <a:ext cx="5852160" cy="1463040"/>
          </a:xfrm>
          <a:prstGeom prst="roundRect">
            <a:avLst>
              <a:gd name="adj" fmla="val 375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914400" y="3794760"/>
            <a:ext cx="5212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Think of √2 like a letter:  3x + 5x = 8x.</a:t>
            </a:r>
            <a:endParaRPr lang="en-US" sz="1450" dirty="0"/>
          </a:p>
        </p:txBody>
      </p:sp>
      <p:sp>
        <p:nvSpPr>
          <p:cNvPr id="62" name="Shape 60"/>
          <p:cNvSpPr/>
          <p:nvPr/>
        </p:nvSpPr>
        <p:spPr>
          <a:xfrm>
            <a:off x="6766560" y="2194560"/>
            <a:ext cx="4864608" cy="3063240"/>
          </a:xfrm>
          <a:prstGeom prst="roundRect">
            <a:avLst>
              <a:gd name="adj" fmla="val 1791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7132320" y="2432304"/>
            <a:ext cx="4133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Careful</a:t>
            </a:r>
            <a:endParaRPr lang="en-US" sz="1700" dirty="0"/>
          </a:p>
        </p:txBody>
      </p:sp>
      <p:sp>
        <p:nvSpPr>
          <p:cNvPr id="64" name="Text 62"/>
          <p:cNvSpPr/>
          <p:nvPr/>
        </p:nvSpPr>
        <p:spPr>
          <a:xfrm>
            <a:off x="7086600" y="2926080"/>
            <a:ext cx="4206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√2 + √3 does NOT simplify — different numbers inside.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Sometimes you must simplify FIRST: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√45 + √20 = 3√5 + 2√5 = 5√5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566928" y="5486400"/>
            <a:ext cx="11064240" cy="685800"/>
          </a:xfrm>
          <a:prstGeom prst="roundRect">
            <a:avLst>
              <a:gd name="adj" fmla="val 8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6" name="Text 64"/>
          <p:cNvSpPr/>
          <p:nvPr/>
        </p:nvSpPr>
        <p:spPr>
          <a:xfrm>
            <a:off x="841248" y="54864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3√2 + 5√2 = 8√2.   Simplify each surd first so the insides match.</a:t>
            </a:r>
            <a:endParaRPr lang="en-US" sz="23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7" name="Rectangle 66"/>
              <p:cNvSpPr/>
              <p:nvPr/>
            </p:nvSpPr>
            <p:spPr>
              <a:xfrm>
                <a:off x="1529301" y="2531946"/>
                <a:ext cx="517385" cy="40197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i="1" smtClean="0">
                              <a:latin typeface="Cambria Math"/>
                            </a:rPr>
                          </m:ctrlPr>
                        </m:radPr>
                        <m:deg/>
                        <m:e>
                          <m:r>
                            <a:rPr lang="en-US" b="0" i="1" smtClean="0">
                              <a:latin typeface="Cambria Math"/>
                            </a:rPr>
                            <m:t>2</m:t>
                          </m:r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7" name="Rectangle 6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9301" y="2531946"/>
                <a:ext cx="517385" cy="401970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8" name="Rectangle 67"/>
              <p:cNvSpPr/>
              <p:nvPr/>
            </p:nvSpPr>
            <p:spPr>
              <a:xfrm>
                <a:off x="4046779" y="2497085"/>
                <a:ext cx="581506" cy="39632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dirty="0" smtClean="0">
                    <a:solidFill>
                      <a:srgbClr val="C00000"/>
                    </a:solidFill>
                  </a:rPr>
                  <a:t>8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2</m:t>
                        </m:r>
                      </m:e>
                    </m:rad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68" name="Rectangle 6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6779" y="2497085"/>
                <a:ext cx="581506" cy="396327"/>
              </a:xfrm>
              <a:prstGeom prst="rect">
                <a:avLst/>
              </a:prstGeom>
              <a:blipFill rotWithShape="1">
                <a:blip r:embed="rId4"/>
                <a:stretch>
                  <a:fillRect l="-9474" b="-2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9" name="Rectangle 68"/>
              <p:cNvSpPr/>
              <p:nvPr/>
            </p:nvSpPr>
            <p:spPr>
              <a:xfrm>
                <a:off x="2884183" y="2507767"/>
                <a:ext cx="517385" cy="40197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i="1" smtClean="0">
                              <a:latin typeface="Cambria Math"/>
                            </a:rPr>
                          </m:ctrlPr>
                        </m:radPr>
                        <m:deg/>
                        <m:e>
                          <m:r>
                            <a:rPr lang="en-US" b="0" i="1" smtClean="0">
                              <a:latin typeface="Cambria Math"/>
                            </a:rPr>
                            <m:t>2</m:t>
                          </m:r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9" name="Rectangle 6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4183" y="2507767"/>
                <a:ext cx="517385" cy="401970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-102349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· EXPANDING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(x + √y)(x − √y) = x² − y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8016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80160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as normal — the middle terms cancel and the surd disappears.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1188720" y="2368296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( 3 +</a:t>
            </a:r>
            <a:endParaRPr lang="en-US" sz="2400" dirty="0"/>
          </a:p>
        </p:txBody>
      </p:sp>
      <p:sp>
        <p:nvSpPr>
          <p:cNvPr id="48" name="Text 46"/>
          <p:cNvSpPr/>
          <p:nvPr/>
        </p:nvSpPr>
        <p:spPr>
          <a:xfrm>
            <a:off x="2794102" y="2368296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( 3 −</a:t>
            </a:r>
            <a:endParaRPr lang="en-US" sz="2400" dirty="0"/>
          </a:p>
        </p:txBody>
      </p:sp>
      <p:sp>
        <p:nvSpPr>
          <p:cNvPr id="53" name="Text 51"/>
          <p:cNvSpPr/>
          <p:nvPr/>
        </p:nvSpPr>
        <p:spPr>
          <a:xfrm>
            <a:off x="4810963" y="236829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</a:t>
            </a:r>
            <a:endParaRPr lang="en-US" sz="2400" dirty="0"/>
          </a:p>
        </p:txBody>
      </p:sp>
      <p:sp>
        <p:nvSpPr>
          <p:cNvPr id="54" name="Text 52"/>
          <p:cNvSpPr/>
          <p:nvPr/>
        </p:nvSpPr>
        <p:spPr>
          <a:xfrm>
            <a:off x="1188720" y="3419856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 9 − 3</a:t>
            </a:r>
            <a:endParaRPr lang="en-US" sz="2200" dirty="0"/>
          </a:p>
        </p:txBody>
      </p:sp>
      <p:sp>
        <p:nvSpPr>
          <p:cNvPr id="59" name="Text 57"/>
          <p:cNvSpPr/>
          <p:nvPr/>
        </p:nvSpPr>
        <p:spPr>
          <a:xfrm>
            <a:off x="2618259" y="3401568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+ 3</a:t>
            </a:r>
            <a:endParaRPr lang="en-US" sz="2200" dirty="0"/>
          </a:p>
        </p:txBody>
      </p:sp>
      <p:sp>
        <p:nvSpPr>
          <p:cNvPr id="64" name="Text 62"/>
          <p:cNvSpPr/>
          <p:nvPr/>
        </p:nvSpPr>
        <p:spPr>
          <a:xfrm>
            <a:off x="3509950" y="3406140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− 5</a:t>
            </a:r>
            <a:endParaRPr lang="en-US" sz="2200" dirty="0"/>
          </a:p>
        </p:txBody>
      </p:sp>
      <p:sp>
        <p:nvSpPr>
          <p:cNvPr id="65" name="Text 63"/>
          <p:cNvSpPr/>
          <p:nvPr/>
        </p:nvSpPr>
        <p:spPr>
          <a:xfrm>
            <a:off x="1188720" y="4425696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 9 − 5  =  4</a:t>
            </a:r>
            <a:endParaRPr lang="en-US" sz="2800" dirty="0"/>
          </a:p>
        </p:txBody>
      </p:sp>
      <p:sp>
        <p:nvSpPr>
          <p:cNvPr id="66" name="Shape 64"/>
          <p:cNvSpPr/>
          <p:nvPr/>
        </p:nvSpPr>
        <p:spPr>
          <a:xfrm>
            <a:off x="7498080" y="2194560"/>
            <a:ext cx="4133088" cy="2926080"/>
          </a:xfrm>
          <a:prstGeom prst="roundRect">
            <a:avLst>
              <a:gd name="adj" fmla="val 1875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7863840" y="2432304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works</a:t>
            </a:r>
            <a:endParaRPr lang="en-US" sz="1700" dirty="0"/>
          </a:p>
        </p:txBody>
      </p:sp>
      <p:sp>
        <p:nvSpPr>
          <p:cNvPr id="68" name="Text 66"/>
          <p:cNvSpPr/>
          <p:nvPr/>
        </p:nvSpPr>
        <p:spPr>
          <a:xfrm>
            <a:off x="7772400" y="292608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middle terms are −3√5 and +3√5 — they cancel.</a:t>
            </a:r>
            <a:endParaRPr lang="en-US" sz="12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√5 × √5 = 5, so no surd is left.</a:t>
            </a:r>
            <a:endParaRPr lang="en-US" sz="1250" dirty="0"/>
          </a:p>
          <a:p>
            <a:pPr marL="0" indent="0">
              <a:buNone/>
            </a:pPr>
            <a:r>
              <a:rPr lang="en-US" sz="125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answer is a whole number.</a:t>
            </a:r>
            <a:endParaRPr lang="en-US" sz="1250" dirty="0"/>
          </a:p>
        </p:txBody>
      </p:sp>
      <p:sp>
        <p:nvSpPr>
          <p:cNvPr id="69" name="Shape 67"/>
          <p:cNvSpPr/>
          <p:nvPr/>
        </p:nvSpPr>
        <p:spPr>
          <a:xfrm>
            <a:off x="566928" y="5532120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841248" y="55321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(3 + √5)(3 − √5) = 3² − 5 = 4</a:t>
            </a:r>
            <a:endParaRPr lang="en-US" sz="23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70"/>
              <p:cNvSpPr txBox="1"/>
              <p:nvPr/>
            </p:nvSpPr>
            <p:spPr>
              <a:xfrm>
                <a:off x="2009019" y="2396399"/>
                <a:ext cx="527004" cy="40754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b="1" i="1" smtClean="0">
                              <a:latin typeface="Cambria Math"/>
                            </a:rPr>
                          </m:ctrlPr>
                        </m:radPr>
                        <m:deg/>
                        <m:e>
                          <m:r>
                            <a:rPr lang="en-US" b="1" i="1" smtClean="0">
                              <a:latin typeface="Cambria Math"/>
                            </a:rPr>
                            <m:t>𝟓</m:t>
                          </m:r>
                        </m:e>
                      </m:rad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71" name="TextBox 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9019" y="2396399"/>
                <a:ext cx="527004" cy="407547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3" name="TextBox 72"/>
              <p:cNvSpPr txBox="1"/>
              <p:nvPr/>
            </p:nvSpPr>
            <p:spPr>
              <a:xfrm>
                <a:off x="3875710" y="2396399"/>
                <a:ext cx="527004" cy="40754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b="1" i="1" smtClean="0">
                              <a:latin typeface="Cambria Math"/>
                            </a:rPr>
                          </m:ctrlPr>
                        </m:radPr>
                        <m:deg/>
                        <m:e>
                          <m:r>
                            <a:rPr lang="en-US" b="1" i="1" smtClean="0">
                              <a:latin typeface="Cambria Math"/>
                            </a:rPr>
                            <m:t>𝟓</m:t>
                          </m:r>
                        </m:e>
                      </m:rad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73" name="TextBox 7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5710" y="2396399"/>
                <a:ext cx="527004" cy="407547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5" name="TextBox 74"/>
              <p:cNvSpPr txBox="1"/>
              <p:nvPr/>
            </p:nvSpPr>
            <p:spPr>
              <a:xfrm>
                <a:off x="2100874" y="3440111"/>
                <a:ext cx="517385" cy="40754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i="1" smtClean="0">
                              <a:latin typeface="Cambria Math"/>
                            </a:rPr>
                          </m:ctrlPr>
                        </m:radPr>
                        <m:deg/>
                        <m:e>
                          <m:r>
                            <a:rPr lang="en-US" b="0" i="1" smtClean="0">
                              <a:latin typeface="Cambria Math"/>
                            </a:rPr>
                            <m:t>5</m:t>
                          </m:r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5" name="TextBox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0874" y="3440111"/>
                <a:ext cx="517385" cy="407547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6" name="TextBox 75"/>
              <p:cNvSpPr txBox="1"/>
              <p:nvPr/>
            </p:nvSpPr>
            <p:spPr>
              <a:xfrm>
                <a:off x="2956341" y="3416672"/>
                <a:ext cx="517385" cy="40754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i="1" smtClean="0">
                              <a:latin typeface="Cambria Math"/>
                            </a:rPr>
                          </m:ctrlPr>
                        </m:radPr>
                        <m:deg/>
                        <m:e>
                          <m:r>
                            <a:rPr lang="en-US" b="0" i="1" smtClean="0">
                              <a:latin typeface="Cambria Math"/>
                            </a:rPr>
                            <m:t>5</m:t>
                          </m:r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6" name="TextBox 7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341" y="3416672"/>
                <a:ext cx="517385" cy="407547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53843" y="601162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-1207569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· RATIONALISE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 the Surd from the Bottom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8016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80160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the top AND bottom by the surd on the bottom.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1120140" y="3063240"/>
            <a:ext cx="960120" cy="0"/>
          </a:xfrm>
          <a:prstGeom prst="line">
            <a:avLst/>
          </a:prstGeom>
          <a:noFill/>
          <a:ln w="22860">
            <a:solidFill>
              <a:srgbClr val="1C2A2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458722" y="2423160"/>
            <a:ext cx="282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2464562" y="2788920"/>
            <a:ext cx="282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en-US" sz="2200" dirty="0"/>
          </a:p>
        </p:txBody>
      </p:sp>
      <p:sp>
        <p:nvSpPr>
          <p:cNvPr id="50" name="Shape 48"/>
          <p:cNvSpPr/>
          <p:nvPr/>
        </p:nvSpPr>
        <p:spPr>
          <a:xfrm>
            <a:off x="3131820" y="3063240"/>
            <a:ext cx="960120" cy="0"/>
          </a:xfrm>
          <a:prstGeom prst="line">
            <a:avLst/>
          </a:prstGeom>
          <a:noFill/>
          <a:ln w="22860">
            <a:solidFill>
              <a:srgbClr val="1C2A22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476242" y="2788920"/>
            <a:ext cx="282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200" dirty="0"/>
          </a:p>
        </p:txBody>
      </p:sp>
      <p:sp>
        <p:nvSpPr>
          <p:cNvPr id="60" name="Shape 58"/>
          <p:cNvSpPr/>
          <p:nvPr/>
        </p:nvSpPr>
        <p:spPr>
          <a:xfrm>
            <a:off x="5052060" y="3063240"/>
            <a:ext cx="1508760" cy="0"/>
          </a:xfrm>
          <a:prstGeom prst="line">
            <a:avLst/>
          </a:prstGeom>
          <a:noFill/>
          <a:ln w="22860">
            <a:solidFill>
              <a:srgbClr val="1C2A22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446941" y="2423160"/>
            <a:ext cx="282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66" name="Text 64"/>
          <p:cNvSpPr/>
          <p:nvPr/>
        </p:nvSpPr>
        <p:spPr>
          <a:xfrm>
            <a:off x="5664962" y="3172968"/>
            <a:ext cx="282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67" name="Text 65"/>
          <p:cNvSpPr/>
          <p:nvPr/>
        </p:nvSpPr>
        <p:spPr>
          <a:xfrm>
            <a:off x="6853682" y="2788920"/>
            <a:ext cx="282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200" dirty="0"/>
          </a:p>
        </p:txBody>
      </p:sp>
      <p:sp>
        <p:nvSpPr>
          <p:cNvPr id="68" name="Text 66"/>
          <p:cNvSpPr/>
          <p:nvPr/>
        </p:nvSpPr>
        <p:spPr>
          <a:xfrm>
            <a:off x="7690853" y="2788920"/>
            <a:ext cx="314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73" name="Shape 71"/>
          <p:cNvSpPr/>
          <p:nvPr/>
        </p:nvSpPr>
        <p:spPr>
          <a:xfrm>
            <a:off x="566928" y="457200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932688" y="480974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works</a:t>
            </a:r>
            <a:endParaRPr lang="en-US" sz="1700" dirty="0"/>
          </a:p>
        </p:txBody>
      </p:sp>
      <p:sp>
        <p:nvSpPr>
          <p:cNvPr id="75" name="Text 73"/>
          <p:cNvSpPr/>
          <p:nvPr/>
        </p:nvSpPr>
        <p:spPr>
          <a:xfrm>
            <a:off x="914400" y="5193792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√3 × √3 = 3, so the bottom becomes a whole number.  Then 6 ÷ 3 = 2, leaving 2√3.</a:t>
            </a:r>
            <a:endParaRPr lang="en-US" sz="1400" dirty="0"/>
          </a:p>
        </p:txBody>
      </p:sp>
      <p:sp>
        <p:nvSpPr>
          <p:cNvPr id="76" name="Shape 74"/>
          <p:cNvSpPr/>
          <p:nvPr/>
        </p:nvSpPr>
        <p:spPr>
          <a:xfrm>
            <a:off x="566928" y="6035040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7" name="Text 75"/>
          <p:cNvSpPr/>
          <p:nvPr/>
        </p:nvSpPr>
        <p:spPr>
          <a:xfrm>
            <a:off x="841248" y="603504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leave a surd on the bottom — rationalise it.</a:t>
            </a:r>
            <a:endParaRPr lang="en-US" sz="2300" dirty="0"/>
          </a:p>
        </p:txBody>
      </p:sp>
      <p:sp>
        <p:nvSpPr>
          <p:cNvPr id="78" name="Rectangle 77"/>
          <p:cNvSpPr/>
          <p:nvPr/>
        </p:nvSpPr>
        <p:spPr>
          <a:xfrm>
            <a:off x="1341956" y="3228205"/>
            <a:ext cx="5485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√3 </a:t>
            </a:r>
            <a:endParaRPr lang="en-US" b="1" dirty="0"/>
          </a:p>
        </p:txBody>
      </p:sp>
      <p:sp>
        <p:nvSpPr>
          <p:cNvPr id="79" name="Rectangle 78"/>
          <p:cNvSpPr/>
          <p:nvPr/>
        </p:nvSpPr>
        <p:spPr>
          <a:xfrm>
            <a:off x="3281459" y="3228205"/>
            <a:ext cx="5485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√3 </a:t>
            </a:r>
            <a:endParaRPr lang="en-US" b="1" dirty="0"/>
          </a:p>
        </p:txBody>
      </p:sp>
      <p:sp>
        <p:nvSpPr>
          <p:cNvPr id="80" name="Rectangle 79"/>
          <p:cNvSpPr/>
          <p:nvPr/>
        </p:nvSpPr>
        <p:spPr>
          <a:xfrm>
            <a:off x="3281459" y="2525700"/>
            <a:ext cx="5485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√3 </a:t>
            </a:r>
            <a:endParaRPr lang="en-US" b="1" dirty="0"/>
          </a:p>
        </p:txBody>
      </p:sp>
      <p:sp>
        <p:nvSpPr>
          <p:cNvPr id="81" name="Rectangle 80"/>
          <p:cNvSpPr/>
          <p:nvPr/>
        </p:nvSpPr>
        <p:spPr>
          <a:xfrm>
            <a:off x="5729897" y="2485907"/>
            <a:ext cx="5485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√3 </a:t>
            </a:r>
            <a:endParaRPr lang="en-US" b="1" dirty="0"/>
          </a:p>
        </p:txBody>
      </p:sp>
      <p:sp>
        <p:nvSpPr>
          <p:cNvPr id="82" name="Rectangle 81"/>
          <p:cNvSpPr/>
          <p:nvPr/>
        </p:nvSpPr>
        <p:spPr>
          <a:xfrm>
            <a:off x="7955372" y="2895032"/>
            <a:ext cx="5485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√3 </a:t>
            </a:r>
            <a:endParaRPr lang="en-US" b="1" dirty="0">
              <a:solidFill>
                <a:srgbClr val="C00000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· CONJUGATE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the Bottom is  a + √b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8016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80160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top and bottom by the CONJUGATE — the same expression with the sign flipped.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937260" y="3017520"/>
            <a:ext cx="1600200" cy="0"/>
          </a:xfrm>
          <a:prstGeom prst="line">
            <a:avLst/>
          </a:prstGeom>
          <a:noFill/>
          <a:ln w="22860">
            <a:solidFill>
              <a:srgbClr val="1C2A2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603756" y="2377440"/>
            <a:ext cx="26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5" name="Text 43"/>
          <p:cNvSpPr/>
          <p:nvPr/>
        </p:nvSpPr>
        <p:spPr>
          <a:xfrm>
            <a:off x="1241425" y="3127248"/>
            <a:ext cx="582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+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2746756" y="2743200"/>
            <a:ext cx="26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en-US" sz="2000" dirty="0"/>
          </a:p>
        </p:txBody>
      </p:sp>
      <p:sp>
        <p:nvSpPr>
          <p:cNvPr id="51" name="Shape 49"/>
          <p:cNvSpPr/>
          <p:nvPr/>
        </p:nvSpPr>
        <p:spPr>
          <a:xfrm>
            <a:off x="3314700" y="3017520"/>
            <a:ext cx="1691640" cy="0"/>
          </a:xfrm>
          <a:prstGeom prst="line">
            <a:avLst/>
          </a:prstGeom>
          <a:noFill/>
          <a:ln w="22860">
            <a:solidFill>
              <a:srgbClr val="1C2A2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64585" y="2377440"/>
            <a:ext cx="582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2 −</a:t>
            </a:r>
            <a:endParaRPr lang="en-US" sz="2000" dirty="0"/>
          </a:p>
        </p:txBody>
      </p:sp>
      <p:sp>
        <p:nvSpPr>
          <p:cNvPr id="57" name="Text 55"/>
          <p:cNvSpPr/>
          <p:nvPr/>
        </p:nvSpPr>
        <p:spPr>
          <a:xfrm>
            <a:off x="3664585" y="3127248"/>
            <a:ext cx="582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2 −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5215636" y="2743200"/>
            <a:ext cx="26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000" dirty="0"/>
          </a:p>
        </p:txBody>
      </p:sp>
      <p:sp>
        <p:nvSpPr>
          <p:cNvPr id="63" name="Shape 61"/>
          <p:cNvSpPr/>
          <p:nvPr/>
        </p:nvSpPr>
        <p:spPr>
          <a:xfrm>
            <a:off x="5783580" y="3017520"/>
            <a:ext cx="1691640" cy="0"/>
          </a:xfrm>
          <a:prstGeom prst="line">
            <a:avLst/>
          </a:prstGeom>
          <a:noFill/>
          <a:ln w="22860">
            <a:solidFill>
              <a:srgbClr val="1C2A22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33465" y="2377440"/>
            <a:ext cx="582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2 −</a:t>
            </a:r>
            <a:endParaRPr lang="en-US" sz="2000" dirty="0"/>
          </a:p>
        </p:txBody>
      </p:sp>
      <p:sp>
        <p:nvSpPr>
          <p:cNvPr id="69" name="Text 67"/>
          <p:cNvSpPr/>
          <p:nvPr/>
        </p:nvSpPr>
        <p:spPr>
          <a:xfrm>
            <a:off x="6180836" y="3127248"/>
            <a:ext cx="897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4 − 3</a:t>
            </a:r>
            <a:endParaRPr lang="en-US" sz="2000" dirty="0"/>
          </a:p>
        </p:txBody>
      </p:sp>
      <p:sp>
        <p:nvSpPr>
          <p:cNvPr id="70" name="Text 68"/>
          <p:cNvSpPr/>
          <p:nvPr/>
        </p:nvSpPr>
        <p:spPr>
          <a:xfrm>
            <a:off x="7730236" y="2743200"/>
            <a:ext cx="26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000" dirty="0"/>
          </a:p>
        </p:txBody>
      </p:sp>
      <p:sp>
        <p:nvSpPr>
          <p:cNvPr id="71" name="Text 69"/>
          <p:cNvSpPr/>
          <p:nvPr/>
        </p:nvSpPr>
        <p:spPr>
          <a:xfrm>
            <a:off x="8437321" y="2743200"/>
            <a:ext cx="676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2 −</a:t>
            </a:r>
            <a:endParaRPr lang="en-US" sz="2400" dirty="0"/>
          </a:p>
        </p:txBody>
      </p:sp>
      <p:sp>
        <p:nvSpPr>
          <p:cNvPr id="76" name="Shape 74"/>
          <p:cNvSpPr/>
          <p:nvPr/>
        </p:nvSpPr>
        <p:spPr>
          <a:xfrm>
            <a:off x="566928" y="4526280"/>
            <a:ext cx="11064240" cy="1280160"/>
          </a:xfrm>
          <a:prstGeom prst="roundRect">
            <a:avLst>
              <a:gd name="adj" fmla="val 4286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7" name="Text 75"/>
          <p:cNvSpPr/>
          <p:nvPr/>
        </p:nvSpPr>
        <p:spPr>
          <a:xfrm>
            <a:off x="932688" y="476402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key step</a:t>
            </a:r>
            <a:endParaRPr lang="en-US" sz="1700" dirty="0"/>
          </a:p>
        </p:txBody>
      </p:sp>
      <p:sp>
        <p:nvSpPr>
          <p:cNvPr id="78" name="Text 76"/>
          <p:cNvSpPr/>
          <p:nvPr/>
        </p:nvSpPr>
        <p:spPr>
          <a:xfrm>
            <a:off x="914400" y="5166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(2 + √3)(2 − √3) = 2² − 3 = 4 − 3 = 1.   </a:t>
            </a: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surd cancels, so the bottom is a whole number.</a:t>
            </a:r>
            <a:endParaRPr lang="en-US" sz="1400" dirty="0"/>
          </a:p>
        </p:txBody>
      </p:sp>
      <p:sp>
        <p:nvSpPr>
          <p:cNvPr id="79" name="Shape 77"/>
          <p:cNvSpPr/>
          <p:nvPr/>
        </p:nvSpPr>
        <p:spPr>
          <a:xfrm>
            <a:off x="566928" y="6035040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0" name="Text 78"/>
          <p:cNvSpPr/>
          <p:nvPr/>
        </p:nvSpPr>
        <p:spPr>
          <a:xfrm>
            <a:off x="841248" y="603504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Conjugate of  a + √b  is  a − √b.   Multiplying them removes the surd.</a:t>
            </a:r>
            <a:endParaRPr lang="en-US" sz="2300" dirty="0"/>
          </a:p>
        </p:txBody>
      </p:sp>
      <p:sp>
        <p:nvSpPr>
          <p:cNvPr id="81" name="Rectangle 80"/>
          <p:cNvSpPr/>
          <p:nvPr/>
        </p:nvSpPr>
        <p:spPr>
          <a:xfrm>
            <a:off x="1823593" y="3244334"/>
            <a:ext cx="5485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√3 </a:t>
            </a:r>
            <a:endParaRPr lang="en-US" b="1" dirty="0"/>
          </a:p>
        </p:txBody>
      </p:sp>
      <p:sp>
        <p:nvSpPr>
          <p:cNvPr id="82" name="Rectangle 81"/>
          <p:cNvSpPr/>
          <p:nvPr/>
        </p:nvSpPr>
        <p:spPr>
          <a:xfrm>
            <a:off x="4262501" y="3244334"/>
            <a:ext cx="5485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√3 </a:t>
            </a:r>
            <a:endParaRPr lang="en-US" b="1" dirty="0"/>
          </a:p>
        </p:txBody>
      </p:sp>
      <p:sp>
        <p:nvSpPr>
          <p:cNvPr id="83" name="Rectangle 82"/>
          <p:cNvSpPr/>
          <p:nvPr/>
        </p:nvSpPr>
        <p:spPr>
          <a:xfrm>
            <a:off x="4261150" y="2454469"/>
            <a:ext cx="5485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√3 </a:t>
            </a:r>
            <a:endParaRPr lang="en-US" b="1" dirty="0"/>
          </a:p>
        </p:txBody>
      </p:sp>
      <p:sp>
        <p:nvSpPr>
          <p:cNvPr id="84" name="Rectangle 83"/>
          <p:cNvSpPr/>
          <p:nvPr/>
        </p:nvSpPr>
        <p:spPr>
          <a:xfrm>
            <a:off x="6715633" y="2445437"/>
            <a:ext cx="5485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√3 </a:t>
            </a:r>
            <a:endParaRPr lang="en-US" b="1" dirty="0"/>
          </a:p>
        </p:txBody>
      </p:sp>
      <p:sp>
        <p:nvSpPr>
          <p:cNvPr id="85" name="Rectangle 84"/>
          <p:cNvSpPr/>
          <p:nvPr/>
        </p:nvSpPr>
        <p:spPr>
          <a:xfrm>
            <a:off x="9070848" y="2855131"/>
            <a:ext cx="5485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√3 </a:t>
            </a:r>
            <a:endParaRPr lang="en-US" b="1" dirty="0">
              <a:solidFill>
                <a:srgbClr val="C00000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6916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4400" dirty="0"/>
          </a:p>
        </p:txBody>
      </p:sp>
      <p:sp>
        <p:nvSpPr>
          <p:cNvPr id="41" name="Text 39"/>
          <p:cNvSpPr/>
          <p:nvPr/>
        </p:nvSpPr>
        <p:spPr>
          <a:xfrm>
            <a:off x="804672" y="26974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Simplify first, then apply the rule — and never leave a surd on the bottom.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868680" y="3611880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3611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1554480" y="361188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 out the largest square factor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68680" y="4325112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4325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1554480" y="432511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√a × √b = √(ab)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868680" y="5038344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5038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554480" y="5038344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Like surds add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868680" y="5751576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7515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1554480" y="575157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Rationalise with the conjugate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49802" y="1243584"/>
            <a:ext cx="792334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rso_q/q-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242" y="1335024"/>
            <a:ext cx="7862678" cy="160147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2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54379" y="1243584"/>
            <a:ext cx="7729880" cy="262930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rso_q/q-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819" y="1335024"/>
            <a:ext cx="7581228" cy="253921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3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191244"/>
            <a:ext cx="8039661" cy="16433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rso_q/q-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282684"/>
            <a:ext cx="8835276" cy="147015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4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340968" y="1645920"/>
            <a:ext cx="9509760" cy="1571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rso_q/q-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2408" y="1737360"/>
            <a:ext cx="9326880" cy="138855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5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340968" y="1645920"/>
            <a:ext cx="9509760" cy="9488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rso_q/q-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2408" y="1737360"/>
            <a:ext cx="9326880" cy="7660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6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43584"/>
            <a:ext cx="9322989" cy="5120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rso_q/q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335024"/>
            <a:ext cx="9140109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7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340968" y="1645920"/>
            <a:ext cx="9509760" cy="217261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rso_q/q-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2408" y="1737360"/>
            <a:ext cx="9326880" cy="198973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8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340968" y="1645920"/>
            <a:ext cx="9509760" cy="16358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rso_q/q-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2408" y="1737360"/>
            <a:ext cx="9326880" cy="1452931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9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340968" y="1645920"/>
            <a:ext cx="9509760" cy="236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rso_q/q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2408" y="1737360"/>
            <a:ext cx="9326880" cy="21864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10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340968" y="1645920"/>
            <a:ext cx="9509760" cy="2570383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rso_q/q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2408" y="1737360"/>
            <a:ext cx="9326880" cy="2387503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11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340968" y="1645920"/>
            <a:ext cx="9509760" cy="156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rso_q/q-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2408" y="1737360"/>
            <a:ext cx="9326880" cy="138176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12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340968" y="1645920"/>
            <a:ext cx="9509760" cy="218471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rso_q/q-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2408" y="1737360"/>
            <a:ext cx="9326880" cy="200183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371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800" dirty="0"/>
          </a:p>
        </p:txBody>
      </p:sp>
      <p:sp>
        <p:nvSpPr>
          <p:cNvPr id="41" name="Shape 39"/>
          <p:cNvSpPr/>
          <p:nvPr/>
        </p:nvSpPr>
        <p:spPr>
          <a:xfrm>
            <a:off x="868680" y="2368296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2" name="Text 40"/>
          <p:cNvSpPr/>
          <p:nvPr/>
        </p:nvSpPr>
        <p:spPr>
          <a:xfrm>
            <a:off x="1234440" y="23317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surd is an exact root — leave it in, never round it.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68680" y="2935224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4" name="Text 42"/>
          <p:cNvSpPr/>
          <p:nvPr/>
        </p:nvSpPr>
        <p:spPr>
          <a:xfrm>
            <a:off x="1234440" y="289864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Simplify by taking out the largest SQUARE factor:  √72 = 6√2.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868680" y="3502152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6" name="Text 44"/>
          <p:cNvSpPr/>
          <p:nvPr/>
        </p:nvSpPr>
        <p:spPr>
          <a:xfrm>
            <a:off x="1234440" y="346557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√a × √b = √(ab)  and  √a ÷ √b = √(a÷b).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868680" y="4069080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8" name="Text 46"/>
          <p:cNvSpPr/>
          <p:nvPr/>
        </p:nvSpPr>
        <p:spPr>
          <a:xfrm>
            <a:off x="1234440" y="40325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LIKE surds can be added:  3√2 + 5√2 = 8√2.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868680" y="4636008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50" name="Text 48"/>
          <p:cNvSpPr/>
          <p:nvPr/>
        </p:nvSpPr>
        <p:spPr>
          <a:xfrm>
            <a:off x="1234440" y="45994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Rationalise: multiply by the surd, or by the CONJUGATE if the bottom is a ± √b.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777240" y="5440680"/>
            <a:ext cx="10607040" cy="86868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777240" y="5440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Golden rule:  </a:t>
            </a:r>
            <a:r>
              <a:rPr lang="en-US" sz="17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simplify first, then apply the rule — and clear every surd from the denominator.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1219</Words>
  <Application>Microsoft Office PowerPoint</Application>
  <PresentationFormat>Custom</PresentationFormat>
  <Paragraphs>276</Paragraphs>
  <Slides>24</Slides>
  <Notes>24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5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Zahra Sheikh Ali</dc:creator>
  <cp:lastModifiedBy>zahraa sheik ali</cp:lastModifiedBy>
  <cp:revision>7</cp:revision>
  <dcterms:created xsi:type="dcterms:W3CDTF">2026-07-20T14:05:39Z</dcterms:created>
  <dcterms:modified xsi:type="dcterms:W3CDTF">2026-07-23T18:52:45Z</dcterms:modified>
</cp:coreProperties>
</file>