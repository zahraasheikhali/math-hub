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288051-2BF0-4E6F-A736-092A1FE6582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32FAC47-599C-4DD8-91D4-BF70F4CF97C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96DB31-2043-4D77-A534-09B1D6A7F3C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13C7003-4F49-4317-AB83-7B10F0B5F6C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830BBA-B734-4316-87B3-5C477EB000B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FE56A6-B25E-4E51-89DC-168A5236824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AC47BDB-E65D-4AED-8D1E-EDB9D0AC190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0CCE08-C2F3-4343-AC37-CC2FF6BFD19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CE5506C-4969-4FC5-AF09-E3E455C7663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A0AC9F-58CE-4252-A423-1C33B07F518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59DC21-7168-45AC-919E-444430435D4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51F92C-F8D9-4675-9E50-8A5B1A87F50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E5DE82-5FA4-46CE-8117-34E43D1ABD2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61C5AFE-5FC6-44AD-A483-200D6E6A3BA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B494EC-D313-4C8E-92E4-FB46DCF3395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9512FA-21F5-47C5-AF22-4996665766B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A8018C0-9549-41C5-96E3-D340B28628F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4BF3124-5C3D-4D23-8E74-26D09594CE8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5D82AF-B1D7-412D-9482-293C5A9AA32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BD8B3E-F81A-4319-B7FC-A07407085A9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EC64FE-19F4-42A5-93FC-3C649FD6B8E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9E9E513-D68A-423B-A4A1-2C50C75D8B5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B9DD98-34BE-4651-A1E9-1BCE9797CFB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4EBD38-743A-4909-B755-88414E1F17E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17ED26-214F-4328-A996-553B2503901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9418320" y="1658520"/>
            <a:ext cx="102600" cy="192960"/>
          </a:xfrm>
          <a:prstGeom prst="line">
            <a:avLst/>
          </a:prstGeom>
          <a:ln w="2286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520920" y="1851480"/>
            <a:ext cx="141480" cy="360"/>
          </a:xfrm>
          <a:prstGeom prst="line">
            <a:avLst/>
          </a:prstGeom>
          <a:ln w="254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662400" y="1247400"/>
            <a:ext cx="1463040" cy="360"/>
          </a:xfrm>
          <a:prstGeom prst="line">
            <a:avLst/>
          </a:prstGeom>
          <a:ln w="2286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675360" y="1274760"/>
            <a:ext cx="137124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33463a"/>
                </a:solidFill>
                <a:latin typeface="Cambria"/>
                <a:ea typeface="Cambria"/>
              </a:rPr>
              <a:t>2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Roots &amp; Surds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Simplifying · Multiplying &amp; Dividing · Adding Like Surds · Expanding · Rationalising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Working with Exact Roots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SURD is a root that cannot be worked out exactly,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like √2 or √5. We leave it as a root so the answer stays exact — never round it.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Simplifying a surd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Multiplying &amp; dividing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Adding like surds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Expanding brackets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Rationalising the denominator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surd · exact · simplify · square factor · like surds · rationalise · conjugate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2360160" y="-736200"/>
            <a:ext cx="360" cy="68576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Surd Rules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Learn these four — every question uses one of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1"/>
          <p:cNvSpPr/>
          <p:nvPr/>
        </p:nvSpPr>
        <p:spPr>
          <a:xfrm>
            <a:off x="567000" y="22860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1214280" y="2571120"/>
            <a:ext cx="383760" cy="306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1738800" y="248724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51"/>
          <p:cNvSpPr/>
          <p:nvPr/>
        </p:nvSpPr>
        <p:spPr>
          <a:xfrm>
            <a:off x="2764080" y="248724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6"/>
          <p:cNvSpPr/>
          <p:nvPr/>
        </p:nvSpPr>
        <p:spPr>
          <a:xfrm>
            <a:off x="6766560" y="228600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Multiply the numbers inside one root.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57"/>
          <p:cNvSpPr/>
          <p:nvPr/>
        </p:nvSpPr>
        <p:spPr>
          <a:xfrm>
            <a:off x="567000" y="324612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62"/>
          <p:cNvSpPr/>
          <p:nvPr/>
        </p:nvSpPr>
        <p:spPr>
          <a:xfrm>
            <a:off x="1738800" y="344736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÷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67"/>
          <p:cNvSpPr/>
          <p:nvPr/>
        </p:nvSpPr>
        <p:spPr>
          <a:xfrm>
            <a:off x="2764080" y="344736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71"/>
          <p:cNvSpPr/>
          <p:nvPr/>
        </p:nvSpPr>
        <p:spPr>
          <a:xfrm>
            <a:off x="3264840" y="3531240"/>
            <a:ext cx="6030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Text 72"/>
          <p:cNvSpPr/>
          <p:nvPr/>
        </p:nvSpPr>
        <p:spPr>
          <a:xfrm>
            <a:off x="3109320" y="3506760"/>
            <a:ext cx="456840" cy="347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75"/>
          <p:cNvSpPr/>
          <p:nvPr/>
        </p:nvSpPr>
        <p:spPr>
          <a:xfrm>
            <a:off x="6766560" y="32461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Divide the numbers inside one root.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76"/>
          <p:cNvSpPr/>
          <p:nvPr/>
        </p:nvSpPr>
        <p:spPr>
          <a:xfrm>
            <a:off x="567000" y="420624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77"/>
          <p:cNvSpPr/>
          <p:nvPr/>
        </p:nvSpPr>
        <p:spPr>
          <a:xfrm>
            <a:off x="1097280" y="4407480"/>
            <a:ext cx="255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82"/>
          <p:cNvSpPr/>
          <p:nvPr/>
        </p:nvSpPr>
        <p:spPr>
          <a:xfrm>
            <a:off x="1994760" y="440748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83"/>
          <p:cNvSpPr/>
          <p:nvPr/>
        </p:nvSpPr>
        <p:spPr>
          <a:xfrm>
            <a:off x="2378880" y="4407480"/>
            <a:ext cx="255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q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88"/>
          <p:cNvSpPr/>
          <p:nvPr/>
        </p:nvSpPr>
        <p:spPr>
          <a:xfrm>
            <a:off x="3276000" y="440748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  (p + q)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93"/>
          <p:cNvSpPr/>
          <p:nvPr/>
        </p:nvSpPr>
        <p:spPr>
          <a:xfrm>
            <a:off x="6766560" y="420624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Only LIKE surds (same number inside) can be added.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94"/>
          <p:cNvSpPr/>
          <p:nvPr/>
        </p:nvSpPr>
        <p:spPr>
          <a:xfrm>
            <a:off x="567000" y="516636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95"/>
          <p:cNvSpPr/>
          <p:nvPr/>
        </p:nvSpPr>
        <p:spPr>
          <a:xfrm>
            <a:off x="1097280" y="5367600"/>
            <a:ext cx="868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( x 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00"/>
          <p:cNvSpPr/>
          <p:nvPr/>
        </p:nvSpPr>
        <p:spPr>
          <a:xfrm>
            <a:off x="2607480" y="5367600"/>
            <a:ext cx="1234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) ( x 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05"/>
          <p:cNvSpPr/>
          <p:nvPr/>
        </p:nvSpPr>
        <p:spPr>
          <a:xfrm>
            <a:off x="4483080" y="536760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)  =  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06"/>
          <p:cNvSpPr/>
          <p:nvPr/>
        </p:nvSpPr>
        <p:spPr>
          <a:xfrm>
            <a:off x="5102280" y="53308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07"/>
          <p:cNvSpPr/>
          <p:nvPr/>
        </p:nvSpPr>
        <p:spPr>
          <a:xfrm>
            <a:off x="5315040" y="5371560"/>
            <a:ext cx="822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− </a:t>
            </a: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08"/>
          <p:cNvSpPr/>
          <p:nvPr/>
        </p:nvSpPr>
        <p:spPr>
          <a:xfrm>
            <a:off x="6766560" y="516636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The surd disappears — this is why the conjugate works.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9"/>
          <p:cNvSpPr/>
          <p:nvPr/>
        </p:nvSpPr>
        <p:spPr>
          <a:xfrm>
            <a:off x="605880" y="624816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0"/>
          <p:cNvSpPr/>
          <p:nvPr/>
        </p:nvSpPr>
        <p:spPr>
          <a:xfrm>
            <a:off x="672840" y="62481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Keep answers EXACT — leave the surd in, never round it.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12"/>
          <p:cNvSpPr/>
          <p:nvPr/>
        </p:nvSpPr>
        <p:spPr>
          <a:xfrm>
            <a:off x="2092680" y="2533320"/>
            <a:ext cx="565200" cy="4086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113"/>
          <p:cNvSpPr/>
          <p:nvPr/>
        </p:nvSpPr>
        <p:spPr>
          <a:xfrm>
            <a:off x="3002400" y="2503440"/>
            <a:ext cx="701280" cy="407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5"/>
          <p:cNvSpPr/>
          <p:nvPr/>
        </p:nvSpPr>
        <p:spPr>
          <a:xfrm>
            <a:off x="1219680" y="3531600"/>
            <a:ext cx="383760" cy="3063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115"/>
          <p:cNvSpPr/>
          <p:nvPr/>
        </p:nvSpPr>
        <p:spPr>
          <a:xfrm>
            <a:off x="2112480" y="3496320"/>
            <a:ext cx="565200" cy="408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45"/>
          <p:cNvSpPr/>
          <p:nvPr/>
        </p:nvSpPr>
        <p:spPr>
          <a:xfrm>
            <a:off x="1339560" y="4505760"/>
            <a:ext cx="383760" cy="3063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5"/>
          <p:cNvSpPr/>
          <p:nvPr/>
        </p:nvSpPr>
        <p:spPr>
          <a:xfrm>
            <a:off x="2618640" y="4512240"/>
            <a:ext cx="383760" cy="30636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45"/>
          <p:cNvSpPr/>
          <p:nvPr/>
        </p:nvSpPr>
        <p:spPr>
          <a:xfrm>
            <a:off x="4343400" y="4487400"/>
            <a:ext cx="383760" cy="30636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5"/>
          <p:cNvSpPr/>
          <p:nvPr/>
        </p:nvSpPr>
        <p:spPr>
          <a:xfrm>
            <a:off x="1920600" y="5451480"/>
            <a:ext cx="383760" cy="30636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45"/>
          <p:cNvSpPr/>
          <p:nvPr/>
        </p:nvSpPr>
        <p:spPr>
          <a:xfrm>
            <a:off x="3649680" y="5455800"/>
            <a:ext cx="383760" cy="30636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SIMPLIFYING A SURD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Take Out the Largest Square Factor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Look for the biggest square number (4, 9, 16, 25, 36 …) that divides into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44"/>
          <p:cNvSpPr/>
          <p:nvPr/>
        </p:nvSpPr>
        <p:spPr>
          <a:xfrm>
            <a:off x="1340640" y="2443680"/>
            <a:ext cx="685440" cy="398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60"/>
          <p:cNvSpPr/>
          <p:nvPr/>
        </p:nvSpPr>
        <p:spPr>
          <a:xfrm>
            <a:off x="2137680" y="238752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84f2f"/>
                </a:solidFill>
                <a:latin typeface="Cambria"/>
                <a:ea typeface="Cambria"/>
              </a:rPr>
              <a:t>=  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65"/>
          <p:cNvSpPr/>
          <p:nvPr/>
        </p:nvSpPr>
        <p:spPr>
          <a:xfrm>
            <a:off x="6766560" y="2194560"/>
            <a:ext cx="4864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66"/>
          <p:cNvSpPr/>
          <p:nvPr/>
        </p:nvSpPr>
        <p:spPr>
          <a:xfrm>
            <a:off x="7132320" y="2432160"/>
            <a:ext cx="413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Method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67"/>
          <p:cNvSpPr/>
          <p:nvPr/>
        </p:nvSpPr>
        <p:spPr>
          <a:xfrm>
            <a:off x="7040880" y="301752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68"/>
          <p:cNvSpPr/>
          <p:nvPr/>
        </p:nvSpPr>
        <p:spPr>
          <a:xfrm>
            <a:off x="7269480" y="292608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Find the largest SQUARE factor.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9"/>
          <p:cNvSpPr/>
          <p:nvPr/>
        </p:nvSpPr>
        <p:spPr>
          <a:xfrm>
            <a:off x="7040880" y="347472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70"/>
          <p:cNvSpPr/>
          <p:nvPr/>
        </p:nvSpPr>
        <p:spPr>
          <a:xfrm>
            <a:off x="7269480" y="338328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72 = 36 × 2, and 36 is a square.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1"/>
          <p:cNvSpPr/>
          <p:nvPr/>
        </p:nvSpPr>
        <p:spPr>
          <a:xfrm>
            <a:off x="7040880" y="393192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72"/>
          <p:cNvSpPr/>
          <p:nvPr/>
        </p:nvSpPr>
        <p:spPr>
          <a:xfrm>
            <a:off x="7269480" y="384048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Split the root into two roots.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73"/>
          <p:cNvSpPr/>
          <p:nvPr/>
        </p:nvSpPr>
        <p:spPr>
          <a:xfrm>
            <a:off x="7040880" y="438912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74"/>
          <p:cNvSpPr/>
          <p:nvPr/>
        </p:nvSpPr>
        <p:spPr>
          <a:xfrm>
            <a:off x="7269480" y="429768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36 = 6, so the answer is 6√2.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75"/>
          <p:cNvSpPr/>
          <p:nvPr/>
        </p:nvSpPr>
        <p:spPr>
          <a:xfrm>
            <a:off x="7040880" y="484632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76"/>
          <p:cNvSpPr/>
          <p:nvPr/>
        </p:nvSpPr>
        <p:spPr>
          <a:xfrm>
            <a:off x="7269480" y="475488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Check: 6² × 2 = 72 ✓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77"/>
          <p:cNvSpPr/>
          <p:nvPr/>
        </p:nvSpPr>
        <p:spPr>
          <a:xfrm>
            <a:off x="567000" y="5120640"/>
            <a:ext cx="585180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78"/>
          <p:cNvSpPr/>
          <p:nvPr/>
        </p:nvSpPr>
        <p:spPr>
          <a:xfrm>
            <a:off x="841320" y="512064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√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72 = 6√2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45"/>
          <p:cNvSpPr/>
          <p:nvPr/>
        </p:nvSpPr>
        <p:spPr>
          <a:xfrm>
            <a:off x="2783160" y="2471760"/>
            <a:ext cx="383760" cy="3063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81"/>
          <p:cNvSpPr/>
          <p:nvPr/>
        </p:nvSpPr>
        <p:spPr>
          <a:xfrm>
            <a:off x="1325880" y="3059640"/>
            <a:ext cx="51300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8" name="Straight Connector 83"/>
          <p:cNvCxnSpPr/>
          <p:nvPr/>
        </p:nvCxnSpPr>
        <p:spPr>
          <a:xfrm>
            <a:off x="1838880" y="3059640"/>
            <a:ext cx="360" cy="191484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59" name="Rectangle 84"/>
          <p:cNvSpPr/>
          <p:nvPr/>
        </p:nvSpPr>
        <p:spPr>
          <a:xfrm>
            <a:off x="1881000" y="3036240"/>
            <a:ext cx="37512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85"/>
          <p:cNvSpPr/>
          <p:nvPr/>
        </p:nvSpPr>
        <p:spPr>
          <a:xfrm>
            <a:off x="1367640" y="3362760"/>
            <a:ext cx="493560" cy="3690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 86"/>
          <p:cNvSpPr/>
          <p:nvPr/>
        </p:nvSpPr>
        <p:spPr>
          <a:xfrm>
            <a:off x="1922760" y="3339720"/>
            <a:ext cx="375120" cy="3690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 87"/>
          <p:cNvSpPr/>
          <p:nvPr/>
        </p:nvSpPr>
        <p:spPr>
          <a:xfrm>
            <a:off x="1394640" y="3735720"/>
            <a:ext cx="493560" cy="3690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88"/>
          <p:cNvSpPr/>
          <p:nvPr/>
        </p:nvSpPr>
        <p:spPr>
          <a:xfrm>
            <a:off x="1879200" y="3690720"/>
            <a:ext cx="375120" cy="36900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 89"/>
          <p:cNvSpPr/>
          <p:nvPr/>
        </p:nvSpPr>
        <p:spPr>
          <a:xfrm>
            <a:off x="1436400" y="4074120"/>
            <a:ext cx="375120" cy="36900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 90"/>
          <p:cNvSpPr/>
          <p:nvPr/>
        </p:nvSpPr>
        <p:spPr>
          <a:xfrm>
            <a:off x="1919160" y="405072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91"/>
          <p:cNvSpPr/>
          <p:nvPr/>
        </p:nvSpPr>
        <p:spPr>
          <a:xfrm>
            <a:off x="1436760" y="4420080"/>
            <a:ext cx="375120" cy="36900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 92"/>
          <p:cNvSpPr/>
          <p:nvPr/>
        </p:nvSpPr>
        <p:spPr>
          <a:xfrm>
            <a:off x="1888920" y="4443480"/>
            <a:ext cx="365400" cy="36900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 93"/>
          <p:cNvSpPr/>
          <p:nvPr/>
        </p:nvSpPr>
        <p:spPr>
          <a:xfrm>
            <a:off x="1436760" y="4708080"/>
            <a:ext cx="375120" cy="36900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val 96"/>
          <p:cNvSpPr/>
          <p:nvPr/>
        </p:nvSpPr>
        <p:spPr>
          <a:xfrm>
            <a:off x="1861560" y="3081600"/>
            <a:ext cx="356760" cy="62136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Oval 97"/>
          <p:cNvSpPr/>
          <p:nvPr/>
        </p:nvSpPr>
        <p:spPr>
          <a:xfrm>
            <a:off x="1893240" y="4109040"/>
            <a:ext cx="356760" cy="62136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71" name="Straight Arrow Connector 99"/>
          <p:cNvCxnSpPr/>
          <p:nvPr/>
        </p:nvCxnSpPr>
        <p:spPr>
          <a:xfrm>
            <a:off x="2358000" y="3339360"/>
            <a:ext cx="694080" cy="7560"/>
          </a:xfrm>
          <a:prstGeom prst="straightConnector1">
            <a:avLst/>
          </a:prstGeom>
          <a:ln>
            <a:solidFill>
              <a:srgbClr val="c00000"/>
            </a:solidFill>
            <a:tailEnd len="med" type="arrow" w="med"/>
          </a:ln>
        </p:spPr>
      </p:cxnSp>
      <p:cxnSp>
        <p:nvCxnSpPr>
          <p:cNvPr id="272" name="Straight Arrow Connector 100"/>
          <p:cNvCxnSpPr/>
          <p:nvPr/>
        </p:nvCxnSpPr>
        <p:spPr>
          <a:xfrm>
            <a:off x="2381400" y="4500720"/>
            <a:ext cx="694440" cy="7560"/>
          </a:xfrm>
          <a:prstGeom prst="straightConnector1">
            <a:avLst/>
          </a:prstGeom>
          <a:ln>
            <a:solidFill>
              <a:srgbClr val="c00000"/>
            </a:solidFill>
            <a:tailEnd len="med" type="arrow" w="med"/>
          </a:ln>
        </p:spPr>
      </p:cxnSp>
      <p:sp>
        <p:nvSpPr>
          <p:cNvPr id="273" name="Rectangle 101"/>
          <p:cNvSpPr/>
          <p:nvPr/>
        </p:nvSpPr>
        <p:spPr>
          <a:xfrm>
            <a:off x="3168000" y="3136320"/>
            <a:ext cx="375120" cy="36900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102"/>
          <p:cNvSpPr/>
          <p:nvPr/>
        </p:nvSpPr>
        <p:spPr>
          <a:xfrm>
            <a:off x="3167280" y="4268520"/>
            <a:ext cx="375120" cy="3690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ectangle 103"/>
          <p:cNvSpPr/>
          <p:nvPr/>
        </p:nvSpPr>
        <p:spPr>
          <a:xfrm>
            <a:off x="3167280" y="3713040"/>
            <a:ext cx="402480" cy="36900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104"/>
          <p:cNvSpPr/>
          <p:nvPr/>
        </p:nvSpPr>
        <p:spPr>
          <a:xfrm>
            <a:off x="4033440" y="3546000"/>
            <a:ext cx="645120" cy="40176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MULTIPLY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Multiply the Numbers Inside One Root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√</a:t>
            </a: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 × √b = √(ab)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60"/>
          <p:cNvSpPr/>
          <p:nvPr/>
        </p:nvSpPr>
        <p:spPr>
          <a:xfrm>
            <a:off x="1550520" y="342900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84f2f"/>
                </a:solidFill>
                <a:latin typeface="Cambria"/>
                <a:ea typeface="Cambria"/>
              </a:rPr>
              <a:t>=  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61"/>
          <p:cNvSpPr/>
          <p:nvPr/>
        </p:nvSpPr>
        <p:spPr>
          <a:xfrm>
            <a:off x="6766560" y="2194560"/>
            <a:ext cx="4864320" cy="2742840"/>
          </a:xfrm>
          <a:prstGeom prst="roundRect">
            <a:avLst>
              <a:gd name="adj" fmla="val 2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62"/>
          <p:cNvSpPr/>
          <p:nvPr/>
        </p:nvSpPr>
        <p:spPr>
          <a:xfrm>
            <a:off x="7132320" y="2432160"/>
            <a:ext cx="413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63"/>
          <p:cNvSpPr/>
          <p:nvPr/>
        </p:nvSpPr>
        <p:spPr>
          <a:xfrm>
            <a:off x="7086600" y="2926080"/>
            <a:ext cx="42058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Here the answer is a whole number, because 36 is a perfect square.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If it is not a perfect square, simplify it instead — e.g. √2 × √10 = √20 = 2√5.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64"/>
          <p:cNvSpPr/>
          <p:nvPr/>
        </p:nvSpPr>
        <p:spPr>
          <a:xfrm>
            <a:off x="567000" y="4892040"/>
            <a:ext cx="585180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65"/>
          <p:cNvSpPr/>
          <p:nvPr/>
        </p:nvSpPr>
        <p:spPr>
          <a:xfrm>
            <a:off x="841320" y="489204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√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3 × √12 = √36 = 6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44"/>
          <p:cNvSpPr/>
          <p:nvPr/>
        </p:nvSpPr>
        <p:spPr>
          <a:xfrm>
            <a:off x="1081080" y="2653560"/>
            <a:ext cx="1620000" cy="398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50"/>
          <p:cNvSpPr/>
          <p:nvPr/>
        </p:nvSpPr>
        <p:spPr>
          <a:xfrm>
            <a:off x="2647800" y="2437560"/>
            <a:ext cx="411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 70"/>
          <p:cNvSpPr/>
          <p:nvPr/>
        </p:nvSpPr>
        <p:spPr>
          <a:xfrm>
            <a:off x="2876400" y="2353680"/>
            <a:ext cx="1359360" cy="573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55"/>
          <p:cNvSpPr/>
          <p:nvPr/>
        </p:nvSpPr>
        <p:spPr>
          <a:xfrm>
            <a:off x="4176720" y="2377440"/>
            <a:ext cx="411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72"/>
          <p:cNvSpPr/>
          <p:nvPr/>
        </p:nvSpPr>
        <p:spPr>
          <a:xfrm>
            <a:off x="4432320" y="2322000"/>
            <a:ext cx="931320" cy="573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DIVIDE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Divide the Numbers Inside One Root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√</a:t>
            </a: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 ÷ √b = √(a/b)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63"/>
          <p:cNvSpPr/>
          <p:nvPr/>
        </p:nvSpPr>
        <p:spPr>
          <a:xfrm>
            <a:off x="1188720" y="378576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84f2f"/>
                </a:solidFill>
                <a:latin typeface="Cambria"/>
                <a:ea typeface="Cambria"/>
              </a:rPr>
              <a:t>=  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64"/>
          <p:cNvSpPr/>
          <p:nvPr/>
        </p:nvSpPr>
        <p:spPr>
          <a:xfrm>
            <a:off x="6766560" y="2194560"/>
            <a:ext cx="4864320" cy="2742840"/>
          </a:xfrm>
          <a:prstGeom prst="roundRect">
            <a:avLst>
              <a:gd name="adj" fmla="val 2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5"/>
          <p:cNvSpPr/>
          <p:nvPr/>
        </p:nvSpPr>
        <p:spPr>
          <a:xfrm>
            <a:off x="7132320" y="2432160"/>
            <a:ext cx="413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Method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66"/>
          <p:cNvSpPr/>
          <p:nvPr/>
        </p:nvSpPr>
        <p:spPr>
          <a:xfrm>
            <a:off x="7086600" y="2926080"/>
            <a:ext cx="42058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Put both numbers under ONE root as a fraction.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72 ÷ 8 = 9,  and √9 = 3.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Always divide first, then take the root.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67"/>
          <p:cNvSpPr/>
          <p:nvPr/>
        </p:nvSpPr>
        <p:spPr>
          <a:xfrm>
            <a:off x="567000" y="4892040"/>
            <a:ext cx="585180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68"/>
          <p:cNvSpPr/>
          <p:nvPr/>
        </p:nvSpPr>
        <p:spPr>
          <a:xfrm>
            <a:off x="841320" y="489204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√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72 ÷ √8 = √9 = 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44"/>
          <p:cNvSpPr/>
          <p:nvPr/>
        </p:nvSpPr>
        <p:spPr>
          <a:xfrm>
            <a:off x="655920" y="2610720"/>
            <a:ext cx="2408760" cy="398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50"/>
          <p:cNvSpPr/>
          <p:nvPr/>
        </p:nvSpPr>
        <p:spPr>
          <a:xfrm>
            <a:off x="2721240" y="2351520"/>
            <a:ext cx="411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72"/>
          <p:cNvSpPr/>
          <p:nvPr/>
        </p:nvSpPr>
        <p:spPr>
          <a:xfrm>
            <a:off x="2926800" y="2267640"/>
            <a:ext cx="1402920" cy="576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55"/>
          <p:cNvSpPr/>
          <p:nvPr/>
        </p:nvSpPr>
        <p:spPr>
          <a:xfrm>
            <a:off x="4388040" y="2291400"/>
            <a:ext cx="411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74"/>
          <p:cNvSpPr/>
          <p:nvPr/>
        </p:nvSpPr>
        <p:spPr>
          <a:xfrm>
            <a:off x="4643640" y="2235960"/>
            <a:ext cx="716760" cy="573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ADD LIKE SURDS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Only Add Surds with the SAME Number Inside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p√c + q√c = (p + q)√c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41"/>
          <p:cNvSpPr/>
          <p:nvPr/>
        </p:nvSpPr>
        <p:spPr>
          <a:xfrm>
            <a:off x="1188720" y="2505600"/>
            <a:ext cx="292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46"/>
          <p:cNvSpPr/>
          <p:nvPr/>
        </p:nvSpPr>
        <p:spPr>
          <a:xfrm>
            <a:off x="2220120" y="250560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47"/>
          <p:cNvSpPr/>
          <p:nvPr/>
        </p:nvSpPr>
        <p:spPr>
          <a:xfrm>
            <a:off x="2603880" y="2505600"/>
            <a:ext cx="292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2"/>
          <p:cNvSpPr/>
          <p:nvPr/>
        </p:nvSpPr>
        <p:spPr>
          <a:xfrm>
            <a:off x="3635280" y="2505600"/>
            <a:ext cx="411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58"/>
          <p:cNvSpPr/>
          <p:nvPr/>
        </p:nvSpPr>
        <p:spPr>
          <a:xfrm>
            <a:off x="567000" y="3794760"/>
            <a:ext cx="5851800" cy="1462680"/>
          </a:xfrm>
          <a:prstGeom prst="roundRect">
            <a:avLst>
              <a:gd name="adj" fmla="val 375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59"/>
          <p:cNvSpPr/>
          <p:nvPr/>
        </p:nvSpPr>
        <p:spPr>
          <a:xfrm>
            <a:off x="914400" y="3794760"/>
            <a:ext cx="5211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Think of √2 like a letter:  3x + 5x = 8x.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60"/>
          <p:cNvSpPr/>
          <p:nvPr/>
        </p:nvSpPr>
        <p:spPr>
          <a:xfrm>
            <a:off x="6766560" y="2194560"/>
            <a:ext cx="4864320" cy="3062880"/>
          </a:xfrm>
          <a:prstGeom prst="roundRect">
            <a:avLst>
              <a:gd name="adj" fmla="val 17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1"/>
          <p:cNvSpPr/>
          <p:nvPr/>
        </p:nvSpPr>
        <p:spPr>
          <a:xfrm>
            <a:off x="7132320" y="2432160"/>
            <a:ext cx="413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Careful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62"/>
          <p:cNvSpPr/>
          <p:nvPr/>
        </p:nvSpPr>
        <p:spPr>
          <a:xfrm>
            <a:off x="7086600" y="2926080"/>
            <a:ext cx="42058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 + √3 does NOT simplify — different numbers inside.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Sometimes you must simplify FIRST: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√</a:t>
            </a: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45 + √20 = 3√5 + 2√5 = 5√5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63"/>
          <p:cNvSpPr/>
          <p:nvPr/>
        </p:nvSpPr>
        <p:spPr>
          <a:xfrm>
            <a:off x="567000" y="548640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64"/>
          <p:cNvSpPr/>
          <p:nvPr/>
        </p:nvSpPr>
        <p:spPr>
          <a:xfrm>
            <a:off x="841320" y="548640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3√2 + 5√2 = 8√2.   Simplify each surd first so the insides match.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ectangle 66"/>
          <p:cNvSpPr/>
          <p:nvPr/>
        </p:nvSpPr>
        <p:spPr>
          <a:xfrm>
            <a:off x="1529280" y="2531880"/>
            <a:ext cx="516960" cy="4017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ectangle 67"/>
          <p:cNvSpPr/>
          <p:nvPr/>
        </p:nvSpPr>
        <p:spPr>
          <a:xfrm>
            <a:off x="4046760" y="2496960"/>
            <a:ext cx="581040" cy="396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Rectangle 68"/>
          <p:cNvSpPr/>
          <p:nvPr/>
        </p:nvSpPr>
        <p:spPr>
          <a:xfrm>
            <a:off x="2884320" y="2507760"/>
            <a:ext cx="516960" cy="4017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4"/>
          <p:cNvSpPr/>
          <p:nvPr/>
        </p:nvSpPr>
        <p:spPr>
          <a:xfrm>
            <a:off x="2267640" y="-102240"/>
            <a:ext cx="360" cy="685764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EXPANDING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(x + √y)(x − √y) = x² − 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Expand as normal — the middle terms cancel and the surd disappears.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41"/>
          <p:cNvSpPr/>
          <p:nvPr/>
        </p:nvSpPr>
        <p:spPr>
          <a:xfrm>
            <a:off x="1188720" y="236844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c2a22"/>
                </a:solidFill>
                <a:latin typeface="Cambria"/>
                <a:ea typeface="Cambria"/>
              </a:rPr>
              <a:t>( 3 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46"/>
          <p:cNvSpPr/>
          <p:nvPr/>
        </p:nvSpPr>
        <p:spPr>
          <a:xfrm>
            <a:off x="2793960" y="2368440"/>
            <a:ext cx="1325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c2a22"/>
                </a:solidFill>
                <a:latin typeface="Cambria"/>
                <a:ea typeface="Cambria"/>
              </a:rPr>
              <a:t>) ( 3 −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51"/>
          <p:cNvSpPr/>
          <p:nvPr/>
        </p:nvSpPr>
        <p:spPr>
          <a:xfrm>
            <a:off x="4811040" y="2368440"/>
            <a:ext cx="273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c2a22"/>
                </a:solidFill>
                <a:latin typeface="Cambria"/>
                <a:ea typeface="Cambria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52"/>
          <p:cNvSpPr/>
          <p:nvPr/>
        </p:nvSpPr>
        <p:spPr>
          <a:xfrm>
            <a:off x="1188720" y="3420000"/>
            <a:ext cx="1691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=  9 − 3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57"/>
          <p:cNvSpPr/>
          <p:nvPr/>
        </p:nvSpPr>
        <p:spPr>
          <a:xfrm>
            <a:off x="2618280" y="3401640"/>
            <a:ext cx="685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+ 3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62"/>
          <p:cNvSpPr/>
          <p:nvPr/>
        </p:nvSpPr>
        <p:spPr>
          <a:xfrm>
            <a:off x="3510000" y="3406320"/>
            <a:ext cx="731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− </a:t>
            </a: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63"/>
          <p:cNvSpPr/>
          <p:nvPr/>
        </p:nvSpPr>
        <p:spPr>
          <a:xfrm>
            <a:off x="1188720" y="442584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4f2f"/>
                </a:solidFill>
                <a:latin typeface="Cambria"/>
                <a:ea typeface="Cambria"/>
              </a:rPr>
              <a:t>=  9 − 5  =  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64"/>
          <p:cNvSpPr/>
          <p:nvPr/>
        </p:nvSpPr>
        <p:spPr>
          <a:xfrm>
            <a:off x="7498080" y="2194560"/>
            <a:ext cx="4132800" cy="2925720"/>
          </a:xfrm>
          <a:prstGeom prst="roundRect">
            <a:avLst>
              <a:gd name="adj" fmla="val 187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65"/>
          <p:cNvSpPr/>
          <p:nvPr/>
        </p:nvSpPr>
        <p:spPr>
          <a:xfrm>
            <a:off x="7863840" y="243216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Why it works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66"/>
          <p:cNvSpPr/>
          <p:nvPr/>
        </p:nvSpPr>
        <p:spPr>
          <a:xfrm>
            <a:off x="7772400" y="2926080"/>
            <a:ext cx="3565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The two middle terms are −3√5 and +3√5 — they cancel.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5 × √5 = 5, so no surd is left.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 answer is a whole number.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67"/>
          <p:cNvSpPr/>
          <p:nvPr/>
        </p:nvSpPr>
        <p:spPr>
          <a:xfrm>
            <a:off x="567000" y="55321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68"/>
          <p:cNvSpPr/>
          <p:nvPr/>
        </p:nvSpPr>
        <p:spPr>
          <a:xfrm>
            <a:off x="841320" y="5532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(3 + √5)(3 − √5) = 3² − 5 = 4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70"/>
          <p:cNvSpPr/>
          <p:nvPr/>
        </p:nvSpPr>
        <p:spPr>
          <a:xfrm>
            <a:off x="2009160" y="2396520"/>
            <a:ext cx="526680" cy="407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72"/>
          <p:cNvSpPr/>
          <p:nvPr/>
        </p:nvSpPr>
        <p:spPr>
          <a:xfrm>
            <a:off x="3875760" y="2396520"/>
            <a:ext cx="526680" cy="407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74"/>
          <p:cNvSpPr/>
          <p:nvPr/>
        </p:nvSpPr>
        <p:spPr>
          <a:xfrm>
            <a:off x="2100960" y="3440160"/>
            <a:ext cx="516960" cy="407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75"/>
          <p:cNvSpPr/>
          <p:nvPr/>
        </p:nvSpPr>
        <p:spPr>
          <a:xfrm>
            <a:off x="2956320" y="3416760"/>
            <a:ext cx="516960" cy="407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6"/>
          <p:cNvSpPr/>
          <p:nvPr/>
        </p:nvSpPr>
        <p:spPr>
          <a:xfrm>
            <a:off x="9053640" y="60084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9"/>
          <p:cNvSpPr/>
          <p:nvPr/>
        </p:nvSpPr>
        <p:spPr>
          <a:xfrm>
            <a:off x="-120744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RATIONALISE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Clear the Surd from the Bottom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Multiply the top AND bottom by the surd on the bottom.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1"/>
          <p:cNvSpPr/>
          <p:nvPr/>
        </p:nvSpPr>
        <p:spPr>
          <a:xfrm>
            <a:off x="1119960" y="3063240"/>
            <a:ext cx="96012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42"/>
          <p:cNvSpPr/>
          <p:nvPr/>
        </p:nvSpPr>
        <p:spPr>
          <a:xfrm>
            <a:off x="1458720" y="242316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47"/>
          <p:cNvSpPr/>
          <p:nvPr/>
        </p:nvSpPr>
        <p:spPr>
          <a:xfrm>
            <a:off x="2464560" y="278892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×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48"/>
          <p:cNvSpPr/>
          <p:nvPr/>
        </p:nvSpPr>
        <p:spPr>
          <a:xfrm>
            <a:off x="3131640" y="3063240"/>
            <a:ext cx="96012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57"/>
          <p:cNvSpPr/>
          <p:nvPr/>
        </p:nvSpPr>
        <p:spPr>
          <a:xfrm>
            <a:off x="4476240" y="278892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58"/>
          <p:cNvSpPr/>
          <p:nvPr/>
        </p:nvSpPr>
        <p:spPr>
          <a:xfrm>
            <a:off x="5051880" y="3063240"/>
            <a:ext cx="150876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59"/>
          <p:cNvSpPr/>
          <p:nvPr/>
        </p:nvSpPr>
        <p:spPr>
          <a:xfrm>
            <a:off x="5446800" y="242316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64"/>
          <p:cNvSpPr/>
          <p:nvPr/>
        </p:nvSpPr>
        <p:spPr>
          <a:xfrm>
            <a:off x="5664960" y="317304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65"/>
          <p:cNvSpPr/>
          <p:nvPr/>
        </p:nvSpPr>
        <p:spPr>
          <a:xfrm>
            <a:off x="6853680" y="2788920"/>
            <a:ext cx="28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66"/>
          <p:cNvSpPr/>
          <p:nvPr/>
        </p:nvSpPr>
        <p:spPr>
          <a:xfrm>
            <a:off x="7690680" y="2788920"/>
            <a:ext cx="313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71"/>
          <p:cNvSpPr/>
          <p:nvPr/>
        </p:nvSpPr>
        <p:spPr>
          <a:xfrm>
            <a:off x="567000" y="4572000"/>
            <a:ext cx="11063880" cy="1234080"/>
          </a:xfrm>
          <a:prstGeom prst="roundRect">
            <a:avLst>
              <a:gd name="adj" fmla="val 444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72"/>
          <p:cNvSpPr/>
          <p:nvPr/>
        </p:nvSpPr>
        <p:spPr>
          <a:xfrm>
            <a:off x="932760" y="480960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Why it works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73"/>
          <p:cNvSpPr/>
          <p:nvPr/>
        </p:nvSpPr>
        <p:spPr>
          <a:xfrm>
            <a:off x="914400" y="519372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3 × √3 = 3, so the bottom becomes a whole number.  Then 6 ÷ 3 = 2, leaving 2√3.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74"/>
          <p:cNvSpPr/>
          <p:nvPr/>
        </p:nvSpPr>
        <p:spPr>
          <a:xfrm>
            <a:off x="567000" y="60350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75"/>
          <p:cNvSpPr/>
          <p:nvPr/>
        </p:nvSpPr>
        <p:spPr>
          <a:xfrm>
            <a:off x="841320" y="60350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Never leave a surd on the bottom — rationalise it.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ectangle 77"/>
          <p:cNvSpPr/>
          <p:nvPr/>
        </p:nvSpPr>
        <p:spPr>
          <a:xfrm>
            <a:off x="1355760" y="322812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ectangle 78"/>
          <p:cNvSpPr/>
          <p:nvPr/>
        </p:nvSpPr>
        <p:spPr>
          <a:xfrm>
            <a:off x="3295080" y="322812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ectangle 79"/>
          <p:cNvSpPr/>
          <p:nvPr/>
        </p:nvSpPr>
        <p:spPr>
          <a:xfrm>
            <a:off x="3295080" y="252576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Rectangle 80"/>
          <p:cNvSpPr/>
          <p:nvPr/>
        </p:nvSpPr>
        <p:spPr>
          <a:xfrm>
            <a:off x="5743440" y="248580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ectangle 81"/>
          <p:cNvSpPr/>
          <p:nvPr/>
        </p:nvSpPr>
        <p:spPr>
          <a:xfrm>
            <a:off x="7968960" y="289512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c00000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c00000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EXAMPLE · CONJUGATE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the Bottom is  a + √b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Multiply top and bottom by the CONJUGATE — the same expression with the sign flipped.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41"/>
          <p:cNvSpPr/>
          <p:nvPr/>
        </p:nvSpPr>
        <p:spPr>
          <a:xfrm>
            <a:off x="937080" y="3017520"/>
            <a:ext cx="160020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42"/>
          <p:cNvSpPr/>
          <p:nvPr/>
        </p:nvSpPr>
        <p:spPr>
          <a:xfrm>
            <a:off x="1603800" y="2377440"/>
            <a:ext cx="26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43"/>
          <p:cNvSpPr/>
          <p:nvPr/>
        </p:nvSpPr>
        <p:spPr>
          <a:xfrm>
            <a:off x="1241280" y="3127320"/>
            <a:ext cx="581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2 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48"/>
          <p:cNvSpPr/>
          <p:nvPr/>
        </p:nvSpPr>
        <p:spPr>
          <a:xfrm>
            <a:off x="2746800" y="2743200"/>
            <a:ext cx="26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9"/>
          <p:cNvSpPr/>
          <p:nvPr/>
        </p:nvSpPr>
        <p:spPr>
          <a:xfrm>
            <a:off x="3314520" y="3017520"/>
            <a:ext cx="169164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50"/>
          <p:cNvSpPr/>
          <p:nvPr/>
        </p:nvSpPr>
        <p:spPr>
          <a:xfrm>
            <a:off x="3664440" y="2377440"/>
            <a:ext cx="581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2 −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55"/>
          <p:cNvSpPr/>
          <p:nvPr/>
        </p:nvSpPr>
        <p:spPr>
          <a:xfrm>
            <a:off x="3664440" y="3127320"/>
            <a:ext cx="581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2 −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60"/>
          <p:cNvSpPr/>
          <p:nvPr/>
        </p:nvSpPr>
        <p:spPr>
          <a:xfrm>
            <a:off x="5215680" y="2743200"/>
            <a:ext cx="26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61"/>
          <p:cNvSpPr/>
          <p:nvPr/>
        </p:nvSpPr>
        <p:spPr>
          <a:xfrm>
            <a:off x="5783400" y="3017520"/>
            <a:ext cx="1691640" cy="360"/>
          </a:xfrm>
          <a:prstGeom prst="line">
            <a:avLst/>
          </a:prstGeom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62"/>
          <p:cNvSpPr/>
          <p:nvPr/>
        </p:nvSpPr>
        <p:spPr>
          <a:xfrm>
            <a:off x="6133320" y="2377440"/>
            <a:ext cx="581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2 −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67"/>
          <p:cNvSpPr/>
          <p:nvPr/>
        </p:nvSpPr>
        <p:spPr>
          <a:xfrm>
            <a:off x="6180840" y="3127320"/>
            <a:ext cx="89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4 − 3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68"/>
          <p:cNvSpPr/>
          <p:nvPr/>
        </p:nvSpPr>
        <p:spPr>
          <a:xfrm>
            <a:off x="7730280" y="2743200"/>
            <a:ext cx="26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69"/>
          <p:cNvSpPr/>
          <p:nvPr/>
        </p:nvSpPr>
        <p:spPr>
          <a:xfrm>
            <a:off x="8437320" y="2743200"/>
            <a:ext cx="67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2 −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74"/>
          <p:cNvSpPr/>
          <p:nvPr/>
        </p:nvSpPr>
        <p:spPr>
          <a:xfrm>
            <a:off x="567000" y="4526280"/>
            <a:ext cx="11063880" cy="1279800"/>
          </a:xfrm>
          <a:prstGeom prst="roundRect">
            <a:avLst>
              <a:gd name="adj" fmla="val 428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75"/>
          <p:cNvSpPr/>
          <p:nvPr/>
        </p:nvSpPr>
        <p:spPr>
          <a:xfrm>
            <a:off x="932760" y="476388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key step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76"/>
          <p:cNvSpPr/>
          <p:nvPr/>
        </p:nvSpPr>
        <p:spPr>
          <a:xfrm>
            <a:off x="914400" y="516636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(2 + √3)(2 − √3) = 2² − 3 = 4 − 3 = 1.  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The surd cancels, so the bottom is a whole number.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77"/>
          <p:cNvSpPr/>
          <p:nvPr/>
        </p:nvSpPr>
        <p:spPr>
          <a:xfrm>
            <a:off x="567000" y="60350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78"/>
          <p:cNvSpPr/>
          <p:nvPr/>
        </p:nvSpPr>
        <p:spPr>
          <a:xfrm>
            <a:off x="841320" y="60350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Conjugate of  a + √b  is  a − √b.   Multiplying them removes the surd.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Rectangle 80"/>
          <p:cNvSpPr/>
          <p:nvPr/>
        </p:nvSpPr>
        <p:spPr>
          <a:xfrm>
            <a:off x="1837440" y="324432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ectangle 81"/>
          <p:cNvSpPr/>
          <p:nvPr/>
        </p:nvSpPr>
        <p:spPr>
          <a:xfrm>
            <a:off x="4276080" y="324432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ectangle 82"/>
          <p:cNvSpPr/>
          <p:nvPr/>
        </p:nvSpPr>
        <p:spPr>
          <a:xfrm>
            <a:off x="4275000" y="245448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ectangle 83"/>
          <p:cNvSpPr/>
          <p:nvPr/>
        </p:nvSpPr>
        <p:spPr>
          <a:xfrm>
            <a:off x="6729480" y="244548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Rectangle 84"/>
          <p:cNvSpPr/>
          <p:nvPr/>
        </p:nvSpPr>
        <p:spPr>
          <a:xfrm>
            <a:off x="9084600" y="2855160"/>
            <a:ext cx="52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c00000"/>
                </a:solidFill>
                <a:latin typeface="Cambria"/>
                <a:ea typeface="Cambria"/>
              </a:rPr>
              <a:t>√</a:t>
            </a:r>
            <a:r>
              <a:rPr b="1" lang="en-US" sz="1800" spc="-1" strike="noStrike">
                <a:solidFill>
                  <a:srgbClr val="c00000"/>
                </a:solidFill>
                <a:latin typeface="Cambria"/>
                <a:ea typeface="Cambria"/>
              </a:rPr>
              <a:t>3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Simplify first, then apply the rule — and never leave a surd on the bottom.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Take out the largest square factor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√</a:t>
            </a: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 × √b = √(ab)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Like surds add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Rationalise with the conjugate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9"/>
          <p:cNvSpPr/>
          <p:nvPr/>
        </p:nvSpPr>
        <p:spPr>
          <a:xfrm>
            <a:off x="549720" y="1243440"/>
            <a:ext cx="7922880" cy="175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0" name="Image 0" descr="/tmp/work/rso_q/q-03.png"/>
          <p:cNvPicPr/>
          <p:nvPr/>
        </p:nvPicPr>
        <p:blipFill>
          <a:blip r:embed="rId1"/>
          <a:stretch/>
        </p:blipFill>
        <p:spPr>
          <a:xfrm>
            <a:off x="641160" y="1334880"/>
            <a:ext cx="7862400" cy="160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39"/>
          <p:cNvSpPr/>
          <p:nvPr/>
        </p:nvSpPr>
        <p:spPr>
          <a:xfrm>
            <a:off x="354240" y="1243440"/>
            <a:ext cx="7729560" cy="262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1" name="Image 0" descr="/tmp/work/rso_q/q-04.png"/>
          <p:cNvPicPr/>
          <p:nvPr/>
        </p:nvPicPr>
        <p:blipFill>
          <a:blip r:embed="rId1"/>
          <a:stretch/>
        </p:blipFill>
        <p:spPr>
          <a:xfrm>
            <a:off x="445680" y="1334880"/>
            <a:ext cx="7580880" cy="253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9"/>
          <p:cNvSpPr/>
          <p:nvPr/>
        </p:nvSpPr>
        <p:spPr>
          <a:xfrm>
            <a:off x="567000" y="1191240"/>
            <a:ext cx="8039160" cy="164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2" name="Image 0" descr="/tmp/work/rso_q/q-05.png"/>
          <p:cNvPicPr/>
          <p:nvPr/>
        </p:nvPicPr>
        <p:blipFill>
          <a:blip r:embed="rId1"/>
          <a:stretch/>
        </p:blipFill>
        <p:spPr>
          <a:xfrm>
            <a:off x="658440" y="1282680"/>
            <a:ext cx="8834760" cy="146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39"/>
          <p:cNvSpPr/>
          <p:nvPr/>
        </p:nvSpPr>
        <p:spPr>
          <a:xfrm>
            <a:off x="1341000" y="1645920"/>
            <a:ext cx="9509400" cy="15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3" name="Image 0" descr="/tmp/work/rso_q/q-06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138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39"/>
          <p:cNvSpPr/>
          <p:nvPr/>
        </p:nvSpPr>
        <p:spPr>
          <a:xfrm>
            <a:off x="1341000" y="1645920"/>
            <a:ext cx="9509400" cy="94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4" name="Image 0" descr="/tmp/work/rso_q/q-07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76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39"/>
          <p:cNvSpPr/>
          <p:nvPr/>
        </p:nvSpPr>
        <p:spPr>
          <a:xfrm>
            <a:off x="567000" y="1243440"/>
            <a:ext cx="9322560" cy="512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5" name="Image 0" descr="/tmp/work/rso_q/q-08.png"/>
          <p:cNvPicPr/>
          <p:nvPr/>
        </p:nvPicPr>
        <p:blipFill>
          <a:blip r:embed="rId1"/>
          <a:stretch/>
        </p:blipFill>
        <p:spPr>
          <a:xfrm>
            <a:off x="658440" y="1334880"/>
            <a:ext cx="9139680" cy="49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39"/>
          <p:cNvSpPr/>
          <p:nvPr/>
        </p:nvSpPr>
        <p:spPr>
          <a:xfrm>
            <a:off x="1341000" y="1645920"/>
            <a:ext cx="9509400" cy="217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6" name="Image 0" descr="/tmp/work/rso_q/q-09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198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39"/>
          <p:cNvSpPr/>
          <p:nvPr/>
        </p:nvSpPr>
        <p:spPr>
          <a:xfrm>
            <a:off x="1341000" y="1645920"/>
            <a:ext cx="9509400" cy="163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7" name="Image 0" descr="/tmp/work/rso_q/q-10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145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39"/>
          <p:cNvSpPr/>
          <p:nvPr/>
        </p:nvSpPr>
        <p:spPr>
          <a:xfrm>
            <a:off x="1341000" y="1645920"/>
            <a:ext cx="9509400" cy="236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8" name="Image 0" descr="/tmp/work/rso_q/q-11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21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39"/>
          <p:cNvSpPr/>
          <p:nvPr/>
        </p:nvSpPr>
        <p:spPr>
          <a:xfrm>
            <a:off x="1341000" y="1645920"/>
            <a:ext cx="9509400" cy="257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9" name="Image 0" descr="/tmp/work/rso_q/q-12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238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39"/>
          <p:cNvSpPr/>
          <p:nvPr/>
        </p:nvSpPr>
        <p:spPr>
          <a:xfrm>
            <a:off x="1341000" y="1645920"/>
            <a:ext cx="9509400" cy="156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0" name="Image 0" descr="/tmp/work/rso_q/q-13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138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39"/>
          <p:cNvSpPr/>
          <p:nvPr/>
        </p:nvSpPr>
        <p:spPr>
          <a:xfrm>
            <a:off x="1341000" y="1645920"/>
            <a:ext cx="9509400" cy="21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1" name="Image 0" descr="/tmp/work/rso_q/q-14.png"/>
          <p:cNvPicPr/>
          <p:nvPr/>
        </p:nvPicPr>
        <p:blipFill>
          <a:blip r:embed="rId1"/>
          <a:stretch/>
        </p:blipFill>
        <p:spPr>
          <a:xfrm>
            <a:off x="1432440" y="1737360"/>
            <a:ext cx="9326520" cy="200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2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surd is an exact root — leave it in, never round it.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Simplify by taking out the largest SQUARE factor:  √72 = 6√2.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√</a:t>
            </a: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× √b = √(ab)  and  √a ÷ √b = √(a÷b).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7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Only LIKE surds can be added:  3√2 + 5√2 = 8√2.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9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0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Rationalise: multiply by the surd, or by the CONJUGATE if the bottom is a ± √b.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1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2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simplify first, then apply the rule — and clear every surd from the denominator.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1219</Words>
  <Paragraphs>276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2026-07-20T14:05:39Z</dcterms:created>
  <dc:creator>Zahra Sheikh Ali</dc:creator>
  <dc:description/>
  <dc:language>en-US</dc:language>
  <cp:lastModifiedBy>zahraa sheik ali</cp:lastModifiedBy>
  <dcterms:modified xsi:type="dcterms:W3CDTF">2026-07-23T18:52:45Z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Custom</vt:lpwstr>
  </property>
  <property fmtid="{D5CDD505-2E9C-101B-9397-08002B2CF9AE}" pid="4" name="Slides">
    <vt:r8>24</vt:r8>
  </property>
</Properties>
</file>