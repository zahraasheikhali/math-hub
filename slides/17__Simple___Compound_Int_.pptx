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media/image7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_rels/notesSlide4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3.xml.rels" ContentType="application/vnd.openxmlformats-package.relationships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8.xml.rels" ContentType="application/vnd.openxmlformats-package.relationships+xml"/>
  <Override PartName="/ppt/notesSlides/_rels/notesSlide2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21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18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0.xml.rels" ContentType="application/vnd.openxmlformats-package.relationships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DA1E6B63-59B1-4E57-8B40-37814C74E68C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2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95AAA5A-3926-4615-9C63-E725CD5B53F0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5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088A9D3-2856-4296-9CAD-D88A4029F3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8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470D4D2-0F8A-4B96-BD05-628D4BC532B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1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B6A896E5-58CC-4E13-B5F3-0008E52BA81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4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5D21AAE-24EE-4BBF-9001-AA2F5EF4E17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7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17D5BE1-E7D8-4A79-BBA1-5080E701F86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0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5ED33777-52FC-4265-90F2-F1FBDD12083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3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0EAA182-4AA4-4FA2-A10E-7EA01AB127E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6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C774FAFD-01D4-49B0-AE34-D43469A2C05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1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9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7440014-861D-4F0A-AA23-43B3BD521C22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2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030D45C-EF12-4FA1-83D8-DEEEF0E124F7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5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5D9F2B6-1B85-4CAD-AA4C-4EA4036E3E8F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8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645D9A6-C3AA-4F5F-A83E-429B8F65141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1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AEE2AF1-DC97-4C93-933C-7CC2A273A6BB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4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7113F4A6-5718-428D-9F81-BEAB08DA0505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7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FDDECDE-22A6-403A-A256-999ACF731381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0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177AA99-A7F4-4C74-9833-3405C6AB330E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3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7080145-233E-40D3-8ECC-E5D338AAFB4C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6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8DF2901-D3F4-4923-80FC-4487A92BF83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9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4D75DA4-754D-4CA5-95C6-7918EACAE459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2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9BC8D76-3DB9-4DAB-A34A-81B5AF6CF8B3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5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en-US" sz="1200" spc="-1" strike="noStrike">
                <a:solidFill>
                  <a:schemeClr val="dk1"/>
                </a:solidFill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F1254589-2A62-41BD-A726-89D6BD9EE4CD}" type="slidenum">
              <a:rPr b="0" lang="en-US" sz="1200" spc="-1" strike="noStrike">
                <a:solidFill>
                  <a:schemeClr val="dk1"/>
                </a:solidFill>
                <a:latin typeface="+mn-lt"/>
                <a:ea typeface="+mn-ea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chemeClr val="dk1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chemeClr val="dk1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chemeClr val="dk1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chemeClr val="dk1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chemeClr val="dk1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chemeClr val="dk1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chemeClr val="dk1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chemeClr val="dk1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35"/>
          <p:cNvSpPr/>
          <p:nvPr/>
        </p:nvSpPr>
        <p:spPr>
          <a:xfrm>
            <a:off x="8229600" y="914400"/>
            <a:ext cx="347436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4400" spc="-1" strike="noStrike">
                <a:solidFill>
                  <a:srgbClr val="33463a"/>
                </a:solidFill>
                <a:latin typeface="Cambria"/>
                <a:ea typeface="Cambria"/>
              </a:rPr>
              <a:t>× 1.05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36"/>
          <p:cNvSpPr/>
          <p:nvPr/>
        </p:nvSpPr>
        <p:spPr>
          <a:xfrm>
            <a:off x="11338560" y="77724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3000" spc="-1" strike="noStrike">
                <a:solidFill>
                  <a:srgbClr val="33463a"/>
                </a:solidFill>
                <a:latin typeface="Cambria"/>
                <a:ea typeface="Cambria"/>
              </a:rPr>
              <a:t>ⁿ</a:t>
            </a:r>
            <a:endParaRPr b="0" lang="en-US" sz="3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37"/>
          <p:cNvSpPr/>
          <p:nvPr/>
        </p:nvSpPr>
        <p:spPr>
          <a:xfrm>
            <a:off x="777240" y="640080"/>
            <a:ext cx="658080" cy="658080"/>
          </a:xfrm>
          <a:prstGeom prst="roundRect">
            <a:avLst>
              <a:gd name="adj" fmla="val 13889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38"/>
          <p:cNvSpPr/>
          <p:nvPr/>
        </p:nvSpPr>
        <p:spPr>
          <a:xfrm>
            <a:off x="777240" y="640080"/>
            <a:ext cx="658080" cy="65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6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216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39"/>
          <p:cNvSpPr/>
          <p:nvPr/>
        </p:nvSpPr>
        <p:spPr>
          <a:xfrm>
            <a:off x="1600200" y="60336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299" strike="noStrike">
                <a:solidFill>
                  <a:srgbClr val="e0ac2b"/>
                </a:solidFill>
                <a:latin typeface="Calibri"/>
                <a:ea typeface="Calibri"/>
              </a:rPr>
              <a:t>Zπ  MATHS HUB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Text 40"/>
          <p:cNvSpPr/>
          <p:nvPr/>
        </p:nvSpPr>
        <p:spPr>
          <a:xfrm>
            <a:off x="1600200" y="91440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150" spc="-1" strike="noStrike">
                <a:solidFill>
                  <a:srgbClr val="c9d2c5"/>
                </a:solidFill>
                <a:latin typeface="Calibri"/>
                <a:ea typeface="Calibri"/>
              </a:rPr>
              <a:t>Pearson Edexcel IGCSE (9–1) · Higher Tier</a:t>
            </a:r>
            <a:endParaRPr b="0" lang="en-US" sz="1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41"/>
          <p:cNvSpPr/>
          <p:nvPr/>
        </p:nvSpPr>
        <p:spPr>
          <a:xfrm>
            <a:off x="777240" y="2240280"/>
            <a:ext cx="10789560" cy="100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000" spc="-1" strike="noStrike">
                <a:solidFill>
                  <a:srgbClr val="e0ac2b"/>
                </a:solidFill>
                <a:latin typeface="Cambria"/>
                <a:ea typeface="Cambria"/>
              </a:rPr>
              <a:t>Simple &amp; Compound Interest</a:t>
            </a:r>
            <a:endParaRPr b="0" lang="en-US" sz="40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42"/>
          <p:cNvSpPr/>
          <p:nvPr/>
        </p:nvSpPr>
        <p:spPr>
          <a:xfrm>
            <a:off x="804600" y="3310200"/>
            <a:ext cx="1078956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edebdd"/>
                </a:solidFill>
                <a:latin typeface="Cambria"/>
                <a:ea typeface="Cambria"/>
              </a:rPr>
              <a:t>Simple Interest · Compound Growth · The Multiplier over n Years · Repeated % Change · Reverse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43"/>
          <p:cNvSpPr/>
          <p:nvPr/>
        </p:nvSpPr>
        <p:spPr>
          <a:xfrm>
            <a:off x="777240" y="4297680"/>
            <a:ext cx="6766200" cy="1691280"/>
          </a:xfrm>
          <a:prstGeom prst="roundRect">
            <a:avLst>
              <a:gd name="adj" fmla="val 3243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44"/>
          <p:cNvSpPr/>
          <p:nvPr/>
        </p:nvSpPr>
        <p:spPr>
          <a:xfrm>
            <a:off x="1097280" y="4498920"/>
            <a:ext cx="6126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e0ac2b"/>
                </a:solidFill>
                <a:latin typeface="Cambria"/>
                <a:ea typeface="Cambria"/>
              </a:rPr>
              <a:t>Zahra Sheikh Ali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45"/>
          <p:cNvSpPr/>
          <p:nvPr/>
        </p:nvSpPr>
        <p:spPr>
          <a:xfrm>
            <a:off x="1097280" y="495612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50" spc="-1" strike="noStrike">
                <a:solidFill>
                  <a:srgbClr val="c9d2c5"/>
                </a:solidFill>
                <a:latin typeface="Cambria"/>
                <a:ea typeface="Cambria"/>
              </a:rPr>
              <a:t>IGCSE Mathematics Teacher  ·  M.Sc. Differential Geometry &amp; Geometric Control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" name="Text 46"/>
          <p:cNvSpPr/>
          <p:nvPr/>
        </p:nvSpPr>
        <p:spPr>
          <a:xfrm>
            <a:off x="1097280" y="5394960"/>
            <a:ext cx="621756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☎  </a:t>
            </a:r>
            <a:r>
              <a:rPr b="1" lang="en-US" sz="1250" spc="-1" strike="noStrike">
                <a:solidFill>
                  <a:srgbClr val="e8623d"/>
                </a:solidFill>
                <a:latin typeface="Calibri"/>
                <a:ea typeface="Calibri"/>
              </a:rPr>
              <a:t>66613748      ✉  zahraa.sheikhali@outlook.com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LESSON OVERVIEW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Interest Grows by Multiplying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" name="Shape 39"/>
          <p:cNvSpPr/>
          <p:nvPr/>
        </p:nvSpPr>
        <p:spPr>
          <a:xfrm>
            <a:off x="567000" y="1481400"/>
            <a:ext cx="11063880" cy="822600"/>
          </a:xfrm>
          <a:prstGeom prst="roundRect">
            <a:avLst>
              <a:gd name="adj" fmla="val 6667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Text 40"/>
          <p:cNvSpPr/>
          <p:nvPr/>
        </p:nvSpPr>
        <p:spPr>
          <a:xfrm>
            <a:off x="887040" y="1481400"/>
            <a:ext cx="104238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Simple interest is the same each year; compound interest grows on the growing total.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Both live on the multiplier — and repeated changes multiply, they do NOT add.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" name="Shape 41"/>
          <p:cNvSpPr/>
          <p:nvPr/>
        </p:nvSpPr>
        <p:spPr>
          <a:xfrm>
            <a:off x="5670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Shape 42"/>
          <p:cNvSpPr/>
          <p:nvPr/>
        </p:nvSpPr>
        <p:spPr>
          <a:xfrm>
            <a:off x="8229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8" name="Text 43"/>
          <p:cNvSpPr/>
          <p:nvPr/>
        </p:nvSpPr>
        <p:spPr>
          <a:xfrm>
            <a:off x="8229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Text 44"/>
          <p:cNvSpPr/>
          <p:nvPr/>
        </p:nvSpPr>
        <p:spPr>
          <a:xfrm>
            <a:off x="14356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Simple interest (PRT/100)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Shape 45"/>
          <p:cNvSpPr/>
          <p:nvPr/>
        </p:nvSpPr>
        <p:spPr>
          <a:xfrm>
            <a:off x="43434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Shape 46"/>
          <p:cNvSpPr/>
          <p:nvPr/>
        </p:nvSpPr>
        <p:spPr>
          <a:xfrm>
            <a:off x="45993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2" name="Text 47"/>
          <p:cNvSpPr/>
          <p:nvPr/>
        </p:nvSpPr>
        <p:spPr>
          <a:xfrm>
            <a:off x="45993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 48"/>
          <p:cNvSpPr/>
          <p:nvPr/>
        </p:nvSpPr>
        <p:spPr>
          <a:xfrm>
            <a:off x="52120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Compound interest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Shape 49"/>
          <p:cNvSpPr/>
          <p:nvPr/>
        </p:nvSpPr>
        <p:spPr>
          <a:xfrm>
            <a:off x="8119800" y="265176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Shape 50"/>
          <p:cNvSpPr/>
          <p:nvPr/>
        </p:nvSpPr>
        <p:spPr>
          <a:xfrm>
            <a:off x="8375760" y="294912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Text 51"/>
          <p:cNvSpPr/>
          <p:nvPr/>
        </p:nvSpPr>
        <p:spPr>
          <a:xfrm>
            <a:off x="8375760" y="294912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Text 52"/>
          <p:cNvSpPr/>
          <p:nvPr/>
        </p:nvSpPr>
        <p:spPr>
          <a:xfrm>
            <a:off x="8988480" y="265176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Growth over n years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" name="Shape 53"/>
          <p:cNvSpPr/>
          <p:nvPr/>
        </p:nvSpPr>
        <p:spPr>
          <a:xfrm>
            <a:off x="5670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Shape 54"/>
          <p:cNvSpPr/>
          <p:nvPr/>
        </p:nvSpPr>
        <p:spPr>
          <a:xfrm>
            <a:off x="8229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 55"/>
          <p:cNvSpPr/>
          <p:nvPr/>
        </p:nvSpPr>
        <p:spPr>
          <a:xfrm>
            <a:off x="8229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 56"/>
          <p:cNvSpPr/>
          <p:nvPr/>
        </p:nvSpPr>
        <p:spPr>
          <a:xfrm>
            <a:off x="14356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Repeated % change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Shape 57"/>
          <p:cNvSpPr/>
          <p:nvPr/>
        </p:nvSpPr>
        <p:spPr>
          <a:xfrm>
            <a:off x="43434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Shape 58"/>
          <p:cNvSpPr/>
          <p:nvPr/>
        </p:nvSpPr>
        <p:spPr>
          <a:xfrm>
            <a:off x="45993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Text 59"/>
          <p:cNvSpPr/>
          <p:nvPr/>
        </p:nvSpPr>
        <p:spPr>
          <a:xfrm>
            <a:off x="45993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Text 60"/>
          <p:cNvSpPr/>
          <p:nvPr/>
        </p:nvSpPr>
        <p:spPr>
          <a:xfrm>
            <a:off x="52120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+20% then −30% ≠ −10%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Shape 61"/>
          <p:cNvSpPr/>
          <p:nvPr/>
        </p:nvSpPr>
        <p:spPr>
          <a:xfrm>
            <a:off x="8119800" y="3996000"/>
            <a:ext cx="3501720" cy="1051200"/>
          </a:xfrm>
          <a:prstGeom prst="roundRect">
            <a:avLst>
              <a:gd name="adj" fmla="val 521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Shape 62"/>
          <p:cNvSpPr/>
          <p:nvPr/>
        </p:nvSpPr>
        <p:spPr>
          <a:xfrm>
            <a:off x="8375760" y="4293000"/>
            <a:ext cx="456840" cy="45684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 63"/>
          <p:cNvSpPr/>
          <p:nvPr/>
        </p:nvSpPr>
        <p:spPr>
          <a:xfrm>
            <a:off x="8375760" y="4293000"/>
            <a:ext cx="4568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Text 64"/>
          <p:cNvSpPr/>
          <p:nvPr/>
        </p:nvSpPr>
        <p:spPr>
          <a:xfrm>
            <a:off x="8988480" y="3996000"/>
            <a:ext cx="254160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c2a22"/>
                </a:solidFill>
                <a:latin typeface="Cambria"/>
                <a:ea typeface="Cambria"/>
              </a:rPr>
              <a:t>Past-paper questions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Text 65"/>
          <p:cNvSpPr/>
          <p:nvPr/>
        </p:nvSpPr>
        <p:spPr>
          <a:xfrm>
            <a:off x="567000" y="61722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c84f2f"/>
                </a:solidFill>
                <a:latin typeface="Calibri"/>
                <a:ea typeface="Calibri"/>
              </a:rPr>
              <a:t>Key words:  </a:t>
            </a:r>
            <a:r>
              <a:rPr b="0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principal · rate · per annum · multiplier · depreciate · compound · repeated change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PART 1 · SIMPLE INTEREST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Interest on the Original Amount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The formula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P = principal (amount invested).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R = rate as a percentage;  T = time in years.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The interest is the SAME every year — it never grows.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4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Months → years first (e.g. 30 months = 2.5 years) before using the formula.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Simple interest is paid on the ORIGINAL amount only.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9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Formula:  </a:t>
            </a:r>
            <a:r>
              <a:rPr b="1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I = (P × R × T) ÷ 100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£600 for 2 years at 4%:  I = (600×4×2) ÷ 100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5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6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£48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8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Interest earned = £48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5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YOUR TURN · SIMPLE INTEREST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the Simple Interest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8" name="Shape 39"/>
          <p:cNvSpPr/>
          <p:nvPr/>
        </p:nvSpPr>
        <p:spPr>
          <a:xfrm>
            <a:off x="567000" y="141732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19" name="Text 40"/>
          <p:cNvSpPr/>
          <p:nvPr/>
        </p:nvSpPr>
        <p:spPr>
          <a:xfrm>
            <a:off x="887040" y="141732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Use I = PRT ÷ 100. Change months to years first. (nearest £)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Shape 41"/>
          <p:cNvSpPr/>
          <p:nvPr/>
        </p:nvSpPr>
        <p:spPr>
          <a:xfrm>
            <a:off x="567000" y="210312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Shape 42"/>
          <p:cNvSpPr/>
          <p:nvPr/>
        </p:nvSpPr>
        <p:spPr>
          <a:xfrm>
            <a:off x="749880" y="2231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2" name="Text 43"/>
          <p:cNvSpPr/>
          <p:nvPr/>
        </p:nvSpPr>
        <p:spPr>
          <a:xfrm>
            <a:off x="749880" y="2231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3" name="Text 44"/>
          <p:cNvSpPr/>
          <p:nvPr/>
        </p:nvSpPr>
        <p:spPr>
          <a:xfrm>
            <a:off x="1225440" y="210312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£500, 3 yr, 6%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Text 45"/>
          <p:cNvSpPr/>
          <p:nvPr/>
        </p:nvSpPr>
        <p:spPr>
          <a:xfrm>
            <a:off x="4681800" y="210312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£90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Shape 46"/>
          <p:cNvSpPr/>
          <p:nvPr/>
        </p:nvSpPr>
        <p:spPr>
          <a:xfrm>
            <a:off x="567000" y="283464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Shape 47"/>
          <p:cNvSpPr/>
          <p:nvPr/>
        </p:nvSpPr>
        <p:spPr>
          <a:xfrm>
            <a:off x="749880" y="296280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27" name="Text 48"/>
          <p:cNvSpPr/>
          <p:nvPr/>
        </p:nvSpPr>
        <p:spPr>
          <a:xfrm>
            <a:off x="749880" y="2962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Text 49"/>
          <p:cNvSpPr/>
          <p:nvPr/>
        </p:nvSpPr>
        <p:spPr>
          <a:xfrm>
            <a:off x="1225440" y="283464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£1500, 2½ yr, 4½%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Text 50"/>
          <p:cNvSpPr/>
          <p:nvPr/>
        </p:nvSpPr>
        <p:spPr>
          <a:xfrm>
            <a:off x="4681800" y="283464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£169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Shape 51"/>
          <p:cNvSpPr/>
          <p:nvPr/>
        </p:nvSpPr>
        <p:spPr>
          <a:xfrm>
            <a:off x="567000" y="356616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1" name="Shape 52"/>
          <p:cNvSpPr/>
          <p:nvPr/>
        </p:nvSpPr>
        <p:spPr>
          <a:xfrm>
            <a:off x="749880" y="369432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2" name="Text 53"/>
          <p:cNvSpPr/>
          <p:nvPr/>
        </p:nvSpPr>
        <p:spPr>
          <a:xfrm>
            <a:off x="749880" y="3694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Text 54"/>
          <p:cNvSpPr/>
          <p:nvPr/>
        </p:nvSpPr>
        <p:spPr>
          <a:xfrm>
            <a:off x="1225440" y="356616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£7500, 4½ yr, 5¼%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4" name="Text 55"/>
          <p:cNvSpPr/>
          <p:nvPr/>
        </p:nvSpPr>
        <p:spPr>
          <a:xfrm>
            <a:off x="4681800" y="356616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£1772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Shape 56"/>
          <p:cNvSpPr/>
          <p:nvPr/>
        </p:nvSpPr>
        <p:spPr>
          <a:xfrm>
            <a:off x="6217920" y="210312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Shape 57"/>
          <p:cNvSpPr/>
          <p:nvPr/>
        </p:nvSpPr>
        <p:spPr>
          <a:xfrm>
            <a:off x="6400800" y="2231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37" name="Text 58"/>
          <p:cNvSpPr/>
          <p:nvPr/>
        </p:nvSpPr>
        <p:spPr>
          <a:xfrm>
            <a:off x="6400800" y="2231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Text 59"/>
          <p:cNvSpPr/>
          <p:nvPr/>
        </p:nvSpPr>
        <p:spPr>
          <a:xfrm>
            <a:off x="6876360" y="210312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£2400, 3½ yr, 4¾%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9" name="Text 60"/>
          <p:cNvSpPr/>
          <p:nvPr/>
        </p:nvSpPr>
        <p:spPr>
          <a:xfrm>
            <a:off x="10332720" y="210312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£400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Shape 61"/>
          <p:cNvSpPr/>
          <p:nvPr/>
        </p:nvSpPr>
        <p:spPr>
          <a:xfrm>
            <a:off x="6217920" y="283464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Shape 62"/>
          <p:cNvSpPr/>
          <p:nvPr/>
        </p:nvSpPr>
        <p:spPr>
          <a:xfrm>
            <a:off x="6400800" y="296280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2" name="Text 63"/>
          <p:cNvSpPr/>
          <p:nvPr/>
        </p:nvSpPr>
        <p:spPr>
          <a:xfrm>
            <a:off x="6400800" y="2962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Text 64"/>
          <p:cNvSpPr/>
          <p:nvPr/>
        </p:nvSpPr>
        <p:spPr>
          <a:xfrm>
            <a:off x="6876360" y="283464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£2500, 42 mo, 3¼%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Text 65"/>
          <p:cNvSpPr/>
          <p:nvPr/>
        </p:nvSpPr>
        <p:spPr>
          <a:xfrm>
            <a:off x="10332720" y="283464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£284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Shape 66"/>
          <p:cNvSpPr/>
          <p:nvPr/>
        </p:nvSpPr>
        <p:spPr>
          <a:xfrm>
            <a:off x="6217920" y="356616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Shape 67"/>
          <p:cNvSpPr/>
          <p:nvPr/>
        </p:nvSpPr>
        <p:spPr>
          <a:xfrm>
            <a:off x="6400800" y="369432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47" name="Text 68"/>
          <p:cNvSpPr/>
          <p:nvPr/>
        </p:nvSpPr>
        <p:spPr>
          <a:xfrm>
            <a:off x="6400800" y="3694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8" name="Text 69"/>
          <p:cNvSpPr/>
          <p:nvPr/>
        </p:nvSpPr>
        <p:spPr>
          <a:xfrm>
            <a:off x="6876360" y="356616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£6500, 15 mo, 5¾%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9" name="Text 70"/>
          <p:cNvSpPr/>
          <p:nvPr/>
        </p:nvSpPr>
        <p:spPr>
          <a:xfrm>
            <a:off x="10332720" y="356616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£470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Text 71"/>
          <p:cNvSpPr/>
          <p:nvPr/>
        </p:nvSpPr>
        <p:spPr>
          <a:xfrm>
            <a:off x="567000" y="59436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Cover the answers first. Remember 42 months = 3.5 years, 15 months = 1.25 years.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2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3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4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5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6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7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8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59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0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1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2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3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4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5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6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7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8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9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0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1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2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3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4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5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6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7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8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9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0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1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2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3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4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5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6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7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8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2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9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Compound Interest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0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Interest is added to the total each year, so the next year earns interest too.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1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2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3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Write the rate as an increase multiplier (×1.__)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4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5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6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Raise it to the power of the number of years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7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8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9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Amount = P × (multiplier)ⁿ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0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1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2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Interest = final amount − principal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COMPOUND INTEREST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Interest on the Growing Total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2" name="Shape 39"/>
          <p:cNvSpPr/>
          <p:nvPr/>
        </p:nvSpPr>
        <p:spPr>
          <a:xfrm>
            <a:off x="567000" y="1371600"/>
            <a:ext cx="11063880" cy="776880"/>
          </a:xfrm>
          <a:prstGeom prst="roundRect">
            <a:avLst>
              <a:gd name="adj" fmla="val 7059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3" name="Text 40"/>
          <p:cNvSpPr/>
          <p:nvPr/>
        </p:nvSpPr>
        <p:spPr>
          <a:xfrm>
            <a:off x="887040" y="1371600"/>
            <a:ext cx="10423800" cy="77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e0ac2b"/>
                </a:solidFill>
                <a:latin typeface="Calibri"/>
                <a:ea typeface="Calibri"/>
              </a:rPr>
              <a:t>Each year the interest is added on, then the NEW total earns interest. </a:t>
            </a:r>
            <a:r>
              <a:rPr b="0" lang="en-US" sz="1350" spc="-1" strike="noStrike">
                <a:solidFill>
                  <a:srgbClr val="edebdd"/>
                </a:solidFill>
                <a:latin typeface="Calibri"/>
                <a:ea typeface="Calibri"/>
              </a:rPr>
              <a:t>So we multiply by the same multiplier once for every year.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Shape 41"/>
          <p:cNvSpPr/>
          <p:nvPr/>
        </p:nvSpPr>
        <p:spPr>
          <a:xfrm>
            <a:off x="2103120" y="2468880"/>
            <a:ext cx="7982280" cy="1096920"/>
          </a:xfrm>
          <a:prstGeom prst="roundRect">
            <a:avLst>
              <a:gd name="adj" fmla="val 5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5" name="Text 42"/>
          <p:cNvSpPr/>
          <p:nvPr/>
        </p:nvSpPr>
        <p:spPr>
          <a:xfrm>
            <a:off x="2103120" y="2468880"/>
            <a:ext cx="798228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Amount  =  Principal  ×  (multiplier)</a:t>
            </a:r>
            <a:r>
              <a:rPr b="1" lang="en-US" sz="2300" spc="-1" strike="noStrike" baseline="30000">
                <a:solidFill>
                  <a:srgbClr val="e0ac2b"/>
                </a:solidFill>
                <a:latin typeface="Cambria"/>
                <a:ea typeface="Cambria"/>
              </a:rPr>
              <a:t>number of years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6" name="Shape 43"/>
          <p:cNvSpPr/>
          <p:nvPr/>
        </p:nvSpPr>
        <p:spPr>
          <a:xfrm>
            <a:off x="567000" y="3886200"/>
            <a:ext cx="5440320" cy="2011320"/>
          </a:xfrm>
          <a:prstGeom prst="roundRect">
            <a:avLst>
              <a:gd name="adj" fmla="val 2727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Text 44"/>
          <p:cNvSpPr/>
          <p:nvPr/>
        </p:nvSpPr>
        <p:spPr>
          <a:xfrm>
            <a:off x="932760" y="41238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5% per year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Text 45"/>
          <p:cNvSpPr/>
          <p:nvPr/>
        </p:nvSpPr>
        <p:spPr>
          <a:xfrm>
            <a:off x="914400" y="4617720"/>
            <a:ext cx="4754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1" lang="en-US" sz="1500" spc="-1" strike="noStrike">
                <a:solidFill>
                  <a:srgbClr val="000000"/>
                </a:solidFill>
                <a:latin typeface="Cambria"/>
                <a:ea typeface="Cambria"/>
              </a:rPr>
              <a:t>multiplier = 1.05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500" spc="-1" strike="noStrike">
                <a:solidFill>
                  <a:srgbClr val="5c6b60"/>
                </a:solidFill>
                <a:latin typeface="Cambria"/>
                <a:ea typeface="Cambria"/>
              </a:rPr>
              <a:t>3 years → × 1.05 × 1.05 × 1.05 = ×1.05</a:t>
            </a:r>
            <a:r>
              <a:rPr b="0" i="1" lang="en-US" sz="1500" spc="-1" strike="noStrike" baseline="30000">
                <a:solidFill>
                  <a:srgbClr val="5c6b60"/>
                </a:solidFill>
                <a:latin typeface="Cambria"/>
                <a:ea typeface="Cambria"/>
              </a:rPr>
              <a:t>3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Shape 46"/>
          <p:cNvSpPr/>
          <p:nvPr/>
        </p:nvSpPr>
        <p:spPr>
          <a:xfrm>
            <a:off x="6190560" y="3886200"/>
            <a:ext cx="5440320" cy="2011320"/>
          </a:xfrm>
          <a:prstGeom prst="roundRect">
            <a:avLst>
              <a:gd name="adj" fmla="val 2727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0" name="Text 47"/>
          <p:cNvSpPr/>
          <p:nvPr/>
        </p:nvSpPr>
        <p:spPr>
          <a:xfrm>
            <a:off x="6556320" y="4123800"/>
            <a:ext cx="470880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1c2a22"/>
                </a:solidFill>
                <a:latin typeface="Cambria"/>
                <a:ea typeface="Cambria"/>
              </a:rPr>
              <a:t>Simple vs Compound</a:t>
            </a:r>
            <a:endParaRPr b="0" lang="en-US" sz="1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Text 48"/>
          <p:cNvSpPr/>
          <p:nvPr/>
        </p:nvSpPr>
        <p:spPr>
          <a:xfrm>
            <a:off x="6537960" y="4617720"/>
            <a:ext cx="475452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en-US" sz="1450" spc="-1" strike="noStrike">
                <a:solidFill>
                  <a:srgbClr val="000000"/>
                </a:solidFill>
                <a:latin typeface="Cambria"/>
                <a:ea typeface="Cambria"/>
              </a:rPr>
              <a:t>Simple: same interest each year.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450" spc="-1" strike="noStrike">
                <a:solidFill>
                  <a:srgbClr val="5c6b60"/>
                </a:solidFill>
                <a:latin typeface="Cambria"/>
                <a:ea typeface="Cambria"/>
              </a:rPr>
              <a:t>Compound: each year earns a little more — it grows faster.</a:t>
            </a:r>
            <a:endParaRPr b="0" lang="en-US" sz="145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COMPOUND · WORKED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Growth over Several Years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Key idea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4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One multiplier, raised to the number of years.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Interest earned = final amount − £500.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No need to work year by year — the power does it.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£2000 at 12% for 3 years:  2000 × 1.12³ = £2809.86.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7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£500 at 5% per year for 2 years.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0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Multiplier = 1.05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2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3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500 × 1.05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2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 = 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£551.25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6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Over 10 years:  500 × 1.05</a:t>
            </a:r>
            <a:r>
              <a:rPr b="0" lang="en-US" sz="1400" spc="-1" strike="noStrike" baseline="30000">
                <a:solidFill>
                  <a:srgbClr val="1c2a22"/>
                </a:solidFill>
                <a:latin typeface="Calibri"/>
                <a:ea typeface="Calibri"/>
              </a:rPr>
              <a:t>10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= £814.45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09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After 2 years = £551.25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YOUR TURN · COMPOUND INTEREST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Find the Final Amount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Shape 39"/>
          <p:cNvSpPr/>
          <p:nvPr/>
        </p:nvSpPr>
        <p:spPr>
          <a:xfrm>
            <a:off x="567000" y="141732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0" name="Text 40"/>
          <p:cNvSpPr/>
          <p:nvPr/>
        </p:nvSpPr>
        <p:spPr>
          <a:xfrm>
            <a:off x="887040" y="141732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Amount = P × (multiplier)ⁿ. Give money to the nearest penny.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Shape 41"/>
          <p:cNvSpPr/>
          <p:nvPr/>
        </p:nvSpPr>
        <p:spPr>
          <a:xfrm>
            <a:off x="567000" y="210312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Shape 42"/>
          <p:cNvSpPr/>
          <p:nvPr/>
        </p:nvSpPr>
        <p:spPr>
          <a:xfrm>
            <a:off x="749880" y="2231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3" name="Text 43"/>
          <p:cNvSpPr/>
          <p:nvPr/>
        </p:nvSpPr>
        <p:spPr>
          <a:xfrm>
            <a:off x="749880" y="2231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4" name="Text 44"/>
          <p:cNvSpPr/>
          <p:nvPr/>
        </p:nvSpPr>
        <p:spPr>
          <a:xfrm>
            <a:off x="1225440" y="210312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£240, 10%, 2 yr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5" name="Text 45"/>
          <p:cNvSpPr/>
          <p:nvPr/>
        </p:nvSpPr>
        <p:spPr>
          <a:xfrm>
            <a:off x="4681800" y="210312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£290.40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6" name="Shape 46"/>
          <p:cNvSpPr/>
          <p:nvPr/>
        </p:nvSpPr>
        <p:spPr>
          <a:xfrm>
            <a:off x="567000" y="283464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7" name="Shape 47"/>
          <p:cNvSpPr/>
          <p:nvPr/>
        </p:nvSpPr>
        <p:spPr>
          <a:xfrm>
            <a:off x="749880" y="296280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8" name="Text 48"/>
          <p:cNvSpPr/>
          <p:nvPr/>
        </p:nvSpPr>
        <p:spPr>
          <a:xfrm>
            <a:off x="749880" y="2962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9" name="Text 49"/>
          <p:cNvSpPr/>
          <p:nvPr/>
        </p:nvSpPr>
        <p:spPr>
          <a:xfrm>
            <a:off x="1225440" y="283464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£800, 4%, 2 yr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0" name="Text 50"/>
          <p:cNvSpPr/>
          <p:nvPr/>
        </p:nvSpPr>
        <p:spPr>
          <a:xfrm>
            <a:off x="4681800" y="283464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£865.28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Shape 51"/>
          <p:cNvSpPr/>
          <p:nvPr/>
        </p:nvSpPr>
        <p:spPr>
          <a:xfrm>
            <a:off x="567000" y="356616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2" name="Shape 52"/>
          <p:cNvSpPr/>
          <p:nvPr/>
        </p:nvSpPr>
        <p:spPr>
          <a:xfrm>
            <a:off x="749880" y="369432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3" name="Text 53"/>
          <p:cNvSpPr/>
          <p:nvPr/>
        </p:nvSpPr>
        <p:spPr>
          <a:xfrm>
            <a:off x="749880" y="3694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4" name="Text 54"/>
          <p:cNvSpPr/>
          <p:nvPr/>
        </p:nvSpPr>
        <p:spPr>
          <a:xfrm>
            <a:off x="1225440" y="356616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£15000, 8½%, 2 yr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 55"/>
          <p:cNvSpPr/>
          <p:nvPr/>
        </p:nvSpPr>
        <p:spPr>
          <a:xfrm>
            <a:off x="4681800" y="356616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£17658.38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Shape 56"/>
          <p:cNvSpPr/>
          <p:nvPr/>
        </p:nvSpPr>
        <p:spPr>
          <a:xfrm>
            <a:off x="6217920" y="210312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7" name="Shape 57"/>
          <p:cNvSpPr/>
          <p:nvPr/>
        </p:nvSpPr>
        <p:spPr>
          <a:xfrm>
            <a:off x="6400800" y="2231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Text 58"/>
          <p:cNvSpPr/>
          <p:nvPr/>
        </p:nvSpPr>
        <p:spPr>
          <a:xfrm>
            <a:off x="6400800" y="2231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9" name="Text 59"/>
          <p:cNvSpPr/>
          <p:nvPr/>
        </p:nvSpPr>
        <p:spPr>
          <a:xfrm>
            <a:off x="6876360" y="210312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£7000, 15%, 3 yr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Text 60"/>
          <p:cNvSpPr/>
          <p:nvPr/>
        </p:nvSpPr>
        <p:spPr>
          <a:xfrm>
            <a:off x="10332720" y="210312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£10646.13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Shape 61"/>
          <p:cNvSpPr/>
          <p:nvPr/>
        </p:nvSpPr>
        <p:spPr>
          <a:xfrm>
            <a:off x="6217920" y="283464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Shape 62"/>
          <p:cNvSpPr/>
          <p:nvPr/>
        </p:nvSpPr>
        <p:spPr>
          <a:xfrm>
            <a:off x="6400800" y="296280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3" name="Text 63"/>
          <p:cNvSpPr/>
          <p:nvPr/>
        </p:nvSpPr>
        <p:spPr>
          <a:xfrm>
            <a:off x="6400800" y="2962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Text 64"/>
          <p:cNvSpPr/>
          <p:nvPr/>
        </p:nvSpPr>
        <p:spPr>
          <a:xfrm>
            <a:off x="6876360" y="283464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£8000, 7%, 6 yr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Text 65"/>
          <p:cNvSpPr/>
          <p:nvPr/>
        </p:nvSpPr>
        <p:spPr>
          <a:xfrm>
            <a:off x="10332720" y="283464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£12006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Shape 66"/>
          <p:cNvSpPr/>
          <p:nvPr/>
        </p:nvSpPr>
        <p:spPr>
          <a:xfrm>
            <a:off x="6217920" y="356616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7" name="Shape 67"/>
          <p:cNvSpPr/>
          <p:nvPr/>
        </p:nvSpPr>
        <p:spPr>
          <a:xfrm>
            <a:off x="6400800" y="369432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8" name="Text 68"/>
          <p:cNvSpPr/>
          <p:nvPr/>
        </p:nvSpPr>
        <p:spPr>
          <a:xfrm>
            <a:off x="6400800" y="3694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Text 69"/>
          <p:cNvSpPr/>
          <p:nvPr/>
        </p:nvSpPr>
        <p:spPr>
          <a:xfrm>
            <a:off x="6876360" y="356616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Interest earned in Q5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Text 70"/>
          <p:cNvSpPr/>
          <p:nvPr/>
        </p:nvSpPr>
        <p:spPr>
          <a:xfrm>
            <a:off x="10332720" y="356616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£4006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1" name="Text 71"/>
          <p:cNvSpPr/>
          <p:nvPr/>
        </p:nvSpPr>
        <p:spPr>
          <a:xfrm>
            <a:off x="567000" y="59436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Q6: interest = final amount − principal = 12006 − 8000.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7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8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9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3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Repeated Percentage Change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1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When changes follow one another, MULTIPLY the multipliers — never add the percentages.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3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Write each change as a multiplier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5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6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7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Multiply them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8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9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0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An increase then a decrease is NOT their difference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1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2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3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Read the combined multiplier to get the overall change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THE KEY IDEA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+20% then −30% is NOT −10%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3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Why not −10%?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The 30% decrease acts on the LARGER amount, not the original.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Adding ‘+20% −30%’ ignores that — wrong.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Always multiply the multipliers: 1.2 × 0.7 = 0.84.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Check with £500: 500 × 1.2 = 600, then 600 × 0.7 = £420 = 84% of £500.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8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9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Increase 20% → ×1.2;   decrease 30% → ×0.7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2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Combined:  1.2 × 0.7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0.84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5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6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×0.84 means 84% of the original left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7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8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9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So the overall change is a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16% DECREASE</a:t>
            </a: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  (not 10%)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0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1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1.2 × 0.7 = 0.84  →  16% decrease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REPEATED · SOURCE EXAMPLE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A Jacket: −20% then a Further −10%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1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2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3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Not 30%!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4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Two discounts do not simply add.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0.8 × 0.9 = 0.72, so 28% off in total.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The second discount is taken off the already-reduced price.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5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The sale price is 72% of the original price.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6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7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8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A jacket is reduced 20%, then a further 10%.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9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0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1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20% off → ×0.8;   10% off → ×0.9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3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Combined:  0.8 × 0.9 =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0.72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0.72 = 72% of the original →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28% discount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9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Total discount = 28%  (not 30%)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5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6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7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REVERSE · FIND THE UNKNOWN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8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Increase 20%, Decrease 30%, then Decrease x%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9" name="Shape 39"/>
          <p:cNvSpPr/>
          <p:nvPr/>
        </p:nvSpPr>
        <p:spPr>
          <a:xfrm>
            <a:off x="567000" y="1554480"/>
            <a:ext cx="6126120" cy="3245760"/>
          </a:xfrm>
          <a:prstGeom prst="roundRect">
            <a:avLst>
              <a:gd name="adj" fmla="val 1690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0" name="Shape 40"/>
          <p:cNvSpPr/>
          <p:nvPr/>
        </p:nvSpPr>
        <p:spPr>
          <a:xfrm>
            <a:off x="6903720" y="1554480"/>
            <a:ext cx="4727160" cy="3245760"/>
          </a:xfrm>
          <a:prstGeom prst="roundRect">
            <a:avLst>
              <a:gd name="adj" fmla="val 1690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Text 41"/>
          <p:cNvSpPr/>
          <p:nvPr/>
        </p:nvSpPr>
        <p:spPr>
          <a:xfrm>
            <a:off x="7178040" y="1755720"/>
            <a:ext cx="4205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i="1" lang="en-US" sz="1400" spc="-1" strike="noStrike">
                <a:solidFill>
                  <a:srgbClr val="c84f2f"/>
                </a:solidFill>
                <a:latin typeface="Cambria"/>
                <a:ea typeface="Cambria"/>
              </a:rPr>
              <a:t>Method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2" name="Text 42"/>
          <p:cNvSpPr/>
          <p:nvPr/>
        </p:nvSpPr>
        <p:spPr>
          <a:xfrm>
            <a:off x="7223760" y="2240280"/>
            <a:ext cx="4205880" cy="2377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Apply the known multipliers first (1.2 then 0.7).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Divide the final amount by the running total to get the last multiplier.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99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1c2a22"/>
                </a:solidFill>
                <a:latin typeface="Calibri"/>
                <a:ea typeface="Calibri"/>
              </a:rPr>
              <a:t>0.6 = a 40% decrease, so x = 40.</a:t>
            </a:r>
            <a:endParaRPr b="0" lang="en-US" sz="13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Text 43"/>
          <p:cNvSpPr/>
          <p:nvPr/>
        </p:nvSpPr>
        <p:spPr>
          <a:xfrm>
            <a:off x="567000" y="632772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300" spc="-1" strike="noStrike">
                <a:solidFill>
                  <a:srgbClr val="5c6b60"/>
                </a:solidFill>
                <a:latin typeface="Calibri"/>
                <a:ea typeface="Calibri"/>
              </a:rPr>
              <a:t>The last multiplier is new ÷ running total — then turn it back into a percentage.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4" name="Shape 44"/>
          <p:cNvSpPr/>
          <p:nvPr/>
        </p:nvSpPr>
        <p:spPr>
          <a:xfrm>
            <a:off x="868680" y="184716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5" name="Text 45"/>
          <p:cNvSpPr/>
          <p:nvPr/>
        </p:nvSpPr>
        <p:spPr>
          <a:xfrm>
            <a:off x="868680" y="184716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1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Text 46"/>
          <p:cNvSpPr/>
          <p:nvPr/>
        </p:nvSpPr>
        <p:spPr>
          <a:xfrm>
            <a:off x="1362600" y="181044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£500  →  +20%  →  −30%  →  −x%  =  £252.  Find x.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7" name="Shape 47"/>
          <p:cNvSpPr/>
          <p:nvPr/>
        </p:nvSpPr>
        <p:spPr>
          <a:xfrm>
            <a:off x="868680" y="257868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 48"/>
          <p:cNvSpPr/>
          <p:nvPr/>
        </p:nvSpPr>
        <p:spPr>
          <a:xfrm>
            <a:off x="868680" y="257868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2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 49"/>
          <p:cNvSpPr/>
          <p:nvPr/>
        </p:nvSpPr>
        <p:spPr>
          <a:xfrm>
            <a:off x="1362600" y="254196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500 × 1.2 × 0.7 = 420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Shape 50"/>
          <p:cNvSpPr/>
          <p:nvPr/>
        </p:nvSpPr>
        <p:spPr>
          <a:xfrm>
            <a:off x="868680" y="331020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1" name="Text 51"/>
          <p:cNvSpPr/>
          <p:nvPr/>
        </p:nvSpPr>
        <p:spPr>
          <a:xfrm>
            <a:off x="868680" y="331020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3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Text 52"/>
          <p:cNvSpPr/>
          <p:nvPr/>
        </p:nvSpPr>
        <p:spPr>
          <a:xfrm>
            <a:off x="1362600" y="327348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420 × (1 − x/100) = 252  →  1 − x/100 = 252 ÷ 420 = 0.6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3" name="Shape 53"/>
          <p:cNvSpPr/>
          <p:nvPr/>
        </p:nvSpPr>
        <p:spPr>
          <a:xfrm>
            <a:off x="868680" y="4041720"/>
            <a:ext cx="328680" cy="32868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Text 54"/>
          <p:cNvSpPr/>
          <p:nvPr/>
        </p:nvSpPr>
        <p:spPr>
          <a:xfrm>
            <a:off x="868680" y="4041720"/>
            <a:ext cx="328680" cy="32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pc="-1" strike="noStrike">
                <a:solidFill>
                  <a:srgbClr val="ffffff"/>
                </a:solidFill>
                <a:latin typeface="Calibri"/>
                <a:ea typeface="Calibri"/>
              </a:rPr>
              <a:t>4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Text 55"/>
          <p:cNvSpPr/>
          <p:nvPr/>
        </p:nvSpPr>
        <p:spPr>
          <a:xfrm>
            <a:off x="1362600" y="4005000"/>
            <a:ext cx="5486040" cy="40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pc="-1" strike="noStrike">
                <a:solidFill>
                  <a:srgbClr val="1c2a22"/>
                </a:solidFill>
                <a:latin typeface="Calibri"/>
                <a:ea typeface="Calibri"/>
              </a:rPr>
              <a:t>1 − x/100 = 0.6  →  </a:t>
            </a:r>
            <a:r>
              <a:rPr b="1" lang="en-US" sz="1400" spc="-1" strike="noStrike">
                <a:solidFill>
                  <a:srgbClr val="c84f2f"/>
                </a:solidFill>
                <a:latin typeface="Calibri"/>
                <a:ea typeface="Calibri"/>
              </a:rPr>
              <a:t>x = 40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Shape 56"/>
          <p:cNvSpPr/>
          <p:nvPr/>
        </p:nvSpPr>
        <p:spPr>
          <a:xfrm>
            <a:off x="567000" y="5074920"/>
            <a:ext cx="11063880" cy="1142640"/>
          </a:xfrm>
          <a:prstGeom prst="roundRect">
            <a:avLst>
              <a:gd name="adj" fmla="val 48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7" name="Text 57"/>
          <p:cNvSpPr/>
          <p:nvPr/>
        </p:nvSpPr>
        <p:spPr>
          <a:xfrm>
            <a:off x="841320" y="5074920"/>
            <a:ext cx="10515240" cy="1142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300" spc="-1" strike="noStrike">
                <a:solidFill>
                  <a:srgbClr val="e0ac2b"/>
                </a:solidFill>
                <a:latin typeface="Cambria"/>
                <a:ea typeface="Cambria"/>
              </a:rPr>
              <a:t>x = 40%</a:t>
            </a:r>
            <a:endParaRPr b="0" lang="en-US" sz="23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YOUR TURN · REPEATED CHANGE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Multiply the Multipliers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Shape 39"/>
          <p:cNvSpPr/>
          <p:nvPr/>
        </p:nvSpPr>
        <p:spPr>
          <a:xfrm>
            <a:off x="567000" y="1417320"/>
            <a:ext cx="11063880" cy="548280"/>
          </a:xfrm>
          <a:prstGeom prst="roundRect">
            <a:avLst>
              <a:gd name="adj" fmla="val 10000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48" name="Text 40"/>
          <p:cNvSpPr/>
          <p:nvPr/>
        </p:nvSpPr>
        <p:spPr>
          <a:xfrm>
            <a:off x="887040" y="1417320"/>
            <a:ext cx="1042380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edebdd"/>
                </a:solidFill>
                <a:latin typeface="Calibri"/>
                <a:ea typeface="Calibri"/>
              </a:rPr>
              <a:t>Write each change as a multiplier, multiply, then read the result.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9" name="Shape 41"/>
          <p:cNvSpPr/>
          <p:nvPr/>
        </p:nvSpPr>
        <p:spPr>
          <a:xfrm>
            <a:off x="567000" y="210312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0" name="Shape 42"/>
          <p:cNvSpPr/>
          <p:nvPr/>
        </p:nvSpPr>
        <p:spPr>
          <a:xfrm>
            <a:off x="749880" y="2231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1" name="Text 43"/>
          <p:cNvSpPr/>
          <p:nvPr/>
        </p:nvSpPr>
        <p:spPr>
          <a:xfrm>
            <a:off x="749880" y="2231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Text 44"/>
          <p:cNvSpPr/>
          <p:nvPr/>
        </p:nvSpPr>
        <p:spPr>
          <a:xfrm>
            <a:off x="1225440" y="210312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+10% then −10%. Overall?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Text 45"/>
          <p:cNvSpPr/>
          <p:nvPr/>
        </p:nvSpPr>
        <p:spPr>
          <a:xfrm>
            <a:off x="4681800" y="210312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1% decrease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Shape 46"/>
          <p:cNvSpPr/>
          <p:nvPr/>
        </p:nvSpPr>
        <p:spPr>
          <a:xfrm>
            <a:off x="567000" y="283464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5" name="Shape 47"/>
          <p:cNvSpPr/>
          <p:nvPr/>
        </p:nvSpPr>
        <p:spPr>
          <a:xfrm>
            <a:off x="749880" y="296280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Text 48"/>
          <p:cNvSpPr/>
          <p:nvPr/>
        </p:nvSpPr>
        <p:spPr>
          <a:xfrm>
            <a:off x="749880" y="2962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Text 49"/>
          <p:cNvSpPr/>
          <p:nvPr/>
        </p:nvSpPr>
        <p:spPr>
          <a:xfrm>
            <a:off x="1225440" y="283464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£800: +25% then −20%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Text 50"/>
          <p:cNvSpPr/>
          <p:nvPr/>
        </p:nvSpPr>
        <p:spPr>
          <a:xfrm>
            <a:off x="4681800" y="283464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£800 (no change)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9" name="Shape 51"/>
          <p:cNvSpPr/>
          <p:nvPr/>
        </p:nvSpPr>
        <p:spPr>
          <a:xfrm>
            <a:off x="567000" y="356616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Shape 52"/>
          <p:cNvSpPr/>
          <p:nvPr/>
        </p:nvSpPr>
        <p:spPr>
          <a:xfrm>
            <a:off x="749880" y="369432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1" name="Text 53"/>
          <p:cNvSpPr/>
          <p:nvPr/>
        </p:nvSpPr>
        <p:spPr>
          <a:xfrm>
            <a:off x="749880" y="3694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Text 54"/>
          <p:cNvSpPr/>
          <p:nvPr/>
        </p:nvSpPr>
        <p:spPr>
          <a:xfrm>
            <a:off x="1225440" y="356616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£12000 car, −15% for 2 yr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3" name="Text 55"/>
          <p:cNvSpPr/>
          <p:nvPr/>
        </p:nvSpPr>
        <p:spPr>
          <a:xfrm>
            <a:off x="4681800" y="356616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£8670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Shape 56"/>
          <p:cNvSpPr/>
          <p:nvPr/>
        </p:nvSpPr>
        <p:spPr>
          <a:xfrm>
            <a:off x="6217920" y="210312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Shape 57"/>
          <p:cNvSpPr/>
          <p:nvPr/>
        </p:nvSpPr>
        <p:spPr>
          <a:xfrm>
            <a:off x="6400800" y="223128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66" name="Text 58"/>
          <p:cNvSpPr/>
          <p:nvPr/>
        </p:nvSpPr>
        <p:spPr>
          <a:xfrm>
            <a:off x="6400800" y="223128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Text 59"/>
          <p:cNvSpPr/>
          <p:nvPr/>
        </p:nvSpPr>
        <p:spPr>
          <a:xfrm>
            <a:off x="6876360" y="210312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£300 → +20% → −x% = £288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Text 60"/>
          <p:cNvSpPr/>
          <p:nvPr/>
        </p:nvSpPr>
        <p:spPr>
          <a:xfrm>
            <a:off x="10332720" y="210312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x = 20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Shape 61"/>
          <p:cNvSpPr/>
          <p:nvPr/>
        </p:nvSpPr>
        <p:spPr>
          <a:xfrm>
            <a:off x="6217920" y="283464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eef1e8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Shape 62"/>
          <p:cNvSpPr/>
          <p:nvPr/>
        </p:nvSpPr>
        <p:spPr>
          <a:xfrm>
            <a:off x="6400800" y="296280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1" name="Text 63"/>
          <p:cNvSpPr/>
          <p:nvPr/>
        </p:nvSpPr>
        <p:spPr>
          <a:xfrm>
            <a:off x="6400800" y="296280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5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Text 64"/>
          <p:cNvSpPr/>
          <p:nvPr/>
        </p:nvSpPr>
        <p:spPr>
          <a:xfrm>
            <a:off x="6876360" y="283464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−</a:t>
            </a: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20% then −25%. Total discount?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Text 65"/>
          <p:cNvSpPr/>
          <p:nvPr/>
        </p:nvSpPr>
        <p:spPr>
          <a:xfrm>
            <a:off x="10332720" y="283464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40% discount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Shape 66"/>
          <p:cNvSpPr/>
          <p:nvPr/>
        </p:nvSpPr>
        <p:spPr>
          <a:xfrm>
            <a:off x="6217920" y="3566160"/>
            <a:ext cx="5394600" cy="621360"/>
          </a:xfrm>
          <a:prstGeom prst="roundRect">
            <a:avLst>
              <a:gd name="adj" fmla="val 8824"/>
            </a:avLst>
          </a:prstGeom>
          <a:solidFill>
            <a:srgbClr val="fbf3dd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Shape 67"/>
          <p:cNvSpPr/>
          <p:nvPr/>
        </p:nvSpPr>
        <p:spPr>
          <a:xfrm>
            <a:off x="6400800" y="3694320"/>
            <a:ext cx="365400" cy="3654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Text 68"/>
          <p:cNvSpPr/>
          <p:nvPr/>
        </p:nvSpPr>
        <p:spPr>
          <a:xfrm>
            <a:off x="6400800" y="3694320"/>
            <a:ext cx="36540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00" spc="-1" strike="noStrike">
                <a:solidFill>
                  <a:srgbClr val="ffffff"/>
                </a:solidFill>
                <a:latin typeface="Cambria"/>
                <a:ea typeface="Cambria"/>
              </a:rPr>
              <a:t>6</a:t>
            </a:r>
            <a:endParaRPr b="0" lang="en-US" sz="13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 69"/>
          <p:cNvSpPr/>
          <p:nvPr/>
        </p:nvSpPr>
        <p:spPr>
          <a:xfrm>
            <a:off x="6876360" y="3566160"/>
            <a:ext cx="3520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50" spc="-1" strike="noStrike">
                <a:solidFill>
                  <a:srgbClr val="1c2a22"/>
                </a:solidFill>
                <a:latin typeface="Cambria"/>
                <a:ea typeface="Cambria"/>
              </a:rPr>
              <a:t>+50% then −x% back to start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Text 70"/>
          <p:cNvSpPr/>
          <p:nvPr/>
        </p:nvSpPr>
        <p:spPr>
          <a:xfrm>
            <a:off x="10332720" y="3566160"/>
            <a:ext cx="12340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-1" strike="noStrike">
                <a:solidFill>
                  <a:srgbClr val="c84f2f"/>
                </a:solidFill>
                <a:latin typeface="Cambria"/>
                <a:ea typeface="Cambria"/>
              </a:rPr>
              <a:t>x = 33.3%</a:t>
            </a:r>
            <a:endParaRPr b="0" lang="en-US" sz="12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9" name="Text 71"/>
          <p:cNvSpPr/>
          <p:nvPr/>
        </p:nvSpPr>
        <p:spPr>
          <a:xfrm>
            <a:off x="567000" y="5943600"/>
            <a:ext cx="110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200" spc="-1" strike="noStrike">
                <a:solidFill>
                  <a:srgbClr val="5c6b60"/>
                </a:solidFill>
                <a:latin typeface="Calibri"/>
                <a:ea typeface="Calibri"/>
              </a:rPr>
              <a:t>Q6: 1.5 × (1−x/100) = 1  →  1−x/100 = 0.667  →  x ≈ 33.3%.</a:t>
            </a:r>
            <a:endParaRPr b="0" lang="en-US" sz="12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1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3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5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6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7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8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9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0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1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2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3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4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5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6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7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8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9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0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1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3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4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5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7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9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1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2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3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4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5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6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7" name="Text 37"/>
          <p:cNvSpPr/>
          <p:nvPr/>
        </p:nvSpPr>
        <p:spPr>
          <a:xfrm>
            <a:off x="1554480" y="676800"/>
            <a:ext cx="82292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PART 4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8" name="Text 38"/>
          <p:cNvSpPr/>
          <p:nvPr/>
        </p:nvSpPr>
        <p:spPr>
          <a:xfrm>
            <a:off x="777240" y="1691640"/>
            <a:ext cx="107895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e0ac2b"/>
                </a:solidFill>
                <a:latin typeface="Cambria"/>
                <a:ea typeface="Cambria"/>
              </a:rPr>
              <a:t>Past-Paper Questions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9" name="Text 39"/>
          <p:cNvSpPr/>
          <p:nvPr/>
        </p:nvSpPr>
        <p:spPr>
          <a:xfrm>
            <a:off x="804600" y="269748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i="1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Original past-paper questions on interest and repeated change — use the multiplier method.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0" name="Shape 40"/>
          <p:cNvSpPr/>
          <p:nvPr/>
        </p:nvSpPr>
        <p:spPr>
          <a:xfrm>
            <a:off x="868680" y="361188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1" name="Text 41"/>
          <p:cNvSpPr/>
          <p:nvPr/>
        </p:nvSpPr>
        <p:spPr>
          <a:xfrm>
            <a:off x="868680" y="361188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1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2" name="Text 42"/>
          <p:cNvSpPr/>
          <p:nvPr/>
        </p:nvSpPr>
        <p:spPr>
          <a:xfrm>
            <a:off x="1554480" y="361188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Simple or compound? Read carefully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3" name="Shape 43"/>
          <p:cNvSpPr/>
          <p:nvPr/>
        </p:nvSpPr>
        <p:spPr>
          <a:xfrm>
            <a:off x="868680" y="432504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4" name="Text 44"/>
          <p:cNvSpPr/>
          <p:nvPr/>
        </p:nvSpPr>
        <p:spPr>
          <a:xfrm>
            <a:off x="868680" y="432504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2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5" name="Text 45"/>
          <p:cNvSpPr/>
          <p:nvPr/>
        </p:nvSpPr>
        <p:spPr>
          <a:xfrm>
            <a:off x="1554480" y="432504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Write the multiplier(s)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6" name="Shape 46"/>
          <p:cNvSpPr/>
          <p:nvPr/>
        </p:nvSpPr>
        <p:spPr>
          <a:xfrm>
            <a:off x="868680" y="503820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7" name="Text 47"/>
          <p:cNvSpPr/>
          <p:nvPr/>
        </p:nvSpPr>
        <p:spPr>
          <a:xfrm>
            <a:off x="868680" y="503820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3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 48"/>
          <p:cNvSpPr/>
          <p:nvPr/>
        </p:nvSpPr>
        <p:spPr>
          <a:xfrm>
            <a:off x="1554480" y="503820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Raise to a power for several years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9" name="Shape 49"/>
          <p:cNvSpPr/>
          <p:nvPr/>
        </p:nvSpPr>
        <p:spPr>
          <a:xfrm>
            <a:off x="868680" y="5751720"/>
            <a:ext cx="475200" cy="475200"/>
          </a:xfrm>
          <a:prstGeom prst="ellipse">
            <a:avLst/>
          </a:prstGeom>
          <a:solidFill>
            <a:srgbClr val="c84f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0" name="Text 50"/>
          <p:cNvSpPr/>
          <p:nvPr/>
        </p:nvSpPr>
        <p:spPr>
          <a:xfrm>
            <a:off x="868680" y="5751720"/>
            <a:ext cx="47520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fffff"/>
                </a:solidFill>
                <a:latin typeface="Cambria"/>
                <a:ea typeface="Cambria"/>
              </a:rPr>
              <a:t>4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1" name="Text 51"/>
          <p:cNvSpPr/>
          <p:nvPr/>
        </p:nvSpPr>
        <p:spPr>
          <a:xfrm>
            <a:off x="1554480" y="5751720"/>
            <a:ext cx="10058040" cy="47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800" spc="-1" strike="noStrike">
                <a:solidFill>
                  <a:srgbClr val="edebdd"/>
                </a:solidFill>
                <a:latin typeface="Cambria"/>
                <a:ea typeface="Cambria"/>
              </a:rPr>
              <a:t>Show clear working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2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3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4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5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6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7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8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9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0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1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2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3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4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6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8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1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2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3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7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1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5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8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Shape 39"/>
          <p:cNvSpPr/>
          <p:nvPr/>
        </p:nvSpPr>
        <p:spPr>
          <a:xfrm>
            <a:off x="3702600" y="1458360"/>
            <a:ext cx="47862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72" name="Image 0" descr="/tmp/work/ciq-19.png"/>
          <p:cNvPicPr/>
          <p:nvPr/>
        </p:nvPicPr>
        <p:blipFill>
          <a:blip r:embed="rId1"/>
          <a:stretch/>
        </p:blipFill>
        <p:spPr>
          <a:xfrm>
            <a:off x="3775680" y="1531800"/>
            <a:ext cx="46400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0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3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4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5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6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7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9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1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4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5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6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0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4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9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1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2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Shape 39"/>
          <p:cNvSpPr/>
          <p:nvPr/>
        </p:nvSpPr>
        <p:spPr>
          <a:xfrm>
            <a:off x="2056680" y="1458360"/>
            <a:ext cx="80784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13" name="Image 0" descr="/tmp/work/ciq-20.png"/>
          <p:cNvPicPr/>
          <p:nvPr/>
        </p:nvPicPr>
        <p:blipFill>
          <a:blip r:embed="rId1"/>
          <a:stretch/>
        </p:blipFill>
        <p:spPr>
          <a:xfrm>
            <a:off x="2129760" y="1531800"/>
            <a:ext cx="793188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6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3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4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5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6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7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8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9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0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1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2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4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5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6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7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8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1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2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3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4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5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6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7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8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9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0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1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2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3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3" name="Shape 39"/>
          <p:cNvSpPr/>
          <p:nvPr/>
        </p:nvSpPr>
        <p:spPr>
          <a:xfrm>
            <a:off x="2737080" y="1458360"/>
            <a:ext cx="671688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54" name="Image 0" descr="/tmp/work/ciq-21.png"/>
          <p:cNvPicPr/>
          <p:nvPr/>
        </p:nvPicPr>
        <p:blipFill>
          <a:blip r:embed="rId1"/>
          <a:stretch/>
        </p:blipFill>
        <p:spPr>
          <a:xfrm>
            <a:off x="2810160" y="1531800"/>
            <a:ext cx="65707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6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7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8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59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0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1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2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3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4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5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6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7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8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69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0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1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2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3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4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5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6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7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8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9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0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1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2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3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4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5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6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7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8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9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0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91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2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3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4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4" name="Shape 39"/>
          <p:cNvSpPr/>
          <p:nvPr/>
        </p:nvSpPr>
        <p:spPr>
          <a:xfrm>
            <a:off x="2334240" y="1458360"/>
            <a:ext cx="752256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995" name="Image 0" descr="/tmp/work/ciq-22.png"/>
          <p:cNvPicPr/>
          <p:nvPr/>
        </p:nvPicPr>
        <p:blipFill>
          <a:blip r:embed="rId1"/>
          <a:stretch/>
        </p:blipFill>
        <p:spPr>
          <a:xfrm>
            <a:off x="2407680" y="1531800"/>
            <a:ext cx="737640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7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8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9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0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1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2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3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4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5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6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7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8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9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0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1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2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3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4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5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6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7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8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9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0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1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2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3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4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5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6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7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8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9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0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1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32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3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4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5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5" name="Shape 39"/>
          <p:cNvSpPr/>
          <p:nvPr/>
        </p:nvSpPr>
        <p:spPr>
          <a:xfrm>
            <a:off x="2745000" y="1458360"/>
            <a:ext cx="670140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36" name="Image 0" descr="/tmp/work/ciq-23.png"/>
          <p:cNvPicPr/>
          <p:nvPr/>
        </p:nvPicPr>
        <p:blipFill>
          <a:blip r:embed="rId1"/>
          <a:stretch/>
        </p:blipFill>
        <p:spPr>
          <a:xfrm>
            <a:off x="2818080" y="1531800"/>
            <a:ext cx="655524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7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8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9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0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1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2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3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4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5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6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7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8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9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0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1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2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3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4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5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6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7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8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9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0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1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2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3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4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5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6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7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8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9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0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1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2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3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4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5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6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6" name="Shape 39"/>
          <p:cNvSpPr/>
          <p:nvPr/>
        </p:nvSpPr>
        <p:spPr>
          <a:xfrm>
            <a:off x="1997280" y="1458360"/>
            <a:ext cx="819684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077" name="Image 0" descr="/tmp/work/ciq-24.png"/>
          <p:cNvPicPr/>
          <p:nvPr/>
        </p:nvPicPr>
        <p:blipFill>
          <a:blip r:embed="rId1"/>
          <a:stretch/>
        </p:blipFill>
        <p:spPr>
          <a:xfrm>
            <a:off x="2070360" y="1531800"/>
            <a:ext cx="805032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6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8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9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0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1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2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3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4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5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6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7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8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89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0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1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2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3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4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5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6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7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8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9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0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1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2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3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4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5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6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7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8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9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0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1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2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e4e2d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3" name="Shape 35"/>
          <p:cNvSpPr/>
          <p:nvPr/>
        </p:nvSpPr>
        <p:spPr>
          <a:xfrm>
            <a:off x="567000" y="420480"/>
            <a:ext cx="548280" cy="548280"/>
          </a:xfrm>
          <a:prstGeom prst="roundRect">
            <a:avLst>
              <a:gd name="adj" fmla="val 16667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4" name="Text 36"/>
          <p:cNvSpPr/>
          <p:nvPr/>
        </p:nvSpPr>
        <p:spPr>
          <a:xfrm>
            <a:off x="567000" y="420480"/>
            <a:ext cx="54828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5" name="Text 37"/>
          <p:cNvSpPr/>
          <p:nvPr/>
        </p:nvSpPr>
        <p:spPr>
          <a:xfrm>
            <a:off x="1325880" y="402480"/>
            <a:ext cx="1024092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50" spc="248" strike="noStrike">
                <a:solidFill>
                  <a:srgbClr val="c84f2f"/>
                </a:solidFill>
                <a:latin typeface="Calibri"/>
                <a:ea typeface="Calibri"/>
              </a:rPr>
              <a:t>PAST-PAPER QUESTION</a:t>
            </a:r>
            <a:endParaRPr b="0" lang="en-US" sz="115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6" name="Text 38"/>
          <p:cNvSpPr/>
          <p:nvPr/>
        </p:nvSpPr>
        <p:spPr>
          <a:xfrm>
            <a:off x="1325880" y="676800"/>
            <a:ext cx="10240920" cy="56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700" spc="-1" strike="noStrike">
                <a:solidFill>
                  <a:srgbClr val="1c2a22"/>
                </a:solidFill>
                <a:latin typeface="Cambria"/>
                <a:ea typeface="Cambria"/>
              </a:rPr>
              <a:t>Question 7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7" name="Shape 39"/>
          <p:cNvSpPr/>
          <p:nvPr/>
        </p:nvSpPr>
        <p:spPr>
          <a:xfrm>
            <a:off x="3933360" y="1458360"/>
            <a:ext cx="4324320" cy="5220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2d6"/>
            </a:solidFill>
            <a:round/>
          </a:ln>
          <a:effectLst>
            <a:outerShdw algn="bl" blurRad="76320" dir="5400000" dist="38160" kx="0" ky="0" rotWithShape="0" sx="100000" sy="100000">
              <a:srgbClr val="000000">
                <a:alpha val="15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1118" name="Image 0" descr="/tmp/work/ciq-25.png"/>
          <p:cNvPicPr/>
          <p:nvPr/>
        </p:nvPicPr>
        <p:blipFill>
          <a:blip r:embed="rId1"/>
          <a:stretch/>
        </p:blipFill>
        <p:spPr>
          <a:xfrm>
            <a:off x="4006800" y="1531800"/>
            <a:ext cx="4178160" cy="50745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c2a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9" name="Shape 0"/>
          <p:cNvSpPr/>
          <p:nvPr/>
        </p:nvSpPr>
        <p:spPr>
          <a:xfrm>
            <a:off x="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0" name="Shape 1"/>
          <p:cNvSpPr/>
          <p:nvPr/>
        </p:nvSpPr>
        <p:spPr>
          <a:xfrm>
            <a:off x="566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1" name="Shape 2"/>
          <p:cNvSpPr/>
          <p:nvPr/>
        </p:nvSpPr>
        <p:spPr>
          <a:xfrm>
            <a:off x="1133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2" name="Shape 3"/>
          <p:cNvSpPr/>
          <p:nvPr/>
        </p:nvSpPr>
        <p:spPr>
          <a:xfrm>
            <a:off x="1700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3" name="Shape 4"/>
          <p:cNvSpPr/>
          <p:nvPr/>
        </p:nvSpPr>
        <p:spPr>
          <a:xfrm>
            <a:off x="2267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4" name="Shape 5"/>
          <p:cNvSpPr/>
          <p:nvPr/>
        </p:nvSpPr>
        <p:spPr>
          <a:xfrm>
            <a:off x="283464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5" name="Shape 6"/>
          <p:cNvSpPr/>
          <p:nvPr/>
        </p:nvSpPr>
        <p:spPr>
          <a:xfrm>
            <a:off x="3401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6" name="Shape 7"/>
          <p:cNvSpPr/>
          <p:nvPr/>
        </p:nvSpPr>
        <p:spPr>
          <a:xfrm>
            <a:off x="3968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7" name="Shape 8"/>
          <p:cNvSpPr/>
          <p:nvPr/>
        </p:nvSpPr>
        <p:spPr>
          <a:xfrm>
            <a:off x="4535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8" name="Shape 9"/>
          <p:cNvSpPr/>
          <p:nvPr/>
        </p:nvSpPr>
        <p:spPr>
          <a:xfrm>
            <a:off x="5102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9" name="Shape 10"/>
          <p:cNvSpPr/>
          <p:nvPr/>
        </p:nvSpPr>
        <p:spPr>
          <a:xfrm>
            <a:off x="566928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0" name="Shape 11"/>
          <p:cNvSpPr/>
          <p:nvPr/>
        </p:nvSpPr>
        <p:spPr>
          <a:xfrm>
            <a:off x="6235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1" name="Shape 12"/>
          <p:cNvSpPr/>
          <p:nvPr/>
        </p:nvSpPr>
        <p:spPr>
          <a:xfrm>
            <a:off x="6802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2" name="Shape 13"/>
          <p:cNvSpPr/>
          <p:nvPr/>
        </p:nvSpPr>
        <p:spPr>
          <a:xfrm>
            <a:off x="7369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3" name="Shape 14"/>
          <p:cNvSpPr/>
          <p:nvPr/>
        </p:nvSpPr>
        <p:spPr>
          <a:xfrm>
            <a:off x="7936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4" name="Shape 15"/>
          <p:cNvSpPr/>
          <p:nvPr/>
        </p:nvSpPr>
        <p:spPr>
          <a:xfrm>
            <a:off x="850392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5" name="Shape 16"/>
          <p:cNvSpPr/>
          <p:nvPr/>
        </p:nvSpPr>
        <p:spPr>
          <a:xfrm>
            <a:off x="9070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6" name="Shape 17"/>
          <p:cNvSpPr/>
          <p:nvPr/>
        </p:nvSpPr>
        <p:spPr>
          <a:xfrm>
            <a:off x="9637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7" name="Shape 18"/>
          <p:cNvSpPr/>
          <p:nvPr/>
        </p:nvSpPr>
        <p:spPr>
          <a:xfrm>
            <a:off x="10204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8" name="Shape 19"/>
          <p:cNvSpPr/>
          <p:nvPr/>
        </p:nvSpPr>
        <p:spPr>
          <a:xfrm>
            <a:off x="10771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39" name="Shape 20"/>
          <p:cNvSpPr/>
          <p:nvPr/>
        </p:nvSpPr>
        <p:spPr>
          <a:xfrm>
            <a:off x="1133856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0" name="Shape 21"/>
          <p:cNvSpPr/>
          <p:nvPr/>
        </p:nvSpPr>
        <p:spPr>
          <a:xfrm>
            <a:off x="11905200" y="0"/>
            <a:ext cx="360" cy="685800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1" name="Shape 22"/>
          <p:cNvSpPr/>
          <p:nvPr/>
        </p:nvSpPr>
        <p:spPr>
          <a:xfrm>
            <a:off x="0" y="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2" name="Shape 23"/>
          <p:cNvSpPr/>
          <p:nvPr/>
        </p:nvSpPr>
        <p:spPr>
          <a:xfrm>
            <a:off x="0" y="566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3" name="Shape 24"/>
          <p:cNvSpPr/>
          <p:nvPr/>
        </p:nvSpPr>
        <p:spPr>
          <a:xfrm>
            <a:off x="0" y="1133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4" name="Shape 25"/>
          <p:cNvSpPr/>
          <p:nvPr/>
        </p:nvSpPr>
        <p:spPr>
          <a:xfrm>
            <a:off x="0" y="1700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5" name="Shape 26"/>
          <p:cNvSpPr/>
          <p:nvPr/>
        </p:nvSpPr>
        <p:spPr>
          <a:xfrm>
            <a:off x="0" y="2267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6" name="Shape 27"/>
          <p:cNvSpPr/>
          <p:nvPr/>
        </p:nvSpPr>
        <p:spPr>
          <a:xfrm>
            <a:off x="0" y="283464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7" name="Shape 28"/>
          <p:cNvSpPr/>
          <p:nvPr/>
        </p:nvSpPr>
        <p:spPr>
          <a:xfrm>
            <a:off x="0" y="3401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8" name="Shape 29"/>
          <p:cNvSpPr/>
          <p:nvPr/>
        </p:nvSpPr>
        <p:spPr>
          <a:xfrm>
            <a:off x="0" y="3968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9" name="Shape 30"/>
          <p:cNvSpPr/>
          <p:nvPr/>
        </p:nvSpPr>
        <p:spPr>
          <a:xfrm>
            <a:off x="0" y="4535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0" name="Shape 31"/>
          <p:cNvSpPr/>
          <p:nvPr/>
        </p:nvSpPr>
        <p:spPr>
          <a:xfrm>
            <a:off x="0" y="5102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1" name="Shape 32"/>
          <p:cNvSpPr/>
          <p:nvPr/>
        </p:nvSpPr>
        <p:spPr>
          <a:xfrm>
            <a:off x="0" y="566928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2" name="Shape 33"/>
          <p:cNvSpPr/>
          <p:nvPr/>
        </p:nvSpPr>
        <p:spPr>
          <a:xfrm>
            <a:off x="0" y="6235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3" name="Shape 34"/>
          <p:cNvSpPr/>
          <p:nvPr/>
        </p:nvSpPr>
        <p:spPr>
          <a:xfrm>
            <a:off x="0" y="6802920"/>
            <a:ext cx="12191400" cy="360"/>
          </a:xfrm>
          <a:prstGeom prst="line">
            <a:avLst/>
          </a:prstGeom>
          <a:ln w="6350">
            <a:solidFill>
              <a:srgbClr val="26342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4" name="Shape 35"/>
          <p:cNvSpPr/>
          <p:nvPr/>
        </p:nvSpPr>
        <p:spPr>
          <a:xfrm>
            <a:off x="777240" y="640080"/>
            <a:ext cx="603000" cy="603000"/>
          </a:xfrm>
          <a:prstGeom prst="roundRect">
            <a:avLst>
              <a:gd name="adj" fmla="val 15152"/>
            </a:avLst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5" name="Text 36"/>
          <p:cNvSpPr/>
          <p:nvPr/>
        </p:nvSpPr>
        <p:spPr>
          <a:xfrm>
            <a:off x="777240" y="640080"/>
            <a:ext cx="603000" cy="60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979" spc="-1" strike="noStrike">
                <a:solidFill>
                  <a:srgbClr val="ffffff"/>
                </a:solidFill>
                <a:latin typeface="Cambria"/>
                <a:ea typeface="Cambria"/>
              </a:rPr>
              <a:t>Zπ</a:t>
            </a:r>
            <a:endParaRPr b="0" lang="en-US" sz="1979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6" name="Text 37"/>
          <p:cNvSpPr/>
          <p:nvPr/>
        </p:nvSpPr>
        <p:spPr>
          <a:xfrm>
            <a:off x="1554480" y="676800"/>
            <a:ext cx="73148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50" spc="299" strike="noStrike">
                <a:solidFill>
                  <a:srgbClr val="e0ac2b"/>
                </a:solidFill>
                <a:latin typeface="Calibri"/>
                <a:ea typeface="Calibri"/>
              </a:rPr>
              <a:t>RECAP</a:t>
            </a:r>
            <a:endParaRPr b="0" lang="en-US" sz="12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7" name="Text 38"/>
          <p:cNvSpPr/>
          <p:nvPr/>
        </p:nvSpPr>
        <p:spPr>
          <a:xfrm>
            <a:off x="777240" y="1371600"/>
            <a:ext cx="1060668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800" spc="-1" strike="noStrike">
                <a:solidFill>
                  <a:srgbClr val="e0ac2b"/>
                </a:solidFill>
                <a:latin typeface="Cambria"/>
                <a:ea typeface="Cambria"/>
              </a:rPr>
              <a:t>Key Takeaways</a:t>
            </a:r>
            <a:endParaRPr b="0" lang="en-US" sz="3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8" name="Shape 39"/>
          <p:cNvSpPr/>
          <p:nvPr/>
        </p:nvSpPr>
        <p:spPr>
          <a:xfrm>
            <a:off x="868680" y="236844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59" name="Text 40"/>
          <p:cNvSpPr/>
          <p:nvPr/>
        </p:nvSpPr>
        <p:spPr>
          <a:xfrm>
            <a:off x="1234440" y="2331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Simple interest: I = PRT ÷ 100 — the same amount every year.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0" name="Shape 41"/>
          <p:cNvSpPr/>
          <p:nvPr/>
        </p:nvSpPr>
        <p:spPr>
          <a:xfrm>
            <a:off x="868680" y="2935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1" name="Text 42"/>
          <p:cNvSpPr/>
          <p:nvPr/>
        </p:nvSpPr>
        <p:spPr>
          <a:xfrm>
            <a:off x="1234440" y="2898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Compound interest: Amount = P × (multiplier)ⁿ — it grows on the growing total.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2" name="Shape 43"/>
          <p:cNvSpPr/>
          <p:nvPr/>
        </p:nvSpPr>
        <p:spPr>
          <a:xfrm>
            <a:off x="868680" y="3502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3" name="Text 44"/>
          <p:cNvSpPr/>
          <p:nvPr/>
        </p:nvSpPr>
        <p:spPr>
          <a:xfrm>
            <a:off x="1234440" y="346572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Interest earned = final amount − principal.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4" name="Shape 45"/>
          <p:cNvSpPr/>
          <p:nvPr/>
        </p:nvSpPr>
        <p:spPr>
          <a:xfrm>
            <a:off x="868680" y="4069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5" name="Text 46"/>
          <p:cNvSpPr/>
          <p:nvPr/>
        </p:nvSpPr>
        <p:spPr>
          <a:xfrm>
            <a:off x="1234440" y="4032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Repeated changes MULTIPLY: +20% then −30% is ×1.2×0.7 = ×0.84 (16% down, not 10%).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6" name="Shape 47"/>
          <p:cNvSpPr/>
          <p:nvPr/>
        </p:nvSpPr>
        <p:spPr>
          <a:xfrm>
            <a:off x="868680" y="4636080"/>
            <a:ext cx="182520" cy="182520"/>
          </a:xfrm>
          <a:prstGeom prst="ellipse">
            <a:avLst/>
          </a:prstGeom>
          <a:solidFill>
            <a:srgbClr val="e8623d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7" name="Text 48"/>
          <p:cNvSpPr/>
          <p:nvPr/>
        </p:nvSpPr>
        <p:spPr>
          <a:xfrm>
            <a:off x="1234440" y="4599360"/>
            <a:ext cx="104238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edebdd"/>
                </a:solidFill>
                <a:latin typeface="Calibri"/>
                <a:ea typeface="Calibri"/>
              </a:rPr>
              <a:t>To find an unknown change, divide the final amount by the running total.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8" name="Shape 49"/>
          <p:cNvSpPr/>
          <p:nvPr/>
        </p:nvSpPr>
        <p:spPr>
          <a:xfrm>
            <a:off x="777240" y="5440680"/>
            <a:ext cx="10606680" cy="868320"/>
          </a:xfrm>
          <a:prstGeom prst="roundRect">
            <a:avLst>
              <a:gd name="adj" fmla="val 6316"/>
            </a:avLst>
          </a:prstGeom>
          <a:solidFill>
            <a:srgbClr val="16261f"/>
          </a:solidFill>
          <a:ln w="0">
            <a:noFill/>
          </a:ln>
          <a:effectLst>
            <a:outerShdw algn="bl" blurRad="88920" dir="5400000" dist="38160" kx="0" ky="0" rotWithShape="0" sx="100000" sy="100000">
              <a:srgbClr val="000000">
                <a:alpha val="18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9" name="Text 50"/>
          <p:cNvSpPr/>
          <p:nvPr/>
        </p:nvSpPr>
        <p:spPr>
          <a:xfrm>
            <a:off x="777240" y="5440680"/>
            <a:ext cx="10606680" cy="868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700" spc="-1" strike="noStrike">
                <a:solidFill>
                  <a:srgbClr val="e0ac2b"/>
                </a:solidFill>
                <a:latin typeface="Cambria"/>
                <a:ea typeface="Cambria"/>
              </a:rPr>
              <a:t>Golden rule:  </a:t>
            </a:r>
            <a:r>
              <a:rPr b="0" lang="en-US" sz="1700" spc="-1" strike="noStrike">
                <a:solidFill>
                  <a:srgbClr val="edebdd"/>
                </a:solidFill>
                <a:latin typeface="Cambria"/>
                <a:ea typeface="Cambria"/>
              </a:rPr>
              <a:t>never add or subtract percentages across steps — multiply the multipliers.</a:t>
            </a:r>
            <a:endParaRPr b="0" lang="en-US" sz="17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LibreOffice/24.2.7.2$Linux_X86_64 LibreOffice_project/420$Build-2</Application>
  <AppVersion>15.0000</AppVersion>
  <Words>0</Words>
  <Paragraphs>0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2026-07-11T09:41:32Z</dcterms:created>
  <dc:creator>Zahra Sheikh Ali</dc:creator>
  <dc:description/>
  <dc:language>en-US</dc:language>
  <cp:lastModifiedBy>Zahra Sheikh Ali</cp:lastModifiedBy>
  <dcterms:modified xsi:type="dcterms:W3CDTF">2026-07-11T09:41:32Z</dcterms:modified>
  <cp:revision>1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22</vt:r8>
  </property>
  <property fmtid="{D5CDD505-2E9C-101B-9397-08002B2CF9AE}" pid="3" name="PresentationFormat">
    <vt:lpwstr>On-screen Show (16:9)</vt:lpwstr>
  </property>
  <property fmtid="{D5CDD505-2E9C-101B-9397-08002B2CF9AE}" pid="4" name="Slides">
    <vt:r8>22</vt:r8>
  </property>
</Properties>
</file>