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3" r:id="rId11"/>
    <p:sldId id="265" r:id="rId12"/>
    <p:sldId id="266" r:id="rId13"/>
    <p:sldId id="267" r:id="rId14"/>
    <p:sldId id="282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13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123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68.png"/><Relationship Id="rId5" Type="http://schemas.openxmlformats.org/officeDocument/2006/relationships/image" Target="../media/image10.png"/><Relationship Id="rId15" Type="http://schemas.openxmlformats.org/officeDocument/2006/relationships/image" Target="../media/image19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84080" y="1280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4000" dirty="0"/>
          </a:p>
        </p:txBody>
      </p:sp>
      <p:sp>
        <p:nvSpPr>
          <p:cNvPr id="38" name="Shape 36"/>
          <p:cNvSpPr/>
          <p:nvPr/>
        </p:nvSpPr>
        <p:spPr>
          <a:xfrm>
            <a:off x="9784080" y="1554480"/>
            <a:ext cx="1463040" cy="0"/>
          </a:xfrm>
          <a:prstGeom prst="line">
            <a:avLst/>
          </a:prstGeom>
          <a:noFill/>
          <a:ln w="19050">
            <a:solidFill>
              <a:srgbClr val="3346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84080" y="15819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4000" dirty="0"/>
          </a:p>
        </p:txBody>
      </p:sp>
      <p:sp>
        <p:nvSpPr>
          <p:cNvPr id="40" name="Shape 38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2" name="Text 40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Differentiation</a:t>
            </a:r>
            <a:endParaRPr lang="en-US" sz="3800" dirty="0"/>
          </a:p>
        </p:txBody>
      </p:sp>
      <p:sp>
        <p:nvSpPr>
          <p:cNvPr id="45" name="Text 43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Gradient Function · Tangents · Stationary Points · Maximum &amp; Minimum · Optimisation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Gradient of a Curve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 gives the GRADIENT FUNCTION of a curve.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it you can find the gradient at any point, the equation of a tangent, and where a curve has its maximum or minimum.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power rule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terms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at a point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Tangents &amp; normals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 &amp; minimum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 · gradient function · dy/dx · tangent · stationary point · maximum · minimum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Differentiation = the Gradient Function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has ONE gradient. A curve’s gradient keeps changing.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Differentiating gives a formula for that gradient.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920240" y="2286000"/>
            <a:ext cx="8321040" cy="1188720"/>
          </a:xfrm>
          <a:prstGeom prst="roundRect">
            <a:avLst>
              <a:gd name="adj" fmla="val 4615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94560" y="22860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 y =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then    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12648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6126480" y="2880360"/>
            <a:ext cx="914400" cy="0"/>
          </a:xfrm>
          <a:prstGeom prst="line">
            <a:avLst/>
          </a:prstGeom>
          <a:noFill/>
          <a:ln w="19050">
            <a:solidFill>
              <a:srgbClr val="EDEB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26480" y="2907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722376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n−1</a:t>
            </a:r>
            <a:endParaRPr lang="en-US" sz="2200" dirty="0"/>
          </a:p>
        </p:txBody>
      </p:sp>
      <p:sp>
        <p:nvSpPr>
          <p:cNvPr id="49" name="Shape 47"/>
          <p:cNvSpPr/>
          <p:nvPr/>
        </p:nvSpPr>
        <p:spPr>
          <a:xfrm>
            <a:off x="566928" y="3749040"/>
            <a:ext cx="11064240" cy="1920240"/>
          </a:xfrm>
          <a:prstGeom prst="roundRect">
            <a:avLst>
              <a:gd name="adj" fmla="val 285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32688" y="39867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in words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914400" y="44805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MULTIPLY by the power.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SUBTRACT 1 from the power.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6400800" y="44805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dy/dx is read ‘dee y by dee x’.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gradient at any value of 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RULE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 the Power, Then Reduce It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power down to the front, then take one off the power.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103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x⁵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3931920" y="22402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931920" y="2514600"/>
            <a:ext cx="6400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31920" y="25420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4846320" y="2103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</a:t>
            </a: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5x⁴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7315200" y="2103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x, power 5→4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566928" y="3044952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914400" y="304495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3x²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931920" y="31821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3931920" y="3456432"/>
            <a:ext cx="6400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31920" y="3483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846320" y="30449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</a:t>
            </a: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6x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7315200" y="304495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2 = 6, power 2→1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66928" y="3986784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91440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9x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3931920" y="41239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3931920" y="4398264"/>
            <a:ext cx="6400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31920" y="44256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4846320" y="398678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</a:t>
            </a: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900" dirty="0"/>
          </a:p>
        </p:txBody>
      </p:sp>
      <p:sp>
        <p:nvSpPr>
          <p:cNvPr id="63" name="Text 61"/>
          <p:cNvSpPr/>
          <p:nvPr/>
        </p:nvSpPr>
        <p:spPr>
          <a:xfrm>
            <a:off x="7315200" y="3986784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9x¹ → 9x⁰ = 9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928616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492861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7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3931920" y="50657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3931920" y="5340096"/>
            <a:ext cx="64008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931920" y="5367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4846320" y="492861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</a:t>
            </a: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900" dirty="0"/>
          </a:p>
        </p:txBody>
      </p:sp>
      <p:sp>
        <p:nvSpPr>
          <p:cNvPr id="70" name="Text 68"/>
          <p:cNvSpPr/>
          <p:nvPr/>
        </p:nvSpPr>
        <p:spPr>
          <a:xfrm>
            <a:off x="7315200" y="4928616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constant has gradient 0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multiplying x stays; a number on its own differentiates to 0.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TERMS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Differentiate Term by Term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power rule to EACH term.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+ and − signs between terms.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constant term always disappears.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the final answer.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roots and fractions as powers first, e.g. √x = x^(1/2).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+ 4x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− 7x + 5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each term separately: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3x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  4x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8x;   −7x → −7;   5 → 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dy/dx = 3x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+ 8x − 7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dy/dx = 3x² + 8x − 7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 &amp; RECIPROCALS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Rewrite as a Power First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rule works for ANY power — fractions and negatives too.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roots and ‘1 over x’ as powers, then differentiate normally.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30352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2148840"/>
            <a:ext cx="5084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 as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26480" y="2148840"/>
            <a:ext cx="5504688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6236208" y="2148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Rewrite as a power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" y="2642616"/>
            <a:ext cx="5303520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" y="2642616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√x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26480" y="2642616"/>
            <a:ext cx="5504688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55080" y="2642616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x^(1/2)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66928" y="3154680"/>
            <a:ext cx="5303520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5528" y="3154680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³√x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126480" y="3154680"/>
            <a:ext cx="5504688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55080" y="3154680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x^(1/3)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6928" y="3666744"/>
            <a:ext cx="5303520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" y="3666744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x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26480" y="3666744"/>
            <a:ext cx="5504688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66744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x^(−1)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66928" y="4178808"/>
            <a:ext cx="5303520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5528" y="4178808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x²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126480" y="4178808"/>
            <a:ext cx="5504688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55080" y="4178808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x^(−2)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566928" y="4690872"/>
            <a:ext cx="5303520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528" y="4690872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√x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26480" y="4690872"/>
            <a:ext cx="5504688" cy="484632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4690872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x^(−1/2)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566928" y="5202936"/>
            <a:ext cx="5303520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5528" y="5202936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/ xⁿ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126480" y="5202936"/>
            <a:ext cx="5504688" cy="484632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355080" y="5202936"/>
            <a:ext cx="50474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a·x^(−n)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becomes a fraction power; ‘1 over xⁿ’ becomes a negative power. Then multiply by the power and subtract 1.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· ROOTS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Differentiating Square &amp; Cube Roots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root as a fractional power.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the power, subtract 1 (as usual).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front (like 6) just stays and multiplies.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rewrite the answer back as a root.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1 from ½ gives −½;  from ⅓ gives −⅔.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√x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</a:t>
            </a: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−1/2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(2√x)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³√x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</a:t>
            </a: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⅓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−2/3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(3³√(x²))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1/√x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−1/2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</a:t>
            </a: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−3/2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6√x = 6x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6 × ½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−1/2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√x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√x → x^(1/2),  so dy/dx = ½x^(−1/2) = 1/(2√x)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· x IN THE DENOMINATOR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Differentiating 1 Over x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signs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x to the top with a NEGATIVE power.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by a negative power makes dy/dx negative.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1 from −2 gives −3 (more negative).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answer with x back on the bottom.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differentiate the top and bottom separately — rewrite as a single power first.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1/x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</a:t>
            </a: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/ x²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4/x² = 4x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4 × (−2)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 / x³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3/x = 3x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dy/dx = −3x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/ x²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term like 5/x³ = 5x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−15x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−15/x⁴.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1/x → x^(−1),  so dy/dx = −x^(−2) = −1/x²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AT A POINT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the x-value into dy/dx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differentiate to get dy/dx.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put the x-value in to get a NUMBER.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number is the gradient there.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also the gradient of the tangent.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dy/dx is a formula; the gradient at a point is a single number.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gradient of y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− 4x at the point where x = 3.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Differentiate:  dy/dx = 2x − 4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x = 3:  2(3) − 4 = 2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at that point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at x = 3 is 2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Harder Question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6779" y="1210973"/>
            <a:ext cx="11470105" cy="5647027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/>
              <p:cNvSpPr txBox="1"/>
              <p:nvPr/>
            </p:nvSpPr>
            <p:spPr>
              <a:xfrm>
                <a:off x="466074" y="1210973"/>
                <a:ext cx="11243917" cy="1268681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GB" sz="1700" dirty="0"/>
                  <a:t>Let </a:t>
                </a:r>
                <a14:m>
                  <m:oMath xmlns:m="http://schemas.openxmlformats.org/officeDocument/2006/math"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=4</m:t>
                    </m:r>
                    <m:sSup>
                      <m:sSup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−8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endParaRPr lang="en-GB" sz="1700" dirty="0"/>
              </a:p>
              <a:p>
                <a:pPr marL="457200" indent="-457200">
                  <a:buAutoNum type="alphaLcParenR"/>
                </a:pPr>
                <a:r>
                  <a:rPr lang="en-GB" sz="1700" dirty="0"/>
                  <a:t>Find the gradient of </a:t>
                </a:r>
                <a14:m>
                  <m:oMath xmlns:m="http://schemas.openxmlformats.org/officeDocument/2006/math"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700" dirty="0"/>
                  <a:t> at the point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sz="1700" b="0" i="1" smtClean="0">
                                <a:latin typeface="Cambria Math"/>
                              </a:rPr>
                            </m:ctrlPr>
                          </m:fPr>
                          <m:num>
                            <m:r>
                              <a:rPr lang="en-GB" sz="17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GB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</m:oMath>
                </a14:m>
                <a:endParaRPr lang="en-GB" sz="1700" dirty="0"/>
              </a:p>
              <a:p>
                <a:pPr marL="457200" indent="-457200">
                  <a:buAutoNum type="alphaLcParenR"/>
                </a:pPr>
                <a:r>
                  <a:rPr lang="en-GB" sz="1700" dirty="0"/>
                  <a:t>Find the coordinates of the point on the graph of </a:t>
                </a:r>
                <a14:m>
                  <m:oMath xmlns:m="http://schemas.openxmlformats.org/officeDocument/2006/math"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700" dirty="0"/>
                  <a:t> where the gradient is 8.</a:t>
                </a:r>
              </a:p>
              <a:p>
                <a:pPr marL="457200" indent="-457200">
                  <a:buAutoNum type="alphaLcParenR"/>
                </a:pPr>
                <a:r>
                  <a:rPr lang="en-GB" sz="1700" dirty="0"/>
                  <a:t>Find the gradient of </a:t>
                </a:r>
                <a14:m>
                  <m:oMath xmlns:m="http://schemas.openxmlformats.org/officeDocument/2006/math"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17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7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700" dirty="0"/>
                  <a:t> at the points where the curve meets the line </a:t>
                </a:r>
                <a14:m>
                  <m:oMath xmlns:m="http://schemas.openxmlformats.org/officeDocument/2006/math"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700" b="0" i="1" smtClean="0"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r>
                  <a:rPr lang="en-GB" sz="1700" dirty="0"/>
                  <a:t>.</a:t>
                </a:r>
              </a:p>
            </p:txBody>
          </p:sp>
        </mc:Choice>
        <mc:Fallback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74" y="1210973"/>
                <a:ext cx="11243917" cy="1268681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/>
              <p:cNvSpPr txBox="1"/>
              <p:nvPr/>
            </p:nvSpPr>
            <p:spPr>
              <a:xfrm>
                <a:off x="994527" y="2819308"/>
                <a:ext cx="4236691" cy="783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−8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b="0" i="1" smtClean="0">
                            <a:latin typeface="Cambria Math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=8</m:t>
                    </m:r>
                    <m:d>
                      <m:dPr>
                        <m:ctrlPr>
                          <a:rPr lang="en-GB" b="0" i="1" smtClean="0">
                            <a:latin typeface="Cambria Math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−8−4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27" y="2819308"/>
                <a:ext cx="4236691" cy="783869"/>
              </a:xfrm>
              <a:prstGeom prst="rect">
                <a:avLst/>
              </a:prstGeom>
              <a:blipFill rotWithShape="1">
                <a:blip r:embed="rId4"/>
                <a:stretch>
                  <a:fillRect l="-1151" b="-3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6306693" y="3059016"/>
                <a:ext cx="50347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Remember that the ‘gradient function’ allows you to find the gradient for a particular value of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1400" dirty="0"/>
                  <a:t>.</a:t>
                </a:r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6693" y="3059016"/>
                <a:ext cx="5034700" cy="523220"/>
              </a:xfrm>
              <a:prstGeom prst="rect">
                <a:avLst/>
              </a:prstGeom>
              <a:blipFill rotWithShape="1">
                <a:blip r:embed="rId5"/>
                <a:stretch>
                  <a:fillRect l="-364" t="-1163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Arrow Connector 62"/>
          <p:cNvCxnSpPr/>
          <p:nvPr/>
        </p:nvCxnSpPr>
        <p:spPr>
          <a:xfrm flipH="1">
            <a:off x="5387162" y="3312732"/>
            <a:ext cx="900859" cy="30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/>
              <p:cNvSpPr txBox="1"/>
              <p:nvPr/>
            </p:nvSpPr>
            <p:spPr>
              <a:xfrm>
                <a:off x="1034618" y="3920651"/>
                <a:ext cx="42366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8=8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−8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−8</m:t>
                      </m:r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+3=3</m:t>
                      </m:r>
                    </m:oMath>
                  </m:oMathPara>
                </a14:m>
                <a:endParaRPr lang="en-GB" b="0" dirty="0"/>
              </a:p>
              <a:p>
                <a:r>
                  <a:rPr lang="en-GB" dirty="0"/>
                  <a:t>Point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2,3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618" y="3920651"/>
                <a:ext cx="4236691" cy="1200329"/>
              </a:xfrm>
              <a:prstGeom prst="rect">
                <a:avLst/>
              </a:prstGeom>
              <a:blipFill rotWithShape="1">
                <a:blip r:embed="rId6"/>
                <a:stretch>
                  <a:fillRect l="-1295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/>
              <p:cNvSpPr txBox="1"/>
              <p:nvPr/>
            </p:nvSpPr>
            <p:spPr>
              <a:xfrm>
                <a:off x="6207455" y="3946598"/>
                <a:ext cx="5856953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This example is important!</a:t>
                </a:r>
              </a:p>
              <a:p>
                <a:r>
                  <a:rPr lang="en-GB" sz="1400" dirty="0"/>
                  <a:t>Previously you used a value of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1400" dirty="0"/>
                  <a:t> to get the gradient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400" dirty="0"/>
                  <a:t>. This time we’re </a:t>
                </a:r>
                <a:r>
                  <a:rPr lang="en-GB" sz="1400" b="1" dirty="0"/>
                  <a:t>doing the opposite</a:t>
                </a:r>
                <a:r>
                  <a:rPr lang="en-GB" sz="1400" dirty="0"/>
                  <a:t>: using a known gradient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400" dirty="0"/>
                  <a:t> to get the value of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1400" dirty="0"/>
                  <a:t>. We therefore substitute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sz="1400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sz="1400" dirty="0"/>
                  <a:t> for 8.</a:t>
                </a:r>
              </a:p>
            </p:txBody>
          </p:sp>
        </mc:Choice>
        <mc:Fallback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7455" y="3946598"/>
                <a:ext cx="5856953" cy="954107"/>
              </a:xfrm>
              <a:prstGeom prst="rect">
                <a:avLst/>
              </a:prstGeom>
              <a:blipFill rotWithShape="1">
                <a:blip r:embed="rId7"/>
                <a:stretch>
                  <a:fillRect l="-208" t="-637" b="-50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Arrow Connector 65"/>
          <p:cNvCxnSpPr/>
          <p:nvPr/>
        </p:nvCxnSpPr>
        <p:spPr>
          <a:xfrm flipH="1">
            <a:off x="5381101" y="4130447"/>
            <a:ext cx="771605" cy="28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516701" y="2846950"/>
            <a:ext cx="363140" cy="29334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700" y="3946597"/>
            <a:ext cx="363140" cy="29334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6700" y="5413541"/>
            <a:ext cx="363140" cy="29334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/>
              <p:cNvSpPr txBox="1"/>
              <p:nvPr/>
            </p:nvSpPr>
            <p:spPr>
              <a:xfrm>
                <a:off x="994526" y="5361647"/>
                <a:ext cx="473287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First find point of intersection: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4</m:t>
                      </m:r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−8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+3=4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Solving, we obtain: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b="0" i="0" dirty="0">
                    <a:latin typeface="+mj-lt"/>
                  </a:rPr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=1, </m:t>
                    </m:r>
                    <m:sSup>
                      <m:sSupPr>
                        <m:ctrlPr>
                          <a:rPr lang="en-GB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=2, </m:t>
                    </m:r>
                    <m:sSup>
                      <m:sSupPr>
                        <m:ctrlPr>
                          <a:rPr lang="en-GB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GB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26" y="5361647"/>
                <a:ext cx="4732876" cy="1477328"/>
              </a:xfrm>
              <a:prstGeom prst="rect">
                <a:avLst/>
              </a:prstGeom>
              <a:blipFill rotWithShape="1">
                <a:blip r:embed="rId8"/>
                <a:stretch>
                  <a:fillRect l="-1030" t="-2066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/>
          <p:cNvCxnSpPr/>
          <p:nvPr/>
        </p:nvCxnSpPr>
        <p:spPr>
          <a:xfrm flipH="1" flipV="1">
            <a:off x="5387163" y="4683341"/>
            <a:ext cx="779721" cy="648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/>
              <p:cNvSpPr txBox="1"/>
              <p:nvPr/>
            </p:nvSpPr>
            <p:spPr>
              <a:xfrm>
                <a:off x="6120198" y="5202440"/>
                <a:ext cx="50347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Once you have your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1400" dirty="0"/>
                  <a:t>, you need to work out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sz="1400" dirty="0"/>
                  <a:t>.</a:t>
                </a:r>
              </a:p>
              <a:p>
                <a:r>
                  <a:rPr lang="en-GB" sz="1400" b="1" dirty="0"/>
                  <a:t>Ensure you use the correct equation!</a:t>
                </a:r>
              </a:p>
            </p:txBody>
          </p:sp>
        </mc:Choice>
        <mc:Fallback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198" y="5202440"/>
                <a:ext cx="5034700" cy="523220"/>
              </a:xfrm>
              <a:prstGeom prst="rect">
                <a:avLst/>
              </a:prstGeom>
              <a:blipFill rotWithShape="1">
                <a:blip r:embed="rId9"/>
                <a:stretch>
                  <a:fillRect l="-363" t="-1163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/>
          <p:cNvSpPr/>
          <p:nvPr/>
        </p:nvSpPr>
        <p:spPr>
          <a:xfrm>
            <a:off x="879839" y="2846950"/>
            <a:ext cx="4256053" cy="78594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dirty="0"/>
              <a:t>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9839" y="3950369"/>
            <a:ext cx="4256053" cy="116890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dirty="0"/>
              <a:t>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34618" y="5376532"/>
            <a:ext cx="4640096" cy="141995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dirty="0"/>
              <a:t>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98482" y="1372498"/>
            <a:ext cx="38429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Calculate Gradient of a curve at a point</a:t>
            </a:r>
          </a:p>
        </p:txBody>
      </p:sp>
    </p:spTree>
    <p:extLst>
      <p:ext uri="{BB962C8B-B14F-4D97-AF65-F5344CB8AC3E}">
        <p14:creationId xmlns:p14="http://schemas.microsoft.com/office/powerpoint/2010/main" val="252179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4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</p:childTnLst>
        </p:cTn>
      </p:par>
    </p:tnLst>
    <p:bldLst>
      <p:bldP spid="62" grpId="0"/>
      <p:bldP spid="65" grpId="0"/>
      <p:bldP spid="72" grpId="0"/>
      <p:bldP spid="73" grpId="0" animBg="1"/>
      <p:bldP spid="74" grpId="0" animBg="1"/>
      <p:bldP spid="7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TANGENTS &amp; NORMALS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Lines That Touch the Curve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of the TANGENT equals dy/dx at that point.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use y − y₁ = m(x − x₁).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TANGENT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the curve, same direction.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m = dy/dx at the point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m, then use the point in y = mx + c.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Perpendicular to the tangent.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= −1 ÷ (tangent gradient)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negative reciprocal of dy/dx.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66928" y="548640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Tangent gradient = dy/dx.   Normal gradient = −1 ÷ (dy/dx).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 POINTS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Gradient Is Zero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maximum or minimum the curve is momentarily flat.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set dy/dx = 0 and solve.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point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554480" y="48920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53540" y="465836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52600" y="444500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851660" y="425196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0720" y="40792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049780" y="39268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48840" y="379476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247900" y="368300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346960" y="359156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46020" y="35204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45080" y="34696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44140" y="343916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43200" y="3429000"/>
            <a:ext cx="99060" cy="101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842260" y="3439160"/>
            <a:ext cx="99060" cy="304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941320" y="3469640"/>
            <a:ext cx="99060" cy="5080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40380" y="3520440"/>
            <a:ext cx="99060" cy="7112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39440" y="3591560"/>
            <a:ext cx="99060" cy="9144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38500" y="3683000"/>
            <a:ext cx="99060" cy="1117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7560" y="3794760"/>
            <a:ext cx="99060" cy="1320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36620" y="3926840"/>
            <a:ext cx="99060" cy="15240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535680" y="4079240"/>
            <a:ext cx="99060" cy="17272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634740" y="4251960"/>
            <a:ext cx="99060" cy="19304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33800" y="4445000"/>
            <a:ext cx="99060" cy="2133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832860" y="4658360"/>
            <a:ext cx="99060" cy="2336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644140" y="3376703"/>
            <a:ext cx="128016" cy="128016"/>
          </a:xfrm>
          <a:prstGeom prst="ellipse">
            <a:avLst/>
          </a:prstGeom>
          <a:solidFill>
            <a:srgbClr val="E0AC2B"/>
          </a:solidFill>
          <a:ln w="12700">
            <a:solidFill>
              <a:srgbClr val="1C2A2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2960" y="5074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0 at the bottom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190488" y="219456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655624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 point</a:t>
            </a:r>
            <a:endParaRPr lang="en-US" sz="1700" dirty="0"/>
          </a:p>
        </p:txBody>
      </p:sp>
      <p:sp>
        <p:nvSpPr>
          <p:cNvPr id="73" name="Shape 71"/>
          <p:cNvSpPr/>
          <p:nvPr/>
        </p:nvSpPr>
        <p:spPr>
          <a:xfrm>
            <a:off x="7680960" y="3063240"/>
            <a:ext cx="99060" cy="2336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780020" y="3296920"/>
            <a:ext cx="99060" cy="2133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879080" y="3510280"/>
            <a:ext cx="99060" cy="19304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978140" y="3703320"/>
            <a:ext cx="99060" cy="17272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77200" y="3876040"/>
            <a:ext cx="99060" cy="15240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76260" y="4028440"/>
            <a:ext cx="99060" cy="1320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275320" y="4160520"/>
            <a:ext cx="99060" cy="1117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74380" y="4272280"/>
            <a:ext cx="99060" cy="9144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473440" y="4363720"/>
            <a:ext cx="99060" cy="7112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572500" y="4434840"/>
            <a:ext cx="99060" cy="5080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671560" y="4485640"/>
            <a:ext cx="99060" cy="3048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770620" y="4516120"/>
            <a:ext cx="99060" cy="1016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869680" y="452628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968740" y="451612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067800" y="44856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166860" y="44348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5920" y="436372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364980" y="427228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64040" y="416052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563100" y="40284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662160" y="387604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761220" y="370332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860280" y="351028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959340" y="3296920"/>
            <a:ext cx="9906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782812" y="4459438"/>
            <a:ext cx="128016" cy="128016"/>
          </a:xfrm>
          <a:prstGeom prst="ellipse">
            <a:avLst/>
          </a:prstGeom>
          <a:solidFill>
            <a:srgbClr val="E0AC2B"/>
          </a:solidFill>
          <a:ln w="127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309360" y="5074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0 at the top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566928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841248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find turning points: solve  dy/dx = 0,  then find the y-value.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Turning Point &amp; Its Nature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of the point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AGAIN to get d²y/dx².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POSITIVE → minimum.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NEGATIVE → maximum.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check the gradient just either side.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turning point has dy/dx = 0; the second derivative tells you which type.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− 4x.   dy/dx = 2x − 4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= 0:  2x − 4 = 0  →  x = 2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− 4(2) = −4, so turning point (2, −4)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derivative d²y/dx² = 2 &gt; 0  →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turning point at (2, −4)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Turning Point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6779" y="1210973"/>
            <a:ext cx="11470105" cy="5647027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grpSp>
        <p:nvGrpSpPr>
          <p:cNvPr id="59" name="Group 58"/>
          <p:cNvGrpSpPr/>
          <p:nvPr/>
        </p:nvGrpSpPr>
        <p:grpSpPr>
          <a:xfrm>
            <a:off x="418805" y="1257900"/>
            <a:ext cx="1532099" cy="338554"/>
            <a:chOff x="4525211" y="2005388"/>
            <a:chExt cx="1149074" cy="338554"/>
          </a:xfrm>
        </p:grpSpPr>
        <p:sp>
          <p:nvSpPr>
            <p:cNvPr id="77" name="TextBox 76"/>
            <p:cNvSpPr txBox="1"/>
            <p:nvPr/>
          </p:nvSpPr>
          <p:spPr>
            <a:xfrm>
              <a:off x="4525211" y="2005388"/>
              <a:ext cx="4960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 smtClean="0">
                  <a:solidFill>
                    <a:srgbClr val="FF0000"/>
                  </a:solidFill>
                </a:rPr>
                <a:t>graph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78" name="Straight Arrow Connector 77"/>
            <p:cNvCxnSpPr/>
            <p:nvPr/>
          </p:nvCxnSpPr>
          <p:spPr>
            <a:xfrm>
              <a:off x="5161327" y="2181956"/>
              <a:ext cx="512958" cy="10446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/>
              <p:cNvSpPr txBox="1"/>
              <p:nvPr/>
            </p:nvSpPr>
            <p:spPr>
              <a:xfrm>
                <a:off x="1820527" y="1874038"/>
                <a:ext cx="2144946" cy="5843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527" y="1874038"/>
                <a:ext cx="2144946" cy="584391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0" name="Group 79"/>
          <p:cNvGrpSpPr/>
          <p:nvPr/>
        </p:nvGrpSpPr>
        <p:grpSpPr>
          <a:xfrm>
            <a:off x="271257" y="1658212"/>
            <a:ext cx="1864394" cy="523858"/>
            <a:chOff x="4676491" y="1876568"/>
            <a:chExt cx="1398295" cy="523858"/>
          </a:xfrm>
        </p:grpSpPr>
        <p:sp>
          <p:nvSpPr>
            <p:cNvPr id="81" name="TextBox 80"/>
            <p:cNvSpPr txBox="1"/>
            <p:nvPr/>
          </p:nvSpPr>
          <p:spPr>
            <a:xfrm>
              <a:off x="4676491" y="1876568"/>
              <a:ext cx="6580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 smtClean="0">
                  <a:solidFill>
                    <a:srgbClr val="FF0000"/>
                  </a:solidFill>
                </a:rPr>
                <a:t>gradient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82" name="Straight Arrow Connector 81"/>
            <p:cNvCxnSpPr>
              <a:endCxn id="79" idx="1"/>
            </p:cNvCxnSpPr>
            <p:nvPr/>
          </p:nvCxnSpPr>
          <p:spPr>
            <a:xfrm>
              <a:off x="5593961" y="2203051"/>
              <a:ext cx="480825" cy="19737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/>
              <p:cNvSpPr txBox="1"/>
              <p:nvPr/>
            </p:nvSpPr>
            <p:spPr>
              <a:xfrm>
                <a:off x="642045" y="3177642"/>
                <a:ext cx="10849205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 smtClean="0"/>
                  <a:t>At a turning point the gradient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83" name="TextBox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45" y="3177642"/>
                <a:ext cx="10849205" cy="491288"/>
              </a:xfrm>
              <a:prstGeom prst="rect">
                <a:avLst/>
              </a:prstGeom>
              <a:blipFill rotWithShape="1">
                <a:blip r:embed="rId4"/>
                <a:stretch>
                  <a:fillRect l="-449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/>
              <p:cNvSpPr txBox="1"/>
              <p:nvPr/>
            </p:nvSpPr>
            <p:spPr>
              <a:xfrm>
                <a:off x="1843762" y="3716841"/>
                <a:ext cx="237661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GB" sz="2400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+4=0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4" name="TextBox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3762" y="3716841"/>
                <a:ext cx="2376612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2564" r="-2821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/>
              <p:cNvSpPr txBox="1"/>
              <p:nvPr/>
            </p:nvSpPr>
            <p:spPr>
              <a:xfrm>
                <a:off x="5517885" y="3507444"/>
                <a:ext cx="3241850" cy="6546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−6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ad>
                            <m:radPr>
                              <m:degHide m:val="on"/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b="0" i="1" smtClean="0">
                                          <a:latin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−6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d>
                                <m:dPr>
                                  <m:ctrlPr>
                                    <a:rPr lang="en-GB" b="0" i="1" smtClean="0"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b="0" i="1" smtClean="0"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d>
                            </m:e>
                          </m:rad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2(2)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5" name="TextBox 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885" y="3507444"/>
                <a:ext cx="3241850" cy="654603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/>
              <p:cNvSpPr txBox="1"/>
              <p:nvPr/>
            </p:nvSpPr>
            <p:spPr>
              <a:xfrm>
                <a:off x="912544" y="4507246"/>
                <a:ext cx="81182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u="sng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u="sng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86" name="TextBox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44" y="4507246"/>
                <a:ext cx="811824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5263" r="-827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/>
              <p:cNvSpPr txBox="1"/>
              <p:nvPr/>
            </p:nvSpPr>
            <p:spPr>
              <a:xfrm>
                <a:off x="791926" y="5277156"/>
                <a:ext cx="3771802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−3</m:t>
                      </m:r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+4</m:t>
                      </m:r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+8=</m:t>
                      </m:r>
                      <m:f>
                        <m:f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7" name="TextBox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26" y="5277156"/>
                <a:ext cx="3771802" cy="5203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/>
              <p:cNvSpPr txBox="1"/>
              <p:nvPr/>
            </p:nvSpPr>
            <p:spPr>
              <a:xfrm>
                <a:off x="6066648" y="4493821"/>
                <a:ext cx="81182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u="sng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u="sng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88" name="TextBox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648" y="4493821"/>
                <a:ext cx="811824" cy="369332"/>
              </a:xfrm>
              <a:prstGeom prst="rect">
                <a:avLst/>
              </a:prstGeom>
              <a:blipFill rotWithShape="1">
                <a:blip r:embed="rId9"/>
                <a:stretch>
                  <a:fillRect l="-4511" r="-9023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/>
              <p:cNvSpPr txBox="1"/>
              <p:nvPr/>
            </p:nvSpPr>
            <p:spPr>
              <a:xfrm>
                <a:off x="6106437" y="5281445"/>
                <a:ext cx="3598677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−3</m:t>
                      </m:r>
                      <m:sSup>
                        <m:sSup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+4</m:t>
                      </m:r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+8=</m:t>
                      </m:r>
                      <m:f>
                        <m:f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9" name="TextBox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6437" y="5281445"/>
                <a:ext cx="3598677" cy="5203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Connector 89"/>
          <p:cNvCxnSpPr/>
          <p:nvPr/>
        </p:nvCxnSpPr>
        <p:spPr>
          <a:xfrm>
            <a:off x="5901310" y="4939027"/>
            <a:ext cx="0" cy="2326061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14081" y="4223384"/>
            <a:ext cx="28064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u="sng" dirty="0" smtClean="0">
                <a:solidFill>
                  <a:srgbClr val="FF0000"/>
                </a:solidFill>
              </a:rPr>
              <a:t>x-coordinates</a:t>
            </a:r>
            <a:endParaRPr lang="en-US" sz="1600" u="sng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14081" y="4912682"/>
            <a:ext cx="28064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u="sng" dirty="0" smtClean="0">
                <a:solidFill>
                  <a:srgbClr val="FF0000"/>
                </a:solidFill>
              </a:rPr>
              <a:t>y-coordinates</a:t>
            </a:r>
            <a:endParaRPr lang="en-US" sz="1600" u="sng" dirty="0">
              <a:solidFill>
                <a:srgbClr val="FF0000"/>
              </a:solidFill>
            </a:endParaRPr>
          </a:p>
        </p:txBody>
      </p:sp>
      <p:grpSp>
        <p:nvGrpSpPr>
          <p:cNvPr id="93" name="Group 92"/>
          <p:cNvGrpSpPr/>
          <p:nvPr/>
        </p:nvGrpSpPr>
        <p:grpSpPr>
          <a:xfrm>
            <a:off x="227641" y="2430345"/>
            <a:ext cx="3158103" cy="726483"/>
            <a:chOff x="-32899" y="2476410"/>
            <a:chExt cx="2368577" cy="726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/>
                <p:cNvSpPr txBox="1"/>
                <p:nvPr/>
              </p:nvSpPr>
              <p:spPr>
                <a:xfrm>
                  <a:off x="1169109" y="2585288"/>
                  <a:ext cx="1166569" cy="6176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000" b="0" i="1" smtClean="0">
                                <a:latin typeface="Cambria Math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sz="2000" b="0" i="1" smtClean="0">
                                    <a:latin typeface="Cambria Math"/>
                                  </a:rPr>
                                </m:ctrlPr>
                              </m:sSupPr>
                              <m:e>
                                <m:r>
                                  <a:rPr lang="en-GB" sz="20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GB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GB" sz="2000" b="0" i="1" smtClean="0">
                                    <a:latin typeface="Cambria Math"/>
                                  </a:rPr>
                                </m:ctrlPr>
                              </m:sSupPr>
                              <m:e>
                                <m:r>
                                  <a:rPr lang="en-GB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=4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109" y="2585288"/>
                  <a:ext cx="1555426" cy="61760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5" name="Group 94"/>
            <p:cNvGrpSpPr/>
            <p:nvPr/>
          </p:nvGrpSpPr>
          <p:grpSpPr>
            <a:xfrm>
              <a:off x="-32899" y="2476410"/>
              <a:ext cx="1148516" cy="523220"/>
              <a:chOff x="4676492" y="1876568"/>
              <a:chExt cx="1148516" cy="523220"/>
            </a:xfrm>
          </p:grpSpPr>
          <p:sp>
            <p:nvSpPr>
              <p:cNvPr id="96" name="TextBox 95"/>
              <p:cNvSpPr txBox="1"/>
              <p:nvPr/>
            </p:nvSpPr>
            <p:spPr>
              <a:xfrm>
                <a:off x="4676492" y="1876568"/>
                <a:ext cx="11485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 smtClean="0">
                    <a:solidFill>
                      <a:srgbClr val="FF0000"/>
                    </a:solidFill>
                  </a:rPr>
                  <a:t>rate of change of gradient</a:t>
                </a:r>
                <a:endParaRPr lang="en-US" sz="14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7" name="Straight Arrow Connector 96"/>
              <p:cNvCxnSpPr/>
              <p:nvPr/>
            </p:nvCxnSpPr>
            <p:spPr>
              <a:xfrm>
                <a:off x="5589756" y="2290202"/>
                <a:ext cx="235252" cy="9227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8" name="TextBox 97"/>
          <p:cNvSpPr txBox="1"/>
          <p:nvPr/>
        </p:nvSpPr>
        <p:spPr>
          <a:xfrm>
            <a:off x="414081" y="5715941"/>
            <a:ext cx="28064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u="sng" dirty="0" smtClean="0">
                <a:solidFill>
                  <a:srgbClr val="FF0000"/>
                </a:solidFill>
              </a:rPr>
              <a:t>Max or min?</a:t>
            </a:r>
            <a:endParaRPr lang="en-US" sz="1600" u="sng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/>
              <p:cNvSpPr txBox="1"/>
              <p:nvPr/>
            </p:nvSpPr>
            <p:spPr>
              <a:xfrm>
                <a:off x="414081" y="6102057"/>
                <a:ext cx="2833853" cy="6176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000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GB" sz="2000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/>
                        </a:rPr>
                        <m:t>(1)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=4</m:t>
                      </m:r>
                      <m:d>
                        <m:d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9" name="TextBox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081" y="6102057"/>
                <a:ext cx="2833853" cy="617605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/>
              <p:cNvSpPr txBox="1"/>
              <p:nvPr/>
            </p:nvSpPr>
            <p:spPr>
              <a:xfrm>
                <a:off x="6066648" y="6102057"/>
                <a:ext cx="2833853" cy="6176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000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GB" sz="2000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/>
                        </a:rPr>
                        <m:t>(2)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=4</m:t>
                      </m:r>
                      <m:d>
                        <m:dPr>
                          <m:ctrlPr>
                            <a:rPr lang="en-GB" sz="20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=+2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0" name="TextBox 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648" y="6102057"/>
                <a:ext cx="2833853" cy="617605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TextBox 100"/>
              <p:cNvSpPr txBox="1"/>
              <p:nvPr/>
            </p:nvSpPr>
            <p:spPr>
              <a:xfrm>
                <a:off x="3767920" y="6181141"/>
                <a:ext cx="1882089" cy="64633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GB" dirty="0" smtClean="0"/>
                  <a:t>Negative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GB" dirty="0" smtClean="0"/>
                  <a:t> max point </a:t>
                </a:r>
                <a:endParaRPr lang="en-US" dirty="0"/>
              </a:p>
            </p:txBody>
          </p:sp>
        </mc:Choice>
        <mc:Fallback>
          <p:sp>
            <p:nvSpPr>
              <p:cNvPr id="101" name="TextBox 1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920" y="6181141"/>
                <a:ext cx="1882089" cy="646331"/>
              </a:xfrm>
              <a:prstGeom prst="rect">
                <a:avLst/>
              </a:prstGeom>
              <a:blipFill rotWithShape="1">
                <a:blip r:embed="rId14"/>
                <a:stretch>
                  <a:fillRect l="-2251" t="-3704" b="-12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/>
              <p:cNvSpPr txBox="1"/>
              <p:nvPr/>
            </p:nvSpPr>
            <p:spPr>
              <a:xfrm>
                <a:off x="9567566" y="6181141"/>
                <a:ext cx="1882089" cy="64633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GB" dirty="0" smtClean="0"/>
                  <a:t>Positive </a:t>
                </a:r>
                <a:endParaRPr lang="en-GB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GB" dirty="0" smtClean="0"/>
                  <a:t> min point </a:t>
                </a:r>
                <a:endParaRPr lang="en-US" dirty="0"/>
              </a:p>
            </p:txBody>
          </p:sp>
        </mc:Choice>
        <mc:Fallback>
          <p:sp>
            <p:nvSpPr>
              <p:cNvPr id="102" name="TextBox 1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566" y="6181141"/>
                <a:ext cx="1882089" cy="646331"/>
              </a:xfrm>
              <a:prstGeom prst="rect">
                <a:avLst/>
              </a:prstGeom>
              <a:blipFill rotWithShape="1">
                <a:blip r:embed="rId15"/>
                <a:stretch>
                  <a:fillRect l="-2251" t="-3704" b="-12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TextBox 102"/>
              <p:cNvSpPr txBox="1"/>
              <p:nvPr/>
            </p:nvSpPr>
            <p:spPr>
              <a:xfrm>
                <a:off x="7767422" y="1469857"/>
                <a:ext cx="3096641" cy="127381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2000" b="0" i="1" smtClean="0">
                            <a:latin typeface="Cambria Math"/>
                          </a:rPr>
                        </m:ctrlPr>
                      </m:fPr>
                      <m:num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num>
                      <m:den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000" dirty="0" smtClean="0"/>
                  <a:t> is a maximum</a:t>
                </a:r>
              </a:p>
              <a:p>
                <a:endParaRPr lang="en-US" sz="2000" dirty="0" smtClean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2000" b="0" i="1" smtClean="0">
                            <a:latin typeface="Cambria Math"/>
                          </a:rPr>
                        </m:ctrlPr>
                      </m:fPr>
                      <m:num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28</m:t>
                        </m:r>
                      </m:num>
                      <m:den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000" dirty="0" smtClean="0"/>
                  <a:t> is a minimum</a:t>
                </a:r>
                <a:endParaRPr lang="en-US" sz="2000" dirty="0"/>
              </a:p>
            </p:txBody>
          </p:sp>
        </mc:Choice>
        <mc:Fallback>
          <p:sp>
            <p:nvSpPr>
              <p:cNvPr id="103" name="TextBox 1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22" y="1469857"/>
                <a:ext cx="3096641" cy="1273810"/>
              </a:xfrm>
              <a:prstGeom prst="rect">
                <a:avLst/>
              </a:prstGeom>
              <a:blipFill rotWithShape="1">
                <a:blip r:embed="rId16"/>
                <a:stretch>
                  <a:fillRect b="-2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/>
              <p:cNvSpPr txBox="1"/>
              <p:nvPr/>
            </p:nvSpPr>
            <p:spPr>
              <a:xfrm>
                <a:off x="2135651" y="1291294"/>
                <a:ext cx="2757614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>
                          <a:latin typeface="Cambria Math"/>
                        </a:rPr>
                        <m:t>𝑦</m:t>
                      </m:r>
                      <m:r>
                        <a:rPr lang="en-GB" sz="20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 i="1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000" i="1">
                              <a:latin typeface="Cambria Math"/>
                            </a:rPr>
                            <m:t>2</m:t>
                          </m:r>
                        </m:num>
                        <m:den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p>
                        <m:sSupPr>
                          <m:ctrlPr>
                            <a:rPr lang="en-GB" sz="20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GB" sz="2000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GB" sz="2000" i="1">
                          <a:latin typeface="Cambria Math"/>
                        </a:rPr>
                        <m:t>−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GB" sz="20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GB" sz="20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GB" sz="2000" i="1">
                          <a:latin typeface="Cambria Math"/>
                        </a:rPr>
                        <m:t>+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i="1">
                          <a:latin typeface="Cambria Math"/>
                        </a:rPr>
                        <m:t>𝑥</m:t>
                      </m:r>
                      <m:r>
                        <a:rPr lang="en-GB" sz="2000" i="1">
                          <a:latin typeface="Cambria Math"/>
                        </a:rPr>
                        <m:t>+</m:t>
                      </m:r>
                      <m:r>
                        <a:rPr lang="en-GB" sz="200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4" name="TextBox 1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651" y="1291294"/>
                <a:ext cx="2757614" cy="578235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6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1" grpId="0"/>
      <p:bldP spid="92" grpId="0"/>
      <p:bldP spid="98" grpId="0"/>
      <p:bldP spid="99" grpId="0"/>
      <p:bldP spid="100" grpId="0"/>
      <p:bldP spid="101" grpId="0" animBg="1"/>
      <p:bldP spid="102" grpId="0" animBg="1"/>
      <p:bldP spid="10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 &amp; Minimum in Real Problems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‘Maximum volume’, ‘minimum surface area’ — these mean differentiate and set to zero. 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3682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368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508760" y="21945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quantity (V, A, R…) as a formula in ONE variable.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" y="31089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2826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508760" y="31089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Differentiate it with respect to that variable.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66928" y="40233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41970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508760" y="40233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derivative = 0 and solve to find the variable.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49377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6868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1508760" y="49377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back to get the maximum or minimum value.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‘Show that’ questions usually want you to build the formula first, then differentiate.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Differentiate, then use dy/dx = 0 for turning points or substitute for a gradient.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dy/dx first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→ substitute the x-value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point → solve dy/dx = 0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→ second derivative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59256" y="1408176"/>
            <a:ext cx="9473184" cy="269753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481328"/>
            <a:ext cx="9326880" cy="255123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59256" y="1408176"/>
            <a:ext cx="9473184" cy="2670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481328"/>
            <a:ext cx="9326880" cy="25246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12289" y="1700784"/>
            <a:ext cx="4232300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853" y="561177"/>
            <a:ext cx="3991057" cy="599507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59256" y="1408176"/>
            <a:ext cx="9473184" cy="488496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481328"/>
            <a:ext cx="9326880" cy="47386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59256" y="1408176"/>
            <a:ext cx="9473184" cy="371275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481328"/>
            <a:ext cx="9326880" cy="35664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68439" y="1408176"/>
            <a:ext cx="6854818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591" y="1481328"/>
            <a:ext cx="670851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pic>
        <p:nvPicPr>
          <p:cNvPr id="43" name="Picture 68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1716" y="160421"/>
            <a:ext cx="4782204" cy="688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93814" y="1408176"/>
            <a:ext cx="8204067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966" y="1481328"/>
            <a:ext cx="8057763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59256" y="1408176"/>
            <a:ext cx="9473184" cy="511811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481328"/>
            <a:ext cx="9326880" cy="49718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46267" y="566928"/>
            <a:ext cx="4496679" cy="6062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fq/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419" y="387199"/>
            <a:ext cx="4318833" cy="616904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 gives the gradient function dy/dx.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rule: y = xⁿ → dy/dx = nxⁿ⁻¹ — works for fractions and negatives too.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roots as fractional powers (√x = x^½) and 1/xⁿ as negative powers before differentiating.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at a point: differentiate, then substitute the x-value.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 gradient = dy/dx; normal gradient = −1 ÷ (dy/dx).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68680" y="520293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2" name="Text 50"/>
          <p:cNvSpPr/>
          <p:nvPr/>
        </p:nvSpPr>
        <p:spPr>
          <a:xfrm>
            <a:off x="1234440" y="51663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points: solve dy/dx = 0; the second derivative shows max (−) or min (+).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→ substitute;  turning point → set dy/dx = 0.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2128</Words>
  <Application>Microsoft Office PowerPoint</Application>
  <PresentationFormat>Custom</PresentationFormat>
  <Paragraphs>344</Paragraphs>
  <Slides>27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3</cp:revision>
  <dcterms:created xsi:type="dcterms:W3CDTF">2026-07-17T07:41:22Z</dcterms:created>
  <dcterms:modified xsi:type="dcterms:W3CDTF">2026-07-27T10:56:16Z</dcterms:modified>
</cp:coreProperties>
</file>