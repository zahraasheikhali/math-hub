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E9CC9F1-C6C9-4254-8139-0646443FBD0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E744646-D577-4DAF-BB6D-9BA305A2D31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20EA15-B0B8-4E3A-A9AC-899AC0CFC19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22982B1-141A-4917-B2B3-FCADB535BA6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FBC0BEA-4B74-45D7-B640-1E63D8D415A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46E625-6C7D-4A9B-8C9A-F8118FDA414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BAC525-1961-4582-AFAC-7EF955C2F0E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84258D-6915-4E96-B502-5FD5360AF95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417E95-C35A-4F79-89F2-AE79C8AE304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5307F2-06F6-45DF-BCC8-069D6897C20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7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B250C6F-45CF-4621-89CC-7F557D8C3CE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51E4D86-968B-4366-A5FD-3A98B0D26E3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3BA82B-8855-434C-AB37-650709EE258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AC14A2-1F18-4CEC-9D92-825703F6E0E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48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D46AF7-9716-48A8-8F55-94D8575BADA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356B870-D4C9-4E81-8888-BA354EFB800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3E8E1C6-1D13-4053-B91A-4BAD77F3CF3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F4AEFAD-DD91-42E4-8B8F-28F2E0512BD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8DA05B-448A-4FFD-AD00-00065B59B34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71A1ACB-39B2-43E6-9387-F02BE3CFC3B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579E49F-F62B-4FDB-BF08-16ECCECEB96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62D47F2-386B-4649-A320-63F65374627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53EF2E-5E58-4FC0-8CF1-76327B1D24C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9A5406-6EA7-4114-879D-5AAC0E97576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246FA4-72DE-48B0-8B1F-9368BC97DA7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0EBE29-E33C-4425-A82F-D6AF1429AE4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3F3346-98AA-45E2-B1AD-058054600FA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90A6E11-3B4A-4992-A1CB-294C7BE733E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9784080" y="128016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33463a"/>
                </a:solidFill>
                <a:latin typeface="Cambria"/>
                <a:ea typeface="Cambria"/>
              </a:rPr>
              <a:t>dy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9784080" y="1554480"/>
            <a:ext cx="1463040" cy="360"/>
          </a:xfrm>
          <a:prstGeom prst="line">
            <a:avLst/>
          </a:prstGeom>
          <a:ln w="1905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9784080" y="15818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33463a"/>
                </a:solidFill>
                <a:latin typeface="Cambria"/>
                <a:ea typeface="Cambria"/>
              </a:rPr>
              <a:t>dx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Differentiation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The Gradient Function · Tangents · Stationary Points · Maximum &amp; Minimum · Optimisation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Gradient of a Curve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Differentiation gives the GRADIENT FUNCTION of a curve.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From it you can find the gradient at any point, the equation of a tangent, and where a curve has its maximum or minimum.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power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Multiple terms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Gradient at a point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Tangents &amp; normals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Maximum &amp; minimum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derivative · gradient function · dy/dx · tangent · stationary point · maximum · minimum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Differentiation = the Gradient Function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straight line has ONE gradient. A curve’s gradient keeps changing.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Differentiating gives a formula for that gradient.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1"/>
          <p:cNvSpPr/>
          <p:nvPr/>
        </p:nvSpPr>
        <p:spPr>
          <a:xfrm>
            <a:off x="1920240" y="2286000"/>
            <a:ext cx="8320680" cy="1188360"/>
          </a:xfrm>
          <a:prstGeom prst="roundRect">
            <a:avLst>
              <a:gd name="adj" fmla="val 4615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2"/>
          <p:cNvSpPr/>
          <p:nvPr/>
        </p:nvSpPr>
        <p:spPr>
          <a:xfrm>
            <a:off x="2194560" y="2286000"/>
            <a:ext cx="4023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edebdd"/>
                </a:solidFill>
                <a:latin typeface="Cambria"/>
                <a:ea typeface="Cambria"/>
              </a:rPr>
              <a:t>If  y = 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x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n</a:t>
            </a:r>
            <a:r>
              <a:rPr b="0" lang="en-US" sz="2200" spc="-1" strike="noStrike">
                <a:solidFill>
                  <a:srgbClr val="edebdd"/>
                </a:solidFill>
                <a:latin typeface="Cambria"/>
                <a:ea typeface="Cambria"/>
              </a:rPr>
              <a:t>    then  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3"/>
          <p:cNvSpPr/>
          <p:nvPr/>
        </p:nvSpPr>
        <p:spPr>
          <a:xfrm>
            <a:off x="6126480" y="26060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debdd"/>
                </a:solidFill>
                <a:latin typeface="Cambria"/>
                <a:ea typeface="Cambria"/>
              </a:rPr>
              <a:t>dy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4"/>
          <p:cNvSpPr/>
          <p:nvPr/>
        </p:nvSpPr>
        <p:spPr>
          <a:xfrm>
            <a:off x="6126480" y="2880360"/>
            <a:ext cx="914400" cy="360"/>
          </a:xfrm>
          <a:prstGeom prst="line">
            <a:avLst/>
          </a:prstGeom>
          <a:ln w="19050">
            <a:solidFill>
              <a:srgbClr val="ede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5"/>
          <p:cNvSpPr/>
          <p:nvPr/>
        </p:nvSpPr>
        <p:spPr>
          <a:xfrm>
            <a:off x="6126480" y="29077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debdd"/>
                </a:solidFill>
                <a:latin typeface="Cambria"/>
                <a:ea typeface="Cambria"/>
              </a:rPr>
              <a:t>dx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6"/>
          <p:cNvSpPr/>
          <p:nvPr/>
        </p:nvSpPr>
        <p:spPr>
          <a:xfrm>
            <a:off x="7223760" y="2286000"/>
            <a:ext cx="2742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edebdd"/>
                </a:solidFill>
                <a:latin typeface="Cambria"/>
                <a:ea typeface="Cambria"/>
              </a:rPr>
              <a:t>=  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n</a:t>
            </a:r>
            <a:r>
              <a:rPr b="0" lang="en-US" sz="2200" spc="-1" strike="noStrike">
                <a:solidFill>
                  <a:srgbClr val="edebdd"/>
                </a:solidFill>
                <a:latin typeface="Cambria"/>
                <a:ea typeface="Cambria"/>
              </a:rPr>
              <a:t>x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n−1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7"/>
          <p:cNvSpPr/>
          <p:nvPr/>
        </p:nvSpPr>
        <p:spPr>
          <a:xfrm>
            <a:off x="567000" y="3749040"/>
            <a:ext cx="11063880" cy="1919880"/>
          </a:xfrm>
          <a:prstGeom prst="roundRect">
            <a:avLst>
              <a:gd name="adj" fmla="val 285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8"/>
          <p:cNvSpPr/>
          <p:nvPr/>
        </p:nvSpPr>
        <p:spPr>
          <a:xfrm>
            <a:off x="932760" y="398664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rule in words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49"/>
          <p:cNvSpPr/>
          <p:nvPr/>
        </p:nvSpPr>
        <p:spPr>
          <a:xfrm>
            <a:off x="914400" y="448056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1.  MULTIPLY by the power.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2.  SUBTRACT 1 from the power.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0"/>
          <p:cNvSpPr/>
          <p:nvPr/>
        </p:nvSpPr>
        <p:spPr>
          <a:xfrm>
            <a:off x="6400800" y="448056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dy/dx is read ‘dee y by dee x’.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It is the gradient at any value of x.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POWER RULE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Multiply by the Power, Then Reduce It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9"/>
          <p:cNvSpPr/>
          <p:nvPr/>
        </p:nvSpPr>
        <p:spPr>
          <a:xfrm>
            <a:off x="567000" y="132588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40"/>
          <p:cNvSpPr/>
          <p:nvPr/>
        </p:nvSpPr>
        <p:spPr>
          <a:xfrm>
            <a:off x="887040" y="132588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Bring the power down to the front, then take one off the power.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41"/>
          <p:cNvSpPr/>
          <p:nvPr/>
        </p:nvSpPr>
        <p:spPr>
          <a:xfrm>
            <a:off x="567000" y="2103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2"/>
          <p:cNvSpPr/>
          <p:nvPr/>
        </p:nvSpPr>
        <p:spPr>
          <a:xfrm>
            <a:off x="914400" y="21031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 = x⁵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43"/>
          <p:cNvSpPr/>
          <p:nvPr/>
        </p:nvSpPr>
        <p:spPr>
          <a:xfrm>
            <a:off x="3931920" y="224028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4"/>
          <p:cNvSpPr/>
          <p:nvPr/>
        </p:nvSpPr>
        <p:spPr>
          <a:xfrm>
            <a:off x="3931920" y="2514600"/>
            <a:ext cx="6400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45"/>
          <p:cNvSpPr/>
          <p:nvPr/>
        </p:nvSpPr>
        <p:spPr>
          <a:xfrm>
            <a:off x="3931920" y="254196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46"/>
          <p:cNvSpPr/>
          <p:nvPr/>
        </p:nvSpPr>
        <p:spPr>
          <a:xfrm>
            <a:off x="4846320" y="210312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  </a:t>
            </a: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5x⁴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7"/>
          <p:cNvSpPr/>
          <p:nvPr/>
        </p:nvSpPr>
        <p:spPr>
          <a:xfrm>
            <a:off x="7315200" y="210312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5 × x, power 5→4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8"/>
          <p:cNvSpPr/>
          <p:nvPr/>
        </p:nvSpPr>
        <p:spPr>
          <a:xfrm>
            <a:off x="567000" y="304488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49"/>
          <p:cNvSpPr/>
          <p:nvPr/>
        </p:nvSpPr>
        <p:spPr>
          <a:xfrm>
            <a:off x="914400" y="30448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 = 3x²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50"/>
          <p:cNvSpPr/>
          <p:nvPr/>
        </p:nvSpPr>
        <p:spPr>
          <a:xfrm>
            <a:off x="3931920" y="31820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51"/>
          <p:cNvSpPr/>
          <p:nvPr/>
        </p:nvSpPr>
        <p:spPr>
          <a:xfrm>
            <a:off x="3931920" y="3456360"/>
            <a:ext cx="6400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2"/>
          <p:cNvSpPr/>
          <p:nvPr/>
        </p:nvSpPr>
        <p:spPr>
          <a:xfrm>
            <a:off x="3931920" y="348372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53"/>
          <p:cNvSpPr/>
          <p:nvPr/>
        </p:nvSpPr>
        <p:spPr>
          <a:xfrm>
            <a:off x="4846320" y="304488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  </a:t>
            </a: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6x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54"/>
          <p:cNvSpPr/>
          <p:nvPr/>
        </p:nvSpPr>
        <p:spPr>
          <a:xfrm>
            <a:off x="7315200" y="3044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3 × 2 = 6, power 2→1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55"/>
          <p:cNvSpPr/>
          <p:nvPr/>
        </p:nvSpPr>
        <p:spPr>
          <a:xfrm>
            <a:off x="567000" y="398664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56"/>
          <p:cNvSpPr/>
          <p:nvPr/>
        </p:nvSpPr>
        <p:spPr>
          <a:xfrm>
            <a:off x="914400" y="398664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 = 9x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57"/>
          <p:cNvSpPr/>
          <p:nvPr/>
        </p:nvSpPr>
        <p:spPr>
          <a:xfrm>
            <a:off x="3931920" y="412380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58"/>
          <p:cNvSpPr/>
          <p:nvPr/>
        </p:nvSpPr>
        <p:spPr>
          <a:xfrm>
            <a:off x="3931920" y="4398120"/>
            <a:ext cx="6400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59"/>
          <p:cNvSpPr/>
          <p:nvPr/>
        </p:nvSpPr>
        <p:spPr>
          <a:xfrm>
            <a:off x="3931920" y="44258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60"/>
          <p:cNvSpPr/>
          <p:nvPr/>
        </p:nvSpPr>
        <p:spPr>
          <a:xfrm>
            <a:off x="4846320" y="398664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  </a:t>
            </a: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9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61"/>
          <p:cNvSpPr/>
          <p:nvPr/>
        </p:nvSpPr>
        <p:spPr>
          <a:xfrm>
            <a:off x="7315200" y="39866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9x¹ → 9x⁰ = 9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62"/>
          <p:cNvSpPr/>
          <p:nvPr/>
        </p:nvSpPr>
        <p:spPr>
          <a:xfrm>
            <a:off x="567000" y="492876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63"/>
          <p:cNvSpPr/>
          <p:nvPr/>
        </p:nvSpPr>
        <p:spPr>
          <a:xfrm>
            <a:off x="914400" y="49287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 = 7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64"/>
          <p:cNvSpPr/>
          <p:nvPr/>
        </p:nvSpPr>
        <p:spPr>
          <a:xfrm>
            <a:off x="3931920" y="506592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65"/>
          <p:cNvSpPr/>
          <p:nvPr/>
        </p:nvSpPr>
        <p:spPr>
          <a:xfrm>
            <a:off x="3931920" y="5339880"/>
            <a:ext cx="6400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66"/>
          <p:cNvSpPr/>
          <p:nvPr/>
        </p:nvSpPr>
        <p:spPr>
          <a:xfrm>
            <a:off x="3931920" y="536760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67"/>
          <p:cNvSpPr/>
          <p:nvPr/>
        </p:nvSpPr>
        <p:spPr>
          <a:xfrm>
            <a:off x="4846320" y="49287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  </a:t>
            </a: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0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68"/>
          <p:cNvSpPr/>
          <p:nvPr/>
        </p:nvSpPr>
        <p:spPr>
          <a:xfrm>
            <a:off x="7315200" y="492876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 constant has gradient 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69"/>
          <p:cNvSpPr/>
          <p:nvPr/>
        </p:nvSpPr>
        <p:spPr>
          <a:xfrm>
            <a:off x="56700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 number multiplying x stays; a number on its own differentiates to 0.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MULTIPLE TERMS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Differentiate Term by Term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Apply the power rule to EACH term.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Keep the + and − signs between terms.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constant term always disappears.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Simplify the final answer.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Rewrite roots and fractions as powers first, e.g. √x = x^(1/2).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3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+ 4x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− 7x + 5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Differentiate each term separately: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3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→ 3x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;   4x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→ 8x;   −7x → −7;   5 →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dy/dx = 3x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+ 8x − 7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dy/dx = 3x² + 8x − 7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ROOTS &amp; RECIPROCALS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Rewrite as a Power First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power rule works for ANY power — fractions and negatives too.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Rewrite roots and ‘1 over x’ as powers, then differentiate normally.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41"/>
          <p:cNvSpPr/>
          <p:nvPr/>
        </p:nvSpPr>
        <p:spPr>
          <a:xfrm>
            <a:off x="567000" y="2148840"/>
            <a:ext cx="530316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42"/>
          <p:cNvSpPr/>
          <p:nvPr/>
        </p:nvSpPr>
        <p:spPr>
          <a:xfrm>
            <a:off x="676800" y="2148840"/>
            <a:ext cx="508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Written 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43"/>
          <p:cNvSpPr/>
          <p:nvPr/>
        </p:nvSpPr>
        <p:spPr>
          <a:xfrm>
            <a:off x="6126480" y="2148840"/>
            <a:ext cx="550440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4"/>
          <p:cNvSpPr/>
          <p:nvPr/>
        </p:nvSpPr>
        <p:spPr>
          <a:xfrm>
            <a:off x="6236280" y="2148840"/>
            <a:ext cx="5284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Rewrite as a power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45"/>
          <p:cNvSpPr/>
          <p:nvPr/>
        </p:nvSpPr>
        <p:spPr>
          <a:xfrm>
            <a:off x="567000" y="2642760"/>
            <a:ext cx="5303160" cy="48420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46"/>
          <p:cNvSpPr/>
          <p:nvPr/>
        </p:nvSpPr>
        <p:spPr>
          <a:xfrm>
            <a:off x="795600" y="2642760"/>
            <a:ext cx="4845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√</a:t>
            </a: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47"/>
          <p:cNvSpPr/>
          <p:nvPr/>
        </p:nvSpPr>
        <p:spPr>
          <a:xfrm>
            <a:off x="6126480" y="2642760"/>
            <a:ext cx="5504400" cy="48420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8"/>
          <p:cNvSpPr/>
          <p:nvPr/>
        </p:nvSpPr>
        <p:spPr>
          <a:xfrm>
            <a:off x="6355080" y="2642760"/>
            <a:ext cx="5047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x^(1/2)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49"/>
          <p:cNvSpPr/>
          <p:nvPr/>
        </p:nvSpPr>
        <p:spPr>
          <a:xfrm>
            <a:off x="567000" y="3154680"/>
            <a:ext cx="5303160" cy="48420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50"/>
          <p:cNvSpPr/>
          <p:nvPr/>
        </p:nvSpPr>
        <p:spPr>
          <a:xfrm>
            <a:off x="795600" y="3154680"/>
            <a:ext cx="4845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³√</a:t>
            </a: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51"/>
          <p:cNvSpPr/>
          <p:nvPr/>
        </p:nvSpPr>
        <p:spPr>
          <a:xfrm>
            <a:off x="6126480" y="3154680"/>
            <a:ext cx="5504400" cy="48420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52"/>
          <p:cNvSpPr/>
          <p:nvPr/>
        </p:nvSpPr>
        <p:spPr>
          <a:xfrm>
            <a:off x="6355080" y="3154680"/>
            <a:ext cx="5047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x^(1/3)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53"/>
          <p:cNvSpPr/>
          <p:nvPr/>
        </p:nvSpPr>
        <p:spPr>
          <a:xfrm>
            <a:off x="567000" y="3666600"/>
            <a:ext cx="5303160" cy="48420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54"/>
          <p:cNvSpPr/>
          <p:nvPr/>
        </p:nvSpPr>
        <p:spPr>
          <a:xfrm>
            <a:off x="795600" y="3666600"/>
            <a:ext cx="4845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1 / 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55"/>
          <p:cNvSpPr/>
          <p:nvPr/>
        </p:nvSpPr>
        <p:spPr>
          <a:xfrm>
            <a:off x="6126480" y="3666600"/>
            <a:ext cx="5504400" cy="48420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56"/>
          <p:cNvSpPr/>
          <p:nvPr/>
        </p:nvSpPr>
        <p:spPr>
          <a:xfrm>
            <a:off x="6355080" y="3666600"/>
            <a:ext cx="5047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x^(−1)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57"/>
          <p:cNvSpPr/>
          <p:nvPr/>
        </p:nvSpPr>
        <p:spPr>
          <a:xfrm>
            <a:off x="567000" y="4178880"/>
            <a:ext cx="5303160" cy="48420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58"/>
          <p:cNvSpPr/>
          <p:nvPr/>
        </p:nvSpPr>
        <p:spPr>
          <a:xfrm>
            <a:off x="795600" y="4178880"/>
            <a:ext cx="4845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1 / x²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59"/>
          <p:cNvSpPr/>
          <p:nvPr/>
        </p:nvSpPr>
        <p:spPr>
          <a:xfrm>
            <a:off x="6126480" y="4178880"/>
            <a:ext cx="5504400" cy="48420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60"/>
          <p:cNvSpPr/>
          <p:nvPr/>
        </p:nvSpPr>
        <p:spPr>
          <a:xfrm>
            <a:off x="6355080" y="4178880"/>
            <a:ext cx="5047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x^(−2)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61"/>
          <p:cNvSpPr/>
          <p:nvPr/>
        </p:nvSpPr>
        <p:spPr>
          <a:xfrm>
            <a:off x="567000" y="4690800"/>
            <a:ext cx="5303160" cy="48420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62"/>
          <p:cNvSpPr/>
          <p:nvPr/>
        </p:nvSpPr>
        <p:spPr>
          <a:xfrm>
            <a:off x="795600" y="4690800"/>
            <a:ext cx="4845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1 / √x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63"/>
          <p:cNvSpPr/>
          <p:nvPr/>
        </p:nvSpPr>
        <p:spPr>
          <a:xfrm>
            <a:off x="6126480" y="4690800"/>
            <a:ext cx="5504400" cy="48420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64"/>
          <p:cNvSpPr/>
          <p:nvPr/>
        </p:nvSpPr>
        <p:spPr>
          <a:xfrm>
            <a:off x="6355080" y="4690800"/>
            <a:ext cx="5047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x^(−1/2)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65"/>
          <p:cNvSpPr/>
          <p:nvPr/>
        </p:nvSpPr>
        <p:spPr>
          <a:xfrm>
            <a:off x="567000" y="5203080"/>
            <a:ext cx="5303160" cy="48420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66"/>
          <p:cNvSpPr/>
          <p:nvPr/>
        </p:nvSpPr>
        <p:spPr>
          <a:xfrm>
            <a:off x="795600" y="5203080"/>
            <a:ext cx="4845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a / xⁿ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67"/>
          <p:cNvSpPr/>
          <p:nvPr/>
        </p:nvSpPr>
        <p:spPr>
          <a:xfrm>
            <a:off x="6126480" y="5203080"/>
            <a:ext cx="5504400" cy="48420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68"/>
          <p:cNvSpPr/>
          <p:nvPr/>
        </p:nvSpPr>
        <p:spPr>
          <a:xfrm>
            <a:off x="6355080" y="5203080"/>
            <a:ext cx="5047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a·x^(−n)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69"/>
          <p:cNvSpPr/>
          <p:nvPr/>
        </p:nvSpPr>
        <p:spPr>
          <a:xfrm>
            <a:off x="56700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 root becomes a fraction power; ‘1 over xⁿ’ becomes a negative power. Then multiply by the power and subtract 1.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· ROOTS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Differentiating Square &amp; Cube Roots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Rewrite the root as a fractional power.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Multiply by the power, subtract 1 (as usual).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 number in front (like 6) just stays and multiplies.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You may rewrite the answer back as a root.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Subtracting 1 from ½ gives −½;  from ⅓ gives −⅔.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√x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1/2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½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−1/2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 / (2√x)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³√x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1/3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⅓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−2/3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 / (3³√(x²))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1/√x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−1/2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−½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−3/2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6√x = 6x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1/2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6 × ½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−1/2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3 / √x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√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→ x^(1/2),  so dy/dx = ½x^(−1/2) = 1/(2√x)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· x IN THE DENOMINATOR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Differentiating 1 Over x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the signs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Move x to the top with a NEGATIVE power.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Multiplying by a negative power makes dy/dx negative.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Subtracting 1 from −2 gives −3 (more negative).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Rewrite the answer with x back on the bottom.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Never differentiate the top and bottom separately — rewrite as a single power first.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1/x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−1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−1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−1 / x²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4/x² = 4x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4 × (−2)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−3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−8 / x³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3/x = 3x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−1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:   dy/dx = −3x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−3 / x²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 a term like 5/x³ = 5x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−3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 →  −15x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−4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−15/x⁴.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1/x → x^(−1),  so dy/dx = −x^(−2) = −1/x²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GRADIENT AT A POINT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Substitute the x-value into dy/dx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First differentiate to get dy/dx.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Then put the x-value in to get a NUMBER.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That number is the gradient there.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It is also the gradient of the tangent.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dy/dx is a formula; the gradient at a point is a single number.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Find the gradient of y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− 4x at the point where x = 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Differentiate:  dy/dx = 2x − 4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Substitute x = 3:  2(3) − 4 =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Gradient at that point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Gradient at x = 3 is 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Harder Question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39"/>
          <p:cNvSpPr/>
          <p:nvPr/>
        </p:nvSpPr>
        <p:spPr>
          <a:xfrm>
            <a:off x="296640" y="1211040"/>
            <a:ext cx="11469600" cy="564660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Box 59"/>
          <p:cNvSpPr/>
          <p:nvPr/>
        </p:nvSpPr>
        <p:spPr>
          <a:xfrm>
            <a:off x="466200" y="1211040"/>
            <a:ext cx="11243520" cy="1268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Box 60"/>
          <p:cNvSpPr/>
          <p:nvPr/>
        </p:nvSpPr>
        <p:spPr>
          <a:xfrm>
            <a:off x="994680" y="2819160"/>
            <a:ext cx="4236480" cy="7833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61"/>
          <p:cNvSpPr/>
          <p:nvPr/>
        </p:nvSpPr>
        <p:spPr>
          <a:xfrm>
            <a:off x="6306840" y="3058920"/>
            <a:ext cx="5034240" cy="5227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8" name="Straight Arrow Connector 62"/>
          <p:cNvCxnSpPr/>
          <p:nvPr/>
        </p:nvCxnSpPr>
        <p:spPr>
          <a:xfrm flipH="1">
            <a:off x="5387040" y="3312720"/>
            <a:ext cx="901080" cy="309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589" name="TextBox 63"/>
          <p:cNvSpPr/>
          <p:nvPr/>
        </p:nvSpPr>
        <p:spPr>
          <a:xfrm>
            <a:off x="1034640" y="3920760"/>
            <a:ext cx="4236480" cy="11998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Box 64"/>
          <p:cNvSpPr/>
          <p:nvPr/>
        </p:nvSpPr>
        <p:spPr>
          <a:xfrm>
            <a:off x="6207480" y="3946680"/>
            <a:ext cx="5856480" cy="953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1" name="Straight Arrow Connector 65"/>
          <p:cNvCxnSpPr/>
          <p:nvPr/>
        </p:nvCxnSpPr>
        <p:spPr>
          <a:xfrm flipH="1">
            <a:off x="5380920" y="4130280"/>
            <a:ext cx="771840" cy="291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592" name="Rectangle 66"/>
          <p:cNvSpPr/>
          <p:nvPr/>
        </p:nvSpPr>
        <p:spPr>
          <a:xfrm>
            <a:off x="516600" y="2846880"/>
            <a:ext cx="362880" cy="2930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Rectangle 67"/>
          <p:cNvSpPr/>
          <p:nvPr/>
        </p:nvSpPr>
        <p:spPr>
          <a:xfrm>
            <a:off x="516600" y="3946680"/>
            <a:ext cx="362880" cy="2930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Rectangle 68"/>
          <p:cNvSpPr/>
          <p:nvPr/>
        </p:nvSpPr>
        <p:spPr>
          <a:xfrm>
            <a:off x="516600" y="5413680"/>
            <a:ext cx="362880" cy="2930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Box 69"/>
          <p:cNvSpPr/>
          <p:nvPr/>
        </p:nvSpPr>
        <p:spPr>
          <a:xfrm>
            <a:off x="994680" y="5361480"/>
            <a:ext cx="4732560" cy="1477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6" name="Straight Arrow Connector 70"/>
          <p:cNvCxnSpPr/>
          <p:nvPr/>
        </p:nvCxnSpPr>
        <p:spPr>
          <a:xfrm flipH="1" flipV="1">
            <a:off x="5387040" y="4683240"/>
            <a:ext cx="780120" cy="64872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597" name="TextBox 71"/>
          <p:cNvSpPr/>
          <p:nvPr/>
        </p:nvSpPr>
        <p:spPr>
          <a:xfrm>
            <a:off x="6120360" y="5202360"/>
            <a:ext cx="5034240" cy="5227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ectangle 72"/>
          <p:cNvSpPr/>
          <p:nvPr/>
        </p:nvSpPr>
        <p:spPr>
          <a:xfrm>
            <a:off x="879840" y="2846880"/>
            <a:ext cx="4255560" cy="785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Rectangle 73"/>
          <p:cNvSpPr/>
          <p:nvPr/>
        </p:nvSpPr>
        <p:spPr>
          <a:xfrm>
            <a:off x="879840" y="3950280"/>
            <a:ext cx="4255560" cy="1168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Rectangle 74"/>
          <p:cNvSpPr/>
          <p:nvPr/>
        </p:nvSpPr>
        <p:spPr>
          <a:xfrm>
            <a:off x="1034640" y="5376600"/>
            <a:ext cx="4639680" cy="14194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ectangle 75"/>
          <p:cNvSpPr/>
          <p:nvPr/>
        </p:nvSpPr>
        <p:spPr>
          <a:xfrm>
            <a:off x="7522560" y="1372320"/>
            <a:ext cx="3794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Calculate Gradient of a curve at a point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restart="whenNotActive" nodeType="interactiveSeq" fill="hold">
                <p:stCondLst>
                  <p:cond delay="0" evt="onClick">
                    <p:tgtEl>
                      <p:spTgt spid="598"/>
                    </p:tgtEl>
                  </p:cond>
                </p:stCondLst>
                <p:childTnLst>
                  <p:par>
                    <p:cTn id="3" fill="hold">
                      <p:stCondLst>
                        <p:cond delay="0" evt="onClick">
                          <p:tgtEl>
                            <p:spTgt spid="598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4" restart="whenNotActive" nodeType="interactiveSeq" fill="hold">
                <p:stCondLst>
                  <p:cond delay="0" evt="onClick">
                    <p:tgtEl>
                      <p:spTgt spid="599"/>
                    </p:tgtEl>
                  </p:cond>
                </p:stCondLst>
                <p:childTnLst>
                  <p:par>
                    <p:cTn id="15" fill="hold">
                      <p:stCondLst>
                        <p:cond delay="0" evt="onClick">
                          <p:tgtEl>
                            <p:spTgt spid="599"/>
                          </p:tgtEl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2" restart="whenNotActive" nodeType="interactiveSeq" fill="hold">
                <p:stCondLst>
                  <p:cond delay="0" evt="onClick">
                    <p:tgtEl>
                      <p:spTgt spid="600"/>
                    </p:tgtEl>
                  </p:cond>
                </p:stCondLst>
                <p:childTnLst>
                  <p:par>
                    <p:cTn id="33" fill="hold">
                      <p:stCondLst>
                        <p:cond delay="0" evt="onClick">
                          <p:tgtEl>
                            <p:spTgt spid="600"/>
                          </p:tgtEl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6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TANGENTS &amp; NORMALS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Lines That Touch the Curve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gradient of the TANGENT equals dy/dx at that point.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Then use y − y₁ = m(x − x₁).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41"/>
          <p:cNvSpPr/>
          <p:nvPr/>
        </p:nvSpPr>
        <p:spPr>
          <a:xfrm>
            <a:off x="56700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TANGENT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43"/>
          <p:cNvSpPr/>
          <p:nvPr/>
        </p:nvSpPr>
        <p:spPr>
          <a:xfrm>
            <a:off x="914400" y="301752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Touches the curve, same direction.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gradient m = dy/dx at the point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Find m, then use the point in y = mx + c.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44"/>
          <p:cNvSpPr/>
          <p:nvPr/>
        </p:nvSpPr>
        <p:spPr>
          <a:xfrm>
            <a:off x="619056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NORMAL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46"/>
          <p:cNvSpPr/>
          <p:nvPr/>
        </p:nvSpPr>
        <p:spPr>
          <a:xfrm>
            <a:off x="6537960" y="301752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Perpendicular to the tangent.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gradient = −1 ÷ (tangent gradient)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The negative reciprocal of dy/dx.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47"/>
          <p:cNvSpPr/>
          <p:nvPr/>
        </p:nvSpPr>
        <p:spPr>
          <a:xfrm>
            <a:off x="567000" y="5486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48"/>
          <p:cNvSpPr/>
          <p:nvPr/>
        </p:nvSpPr>
        <p:spPr>
          <a:xfrm>
            <a:off x="841320" y="54864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Tangent gradient = dy/dx.   Normal gradient = −1 ÷ (dy/dx).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STATIONARY POINTS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Where the Gradient Is Zero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At a maximum or minimum the curve is momentarily flat.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So set dy/dx = 0 and solve.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41"/>
          <p:cNvSpPr/>
          <p:nvPr/>
        </p:nvSpPr>
        <p:spPr>
          <a:xfrm>
            <a:off x="567000" y="219456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42"/>
          <p:cNvSpPr/>
          <p:nvPr/>
        </p:nvSpPr>
        <p:spPr>
          <a:xfrm>
            <a:off x="93276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MINIMUM point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43"/>
          <p:cNvSpPr/>
          <p:nvPr/>
        </p:nvSpPr>
        <p:spPr>
          <a:xfrm>
            <a:off x="1554480" y="48920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44"/>
          <p:cNvSpPr/>
          <p:nvPr/>
        </p:nvSpPr>
        <p:spPr>
          <a:xfrm>
            <a:off x="1653480" y="46580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45"/>
          <p:cNvSpPr/>
          <p:nvPr/>
        </p:nvSpPr>
        <p:spPr>
          <a:xfrm>
            <a:off x="1752480" y="44449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46"/>
          <p:cNvSpPr/>
          <p:nvPr/>
        </p:nvSpPr>
        <p:spPr>
          <a:xfrm>
            <a:off x="1851480" y="42519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7"/>
          <p:cNvSpPr/>
          <p:nvPr/>
        </p:nvSpPr>
        <p:spPr>
          <a:xfrm>
            <a:off x="1950480" y="40791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48"/>
          <p:cNvSpPr/>
          <p:nvPr/>
        </p:nvSpPr>
        <p:spPr>
          <a:xfrm>
            <a:off x="2049480" y="392652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49"/>
          <p:cNvSpPr/>
          <p:nvPr/>
        </p:nvSpPr>
        <p:spPr>
          <a:xfrm>
            <a:off x="2148840" y="37947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50"/>
          <p:cNvSpPr/>
          <p:nvPr/>
        </p:nvSpPr>
        <p:spPr>
          <a:xfrm>
            <a:off x="2247840" y="36828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51"/>
          <p:cNvSpPr/>
          <p:nvPr/>
        </p:nvSpPr>
        <p:spPr>
          <a:xfrm>
            <a:off x="2346840" y="35913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52"/>
          <p:cNvSpPr/>
          <p:nvPr/>
        </p:nvSpPr>
        <p:spPr>
          <a:xfrm>
            <a:off x="2445840" y="35204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53"/>
          <p:cNvSpPr/>
          <p:nvPr/>
        </p:nvSpPr>
        <p:spPr>
          <a:xfrm>
            <a:off x="2544840" y="34693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54"/>
          <p:cNvSpPr/>
          <p:nvPr/>
        </p:nvSpPr>
        <p:spPr>
          <a:xfrm>
            <a:off x="2643840" y="343908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55"/>
          <p:cNvSpPr/>
          <p:nvPr/>
        </p:nvSpPr>
        <p:spPr>
          <a:xfrm>
            <a:off x="2743200" y="3429000"/>
            <a:ext cx="99000" cy="1008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920" bIns="-349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56"/>
          <p:cNvSpPr/>
          <p:nvPr/>
        </p:nvSpPr>
        <p:spPr>
          <a:xfrm>
            <a:off x="2842200" y="3439080"/>
            <a:ext cx="99000" cy="302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4760" bIns="-1476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57"/>
          <p:cNvSpPr/>
          <p:nvPr/>
        </p:nvSpPr>
        <p:spPr>
          <a:xfrm>
            <a:off x="2941200" y="3469320"/>
            <a:ext cx="99000" cy="5112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58"/>
          <p:cNvSpPr/>
          <p:nvPr/>
        </p:nvSpPr>
        <p:spPr>
          <a:xfrm>
            <a:off x="3040200" y="3520440"/>
            <a:ext cx="99000" cy="7092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5920" bIns="259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59"/>
          <p:cNvSpPr/>
          <p:nvPr/>
        </p:nvSpPr>
        <p:spPr>
          <a:xfrm>
            <a:off x="3139200" y="3591360"/>
            <a:ext cx="99000" cy="914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60"/>
          <p:cNvSpPr/>
          <p:nvPr/>
        </p:nvSpPr>
        <p:spPr>
          <a:xfrm>
            <a:off x="3238200" y="3682800"/>
            <a:ext cx="99360" cy="1119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61"/>
          <p:cNvSpPr/>
          <p:nvPr/>
        </p:nvSpPr>
        <p:spPr>
          <a:xfrm>
            <a:off x="3337560" y="3794760"/>
            <a:ext cx="99000" cy="1317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62"/>
          <p:cNvSpPr/>
          <p:nvPr/>
        </p:nvSpPr>
        <p:spPr>
          <a:xfrm>
            <a:off x="3436560" y="3926520"/>
            <a:ext cx="99000" cy="1526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63"/>
          <p:cNvSpPr/>
          <p:nvPr/>
        </p:nvSpPr>
        <p:spPr>
          <a:xfrm>
            <a:off x="3535560" y="4079160"/>
            <a:ext cx="99000" cy="17280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64"/>
          <p:cNvSpPr/>
          <p:nvPr/>
        </p:nvSpPr>
        <p:spPr>
          <a:xfrm>
            <a:off x="3634560" y="4251960"/>
            <a:ext cx="99000" cy="1929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65"/>
          <p:cNvSpPr/>
          <p:nvPr/>
        </p:nvSpPr>
        <p:spPr>
          <a:xfrm>
            <a:off x="3733560" y="4444920"/>
            <a:ext cx="99000" cy="21312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66"/>
          <p:cNvSpPr/>
          <p:nvPr/>
        </p:nvSpPr>
        <p:spPr>
          <a:xfrm>
            <a:off x="3832560" y="4658040"/>
            <a:ext cx="99360" cy="23400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67"/>
          <p:cNvSpPr/>
          <p:nvPr/>
        </p:nvSpPr>
        <p:spPr>
          <a:xfrm>
            <a:off x="2644200" y="3376800"/>
            <a:ext cx="127800" cy="1278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68"/>
          <p:cNvSpPr/>
          <p:nvPr/>
        </p:nvSpPr>
        <p:spPr>
          <a:xfrm>
            <a:off x="822960" y="50749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gradient 0 at the bottom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69"/>
          <p:cNvSpPr/>
          <p:nvPr/>
        </p:nvSpPr>
        <p:spPr>
          <a:xfrm>
            <a:off x="6190560" y="219456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 70"/>
          <p:cNvSpPr/>
          <p:nvPr/>
        </p:nvSpPr>
        <p:spPr>
          <a:xfrm>
            <a:off x="655632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MAXIMUM point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71"/>
          <p:cNvSpPr/>
          <p:nvPr/>
        </p:nvSpPr>
        <p:spPr>
          <a:xfrm>
            <a:off x="7680960" y="3063240"/>
            <a:ext cx="99000" cy="2336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72"/>
          <p:cNvSpPr/>
          <p:nvPr/>
        </p:nvSpPr>
        <p:spPr>
          <a:xfrm>
            <a:off x="7779960" y="3296880"/>
            <a:ext cx="99000" cy="21312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73"/>
          <p:cNvSpPr/>
          <p:nvPr/>
        </p:nvSpPr>
        <p:spPr>
          <a:xfrm>
            <a:off x="7878960" y="3510000"/>
            <a:ext cx="99000" cy="19332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74"/>
          <p:cNvSpPr/>
          <p:nvPr/>
        </p:nvSpPr>
        <p:spPr>
          <a:xfrm>
            <a:off x="7977960" y="3703320"/>
            <a:ext cx="99000" cy="1724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75"/>
          <p:cNvSpPr/>
          <p:nvPr/>
        </p:nvSpPr>
        <p:spPr>
          <a:xfrm>
            <a:off x="8076960" y="3875760"/>
            <a:ext cx="99000" cy="1526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76"/>
          <p:cNvSpPr/>
          <p:nvPr/>
        </p:nvSpPr>
        <p:spPr>
          <a:xfrm>
            <a:off x="8175960" y="4028400"/>
            <a:ext cx="99360" cy="13212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77"/>
          <p:cNvSpPr/>
          <p:nvPr/>
        </p:nvSpPr>
        <p:spPr>
          <a:xfrm>
            <a:off x="8275320" y="4160520"/>
            <a:ext cx="99000" cy="11160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78"/>
          <p:cNvSpPr/>
          <p:nvPr/>
        </p:nvSpPr>
        <p:spPr>
          <a:xfrm>
            <a:off x="8374320" y="4272120"/>
            <a:ext cx="99000" cy="914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79"/>
          <p:cNvSpPr/>
          <p:nvPr/>
        </p:nvSpPr>
        <p:spPr>
          <a:xfrm>
            <a:off x="8473320" y="4363560"/>
            <a:ext cx="99000" cy="7128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80"/>
          <p:cNvSpPr/>
          <p:nvPr/>
        </p:nvSpPr>
        <p:spPr>
          <a:xfrm>
            <a:off x="8572320" y="4434840"/>
            <a:ext cx="99000" cy="507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81"/>
          <p:cNvSpPr/>
          <p:nvPr/>
        </p:nvSpPr>
        <p:spPr>
          <a:xfrm>
            <a:off x="8671320" y="4485600"/>
            <a:ext cx="99000" cy="302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4760" bIns="-1476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82"/>
          <p:cNvSpPr/>
          <p:nvPr/>
        </p:nvSpPr>
        <p:spPr>
          <a:xfrm>
            <a:off x="8770320" y="4515840"/>
            <a:ext cx="99360" cy="1044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83"/>
          <p:cNvSpPr/>
          <p:nvPr/>
        </p:nvSpPr>
        <p:spPr>
          <a:xfrm>
            <a:off x="8869680" y="452628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84"/>
          <p:cNvSpPr/>
          <p:nvPr/>
        </p:nvSpPr>
        <p:spPr>
          <a:xfrm>
            <a:off x="8968680" y="45158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85"/>
          <p:cNvSpPr/>
          <p:nvPr/>
        </p:nvSpPr>
        <p:spPr>
          <a:xfrm>
            <a:off x="9067680" y="44856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86"/>
          <p:cNvSpPr/>
          <p:nvPr/>
        </p:nvSpPr>
        <p:spPr>
          <a:xfrm>
            <a:off x="9166680" y="443484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87"/>
          <p:cNvSpPr/>
          <p:nvPr/>
        </p:nvSpPr>
        <p:spPr>
          <a:xfrm>
            <a:off x="9265680" y="43635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88"/>
          <p:cNvSpPr/>
          <p:nvPr/>
        </p:nvSpPr>
        <p:spPr>
          <a:xfrm>
            <a:off x="9364680" y="427212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89"/>
          <p:cNvSpPr/>
          <p:nvPr/>
        </p:nvSpPr>
        <p:spPr>
          <a:xfrm>
            <a:off x="9464040" y="41605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90"/>
          <p:cNvSpPr/>
          <p:nvPr/>
        </p:nvSpPr>
        <p:spPr>
          <a:xfrm>
            <a:off x="9563040" y="40284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91"/>
          <p:cNvSpPr/>
          <p:nvPr/>
        </p:nvSpPr>
        <p:spPr>
          <a:xfrm>
            <a:off x="9662040" y="387576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92"/>
          <p:cNvSpPr/>
          <p:nvPr/>
        </p:nvSpPr>
        <p:spPr>
          <a:xfrm>
            <a:off x="9761040" y="370332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93"/>
          <p:cNvSpPr/>
          <p:nvPr/>
        </p:nvSpPr>
        <p:spPr>
          <a:xfrm>
            <a:off x="9860040" y="3510000"/>
            <a:ext cx="9900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94"/>
          <p:cNvSpPr/>
          <p:nvPr/>
        </p:nvSpPr>
        <p:spPr>
          <a:xfrm>
            <a:off x="9959040" y="3296880"/>
            <a:ext cx="99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95"/>
          <p:cNvSpPr/>
          <p:nvPr/>
        </p:nvSpPr>
        <p:spPr>
          <a:xfrm>
            <a:off x="8782920" y="4459320"/>
            <a:ext cx="127800" cy="1278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96"/>
          <p:cNvSpPr/>
          <p:nvPr/>
        </p:nvSpPr>
        <p:spPr>
          <a:xfrm>
            <a:off x="6309360" y="50749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gradient 0 at the top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97"/>
          <p:cNvSpPr/>
          <p:nvPr/>
        </p:nvSpPr>
        <p:spPr>
          <a:xfrm>
            <a:off x="567000" y="5532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98"/>
          <p:cNvSpPr/>
          <p:nvPr/>
        </p:nvSpPr>
        <p:spPr>
          <a:xfrm>
            <a:off x="841320" y="5532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To find turning points: solve  dy/dx = 0,  then find the y-value.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 Turning Point &amp; Its Nature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Nature of the point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Differentiate AGAIN to get d²y/dx².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If it is POSITIVE → minimum.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If it is NEGATIVE → maximum.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Or check the gradient just either side.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Every turning point has dy/dx = 0; the second derivative tells you which type.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− 4x.   dy/dx = 2x − 4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Set = 0:  2x − 4 = 0  →  x =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2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− 4(2) = −4, so turning point (2, −4)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Second derivative d²y/dx² = 2 &gt; 0  →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MINIMUM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Minimum turning point at (2, −4)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 a Turning Point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39"/>
          <p:cNvSpPr/>
          <p:nvPr/>
        </p:nvSpPr>
        <p:spPr>
          <a:xfrm>
            <a:off x="296640" y="1211040"/>
            <a:ext cx="11469600" cy="564660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8" name="Group 58"/>
          <p:cNvGrpSpPr/>
          <p:nvPr/>
        </p:nvGrpSpPr>
        <p:grpSpPr>
          <a:xfrm>
            <a:off x="423000" y="1257840"/>
            <a:ext cx="1527840" cy="333360"/>
            <a:chOff x="423000" y="1257840"/>
            <a:chExt cx="1527840" cy="333360"/>
          </a:xfrm>
        </p:grpSpPr>
        <p:sp>
          <p:nvSpPr>
            <p:cNvPr id="849" name="TextBox 76"/>
            <p:cNvSpPr/>
            <p:nvPr/>
          </p:nvSpPr>
          <p:spPr>
            <a:xfrm>
              <a:off x="423000" y="1257840"/>
              <a:ext cx="6519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rgbClr val="ff0000"/>
                  </a:solidFill>
                  <a:latin typeface="Calibri"/>
                </a:rPr>
                <a:t>graph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50" name="Straight Arrow Connector 77"/>
            <p:cNvCxnSpPr/>
            <p:nvPr/>
          </p:nvCxnSpPr>
          <p:spPr>
            <a:xfrm>
              <a:off x="1266840" y="1434240"/>
              <a:ext cx="684360" cy="10476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len="med" type="triangle" w="med"/>
            </a:ln>
          </p:spPr>
        </p:cxnSp>
      </p:grpSp>
      <p:sp>
        <p:nvSpPr>
          <p:cNvPr id="851" name="TextBox 78"/>
          <p:cNvSpPr/>
          <p:nvPr/>
        </p:nvSpPr>
        <p:spPr>
          <a:xfrm>
            <a:off x="1820520" y="1874160"/>
            <a:ext cx="2144520" cy="583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52" name="Group 79"/>
          <p:cNvGrpSpPr/>
          <p:nvPr/>
        </p:nvGrpSpPr>
        <p:grpSpPr>
          <a:xfrm>
            <a:off x="276840" y="1658160"/>
            <a:ext cx="1858680" cy="523800"/>
            <a:chOff x="276840" y="1658160"/>
            <a:chExt cx="1858680" cy="523800"/>
          </a:xfrm>
        </p:grpSpPr>
        <p:sp>
          <p:nvSpPr>
            <p:cNvPr id="853" name="TextBox 80"/>
            <p:cNvSpPr/>
            <p:nvPr/>
          </p:nvSpPr>
          <p:spPr>
            <a:xfrm>
              <a:off x="276840" y="1658160"/>
              <a:ext cx="86544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600" spc="-1" strike="noStrike">
                  <a:solidFill>
                    <a:srgbClr val="ff0000"/>
                  </a:solidFill>
                  <a:latin typeface="Calibri"/>
                </a:rPr>
                <a:t>gradient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54" name="Straight Arrow Connector 81"/>
            <p:cNvCxnSpPr>
              <a:endCxn id="851" idx="1"/>
            </p:cNvCxnSpPr>
            <p:nvPr/>
          </p:nvCxnSpPr>
          <p:spPr>
            <a:xfrm>
              <a:off x="1494360" y="1984680"/>
              <a:ext cx="641520" cy="1976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len="med" type="triangle" w="med"/>
            </a:ln>
          </p:spPr>
        </p:cxnSp>
      </p:grpSp>
      <p:sp>
        <p:nvSpPr>
          <p:cNvPr id="855" name="TextBox 82"/>
          <p:cNvSpPr/>
          <p:nvPr/>
        </p:nvSpPr>
        <p:spPr>
          <a:xfrm>
            <a:off x="641880" y="3177720"/>
            <a:ext cx="10848960" cy="491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Box 83"/>
          <p:cNvSpPr/>
          <p:nvPr/>
        </p:nvSpPr>
        <p:spPr>
          <a:xfrm>
            <a:off x="1843920" y="3717000"/>
            <a:ext cx="237636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Box 84"/>
          <p:cNvSpPr/>
          <p:nvPr/>
        </p:nvSpPr>
        <p:spPr>
          <a:xfrm>
            <a:off x="5517720" y="3507480"/>
            <a:ext cx="3241440" cy="6541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Box 85"/>
          <p:cNvSpPr/>
          <p:nvPr/>
        </p:nvSpPr>
        <p:spPr>
          <a:xfrm>
            <a:off x="912600" y="4507200"/>
            <a:ext cx="811440" cy="3690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Box 86"/>
          <p:cNvSpPr/>
          <p:nvPr/>
        </p:nvSpPr>
        <p:spPr>
          <a:xfrm>
            <a:off x="792000" y="5277240"/>
            <a:ext cx="3771360" cy="5202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Box 87"/>
          <p:cNvSpPr/>
          <p:nvPr/>
        </p:nvSpPr>
        <p:spPr>
          <a:xfrm>
            <a:off x="6066720" y="4493880"/>
            <a:ext cx="811440" cy="36900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Box 88"/>
          <p:cNvSpPr/>
          <p:nvPr/>
        </p:nvSpPr>
        <p:spPr>
          <a:xfrm>
            <a:off x="6106320" y="5281560"/>
            <a:ext cx="3598200" cy="52020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2" name="Straight Connector 89"/>
          <p:cNvCxnSpPr/>
          <p:nvPr/>
        </p:nvCxnSpPr>
        <p:spPr>
          <a:xfrm>
            <a:off x="5901120" y="4938840"/>
            <a:ext cx="360" cy="2326320"/>
          </a:xfrm>
          <a:prstGeom prst="straightConnector1">
            <a:avLst/>
          </a:prstGeom>
          <a:ln w="38100">
            <a:solidFill>
              <a:srgbClr val="4472c4"/>
            </a:solidFill>
            <a:prstDash val="dash"/>
          </a:ln>
        </p:spPr>
      </p:cxnSp>
      <p:sp>
        <p:nvSpPr>
          <p:cNvPr id="863" name="TextBox 90"/>
          <p:cNvSpPr/>
          <p:nvPr/>
        </p:nvSpPr>
        <p:spPr>
          <a:xfrm>
            <a:off x="414000" y="4223520"/>
            <a:ext cx="2806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600" spc="-1" strike="noStrike" u="sng">
                <a:solidFill>
                  <a:srgbClr val="ff0000"/>
                </a:solidFill>
                <a:uFillTx/>
                <a:latin typeface="Calibri"/>
              </a:rPr>
              <a:t>x-coordinates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Box 91"/>
          <p:cNvSpPr/>
          <p:nvPr/>
        </p:nvSpPr>
        <p:spPr>
          <a:xfrm>
            <a:off x="414000" y="4912560"/>
            <a:ext cx="2806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600" spc="-1" strike="noStrike" u="sng">
                <a:solidFill>
                  <a:srgbClr val="ff0000"/>
                </a:solidFill>
                <a:uFillTx/>
                <a:latin typeface="Calibri"/>
              </a:rPr>
              <a:t>y-coordinates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5" name="Group 92"/>
          <p:cNvGrpSpPr/>
          <p:nvPr/>
        </p:nvGrpSpPr>
        <p:grpSpPr>
          <a:xfrm>
            <a:off x="227520" y="2430360"/>
            <a:ext cx="3676320" cy="726120"/>
            <a:chOff x="227520" y="2430360"/>
            <a:chExt cx="3676320" cy="726120"/>
          </a:xfrm>
        </p:grpSpPr>
        <p:sp>
          <p:nvSpPr>
            <p:cNvPr id="866" name="TextBox 48"/>
            <p:cNvSpPr/>
            <p:nvPr/>
          </p:nvSpPr>
          <p:spPr>
            <a:xfrm>
              <a:off x="1830240" y="2539080"/>
              <a:ext cx="2073600" cy="617400"/>
            </a:xfrm>
            <a:prstGeom prst="rect">
              <a:avLst/>
            </a:pr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ffffff">
                      <a:alpha val="1000"/>
                    </a:srgbClr>
                  </a:solidFill>
                  <a:latin typeface="Calibri"/>
                </a:rPr>
                <a:t> 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67" name="Group 94"/>
            <p:cNvGrpSpPr/>
            <p:nvPr/>
          </p:nvGrpSpPr>
          <p:grpSpPr>
            <a:xfrm>
              <a:off x="227520" y="2430360"/>
              <a:ext cx="1531440" cy="516600"/>
              <a:chOff x="227520" y="2430360"/>
              <a:chExt cx="1531440" cy="516600"/>
            </a:xfrm>
          </p:grpSpPr>
          <p:sp>
            <p:nvSpPr>
              <p:cNvPr id="868" name="TextBox 95"/>
              <p:cNvSpPr/>
              <p:nvPr/>
            </p:nvSpPr>
            <p:spPr>
              <a:xfrm>
                <a:off x="227520" y="2430360"/>
                <a:ext cx="1531080" cy="51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GB" sz="1400" spc="-1" strike="noStrike">
                    <a:solidFill>
                      <a:srgbClr val="ff0000"/>
                    </a:solidFill>
                    <a:latin typeface="Calibri"/>
                  </a:rPr>
                  <a:t>rate of change of gradient</a:t>
                </a: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869" name="Straight Arrow Connector 96"/>
              <p:cNvCxnSpPr/>
              <p:nvPr/>
            </p:nvCxnSpPr>
            <p:spPr>
              <a:xfrm>
                <a:off x="1445040" y="2843640"/>
                <a:ext cx="314280" cy="928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len="med" type="triangle" w="med"/>
              </a:ln>
            </p:spPr>
          </p:cxnSp>
        </p:grpSp>
      </p:grpSp>
      <p:sp>
        <p:nvSpPr>
          <p:cNvPr id="870" name="TextBox 97"/>
          <p:cNvSpPr/>
          <p:nvPr/>
        </p:nvSpPr>
        <p:spPr>
          <a:xfrm>
            <a:off x="414000" y="5716080"/>
            <a:ext cx="2806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600" spc="-1" strike="noStrike" u="sng">
                <a:solidFill>
                  <a:srgbClr val="ff0000"/>
                </a:solidFill>
                <a:uFillTx/>
                <a:latin typeface="Calibri"/>
              </a:rPr>
              <a:t>Max or min?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Box 98"/>
          <p:cNvSpPr/>
          <p:nvPr/>
        </p:nvSpPr>
        <p:spPr>
          <a:xfrm>
            <a:off x="414000" y="6102000"/>
            <a:ext cx="2833560" cy="61740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Box 99"/>
          <p:cNvSpPr/>
          <p:nvPr/>
        </p:nvSpPr>
        <p:spPr>
          <a:xfrm>
            <a:off x="6066720" y="6102000"/>
            <a:ext cx="2833560" cy="61740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Box 100"/>
          <p:cNvSpPr/>
          <p:nvPr/>
        </p:nvSpPr>
        <p:spPr>
          <a:xfrm>
            <a:off x="3767760" y="6181200"/>
            <a:ext cx="1881720" cy="64584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TextBox 101"/>
          <p:cNvSpPr/>
          <p:nvPr/>
        </p:nvSpPr>
        <p:spPr>
          <a:xfrm>
            <a:off x="9567720" y="6181200"/>
            <a:ext cx="1881720" cy="64584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TextBox 102"/>
          <p:cNvSpPr/>
          <p:nvPr/>
        </p:nvSpPr>
        <p:spPr>
          <a:xfrm>
            <a:off x="7767360" y="1469880"/>
            <a:ext cx="3096360" cy="127332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Box 103"/>
          <p:cNvSpPr/>
          <p:nvPr/>
        </p:nvSpPr>
        <p:spPr>
          <a:xfrm>
            <a:off x="2135520" y="1291320"/>
            <a:ext cx="2757240" cy="57780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" dur="indefinite" restart="never" nodeType="tmRoot">
          <p:childTnLst>
            <p:seq>
              <p:cTn id="39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OPTIMISATION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Maximum &amp; Minimum in Real Problems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‘</a:t>
            </a: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Maximum volume’, ‘minimum surface area’ — these mean differentiate and set to zero.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41"/>
          <p:cNvSpPr/>
          <p:nvPr/>
        </p:nvSpPr>
        <p:spPr>
          <a:xfrm>
            <a:off x="567000" y="21945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42"/>
          <p:cNvSpPr/>
          <p:nvPr/>
        </p:nvSpPr>
        <p:spPr>
          <a:xfrm>
            <a:off x="868680" y="23684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43"/>
          <p:cNvSpPr/>
          <p:nvPr/>
        </p:nvSpPr>
        <p:spPr>
          <a:xfrm>
            <a:off x="868680" y="2368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44"/>
          <p:cNvSpPr/>
          <p:nvPr/>
        </p:nvSpPr>
        <p:spPr>
          <a:xfrm>
            <a:off x="1508760" y="21945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Write the quantity (V, A, R…) as a formula in ONE variable.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45"/>
          <p:cNvSpPr/>
          <p:nvPr/>
        </p:nvSpPr>
        <p:spPr>
          <a:xfrm>
            <a:off x="567000" y="31089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46"/>
          <p:cNvSpPr/>
          <p:nvPr/>
        </p:nvSpPr>
        <p:spPr>
          <a:xfrm>
            <a:off x="868680" y="3282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47"/>
          <p:cNvSpPr/>
          <p:nvPr/>
        </p:nvSpPr>
        <p:spPr>
          <a:xfrm>
            <a:off x="868680" y="3282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48"/>
          <p:cNvSpPr/>
          <p:nvPr/>
        </p:nvSpPr>
        <p:spPr>
          <a:xfrm>
            <a:off x="1508760" y="31089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Differentiate it with respect to that variable.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49"/>
          <p:cNvSpPr/>
          <p:nvPr/>
        </p:nvSpPr>
        <p:spPr>
          <a:xfrm>
            <a:off x="567000" y="40233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50"/>
          <p:cNvSpPr/>
          <p:nvPr/>
        </p:nvSpPr>
        <p:spPr>
          <a:xfrm>
            <a:off x="868680" y="41972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Text 51"/>
          <p:cNvSpPr/>
          <p:nvPr/>
        </p:nvSpPr>
        <p:spPr>
          <a:xfrm>
            <a:off x="868680" y="419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Text 52"/>
          <p:cNvSpPr/>
          <p:nvPr/>
        </p:nvSpPr>
        <p:spPr>
          <a:xfrm>
            <a:off x="1508760" y="40233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Set the derivative = 0 and solve to find the variable.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53"/>
          <p:cNvSpPr/>
          <p:nvPr/>
        </p:nvSpPr>
        <p:spPr>
          <a:xfrm>
            <a:off x="567000" y="49377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54"/>
          <p:cNvSpPr/>
          <p:nvPr/>
        </p:nvSpPr>
        <p:spPr>
          <a:xfrm>
            <a:off x="868680" y="51116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Text 55"/>
          <p:cNvSpPr/>
          <p:nvPr/>
        </p:nvSpPr>
        <p:spPr>
          <a:xfrm>
            <a:off x="868680" y="511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 56"/>
          <p:cNvSpPr/>
          <p:nvPr/>
        </p:nvSpPr>
        <p:spPr>
          <a:xfrm>
            <a:off x="1508760" y="49377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Substitute back to get the maximum or minimum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 57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‘</a:t>
            </a: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Show that’ questions usually want you to build the formula first, then differentiate.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Differentiate, then use dy/dx = 0 for turning points or substitute for a gradient.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dy/dx first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Gradient → substitute the x-value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Turning point → solve dy/dx = 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Nature → second derivative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39"/>
          <p:cNvSpPr/>
          <p:nvPr/>
        </p:nvSpPr>
        <p:spPr>
          <a:xfrm>
            <a:off x="1359360" y="1408320"/>
            <a:ext cx="9472680" cy="2697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7" name="Image 0" descr="/tmp/work/dfq/q-22.png"/>
          <p:cNvPicPr/>
          <p:nvPr/>
        </p:nvPicPr>
        <p:blipFill>
          <a:blip r:embed="rId1"/>
          <a:stretch/>
        </p:blipFill>
        <p:spPr>
          <a:xfrm>
            <a:off x="1432440" y="1481400"/>
            <a:ext cx="9326520" cy="25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39"/>
          <p:cNvSpPr/>
          <p:nvPr/>
        </p:nvSpPr>
        <p:spPr>
          <a:xfrm>
            <a:off x="1359360" y="1408320"/>
            <a:ext cx="9472680" cy="267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8" name="Image 0" descr="/tmp/work/dfq/q-23.png"/>
          <p:cNvPicPr/>
          <p:nvPr/>
        </p:nvPicPr>
        <p:blipFill>
          <a:blip r:embed="rId1"/>
          <a:stretch/>
        </p:blipFill>
        <p:spPr>
          <a:xfrm>
            <a:off x="1432440" y="1481400"/>
            <a:ext cx="9326520" cy="252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39"/>
          <p:cNvSpPr/>
          <p:nvPr/>
        </p:nvSpPr>
        <p:spPr>
          <a:xfrm>
            <a:off x="3612240" y="1700640"/>
            <a:ext cx="4231800" cy="492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9" name="Image 0" descr="/tmp/work/dfq/q-24.png"/>
          <p:cNvPicPr/>
          <p:nvPr/>
        </p:nvPicPr>
        <p:blipFill>
          <a:blip r:embed="rId1"/>
          <a:stretch/>
        </p:blipFill>
        <p:spPr>
          <a:xfrm>
            <a:off x="3753720" y="561240"/>
            <a:ext cx="3990600" cy="599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39"/>
          <p:cNvSpPr/>
          <p:nvPr/>
        </p:nvSpPr>
        <p:spPr>
          <a:xfrm>
            <a:off x="1359360" y="1408320"/>
            <a:ext cx="9472680" cy="48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0" name="Image 0" descr="/tmp/work/dfq/q-25.png"/>
          <p:cNvPicPr/>
          <p:nvPr/>
        </p:nvPicPr>
        <p:blipFill>
          <a:blip r:embed="rId1"/>
          <a:stretch/>
        </p:blipFill>
        <p:spPr>
          <a:xfrm>
            <a:off x="1432440" y="1481400"/>
            <a:ext cx="9326520" cy="47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39"/>
          <p:cNvSpPr/>
          <p:nvPr/>
        </p:nvSpPr>
        <p:spPr>
          <a:xfrm>
            <a:off x="1359360" y="1408320"/>
            <a:ext cx="9472680" cy="371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1" name="Image 0" descr="/tmp/work/dfq/q-26.png"/>
          <p:cNvPicPr/>
          <p:nvPr/>
        </p:nvPicPr>
        <p:blipFill>
          <a:blip r:embed="rId1"/>
          <a:stretch/>
        </p:blipFill>
        <p:spPr>
          <a:xfrm>
            <a:off x="1432440" y="1481400"/>
            <a:ext cx="9326520" cy="356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39"/>
          <p:cNvSpPr/>
          <p:nvPr/>
        </p:nvSpPr>
        <p:spPr>
          <a:xfrm>
            <a:off x="2668320" y="1408320"/>
            <a:ext cx="68544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2" name="Image 0" descr="/tmp/work/dfq/q-27.png"/>
          <p:cNvPicPr/>
          <p:nvPr/>
        </p:nvPicPr>
        <p:blipFill>
          <a:blip r:embed="rId1"/>
          <a:stretch/>
        </p:blipFill>
        <p:spPr>
          <a:xfrm>
            <a:off x="2741760" y="1481400"/>
            <a:ext cx="67082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2" name="Picture 688" descr=""/>
          <p:cNvPicPr/>
          <p:nvPr/>
        </p:nvPicPr>
        <p:blipFill>
          <a:blip r:embed="rId1"/>
          <a:stretch/>
        </p:blipFill>
        <p:spPr>
          <a:xfrm>
            <a:off x="3721680" y="160560"/>
            <a:ext cx="4781880" cy="688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39"/>
          <p:cNvSpPr/>
          <p:nvPr/>
        </p:nvSpPr>
        <p:spPr>
          <a:xfrm>
            <a:off x="1993680" y="1408320"/>
            <a:ext cx="82036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3" name="Image 0" descr="/tmp/work/dfq/q-29.png"/>
          <p:cNvPicPr/>
          <p:nvPr/>
        </p:nvPicPr>
        <p:blipFill>
          <a:blip r:embed="rId1"/>
          <a:stretch/>
        </p:blipFill>
        <p:spPr>
          <a:xfrm>
            <a:off x="2067120" y="1481400"/>
            <a:ext cx="80575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39"/>
          <p:cNvSpPr/>
          <p:nvPr/>
        </p:nvSpPr>
        <p:spPr>
          <a:xfrm>
            <a:off x="1359360" y="1408320"/>
            <a:ext cx="9472680" cy="511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4" name="Image 0" descr="/tmp/work/dfq/q-30.png"/>
          <p:cNvPicPr/>
          <p:nvPr/>
        </p:nvPicPr>
        <p:blipFill>
          <a:blip r:embed="rId1"/>
          <a:stretch/>
        </p:blipFill>
        <p:spPr>
          <a:xfrm>
            <a:off x="1432440" y="1481400"/>
            <a:ext cx="9326520" cy="497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39"/>
          <p:cNvSpPr/>
          <p:nvPr/>
        </p:nvSpPr>
        <p:spPr>
          <a:xfrm>
            <a:off x="4246200" y="567000"/>
            <a:ext cx="4496400" cy="606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5" name="Image 0" descr="/tmp/work/dfq/q-31.png"/>
          <p:cNvPicPr/>
          <p:nvPr/>
        </p:nvPicPr>
        <p:blipFill>
          <a:blip r:embed="rId1"/>
          <a:stretch/>
        </p:blipFill>
        <p:spPr>
          <a:xfrm>
            <a:off x="4319280" y="387360"/>
            <a:ext cx="4318560" cy="616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1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2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3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4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5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6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Differentiation gives the gradient function dy/dx.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Power rule: y = xⁿ → dy/dx = nxⁿ⁻¹ — works for fractions and negatives too.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9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0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Rewrite roots as fractional powers (√x = x^½) and 1/xⁿ as negative powers before differentiating.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1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2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Gradient at a point: differentiate, then substitute the x-value.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3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4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Tangent gradient = dy/dx; normal gradient = −1 ÷ (dy/dx).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5" name="Shape 49"/>
          <p:cNvSpPr/>
          <p:nvPr/>
        </p:nvSpPr>
        <p:spPr>
          <a:xfrm>
            <a:off x="868680" y="5203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6" name="Text 50"/>
          <p:cNvSpPr/>
          <p:nvPr/>
        </p:nvSpPr>
        <p:spPr>
          <a:xfrm>
            <a:off x="1234440" y="5166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Turning points: solve dy/dx = 0; the second derivative shows max (−) or min (+).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Shape 51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8" name="Text 52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gradient → substitute;  turning point → set dy/dx = 0.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  <Words>2128</Words>
  <Paragraphs>344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2026-07-17T07:41:22Z</dcterms:created>
  <dc:creator>Zahra Sheikh Ali</dc:creator>
  <dc:description/>
  <dc:language>en-US</dc:language>
  <cp:lastModifiedBy>zahraa sheik ali</cp:lastModifiedBy>
  <dcterms:modified xsi:type="dcterms:W3CDTF">2026-07-27T10:56:16Z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27</vt:r8>
  </property>
  <property fmtid="{D5CDD505-2E9C-101B-9397-08002B2CF9AE}" pid="3" name="PresentationFormat">
    <vt:lpwstr>Custom</vt:lpwstr>
  </property>
  <property fmtid="{D5CDD505-2E9C-101B-9397-08002B2CF9AE}" pid="4" name="Slides">
    <vt:r8>27</vt:r8>
  </property>
</Properties>
</file>