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11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2.png" ContentType="image/png"/>
  <Override PartName="/ppt/media/image34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4ECF835-E8B4-46F6-8B78-DD6B9BE7046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82CAC61-AD5C-423C-875C-771B71EF258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9FC6134-0F05-47E9-B85C-AE95A9CD74A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FB85B90-3D78-48B3-B3F2-3DDC849A129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C968713-E0C6-4559-9DD8-D6501175433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ACFF16A-ED5C-41D7-A2E6-DF24321A6BD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BFAF727-489F-4102-9521-43922CA55A0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EBE2B0A-69A2-4610-94B4-06A68EADBD7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78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7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A1CAD5B-5C4B-40A6-BE9D-00A5F2DC0F3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78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0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AF753AC-D6B7-4FB5-B3A4-4A1F62A1DD5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79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3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1A73F09-D8E9-4692-AFFC-FDF74FD2097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6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F4E1C97-ABE8-4EEF-8D1C-B336252B00D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9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46CA0E6-9F08-4961-93EE-24530147449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2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F2E894C-7038-4AB1-A94F-A43DD16BB8C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5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190F901-4B0A-4527-8D21-DD4C32FEB1E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8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FF4562D-839C-4078-B852-85690093D85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1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2EBC974-95A8-431C-B472-871FEFE1DFA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4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831723-DA5B-49C7-934E-111D03BEB57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7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658DCB1-3AC9-4DE7-84D0-FE289FC2E0B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0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3C7B375-91C1-4957-A039-061B6169E20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3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DCDA799-C936-4A84-B315-5D4D1063270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6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4D7C15E-CF41-44CB-9E45-0E77936A741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9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02DCC1C-097F-4FA3-9ACD-0D12F41A354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2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B1C790C-A264-4B7A-B33E-07BAA9D1173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5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B522985-3D9B-4696-BE7A-C5CA59A215A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8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4848B95-6C2B-4F09-97AB-B6D61AF8E96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1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4A9D78F-2518-485A-AE40-CA9E4903E4D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4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1DFC1E5-3353-4282-8E38-C14434C4DE4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1.png"/><Relationship Id="rId9" Type="http://schemas.openxmlformats.org/officeDocument/2006/relationships/image" Target="../media/image1.png"/><Relationship Id="rId10" Type="http://schemas.openxmlformats.org/officeDocument/2006/relationships/image" Target="../media/image1.png"/><Relationship Id="rId11" Type="http://schemas.openxmlformats.org/officeDocument/2006/relationships/image" Target="../media/image1.png"/><Relationship Id="rId12" Type="http://schemas.openxmlformats.org/officeDocument/2006/relationships/image" Target="../media/image1.png"/><Relationship Id="rId13" Type="http://schemas.openxmlformats.org/officeDocument/2006/relationships/image" Target="../media/image1.png"/><Relationship Id="rId14" Type="http://schemas.openxmlformats.org/officeDocument/2006/relationships/image" Target="../media/image1.png"/><Relationship Id="rId15" Type="http://schemas.openxmlformats.org/officeDocument/2006/relationships/image" Target="../media/image1.png"/><Relationship Id="rId16" Type="http://schemas.openxmlformats.org/officeDocument/2006/relationships/image" Target="../media/image1.png"/><Relationship Id="rId17" Type="http://schemas.openxmlformats.org/officeDocument/2006/relationships/image" Target="../media/image1.png"/><Relationship Id="rId18" Type="http://schemas.openxmlformats.org/officeDocument/2006/relationships/image" Target="../media/image1.png"/><Relationship Id="rId19" Type="http://schemas.openxmlformats.org/officeDocument/2006/relationships/image" Target="../media/image1.png"/><Relationship Id="rId20" Type="http://schemas.openxmlformats.org/officeDocument/2006/relationships/image" Target="../media/image1.png"/><Relationship Id="rId21" Type="http://schemas.openxmlformats.org/officeDocument/2006/relationships/image" Target="../media/image1.png"/><Relationship Id="rId22" Type="http://schemas.openxmlformats.org/officeDocument/2006/relationships/image" Target="../media/image1.png"/><Relationship Id="rId23" Type="http://schemas.openxmlformats.org/officeDocument/2006/relationships/image" Target="../media/image1.png"/><Relationship Id="rId24" Type="http://schemas.openxmlformats.org/officeDocument/2006/relationships/image" Target="../media/image1.png"/><Relationship Id="rId25" Type="http://schemas.openxmlformats.org/officeDocument/2006/relationships/image" Target="../media/image1.png"/><Relationship Id="rId26" Type="http://schemas.openxmlformats.org/officeDocument/2006/relationships/image" Target="../media/image1.png"/><Relationship Id="rId27" Type="http://schemas.openxmlformats.org/officeDocument/2006/relationships/image" Target="../media/image1.png"/><Relationship Id="rId28" Type="http://schemas.openxmlformats.org/officeDocument/2006/relationships/image" Target="../media/image1.png"/><Relationship Id="rId29" Type="http://schemas.openxmlformats.org/officeDocument/2006/relationships/image" Target="../media/image1.png"/><Relationship Id="rId30" Type="http://schemas.openxmlformats.org/officeDocument/2006/relationships/image" Target="../media/image1.png"/><Relationship Id="rId31" Type="http://schemas.openxmlformats.org/officeDocument/2006/relationships/image" Target="../media/image1.png"/><Relationship Id="rId32" Type="http://schemas.openxmlformats.org/officeDocument/2006/relationships/image" Target="../media/image1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8778240" y="1737360"/>
            <a:ext cx="2377440" cy="360"/>
          </a:xfrm>
          <a:prstGeom prst="line">
            <a:avLst/>
          </a:prstGeom>
          <a:ln w="12700">
            <a:solidFill>
              <a:srgbClr val="5c6b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9966960" y="548640"/>
            <a:ext cx="360" cy="2377440"/>
          </a:xfrm>
          <a:prstGeom prst="line">
            <a:avLst/>
          </a:prstGeom>
          <a:ln w="12700">
            <a:solidFill>
              <a:srgbClr val="5c6b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9015840" y="1737360"/>
            <a:ext cx="86400" cy="36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9102240" y="1582560"/>
            <a:ext cx="86400" cy="36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9188640" y="1442520"/>
            <a:ext cx="86400" cy="36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9275040" y="1317240"/>
            <a:ext cx="86400" cy="36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9361440" y="1206720"/>
            <a:ext cx="86760" cy="36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9448200" y="1110960"/>
            <a:ext cx="86400" cy="36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9534600" y="1029960"/>
            <a:ext cx="86400" cy="36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9621000" y="963360"/>
            <a:ext cx="86400" cy="36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45"/>
          <p:cNvSpPr/>
          <p:nvPr/>
        </p:nvSpPr>
        <p:spPr>
          <a:xfrm>
            <a:off x="9707400" y="911880"/>
            <a:ext cx="86400" cy="36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46"/>
          <p:cNvSpPr/>
          <p:nvPr/>
        </p:nvSpPr>
        <p:spPr>
          <a:xfrm>
            <a:off x="9793800" y="875160"/>
            <a:ext cx="86400" cy="36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9880200" y="852840"/>
            <a:ext cx="86760" cy="36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9966960" y="845640"/>
            <a:ext cx="86400" cy="720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49"/>
          <p:cNvSpPr/>
          <p:nvPr/>
        </p:nvSpPr>
        <p:spPr>
          <a:xfrm>
            <a:off x="10053360" y="852840"/>
            <a:ext cx="86400" cy="2232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2680" bIns="-2268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50"/>
          <p:cNvSpPr/>
          <p:nvPr/>
        </p:nvSpPr>
        <p:spPr>
          <a:xfrm>
            <a:off x="10139760" y="875160"/>
            <a:ext cx="86400" cy="3672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10226160" y="911880"/>
            <a:ext cx="86400" cy="5148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480" bIns="648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52"/>
          <p:cNvSpPr/>
          <p:nvPr/>
        </p:nvSpPr>
        <p:spPr>
          <a:xfrm>
            <a:off x="10312560" y="963360"/>
            <a:ext cx="86400" cy="6660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53"/>
          <p:cNvSpPr/>
          <p:nvPr/>
        </p:nvSpPr>
        <p:spPr>
          <a:xfrm>
            <a:off x="10398960" y="1029960"/>
            <a:ext cx="86400" cy="8100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36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54"/>
          <p:cNvSpPr/>
          <p:nvPr/>
        </p:nvSpPr>
        <p:spPr>
          <a:xfrm>
            <a:off x="10485360" y="1110960"/>
            <a:ext cx="86760" cy="9576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55"/>
          <p:cNvSpPr/>
          <p:nvPr/>
        </p:nvSpPr>
        <p:spPr>
          <a:xfrm>
            <a:off x="10572120" y="1206720"/>
            <a:ext cx="86400" cy="11052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56"/>
          <p:cNvSpPr/>
          <p:nvPr/>
        </p:nvSpPr>
        <p:spPr>
          <a:xfrm>
            <a:off x="10658520" y="1317240"/>
            <a:ext cx="86400" cy="12528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57"/>
          <p:cNvSpPr/>
          <p:nvPr/>
        </p:nvSpPr>
        <p:spPr>
          <a:xfrm>
            <a:off x="10744920" y="1442520"/>
            <a:ext cx="86400" cy="14004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58"/>
          <p:cNvSpPr/>
          <p:nvPr/>
        </p:nvSpPr>
        <p:spPr>
          <a:xfrm>
            <a:off x="10831320" y="1582560"/>
            <a:ext cx="86400" cy="154800"/>
          </a:xfrm>
          <a:prstGeom prst="line">
            <a:avLst/>
          </a:prstGeom>
          <a:ln w="3048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59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60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61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62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63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e0ac2b"/>
                </a:solidFill>
                <a:latin typeface="Cambria"/>
                <a:ea typeface="Cambria"/>
              </a:rPr>
              <a:t>Transformations of Graphs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64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y = f(x) + a · y = f(x + a) · y = a f(x) · y = f(ax) · Reflections · Trig Graphs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65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66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67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68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Shifting, Stretching &amp; Reflecting Curves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 transformation moves or reshapes the whole graph of y = f(x).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secret is whether the change is INSIDE the bracket (affects x) or OUTSIDE it (affects y).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Inside vs outside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Vertical: f(x)+a, a f(x)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Horizontal: f(x+a), f(ax)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Reflections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Effect on a point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translation · stretch · reflection · shift · f(x) · inside/outside the bracket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Inside the Bracket vs Outside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39"/>
          <p:cNvSpPr/>
          <p:nvPr/>
        </p:nvSpPr>
        <p:spPr>
          <a:xfrm>
            <a:off x="567000" y="129852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40"/>
          <p:cNvSpPr/>
          <p:nvPr/>
        </p:nvSpPr>
        <p:spPr>
          <a:xfrm>
            <a:off x="887040" y="129852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This is all you need to remember.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Outside the bracket → vertical, and it does what you expect. Inside → horizontal, and it does the OPPOSITE.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41"/>
          <p:cNvSpPr/>
          <p:nvPr/>
        </p:nvSpPr>
        <p:spPr>
          <a:xfrm>
            <a:off x="567000" y="228600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OUTSIDE → vertical (y)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43"/>
          <p:cNvSpPr/>
          <p:nvPr/>
        </p:nvSpPr>
        <p:spPr>
          <a:xfrm>
            <a:off x="914400" y="3017520"/>
            <a:ext cx="47545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Affects the y-values.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Does what you EXPECT: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f(x) + 3  →  up 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2 f(x)  →  stretch taller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44"/>
          <p:cNvSpPr/>
          <p:nvPr/>
        </p:nvSpPr>
        <p:spPr>
          <a:xfrm>
            <a:off x="6190560" y="228600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45"/>
          <p:cNvSpPr/>
          <p:nvPr/>
        </p:nvSpPr>
        <p:spPr>
          <a:xfrm>
            <a:off x="655632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INSIDE → horizontal (x)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46"/>
          <p:cNvSpPr/>
          <p:nvPr/>
        </p:nvSpPr>
        <p:spPr>
          <a:xfrm>
            <a:off x="6537960" y="3017520"/>
            <a:ext cx="47545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Affects the x-values.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Does the OPPOSITE: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f(x + 3)  →  LEFT 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f(2x)  →  squash narrower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47"/>
          <p:cNvSpPr/>
          <p:nvPr/>
        </p:nvSpPr>
        <p:spPr>
          <a:xfrm>
            <a:off x="567000" y="553212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48"/>
          <p:cNvSpPr/>
          <p:nvPr/>
        </p:nvSpPr>
        <p:spPr>
          <a:xfrm>
            <a:off x="841320" y="5532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Outside = vertical &amp; as expected.   Inside = horizontal &amp; opposite.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VERTICAL TRANSFORMATIONS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Outside the Bracket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39"/>
          <p:cNvSpPr/>
          <p:nvPr/>
        </p:nvSpPr>
        <p:spPr>
          <a:xfrm>
            <a:off x="567000" y="1298520"/>
            <a:ext cx="11063880" cy="621360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40"/>
          <p:cNvSpPr/>
          <p:nvPr/>
        </p:nvSpPr>
        <p:spPr>
          <a:xfrm>
            <a:off x="887040" y="1298520"/>
            <a:ext cx="10423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These change the y-values — and behave exactly as written.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41"/>
          <p:cNvSpPr/>
          <p:nvPr/>
        </p:nvSpPr>
        <p:spPr>
          <a:xfrm>
            <a:off x="567000" y="210312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42"/>
          <p:cNvSpPr/>
          <p:nvPr/>
        </p:nvSpPr>
        <p:spPr>
          <a:xfrm>
            <a:off x="914400" y="2103120"/>
            <a:ext cx="301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y = f(x) + 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43"/>
          <p:cNvSpPr/>
          <p:nvPr/>
        </p:nvSpPr>
        <p:spPr>
          <a:xfrm>
            <a:off x="4023360" y="2103120"/>
            <a:ext cx="347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Translation UP by a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44"/>
          <p:cNvSpPr/>
          <p:nvPr/>
        </p:nvSpPr>
        <p:spPr>
          <a:xfrm>
            <a:off x="7589520" y="210312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(0, a) vector — down if a is negative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45"/>
          <p:cNvSpPr/>
          <p:nvPr/>
        </p:nvSpPr>
        <p:spPr>
          <a:xfrm>
            <a:off x="567000" y="304488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46"/>
          <p:cNvSpPr/>
          <p:nvPr/>
        </p:nvSpPr>
        <p:spPr>
          <a:xfrm>
            <a:off x="914400" y="3044880"/>
            <a:ext cx="301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y = f(x) − 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47"/>
          <p:cNvSpPr/>
          <p:nvPr/>
        </p:nvSpPr>
        <p:spPr>
          <a:xfrm>
            <a:off x="4023360" y="3044880"/>
            <a:ext cx="347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Translation DOWN by a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48"/>
          <p:cNvSpPr/>
          <p:nvPr/>
        </p:nvSpPr>
        <p:spPr>
          <a:xfrm>
            <a:off x="7589520" y="304488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every point moves down 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49"/>
          <p:cNvSpPr/>
          <p:nvPr/>
        </p:nvSpPr>
        <p:spPr>
          <a:xfrm>
            <a:off x="567000" y="398664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50"/>
          <p:cNvSpPr/>
          <p:nvPr/>
        </p:nvSpPr>
        <p:spPr>
          <a:xfrm>
            <a:off x="914400" y="3986640"/>
            <a:ext cx="301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y = a f(x)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51"/>
          <p:cNvSpPr/>
          <p:nvPr/>
        </p:nvSpPr>
        <p:spPr>
          <a:xfrm>
            <a:off x="4023360" y="3986640"/>
            <a:ext cx="347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Vertical STRETCH, factor a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52"/>
          <p:cNvSpPr/>
          <p:nvPr/>
        </p:nvSpPr>
        <p:spPr>
          <a:xfrm>
            <a:off x="7589520" y="398664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y-values × a  (x-axis stays fixed)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53"/>
          <p:cNvSpPr/>
          <p:nvPr/>
        </p:nvSpPr>
        <p:spPr>
          <a:xfrm>
            <a:off x="567000" y="492876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54"/>
          <p:cNvSpPr/>
          <p:nvPr/>
        </p:nvSpPr>
        <p:spPr>
          <a:xfrm>
            <a:off x="914400" y="4928760"/>
            <a:ext cx="301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y = −f(x)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55"/>
          <p:cNvSpPr/>
          <p:nvPr/>
        </p:nvSpPr>
        <p:spPr>
          <a:xfrm>
            <a:off x="4023360" y="4928760"/>
            <a:ext cx="347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Reflection in the x-axis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56"/>
          <p:cNvSpPr/>
          <p:nvPr/>
        </p:nvSpPr>
        <p:spPr>
          <a:xfrm>
            <a:off x="7589520" y="492876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every y-value changes sign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57"/>
          <p:cNvSpPr/>
          <p:nvPr/>
        </p:nvSpPr>
        <p:spPr>
          <a:xfrm>
            <a:off x="567000" y="61264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Outside the bracket, everything happens the obvious way — up means up.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HORIZONTAL TRANSFORMATIONS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Inside the Bracket — the Opposite Way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39"/>
          <p:cNvSpPr/>
          <p:nvPr/>
        </p:nvSpPr>
        <p:spPr>
          <a:xfrm>
            <a:off x="567000" y="1298520"/>
            <a:ext cx="11063880" cy="621360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40"/>
          <p:cNvSpPr/>
          <p:nvPr/>
        </p:nvSpPr>
        <p:spPr>
          <a:xfrm>
            <a:off x="887040" y="1298520"/>
            <a:ext cx="10423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These change the x-values — and do the OPPOSITE of what the sign suggests.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41"/>
          <p:cNvSpPr/>
          <p:nvPr/>
        </p:nvSpPr>
        <p:spPr>
          <a:xfrm>
            <a:off x="567000" y="210312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42"/>
          <p:cNvSpPr/>
          <p:nvPr/>
        </p:nvSpPr>
        <p:spPr>
          <a:xfrm>
            <a:off x="914400" y="2103120"/>
            <a:ext cx="301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y = f(x + a)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43"/>
          <p:cNvSpPr/>
          <p:nvPr/>
        </p:nvSpPr>
        <p:spPr>
          <a:xfrm>
            <a:off x="4023360" y="210312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Translation LEFT by 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44"/>
          <p:cNvSpPr/>
          <p:nvPr/>
        </p:nvSpPr>
        <p:spPr>
          <a:xfrm>
            <a:off x="7772400" y="210312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(−a, 0) — ‘+ inside’ moves left!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45"/>
          <p:cNvSpPr/>
          <p:nvPr/>
        </p:nvSpPr>
        <p:spPr>
          <a:xfrm>
            <a:off x="567000" y="304488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46"/>
          <p:cNvSpPr/>
          <p:nvPr/>
        </p:nvSpPr>
        <p:spPr>
          <a:xfrm>
            <a:off x="914400" y="3044880"/>
            <a:ext cx="301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y = f(x − a)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47"/>
          <p:cNvSpPr/>
          <p:nvPr/>
        </p:nvSpPr>
        <p:spPr>
          <a:xfrm>
            <a:off x="4023360" y="304488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Translation RIGHT by 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48"/>
          <p:cNvSpPr/>
          <p:nvPr/>
        </p:nvSpPr>
        <p:spPr>
          <a:xfrm>
            <a:off x="7772400" y="304488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(a, 0) — ‘− inside’ moves right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49"/>
          <p:cNvSpPr/>
          <p:nvPr/>
        </p:nvSpPr>
        <p:spPr>
          <a:xfrm>
            <a:off x="567000" y="398664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50"/>
          <p:cNvSpPr/>
          <p:nvPr/>
        </p:nvSpPr>
        <p:spPr>
          <a:xfrm>
            <a:off x="914400" y="3986640"/>
            <a:ext cx="301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y = f(ax)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51"/>
          <p:cNvSpPr/>
          <p:nvPr/>
        </p:nvSpPr>
        <p:spPr>
          <a:xfrm>
            <a:off x="4023360" y="398664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Horizontal STRETCH, factor 1/a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52"/>
          <p:cNvSpPr/>
          <p:nvPr/>
        </p:nvSpPr>
        <p:spPr>
          <a:xfrm>
            <a:off x="7772400" y="398664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x-values ÷ a  (y-axis fixed)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53"/>
          <p:cNvSpPr/>
          <p:nvPr/>
        </p:nvSpPr>
        <p:spPr>
          <a:xfrm>
            <a:off x="567000" y="492876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54"/>
          <p:cNvSpPr/>
          <p:nvPr/>
        </p:nvSpPr>
        <p:spPr>
          <a:xfrm>
            <a:off x="914400" y="4928760"/>
            <a:ext cx="301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y = f(−x)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55"/>
          <p:cNvSpPr/>
          <p:nvPr/>
        </p:nvSpPr>
        <p:spPr>
          <a:xfrm>
            <a:off x="4023360" y="492876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Reflection in the y-axis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56"/>
          <p:cNvSpPr/>
          <p:nvPr/>
        </p:nvSpPr>
        <p:spPr>
          <a:xfrm>
            <a:off x="7772400" y="492876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every x-value changes sign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57"/>
          <p:cNvSpPr/>
          <p:nvPr/>
        </p:nvSpPr>
        <p:spPr>
          <a:xfrm>
            <a:off x="567000" y="61264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84f2f"/>
                </a:solidFill>
                <a:latin typeface="Calibri"/>
                <a:ea typeface="Calibri"/>
              </a:rPr>
              <a:t>The classic trap: f(x + 2) shifts LEFT, not right. Inside the bracket is always opposite.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EFFECT ON A POINT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Tracking One Point Through a Transformation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How to move a point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Horizontal change → adjust the x-coordinate (opposite sign).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Vertical change → adjust the y-coordinate (as written).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Reflection in x-axis → change sign of 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Reflection in y-axis → change sign of x.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 minimum or maximum point moves the same way as any other point.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Inside → change x (opposite);  outside → change y (as written)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54" name="Table 59"/>
          <p:cNvGraphicFramePr/>
          <p:nvPr/>
        </p:nvGraphicFramePr>
        <p:xfrm>
          <a:off x="826920" y="1554480"/>
          <a:ext cx="4876560" cy="3171960"/>
        </p:xfrm>
        <a:graphic>
          <a:graphicData uri="http://schemas.openxmlformats.org/drawingml/2006/table">
            <a:tbl>
              <a:tblPr/>
              <a:tblGrid>
                <a:gridCol w="1218960"/>
                <a:gridCol w="1218960"/>
                <a:gridCol w="1218960"/>
                <a:gridCol w="12189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1" lang="en-US" sz="1800" spc="-1" strike="noStrike">
                        <a:solidFill>
                          <a:schemeClr val="lt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4"/>
                      <a:stretch>
                        <a:fillRect/>
                      </a:stretch>
                    </a:blip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5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6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7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8"/>
                      <a:stretch/>
                    </a:blip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9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0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1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2"/>
                      <a:stretch/>
                    </a:blip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3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4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5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6"/>
                      <a:stretch/>
                    </a:blip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7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8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9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0"/>
                      <a:stretch/>
                    </a:blipFill>
                  </a:tcPr>
                </a:tc>
              </a:tr>
              <a:tr h="5763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1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2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3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4"/>
                      <a:stretch/>
                    </a:blip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5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6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7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8"/>
                      <a:stretch/>
                    </a:blip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9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0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1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2"/>
                      <a:stretch/>
                    </a:blipFill>
                  </a:tcPr>
                </a:tc>
              </a:tr>
            </a:tbl>
          </a:graphicData>
        </a:graphic>
      </p:graphicFrame>
      <p:sp>
        <p:nvSpPr>
          <p:cNvPr id="355" name="Rectangle 60"/>
          <p:cNvSpPr/>
          <p:nvPr/>
        </p:nvSpPr>
        <p:spPr>
          <a:xfrm>
            <a:off x="2050920" y="1914480"/>
            <a:ext cx="1197360" cy="385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Rectangle 61"/>
          <p:cNvSpPr/>
          <p:nvPr/>
        </p:nvSpPr>
        <p:spPr>
          <a:xfrm>
            <a:off x="3249000" y="1914480"/>
            <a:ext cx="1228320" cy="385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Rectangle 62"/>
          <p:cNvSpPr/>
          <p:nvPr/>
        </p:nvSpPr>
        <p:spPr>
          <a:xfrm>
            <a:off x="4477680" y="1914480"/>
            <a:ext cx="1209240" cy="385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Rectangle 63"/>
          <p:cNvSpPr/>
          <p:nvPr/>
        </p:nvSpPr>
        <p:spPr>
          <a:xfrm>
            <a:off x="2050920" y="2300400"/>
            <a:ext cx="1197360" cy="385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Rectangle 64"/>
          <p:cNvSpPr/>
          <p:nvPr/>
        </p:nvSpPr>
        <p:spPr>
          <a:xfrm>
            <a:off x="3249000" y="2300400"/>
            <a:ext cx="1228320" cy="385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Rectangle 65"/>
          <p:cNvSpPr/>
          <p:nvPr/>
        </p:nvSpPr>
        <p:spPr>
          <a:xfrm>
            <a:off x="4477680" y="2300400"/>
            <a:ext cx="1209240" cy="3855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Rectangle 66"/>
          <p:cNvSpPr/>
          <p:nvPr/>
        </p:nvSpPr>
        <p:spPr>
          <a:xfrm>
            <a:off x="2050920" y="2686320"/>
            <a:ext cx="1197360" cy="3661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Rectangle 67"/>
          <p:cNvSpPr/>
          <p:nvPr/>
        </p:nvSpPr>
        <p:spPr>
          <a:xfrm>
            <a:off x="3249000" y="2686320"/>
            <a:ext cx="1228320" cy="3661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Rectangle 68"/>
          <p:cNvSpPr/>
          <p:nvPr/>
        </p:nvSpPr>
        <p:spPr>
          <a:xfrm>
            <a:off x="4477680" y="2686320"/>
            <a:ext cx="1209240" cy="3661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Rectangle 69"/>
          <p:cNvSpPr/>
          <p:nvPr/>
        </p:nvSpPr>
        <p:spPr>
          <a:xfrm>
            <a:off x="2050920" y="3050640"/>
            <a:ext cx="1197360" cy="3661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Rectangle 70"/>
          <p:cNvSpPr/>
          <p:nvPr/>
        </p:nvSpPr>
        <p:spPr>
          <a:xfrm>
            <a:off x="3249000" y="3050640"/>
            <a:ext cx="1228320" cy="3661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Rectangle 71"/>
          <p:cNvSpPr/>
          <p:nvPr/>
        </p:nvSpPr>
        <p:spPr>
          <a:xfrm>
            <a:off x="4477680" y="3050640"/>
            <a:ext cx="1209240" cy="3661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Rectangle 72"/>
          <p:cNvSpPr/>
          <p:nvPr/>
        </p:nvSpPr>
        <p:spPr>
          <a:xfrm>
            <a:off x="2050920" y="3417120"/>
            <a:ext cx="1197360" cy="5212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Rectangle 73"/>
          <p:cNvSpPr/>
          <p:nvPr/>
        </p:nvSpPr>
        <p:spPr>
          <a:xfrm>
            <a:off x="3249000" y="3417120"/>
            <a:ext cx="1228320" cy="5212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Rectangle 74"/>
          <p:cNvSpPr/>
          <p:nvPr/>
        </p:nvSpPr>
        <p:spPr>
          <a:xfrm>
            <a:off x="4477680" y="3417120"/>
            <a:ext cx="1209240" cy="5212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Rectangle 75"/>
          <p:cNvSpPr/>
          <p:nvPr/>
        </p:nvSpPr>
        <p:spPr>
          <a:xfrm>
            <a:off x="2050920" y="3938760"/>
            <a:ext cx="1197360" cy="428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Rectangle 76"/>
          <p:cNvSpPr/>
          <p:nvPr/>
        </p:nvSpPr>
        <p:spPr>
          <a:xfrm>
            <a:off x="3249000" y="3938760"/>
            <a:ext cx="1228320" cy="428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Rectangle 77"/>
          <p:cNvSpPr/>
          <p:nvPr/>
        </p:nvSpPr>
        <p:spPr>
          <a:xfrm>
            <a:off x="4477680" y="3938760"/>
            <a:ext cx="1209240" cy="428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Rectangle 78"/>
          <p:cNvSpPr/>
          <p:nvPr/>
        </p:nvSpPr>
        <p:spPr>
          <a:xfrm>
            <a:off x="2050920" y="4367520"/>
            <a:ext cx="1197360" cy="3614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Rectangle 79"/>
          <p:cNvSpPr/>
          <p:nvPr/>
        </p:nvSpPr>
        <p:spPr>
          <a:xfrm>
            <a:off x="3249000" y="4367520"/>
            <a:ext cx="1228320" cy="3614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Rectangle 80"/>
          <p:cNvSpPr/>
          <p:nvPr/>
        </p:nvSpPr>
        <p:spPr>
          <a:xfrm>
            <a:off x="4477680" y="4367520"/>
            <a:ext cx="1209240" cy="3614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restart="whenNotActive" nodeType="interactiveSeq" fill="hold">
                <p:stCondLst>
                  <p:cond delay="0" evt="onClick">
                    <p:tgtEl>
                      <p:spTgt spid="355"/>
                    </p:tgtEl>
                  </p:cond>
                </p:stCondLst>
                <p:childTnLst>
                  <p:par>
                    <p:cTn id="3" fill="hold">
                      <p:stCondLst>
                        <p:cond delay="0" evt="onClick">
                          <p:tgtEl>
                            <p:spTgt spid="355"/>
                          </p:tgtEl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6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8" restart="whenNotActive" nodeType="interactiveSeq" fill="hold">
                <p:stCondLst>
                  <p:cond delay="0" evt="onClick">
                    <p:tgtEl>
                      <p:spTgt spid="356"/>
                    </p:tgtEl>
                  </p:cond>
                </p:stCondLst>
                <p:childTnLst>
                  <p:par>
                    <p:cTn id="9" fill="hold">
                      <p:stCondLst>
                        <p:cond delay="0" evt="onClick">
                          <p:tgtEl>
                            <p:spTgt spid="356"/>
                          </p:tgtEl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4" restart="whenNotActive" nodeType="interactiveSeq" fill="hold">
                <p:stCondLst>
                  <p:cond delay="0" evt="onClick">
                    <p:tgtEl>
                      <p:spTgt spid="357"/>
                    </p:tgtEl>
                  </p:cond>
                </p:stCondLst>
                <p:childTnLst>
                  <p:par>
                    <p:cTn id="15" fill="hold">
                      <p:stCondLst>
                        <p:cond delay="0" evt="onClick">
                          <p:tgtEl>
                            <p:spTgt spid="357"/>
                          </p:tgtEl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8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20" restart="whenNotActive" nodeType="interactiveSeq" fill="hold">
                <p:stCondLst>
                  <p:cond delay="0" evt="onClick">
                    <p:tgtEl>
                      <p:spTgt spid="358"/>
                    </p:tgtEl>
                  </p:cond>
                </p:stCondLst>
                <p:childTnLst>
                  <p:par>
                    <p:cTn id="21" fill="hold">
                      <p:stCondLst>
                        <p:cond delay="0" evt="onClick">
                          <p:tgtEl>
                            <p:spTgt spid="358"/>
                          </p:tgtEl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4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26" restart="whenNotActive" nodeType="interactiveSeq" fill="hold">
                <p:stCondLst>
                  <p:cond delay="0" evt="onClick">
                    <p:tgtEl>
                      <p:spTgt spid="359"/>
                    </p:tgtEl>
                  </p:cond>
                </p:stCondLst>
                <p:childTnLst>
                  <p:par>
                    <p:cTn id="27" fill="hold">
                      <p:stCondLst>
                        <p:cond delay="0" evt="onClick">
                          <p:tgtEl>
                            <p:spTgt spid="359"/>
                          </p:tgtEl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0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32" restart="whenNotActive" nodeType="interactiveSeq" fill="hold">
                <p:stCondLst>
                  <p:cond delay="0" evt="onClick">
                    <p:tgtEl>
                      <p:spTgt spid="360"/>
                    </p:tgtEl>
                  </p:cond>
                </p:stCondLst>
                <p:childTnLst>
                  <p:par>
                    <p:cTn id="33" fill="hold">
                      <p:stCondLst>
                        <p:cond delay="0" evt="onClick">
                          <p:tgtEl>
                            <p:spTgt spid="360"/>
                          </p:tgtEl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6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38" restart="whenNotActive" nodeType="interactiveSeq" fill="hold">
                <p:stCondLst>
                  <p:cond delay="0" evt="onClick">
                    <p:tgtEl>
                      <p:spTgt spid="361"/>
                    </p:tgtEl>
                  </p:cond>
                </p:stCondLst>
                <p:childTnLst>
                  <p:par>
                    <p:cTn id="39" fill="hold">
                      <p:stCondLst>
                        <p:cond delay="0" evt="onClick">
                          <p:tgtEl>
                            <p:spTgt spid="361"/>
                          </p:tgtEl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2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44" restart="whenNotActive" nodeType="interactiveSeq" fill="hold">
                <p:stCondLst>
                  <p:cond delay="0" evt="onClick">
                    <p:tgtEl>
                      <p:spTgt spid="362"/>
                    </p:tgtEl>
                  </p:cond>
                </p:stCondLst>
                <p:childTnLst>
                  <p:par>
                    <p:cTn id="45" fill="hold">
                      <p:stCondLst>
                        <p:cond delay="0" evt="onClick">
                          <p:tgtEl>
                            <p:spTgt spid="362"/>
                          </p:tgtEl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8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50" restart="whenNotActive" nodeType="interactiveSeq" fill="hold">
                <p:stCondLst>
                  <p:cond delay="0" evt="onClick">
                    <p:tgtEl>
                      <p:spTgt spid="363"/>
                    </p:tgtEl>
                  </p:cond>
                </p:stCondLst>
                <p:childTnLst>
                  <p:par>
                    <p:cTn id="51" fill="hold">
                      <p:stCondLst>
                        <p:cond delay="0" evt="onClick">
                          <p:tgtEl>
                            <p:spTgt spid="363"/>
                          </p:tgtEl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4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56" restart="whenNotActive" nodeType="interactiveSeq" fill="hold">
                <p:stCondLst>
                  <p:cond delay="0" evt="onClick">
                    <p:tgtEl>
                      <p:spTgt spid="364"/>
                    </p:tgtEl>
                  </p:cond>
                </p:stCondLst>
                <p:childTnLst>
                  <p:par>
                    <p:cTn id="57" fill="hold">
                      <p:stCondLst>
                        <p:cond delay="0" evt="onClick">
                          <p:tgtEl>
                            <p:spTgt spid="364"/>
                          </p:tgtEl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60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62" restart="whenNotActive" nodeType="interactiveSeq" fill="hold">
                <p:stCondLst>
                  <p:cond delay="0" evt="onClick">
                    <p:tgtEl>
                      <p:spTgt spid="365"/>
                    </p:tgtEl>
                  </p:cond>
                </p:stCondLst>
                <p:childTnLst>
                  <p:par>
                    <p:cTn id="63" fill="hold">
                      <p:stCondLst>
                        <p:cond delay="0" evt="onClick">
                          <p:tgtEl>
                            <p:spTgt spid="365"/>
                          </p:tgtEl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66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68" restart="whenNotActive" nodeType="interactiveSeq" fill="hold">
                <p:stCondLst>
                  <p:cond delay="0" evt="onClick">
                    <p:tgtEl>
                      <p:spTgt spid="366"/>
                    </p:tgtEl>
                  </p:cond>
                </p:stCondLst>
                <p:childTnLst>
                  <p:par>
                    <p:cTn id="69" fill="hold">
                      <p:stCondLst>
                        <p:cond delay="0" evt="onClick">
                          <p:tgtEl>
                            <p:spTgt spid="366"/>
                          </p:tgtEl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72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74" restart="whenNotActive" nodeType="interactiveSeq" fill="hold">
                <p:stCondLst>
                  <p:cond delay="0" evt="onClick">
                    <p:tgtEl>
                      <p:spTgt spid="367"/>
                    </p:tgtEl>
                  </p:cond>
                </p:stCondLst>
                <p:childTnLst>
                  <p:par>
                    <p:cTn id="75" fill="hold">
                      <p:stCondLst>
                        <p:cond delay="0" evt="onClick">
                          <p:tgtEl>
                            <p:spTgt spid="367"/>
                          </p:tgtEl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78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80" restart="whenNotActive" nodeType="interactiveSeq" fill="hold">
                <p:stCondLst>
                  <p:cond delay="0" evt="onClick">
                    <p:tgtEl>
                      <p:spTgt spid="368"/>
                    </p:tgtEl>
                  </p:cond>
                </p:stCondLst>
                <p:childTnLst>
                  <p:par>
                    <p:cTn id="81" fill="hold">
                      <p:stCondLst>
                        <p:cond delay="0" evt="onClick">
                          <p:tgtEl>
                            <p:spTgt spid="368"/>
                          </p:tgtEl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84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86" restart="whenNotActive" nodeType="interactiveSeq" fill="hold">
                <p:stCondLst>
                  <p:cond delay="0" evt="onClick">
                    <p:tgtEl>
                      <p:spTgt spid="369"/>
                    </p:tgtEl>
                  </p:cond>
                </p:stCondLst>
                <p:childTnLst>
                  <p:par>
                    <p:cTn id="87" fill="hold">
                      <p:stCondLst>
                        <p:cond delay="0" evt="onClick">
                          <p:tgtEl>
                            <p:spTgt spid="369"/>
                          </p:tgtEl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90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92" restart="whenNotActive" nodeType="interactiveSeq" fill="hold">
                <p:stCondLst>
                  <p:cond delay="0" evt="onClick">
                    <p:tgtEl>
                      <p:spTgt spid="370"/>
                    </p:tgtEl>
                  </p:cond>
                </p:stCondLst>
                <p:childTnLst>
                  <p:par>
                    <p:cTn id="93" fill="hold">
                      <p:stCondLst>
                        <p:cond delay="0" evt="onClick">
                          <p:tgtEl>
                            <p:spTgt spid="370"/>
                          </p:tgtEl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96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98" restart="whenNotActive" nodeType="interactiveSeq" fill="hold">
                <p:stCondLst>
                  <p:cond delay="0" evt="onClick">
                    <p:tgtEl>
                      <p:spTgt spid="371"/>
                    </p:tgtEl>
                  </p:cond>
                </p:stCondLst>
                <p:childTnLst>
                  <p:par>
                    <p:cTn id="99" fill="hold">
                      <p:stCondLst>
                        <p:cond delay="0" evt="onClick">
                          <p:tgtEl>
                            <p:spTgt spid="371"/>
                          </p:tgtEl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2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04" restart="whenNotActive" nodeType="interactiveSeq" fill="hold">
                <p:stCondLst>
                  <p:cond delay="0" evt="onClick">
                    <p:tgtEl>
                      <p:spTgt spid="372"/>
                    </p:tgtEl>
                  </p:cond>
                </p:stCondLst>
                <p:childTnLst>
                  <p:par>
                    <p:cTn id="105" fill="hold">
                      <p:stCondLst>
                        <p:cond delay="0" evt="onClick">
                          <p:tgtEl>
                            <p:spTgt spid="372"/>
                          </p:tgtEl>
                        </p:cond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08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10" restart="whenNotActive" nodeType="interactiveSeq" fill="hold">
                <p:stCondLst>
                  <p:cond delay="0" evt="onClick">
                    <p:tgtEl>
                      <p:spTgt spid="373"/>
                    </p:tgtEl>
                  </p:cond>
                </p:stCondLst>
                <p:childTnLst>
                  <p:par>
                    <p:cTn id="111" fill="hold">
                      <p:stCondLst>
                        <p:cond delay="0" evt="onClick">
                          <p:tgtEl>
                            <p:spTgt spid="373"/>
                          </p:tgtEl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14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16" restart="whenNotActive" nodeType="interactiveSeq" fill="hold">
                <p:stCondLst>
                  <p:cond delay="0" evt="onClick">
                    <p:tgtEl>
                      <p:spTgt spid="374"/>
                    </p:tgtEl>
                  </p:cond>
                </p:stCondLst>
                <p:childTnLst>
                  <p:par>
                    <p:cTn id="117" fill="hold">
                      <p:stCondLst>
                        <p:cond delay="0" evt="onClick">
                          <p:tgtEl>
                            <p:spTgt spid="374"/>
                          </p:tgtEl>
                        </p:cond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20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22" restart="whenNotActive" nodeType="interactiveSeq" fill="hold">
                <p:stCondLst>
                  <p:cond delay="0" evt="onClick">
                    <p:tgtEl>
                      <p:spTgt spid="375"/>
                    </p:tgtEl>
                  </p:cond>
                </p:stCondLst>
                <p:childTnLst>
                  <p:par>
                    <p:cTn id="123" fill="hold">
                      <p:stCondLst>
                        <p:cond delay="0" evt="onClick">
                          <p:tgtEl>
                            <p:spTgt spid="375"/>
                          </p:tgtEl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26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e0ac2b"/>
                </a:solidFill>
                <a:latin typeface="Calibri"/>
              </a:rPr>
              <a:t>GRAPHS IN ACTION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Box 4"/>
          <p:cNvSpPr/>
          <p:nvPr/>
        </p:nvSpPr>
        <p:spPr>
          <a:xfrm>
            <a:off x="1325880" y="712800"/>
            <a:ext cx="987516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</a:rPr>
              <a:t>Seeing Every Rule as a Graph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edebdd"/>
                </a:solidFill>
                <a:latin typeface="Calibri"/>
              </a:rPr>
              <a:t>For each transformation below we sketch the graph and track exactly where every point moves.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Rounded Rectangle 6"/>
          <p:cNvSpPr/>
          <p:nvPr/>
        </p:nvSpPr>
        <p:spPr>
          <a:xfrm>
            <a:off x="567000" y="196596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y = f(x) + a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vertical shift up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Rounded Rectangle 7"/>
          <p:cNvSpPr/>
          <p:nvPr/>
        </p:nvSpPr>
        <p:spPr>
          <a:xfrm>
            <a:off x="567000" y="282564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y = f(x) − a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vertical shift down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Rounded Rectangle 8"/>
          <p:cNvSpPr/>
          <p:nvPr/>
        </p:nvSpPr>
        <p:spPr>
          <a:xfrm>
            <a:off x="567000" y="368496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y = a f(x)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vertical stretch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, </a:t>
            </a:r>
            <a:r>
              <a:rPr b="0" lang="en-US" sz="1300" spc="-1" strike="noStrike">
                <a:solidFill>
                  <a:schemeClr val="lt1"/>
                </a:solidFill>
                <a:latin typeface="Cambria"/>
                <a:ea typeface="Cambria"/>
              </a:rPr>
              <a:t>factor 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Rounded Rectangle 9"/>
          <p:cNvSpPr/>
          <p:nvPr/>
        </p:nvSpPr>
        <p:spPr>
          <a:xfrm>
            <a:off x="567000" y="454464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y = −f(x)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reflect in x-axis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Rounded Rectangle 10"/>
          <p:cNvSpPr/>
          <p:nvPr/>
        </p:nvSpPr>
        <p:spPr>
          <a:xfrm>
            <a:off x="6282000" y="196596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y = f(x + a)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horizontal shift left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Rounded Rectangle 11"/>
          <p:cNvSpPr/>
          <p:nvPr/>
        </p:nvSpPr>
        <p:spPr>
          <a:xfrm>
            <a:off x="6282000" y="282564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y = f(x − a)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horizontal shift right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Rounded Rectangle 12"/>
          <p:cNvSpPr/>
          <p:nvPr/>
        </p:nvSpPr>
        <p:spPr>
          <a:xfrm>
            <a:off x="6282000" y="368496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y = f(ax)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horizontal stretch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, </a:t>
            </a:r>
            <a:r>
              <a:rPr b="0" lang="en-US" sz="1300" spc="-1" strike="noStrike">
                <a:solidFill>
                  <a:schemeClr val="lt1"/>
                </a:solidFill>
                <a:latin typeface="Cambria"/>
                <a:ea typeface="Cambria"/>
              </a:rPr>
              <a:t>factor 1/a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Rounded Rectangle 13"/>
          <p:cNvSpPr/>
          <p:nvPr/>
        </p:nvSpPr>
        <p:spPr>
          <a:xfrm>
            <a:off x="6282000" y="454464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y = f(−x)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reflect in y-axis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Rounded Rectangle 14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</a:rPr>
              <a:t>Base curve used throughout: y = f(x) = x², with points (−2, 4), (−1, 1), (0, 0), (1, 1), (2, 4).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VERTICAL TRANSLATION · DOWN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4"/>
          <p:cNvSpPr/>
          <p:nvPr/>
        </p:nvSpPr>
        <p:spPr>
          <a:xfrm>
            <a:off x="1325880" y="74340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y = f(x) − 3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Outside the bracket → subtract 3 from every y-value. The graph slides straight down 3 units.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Rounded Rectangle 6"/>
          <p:cNvSpPr/>
          <p:nvPr/>
        </p:nvSpPr>
        <p:spPr>
          <a:xfrm>
            <a:off x="567000" y="1874520"/>
            <a:ext cx="534888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396" name="Table 8"/>
          <p:cNvGraphicFramePr/>
          <p:nvPr/>
        </p:nvGraphicFramePr>
        <p:xfrm>
          <a:off x="6263640" y="1874520"/>
          <a:ext cx="5357880" cy="3401280"/>
        </p:xfrm>
        <a:graphic>
          <a:graphicData uri="http://schemas.openxmlformats.org/drawingml/2006/table">
            <a:tbl>
              <a:tblPr/>
              <a:tblGrid>
                <a:gridCol w="2679120"/>
                <a:gridCol w="2679120"/>
              </a:tblGrid>
              <a:tr h="566640">
                <a:tc>
                  <a:txBody>
                    <a:bodyPr lIns="109440" rIns="109440" tIns="36360" bIns="36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Original point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New point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(-2,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(-2,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(-1,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(-1, -2)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(0, 0)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(0, -3)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(1, 1)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(1, -2)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(2, 4)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(2, 1)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</a:tbl>
          </a:graphicData>
        </a:graphic>
      </p:graphicFrame>
      <p:sp>
        <p:nvSpPr>
          <p:cNvPr id="397" name="Rounded Rectangle 9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</a:rPr>
              <a:t>Rule: (x, y) → (x, y − 3).  Every point moves down 3 units — the shape stays identical.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98" name="Connector 10"/>
          <p:cNvCxnSpPr/>
          <p:nvPr/>
        </p:nvCxnSpPr>
        <p:spPr>
          <a:xfrm>
            <a:off x="98496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399" name="Connector 11"/>
          <p:cNvCxnSpPr/>
          <p:nvPr/>
        </p:nvCxnSpPr>
        <p:spPr>
          <a:xfrm>
            <a:off x="154908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00" name="Connector 12"/>
          <p:cNvCxnSpPr/>
          <p:nvPr/>
        </p:nvCxnSpPr>
        <p:spPr>
          <a:xfrm>
            <a:off x="211320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01" name="Connector 13"/>
          <p:cNvCxnSpPr/>
          <p:nvPr/>
        </p:nvCxnSpPr>
        <p:spPr>
          <a:xfrm>
            <a:off x="267732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02" name="Connector 14"/>
          <p:cNvCxnSpPr/>
          <p:nvPr/>
        </p:nvCxnSpPr>
        <p:spPr>
          <a:xfrm>
            <a:off x="324144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03" name="Connector 15"/>
          <p:cNvCxnSpPr/>
          <p:nvPr/>
        </p:nvCxnSpPr>
        <p:spPr>
          <a:xfrm>
            <a:off x="380556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04" name="Connector 16"/>
          <p:cNvCxnSpPr/>
          <p:nvPr/>
        </p:nvCxnSpPr>
        <p:spPr>
          <a:xfrm>
            <a:off x="436968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05" name="Connector 17"/>
          <p:cNvCxnSpPr/>
          <p:nvPr/>
        </p:nvCxnSpPr>
        <p:spPr>
          <a:xfrm>
            <a:off x="493380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06" name="Connector 18"/>
          <p:cNvCxnSpPr/>
          <p:nvPr/>
        </p:nvCxnSpPr>
        <p:spPr>
          <a:xfrm>
            <a:off x="549792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07" name="Connector 19"/>
          <p:cNvCxnSpPr/>
          <p:nvPr/>
        </p:nvCxnSpPr>
        <p:spPr>
          <a:xfrm>
            <a:off x="984960" y="52851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08" name="Connector 20"/>
          <p:cNvCxnSpPr/>
          <p:nvPr/>
        </p:nvCxnSpPr>
        <p:spPr>
          <a:xfrm>
            <a:off x="984960" y="50493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09" name="Connector 21"/>
          <p:cNvCxnSpPr/>
          <p:nvPr/>
        </p:nvCxnSpPr>
        <p:spPr>
          <a:xfrm>
            <a:off x="984960" y="48135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10" name="Connector 22"/>
          <p:cNvCxnSpPr/>
          <p:nvPr/>
        </p:nvCxnSpPr>
        <p:spPr>
          <a:xfrm>
            <a:off x="984960" y="45777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11" name="Connector 23"/>
          <p:cNvCxnSpPr/>
          <p:nvPr/>
        </p:nvCxnSpPr>
        <p:spPr>
          <a:xfrm>
            <a:off x="984960" y="43419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12" name="Connector 24"/>
          <p:cNvCxnSpPr/>
          <p:nvPr/>
        </p:nvCxnSpPr>
        <p:spPr>
          <a:xfrm>
            <a:off x="984960" y="41061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13" name="Connector 25"/>
          <p:cNvCxnSpPr/>
          <p:nvPr/>
        </p:nvCxnSpPr>
        <p:spPr>
          <a:xfrm>
            <a:off x="984960" y="38703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14" name="Connector 26"/>
          <p:cNvCxnSpPr/>
          <p:nvPr/>
        </p:nvCxnSpPr>
        <p:spPr>
          <a:xfrm>
            <a:off x="984960" y="36345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15" name="Connector 27"/>
          <p:cNvCxnSpPr/>
          <p:nvPr/>
        </p:nvCxnSpPr>
        <p:spPr>
          <a:xfrm>
            <a:off x="984960" y="33987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16" name="Connector 28"/>
          <p:cNvCxnSpPr/>
          <p:nvPr/>
        </p:nvCxnSpPr>
        <p:spPr>
          <a:xfrm>
            <a:off x="984960" y="31629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17" name="Connector 29"/>
          <p:cNvCxnSpPr/>
          <p:nvPr/>
        </p:nvCxnSpPr>
        <p:spPr>
          <a:xfrm>
            <a:off x="984960" y="29271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18" name="Connector 30"/>
          <p:cNvCxnSpPr/>
          <p:nvPr/>
        </p:nvCxnSpPr>
        <p:spPr>
          <a:xfrm>
            <a:off x="984960" y="26913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19" name="Connector 31"/>
          <p:cNvCxnSpPr/>
          <p:nvPr/>
        </p:nvCxnSpPr>
        <p:spPr>
          <a:xfrm>
            <a:off x="984960" y="24555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20" name="Connector 32"/>
          <p:cNvCxnSpPr/>
          <p:nvPr/>
        </p:nvCxnSpPr>
        <p:spPr>
          <a:xfrm>
            <a:off x="984960" y="22197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21" name="Connector 33"/>
          <p:cNvCxnSpPr/>
          <p:nvPr/>
        </p:nvCxnSpPr>
        <p:spPr>
          <a:xfrm>
            <a:off x="984960" y="19839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22" name="Connector 34"/>
          <p:cNvCxnSpPr/>
          <p:nvPr/>
        </p:nvCxnSpPr>
        <p:spPr>
          <a:xfrm>
            <a:off x="984960" y="3870360"/>
            <a:ext cx="4513320" cy="360"/>
          </a:xfrm>
          <a:prstGeom prst="straightConnector1">
            <a:avLst/>
          </a:prstGeom>
          <a:ln w="17780">
            <a:solidFill>
              <a:srgbClr val="1c2a22"/>
            </a:solidFill>
          </a:ln>
        </p:spPr>
      </p:cxnSp>
      <p:cxnSp>
        <p:nvCxnSpPr>
          <p:cNvPr id="423" name="Connector 35"/>
          <p:cNvCxnSpPr/>
          <p:nvPr/>
        </p:nvCxnSpPr>
        <p:spPr>
          <a:xfrm>
            <a:off x="3241440" y="1983960"/>
            <a:ext cx="360" cy="3301560"/>
          </a:xfrm>
          <a:prstGeom prst="straightConnector1">
            <a:avLst/>
          </a:prstGeom>
          <a:ln w="17780">
            <a:solidFill>
              <a:srgbClr val="1c2a22"/>
            </a:solidFill>
          </a:ln>
        </p:spPr>
      </p:cxnSp>
      <p:sp>
        <p:nvSpPr>
          <p:cNvPr id="424" name="TextBox 36"/>
          <p:cNvSpPr/>
          <p:nvPr/>
        </p:nvSpPr>
        <p:spPr>
          <a:xfrm>
            <a:off x="938520" y="390600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Box 37"/>
          <p:cNvSpPr/>
          <p:nvPr/>
        </p:nvSpPr>
        <p:spPr>
          <a:xfrm>
            <a:off x="2066760" y="390600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Box 38"/>
          <p:cNvSpPr/>
          <p:nvPr/>
        </p:nvSpPr>
        <p:spPr>
          <a:xfrm>
            <a:off x="4340160" y="390600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Box 39"/>
          <p:cNvSpPr/>
          <p:nvPr/>
        </p:nvSpPr>
        <p:spPr>
          <a:xfrm>
            <a:off x="5468400" y="390600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Box 40"/>
          <p:cNvSpPr/>
          <p:nvPr/>
        </p:nvSpPr>
        <p:spPr>
          <a:xfrm>
            <a:off x="3015000" y="521568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Box 41"/>
          <p:cNvSpPr/>
          <p:nvPr/>
        </p:nvSpPr>
        <p:spPr>
          <a:xfrm>
            <a:off x="3015000" y="474408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Box 42"/>
          <p:cNvSpPr/>
          <p:nvPr/>
        </p:nvSpPr>
        <p:spPr>
          <a:xfrm>
            <a:off x="3015000" y="427248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Box 43"/>
          <p:cNvSpPr/>
          <p:nvPr/>
        </p:nvSpPr>
        <p:spPr>
          <a:xfrm>
            <a:off x="3031560" y="332964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Box 44"/>
          <p:cNvSpPr/>
          <p:nvPr/>
        </p:nvSpPr>
        <p:spPr>
          <a:xfrm>
            <a:off x="3031560" y="285804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45"/>
          <p:cNvSpPr/>
          <p:nvPr/>
        </p:nvSpPr>
        <p:spPr>
          <a:xfrm>
            <a:off x="3031560" y="238644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Box 46"/>
          <p:cNvSpPr/>
          <p:nvPr/>
        </p:nvSpPr>
        <p:spPr>
          <a:xfrm>
            <a:off x="3031560" y="191484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Freeform 7"/>
          <p:cNvSpPr/>
          <p:nvPr/>
        </p:nvSpPr>
        <p:spPr>
          <a:xfrm>
            <a:off x="1665000" y="2028600"/>
            <a:ext cx="3152880" cy="1841400"/>
          </a:xfrm>
          <a:custGeom>
            <a:avLst/>
            <a:gdLst>
              <a:gd name="textAreaLeft" fmla="*/ 0 w 3152880"/>
              <a:gd name="textAreaRight" fmla="*/ 3153240 w 3152880"/>
              <a:gd name="textAreaTop" fmla="*/ 0 h 1841400"/>
              <a:gd name="textAreaBottom" fmla="*/ 1841760 h 1841400"/>
            </a:gdLst>
            <a:ahLst/>
            <a:rect l="textAreaLeft" t="textAreaTop" r="textAreaRight" b="textAreaBottom"/>
            <a:pathLst>
              <a:path w="3153418" h="1841861">
                <a:moveTo>
                  <a:pt x="0" y="0"/>
                </a:moveTo>
                <a:lnTo>
                  <a:pt x="18883" y="43854"/>
                </a:lnTo>
                <a:lnTo>
                  <a:pt x="37766" y="87179"/>
                </a:lnTo>
                <a:lnTo>
                  <a:pt x="56648" y="129976"/>
                </a:lnTo>
                <a:lnTo>
                  <a:pt x="75531" y="172245"/>
                </a:lnTo>
                <a:lnTo>
                  <a:pt x="94414" y="213985"/>
                </a:lnTo>
                <a:lnTo>
                  <a:pt x="113297" y="255197"/>
                </a:lnTo>
                <a:lnTo>
                  <a:pt x="132179" y="295881"/>
                </a:lnTo>
                <a:lnTo>
                  <a:pt x="151062" y="336036"/>
                </a:lnTo>
                <a:lnTo>
                  <a:pt x="169945" y="375663"/>
                </a:lnTo>
                <a:lnTo>
                  <a:pt x="188828" y="414762"/>
                </a:lnTo>
                <a:lnTo>
                  <a:pt x="207710" y="453332"/>
                </a:lnTo>
                <a:lnTo>
                  <a:pt x="226593" y="491374"/>
                </a:lnTo>
                <a:lnTo>
                  <a:pt x="245476" y="528888"/>
                </a:lnTo>
                <a:lnTo>
                  <a:pt x="264359" y="565873"/>
                </a:lnTo>
                <a:lnTo>
                  <a:pt x="283241" y="602330"/>
                </a:lnTo>
                <a:lnTo>
                  <a:pt x="302124" y="638258"/>
                </a:lnTo>
                <a:lnTo>
                  <a:pt x="321007" y="673658"/>
                </a:lnTo>
                <a:lnTo>
                  <a:pt x="339889" y="708530"/>
                </a:lnTo>
                <a:lnTo>
                  <a:pt x="358772" y="742873"/>
                </a:lnTo>
                <a:lnTo>
                  <a:pt x="377655" y="776688"/>
                </a:lnTo>
                <a:lnTo>
                  <a:pt x="396538" y="809975"/>
                </a:lnTo>
                <a:lnTo>
                  <a:pt x="415420" y="842733"/>
                </a:lnTo>
                <a:lnTo>
                  <a:pt x="434303" y="874963"/>
                </a:lnTo>
                <a:lnTo>
                  <a:pt x="453186" y="906665"/>
                </a:lnTo>
                <a:lnTo>
                  <a:pt x="472069" y="937838"/>
                </a:lnTo>
                <a:lnTo>
                  <a:pt x="490951" y="968483"/>
                </a:lnTo>
                <a:lnTo>
                  <a:pt x="509834" y="998599"/>
                </a:lnTo>
                <a:lnTo>
                  <a:pt x="528717" y="1028187"/>
                </a:lnTo>
                <a:lnTo>
                  <a:pt x="547600" y="1057247"/>
                </a:lnTo>
                <a:lnTo>
                  <a:pt x="566482" y="1085779"/>
                </a:lnTo>
                <a:lnTo>
                  <a:pt x="585365" y="1113782"/>
                </a:lnTo>
                <a:lnTo>
                  <a:pt x="604248" y="1141256"/>
                </a:lnTo>
                <a:lnTo>
                  <a:pt x="623131" y="1168203"/>
                </a:lnTo>
                <a:lnTo>
                  <a:pt x="642013" y="1194621"/>
                </a:lnTo>
                <a:lnTo>
                  <a:pt x="660896" y="1220510"/>
                </a:lnTo>
                <a:lnTo>
                  <a:pt x="679779" y="1245871"/>
                </a:lnTo>
                <a:lnTo>
                  <a:pt x="698662" y="1270704"/>
                </a:lnTo>
                <a:lnTo>
                  <a:pt x="717544" y="1295009"/>
                </a:lnTo>
                <a:lnTo>
                  <a:pt x="736427" y="1318785"/>
                </a:lnTo>
                <a:lnTo>
                  <a:pt x="755310" y="1342033"/>
                </a:lnTo>
                <a:lnTo>
                  <a:pt x="774193" y="1364752"/>
                </a:lnTo>
                <a:lnTo>
                  <a:pt x="793075" y="1386943"/>
                </a:lnTo>
                <a:lnTo>
                  <a:pt x="811958" y="1408606"/>
                </a:lnTo>
                <a:lnTo>
                  <a:pt x="830841" y="1429741"/>
                </a:lnTo>
                <a:lnTo>
                  <a:pt x="849723" y="1450347"/>
                </a:lnTo>
                <a:lnTo>
                  <a:pt x="868606" y="1470424"/>
                </a:lnTo>
                <a:lnTo>
                  <a:pt x="887489" y="1489974"/>
                </a:lnTo>
                <a:lnTo>
                  <a:pt x="906372" y="1508995"/>
                </a:lnTo>
                <a:lnTo>
                  <a:pt x="925254" y="1527487"/>
                </a:lnTo>
                <a:lnTo>
                  <a:pt x="944137" y="1545451"/>
                </a:lnTo>
                <a:lnTo>
                  <a:pt x="963020" y="1562887"/>
                </a:lnTo>
                <a:lnTo>
                  <a:pt x="981903" y="1579795"/>
                </a:lnTo>
                <a:lnTo>
                  <a:pt x="1000785" y="1596174"/>
                </a:lnTo>
                <a:lnTo>
                  <a:pt x="1019668" y="1612025"/>
                </a:lnTo>
                <a:lnTo>
                  <a:pt x="1038551" y="1627347"/>
                </a:lnTo>
                <a:lnTo>
                  <a:pt x="1057434" y="1642141"/>
                </a:lnTo>
                <a:lnTo>
                  <a:pt x="1076316" y="1656407"/>
                </a:lnTo>
                <a:lnTo>
                  <a:pt x="1095199" y="1670144"/>
                </a:lnTo>
                <a:lnTo>
                  <a:pt x="1114082" y="1683353"/>
                </a:lnTo>
                <a:lnTo>
                  <a:pt x="1132965" y="1696034"/>
                </a:lnTo>
                <a:lnTo>
                  <a:pt x="1151847" y="1708186"/>
                </a:lnTo>
                <a:lnTo>
                  <a:pt x="1170730" y="1719810"/>
                </a:lnTo>
                <a:lnTo>
                  <a:pt x="1189613" y="1730906"/>
                </a:lnTo>
                <a:lnTo>
                  <a:pt x="1208496" y="1741473"/>
                </a:lnTo>
                <a:lnTo>
                  <a:pt x="1227378" y="1751512"/>
                </a:lnTo>
                <a:lnTo>
                  <a:pt x="1246261" y="1761022"/>
                </a:lnTo>
                <a:lnTo>
                  <a:pt x="1265144" y="1770004"/>
                </a:lnTo>
                <a:lnTo>
                  <a:pt x="1284027" y="1778458"/>
                </a:lnTo>
                <a:lnTo>
                  <a:pt x="1302909" y="1786383"/>
                </a:lnTo>
                <a:lnTo>
                  <a:pt x="1321792" y="1793780"/>
                </a:lnTo>
                <a:lnTo>
                  <a:pt x="1340675" y="1800649"/>
                </a:lnTo>
                <a:lnTo>
                  <a:pt x="1359557" y="1806989"/>
                </a:lnTo>
                <a:lnTo>
                  <a:pt x="1378440" y="1812801"/>
                </a:lnTo>
                <a:lnTo>
                  <a:pt x="1397323" y="1818085"/>
                </a:lnTo>
                <a:lnTo>
                  <a:pt x="1416206" y="1822840"/>
                </a:lnTo>
                <a:lnTo>
                  <a:pt x="1435088" y="1827067"/>
                </a:lnTo>
                <a:lnTo>
                  <a:pt x="1453971" y="1830765"/>
                </a:lnTo>
                <a:lnTo>
                  <a:pt x="1472854" y="1833936"/>
                </a:lnTo>
                <a:lnTo>
                  <a:pt x="1491737" y="1836577"/>
                </a:lnTo>
                <a:lnTo>
                  <a:pt x="1510619" y="1838691"/>
                </a:lnTo>
                <a:lnTo>
                  <a:pt x="1529502" y="1840276"/>
                </a:lnTo>
                <a:lnTo>
                  <a:pt x="1548385" y="1841333"/>
                </a:lnTo>
                <a:lnTo>
                  <a:pt x="1567268" y="1841861"/>
                </a:lnTo>
                <a:lnTo>
                  <a:pt x="1586150" y="1841861"/>
                </a:lnTo>
                <a:lnTo>
                  <a:pt x="1605033" y="1841333"/>
                </a:lnTo>
                <a:lnTo>
                  <a:pt x="1623916" y="1840276"/>
                </a:lnTo>
                <a:lnTo>
                  <a:pt x="1642799" y="1838691"/>
                </a:lnTo>
                <a:lnTo>
                  <a:pt x="1661681" y="1836577"/>
                </a:lnTo>
                <a:lnTo>
                  <a:pt x="1680564" y="1833936"/>
                </a:lnTo>
                <a:lnTo>
                  <a:pt x="1699447" y="1830765"/>
                </a:lnTo>
                <a:lnTo>
                  <a:pt x="1718330" y="1827067"/>
                </a:lnTo>
                <a:lnTo>
                  <a:pt x="1737212" y="1822840"/>
                </a:lnTo>
                <a:lnTo>
                  <a:pt x="1756095" y="1818085"/>
                </a:lnTo>
                <a:lnTo>
                  <a:pt x="1774978" y="1812801"/>
                </a:lnTo>
                <a:lnTo>
                  <a:pt x="1793861" y="1806989"/>
                </a:lnTo>
                <a:lnTo>
                  <a:pt x="1812743" y="1800649"/>
                </a:lnTo>
                <a:lnTo>
                  <a:pt x="1831626" y="1793780"/>
                </a:lnTo>
                <a:lnTo>
                  <a:pt x="1850509" y="1786383"/>
                </a:lnTo>
                <a:lnTo>
                  <a:pt x="1869391" y="1778458"/>
                </a:lnTo>
                <a:lnTo>
                  <a:pt x="1888274" y="1770004"/>
                </a:lnTo>
                <a:lnTo>
                  <a:pt x="1907157" y="1761022"/>
                </a:lnTo>
                <a:lnTo>
                  <a:pt x="1926040" y="1751512"/>
                </a:lnTo>
                <a:lnTo>
                  <a:pt x="1944922" y="1741473"/>
                </a:lnTo>
                <a:lnTo>
                  <a:pt x="1963805" y="1730906"/>
                </a:lnTo>
                <a:lnTo>
                  <a:pt x="1982688" y="1719810"/>
                </a:lnTo>
                <a:lnTo>
                  <a:pt x="2001571" y="1708186"/>
                </a:lnTo>
                <a:lnTo>
                  <a:pt x="2020453" y="1696034"/>
                </a:lnTo>
                <a:lnTo>
                  <a:pt x="2039336" y="1683353"/>
                </a:lnTo>
                <a:lnTo>
                  <a:pt x="2058219" y="1670144"/>
                </a:lnTo>
                <a:lnTo>
                  <a:pt x="2077102" y="1656407"/>
                </a:lnTo>
                <a:lnTo>
                  <a:pt x="2095984" y="1642141"/>
                </a:lnTo>
                <a:lnTo>
                  <a:pt x="2114867" y="1627347"/>
                </a:lnTo>
                <a:lnTo>
                  <a:pt x="2133750" y="1612025"/>
                </a:lnTo>
                <a:lnTo>
                  <a:pt x="2152633" y="1596174"/>
                </a:lnTo>
                <a:lnTo>
                  <a:pt x="2171515" y="1579795"/>
                </a:lnTo>
                <a:lnTo>
                  <a:pt x="2190398" y="1562887"/>
                </a:lnTo>
                <a:lnTo>
                  <a:pt x="2209281" y="1545451"/>
                </a:lnTo>
                <a:lnTo>
                  <a:pt x="2228164" y="1527487"/>
                </a:lnTo>
                <a:lnTo>
                  <a:pt x="2247046" y="1508995"/>
                </a:lnTo>
                <a:lnTo>
                  <a:pt x="2265929" y="1489974"/>
                </a:lnTo>
                <a:lnTo>
                  <a:pt x="2284812" y="1470424"/>
                </a:lnTo>
                <a:lnTo>
                  <a:pt x="2303695" y="1450347"/>
                </a:lnTo>
                <a:lnTo>
                  <a:pt x="2322577" y="1429741"/>
                </a:lnTo>
                <a:lnTo>
                  <a:pt x="2341460" y="1408606"/>
                </a:lnTo>
                <a:lnTo>
                  <a:pt x="2360343" y="1386943"/>
                </a:lnTo>
                <a:lnTo>
                  <a:pt x="2379225" y="1364752"/>
                </a:lnTo>
                <a:lnTo>
                  <a:pt x="2398108" y="1342033"/>
                </a:lnTo>
                <a:lnTo>
                  <a:pt x="2416991" y="1318785"/>
                </a:lnTo>
                <a:lnTo>
                  <a:pt x="2435874" y="1295009"/>
                </a:lnTo>
                <a:lnTo>
                  <a:pt x="2454756" y="1270704"/>
                </a:lnTo>
                <a:lnTo>
                  <a:pt x="2473639" y="1245871"/>
                </a:lnTo>
                <a:lnTo>
                  <a:pt x="2492522" y="1220510"/>
                </a:lnTo>
                <a:lnTo>
                  <a:pt x="2511405" y="1194621"/>
                </a:lnTo>
                <a:lnTo>
                  <a:pt x="2530287" y="1168203"/>
                </a:lnTo>
                <a:lnTo>
                  <a:pt x="2549170" y="1141256"/>
                </a:lnTo>
                <a:lnTo>
                  <a:pt x="2568053" y="1113782"/>
                </a:lnTo>
                <a:lnTo>
                  <a:pt x="2586936" y="1085779"/>
                </a:lnTo>
                <a:lnTo>
                  <a:pt x="2605818" y="1057247"/>
                </a:lnTo>
                <a:lnTo>
                  <a:pt x="2624701" y="1028187"/>
                </a:lnTo>
                <a:lnTo>
                  <a:pt x="2643584" y="998599"/>
                </a:lnTo>
                <a:lnTo>
                  <a:pt x="2662467" y="968483"/>
                </a:lnTo>
                <a:lnTo>
                  <a:pt x="2681349" y="937838"/>
                </a:lnTo>
                <a:lnTo>
                  <a:pt x="2700232" y="906665"/>
                </a:lnTo>
                <a:lnTo>
                  <a:pt x="2719115" y="874963"/>
                </a:lnTo>
                <a:lnTo>
                  <a:pt x="2737998" y="842733"/>
                </a:lnTo>
                <a:lnTo>
                  <a:pt x="2756880" y="809975"/>
                </a:lnTo>
                <a:lnTo>
                  <a:pt x="2775763" y="776688"/>
                </a:lnTo>
                <a:lnTo>
                  <a:pt x="2794646" y="742873"/>
                </a:lnTo>
                <a:lnTo>
                  <a:pt x="2813529" y="708530"/>
                </a:lnTo>
                <a:lnTo>
                  <a:pt x="2832411" y="673658"/>
                </a:lnTo>
                <a:lnTo>
                  <a:pt x="2851294" y="638258"/>
                </a:lnTo>
                <a:lnTo>
                  <a:pt x="2870177" y="602330"/>
                </a:lnTo>
                <a:lnTo>
                  <a:pt x="2889059" y="565873"/>
                </a:lnTo>
                <a:lnTo>
                  <a:pt x="2907942" y="528888"/>
                </a:lnTo>
                <a:lnTo>
                  <a:pt x="2926825" y="491374"/>
                </a:lnTo>
                <a:lnTo>
                  <a:pt x="2945708" y="453332"/>
                </a:lnTo>
                <a:lnTo>
                  <a:pt x="2964590" y="414762"/>
                </a:lnTo>
                <a:lnTo>
                  <a:pt x="2983473" y="375663"/>
                </a:lnTo>
                <a:lnTo>
                  <a:pt x="3002356" y="336036"/>
                </a:lnTo>
                <a:lnTo>
                  <a:pt x="3021239" y="295881"/>
                </a:lnTo>
                <a:lnTo>
                  <a:pt x="3040121" y="255197"/>
                </a:lnTo>
                <a:lnTo>
                  <a:pt x="3059004" y="213985"/>
                </a:lnTo>
                <a:lnTo>
                  <a:pt x="3077887" y="172245"/>
                </a:lnTo>
                <a:lnTo>
                  <a:pt x="3096770" y="129976"/>
                </a:lnTo>
                <a:lnTo>
                  <a:pt x="3115652" y="87179"/>
                </a:lnTo>
                <a:lnTo>
                  <a:pt x="3134535" y="43854"/>
                </a:lnTo>
                <a:lnTo>
                  <a:pt x="3153418" y="0"/>
                </a:lnTo>
              </a:path>
            </a:pathLst>
          </a:custGeom>
          <a:noFill/>
          <a:ln w="30480">
            <a:solidFill>
              <a:srgbClr val="5c6b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6" name="Freeform 47"/>
          <p:cNvSpPr/>
          <p:nvPr/>
        </p:nvSpPr>
        <p:spPr>
          <a:xfrm>
            <a:off x="1381680" y="2014560"/>
            <a:ext cx="3719520" cy="2562840"/>
          </a:xfrm>
          <a:custGeom>
            <a:avLst/>
            <a:gdLst>
              <a:gd name="textAreaLeft" fmla="*/ 0 w 3719520"/>
              <a:gd name="textAreaRight" fmla="*/ 3719880 w 3719520"/>
              <a:gd name="textAreaTop" fmla="*/ 0 h 2562840"/>
              <a:gd name="textAreaBottom" fmla="*/ 2563200 h 2562840"/>
            </a:gdLst>
            <a:ahLst/>
            <a:rect l="textAreaLeft" t="textAreaTop" r="textAreaRight" b="textAreaBottom"/>
            <a:pathLst>
              <a:path w="3719900" h="2563072">
                <a:moveTo>
                  <a:pt x="0" y="0"/>
                </a:moveTo>
                <a:lnTo>
                  <a:pt x="18883" y="51779"/>
                </a:lnTo>
                <a:lnTo>
                  <a:pt x="37766" y="103030"/>
                </a:lnTo>
                <a:lnTo>
                  <a:pt x="56648" y="153752"/>
                </a:lnTo>
                <a:lnTo>
                  <a:pt x="75531" y="203946"/>
                </a:lnTo>
                <a:lnTo>
                  <a:pt x="94414" y="253612"/>
                </a:lnTo>
                <a:lnTo>
                  <a:pt x="113296" y="302750"/>
                </a:lnTo>
                <a:lnTo>
                  <a:pt x="132179" y="351359"/>
                </a:lnTo>
                <a:lnTo>
                  <a:pt x="151062" y="399439"/>
                </a:lnTo>
                <a:lnTo>
                  <a:pt x="169945" y="446992"/>
                </a:lnTo>
                <a:lnTo>
                  <a:pt x="188827" y="494016"/>
                </a:lnTo>
                <a:lnTo>
                  <a:pt x="207710" y="540511"/>
                </a:lnTo>
                <a:lnTo>
                  <a:pt x="226593" y="586479"/>
                </a:lnTo>
                <a:lnTo>
                  <a:pt x="245476" y="631918"/>
                </a:lnTo>
                <a:lnTo>
                  <a:pt x="264358" y="676828"/>
                </a:lnTo>
                <a:lnTo>
                  <a:pt x="283241" y="721210"/>
                </a:lnTo>
                <a:lnTo>
                  <a:pt x="302124" y="765064"/>
                </a:lnTo>
                <a:lnTo>
                  <a:pt x="321007" y="808390"/>
                </a:lnTo>
                <a:lnTo>
                  <a:pt x="339889" y="851187"/>
                </a:lnTo>
                <a:lnTo>
                  <a:pt x="358772" y="893456"/>
                </a:lnTo>
                <a:lnTo>
                  <a:pt x="377655" y="935196"/>
                </a:lnTo>
                <a:lnTo>
                  <a:pt x="396538" y="976408"/>
                </a:lnTo>
                <a:lnTo>
                  <a:pt x="415420" y="1017092"/>
                </a:lnTo>
                <a:lnTo>
                  <a:pt x="434303" y="1057247"/>
                </a:lnTo>
                <a:lnTo>
                  <a:pt x="453186" y="1096874"/>
                </a:lnTo>
                <a:lnTo>
                  <a:pt x="472069" y="1135973"/>
                </a:lnTo>
                <a:lnTo>
                  <a:pt x="490951" y="1174543"/>
                </a:lnTo>
                <a:lnTo>
                  <a:pt x="509834" y="1212585"/>
                </a:lnTo>
                <a:lnTo>
                  <a:pt x="528717" y="1250098"/>
                </a:lnTo>
                <a:lnTo>
                  <a:pt x="547600" y="1287083"/>
                </a:lnTo>
                <a:lnTo>
                  <a:pt x="566482" y="1323540"/>
                </a:lnTo>
                <a:lnTo>
                  <a:pt x="585365" y="1359469"/>
                </a:lnTo>
                <a:lnTo>
                  <a:pt x="604248" y="1394869"/>
                </a:lnTo>
                <a:lnTo>
                  <a:pt x="623130" y="1429741"/>
                </a:lnTo>
                <a:lnTo>
                  <a:pt x="642013" y="1464084"/>
                </a:lnTo>
                <a:lnTo>
                  <a:pt x="660896" y="1497899"/>
                </a:lnTo>
                <a:lnTo>
                  <a:pt x="679779" y="1531186"/>
                </a:lnTo>
                <a:lnTo>
                  <a:pt x="698661" y="1563944"/>
                </a:lnTo>
                <a:lnTo>
                  <a:pt x="717544" y="1596174"/>
                </a:lnTo>
                <a:lnTo>
                  <a:pt x="736427" y="1627875"/>
                </a:lnTo>
                <a:lnTo>
                  <a:pt x="755310" y="1659049"/>
                </a:lnTo>
                <a:lnTo>
                  <a:pt x="774192" y="1689693"/>
                </a:lnTo>
                <a:lnTo>
                  <a:pt x="793075" y="1719810"/>
                </a:lnTo>
                <a:lnTo>
                  <a:pt x="811958" y="1749398"/>
                </a:lnTo>
                <a:lnTo>
                  <a:pt x="830841" y="1778458"/>
                </a:lnTo>
                <a:lnTo>
                  <a:pt x="849723" y="1806989"/>
                </a:lnTo>
                <a:lnTo>
                  <a:pt x="868606" y="1834992"/>
                </a:lnTo>
                <a:lnTo>
                  <a:pt x="887489" y="1862467"/>
                </a:lnTo>
                <a:lnTo>
                  <a:pt x="906372" y="1889413"/>
                </a:lnTo>
                <a:lnTo>
                  <a:pt x="925254" y="1915831"/>
                </a:lnTo>
                <a:lnTo>
                  <a:pt x="944137" y="1941721"/>
                </a:lnTo>
                <a:lnTo>
                  <a:pt x="963020" y="1967082"/>
                </a:lnTo>
                <a:lnTo>
                  <a:pt x="981903" y="1991915"/>
                </a:lnTo>
                <a:lnTo>
                  <a:pt x="1000785" y="2016220"/>
                </a:lnTo>
                <a:lnTo>
                  <a:pt x="1019668" y="2039996"/>
                </a:lnTo>
                <a:lnTo>
                  <a:pt x="1038551" y="2063244"/>
                </a:lnTo>
                <a:lnTo>
                  <a:pt x="1057434" y="2085963"/>
                </a:lnTo>
                <a:lnTo>
                  <a:pt x="1076316" y="2108154"/>
                </a:lnTo>
                <a:lnTo>
                  <a:pt x="1095199" y="2129817"/>
                </a:lnTo>
                <a:lnTo>
                  <a:pt x="1114082" y="2150951"/>
                </a:lnTo>
                <a:lnTo>
                  <a:pt x="1132964" y="2171557"/>
                </a:lnTo>
                <a:lnTo>
                  <a:pt x="1151847" y="2191635"/>
                </a:lnTo>
                <a:lnTo>
                  <a:pt x="1170730" y="2211184"/>
                </a:lnTo>
                <a:lnTo>
                  <a:pt x="1189613" y="2230205"/>
                </a:lnTo>
                <a:lnTo>
                  <a:pt x="1208495" y="2248698"/>
                </a:lnTo>
                <a:lnTo>
                  <a:pt x="1227378" y="2266662"/>
                </a:lnTo>
                <a:lnTo>
                  <a:pt x="1246261" y="2284098"/>
                </a:lnTo>
                <a:lnTo>
                  <a:pt x="1265144" y="2301005"/>
                </a:lnTo>
                <a:lnTo>
                  <a:pt x="1284026" y="2317385"/>
                </a:lnTo>
                <a:lnTo>
                  <a:pt x="1302909" y="2333235"/>
                </a:lnTo>
                <a:lnTo>
                  <a:pt x="1321792" y="2348558"/>
                </a:lnTo>
                <a:lnTo>
                  <a:pt x="1340675" y="2363352"/>
                </a:lnTo>
                <a:lnTo>
                  <a:pt x="1359557" y="2377618"/>
                </a:lnTo>
                <a:lnTo>
                  <a:pt x="1378440" y="2391355"/>
                </a:lnTo>
                <a:lnTo>
                  <a:pt x="1397323" y="2404564"/>
                </a:lnTo>
                <a:lnTo>
                  <a:pt x="1416206" y="2417245"/>
                </a:lnTo>
                <a:lnTo>
                  <a:pt x="1435088" y="2429397"/>
                </a:lnTo>
                <a:lnTo>
                  <a:pt x="1453971" y="2441021"/>
                </a:lnTo>
                <a:lnTo>
                  <a:pt x="1472854" y="2452116"/>
                </a:lnTo>
                <a:lnTo>
                  <a:pt x="1491737" y="2462683"/>
                </a:lnTo>
                <a:lnTo>
                  <a:pt x="1510619" y="2472722"/>
                </a:lnTo>
                <a:lnTo>
                  <a:pt x="1529502" y="2482233"/>
                </a:lnTo>
                <a:lnTo>
                  <a:pt x="1548385" y="2491215"/>
                </a:lnTo>
                <a:lnTo>
                  <a:pt x="1567268" y="2499669"/>
                </a:lnTo>
                <a:lnTo>
                  <a:pt x="1586150" y="2507594"/>
                </a:lnTo>
                <a:lnTo>
                  <a:pt x="1605033" y="2514991"/>
                </a:lnTo>
                <a:lnTo>
                  <a:pt x="1623916" y="2521860"/>
                </a:lnTo>
                <a:lnTo>
                  <a:pt x="1642798" y="2528200"/>
                </a:lnTo>
                <a:lnTo>
                  <a:pt x="1661681" y="2534012"/>
                </a:lnTo>
                <a:lnTo>
                  <a:pt x="1680564" y="2539296"/>
                </a:lnTo>
                <a:lnTo>
                  <a:pt x="1699447" y="2544051"/>
                </a:lnTo>
                <a:lnTo>
                  <a:pt x="1718329" y="2548278"/>
                </a:lnTo>
                <a:lnTo>
                  <a:pt x="1737212" y="2551976"/>
                </a:lnTo>
                <a:lnTo>
                  <a:pt x="1756095" y="2555146"/>
                </a:lnTo>
                <a:lnTo>
                  <a:pt x="1774978" y="2557788"/>
                </a:lnTo>
                <a:lnTo>
                  <a:pt x="1793860" y="2559902"/>
                </a:lnTo>
                <a:lnTo>
                  <a:pt x="1812743" y="2561487"/>
                </a:lnTo>
                <a:lnTo>
                  <a:pt x="1831626" y="2562543"/>
                </a:lnTo>
                <a:lnTo>
                  <a:pt x="1850509" y="2563072"/>
                </a:lnTo>
                <a:lnTo>
                  <a:pt x="1869391" y="2563072"/>
                </a:lnTo>
                <a:lnTo>
                  <a:pt x="1888274" y="2562543"/>
                </a:lnTo>
                <a:lnTo>
                  <a:pt x="1907157" y="2561487"/>
                </a:lnTo>
                <a:lnTo>
                  <a:pt x="1926040" y="2559902"/>
                </a:lnTo>
                <a:lnTo>
                  <a:pt x="1944922" y="2557788"/>
                </a:lnTo>
                <a:lnTo>
                  <a:pt x="1963805" y="2555146"/>
                </a:lnTo>
                <a:lnTo>
                  <a:pt x="1982688" y="2551976"/>
                </a:lnTo>
                <a:lnTo>
                  <a:pt x="2001571" y="2548278"/>
                </a:lnTo>
                <a:lnTo>
                  <a:pt x="2020453" y="2544051"/>
                </a:lnTo>
                <a:lnTo>
                  <a:pt x="2039336" y="2539296"/>
                </a:lnTo>
                <a:lnTo>
                  <a:pt x="2058219" y="2534012"/>
                </a:lnTo>
                <a:lnTo>
                  <a:pt x="2077102" y="2528200"/>
                </a:lnTo>
                <a:lnTo>
                  <a:pt x="2095984" y="2521860"/>
                </a:lnTo>
                <a:lnTo>
                  <a:pt x="2114867" y="2514991"/>
                </a:lnTo>
                <a:lnTo>
                  <a:pt x="2133750" y="2507594"/>
                </a:lnTo>
                <a:lnTo>
                  <a:pt x="2152632" y="2499669"/>
                </a:lnTo>
                <a:lnTo>
                  <a:pt x="2171515" y="2491215"/>
                </a:lnTo>
                <a:lnTo>
                  <a:pt x="2190398" y="2482233"/>
                </a:lnTo>
                <a:lnTo>
                  <a:pt x="2209281" y="2472722"/>
                </a:lnTo>
                <a:lnTo>
                  <a:pt x="2228163" y="2462683"/>
                </a:lnTo>
                <a:lnTo>
                  <a:pt x="2247046" y="2452116"/>
                </a:lnTo>
                <a:lnTo>
                  <a:pt x="2265929" y="2441021"/>
                </a:lnTo>
                <a:lnTo>
                  <a:pt x="2284812" y="2429397"/>
                </a:lnTo>
                <a:lnTo>
                  <a:pt x="2303694" y="2417245"/>
                </a:lnTo>
                <a:lnTo>
                  <a:pt x="2322577" y="2404564"/>
                </a:lnTo>
                <a:lnTo>
                  <a:pt x="2341460" y="2391355"/>
                </a:lnTo>
                <a:lnTo>
                  <a:pt x="2360343" y="2377618"/>
                </a:lnTo>
                <a:lnTo>
                  <a:pt x="2379225" y="2363352"/>
                </a:lnTo>
                <a:lnTo>
                  <a:pt x="2398108" y="2348558"/>
                </a:lnTo>
                <a:lnTo>
                  <a:pt x="2416991" y="2333235"/>
                </a:lnTo>
                <a:lnTo>
                  <a:pt x="2435874" y="2317385"/>
                </a:lnTo>
                <a:lnTo>
                  <a:pt x="2454756" y="2301005"/>
                </a:lnTo>
                <a:lnTo>
                  <a:pt x="2473639" y="2284098"/>
                </a:lnTo>
                <a:lnTo>
                  <a:pt x="2492522" y="2266662"/>
                </a:lnTo>
                <a:lnTo>
                  <a:pt x="2511405" y="2248698"/>
                </a:lnTo>
                <a:lnTo>
                  <a:pt x="2530287" y="2230205"/>
                </a:lnTo>
                <a:lnTo>
                  <a:pt x="2549170" y="2211184"/>
                </a:lnTo>
                <a:lnTo>
                  <a:pt x="2568053" y="2191635"/>
                </a:lnTo>
                <a:lnTo>
                  <a:pt x="2586936" y="2171557"/>
                </a:lnTo>
                <a:lnTo>
                  <a:pt x="2605818" y="2150951"/>
                </a:lnTo>
                <a:lnTo>
                  <a:pt x="2624701" y="2129817"/>
                </a:lnTo>
                <a:lnTo>
                  <a:pt x="2643584" y="2108154"/>
                </a:lnTo>
                <a:lnTo>
                  <a:pt x="2662466" y="2085963"/>
                </a:lnTo>
                <a:lnTo>
                  <a:pt x="2681349" y="2063244"/>
                </a:lnTo>
                <a:lnTo>
                  <a:pt x="2700232" y="2039996"/>
                </a:lnTo>
                <a:lnTo>
                  <a:pt x="2719115" y="2016220"/>
                </a:lnTo>
                <a:lnTo>
                  <a:pt x="2737997" y="1991915"/>
                </a:lnTo>
                <a:lnTo>
                  <a:pt x="2756880" y="1967082"/>
                </a:lnTo>
                <a:lnTo>
                  <a:pt x="2775763" y="1941721"/>
                </a:lnTo>
                <a:lnTo>
                  <a:pt x="2794646" y="1915831"/>
                </a:lnTo>
                <a:lnTo>
                  <a:pt x="2813528" y="1889413"/>
                </a:lnTo>
                <a:lnTo>
                  <a:pt x="2832411" y="1862467"/>
                </a:lnTo>
                <a:lnTo>
                  <a:pt x="2851294" y="1834992"/>
                </a:lnTo>
                <a:lnTo>
                  <a:pt x="2870177" y="1806989"/>
                </a:lnTo>
                <a:lnTo>
                  <a:pt x="2889059" y="1778458"/>
                </a:lnTo>
                <a:lnTo>
                  <a:pt x="2907942" y="1749398"/>
                </a:lnTo>
                <a:lnTo>
                  <a:pt x="2926825" y="1719810"/>
                </a:lnTo>
                <a:lnTo>
                  <a:pt x="2945708" y="1689693"/>
                </a:lnTo>
                <a:lnTo>
                  <a:pt x="2964590" y="1659049"/>
                </a:lnTo>
                <a:lnTo>
                  <a:pt x="2983473" y="1627875"/>
                </a:lnTo>
                <a:lnTo>
                  <a:pt x="3002356" y="1596174"/>
                </a:lnTo>
                <a:lnTo>
                  <a:pt x="3021239" y="1563944"/>
                </a:lnTo>
                <a:lnTo>
                  <a:pt x="3040121" y="1531186"/>
                </a:lnTo>
                <a:lnTo>
                  <a:pt x="3059004" y="1497899"/>
                </a:lnTo>
                <a:lnTo>
                  <a:pt x="3077887" y="1464084"/>
                </a:lnTo>
                <a:lnTo>
                  <a:pt x="3096770" y="1429741"/>
                </a:lnTo>
                <a:lnTo>
                  <a:pt x="3115652" y="1394869"/>
                </a:lnTo>
                <a:lnTo>
                  <a:pt x="3134535" y="1359469"/>
                </a:lnTo>
                <a:lnTo>
                  <a:pt x="3153418" y="1323540"/>
                </a:lnTo>
                <a:lnTo>
                  <a:pt x="3172300" y="1287083"/>
                </a:lnTo>
                <a:lnTo>
                  <a:pt x="3191183" y="1250098"/>
                </a:lnTo>
                <a:lnTo>
                  <a:pt x="3210066" y="1212585"/>
                </a:lnTo>
                <a:lnTo>
                  <a:pt x="3228949" y="1174543"/>
                </a:lnTo>
                <a:lnTo>
                  <a:pt x="3247831" y="1135973"/>
                </a:lnTo>
                <a:lnTo>
                  <a:pt x="3266714" y="1096874"/>
                </a:lnTo>
                <a:lnTo>
                  <a:pt x="3285597" y="1057247"/>
                </a:lnTo>
                <a:lnTo>
                  <a:pt x="3304480" y="1017092"/>
                </a:lnTo>
                <a:lnTo>
                  <a:pt x="3323362" y="976408"/>
                </a:lnTo>
                <a:lnTo>
                  <a:pt x="3342245" y="935196"/>
                </a:lnTo>
                <a:lnTo>
                  <a:pt x="3361128" y="893456"/>
                </a:lnTo>
                <a:lnTo>
                  <a:pt x="3380011" y="851187"/>
                </a:lnTo>
                <a:lnTo>
                  <a:pt x="3398893" y="808390"/>
                </a:lnTo>
                <a:lnTo>
                  <a:pt x="3417776" y="765064"/>
                </a:lnTo>
                <a:lnTo>
                  <a:pt x="3436659" y="721210"/>
                </a:lnTo>
                <a:lnTo>
                  <a:pt x="3455542" y="676828"/>
                </a:lnTo>
                <a:lnTo>
                  <a:pt x="3474424" y="631918"/>
                </a:lnTo>
                <a:lnTo>
                  <a:pt x="3493307" y="586479"/>
                </a:lnTo>
                <a:lnTo>
                  <a:pt x="3512190" y="540511"/>
                </a:lnTo>
                <a:lnTo>
                  <a:pt x="3531073" y="494016"/>
                </a:lnTo>
                <a:lnTo>
                  <a:pt x="3549955" y="446992"/>
                </a:lnTo>
                <a:lnTo>
                  <a:pt x="3568838" y="399439"/>
                </a:lnTo>
                <a:lnTo>
                  <a:pt x="3587721" y="351359"/>
                </a:lnTo>
                <a:lnTo>
                  <a:pt x="3606604" y="302750"/>
                </a:lnTo>
                <a:lnTo>
                  <a:pt x="3625486" y="253612"/>
                </a:lnTo>
                <a:lnTo>
                  <a:pt x="3644369" y="203946"/>
                </a:lnTo>
                <a:lnTo>
                  <a:pt x="3663252" y="153752"/>
                </a:lnTo>
                <a:lnTo>
                  <a:pt x="3682134" y="103030"/>
                </a:lnTo>
                <a:lnTo>
                  <a:pt x="3701017" y="51779"/>
                </a:lnTo>
                <a:lnTo>
                  <a:pt x="3719900" y="0"/>
                </a:lnTo>
              </a:path>
            </a:pathLst>
          </a:custGeom>
          <a:noFill/>
          <a:ln w="38100">
            <a:solidFill>
              <a:srgbClr val="c84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7" name="Oval 48"/>
          <p:cNvSpPr/>
          <p:nvPr/>
        </p:nvSpPr>
        <p:spPr>
          <a:xfrm>
            <a:off x="2081160" y="289548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8" name="Oval 49"/>
          <p:cNvSpPr/>
          <p:nvPr/>
        </p:nvSpPr>
        <p:spPr>
          <a:xfrm>
            <a:off x="2645280" y="360288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9" name="Oval 50"/>
          <p:cNvSpPr/>
          <p:nvPr/>
        </p:nvSpPr>
        <p:spPr>
          <a:xfrm>
            <a:off x="3209400" y="383868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Oval 51"/>
          <p:cNvSpPr/>
          <p:nvPr/>
        </p:nvSpPr>
        <p:spPr>
          <a:xfrm>
            <a:off x="3773520" y="360288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1" name="Oval 52"/>
          <p:cNvSpPr/>
          <p:nvPr/>
        </p:nvSpPr>
        <p:spPr>
          <a:xfrm>
            <a:off x="4337640" y="289548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2" name="Oval 53"/>
          <p:cNvSpPr/>
          <p:nvPr/>
        </p:nvSpPr>
        <p:spPr>
          <a:xfrm>
            <a:off x="2081160" y="360288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3" name="Oval 54"/>
          <p:cNvSpPr/>
          <p:nvPr/>
        </p:nvSpPr>
        <p:spPr>
          <a:xfrm>
            <a:off x="2645280" y="430992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4" name="Oval 55"/>
          <p:cNvSpPr/>
          <p:nvPr/>
        </p:nvSpPr>
        <p:spPr>
          <a:xfrm>
            <a:off x="3209400" y="454572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5" name="Oval 56"/>
          <p:cNvSpPr/>
          <p:nvPr/>
        </p:nvSpPr>
        <p:spPr>
          <a:xfrm>
            <a:off x="3773520" y="430992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6" name="Oval 57"/>
          <p:cNvSpPr/>
          <p:nvPr/>
        </p:nvSpPr>
        <p:spPr>
          <a:xfrm>
            <a:off x="4337640" y="360288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47" name="Connector 58"/>
          <p:cNvCxnSpPr/>
          <p:nvPr/>
        </p:nvCxnSpPr>
        <p:spPr>
          <a:xfrm>
            <a:off x="1284840" y="5415120"/>
            <a:ext cx="350280" cy="360"/>
          </a:xfrm>
          <a:prstGeom prst="straightConnector1">
            <a:avLst/>
          </a:prstGeom>
          <a:ln w="30480">
            <a:solidFill>
              <a:srgbClr val="5c6b60"/>
            </a:solidFill>
            <a:prstDash val="dash"/>
          </a:ln>
        </p:spPr>
      </p:cxnSp>
      <p:sp>
        <p:nvSpPr>
          <p:cNvPr id="448" name="TextBox 59"/>
          <p:cNvSpPr/>
          <p:nvPr/>
        </p:nvSpPr>
        <p:spPr>
          <a:xfrm>
            <a:off x="2171880" y="5340600"/>
            <a:ext cx="4262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pc="-1" strike="noStrike">
                <a:solidFill>
                  <a:srgbClr val="1c2a22"/>
                </a:solidFill>
                <a:latin typeface="Cambria"/>
              </a:rPr>
              <a:t>y = f(x)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49" name="Connector 60"/>
          <p:cNvCxnSpPr/>
          <p:nvPr/>
        </p:nvCxnSpPr>
        <p:spPr>
          <a:xfrm>
            <a:off x="3285000" y="5415120"/>
            <a:ext cx="350280" cy="360"/>
          </a:xfrm>
          <a:prstGeom prst="straightConnector1">
            <a:avLst/>
          </a:prstGeom>
          <a:ln w="38100">
            <a:solidFill>
              <a:srgbClr val="c84f2f"/>
            </a:solidFill>
          </a:ln>
        </p:spPr>
      </p:cxnSp>
      <p:sp>
        <p:nvSpPr>
          <p:cNvPr id="450" name="TextBox 61"/>
          <p:cNvSpPr/>
          <p:nvPr/>
        </p:nvSpPr>
        <p:spPr>
          <a:xfrm>
            <a:off x="4250520" y="5340600"/>
            <a:ext cx="66852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c2a22"/>
                </a:solidFill>
                <a:latin typeface="Cambria"/>
              </a:rPr>
              <a:t>y = f(x) − 3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8" dur="indefinite" restart="never" nodeType="tmRoot">
          <p:childTnLst>
            <p:seq>
              <p:cTn id="129" dur="indefinite" nodeType="mainSeq">
                <p:childTnLst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34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39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42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45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48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51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56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2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REFLECTION · X-AXIS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Box 4"/>
          <p:cNvSpPr/>
          <p:nvPr/>
        </p:nvSpPr>
        <p:spPr>
          <a:xfrm>
            <a:off x="1325880" y="74340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y = −f(x)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Outside the bracket → flip the sign of every y-value. The graph reflects in the x-axis.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Rounded Rectangle 6"/>
          <p:cNvSpPr/>
          <p:nvPr/>
        </p:nvSpPr>
        <p:spPr>
          <a:xfrm>
            <a:off x="567000" y="1874520"/>
            <a:ext cx="534888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457" name="Table 8"/>
          <p:cNvGraphicFramePr/>
          <p:nvPr/>
        </p:nvGraphicFramePr>
        <p:xfrm>
          <a:off x="6263640" y="1874520"/>
          <a:ext cx="5357880" cy="3401280"/>
        </p:xfrm>
        <a:graphic>
          <a:graphicData uri="http://schemas.openxmlformats.org/drawingml/2006/table">
            <a:tbl>
              <a:tblPr/>
              <a:tblGrid>
                <a:gridCol w="2679120"/>
                <a:gridCol w="2679120"/>
              </a:tblGrid>
              <a:tr h="566640">
                <a:tc>
                  <a:txBody>
                    <a:bodyPr lIns="109440" rIns="109440" tIns="36360" bIns="36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Original point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New point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(-2,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(-2, -4)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(-1,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(-1, -1)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(0, 0)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(0, 0)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(1, 1)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(1, -1)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(2, 4)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(2, -4)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</a:tbl>
          </a:graphicData>
        </a:graphic>
      </p:graphicFrame>
      <p:sp>
        <p:nvSpPr>
          <p:cNvPr id="458" name="Rounded Rectangle 9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</a:rPr>
              <a:t>Rule: (x, y) → (x, −y).  The x-axis acts as the mirror line.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59" name="Connector 10"/>
          <p:cNvCxnSpPr/>
          <p:nvPr/>
        </p:nvCxnSpPr>
        <p:spPr>
          <a:xfrm>
            <a:off x="98496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60" name="Connector 11"/>
          <p:cNvCxnSpPr/>
          <p:nvPr/>
        </p:nvCxnSpPr>
        <p:spPr>
          <a:xfrm>
            <a:off x="154908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61" name="Connector 12"/>
          <p:cNvCxnSpPr/>
          <p:nvPr/>
        </p:nvCxnSpPr>
        <p:spPr>
          <a:xfrm>
            <a:off x="211320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62" name="Connector 13"/>
          <p:cNvCxnSpPr/>
          <p:nvPr/>
        </p:nvCxnSpPr>
        <p:spPr>
          <a:xfrm>
            <a:off x="267732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63" name="Connector 14"/>
          <p:cNvCxnSpPr/>
          <p:nvPr/>
        </p:nvCxnSpPr>
        <p:spPr>
          <a:xfrm>
            <a:off x="324144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64" name="Connector 15"/>
          <p:cNvCxnSpPr/>
          <p:nvPr/>
        </p:nvCxnSpPr>
        <p:spPr>
          <a:xfrm>
            <a:off x="380556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65" name="Connector 16"/>
          <p:cNvCxnSpPr/>
          <p:nvPr/>
        </p:nvCxnSpPr>
        <p:spPr>
          <a:xfrm>
            <a:off x="436968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66" name="Connector 17"/>
          <p:cNvCxnSpPr/>
          <p:nvPr/>
        </p:nvCxnSpPr>
        <p:spPr>
          <a:xfrm>
            <a:off x="493380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67" name="Connector 18"/>
          <p:cNvCxnSpPr/>
          <p:nvPr/>
        </p:nvCxnSpPr>
        <p:spPr>
          <a:xfrm>
            <a:off x="549792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68" name="Connector 19"/>
          <p:cNvCxnSpPr/>
          <p:nvPr/>
        </p:nvCxnSpPr>
        <p:spPr>
          <a:xfrm>
            <a:off x="984960" y="52851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69" name="Connector 20"/>
          <p:cNvCxnSpPr/>
          <p:nvPr/>
        </p:nvCxnSpPr>
        <p:spPr>
          <a:xfrm>
            <a:off x="984960" y="501012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70" name="Connector 21"/>
          <p:cNvCxnSpPr/>
          <p:nvPr/>
        </p:nvCxnSpPr>
        <p:spPr>
          <a:xfrm>
            <a:off x="984960" y="473472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71" name="Connector 22"/>
          <p:cNvCxnSpPr/>
          <p:nvPr/>
        </p:nvCxnSpPr>
        <p:spPr>
          <a:xfrm>
            <a:off x="984960" y="445968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72" name="Connector 23"/>
          <p:cNvCxnSpPr/>
          <p:nvPr/>
        </p:nvCxnSpPr>
        <p:spPr>
          <a:xfrm>
            <a:off x="984960" y="418464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73" name="Connector 24"/>
          <p:cNvCxnSpPr/>
          <p:nvPr/>
        </p:nvCxnSpPr>
        <p:spPr>
          <a:xfrm>
            <a:off x="984960" y="390960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74" name="Connector 25"/>
          <p:cNvCxnSpPr/>
          <p:nvPr/>
        </p:nvCxnSpPr>
        <p:spPr>
          <a:xfrm>
            <a:off x="984960" y="36345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75" name="Connector 26"/>
          <p:cNvCxnSpPr/>
          <p:nvPr/>
        </p:nvCxnSpPr>
        <p:spPr>
          <a:xfrm>
            <a:off x="984960" y="335952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76" name="Connector 27"/>
          <p:cNvCxnSpPr/>
          <p:nvPr/>
        </p:nvCxnSpPr>
        <p:spPr>
          <a:xfrm>
            <a:off x="984960" y="308448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77" name="Connector 28"/>
          <p:cNvCxnSpPr/>
          <p:nvPr/>
        </p:nvCxnSpPr>
        <p:spPr>
          <a:xfrm>
            <a:off x="984960" y="280944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78" name="Connector 29"/>
          <p:cNvCxnSpPr/>
          <p:nvPr/>
        </p:nvCxnSpPr>
        <p:spPr>
          <a:xfrm>
            <a:off x="984960" y="253440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79" name="Connector 30"/>
          <p:cNvCxnSpPr/>
          <p:nvPr/>
        </p:nvCxnSpPr>
        <p:spPr>
          <a:xfrm>
            <a:off x="984960" y="225900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80" name="Connector 31"/>
          <p:cNvCxnSpPr/>
          <p:nvPr/>
        </p:nvCxnSpPr>
        <p:spPr>
          <a:xfrm>
            <a:off x="984960" y="19839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481" name="Connector 32"/>
          <p:cNvCxnSpPr/>
          <p:nvPr/>
        </p:nvCxnSpPr>
        <p:spPr>
          <a:xfrm>
            <a:off x="984960" y="3634560"/>
            <a:ext cx="4513320" cy="360"/>
          </a:xfrm>
          <a:prstGeom prst="straightConnector1">
            <a:avLst/>
          </a:prstGeom>
          <a:ln w="17780">
            <a:solidFill>
              <a:srgbClr val="1c2a22"/>
            </a:solidFill>
          </a:ln>
        </p:spPr>
      </p:cxnSp>
      <p:cxnSp>
        <p:nvCxnSpPr>
          <p:cNvPr id="482" name="Connector 33"/>
          <p:cNvCxnSpPr/>
          <p:nvPr/>
        </p:nvCxnSpPr>
        <p:spPr>
          <a:xfrm>
            <a:off x="3241440" y="1983960"/>
            <a:ext cx="360" cy="3301560"/>
          </a:xfrm>
          <a:prstGeom prst="straightConnector1">
            <a:avLst/>
          </a:prstGeom>
          <a:ln w="17780">
            <a:solidFill>
              <a:srgbClr val="1c2a22"/>
            </a:solidFill>
          </a:ln>
        </p:spPr>
      </p:cxnSp>
      <p:sp>
        <p:nvSpPr>
          <p:cNvPr id="483" name="TextBox 34"/>
          <p:cNvSpPr/>
          <p:nvPr/>
        </p:nvSpPr>
        <p:spPr>
          <a:xfrm>
            <a:off x="938520" y="367020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35"/>
          <p:cNvSpPr/>
          <p:nvPr/>
        </p:nvSpPr>
        <p:spPr>
          <a:xfrm>
            <a:off x="2066760" y="367020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Box 36"/>
          <p:cNvSpPr/>
          <p:nvPr/>
        </p:nvSpPr>
        <p:spPr>
          <a:xfrm>
            <a:off x="4340160" y="367020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Box 37"/>
          <p:cNvSpPr/>
          <p:nvPr/>
        </p:nvSpPr>
        <p:spPr>
          <a:xfrm>
            <a:off x="5468400" y="367020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38"/>
          <p:cNvSpPr/>
          <p:nvPr/>
        </p:nvSpPr>
        <p:spPr>
          <a:xfrm>
            <a:off x="3015000" y="521568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Box 39"/>
          <p:cNvSpPr/>
          <p:nvPr/>
        </p:nvSpPr>
        <p:spPr>
          <a:xfrm>
            <a:off x="3015000" y="466560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40"/>
          <p:cNvSpPr/>
          <p:nvPr/>
        </p:nvSpPr>
        <p:spPr>
          <a:xfrm>
            <a:off x="3015000" y="411552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41"/>
          <p:cNvSpPr/>
          <p:nvPr/>
        </p:nvSpPr>
        <p:spPr>
          <a:xfrm>
            <a:off x="3031560" y="301500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Box 42"/>
          <p:cNvSpPr/>
          <p:nvPr/>
        </p:nvSpPr>
        <p:spPr>
          <a:xfrm>
            <a:off x="3031560" y="246492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Box 43"/>
          <p:cNvSpPr/>
          <p:nvPr/>
        </p:nvSpPr>
        <p:spPr>
          <a:xfrm>
            <a:off x="3031560" y="191484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Freeform 7"/>
          <p:cNvSpPr/>
          <p:nvPr/>
        </p:nvSpPr>
        <p:spPr>
          <a:xfrm>
            <a:off x="1872720" y="2014560"/>
            <a:ext cx="2737800" cy="1619640"/>
          </a:xfrm>
          <a:custGeom>
            <a:avLst/>
            <a:gdLst>
              <a:gd name="textAreaLeft" fmla="*/ 0 w 2737800"/>
              <a:gd name="textAreaRight" fmla="*/ 2738160 w 2737800"/>
              <a:gd name="textAreaTop" fmla="*/ 0 h 1619640"/>
              <a:gd name="textAreaBottom" fmla="*/ 1620000 h 1619640"/>
            </a:gdLst>
            <a:ahLst/>
            <a:rect l="textAreaLeft" t="textAreaTop" r="textAreaRight" b="textAreaBottom"/>
            <a:pathLst>
              <a:path w="2737998" h="1619950">
                <a:moveTo>
                  <a:pt x="0" y="0"/>
                </a:moveTo>
                <a:lnTo>
                  <a:pt x="18883" y="44382"/>
                </a:lnTo>
                <a:lnTo>
                  <a:pt x="37766" y="88148"/>
                </a:lnTo>
                <a:lnTo>
                  <a:pt x="56649" y="131297"/>
                </a:lnTo>
                <a:lnTo>
                  <a:pt x="75531" y="173830"/>
                </a:lnTo>
                <a:lnTo>
                  <a:pt x="94414" y="215747"/>
                </a:lnTo>
                <a:lnTo>
                  <a:pt x="113297" y="257047"/>
                </a:lnTo>
                <a:lnTo>
                  <a:pt x="132179" y="297731"/>
                </a:lnTo>
                <a:lnTo>
                  <a:pt x="151062" y="337798"/>
                </a:lnTo>
                <a:lnTo>
                  <a:pt x="169945" y="377249"/>
                </a:lnTo>
                <a:lnTo>
                  <a:pt x="188828" y="416083"/>
                </a:lnTo>
                <a:lnTo>
                  <a:pt x="207710" y="454301"/>
                </a:lnTo>
                <a:lnTo>
                  <a:pt x="226593" y="491903"/>
                </a:lnTo>
                <a:lnTo>
                  <a:pt x="245476" y="528888"/>
                </a:lnTo>
                <a:lnTo>
                  <a:pt x="264359" y="565257"/>
                </a:lnTo>
                <a:lnTo>
                  <a:pt x="283241" y="601009"/>
                </a:lnTo>
                <a:lnTo>
                  <a:pt x="302124" y="636145"/>
                </a:lnTo>
                <a:lnTo>
                  <a:pt x="321007" y="670664"/>
                </a:lnTo>
                <a:lnTo>
                  <a:pt x="339890" y="704568"/>
                </a:lnTo>
                <a:lnTo>
                  <a:pt x="358772" y="737854"/>
                </a:lnTo>
                <a:lnTo>
                  <a:pt x="377655" y="770524"/>
                </a:lnTo>
                <a:lnTo>
                  <a:pt x="396538" y="802578"/>
                </a:lnTo>
                <a:lnTo>
                  <a:pt x="415421" y="834016"/>
                </a:lnTo>
                <a:lnTo>
                  <a:pt x="434303" y="864837"/>
                </a:lnTo>
                <a:lnTo>
                  <a:pt x="453186" y="895041"/>
                </a:lnTo>
                <a:lnTo>
                  <a:pt x="472069" y="924629"/>
                </a:lnTo>
                <a:lnTo>
                  <a:pt x="490952" y="953601"/>
                </a:lnTo>
                <a:lnTo>
                  <a:pt x="509834" y="981956"/>
                </a:lnTo>
                <a:lnTo>
                  <a:pt x="528717" y="1009695"/>
                </a:lnTo>
                <a:lnTo>
                  <a:pt x="547600" y="1036818"/>
                </a:lnTo>
                <a:lnTo>
                  <a:pt x="566483" y="1063324"/>
                </a:lnTo>
                <a:lnTo>
                  <a:pt x="585365" y="1089213"/>
                </a:lnTo>
                <a:lnTo>
                  <a:pt x="604248" y="1114486"/>
                </a:lnTo>
                <a:lnTo>
                  <a:pt x="623131" y="1139143"/>
                </a:lnTo>
                <a:lnTo>
                  <a:pt x="642013" y="1163184"/>
                </a:lnTo>
                <a:lnTo>
                  <a:pt x="660896" y="1186608"/>
                </a:lnTo>
                <a:lnTo>
                  <a:pt x="679779" y="1209415"/>
                </a:lnTo>
                <a:lnTo>
                  <a:pt x="698662" y="1231606"/>
                </a:lnTo>
                <a:lnTo>
                  <a:pt x="717544" y="1253181"/>
                </a:lnTo>
                <a:lnTo>
                  <a:pt x="736427" y="1274139"/>
                </a:lnTo>
                <a:lnTo>
                  <a:pt x="755310" y="1294481"/>
                </a:lnTo>
                <a:lnTo>
                  <a:pt x="774193" y="1314206"/>
                </a:lnTo>
                <a:lnTo>
                  <a:pt x="793075" y="1333315"/>
                </a:lnTo>
                <a:lnTo>
                  <a:pt x="811958" y="1351808"/>
                </a:lnTo>
                <a:lnTo>
                  <a:pt x="830841" y="1369684"/>
                </a:lnTo>
                <a:lnTo>
                  <a:pt x="849724" y="1386944"/>
                </a:lnTo>
                <a:lnTo>
                  <a:pt x="868606" y="1403587"/>
                </a:lnTo>
                <a:lnTo>
                  <a:pt x="887489" y="1419614"/>
                </a:lnTo>
                <a:lnTo>
                  <a:pt x="906372" y="1435025"/>
                </a:lnTo>
                <a:lnTo>
                  <a:pt x="925255" y="1449819"/>
                </a:lnTo>
                <a:lnTo>
                  <a:pt x="944137" y="1463996"/>
                </a:lnTo>
                <a:lnTo>
                  <a:pt x="963020" y="1477558"/>
                </a:lnTo>
                <a:lnTo>
                  <a:pt x="981903" y="1490502"/>
                </a:lnTo>
                <a:lnTo>
                  <a:pt x="1000786" y="1502831"/>
                </a:lnTo>
                <a:lnTo>
                  <a:pt x="1019668" y="1514543"/>
                </a:lnTo>
                <a:lnTo>
                  <a:pt x="1038551" y="1525638"/>
                </a:lnTo>
                <a:lnTo>
                  <a:pt x="1057434" y="1536117"/>
                </a:lnTo>
                <a:lnTo>
                  <a:pt x="1076317" y="1545980"/>
                </a:lnTo>
                <a:lnTo>
                  <a:pt x="1095199" y="1555226"/>
                </a:lnTo>
                <a:lnTo>
                  <a:pt x="1114082" y="1563856"/>
                </a:lnTo>
                <a:lnTo>
                  <a:pt x="1132965" y="1571870"/>
                </a:lnTo>
                <a:lnTo>
                  <a:pt x="1151847" y="1579267"/>
                </a:lnTo>
                <a:lnTo>
                  <a:pt x="1170730" y="1586047"/>
                </a:lnTo>
                <a:lnTo>
                  <a:pt x="1189613" y="1592212"/>
                </a:lnTo>
                <a:lnTo>
                  <a:pt x="1208496" y="1597759"/>
                </a:lnTo>
                <a:lnTo>
                  <a:pt x="1227378" y="1602691"/>
                </a:lnTo>
                <a:lnTo>
                  <a:pt x="1246261" y="1607006"/>
                </a:lnTo>
                <a:lnTo>
                  <a:pt x="1265144" y="1610704"/>
                </a:lnTo>
                <a:lnTo>
                  <a:pt x="1284027" y="1613786"/>
                </a:lnTo>
                <a:lnTo>
                  <a:pt x="1302909" y="1616252"/>
                </a:lnTo>
                <a:lnTo>
                  <a:pt x="1321792" y="1618101"/>
                </a:lnTo>
                <a:lnTo>
                  <a:pt x="1340675" y="1619334"/>
                </a:lnTo>
                <a:lnTo>
                  <a:pt x="1359558" y="1619950"/>
                </a:lnTo>
                <a:lnTo>
                  <a:pt x="1378440" y="1619950"/>
                </a:lnTo>
                <a:lnTo>
                  <a:pt x="1397323" y="1619334"/>
                </a:lnTo>
                <a:lnTo>
                  <a:pt x="1416206" y="1618101"/>
                </a:lnTo>
                <a:lnTo>
                  <a:pt x="1435089" y="1616252"/>
                </a:lnTo>
                <a:lnTo>
                  <a:pt x="1453971" y="1613786"/>
                </a:lnTo>
                <a:lnTo>
                  <a:pt x="1472854" y="1610704"/>
                </a:lnTo>
                <a:lnTo>
                  <a:pt x="1491737" y="1607006"/>
                </a:lnTo>
                <a:lnTo>
                  <a:pt x="1510620" y="1602691"/>
                </a:lnTo>
                <a:lnTo>
                  <a:pt x="1529502" y="1597759"/>
                </a:lnTo>
                <a:lnTo>
                  <a:pt x="1548385" y="1592212"/>
                </a:lnTo>
                <a:lnTo>
                  <a:pt x="1567268" y="1586047"/>
                </a:lnTo>
                <a:lnTo>
                  <a:pt x="1586151" y="1579267"/>
                </a:lnTo>
                <a:lnTo>
                  <a:pt x="1605033" y="1571870"/>
                </a:lnTo>
                <a:lnTo>
                  <a:pt x="1623916" y="1563856"/>
                </a:lnTo>
                <a:lnTo>
                  <a:pt x="1642799" y="1555226"/>
                </a:lnTo>
                <a:lnTo>
                  <a:pt x="1661681" y="1545980"/>
                </a:lnTo>
                <a:lnTo>
                  <a:pt x="1680564" y="1536117"/>
                </a:lnTo>
                <a:lnTo>
                  <a:pt x="1699447" y="1525638"/>
                </a:lnTo>
                <a:lnTo>
                  <a:pt x="1718330" y="1514543"/>
                </a:lnTo>
                <a:lnTo>
                  <a:pt x="1737212" y="1502831"/>
                </a:lnTo>
                <a:lnTo>
                  <a:pt x="1756095" y="1490502"/>
                </a:lnTo>
                <a:lnTo>
                  <a:pt x="1774978" y="1477558"/>
                </a:lnTo>
                <a:lnTo>
                  <a:pt x="1793861" y="1463996"/>
                </a:lnTo>
                <a:lnTo>
                  <a:pt x="1812743" y="1449819"/>
                </a:lnTo>
                <a:lnTo>
                  <a:pt x="1831626" y="1435025"/>
                </a:lnTo>
                <a:lnTo>
                  <a:pt x="1850509" y="1419614"/>
                </a:lnTo>
                <a:lnTo>
                  <a:pt x="1869392" y="1403587"/>
                </a:lnTo>
                <a:lnTo>
                  <a:pt x="1888274" y="1386944"/>
                </a:lnTo>
                <a:lnTo>
                  <a:pt x="1907157" y="1369684"/>
                </a:lnTo>
                <a:lnTo>
                  <a:pt x="1926040" y="1351808"/>
                </a:lnTo>
                <a:lnTo>
                  <a:pt x="1944923" y="1333315"/>
                </a:lnTo>
                <a:lnTo>
                  <a:pt x="1963805" y="1314206"/>
                </a:lnTo>
                <a:lnTo>
                  <a:pt x="1982688" y="1294481"/>
                </a:lnTo>
                <a:lnTo>
                  <a:pt x="2001571" y="1274139"/>
                </a:lnTo>
                <a:lnTo>
                  <a:pt x="2020454" y="1253181"/>
                </a:lnTo>
                <a:lnTo>
                  <a:pt x="2039336" y="1231606"/>
                </a:lnTo>
                <a:lnTo>
                  <a:pt x="2058219" y="1209415"/>
                </a:lnTo>
                <a:lnTo>
                  <a:pt x="2077102" y="1186608"/>
                </a:lnTo>
                <a:lnTo>
                  <a:pt x="2095985" y="1163184"/>
                </a:lnTo>
                <a:lnTo>
                  <a:pt x="2114867" y="1139143"/>
                </a:lnTo>
                <a:lnTo>
                  <a:pt x="2133750" y="1114486"/>
                </a:lnTo>
                <a:lnTo>
                  <a:pt x="2152633" y="1089213"/>
                </a:lnTo>
                <a:lnTo>
                  <a:pt x="2171515" y="1063324"/>
                </a:lnTo>
                <a:lnTo>
                  <a:pt x="2190398" y="1036818"/>
                </a:lnTo>
                <a:lnTo>
                  <a:pt x="2209281" y="1009695"/>
                </a:lnTo>
                <a:lnTo>
                  <a:pt x="2228164" y="981956"/>
                </a:lnTo>
                <a:lnTo>
                  <a:pt x="2247046" y="953601"/>
                </a:lnTo>
                <a:lnTo>
                  <a:pt x="2265929" y="924629"/>
                </a:lnTo>
                <a:lnTo>
                  <a:pt x="2284812" y="895041"/>
                </a:lnTo>
                <a:lnTo>
                  <a:pt x="2303695" y="864837"/>
                </a:lnTo>
                <a:lnTo>
                  <a:pt x="2322577" y="834016"/>
                </a:lnTo>
                <a:lnTo>
                  <a:pt x="2341460" y="802578"/>
                </a:lnTo>
                <a:lnTo>
                  <a:pt x="2360343" y="770524"/>
                </a:lnTo>
                <a:lnTo>
                  <a:pt x="2379226" y="737854"/>
                </a:lnTo>
                <a:lnTo>
                  <a:pt x="2398108" y="704568"/>
                </a:lnTo>
                <a:lnTo>
                  <a:pt x="2416991" y="670664"/>
                </a:lnTo>
                <a:lnTo>
                  <a:pt x="2435874" y="636145"/>
                </a:lnTo>
                <a:lnTo>
                  <a:pt x="2454757" y="601009"/>
                </a:lnTo>
                <a:lnTo>
                  <a:pt x="2473639" y="565257"/>
                </a:lnTo>
                <a:lnTo>
                  <a:pt x="2492522" y="528888"/>
                </a:lnTo>
                <a:lnTo>
                  <a:pt x="2511405" y="491903"/>
                </a:lnTo>
                <a:lnTo>
                  <a:pt x="2530288" y="454301"/>
                </a:lnTo>
                <a:lnTo>
                  <a:pt x="2549170" y="416083"/>
                </a:lnTo>
                <a:lnTo>
                  <a:pt x="2568053" y="377249"/>
                </a:lnTo>
                <a:lnTo>
                  <a:pt x="2586936" y="337798"/>
                </a:lnTo>
                <a:lnTo>
                  <a:pt x="2605819" y="297731"/>
                </a:lnTo>
                <a:lnTo>
                  <a:pt x="2624701" y="257047"/>
                </a:lnTo>
                <a:lnTo>
                  <a:pt x="2643584" y="215747"/>
                </a:lnTo>
                <a:lnTo>
                  <a:pt x="2662467" y="173830"/>
                </a:lnTo>
                <a:lnTo>
                  <a:pt x="2681349" y="131297"/>
                </a:lnTo>
                <a:lnTo>
                  <a:pt x="2700232" y="88148"/>
                </a:lnTo>
                <a:lnTo>
                  <a:pt x="2719115" y="44382"/>
                </a:lnTo>
                <a:lnTo>
                  <a:pt x="2737998" y="0"/>
                </a:lnTo>
              </a:path>
            </a:pathLst>
          </a:custGeom>
          <a:noFill/>
          <a:ln w="30480">
            <a:solidFill>
              <a:srgbClr val="5c6b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4" name="Freeform 44"/>
          <p:cNvSpPr/>
          <p:nvPr/>
        </p:nvSpPr>
        <p:spPr>
          <a:xfrm>
            <a:off x="1872720" y="3634920"/>
            <a:ext cx="2737800" cy="1619640"/>
          </a:xfrm>
          <a:custGeom>
            <a:avLst/>
            <a:gdLst>
              <a:gd name="textAreaLeft" fmla="*/ 0 w 2737800"/>
              <a:gd name="textAreaRight" fmla="*/ 2738160 w 2737800"/>
              <a:gd name="textAreaTop" fmla="*/ 0 h 1619640"/>
              <a:gd name="textAreaBottom" fmla="*/ 1620000 h 1619640"/>
            </a:gdLst>
            <a:ahLst/>
            <a:rect l="textAreaLeft" t="textAreaTop" r="textAreaRight" b="textAreaBottom"/>
            <a:pathLst>
              <a:path w="2737998" h="1619950">
                <a:moveTo>
                  <a:pt x="0" y="1619950"/>
                </a:moveTo>
                <a:lnTo>
                  <a:pt x="18883" y="1575568"/>
                </a:lnTo>
                <a:lnTo>
                  <a:pt x="37766" y="1531802"/>
                </a:lnTo>
                <a:lnTo>
                  <a:pt x="56649" y="1488653"/>
                </a:lnTo>
                <a:lnTo>
                  <a:pt x="75531" y="1446120"/>
                </a:lnTo>
                <a:lnTo>
                  <a:pt x="94414" y="1404203"/>
                </a:lnTo>
                <a:lnTo>
                  <a:pt x="113297" y="1362903"/>
                </a:lnTo>
                <a:lnTo>
                  <a:pt x="132179" y="1322219"/>
                </a:lnTo>
                <a:lnTo>
                  <a:pt x="151062" y="1282152"/>
                </a:lnTo>
                <a:lnTo>
                  <a:pt x="169945" y="1242701"/>
                </a:lnTo>
                <a:lnTo>
                  <a:pt x="188828" y="1203867"/>
                </a:lnTo>
                <a:lnTo>
                  <a:pt x="207710" y="1165649"/>
                </a:lnTo>
                <a:lnTo>
                  <a:pt x="226593" y="1128047"/>
                </a:lnTo>
                <a:lnTo>
                  <a:pt x="245476" y="1091062"/>
                </a:lnTo>
                <a:lnTo>
                  <a:pt x="264359" y="1054693"/>
                </a:lnTo>
                <a:lnTo>
                  <a:pt x="283241" y="1018941"/>
                </a:lnTo>
                <a:lnTo>
                  <a:pt x="302124" y="983805"/>
                </a:lnTo>
                <a:lnTo>
                  <a:pt x="321007" y="949286"/>
                </a:lnTo>
                <a:lnTo>
                  <a:pt x="339890" y="915382"/>
                </a:lnTo>
                <a:lnTo>
                  <a:pt x="358772" y="882096"/>
                </a:lnTo>
                <a:lnTo>
                  <a:pt x="377655" y="849426"/>
                </a:lnTo>
                <a:lnTo>
                  <a:pt x="396538" y="817372"/>
                </a:lnTo>
                <a:lnTo>
                  <a:pt x="415421" y="785934"/>
                </a:lnTo>
                <a:lnTo>
                  <a:pt x="434303" y="755113"/>
                </a:lnTo>
                <a:lnTo>
                  <a:pt x="453186" y="724909"/>
                </a:lnTo>
                <a:lnTo>
                  <a:pt x="472069" y="695321"/>
                </a:lnTo>
                <a:lnTo>
                  <a:pt x="490952" y="666349"/>
                </a:lnTo>
                <a:lnTo>
                  <a:pt x="509834" y="637994"/>
                </a:lnTo>
                <a:lnTo>
                  <a:pt x="528717" y="610255"/>
                </a:lnTo>
                <a:lnTo>
                  <a:pt x="547600" y="583132"/>
                </a:lnTo>
                <a:lnTo>
                  <a:pt x="566483" y="556626"/>
                </a:lnTo>
                <a:lnTo>
                  <a:pt x="585365" y="530737"/>
                </a:lnTo>
                <a:lnTo>
                  <a:pt x="604248" y="505464"/>
                </a:lnTo>
                <a:lnTo>
                  <a:pt x="623131" y="480807"/>
                </a:lnTo>
                <a:lnTo>
                  <a:pt x="642013" y="456766"/>
                </a:lnTo>
                <a:lnTo>
                  <a:pt x="660896" y="433342"/>
                </a:lnTo>
                <a:lnTo>
                  <a:pt x="679779" y="410535"/>
                </a:lnTo>
                <a:lnTo>
                  <a:pt x="698662" y="388344"/>
                </a:lnTo>
                <a:lnTo>
                  <a:pt x="717544" y="366769"/>
                </a:lnTo>
                <a:lnTo>
                  <a:pt x="736427" y="345811"/>
                </a:lnTo>
                <a:lnTo>
                  <a:pt x="755310" y="325469"/>
                </a:lnTo>
                <a:lnTo>
                  <a:pt x="774193" y="305744"/>
                </a:lnTo>
                <a:lnTo>
                  <a:pt x="793075" y="286635"/>
                </a:lnTo>
                <a:lnTo>
                  <a:pt x="811958" y="268142"/>
                </a:lnTo>
                <a:lnTo>
                  <a:pt x="830841" y="250266"/>
                </a:lnTo>
                <a:lnTo>
                  <a:pt x="849724" y="233006"/>
                </a:lnTo>
                <a:lnTo>
                  <a:pt x="868606" y="216363"/>
                </a:lnTo>
                <a:lnTo>
                  <a:pt x="887489" y="200336"/>
                </a:lnTo>
                <a:lnTo>
                  <a:pt x="906372" y="184925"/>
                </a:lnTo>
                <a:lnTo>
                  <a:pt x="925255" y="170131"/>
                </a:lnTo>
                <a:lnTo>
                  <a:pt x="944137" y="155954"/>
                </a:lnTo>
                <a:lnTo>
                  <a:pt x="963020" y="142392"/>
                </a:lnTo>
                <a:lnTo>
                  <a:pt x="981903" y="129448"/>
                </a:lnTo>
                <a:lnTo>
                  <a:pt x="1000786" y="117119"/>
                </a:lnTo>
                <a:lnTo>
                  <a:pt x="1019668" y="105407"/>
                </a:lnTo>
                <a:lnTo>
                  <a:pt x="1038551" y="94312"/>
                </a:lnTo>
                <a:lnTo>
                  <a:pt x="1057434" y="83833"/>
                </a:lnTo>
                <a:lnTo>
                  <a:pt x="1076317" y="73970"/>
                </a:lnTo>
                <a:lnTo>
                  <a:pt x="1095199" y="64724"/>
                </a:lnTo>
                <a:lnTo>
                  <a:pt x="1114082" y="56094"/>
                </a:lnTo>
                <a:lnTo>
                  <a:pt x="1132965" y="48080"/>
                </a:lnTo>
                <a:lnTo>
                  <a:pt x="1151847" y="40683"/>
                </a:lnTo>
                <a:lnTo>
                  <a:pt x="1170730" y="33903"/>
                </a:lnTo>
                <a:lnTo>
                  <a:pt x="1189613" y="27738"/>
                </a:lnTo>
                <a:lnTo>
                  <a:pt x="1208496" y="22191"/>
                </a:lnTo>
                <a:lnTo>
                  <a:pt x="1227378" y="17259"/>
                </a:lnTo>
                <a:lnTo>
                  <a:pt x="1246261" y="12944"/>
                </a:lnTo>
                <a:lnTo>
                  <a:pt x="1265144" y="9246"/>
                </a:lnTo>
                <a:lnTo>
                  <a:pt x="1284027" y="6164"/>
                </a:lnTo>
                <a:lnTo>
                  <a:pt x="1302909" y="3698"/>
                </a:lnTo>
                <a:lnTo>
                  <a:pt x="1321792" y="1849"/>
                </a:lnTo>
                <a:lnTo>
                  <a:pt x="1340675" y="616"/>
                </a:lnTo>
                <a:lnTo>
                  <a:pt x="1359558" y="0"/>
                </a:lnTo>
                <a:lnTo>
                  <a:pt x="1378440" y="0"/>
                </a:lnTo>
                <a:lnTo>
                  <a:pt x="1397323" y="616"/>
                </a:lnTo>
                <a:lnTo>
                  <a:pt x="1416206" y="1849"/>
                </a:lnTo>
                <a:lnTo>
                  <a:pt x="1435089" y="3698"/>
                </a:lnTo>
                <a:lnTo>
                  <a:pt x="1453971" y="6164"/>
                </a:lnTo>
                <a:lnTo>
                  <a:pt x="1472854" y="9246"/>
                </a:lnTo>
                <a:lnTo>
                  <a:pt x="1491737" y="12944"/>
                </a:lnTo>
                <a:lnTo>
                  <a:pt x="1510620" y="17259"/>
                </a:lnTo>
                <a:lnTo>
                  <a:pt x="1529502" y="22191"/>
                </a:lnTo>
                <a:lnTo>
                  <a:pt x="1548385" y="27738"/>
                </a:lnTo>
                <a:lnTo>
                  <a:pt x="1567268" y="33903"/>
                </a:lnTo>
                <a:lnTo>
                  <a:pt x="1586151" y="40683"/>
                </a:lnTo>
                <a:lnTo>
                  <a:pt x="1605033" y="48080"/>
                </a:lnTo>
                <a:lnTo>
                  <a:pt x="1623916" y="56094"/>
                </a:lnTo>
                <a:lnTo>
                  <a:pt x="1642799" y="64724"/>
                </a:lnTo>
                <a:lnTo>
                  <a:pt x="1661681" y="73970"/>
                </a:lnTo>
                <a:lnTo>
                  <a:pt x="1680564" y="83833"/>
                </a:lnTo>
                <a:lnTo>
                  <a:pt x="1699447" y="94312"/>
                </a:lnTo>
                <a:lnTo>
                  <a:pt x="1718330" y="105407"/>
                </a:lnTo>
                <a:lnTo>
                  <a:pt x="1737212" y="117119"/>
                </a:lnTo>
                <a:lnTo>
                  <a:pt x="1756095" y="129448"/>
                </a:lnTo>
                <a:lnTo>
                  <a:pt x="1774978" y="142392"/>
                </a:lnTo>
                <a:lnTo>
                  <a:pt x="1793861" y="155954"/>
                </a:lnTo>
                <a:lnTo>
                  <a:pt x="1812743" y="170131"/>
                </a:lnTo>
                <a:lnTo>
                  <a:pt x="1831626" y="184925"/>
                </a:lnTo>
                <a:lnTo>
                  <a:pt x="1850509" y="200336"/>
                </a:lnTo>
                <a:lnTo>
                  <a:pt x="1869392" y="216363"/>
                </a:lnTo>
                <a:lnTo>
                  <a:pt x="1888274" y="233006"/>
                </a:lnTo>
                <a:lnTo>
                  <a:pt x="1907157" y="250266"/>
                </a:lnTo>
                <a:lnTo>
                  <a:pt x="1926040" y="268142"/>
                </a:lnTo>
                <a:lnTo>
                  <a:pt x="1944923" y="286635"/>
                </a:lnTo>
                <a:lnTo>
                  <a:pt x="1963805" y="305744"/>
                </a:lnTo>
                <a:lnTo>
                  <a:pt x="1982688" y="325469"/>
                </a:lnTo>
                <a:lnTo>
                  <a:pt x="2001571" y="345811"/>
                </a:lnTo>
                <a:lnTo>
                  <a:pt x="2020454" y="366769"/>
                </a:lnTo>
                <a:lnTo>
                  <a:pt x="2039336" y="388344"/>
                </a:lnTo>
                <a:lnTo>
                  <a:pt x="2058219" y="410535"/>
                </a:lnTo>
                <a:lnTo>
                  <a:pt x="2077102" y="433342"/>
                </a:lnTo>
                <a:lnTo>
                  <a:pt x="2095985" y="456766"/>
                </a:lnTo>
                <a:lnTo>
                  <a:pt x="2114867" y="480807"/>
                </a:lnTo>
                <a:lnTo>
                  <a:pt x="2133750" y="505464"/>
                </a:lnTo>
                <a:lnTo>
                  <a:pt x="2152633" y="530737"/>
                </a:lnTo>
                <a:lnTo>
                  <a:pt x="2171515" y="556626"/>
                </a:lnTo>
                <a:lnTo>
                  <a:pt x="2190398" y="583132"/>
                </a:lnTo>
                <a:lnTo>
                  <a:pt x="2209281" y="610255"/>
                </a:lnTo>
                <a:lnTo>
                  <a:pt x="2228164" y="637994"/>
                </a:lnTo>
                <a:lnTo>
                  <a:pt x="2247046" y="666349"/>
                </a:lnTo>
                <a:lnTo>
                  <a:pt x="2265929" y="695321"/>
                </a:lnTo>
                <a:lnTo>
                  <a:pt x="2284812" y="724909"/>
                </a:lnTo>
                <a:lnTo>
                  <a:pt x="2303695" y="755113"/>
                </a:lnTo>
                <a:lnTo>
                  <a:pt x="2322577" y="785934"/>
                </a:lnTo>
                <a:lnTo>
                  <a:pt x="2341460" y="817372"/>
                </a:lnTo>
                <a:lnTo>
                  <a:pt x="2360343" y="849426"/>
                </a:lnTo>
                <a:lnTo>
                  <a:pt x="2379226" y="882096"/>
                </a:lnTo>
                <a:lnTo>
                  <a:pt x="2398108" y="915382"/>
                </a:lnTo>
                <a:lnTo>
                  <a:pt x="2416991" y="949286"/>
                </a:lnTo>
                <a:lnTo>
                  <a:pt x="2435874" y="983805"/>
                </a:lnTo>
                <a:lnTo>
                  <a:pt x="2454757" y="1018941"/>
                </a:lnTo>
                <a:lnTo>
                  <a:pt x="2473639" y="1054693"/>
                </a:lnTo>
                <a:lnTo>
                  <a:pt x="2492522" y="1091062"/>
                </a:lnTo>
                <a:lnTo>
                  <a:pt x="2511405" y="1128047"/>
                </a:lnTo>
                <a:lnTo>
                  <a:pt x="2530288" y="1165649"/>
                </a:lnTo>
                <a:lnTo>
                  <a:pt x="2549170" y="1203867"/>
                </a:lnTo>
                <a:lnTo>
                  <a:pt x="2568053" y="1242701"/>
                </a:lnTo>
                <a:lnTo>
                  <a:pt x="2586936" y="1282152"/>
                </a:lnTo>
                <a:lnTo>
                  <a:pt x="2605819" y="1322219"/>
                </a:lnTo>
                <a:lnTo>
                  <a:pt x="2624701" y="1362903"/>
                </a:lnTo>
                <a:lnTo>
                  <a:pt x="2643584" y="1404203"/>
                </a:lnTo>
                <a:lnTo>
                  <a:pt x="2662467" y="1446120"/>
                </a:lnTo>
                <a:lnTo>
                  <a:pt x="2681349" y="1488653"/>
                </a:lnTo>
                <a:lnTo>
                  <a:pt x="2700232" y="1531802"/>
                </a:lnTo>
                <a:lnTo>
                  <a:pt x="2719115" y="1575568"/>
                </a:lnTo>
                <a:lnTo>
                  <a:pt x="2737998" y="1619950"/>
                </a:lnTo>
              </a:path>
            </a:pathLst>
          </a:custGeom>
          <a:noFill/>
          <a:ln w="38100">
            <a:solidFill>
              <a:srgbClr val="c84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5" name="Oval 45"/>
          <p:cNvSpPr/>
          <p:nvPr/>
        </p:nvSpPr>
        <p:spPr>
          <a:xfrm>
            <a:off x="2081160" y="250236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Oval 46"/>
          <p:cNvSpPr/>
          <p:nvPr/>
        </p:nvSpPr>
        <p:spPr>
          <a:xfrm>
            <a:off x="2645280" y="332748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Oval 47"/>
          <p:cNvSpPr/>
          <p:nvPr/>
        </p:nvSpPr>
        <p:spPr>
          <a:xfrm>
            <a:off x="3209400" y="360288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8" name="Oval 48"/>
          <p:cNvSpPr/>
          <p:nvPr/>
        </p:nvSpPr>
        <p:spPr>
          <a:xfrm>
            <a:off x="3773520" y="332748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9" name="Oval 49"/>
          <p:cNvSpPr/>
          <p:nvPr/>
        </p:nvSpPr>
        <p:spPr>
          <a:xfrm>
            <a:off x="4337640" y="250236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0" name="Oval 50"/>
          <p:cNvSpPr/>
          <p:nvPr/>
        </p:nvSpPr>
        <p:spPr>
          <a:xfrm>
            <a:off x="2081160" y="470304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1" name="Oval 51"/>
          <p:cNvSpPr/>
          <p:nvPr/>
        </p:nvSpPr>
        <p:spPr>
          <a:xfrm>
            <a:off x="2645280" y="387792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2" name="Oval 52"/>
          <p:cNvSpPr/>
          <p:nvPr/>
        </p:nvSpPr>
        <p:spPr>
          <a:xfrm>
            <a:off x="3209400" y="360288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3" name="Oval 53"/>
          <p:cNvSpPr/>
          <p:nvPr/>
        </p:nvSpPr>
        <p:spPr>
          <a:xfrm>
            <a:off x="3773520" y="387792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4" name="Oval 54"/>
          <p:cNvSpPr/>
          <p:nvPr/>
        </p:nvSpPr>
        <p:spPr>
          <a:xfrm>
            <a:off x="4337640" y="470304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05" name="Connector 55"/>
          <p:cNvCxnSpPr/>
          <p:nvPr/>
        </p:nvCxnSpPr>
        <p:spPr>
          <a:xfrm>
            <a:off x="1284840" y="5415120"/>
            <a:ext cx="350280" cy="360"/>
          </a:xfrm>
          <a:prstGeom prst="straightConnector1">
            <a:avLst/>
          </a:prstGeom>
          <a:ln w="30480">
            <a:solidFill>
              <a:srgbClr val="5c6b60"/>
            </a:solidFill>
            <a:prstDash val="dash"/>
          </a:ln>
        </p:spPr>
      </p:cxnSp>
      <p:sp>
        <p:nvSpPr>
          <p:cNvPr id="506" name="TextBox 56"/>
          <p:cNvSpPr/>
          <p:nvPr/>
        </p:nvSpPr>
        <p:spPr>
          <a:xfrm>
            <a:off x="2171880" y="5340600"/>
            <a:ext cx="4262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pc="-1" strike="noStrike">
                <a:solidFill>
                  <a:srgbClr val="1c2a22"/>
                </a:solidFill>
                <a:latin typeface="Cambria"/>
              </a:rPr>
              <a:t>y = f(x)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07" name="Connector 57"/>
          <p:cNvCxnSpPr/>
          <p:nvPr/>
        </p:nvCxnSpPr>
        <p:spPr>
          <a:xfrm>
            <a:off x="3285000" y="5415120"/>
            <a:ext cx="350280" cy="360"/>
          </a:xfrm>
          <a:prstGeom prst="straightConnector1">
            <a:avLst/>
          </a:prstGeom>
          <a:ln w="38100">
            <a:solidFill>
              <a:srgbClr val="c84f2f"/>
            </a:solidFill>
          </a:ln>
        </p:spPr>
      </p:cxnSp>
      <p:sp>
        <p:nvSpPr>
          <p:cNvPr id="508" name="TextBox 58"/>
          <p:cNvSpPr/>
          <p:nvPr/>
        </p:nvSpPr>
        <p:spPr>
          <a:xfrm>
            <a:off x="4316760" y="5340600"/>
            <a:ext cx="5360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c2a22"/>
                </a:solidFill>
                <a:latin typeface="Cambria"/>
              </a:rPr>
              <a:t>y = −f(x)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7" dur="indefinite" restart="never" nodeType="tmRoot">
          <p:childTnLst>
            <p:seq>
              <p:cTn id="158" dur="indefinite" nodeType="mainSeq">
                <p:childTnLst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63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68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71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74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77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80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85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0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HORIZONTAL TRANSLATION · LEFT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Box 4"/>
          <p:cNvSpPr/>
          <p:nvPr/>
        </p:nvSpPr>
        <p:spPr>
          <a:xfrm>
            <a:off x="1325880" y="74340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y = f(x + 2)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Inside the bracket → do the OPPOSITE of the sign. ‘+2’ inside shifts the whole graph LEFT by 2 units.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Rounded Rectangle 6"/>
          <p:cNvSpPr/>
          <p:nvPr/>
        </p:nvSpPr>
        <p:spPr>
          <a:xfrm>
            <a:off x="567000" y="1874520"/>
            <a:ext cx="534888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515" name="Table 8"/>
          <p:cNvGraphicFramePr/>
          <p:nvPr/>
        </p:nvGraphicFramePr>
        <p:xfrm>
          <a:off x="6263640" y="1874520"/>
          <a:ext cx="5357880" cy="3401280"/>
        </p:xfrm>
        <a:graphic>
          <a:graphicData uri="http://schemas.openxmlformats.org/drawingml/2006/table">
            <a:tbl>
              <a:tblPr/>
              <a:tblGrid>
                <a:gridCol w="2679120"/>
                <a:gridCol w="2679120"/>
              </a:tblGrid>
              <a:tr h="566640">
                <a:tc>
                  <a:txBody>
                    <a:bodyPr lIns="109440" rIns="109440" tIns="36360" bIns="36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Original point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New point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(-2,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(-4,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(-1,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(-3,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(0, 0)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(-2, 0)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(1, 1)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(-1,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(2, 4)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(0, 4)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</a:tbl>
          </a:graphicData>
        </a:graphic>
      </p:graphicFrame>
      <p:sp>
        <p:nvSpPr>
          <p:cNvPr id="516" name="Rounded Rectangle 9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</a:rPr>
              <a:t>Rule: (x, y) → (x − 2, y).  Every point moves left 2 units — the classic trap.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17" name="Connector 10"/>
          <p:cNvCxnSpPr/>
          <p:nvPr/>
        </p:nvCxnSpPr>
        <p:spPr>
          <a:xfrm>
            <a:off x="98496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18" name="Connector 11"/>
          <p:cNvCxnSpPr/>
          <p:nvPr/>
        </p:nvCxnSpPr>
        <p:spPr>
          <a:xfrm>
            <a:off x="143604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19" name="Connector 12"/>
          <p:cNvCxnSpPr/>
          <p:nvPr/>
        </p:nvCxnSpPr>
        <p:spPr>
          <a:xfrm>
            <a:off x="188748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0" name="Connector 13"/>
          <p:cNvCxnSpPr/>
          <p:nvPr/>
        </p:nvCxnSpPr>
        <p:spPr>
          <a:xfrm>
            <a:off x="233892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1" name="Connector 14"/>
          <p:cNvCxnSpPr/>
          <p:nvPr/>
        </p:nvCxnSpPr>
        <p:spPr>
          <a:xfrm>
            <a:off x="279000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2" name="Connector 15"/>
          <p:cNvCxnSpPr/>
          <p:nvPr/>
        </p:nvCxnSpPr>
        <p:spPr>
          <a:xfrm>
            <a:off x="324144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3" name="Connector 16"/>
          <p:cNvCxnSpPr/>
          <p:nvPr/>
        </p:nvCxnSpPr>
        <p:spPr>
          <a:xfrm>
            <a:off x="369252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4" name="Connector 17"/>
          <p:cNvCxnSpPr/>
          <p:nvPr/>
        </p:nvCxnSpPr>
        <p:spPr>
          <a:xfrm>
            <a:off x="414396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5" name="Connector 18"/>
          <p:cNvCxnSpPr/>
          <p:nvPr/>
        </p:nvCxnSpPr>
        <p:spPr>
          <a:xfrm>
            <a:off x="459540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6" name="Connector 19"/>
          <p:cNvCxnSpPr/>
          <p:nvPr/>
        </p:nvCxnSpPr>
        <p:spPr>
          <a:xfrm>
            <a:off x="504648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7" name="Connector 20"/>
          <p:cNvCxnSpPr/>
          <p:nvPr/>
        </p:nvCxnSpPr>
        <p:spPr>
          <a:xfrm>
            <a:off x="549792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8" name="Connector 21"/>
          <p:cNvCxnSpPr/>
          <p:nvPr/>
        </p:nvCxnSpPr>
        <p:spPr>
          <a:xfrm>
            <a:off x="984960" y="52851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29" name="Connector 22"/>
          <p:cNvCxnSpPr/>
          <p:nvPr/>
        </p:nvCxnSpPr>
        <p:spPr>
          <a:xfrm>
            <a:off x="984960" y="501012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0" name="Connector 23"/>
          <p:cNvCxnSpPr/>
          <p:nvPr/>
        </p:nvCxnSpPr>
        <p:spPr>
          <a:xfrm>
            <a:off x="984960" y="473472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1" name="Connector 24"/>
          <p:cNvCxnSpPr/>
          <p:nvPr/>
        </p:nvCxnSpPr>
        <p:spPr>
          <a:xfrm>
            <a:off x="984960" y="445968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2" name="Connector 25"/>
          <p:cNvCxnSpPr/>
          <p:nvPr/>
        </p:nvCxnSpPr>
        <p:spPr>
          <a:xfrm>
            <a:off x="984960" y="418464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3" name="Connector 26"/>
          <p:cNvCxnSpPr/>
          <p:nvPr/>
        </p:nvCxnSpPr>
        <p:spPr>
          <a:xfrm>
            <a:off x="984960" y="390960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4" name="Connector 27"/>
          <p:cNvCxnSpPr/>
          <p:nvPr/>
        </p:nvCxnSpPr>
        <p:spPr>
          <a:xfrm>
            <a:off x="984960" y="36345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5" name="Connector 28"/>
          <p:cNvCxnSpPr/>
          <p:nvPr/>
        </p:nvCxnSpPr>
        <p:spPr>
          <a:xfrm>
            <a:off x="984960" y="335952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6" name="Connector 29"/>
          <p:cNvCxnSpPr/>
          <p:nvPr/>
        </p:nvCxnSpPr>
        <p:spPr>
          <a:xfrm>
            <a:off x="984960" y="308448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7" name="Connector 30"/>
          <p:cNvCxnSpPr/>
          <p:nvPr/>
        </p:nvCxnSpPr>
        <p:spPr>
          <a:xfrm>
            <a:off x="984960" y="280944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8" name="Connector 31"/>
          <p:cNvCxnSpPr/>
          <p:nvPr/>
        </p:nvCxnSpPr>
        <p:spPr>
          <a:xfrm>
            <a:off x="984960" y="253440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39" name="Connector 32"/>
          <p:cNvCxnSpPr/>
          <p:nvPr/>
        </p:nvCxnSpPr>
        <p:spPr>
          <a:xfrm>
            <a:off x="984960" y="225900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40" name="Connector 33"/>
          <p:cNvCxnSpPr/>
          <p:nvPr/>
        </p:nvCxnSpPr>
        <p:spPr>
          <a:xfrm>
            <a:off x="984960" y="19839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41" name="Connector 34"/>
          <p:cNvCxnSpPr/>
          <p:nvPr/>
        </p:nvCxnSpPr>
        <p:spPr>
          <a:xfrm>
            <a:off x="984960" y="4734720"/>
            <a:ext cx="4513320" cy="360"/>
          </a:xfrm>
          <a:prstGeom prst="straightConnector1">
            <a:avLst/>
          </a:prstGeom>
          <a:ln w="17780">
            <a:solidFill>
              <a:srgbClr val="1c2a22"/>
            </a:solidFill>
          </a:ln>
        </p:spPr>
      </p:cxnSp>
      <p:cxnSp>
        <p:nvCxnSpPr>
          <p:cNvPr id="542" name="Connector 35"/>
          <p:cNvCxnSpPr/>
          <p:nvPr/>
        </p:nvCxnSpPr>
        <p:spPr>
          <a:xfrm>
            <a:off x="3692520" y="1983960"/>
            <a:ext cx="360" cy="3301560"/>
          </a:xfrm>
          <a:prstGeom prst="straightConnector1">
            <a:avLst/>
          </a:prstGeom>
          <a:ln w="17780">
            <a:solidFill>
              <a:srgbClr val="1c2a22"/>
            </a:solidFill>
          </a:ln>
        </p:spPr>
      </p:cxnSp>
      <p:sp>
        <p:nvSpPr>
          <p:cNvPr id="543" name="TextBox 36"/>
          <p:cNvSpPr/>
          <p:nvPr/>
        </p:nvSpPr>
        <p:spPr>
          <a:xfrm>
            <a:off x="938520" y="477072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Box 37"/>
          <p:cNvSpPr/>
          <p:nvPr/>
        </p:nvSpPr>
        <p:spPr>
          <a:xfrm>
            <a:off x="1841040" y="477072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Box 38"/>
          <p:cNvSpPr/>
          <p:nvPr/>
        </p:nvSpPr>
        <p:spPr>
          <a:xfrm>
            <a:off x="2743560" y="477072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Box 39"/>
          <p:cNvSpPr/>
          <p:nvPr/>
        </p:nvSpPr>
        <p:spPr>
          <a:xfrm>
            <a:off x="4565520" y="477072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Box 40"/>
          <p:cNvSpPr/>
          <p:nvPr/>
        </p:nvSpPr>
        <p:spPr>
          <a:xfrm>
            <a:off x="5468400" y="477072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Box 41"/>
          <p:cNvSpPr/>
          <p:nvPr/>
        </p:nvSpPr>
        <p:spPr>
          <a:xfrm>
            <a:off x="3466440" y="521568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Box 42"/>
          <p:cNvSpPr/>
          <p:nvPr/>
        </p:nvSpPr>
        <p:spPr>
          <a:xfrm>
            <a:off x="3483000" y="411552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Box 43"/>
          <p:cNvSpPr/>
          <p:nvPr/>
        </p:nvSpPr>
        <p:spPr>
          <a:xfrm>
            <a:off x="3483000" y="356508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Box 44"/>
          <p:cNvSpPr/>
          <p:nvPr/>
        </p:nvSpPr>
        <p:spPr>
          <a:xfrm>
            <a:off x="3483000" y="301500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Box 45"/>
          <p:cNvSpPr/>
          <p:nvPr/>
        </p:nvSpPr>
        <p:spPr>
          <a:xfrm>
            <a:off x="3483000" y="246492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Box 46"/>
          <p:cNvSpPr/>
          <p:nvPr/>
        </p:nvSpPr>
        <p:spPr>
          <a:xfrm>
            <a:off x="3454200" y="1914840"/>
            <a:ext cx="1170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10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Freeform 7"/>
          <p:cNvSpPr/>
          <p:nvPr/>
        </p:nvSpPr>
        <p:spPr>
          <a:xfrm>
            <a:off x="2269080" y="1997280"/>
            <a:ext cx="2832120" cy="2737440"/>
          </a:xfrm>
          <a:custGeom>
            <a:avLst/>
            <a:gdLst>
              <a:gd name="textAreaLeft" fmla="*/ 0 w 2832120"/>
              <a:gd name="textAreaRight" fmla="*/ 2832480 w 2832120"/>
              <a:gd name="textAreaTop" fmla="*/ 0 h 2737440"/>
              <a:gd name="textAreaBottom" fmla="*/ 2737800 h 2737440"/>
            </a:gdLst>
            <a:ahLst/>
            <a:rect l="textAreaLeft" t="textAreaTop" r="textAreaRight" b="textAreaBottom"/>
            <a:pathLst>
              <a:path w="2832411" h="2737769">
                <a:moveTo>
                  <a:pt x="0" y="0"/>
                </a:moveTo>
                <a:lnTo>
                  <a:pt x="18883" y="72141"/>
                </a:lnTo>
                <a:lnTo>
                  <a:pt x="37765" y="143318"/>
                </a:lnTo>
                <a:lnTo>
                  <a:pt x="56648" y="213532"/>
                </a:lnTo>
                <a:lnTo>
                  <a:pt x="75531" y="282783"/>
                </a:lnTo>
                <a:lnTo>
                  <a:pt x="94414" y="351070"/>
                </a:lnTo>
                <a:lnTo>
                  <a:pt x="113296" y="418395"/>
                </a:lnTo>
                <a:lnTo>
                  <a:pt x="132179" y="484756"/>
                </a:lnTo>
                <a:lnTo>
                  <a:pt x="151062" y="550155"/>
                </a:lnTo>
                <a:lnTo>
                  <a:pt x="169945" y="614590"/>
                </a:lnTo>
                <a:lnTo>
                  <a:pt x="188827" y="678062"/>
                </a:lnTo>
                <a:lnTo>
                  <a:pt x="207710" y="740570"/>
                </a:lnTo>
                <a:lnTo>
                  <a:pt x="226593" y="802116"/>
                </a:lnTo>
                <a:lnTo>
                  <a:pt x="245475" y="862699"/>
                </a:lnTo>
                <a:lnTo>
                  <a:pt x="264358" y="922318"/>
                </a:lnTo>
                <a:lnTo>
                  <a:pt x="283241" y="980974"/>
                </a:lnTo>
                <a:lnTo>
                  <a:pt x="302124" y="1038667"/>
                </a:lnTo>
                <a:lnTo>
                  <a:pt x="321006" y="1095397"/>
                </a:lnTo>
                <a:lnTo>
                  <a:pt x="339889" y="1151164"/>
                </a:lnTo>
                <a:lnTo>
                  <a:pt x="358772" y="1205967"/>
                </a:lnTo>
                <a:lnTo>
                  <a:pt x="377655" y="1259807"/>
                </a:lnTo>
                <a:lnTo>
                  <a:pt x="396537" y="1312685"/>
                </a:lnTo>
                <a:lnTo>
                  <a:pt x="415420" y="1364599"/>
                </a:lnTo>
                <a:lnTo>
                  <a:pt x="434303" y="1415550"/>
                </a:lnTo>
                <a:lnTo>
                  <a:pt x="453186" y="1465537"/>
                </a:lnTo>
                <a:lnTo>
                  <a:pt x="472068" y="1514562"/>
                </a:lnTo>
                <a:lnTo>
                  <a:pt x="490951" y="1562624"/>
                </a:lnTo>
                <a:lnTo>
                  <a:pt x="509834" y="1609722"/>
                </a:lnTo>
                <a:lnTo>
                  <a:pt x="528717" y="1655857"/>
                </a:lnTo>
                <a:lnTo>
                  <a:pt x="547599" y="1701029"/>
                </a:lnTo>
                <a:lnTo>
                  <a:pt x="566482" y="1745238"/>
                </a:lnTo>
                <a:lnTo>
                  <a:pt x="585365" y="1788483"/>
                </a:lnTo>
                <a:lnTo>
                  <a:pt x="604248" y="1830766"/>
                </a:lnTo>
                <a:lnTo>
                  <a:pt x="623130" y="1872085"/>
                </a:lnTo>
                <a:lnTo>
                  <a:pt x="642013" y="1912442"/>
                </a:lnTo>
                <a:lnTo>
                  <a:pt x="660896" y="1951835"/>
                </a:lnTo>
                <a:lnTo>
                  <a:pt x="679779" y="1990265"/>
                </a:lnTo>
                <a:lnTo>
                  <a:pt x="698661" y="2027731"/>
                </a:lnTo>
                <a:lnTo>
                  <a:pt x="717544" y="2064235"/>
                </a:lnTo>
                <a:lnTo>
                  <a:pt x="736427" y="2099775"/>
                </a:lnTo>
                <a:lnTo>
                  <a:pt x="755309" y="2134353"/>
                </a:lnTo>
                <a:lnTo>
                  <a:pt x="774192" y="2167967"/>
                </a:lnTo>
                <a:lnTo>
                  <a:pt x="793075" y="2200618"/>
                </a:lnTo>
                <a:lnTo>
                  <a:pt x="811958" y="2232305"/>
                </a:lnTo>
                <a:lnTo>
                  <a:pt x="830840" y="2263030"/>
                </a:lnTo>
                <a:lnTo>
                  <a:pt x="849723" y="2292792"/>
                </a:lnTo>
                <a:lnTo>
                  <a:pt x="868606" y="2321590"/>
                </a:lnTo>
                <a:lnTo>
                  <a:pt x="887489" y="2349425"/>
                </a:lnTo>
                <a:lnTo>
                  <a:pt x="906371" y="2376297"/>
                </a:lnTo>
                <a:lnTo>
                  <a:pt x="925254" y="2402206"/>
                </a:lnTo>
                <a:lnTo>
                  <a:pt x="944137" y="2427152"/>
                </a:lnTo>
                <a:lnTo>
                  <a:pt x="963020" y="2451134"/>
                </a:lnTo>
                <a:lnTo>
                  <a:pt x="981902" y="2474154"/>
                </a:lnTo>
                <a:lnTo>
                  <a:pt x="1000785" y="2496210"/>
                </a:lnTo>
                <a:lnTo>
                  <a:pt x="1019668" y="2517303"/>
                </a:lnTo>
                <a:lnTo>
                  <a:pt x="1038551" y="2537433"/>
                </a:lnTo>
                <a:lnTo>
                  <a:pt x="1057433" y="2556600"/>
                </a:lnTo>
                <a:lnTo>
                  <a:pt x="1076316" y="2574804"/>
                </a:lnTo>
                <a:lnTo>
                  <a:pt x="1095199" y="2592044"/>
                </a:lnTo>
                <a:lnTo>
                  <a:pt x="1114082" y="2608321"/>
                </a:lnTo>
                <a:lnTo>
                  <a:pt x="1132964" y="2623636"/>
                </a:lnTo>
                <a:lnTo>
                  <a:pt x="1151847" y="2637987"/>
                </a:lnTo>
                <a:lnTo>
                  <a:pt x="1170730" y="2651374"/>
                </a:lnTo>
                <a:lnTo>
                  <a:pt x="1189613" y="2663799"/>
                </a:lnTo>
                <a:lnTo>
                  <a:pt x="1208495" y="2675261"/>
                </a:lnTo>
                <a:lnTo>
                  <a:pt x="1227378" y="2685759"/>
                </a:lnTo>
                <a:lnTo>
                  <a:pt x="1246261" y="2695294"/>
                </a:lnTo>
                <a:lnTo>
                  <a:pt x="1265143" y="2703866"/>
                </a:lnTo>
                <a:lnTo>
                  <a:pt x="1284026" y="2711475"/>
                </a:lnTo>
                <a:lnTo>
                  <a:pt x="1302909" y="2718121"/>
                </a:lnTo>
                <a:lnTo>
                  <a:pt x="1321792" y="2723804"/>
                </a:lnTo>
                <a:lnTo>
                  <a:pt x="1340674" y="2728523"/>
                </a:lnTo>
                <a:lnTo>
                  <a:pt x="1359557" y="2732279"/>
                </a:lnTo>
                <a:lnTo>
                  <a:pt x="1378440" y="2735073"/>
                </a:lnTo>
                <a:lnTo>
                  <a:pt x="1397323" y="2736903"/>
                </a:lnTo>
                <a:lnTo>
                  <a:pt x="1416205" y="2737769"/>
                </a:lnTo>
                <a:lnTo>
                  <a:pt x="1435088" y="2737673"/>
                </a:lnTo>
                <a:lnTo>
                  <a:pt x="1453971" y="2736614"/>
                </a:lnTo>
                <a:lnTo>
                  <a:pt x="1472854" y="2734591"/>
                </a:lnTo>
                <a:lnTo>
                  <a:pt x="1491736" y="2731605"/>
                </a:lnTo>
                <a:lnTo>
                  <a:pt x="1510619" y="2727656"/>
                </a:lnTo>
                <a:lnTo>
                  <a:pt x="1529502" y="2722744"/>
                </a:lnTo>
                <a:lnTo>
                  <a:pt x="1548385" y="2716869"/>
                </a:lnTo>
                <a:lnTo>
                  <a:pt x="1567267" y="2710031"/>
                </a:lnTo>
                <a:lnTo>
                  <a:pt x="1586150" y="2702229"/>
                </a:lnTo>
                <a:lnTo>
                  <a:pt x="1605033" y="2693464"/>
                </a:lnTo>
                <a:lnTo>
                  <a:pt x="1623916" y="2683736"/>
                </a:lnTo>
                <a:lnTo>
                  <a:pt x="1642798" y="2673045"/>
                </a:lnTo>
                <a:lnTo>
                  <a:pt x="1661681" y="2661391"/>
                </a:lnTo>
                <a:lnTo>
                  <a:pt x="1680564" y="2648774"/>
                </a:lnTo>
                <a:lnTo>
                  <a:pt x="1699447" y="2635193"/>
                </a:lnTo>
                <a:lnTo>
                  <a:pt x="1718329" y="2620650"/>
                </a:lnTo>
                <a:lnTo>
                  <a:pt x="1737212" y="2605143"/>
                </a:lnTo>
                <a:lnTo>
                  <a:pt x="1756095" y="2588673"/>
                </a:lnTo>
                <a:lnTo>
                  <a:pt x="1774977" y="2571240"/>
                </a:lnTo>
                <a:lnTo>
                  <a:pt x="1793860" y="2552844"/>
                </a:lnTo>
                <a:lnTo>
                  <a:pt x="1812743" y="2533484"/>
                </a:lnTo>
                <a:lnTo>
                  <a:pt x="1831626" y="2513162"/>
                </a:lnTo>
                <a:lnTo>
                  <a:pt x="1850508" y="2491876"/>
                </a:lnTo>
                <a:lnTo>
                  <a:pt x="1869391" y="2469627"/>
                </a:lnTo>
                <a:lnTo>
                  <a:pt x="1888274" y="2446415"/>
                </a:lnTo>
                <a:lnTo>
                  <a:pt x="1907157" y="2422240"/>
                </a:lnTo>
                <a:lnTo>
                  <a:pt x="1926039" y="2397101"/>
                </a:lnTo>
                <a:lnTo>
                  <a:pt x="1944922" y="2371000"/>
                </a:lnTo>
                <a:lnTo>
                  <a:pt x="1963805" y="2343935"/>
                </a:lnTo>
                <a:lnTo>
                  <a:pt x="1982688" y="2315907"/>
                </a:lnTo>
                <a:lnTo>
                  <a:pt x="2001570" y="2286916"/>
                </a:lnTo>
                <a:lnTo>
                  <a:pt x="2020453" y="2256962"/>
                </a:lnTo>
                <a:lnTo>
                  <a:pt x="2039336" y="2226045"/>
                </a:lnTo>
                <a:lnTo>
                  <a:pt x="2058219" y="2194165"/>
                </a:lnTo>
                <a:lnTo>
                  <a:pt x="2077101" y="2161321"/>
                </a:lnTo>
                <a:lnTo>
                  <a:pt x="2095984" y="2127514"/>
                </a:lnTo>
                <a:lnTo>
                  <a:pt x="2114867" y="2092744"/>
                </a:lnTo>
                <a:lnTo>
                  <a:pt x="2133750" y="2057011"/>
                </a:lnTo>
                <a:lnTo>
                  <a:pt x="2152632" y="2020315"/>
                </a:lnTo>
                <a:lnTo>
                  <a:pt x="2171515" y="1982656"/>
                </a:lnTo>
                <a:lnTo>
                  <a:pt x="2190398" y="1944033"/>
                </a:lnTo>
                <a:lnTo>
                  <a:pt x="2209281" y="1904447"/>
                </a:lnTo>
                <a:lnTo>
                  <a:pt x="2228163" y="1863899"/>
                </a:lnTo>
                <a:lnTo>
                  <a:pt x="2247046" y="1822387"/>
                </a:lnTo>
                <a:lnTo>
                  <a:pt x="2265929" y="1779911"/>
                </a:lnTo>
                <a:lnTo>
                  <a:pt x="2284811" y="1736473"/>
                </a:lnTo>
                <a:lnTo>
                  <a:pt x="2303694" y="1692072"/>
                </a:lnTo>
                <a:lnTo>
                  <a:pt x="2322577" y="1646707"/>
                </a:lnTo>
                <a:lnTo>
                  <a:pt x="2341460" y="1600379"/>
                </a:lnTo>
                <a:lnTo>
                  <a:pt x="2360342" y="1553088"/>
                </a:lnTo>
                <a:lnTo>
                  <a:pt x="2379225" y="1504834"/>
                </a:lnTo>
                <a:lnTo>
                  <a:pt x="2398108" y="1455617"/>
                </a:lnTo>
                <a:lnTo>
                  <a:pt x="2416991" y="1405437"/>
                </a:lnTo>
                <a:lnTo>
                  <a:pt x="2435873" y="1354293"/>
                </a:lnTo>
                <a:lnTo>
                  <a:pt x="2454756" y="1302186"/>
                </a:lnTo>
                <a:lnTo>
                  <a:pt x="2473639" y="1249116"/>
                </a:lnTo>
                <a:lnTo>
                  <a:pt x="2492522" y="1195083"/>
                </a:lnTo>
                <a:lnTo>
                  <a:pt x="2511404" y="1140087"/>
                </a:lnTo>
                <a:lnTo>
                  <a:pt x="2530287" y="1084128"/>
                </a:lnTo>
                <a:lnTo>
                  <a:pt x="2549170" y="1027205"/>
                </a:lnTo>
                <a:lnTo>
                  <a:pt x="2568053" y="969320"/>
                </a:lnTo>
                <a:lnTo>
                  <a:pt x="2586935" y="910471"/>
                </a:lnTo>
                <a:lnTo>
                  <a:pt x="2605818" y="850659"/>
                </a:lnTo>
                <a:lnTo>
                  <a:pt x="2624701" y="789884"/>
                </a:lnTo>
                <a:lnTo>
                  <a:pt x="2643584" y="728146"/>
                </a:lnTo>
                <a:lnTo>
                  <a:pt x="2662466" y="665444"/>
                </a:lnTo>
                <a:lnTo>
                  <a:pt x="2681349" y="601780"/>
                </a:lnTo>
                <a:lnTo>
                  <a:pt x="2700232" y="537152"/>
                </a:lnTo>
                <a:lnTo>
                  <a:pt x="2719115" y="471561"/>
                </a:lnTo>
                <a:lnTo>
                  <a:pt x="2737997" y="405007"/>
                </a:lnTo>
                <a:lnTo>
                  <a:pt x="2756880" y="337490"/>
                </a:lnTo>
                <a:lnTo>
                  <a:pt x="2775763" y="269010"/>
                </a:lnTo>
                <a:lnTo>
                  <a:pt x="2794645" y="199566"/>
                </a:lnTo>
                <a:lnTo>
                  <a:pt x="2813528" y="129159"/>
                </a:lnTo>
                <a:lnTo>
                  <a:pt x="2832411" y="57790"/>
                </a:lnTo>
              </a:path>
            </a:pathLst>
          </a:custGeom>
          <a:noFill/>
          <a:ln w="30480">
            <a:solidFill>
              <a:srgbClr val="5c6b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5" name="Freeform 47"/>
          <p:cNvSpPr/>
          <p:nvPr/>
        </p:nvSpPr>
        <p:spPr>
          <a:xfrm>
            <a:off x="1381680" y="1997280"/>
            <a:ext cx="2832120" cy="2737440"/>
          </a:xfrm>
          <a:custGeom>
            <a:avLst/>
            <a:gdLst>
              <a:gd name="textAreaLeft" fmla="*/ 0 w 2832120"/>
              <a:gd name="textAreaRight" fmla="*/ 2832480 w 2832120"/>
              <a:gd name="textAreaTop" fmla="*/ 0 h 2737440"/>
              <a:gd name="textAreaBottom" fmla="*/ 2737800 h 2737440"/>
            </a:gdLst>
            <a:ahLst/>
            <a:rect l="textAreaLeft" t="textAreaTop" r="textAreaRight" b="textAreaBottom"/>
            <a:pathLst>
              <a:path w="2832411" h="2737769">
                <a:moveTo>
                  <a:pt x="0" y="57790"/>
                </a:moveTo>
                <a:lnTo>
                  <a:pt x="18883" y="129159"/>
                </a:lnTo>
                <a:lnTo>
                  <a:pt x="37766" y="199566"/>
                </a:lnTo>
                <a:lnTo>
                  <a:pt x="56648" y="269010"/>
                </a:lnTo>
                <a:lnTo>
                  <a:pt x="75531" y="337490"/>
                </a:lnTo>
                <a:lnTo>
                  <a:pt x="94414" y="405007"/>
                </a:lnTo>
                <a:lnTo>
                  <a:pt x="113296" y="471561"/>
                </a:lnTo>
                <a:lnTo>
                  <a:pt x="132179" y="537152"/>
                </a:lnTo>
                <a:lnTo>
                  <a:pt x="151062" y="601780"/>
                </a:lnTo>
                <a:lnTo>
                  <a:pt x="169945" y="665444"/>
                </a:lnTo>
                <a:lnTo>
                  <a:pt x="188827" y="728146"/>
                </a:lnTo>
                <a:lnTo>
                  <a:pt x="207710" y="789884"/>
                </a:lnTo>
                <a:lnTo>
                  <a:pt x="226593" y="850659"/>
                </a:lnTo>
                <a:lnTo>
                  <a:pt x="245476" y="910471"/>
                </a:lnTo>
                <a:lnTo>
                  <a:pt x="264358" y="969320"/>
                </a:lnTo>
                <a:lnTo>
                  <a:pt x="283241" y="1027205"/>
                </a:lnTo>
                <a:lnTo>
                  <a:pt x="302124" y="1084128"/>
                </a:lnTo>
                <a:lnTo>
                  <a:pt x="321007" y="1140087"/>
                </a:lnTo>
                <a:lnTo>
                  <a:pt x="339889" y="1195083"/>
                </a:lnTo>
                <a:lnTo>
                  <a:pt x="358772" y="1249116"/>
                </a:lnTo>
                <a:lnTo>
                  <a:pt x="377655" y="1302186"/>
                </a:lnTo>
                <a:lnTo>
                  <a:pt x="396538" y="1354293"/>
                </a:lnTo>
                <a:lnTo>
                  <a:pt x="415420" y="1405437"/>
                </a:lnTo>
                <a:lnTo>
                  <a:pt x="434303" y="1455617"/>
                </a:lnTo>
                <a:lnTo>
                  <a:pt x="453186" y="1504834"/>
                </a:lnTo>
                <a:lnTo>
                  <a:pt x="472069" y="1553088"/>
                </a:lnTo>
                <a:lnTo>
                  <a:pt x="490951" y="1600379"/>
                </a:lnTo>
                <a:lnTo>
                  <a:pt x="509834" y="1646707"/>
                </a:lnTo>
                <a:lnTo>
                  <a:pt x="528717" y="1692072"/>
                </a:lnTo>
                <a:lnTo>
                  <a:pt x="547600" y="1736473"/>
                </a:lnTo>
                <a:lnTo>
                  <a:pt x="566482" y="1779911"/>
                </a:lnTo>
                <a:lnTo>
                  <a:pt x="585365" y="1822387"/>
                </a:lnTo>
                <a:lnTo>
                  <a:pt x="604248" y="1863899"/>
                </a:lnTo>
                <a:lnTo>
                  <a:pt x="623130" y="1904447"/>
                </a:lnTo>
                <a:lnTo>
                  <a:pt x="642013" y="1944033"/>
                </a:lnTo>
                <a:lnTo>
                  <a:pt x="660896" y="1982656"/>
                </a:lnTo>
                <a:lnTo>
                  <a:pt x="679779" y="2020315"/>
                </a:lnTo>
                <a:lnTo>
                  <a:pt x="698661" y="2057011"/>
                </a:lnTo>
                <a:lnTo>
                  <a:pt x="717544" y="2092744"/>
                </a:lnTo>
                <a:lnTo>
                  <a:pt x="736427" y="2127514"/>
                </a:lnTo>
                <a:lnTo>
                  <a:pt x="755310" y="2161321"/>
                </a:lnTo>
                <a:lnTo>
                  <a:pt x="774192" y="2194165"/>
                </a:lnTo>
                <a:lnTo>
                  <a:pt x="793075" y="2226045"/>
                </a:lnTo>
                <a:lnTo>
                  <a:pt x="811958" y="2256962"/>
                </a:lnTo>
                <a:lnTo>
                  <a:pt x="830841" y="2286916"/>
                </a:lnTo>
                <a:lnTo>
                  <a:pt x="849723" y="2315907"/>
                </a:lnTo>
                <a:lnTo>
                  <a:pt x="868606" y="2343935"/>
                </a:lnTo>
                <a:lnTo>
                  <a:pt x="887489" y="2371000"/>
                </a:lnTo>
                <a:lnTo>
                  <a:pt x="906372" y="2397101"/>
                </a:lnTo>
                <a:lnTo>
                  <a:pt x="925254" y="2422240"/>
                </a:lnTo>
                <a:lnTo>
                  <a:pt x="944137" y="2446415"/>
                </a:lnTo>
                <a:lnTo>
                  <a:pt x="963020" y="2469627"/>
                </a:lnTo>
                <a:lnTo>
                  <a:pt x="981903" y="2491876"/>
                </a:lnTo>
                <a:lnTo>
                  <a:pt x="1000785" y="2513162"/>
                </a:lnTo>
                <a:lnTo>
                  <a:pt x="1019668" y="2533484"/>
                </a:lnTo>
                <a:lnTo>
                  <a:pt x="1038551" y="2552844"/>
                </a:lnTo>
                <a:lnTo>
                  <a:pt x="1057434" y="2571240"/>
                </a:lnTo>
                <a:lnTo>
                  <a:pt x="1076316" y="2588673"/>
                </a:lnTo>
                <a:lnTo>
                  <a:pt x="1095199" y="2605143"/>
                </a:lnTo>
                <a:lnTo>
                  <a:pt x="1114082" y="2620650"/>
                </a:lnTo>
                <a:lnTo>
                  <a:pt x="1132964" y="2635193"/>
                </a:lnTo>
                <a:lnTo>
                  <a:pt x="1151847" y="2648774"/>
                </a:lnTo>
                <a:lnTo>
                  <a:pt x="1170730" y="2661391"/>
                </a:lnTo>
                <a:lnTo>
                  <a:pt x="1189613" y="2673045"/>
                </a:lnTo>
                <a:lnTo>
                  <a:pt x="1208495" y="2683736"/>
                </a:lnTo>
                <a:lnTo>
                  <a:pt x="1227378" y="2693464"/>
                </a:lnTo>
                <a:lnTo>
                  <a:pt x="1246261" y="2702229"/>
                </a:lnTo>
                <a:lnTo>
                  <a:pt x="1265144" y="2710031"/>
                </a:lnTo>
                <a:lnTo>
                  <a:pt x="1284026" y="2716869"/>
                </a:lnTo>
                <a:lnTo>
                  <a:pt x="1302909" y="2722744"/>
                </a:lnTo>
                <a:lnTo>
                  <a:pt x="1321792" y="2727656"/>
                </a:lnTo>
                <a:lnTo>
                  <a:pt x="1340675" y="2731605"/>
                </a:lnTo>
                <a:lnTo>
                  <a:pt x="1359557" y="2734591"/>
                </a:lnTo>
                <a:lnTo>
                  <a:pt x="1378440" y="2736614"/>
                </a:lnTo>
                <a:lnTo>
                  <a:pt x="1397323" y="2737673"/>
                </a:lnTo>
                <a:lnTo>
                  <a:pt x="1416206" y="2737769"/>
                </a:lnTo>
                <a:lnTo>
                  <a:pt x="1435088" y="2736903"/>
                </a:lnTo>
                <a:lnTo>
                  <a:pt x="1453971" y="2735073"/>
                </a:lnTo>
                <a:lnTo>
                  <a:pt x="1472854" y="2732279"/>
                </a:lnTo>
                <a:lnTo>
                  <a:pt x="1491737" y="2728523"/>
                </a:lnTo>
                <a:lnTo>
                  <a:pt x="1510619" y="2723804"/>
                </a:lnTo>
                <a:lnTo>
                  <a:pt x="1529502" y="2718121"/>
                </a:lnTo>
                <a:lnTo>
                  <a:pt x="1548385" y="2711475"/>
                </a:lnTo>
                <a:lnTo>
                  <a:pt x="1567268" y="2703866"/>
                </a:lnTo>
                <a:lnTo>
                  <a:pt x="1586150" y="2695294"/>
                </a:lnTo>
                <a:lnTo>
                  <a:pt x="1605033" y="2685759"/>
                </a:lnTo>
                <a:lnTo>
                  <a:pt x="1623916" y="2675261"/>
                </a:lnTo>
                <a:lnTo>
                  <a:pt x="1642798" y="2663799"/>
                </a:lnTo>
                <a:lnTo>
                  <a:pt x="1661681" y="2651374"/>
                </a:lnTo>
                <a:lnTo>
                  <a:pt x="1680564" y="2637987"/>
                </a:lnTo>
                <a:lnTo>
                  <a:pt x="1699447" y="2623636"/>
                </a:lnTo>
                <a:lnTo>
                  <a:pt x="1718329" y="2608321"/>
                </a:lnTo>
                <a:lnTo>
                  <a:pt x="1737212" y="2592044"/>
                </a:lnTo>
                <a:lnTo>
                  <a:pt x="1756095" y="2574804"/>
                </a:lnTo>
                <a:lnTo>
                  <a:pt x="1774978" y="2556600"/>
                </a:lnTo>
                <a:lnTo>
                  <a:pt x="1793860" y="2537433"/>
                </a:lnTo>
                <a:lnTo>
                  <a:pt x="1812743" y="2517303"/>
                </a:lnTo>
                <a:lnTo>
                  <a:pt x="1831626" y="2496210"/>
                </a:lnTo>
                <a:lnTo>
                  <a:pt x="1850509" y="2474154"/>
                </a:lnTo>
                <a:lnTo>
                  <a:pt x="1869391" y="2451134"/>
                </a:lnTo>
                <a:lnTo>
                  <a:pt x="1888274" y="2427152"/>
                </a:lnTo>
                <a:lnTo>
                  <a:pt x="1907157" y="2402206"/>
                </a:lnTo>
                <a:lnTo>
                  <a:pt x="1926040" y="2376297"/>
                </a:lnTo>
                <a:lnTo>
                  <a:pt x="1944922" y="2349425"/>
                </a:lnTo>
                <a:lnTo>
                  <a:pt x="1963805" y="2321590"/>
                </a:lnTo>
                <a:lnTo>
                  <a:pt x="1982688" y="2292792"/>
                </a:lnTo>
                <a:lnTo>
                  <a:pt x="2001571" y="2263030"/>
                </a:lnTo>
                <a:lnTo>
                  <a:pt x="2020453" y="2232305"/>
                </a:lnTo>
                <a:lnTo>
                  <a:pt x="2039336" y="2200618"/>
                </a:lnTo>
                <a:lnTo>
                  <a:pt x="2058219" y="2167967"/>
                </a:lnTo>
                <a:lnTo>
                  <a:pt x="2077102" y="2134353"/>
                </a:lnTo>
                <a:lnTo>
                  <a:pt x="2095984" y="2099775"/>
                </a:lnTo>
                <a:lnTo>
                  <a:pt x="2114867" y="2064235"/>
                </a:lnTo>
                <a:lnTo>
                  <a:pt x="2133750" y="2027731"/>
                </a:lnTo>
                <a:lnTo>
                  <a:pt x="2152632" y="1990265"/>
                </a:lnTo>
                <a:lnTo>
                  <a:pt x="2171515" y="1951835"/>
                </a:lnTo>
                <a:lnTo>
                  <a:pt x="2190398" y="1912442"/>
                </a:lnTo>
                <a:lnTo>
                  <a:pt x="2209281" y="1872085"/>
                </a:lnTo>
                <a:lnTo>
                  <a:pt x="2228163" y="1830766"/>
                </a:lnTo>
                <a:lnTo>
                  <a:pt x="2247046" y="1788483"/>
                </a:lnTo>
                <a:lnTo>
                  <a:pt x="2265929" y="1745238"/>
                </a:lnTo>
                <a:lnTo>
                  <a:pt x="2284812" y="1701029"/>
                </a:lnTo>
                <a:lnTo>
                  <a:pt x="2303694" y="1655857"/>
                </a:lnTo>
                <a:lnTo>
                  <a:pt x="2322577" y="1609722"/>
                </a:lnTo>
                <a:lnTo>
                  <a:pt x="2341460" y="1562624"/>
                </a:lnTo>
                <a:lnTo>
                  <a:pt x="2360343" y="1514562"/>
                </a:lnTo>
                <a:lnTo>
                  <a:pt x="2379225" y="1465537"/>
                </a:lnTo>
                <a:lnTo>
                  <a:pt x="2398108" y="1415550"/>
                </a:lnTo>
                <a:lnTo>
                  <a:pt x="2416991" y="1364599"/>
                </a:lnTo>
                <a:lnTo>
                  <a:pt x="2435874" y="1312685"/>
                </a:lnTo>
                <a:lnTo>
                  <a:pt x="2454756" y="1259807"/>
                </a:lnTo>
                <a:lnTo>
                  <a:pt x="2473639" y="1205967"/>
                </a:lnTo>
                <a:lnTo>
                  <a:pt x="2492522" y="1151164"/>
                </a:lnTo>
                <a:lnTo>
                  <a:pt x="2511405" y="1095397"/>
                </a:lnTo>
                <a:lnTo>
                  <a:pt x="2530287" y="1038667"/>
                </a:lnTo>
                <a:lnTo>
                  <a:pt x="2549170" y="980974"/>
                </a:lnTo>
                <a:lnTo>
                  <a:pt x="2568053" y="922318"/>
                </a:lnTo>
                <a:lnTo>
                  <a:pt x="2586936" y="862699"/>
                </a:lnTo>
                <a:lnTo>
                  <a:pt x="2605818" y="802116"/>
                </a:lnTo>
                <a:lnTo>
                  <a:pt x="2624701" y="740570"/>
                </a:lnTo>
                <a:lnTo>
                  <a:pt x="2643584" y="678062"/>
                </a:lnTo>
                <a:lnTo>
                  <a:pt x="2662466" y="614590"/>
                </a:lnTo>
                <a:lnTo>
                  <a:pt x="2681349" y="550155"/>
                </a:lnTo>
                <a:lnTo>
                  <a:pt x="2700232" y="484756"/>
                </a:lnTo>
                <a:lnTo>
                  <a:pt x="2719115" y="418395"/>
                </a:lnTo>
                <a:lnTo>
                  <a:pt x="2737997" y="351070"/>
                </a:lnTo>
                <a:lnTo>
                  <a:pt x="2756880" y="282783"/>
                </a:lnTo>
                <a:lnTo>
                  <a:pt x="2775763" y="213532"/>
                </a:lnTo>
                <a:lnTo>
                  <a:pt x="2794646" y="143318"/>
                </a:lnTo>
                <a:lnTo>
                  <a:pt x="2813528" y="72141"/>
                </a:lnTo>
                <a:lnTo>
                  <a:pt x="2832411" y="0"/>
                </a:lnTo>
              </a:path>
            </a:pathLst>
          </a:custGeom>
          <a:noFill/>
          <a:ln w="38100">
            <a:solidFill>
              <a:srgbClr val="c84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6" name="Oval 48"/>
          <p:cNvSpPr/>
          <p:nvPr/>
        </p:nvSpPr>
        <p:spPr>
          <a:xfrm>
            <a:off x="2758320" y="360288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7" name="Oval 49"/>
          <p:cNvSpPr/>
          <p:nvPr/>
        </p:nvSpPr>
        <p:spPr>
          <a:xfrm>
            <a:off x="3209400" y="442800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8" name="Oval 50"/>
          <p:cNvSpPr/>
          <p:nvPr/>
        </p:nvSpPr>
        <p:spPr>
          <a:xfrm>
            <a:off x="3660840" y="470304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9" name="Oval 51"/>
          <p:cNvSpPr/>
          <p:nvPr/>
        </p:nvSpPr>
        <p:spPr>
          <a:xfrm>
            <a:off x="4112280" y="442800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0" name="Oval 52"/>
          <p:cNvSpPr/>
          <p:nvPr/>
        </p:nvSpPr>
        <p:spPr>
          <a:xfrm>
            <a:off x="4563360" y="360288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1" name="Oval 53"/>
          <p:cNvSpPr/>
          <p:nvPr/>
        </p:nvSpPr>
        <p:spPr>
          <a:xfrm>
            <a:off x="1855800" y="360288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2" name="Oval 54"/>
          <p:cNvSpPr/>
          <p:nvPr/>
        </p:nvSpPr>
        <p:spPr>
          <a:xfrm>
            <a:off x="2306880" y="442800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3" name="Oval 55"/>
          <p:cNvSpPr/>
          <p:nvPr/>
        </p:nvSpPr>
        <p:spPr>
          <a:xfrm>
            <a:off x="2758320" y="470304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4" name="Oval 56"/>
          <p:cNvSpPr/>
          <p:nvPr/>
        </p:nvSpPr>
        <p:spPr>
          <a:xfrm>
            <a:off x="3209400" y="442800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5" name="Oval 57"/>
          <p:cNvSpPr/>
          <p:nvPr/>
        </p:nvSpPr>
        <p:spPr>
          <a:xfrm>
            <a:off x="3660840" y="360288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66" name="Connector 58"/>
          <p:cNvCxnSpPr/>
          <p:nvPr/>
        </p:nvCxnSpPr>
        <p:spPr>
          <a:xfrm>
            <a:off x="1284840" y="5415120"/>
            <a:ext cx="350280" cy="360"/>
          </a:xfrm>
          <a:prstGeom prst="straightConnector1">
            <a:avLst/>
          </a:prstGeom>
          <a:ln w="30480">
            <a:solidFill>
              <a:srgbClr val="5c6b60"/>
            </a:solidFill>
            <a:prstDash val="dash"/>
          </a:ln>
        </p:spPr>
      </p:cxnSp>
      <p:sp>
        <p:nvSpPr>
          <p:cNvPr id="567" name="TextBox 59"/>
          <p:cNvSpPr/>
          <p:nvPr/>
        </p:nvSpPr>
        <p:spPr>
          <a:xfrm>
            <a:off x="2171880" y="5340600"/>
            <a:ext cx="4262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pc="-1" strike="noStrike">
                <a:solidFill>
                  <a:srgbClr val="1c2a22"/>
                </a:solidFill>
                <a:latin typeface="Cambria"/>
              </a:rPr>
              <a:t>y = f(x)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68" name="Connector 60"/>
          <p:cNvCxnSpPr/>
          <p:nvPr/>
        </p:nvCxnSpPr>
        <p:spPr>
          <a:xfrm>
            <a:off x="3285000" y="5415120"/>
            <a:ext cx="350280" cy="360"/>
          </a:xfrm>
          <a:prstGeom prst="straightConnector1">
            <a:avLst/>
          </a:prstGeom>
          <a:ln w="38100">
            <a:solidFill>
              <a:srgbClr val="c84f2f"/>
            </a:solidFill>
          </a:ln>
        </p:spPr>
      </p:cxnSp>
      <p:sp>
        <p:nvSpPr>
          <p:cNvPr id="569" name="TextBox 61"/>
          <p:cNvSpPr/>
          <p:nvPr/>
        </p:nvSpPr>
        <p:spPr>
          <a:xfrm>
            <a:off x="4250520" y="5340600"/>
            <a:ext cx="66852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c2a22"/>
                </a:solidFill>
                <a:latin typeface="Cambria"/>
              </a:rPr>
              <a:t>y = f(x + 2)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6" dur="indefinite" restart="never" nodeType="tmRoot">
          <p:childTnLst>
            <p:seq>
              <p:cTn id="187" dur="indefinite" nodeType="mainSeq">
                <p:childTnLst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92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95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98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01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04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09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1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REFLECTION · Y-AXIS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Box 4"/>
          <p:cNvSpPr/>
          <p:nvPr/>
        </p:nvSpPr>
        <p:spPr>
          <a:xfrm>
            <a:off x="1325880" y="74340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y = f(−x)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Inside the bracket → flip the sign of every x-value. The graph reflects in the y-axis.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Rounded Rectangle 6"/>
          <p:cNvSpPr/>
          <p:nvPr/>
        </p:nvSpPr>
        <p:spPr>
          <a:xfrm>
            <a:off x="567000" y="1874520"/>
            <a:ext cx="534888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576" name="Table 8"/>
          <p:cNvGraphicFramePr/>
          <p:nvPr/>
        </p:nvGraphicFramePr>
        <p:xfrm>
          <a:off x="6263640" y="1874520"/>
          <a:ext cx="5357880" cy="3401280"/>
        </p:xfrm>
        <a:graphic>
          <a:graphicData uri="http://schemas.openxmlformats.org/drawingml/2006/table">
            <a:tbl>
              <a:tblPr/>
              <a:tblGrid>
                <a:gridCol w="2679120"/>
                <a:gridCol w="2679120"/>
              </a:tblGrid>
              <a:tr h="566640">
                <a:tc>
                  <a:txBody>
                    <a:bodyPr lIns="109440" rIns="109440" tIns="36360" bIns="36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Original point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New point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(-2,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(2, 4)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(-1,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(1, 1)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(0, 0)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(0, 0)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(1, 1)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(-1,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(2, 4)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(-2,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</a:tbl>
          </a:graphicData>
        </a:graphic>
      </p:graphicFrame>
      <p:sp>
        <p:nvSpPr>
          <p:cNvPr id="577" name="Rounded Rectangle 9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</a:rPr>
              <a:t>Rule: (x, y) → (−x, y).  The y-axis acts as the mirror line.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78" name="Connector 10"/>
          <p:cNvCxnSpPr/>
          <p:nvPr/>
        </p:nvCxnSpPr>
        <p:spPr>
          <a:xfrm>
            <a:off x="98496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79" name="Connector 11"/>
          <p:cNvCxnSpPr/>
          <p:nvPr/>
        </p:nvCxnSpPr>
        <p:spPr>
          <a:xfrm>
            <a:off x="154908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80" name="Connector 12"/>
          <p:cNvCxnSpPr/>
          <p:nvPr/>
        </p:nvCxnSpPr>
        <p:spPr>
          <a:xfrm>
            <a:off x="211320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81" name="Connector 13"/>
          <p:cNvCxnSpPr/>
          <p:nvPr/>
        </p:nvCxnSpPr>
        <p:spPr>
          <a:xfrm>
            <a:off x="267732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82" name="Connector 14"/>
          <p:cNvCxnSpPr/>
          <p:nvPr/>
        </p:nvCxnSpPr>
        <p:spPr>
          <a:xfrm>
            <a:off x="324144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83" name="Connector 15"/>
          <p:cNvCxnSpPr/>
          <p:nvPr/>
        </p:nvCxnSpPr>
        <p:spPr>
          <a:xfrm>
            <a:off x="380556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84" name="Connector 16"/>
          <p:cNvCxnSpPr/>
          <p:nvPr/>
        </p:nvCxnSpPr>
        <p:spPr>
          <a:xfrm>
            <a:off x="436968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85" name="Connector 17"/>
          <p:cNvCxnSpPr/>
          <p:nvPr/>
        </p:nvCxnSpPr>
        <p:spPr>
          <a:xfrm>
            <a:off x="493380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86" name="Connector 18"/>
          <p:cNvCxnSpPr/>
          <p:nvPr/>
        </p:nvCxnSpPr>
        <p:spPr>
          <a:xfrm>
            <a:off x="549792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87" name="Connector 19"/>
          <p:cNvCxnSpPr/>
          <p:nvPr/>
        </p:nvCxnSpPr>
        <p:spPr>
          <a:xfrm>
            <a:off x="984960" y="52851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88" name="Connector 20"/>
          <p:cNvCxnSpPr/>
          <p:nvPr/>
        </p:nvCxnSpPr>
        <p:spPr>
          <a:xfrm>
            <a:off x="984960" y="501012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89" name="Connector 21"/>
          <p:cNvCxnSpPr/>
          <p:nvPr/>
        </p:nvCxnSpPr>
        <p:spPr>
          <a:xfrm>
            <a:off x="984960" y="473472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90" name="Connector 22"/>
          <p:cNvCxnSpPr/>
          <p:nvPr/>
        </p:nvCxnSpPr>
        <p:spPr>
          <a:xfrm>
            <a:off x="984960" y="445968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91" name="Connector 23"/>
          <p:cNvCxnSpPr/>
          <p:nvPr/>
        </p:nvCxnSpPr>
        <p:spPr>
          <a:xfrm>
            <a:off x="984960" y="418464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92" name="Connector 24"/>
          <p:cNvCxnSpPr/>
          <p:nvPr/>
        </p:nvCxnSpPr>
        <p:spPr>
          <a:xfrm>
            <a:off x="984960" y="390960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93" name="Connector 25"/>
          <p:cNvCxnSpPr/>
          <p:nvPr/>
        </p:nvCxnSpPr>
        <p:spPr>
          <a:xfrm>
            <a:off x="984960" y="36345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94" name="Connector 26"/>
          <p:cNvCxnSpPr/>
          <p:nvPr/>
        </p:nvCxnSpPr>
        <p:spPr>
          <a:xfrm>
            <a:off x="984960" y="335952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95" name="Connector 27"/>
          <p:cNvCxnSpPr/>
          <p:nvPr/>
        </p:nvCxnSpPr>
        <p:spPr>
          <a:xfrm>
            <a:off x="984960" y="308448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96" name="Connector 28"/>
          <p:cNvCxnSpPr/>
          <p:nvPr/>
        </p:nvCxnSpPr>
        <p:spPr>
          <a:xfrm>
            <a:off x="984960" y="280944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97" name="Connector 29"/>
          <p:cNvCxnSpPr/>
          <p:nvPr/>
        </p:nvCxnSpPr>
        <p:spPr>
          <a:xfrm>
            <a:off x="984960" y="253440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98" name="Connector 30"/>
          <p:cNvCxnSpPr/>
          <p:nvPr/>
        </p:nvCxnSpPr>
        <p:spPr>
          <a:xfrm>
            <a:off x="984960" y="225900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599" name="Connector 31"/>
          <p:cNvCxnSpPr/>
          <p:nvPr/>
        </p:nvCxnSpPr>
        <p:spPr>
          <a:xfrm>
            <a:off x="984960" y="19839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00" name="Connector 32"/>
          <p:cNvCxnSpPr/>
          <p:nvPr/>
        </p:nvCxnSpPr>
        <p:spPr>
          <a:xfrm>
            <a:off x="984960" y="4734720"/>
            <a:ext cx="4513320" cy="360"/>
          </a:xfrm>
          <a:prstGeom prst="straightConnector1">
            <a:avLst/>
          </a:prstGeom>
          <a:ln w="17780">
            <a:solidFill>
              <a:srgbClr val="1c2a22"/>
            </a:solidFill>
          </a:ln>
        </p:spPr>
      </p:cxnSp>
      <p:cxnSp>
        <p:nvCxnSpPr>
          <p:cNvPr id="601" name="Connector 33"/>
          <p:cNvCxnSpPr/>
          <p:nvPr/>
        </p:nvCxnSpPr>
        <p:spPr>
          <a:xfrm>
            <a:off x="3241440" y="1983960"/>
            <a:ext cx="360" cy="3301560"/>
          </a:xfrm>
          <a:prstGeom prst="straightConnector1">
            <a:avLst/>
          </a:prstGeom>
          <a:ln w="17780">
            <a:solidFill>
              <a:srgbClr val="1c2a22"/>
            </a:solidFill>
          </a:ln>
        </p:spPr>
      </p:cxnSp>
      <p:sp>
        <p:nvSpPr>
          <p:cNvPr id="602" name="TextBox 34"/>
          <p:cNvSpPr/>
          <p:nvPr/>
        </p:nvSpPr>
        <p:spPr>
          <a:xfrm>
            <a:off x="938520" y="477072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Box 35"/>
          <p:cNvSpPr/>
          <p:nvPr/>
        </p:nvSpPr>
        <p:spPr>
          <a:xfrm>
            <a:off x="2066760" y="477072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Box 36"/>
          <p:cNvSpPr/>
          <p:nvPr/>
        </p:nvSpPr>
        <p:spPr>
          <a:xfrm>
            <a:off x="4340160" y="477072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Box 37"/>
          <p:cNvSpPr/>
          <p:nvPr/>
        </p:nvSpPr>
        <p:spPr>
          <a:xfrm>
            <a:off x="5468400" y="477072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Box 38"/>
          <p:cNvSpPr/>
          <p:nvPr/>
        </p:nvSpPr>
        <p:spPr>
          <a:xfrm>
            <a:off x="3015000" y="521568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Box 39"/>
          <p:cNvSpPr/>
          <p:nvPr/>
        </p:nvSpPr>
        <p:spPr>
          <a:xfrm>
            <a:off x="3031560" y="411552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Box 40"/>
          <p:cNvSpPr/>
          <p:nvPr/>
        </p:nvSpPr>
        <p:spPr>
          <a:xfrm>
            <a:off x="3031560" y="356508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Box 41"/>
          <p:cNvSpPr/>
          <p:nvPr/>
        </p:nvSpPr>
        <p:spPr>
          <a:xfrm>
            <a:off x="3031560" y="301500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Box 42"/>
          <p:cNvSpPr/>
          <p:nvPr/>
        </p:nvSpPr>
        <p:spPr>
          <a:xfrm>
            <a:off x="3031560" y="246492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Box 43"/>
          <p:cNvSpPr/>
          <p:nvPr/>
        </p:nvSpPr>
        <p:spPr>
          <a:xfrm>
            <a:off x="3002760" y="1914840"/>
            <a:ext cx="1170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10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Freeform 7"/>
          <p:cNvSpPr/>
          <p:nvPr/>
        </p:nvSpPr>
        <p:spPr>
          <a:xfrm>
            <a:off x="1476000" y="2040480"/>
            <a:ext cx="3530880" cy="2693880"/>
          </a:xfrm>
          <a:custGeom>
            <a:avLst/>
            <a:gdLst>
              <a:gd name="textAreaLeft" fmla="*/ 0 w 3530880"/>
              <a:gd name="textAreaRight" fmla="*/ 3531240 w 3530880"/>
              <a:gd name="textAreaTop" fmla="*/ 0 h 2693880"/>
              <a:gd name="textAreaBottom" fmla="*/ 2694240 h 2693880"/>
            </a:gdLst>
            <a:ahLst/>
            <a:rect l="textAreaLeft" t="textAreaTop" r="textAreaRight" b="textAreaBottom"/>
            <a:pathLst>
              <a:path w="3531072" h="2694369">
                <a:moveTo>
                  <a:pt x="0" y="0"/>
                </a:moveTo>
                <a:lnTo>
                  <a:pt x="18882" y="57327"/>
                </a:lnTo>
                <a:lnTo>
                  <a:pt x="37765" y="114038"/>
                </a:lnTo>
                <a:lnTo>
                  <a:pt x="56648" y="170132"/>
                </a:lnTo>
                <a:lnTo>
                  <a:pt x="75531" y="225610"/>
                </a:lnTo>
                <a:lnTo>
                  <a:pt x="94413" y="280471"/>
                </a:lnTo>
                <a:lnTo>
                  <a:pt x="113296" y="334716"/>
                </a:lnTo>
                <a:lnTo>
                  <a:pt x="132179" y="388344"/>
                </a:lnTo>
                <a:lnTo>
                  <a:pt x="151062" y="441356"/>
                </a:lnTo>
                <a:lnTo>
                  <a:pt x="169944" y="493752"/>
                </a:lnTo>
                <a:lnTo>
                  <a:pt x="188827" y="545531"/>
                </a:lnTo>
                <a:lnTo>
                  <a:pt x="207710" y="596694"/>
                </a:lnTo>
                <a:lnTo>
                  <a:pt x="226593" y="647240"/>
                </a:lnTo>
                <a:lnTo>
                  <a:pt x="245475" y="697170"/>
                </a:lnTo>
                <a:lnTo>
                  <a:pt x="264358" y="746484"/>
                </a:lnTo>
                <a:lnTo>
                  <a:pt x="283241" y="795181"/>
                </a:lnTo>
                <a:lnTo>
                  <a:pt x="302124" y="843262"/>
                </a:lnTo>
                <a:lnTo>
                  <a:pt x="321006" y="890726"/>
                </a:lnTo>
                <a:lnTo>
                  <a:pt x="339889" y="937574"/>
                </a:lnTo>
                <a:lnTo>
                  <a:pt x="358772" y="983805"/>
                </a:lnTo>
                <a:lnTo>
                  <a:pt x="377655" y="1029420"/>
                </a:lnTo>
                <a:lnTo>
                  <a:pt x="396537" y="1074419"/>
                </a:lnTo>
                <a:lnTo>
                  <a:pt x="415420" y="1118801"/>
                </a:lnTo>
                <a:lnTo>
                  <a:pt x="434303" y="1162567"/>
                </a:lnTo>
                <a:lnTo>
                  <a:pt x="453186" y="1205716"/>
                </a:lnTo>
                <a:lnTo>
                  <a:pt x="472068" y="1248249"/>
                </a:lnTo>
                <a:lnTo>
                  <a:pt x="490951" y="1290166"/>
                </a:lnTo>
                <a:lnTo>
                  <a:pt x="509834" y="1331466"/>
                </a:lnTo>
                <a:lnTo>
                  <a:pt x="528716" y="1372150"/>
                </a:lnTo>
                <a:lnTo>
                  <a:pt x="547599" y="1412217"/>
                </a:lnTo>
                <a:lnTo>
                  <a:pt x="566482" y="1451668"/>
                </a:lnTo>
                <a:lnTo>
                  <a:pt x="585365" y="1490502"/>
                </a:lnTo>
                <a:lnTo>
                  <a:pt x="604247" y="1528720"/>
                </a:lnTo>
                <a:lnTo>
                  <a:pt x="623130" y="1566322"/>
                </a:lnTo>
                <a:lnTo>
                  <a:pt x="642013" y="1603307"/>
                </a:lnTo>
                <a:lnTo>
                  <a:pt x="660896" y="1639676"/>
                </a:lnTo>
                <a:lnTo>
                  <a:pt x="679778" y="1675428"/>
                </a:lnTo>
                <a:lnTo>
                  <a:pt x="698661" y="1710564"/>
                </a:lnTo>
                <a:lnTo>
                  <a:pt x="717544" y="1745083"/>
                </a:lnTo>
                <a:lnTo>
                  <a:pt x="736427" y="1778987"/>
                </a:lnTo>
                <a:lnTo>
                  <a:pt x="755309" y="1812273"/>
                </a:lnTo>
                <a:lnTo>
                  <a:pt x="774192" y="1844943"/>
                </a:lnTo>
                <a:lnTo>
                  <a:pt x="793075" y="1876997"/>
                </a:lnTo>
                <a:lnTo>
                  <a:pt x="811958" y="1908435"/>
                </a:lnTo>
                <a:lnTo>
                  <a:pt x="830840" y="1939256"/>
                </a:lnTo>
                <a:lnTo>
                  <a:pt x="849723" y="1969460"/>
                </a:lnTo>
                <a:lnTo>
                  <a:pt x="868606" y="1999048"/>
                </a:lnTo>
                <a:lnTo>
                  <a:pt x="887489" y="2028020"/>
                </a:lnTo>
                <a:lnTo>
                  <a:pt x="906371" y="2056375"/>
                </a:lnTo>
                <a:lnTo>
                  <a:pt x="925254" y="2084114"/>
                </a:lnTo>
                <a:lnTo>
                  <a:pt x="944137" y="2111237"/>
                </a:lnTo>
                <a:lnTo>
                  <a:pt x="963020" y="2137743"/>
                </a:lnTo>
                <a:lnTo>
                  <a:pt x="981902" y="2163632"/>
                </a:lnTo>
                <a:lnTo>
                  <a:pt x="1000785" y="2188905"/>
                </a:lnTo>
                <a:lnTo>
                  <a:pt x="1019668" y="2213562"/>
                </a:lnTo>
                <a:lnTo>
                  <a:pt x="1038550" y="2237603"/>
                </a:lnTo>
                <a:lnTo>
                  <a:pt x="1057433" y="2261027"/>
                </a:lnTo>
                <a:lnTo>
                  <a:pt x="1076316" y="2283834"/>
                </a:lnTo>
                <a:lnTo>
                  <a:pt x="1095199" y="2306025"/>
                </a:lnTo>
                <a:lnTo>
                  <a:pt x="1114081" y="2327600"/>
                </a:lnTo>
                <a:lnTo>
                  <a:pt x="1132964" y="2348558"/>
                </a:lnTo>
                <a:lnTo>
                  <a:pt x="1151847" y="2368900"/>
                </a:lnTo>
                <a:lnTo>
                  <a:pt x="1170730" y="2388625"/>
                </a:lnTo>
                <a:lnTo>
                  <a:pt x="1189612" y="2407734"/>
                </a:lnTo>
                <a:lnTo>
                  <a:pt x="1208495" y="2426227"/>
                </a:lnTo>
                <a:lnTo>
                  <a:pt x="1227378" y="2444103"/>
                </a:lnTo>
                <a:lnTo>
                  <a:pt x="1246261" y="2461363"/>
                </a:lnTo>
                <a:lnTo>
                  <a:pt x="1265143" y="2478006"/>
                </a:lnTo>
                <a:lnTo>
                  <a:pt x="1284026" y="2494033"/>
                </a:lnTo>
                <a:lnTo>
                  <a:pt x="1302909" y="2509444"/>
                </a:lnTo>
                <a:lnTo>
                  <a:pt x="1321792" y="2524238"/>
                </a:lnTo>
                <a:lnTo>
                  <a:pt x="1340674" y="2538415"/>
                </a:lnTo>
                <a:lnTo>
                  <a:pt x="1359557" y="2551977"/>
                </a:lnTo>
                <a:lnTo>
                  <a:pt x="1378440" y="2564921"/>
                </a:lnTo>
                <a:lnTo>
                  <a:pt x="1397323" y="2577250"/>
                </a:lnTo>
                <a:lnTo>
                  <a:pt x="1416205" y="2588962"/>
                </a:lnTo>
                <a:lnTo>
                  <a:pt x="1435088" y="2600057"/>
                </a:lnTo>
                <a:lnTo>
                  <a:pt x="1453971" y="2610536"/>
                </a:lnTo>
                <a:lnTo>
                  <a:pt x="1472854" y="2620399"/>
                </a:lnTo>
                <a:lnTo>
                  <a:pt x="1491736" y="2629645"/>
                </a:lnTo>
                <a:lnTo>
                  <a:pt x="1510619" y="2638275"/>
                </a:lnTo>
                <a:lnTo>
                  <a:pt x="1529502" y="2646289"/>
                </a:lnTo>
                <a:lnTo>
                  <a:pt x="1548384" y="2653686"/>
                </a:lnTo>
                <a:lnTo>
                  <a:pt x="1567267" y="2660466"/>
                </a:lnTo>
                <a:lnTo>
                  <a:pt x="1586150" y="2666631"/>
                </a:lnTo>
                <a:lnTo>
                  <a:pt x="1605033" y="2672178"/>
                </a:lnTo>
                <a:lnTo>
                  <a:pt x="1623915" y="2677110"/>
                </a:lnTo>
                <a:lnTo>
                  <a:pt x="1642798" y="2681425"/>
                </a:lnTo>
                <a:lnTo>
                  <a:pt x="1661681" y="2685123"/>
                </a:lnTo>
                <a:lnTo>
                  <a:pt x="1680564" y="2688205"/>
                </a:lnTo>
                <a:lnTo>
                  <a:pt x="1699446" y="2690671"/>
                </a:lnTo>
                <a:lnTo>
                  <a:pt x="1718329" y="2692520"/>
                </a:lnTo>
                <a:lnTo>
                  <a:pt x="1737212" y="2693753"/>
                </a:lnTo>
                <a:lnTo>
                  <a:pt x="1756095" y="2694369"/>
                </a:lnTo>
                <a:lnTo>
                  <a:pt x="1774977" y="2694369"/>
                </a:lnTo>
                <a:lnTo>
                  <a:pt x="1793860" y="2693753"/>
                </a:lnTo>
                <a:lnTo>
                  <a:pt x="1812743" y="2692520"/>
                </a:lnTo>
                <a:lnTo>
                  <a:pt x="1831626" y="2690671"/>
                </a:lnTo>
                <a:lnTo>
                  <a:pt x="1850508" y="2688205"/>
                </a:lnTo>
                <a:lnTo>
                  <a:pt x="1869391" y="2685123"/>
                </a:lnTo>
                <a:lnTo>
                  <a:pt x="1888274" y="2681425"/>
                </a:lnTo>
                <a:lnTo>
                  <a:pt x="1907157" y="2677110"/>
                </a:lnTo>
                <a:lnTo>
                  <a:pt x="1926039" y="2672178"/>
                </a:lnTo>
                <a:lnTo>
                  <a:pt x="1944922" y="2666631"/>
                </a:lnTo>
                <a:lnTo>
                  <a:pt x="1963805" y="2660466"/>
                </a:lnTo>
                <a:lnTo>
                  <a:pt x="1982688" y="2653686"/>
                </a:lnTo>
                <a:lnTo>
                  <a:pt x="2001570" y="2646289"/>
                </a:lnTo>
                <a:lnTo>
                  <a:pt x="2020453" y="2638275"/>
                </a:lnTo>
                <a:lnTo>
                  <a:pt x="2039336" y="2629645"/>
                </a:lnTo>
                <a:lnTo>
                  <a:pt x="2058218" y="2620399"/>
                </a:lnTo>
                <a:lnTo>
                  <a:pt x="2077101" y="2610536"/>
                </a:lnTo>
                <a:lnTo>
                  <a:pt x="2095984" y="2600057"/>
                </a:lnTo>
                <a:lnTo>
                  <a:pt x="2114867" y="2588962"/>
                </a:lnTo>
                <a:lnTo>
                  <a:pt x="2133749" y="2577250"/>
                </a:lnTo>
                <a:lnTo>
                  <a:pt x="2152632" y="2564921"/>
                </a:lnTo>
                <a:lnTo>
                  <a:pt x="2171515" y="2551977"/>
                </a:lnTo>
                <a:lnTo>
                  <a:pt x="2190398" y="2538415"/>
                </a:lnTo>
                <a:lnTo>
                  <a:pt x="2209280" y="2524238"/>
                </a:lnTo>
                <a:lnTo>
                  <a:pt x="2228163" y="2509444"/>
                </a:lnTo>
                <a:lnTo>
                  <a:pt x="2247046" y="2494033"/>
                </a:lnTo>
                <a:lnTo>
                  <a:pt x="2265929" y="2478006"/>
                </a:lnTo>
                <a:lnTo>
                  <a:pt x="2284811" y="2461363"/>
                </a:lnTo>
                <a:lnTo>
                  <a:pt x="2303694" y="2444103"/>
                </a:lnTo>
                <a:lnTo>
                  <a:pt x="2322577" y="2426227"/>
                </a:lnTo>
                <a:lnTo>
                  <a:pt x="2341460" y="2407734"/>
                </a:lnTo>
                <a:lnTo>
                  <a:pt x="2360342" y="2388625"/>
                </a:lnTo>
                <a:lnTo>
                  <a:pt x="2379225" y="2368900"/>
                </a:lnTo>
                <a:lnTo>
                  <a:pt x="2398108" y="2348558"/>
                </a:lnTo>
                <a:lnTo>
                  <a:pt x="2416991" y="2327600"/>
                </a:lnTo>
                <a:lnTo>
                  <a:pt x="2435873" y="2306025"/>
                </a:lnTo>
                <a:lnTo>
                  <a:pt x="2454756" y="2283834"/>
                </a:lnTo>
                <a:lnTo>
                  <a:pt x="2473639" y="2261027"/>
                </a:lnTo>
                <a:lnTo>
                  <a:pt x="2492522" y="2237603"/>
                </a:lnTo>
                <a:lnTo>
                  <a:pt x="2511404" y="2213562"/>
                </a:lnTo>
                <a:lnTo>
                  <a:pt x="2530287" y="2188905"/>
                </a:lnTo>
                <a:lnTo>
                  <a:pt x="2549170" y="2163632"/>
                </a:lnTo>
                <a:lnTo>
                  <a:pt x="2568052" y="2137743"/>
                </a:lnTo>
                <a:lnTo>
                  <a:pt x="2586935" y="2111237"/>
                </a:lnTo>
                <a:lnTo>
                  <a:pt x="2605818" y="2084114"/>
                </a:lnTo>
                <a:lnTo>
                  <a:pt x="2624701" y="2056375"/>
                </a:lnTo>
                <a:lnTo>
                  <a:pt x="2643583" y="2028020"/>
                </a:lnTo>
                <a:lnTo>
                  <a:pt x="2662466" y="1999048"/>
                </a:lnTo>
                <a:lnTo>
                  <a:pt x="2681349" y="1969460"/>
                </a:lnTo>
                <a:lnTo>
                  <a:pt x="2700232" y="1939256"/>
                </a:lnTo>
                <a:lnTo>
                  <a:pt x="2719114" y="1908435"/>
                </a:lnTo>
                <a:lnTo>
                  <a:pt x="2737997" y="1876997"/>
                </a:lnTo>
                <a:lnTo>
                  <a:pt x="2756880" y="1844943"/>
                </a:lnTo>
                <a:lnTo>
                  <a:pt x="2775763" y="1812273"/>
                </a:lnTo>
                <a:lnTo>
                  <a:pt x="2794645" y="1778987"/>
                </a:lnTo>
                <a:lnTo>
                  <a:pt x="2813528" y="1745083"/>
                </a:lnTo>
                <a:lnTo>
                  <a:pt x="2832411" y="1710564"/>
                </a:lnTo>
                <a:lnTo>
                  <a:pt x="2851294" y="1675428"/>
                </a:lnTo>
                <a:lnTo>
                  <a:pt x="2870176" y="1639676"/>
                </a:lnTo>
                <a:lnTo>
                  <a:pt x="2889059" y="1603307"/>
                </a:lnTo>
                <a:lnTo>
                  <a:pt x="2907942" y="1566322"/>
                </a:lnTo>
                <a:lnTo>
                  <a:pt x="2926825" y="1528720"/>
                </a:lnTo>
                <a:lnTo>
                  <a:pt x="2945707" y="1490502"/>
                </a:lnTo>
                <a:lnTo>
                  <a:pt x="2964590" y="1451668"/>
                </a:lnTo>
                <a:lnTo>
                  <a:pt x="2983473" y="1412217"/>
                </a:lnTo>
                <a:lnTo>
                  <a:pt x="3002356" y="1372150"/>
                </a:lnTo>
                <a:lnTo>
                  <a:pt x="3021238" y="1331466"/>
                </a:lnTo>
                <a:lnTo>
                  <a:pt x="3040121" y="1290166"/>
                </a:lnTo>
                <a:lnTo>
                  <a:pt x="3059004" y="1248249"/>
                </a:lnTo>
                <a:lnTo>
                  <a:pt x="3077886" y="1205716"/>
                </a:lnTo>
                <a:lnTo>
                  <a:pt x="3096769" y="1162567"/>
                </a:lnTo>
                <a:lnTo>
                  <a:pt x="3115652" y="1118801"/>
                </a:lnTo>
                <a:lnTo>
                  <a:pt x="3134535" y="1074419"/>
                </a:lnTo>
                <a:lnTo>
                  <a:pt x="3153417" y="1029420"/>
                </a:lnTo>
                <a:lnTo>
                  <a:pt x="3172300" y="983805"/>
                </a:lnTo>
                <a:lnTo>
                  <a:pt x="3191183" y="937574"/>
                </a:lnTo>
                <a:lnTo>
                  <a:pt x="3210066" y="890726"/>
                </a:lnTo>
                <a:lnTo>
                  <a:pt x="3228948" y="843262"/>
                </a:lnTo>
                <a:lnTo>
                  <a:pt x="3247831" y="795181"/>
                </a:lnTo>
                <a:lnTo>
                  <a:pt x="3266714" y="746484"/>
                </a:lnTo>
                <a:lnTo>
                  <a:pt x="3285597" y="697170"/>
                </a:lnTo>
                <a:lnTo>
                  <a:pt x="3304479" y="647240"/>
                </a:lnTo>
                <a:lnTo>
                  <a:pt x="3323362" y="596694"/>
                </a:lnTo>
                <a:lnTo>
                  <a:pt x="3342245" y="545531"/>
                </a:lnTo>
                <a:lnTo>
                  <a:pt x="3361128" y="493752"/>
                </a:lnTo>
                <a:lnTo>
                  <a:pt x="3380010" y="441356"/>
                </a:lnTo>
                <a:lnTo>
                  <a:pt x="3398893" y="388344"/>
                </a:lnTo>
                <a:lnTo>
                  <a:pt x="3417776" y="334716"/>
                </a:lnTo>
                <a:lnTo>
                  <a:pt x="3436659" y="280471"/>
                </a:lnTo>
                <a:lnTo>
                  <a:pt x="3455541" y="225610"/>
                </a:lnTo>
                <a:lnTo>
                  <a:pt x="3474424" y="170132"/>
                </a:lnTo>
                <a:lnTo>
                  <a:pt x="3493307" y="114038"/>
                </a:lnTo>
                <a:lnTo>
                  <a:pt x="3512190" y="57327"/>
                </a:lnTo>
                <a:lnTo>
                  <a:pt x="3531072" y="0"/>
                </a:lnTo>
              </a:path>
            </a:pathLst>
          </a:custGeom>
          <a:noFill/>
          <a:ln w="30480">
            <a:solidFill>
              <a:srgbClr val="5c6b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3" name="Freeform 44"/>
          <p:cNvSpPr/>
          <p:nvPr/>
        </p:nvSpPr>
        <p:spPr>
          <a:xfrm>
            <a:off x="1476000" y="2040480"/>
            <a:ext cx="3530880" cy="2693880"/>
          </a:xfrm>
          <a:custGeom>
            <a:avLst/>
            <a:gdLst>
              <a:gd name="textAreaLeft" fmla="*/ 0 w 3530880"/>
              <a:gd name="textAreaRight" fmla="*/ 3531240 w 3530880"/>
              <a:gd name="textAreaTop" fmla="*/ 0 h 2693880"/>
              <a:gd name="textAreaBottom" fmla="*/ 2694240 h 2693880"/>
            </a:gdLst>
            <a:ahLst/>
            <a:rect l="textAreaLeft" t="textAreaTop" r="textAreaRight" b="textAreaBottom"/>
            <a:pathLst>
              <a:path w="3531072" h="2694369">
                <a:moveTo>
                  <a:pt x="0" y="0"/>
                </a:moveTo>
                <a:lnTo>
                  <a:pt x="18882" y="57327"/>
                </a:lnTo>
                <a:lnTo>
                  <a:pt x="37765" y="114038"/>
                </a:lnTo>
                <a:lnTo>
                  <a:pt x="56648" y="170132"/>
                </a:lnTo>
                <a:lnTo>
                  <a:pt x="75531" y="225610"/>
                </a:lnTo>
                <a:lnTo>
                  <a:pt x="94413" y="280471"/>
                </a:lnTo>
                <a:lnTo>
                  <a:pt x="113296" y="334716"/>
                </a:lnTo>
                <a:lnTo>
                  <a:pt x="132179" y="388344"/>
                </a:lnTo>
                <a:lnTo>
                  <a:pt x="151062" y="441356"/>
                </a:lnTo>
                <a:lnTo>
                  <a:pt x="169944" y="493752"/>
                </a:lnTo>
                <a:lnTo>
                  <a:pt x="188827" y="545531"/>
                </a:lnTo>
                <a:lnTo>
                  <a:pt x="207710" y="596694"/>
                </a:lnTo>
                <a:lnTo>
                  <a:pt x="226593" y="647240"/>
                </a:lnTo>
                <a:lnTo>
                  <a:pt x="245475" y="697170"/>
                </a:lnTo>
                <a:lnTo>
                  <a:pt x="264358" y="746484"/>
                </a:lnTo>
                <a:lnTo>
                  <a:pt x="283241" y="795181"/>
                </a:lnTo>
                <a:lnTo>
                  <a:pt x="302124" y="843262"/>
                </a:lnTo>
                <a:lnTo>
                  <a:pt x="321006" y="890726"/>
                </a:lnTo>
                <a:lnTo>
                  <a:pt x="339889" y="937574"/>
                </a:lnTo>
                <a:lnTo>
                  <a:pt x="358772" y="983805"/>
                </a:lnTo>
                <a:lnTo>
                  <a:pt x="377655" y="1029420"/>
                </a:lnTo>
                <a:lnTo>
                  <a:pt x="396537" y="1074419"/>
                </a:lnTo>
                <a:lnTo>
                  <a:pt x="415420" y="1118801"/>
                </a:lnTo>
                <a:lnTo>
                  <a:pt x="434303" y="1162567"/>
                </a:lnTo>
                <a:lnTo>
                  <a:pt x="453186" y="1205716"/>
                </a:lnTo>
                <a:lnTo>
                  <a:pt x="472068" y="1248249"/>
                </a:lnTo>
                <a:lnTo>
                  <a:pt x="490951" y="1290166"/>
                </a:lnTo>
                <a:lnTo>
                  <a:pt x="509834" y="1331466"/>
                </a:lnTo>
                <a:lnTo>
                  <a:pt x="528716" y="1372150"/>
                </a:lnTo>
                <a:lnTo>
                  <a:pt x="547599" y="1412217"/>
                </a:lnTo>
                <a:lnTo>
                  <a:pt x="566482" y="1451668"/>
                </a:lnTo>
                <a:lnTo>
                  <a:pt x="585365" y="1490502"/>
                </a:lnTo>
                <a:lnTo>
                  <a:pt x="604247" y="1528720"/>
                </a:lnTo>
                <a:lnTo>
                  <a:pt x="623130" y="1566322"/>
                </a:lnTo>
                <a:lnTo>
                  <a:pt x="642013" y="1603307"/>
                </a:lnTo>
                <a:lnTo>
                  <a:pt x="660896" y="1639676"/>
                </a:lnTo>
                <a:lnTo>
                  <a:pt x="679778" y="1675428"/>
                </a:lnTo>
                <a:lnTo>
                  <a:pt x="698661" y="1710564"/>
                </a:lnTo>
                <a:lnTo>
                  <a:pt x="717544" y="1745083"/>
                </a:lnTo>
                <a:lnTo>
                  <a:pt x="736427" y="1778987"/>
                </a:lnTo>
                <a:lnTo>
                  <a:pt x="755309" y="1812273"/>
                </a:lnTo>
                <a:lnTo>
                  <a:pt x="774192" y="1844943"/>
                </a:lnTo>
                <a:lnTo>
                  <a:pt x="793075" y="1876997"/>
                </a:lnTo>
                <a:lnTo>
                  <a:pt x="811958" y="1908435"/>
                </a:lnTo>
                <a:lnTo>
                  <a:pt x="830840" y="1939256"/>
                </a:lnTo>
                <a:lnTo>
                  <a:pt x="849723" y="1969460"/>
                </a:lnTo>
                <a:lnTo>
                  <a:pt x="868606" y="1999048"/>
                </a:lnTo>
                <a:lnTo>
                  <a:pt x="887489" y="2028020"/>
                </a:lnTo>
                <a:lnTo>
                  <a:pt x="906371" y="2056375"/>
                </a:lnTo>
                <a:lnTo>
                  <a:pt x="925254" y="2084114"/>
                </a:lnTo>
                <a:lnTo>
                  <a:pt x="944137" y="2111237"/>
                </a:lnTo>
                <a:lnTo>
                  <a:pt x="963020" y="2137743"/>
                </a:lnTo>
                <a:lnTo>
                  <a:pt x="981902" y="2163632"/>
                </a:lnTo>
                <a:lnTo>
                  <a:pt x="1000785" y="2188905"/>
                </a:lnTo>
                <a:lnTo>
                  <a:pt x="1019668" y="2213562"/>
                </a:lnTo>
                <a:lnTo>
                  <a:pt x="1038550" y="2237603"/>
                </a:lnTo>
                <a:lnTo>
                  <a:pt x="1057433" y="2261027"/>
                </a:lnTo>
                <a:lnTo>
                  <a:pt x="1076316" y="2283834"/>
                </a:lnTo>
                <a:lnTo>
                  <a:pt x="1095199" y="2306025"/>
                </a:lnTo>
                <a:lnTo>
                  <a:pt x="1114081" y="2327600"/>
                </a:lnTo>
                <a:lnTo>
                  <a:pt x="1132964" y="2348558"/>
                </a:lnTo>
                <a:lnTo>
                  <a:pt x="1151847" y="2368900"/>
                </a:lnTo>
                <a:lnTo>
                  <a:pt x="1170730" y="2388625"/>
                </a:lnTo>
                <a:lnTo>
                  <a:pt x="1189612" y="2407734"/>
                </a:lnTo>
                <a:lnTo>
                  <a:pt x="1208495" y="2426227"/>
                </a:lnTo>
                <a:lnTo>
                  <a:pt x="1227378" y="2444103"/>
                </a:lnTo>
                <a:lnTo>
                  <a:pt x="1246261" y="2461363"/>
                </a:lnTo>
                <a:lnTo>
                  <a:pt x="1265143" y="2478006"/>
                </a:lnTo>
                <a:lnTo>
                  <a:pt x="1284026" y="2494033"/>
                </a:lnTo>
                <a:lnTo>
                  <a:pt x="1302909" y="2509444"/>
                </a:lnTo>
                <a:lnTo>
                  <a:pt x="1321792" y="2524238"/>
                </a:lnTo>
                <a:lnTo>
                  <a:pt x="1340674" y="2538415"/>
                </a:lnTo>
                <a:lnTo>
                  <a:pt x="1359557" y="2551977"/>
                </a:lnTo>
                <a:lnTo>
                  <a:pt x="1378440" y="2564921"/>
                </a:lnTo>
                <a:lnTo>
                  <a:pt x="1397323" y="2577250"/>
                </a:lnTo>
                <a:lnTo>
                  <a:pt x="1416205" y="2588962"/>
                </a:lnTo>
                <a:lnTo>
                  <a:pt x="1435088" y="2600057"/>
                </a:lnTo>
                <a:lnTo>
                  <a:pt x="1453971" y="2610536"/>
                </a:lnTo>
                <a:lnTo>
                  <a:pt x="1472854" y="2620399"/>
                </a:lnTo>
                <a:lnTo>
                  <a:pt x="1491736" y="2629645"/>
                </a:lnTo>
                <a:lnTo>
                  <a:pt x="1510619" y="2638275"/>
                </a:lnTo>
                <a:lnTo>
                  <a:pt x="1529502" y="2646289"/>
                </a:lnTo>
                <a:lnTo>
                  <a:pt x="1548384" y="2653686"/>
                </a:lnTo>
                <a:lnTo>
                  <a:pt x="1567267" y="2660466"/>
                </a:lnTo>
                <a:lnTo>
                  <a:pt x="1586150" y="2666631"/>
                </a:lnTo>
                <a:lnTo>
                  <a:pt x="1605033" y="2672178"/>
                </a:lnTo>
                <a:lnTo>
                  <a:pt x="1623915" y="2677110"/>
                </a:lnTo>
                <a:lnTo>
                  <a:pt x="1642798" y="2681425"/>
                </a:lnTo>
                <a:lnTo>
                  <a:pt x="1661681" y="2685123"/>
                </a:lnTo>
                <a:lnTo>
                  <a:pt x="1680564" y="2688205"/>
                </a:lnTo>
                <a:lnTo>
                  <a:pt x="1699446" y="2690671"/>
                </a:lnTo>
                <a:lnTo>
                  <a:pt x="1718329" y="2692520"/>
                </a:lnTo>
                <a:lnTo>
                  <a:pt x="1737212" y="2693753"/>
                </a:lnTo>
                <a:lnTo>
                  <a:pt x="1756095" y="2694369"/>
                </a:lnTo>
                <a:lnTo>
                  <a:pt x="1774977" y="2694369"/>
                </a:lnTo>
                <a:lnTo>
                  <a:pt x="1793860" y="2693753"/>
                </a:lnTo>
                <a:lnTo>
                  <a:pt x="1812743" y="2692520"/>
                </a:lnTo>
                <a:lnTo>
                  <a:pt x="1831626" y="2690671"/>
                </a:lnTo>
                <a:lnTo>
                  <a:pt x="1850508" y="2688205"/>
                </a:lnTo>
                <a:lnTo>
                  <a:pt x="1869391" y="2685123"/>
                </a:lnTo>
                <a:lnTo>
                  <a:pt x="1888274" y="2681425"/>
                </a:lnTo>
                <a:lnTo>
                  <a:pt x="1907157" y="2677110"/>
                </a:lnTo>
                <a:lnTo>
                  <a:pt x="1926039" y="2672178"/>
                </a:lnTo>
                <a:lnTo>
                  <a:pt x="1944922" y="2666631"/>
                </a:lnTo>
                <a:lnTo>
                  <a:pt x="1963805" y="2660466"/>
                </a:lnTo>
                <a:lnTo>
                  <a:pt x="1982688" y="2653686"/>
                </a:lnTo>
                <a:lnTo>
                  <a:pt x="2001570" y="2646289"/>
                </a:lnTo>
                <a:lnTo>
                  <a:pt x="2020453" y="2638275"/>
                </a:lnTo>
                <a:lnTo>
                  <a:pt x="2039336" y="2629645"/>
                </a:lnTo>
                <a:lnTo>
                  <a:pt x="2058218" y="2620399"/>
                </a:lnTo>
                <a:lnTo>
                  <a:pt x="2077101" y="2610536"/>
                </a:lnTo>
                <a:lnTo>
                  <a:pt x="2095984" y="2600057"/>
                </a:lnTo>
                <a:lnTo>
                  <a:pt x="2114867" y="2588962"/>
                </a:lnTo>
                <a:lnTo>
                  <a:pt x="2133749" y="2577250"/>
                </a:lnTo>
                <a:lnTo>
                  <a:pt x="2152632" y="2564921"/>
                </a:lnTo>
                <a:lnTo>
                  <a:pt x="2171515" y="2551977"/>
                </a:lnTo>
                <a:lnTo>
                  <a:pt x="2190398" y="2538415"/>
                </a:lnTo>
                <a:lnTo>
                  <a:pt x="2209280" y="2524238"/>
                </a:lnTo>
                <a:lnTo>
                  <a:pt x="2228163" y="2509444"/>
                </a:lnTo>
                <a:lnTo>
                  <a:pt x="2247046" y="2494033"/>
                </a:lnTo>
                <a:lnTo>
                  <a:pt x="2265929" y="2478006"/>
                </a:lnTo>
                <a:lnTo>
                  <a:pt x="2284811" y="2461363"/>
                </a:lnTo>
                <a:lnTo>
                  <a:pt x="2303694" y="2444103"/>
                </a:lnTo>
                <a:lnTo>
                  <a:pt x="2322577" y="2426227"/>
                </a:lnTo>
                <a:lnTo>
                  <a:pt x="2341460" y="2407734"/>
                </a:lnTo>
                <a:lnTo>
                  <a:pt x="2360342" y="2388625"/>
                </a:lnTo>
                <a:lnTo>
                  <a:pt x="2379225" y="2368900"/>
                </a:lnTo>
                <a:lnTo>
                  <a:pt x="2398108" y="2348558"/>
                </a:lnTo>
                <a:lnTo>
                  <a:pt x="2416991" y="2327600"/>
                </a:lnTo>
                <a:lnTo>
                  <a:pt x="2435873" y="2306025"/>
                </a:lnTo>
                <a:lnTo>
                  <a:pt x="2454756" y="2283834"/>
                </a:lnTo>
                <a:lnTo>
                  <a:pt x="2473639" y="2261027"/>
                </a:lnTo>
                <a:lnTo>
                  <a:pt x="2492522" y="2237603"/>
                </a:lnTo>
                <a:lnTo>
                  <a:pt x="2511404" y="2213562"/>
                </a:lnTo>
                <a:lnTo>
                  <a:pt x="2530287" y="2188905"/>
                </a:lnTo>
                <a:lnTo>
                  <a:pt x="2549170" y="2163632"/>
                </a:lnTo>
                <a:lnTo>
                  <a:pt x="2568052" y="2137743"/>
                </a:lnTo>
                <a:lnTo>
                  <a:pt x="2586935" y="2111237"/>
                </a:lnTo>
                <a:lnTo>
                  <a:pt x="2605818" y="2084114"/>
                </a:lnTo>
                <a:lnTo>
                  <a:pt x="2624701" y="2056375"/>
                </a:lnTo>
                <a:lnTo>
                  <a:pt x="2643583" y="2028020"/>
                </a:lnTo>
                <a:lnTo>
                  <a:pt x="2662466" y="1999048"/>
                </a:lnTo>
                <a:lnTo>
                  <a:pt x="2681349" y="1969460"/>
                </a:lnTo>
                <a:lnTo>
                  <a:pt x="2700232" y="1939256"/>
                </a:lnTo>
                <a:lnTo>
                  <a:pt x="2719114" y="1908435"/>
                </a:lnTo>
                <a:lnTo>
                  <a:pt x="2737997" y="1876997"/>
                </a:lnTo>
                <a:lnTo>
                  <a:pt x="2756880" y="1844943"/>
                </a:lnTo>
                <a:lnTo>
                  <a:pt x="2775763" y="1812273"/>
                </a:lnTo>
                <a:lnTo>
                  <a:pt x="2794645" y="1778987"/>
                </a:lnTo>
                <a:lnTo>
                  <a:pt x="2813528" y="1745083"/>
                </a:lnTo>
                <a:lnTo>
                  <a:pt x="2832411" y="1710564"/>
                </a:lnTo>
                <a:lnTo>
                  <a:pt x="2851294" y="1675428"/>
                </a:lnTo>
                <a:lnTo>
                  <a:pt x="2870176" y="1639676"/>
                </a:lnTo>
                <a:lnTo>
                  <a:pt x="2889059" y="1603307"/>
                </a:lnTo>
                <a:lnTo>
                  <a:pt x="2907942" y="1566322"/>
                </a:lnTo>
                <a:lnTo>
                  <a:pt x="2926825" y="1528720"/>
                </a:lnTo>
                <a:lnTo>
                  <a:pt x="2945707" y="1490502"/>
                </a:lnTo>
                <a:lnTo>
                  <a:pt x="2964590" y="1451668"/>
                </a:lnTo>
                <a:lnTo>
                  <a:pt x="2983473" y="1412217"/>
                </a:lnTo>
                <a:lnTo>
                  <a:pt x="3002356" y="1372150"/>
                </a:lnTo>
                <a:lnTo>
                  <a:pt x="3021238" y="1331466"/>
                </a:lnTo>
                <a:lnTo>
                  <a:pt x="3040121" y="1290166"/>
                </a:lnTo>
                <a:lnTo>
                  <a:pt x="3059004" y="1248249"/>
                </a:lnTo>
                <a:lnTo>
                  <a:pt x="3077886" y="1205716"/>
                </a:lnTo>
                <a:lnTo>
                  <a:pt x="3096769" y="1162567"/>
                </a:lnTo>
                <a:lnTo>
                  <a:pt x="3115652" y="1118801"/>
                </a:lnTo>
                <a:lnTo>
                  <a:pt x="3134535" y="1074419"/>
                </a:lnTo>
                <a:lnTo>
                  <a:pt x="3153417" y="1029420"/>
                </a:lnTo>
                <a:lnTo>
                  <a:pt x="3172300" y="983805"/>
                </a:lnTo>
                <a:lnTo>
                  <a:pt x="3191183" y="937574"/>
                </a:lnTo>
                <a:lnTo>
                  <a:pt x="3210066" y="890726"/>
                </a:lnTo>
                <a:lnTo>
                  <a:pt x="3228948" y="843262"/>
                </a:lnTo>
                <a:lnTo>
                  <a:pt x="3247831" y="795181"/>
                </a:lnTo>
                <a:lnTo>
                  <a:pt x="3266714" y="746484"/>
                </a:lnTo>
                <a:lnTo>
                  <a:pt x="3285597" y="697170"/>
                </a:lnTo>
                <a:lnTo>
                  <a:pt x="3304479" y="647240"/>
                </a:lnTo>
                <a:lnTo>
                  <a:pt x="3323362" y="596694"/>
                </a:lnTo>
                <a:lnTo>
                  <a:pt x="3342245" y="545531"/>
                </a:lnTo>
                <a:lnTo>
                  <a:pt x="3361128" y="493752"/>
                </a:lnTo>
                <a:lnTo>
                  <a:pt x="3380010" y="441356"/>
                </a:lnTo>
                <a:lnTo>
                  <a:pt x="3398893" y="388344"/>
                </a:lnTo>
                <a:lnTo>
                  <a:pt x="3417776" y="334716"/>
                </a:lnTo>
                <a:lnTo>
                  <a:pt x="3436659" y="280471"/>
                </a:lnTo>
                <a:lnTo>
                  <a:pt x="3455541" y="225610"/>
                </a:lnTo>
                <a:lnTo>
                  <a:pt x="3474424" y="170132"/>
                </a:lnTo>
                <a:lnTo>
                  <a:pt x="3493307" y="114038"/>
                </a:lnTo>
                <a:lnTo>
                  <a:pt x="3512190" y="57327"/>
                </a:lnTo>
                <a:lnTo>
                  <a:pt x="3531072" y="0"/>
                </a:lnTo>
              </a:path>
            </a:pathLst>
          </a:custGeom>
          <a:noFill/>
          <a:ln w="38100">
            <a:solidFill>
              <a:srgbClr val="c84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4" name="Oval 45"/>
          <p:cNvSpPr/>
          <p:nvPr/>
        </p:nvSpPr>
        <p:spPr>
          <a:xfrm>
            <a:off x="2081160" y="360288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5" name="Oval 46"/>
          <p:cNvSpPr/>
          <p:nvPr/>
        </p:nvSpPr>
        <p:spPr>
          <a:xfrm>
            <a:off x="2645280" y="442800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6" name="Oval 47"/>
          <p:cNvSpPr/>
          <p:nvPr/>
        </p:nvSpPr>
        <p:spPr>
          <a:xfrm>
            <a:off x="3209400" y="470304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7" name="Oval 48"/>
          <p:cNvSpPr/>
          <p:nvPr/>
        </p:nvSpPr>
        <p:spPr>
          <a:xfrm>
            <a:off x="3773520" y="442800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8" name="Oval 49"/>
          <p:cNvSpPr/>
          <p:nvPr/>
        </p:nvSpPr>
        <p:spPr>
          <a:xfrm>
            <a:off x="4337640" y="360288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9" name="Oval 50"/>
          <p:cNvSpPr/>
          <p:nvPr/>
        </p:nvSpPr>
        <p:spPr>
          <a:xfrm>
            <a:off x="4337640" y="360288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0" name="Oval 51"/>
          <p:cNvSpPr/>
          <p:nvPr/>
        </p:nvSpPr>
        <p:spPr>
          <a:xfrm>
            <a:off x="3773520" y="442800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1" name="Oval 52"/>
          <p:cNvSpPr/>
          <p:nvPr/>
        </p:nvSpPr>
        <p:spPr>
          <a:xfrm>
            <a:off x="3209400" y="470304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2" name="Oval 53"/>
          <p:cNvSpPr/>
          <p:nvPr/>
        </p:nvSpPr>
        <p:spPr>
          <a:xfrm>
            <a:off x="2645280" y="442800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3" name="Oval 54"/>
          <p:cNvSpPr/>
          <p:nvPr/>
        </p:nvSpPr>
        <p:spPr>
          <a:xfrm>
            <a:off x="2081160" y="360288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624" name="Connector 55"/>
          <p:cNvCxnSpPr/>
          <p:nvPr/>
        </p:nvCxnSpPr>
        <p:spPr>
          <a:xfrm>
            <a:off x="1284840" y="5415120"/>
            <a:ext cx="350280" cy="360"/>
          </a:xfrm>
          <a:prstGeom prst="straightConnector1">
            <a:avLst/>
          </a:prstGeom>
          <a:ln w="30480">
            <a:solidFill>
              <a:srgbClr val="5c6b60"/>
            </a:solidFill>
            <a:prstDash val="dash"/>
          </a:ln>
        </p:spPr>
      </p:cxnSp>
      <p:sp>
        <p:nvSpPr>
          <p:cNvPr id="625" name="TextBox 56"/>
          <p:cNvSpPr/>
          <p:nvPr/>
        </p:nvSpPr>
        <p:spPr>
          <a:xfrm>
            <a:off x="2171880" y="5340600"/>
            <a:ext cx="4262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pc="-1" strike="noStrike">
                <a:solidFill>
                  <a:srgbClr val="1c2a22"/>
                </a:solidFill>
                <a:latin typeface="Cambria"/>
              </a:rPr>
              <a:t>y = f(x)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26" name="Connector 57"/>
          <p:cNvCxnSpPr/>
          <p:nvPr/>
        </p:nvCxnSpPr>
        <p:spPr>
          <a:xfrm>
            <a:off x="3285000" y="5415120"/>
            <a:ext cx="350280" cy="360"/>
          </a:xfrm>
          <a:prstGeom prst="straightConnector1">
            <a:avLst/>
          </a:prstGeom>
          <a:ln w="38100">
            <a:solidFill>
              <a:srgbClr val="c84f2f"/>
            </a:solidFill>
          </a:ln>
        </p:spPr>
      </p:cxnSp>
      <p:sp>
        <p:nvSpPr>
          <p:cNvPr id="627" name="TextBox 58"/>
          <p:cNvSpPr/>
          <p:nvPr/>
        </p:nvSpPr>
        <p:spPr>
          <a:xfrm>
            <a:off x="4316760" y="5340600"/>
            <a:ext cx="5360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c2a22"/>
                </a:solidFill>
                <a:latin typeface="Cambria"/>
              </a:rPr>
              <a:t>y = f(−x)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0" dur="indefinite" restart="never" nodeType="tmRoot">
          <p:childTnLst>
            <p:seq>
              <p:cTn id="211" dur="indefinite" nodeType="mainSeq">
                <p:childTnLst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16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19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22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25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28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33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9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COMBINING TRANSFORMATIONS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Box 4"/>
          <p:cNvSpPr/>
          <p:nvPr/>
        </p:nvSpPr>
        <p:spPr>
          <a:xfrm>
            <a:off x="1325880" y="743400"/>
            <a:ext cx="987516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pc="-1" strike="noStrike">
                <a:solidFill>
                  <a:srgbClr val="1c2a22"/>
                </a:solidFill>
                <a:latin typeface="Cambria"/>
              </a:rPr>
              <a:t>y = 2 f(x − 1) − 3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Work outside-in: stretch vertically ×2, then shift right 1 (inside, opposite sign), then shift down 3.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Rounded Rectangle 6"/>
          <p:cNvSpPr/>
          <p:nvPr/>
        </p:nvSpPr>
        <p:spPr>
          <a:xfrm>
            <a:off x="567000" y="1874520"/>
            <a:ext cx="5348880" cy="352008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634" name="Table 8"/>
          <p:cNvGraphicFramePr/>
          <p:nvPr/>
        </p:nvGraphicFramePr>
        <p:xfrm>
          <a:off x="6263640" y="1874520"/>
          <a:ext cx="5357880" cy="3401280"/>
        </p:xfrm>
        <a:graphic>
          <a:graphicData uri="http://schemas.openxmlformats.org/drawingml/2006/table">
            <a:tbl>
              <a:tblPr/>
              <a:tblGrid>
                <a:gridCol w="2679120"/>
                <a:gridCol w="2679120"/>
              </a:tblGrid>
              <a:tr h="566640">
                <a:tc>
                  <a:txBody>
                    <a:bodyPr lIns="109440" rIns="109440" tIns="36360" bIns="36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Original point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109440" rIns="109440" tIns="36360" bIns="36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New point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(-2,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(-1, 5)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(-1,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(0, -1)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(0, 0)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(1, -3)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(1, 1)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(2, -1)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6ef"/>
                    </a:solidFill>
                  </a:tcPr>
                </a:tc>
              </a:tr>
              <a:tr h="566640"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84f2f"/>
                          </a:solidFill>
                          <a:latin typeface="Cambria"/>
                        </a:rPr>
                        <a:t>(2, 4)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109440" rIns="109440" tIns="27360" bIns="27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(3, 5)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109440" marR="109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</a:tbl>
          </a:graphicData>
        </a:graphic>
      </p:graphicFrame>
      <p:sp>
        <p:nvSpPr>
          <p:cNvPr id="635" name="Rounded Rectangle 9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</a:rPr>
              <a:t>Rule: (x, y) → (x + 1, 2y − 3).  Apply the stretch before the translations.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36" name="Connector 10"/>
          <p:cNvCxnSpPr/>
          <p:nvPr/>
        </p:nvCxnSpPr>
        <p:spPr>
          <a:xfrm>
            <a:off x="98496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37" name="Connector 11"/>
          <p:cNvCxnSpPr/>
          <p:nvPr/>
        </p:nvCxnSpPr>
        <p:spPr>
          <a:xfrm>
            <a:off x="143604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38" name="Connector 12"/>
          <p:cNvCxnSpPr/>
          <p:nvPr/>
        </p:nvCxnSpPr>
        <p:spPr>
          <a:xfrm>
            <a:off x="188748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39" name="Connector 13"/>
          <p:cNvCxnSpPr/>
          <p:nvPr/>
        </p:nvCxnSpPr>
        <p:spPr>
          <a:xfrm>
            <a:off x="233892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40" name="Connector 14"/>
          <p:cNvCxnSpPr/>
          <p:nvPr/>
        </p:nvCxnSpPr>
        <p:spPr>
          <a:xfrm>
            <a:off x="279000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41" name="Connector 15"/>
          <p:cNvCxnSpPr/>
          <p:nvPr/>
        </p:nvCxnSpPr>
        <p:spPr>
          <a:xfrm>
            <a:off x="324144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42" name="Connector 16"/>
          <p:cNvCxnSpPr/>
          <p:nvPr/>
        </p:nvCxnSpPr>
        <p:spPr>
          <a:xfrm>
            <a:off x="369252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43" name="Connector 17"/>
          <p:cNvCxnSpPr/>
          <p:nvPr/>
        </p:nvCxnSpPr>
        <p:spPr>
          <a:xfrm>
            <a:off x="414396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44" name="Connector 18"/>
          <p:cNvCxnSpPr/>
          <p:nvPr/>
        </p:nvCxnSpPr>
        <p:spPr>
          <a:xfrm>
            <a:off x="459540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45" name="Connector 19"/>
          <p:cNvCxnSpPr/>
          <p:nvPr/>
        </p:nvCxnSpPr>
        <p:spPr>
          <a:xfrm>
            <a:off x="504648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46" name="Connector 20"/>
          <p:cNvCxnSpPr/>
          <p:nvPr/>
        </p:nvCxnSpPr>
        <p:spPr>
          <a:xfrm>
            <a:off x="5497920" y="1983960"/>
            <a:ext cx="360" cy="33015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47" name="Connector 21"/>
          <p:cNvCxnSpPr/>
          <p:nvPr/>
        </p:nvCxnSpPr>
        <p:spPr>
          <a:xfrm>
            <a:off x="984960" y="52851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48" name="Connector 22"/>
          <p:cNvCxnSpPr/>
          <p:nvPr/>
        </p:nvCxnSpPr>
        <p:spPr>
          <a:xfrm>
            <a:off x="984960" y="507888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49" name="Connector 23"/>
          <p:cNvCxnSpPr/>
          <p:nvPr/>
        </p:nvCxnSpPr>
        <p:spPr>
          <a:xfrm>
            <a:off x="984960" y="487260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50" name="Connector 24"/>
          <p:cNvCxnSpPr/>
          <p:nvPr/>
        </p:nvCxnSpPr>
        <p:spPr>
          <a:xfrm>
            <a:off x="984960" y="46659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51" name="Connector 25"/>
          <p:cNvCxnSpPr/>
          <p:nvPr/>
        </p:nvCxnSpPr>
        <p:spPr>
          <a:xfrm>
            <a:off x="984960" y="445968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52" name="Connector 26"/>
          <p:cNvCxnSpPr/>
          <p:nvPr/>
        </p:nvCxnSpPr>
        <p:spPr>
          <a:xfrm>
            <a:off x="984960" y="425340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53" name="Connector 27"/>
          <p:cNvCxnSpPr/>
          <p:nvPr/>
        </p:nvCxnSpPr>
        <p:spPr>
          <a:xfrm>
            <a:off x="984960" y="404712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54" name="Connector 28"/>
          <p:cNvCxnSpPr/>
          <p:nvPr/>
        </p:nvCxnSpPr>
        <p:spPr>
          <a:xfrm>
            <a:off x="984960" y="384084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55" name="Connector 29"/>
          <p:cNvCxnSpPr/>
          <p:nvPr/>
        </p:nvCxnSpPr>
        <p:spPr>
          <a:xfrm>
            <a:off x="984960" y="36345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56" name="Connector 30"/>
          <p:cNvCxnSpPr/>
          <p:nvPr/>
        </p:nvCxnSpPr>
        <p:spPr>
          <a:xfrm>
            <a:off x="984960" y="342828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57" name="Connector 31"/>
          <p:cNvCxnSpPr/>
          <p:nvPr/>
        </p:nvCxnSpPr>
        <p:spPr>
          <a:xfrm>
            <a:off x="984960" y="322200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58" name="Connector 32"/>
          <p:cNvCxnSpPr/>
          <p:nvPr/>
        </p:nvCxnSpPr>
        <p:spPr>
          <a:xfrm>
            <a:off x="984960" y="301572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59" name="Connector 33"/>
          <p:cNvCxnSpPr/>
          <p:nvPr/>
        </p:nvCxnSpPr>
        <p:spPr>
          <a:xfrm>
            <a:off x="984960" y="280944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60" name="Connector 34"/>
          <p:cNvCxnSpPr/>
          <p:nvPr/>
        </p:nvCxnSpPr>
        <p:spPr>
          <a:xfrm>
            <a:off x="984960" y="26031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61" name="Connector 35"/>
          <p:cNvCxnSpPr/>
          <p:nvPr/>
        </p:nvCxnSpPr>
        <p:spPr>
          <a:xfrm>
            <a:off x="984960" y="239652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62" name="Connector 36"/>
          <p:cNvCxnSpPr/>
          <p:nvPr/>
        </p:nvCxnSpPr>
        <p:spPr>
          <a:xfrm>
            <a:off x="984960" y="219024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63" name="Connector 37"/>
          <p:cNvCxnSpPr/>
          <p:nvPr/>
        </p:nvCxnSpPr>
        <p:spPr>
          <a:xfrm>
            <a:off x="984960" y="1983960"/>
            <a:ext cx="4513320" cy="360"/>
          </a:xfrm>
          <a:prstGeom prst="straightConnector1">
            <a:avLst/>
          </a:prstGeom>
          <a:ln w="9525">
            <a:solidFill>
              <a:srgbClr val="d8d3c0"/>
            </a:solidFill>
          </a:ln>
        </p:spPr>
      </p:cxnSp>
      <p:cxnSp>
        <p:nvCxnSpPr>
          <p:cNvPr id="664" name="Connector 38"/>
          <p:cNvCxnSpPr/>
          <p:nvPr/>
        </p:nvCxnSpPr>
        <p:spPr>
          <a:xfrm>
            <a:off x="984960" y="4047120"/>
            <a:ext cx="4513320" cy="360"/>
          </a:xfrm>
          <a:prstGeom prst="straightConnector1">
            <a:avLst/>
          </a:prstGeom>
          <a:ln w="17780">
            <a:solidFill>
              <a:srgbClr val="1c2a22"/>
            </a:solidFill>
          </a:ln>
        </p:spPr>
      </p:cxnSp>
      <p:cxnSp>
        <p:nvCxnSpPr>
          <p:cNvPr id="665" name="Connector 39"/>
          <p:cNvCxnSpPr/>
          <p:nvPr/>
        </p:nvCxnSpPr>
        <p:spPr>
          <a:xfrm>
            <a:off x="2790000" y="1983960"/>
            <a:ext cx="360" cy="3301560"/>
          </a:xfrm>
          <a:prstGeom prst="straightConnector1">
            <a:avLst/>
          </a:prstGeom>
          <a:ln w="17780">
            <a:solidFill>
              <a:srgbClr val="1c2a22"/>
            </a:solidFill>
          </a:ln>
        </p:spPr>
      </p:cxnSp>
      <p:sp>
        <p:nvSpPr>
          <p:cNvPr id="666" name="TextBox 40"/>
          <p:cNvSpPr/>
          <p:nvPr/>
        </p:nvSpPr>
        <p:spPr>
          <a:xfrm>
            <a:off x="938520" y="408276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Box 41"/>
          <p:cNvSpPr/>
          <p:nvPr/>
        </p:nvSpPr>
        <p:spPr>
          <a:xfrm>
            <a:off x="1841040" y="408276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TextBox 42"/>
          <p:cNvSpPr/>
          <p:nvPr/>
        </p:nvSpPr>
        <p:spPr>
          <a:xfrm>
            <a:off x="3663000" y="408276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TextBox 43"/>
          <p:cNvSpPr/>
          <p:nvPr/>
        </p:nvSpPr>
        <p:spPr>
          <a:xfrm>
            <a:off x="4565520" y="408276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Box 44"/>
          <p:cNvSpPr/>
          <p:nvPr/>
        </p:nvSpPr>
        <p:spPr>
          <a:xfrm>
            <a:off x="5468400" y="408276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Box 45"/>
          <p:cNvSpPr/>
          <p:nvPr/>
        </p:nvSpPr>
        <p:spPr>
          <a:xfrm>
            <a:off x="2563920" y="521568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Box 46"/>
          <p:cNvSpPr/>
          <p:nvPr/>
        </p:nvSpPr>
        <p:spPr>
          <a:xfrm>
            <a:off x="2563920" y="480312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Box 47"/>
          <p:cNvSpPr/>
          <p:nvPr/>
        </p:nvSpPr>
        <p:spPr>
          <a:xfrm>
            <a:off x="2563920" y="4390560"/>
            <a:ext cx="9252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-2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Box 48"/>
          <p:cNvSpPr/>
          <p:nvPr/>
        </p:nvSpPr>
        <p:spPr>
          <a:xfrm>
            <a:off x="2580480" y="356508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TextBox 49"/>
          <p:cNvSpPr/>
          <p:nvPr/>
        </p:nvSpPr>
        <p:spPr>
          <a:xfrm>
            <a:off x="2580480" y="315252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Box 50"/>
          <p:cNvSpPr/>
          <p:nvPr/>
        </p:nvSpPr>
        <p:spPr>
          <a:xfrm>
            <a:off x="2580480" y="273996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Box 51"/>
          <p:cNvSpPr/>
          <p:nvPr/>
        </p:nvSpPr>
        <p:spPr>
          <a:xfrm>
            <a:off x="2580480" y="2327400"/>
            <a:ext cx="5904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Box 52"/>
          <p:cNvSpPr/>
          <p:nvPr/>
        </p:nvSpPr>
        <p:spPr>
          <a:xfrm>
            <a:off x="2551680" y="1914840"/>
            <a:ext cx="117000" cy="13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900" spc="-1" strike="noStrike">
                <a:solidFill>
                  <a:srgbClr val="1c2a22"/>
                </a:solidFill>
                <a:latin typeface="Calibri"/>
              </a:rPr>
              <a:t>10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Freeform 7"/>
          <p:cNvSpPr/>
          <p:nvPr/>
        </p:nvSpPr>
        <p:spPr>
          <a:xfrm>
            <a:off x="1381680" y="1994040"/>
            <a:ext cx="2832120" cy="2053080"/>
          </a:xfrm>
          <a:custGeom>
            <a:avLst/>
            <a:gdLst>
              <a:gd name="textAreaLeft" fmla="*/ 0 w 2832120"/>
              <a:gd name="textAreaRight" fmla="*/ 2832480 w 2832120"/>
              <a:gd name="textAreaTop" fmla="*/ 0 h 2053080"/>
              <a:gd name="textAreaBottom" fmla="*/ 2053440 h 2053080"/>
            </a:gdLst>
            <a:ahLst/>
            <a:rect l="textAreaLeft" t="textAreaTop" r="textAreaRight" b="textAreaBottom"/>
            <a:pathLst>
              <a:path w="2832411" h="2053327">
                <a:moveTo>
                  <a:pt x="0" y="43342"/>
                </a:moveTo>
                <a:lnTo>
                  <a:pt x="18883" y="96869"/>
                </a:lnTo>
                <a:lnTo>
                  <a:pt x="37766" y="149674"/>
                </a:lnTo>
                <a:lnTo>
                  <a:pt x="56648" y="201757"/>
                </a:lnTo>
                <a:lnTo>
                  <a:pt x="75531" y="253117"/>
                </a:lnTo>
                <a:lnTo>
                  <a:pt x="94414" y="303755"/>
                </a:lnTo>
                <a:lnTo>
                  <a:pt x="113296" y="353670"/>
                </a:lnTo>
                <a:lnTo>
                  <a:pt x="132179" y="402864"/>
                </a:lnTo>
                <a:lnTo>
                  <a:pt x="151062" y="451334"/>
                </a:lnTo>
                <a:lnTo>
                  <a:pt x="169945" y="499083"/>
                </a:lnTo>
                <a:lnTo>
                  <a:pt x="188827" y="546109"/>
                </a:lnTo>
                <a:lnTo>
                  <a:pt x="207710" y="592413"/>
                </a:lnTo>
                <a:lnTo>
                  <a:pt x="226593" y="637994"/>
                </a:lnTo>
                <a:lnTo>
                  <a:pt x="245476" y="682853"/>
                </a:lnTo>
                <a:lnTo>
                  <a:pt x="264358" y="726989"/>
                </a:lnTo>
                <a:lnTo>
                  <a:pt x="283241" y="770404"/>
                </a:lnTo>
                <a:lnTo>
                  <a:pt x="302124" y="813096"/>
                </a:lnTo>
                <a:lnTo>
                  <a:pt x="321007" y="855065"/>
                </a:lnTo>
                <a:lnTo>
                  <a:pt x="339889" y="896312"/>
                </a:lnTo>
                <a:lnTo>
                  <a:pt x="358772" y="936837"/>
                </a:lnTo>
                <a:lnTo>
                  <a:pt x="377655" y="976639"/>
                </a:lnTo>
                <a:lnTo>
                  <a:pt x="396538" y="1015719"/>
                </a:lnTo>
                <a:lnTo>
                  <a:pt x="415420" y="1054077"/>
                </a:lnTo>
                <a:lnTo>
                  <a:pt x="434303" y="1091712"/>
                </a:lnTo>
                <a:lnTo>
                  <a:pt x="453186" y="1128625"/>
                </a:lnTo>
                <a:lnTo>
                  <a:pt x="472069" y="1164816"/>
                </a:lnTo>
                <a:lnTo>
                  <a:pt x="490951" y="1200284"/>
                </a:lnTo>
                <a:lnTo>
                  <a:pt x="509834" y="1235030"/>
                </a:lnTo>
                <a:lnTo>
                  <a:pt x="528717" y="1269053"/>
                </a:lnTo>
                <a:lnTo>
                  <a:pt x="547600" y="1302354"/>
                </a:lnTo>
                <a:lnTo>
                  <a:pt x="566482" y="1334933"/>
                </a:lnTo>
                <a:lnTo>
                  <a:pt x="585365" y="1366790"/>
                </a:lnTo>
                <a:lnTo>
                  <a:pt x="604248" y="1397924"/>
                </a:lnTo>
                <a:lnTo>
                  <a:pt x="623130" y="1428335"/>
                </a:lnTo>
                <a:lnTo>
                  <a:pt x="642013" y="1458024"/>
                </a:lnTo>
                <a:lnTo>
                  <a:pt x="660896" y="1486991"/>
                </a:lnTo>
                <a:lnTo>
                  <a:pt x="679779" y="1515236"/>
                </a:lnTo>
                <a:lnTo>
                  <a:pt x="698661" y="1542758"/>
                </a:lnTo>
                <a:lnTo>
                  <a:pt x="717544" y="1569558"/>
                </a:lnTo>
                <a:lnTo>
                  <a:pt x="736427" y="1595635"/>
                </a:lnTo>
                <a:lnTo>
                  <a:pt x="755310" y="1620990"/>
                </a:lnTo>
                <a:lnTo>
                  <a:pt x="774192" y="1645623"/>
                </a:lnTo>
                <a:lnTo>
                  <a:pt x="793075" y="1669533"/>
                </a:lnTo>
                <a:lnTo>
                  <a:pt x="811958" y="1692721"/>
                </a:lnTo>
                <a:lnTo>
                  <a:pt x="830841" y="1715187"/>
                </a:lnTo>
                <a:lnTo>
                  <a:pt x="849723" y="1736930"/>
                </a:lnTo>
                <a:lnTo>
                  <a:pt x="868606" y="1757951"/>
                </a:lnTo>
                <a:lnTo>
                  <a:pt x="887489" y="1778250"/>
                </a:lnTo>
                <a:lnTo>
                  <a:pt x="906372" y="1797826"/>
                </a:lnTo>
                <a:lnTo>
                  <a:pt x="925254" y="1816679"/>
                </a:lnTo>
                <a:lnTo>
                  <a:pt x="944137" y="1834811"/>
                </a:lnTo>
                <a:lnTo>
                  <a:pt x="963020" y="1852220"/>
                </a:lnTo>
                <a:lnTo>
                  <a:pt x="981903" y="1868907"/>
                </a:lnTo>
                <a:lnTo>
                  <a:pt x="1000785" y="1884871"/>
                </a:lnTo>
                <a:lnTo>
                  <a:pt x="1019668" y="1900113"/>
                </a:lnTo>
                <a:lnTo>
                  <a:pt x="1038551" y="1914632"/>
                </a:lnTo>
                <a:lnTo>
                  <a:pt x="1057434" y="1928430"/>
                </a:lnTo>
                <a:lnTo>
                  <a:pt x="1076316" y="1941504"/>
                </a:lnTo>
                <a:lnTo>
                  <a:pt x="1095199" y="1953857"/>
                </a:lnTo>
                <a:lnTo>
                  <a:pt x="1114082" y="1965487"/>
                </a:lnTo>
                <a:lnTo>
                  <a:pt x="1132964" y="1976395"/>
                </a:lnTo>
                <a:lnTo>
                  <a:pt x="1151847" y="1986580"/>
                </a:lnTo>
                <a:lnTo>
                  <a:pt x="1170730" y="1996043"/>
                </a:lnTo>
                <a:lnTo>
                  <a:pt x="1189613" y="2004784"/>
                </a:lnTo>
                <a:lnTo>
                  <a:pt x="1208495" y="2012802"/>
                </a:lnTo>
                <a:lnTo>
                  <a:pt x="1227378" y="2020098"/>
                </a:lnTo>
                <a:lnTo>
                  <a:pt x="1246261" y="2026671"/>
                </a:lnTo>
                <a:lnTo>
                  <a:pt x="1265144" y="2032523"/>
                </a:lnTo>
                <a:lnTo>
                  <a:pt x="1284026" y="2037651"/>
                </a:lnTo>
                <a:lnTo>
                  <a:pt x="1302909" y="2042058"/>
                </a:lnTo>
                <a:lnTo>
                  <a:pt x="1321792" y="2045742"/>
                </a:lnTo>
                <a:lnTo>
                  <a:pt x="1340675" y="2048704"/>
                </a:lnTo>
                <a:lnTo>
                  <a:pt x="1359557" y="2050943"/>
                </a:lnTo>
                <a:lnTo>
                  <a:pt x="1378440" y="2052460"/>
                </a:lnTo>
                <a:lnTo>
                  <a:pt x="1397323" y="2053254"/>
                </a:lnTo>
                <a:lnTo>
                  <a:pt x="1416206" y="2053327"/>
                </a:lnTo>
                <a:lnTo>
                  <a:pt x="1435088" y="2052677"/>
                </a:lnTo>
                <a:lnTo>
                  <a:pt x="1453971" y="2051304"/>
                </a:lnTo>
                <a:lnTo>
                  <a:pt x="1472854" y="2049209"/>
                </a:lnTo>
                <a:lnTo>
                  <a:pt x="1491737" y="2046392"/>
                </a:lnTo>
                <a:lnTo>
                  <a:pt x="1510619" y="2042852"/>
                </a:lnTo>
                <a:lnTo>
                  <a:pt x="1529502" y="2038590"/>
                </a:lnTo>
                <a:lnTo>
                  <a:pt x="1548385" y="2033606"/>
                </a:lnTo>
                <a:lnTo>
                  <a:pt x="1567268" y="2027899"/>
                </a:lnTo>
                <a:lnTo>
                  <a:pt x="1586150" y="2021470"/>
                </a:lnTo>
                <a:lnTo>
                  <a:pt x="1605033" y="2014319"/>
                </a:lnTo>
                <a:lnTo>
                  <a:pt x="1623916" y="2006445"/>
                </a:lnTo>
                <a:lnTo>
                  <a:pt x="1642798" y="1997849"/>
                </a:lnTo>
                <a:lnTo>
                  <a:pt x="1661681" y="1988530"/>
                </a:lnTo>
                <a:lnTo>
                  <a:pt x="1680564" y="1978490"/>
                </a:lnTo>
                <a:lnTo>
                  <a:pt x="1699447" y="1967726"/>
                </a:lnTo>
                <a:lnTo>
                  <a:pt x="1718329" y="1956241"/>
                </a:lnTo>
                <a:lnTo>
                  <a:pt x="1737212" y="1944033"/>
                </a:lnTo>
                <a:lnTo>
                  <a:pt x="1756095" y="1931102"/>
                </a:lnTo>
                <a:lnTo>
                  <a:pt x="1774978" y="1917450"/>
                </a:lnTo>
                <a:lnTo>
                  <a:pt x="1793860" y="1903074"/>
                </a:lnTo>
                <a:lnTo>
                  <a:pt x="1812743" y="1887977"/>
                </a:lnTo>
                <a:lnTo>
                  <a:pt x="1831626" y="1872157"/>
                </a:lnTo>
                <a:lnTo>
                  <a:pt x="1850509" y="1855615"/>
                </a:lnTo>
                <a:lnTo>
                  <a:pt x="1869391" y="1838350"/>
                </a:lnTo>
                <a:lnTo>
                  <a:pt x="1888274" y="1820363"/>
                </a:lnTo>
                <a:lnTo>
                  <a:pt x="1907157" y="1801654"/>
                </a:lnTo>
                <a:lnTo>
                  <a:pt x="1926040" y="1782223"/>
                </a:lnTo>
                <a:lnTo>
                  <a:pt x="1944922" y="1762069"/>
                </a:lnTo>
                <a:lnTo>
                  <a:pt x="1963805" y="1741192"/>
                </a:lnTo>
                <a:lnTo>
                  <a:pt x="1982688" y="1719593"/>
                </a:lnTo>
                <a:lnTo>
                  <a:pt x="2001571" y="1697272"/>
                </a:lnTo>
                <a:lnTo>
                  <a:pt x="2020453" y="1674229"/>
                </a:lnTo>
                <a:lnTo>
                  <a:pt x="2039336" y="1650463"/>
                </a:lnTo>
                <a:lnTo>
                  <a:pt x="2058219" y="1625975"/>
                </a:lnTo>
                <a:lnTo>
                  <a:pt x="2077102" y="1600764"/>
                </a:lnTo>
                <a:lnTo>
                  <a:pt x="2095984" y="1574831"/>
                </a:lnTo>
                <a:lnTo>
                  <a:pt x="2114867" y="1548176"/>
                </a:lnTo>
                <a:lnTo>
                  <a:pt x="2133750" y="1520798"/>
                </a:lnTo>
                <a:lnTo>
                  <a:pt x="2152632" y="1492698"/>
                </a:lnTo>
                <a:lnTo>
                  <a:pt x="2171515" y="1463876"/>
                </a:lnTo>
                <a:lnTo>
                  <a:pt x="2190398" y="1434331"/>
                </a:lnTo>
                <a:lnTo>
                  <a:pt x="2209281" y="1404064"/>
                </a:lnTo>
                <a:lnTo>
                  <a:pt x="2228163" y="1373074"/>
                </a:lnTo>
                <a:lnTo>
                  <a:pt x="2247046" y="1341362"/>
                </a:lnTo>
                <a:lnTo>
                  <a:pt x="2265929" y="1308928"/>
                </a:lnTo>
                <a:lnTo>
                  <a:pt x="2284812" y="1275771"/>
                </a:lnTo>
                <a:lnTo>
                  <a:pt x="2303694" y="1241892"/>
                </a:lnTo>
                <a:lnTo>
                  <a:pt x="2322577" y="1207291"/>
                </a:lnTo>
                <a:lnTo>
                  <a:pt x="2341460" y="1171967"/>
                </a:lnTo>
                <a:lnTo>
                  <a:pt x="2360343" y="1135921"/>
                </a:lnTo>
                <a:lnTo>
                  <a:pt x="2379225" y="1099153"/>
                </a:lnTo>
                <a:lnTo>
                  <a:pt x="2398108" y="1061662"/>
                </a:lnTo>
                <a:lnTo>
                  <a:pt x="2416991" y="1023449"/>
                </a:lnTo>
                <a:lnTo>
                  <a:pt x="2435874" y="984513"/>
                </a:lnTo>
                <a:lnTo>
                  <a:pt x="2454756" y="944855"/>
                </a:lnTo>
                <a:lnTo>
                  <a:pt x="2473639" y="904475"/>
                </a:lnTo>
                <a:lnTo>
                  <a:pt x="2492522" y="863372"/>
                </a:lnTo>
                <a:lnTo>
                  <a:pt x="2511405" y="821547"/>
                </a:lnTo>
                <a:lnTo>
                  <a:pt x="2530287" y="779000"/>
                </a:lnTo>
                <a:lnTo>
                  <a:pt x="2549170" y="735730"/>
                </a:lnTo>
                <a:lnTo>
                  <a:pt x="2568053" y="691738"/>
                </a:lnTo>
                <a:lnTo>
                  <a:pt x="2586936" y="647024"/>
                </a:lnTo>
                <a:lnTo>
                  <a:pt x="2605818" y="601587"/>
                </a:lnTo>
                <a:lnTo>
                  <a:pt x="2624701" y="555427"/>
                </a:lnTo>
                <a:lnTo>
                  <a:pt x="2643584" y="508546"/>
                </a:lnTo>
                <a:lnTo>
                  <a:pt x="2662466" y="460942"/>
                </a:lnTo>
                <a:lnTo>
                  <a:pt x="2681349" y="412616"/>
                </a:lnTo>
                <a:lnTo>
                  <a:pt x="2700232" y="363567"/>
                </a:lnTo>
                <a:lnTo>
                  <a:pt x="2719115" y="313796"/>
                </a:lnTo>
                <a:lnTo>
                  <a:pt x="2737997" y="263302"/>
                </a:lnTo>
                <a:lnTo>
                  <a:pt x="2756880" y="212087"/>
                </a:lnTo>
                <a:lnTo>
                  <a:pt x="2775763" y="160148"/>
                </a:lnTo>
                <a:lnTo>
                  <a:pt x="2794646" y="107488"/>
                </a:lnTo>
                <a:lnTo>
                  <a:pt x="2813528" y="54105"/>
                </a:lnTo>
                <a:lnTo>
                  <a:pt x="2832411" y="0"/>
                </a:lnTo>
              </a:path>
            </a:pathLst>
          </a:custGeom>
          <a:noFill/>
          <a:ln w="30480">
            <a:solidFill>
              <a:srgbClr val="5c6b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0" name="Freeform 53"/>
          <p:cNvSpPr/>
          <p:nvPr/>
        </p:nvSpPr>
        <p:spPr>
          <a:xfrm>
            <a:off x="2099160" y="2022120"/>
            <a:ext cx="2284560" cy="2643480"/>
          </a:xfrm>
          <a:custGeom>
            <a:avLst/>
            <a:gdLst>
              <a:gd name="textAreaLeft" fmla="*/ 0 w 2284560"/>
              <a:gd name="textAreaRight" fmla="*/ 2284920 w 2284560"/>
              <a:gd name="textAreaTop" fmla="*/ 0 h 2643480"/>
              <a:gd name="textAreaBottom" fmla="*/ 2643840 h 2643480"/>
            </a:gdLst>
            <a:ahLst/>
            <a:rect l="textAreaLeft" t="textAreaTop" r="textAreaRight" b="textAreaBottom"/>
            <a:pathLst>
              <a:path w="2284812" h="2643861">
                <a:moveTo>
                  <a:pt x="0" y="0"/>
                </a:moveTo>
                <a:lnTo>
                  <a:pt x="18883" y="86684"/>
                </a:lnTo>
                <a:lnTo>
                  <a:pt x="37766" y="171923"/>
                </a:lnTo>
                <a:lnTo>
                  <a:pt x="56648" y="255718"/>
                </a:lnTo>
                <a:lnTo>
                  <a:pt x="75531" y="338067"/>
                </a:lnTo>
                <a:lnTo>
                  <a:pt x="94414" y="418972"/>
                </a:lnTo>
                <a:lnTo>
                  <a:pt x="113297" y="498433"/>
                </a:lnTo>
                <a:lnTo>
                  <a:pt x="132179" y="576448"/>
                </a:lnTo>
                <a:lnTo>
                  <a:pt x="151062" y="653019"/>
                </a:lnTo>
                <a:lnTo>
                  <a:pt x="169945" y="728145"/>
                </a:lnTo>
                <a:lnTo>
                  <a:pt x="188828" y="801827"/>
                </a:lnTo>
                <a:lnTo>
                  <a:pt x="207710" y="874063"/>
                </a:lnTo>
                <a:lnTo>
                  <a:pt x="226593" y="944855"/>
                </a:lnTo>
                <a:lnTo>
                  <a:pt x="245476" y="1014202"/>
                </a:lnTo>
                <a:lnTo>
                  <a:pt x="264359" y="1082105"/>
                </a:lnTo>
                <a:lnTo>
                  <a:pt x="283241" y="1148563"/>
                </a:lnTo>
                <a:lnTo>
                  <a:pt x="302124" y="1213576"/>
                </a:lnTo>
                <a:lnTo>
                  <a:pt x="321007" y="1277144"/>
                </a:lnTo>
                <a:lnTo>
                  <a:pt x="339890" y="1339267"/>
                </a:lnTo>
                <a:lnTo>
                  <a:pt x="358772" y="1399946"/>
                </a:lnTo>
                <a:lnTo>
                  <a:pt x="377655" y="1459180"/>
                </a:lnTo>
                <a:lnTo>
                  <a:pt x="396538" y="1516970"/>
                </a:lnTo>
                <a:lnTo>
                  <a:pt x="415420" y="1573314"/>
                </a:lnTo>
                <a:lnTo>
                  <a:pt x="434303" y="1628214"/>
                </a:lnTo>
                <a:lnTo>
                  <a:pt x="453186" y="1681669"/>
                </a:lnTo>
                <a:lnTo>
                  <a:pt x="472069" y="1733680"/>
                </a:lnTo>
                <a:lnTo>
                  <a:pt x="490951" y="1784245"/>
                </a:lnTo>
                <a:lnTo>
                  <a:pt x="509834" y="1833366"/>
                </a:lnTo>
                <a:lnTo>
                  <a:pt x="528717" y="1881042"/>
                </a:lnTo>
                <a:lnTo>
                  <a:pt x="547600" y="1927274"/>
                </a:lnTo>
                <a:lnTo>
                  <a:pt x="566482" y="1972061"/>
                </a:lnTo>
                <a:lnTo>
                  <a:pt x="585365" y="2015403"/>
                </a:lnTo>
                <a:lnTo>
                  <a:pt x="604248" y="2057300"/>
                </a:lnTo>
                <a:lnTo>
                  <a:pt x="623131" y="2097752"/>
                </a:lnTo>
                <a:lnTo>
                  <a:pt x="642013" y="2136760"/>
                </a:lnTo>
                <a:lnTo>
                  <a:pt x="660896" y="2174323"/>
                </a:lnTo>
                <a:lnTo>
                  <a:pt x="679779" y="2210441"/>
                </a:lnTo>
                <a:lnTo>
                  <a:pt x="698662" y="2245115"/>
                </a:lnTo>
                <a:lnTo>
                  <a:pt x="717544" y="2278344"/>
                </a:lnTo>
                <a:lnTo>
                  <a:pt x="736427" y="2310128"/>
                </a:lnTo>
                <a:lnTo>
                  <a:pt x="755310" y="2340467"/>
                </a:lnTo>
                <a:lnTo>
                  <a:pt x="774193" y="2369362"/>
                </a:lnTo>
                <a:lnTo>
                  <a:pt x="793075" y="2396812"/>
                </a:lnTo>
                <a:lnTo>
                  <a:pt x="811958" y="2422817"/>
                </a:lnTo>
                <a:lnTo>
                  <a:pt x="830841" y="2447378"/>
                </a:lnTo>
                <a:lnTo>
                  <a:pt x="849724" y="2470493"/>
                </a:lnTo>
                <a:lnTo>
                  <a:pt x="868606" y="2492164"/>
                </a:lnTo>
                <a:lnTo>
                  <a:pt x="887489" y="2512391"/>
                </a:lnTo>
                <a:lnTo>
                  <a:pt x="906372" y="2531172"/>
                </a:lnTo>
                <a:lnTo>
                  <a:pt x="925254" y="2548509"/>
                </a:lnTo>
                <a:lnTo>
                  <a:pt x="944137" y="2564401"/>
                </a:lnTo>
                <a:lnTo>
                  <a:pt x="963020" y="2578848"/>
                </a:lnTo>
                <a:lnTo>
                  <a:pt x="981903" y="2591851"/>
                </a:lnTo>
                <a:lnTo>
                  <a:pt x="1000785" y="2603409"/>
                </a:lnTo>
                <a:lnTo>
                  <a:pt x="1019668" y="2613522"/>
                </a:lnTo>
                <a:lnTo>
                  <a:pt x="1038551" y="2622190"/>
                </a:lnTo>
                <a:lnTo>
                  <a:pt x="1057434" y="2629414"/>
                </a:lnTo>
                <a:lnTo>
                  <a:pt x="1076316" y="2635193"/>
                </a:lnTo>
                <a:lnTo>
                  <a:pt x="1095199" y="2639527"/>
                </a:lnTo>
                <a:lnTo>
                  <a:pt x="1114082" y="2642417"/>
                </a:lnTo>
                <a:lnTo>
                  <a:pt x="1132965" y="2643861"/>
                </a:lnTo>
                <a:lnTo>
                  <a:pt x="1151847" y="2643861"/>
                </a:lnTo>
                <a:lnTo>
                  <a:pt x="1170730" y="2642417"/>
                </a:lnTo>
                <a:lnTo>
                  <a:pt x="1189613" y="2639527"/>
                </a:lnTo>
                <a:lnTo>
                  <a:pt x="1208496" y="2635193"/>
                </a:lnTo>
                <a:lnTo>
                  <a:pt x="1227378" y="2629414"/>
                </a:lnTo>
                <a:lnTo>
                  <a:pt x="1246261" y="2622190"/>
                </a:lnTo>
                <a:lnTo>
                  <a:pt x="1265144" y="2613522"/>
                </a:lnTo>
                <a:lnTo>
                  <a:pt x="1284027" y="2603409"/>
                </a:lnTo>
                <a:lnTo>
                  <a:pt x="1302909" y="2591851"/>
                </a:lnTo>
                <a:lnTo>
                  <a:pt x="1321792" y="2578848"/>
                </a:lnTo>
                <a:lnTo>
                  <a:pt x="1340675" y="2564401"/>
                </a:lnTo>
                <a:lnTo>
                  <a:pt x="1359558" y="2548509"/>
                </a:lnTo>
                <a:lnTo>
                  <a:pt x="1378440" y="2531172"/>
                </a:lnTo>
                <a:lnTo>
                  <a:pt x="1397323" y="2512391"/>
                </a:lnTo>
                <a:lnTo>
                  <a:pt x="1416206" y="2492164"/>
                </a:lnTo>
                <a:lnTo>
                  <a:pt x="1435088" y="2470493"/>
                </a:lnTo>
                <a:lnTo>
                  <a:pt x="1453971" y="2447378"/>
                </a:lnTo>
                <a:lnTo>
                  <a:pt x="1472854" y="2422817"/>
                </a:lnTo>
                <a:lnTo>
                  <a:pt x="1491737" y="2396812"/>
                </a:lnTo>
                <a:lnTo>
                  <a:pt x="1510619" y="2369362"/>
                </a:lnTo>
                <a:lnTo>
                  <a:pt x="1529502" y="2340467"/>
                </a:lnTo>
                <a:lnTo>
                  <a:pt x="1548385" y="2310128"/>
                </a:lnTo>
                <a:lnTo>
                  <a:pt x="1567268" y="2278344"/>
                </a:lnTo>
                <a:lnTo>
                  <a:pt x="1586150" y="2245115"/>
                </a:lnTo>
                <a:lnTo>
                  <a:pt x="1605033" y="2210441"/>
                </a:lnTo>
                <a:lnTo>
                  <a:pt x="1623916" y="2174323"/>
                </a:lnTo>
                <a:lnTo>
                  <a:pt x="1642799" y="2136760"/>
                </a:lnTo>
                <a:lnTo>
                  <a:pt x="1661681" y="2097752"/>
                </a:lnTo>
                <a:lnTo>
                  <a:pt x="1680564" y="2057300"/>
                </a:lnTo>
                <a:lnTo>
                  <a:pt x="1699447" y="2015403"/>
                </a:lnTo>
                <a:lnTo>
                  <a:pt x="1718330" y="1972061"/>
                </a:lnTo>
                <a:lnTo>
                  <a:pt x="1737212" y="1927274"/>
                </a:lnTo>
                <a:lnTo>
                  <a:pt x="1756095" y="1881042"/>
                </a:lnTo>
                <a:lnTo>
                  <a:pt x="1774978" y="1833366"/>
                </a:lnTo>
                <a:lnTo>
                  <a:pt x="1793861" y="1784245"/>
                </a:lnTo>
                <a:lnTo>
                  <a:pt x="1812743" y="1733680"/>
                </a:lnTo>
                <a:lnTo>
                  <a:pt x="1831626" y="1681669"/>
                </a:lnTo>
                <a:lnTo>
                  <a:pt x="1850509" y="1628214"/>
                </a:lnTo>
                <a:lnTo>
                  <a:pt x="1869392" y="1573314"/>
                </a:lnTo>
                <a:lnTo>
                  <a:pt x="1888274" y="1516970"/>
                </a:lnTo>
                <a:lnTo>
                  <a:pt x="1907157" y="1459180"/>
                </a:lnTo>
                <a:lnTo>
                  <a:pt x="1926040" y="1399946"/>
                </a:lnTo>
                <a:lnTo>
                  <a:pt x="1944922" y="1339267"/>
                </a:lnTo>
                <a:lnTo>
                  <a:pt x="1963805" y="1277144"/>
                </a:lnTo>
                <a:lnTo>
                  <a:pt x="1982688" y="1213576"/>
                </a:lnTo>
                <a:lnTo>
                  <a:pt x="2001571" y="1148563"/>
                </a:lnTo>
                <a:lnTo>
                  <a:pt x="2020453" y="1082105"/>
                </a:lnTo>
                <a:lnTo>
                  <a:pt x="2039336" y="1014202"/>
                </a:lnTo>
                <a:lnTo>
                  <a:pt x="2058219" y="944855"/>
                </a:lnTo>
                <a:lnTo>
                  <a:pt x="2077102" y="874063"/>
                </a:lnTo>
                <a:lnTo>
                  <a:pt x="2095984" y="801827"/>
                </a:lnTo>
                <a:lnTo>
                  <a:pt x="2114867" y="728145"/>
                </a:lnTo>
                <a:lnTo>
                  <a:pt x="2133750" y="653019"/>
                </a:lnTo>
                <a:lnTo>
                  <a:pt x="2152633" y="576448"/>
                </a:lnTo>
                <a:lnTo>
                  <a:pt x="2171515" y="498433"/>
                </a:lnTo>
                <a:lnTo>
                  <a:pt x="2190398" y="418972"/>
                </a:lnTo>
                <a:lnTo>
                  <a:pt x="2209281" y="338067"/>
                </a:lnTo>
                <a:lnTo>
                  <a:pt x="2228164" y="255718"/>
                </a:lnTo>
                <a:lnTo>
                  <a:pt x="2247046" y="171923"/>
                </a:lnTo>
                <a:lnTo>
                  <a:pt x="2265929" y="86684"/>
                </a:lnTo>
                <a:lnTo>
                  <a:pt x="2284812" y="0"/>
                </a:lnTo>
              </a:path>
            </a:pathLst>
          </a:custGeom>
          <a:noFill/>
          <a:ln w="38100">
            <a:solidFill>
              <a:srgbClr val="c84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1" name="Oval 54"/>
          <p:cNvSpPr/>
          <p:nvPr/>
        </p:nvSpPr>
        <p:spPr>
          <a:xfrm>
            <a:off x="1855800" y="318996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2" name="Oval 55"/>
          <p:cNvSpPr/>
          <p:nvPr/>
        </p:nvSpPr>
        <p:spPr>
          <a:xfrm>
            <a:off x="2306880" y="380916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3" name="Oval 56"/>
          <p:cNvSpPr/>
          <p:nvPr/>
        </p:nvSpPr>
        <p:spPr>
          <a:xfrm>
            <a:off x="2758320" y="401544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4" name="Oval 57"/>
          <p:cNvSpPr/>
          <p:nvPr/>
        </p:nvSpPr>
        <p:spPr>
          <a:xfrm>
            <a:off x="3209400" y="380916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5" name="Oval 58"/>
          <p:cNvSpPr/>
          <p:nvPr/>
        </p:nvSpPr>
        <p:spPr>
          <a:xfrm>
            <a:off x="3660840" y="3189960"/>
            <a:ext cx="63720" cy="63720"/>
          </a:xfrm>
          <a:prstGeom prst="ellipse">
            <a:avLst/>
          </a:prstGeom>
          <a:solidFill>
            <a:srgbClr val="5c6b6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6" name="Oval 59"/>
          <p:cNvSpPr/>
          <p:nvPr/>
        </p:nvSpPr>
        <p:spPr>
          <a:xfrm>
            <a:off x="2306880" y="298368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7" name="Oval 60"/>
          <p:cNvSpPr/>
          <p:nvPr/>
        </p:nvSpPr>
        <p:spPr>
          <a:xfrm>
            <a:off x="2758320" y="422172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8" name="Oval 61"/>
          <p:cNvSpPr/>
          <p:nvPr/>
        </p:nvSpPr>
        <p:spPr>
          <a:xfrm>
            <a:off x="3209400" y="463428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9" name="Oval 62"/>
          <p:cNvSpPr/>
          <p:nvPr/>
        </p:nvSpPr>
        <p:spPr>
          <a:xfrm>
            <a:off x="3660840" y="422172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0" name="Oval 63"/>
          <p:cNvSpPr/>
          <p:nvPr/>
        </p:nvSpPr>
        <p:spPr>
          <a:xfrm>
            <a:off x="4112280" y="2983680"/>
            <a:ext cx="63720" cy="63720"/>
          </a:xfrm>
          <a:prstGeom prst="ellipse">
            <a:avLst/>
          </a:prstGeom>
          <a:solidFill>
            <a:srgbClr val="c84f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691" name="Connector 64"/>
          <p:cNvCxnSpPr/>
          <p:nvPr/>
        </p:nvCxnSpPr>
        <p:spPr>
          <a:xfrm>
            <a:off x="1284840" y="5415120"/>
            <a:ext cx="350280" cy="360"/>
          </a:xfrm>
          <a:prstGeom prst="straightConnector1">
            <a:avLst/>
          </a:prstGeom>
          <a:ln w="30480">
            <a:solidFill>
              <a:srgbClr val="5c6b60"/>
            </a:solidFill>
            <a:prstDash val="dash"/>
          </a:ln>
        </p:spPr>
      </p:cxnSp>
      <p:sp>
        <p:nvSpPr>
          <p:cNvPr id="692" name="TextBox 65"/>
          <p:cNvSpPr/>
          <p:nvPr/>
        </p:nvSpPr>
        <p:spPr>
          <a:xfrm>
            <a:off x="2171880" y="5340600"/>
            <a:ext cx="4262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pc="-1" strike="noStrike">
                <a:solidFill>
                  <a:srgbClr val="1c2a22"/>
                </a:solidFill>
                <a:latin typeface="Cambria"/>
              </a:rPr>
              <a:t>y = f(x)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93" name="Connector 66"/>
          <p:cNvCxnSpPr/>
          <p:nvPr/>
        </p:nvCxnSpPr>
        <p:spPr>
          <a:xfrm>
            <a:off x="3285000" y="5415120"/>
            <a:ext cx="350280" cy="360"/>
          </a:xfrm>
          <a:prstGeom prst="straightConnector1">
            <a:avLst/>
          </a:prstGeom>
          <a:ln w="38100">
            <a:solidFill>
              <a:srgbClr val="c84f2f"/>
            </a:solidFill>
          </a:ln>
        </p:spPr>
      </p:cxnSp>
      <p:sp>
        <p:nvSpPr>
          <p:cNvPr id="694" name="TextBox 67"/>
          <p:cNvSpPr/>
          <p:nvPr/>
        </p:nvSpPr>
        <p:spPr>
          <a:xfrm>
            <a:off x="4172040" y="5340600"/>
            <a:ext cx="82548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1c2a22"/>
                </a:solidFill>
                <a:latin typeface="Cambria"/>
              </a:rPr>
              <a:t>y = 2f(x−1)−3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4" dur="indefinite" restart="never" nodeType="tmRoot">
          <p:childTnLst>
            <p:seq>
              <p:cTn id="235" dur="indefinite" nodeType="mainSeq">
                <p:childTnLst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40"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43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46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49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nodeType="with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252" dur="5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57"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6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TextBox 3"/>
          <p:cNvSpPr/>
          <p:nvPr/>
        </p:nvSpPr>
        <p:spPr>
          <a:xfrm>
            <a:off x="1325880" y="44352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c84f2f"/>
                </a:solidFill>
                <a:latin typeface="Calibri"/>
              </a:rPr>
              <a:t>QUICK PRACTICE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Rounded Rectangle 6"/>
          <p:cNvSpPr/>
          <p:nvPr/>
        </p:nvSpPr>
        <p:spPr>
          <a:xfrm>
            <a:off x="4563360" y="420480"/>
            <a:ext cx="6602760" cy="623484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99" name="Picture 2" descr=""/>
          <p:cNvPicPr/>
          <p:nvPr/>
        </p:nvPicPr>
        <p:blipFill>
          <a:blip r:embed="rId1"/>
          <a:stretch/>
        </p:blipFill>
        <p:spPr>
          <a:xfrm>
            <a:off x="4960800" y="539640"/>
            <a:ext cx="5472360" cy="5867640"/>
          </a:xfrm>
          <a:prstGeom prst="rect">
            <a:avLst/>
          </a:prstGeom>
          <a:ln w="0">
            <a:noFill/>
          </a:ln>
        </p:spPr>
      </p:pic>
      <p:sp>
        <p:nvSpPr>
          <p:cNvPr id="700" name="Oval 11"/>
          <p:cNvSpPr/>
          <p:nvPr/>
        </p:nvSpPr>
        <p:spPr>
          <a:xfrm>
            <a:off x="6400800" y="68364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1" name="Oval 12"/>
          <p:cNvSpPr/>
          <p:nvPr/>
        </p:nvSpPr>
        <p:spPr>
          <a:xfrm>
            <a:off x="5964120" y="159120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2" name="Oval 13"/>
          <p:cNvSpPr/>
          <p:nvPr/>
        </p:nvSpPr>
        <p:spPr>
          <a:xfrm>
            <a:off x="6861240" y="159120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3" name="Oval 14"/>
          <p:cNvSpPr/>
          <p:nvPr/>
        </p:nvSpPr>
        <p:spPr>
          <a:xfrm>
            <a:off x="5733720" y="248364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4" name="Oval 15"/>
          <p:cNvSpPr/>
          <p:nvPr/>
        </p:nvSpPr>
        <p:spPr>
          <a:xfrm>
            <a:off x="7048800" y="247788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5" name="Oval 16"/>
          <p:cNvSpPr/>
          <p:nvPr/>
        </p:nvSpPr>
        <p:spPr>
          <a:xfrm>
            <a:off x="8819640" y="114768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6" name="Oval 17"/>
          <p:cNvSpPr/>
          <p:nvPr/>
        </p:nvSpPr>
        <p:spPr>
          <a:xfrm>
            <a:off x="8624160" y="202356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7" name="Oval 18"/>
          <p:cNvSpPr/>
          <p:nvPr/>
        </p:nvSpPr>
        <p:spPr>
          <a:xfrm>
            <a:off x="9070560" y="203004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8" name="Oval 19"/>
          <p:cNvSpPr/>
          <p:nvPr/>
        </p:nvSpPr>
        <p:spPr>
          <a:xfrm>
            <a:off x="8520840" y="290988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9" name="Oval 20"/>
          <p:cNvSpPr/>
          <p:nvPr/>
        </p:nvSpPr>
        <p:spPr>
          <a:xfrm>
            <a:off x="9194760" y="291060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0" name="Oval 21"/>
          <p:cNvSpPr/>
          <p:nvPr/>
        </p:nvSpPr>
        <p:spPr>
          <a:xfrm>
            <a:off x="6640200" y="536724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1" name="Oval 22"/>
          <p:cNvSpPr/>
          <p:nvPr/>
        </p:nvSpPr>
        <p:spPr>
          <a:xfrm>
            <a:off x="5942880" y="491616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2" name="Oval 23"/>
          <p:cNvSpPr/>
          <p:nvPr/>
        </p:nvSpPr>
        <p:spPr>
          <a:xfrm>
            <a:off x="7304040" y="491616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3" name="Oval 24"/>
          <p:cNvSpPr/>
          <p:nvPr/>
        </p:nvSpPr>
        <p:spPr>
          <a:xfrm>
            <a:off x="5509440" y="403704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4" name="Oval 25"/>
          <p:cNvSpPr/>
          <p:nvPr/>
        </p:nvSpPr>
        <p:spPr>
          <a:xfrm>
            <a:off x="8844840" y="580536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5" name="Oval 26"/>
          <p:cNvSpPr/>
          <p:nvPr/>
        </p:nvSpPr>
        <p:spPr>
          <a:xfrm>
            <a:off x="8185680" y="489672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6" name="Oval 27"/>
          <p:cNvSpPr/>
          <p:nvPr/>
        </p:nvSpPr>
        <p:spPr>
          <a:xfrm>
            <a:off x="9508680" y="491580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7" name="Oval 28"/>
          <p:cNvSpPr/>
          <p:nvPr/>
        </p:nvSpPr>
        <p:spPr>
          <a:xfrm>
            <a:off x="7911000" y="403668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8" name="Oval 29"/>
          <p:cNvSpPr/>
          <p:nvPr/>
        </p:nvSpPr>
        <p:spPr>
          <a:xfrm>
            <a:off x="9747000" y="4050000"/>
            <a:ext cx="103680" cy="95040"/>
          </a:xfrm>
          <a:prstGeom prst="ellipse">
            <a:avLst/>
          </a:prstGeom>
          <a:solidFill>
            <a:srgbClr val="70ad47"/>
          </a:solidFill>
          <a:ln>
            <a:solidFill>
              <a:srgbClr val="527f3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 lIns="90000" rIns="90000" tIns="22680" bIns="226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9" name="Freeform 30"/>
          <p:cNvSpPr/>
          <p:nvPr/>
        </p:nvSpPr>
        <p:spPr>
          <a:xfrm>
            <a:off x="5697720" y="719640"/>
            <a:ext cx="1493280" cy="2262960"/>
          </a:xfrm>
          <a:custGeom>
            <a:avLst/>
            <a:gdLst>
              <a:gd name="textAreaLeft" fmla="*/ 0 w 1493280"/>
              <a:gd name="textAreaRight" fmla="*/ 1493640 w 1493280"/>
              <a:gd name="textAreaTop" fmla="*/ 0 h 2262960"/>
              <a:gd name="textAreaBottom" fmla="*/ 2263320 h 2262960"/>
            </a:gdLst>
            <a:ahLst/>
            <a:rect l="textAreaLeft" t="textAreaTop" r="textAreaRight" b="textAreaBottom"/>
            <a:pathLst>
              <a:path w="1493520" h="2263140">
                <a:moveTo>
                  <a:pt x="0" y="2247900"/>
                </a:moveTo>
                <a:cubicBezTo>
                  <a:pt x="15240" y="2145030"/>
                  <a:pt x="30480" y="2042160"/>
                  <a:pt x="83820" y="1821180"/>
                </a:cubicBezTo>
                <a:cubicBezTo>
                  <a:pt x="137160" y="1600200"/>
                  <a:pt x="209550" y="1225550"/>
                  <a:pt x="320040" y="922020"/>
                </a:cubicBezTo>
                <a:cubicBezTo>
                  <a:pt x="430530" y="618490"/>
                  <a:pt x="596900" y="0"/>
                  <a:pt x="746760" y="0"/>
                </a:cubicBezTo>
                <a:cubicBezTo>
                  <a:pt x="896620" y="0"/>
                  <a:pt x="1108710" y="619760"/>
                  <a:pt x="1219200" y="922020"/>
                </a:cubicBezTo>
                <a:cubicBezTo>
                  <a:pt x="1329690" y="1224280"/>
                  <a:pt x="1363980" y="1590040"/>
                  <a:pt x="1409700" y="1813560"/>
                </a:cubicBezTo>
                <a:cubicBezTo>
                  <a:pt x="1455420" y="2037080"/>
                  <a:pt x="1474470" y="2150110"/>
                  <a:pt x="1493520" y="2263140"/>
                </a:cubicBezTo>
              </a:path>
            </a:pathLst>
          </a:custGeom>
          <a:noFill/>
          <a:ln>
            <a:solidFill>
              <a:srgbClr val="70ad4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0" name="Freeform 31"/>
          <p:cNvSpPr/>
          <p:nvPr/>
        </p:nvSpPr>
        <p:spPr>
          <a:xfrm>
            <a:off x="8570520" y="1184400"/>
            <a:ext cx="685440" cy="1790280"/>
          </a:xfrm>
          <a:custGeom>
            <a:avLst/>
            <a:gdLst>
              <a:gd name="textAreaLeft" fmla="*/ 0 w 685440"/>
              <a:gd name="textAreaRight" fmla="*/ 685800 w 685440"/>
              <a:gd name="textAreaTop" fmla="*/ 0 h 1790280"/>
              <a:gd name="textAreaBottom" fmla="*/ 1790640 h 1790280"/>
            </a:gdLst>
            <a:ahLst/>
            <a:rect l="textAreaLeft" t="textAreaTop" r="textAreaRight" b="textAreaBottom"/>
            <a:pathLst>
              <a:path w="685800" h="1790702">
                <a:moveTo>
                  <a:pt x="0" y="1775462"/>
                </a:moveTo>
                <a:cubicBezTo>
                  <a:pt x="28575" y="1481457"/>
                  <a:pt x="57150" y="1187452"/>
                  <a:pt x="106680" y="891542"/>
                </a:cubicBezTo>
                <a:cubicBezTo>
                  <a:pt x="156210" y="595632"/>
                  <a:pt x="222250" y="-1268"/>
                  <a:pt x="297180" y="2"/>
                </a:cubicBezTo>
                <a:cubicBezTo>
                  <a:pt x="372110" y="1272"/>
                  <a:pt x="491490" y="600712"/>
                  <a:pt x="556260" y="899162"/>
                </a:cubicBezTo>
                <a:cubicBezTo>
                  <a:pt x="621030" y="1197612"/>
                  <a:pt x="653415" y="1494157"/>
                  <a:pt x="685800" y="1790702"/>
                </a:cubicBezTo>
              </a:path>
            </a:pathLst>
          </a:custGeom>
          <a:noFill/>
          <a:ln>
            <a:solidFill>
              <a:srgbClr val="70ad4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1" name="Freeform 32"/>
          <p:cNvSpPr/>
          <p:nvPr/>
        </p:nvSpPr>
        <p:spPr>
          <a:xfrm>
            <a:off x="5415840" y="3623040"/>
            <a:ext cx="1942920" cy="1805760"/>
          </a:xfrm>
          <a:custGeom>
            <a:avLst/>
            <a:gdLst>
              <a:gd name="textAreaLeft" fmla="*/ 0 w 1942920"/>
              <a:gd name="textAreaRight" fmla="*/ 1943280 w 1942920"/>
              <a:gd name="textAreaTop" fmla="*/ 0 h 1805760"/>
              <a:gd name="textAreaBottom" fmla="*/ 1806120 h 1805760"/>
            </a:gdLst>
            <a:ahLst/>
            <a:rect l="textAreaLeft" t="textAreaTop" r="textAreaRight" b="textAreaBottom"/>
            <a:pathLst>
              <a:path w="1943100" h="1805945">
                <a:moveTo>
                  <a:pt x="0" y="0"/>
                </a:moveTo>
                <a:cubicBezTo>
                  <a:pt x="24130" y="123825"/>
                  <a:pt x="48260" y="247650"/>
                  <a:pt x="144780" y="472440"/>
                </a:cubicBezTo>
                <a:cubicBezTo>
                  <a:pt x="241300" y="697230"/>
                  <a:pt x="391160" y="1126490"/>
                  <a:pt x="579120" y="1348740"/>
                </a:cubicBezTo>
                <a:cubicBezTo>
                  <a:pt x="767080" y="1570990"/>
                  <a:pt x="1045210" y="1807210"/>
                  <a:pt x="1272540" y="1805940"/>
                </a:cubicBezTo>
                <a:cubicBezTo>
                  <a:pt x="1499870" y="1804670"/>
                  <a:pt x="1721485" y="1572895"/>
                  <a:pt x="1943100" y="1341120"/>
                </a:cubicBezTo>
              </a:path>
            </a:pathLst>
          </a:custGeom>
          <a:noFill/>
          <a:ln>
            <a:solidFill>
              <a:srgbClr val="70ad4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2" name="Freeform 33"/>
          <p:cNvSpPr/>
          <p:nvPr/>
        </p:nvSpPr>
        <p:spPr>
          <a:xfrm>
            <a:off x="7869600" y="3630600"/>
            <a:ext cx="2003760" cy="2232360"/>
          </a:xfrm>
          <a:custGeom>
            <a:avLst/>
            <a:gdLst>
              <a:gd name="textAreaLeft" fmla="*/ 0 w 2003760"/>
              <a:gd name="textAreaRight" fmla="*/ 2004120 w 2003760"/>
              <a:gd name="textAreaTop" fmla="*/ 0 h 2232360"/>
              <a:gd name="textAreaBottom" fmla="*/ 2232720 h 2232360"/>
            </a:gdLst>
            <a:ahLst/>
            <a:rect l="textAreaLeft" t="textAreaTop" r="textAreaRight" b="textAreaBottom"/>
            <a:pathLst>
              <a:path w="2004060" h="2232662">
                <a:moveTo>
                  <a:pt x="0" y="0"/>
                </a:moveTo>
                <a:cubicBezTo>
                  <a:pt x="13970" y="118110"/>
                  <a:pt x="27940" y="236220"/>
                  <a:pt x="91440" y="457200"/>
                </a:cubicBezTo>
                <a:cubicBezTo>
                  <a:pt x="154940" y="678180"/>
                  <a:pt x="223520" y="1029970"/>
                  <a:pt x="381000" y="1325880"/>
                </a:cubicBezTo>
                <a:cubicBezTo>
                  <a:pt x="538480" y="1621790"/>
                  <a:pt x="817880" y="2231390"/>
                  <a:pt x="1036320" y="2232660"/>
                </a:cubicBezTo>
                <a:cubicBezTo>
                  <a:pt x="1254760" y="2233930"/>
                  <a:pt x="1530350" y="1704340"/>
                  <a:pt x="1691640" y="1333500"/>
                </a:cubicBezTo>
                <a:cubicBezTo>
                  <a:pt x="1852930" y="962660"/>
                  <a:pt x="1928495" y="485140"/>
                  <a:pt x="2004060" y="7620"/>
                </a:cubicBezTo>
              </a:path>
            </a:pathLst>
          </a:custGeom>
          <a:noFill/>
          <a:ln>
            <a:solidFill>
              <a:srgbClr val="70ad4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3" name="TextBox 79"/>
          <p:cNvSpPr/>
          <p:nvPr/>
        </p:nvSpPr>
        <p:spPr>
          <a:xfrm>
            <a:off x="567000" y="868680"/>
            <a:ext cx="352008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5000"/>
              </a:lnSpc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</a:rPr>
              <a:t>Sketch It Yourself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Box 80"/>
          <p:cNvSpPr/>
          <p:nvPr/>
        </p:nvSpPr>
        <p:spPr>
          <a:xfrm>
            <a:off x="567000" y="1691640"/>
            <a:ext cx="352008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Starting from the curve y = f(x), sketch each transformed graph on its own grid. The worked answers are already plotted so you can check your work.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Rounded Rectangle 81"/>
          <p:cNvSpPr/>
          <p:nvPr/>
        </p:nvSpPr>
        <p:spPr>
          <a:xfrm>
            <a:off x="567000" y="5257800"/>
            <a:ext cx="3520080" cy="1234080"/>
          </a:xfrm>
          <a:prstGeom prst="roundRect">
            <a:avLst>
              <a:gd name="adj" fmla="val 6000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201240" tIns="109800" bIns="1098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e0ac2b"/>
                </a:solidFill>
                <a:latin typeface="Cambria"/>
              </a:rPr>
              <a:t>Tip: check inside vs outside the bracket first — inside is horizontal &amp; opposite, outside is vertical &amp; as written.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8" dur="indefinite" restart="never" nodeType="tmRoot">
          <p:childTnLst>
            <p:seq>
              <p:cTn id="259" dur="indefinite" nodeType="mainSeq">
                <p:childTnLst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64"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67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70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73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76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79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84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87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90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93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96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99"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04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07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10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13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16"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21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24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27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30"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33"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36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c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7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TextBox 3"/>
          <p:cNvSpPr/>
          <p:nvPr/>
        </p:nvSpPr>
        <p:spPr>
          <a:xfrm>
            <a:off x="1325880" y="44388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50" spc="248" strike="noStrike">
                <a:solidFill>
                  <a:srgbClr val="e0ac2b"/>
                </a:solidFill>
                <a:latin typeface="Calibri"/>
              </a:rPr>
              <a:t>GRAPHS · RECAP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Box 4"/>
          <p:cNvSpPr/>
          <p:nvPr/>
        </p:nvSpPr>
        <p:spPr>
          <a:xfrm>
            <a:off x="1325880" y="712800"/>
            <a:ext cx="987516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</a:rPr>
              <a:t>From Graphs Back to the Golden Rule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TextBox 5"/>
          <p:cNvSpPr/>
          <p:nvPr/>
        </p:nvSpPr>
        <p:spPr>
          <a:xfrm>
            <a:off x="1325880" y="1261800"/>
            <a:ext cx="102409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350" spc="-1" strike="noStrike">
                <a:solidFill>
                  <a:srgbClr val="edebdd"/>
                </a:solidFill>
                <a:latin typeface="Calibri"/>
              </a:rPr>
              <a:t>Whatever the transformation, track it one point at a time — the table method always works.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Rounded Rectangle 6"/>
          <p:cNvSpPr/>
          <p:nvPr/>
        </p:nvSpPr>
        <p:spPr>
          <a:xfrm>
            <a:off x="567000" y="196596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f(x) + a → (x, y+a)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shift up 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Rounded Rectangle 7"/>
          <p:cNvSpPr/>
          <p:nvPr/>
        </p:nvSpPr>
        <p:spPr>
          <a:xfrm>
            <a:off x="567000" y="282564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f(x) − a → (x, y−a)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shift down 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Rounded Rectangle 8"/>
          <p:cNvSpPr/>
          <p:nvPr/>
        </p:nvSpPr>
        <p:spPr>
          <a:xfrm>
            <a:off x="567000" y="368496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a f(x) → (x, ay)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stretch ×a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Rounded Rectangle 9"/>
          <p:cNvSpPr/>
          <p:nvPr/>
        </p:nvSpPr>
        <p:spPr>
          <a:xfrm>
            <a:off x="567000" y="454464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−</a:t>
            </a: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f(x) → (x, −y)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reflect in x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Rounded Rectangle 10"/>
          <p:cNvSpPr/>
          <p:nvPr/>
        </p:nvSpPr>
        <p:spPr>
          <a:xfrm>
            <a:off x="6282000" y="196596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f(x+a) → (x−a, y)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shift left 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Rounded Rectangle 11"/>
          <p:cNvSpPr/>
          <p:nvPr/>
        </p:nvSpPr>
        <p:spPr>
          <a:xfrm>
            <a:off x="6282000" y="282564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f(x−a) → (x+a, y)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shift right 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Rounded Rectangle 12"/>
          <p:cNvSpPr/>
          <p:nvPr/>
        </p:nvSpPr>
        <p:spPr>
          <a:xfrm>
            <a:off x="6282000" y="368496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f(ax) → (x/a, y)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squash ÷a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8" name="Rounded Rectangle 13"/>
          <p:cNvSpPr/>
          <p:nvPr/>
        </p:nvSpPr>
        <p:spPr>
          <a:xfrm>
            <a:off x="6282000" y="4544640"/>
            <a:ext cx="5348880" cy="749520"/>
          </a:xfrm>
          <a:prstGeom prst="roundRect">
            <a:avLst>
              <a:gd name="adj" fmla="val 12000"/>
            </a:avLst>
          </a:prstGeom>
          <a:solidFill>
            <a:srgbClr val="26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8288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</a:rPr>
              <a:t>f(−x) → (−x, y) 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</a:rPr>
              <a:t>reflect in 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Rounded Rectangle 14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</a:rPr>
              <a:t>Next: the same rules applied to y = sin x and y = cos x.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1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Box 3"/>
          <p:cNvSpPr/>
          <p:nvPr/>
        </p:nvSpPr>
        <p:spPr>
          <a:xfrm>
            <a:off x="1325880" y="44352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250" spc="248" strike="noStrike">
                <a:solidFill>
                  <a:srgbClr val="c84f2f"/>
                </a:solidFill>
                <a:latin typeface="Calibri"/>
              </a:rPr>
              <a:t>WORKED EXAMPLE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Rounded Rectangle 6"/>
          <p:cNvSpPr/>
          <p:nvPr/>
        </p:nvSpPr>
        <p:spPr>
          <a:xfrm>
            <a:off x="4563360" y="791280"/>
            <a:ext cx="6602760" cy="586404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44" name="Picture 2" descr="Graph Plot"/>
          <p:cNvPicPr/>
          <p:nvPr/>
        </p:nvPicPr>
        <p:blipFill>
          <a:blip r:embed="rId1"/>
          <a:stretch/>
        </p:blipFill>
        <p:spPr>
          <a:xfrm>
            <a:off x="5040720" y="860760"/>
            <a:ext cx="5647680" cy="3488040"/>
          </a:xfrm>
          <a:prstGeom prst="rect">
            <a:avLst/>
          </a:prstGeom>
          <a:ln w="0">
            <a:noFill/>
          </a:ln>
        </p:spPr>
      </p:pic>
      <p:sp>
        <p:nvSpPr>
          <p:cNvPr id="745" name="TextBox 35"/>
          <p:cNvSpPr/>
          <p:nvPr/>
        </p:nvSpPr>
        <p:spPr>
          <a:xfrm rot="17574600">
            <a:off x="8767080" y="2420280"/>
            <a:ext cx="1295640" cy="369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TextBox 36"/>
          <p:cNvSpPr/>
          <p:nvPr/>
        </p:nvSpPr>
        <p:spPr>
          <a:xfrm rot="17574600">
            <a:off x="6921720" y="2785320"/>
            <a:ext cx="1295640" cy="3690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Box 37"/>
          <p:cNvSpPr/>
          <p:nvPr/>
        </p:nvSpPr>
        <p:spPr>
          <a:xfrm>
            <a:off x="5267880" y="4605120"/>
            <a:ext cx="5420520" cy="14770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Rectangle 38"/>
          <p:cNvSpPr/>
          <p:nvPr/>
        </p:nvSpPr>
        <p:spPr>
          <a:xfrm>
            <a:off x="5283360" y="5387760"/>
            <a:ext cx="5405040" cy="8010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Box 39"/>
          <p:cNvSpPr/>
          <p:nvPr/>
        </p:nvSpPr>
        <p:spPr>
          <a:xfrm>
            <a:off x="567000" y="868680"/>
            <a:ext cx="352008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5000"/>
              </a:lnSpc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</a:rPr>
              <a:t>Reading a Translation from a Graph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TextBox 40"/>
          <p:cNvSpPr/>
          <p:nvPr/>
        </p:nvSpPr>
        <p:spPr>
          <a:xfrm>
            <a:off x="567000" y="1874520"/>
            <a:ext cx="3520080" cy="7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15000"/>
              </a:lnSpc>
            </a:pPr>
            <a:r>
              <a:rPr b="0" lang="en-US" sz="1350" spc="-1" strike="noStrike">
                <a:solidFill>
                  <a:srgbClr val="5c6b60"/>
                </a:solidFill>
                <a:latin typeface="Calibri"/>
              </a:rPr>
              <a:t>Compare the key points on the red graph with the blue original to spot the shift. Then write the new equation in terms of f(x).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Rounded Rectangle 41"/>
          <p:cNvSpPr/>
          <p:nvPr/>
        </p:nvSpPr>
        <p:spPr>
          <a:xfrm>
            <a:off x="567000" y="5257800"/>
            <a:ext cx="3520080" cy="1234080"/>
          </a:xfrm>
          <a:prstGeom prst="roundRect">
            <a:avLst>
              <a:gd name="adj" fmla="val 6000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201240" tIns="109800" bIns="1098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300" spc="-1" strike="noStrike">
                <a:solidFill>
                  <a:srgbClr val="e0ac2b"/>
                </a:solidFill>
                <a:latin typeface="Cambria"/>
              </a:rPr>
              <a:t>Rule: moving left 5 units means f(x) becomes f(x + 5) — inside the bracket, always opposite.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7" dur="indefinite" restart="never" nodeType="tmRoot">
          <p:childTnLst>
            <p:seq>
              <p:cTn id="338" restart="whenNotActive" nodeType="interactiveSeq" fill="hold">
                <p:stCondLst>
                  <p:cond delay="0" evt="onClick">
                    <p:tgtEl>
                      <p:spTgt spid="748"/>
                    </p:tgtEl>
                  </p:cond>
                </p:stCondLst>
                <p:childTnLst>
                  <p:par>
                    <p:cTn id="339" fill="hold">
                      <p:stCondLst>
                        <p:cond delay="0" evt="onClick">
                          <p:tgtEl>
                            <p:spTgt spid="748"/>
                          </p:tgtEl>
                        </p:cond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42"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3" name="Rounded Rectangle 2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30000"/>
            </a:avLst>
          </a:prstGeom>
          <a:solidFill>
            <a:srgbClr val="e86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</a:rPr>
              <a:t>Zπ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TextBox 3"/>
          <p:cNvSpPr/>
          <p:nvPr/>
        </p:nvSpPr>
        <p:spPr>
          <a:xfrm>
            <a:off x="1325880" y="396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250" spc="248" strike="noStrike">
                <a:solidFill>
                  <a:srgbClr val="c84f2f"/>
                </a:solidFill>
                <a:latin typeface="Calibri"/>
              </a:rPr>
              <a:t>PRACTICE · YOUR TURN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Rounded Rectangle 6"/>
          <p:cNvSpPr/>
          <p:nvPr/>
        </p:nvSpPr>
        <p:spPr>
          <a:xfrm>
            <a:off x="131760" y="993600"/>
            <a:ext cx="11324160" cy="5864040"/>
          </a:xfrm>
          <a:prstGeom prst="roundRect">
            <a:avLst>
              <a:gd name="adj" fmla="val 3500"/>
            </a:avLst>
          </a:prstGeom>
          <a:solidFill>
            <a:srgbClr val="eef1e8"/>
          </a:solidFill>
          <a:ln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56" name="Picture 2" descr=""/>
          <p:cNvPicPr/>
          <p:nvPr/>
        </p:nvPicPr>
        <p:blipFill>
          <a:blip r:embed="rId1"/>
          <a:stretch/>
        </p:blipFill>
        <p:spPr>
          <a:xfrm>
            <a:off x="323640" y="1268640"/>
            <a:ext cx="3783240" cy="2194560"/>
          </a:xfrm>
          <a:prstGeom prst="rect">
            <a:avLst/>
          </a:prstGeom>
          <a:ln w="0">
            <a:noFill/>
          </a:ln>
        </p:spPr>
      </p:pic>
      <p:pic>
        <p:nvPicPr>
          <p:cNvPr id="757" name="Picture 3" descr=""/>
          <p:cNvPicPr/>
          <p:nvPr/>
        </p:nvPicPr>
        <p:blipFill>
          <a:blip r:embed="rId2"/>
          <a:stretch/>
        </p:blipFill>
        <p:spPr>
          <a:xfrm>
            <a:off x="4716000" y="1141920"/>
            <a:ext cx="3528000" cy="2608560"/>
          </a:xfrm>
          <a:prstGeom prst="rect">
            <a:avLst/>
          </a:prstGeom>
          <a:ln w="0">
            <a:noFill/>
          </a:ln>
        </p:spPr>
      </p:pic>
      <p:pic>
        <p:nvPicPr>
          <p:cNvPr id="758" name="Picture 4" descr=""/>
          <p:cNvPicPr/>
          <p:nvPr/>
        </p:nvPicPr>
        <p:blipFill>
          <a:blip r:embed="rId3"/>
          <a:stretch/>
        </p:blipFill>
        <p:spPr>
          <a:xfrm>
            <a:off x="395640" y="3750480"/>
            <a:ext cx="3421440" cy="2570040"/>
          </a:xfrm>
          <a:prstGeom prst="rect">
            <a:avLst/>
          </a:prstGeom>
          <a:ln w="0">
            <a:noFill/>
          </a:ln>
        </p:spPr>
      </p:pic>
      <p:sp>
        <p:nvSpPr>
          <p:cNvPr id="759" name="TextBox 13"/>
          <p:cNvSpPr/>
          <p:nvPr/>
        </p:nvSpPr>
        <p:spPr>
          <a:xfrm>
            <a:off x="1187640" y="3213000"/>
            <a:ext cx="2448000" cy="3690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TextBox 14"/>
          <p:cNvSpPr/>
          <p:nvPr/>
        </p:nvSpPr>
        <p:spPr>
          <a:xfrm>
            <a:off x="5256000" y="3554640"/>
            <a:ext cx="2448000" cy="3690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Box 15"/>
          <p:cNvSpPr/>
          <p:nvPr/>
        </p:nvSpPr>
        <p:spPr>
          <a:xfrm>
            <a:off x="1043640" y="6136200"/>
            <a:ext cx="2448000" cy="3690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2" name="Picture 5" descr=""/>
          <p:cNvPicPr/>
          <p:nvPr/>
        </p:nvPicPr>
        <p:blipFill>
          <a:blip r:embed="rId7"/>
          <a:stretch/>
        </p:blipFill>
        <p:spPr>
          <a:xfrm>
            <a:off x="4344480" y="4077000"/>
            <a:ext cx="3951360" cy="2509920"/>
          </a:xfrm>
          <a:prstGeom prst="rect">
            <a:avLst/>
          </a:prstGeom>
          <a:ln w="0">
            <a:noFill/>
          </a:ln>
        </p:spPr>
      </p:pic>
      <p:sp>
        <p:nvSpPr>
          <p:cNvPr id="763" name="TextBox 17"/>
          <p:cNvSpPr/>
          <p:nvPr/>
        </p:nvSpPr>
        <p:spPr>
          <a:xfrm>
            <a:off x="6228360" y="6100200"/>
            <a:ext cx="2448000" cy="714240"/>
          </a:xfrm>
          <a:prstGeom prst="rect">
            <a:avLst/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Rectangle 18"/>
          <p:cNvSpPr/>
          <p:nvPr/>
        </p:nvSpPr>
        <p:spPr>
          <a:xfrm>
            <a:off x="2189160" y="3141000"/>
            <a:ext cx="1446480" cy="4410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Rectangle 19"/>
          <p:cNvSpPr/>
          <p:nvPr/>
        </p:nvSpPr>
        <p:spPr>
          <a:xfrm>
            <a:off x="6217920" y="3554640"/>
            <a:ext cx="1486080" cy="3690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Rectangle 20"/>
          <p:cNvSpPr/>
          <p:nvPr/>
        </p:nvSpPr>
        <p:spPr>
          <a:xfrm>
            <a:off x="2157840" y="6100200"/>
            <a:ext cx="1446480" cy="4410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Rectangle 21"/>
          <p:cNvSpPr/>
          <p:nvPr/>
        </p:nvSpPr>
        <p:spPr>
          <a:xfrm>
            <a:off x="7121160" y="6100200"/>
            <a:ext cx="1554840" cy="7142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800" spc="-1" strike="noStrike">
                <a:solidFill>
                  <a:schemeClr val="lt1"/>
                </a:solidFill>
                <a:latin typeface="Calibri"/>
              </a:rPr>
              <a:t>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TextBox 22"/>
          <p:cNvSpPr/>
          <p:nvPr/>
        </p:nvSpPr>
        <p:spPr>
          <a:xfrm>
            <a:off x="1325880" y="703440"/>
            <a:ext cx="8352720" cy="369000"/>
          </a:xfrm>
          <a:prstGeom prst="rect">
            <a:avLst/>
          </a:pr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TextBox 25"/>
          <p:cNvSpPr/>
          <p:nvPr/>
        </p:nvSpPr>
        <p:spPr>
          <a:xfrm>
            <a:off x="1325880" y="374040"/>
            <a:ext cx="822924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</a:rPr>
              <a:t>Spot the Transformation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4" dur="indefinite" restart="never" nodeType="tmRoot">
          <p:childTnLst>
            <p:seq>
              <p:cTn id="345" restart="whenNotActive" nodeType="interactiveSeq" fill="hold">
                <p:stCondLst>
                  <p:cond delay="0" evt="onClick">
                    <p:tgtEl>
                      <p:spTgt spid="764"/>
                    </p:tgtEl>
                  </p:cond>
                </p:stCondLst>
                <p:childTnLst>
                  <p:par>
                    <p:cTn id="346" fill="hold">
                      <p:stCondLst>
                        <p:cond delay="0" evt="onClick">
                          <p:tgtEl>
                            <p:spTgt spid="764"/>
                          </p:tgtEl>
                        </p:cond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49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351" restart="whenNotActive" nodeType="interactiveSeq" fill="hold">
                <p:stCondLst>
                  <p:cond delay="0" evt="onClick">
                    <p:tgtEl>
                      <p:spTgt spid="765"/>
                    </p:tgtEl>
                  </p:cond>
                </p:stCondLst>
                <p:childTnLst>
                  <p:par>
                    <p:cTn id="352" fill="hold">
                      <p:stCondLst>
                        <p:cond delay="0" evt="onClick">
                          <p:tgtEl>
                            <p:spTgt spid="765"/>
                          </p:tgtEl>
                        </p:cond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55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357" restart="whenNotActive" nodeType="interactiveSeq" fill="hold">
                <p:stCondLst>
                  <p:cond delay="0" evt="onClick">
                    <p:tgtEl>
                      <p:spTgt spid="766"/>
                    </p:tgtEl>
                  </p:cond>
                </p:stCondLst>
                <p:childTnLst>
                  <p:par>
                    <p:cTn id="358" fill="hold">
                      <p:stCondLst>
                        <p:cond delay="0" evt="onClick">
                          <p:tgtEl>
                            <p:spTgt spid="766"/>
                          </p:tgtEl>
                        </p:cond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61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363" restart="whenNotActive" nodeType="interactiveSeq" fill="hold">
                <p:stCondLst>
                  <p:cond delay="0" evt="onClick">
                    <p:tgtEl>
                      <p:spTgt spid="767"/>
                    </p:tgtEl>
                  </p:cond>
                </p:stCondLst>
                <p:childTnLst>
                  <p:par>
                    <p:cTn id="364" fill="hold">
                      <p:stCondLst>
                        <p:cond delay="0" evt="onClick">
                          <p:tgtEl>
                            <p:spTgt spid="767"/>
                          </p:tgtEl>
                        </p:cond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67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TRIG GRAPHS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Transforming sin and cos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same rules apply to y = sin x and y = cos x.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They just start in different places.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41"/>
          <p:cNvSpPr/>
          <p:nvPr/>
        </p:nvSpPr>
        <p:spPr>
          <a:xfrm>
            <a:off x="567000" y="2286000"/>
            <a:ext cx="5440320" cy="301716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Know the basic shapes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43"/>
          <p:cNvSpPr/>
          <p:nvPr/>
        </p:nvSpPr>
        <p:spPr>
          <a:xfrm>
            <a:off x="868680" y="306324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Text 44"/>
          <p:cNvSpPr/>
          <p:nvPr/>
        </p:nvSpPr>
        <p:spPr>
          <a:xfrm>
            <a:off x="1143000" y="297180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sin x starts at (0, 0).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45"/>
          <p:cNvSpPr/>
          <p:nvPr/>
        </p:nvSpPr>
        <p:spPr>
          <a:xfrm>
            <a:off x="868680" y="36118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Text 46"/>
          <p:cNvSpPr/>
          <p:nvPr/>
        </p:nvSpPr>
        <p:spPr>
          <a:xfrm>
            <a:off x="1143000" y="352044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cos x starts at (0, 1).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47"/>
          <p:cNvSpPr/>
          <p:nvPr/>
        </p:nvSpPr>
        <p:spPr>
          <a:xfrm>
            <a:off x="868680" y="416052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Text 48"/>
          <p:cNvSpPr/>
          <p:nvPr/>
        </p:nvSpPr>
        <p:spPr>
          <a:xfrm>
            <a:off x="1143000" y="406908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Both repeat every 360°.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49"/>
          <p:cNvSpPr/>
          <p:nvPr/>
        </p:nvSpPr>
        <p:spPr>
          <a:xfrm>
            <a:off x="868680" y="470916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Text 50"/>
          <p:cNvSpPr/>
          <p:nvPr/>
        </p:nvSpPr>
        <p:spPr>
          <a:xfrm>
            <a:off x="1143000" y="461772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Both range between −1 and 1.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51"/>
          <p:cNvSpPr/>
          <p:nvPr/>
        </p:nvSpPr>
        <p:spPr>
          <a:xfrm>
            <a:off x="6190560" y="2286000"/>
            <a:ext cx="5440320" cy="3017160"/>
          </a:xfrm>
          <a:prstGeom prst="roundRect">
            <a:avLst>
              <a:gd name="adj" fmla="val 181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Text 52"/>
          <p:cNvSpPr/>
          <p:nvPr/>
        </p:nvSpPr>
        <p:spPr>
          <a:xfrm>
            <a:off x="655632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y = a sin(bx) + 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53"/>
          <p:cNvSpPr/>
          <p:nvPr/>
        </p:nvSpPr>
        <p:spPr>
          <a:xfrm>
            <a:off x="6492240" y="306324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Text 54"/>
          <p:cNvSpPr/>
          <p:nvPr/>
        </p:nvSpPr>
        <p:spPr>
          <a:xfrm>
            <a:off x="6766560" y="2971800"/>
            <a:ext cx="4663080" cy="5025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55"/>
          <p:cNvSpPr/>
          <p:nvPr/>
        </p:nvSpPr>
        <p:spPr>
          <a:xfrm>
            <a:off x="6492240" y="361188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6" name="Text 56"/>
          <p:cNvSpPr/>
          <p:nvPr/>
        </p:nvSpPr>
        <p:spPr>
          <a:xfrm>
            <a:off x="6766560" y="3520440"/>
            <a:ext cx="4663080" cy="5025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57"/>
          <p:cNvSpPr/>
          <p:nvPr/>
        </p:nvSpPr>
        <p:spPr>
          <a:xfrm>
            <a:off x="6492240" y="416052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Text 58"/>
          <p:cNvSpPr/>
          <p:nvPr/>
        </p:nvSpPr>
        <p:spPr>
          <a:xfrm>
            <a:off x="6766560" y="406908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b = how many waves in 360°.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59"/>
          <p:cNvSpPr/>
          <p:nvPr/>
        </p:nvSpPr>
        <p:spPr>
          <a:xfrm>
            <a:off x="6492240" y="4709160"/>
            <a:ext cx="145800" cy="145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0" name="Text 60"/>
          <p:cNvSpPr/>
          <p:nvPr/>
        </p:nvSpPr>
        <p:spPr>
          <a:xfrm>
            <a:off x="6766560" y="461772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(x − d) inside → shift right 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Text 61"/>
          <p:cNvSpPr/>
          <p:nvPr/>
        </p:nvSpPr>
        <p:spPr>
          <a:xfrm>
            <a:off x="567000" y="55321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y = a cos(x − b) + c combines a stretch, a horizontal shift and a vertical shift — all at once.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TRIG GRAPHS · BASIC SHAPES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Transforming sin and cos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same rules apply to y = sin x and y = cos x.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They just start in different places.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41"/>
          <p:cNvSpPr/>
          <p:nvPr/>
        </p:nvSpPr>
        <p:spPr>
          <a:xfrm>
            <a:off x="567000" y="2286000"/>
            <a:ext cx="5440320" cy="301716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51"/>
          <p:cNvSpPr/>
          <p:nvPr/>
        </p:nvSpPr>
        <p:spPr>
          <a:xfrm>
            <a:off x="6190560" y="2286000"/>
            <a:ext cx="5440320" cy="3017160"/>
          </a:xfrm>
          <a:prstGeom prst="roundRect">
            <a:avLst>
              <a:gd name="adj" fmla="val 181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Text 61"/>
          <p:cNvSpPr/>
          <p:nvPr/>
        </p:nvSpPr>
        <p:spPr>
          <a:xfrm>
            <a:off x="567000" y="55321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y = a cos(x − b) + c combines a stretch, a horizontal shift and a vertical shift — all at once.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6" name="Picture 2" descr=""/>
          <p:cNvPicPr/>
          <p:nvPr/>
        </p:nvPicPr>
        <p:blipFill>
          <a:blip r:embed="rId1"/>
          <a:stretch/>
        </p:blipFill>
        <p:spPr>
          <a:xfrm>
            <a:off x="782280" y="2421720"/>
            <a:ext cx="3085920" cy="1691280"/>
          </a:xfrm>
          <a:prstGeom prst="rect">
            <a:avLst/>
          </a:prstGeom>
          <a:ln w="0">
            <a:noFill/>
          </a:ln>
        </p:spPr>
      </p:pic>
      <p:pic>
        <p:nvPicPr>
          <p:cNvPr id="877" name="Picture 3" descr=""/>
          <p:cNvPicPr/>
          <p:nvPr/>
        </p:nvPicPr>
        <p:blipFill>
          <a:blip r:embed="rId2"/>
          <a:stretch/>
        </p:blipFill>
        <p:spPr>
          <a:xfrm>
            <a:off x="6446520" y="2421720"/>
            <a:ext cx="3245040" cy="16912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878" name="Table 1027"/>
          <p:cNvGraphicFramePr/>
          <p:nvPr/>
        </p:nvGraphicFramePr>
        <p:xfrm>
          <a:off x="567000" y="4250520"/>
          <a:ext cx="4937400" cy="868320"/>
        </p:xfrm>
        <a:graphic>
          <a:graphicData uri="http://schemas.openxmlformats.org/drawingml/2006/table">
            <a:tbl>
              <a:tblPr/>
              <a:tblGrid>
                <a:gridCol w="1086120"/>
                <a:gridCol w="770040"/>
                <a:gridCol w="770040"/>
                <a:gridCol w="770040"/>
                <a:gridCol w="770040"/>
                <a:gridCol w="770040"/>
              </a:tblGrid>
              <a:tr h="434160"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x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0°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90°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180°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270°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360°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</a:tr>
              <a:tr h="434160"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y = sin x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9" name="Table 1028"/>
          <p:cNvGraphicFramePr/>
          <p:nvPr/>
        </p:nvGraphicFramePr>
        <p:xfrm>
          <a:off x="6263640" y="4250520"/>
          <a:ext cx="4937400" cy="868320"/>
        </p:xfrm>
        <a:graphic>
          <a:graphicData uri="http://schemas.openxmlformats.org/drawingml/2006/table">
            <a:tbl>
              <a:tblPr/>
              <a:tblGrid>
                <a:gridCol w="1086120"/>
                <a:gridCol w="770040"/>
                <a:gridCol w="770040"/>
                <a:gridCol w="770040"/>
                <a:gridCol w="770040"/>
                <a:gridCol w="770040"/>
              </a:tblGrid>
              <a:tr h="434160"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x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0°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90°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180°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270°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mbria"/>
                        </a:rPr>
                        <a:t>360°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84f2f"/>
                    </a:solidFill>
                  </a:tcPr>
                </a:tc>
              </a:tr>
              <a:tr h="434160"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y = cos x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  <a:tc>
                  <a:txBody>
                    <a:bodyPr lIns="54720" rIns="54720" tIns="18000" bIns="18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1c2a22"/>
                          </a:solidFill>
                          <a:latin typeface="Calibri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f1e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TRIG GRAPHS · WORKED EXAMPLE 1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Sketching y = 2 sin(x) and y = sin(x + 90°)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41"/>
          <p:cNvSpPr/>
          <p:nvPr/>
        </p:nvSpPr>
        <p:spPr>
          <a:xfrm>
            <a:off x="567000" y="2286000"/>
            <a:ext cx="5440320" cy="301716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0" name="Shape 51"/>
          <p:cNvSpPr/>
          <p:nvPr/>
        </p:nvSpPr>
        <p:spPr>
          <a:xfrm>
            <a:off x="6190560" y="2286000"/>
            <a:ext cx="5440320" cy="3017160"/>
          </a:xfrm>
          <a:prstGeom prst="roundRect">
            <a:avLst>
              <a:gd name="adj" fmla="val 181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921" name="Straight Arrow Connector 47"/>
          <p:cNvCxnSpPr/>
          <p:nvPr/>
        </p:nvCxnSpPr>
        <p:spPr>
          <a:xfrm>
            <a:off x="1855440" y="3993480"/>
            <a:ext cx="3888720" cy="36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cxnSp>
        <p:nvCxnSpPr>
          <p:cNvPr id="922" name="Straight Arrow Connector 48"/>
          <p:cNvCxnSpPr/>
          <p:nvPr/>
        </p:nvCxnSpPr>
        <p:spPr>
          <a:xfrm flipV="1">
            <a:off x="3799440" y="1689120"/>
            <a:ext cx="360" cy="424872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sp>
        <p:nvSpPr>
          <p:cNvPr id="923" name="TextBox 49"/>
          <p:cNvSpPr/>
          <p:nvPr/>
        </p:nvSpPr>
        <p:spPr>
          <a:xfrm>
            <a:off x="5671800" y="384948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TextBox 50"/>
          <p:cNvSpPr/>
          <p:nvPr/>
        </p:nvSpPr>
        <p:spPr>
          <a:xfrm>
            <a:off x="3655800" y="140148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Box 51"/>
          <p:cNvSpPr/>
          <p:nvPr/>
        </p:nvSpPr>
        <p:spPr>
          <a:xfrm rot="2253600">
            <a:off x="4080960" y="2654280"/>
            <a:ext cx="1163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accent1"/>
                </a:solidFill>
                <a:latin typeface="Calibri"/>
              </a:rPr>
              <a:t>y = sin(x)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26" name="Group 53"/>
          <p:cNvGrpSpPr/>
          <p:nvPr/>
        </p:nvGrpSpPr>
        <p:grpSpPr>
          <a:xfrm>
            <a:off x="2037600" y="2867760"/>
            <a:ext cx="3529440" cy="2159640"/>
            <a:chOff x="2037600" y="2867760"/>
            <a:chExt cx="3529440" cy="2159640"/>
          </a:xfrm>
        </p:grpSpPr>
        <p:sp>
          <p:nvSpPr>
            <p:cNvPr id="927" name="Freeform 54"/>
            <p:cNvSpPr/>
            <p:nvPr/>
          </p:nvSpPr>
          <p:spPr>
            <a:xfrm>
              <a:off x="3807000" y="288540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4472c4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28" name="Freeform 55"/>
            <p:cNvSpPr/>
            <p:nvPr/>
          </p:nvSpPr>
          <p:spPr>
            <a:xfrm>
              <a:off x="2037600" y="286776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4472c4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29" name="TextBox 56"/>
          <p:cNvSpPr/>
          <p:nvPr/>
        </p:nvSpPr>
        <p:spPr>
          <a:xfrm>
            <a:off x="3454920" y="280332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TextBox 57"/>
          <p:cNvSpPr/>
          <p:nvPr/>
        </p:nvSpPr>
        <p:spPr>
          <a:xfrm>
            <a:off x="3439800" y="168948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TextBox 58"/>
          <p:cNvSpPr/>
          <p:nvPr/>
        </p:nvSpPr>
        <p:spPr>
          <a:xfrm>
            <a:off x="3439800" y="478584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-1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TextBox 59"/>
          <p:cNvSpPr/>
          <p:nvPr/>
        </p:nvSpPr>
        <p:spPr>
          <a:xfrm>
            <a:off x="3439800" y="5721840"/>
            <a:ext cx="50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-2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TextBox 60"/>
          <p:cNvSpPr/>
          <p:nvPr/>
        </p:nvSpPr>
        <p:spPr>
          <a:xfrm>
            <a:off x="1855440" y="3993480"/>
            <a:ext cx="4104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-360   -270   -180   -90                 90      180    270    360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TextBox 61"/>
          <p:cNvSpPr/>
          <p:nvPr/>
        </p:nvSpPr>
        <p:spPr>
          <a:xfrm>
            <a:off x="16920" y="1211760"/>
            <a:ext cx="756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Below is a sketch of y = sin(x). Hence sketch the following.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Rectangle 63"/>
          <p:cNvSpPr/>
          <p:nvPr/>
        </p:nvSpPr>
        <p:spPr>
          <a:xfrm>
            <a:off x="4055400" y="5510520"/>
            <a:ext cx="2232000" cy="791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scene3d>
            <a:camera prst="orthographicFront"/>
            <a:lightRig dir="t" rig="threePt"/>
          </a:scene3d>
          <a:sp3d>
            <a:bevelT prst="coolSlant" w="1651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lt1"/>
                </a:solidFill>
                <a:latin typeface="Calibri"/>
              </a:rPr>
              <a:t>Answer: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lt1"/>
                </a:solidFill>
                <a:latin typeface="Calibri"/>
              </a:rPr>
              <a:t>y = sin(x + 90)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36" name="Group 64"/>
          <p:cNvGrpSpPr/>
          <p:nvPr/>
        </p:nvGrpSpPr>
        <p:grpSpPr>
          <a:xfrm>
            <a:off x="2037240" y="2867760"/>
            <a:ext cx="3529440" cy="2159640"/>
            <a:chOff x="2037240" y="2867760"/>
            <a:chExt cx="3529440" cy="2159640"/>
          </a:xfrm>
        </p:grpSpPr>
        <p:sp>
          <p:nvSpPr>
            <p:cNvPr id="937" name="Freeform 65"/>
            <p:cNvSpPr/>
            <p:nvPr/>
          </p:nvSpPr>
          <p:spPr>
            <a:xfrm>
              <a:off x="3806640" y="288540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ed7d3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38" name="Freeform 66"/>
            <p:cNvSpPr/>
            <p:nvPr/>
          </p:nvSpPr>
          <p:spPr>
            <a:xfrm>
              <a:off x="2037240" y="286776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ed7d3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cxnSp>
        <p:nvCxnSpPr>
          <p:cNvPr id="939" name="Straight Arrow Connector 67"/>
          <p:cNvCxnSpPr/>
          <p:nvPr/>
        </p:nvCxnSpPr>
        <p:spPr>
          <a:xfrm>
            <a:off x="6247800" y="3993480"/>
            <a:ext cx="3888720" cy="36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cxnSp>
        <p:nvCxnSpPr>
          <p:cNvPr id="940" name="Straight Arrow Connector 68"/>
          <p:cNvCxnSpPr/>
          <p:nvPr/>
        </p:nvCxnSpPr>
        <p:spPr>
          <a:xfrm flipV="1">
            <a:off x="8192160" y="1689120"/>
            <a:ext cx="360" cy="424872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sp>
        <p:nvSpPr>
          <p:cNvPr id="941" name="TextBox 69"/>
          <p:cNvSpPr/>
          <p:nvPr/>
        </p:nvSpPr>
        <p:spPr>
          <a:xfrm>
            <a:off x="10064520" y="384948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TextBox 70"/>
          <p:cNvSpPr/>
          <p:nvPr/>
        </p:nvSpPr>
        <p:spPr>
          <a:xfrm>
            <a:off x="8048160" y="140148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TextBox 71"/>
          <p:cNvSpPr/>
          <p:nvPr/>
        </p:nvSpPr>
        <p:spPr>
          <a:xfrm rot="2253600">
            <a:off x="8473680" y="2654280"/>
            <a:ext cx="1163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accent1"/>
                </a:solidFill>
                <a:latin typeface="Calibri"/>
              </a:rPr>
              <a:t>y = sin(x)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44" name="Group 72"/>
          <p:cNvGrpSpPr/>
          <p:nvPr/>
        </p:nvGrpSpPr>
        <p:grpSpPr>
          <a:xfrm>
            <a:off x="6429960" y="2867760"/>
            <a:ext cx="3529440" cy="2159640"/>
            <a:chOff x="6429960" y="2867760"/>
            <a:chExt cx="3529440" cy="2159640"/>
          </a:xfrm>
        </p:grpSpPr>
        <p:sp>
          <p:nvSpPr>
            <p:cNvPr id="945" name="Freeform 73"/>
            <p:cNvSpPr/>
            <p:nvPr/>
          </p:nvSpPr>
          <p:spPr>
            <a:xfrm>
              <a:off x="8199360" y="288540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4472c4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46" name="Freeform 74"/>
            <p:cNvSpPr/>
            <p:nvPr/>
          </p:nvSpPr>
          <p:spPr>
            <a:xfrm>
              <a:off x="6429960" y="286776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4472c4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47" name="TextBox 75"/>
          <p:cNvSpPr/>
          <p:nvPr/>
        </p:nvSpPr>
        <p:spPr>
          <a:xfrm>
            <a:off x="7847280" y="280332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TextBox 76"/>
          <p:cNvSpPr/>
          <p:nvPr/>
        </p:nvSpPr>
        <p:spPr>
          <a:xfrm>
            <a:off x="7832160" y="161748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TextBox 77"/>
          <p:cNvSpPr/>
          <p:nvPr/>
        </p:nvSpPr>
        <p:spPr>
          <a:xfrm>
            <a:off x="7832160" y="478584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-1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TextBox 78"/>
          <p:cNvSpPr/>
          <p:nvPr/>
        </p:nvSpPr>
        <p:spPr>
          <a:xfrm>
            <a:off x="7832160" y="5721840"/>
            <a:ext cx="50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-2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TextBox 79"/>
          <p:cNvSpPr/>
          <p:nvPr/>
        </p:nvSpPr>
        <p:spPr>
          <a:xfrm>
            <a:off x="6248160" y="3993480"/>
            <a:ext cx="4104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-360   -270   -180   -90                 90      180    270    360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Rectangle 80"/>
          <p:cNvSpPr/>
          <p:nvPr/>
        </p:nvSpPr>
        <p:spPr>
          <a:xfrm>
            <a:off x="8641800" y="5444280"/>
            <a:ext cx="2232000" cy="791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scene3d>
            <a:camera prst="orthographicFront"/>
            <a:lightRig dir="t" rig="threePt"/>
          </a:scene3d>
          <a:sp3d>
            <a:bevelT prst="coolSlant" w="1651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lt1"/>
                </a:solidFill>
                <a:latin typeface="Calibri"/>
              </a:rPr>
              <a:t>Answer: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lt1"/>
                </a:solidFill>
                <a:latin typeface="Calibri"/>
              </a:rPr>
              <a:t>y = 2sin(x)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53" name="Group 81"/>
          <p:cNvGrpSpPr/>
          <p:nvPr/>
        </p:nvGrpSpPr>
        <p:grpSpPr>
          <a:xfrm>
            <a:off x="6429600" y="2867760"/>
            <a:ext cx="3529440" cy="2159640"/>
            <a:chOff x="6429600" y="2867760"/>
            <a:chExt cx="3529440" cy="2159640"/>
          </a:xfrm>
        </p:grpSpPr>
        <p:sp>
          <p:nvSpPr>
            <p:cNvPr id="954" name="Freeform 82"/>
            <p:cNvSpPr/>
            <p:nvPr/>
          </p:nvSpPr>
          <p:spPr>
            <a:xfrm>
              <a:off x="8199000" y="288540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ed7d3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55" name="Freeform 83"/>
            <p:cNvSpPr/>
            <p:nvPr/>
          </p:nvSpPr>
          <p:spPr>
            <a:xfrm>
              <a:off x="6429600" y="286776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ed7d3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56" name="TextBox 84"/>
          <p:cNvSpPr/>
          <p:nvPr/>
        </p:nvSpPr>
        <p:spPr>
          <a:xfrm>
            <a:off x="9889200" y="461520"/>
            <a:ext cx="1728000" cy="137052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400" spc="-1" strike="noStrike">
                <a:solidFill>
                  <a:schemeClr val="lt1"/>
                </a:solidFill>
                <a:latin typeface="Calibri"/>
              </a:rPr>
              <a:t>Tip</a:t>
            </a:r>
            <a:r>
              <a:rPr b="0" lang="en-GB" sz="1400" spc="-1" strike="noStrike">
                <a:solidFill>
                  <a:schemeClr val="lt1"/>
                </a:solidFill>
                <a:latin typeface="Calibri"/>
              </a:rPr>
              <a:t>: The function here is the sin. So consider whether the change happens inside or outside the sin.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TextBox 85"/>
          <p:cNvSpPr/>
          <p:nvPr/>
        </p:nvSpPr>
        <p:spPr>
          <a:xfrm rot="928800">
            <a:off x="1731960" y="2547720"/>
            <a:ext cx="162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accent2"/>
                </a:solidFill>
                <a:latin typeface="Calibri"/>
              </a:rPr>
              <a:t>y = sin(x + 90)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TextBox 86"/>
          <p:cNvSpPr/>
          <p:nvPr/>
        </p:nvSpPr>
        <p:spPr>
          <a:xfrm rot="928800">
            <a:off x="6497280" y="2305440"/>
            <a:ext cx="162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accent2"/>
                </a:solidFill>
                <a:latin typeface="Calibri"/>
              </a:rPr>
              <a:t>y = 2sin(x)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Rounded Rectangle 87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e0ac2b"/>
                </a:solidFill>
                <a:latin typeface="Cambria"/>
              </a:rPr>
              <a:t>Outside sin/cos → amplitude &amp; vertical shift, as written.  Inside → period &amp; horizontal shift, opposite sign.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9" dur="indefinite" restart="never" nodeType="tmRoot">
          <p:childTnLst>
            <p:seq>
              <p:cTn id="370" restart="whenNotActive" nodeType="interactiveSeq" fill="hold">
                <p:stCondLst>
                  <p:cond delay="0" evt="onClick">
                    <p:tgtEl>
                      <p:spTgt spid="952"/>
                    </p:tgtEl>
                  </p:cond>
                </p:stCondLst>
                <p:childTnLst>
                  <p:par>
                    <p:cTn id="371" fill="hold">
                      <p:stCondLst>
                        <p:cond delay="0" evt="onClick">
                          <p:tgtEl>
                            <p:spTgt spid="952"/>
                          </p:tgtEl>
                        </p:cond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75" dur="5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500"/>
                            </p:stCondLst>
                            <p:childTnLst>
                              <p:par>
                                <p:cTn id="377" nodeType="afterEffect" fill="hold" presetClass="emph" presetID="6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8" dur="2000" fill="hold"/>
                                        <p:tgtEl>
                                          <p:spTgt spid="953"/>
                                        </p:tgtEl>
                                      </p:cBhvr>
                                      <p:by x="1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2500"/>
                            </p:stCondLst>
                            <p:childTnLst>
                              <p:par>
                                <p:cTn id="380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82" dur="5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383" restart="whenNotActive" nodeType="interactiveSeq" fill="hold">
                <p:stCondLst>
                  <p:cond delay="0" evt="onClick">
                    <p:tgtEl>
                      <p:spTgt spid="935"/>
                    </p:tgtEl>
                  </p:cond>
                </p:stCondLst>
                <p:childTnLst>
                  <p:par>
                    <p:cTn id="384" fill="hold">
                      <p:stCondLst>
                        <p:cond delay="0" evt="onClick">
                          <p:tgtEl>
                            <p:spTgt spid="935"/>
                          </p:tgtEl>
                        </p:cond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88"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9" fill="hold">
                            <p:stCondLst>
                              <p:cond delay="500"/>
                            </p:stCondLst>
                            <p:childTnLst>
                              <p:par>
                                <p:cTn id="390" nodeType="after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38889E-006 7.03704E-006 L -0.03942 7.03704E-006 E">
                                      <p:cBhvr>
                                        <p:cTn id="391" dur="2000" fill="hold"/>
                                        <p:tgtEl>
                                          <p:spTgt spid="9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2500"/>
                            </p:stCondLst>
                            <p:childTnLst>
                              <p:par>
                                <p:cTn id="393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95" dur="5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TRIG GRAPHS · WORKED EXAMPLE 2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Sketching y = sin(2x) and y = 1.5 sin(x/2)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41"/>
          <p:cNvSpPr/>
          <p:nvPr/>
        </p:nvSpPr>
        <p:spPr>
          <a:xfrm>
            <a:off x="567000" y="1582560"/>
            <a:ext cx="5440320" cy="5055120"/>
          </a:xfrm>
          <a:prstGeom prst="roundRect">
            <a:avLst>
              <a:gd name="adj" fmla="val 181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0" name="Shape 51"/>
          <p:cNvSpPr/>
          <p:nvPr/>
        </p:nvSpPr>
        <p:spPr>
          <a:xfrm>
            <a:off x="6190560" y="1582560"/>
            <a:ext cx="5440320" cy="5055120"/>
          </a:xfrm>
          <a:prstGeom prst="roundRect">
            <a:avLst>
              <a:gd name="adj" fmla="val 181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1001" name="Straight Arrow Connector 87"/>
          <p:cNvCxnSpPr/>
          <p:nvPr/>
        </p:nvCxnSpPr>
        <p:spPr>
          <a:xfrm>
            <a:off x="6353280" y="4355640"/>
            <a:ext cx="3888720" cy="36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cxnSp>
        <p:nvCxnSpPr>
          <p:cNvPr id="1002" name="Straight Arrow Connector 88"/>
          <p:cNvCxnSpPr/>
          <p:nvPr/>
        </p:nvCxnSpPr>
        <p:spPr>
          <a:xfrm flipV="1">
            <a:off x="8297280" y="2051280"/>
            <a:ext cx="360" cy="424908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sp>
        <p:nvSpPr>
          <p:cNvPr id="1003" name="TextBox 89"/>
          <p:cNvSpPr/>
          <p:nvPr/>
        </p:nvSpPr>
        <p:spPr>
          <a:xfrm>
            <a:off x="10169640" y="421164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TextBox 90"/>
          <p:cNvSpPr/>
          <p:nvPr/>
        </p:nvSpPr>
        <p:spPr>
          <a:xfrm>
            <a:off x="8153640" y="176364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TextBox 91"/>
          <p:cNvSpPr/>
          <p:nvPr/>
        </p:nvSpPr>
        <p:spPr>
          <a:xfrm rot="2253600">
            <a:off x="8578800" y="3016440"/>
            <a:ext cx="1163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accent1"/>
                </a:solidFill>
                <a:latin typeface="Calibri"/>
              </a:rPr>
              <a:t>y = sin(x)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06" name="Group 32"/>
          <p:cNvGrpSpPr/>
          <p:nvPr/>
        </p:nvGrpSpPr>
        <p:grpSpPr>
          <a:xfrm>
            <a:off x="6535440" y="3229920"/>
            <a:ext cx="3529440" cy="2159640"/>
            <a:chOff x="6535440" y="3229920"/>
            <a:chExt cx="3529440" cy="2159640"/>
          </a:xfrm>
        </p:grpSpPr>
        <p:sp>
          <p:nvSpPr>
            <p:cNvPr id="1007" name="Freeform 93"/>
            <p:cNvSpPr/>
            <p:nvPr/>
          </p:nvSpPr>
          <p:spPr>
            <a:xfrm>
              <a:off x="8304840" y="324756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4472c4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08" name="Freeform 94"/>
            <p:cNvSpPr/>
            <p:nvPr/>
          </p:nvSpPr>
          <p:spPr>
            <a:xfrm>
              <a:off x="6535440" y="322992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4472c4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09" name="TextBox 95"/>
          <p:cNvSpPr/>
          <p:nvPr/>
        </p:nvSpPr>
        <p:spPr>
          <a:xfrm>
            <a:off x="7952760" y="316548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TextBox 96"/>
          <p:cNvSpPr/>
          <p:nvPr/>
        </p:nvSpPr>
        <p:spPr>
          <a:xfrm>
            <a:off x="7937640" y="197964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TextBox 97"/>
          <p:cNvSpPr/>
          <p:nvPr/>
        </p:nvSpPr>
        <p:spPr>
          <a:xfrm>
            <a:off x="7937640" y="514800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-1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TextBox 98"/>
          <p:cNvSpPr/>
          <p:nvPr/>
        </p:nvSpPr>
        <p:spPr>
          <a:xfrm>
            <a:off x="7937640" y="6084000"/>
            <a:ext cx="50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-2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TextBox 99"/>
          <p:cNvSpPr/>
          <p:nvPr/>
        </p:nvSpPr>
        <p:spPr>
          <a:xfrm>
            <a:off x="6353280" y="4355640"/>
            <a:ext cx="4104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-360   -270   -180   -90                 90      180    270    360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14" name="Group 41"/>
          <p:cNvGrpSpPr/>
          <p:nvPr/>
        </p:nvGrpSpPr>
        <p:grpSpPr>
          <a:xfrm>
            <a:off x="6535080" y="3229920"/>
            <a:ext cx="3529440" cy="2159640"/>
            <a:chOff x="6535080" y="3229920"/>
            <a:chExt cx="3529440" cy="2159640"/>
          </a:xfrm>
        </p:grpSpPr>
        <p:sp>
          <p:nvSpPr>
            <p:cNvPr id="1015" name="Freeform 101"/>
            <p:cNvSpPr/>
            <p:nvPr/>
          </p:nvSpPr>
          <p:spPr>
            <a:xfrm>
              <a:off x="8304480" y="324756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ed7d3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16" name="Freeform 102"/>
            <p:cNvSpPr/>
            <p:nvPr/>
          </p:nvSpPr>
          <p:spPr>
            <a:xfrm>
              <a:off x="6535080" y="322992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ed7d3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17" name="TextBox 103"/>
          <p:cNvSpPr/>
          <p:nvPr/>
        </p:nvSpPr>
        <p:spPr>
          <a:xfrm rot="928800">
            <a:off x="6301800" y="2765880"/>
            <a:ext cx="162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accent2"/>
                </a:solidFill>
                <a:latin typeface="Calibri"/>
              </a:rPr>
              <a:t>y = 1.5sin(x/2)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Rectangle 104"/>
          <p:cNvSpPr/>
          <p:nvPr/>
        </p:nvSpPr>
        <p:spPr>
          <a:xfrm>
            <a:off x="1565280" y="1691640"/>
            <a:ext cx="4643640" cy="46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9" name="TextBox 105"/>
          <p:cNvSpPr/>
          <p:nvPr/>
        </p:nvSpPr>
        <p:spPr>
          <a:xfrm>
            <a:off x="3560400" y="316548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TextBox 106"/>
          <p:cNvSpPr/>
          <p:nvPr/>
        </p:nvSpPr>
        <p:spPr>
          <a:xfrm>
            <a:off x="3544920" y="205164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TextBox 107"/>
          <p:cNvSpPr/>
          <p:nvPr/>
        </p:nvSpPr>
        <p:spPr>
          <a:xfrm>
            <a:off x="3544920" y="5148000"/>
            <a:ext cx="43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-1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TextBox 108"/>
          <p:cNvSpPr/>
          <p:nvPr/>
        </p:nvSpPr>
        <p:spPr>
          <a:xfrm>
            <a:off x="3544920" y="6084000"/>
            <a:ext cx="50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-2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TextBox 109"/>
          <p:cNvSpPr/>
          <p:nvPr/>
        </p:nvSpPr>
        <p:spPr>
          <a:xfrm>
            <a:off x="1960920" y="4355640"/>
            <a:ext cx="4104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-360   -270   -180   -90                 90      180    270    360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TextBox 110"/>
          <p:cNvSpPr/>
          <p:nvPr/>
        </p:nvSpPr>
        <p:spPr>
          <a:xfrm>
            <a:off x="628560" y="1134000"/>
            <a:ext cx="756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Below is a sketch of y = sin(x). Hence sketch the following.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Rectangle 111"/>
          <p:cNvSpPr/>
          <p:nvPr/>
        </p:nvSpPr>
        <p:spPr>
          <a:xfrm>
            <a:off x="3863520" y="5688000"/>
            <a:ext cx="2232000" cy="791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scene3d>
            <a:camera prst="orthographicFront"/>
            <a:lightRig dir="t" rig="threePt"/>
          </a:scene3d>
          <a:sp3d>
            <a:bevelT prst="coolSlant" w="1651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lt1"/>
                </a:solidFill>
                <a:latin typeface="Calibri"/>
              </a:rPr>
              <a:t>Answer: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lt1"/>
                </a:solidFill>
                <a:latin typeface="Calibri"/>
              </a:rPr>
              <a:t>y = sin(2x)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26" name="Group 24"/>
          <p:cNvGrpSpPr/>
          <p:nvPr/>
        </p:nvGrpSpPr>
        <p:grpSpPr>
          <a:xfrm>
            <a:off x="2142720" y="3229920"/>
            <a:ext cx="3529080" cy="2159640"/>
            <a:chOff x="2142720" y="3229920"/>
            <a:chExt cx="3529080" cy="2159640"/>
          </a:xfrm>
        </p:grpSpPr>
        <p:sp>
          <p:nvSpPr>
            <p:cNvPr id="1027" name="Freeform 113"/>
            <p:cNvSpPr/>
            <p:nvPr/>
          </p:nvSpPr>
          <p:spPr>
            <a:xfrm>
              <a:off x="3911760" y="324756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ed7d3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28" name="Freeform 114"/>
            <p:cNvSpPr/>
            <p:nvPr/>
          </p:nvSpPr>
          <p:spPr>
            <a:xfrm>
              <a:off x="2142720" y="322992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ed7d3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29" name="Rectangle 115"/>
          <p:cNvSpPr/>
          <p:nvPr/>
        </p:nvSpPr>
        <p:spPr>
          <a:xfrm>
            <a:off x="9053640" y="5580000"/>
            <a:ext cx="2232000" cy="7916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scene3d>
            <a:camera prst="orthographicFront"/>
            <a:lightRig dir="t" rig="threePt"/>
          </a:scene3d>
          <a:sp3d>
            <a:bevelT prst="coolSlant" w="1651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lt1"/>
                </a:solidFill>
                <a:latin typeface="Calibri"/>
              </a:rPr>
              <a:t>Answer: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lt1"/>
                </a:solidFill>
                <a:latin typeface="Calibri"/>
              </a:rPr>
              <a:t>y = 1.5sin(x/2)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0" name="TextBox 116"/>
          <p:cNvSpPr/>
          <p:nvPr/>
        </p:nvSpPr>
        <p:spPr>
          <a:xfrm rot="928800">
            <a:off x="1837440" y="2909880"/>
            <a:ext cx="162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accent2"/>
                </a:solidFill>
                <a:latin typeface="Calibri"/>
              </a:rPr>
              <a:t>y = sin(2x)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31" name="Group 24"/>
          <p:cNvGrpSpPr/>
          <p:nvPr/>
        </p:nvGrpSpPr>
        <p:grpSpPr>
          <a:xfrm>
            <a:off x="4831200" y="3249360"/>
            <a:ext cx="791280" cy="2159640"/>
            <a:chOff x="4831200" y="3249360"/>
            <a:chExt cx="791280" cy="2159640"/>
          </a:xfrm>
        </p:grpSpPr>
        <p:sp>
          <p:nvSpPr>
            <p:cNvPr id="1032" name="Freeform 118"/>
            <p:cNvSpPr/>
            <p:nvPr/>
          </p:nvSpPr>
          <p:spPr>
            <a:xfrm>
              <a:off x="5227920" y="3267000"/>
              <a:ext cx="394560" cy="2142000"/>
            </a:xfrm>
            <a:custGeom>
              <a:avLst/>
              <a:gdLst>
                <a:gd name="textAreaLeft" fmla="*/ 0 w 394560"/>
                <a:gd name="textAreaRight" fmla="*/ 394920 w 39456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ed7d3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33" name="Freeform 119"/>
            <p:cNvSpPr/>
            <p:nvPr/>
          </p:nvSpPr>
          <p:spPr>
            <a:xfrm>
              <a:off x="4831200" y="3249360"/>
              <a:ext cx="394560" cy="2142000"/>
            </a:xfrm>
            <a:custGeom>
              <a:avLst/>
              <a:gdLst>
                <a:gd name="textAreaLeft" fmla="*/ 0 w 394560"/>
                <a:gd name="textAreaRight" fmla="*/ 394920 w 39456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ed7d3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1034" name="Group 24"/>
          <p:cNvGrpSpPr/>
          <p:nvPr/>
        </p:nvGrpSpPr>
        <p:grpSpPr>
          <a:xfrm>
            <a:off x="2176920" y="3229920"/>
            <a:ext cx="858600" cy="2159640"/>
            <a:chOff x="2176920" y="3229920"/>
            <a:chExt cx="858600" cy="2159640"/>
          </a:xfrm>
        </p:grpSpPr>
        <p:sp>
          <p:nvSpPr>
            <p:cNvPr id="1035" name="Freeform 121"/>
            <p:cNvSpPr/>
            <p:nvPr/>
          </p:nvSpPr>
          <p:spPr>
            <a:xfrm>
              <a:off x="2607480" y="3247560"/>
              <a:ext cx="428040" cy="2142000"/>
            </a:xfrm>
            <a:custGeom>
              <a:avLst/>
              <a:gdLst>
                <a:gd name="textAreaLeft" fmla="*/ 0 w 428040"/>
                <a:gd name="textAreaRight" fmla="*/ 428400 w 428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ed7d3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36" name="Freeform 122"/>
            <p:cNvSpPr/>
            <p:nvPr/>
          </p:nvSpPr>
          <p:spPr>
            <a:xfrm>
              <a:off x="2176920" y="3229920"/>
              <a:ext cx="428040" cy="2142000"/>
            </a:xfrm>
            <a:custGeom>
              <a:avLst/>
              <a:gdLst>
                <a:gd name="textAreaLeft" fmla="*/ 0 w 428040"/>
                <a:gd name="textAreaRight" fmla="*/ 428400 w 428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ed7d3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cxnSp>
        <p:nvCxnSpPr>
          <p:cNvPr id="1037" name="Straight Arrow Connector 123"/>
          <p:cNvCxnSpPr/>
          <p:nvPr/>
        </p:nvCxnSpPr>
        <p:spPr>
          <a:xfrm>
            <a:off x="1960560" y="4355640"/>
            <a:ext cx="3889080" cy="36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cxnSp>
        <p:nvCxnSpPr>
          <p:cNvPr id="1038" name="Straight Arrow Connector 124"/>
          <p:cNvCxnSpPr/>
          <p:nvPr/>
        </p:nvCxnSpPr>
        <p:spPr>
          <a:xfrm flipV="1">
            <a:off x="3904920" y="2051280"/>
            <a:ext cx="360" cy="4249080"/>
          </a:xfrm>
          <a:prstGeom prst="straightConnector1">
            <a:avLst/>
          </a:prstGeom>
          <a:ln>
            <a:solidFill>
              <a:srgbClr val="000000"/>
            </a:solidFill>
            <a:tailEnd len="med" type="arrow" w="med"/>
          </a:ln>
        </p:spPr>
      </p:cxnSp>
      <p:sp>
        <p:nvSpPr>
          <p:cNvPr id="1039" name="TextBox 125"/>
          <p:cNvSpPr/>
          <p:nvPr/>
        </p:nvSpPr>
        <p:spPr>
          <a:xfrm>
            <a:off x="5777280" y="421164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TextBox 126"/>
          <p:cNvSpPr/>
          <p:nvPr/>
        </p:nvSpPr>
        <p:spPr>
          <a:xfrm>
            <a:off x="3760920" y="1763640"/>
            <a:ext cx="35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TextBox 127"/>
          <p:cNvSpPr/>
          <p:nvPr/>
        </p:nvSpPr>
        <p:spPr>
          <a:xfrm rot="490200">
            <a:off x="3997440" y="2924280"/>
            <a:ext cx="1163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pc="-1" strike="noStrike">
                <a:solidFill>
                  <a:schemeClr val="accent1"/>
                </a:solidFill>
                <a:latin typeface="Calibri"/>
              </a:rPr>
              <a:t>y = sin(x)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42" name="Group 15"/>
          <p:cNvGrpSpPr/>
          <p:nvPr/>
        </p:nvGrpSpPr>
        <p:grpSpPr>
          <a:xfrm>
            <a:off x="2143080" y="3229920"/>
            <a:ext cx="3529080" cy="2159640"/>
            <a:chOff x="2143080" y="3229920"/>
            <a:chExt cx="3529080" cy="2159640"/>
          </a:xfrm>
        </p:grpSpPr>
        <p:sp>
          <p:nvSpPr>
            <p:cNvPr id="1043" name="Freeform 129"/>
            <p:cNvSpPr/>
            <p:nvPr/>
          </p:nvSpPr>
          <p:spPr>
            <a:xfrm>
              <a:off x="3912120" y="324756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4472c4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44" name="Freeform 130"/>
            <p:cNvSpPr/>
            <p:nvPr/>
          </p:nvSpPr>
          <p:spPr>
            <a:xfrm>
              <a:off x="2143080" y="3229920"/>
              <a:ext cx="1760040" cy="2142000"/>
            </a:xfrm>
            <a:custGeom>
              <a:avLst/>
              <a:gdLst>
                <a:gd name="textAreaLeft" fmla="*/ 0 w 1760040"/>
                <a:gd name="textAreaRight" fmla="*/ 1760400 w 1760040"/>
                <a:gd name="textAreaTop" fmla="*/ 0 h 2142000"/>
                <a:gd name="textAreaBottom" fmla="*/ 2142360 h 2142000"/>
              </a:gdLst>
              <a:ahLst/>
              <a:rect l="textAreaLeft" t="textAreaTop" r="textAreaRight" b="textAreaBottom"/>
              <a:pathLst>
                <a:path w="1760220" h="2142490">
                  <a:moveTo>
                    <a:pt x="0" y="1106170"/>
                  </a:moveTo>
                  <a:cubicBezTo>
                    <a:pt x="53975" y="901065"/>
                    <a:pt x="107950" y="695960"/>
                    <a:pt x="152400" y="549910"/>
                  </a:cubicBezTo>
                  <a:cubicBezTo>
                    <a:pt x="196850" y="403860"/>
                    <a:pt x="229870" y="309880"/>
                    <a:pt x="266700" y="229870"/>
                  </a:cubicBezTo>
                  <a:cubicBezTo>
                    <a:pt x="303530" y="149860"/>
                    <a:pt x="331470" y="107950"/>
                    <a:pt x="373380" y="69850"/>
                  </a:cubicBezTo>
                  <a:cubicBezTo>
                    <a:pt x="415290" y="31750"/>
                    <a:pt x="468630" y="2540"/>
                    <a:pt x="518160" y="1270"/>
                  </a:cubicBezTo>
                  <a:cubicBezTo>
                    <a:pt x="567690" y="0"/>
                    <a:pt x="619760" y="1270"/>
                    <a:pt x="670560" y="62230"/>
                  </a:cubicBezTo>
                  <a:cubicBezTo>
                    <a:pt x="721360" y="123190"/>
                    <a:pt x="786130" y="246380"/>
                    <a:pt x="822960" y="367030"/>
                  </a:cubicBezTo>
                  <a:cubicBezTo>
                    <a:pt x="859790" y="487680"/>
                    <a:pt x="875030" y="640080"/>
                    <a:pt x="891540" y="786130"/>
                  </a:cubicBezTo>
                  <a:cubicBezTo>
                    <a:pt x="908050" y="932180"/>
                    <a:pt x="911860" y="1099820"/>
                    <a:pt x="922020" y="1243330"/>
                  </a:cubicBezTo>
                  <a:cubicBezTo>
                    <a:pt x="932180" y="1386840"/>
                    <a:pt x="929640" y="1520190"/>
                    <a:pt x="952500" y="1647190"/>
                  </a:cubicBezTo>
                  <a:cubicBezTo>
                    <a:pt x="975360" y="1774190"/>
                    <a:pt x="1004570" y="1925320"/>
                    <a:pt x="1059180" y="2005330"/>
                  </a:cubicBezTo>
                  <a:cubicBezTo>
                    <a:pt x="1113790" y="2085340"/>
                    <a:pt x="1210310" y="2112010"/>
                    <a:pt x="1280160" y="2127250"/>
                  </a:cubicBezTo>
                  <a:cubicBezTo>
                    <a:pt x="1350010" y="2142490"/>
                    <a:pt x="1423670" y="2138680"/>
                    <a:pt x="1478280" y="2096770"/>
                  </a:cubicBezTo>
                  <a:cubicBezTo>
                    <a:pt x="1532890" y="2054860"/>
                    <a:pt x="1574800" y="1963420"/>
                    <a:pt x="1607820" y="1875790"/>
                  </a:cubicBezTo>
                  <a:cubicBezTo>
                    <a:pt x="1640840" y="1788160"/>
                    <a:pt x="1651000" y="1700530"/>
                    <a:pt x="1676400" y="1570990"/>
                  </a:cubicBezTo>
                  <a:cubicBezTo>
                    <a:pt x="1701800" y="1441450"/>
                    <a:pt x="1731010" y="1270000"/>
                    <a:pt x="1760220" y="1098550"/>
                  </a:cubicBezTo>
                </a:path>
              </a:pathLst>
            </a:custGeom>
            <a:noFill/>
            <a:ln>
              <a:solidFill>
                <a:srgbClr val="4472c4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1045" name="Rounded Rectangle 131"/>
          <p:cNvSpPr/>
          <p:nvPr/>
        </p:nvSpPr>
        <p:spPr>
          <a:xfrm>
            <a:off x="567000" y="5532120"/>
            <a:ext cx="11057400" cy="822600"/>
          </a:xfrm>
          <a:prstGeom prst="roundRect">
            <a:avLst>
              <a:gd name="adj" fmla="val 6669"/>
            </a:avLst>
          </a:prstGeom>
          <a:solidFill>
            <a:srgbClr val="162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500" spc="-1" strike="noStrike">
                <a:solidFill>
                  <a:srgbClr val="e0ac2b"/>
                </a:solidFill>
                <a:latin typeface="Cambria"/>
              </a:rPr>
              <a:t>Inside the bracket, coefficients squeeze or stretch the period — always the reciprocal effect.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6" dur="indefinite" restart="never" nodeType="tmRoot">
          <p:childTnLst>
            <p:seq>
              <p:cTn id="397" restart="whenNotActive" nodeType="interactiveSeq" fill="hold">
                <p:stCondLst>
                  <p:cond delay="0" evt="onClick">
                    <p:tgtEl>
                      <p:spTgt spid="1029"/>
                    </p:tgtEl>
                  </p:cond>
                </p:stCondLst>
                <p:childTnLst>
                  <p:par>
                    <p:cTn id="398" fill="hold">
                      <p:stCondLst>
                        <p:cond delay="0" evt="onClick">
                          <p:tgtEl>
                            <p:spTgt spid="1029"/>
                          </p:tgtEl>
                        </p:cond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02"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>
                            <p:stCondLst>
                              <p:cond delay="500"/>
                            </p:stCondLst>
                            <p:childTnLst>
                              <p:par>
                                <p:cTn id="404" nodeType="afterEffect" fill="hold" presetClass="emph" presetID="6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5" dur="2000" fill="hold"/>
                                        <p:tgtEl>
                                          <p:spTgt spid="1014"/>
                                        </p:tgtEl>
                                      </p:cBhvr>
                                      <p:by x="2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2500"/>
                            </p:stCondLst>
                            <p:childTnLst>
                              <p:par>
                                <p:cTn id="407" nodeType="afterEffect" fill="hold" presetClass="emph" presetID="6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8" dur="2000" fill="hold"/>
                                        <p:tgtEl>
                                          <p:spTgt spid="1014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4500"/>
                            </p:stCondLst>
                            <p:childTnLst>
                              <p:par>
                                <p:cTn id="410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12"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413" restart="whenNotActive" nodeType="interactiveSeq" fill="hold">
                <p:stCondLst>
                  <p:cond delay="0" evt="onClick">
                    <p:tgtEl>
                      <p:spTgt spid="1025"/>
                    </p:tgtEl>
                  </p:cond>
                </p:stCondLst>
                <p:childTnLst>
                  <p:par>
                    <p:cTn id="414" fill="hold">
                      <p:stCondLst>
                        <p:cond delay="0" evt="onClick">
                          <p:tgtEl>
                            <p:spTgt spid="1025"/>
                          </p:tgtEl>
                        </p:cond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500"/>
                            </p:stCondLst>
                            <p:childTnLst>
                              <p:par>
                                <p:cTn id="420" nodeType="afterEffect" fill="hold" presetClass="emph" presetID="6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1" dur="2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5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2500"/>
                            </p:stCondLst>
                            <p:childTnLst>
                              <p:par>
                                <p:cTn id="423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2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28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nodeType="with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431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1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2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3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4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5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Decide inside/outside, then shift, stretch or reflect the key points.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6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7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8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Inside the bracket? → horizontal, opposite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9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0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1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Outside? → vertical, as written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2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3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4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Move the marked point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5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6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7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Reflections change a sign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Shape 39"/>
          <p:cNvSpPr/>
          <p:nvPr/>
        </p:nvSpPr>
        <p:spPr>
          <a:xfrm>
            <a:off x="2269080" y="1408320"/>
            <a:ext cx="765324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8" name="Image 0" descr="/tmp/work/tgq/q-19.png"/>
          <p:cNvPicPr/>
          <p:nvPr/>
        </p:nvPicPr>
        <p:blipFill>
          <a:blip r:embed="rId1"/>
          <a:stretch/>
        </p:blipFill>
        <p:spPr>
          <a:xfrm>
            <a:off x="2342160" y="1481400"/>
            <a:ext cx="750708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Shape 39"/>
          <p:cNvSpPr/>
          <p:nvPr/>
        </p:nvSpPr>
        <p:spPr>
          <a:xfrm>
            <a:off x="2716200" y="1408320"/>
            <a:ext cx="67593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9" name="Image 0" descr="/tmp/work/tgq/q-20.png"/>
          <p:cNvPicPr/>
          <p:nvPr/>
        </p:nvPicPr>
        <p:blipFill>
          <a:blip r:embed="rId1"/>
          <a:stretch/>
        </p:blipFill>
        <p:spPr>
          <a:xfrm>
            <a:off x="2789280" y="1481400"/>
            <a:ext cx="66128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Shape 39"/>
          <p:cNvSpPr/>
          <p:nvPr/>
        </p:nvSpPr>
        <p:spPr>
          <a:xfrm>
            <a:off x="1496520" y="1408320"/>
            <a:ext cx="9198360" cy="327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0" name="Image 0" descr="/tmp/work/tgq/q-21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3130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Shape 39"/>
          <p:cNvSpPr/>
          <p:nvPr/>
        </p:nvSpPr>
        <p:spPr>
          <a:xfrm>
            <a:off x="1496520" y="1408320"/>
            <a:ext cx="9198360" cy="307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1" name="Image 0" descr="/tmp/work/tgq/q-22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293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Shape 39"/>
          <p:cNvSpPr/>
          <p:nvPr/>
        </p:nvSpPr>
        <p:spPr>
          <a:xfrm>
            <a:off x="2310120" y="1408320"/>
            <a:ext cx="75711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2" name="Image 0" descr="/tmp/work/tgq/q-23.png"/>
          <p:cNvPicPr/>
          <p:nvPr/>
        </p:nvPicPr>
        <p:blipFill>
          <a:blip r:embed="rId1"/>
          <a:stretch/>
        </p:blipFill>
        <p:spPr>
          <a:xfrm>
            <a:off x="2383200" y="1481400"/>
            <a:ext cx="74246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Shape 39"/>
          <p:cNvSpPr/>
          <p:nvPr/>
        </p:nvSpPr>
        <p:spPr>
          <a:xfrm>
            <a:off x="2636640" y="1408320"/>
            <a:ext cx="69177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3" name="Image 0" descr="/tmp/work/tgq/q-24.png"/>
          <p:cNvPicPr/>
          <p:nvPr/>
        </p:nvPicPr>
        <p:blipFill>
          <a:blip r:embed="rId1"/>
          <a:stretch/>
        </p:blipFill>
        <p:spPr>
          <a:xfrm>
            <a:off x="2710080" y="1481400"/>
            <a:ext cx="67716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Shape 39"/>
          <p:cNvSpPr/>
          <p:nvPr/>
        </p:nvSpPr>
        <p:spPr>
          <a:xfrm>
            <a:off x="2563560" y="1408320"/>
            <a:ext cx="706392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4" name="Image 0" descr="/tmp/work/tgq/q-25.png"/>
          <p:cNvPicPr/>
          <p:nvPr/>
        </p:nvPicPr>
        <p:blipFill>
          <a:blip r:embed="rId1"/>
          <a:stretch/>
        </p:blipFill>
        <p:spPr>
          <a:xfrm>
            <a:off x="2637000" y="1481400"/>
            <a:ext cx="691776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Shape 39"/>
          <p:cNvSpPr/>
          <p:nvPr/>
        </p:nvSpPr>
        <p:spPr>
          <a:xfrm>
            <a:off x="2544120" y="1408320"/>
            <a:ext cx="71031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5" name="Image 0" descr="/tmp/work/tgq/q-26.png"/>
          <p:cNvPicPr/>
          <p:nvPr/>
        </p:nvPicPr>
        <p:blipFill>
          <a:blip r:embed="rId1"/>
          <a:stretch/>
        </p:blipFill>
        <p:spPr>
          <a:xfrm>
            <a:off x="2617200" y="1481400"/>
            <a:ext cx="69570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5" name="Shape 39"/>
          <p:cNvSpPr/>
          <p:nvPr/>
        </p:nvSpPr>
        <p:spPr>
          <a:xfrm>
            <a:off x="2427120" y="1408320"/>
            <a:ext cx="73371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6" name="Image 0" descr="/tmp/work/tgq/q-27.png"/>
          <p:cNvPicPr/>
          <p:nvPr/>
        </p:nvPicPr>
        <p:blipFill>
          <a:blip r:embed="rId1"/>
          <a:stretch/>
        </p:blipFill>
        <p:spPr>
          <a:xfrm>
            <a:off x="2500200" y="1481400"/>
            <a:ext cx="71906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6" name="Shape 39"/>
          <p:cNvSpPr/>
          <p:nvPr/>
        </p:nvSpPr>
        <p:spPr>
          <a:xfrm>
            <a:off x="2409120" y="1408320"/>
            <a:ext cx="73731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7" name="Image 0" descr="/tmp/work/tgq/q-28.png"/>
          <p:cNvPicPr/>
          <p:nvPr/>
        </p:nvPicPr>
        <p:blipFill>
          <a:blip r:embed="rId1"/>
          <a:stretch/>
        </p:blipFill>
        <p:spPr>
          <a:xfrm>
            <a:off x="2482200" y="1481400"/>
            <a:ext cx="72266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7" name="Shape 39"/>
          <p:cNvSpPr/>
          <p:nvPr/>
        </p:nvSpPr>
        <p:spPr>
          <a:xfrm>
            <a:off x="2732400" y="1408320"/>
            <a:ext cx="672660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8" name="Image 0" descr="/tmp/work/tgq/q-29.png"/>
          <p:cNvPicPr/>
          <p:nvPr/>
        </p:nvPicPr>
        <p:blipFill>
          <a:blip r:embed="rId1"/>
          <a:stretch/>
        </p:blipFill>
        <p:spPr>
          <a:xfrm>
            <a:off x="2805480" y="1481400"/>
            <a:ext cx="65804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8" name="Shape 39"/>
          <p:cNvSpPr/>
          <p:nvPr/>
        </p:nvSpPr>
        <p:spPr>
          <a:xfrm>
            <a:off x="2787480" y="1408320"/>
            <a:ext cx="661608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9" name="Image 0" descr="/tmp/work/tgq/q-30.png"/>
          <p:cNvPicPr/>
          <p:nvPr/>
        </p:nvPicPr>
        <p:blipFill>
          <a:blip r:embed="rId1"/>
          <a:stretch/>
        </p:blipFill>
        <p:spPr>
          <a:xfrm>
            <a:off x="2860560" y="1481400"/>
            <a:ext cx="646992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9" name="Shape 39"/>
          <p:cNvSpPr/>
          <p:nvPr/>
        </p:nvSpPr>
        <p:spPr>
          <a:xfrm>
            <a:off x="2909520" y="1408320"/>
            <a:ext cx="637200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0" name="Image 0" descr="/tmp/work/tgq/q-31.png"/>
          <p:cNvPicPr/>
          <p:nvPr/>
        </p:nvPicPr>
        <p:blipFill>
          <a:blip r:embed="rId1"/>
          <a:stretch/>
        </p:blipFill>
        <p:spPr>
          <a:xfrm>
            <a:off x="2982960" y="1481400"/>
            <a:ext cx="62258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0" name="Shape 39"/>
          <p:cNvSpPr/>
          <p:nvPr/>
        </p:nvSpPr>
        <p:spPr>
          <a:xfrm>
            <a:off x="2684160" y="1408320"/>
            <a:ext cx="682308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1" name="Image 0" descr="/tmp/work/tgq/q-32.png"/>
          <p:cNvPicPr/>
          <p:nvPr/>
        </p:nvPicPr>
        <p:blipFill>
          <a:blip r:embed="rId1"/>
          <a:stretch/>
        </p:blipFill>
        <p:spPr>
          <a:xfrm>
            <a:off x="2757240" y="1481400"/>
            <a:ext cx="667656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1" name="Shape 39"/>
          <p:cNvSpPr/>
          <p:nvPr/>
        </p:nvSpPr>
        <p:spPr>
          <a:xfrm>
            <a:off x="2928240" y="1408320"/>
            <a:ext cx="633528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2" name="Image 0" descr="/tmp/work/tgq/q-33.png"/>
          <p:cNvPicPr/>
          <p:nvPr/>
        </p:nvPicPr>
        <p:blipFill>
          <a:blip r:embed="rId1"/>
          <a:stretch/>
        </p:blipFill>
        <p:spPr>
          <a:xfrm>
            <a:off x="3001320" y="1481400"/>
            <a:ext cx="618876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8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9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0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1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2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3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Outside the bracket → vertical change, and it does what you expect.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4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5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Inside the bracket → horizontal change, and it does the OPPOSITE.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6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7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f(x)+a: up a;  f(x+a): LEFT a;  a f(x): stretch ×a;  f(ax): squash by 1/a.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8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9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−</a:t>
            </a: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f(x) reflects in the x-axis;  f(−x) reflects in the y-axis.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0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1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Move each key point (like the turning point) by the same rule.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2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3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inside the bracket is horizontal and opposite; outside is vertical and as-written.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Application>LibreOffice/24.2.7.2$Linux_X86_64 LibreOffice_project/420$Build-2</Application>
  <AppVersion>15.0000</AppVersion>
  <Words>2713</Words>
  <Paragraphs>535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2026-07-17T09:28:20Z</dcterms:created>
  <dc:creator>Zahra Sheikh Ali</dc:creator>
  <dc:description/>
  <dc:language>en-US</dc:language>
  <cp:lastModifiedBy>zahraa sheik ali</cp:lastModifiedBy>
  <dcterms:modified xsi:type="dcterms:W3CDTF">2026-08-01T09:21:59Z</dcterms:modified>
  <cp:revision>9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27</vt:r8>
  </property>
  <property fmtid="{D5CDD505-2E9C-101B-9397-08002B2CF9AE}" pid="3" name="PresentationFormat">
    <vt:lpwstr>Custom</vt:lpwstr>
  </property>
  <property fmtid="{D5CDD505-2E9C-101B-9397-08002B2CF9AE}" pid="4" name="Slides">
    <vt:r8>37</vt:r8>
  </property>
</Properties>
</file>