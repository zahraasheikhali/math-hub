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81" r:id="rId8"/>
    <p:sldId id="283" r:id="rId9"/>
    <p:sldId id="285" r:id="rId10"/>
    <p:sldId id="286" r:id="rId11"/>
    <p:sldId id="289" r:id="rId12"/>
    <p:sldId id="290" r:id="rId13"/>
    <p:sldId id="292" r:id="rId14"/>
    <p:sldId id="291" r:id="rId15"/>
    <p:sldId id="293" r:id="rId16"/>
    <p:sldId id="294" r:id="rId17"/>
    <p:sldId id="263" r:id="rId18"/>
    <p:sldId id="295" r:id="rId19"/>
    <p:sldId id="296" r:id="rId20"/>
    <p:sldId id="297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8177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6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78240" y="1737360"/>
            <a:ext cx="2377440" cy="0"/>
          </a:xfrm>
          <a:prstGeom prst="line">
            <a:avLst/>
          </a:prstGeom>
          <a:noFill/>
          <a:ln w="12700">
            <a:solidFill>
              <a:srgbClr val="5C6B6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66960" y="548640"/>
            <a:ext cx="0" cy="2377440"/>
          </a:xfrm>
          <a:prstGeom prst="line">
            <a:avLst/>
          </a:prstGeom>
          <a:noFill/>
          <a:ln w="12700">
            <a:solidFill>
              <a:srgbClr val="5C6B6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15984" y="1737360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02436" y="1582630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88889" y="1442636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275341" y="1317378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361793" y="1206857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448246" y="1111072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4698" y="1030022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21151" y="963710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07603" y="912133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794055" y="875292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880508" y="853188"/>
            <a:ext cx="86452" cy="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966960" y="845820"/>
            <a:ext cx="86452" cy="7368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053412" y="853188"/>
            <a:ext cx="86452" cy="22104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139865" y="875292"/>
            <a:ext cx="86452" cy="3684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26317" y="912133"/>
            <a:ext cx="86452" cy="51577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12769" y="963710"/>
            <a:ext cx="86452" cy="66313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399222" y="1030022"/>
            <a:ext cx="86452" cy="81049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485674" y="1111072"/>
            <a:ext cx="86452" cy="95785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572127" y="1206857"/>
            <a:ext cx="86452" cy="110521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658579" y="1317378"/>
            <a:ext cx="86452" cy="125258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745031" y="1442636"/>
            <a:ext cx="86452" cy="139994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831484" y="1582630"/>
            <a:ext cx="86452" cy="154730"/>
          </a:xfrm>
          <a:prstGeom prst="line">
            <a:avLst/>
          </a:prstGeom>
          <a:noFill/>
          <a:ln w="30480">
            <a:solidFill>
              <a:srgbClr val="33463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62" name="Text 60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63" name="Text 61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 of Graphs</a:t>
            </a:r>
            <a:endParaRPr lang="en-US" sz="3400" dirty="0"/>
          </a:p>
        </p:txBody>
      </p:sp>
      <p:sp>
        <p:nvSpPr>
          <p:cNvPr id="66" name="Text 64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f(x) + a · y = f(x + a) · y = a f(x) · y = f(ax) · Reflections · Trig Graphs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Shifting, Stretching &amp; Reflecting Curves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transformation moves or reshapes the whole graph of y = f(x).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secret is whether the change is INSIDE the bracket (affects x) or OUTSIDE it (affects y).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vs outside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Vertical: f(x)+a, a f(x)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Horizontal: f(x+a), f(ax)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on a point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· stretch · reflection · shift · f(x) · inside/outside the bracket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Bracket vs Outside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all you need to remember.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bracket → vertical, and it does what you expect. Inside → horizontal, and it does the OPPOSITE.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→ vertical (y)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Affects the y-values.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what you EXPECT: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f(x) + 3  →  up 3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f(x)  →  stretch taller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190488" y="228600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→ horizontal (x)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6537960" y="30175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Affects the x-values.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OPPOSITE: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f(x + 3)  →  LEFT 3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f(2x)  →  squash narrower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66928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41248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= vertical &amp; as expected.   Inside = horizontal &amp; opposite.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TRANSFORMATIONS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 the Bracket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the y-values — and behave exactly as written.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f(x) + a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023360" y="21031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UP by a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7589520" y="2103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 a) vector — down if a is negative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66928" y="3044952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14400" y="30449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f(x) − a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023360" y="30449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DOWN by a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7589520" y="304495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moves down a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66928" y="3986784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14400" y="398678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a f(x)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023360" y="3986784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STRETCH, factor a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589520" y="3986784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y-values × a  (x-axis stays fixed)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66928" y="4928616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14400" y="49286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−f(x)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4023360" y="492861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in the x-axis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7589520" y="4928616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y-value changes sign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bracket, everything happens the obvious way — up means up.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TRANSFORMATIONS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Bracket — the Opposite Way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the x-values — and do the OPPOSITE of what the sign suggests.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 + a)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02336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LEFT by a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77240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(−a, 0) — ‘+ inside’ moves left!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66928" y="3044952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14400" y="30449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f(x − a)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023360" y="304495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RIGHT by 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772400" y="304495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0) — ‘− inside’ moves right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66928" y="3986784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14400" y="398678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f(ax)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023360" y="398678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STRETCH, factor 1/a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772400" y="398678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x-values ÷ a  (y-axis fixed)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66928" y="4928616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14400" y="49286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f(−x)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4023360" y="492861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in the y-axis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7772400" y="492861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x-value changes sign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566928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trap: f(x + 2) shifts LEFT, not right. Inside the bracket is always opposite.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A POINT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One Point Through a Transformation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move a point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change → adjust the x-coordinate (opposite sign).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change → adjust the y-coordinate (as written).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x-axis → change sign of y.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y-axis → change sign of x.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minimum or maximum point moves the same way as any other point.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→ change x (opposite);  outside → change y (as written)</a:t>
            </a:r>
            <a:endParaRPr lang="en-US" sz="2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0" name="Table 5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6799465"/>
                  </p:ext>
                </p:extLst>
              </p:nvPr>
            </p:nvGraphicFramePr>
            <p:xfrm>
              <a:off x="826946" y="1554480"/>
              <a:ext cx="4876800" cy="3172397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219200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𝟒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,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𝟏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,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𝟎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𝟔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,−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𝟒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+1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3,3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0,0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5,−4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2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2,3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0.5, 0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3, −4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3</m:t>
                                </m:r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4,9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1,0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6,−12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GB" smtClean="0">
                                    <a:latin typeface="Cambria Math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4,2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1,−1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6,−5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GB" i="1" smtClean="0">
                                            <a:latin typeface="Cambria Math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GB" smtClean="0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num>
                                      <m:den>
                                        <m:r>
                                          <a:rPr lang="en-GB" smtClean="0">
                                            <a:latin typeface="Cambria Math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12,3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4,0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24,−4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−4,3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−1,0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−6,−4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mtClean="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GB" smtClean="0">
                                    <a:latin typeface="Cambria Math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4,−3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1,0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i="1" smtClean="0">
                                        <a:latin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mtClean="0">
                                        <a:latin typeface="Cambria Math"/>
                                      </a:rPr>
                                      <m:t>6,4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0" name="Table 59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6799465"/>
                  </p:ext>
                </p:extLst>
              </p:nvPr>
            </p:nvGraphicFramePr>
            <p:xfrm>
              <a:off x="826946" y="1554480"/>
              <a:ext cx="4876800" cy="3172397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219200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1219200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r="-300000" b="-7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r="-200000" b="-7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r="-100000" b="-7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b="-7655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100000" r="-300000" b="-6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100000" r="-200000" b="-6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100000" r="-100000" b="-6655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100000" b="-6655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203333" r="-300000" b="-57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203333" r="-200000" b="-57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203333" r="-100000" b="-57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203333" b="-57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298361" r="-300000" b="-4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298361" r="-200000" b="-4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298361" r="-100000" b="-4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298361" b="-4672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398361" r="-300000" b="-3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398361" r="-200000" b="-3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398361" r="-100000" b="-3672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398361" b="-3672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323404" r="-300000" b="-138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323404" r="-200000" b="-138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323404" r="-100000" b="-138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323404" b="-1382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652459" r="-300000" b="-1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652459" r="-200000" b="-1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652459" r="-100000" b="-1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652459" b="-113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500" t="-752459" r="-300000" b="-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100500" t="-752459" r="-200000" b="-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200500" t="-752459" r="-100000" b="-131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3"/>
                          <a:stretch>
                            <a:fillRect l="-300500" t="-752459" b="-13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1" name="Rectangle 60"/>
          <p:cNvSpPr/>
          <p:nvPr/>
        </p:nvSpPr>
        <p:spPr>
          <a:xfrm>
            <a:off x="2051081" y="1914520"/>
            <a:ext cx="1197843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48924" y="1914520"/>
            <a:ext cx="1228725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77649" y="1914520"/>
            <a:ext cx="1209675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51081" y="2300456"/>
            <a:ext cx="1197843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48924" y="2300456"/>
            <a:ext cx="1228725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77649" y="2300456"/>
            <a:ext cx="1209675" cy="38593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51081" y="2686392"/>
            <a:ext cx="1197843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48924" y="2686392"/>
            <a:ext cx="1228725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477649" y="2686392"/>
            <a:ext cx="1209675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1081" y="3050636"/>
            <a:ext cx="1197843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48924" y="3050636"/>
            <a:ext cx="1228725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77649" y="3050636"/>
            <a:ext cx="1209675" cy="36653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051081" y="3417175"/>
            <a:ext cx="1197843" cy="5215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48924" y="3417175"/>
            <a:ext cx="1228725" cy="5215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77649" y="3417175"/>
            <a:ext cx="1209675" cy="5215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051080" y="3938756"/>
            <a:ext cx="1197843" cy="42862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48923" y="3938756"/>
            <a:ext cx="1228725" cy="42862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77648" y="3938756"/>
            <a:ext cx="1209675" cy="428625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51080" y="4367382"/>
            <a:ext cx="1197843" cy="3619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48923" y="4367382"/>
            <a:ext cx="1228725" cy="3619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77648" y="4367382"/>
            <a:ext cx="1209675" cy="3619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3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4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9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3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4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8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7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9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>
                      <p:stCondLst>
                        <p:cond delay="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</p:childTnLst>
        </p:cTn>
      </p:par>
    </p:tnLst>
    <p:bldLst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E0AC2B"/>
                </a:solidFill>
                <a:latin typeface="Calibri"/>
              </a:rPr>
              <a:t>GRAPHS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Seeing Every Rule as a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EDEBDD"/>
                </a:solidFill>
                <a:latin typeface="Calibri"/>
              </a:rPr>
              <a:t>For each transformation below we sketch the graph and track exactly where every point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f(x) + a   </a:t>
            </a:r>
            <a:r>
              <a:rPr sz="1300">
                <a:solidFill>
                  <a:srgbClr val="EDEBDD"/>
                </a:solidFill>
                <a:latin typeface="Calibri"/>
              </a:rPr>
              <a:t>vertical shift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25496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f(x) − a   </a:t>
            </a:r>
            <a:r>
              <a:rPr sz="1300">
                <a:solidFill>
                  <a:srgbClr val="EDEBDD"/>
                </a:solidFill>
                <a:latin typeface="Calibri"/>
              </a:rPr>
              <a:t>vertical shift 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5032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 dirty="0">
                <a:solidFill>
                  <a:srgbClr val="C84F2F"/>
                </a:solidFill>
                <a:latin typeface="Cambria"/>
              </a:rPr>
              <a:t>y = a f(x)   </a:t>
            </a:r>
            <a:r>
              <a:rPr sz="1300" dirty="0">
                <a:solidFill>
                  <a:srgbClr val="EDEBDD"/>
                </a:solidFill>
                <a:latin typeface="Calibri"/>
              </a:rPr>
              <a:t>vertical </a:t>
            </a:r>
            <a:r>
              <a:rPr sz="1300" dirty="0" smtClean="0">
                <a:solidFill>
                  <a:srgbClr val="EDEBDD"/>
                </a:solidFill>
                <a:latin typeface="Calibri"/>
              </a:rPr>
              <a:t>stretch</a:t>
            </a:r>
            <a:r>
              <a:rPr lang="en-US" sz="1300" dirty="0" smtClean="0">
                <a:solidFill>
                  <a:srgbClr val="EDEBDD"/>
                </a:solidFill>
                <a:latin typeface="Calibri"/>
              </a:rPr>
              <a:t>, </a:t>
            </a:r>
            <a:r>
              <a:rPr lang="en-US" sz="13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 a</a:t>
            </a:r>
            <a:endParaRPr lang="en-US" sz="1300" dirty="0">
              <a:solidFill>
                <a:schemeClr val="bg1"/>
              </a:solidFill>
            </a:endParaRPr>
          </a:p>
          <a:p>
            <a:pPr algn="ctr"/>
            <a:endParaRPr sz="1300" dirty="0">
              <a:solidFill>
                <a:srgbClr val="EDEBD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66928" y="4544568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−f(x)   </a:t>
            </a:r>
            <a:r>
              <a:rPr sz="1300">
                <a:solidFill>
                  <a:srgbClr val="EDEBDD"/>
                </a:solidFill>
                <a:latin typeface="Calibri"/>
              </a:rPr>
              <a:t>reflect in x-axis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965960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f(x + a)   </a:t>
            </a:r>
            <a:r>
              <a:rPr sz="1300">
                <a:solidFill>
                  <a:srgbClr val="EDEBDD"/>
                </a:solidFill>
                <a:latin typeface="Calibri"/>
              </a:rPr>
              <a:t>horizontal shift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825496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f(x − a)   </a:t>
            </a:r>
            <a:r>
              <a:rPr sz="1300">
                <a:solidFill>
                  <a:srgbClr val="EDEBDD"/>
                </a:solidFill>
                <a:latin typeface="Calibri"/>
              </a:rPr>
              <a:t>horizontal shift right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3685032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 dirty="0">
                <a:solidFill>
                  <a:srgbClr val="C84F2F"/>
                </a:solidFill>
                <a:latin typeface="Cambria"/>
              </a:rPr>
              <a:t>y = f(ax)   </a:t>
            </a:r>
            <a:r>
              <a:rPr sz="1300" dirty="0">
                <a:solidFill>
                  <a:srgbClr val="EDEBDD"/>
                </a:solidFill>
                <a:latin typeface="Calibri"/>
              </a:rPr>
              <a:t>horizontal </a:t>
            </a:r>
            <a:r>
              <a:rPr sz="1300" dirty="0" smtClean="0">
                <a:solidFill>
                  <a:srgbClr val="EDEBDD"/>
                </a:solidFill>
                <a:latin typeface="Calibri"/>
              </a:rPr>
              <a:t>stretch</a:t>
            </a:r>
            <a:r>
              <a:rPr lang="en-US" sz="1300" dirty="0" smtClean="0">
                <a:solidFill>
                  <a:srgbClr val="EDEBDD"/>
                </a:solidFill>
                <a:latin typeface="Calibri"/>
              </a:rPr>
              <a:t>, </a:t>
            </a:r>
            <a:r>
              <a:rPr lang="en-US" sz="13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 1/a</a:t>
            </a:r>
            <a:endParaRPr lang="en-US" sz="1300" dirty="0">
              <a:solidFill>
                <a:schemeClr val="bg1"/>
              </a:solidFill>
            </a:endParaRPr>
          </a:p>
          <a:p>
            <a:pPr algn="ctr"/>
            <a:endParaRPr sz="1300" dirty="0">
              <a:solidFill>
                <a:srgbClr val="EDEBDD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81928" y="4544568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y = f(−x)   </a:t>
            </a:r>
            <a:r>
              <a:rPr sz="1300">
                <a:solidFill>
                  <a:srgbClr val="EDEBDD"/>
                </a:solidFill>
                <a:latin typeface="Calibri"/>
              </a:rPr>
              <a:t>reflect in y-axis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Base curve used throughout: y = f(x) = x², with points (−2, 4), (−1, 1), (0, 0), (1, 1), (2, 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VERTICAL TRANSLATION ·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y = f(x) − 3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Outside the bracket → subtract 3 from every y-value. The graph slides straight down 3 units.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74519"/>
          <a:ext cx="5358384" cy="3401568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Cambria"/>
                        </a:rPr>
                        <a:t>Original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New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(-2, 1)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C84F2F"/>
                          </a:solidFill>
                          <a:latin typeface="Cambria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(-1, -2)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(0, -3)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(1, -2)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(2, 1)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Rule: (x, y) → (x, y − 3).  Every point moves down 3 units — the shape stays identical.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506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4918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1330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7742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05669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6979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391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9803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5060" y="52852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5060" y="5049446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5060" y="481366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5060" y="457787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060" y="4342092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060" y="4106308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5060" y="387052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5060" y="3398954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5060" y="316316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060" y="292738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5060" y="2691600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5060" y="2455816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5060" y="22200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5060" y="198424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5060" y="3870523"/>
            <a:ext cx="4512975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5060" y="3885523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3303" y="3885523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19791" y="3885523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8035" y="3885523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1547" y="519523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1547" y="472366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1547" y="4252092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1547" y="3308954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1547" y="2837385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1547" y="2365816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1547" y="189424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8</a:t>
            </a:r>
          </a:p>
        </p:txBody>
      </p:sp>
      <p:sp>
        <p:nvSpPr>
          <p:cNvPr id="8" name="Freeform 7"/>
          <p:cNvSpPr/>
          <p:nvPr/>
        </p:nvSpPr>
        <p:spPr>
          <a:xfrm>
            <a:off x="1664838" y="2028596"/>
            <a:ext cx="3153418" cy="1841861"/>
          </a:xfrm>
          <a:custGeom>
            <a:avLst/>
            <a:gdLst/>
            <a:ahLst/>
            <a:cxnLst/>
            <a:rect l="l" t="t" r="r" b="b"/>
            <a:pathLst>
              <a:path w="3153418" h="1841861">
                <a:moveTo>
                  <a:pt x="0" y="0"/>
                </a:moveTo>
                <a:lnTo>
                  <a:pt x="18883" y="43854"/>
                </a:lnTo>
                <a:lnTo>
                  <a:pt x="37766" y="87179"/>
                </a:lnTo>
                <a:lnTo>
                  <a:pt x="56648" y="129976"/>
                </a:lnTo>
                <a:lnTo>
                  <a:pt x="75531" y="172245"/>
                </a:lnTo>
                <a:lnTo>
                  <a:pt x="94414" y="213985"/>
                </a:lnTo>
                <a:lnTo>
                  <a:pt x="113297" y="255197"/>
                </a:lnTo>
                <a:lnTo>
                  <a:pt x="132179" y="295881"/>
                </a:lnTo>
                <a:lnTo>
                  <a:pt x="151062" y="336036"/>
                </a:lnTo>
                <a:lnTo>
                  <a:pt x="169945" y="375663"/>
                </a:lnTo>
                <a:lnTo>
                  <a:pt x="188828" y="414762"/>
                </a:lnTo>
                <a:lnTo>
                  <a:pt x="207710" y="453332"/>
                </a:lnTo>
                <a:lnTo>
                  <a:pt x="226593" y="491374"/>
                </a:lnTo>
                <a:lnTo>
                  <a:pt x="245476" y="528888"/>
                </a:lnTo>
                <a:lnTo>
                  <a:pt x="264359" y="565873"/>
                </a:lnTo>
                <a:lnTo>
                  <a:pt x="283241" y="602330"/>
                </a:lnTo>
                <a:lnTo>
                  <a:pt x="302124" y="638258"/>
                </a:lnTo>
                <a:lnTo>
                  <a:pt x="321007" y="673658"/>
                </a:lnTo>
                <a:lnTo>
                  <a:pt x="339889" y="708530"/>
                </a:lnTo>
                <a:lnTo>
                  <a:pt x="358772" y="742873"/>
                </a:lnTo>
                <a:lnTo>
                  <a:pt x="377655" y="776688"/>
                </a:lnTo>
                <a:lnTo>
                  <a:pt x="396538" y="809975"/>
                </a:lnTo>
                <a:lnTo>
                  <a:pt x="415420" y="842733"/>
                </a:lnTo>
                <a:lnTo>
                  <a:pt x="434303" y="874963"/>
                </a:lnTo>
                <a:lnTo>
                  <a:pt x="453186" y="906665"/>
                </a:lnTo>
                <a:lnTo>
                  <a:pt x="472069" y="937838"/>
                </a:lnTo>
                <a:lnTo>
                  <a:pt x="490951" y="968483"/>
                </a:lnTo>
                <a:lnTo>
                  <a:pt x="509834" y="998599"/>
                </a:lnTo>
                <a:lnTo>
                  <a:pt x="528717" y="1028187"/>
                </a:lnTo>
                <a:lnTo>
                  <a:pt x="547600" y="1057247"/>
                </a:lnTo>
                <a:lnTo>
                  <a:pt x="566482" y="1085779"/>
                </a:lnTo>
                <a:lnTo>
                  <a:pt x="585365" y="1113782"/>
                </a:lnTo>
                <a:lnTo>
                  <a:pt x="604248" y="1141256"/>
                </a:lnTo>
                <a:lnTo>
                  <a:pt x="623131" y="1168203"/>
                </a:lnTo>
                <a:lnTo>
                  <a:pt x="642013" y="1194621"/>
                </a:lnTo>
                <a:lnTo>
                  <a:pt x="660896" y="1220510"/>
                </a:lnTo>
                <a:lnTo>
                  <a:pt x="679779" y="1245871"/>
                </a:lnTo>
                <a:lnTo>
                  <a:pt x="698662" y="1270704"/>
                </a:lnTo>
                <a:lnTo>
                  <a:pt x="717544" y="1295009"/>
                </a:lnTo>
                <a:lnTo>
                  <a:pt x="736427" y="1318785"/>
                </a:lnTo>
                <a:lnTo>
                  <a:pt x="755310" y="1342033"/>
                </a:lnTo>
                <a:lnTo>
                  <a:pt x="774193" y="1364752"/>
                </a:lnTo>
                <a:lnTo>
                  <a:pt x="793075" y="1386943"/>
                </a:lnTo>
                <a:lnTo>
                  <a:pt x="811958" y="1408606"/>
                </a:lnTo>
                <a:lnTo>
                  <a:pt x="830841" y="1429741"/>
                </a:lnTo>
                <a:lnTo>
                  <a:pt x="849723" y="1450347"/>
                </a:lnTo>
                <a:lnTo>
                  <a:pt x="868606" y="1470424"/>
                </a:lnTo>
                <a:lnTo>
                  <a:pt x="887489" y="1489974"/>
                </a:lnTo>
                <a:lnTo>
                  <a:pt x="906372" y="1508995"/>
                </a:lnTo>
                <a:lnTo>
                  <a:pt x="925254" y="1527487"/>
                </a:lnTo>
                <a:lnTo>
                  <a:pt x="944137" y="1545451"/>
                </a:lnTo>
                <a:lnTo>
                  <a:pt x="963020" y="1562887"/>
                </a:lnTo>
                <a:lnTo>
                  <a:pt x="981903" y="1579795"/>
                </a:lnTo>
                <a:lnTo>
                  <a:pt x="1000785" y="1596174"/>
                </a:lnTo>
                <a:lnTo>
                  <a:pt x="1019668" y="1612025"/>
                </a:lnTo>
                <a:lnTo>
                  <a:pt x="1038551" y="1627347"/>
                </a:lnTo>
                <a:lnTo>
                  <a:pt x="1057434" y="1642141"/>
                </a:lnTo>
                <a:lnTo>
                  <a:pt x="1076316" y="1656407"/>
                </a:lnTo>
                <a:lnTo>
                  <a:pt x="1095199" y="1670144"/>
                </a:lnTo>
                <a:lnTo>
                  <a:pt x="1114082" y="1683353"/>
                </a:lnTo>
                <a:lnTo>
                  <a:pt x="1132965" y="1696034"/>
                </a:lnTo>
                <a:lnTo>
                  <a:pt x="1151847" y="1708186"/>
                </a:lnTo>
                <a:lnTo>
                  <a:pt x="1170730" y="1719810"/>
                </a:lnTo>
                <a:lnTo>
                  <a:pt x="1189613" y="1730906"/>
                </a:lnTo>
                <a:lnTo>
                  <a:pt x="1208496" y="1741473"/>
                </a:lnTo>
                <a:lnTo>
                  <a:pt x="1227378" y="1751512"/>
                </a:lnTo>
                <a:lnTo>
                  <a:pt x="1246261" y="1761022"/>
                </a:lnTo>
                <a:lnTo>
                  <a:pt x="1265144" y="1770004"/>
                </a:lnTo>
                <a:lnTo>
                  <a:pt x="1284027" y="1778458"/>
                </a:lnTo>
                <a:lnTo>
                  <a:pt x="1302909" y="1786383"/>
                </a:lnTo>
                <a:lnTo>
                  <a:pt x="1321792" y="1793780"/>
                </a:lnTo>
                <a:lnTo>
                  <a:pt x="1340675" y="1800649"/>
                </a:lnTo>
                <a:lnTo>
                  <a:pt x="1359557" y="1806989"/>
                </a:lnTo>
                <a:lnTo>
                  <a:pt x="1378440" y="1812801"/>
                </a:lnTo>
                <a:lnTo>
                  <a:pt x="1397323" y="1818085"/>
                </a:lnTo>
                <a:lnTo>
                  <a:pt x="1416206" y="1822840"/>
                </a:lnTo>
                <a:lnTo>
                  <a:pt x="1435088" y="1827067"/>
                </a:lnTo>
                <a:lnTo>
                  <a:pt x="1453971" y="1830765"/>
                </a:lnTo>
                <a:lnTo>
                  <a:pt x="1472854" y="1833936"/>
                </a:lnTo>
                <a:lnTo>
                  <a:pt x="1491737" y="1836577"/>
                </a:lnTo>
                <a:lnTo>
                  <a:pt x="1510619" y="1838691"/>
                </a:lnTo>
                <a:lnTo>
                  <a:pt x="1529502" y="1840276"/>
                </a:lnTo>
                <a:lnTo>
                  <a:pt x="1548385" y="1841333"/>
                </a:lnTo>
                <a:lnTo>
                  <a:pt x="1567268" y="1841861"/>
                </a:lnTo>
                <a:lnTo>
                  <a:pt x="1586150" y="1841861"/>
                </a:lnTo>
                <a:lnTo>
                  <a:pt x="1605033" y="1841333"/>
                </a:lnTo>
                <a:lnTo>
                  <a:pt x="1623916" y="1840276"/>
                </a:lnTo>
                <a:lnTo>
                  <a:pt x="1642799" y="1838691"/>
                </a:lnTo>
                <a:lnTo>
                  <a:pt x="1661681" y="1836577"/>
                </a:lnTo>
                <a:lnTo>
                  <a:pt x="1680564" y="1833936"/>
                </a:lnTo>
                <a:lnTo>
                  <a:pt x="1699447" y="1830765"/>
                </a:lnTo>
                <a:lnTo>
                  <a:pt x="1718330" y="1827067"/>
                </a:lnTo>
                <a:lnTo>
                  <a:pt x="1737212" y="1822840"/>
                </a:lnTo>
                <a:lnTo>
                  <a:pt x="1756095" y="1818085"/>
                </a:lnTo>
                <a:lnTo>
                  <a:pt x="1774978" y="1812801"/>
                </a:lnTo>
                <a:lnTo>
                  <a:pt x="1793861" y="1806989"/>
                </a:lnTo>
                <a:lnTo>
                  <a:pt x="1812743" y="1800649"/>
                </a:lnTo>
                <a:lnTo>
                  <a:pt x="1831626" y="1793780"/>
                </a:lnTo>
                <a:lnTo>
                  <a:pt x="1850509" y="1786383"/>
                </a:lnTo>
                <a:lnTo>
                  <a:pt x="1869391" y="1778458"/>
                </a:lnTo>
                <a:lnTo>
                  <a:pt x="1888274" y="1770004"/>
                </a:lnTo>
                <a:lnTo>
                  <a:pt x="1907157" y="1761022"/>
                </a:lnTo>
                <a:lnTo>
                  <a:pt x="1926040" y="1751512"/>
                </a:lnTo>
                <a:lnTo>
                  <a:pt x="1944922" y="1741473"/>
                </a:lnTo>
                <a:lnTo>
                  <a:pt x="1963805" y="1730906"/>
                </a:lnTo>
                <a:lnTo>
                  <a:pt x="1982688" y="1719810"/>
                </a:lnTo>
                <a:lnTo>
                  <a:pt x="2001571" y="1708186"/>
                </a:lnTo>
                <a:lnTo>
                  <a:pt x="2020453" y="1696034"/>
                </a:lnTo>
                <a:lnTo>
                  <a:pt x="2039336" y="1683353"/>
                </a:lnTo>
                <a:lnTo>
                  <a:pt x="2058219" y="1670144"/>
                </a:lnTo>
                <a:lnTo>
                  <a:pt x="2077102" y="1656407"/>
                </a:lnTo>
                <a:lnTo>
                  <a:pt x="2095984" y="1642141"/>
                </a:lnTo>
                <a:lnTo>
                  <a:pt x="2114867" y="1627347"/>
                </a:lnTo>
                <a:lnTo>
                  <a:pt x="2133750" y="1612025"/>
                </a:lnTo>
                <a:lnTo>
                  <a:pt x="2152633" y="1596174"/>
                </a:lnTo>
                <a:lnTo>
                  <a:pt x="2171515" y="1579795"/>
                </a:lnTo>
                <a:lnTo>
                  <a:pt x="2190398" y="1562887"/>
                </a:lnTo>
                <a:lnTo>
                  <a:pt x="2209281" y="1545451"/>
                </a:lnTo>
                <a:lnTo>
                  <a:pt x="2228164" y="1527487"/>
                </a:lnTo>
                <a:lnTo>
                  <a:pt x="2247046" y="1508995"/>
                </a:lnTo>
                <a:lnTo>
                  <a:pt x="2265929" y="1489974"/>
                </a:lnTo>
                <a:lnTo>
                  <a:pt x="2284812" y="1470424"/>
                </a:lnTo>
                <a:lnTo>
                  <a:pt x="2303695" y="1450347"/>
                </a:lnTo>
                <a:lnTo>
                  <a:pt x="2322577" y="1429741"/>
                </a:lnTo>
                <a:lnTo>
                  <a:pt x="2341460" y="1408606"/>
                </a:lnTo>
                <a:lnTo>
                  <a:pt x="2360343" y="1386943"/>
                </a:lnTo>
                <a:lnTo>
                  <a:pt x="2379225" y="1364752"/>
                </a:lnTo>
                <a:lnTo>
                  <a:pt x="2398108" y="1342033"/>
                </a:lnTo>
                <a:lnTo>
                  <a:pt x="2416991" y="1318785"/>
                </a:lnTo>
                <a:lnTo>
                  <a:pt x="2435874" y="1295009"/>
                </a:lnTo>
                <a:lnTo>
                  <a:pt x="2454756" y="1270704"/>
                </a:lnTo>
                <a:lnTo>
                  <a:pt x="2473639" y="1245871"/>
                </a:lnTo>
                <a:lnTo>
                  <a:pt x="2492522" y="1220510"/>
                </a:lnTo>
                <a:lnTo>
                  <a:pt x="2511405" y="1194621"/>
                </a:lnTo>
                <a:lnTo>
                  <a:pt x="2530287" y="1168203"/>
                </a:lnTo>
                <a:lnTo>
                  <a:pt x="2549170" y="1141256"/>
                </a:lnTo>
                <a:lnTo>
                  <a:pt x="2568053" y="1113782"/>
                </a:lnTo>
                <a:lnTo>
                  <a:pt x="2586936" y="1085779"/>
                </a:lnTo>
                <a:lnTo>
                  <a:pt x="2605818" y="1057247"/>
                </a:lnTo>
                <a:lnTo>
                  <a:pt x="2624701" y="1028187"/>
                </a:lnTo>
                <a:lnTo>
                  <a:pt x="2643584" y="998599"/>
                </a:lnTo>
                <a:lnTo>
                  <a:pt x="2662467" y="968483"/>
                </a:lnTo>
                <a:lnTo>
                  <a:pt x="2681349" y="937838"/>
                </a:lnTo>
                <a:lnTo>
                  <a:pt x="2700232" y="906665"/>
                </a:lnTo>
                <a:lnTo>
                  <a:pt x="2719115" y="874963"/>
                </a:lnTo>
                <a:lnTo>
                  <a:pt x="2737998" y="842733"/>
                </a:lnTo>
                <a:lnTo>
                  <a:pt x="2756880" y="809975"/>
                </a:lnTo>
                <a:lnTo>
                  <a:pt x="2775763" y="776688"/>
                </a:lnTo>
                <a:lnTo>
                  <a:pt x="2794646" y="742873"/>
                </a:lnTo>
                <a:lnTo>
                  <a:pt x="2813529" y="708530"/>
                </a:lnTo>
                <a:lnTo>
                  <a:pt x="2832411" y="673658"/>
                </a:lnTo>
                <a:lnTo>
                  <a:pt x="2851294" y="638258"/>
                </a:lnTo>
                <a:lnTo>
                  <a:pt x="2870177" y="602330"/>
                </a:lnTo>
                <a:lnTo>
                  <a:pt x="2889059" y="565873"/>
                </a:lnTo>
                <a:lnTo>
                  <a:pt x="2907942" y="528888"/>
                </a:lnTo>
                <a:lnTo>
                  <a:pt x="2926825" y="491374"/>
                </a:lnTo>
                <a:lnTo>
                  <a:pt x="2945708" y="453332"/>
                </a:lnTo>
                <a:lnTo>
                  <a:pt x="2964590" y="414762"/>
                </a:lnTo>
                <a:lnTo>
                  <a:pt x="2983473" y="375663"/>
                </a:lnTo>
                <a:lnTo>
                  <a:pt x="3002356" y="336036"/>
                </a:lnTo>
                <a:lnTo>
                  <a:pt x="3021239" y="295881"/>
                </a:lnTo>
                <a:lnTo>
                  <a:pt x="3040121" y="255197"/>
                </a:lnTo>
                <a:lnTo>
                  <a:pt x="3059004" y="213985"/>
                </a:lnTo>
                <a:lnTo>
                  <a:pt x="3077887" y="172245"/>
                </a:lnTo>
                <a:lnTo>
                  <a:pt x="3096770" y="129976"/>
                </a:lnTo>
                <a:lnTo>
                  <a:pt x="3115652" y="87179"/>
                </a:lnTo>
                <a:lnTo>
                  <a:pt x="3134535" y="43854"/>
                </a:lnTo>
                <a:lnTo>
                  <a:pt x="3153418" y="0"/>
                </a:lnTo>
              </a:path>
            </a:pathLst>
          </a:custGeom>
          <a:noFill/>
          <a:ln w="30480">
            <a:solidFill>
              <a:srgbClr val="5C6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Freeform 47"/>
          <p:cNvSpPr/>
          <p:nvPr/>
        </p:nvSpPr>
        <p:spPr>
          <a:xfrm>
            <a:off x="1381597" y="2014739"/>
            <a:ext cx="3719900" cy="2563072"/>
          </a:xfrm>
          <a:custGeom>
            <a:avLst/>
            <a:gdLst/>
            <a:ahLst/>
            <a:cxnLst/>
            <a:rect l="l" t="t" r="r" b="b"/>
            <a:pathLst>
              <a:path w="3719900" h="2563072">
                <a:moveTo>
                  <a:pt x="0" y="0"/>
                </a:moveTo>
                <a:lnTo>
                  <a:pt x="18883" y="51779"/>
                </a:lnTo>
                <a:lnTo>
                  <a:pt x="37766" y="103030"/>
                </a:lnTo>
                <a:lnTo>
                  <a:pt x="56648" y="153752"/>
                </a:lnTo>
                <a:lnTo>
                  <a:pt x="75531" y="203946"/>
                </a:lnTo>
                <a:lnTo>
                  <a:pt x="94414" y="253612"/>
                </a:lnTo>
                <a:lnTo>
                  <a:pt x="113296" y="302750"/>
                </a:lnTo>
                <a:lnTo>
                  <a:pt x="132179" y="351359"/>
                </a:lnTo>
                <a:lnTo>
                  <a:pt x="151062" y="399439"/>
                </a:lnTo>
                <a:lnTo>
                  <a:pt x="169945" y="446992"/>
                </a:lnTo>
                <a:lnTo>
                  <a:pt x="188827" y="494016"/>
                </a:lnTo>
                <a:lnTo>
                  <a:pt x="207710" y="540511"/>
                </a:lnTo>
                <a:lnTo>
                  <a:pt x="226593" y="586479"/>
                </a:lnTo>
                <a:lnTo>
                  <a:pt x="245476" y="631918"/>
                </a:lnTo>
                <a:lnTo>
                  <a:pt x="264358" y="676828"/>
                </a:lnTo>
                <a:lnTo>
                  <a:pt x="283241" y="721210"/>
                </a:lnTo>
                <a:lnTo>
                  <a:pt x="302124" y="765064"/>
                </a:lnTo>
                <a:lnTo>
                  <a:pt x="321007" y="808390"/>
                </a:lnTo>
                <a:lnTo>
                  <a:pt x="339889" y="851187"/>
                </a:lnTo>
                <a:lnTo>
                  <a:pt x="358772" y="893456"/>
                </a:lnTo>
                <a:lnTo>
                  <a:pt x="377655" y="935196"/>
                </a:lnTo>
                <a:lnTo>
                  <a:pt x="396538" y="976408"/>
                </a:lnTo>
                <a:lnTo>
                  <a:pt x="415420" y="1017092"/>
                </a:lnTo>
                <a:lnTo>
                  <a:pt x="434303" y="1057247"/>
                </a:lnTo>
                <a:lnTo>
                  <a:pt x="453186" y="1096874"/>
                </a:lnTo>
                <a:lnTo>
                  <a:pt x="472069" y="1135973"/>
                </a:lnTo>
                <a:lnTo>
                  <a:pt x="490951" y="1174543"/>
                </a:lnTo>
                <a:lnTo>
                  <a:pt x="509834" y="1212585"/>
                </a:lnTo>
                <a:lnTo>
                  <a:pt x="528717" y="1250098"/>
                </a:lnTo>
                <a:lnTo>
                  <a:pt x="547600" y="1287083"/>
                </a:lnTo>
                <a:lnTo>
                  <a:pt x="566482" y="1323540"/>
                </a:lnTo>
                <a:lnTo>
                  <a:pt x="585365" y="1359469"/>
                </a:lnTo>
                <a:lnTo>
                  <a:pt x="604248" y="1394869"/>
                </a:lnTo>
                <a:lnTo>
                  <a:pt x="623130" y="1429741"/>
                </a:lnTo>
                <a:lnTo>
                  <a:pt x="642013" y="1464084"/>
                </a:lnTo>
                <a:lnTo>
                  <a:pt x="660896" y="1497899"/>
                </a:lnTo>
                <a:lnTo>
                  <a:pt x="679779" y="1531186"/>
                </a:lnTo>
                <a:lnTo>
                  <a:pt x="698661" y="1563944"/>
                </a:lnTo>
                <a:lnTo>
                  <a:pt x="717544" y="1596174"/>
                </a:lnTo>
                <a:lnTo>
                  <a:pt x="736427" y="1627875"/>
                </a:lnTo>
                <a:lnTo>
                  <a:pt x="755310" y="1659049"/>
                </a:lnTo>
                <a:lnTo>
                  <a:pt x="774192" y="1689693"/>
                </a:lnTo>
                <a:lnTo>
                  <a:pt x="793075" y="1719810"/>
                </a:lnTo>
                <a:lnTo>
                  <a:pt x="811958" y="1749398"/>
                </a:lnTo>
                <a:lnTo>
                  <a:pt x="830841" y="1778458"/>
                </a:lnTo>
                <a:lnTo>
                  <a:pt x="849723" y="1806989"/>
                </a:lnTo>
                <a:lnTo>
                  <a:pt x="868606" y="1834992"/>
                </a:lnTo>
                <a:lnTo>
                  <a:pt x="887489" y="1862467"/>
                </a:lnTo>
                <a:lnTo>
                  <a:pt x="906372" y="1889413"/>
                </a:lnTo>
                <a:lnTo>
                  <a:pt x="925254" y="1915831"/>
                </a:lnTo>
                <a:lnTo>
                  <a:pt x="944137" y="1941721"/>
                </a:lnTo>
                <a:lnTo>
                  <a:pt x="963020" y="1967082"/>
                </a:lnTo>
                <a:lnTo>
                  <a:pt x="981903" y="1991915"/>
                </a:lnTo>
                <a:lnTo>
                  <a:pt x="1000785" y="2016220"/>
                </a:lnTo>
                <a:lnTo>
                  <a:pt x="1019668" y="2039996"/>
                </a:lnTo>
                <a:lnTo>
                  <a:pt x="1038551" y="2063244"/>
                </a:lnTo>
                <a:lnTo>
                  <a:pt x="1057434" y="2085963"/>
                </a:lnTo>
                <a:lnTo>
                  <a:pt x="1076316" y="2108154"/>
                </a:lnTo>
                <a:lnTo>
                  <a:pt x="1095199" y="2129817"/>
                </a:lnTo>
                <a:lnTo>
                  <a:pt x="1114082" y="2150951"/>
                </a:lnTo>
                <a:lnTo>
                  <a:pt x="1132964" y="2171557"/>
                </a:lnTo>
                <a:lnTo>
                  <a:pt x="1151847" y="2191635"/>
                </a:lnTo>
                <a:lnTo>
                  <a:pt x="1170730" y="2211184"/>
                </a:lnTo>
                <a:lnTo>
                  <a:pt x="1189613" y="2230205"/>
                </a:lnTo>
                <a:lnTo>
                  <a:pt x="1208495" y="2248698"/>
                </a:lnTo>
                <a:lnTo>
                  <a:pt x="1227378" y="2266662"/>
                </a:lnTo>
                <a:lnTo>
                  <a:pt x="1246261" y="2284098"/>
                </a:lnTo>
                <a:lnTo>
                  <a:pt x="1265144" y="2301005"/>
                </a:lnTo>
                <a:lnTo>
                  <a:pt x="1284026" y="2317385"/>
                </a:lnTo>
                <a:lnTo>
                  <a:pt x="1302909" y="2333235"/>
                </a:lnTo>
                <a:lnTo>
                  <a:pt x="1321792" y="2348558"/>
                </a:lnTo>
                <a:lnTo>
                  <a:pt x="1340675" y="2363352"/>
                </a:lnTo>
                <a:lnTo>
                  <a:pt x="1359557" y="2377618"/>
                </a:lnTo>
                <a:lnTo>
                  <a:pt x="1378440" y="2391355"/>
                </a:lnTo>
                <a:lnTo>
                  <a:pt x="1397323" y="2404564"/>
                </a:lnTo>
                <a:lnTo>
                  <a:pt x="1416206" y="2417245"/>
                </a:lnTo>
                <a:lnTo>
                  <a:pt x="1435088" y="2429397"/>
                </a:lnTo>
                <a:lnTo>
                  <a:pt x="1453971" y="2441021"/>
                </a:lnTo>
                <a:lnTo>
                  <a:pt x="1472854" y="2452116"/>
                </a:lnTo>
                <a:lnTo>
                  <a:pt x="1491737" y="2462683"/>
                </a:lnTo>
                <a:lnTo>
                  <a:pt x="1510619" y="2472722"/>
                </a:lnTo>
                <a:lnTo>
                  <a:pt x="1529502" y="2482233"/>
                </a:lnTo>
                <a:lnTo>
                  <a:pt x="1548385" y="2491215"/>
                </a:lnTo>
                <a:lnTo>
                  <a:pt x="1567268" y="2499669"/>
                </a:lnTo>
                <a:lnTo>
                  <a:pt x="1586150" y="2507594"/>
                </a:lnTo>
                <a:lnTo>
                  <a:pt x="1605033" y="2514991"/>
                </a:lnTo>
                <a:lnTo>
                  <a:pt x="1623916" y="2521860"/>
                </a:lnTo>
                <a:lnTo>
                  <a:pt x="1642798" y="2528200"/>
                </a:lnTo>
                <a:lnTo>
                  <a:pt x="1661681" y="2534012"/>
                </a:lnTo>
                <a:lnTo>
                  <a:pt x="1680564" y="2539296"/>
                </a:lnTo>
                <a:lnTo>
                  <a:pt x="1699447" y="2544051"/>
                </a:lnTo>
                <a:lnTo>
                  <a:pt x="1718329" y="2548278"/>
                </a:lnTo>
                <a:lnTo>
                  <a:pt x="1737212" y="2551976"/>
                </a:lnTo>
                <a:lnTo>
                  <a:pt x="1756095" y="2555146"/>
                </a:lnTo>
                <a:lnTo>
                  <a:pt x="1774978" y="2557788"/>
                </a:lnTo>
                <a:lnTo>
                  <a:pt x="1793860" y="2559902"/>
                </a:lnTo>
                <a:lnTo>
                  <a:pt x="1812743" y="2561487"/>
                </a:lnTo>
                <a:lnTo>
                  <a:pt x="1831626" y="2562543"/>
                </a:lnTo>
                <a:lnTo>
                  <a:pt x="1850509" y="2563072"/>
                </a:lnTo>
                <a:lnTo>
                  <a:pt x="1869391" y="2563072"/>
                </a:lnTo>
                <a:lnTo>
                  <a:pt x="1888274" y="2562543"/>
                </a:lnTo>
                <a:lnTo>
                  <a:pt x="1907157" y="2561487"/>
                </a:lnTo>
                <a:lnTo>
                  <a:pt x="1926040" y="2559902"/>
                </a:lnTo>
                <a:lnTo>
                  <a:pt x="1944922" y="2557788"/>
                </a:lnTo>
                <a:lnTo>
                  <a:pt x="1963805" y="2555146"/>
                </a:lnTo>
                <a:lnTo>
                  <a:pt x="1982688" y="2551976"/>
                </a:lnTo>
                <a:lnTo>
                  <a:pt x="2001571" y="2548278"/>
                </a:lnTo>
                <a:lnTo>
                  <a:pt x="2020453" y="2544051"/>
                </a:lnTo>
                <a:lnTo>
                  <a:pt x="2039336" y="2539296"/>
                </a:lnTo>
                <a:lnTo>
                  <a:pt x="2058219" y="2534012"/>
                </a:lnTo>
                <a:lnTo>
                  <a:pt x="2077102" y="2528200"/>
                </a:lnTo>
                <a:lnTo>
                  <a:pt x="2095984" y="2521860"/>
                </a:lnTo>
                <a:lnTo>
                  <a:pt x="2114867" y="2514991"/>
                </a:lnTo>
                <a:lnTo>
                  <a:pt x="2133750" y="2507594"/>
                </a:lnTo>
                <a:lnTo>
                  <a:pt x="2152632" y="2499669"/>
                </a:lnTo>
                <a:lnTo>
                  <a:pt x="2171515" y="2491215"/>
                </a:lnTo>
                <a:lnTo>
                  <a:pt x="2190398" y="2482233"/>
                </a:lnTo>
                <a:lnTo>
                  <a:pt x="2209281" y="2472722"/>
                </a:lnTo>
                <a:lnTo>
                  <a:pt x="2228163" y="2462683"/>
                </a:lnTo>
                <a:lnTo>
                  <a:pt x="2247046" y="2452116"/>
                </a:lnTo>
                <a:lnTo>
                  <a:pt x="2265929" y="2441021"/>
                </a:lnTo>
                <a:lnTo>
                  <a:pt x="2284812" y="2429397"/>
                </a:lnTo>
                <a:lnTo>
                  <a:pt x="2303694" y="2417245"/>
                </a:lnTo>
                <a:lnTo>
                  <a:pt x="2322577" y="2404564"/>
                </a:lnTo>
                <a:lnTo>
                  <a:pt x="2341460" y="2391355"/>
                </a:lnTo>
                <a:lnTo>
                  <a:pt x="2360343" y="2377618"/>
                </a:lnTo>
                <a:lnTo>
                  <a:pt x="2379225" y="2363352"/>
                </a:lnTo>
                <a:lnTo>
                  <a:pt x="2398108" y="2348558"/>
                </a:lnTo>
                <a:lnTo>
                  <a:pt x="2416991" y="2333235"/>
                </a:lnTo>
                <a:lnTo>
                  <a:pt x="2435874" y="2317385"/>
                </a:lnTo>
                <a:lnTo>
                  <a:pt x="2454756" y="2301005"/>
                </a:lnTo>
                <a:lnTo>
                  <a:pt x="2473639" y="2284098"/>
                </a:lnTo>
                <a:lnTo>
                  <a:pt x="2492522" y="2266662"/>
                </a:lnTo>
                <a:lnTo>
                  <a:pt x="2511405" y="2248698"/>
                </a:lnTo>
                <a:lnTo>
                  <a:pt x="2530287" y="2230205"/>
                </a:lnTo>
                <a:lnTo>
                  <a:pt x="2549170" y="2211184"/>
                </a:lnTo>
                <a:lnTo>
                  <a:pt x="2568053" y="2191635"/>
                </a:lnTo>
                <a:lnTo>
                  <a:pt x="2586936" y="2171557"/>
                </a:lnTo>
                <a:lnTo>
                  <a:pt x="2605818" y="2150951"/>
                </a:lnTo>
                <a:lnTo>
                  <a:pt x="2624701" y="2129817"/>
                </a:lnTo>
                <a:lnTo>
                  <a:pt x="2643584" y="2108154"/>
                </a:lnTo>
                <a:lnTo>
                  <a:pt x="2662466" y="2085963"/>
                </a:lnTo>
                <a:lnTo>
                  <a:pt x="2681349" y="2063244"/>
                </a:lnTo>
                <a:lnTo>
                  <a:pt x="2700232" y="2039996"/>
                </a:lnTo>
                <a:lnTo>
                  <a:pt x="2719115" y="2016220"/>
                </a:lnTo>
                <a:lnTo>
                  <a:pt x="2737997" y="1991915"/>
                </a:lnTo>
                <a:lnTo>
                  <a:pt x="2756880" y="1967082"/>
                </a:lnTo>
                <a:lnTo>
                  <a:pt x="2775763" y="1941721"/>
                </a:lnTo>
                <a:lnTo>
                  <a:pt x="2794646" y="1915831"/>
                </a:lnTo>
                <a:lnTo>
                  <a:pt x="2813528" y="1889413"/>
                </a:lnTo>
                <a:lnTo>
                  <a:pt x="2832411" y="1862467"/>
                </a:lnTo>
                <a:lnTo>
                  <a:pt x="2851294" y="1834992"/>
                </a:lnTo>
                <a:lnTo>
                  <a:pt x="2870177" y="1806989"/>
                </a:lnTo>
                <a:lnTo>
                  <a:pt x="2889059" y="1778458"/>
                </a:lnTo>
                <a:lnTo>
                  <a:pt x="2907942" y="1749398"/>
                </a:lnTo>
                <a:lnTo>
                  <a:pt x="2926825" y="1719810"/>
                </a:lnTo>
                <a:lnTo>
                  <a:pt x="2945708" y="1689693"/>
                </a:lnTo>
                <a:lnTo>
                  <a:pt x="2964590" y="1659049"/>
                </a:lnTo>
                <a:lnTo>
                  <a:pt x="2983473" y="1627875"/>
                </a:lnTo>
                <a:lnTo>
                  <a:pt x="3002356" y="1596174"/>
                </a:lnTo>
                <a:lnTo>
                  <a:pt x="3021239" y="1563944"/>
                </a:lnTo>
                <a:lnTo>
                  <a:pt x="3040121" y="1531186"/>
                </a:lnTo>
                <a:lnTo>
                  <a:pt x="3059004" y="1497899"/>
                </a:lnTo>
                <a:lnTo>
                  <a:pt x="3077887" y="1464084"/>
                </a:lnTo>
                <a:lnTo>
                  <a:pt x="3096770" y="1429741"/>
                </a:lnTo>
                <a:lnTo>
                  <a:pt x="3115652" y="1394869"/>
                </a:lnTo>
                <a:lnTo>
                  <a:pt x="3134535" y="1359469"/>
                </a:lnTo>
                <a:lnTo>
                  <a:pt x="3153418" y="1323540"/>
                </a:lnTo>
                <a:lnTo>
                  <a:pt x="3172300" y="1287083"/>
                </a:lnTo>
                <a:lnTo>
                  <a:pt x="3191183" y="1250098"/>
                </a:lnTo>
                <a:lnTo>
                  <a:pt x="3210066" y="1212585"/>
                </a:lnTo>
                <a:lnTo>
                  <a:pt x="3228949" y="1174543"/>
                </a:lnTo>
                <a:lnTo>
                  <a:pt x="3247831" y="1135973"/>
                </a:lnTo>
                <a:lnTo>
                  <a:pt x="3266714" y="1096874"/>
                </a:lnTo>
                <a:lnTo>
                  <a:pt x="3285597" y="1057247"/>
                </a:lnTo>
                <a:lnTo>
                  <a:pt x="3304480" y="1017092"/>
                </a:lnTo>
                <a:lnTo>
                  <a:pt x="3323362" y="976408"/>
                </a:lnTo>
                <a:lnTo>
                  <a:pt x="3342245" y="935196"/>
                </a:lnTo>
                <a:lnTo>
                  <a:pt x="3361128" y="893456"/>
                </a:lnTo>
                <a:lnTo>
                  <a:pt x="3380011" y="851187"/>
                </a:lnTo>
                <a:lnTo>
                  <a:pt x="3398893" y="808390"/>
                </a:lnTo>
                <a:lnTo>
                  <a:pt x="3417776" y="765064"/>
                </a:lnTo>
                <a:lnTo>
                  <a:pt x="3436659" y="721210"/>
                </a:lnTo>
                <a:lnTo>
                  <a:pt x="3455542" y="676828"/>
                </a:lnTo>
                <a:lnTo>
                  <a:pt x="3474424" y="631918"/>
                </a:lnTo>
                <a:lnTo>
                  <a:pt x="3493307" y="586479"/>
                </a:lnTo>
                <a:lnTo>
                  <a:pt x="3512190" y="540511"/>
                </a:lnTo>
                <a:lnTo>
                  <a:pt x="3531073" y="494016"/>
                </a:lnTo>
                <a:lnTo>
                  <a:pt x="3549955" y="446992"/>
                </a:lnTo>
                <a:lnTo>
                  <a:pt x="3568838" y="399439"/>
                </a:lnTo>
                <a:lnTo>
                  <a:pt x="3587721" y="351359"/>
                </a:lnTo>
                <a:lnTo>
                  <a:pt x="3606604" y="302750"/>
                </a:lnTo>
                <a:lnTo>
                  <a:pt x="3625486" y="253612"/>
                </a:lnTo>
                <a:lnTo>
                  <a:pt x="3644369" y="203946"/>
                </a:lnTo>
                <a:lnTo>
                  <a:pt x="3663252" y="153752"/>
                </a:lnTo>
                <a:lnTo>
                  <a:pt x="3682134" y="103030"/>
                </a:lnTo>
                <a:lnTo>
                  <a:pt x="3701017" y="51779"/>
                </a:lnTo>
                <a:lnTo>
                  <a:pt x="3719900" y="0"/>
                </a:lnTo>
              </a:path>
            </a:pathLst>
          </a:custGeom>
          <a:noFill/>
          <a:ln w="38100">
            <a:solidFill>
              <a:srgbClr val="C84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081303" y="28953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2645425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209547" y="3838523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773669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4337791" y="28953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2081303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645425" y="4310092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3209547" y="4545877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3773669" y="4310092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4337791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>
            <a:off x="1285060" y="5415231"/>
            <a:ext cx="350000" cy="0"/>
          </a:xfrm>
          <a:prstGeom prst="line">
            <a:avLst/>
          </a:prstGeom>
          <a:ln w="30480">
            <a:solidFill>
              <a:srgbClr val="5C6B6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685060" y="5325231"/>
            <a:ext cx="14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C2A22"/>
                </a:solidFill>
                <a:latin typeface="Cambria"/>
              </a:rPr>
              <a:t>y = f(x)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285060" y="5415231"/>
            <a:ext cx="350000" cy="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685060" y="5325231"/>
            <a:ext cx="18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C2A22"/>
                </a:solidFill>
                <a:latin typeface="Cambria"/>
              </a:rPr>
              <a:t>y = f(x) − 3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54" grpId="0" animBg="1"/>
      <p:bldP spid="55" grpId="0" animBg="1"/>
      <p:bldP spid="56" grpId="0" animBg="1"/>
      <p:bldP spid="57" grpId="0" animBg="1"/>
      <p:bldP spid="5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REFLECTION · X-AXIS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y = −f(x)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Outside the bracket → flip the sign of every y-value. The graph reflects in the x-axis.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74519"/>
          <a:ext cx="5358384" cy="3401568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Cambria"/>
                        </a:rPr>
                        <a:t>Original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New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(-2, -4)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C84F2F"/>
                          </a:solidFill>
                          <a:latin typeface="Cambria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(-1, -1)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(1, -1)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1C2A22"/>
                          </a:solidFill>
                          <a:latin typeface="Calibri"/>
                        </a:rPr>
                        <a:t>(2, -4)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Rule: (x, y) → (x, −y).  The x-axis acts as the mirror line.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506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4918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1330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7742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05669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6979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391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9803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5060" y="52852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5060" y="501014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5060" y="473506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5060" y="445998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060" y="418490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060" y="390982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060" y="335965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5060" y="308457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5060" y="280949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060" y="253441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5060" y="225932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5060" y="198424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5060" y="3649739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3303" y="3649739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9791" y="3649739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8035" y="3649739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1547" y="519523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1547" y="464506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1547" y="4094903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1547" y="2994575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1547" y="244441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1547" y="189424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8" name="Freeform 7"/>
          <p:cNvSpPr/>
          <p:nvPr/>
        </p:nvSpPr>
        <p:spPr>
          <a:xfrm>
            <a:off x="1872548" y="2014711"/>
            <a:ext cx="2737998" cy="1619950"/>
          </a:xfrm>
          <a:custGeom>
            <a:avLst/>
            <a:gdLst/>
            <a:ahLst/>
            <a:cxnLst/>
            <a:rect l="l" t="t" r="r" b="b"/>
            <a:pathLst>
              <a:path w="2737998" h="1619950">
                <a:moveTo>
                  <a:pt x="0" y="0"/>
                </a:moveTo>
                <a:lnTo>
                  <a:pt x="18883" y="44382"/>
                </a:lnTo>
                <a:lnTo>
                  <a:pt x="37766" y="88148"/>
                </a:lnTo>
                <a:lnTo>
                  <a:pt x="56649" y="131297"/>
                </a:lnTo>
                <a:lnTo>
                  <a:pt x="75531" y="173830"/>
                </a:lnTo>
                <a:lnTo>
                  <a:pt x="94414" y="215747"/>
                </a:lnTo>
                <a:lnTo>
                  <a:pt x="113297" y="257047"/>
                </a:lnTo>
                <a:lnTo>
                  <a:pt x="132179" y="297731"/>
                </a:lnTo>
                <a:lnTo>
                  <a:pt x="151062" y="337798"/>
                </a:lnTo>
                <a:lnTo>
                  <a:pt x="169945" y="377249"/>
                </a:lnTo>
                <a:lnTo>
                  <a:pt x="188828" y="416083"/>
                </a:lnTo>
                <a:lnTo>
                  <a:pt x="207710" y="454301"/>
                </a:lnTo>
                <a:lnTo>
                  <a:pt x="226593" y="491903"/>
                </a:lnTo>
                <a:lnTo>
                  <a:pt x="245476" y="528888"/>
                </a:lnTo>
                <a:lnTo>
                  <a:pt x="264359" y="565257"/>
                </a:lnTo>
                <a:lnTo>
                  <a:pt x="283241" y="601009"/>
                </a:lnTo>
                <a:lnTo>
                  <a:pt x="302124" y="636145"/>
                </a:lnTo>
                <a:lnTo>
                  <a:pt x="321007" y="670664"/>
                </a:lnTo>
                <a:lnTo>
                  <a:pt x="339890" y="704568"/>
                </a:lnTo>
                <a:lnTo>
                  <a:pt x="358772" y="737854"/>
                </a:lnTo>
                <a:lnTo>
                  <a:pt x="377655" y="770524"/>
                </a:lnTo>
                <a:lnTo>
                  <a:pt x="396538" y="802578"/>
                </a:lnTo>
                <a:lnTo>
                  <a:pt x="415421" y="834016"/>
                </a:lnTo>
                <a:lnTo>
                  <a:pt x="434303" y="864837"/>
                </a:lnTo>
                <a:lnTo>
                  <a:pt x="453186" y="895041"/>
                </a:lnTo>
                <a:lnTo>
                  <a:pt x="472069" y="924629"/>
                </a:lnTo>
                <a:lnTo>
                  <a:pt x="490952" y="953601"/>
                </a:lnTo>
                <a:lnTo>
                  <a:pt x="509834" y="981956"/>
                </a:lnTo>
                <a:lnTo>
                  <a:pt x="528717" y="1009695"/>
                </a:lnTo>
                <a:lnTo>
                  <a:pt x="547600" y="1036818"/>
                </a:lnTo>
                <a:lnTo>
                  <a:pt x="566483" y="1063324"/>
                </a:lnTo>
                <a:lnTo>
                  <a:pt x="585365" y="1089213"/>
                </a:lnTo>
                <a:lnTo>
                  <a:pt x="604248" y="1114486"/>
                </a:lnTo>
                <a:lnTo>
                  <a:pt x="623131" y="1139143"/>
                </a:lnTo>
                <a:lnTo>
                  <a:pt x="642013" y="1163184"/>
                </a:lnTo>
                <a:lnTo>
                  <a:pt x="660896" y="1186608"/>
                </a:lnTo>
                <a:lnTo>
                  <a:pt x="679779" y="1209415"/>
                </a:lnTo>
                <a:lnTo>
                  <a:pt x="698662" y="1231606"/>
                </a:lnTo>
                <a:lnTo>
                  <a:pt x="717544" y="1253181"/>
                </a:lnTo>
                <a:lnTo>
                  <a:pt x="736427" y="1274139"/>
                </a:lnTo>
                <a:lnTo>
                  <a:pt x="755310" y="1294481"/>
                </a:lnTo>
                <a:lnTo>
                  <a:pt x="774193" y="1314206"/>
                </a:lnTo>
                <a:lnTo>
                  <a:pt x="793075" y="1333315"/>
                </a:lnTo>
                <a:lnTo>
                  <a:pt x="811958" y="1351808"/>
                </a:lnTo>
                <a:lnTo>
                  <a:pt x="830841" y="1369684"/>
                </a:lnTo>
                <a:lnTo>
                  <a:pt x="849724" y="1386944"/>
                </a:lnTo>
                <a:lnTo>
                  <a:pt x="868606" y="1403587"/>
                </a:lnTo>
                <a:lnTo>
                  <a:pt x="887489" y="1419614"/>
                </a:lnTo>
                <a:lnTo>
                  <a:pt x="906372" y="1435025"/>
                </a:lnTo>
                <a:lnTo>
                  <a:pt x="925255" y="1449819"/>
                </a:lnTo>
                <a:lnTo>
                  <a:pt x="944137" y="1463996"/>
                </a:lnTo>
                <a:lnTo>
                  <a:pt x="963020" y="1477558"/>
                </a:lnTo>
                <a:lnTo>
                  <a:pt x="981903" y="1490502"/>
                </a:lnTo>
                <a:lnTo>
                  <a:pt x="1000786" y="1502831"/>
                </a:lnTo>
                <a:lnTo>
                  <a:pt x="1019668" y="1514543"/>
                </a:lnTo>
                <a:lnTo>
                  <a:pt x="1038551" y="1525638"/>
                </a:lnTo>
                <a:lnTo>
                  <a:pt x="1057434" y="1536117"/>
                </a:lnTo>
                <a:lnTo>
                  <a:pt x="1076317" y="1545980"/>
                </a:lnTo>
                <a:lnTo>
                  <a:pt x="1095199" y="1555226"/>
                </a:lnTo>
                <a:lnTo>
                  <a:pt x="1114082" y="1563856"/>
                </a:lnTo>
                <a:lnTo>
                  <a:pt x="1132965" y="1571870"/>
                </a:lnTo>
                <a:lnTo>
                  <a:pt x="1151847" y="1579267"/>
                </a:lnTo>
                <a:lnTo>
                  <a:pt x="1170730" y="1586047"/>
                </a:lnTo>
                <a:lnTo>
                  <a:pt x="1189613" y="1592212"/>
                </a:lnTo>
                <a:lnTo>
                  <a:pt x="1208496" y="1597759"/>
                </a:lnTo>
                <a:lnTo>
                  <a:pt x="1227378" y="1602691"/>
                </a:lnTo>
                <a:lnTo>
                  <a:pt x="1246261" y="1607006"/>
                </a:lnTo>
                <a:lnTo>
                  <a:pt x="1265144" y="1610704"/>
                </a:lnTo>
                <a:lnTo>
                  <a:pt x="1284027" y="1613786"/>
                </a:lnTo>
                <a:lnTo>
                  <a:pt x="1302909" y="1616252"/>
                </a:lnTo>
                <a:lnTo>
                  <a:pt x="1321792" y="1618101"/>
                </a:lnTo>
                <a:lnTo>
                  <a:pt x="1340675" y="1619334"/>
                </a:lnTo>
                <a:lnTo>
                  <a:pt x="1359558" y="1619950"/>
                </a:lnTo>
                <a:lnTo>
                  <a:pt x="1378440" y="1619950"/>
                </a:lnTo>
                <a:lnTo>
                  <a:pt x="1397323" y="1619334"/>
                </a:lnTo>
                <a:lnTo>
                  <a:pt x="1416206" y="1618101"/>
                </a:lnTo>
                <a:lnTo>
                  <a:pt x="1435089" y="1616252"/>
                </a:lnTo>
                <a:lnTo>
                  <a:pt x="1453971" y="1613786"/>
                </a:lnTo>
                <a:lnTo>
                  <a:pt x="1472854" y="1610704"/>
                </a:lnTo>
                <a:lnTo>
                  <a:pt x="1491737" y="1607006"/>
                </a:lnTo>
                <a:lnTo>
                  <a:pt x="1510620" y="1602691"/>
                </a:lnTo>
                <a:lnTo>
                  <a:pt x="1529502" y="1597759"/>
                </a:lnTo>
                <a:lnTo>
                  <a:pt x="1548385" y="1592212"/>
                </a:lnTo>
                <a:lnTo>
                  <a:pt x="1567268" y="1586047"/>
                </a:lnTo>
                <a:lnTo>
                  <a:pt x="1586151" y="1579267"/>
                </a:lnTo>
                <a:lnTo>
                  <a:pt x="1605033" y="1571870"/>
                </a:lnTo>
                <a:lnTo>
                  <a:pt x="1623916" y="1563856"/>
                </a:lnTo>
                <a:lnTo>
                  <a:pt x="1642799" y="1555226"/>
                </a:lnTo>
                <a:lnTo>
                  <a:pt x="1661681" y="1545980"/>
                </a:lnTo>
                <a:lnTo>
                  <a:pt x="1680564" y="1536117"/>
                </a:lnTo>
                <a:lnTo>
                  <a:pt x="1699447" y="1525638"/>
                </a:lnTo>
                <a:lnTo>
                  <a:pt x="1718330" y="1514543"/>
                </a:lnTo>
                <a:lnTo>
                  <a:pt x="1737212" y="1502831"/>
                </a:lnTo>
                <a:lnTo>
                  <a:pt x="1756095" y="1490502"/>
                </a:lnTo>
                <a:lnTo>
                  <a:pt x="1774978" y="1477558"/>
                </a:lnTo>
                <a:lnTo>
                  <a:pt x="1793861" y="1463996"/>
                </a:lnTo>
                <a:lnTo>
                  <a:pt x="1812743" y="1449819"/>
                </a:lnTo>
                <a:lnTo>
                  <a:pt x="1831626" y="1435025"/>
                </a:lnTo>
                <a:lnTo>
                  <a:pt x="1850509" y="1419614"/>
                </a:lnTo>
                <a:lnTo>
                  <a:pt x="1869392" y="1403587"/>
                </a:lnTo>
                <a:lnTo>
                  <a:pt x="1888274" y="1386944"/>
                </a:lnTo>
                <a:lnTo>
                  <a:pt x="1907157" y="1369684"/>
                </a:lnTo>
                <a:lnTo>
                  <a:pt x="1926040" y="1351808"/>
                </a:lnTo>
                <a:lnTo>
                  <a:pt x="1944923" y="1333315"/>
                </a:lnTo>
                <a:lnTo>
                  <a:pt x="1963805" y="1314206"/>
                </a:lnTo>
                <a:lnTo>
                  <a:pt x="1982688" y="1294481"/>
                </a:lnTo>
                <a:lnTo>
                  <a:pt x="2001571" y="1274139"/>
                </a:lnTo>
                <a:lnTo>
                  <a:pt x="2020454" y="1253181"/>
                </a:lnTo>
                <a:lnTo>
                  <a:pt x="2039336" y="1231606"/>
                </a:lnTo>
                <a:lnTo>
                  <a:pt x="2058219" y="1209415"/>
                </a:lnTo>
                <a:lnTo>
                  <a:pt x="2077102" y="1186608"/>
                </a:lnTo>
                <a:lnTo>
                  <a:pt x="2095985" y="1163184"/>
                </a:lnTo>
                <a:lnTo>
                  <a:pt x="2114867" y="1139143"/>
                </a:lnTo>
                <a:lnTo>
                  <a:pt x="2133750" y="1114486"/>
                </a:lnTo>
                <a:lnTo>
                  <a:pt x="2152633" y="1089213"/>
                </a:lnTo>
                <a:lnTo>
                  <a:pt x="2171515" y="1063324"/>
                </a:lnTo>
                <a:lnTo>
                  <a:pt x="2190398" y="1036818"/>
                </a:lnTo>
                <a:lnTo>
                  <a:pt x="2209281" y="1009695"/>
                </a:lnTo>
                <a:lnTo>
                  <a:pt x="2228164" y="981956"/>
                </a:lnTo>
                <a:lnTo>
                  <a:pt x="2247046" y="953601"/>
                </a:lnTo>
                <a:lnTo>
                  <a:pt x="2265929" y="924629"/>
                </a:lnTo>
                <a:lnTo>
                  <a:pt x="2284812" y="895041"/>
                </a:lnTo>
                <a:lnTo>
                  <a:pt x="2303695" y="864837"/>
                </a:lnTo>
                <a:lnTo>
                  <a:pt x="2322577" y="834016"/>
                </a:lnTo>
                <a:lnTo>
                  <a:pt x="2341460" y="802578"/>
                </a:lnTo>
                <a:lnTo>
                  <a:pt x="2360343" y="770524"/>
                </a:lnTo>
                <a:lnTo>
                  <a:pt x="2379226" y="737854"/>
                </a:lnTo>
                <a:lnTo>
                  <a:pt x="2398108" y="704568"/>
                </a:lnTo>
                <a:lnTo>
                  <a:pt x="2416991" y="670664"/>
                </a:lnTo>
                <a:lnTo>
                  <a:pt x="2435874" y="636145"/>
                </a:lnTo>
                <a:lnTo>
                  <a:pt x="2454757" y="601009"/>
                </a:lnTo>
                <a:lnTo>
                  <a:pt x="2473639" y="565257"/>
                </a:lnTo>
                <a:lnTo>
                  <a:pt x="2492522" y="528888"/>
                </a:lnTo>
                <a:lnTo>
                  <a:pt x="2511405" y="491903"/>
                </a:lnTo>
                <a:lnTo>
                  <a:pt x="2530288" y="454301"/>
                </a:lnTo>
                <a:lnTo>
                  <a:pt x="2549170" y="416083"/>
                </a:lnTo>
                <a:lnTo>
                  <a:pt x="2568053" y="377249"/>
                </a:lnTo>
                <a:lnTo>
                  <a:pt x="2586936" y="337798"/>
                </a:lnTo>
                <a:lnTo>
                  <a:pt x="2605819" y="297731"/>
                </a:lnTo>
                <a:lnTo>
                  <a:pt x="2624701" y="257047"/>
                </a:lnTo>
                <a:lnTo>
                  <a:pt x="2643584" y="215747"/>
                </a:lnTo>
                <a:lnTo>
                  <a:pt x="2662467" y="173830"/>
                </a:lnTo>
                <a:lnTo>
                  <a:pt x="2681349" y="131297"/>
                </a:lnTo>
                <a:lnTo>
                  <a:pt x="2700232" y="88148"/>
                </a:lnTo>
                <a:lnTo>
                  <a:pt x="2719115" y="44382"/>
                </a:lnTo>
                <a:lnTo>
                  <a:pt x="2737998" y="0"/>
                </a:lnTo>
              </a:path>
            </a:pathLst>
          </a:custGeom>
          <a:noFill/>
          <a:ln w="30480">
            <a:solidFill>
              <a:srgbClr val="5C6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Freeform 44"/>
          <p:cNvSpPr/>
          <p:nvPr/>
        </p:nvSpPr>
        <p:spPr>
          <a:xfrm>
            <a:off x="1872548" y="3634816"/>
            <a:ext cx="2737998" cy="1619950"/>
          </a:xfrm>
          <a:custGeom>
            <a:avLst/>
            <a:gdLst/>
            <a:ahLst/>
            <a:cxnLst/>
            <a:rect l="l" t="t" r="r" b="b"/>
            <a:pathLst>
              <a:path w="2737998" h="1619950">
                <a:moveTo>
                  <a:pt x="0" y="1619950"/>
                </a:moveTo>
                <a:lnTo>
                  <a:pt x="18883" y="1575568"/>
                </a:lnTo>
                <a:lnTo>
                  <a:pt x="37766" y="1531802"/>
                </a:lnTo>
                <a:lnTo>
                  <a:pt x="56649" y="1488653"/>
                </a:lnTo>
                <a:lnTo>
                  <a:pt x="75531" y="1446120"/>
                </a:lnTo>
                <a:lnTo>
                  <a:pt x="94414" y="1404203"/>
                </a:lnTo>
                <a:lnTo>
                  <a:pt x="113297" y="1362903"/>
                </a:lnTo>
                <a:lnTo>
                  <a:pt x="132179" y="1322219"/>
                </a:lnTo>
                <a:lnTo>
                  <a:pt x="151062" y="1282152"/>
                </a:lnTo>
                <a:lnTo>
                  <a:pt x="169945" y="1242701"/>
                </a:lnTo>
                <a:lnTo>
                  <a:pt x="188828" y="1203867"/>
                </a:lnTo>
                <a:lnTo>
                  <a:pt x="207710" y="1165649"/>
                </a:lnTo>
                <a:lnTo>
                  <a:pt x="226593" y="1128047"/>
                </a:lnTo>
                <a:lnTo>
                  <a:pt x="245476" y="1091062"/>
                </a:lnTo>
                <a:lnTo>
                  <a:pt x="264359" y="1054693"/>
                </a:lnTo>
                <a:lnTo>
                  <a:pt x="283241" y="1018941"/>
                </a:lnTo>
                <a:lnTo>
                  <a:pt x="302124" y="983805"/>
                </a:lnTo>
                <a:lnTo>
                  <a:pt x="321007" y="949286"/>
                </a:lnTo>
                <a:lnTo>
                  <a:pt x="339890" y="915382"/>
                </a:lnTo>
                <a:lnTo>
                  <a:pt x="358772" y="882096"/>
                </a:lnTo>
                <a:lnTo>
                  <a:pt x="377655" y="849426"/>
                </a:lnTo>
                <a:lnTo>
                  <a:pt x="396538" y="817372"/>
                </a:lnTo>
                <a:lnTo>
                  <a:pt x="415421" y="785934"/>
                </a:lnTo>
                <a:lnTo>
                  <a:pt x="434303" y="755113"/>
                </a:lnTo>
                <a:lnTo>
                  <a:pt x="453186" y="724909"/>
                </a:lnTo>
                <a:lnTo>
                  <a:pt x="472069" y="695321"/>
                </a:lnTo>
                <a:lnTo>
                  <a:pt x="490952" y="666349"/>
                </a:lnTo>
                <a:lnTo>
                  <a:pt x="509834" y="637994"/>
                </a:lnTo>
                <a:lnTo>
                  <a:pt x="528717" y="610255"/>
                </a:lnTo>
                <a:lnTo>
                  <a:pt x="547600" y="583132"/>
                </a:lnTo>
                <a:lnTo>
                  <a:pt x="566483" y="556626"/>
                </a:lnTo>
                <a:lnTo>
                  <a:pt x="585365" y="530737"/>
                </a:lnTo>
                <a:lnTo>
                  <a:pt x="604248" y="505464"/>
                </a:lnTo>
                <a:lnTo>
                  <a:pt x="623131" y="480807"/>
                </a:lnTo>
                <a:lnTo>
                  <a:pt x="642013" y="456766"/>
                </a:lnTo>
                <a:lnTo>
                  <a:pt x="660896" y="433342"/>
                </a:lnTo>
                <a:lnTo>
                  <a:pt x="679779" y="410535"/>
                </a:lnTo>
                <a:lnTo>
                  <a:pt x="698662" y="388344"/>
                </a:lnTo>
                <a:lnTo>
                  <a:pt x="717544" y="366769"/>
                </a:lnTo>
                <a:lnTo>
                  <a:pt x="736427" y="345811"/>
                </a:lnTo>
                <a:lnTo>
                  <a:pt x="755310" y="325469"/>
                </a:lnTo>
                <a:lnTo>
                  <a:pt x="774193" y="305744"/>
                </a:lnTo>
                <a:lnTo>
                  <a:pt x="793075" y="286635"/>
                </a:lnTo>
                <a:lnTo>
                  <a:pt x="811958" y="268142"/>
                </a:lnTo>
                <a:lnTo>
                  <a:pt x="830841" y="250266"/>
                </a:lnTo>
                <a:lnTo>
                  <a:pt x="849724" y="233006"/>
                </a:lnTo>
                <a:lnTo>
                  <a:pt x="868606" y="216363"/>
                </a:lnTo>
                <a:lnTo>
                  <a:pt x="887489" y="200336"/>
                </a:lnTo>
                <a:lnTo>
                  <a:pt x="906372" y="184925"/>
                </a:lnTo>
                <a:lnTo>
                  <a:pt x="925255" y="170131"/>
                </a:lnTo>
                <a:lnTo>
                  <a:pt x="944137" y="155954"/>
                </a:lnTo>
                <a:lnTo>
                  <a:pt x="963020" y="142392"/>
                </a:lnTo>
                <a:lnTo>
                  <a:pt x="981903" y="129448"/>
                </a:lnTo>
                <a:lnTo>
                  <a:pt x="1000786" y="117119"/>
                </a:lnTo>
                <a:lnTo>
                  <a:pt x="1019668" y="105407"/>
                </a:lnTo>
                <a:lnTo>
                  <a:pt x="1038551" y="94312"/>
                </a:lnTo>
                <a:lnTo>
                  <a:pt x="1057434" y="83833"/>
                </a:lnTo>
                <a:lnTo>
                  <a:pt x="1076317" y="73970"/>
                </a:lnTo>
                <a:lnTo>
                  <a:pt x="1095199" y="64724"/>
                </a:lnTo>
                <a:lnTo>
                  <a:pt x="1114082" y="56094"/>
                </a:lnTo>
                <a:lnTo>
                  <a:pt x="1132965" y="48080"/>
                </a:lnTo>
                <a:lnTo>
                  <a:pt x="1151847" y="40683"/>
                </a:lnTo>
                <a:lnTo>
                  <a:pt x="1170730" y="33903"/>
                </a:lnTo>
                <a:lnTo>
                  <a:pt x="1189613" y="27738"/>
                </a:lnTo>
                <a:lnTo>
                  <a:pt x="1208496" y="22191"/>
                </a:lnTo>
                <a:lnTo>
                  <a:pt x="1227378" y="17259"/>
                </a:lnTo>
                <a:lnTo>
                  <a:pt x="1246261" y="12944"/>
                </a:lnTo>
                <a:lnTo>
                  <a:pt x="1265144" y="9246"/>
                </a:lnTo>
                <a:lnTo>
                  <a:pt x="1284027" y="6164"/>
                </a:lnTo>
                <a:lnTo>
                  <a:pt x="1302909" y="3698"/>
                </a:lnTo>
                <a:lnTo>
                  <a:pt x="1321792" y="1849"/>
                </a:lnTo>
                <a:lnTo>
                  <a:pt x="1340675" y="616"/>
                </a:lnTo>
                <a:lnTo>
                  <a:pt x="1359558" y="0"/>
                </a:lnTo>
                <a:lnTo>
                  <a:pt x="1378440" y="0"/>
                </a:lnTo>
                <a:lnTo>
                  <a:pt x="1397323" y="616"/>
                </a:lnTo>
                <a:lnTo>
                  <a:pt x="1416206" y="1849"/>
                </a:lnTo>
                <a:lnTo>
                  <a:pt x="1435089" y="3698"/>
                </a:lnTo>
                <a:lnTo>
                  <a:pt x="1453971" y="6164"/>
                </a:lnTo>
                <a:lnTo>
                  <a:pt x="1472854" y="9246"/>
                </a:lnTo>
                <a:lnTo>
                  <a:pt x="1491737" y="12944"/>
                </a:lnTo>
                <a:lnTo>
                  <a:pt x="1510620" y="17259"/>
                </a:lnTo>
                <a:lnTo>
                  <a:pt x="1529502" y="22191"/>
                </a:lnTo>
                <a:lnTo>
                  <a:pt x="1548385" y="27738"/>
                </a:lnTo>
                <a:lnTo>
                  <a:pt x="1567268" y="33903"/>
                </a:lnTo>
                <a:lnTo>
                  <a:pt x="1586151" y="40683"/>
                </a:lnTo>
                <a:lnTo>
                  <a:pt x="1605033" y="48080"/>
                </a:lnTo>
                <a:lnTo>
                  <a:pt x="1623916" y="56094"/>
                </a:lnTo>
                <a:lnTo>
                  <a:pt x="1642799" y="64724"/>
                </a:lnTo>
                <a:lnTo>
                  <a:pt x="1661681" y="73970"/>
                </a:lnTo>
                <a:lnTo>
                  <a:pt x="1680564" y="83833"/>
                </a:lnTo>
                <a:lnTo>
                  <a:pt x="1699447" y="94312"/>
                </a:lnTo>
                <a:lnTo>
                  <a:pt x="1718330" y="105407"/>
                </a:lnTo>
                <a:lnTo>
                  <a:pt x="1737212" y="117119"/>
                </a:lnTo>
                <a:lnTo>
                  <a:pt x="1756095" y="129448"/>
                </a:lnTo>
                <a:lnTo>
                  <a:pt x="1774978" y="142392"/>
                </a:lnTo>
                <a:lnTo>
                  <a:pt x="1793861" y="155954"/>
                </a:lnTo>
                <a:lnTo>
                  <a:pt x="1812743" y="170131"/>
                </a:lnTo>
                <a:lnTo>
                  <a:pt x="1831626" y="184925"/>
                </a:lnTo>
                <a:lnTo>
                  <a:pt x="1850509" y="200336"/>
                </a:lnTo>
                <a:lnTo>
                  <a:pt x="1869392" y="216363"/>
                </a:lnTo>
                <a:lnTo>
                  <a:pt x="1888274" y="233006"/>
                </a:lnTo>
                <a:lnTo>
                  <a:pt x="1907157" y="250266"/>
                </a:lnTo>
                <a:lnTo>
                  <a:pt x="1926040" y="268142"/>
                </a:lnTo>
                <a:lnTo>
                  <a:pt x="1944923" y="286635"/>
                </a:lnTo>
                <a:lnTo>
                  <a:pt x="1963805" y="305744"/>
                </a:lnTo>
                <a:lnTo>
                  <a:pt x="1982688" y="325469"/>
                </a:lnTo>
                <a:lnTo>
                  <a:pt x="2001571" y="345811"/>
                </a:lnTo>
                <a:lnTo>
                  <a:pt x="2020454" y="366769"/>
                </a:lnTo>
                <a:lnTo>
                  <a:pt x="2039336" y="388344"/>
                </a:lnTo>
                <a:lnTo>
                  <a:pt x="2058219" y="410535"/>
                </a:lnTo>
                <a:lnTo>
                  <a:pt x="2077102" y="433342"/>
                </a:lnTo>
                <a:lnTo>
                  <a:pt x="2095985" y="456766"/>
                </a:lnTo>
                <a:lnTo>
                  <a:pt x="2114867" y="480807"/>
                </a:lnTo>
                <a:lnTo>
                  <a:pt x="2133750" y="505464"/>
                </a:lnTo>
                <a:lnTo>
                  <a:pt x="2152633" y="530737"/>
                </a:lnTo>
                <a:lnTo>
                  <a:pt x="2171515" y="556626"/>
                </a:lnTo>
                <a:lnTo>
                  <a:pt x="2190398" y="583132"/>
                </a:lnTo>
                <a:lnTo>
                  <a:pt x="2209281" y="610255"/>
                </a:lnTo>
                <a:lnTo>
                  <a:pt x="2228164" y="637994"/>
                </a:lnTo>
                <a:lnTo>
                  <a:pt x="2247046" y="666349"/>
                </a:lnTo>
                <a:lnTo>
                  <a:pt x="2265929" y="695321"/>
                </a:lnTo>
                <a:lnTo>
                  <a:pt x="2284812" y="724909"/>
                </a:lnTo>
                <a:lnTo>
                  <a:pt x="2303695" y="755113"/>
                </a:lnTo>
                <a:lnTo>
                  <a:pt x="2322577" y="785934"/>
                </a:lnTo>
                <a:lnTo>
                  <a:pt x="2341460" y="817372"/>
                </a:lnTo>
                <a:lnTo>
                  <a:pt x="2360343" y="849426"/>
                </a:lnTo>
                <a:lnTo>
                  <a:pt x="2379226" y="882096"/>
                </a:lnTo>
                <a:lnTo>
                  <a:pt x="2398108" y="915382"/>
                </a:lnTo>
                <a:lnTo>
                  <a:pt x="2416991" y="949286"/>
                </a:lnTo>
                <a:lnTo>
                  <a:pt x="2435874" y="983805"/>
                </a:lnTo>
                <a:lnTo>
                  <a:pt x="2454757" y="1018941"/>
                </a:lnTo>
                <a:lnTo>
                  <a:pt x="2473639" y="1054693"/>
                </a:lnTo>
                <a:lnTo>
                  <a:pt x="2492522" y="1091062"/>
                </a:lnTo>
                <a:lnTo>
                  <a:pt x="2511405" y="1128047"/>
                </a:lnTo>
                <a:lnTo>
                  <a:pt x="2530288" y="1165649"/>
                </a:lnTo>
                <a:lnTo>
                  <a:pt x="2549170" y="1203867"/>
                </a:lnTo>
                <a:lnTo>
                  <a:pt x="2568053" y="1242701"/>
                </a:lnTo>
                <a:lnTo>
                  <a:pt x="2586936" y="1282152"/>
                </a:lnTo>
                <a:lnTo>
                  <a:pt x="2605819" y="1322219"/>
                </a:lnTo>
                <a:lnTo>
                  <a:pt x="2624701" y="1362903"/>
                </a:lnTo>
                <a:lnTo>
                  <a:pt x="2643584" y="1404203"/>
                </a:lnTo>
                <a:lnTo>
                  <a:pt x="2662467" y="1446120"/>
                </a:lnTo>
                <a:lnTo>
                  <a:pt x="2681349" y="1488653"/>
                </a:lnTo>
                <a:lnTo>
                  <a:pt x="2700232" y="1531802"/>
                </a:lnTo>
                <a:lnTo>
                  <a:pt x="2719115" y="1575568"/>
                </a:lnTo>
                <a:lnTo>
                  <a:pt x="2737998" y="1619950"/>
                </a:lnTo>
              </a:path>
            </a:pathLst>
          </a:custGeom>
          <a:noFill/>
          <a:ln w="38100">
            <a:solidFill>
              <a:srgbClr val="C84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081303" y="2502411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645425" y="3327657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209547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773669" y="3327657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4337791" y="2502411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2081303" y="4703067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2645425" y="3877821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209547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3773669" y="3877821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337791" y="4703067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6" name="Connector 55"/>
          <p:cNvCxnSpPr/>
          <p:nvPr/>
        </p:nvCxnSpPr>
        <p:spPr>
          <a:xfrm>
            <a:off x="1285060" y="5415231"/>
            <a:ext cx="350000" cy="0"/>
          </a:xfrm>
          <a:prstGeom prst="line">
            <a:avLst/>
          </a:prstGeom>
          <a:ln w="30480">
            <a:solidFill>
              <a:srgbClr val="5C6B6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685060" y="5325231"/>
            <a:ext cx="14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C2A22"/>
                </a:solidFill>
                <a:latin typeface="Cambria"/>
              </a:rPr>
              <a:t>y = f(x)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285060" y="5415231"/>
            <a:ext cx="350000" cy="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85060" y="5325231"/>
            <a:ext cx="18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C2A22"/>
                </a:solidFill>
                <a:latin typeface="Cambria"/>
              </a:rPr>
              <a:t>y = −f(x)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HORIZONTAL TRANSLATION · 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y = f(x + 2)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Inside the bracket → do the OPPOSITE of the sign. ‘+2’ inside shifts the whole graph LEFT by 2 units.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74519"/>
          <a:ext cx="5358384" cy="3401568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Original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New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(-4,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(-3,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(-2,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(0, 4)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Rule: (x, y) → (x − 2, y).  Every point moves left 2 units — the classic trap.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506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635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8765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38952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9025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9284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44142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9544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4673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9803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5060" y="52852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5060" y="501014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060" y="473506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060" y="445998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5060" y="418490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060" y="390982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5060" y="335965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060" y="308457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5060" y="280949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5060" y="253441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5060" y="225932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5060" y="198424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5060" y="4735067"/>
            <a:ext cx="4512975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92845" y="1984247"/>
            <a:ext cx="0" cy="3300984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5060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655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40250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5440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8035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2845" y="519523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2845" y="4094903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2845" y="3544739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72845" y="2994575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2845" y="244441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72845" y="189424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10</a:t>
            </a:r>
          </a:p>
        </p:txBody>
      </p:sp>
      <p:sp>
        <p:nvSpPr>
          <p:cNvPr id="8" name="Freeform 7"/>
          <p:cNvSpPr/>
          <p:nvPr/>
        </p:nvSpPr>
        <p:spPr>
          <a:xfrm>
            <a:off x="2269086" y="1997220"/>
            <a:ext cx="2832411" cy="2737769"/>
          </a:xfrm>
          <a:custGeom>
            <a:avLst/>
            <a:gdLst/>
            <a:ahLst/>
            <a:cxnLst/>
            <a:rect l="l" t="t" r="r" b="b"/>
            <a:pathLst>
              <a:path w="2832411" h="2737769">
                <a:moveTo>
                  <a:pt x="0" y="0"/>
                </a:moveTo>
                <a:lnTo>
                  <a:pt x="18883" y="72141"/>
                </a:lnTo>
                <a:lnTo>
                  <a:pt x="37765" y="143318"/>
                </a:lnTo>
                <a:lnTo>
                  <a:pt x="56648" y="213532"/>
                </a:lnTo>
                <a:lnTo>
                  <a:pt x="75531" y="282783"/>
                </a:lnTo>
                <a:lnTo>
                  <a:pt x="94414" y="351070"/>
                </a:lnTo>
                <a:lnTo>
                  <a:pt x="113296" y="418395"/>
                </a:lnTo>
                <a:lnTo>
                  <a:pt x="132179" y="484756"/>
                </a:lnTo>
                <a:lnTo>
                  <a:pt x="151062" y="550155"/>
                </a:lnTo>
                <a:lnTo>
                  <a:pt x="169945" y="614590"/>
                </a:lnTo>
                <a:lnTo>
                  <a:pt x="188827" y="678062"/>
                </a:lnTo>
                <a:lnTo>
                  <a:pt x="207710" y="740570"/>
                </a:lnTo>
                <a:lnTo>
                  <a:pt x="226593" y="802116"/>
                </a:lnTo>
                <a:lnTo>
                  <a:pt x="245475" y="862699"/>
                </a:lnTo>
                <a:lnTo>
                  <a:pt x="264358" y="922318"/>
                </a:lnTo>
                <a:lnTo>
                  <a:pt x="283241" y="980974"/>
                </a:lnTo>
                <a:lnTo>
                  <a:pt x="302124" y="1038667"/>
                </a:lnTo>
                <a:lnTo>
                  <a:pt x="321006" y="1095397"/>
                </a:lnTo>
                <a:lnTo>
                  <a:pt x="339889" y="1151164"/>
                </a:lnTo>
                <a:lnTo>
                  <a:pt x="358772" y="1205967"/>
                </a:lnTo>
                <a:lnTo>
                  <a:pt x="377655" y="1259807"/>
                </a:lnTo>
                <a:lnTo>
                  <a:pt x="396537" y="1312685"/>
                </a:lnTo>
                <a:lnTo>
                  <a:pt x="415420" y="1364599"/>
                </a:lnTo>
                <a:lnTo>
                  <a:pt x="434303" y="1415550"/>
                </a:lnTo>
                <a:lnTo>
                  <a:pt x="453186" y="1465537"/>
                </a:lnTo>
                <a:lnTo>
                  <a:pt x="472068" y="1514562"/>
                </a:lnTo>
                <a:lnTo>
                  <a:pt x="490951" y="1562624"/>
                </a:lnTo>
                <a:lnTo>
                  <a:pt x="509834" y="1609722"/>
                </a:lnTo>
                <a:lnTo>
                  <a:pt x="528717" y="1655857"/>
                </a:lnTo>
                <a:lnTo>
                  <a:pt x="547599" y="1701029"/>
                </a:lnTo>
                <a:lnTo>
                  <a:pt x="566482" y="1745238"/>
                </a:lnTo>
                <a:lnTo>
                  <a:pt x="585365" y="1788483"/>
                </a:lnTo>
                <a:lnTo>
                  <a:pt x="604248" y="1830766"/>
                </a:lnTo>
                <a:lnTo>
                  <a:pt x="623130" y="1872085"/>
                </a:lnTo>
                <a:lnTo>
                  <a:pt x="642013" y="1912442"/>
                </a:lnTo>
                <a:lnTo>
                  <a:pt x="660896" y="1951835"/>
                </a:lnTo>
                <a:lnTo>
                  <a:pt x="679779" y="1990265"/>
                </a:lnTo>
                <a:lnTo>
                  <a:pt x="698661" y="2027731"/>
                </a:lnTo>
                <a:lnTo>
                  <a:pt x="717544" y="2064235"/>
                </a:lnTo>
                <a:lnTo>
                  <a:pt x="736427" y="2099775"/>
                </a:lnTo>
                <a:lnTo>
                  <a:pt x="755309" y="2134353"/>
                </a:lnTo>
                <a:lnTo>
                  <a:pt x="774192" y="2167967"/>
                </a:lnTo>
                <a:lnTo>
                  <a:pt x="793075" y="2200618"/>
                </a:lnTo>
                <a:lnTo>
                  <a:pt x="811958" y="2232305"/>
                </a:lnTo>
                <a:lnTo>
                  <a:pt x="830840" y="2263030"/>
                </a:lnTo>
                <a:lnTo>
                  <a:pt x="849723" y="2292792"/>
                </a:lnTo>
                <a:lnTo>
                  <a:pt x="868606" y="2321590"/>
                </a:lnTo>
                <a:lnTo>
                  <a:pt x="887489" y="2349425"/>
                </a:lnTo>
                <a:lnTo>
                  <a:pt x="906371" y="2376297"/>
                </a:lnTo>
                <a:lnTo>
                  <a:pt x="925254" y="2402206"/>
                </a:lnTo>
                <a:lnTo>
                  <a:pt x="944137" y="2427152"/>
                </a:lnTo>
                <a:lnTo>
                  <a:pt x="963020" y="2451134"/>
                </a:lnTo>
                <a:lnTo>
                  <a:pt x="981902" y="2474154"/>
                </a:lnTo>
                <a:lnTo>
                  <a:pt x="1000785" y="2496210"/>
                </a:lnTo>
                <a:lnTo>
                  <a:pt x="1019668" y="2517303"/>
                </a:lnTo>
                <a:lnTo>
                  <a:pt x="1038551" y="2537433"/>
                </a:lnTo>
                <a:lnTo>
                  <a:pt x="1057433" y="2556600"/>
                </a:lnTo>
                <a:lnTo>
                  <a:pt x="1076316" y="2574804"/>
                </a:lnTo>
                <a:lnTo>
                  <a:pt x="1095199" y="2592044"/>
                </a:lnTo>
                <a:lnTo>
                  <a:pt x="1114082" y="2608321"/>
                </a:lnTo>
                <a:lnTo>
                  <a:pt x="1132964" y="2623636"/>
                </a:lnTo>
                <a:lnTo>
                  <a:pt x="1151847" y="2637987"/>
                </a:lnTo>
                <a:lnTo>
                  <a:pt x="1170730" y="2651374"/>
                </a:lnTo>
                <a:lnTo>
                  <a:pt x="1189613" y="2663799"/>
                </a:lnTo>
                <a:lnTo>
                  <a:pt x="1208495" y="2675261"/>
                </a:lnTo>
                <a:lnTo>
                  <a:pt x="1227378" y="2685759"/>
                </a:lnTo>
                <a:lnTo>
                  <a:pt x="1246261" y="2695294"/>
                </a:lnTo>
                <a:lnTo>
                  <a:pt x="1265143" y="2703866"/>
                </a:lnTo>
                <a:lnTo>
                  <a:pt x="1284026" y="2711475"/>
                </a:lnTo>
                <a:lnTo>
                  <a:pt x="1302909" y="2718121"/>
                </a:lnTo>
                <a:lnTo>
                  <a:pt x="1321792" y="2723804"/>
                </a:lnTo>
                <a:lnTo>
                  <a:pt x="1340674" y="2728523"/>
                </a:lnTo>
                <a:lnTo>
                  <a:pt x="1359557" y="2732279"/>
                </a:lnTo>
                <a:lnTo>
                  <a:pt x="1378440" y="2735073"/>
                </a:lnTo>
                <a:lnTo>
                  <a:pt x="1397323" y="2736903"/>
                </a:lnTo>
                <a:lnTo>
                  <a:pt x="1416205" y="2737769"/>
                </a:lnTo>
                <a:lnTo>
                  <a:pt x="1435088" y="2737673"/>
                </a:lnTo>
                <a:lnTo>
                  <a:pt x="1453971" y="2736614"/>
                </a:lnTo>
                <a:lnTo>
                  <a:pt x="1472854" y="2734591"/>
                </a:lnTo>
                <a:lnTo>
                  <a:pt x="1491736" y="2731605"/>
                </a:lnTo>
                <a:lnTo>
                  <a:pt x="1510619" y="2727656"/>
                </a:lnTo>
                <a:lnTo>
                  <a:pt x="1529502" y="2722744"/>
                </a:lnTo>
                <a:lnTo>
                  <a:pt x="1548385" y="2716869"/>
                </a:lnTo>
                <a:lnTo>
                  <a:pt x="1567267" y="2710031"/>
                </a:lnTo>
                <a:lnTo>
                  <a:pt x="1586150" y="2702229"/>
                </a:lnTo>
                <a:lnTo>
                  <a:pt x="1605033" y="2693464"/>
                </a:lnTo>
                <a:lnTo>
                  <a:pt x="1623916" y="2683736"/>
                </a:lnTo>
                <a:lnTo>
                  <a:pt x="1642798" y="2673045"/>
                </a:lnTo>
                <a:lnTo>
                  <a:pt x="1661681" y="2661391"/>
                </a:lnTo>
                <a:lnTo>
                  <a:pt x="1680564" y="2648774"/>
                </a:lnTo>
                <a:lnTo>
                  <a:pt x="1699447" y="2635193"/>
                </a:lnTo>
                <a:lnTo>
                  <a:pt x="1718329" y="2620650"/>
                </a:lnTo>
                <a:lnTo>
                  <a:pt x="1737212" y="2605143"/>
                </a:lnTo>
                <a:lnTo>
                  <a:pt x="1756095" y="2588673"/>
                </a:lnTo>
                <a:lnTo>
                  <a:pt x="1774977" y="2571240"/>
                </a:lnTo>
                <a:lnTo>
                  <a:pt x="1793860" y="2552844"/>
                </a:lnTo>
                <a:lnTo>
                  <a:pt x="1812743" y="2533484"/>
                </a:lnTo>
                <a:lnTo>
                  <a:pt x="1831626" y="2513162"/>
                </a:lnTo>
                <a:lnTo>
                  <a:pt x="1850508" y="2491876"/>
                </a:lnTo>
                <a:lnTo>
                  <a:pt x="1869391" y="2469627"/>
                </a:lnTo>
                <a:lnTo>
                  <a:pt x="1888274" y="2446415"/>
                </a:lnTo>
                <a:lnTo>
                  <a:pt x="1907157" y="2422240"/>
                </a:lnTo>
                <a:lnTo>
                  <a:pt x="1926039" y="2397101"/>
                </a:lnTo>
                <a:lnTo>
                  <a:pt x="1944922" y="2371000"/>
                </a:lnTo>
                <a:lnTo>
                  <a:pt x="1963805" y="2343935"/>
                </a:lnTo>
                <a:lnTo>
                  <a:pt x="1982688" y="2315907"/>
                </a:lnTo>
                <a:lnTo>
                  <a:pt x="2001570" y="2286916"/>
                </a:lnTo>
                <a:lnTo>
                  <a:pt x="2020453" y="2256962"/>
                </a:lnTo>
                <a:lnTo>
                  <a:pt x="2039336" y="2226045"/>
                </a:lnTo>
                <a:lnTo>
                  <a:pt x="2058219" y="2194165"/>
                </a:lnTo>
                <a:lnTo>
                  <a:pt x="2077101" y="2161321"/>
                </a:lnTo>
                <a:lnTo>
                  <a:pt x="2095984" y="2127514"/>
                </a:lnTo>
                <a:lnTo>
                  <a:pt x="2114867" y="2092744"/>
                </a:lnTo>
                <a:lnTo>
                  <a:pt x="2133750" y="2057011"/>
                </a:lnTo>
                <a:lnTo>
                  <a:pt x="2152632" y="2020315"/>
                </a:lnTo>
                <a:lnTo>
                  <a:pt x="2171515" y="1982656"/>
                </a:lnTo>
                <a:lnTo>
                  <a:pt x="2190398" y="1944033"/>
                </a:lnTo>
                <a:lnTo>
                  <a:pt x="2209281" y="1904447"/>
                </a:lnTo>
                <a:lnTo>
                  <a:pt x="2228163" y="1863899"/>
                </a:lnTo>
                <a:lnTo>
                  <a:pt x="2247046" y="1822387"/>
                </a:lnTo>
                <a:lnTo>
                  <a:pt x="2265929" y="1779911"/>
                </a:lnTo>
                <a:lnTo>
                  <a:pt x="2284811" y="1736473"/>
                </a:lnTo>
                <a:lnTo>
                  <a:pt x="2303694" y="1692072"/>
                </a:lnTo>
                <a:lnTo>
                  <a:pt x="2322577" y="1646707"/>
                </a:lnTo>
                <a:lnTo>
                  <a:pt x="2341460" y="1600379"/>
                </a:lnTo>
                <a:lnTo>
                  <a:pt x="2360342" y="1553088"/>
                </a:lnTo>
                <a:lnTo>
                  <a:pt x="2379225" y="1504834"/>
                </a:lnTo>
                <a:lnTo>
                  <a:pt x="2398108" y="1455617"/>
                </a:lnTo>
                <a:lnTo>
                  <a:pt x="2416991" y="1405437"/>
                </a:lnTo>
                <a:lnTo>
                  <a:pt x="2435873" y="1354293"/>
                </a:lnTo>
                <a:lnTo>
                  <a:pt x="2454756" y="1302186"/>
                </a:lnTo>
                <a:lnTo>
                  <a:pt x="2473639" y="1249116"/>
                </a:lnTo>
                <a:lnTo>
                  <a:pt x="2492522" y="1195083"/>
                </a:lnTo>
                <a:lnTo>
                  <a:pt x="2511404" y="1140087"/>
                </a:lnTo>
                <a:lnTo>
                  <a:pt x="2530287" y="1084128"/>
                </a:lnTo>
                <a:lnTo>
                  <a:pt x="2549170" y="1027205"/>
                </a:lnTo>
                <a:lnTo>
                  <a:pt x="2568053" y="969320"/>
                </a:lnTo>
                <a:lnTo>
                  <a:pt x="2586935" y="910471"/>
                </a:lnTo>
                <a:lnTo>
                  <a:pt x="2605818" y="850659"/>
                </a:lnTo>
                <a:lnTo>
                  <a:pt x="2624701" y="789884"/>
                </a:lnTo>
                <a:lnTo>
                  <a:pt x="2643584" y="728146"/>
                </a:lnTo>
                <a:lnTo>
                  <a:pt x="2662466" y="665444"/>
                </a:lnTo>
                <a:lnTo>
                  <a:pt x="2681349" y="601780"/>
                </a:lnTo>
                <a:lnTo>
                  <a:pt x="2700232" y="537152"/>
                </a:lnTo>
                <a:lnTo>
                  <a:pt x="2719115" y="471561"/>
                </a:lnTo>
                <a:lnTo>
                  <a:pt x="2737997" y="405007"/>
                </a:lnTo>
                <a:lnTo>
                  <a:pt x="2756880" y="337490"/>
                </a:lnTo>
                <a:lnTo>
                  <a:pt x="2775763" y="269010"/>
                </a:lnTo>
                <a:lnTo>
                  <a:pt x="2794645" y="199566"/>
                </a:lnTo>
                <a:lnTo>
                  <a:pt x="2813528" y="129159"/>
                </a:lnTo>
                <a:lnTo>
                  <a:pt x="2832411" y="57790"/>
                </a:lnTo>
              </a:path>
            </a:pathLst>
          </a:custGeom>
          <a:noFill/>
          <a:ln w="30480">
            <a:solidFill>
              <a:srgbClr val="5C6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Freeform 47"/>
          <p:cNvSpPr/>
          <p:nvPr/>
        </p:nvSpPr>
        <p:spPr>
          <a:xfrm>
            <a:off x="1381597" y="1997220"/>
            <a:ext cx="2832411" cy="2737769"/>
          </a:xfrm>
          <a:custGeom>
            <a:avLst/>
            <a:gdLst/>
            <a:ahLst/>
            <a:cxnLst/>
            <a:rect l="l" t="t" r="r" b="b"/>
            <a:pathLst>
              <a:path w="2832411" h="2737769">
                <a:moveTo>
                  <a:pt x="0" y="57790"/>
                </a:moveTo>
                <a:lnTo>
                  <a:pt x="18883" y="129159"/>
                </a:lnTo>
                <a:lnTo>
                  <a:pt x="37766" y="199566"/>
                </a:lnTo>
                <a:lnTo>
                  <a:pt x="56648" y="269010"/>
                </a:lnTo>
                <a:lnTo>
                  <a:pt x="75531" y="337490"/>
                </a:lnTo>
                <a:lnTo>
                  <a:pt x="94414" y="405007"/>
                </a:lnTo>
                <a:lnTo>
                  <a:pt x="113296" y="471561"/>
                </a:lnTo>
                <a:lnTo>
                  <a:pt x="132179" y="537152"/>
                </a:lnTo>
                <a:lnTo>
                  <a:pt x="151062" y="601780"/>
                </a:lnTo>
                <a:lnTo>
                  <a:pt x="169945" y="665444"/>
                </a:lnTo>
                <a:lnTo>
                  <a:pt x="188827" y="728146"/>
                </a:lnTo>
                <a:lnTo>
                  <a:pt x="207710" y="789884"/>
                </a:lnTo>
                <a:lnTo>
                  <a:pt x="226593" y="850659"/>
                </a:lnTo>
                <a:lnTo>
                  <a:pt x="245476" y="910471"/>
                </a:lnTo>
                <a:lnTo>
                  <a:pt x="264358" y="969320"/>
                </a:lnTo>
                <a:lnTo>
                  <a:pt x="283241" y="1027205"/>
                </a:lnTo>
                <a:lnTo>
                  <a:pt x="302124" y="1084128"/>
                </a:lnTo>
                <a:lnTo>
                  <a:pt x="321007" y="1140087"/>
                </a:lnTo>
                <a:lnTo>
                  <a:pt x="339889" y="1195083"/>
                </a:lnTo>
                <a:lnTo>
                  <a:pt x="358772" y="1249116"/>
                </a:lnTo>
                <a:lnTo>
                  <a:pt x="377655" y="1302186"/>
                </a:lnTo>
                <a:lnTo>
                  <a:pt x="396538" y="1354293"/>
                </a:lnTo>
                <a:lnTo>
                  <a:pt x="415420" y="1405437"/>
                </a:lnTo>
                <a:lnTo>
                  <a:pt x="434303" y="1455617"/>
                </a:lnTo>
                <a:lnTo>
                  <a:pt x="453186" y="1504834"/>
                </a:lnTo>
                <a:lnTo>
                  <a:pt x="472069" y="1553088"/>
                </a:lnTo>
                <a:lnTo>
                  <a:pt x="490951" y="1600379"/>
                </a:lnTo>
                <a:lnTo>
                  <a:pt x="509834" y="1646707"/>
                </a:lnTo>
                <a:lnTo>
                  <a:pt x="528717" y="1692072"/>
                </a:lnTo>
                <a:lnTo>
                  <a:pt x="547600" y="1736473"/>
                </a:lnTo>
                <a:lnTo>
                  <a:pt x="566482" y="1779911"/>
                </a:lnTo>
                <a:lnTo>
                  <a:pt x="585365" y="1822387"/>
                </a:lnTo>
                <a:lnTo>
                  <a:pt x="604248" y="1863899"/>
                </a:lnTo>
                <a:lnTo>
                  <a:pt x="623130" y="1904447"/>
                </a:lnTo>
                <a:lnTo>
                  <a:pt x="642013" y="1944033"/>
                </a:lnTo>
                <a:lnTo>
                  <a:pt x="660896" y="1982656"/>
                </a:lnTo>
                <a:lnTo>
                  <a:pt x="679779" y="2020315"/>
                </a:lnTo>
                <a:lnTo>
                  <a:pt x="698661" y="2057011"/>
                </a:lnTo>
                <a:lnTo>
                  <a:pt x="717544" y="2092744"/>
                </a:lnTo>
                <a:lnTo>
                  <a:pt x="736427" y="2127514"/>
                </a:lnTo>
                <a:lnTo>
                  <a:pt x="755310" y="2161321"/>
                </a:lnTo>
                <a:lnTo>
                  <a:pt x="774192" y="2194165"/>
                </a:lnTo>
                <a:lnTo>
                  <a:pt x="793075" y="2226045"/>
                </a:lnTo>
                <a:lnTo>
                  <a:pt x="811958" y="2256962"/>
                </a:lnTo>
                <a:lnTo>
                  <a:pt x="830841" y="2286916"/>
                </a:lnTo>
                <a:lnTo>
                  <a:pt x="849723" y="2315907"/>
                </a:lnTo>
                <a:lnTo>
                  <a:pt x="868606" y="2343935"/>
                </a:lnTo>
                <a:lnTo>
                  <a:pt x="887489" y="2371000"/>
                </a:lnTo>
                <a:lnTo>
                  <a:pt x="906372" y="2397101"/>
                </a:lnTo>
                <a:lnTo>
                  <a:pt x="925254" y="2422240"/>
                </a:lnTo>
                <a:lnTo>
                  <a:pt x="944137" y="2446415"/>
                </a:lnTo>
                <a:lnTo>
                  <a:pt x="963020" y="2469627"/>
                </a:lnTo>
                <a:lnTo>
                  <a:pt x="981903" y="2491876"/>
                </a:lnTo>
                <a:lnTo>
                  <a:pt x="1000785" y="2513162"/>
                </a:lnTo>
                <a:lnTo>
                  <a:pt x="1019668" y="2533484"/>
                </a:lnTo>
                <a:lnTo>
                  <a:pt x="1038551" y="2552844"/>
                </a:lnTo>
                <a:lnTo>
                  <a:pt x="1057434" y="2571240"/>
                </a:lnTo>
                <a:lnTo>
                  <a:pt x="1076316" y="2588673"/>
                </a:lnTo>
                <a:lnTo>
                  <a:pt x="1095199" y="2605143"/>
                </a:lnTo>
                <a:lnTo>
                  <a:pt x="1114082" y="2620650"/>
                </a:lnTo>
                <a:lnTo>
                  <a:pt x="1132964" y="2635193"/>
                </a:lnTo>
                <a:lnTo>
                  <a:pt x="1151847" y="2648774"/>
                </a:lnTo>
                <a:lnTo>
                  <a:pt x="1170730" y="2661391"/>
                </a:lnTo>
                <a:lnTo>
                  <a:pt x="1189613" y="2673045"/>
                </a:lnTo>
                <a:lnTo>
                  <a:pt x="1208495" y="2683736"/>
                </a:lnTo>
                <a:lnTo>
                  <a:pt x="1227378" y="2693464"/>
                </a:lnTo>
                <a:lnTo>
                  <a:pt x="1246261" y="2702229"/>
                </a:lnTo>
                <a:lnTo>
                  <a:pt x="1265144" y="2710031"/>
                </a:lnTo>
                <a:lnTo>
                  <a:pt x="1284026" y="2716869"/>
                </a:lnTo>
                <a:lnTo>
                  <a:pt x="1302909" y="2722744"/>
                </a:lnTo>
                <a:lnTo>
                  <a:pt x="1321792" y="2727656"/>
                </a:lnTo>
                <a:lnTo>
                  <a:pt x="1340675" y="2731605"/>
                </a:lnTo>
                <a:lnTo>
                  <a:pt x="1359557" y="2734591"/>
                </a:lnTo>
                <a:lnTo>
                  <a:pt x="1378440" y="2736614"/>
                </a:lnTo>
                <a:lnTo>
                  <a:pt x="1397323" y="2737673"/>
                </a:lnTo>
                <a:lnTo>
                  <a:pt x="1416206" y="2737769"/>
                </a:lnTo>
                <a:lnTo>
                  <a:pt x="1435088" y="2736903"/>
                </a:lnTo>
                <a:lnTo>
                  <a:pt x="1453971" y="2735073"/>
                </a:lnTo>
                <a:lnTo>
                  <a:pt x="1472854" y="2732279"/>
                </a:lnTo>
                <a:lnTo>
                  <a:pt x="1491737" y="2728523"/>
                </a:lnTo>
                <a:lnTo>
                  <a:pt x="1510619" y="2723804"/>
                </a:lnTo>
                <a:lnTo>
                  <a:pt x="1529502" y="2718121"/>
                </a:lnTo>
                <a:lnTo>
                  <a:pt x="1548385" y="2711475"/>
                </a:lnTo>
                <a:lnTo>
                  <a:pt x="1567268" y="2703866"/>
                </a:lnTo>
                <a:lnTo>
                  <a:pt x="1586150" y="2695294"/>
                </a:lnTo>
                <a:lnTo>
                  <a:pt x="1605033" y="2685759"/>
                </a:lnTo>
                <a:lnTo>
                  <a:pt x="1623916" y="2675261"/>
                </a:lnTo>
                <a:lnTo>
                  <a:pt x="1642798" y="2663799"/>
                </a:lnTo>
                <a:lnTo>
                  <a:pt x="1661681" y="2651374"/>
                </a:lnTo>
                <a:lnTo>
                  <a:pt x="1680564" y="2637987"/>
                </a:lnTo>
                <a:lnTo>
                  <a:pt x="1699447" y="2623636"/>
                </a:lnTo>
                <a:lnTo>
                  <a:pt x="1718329" y="2608321"/>
                </a:lnTo>
                <a:lnTo>
                  <a:pt x="1737212" y="2592044"/>
                </a:lnTo>
                <a:lnTo>
                  <a:pt x="1756095" y="2574804"/>
                </a:lnTo>
                <a:lnTo>
                  <a:pt x="1774978" y="2556600"/>
                </a:lnTo>
                <a:lnTo>
                  <a:pt x="1793860" y="2537433"/>
                </a:lnTo>
                <a:lnTo>
                  <a:pt x="1812743" y="2517303"/>
                </a:lnTo>
                <a:lnTo>
                  <a:pt x="1831626" y="2496210"/>
                </a:lnTo>
                <a:lnTo>
                  <a:pt x="1850509" y="2474154"/>
                </a:lnTo>
                <a:lnTo>
                  <a:pt x="1869391" y="2451134"/>
                </a:lnTo>
                <a:lnTo>
                  <a:pt x="1888274" y="2427152"/>
                </a:lnTo>
                <a:lnTo>
                  <a:pt x="1907157" y="2402206"/>
                </a:lnTo>
                <a:lnTo>
                  <a:pt x="1926040" y="2376297"/>
                </a:lnTo>
                <a:lnTo>
                  <a:pt x="1944922" y="2349425"/>
                </a:lnTo>
                <a:lnTo>
                  <a:pt x="1963805" y="2321590"/>
                </a:lnTo>
                <a:lnTo>
                  <a:pt x="1982688" y="2292792"/>
                </a:lnTo>
                <a:lnTo>
                  <a:pt x="2001571" y="2263030"/>
                </a:lnTo>
                <a:lnTo>
                  <a:pt x="2020453" y="2232305"/>
                </a:lnTo>
                <a:lnTo>
                  <a:pt x="2039336" y="2200618"/>
                </a:lnTo>
                <a:lnTo>
                  <a:pt x="2058219" y="2167967"/>
                </a:lnTo>
                <a:lnTo>
                  <a:pt x="2077102" y="2134353"/>
                </a:lnTo>
                <a:lnTo>
                  <a:pt x="2095984" y="2099775"/>
                </a:lnTo>
                <a:lnTo>
                  <a:pt x="2114867" y="2064235"/>
                </a:lnTo>
                <a:lnTo>
                  <a:pt x="2133750" y="2027731"/>
                </a:lnTo>
                <a:lnTo>
                  <a:pt x="2152632" y="1990265"/>
                </a:lnTo>
                <a:lnTo>
                  <a:pt x="2171515" y="1951835"/>
                </a:lnTo>
                <a:lnTo>
                  <a:pt x="2190398" y="1912442"/>
                </a:lnTo>
                <a:lnTo>
                  <a:pt x="2209281" y="1872085"/>
                </a:lnTo>
                <a:lnTo>
                  <a:pt x="2228163" y="1830766"/>
                </a:lnTo>
                <a:lnTo>
                  <a:pt x="2247046" y="1788483"/>
                </a:lnTo>
                <a:lnTo>
                  <a:pt x="2265929" y="1745238"/>
                </a:lnTo>
                <a:lnTo>
                  <a:pt x="2284812" y="1701029"/>
                </a:lnTo>
                <a:lnTo>
                  <a:pt x="2303694" y="1655857"/>
                </a:lnTo>
                <a:lnTo>
                  <a:pt x="2322577" y="1609722"/>
                </a:lnTo>
                <a:lnTo>
                  <a:pt x="2341460" y="1562624"/>
                </a:lnTo>
                <a:lnTo>
                  <a:pt x="2360343" y="1514562"/>
                </a:lnTo>
                <a:lnTo>
                  <a:pt x="2379225" y="1465537"/>
                </a:lnTo>
                <a:lnTo>
                  <a:pt x="2398108" y="1415550"/>
                </a:lnTo>
                <a:lnTo>
                  <a:pt x="2416991" y="1364599"/>
                </a:lnTo>
                <a:lnTo>
                  <a:pt x="2435874" y="1312685"/>
                </a:lnTo>
                <a:lnTo>
                  <a:pt x="2454756" y="1259807"/>
                </a:lnTo>
                <a:lnTo>
                  <a:pt x="2473639" y="1205967"/>
                </a:lnTo>
                <a:lnTo>
                  <a:pt x="2492522" y="1151164"/>
                </a:lnTo>
                <a:lnTo>
                  <a:pt x="2511405" y="1095397"/>
                </a:lnTo>
                <a:lnTo>
                  <a:pt x="2530287" y="1038667"/>
                </a:lnTo>
                <a:lnTo>
                  <a:pt x="2549170" y="980974"/>
                </a:lnTo>
                <a:lnTo>
                  <a:pt x="2568053" y="922318"/>
                </a:lnTo>
                <a:lnTo>
                  <a:pt x="2586936" y="862699"/>
                </a:lnTo>
                <a:lnTo>
                  <a:pt x="2605818" y="802116"/>
                </a:lnTo>
                <a:lnTo>
                  <a:pt x="2624701" y="740570"/>
                </a:lnTo>
                <a:lnTo>
                  <a:pt x="2643584" y="678062"/>
                </a:lnTo>
                <a:lnTo>
                  <a:pt x="2662466" y="614590"/>
                </a:lnTo>
                <a:lnTo>
                  <a:pt x="2681349" y="550155"/>
                </a:lnTo>
                <a:lnTo>
                  <a:pt x="2700232" y="484756"/>
                </a:lnTo>
                <a:lnTo>
                  <a:pt x="2719115" y="418395"/>
                </a:lnTo>
                <a:lnTo>
                  <a:pt x="2737997" y="351070"/>
                </a:lnTo>
                <a:lnTo>
                  <a:pt x="2756880" y="282783"/>
                </a:lnTo>
                <a:lnTo>
                  <a:pt x="2775763" y="213532"/>
                </a:lnTo>
                <a:lnTo>
                  <a:pt x="2794646" y="143318"/>
                </a:lnTo>
                <a:lnTo>
                  <a:pt x="2813528" y="72141"/>
                </a:lnTo>
                <a:lnTo>
                  <a:pt x="2832411" y="0"/>
                </a:lnTo>
              </a:path>
            </a:pathLst>
          </a:custGeom>
          <a:noFill/>
          <a:ln w="38100">
            <a:solidFill>
              <a:srgbClr val="C84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758250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09547" y="44279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660845" y="4703067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112142" y="44279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4563440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855655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306952" y="4427985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2758250" y="4703067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3209547" y="4427985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3660845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>
            <a:off x="1285060" y="5415231"/>
            <a:ext cx="350000" cy="0"/>
          </a:xfrm>
          <a:prstGeom prst="line">
            <a:avLst/>
          </a:prstGeom>
          <a:ln w="30480">
            <a:solidFill>
              <a:srgbClr val="5C6B6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685060" y="5325231"/>
            <a:ext cx="14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C2A22"/>
                </a:solidFill>
                <a:latin typeface="Cambria"/>
              </a:rPr>
              <a:t>y = f(x)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285060" y="5415231"/>
            <a:ext cx="350000" cy="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685060" y="5325231"/>
            <a:ext cx="18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C2A22"/>
                </a:solidFill>
                <a:latin typeface="Cambria"/>
              </a:rPr>
              <a:t>y = f(x + 2)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54" grpId="0" animBg="1"/>
      <p:bldP spid="55" grpId="0" animBg="1"/>
      <p:bldP spid="56" grpId="0" animBg="1"/>
      <p:bldP spid="57" grpId="0" animBg="1"/>
      <p:bldP spid="5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REFLECTION ·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y = f(−x)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Inside the bracket → flip the sign of every x-value. The graph reflects in the y-axis.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74519"/>
          <a:ext cx="5358384" cy="3401568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Original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New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Rule: (x, y) → (−x, y).  The y-axis acts as the mirror line.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506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4918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1330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7742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05669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69791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3913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9803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5060" y="52852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5060" y="501014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5060" y="473506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5060" y="445998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060" y="418490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060" y="390982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060" y="335965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5060" y="308457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5060" y="280949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060" y="253441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5060" y="225932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5060" y="198424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5060" y="4735067"/>
            <a:ext cx="4512975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5060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3303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9791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8035" y="4750067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1547" y="519523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1547" y="4094903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1547" y="3544739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1547" y="2994575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1547" y="244441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1547" y="189424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10</a:t>
            </a:r>
          </a:p>
        </p:txBody>
      </p:sp>
      <p:sp>
        <p:nvSpPr>
          <p:cNvPr id="8" name="Freeform 7"/>
          <p:cNvSpPr/>
          <p:nvPr/>
        </p:nvSpPr>
        <p:spPr>
          <a:xfrm>
            <a:off x="1476011" y="2040620"/>
            <a:ext cx="3531072" cy="2694369"/>
          </a:xfrm>
          <a:custGeom>
            <a:avLst/>
            <a:gdLst/>
            <a:ahLst/>
            <a:cxnLst/>
            <a:rect l="l" t="t" r="r" b="b"/>
            <a:pathLst>
              <a:path w="3531072" h="2694369">
                <a:moveTo>
                  <a:pt x="0" y="0"/>
                </a:moveTo>
                <a:lnTo>
                  <a:pt x="18882" y="57327"/>
                </a:lnTo>
                <a:lnTo>
                  <a:pt x="37765" y="114038"/>
                </a:lnTo>
                <a:lnTo>
                  <a:pt x="56648" y="170132"/>
                </a:lnTo>
                <a:lnTo>
                  <a:pt x="75531" y="225610"/>
                </a:lnTo>
                <a:lnTo>
                  <a:pt x="94413" y="280471"/>
                </a:lnTo>
                <a:lnTo>
                  <a:pt x="113296" y="334716"/>
                </a:lnTo>
                <a:lnTo>
                  <a:pt x="132179" y="388344"/>
                </a:lnTo>
                <a:lnTo>
                  <a:pt x="151062" y="441356"/>
                </a:lnTo>
                <a:lnTo>
                  <a:pt x="169944" y="493752"/>
                </a:lnTo>
                <a:lnTo>
                  <a:pt x="188827" y="545531"/>
                </a:lnTo>
                <a:lnTo>
                  <a:pt x="207710" y="596694"/>
                </a:lnTo>
                <a:lnTo>
                  <a:pt x="226593" y="647240"/>
                </a:lnTo>
                <a:lnTo>
                  <a:pt x="245475" y="697170"/>
                </a:lnTo>
                <a:lnTo>
                  <a:pt x="264358" y="746484"/>
                </a:lnTo>
                <a:lnTo>
                  <a:pt x="283241" y="795181"/>
                </a:lnTo>
                <a:lnTo>
                  <a:pt x="302124" y="843262"/>
                </a:lnTo>
                <a:lnTo>
                  <a:pt x="321006" y="890726"/>
                </a:lnTo>
                <a:lnTo>
                  <a:pt x="339889" y="937574"/>
                </a:lnTo>
                <a:lnTo>
                  <a:pt x="358772" y="983805"/>
                </a:lnTo>
                <a:lnTo>
                  <a:pt x="377655" y="1029420"/>
                </a:lnTo>
                <a:lnTo>
                  <a:pt x="396537" y="1074419"/>
                </a:lnTo>
                <a:lnTo>
                  <a:pt x="415420" y="1118801"/>
                </a:lnTo>
                <a:lnTo>
                  <a:pt x="434303" y="1162567"/>
                </a:lnTo>
                <a:lnTo>
                  <a:pt x="453186" y="1205716"/>
                </a:lnTo>
                <a:lnTo>
                  <a:pt x="472068" y="1248249"/>
                </a:lnTo>
                <a:lnTo>
                  <a:pt x="490951" y="1290166"/>
                </a:lnTo>
                <a:lnTo>
                  <a:pt x="509834" y="1331466"/>
                </a:lnTo>
                <a:lnTo>
                  <a:pt x="528716" y="1372150"/>
                </a:lnTo>
                <a:lnTo>
                  <a:pt x="547599" y="1412217"/>
                </a:lnTo>
                <a:lnTo>
                  <a:pt x="566482" y="1451668"/>
                </a:lnTo>
                <a:lnTo>
                  <a:pt x="585365" y="1490502"/>
                </a:lnTo>
                <a:lnTo>
                  <a:pt x="604247" y="1528720"/>
                </a:lnTo>
                <a:lnTo>
                  <a:pt x="623130" y="1566322"/>
                </a:lnTo>
                <a:lnTo>
                  <a:pt x="642013" y="1603307"/>
                </a:lnTo>
                <a:lnTo>
                  <a:pt x="660896" y="1639676"/>
                </a:lnTo>
                <a:lnTo>
                  <a:pt x="679778" y="1675428"/>
                </a:lnTo>
                <a:lnTo>
                  <a:pt x="698661" y="1710564"/>
                </a:lnTo>
                <a:lnTo>
                  <a:pt x="717544" y="1745083"/>
                </a:lnTo>
                <a:lnTo>
                  <a:pt x="736427" y="1778987"/>
                </a:lnTo>
                <a:lnTo>
                  <a:pt x="755309" y="1812273"/>
                </a:lnTo>
                <a:lnTo>
                  <a:pt x="774192" y="1844943"/>
                </a:lnTo>
                <a:lnTo>
                  <a:pt x="793075" y="1876997"/>
                </a:lnTo>
                <a:lnTo>
                  <a:pt x="811958" y="1908435"/>
                </a:lnTo>
                <a:lnTo>
                  <a:pt x="830840" y="1939256"/>
                </a:lnTo>
                <a:lnTo>
                  <a:pt x="849723" y="1969460"/>
                </a:lnTo>
                <a:lnTo>
                  <a:pt x="868606" y="1999048"/>
                </a:lnTo>
                <a:lnTo>
                  <a:pt x="887489" y="2028020"/>
                </a:lnTo>
                <a:lnTo>
                  <a:pt x="906371" y="2056375"/>
                </a:lnTo>
                <a:lnTo>
                  <a:pt x="925254" y="2084114"/>
                </a:lnTo>
                <a:lnTo>
                  <a:pt x="944137" y="2111237"/>
                </a:lnTo>
                <a:lnTo>
                  <a:pt x="963020" y="2137743"/>
                </a:lnTo>
                <a:lnTo>
                  <a:pt x="981902" y="2163632"/>
                </a:lnTo>
                <a:lnTo>
                  <a:pt x="1000785" y="2188905"/>
                </a:lnTo>
                <a:lnTo>
                  <a:pt x="1019668" y="2213562"/>
                </a:lnTo>
                <a:lnTo>
                  <a:pt x="1038550" y="2237603"/>
                </a:lnTo>
                <a:lnTo>
                  <a:pt x="1057433" y="2261027"/>
                </a:lnTo>
                <a:lnTo>
                  <a:pt x="1076316" y="2283834"/>
                </a:lnTo>
                <a:lnTo>
                  <a:pt x="1095199" y="2306025"/>
                </a:lnTo>
                <a:lnTo>
                  <a:pt x="1114081" y="2327600"/>
                </a:lnTo>
                <a:lnTo>
                  <a:pt x="1132964" y="2348558"/>
                </a:lnTo>
                <a:lnTo>
                  <a:pt x="1151847" y="2368900"/>
                </a:lnTo>
                <a:lnTo>
                  <a:pt x="1170730" y="2388625"/>
                </a:lnTo>
                <a:lnTo>
                  <a:pt x="1189612" y="2407734"/>
                </a:lnTo>
                <a:lnTo>
                  <a:pt x="1208495" y="2426227"/>
                </a:lnTo>
                <a:lnTo>
                  <a:pt x="1227378" y="2444103"/>
                </a:lnTo>
                <a:lnTo>
                  <a:pt x="1246261" y="2461363"/>
                </a:lnTo>
                <a:lnTo>
                  <a:pt x="1265143" y="2478006"/>
                </a:lnTo>
                <a:lnTo>
                  <a:pt x="1284026" y="2494033"/>
                </a:lnTo>
                <a:lnTo>
                  <a:pt x="1302909" y="2509444"/>
                </a:lnTo>
                <a:lnTo>
                  <a:pt x="1321792" y="2524238"/>
                </a:lnTo>
                <a:lnTo>
                  <a:pt x="1340674" y="2538415"/>
                </a:lnTo>
                <a:lnTo>
                  <a:pt x="1359557" y="2551977"/>
                </a:lnTo>
                <a:lnTo>
                  <a:pt x="1378440" y="2564921"/>
                </a:lnTo>
                <a:lnTo>
                  <a:pt x="1397323" y="2577250"/>
                </a:lnTo>
                <a:lnTo>
                  <a:pt x="1416205" y="2588962"/>
                </a:lnTo>
                <a:lnTo>
                  <a:pt x="1435088" y="2600057"/>
                </a:lnTo>
                <a:lnTo>
                  <a:pt x="1453971" y="2610536"/>
                </a:lnTo>
                <a:lnTo>
                  <a:pt x="1472854" y="2620399"/>
                </a:lnTo>
                <a:lnTo>
                  <a:pt x="1491736" y="2629645"/>
                </a:lnTo>
                <a:lnTo>
                  <a:pt x="1510619" y="2638275"/>
                </a:lnTo>
                <a:lnTo>
                  <a:pt x="1529502" y="2646289"/>
                </a:lnTo>
                <a:lnTo>
                  <a:pt x="1548384" y="2653686"/>
                </a:lnTo>
                <a:lnTo>
                  <a:pt x="1567267" y="2660466"/>
                </a:lnTo>
                <a:lnTo>
                  <a:pt x="1586150" y="2666631"/>
                </a:lnTo>
                <a:lnTo>
                  <a:pt x="1605033" y="2672178"/>
                </a:lnTo>
                <a:lnTo>
                  <a:pt x="1623915" y="2677110"/>
                </a:lnTo>
                <a:lnTo>
                  <a:pt x="1642798" y="2681425"/>
                </a:lnTo>
                <a:lnTo>
                  <a:pt x="1661681" y="2685123"/>
                </a:lnTo>
                <a:lnTo>
                  <a:pt x="1680564" y="2688205"/>
                </a:lnTo>
                <a:lnTo>
                  <a:pt x="1699446" y="2690671"/>
                </a:lnTo>
                <a:lnTo>
                  <a:pt x="1718329" y="2692520"/>
                </a:lnTo>
                <a:lnTo>
                  <a:pt x="1737212" y="2693753"/>
                </a:lnTo>
                <a:lnTo>
                  <a:pt x="1756095" y="2694369"/>
                </a:lnTo>
                <a:lnTo>
                  <a:pt x="1774977" y="2694369"/>
                </a:lnTo>
                <a:lnTo>
                  <a:pt x="1793860" y="2693753"/>
                </a:lnTo>
                <a:lnTo>
                  <a:pt x="1812743" y="2692520"/>
                </a:lnTo>
                <a:lnTo>
                  <a:pt x="1831626" y="2690671"/>
                </a:lnTo>
                <a:lnTo>
                  <a:pt x="1850508" y="2688205"/>
                </a:lnTo>
                <a:lnTo>
                  <a:pt x="1869391" y="2685123"/>
                </a:lnTo>
                <a:lnTo>
                  <a:pt x="1888274" y="2681425"/>
                </a:lnTo>
                <a:lnTo>
                  <a:pt x="1907157" y="2677110"/>
                </a:lnTo>
                <a:lnTo>
                  <a:pt x="1926039" y="2672178"/>
                </a:lnTo>
                <a:lnTo>
                  <a:pt x="1944922" y="2666631"/>
                </a:lnTo>
                <a:lnTo>
                  <a:pt x="1963805" y="2660466"/>
                </a:lnTo>
                <a:lnTo>
                  <a:pt x="1982688" y="2653686"/>
                </a:lnTo>
                <a:lnTo>
                  <a:pt x="2001570" y="2646289"/>
                </a:lnTo>
                <a:lnTo>
                  <a:pt x="2020453" y="2638275"/>
                </a:lnTo>
                <a:lnTo>
                  <a:pt x="2039336" y="2629645"/>
                </a:lnTo>
                <a:lnTo>
                  <a:pt x="2058218" y="2620399"/>
                </a:lnTo>
                <a:lnTo>
                  <a:pt x="2077101" y="2610536"/>
                </a:lnTo>
                <a:lnTo>
                  <a:pt x="2095984" y="2600057"/>
                </a:lnTo>
                <a:lnTo>
                  <a:pt x="2114867" y="2588962"/>
                </a:lnTo>
                <a:lnTo>
                  <a:pt x="2133749" y="2577250"/>
                </a:lnTo>
                <a:lnTo>
                  <a:pt x="2152632" y="2564921"/>
                </a:lnTo>
                <a:lnTo>
                  <a:pt x="2171515" y="2551977"/>
                </a:lnTo>
                <a:lnTo>
                  <a:pt x="2190398" y="2538415"/>
                </a:lnTo>
                <a:lnTo>
                  <a:pt x="2209280" y="2524238"/>
                </a:lnTo>
                <a:lnTo>
                  <a:pt x="2228163" y="2509444"/>
                </a:lnTo>
                <a:lnTo>
                  <a:pt x="2247046" y="2494033"/>
                </a:lnTo>
                <a:lnTo>
                  <a:pt x="2265929" y="2478006"/>
                </a:lnTo>
                <a:lnTo>
                  <a:pt x="2284811" y="2461363"/>
                </a:lnTo>
                <a:lnTo>
                  <a:pt x="2303694" y="2444103"/>
                </a:lnTo>
                <a:lnTo>
                  <a:pt x="2322577" y="2426227"/>
                </a:lnTo>
                <a:lnTo>
                  <a:pt x="2341460" y="2407734"/>
                </a:lnTo>
                <a:lnTo>
                  <a:pt x="2360342" y="2388625"/>
                </a:lnTo>
                <a:lnTo>
                  <a:pt x="2379225" y="2368900"/>
                </a:lnTo>
                <a:lnTo>
                  <a:pt x="2398108" y="2348558"/>
                </a:lnTo>
                <a:lnTo>
                  <a:pt x="2416991" y="2327600"/>
                </a:lnTo>
                <a:lnTo>
                  <a:pt x="2435873" y="2306025"/>
                </a:lnTo>
                <a:lnTo>
                  <a:pt x="2454756" y="2283834"/>
                </a:lnTo>
                <a:lnTo>
                  <a:pt x="2473639" y="2261027"/>
                </a:lnTo>
                <a:lnTo>
                  <a:pt x="2492522" y="2237603"/>
                </a:lnTo>
                <a:lnTo>
                  <a:pt x="2511404" y="2213562"/>
                </a:lnTo>
                <a:lnTo>
                  <a:pt x="2530287" y="2188905"/>
                </a:lnTo>
                <a:lnTo>
                  <a:pt x="2549170" y="2163632"/>
                </a:lnTo>
                <a:lnTo>
                  <a:pt x="2568052" y="2137743"/>
                </a:lnTo>
                <a:lnTo>
                  <a:pt x="2586935" y="2111237"/>
                </a:lnTo>
                <a:lnTo>
                  <a:pt x="2605818" y="2084114"/>
                </a:lnTo>
                <a:lnTo>
                  <a:pt x="2624701" y="2056375"/>
                </a:lnTo>
                <a:lnTo>
                  <a:pt x="2643583" y="2028020"/>
                </a:lnTo>
                <a:lnTo>
                  <a:pt x="2662466" y="1999048"/>
                </a:lnTo>
                <a:lnTo>
                  <a:pt x="2681349" y="1969460"/>
                </a:lnTo>
                <a:lnTo>
                  <a:pt x="2700232" y="1939256"/>
                </a:lnTo>
                <a:lnTo>
                  <a:pt x="2719114" y="1908435"/>
                </a:lnTo>
                <a:lnTo>
                  <a:pt x="2737997" y="1876997"/>
                </a:lnTo>
                <a:lnTo>
                  <a:pt x="2756880" y="1844943"/>
                </a:lnTo>
                <a:lnTo>
                  <a:pt x="2775763" y="1812273"/>
                </a:lnTo>
                <a:lnTo>
                  <a:pt x="2794645" y="1778987"/>
                </a:lnTo>
                <a:lnTo>
                  <a:pt x="2813528" y="1745083"/>
                </a:lnTo>
                <a:lnTo>
                  <a:pt x="2832411" y="1710564"/>
                </a:lnTo>
                <a:lnTo>
                  <a:pt x="2851294" y="1675428"/>
                </a:lnTo>
                <a:lnTo>
                  <a:pt x="2870176" y="1639676"/>
                </a:lnTo>
                <a:lnTo>
                  <a:pt x="2889059" y="1603307"/>
                </a:lnTo>
                <a:lnTo>
                  <a:pt x="2907942" y="1566322"/>
                </a:lnTo>
                <a:lnTo>
                  <a:pt x="2926825" y="1528720"/>
                </a:lnTo>
                <a:lnTo>
                  <a:pt x="2945707" y="1490502"/>
                </a:lnTo>
                <a:lnTo>
                  <a:pt x="2964590" y="1451668"/>
                </a:lnTo>
                <a:lnTo>
                  <a:pt x="2983473" y="1412217"/>
                </a:lnTo>
                <a:lnTo>
                  <a:pt x="3002356" y="1372150"/>
                </a:lnTo>
                <a:lnTo>
                  <a:pt x="3021238" y="1331466"/>
                </a:lnTo>
                <a:lnTo>
                  <a:pt x="3040121" y="1290166"/>
                </a:lnTo>
                <a:lnTo>
                  <a:pt x="3059004" y="1248249"/>
                </a:lnTo>
                <a:lnTo>
                  <a:pt x="3077886" y="1205716"/>
                </a:lnTo>
                <a:lnTo>
                  <a:pt x="3096769" y="1162567"/>
                </a:lnTo>
                <a:lnTo>
                  <a:pt x="3115652" y="1118801"/>
                </a:lnTo>
                <a:lnTo>
                  <a:pt x="3134535" y="1074419"/>
                </a:lnTo>
                <a:lnTo>
                  <a:pt x="3153417" y="1029420"/>
                </a:lnTo>
                <a:lnTo>
                  <a:pt x="3172300" y="983805"/>
                </a:lnTo>
                <a:lnTo>
                  <a:pt x="3191183" y="937574"/>
                </a:lnTo>
                <a:lnTo>
                  <a:pt x="3210066" y="890726"/>
                </a:lnTo>
                <a:lnTo>
                  <a:pt x="3228948" y="843262"/>
                </a:lnTo>
                <a:lnTo>
                  <a:pt x="3247831" y="795181"/>
                </a:lnTo>
                <a:lnTo>
                  <a:pt x="3266714" y="746484"/>
                </a:lnTo>
                <a:lnTo>
                  <a:pt x="3285597" y="697170"/>
                </a:lnTo>
                <a:lnTo>
                  <a:pt x="3304479" y="647240"/>
                </a:lnTo>
                <a:lnTo>
                  <a:pt x="3323362" y="596694"/>
                </a:lnTo>
                <a:lnTo>
                  <a:pt x="3342245" y="545531"/>
                </a:lnTo>
                <a:lnTo>
                  <a:pt x="3361128" y="493752"/>
                </a:lnTo>
                <a:lnTo>
                  <a:pt x="3380010" y="441356"/>
                </a:lnTo>
                <a:lnTo>
                  <a:pt x="3398893" y="388344"/>
                </a:lnTo>
                <a:lnTo>
                  <a:pt x="3417776" y="334716"/>
                </a:lnTo>
                <a:lnTo>
                  <a:pt x="3436659" y="280471"/>
                </a:lnTo>
                <a:lnTo>
                  <a:pt x="3455541" y="225610"/>
                </a:lnTo>
                <a:lnTo>
                  <a:pt x="3474424" y="170132"/>
                </a:lnTo>
                <a:lnTo>
                  <a:pt x="3493307" y="114038"/>
                </a:lnTo>
                <a:lnTo>
                  <a:pt x="3512190" y="57327"/>
                </a:lnTo>
                <a:lnTo>
                  <a:pt x="3531072" y="0"/>
                </a:lnTo>
              </a:path>
            </a:pathLst>
          </a:custGeom>
          <a:noFill/>
          <a:ln w="30480">
            <a:solidFill>
              <a:srgbClr val="5C6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Freeform 44"/>
          <p:cNvSpPr/>
          <p:nvPr/>
        </p:nvSpPr>
        <p:spPr>
          <a:xfrm>
            <a:off x="1476011" y="2040620"/>
            <a:ext cx="3531072" cy="2694369"/>
          </a:xfrm>
          <a:custGeom>
            <a:avLst/>
            <a:gdLst/>
            <a:ahLst/>
            <a:cxnLst/>
            <a:rect l="l" t="t" r="r" b="b"/>
            <a:pathLst>
              <a:path w="3531072" h="2694369">
                <a:moveTo>
                  <a:pt x="0" y="0"/>
                </a:moveTo>
                <a:lnTo>
                  <a:pt x="18882" y="57327"/>
                </a:lnTo>
                <a:lnTo>
                  <a:pt x="37765" y="114038"/>
                </a:lnTo>
                <a:lnTo>
                  <a:pt x="56648" y="170132"/>
                </a:lnTo>
                <a:lnTo>
                  <a:pt x="75531" y="225610"/>
                </a:lnTo>
                <a:lnTo>
                  <a:pt x="94413" y="280471"/>
                </a:lnTo>
                <a:lnTo>
                  <a:pt x="113296" y="334716"/>
                </a:lnTo>
                <a:lnTo>
                  <a:pt x="132179" y="388344"/>
                </a:lnTo>
                <a:lnTo>
                  <a:pt x="151062" y="441356"/>
                </a:lnTo>
                <a:lnTo>
                  <a:pt x="169944" y="493752"/>
                </a:lnTo>
                <a:lnTo>
                  <a:pt x="188827" y="545531"/>
                </a:lnTo>
                <a:lnTo>
                  <a:pt x="207710" y="596694"/>
                </a:lnTo>
                <a:lnTo>
                  <a:pt x="226593" y="647240"/>
                </a:lnTo>
                <a:lnTo>
                  <a:pt x="245475" y="697170"/>
                </a:lnTo>
                <a:lnTo>
                  <a:pt x="264358" y="746484"/>
                </a:lnTo>
                <a:lnTo>
                  <a:pt x="283241" y="795181"/>
                </a:lnTo>
                <a:lnTo>
                  <a:pt x="302124" y="843262"/>
                </a:lnTo>
                <a:lnTo>
                  <a:pt x="321006" y="890726"/>
                </a:lnTo>
                <a:lnTo>
                  <a:pt x="339889" y="937574"/>
                </a:lnTo>
                <a:lnTo>
                  <a:pt x="358772" y="983805"/>
                </a:lnTo>
                <a:lnTo>
                  <a:pt x="377655" y="1029420"/>
                </a:lnTo>
                <a:lnTo>
                  <a:pt x="396537" y="1074419"/>
                </a:lnTo>
                <a:lnTo>
                  <a:pt x="415420" y="1118801"/>
                </a:lnTo>
                <a:lnTo>
                  <a:pt x="434303" y="1162567"/>
                </a:lnTo>
                <a:lnTo>
                  <a:pt x="453186" y="1205716"/>
                </a:lnTo>
                <a:lnTo>
                  <a:pt x="472068" y="1248249"/>
                </a:lnTo>
                <a:lnTo>
                  <a:pt x="490951" y="1290166"/>
                </a:lnTo>
                <a:lnTo>
                  <a:pt x="509834" y="1331466"/>
                </a:lnTo>
                <a:lnTo>
                  <a:pt x="528716" y="1372150"/>
                </a:lnTo>
                <a:lnTo>
                  <a:pt x="547599" y="1412217"/>
                </a:lnTo>
                <a:lnTo>
                  <a:pt x="566482" y="1451668"/>
                </a:lnTo>
                <a:lnTo>
                  <a:pt x="585365" y="1490502"/>
                </a:lnTo>
                <a:lnTo>
                  <a:pt x="604247" y="1528720"/>
                </a:lnTo>
                <a:lnTo>
                  <a:pt x="623130" y="1566322"/>
                </a:lnTo>
                <a:lnTo>
                  <a:pt x="642013" y="1603307"/>
                </a:lnTo>
                <a:lnTo>
                  <a:pt x="660896" y="1639676"/>
                </a:lnTo>
                <a:lnTo>
                  <a:pt x="679778" y="1675428"/>
                </a:lnTo>
                <a:lnTo>
                  <a:pt x="698661" y="1710564"/>
                </a:lnTo>
                <a:lnTo>
                  <a:pt x="717544" y="1745083"/>
                </a:lnTo>
                <a:lnTo>
                  <a:pt x="736427" y="1778987"/>
                </a:lnTo>
                <a:lnTo>
                  <a:pt x="755309" y="1812273"/>
                </a:lnTo>
                <a:lnTo>
                  <a:pt x="774192" y="1844943"/>
                </a:lnTo>
                <a:lnTo>
                  <a:pt x="793075" y="1876997"/>
                </a:lnTo>
                <a:lnTo>
                  <a:pt x="811958" y="1908435"/>
                </a:lnTo>
                <a:lnTo>
                  <a:pt x="830840" y="1939256"/>
                </a:lnTo>
                <a:lnTo>
                  <a:pt x="849723" y="1969460"/>
                </a:lnTo>
                <a:lnTo>
                  <a:pt x="868606" y="1999048"/>
                </a:lnTo>
                <a:lnTo>
                  <a:pt x="887489" y="2028020"/>
                </a:lnTo>
                <a:lnTo>
                  <a:pt x="906371" y="2056375"/>
                </a:lnTo>
                <a:lnTo>
                  <a:pt x="925254" y="2084114"/>
                </a:lnTo>
                <a:lnTo>
                  <a:pt x="944137" y="2111237"/>
                </a:lnTo>
                <a:lnTo>
                  <a:pt x="963020" y="2137743"/>
                </a:lnTo>
                <a:lnTo>
                  <a:pt x="981902" y="2163632"/>
                </a:lnTo>
                <a:lnTo>
                  <a:pt x="1000785" y="2188905"/>
                </a:lnTo>
                <a:lnTo>
                  <a:pt x="1019668" y="2213562"/>
                </a:lnTo>
                <a:lnTo>
                  <a:pt x="1038550" y="2237603"/>
                </a:lnTo>
                <a:lnTo>
                  <a:pt x="1057433" y="2261027"/>
                </a:lnTo>
                <a:lnTo>
                  <a:pt x="1076316" y="2283834"/>
                </a:lnTo>
                <a:lnTo>
                  <a:pt x="1095199" y="2306025"/>
                </a:lnTo>
                <a:lnTo>
                  <a:pt x="1114081" y="2327600"/>
                </a:lnTo>
                <a:lnTo>
                  <a:pt x="1132964" y="2348558"/>
                </a:lnTo>
                <a:lnTo>
                  <a:pt x="1151847" y="2368900"/>
                </a:lnTo>
                <a:lnTo>
                  <a:pt x="1170730" y="2388625"/>
                </a:lnTo>
                <a:lnTo>
                  <a:pt x="1189612" y="2407734"/>
                </a:lnTo>
                <a:lnTo>
                  <a:pt x="1208495" y="2426227"/>
                </a:lnTo>
                <a:lnTo>
                  <a:pt x="1227378" y="2444103"/>
                </a:lnTo>
                <a:lnTo>
                  <a:pt x="1246261" y="2461363"/>
                </a:lnTo>
                <a:lnTo>
                  <a:pt x="1265143" y="2478006"/>
                </a:lnTo>
                <a:lnTo>
                  <a:pt x="1284026" y="2494033"/>
                </a:lnTo>
                <a:lnTo>
                  <a:pt x="1302909" y="2509444"/>
                </a:lnTo>
                <a:lnTo>
                  <a:pt x="1321792" y="2524238"/>
                </a:lnTo>
                <a:lnTo>
                  <a:pt x="1340674" y="2538415"/>
                </a:lnTo>
                <a:lnTo>
                  <a:pt x="1359557" y="2551977"/>
                </a:lnTo>
                <a:lnTo>
                  <a:pt x="1378440" y="2564921"/>
                </a:lnTo>
                <a:lnTo>
                  <a:pt x="1397323" y="2577250"/>
                </a:lnTo>
                <a:lnTo>
                  <a:pt x="1416205" y="2588962"/>
                </a:lnTo>
                <a:lnTo>
                  <a:pt x="1435088" y="2600057"/>
                </a:lnTo>
                <a:lnTo>
                  <a:pt x="1453971" y="2610536"/>
                </a:lnTo>
                <a:lnTo>
                  <a:pt x="1472854" y="2620399"/>
                </a:lnTo>
                <a:lnTo>
                  <a:pt x="1491736" y="2629645"/>
                </a:lnTo>
                <a:lnTo>
                  <a:pt x="1510619" y="2638275"/>
                </a:lnTo>
                <a:lnTo>
                  <a:pt x="1529502" y="2646289"/>
                </a:lnTo>
                <a:lnTo>
                  <a:pt x="1548384" y="2653686"/>
                </a:lnTo>
                <a:lnTo>
                  <a:pt x="1567267" y="2660466"/>
                </a:lnTo>
                <a:lnTo>
                  <a:pt x="1586150" y="2666631"/>
                </a:lnTo>
                <a:lnTo>
                  <a:pt x="1605033" y="2672178"/>
                </a:lnTo>
                <a:lnTo>
                  <a:pt x="1623915" y="2677110"/>
                </a:lnTo>
                <a:lnTo>
                  <a:pt x="1642798" y="2681425"/>
                </a:lnTo>
                <a:lnTo>
                  <a:pt x="1661681" y="2685123"/>
                </a:lnTo>
                <a:lnTo>
                  <a:pt x="1680564" y="2688205"/>
                </a:lnTo>
                <a:lnTo>
                  <a:pt x="1699446" y="2690671"/>
                </a:lnTo>
                <a:lnTo>
                  <a:pt x="1718329" y="2692520"/>
                </a:lnTo>
                <a:lnTo>
                  <a:pt x="1737212" y="2693753"/>
                </a:lnTo>
                <a:lnTo>
                  <a:pt x="1756095" y="2694369"/>
                </a:lnTo>
                <a:lnTo>
                  <a:pt x="1774977" y="2694369"/>
                </a:lnTo>
                <a:lnTo>
                  <a:pt x="1793860" y="2693753"/>
                </a:lnTo>
                <a:lnTo>
                  <a:pt x="1812743" y="2692520"/>
                </a:lnTo>
                <a:lnTo>
                  <a:pt x="1831626" y="2690671"/>
                </a:lnTo>
                <a:lnTo>
                  <a:pt x="1850508" y="2688205"/>
                </a:lnTo>
                <a:lnTo>
                  <a:pt x="1869391" y="2685123"/>
                </a:lnTo>
                <a:lnTo>
                  <a:pt x="1888274" y="2681425"/>
                </a:lnTo>
                <a:lnTo>
                  <a:pt x="1907157" y="2677110"/>
                </a:lnTo>
                <a:lnTo>
                  <a:pt x="1926039" y="2672178"/>
                </a:lnTo>
                <a:lnTo>
                  <a:pt x="1944922" y="2666631"/>
                </a:lnTo>
                <a:lnTo>
                  <a:pt x="1963805" y="2660466"/>
                </a:lnTo>
                <a:lnTo>
                  <a:pt x="1982688" y="2653686"/>
                </a:lnTo>
                <a:lnTo>
                  <a:pt x="2001570" y="2646289"/>
                </a:lnTo>
                <a:lnTo>
                  <a:pt x="2020453" y="2638275"/>
                </a:lnTo>
                <a:lnTo>
                  <a:pt x="2039336" y="2629645"/>
                </a:lnTo>
                <a:lnTo>
                  <a:pt x="2058218" y="2620399"/>
                </a:lnTo>
                <a:lnTo>
                  <a:pt x="2077101" y="2610536"/>
                </a:lnTo>
                <a:lnTo>
                  <a:pt x="2095984" y="2600057"/>
                </a:lnTo>
                <a:lnTo>
                  <a:pt x="2114867" y="2588962"/>
                </a:lnTo>
                <a:lnTo>
                  <a:pt x="2133749" y="2577250"/>
                </a:lnTo>
                <a:lnTo>
                  <a:pt x="2152632" y="2564921"/>
                </a:lnTo>
                <a:lnTo>
                  <a:pt x="2171515" y="2551977"/>
                </a:lnTo>
                <a:lnTo>
                  <a:pt x="2190398" y="2538415"/>
                </a:lnTo>
                <a:lnTo>
                  <a:pt x="2209280" y="2524238"/>
                </a:lnTo>
                <a:lnTo>
                  <a:pt x="2228163" y="2509444"/>
                </a:lnTo>
                <a:lnTo>
                  <a:pt x="2247046" y="2494033"/>
                </a:lnTo>
                <a:lnTo>
                  <a:pt x="2265929" y="2478006"/>
                </a:lnTo>
                <a:lnTo>
                  <a:pt x="2284811" y="2461363"/>
                </a:lnTo>
                <a:lnTo>
                  <a:pt x="2303694" y="2444103"/>
                </a:lnTo>
                <a:lnTo>
                  <a:pt x="2322577" y="2426227"/>
                </a:lnTo>
                <a:lnTo>
                  <a:pt x="2341460" y="2407734"/>
                </a:lnTo>
                <a:lnTo>
                  <a:pt x="2360342" y="2388625"/>
                </a:lnTo>
                <a:lnTo>
                  <a:pt x="2379225" y="2368900"/>
                </a:lnTo>
                <a:lnTo>
                  <a:pt x="2398108" y="2348558"/>
                </a:lnTo>
                <a:lnTo>
                  <a:pt x="2416991" y="2327600"/>
                </a:lnTo>
                <a:lnTo>
                  <a:pt x="2435873" y="2306025"/>
                </a:lnTo>
                <a:lnTo>
                  <a:pt x="2454756" y="2283834"/>
                </a:lnTo>
                <a:lnTo>
                  <a:pt x="2473639" y="2261027"/>
                </a:lnTo>
                <a:lnTo>
                  <a:pt x="2492522" y="2237603"/>
                </a:lnTo>
                <a:lnTo>
                  <a:pt x="2511404" y="2213562"/>
                </a:lnTo>
                <a:lnTo>
                  <a:pt x="2530287" y="2188905"/>
                </a:lnTo>
                <a:lnTo>
                  <a:pt x="2549170" y="2163632"/>
                </a:lnTo>
                <a:lnTo>
                  <a:pt x="2568052" y="2137743"/>
                </a:lnTo>
                <a:lnTo>
                  <a:pt x="2586935" y="2111237"/>
                </a:lnTo>
                <a:lnTo>
                  <a:pt x="2605818" y="2084114"/>
                </a:lnTo>
                <a:lnTo>
                  <a:pt x="2624701" y="2056375"/>
                </a:lnTo>
                <a:lnTo>
                  <a:pt x="2643583" y="2028020"/>
                </a:lnTo>
                <a:lnTo>
                  <a:pt x="2662466" y="1999048"/>
                </a:lnTo>
                <a:lnTo>
                  <a:pt x="2681349" y="1969460"/>
                </a:lnTo>
                <a:lnTo>
                  <a:pt x="2700232" y="1939256"/>
                </a:lnTo>
                <a:lnTo>
                  <a:pt x="2719114" y="1908435"/>
                </a:lnTo>
                <a:lnTo>
                  <a:pt x="2737997" y="1876997"/>
                </a:lnTo>
                <a:lnTo>
                  <a:pt x="2756880" y="1844943"/>
                </a:lnTo>
                <a:lnTo>
                  <a:pt x="2775763" y="1812273"/>
                </a:lnTo>
                <a:lnTo>
                  <a:pt x="2794645" y="1778987"/>
                </a:lnTo>
                <a:lnTo>
                  <a:pt x="2813528" y="1745083"/>
                </a:lnTo>
                <a:lnTo>
                  <a:pt x="2832411" y="1710564"/>
                </a:lnTo>
                <a:lnTo>
                  <a:pt x="2851294" y="1675428"/>
                </a:lnTo>
                <a:lnTo>
                  <a:pt x="2870176" y="1639676"/>
                </a:lnTo>
                <a:lnTo>
                  <a:pt x="2889059" y="1603307"/>
                </a:lnTo>
                <a:lnTo>
                  <a:pt x="2907942" y="1566322"/>
                </a:lnTo>
                <a:lnTo>
                  <a:pt x="2926825" y="1528720"/>
                </a:lnTo>
                <a:lnTo>
                  <a:pt x="2945707" y="1490502"/>
                </a:lnTo>
                <a:lnTo>
                  <a:pt x="2964590" y="1451668"/>
                </a:lnTo>
                <a:lnTo>
                  <a:pt x="2983473" y="1412217"/>
                </a:lnTo>
                <a:lnTo>
                  <a:pt x="3002356" y="1372150"/>
                </a:lnTo>
                <a:lnTo>
                  <a:pt x="3021238" y="1331466"/>
                </a:lnTo>
                <a:lnTo>
                  <a:pt x="3040121" y="1290166"/>
                </a:lnTo>
                <a:lnTo>
                  <a:pt x="3059004" y="1248249"/>
                </a:lnTo>
                <a:lnTo>
                  <a:pt x="3077886" y="1205716"/>
                </a:lnTo>
                <a:lnTo>
                  <a:pt x="3096769" y="1162567"/>
                </a:lnTo>
                <a:lnTo>
                  <a:pt x="3115652" y="1118801"/>
                </a:lnTo>
                <a:lnTo>
                  <a:pt x="3134535" y="1074419"/>
                </a:lnTo>
                <a:lnTo>
                  <a:pt x="3153417" y="1029420"/>
                </a:lnTo>
                <a:lnTo>
                  <a:pt x="3172300" y="983805"/>
                </a:lnTo>
                <a:lnTo>
                  <a:pt x="3191183" y="937574"/>
                </a:lnTo>
                <a:lnTo>
                  <a:pt x="3210066" y="890726"/>
                </a:lnTo>
                <a:lnTo>
                  <a:pt x="3228948" y="843262"/>
                </a:lnTo>
                <a:lnTo>
                  <a:pt x="3247831" y="795181"/>
                </a:lnTo>
                <a:lnTo>
                  <a:pt x="3266714" y="746484"/>
                </a:lnTo>
                <a:lnTo>
                  <a:pt x="3285597" y="697170"/>
                </a:lnTo>
                <a:lnTo>
                  <a:pt x="3304479" y="647240"/>
                </a:lnTo>
                <a:lnTo>
                  <a:pt x="3323362" y="596694"/>
                </a:lnTo>
                <a:lnTo>
                  <a:pt x="3342245" y="545531"/>
                </a:lnTo>
                <a:lnTo>
                  <a:pt x="3361128" y="493752"/>
                </a:lnTo>
                <a:lnTo>
                  <a:pt x="3380010" y="441356"/>
                </a:lnTo>
                <a:lnTo>
                  <a:pt x="3398893" y="388344"/>
                </a:lnTo>
                <a:lnTo>
                  <a:pt x="3417776" y="334716"/>
                </a:lnTo>
                <a:lnTo>
                  <a:pt x="3436659" y="280471"/>
                </a:lnTo>
                <a:lnTo>
                  <a:pt x="3455541" y="225610"/>
                </a:lnTo>
                <a:lnTo>
                  <a:pt x="3474424" y="170132"/>
                </a:lnTo>
                <a:lnTo>
                  <a:pt x="3493307" y="114038"/>
                </a:lnTo>
                <a:lnTo>
                  <a:pt x="3512190" y="57327"/>
                </a:lnTo>
                <a:lnTo>
                  <a:pt x="3531072" y="0"/>
                </a:lnTo>
              </a:path>
            </a:pathLst>
          </a:custGeom>
          <a:noFill/>
          <a:ln w="38100">
            <a:solidFill>
              <a:srgbClr val="C84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081303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645425" y="44279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209547" y="4703067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773669" y="4427985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4337791" y="3602739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4337791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773669" y="4427985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209547" y="4703067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2645425" y="4427985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081303" y="3602739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6" name="Connector 55"/>
          <p:cNvCxnSpPr/>
          <p:nvPr/>
        </p:nvCxnSpPr>
        <p:spPr>
          <a:xfrm>
            <a:off x="1285060" y="5415231"/>
            <a:ext cx="350000" cy="0"/>
          </a:xfrm>
          <a:prstGeom prst="line">
            <a:avLst/>
          </a:prstGeom>
          <a:ln w="30480">
            <a:solidFill>
              <a:srgbClr val="5C6B6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685060" y="5325231"/>
            <a:ext cx="14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C2A22"/>
                </a:solidFill>
                <a:latin typeface="Cambria"/>
              </a:rPr>
              <a:t>y = f(x)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285060" y="5415231"/>
            <a:ext cx="350000" cy="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85060" y="5325231"/>
            <a:ext cx="18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C2A22"/>
                </a:solidFill>
                <a:latin typeface="Cambria"/>
              </a:rPr>
              <a:t>y = f(−x)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C84F2F"/>
                </a:solidFill>
                <a:latin typeface="Calibri"/>
              </a:rPr>
              <a:t>COMBINING TRANSFORMATIONS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1C2A22"/>
                </a:solidFill>
                <a:latin typeface="Cambria"/>
              </a:rPr>
              <a:t>y = 2 f(x − 1) − 3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Work outside-in: stretch vertically ×2, then shift right 1 (inside, opposite sign), then shift down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74519"/>
          <a:ext cx="5358384" cy="3401568"/>
        </p:xfrm>
        <a:graphic>
          <a:graphicData uri="http://schemas.openxmlformats.org/drawingml/2006/table">
            <a:tbl>
              <a:tblPr/>
              <a:tblGrid>
                <a:gridCol w="2679192"/>
                <a:gridCol w="2679192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Original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mbria"/>
                        </a:rPr>
                        <a:t>New point</a:t>
                      </a:r>
                    </a:p>
                  </a:txBody>
                  <a:tcPr marL="109728" marR="109728" marT="36576" marB="36576" anchor="ctr">
                    <a:solidFill>
                      <a:srgbClr val="C84F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(-1, 5)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(-1,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(0, -1)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(0, 0)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(1, -3)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(1, 1)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(2, -1)</a:t>
                      </a:r>
                    </a:p>
                  </a:txBody>
                  <a:tcPr marL="109728" marR="109728" marT="27432" marB="27432" anchor="ctr">
                    <a:solidFill>
                      <a:srgbClr val="F7F6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4F2F"/>
                          </a:solidFill>
                          <a:latin typeface="Cambria"/>
                        </a:rPr>
                        <a:t>(2, 4)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C2A22"/>
                          </a:solidFill>
                          <a:latin typeface="Calibri"/>
                        </a:rPr>
                        <a:t>(3, 5)</a:t>
                      </a:r>
                    </a:p>
                  </a:txBody>
                  <a:tcPr marL="109728" marR="109728" marT="27432" marB="27432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Rule: (x, y) → (x + 1, 2y − 3).  Apply the stretch before the translations.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506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635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8765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38952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9025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4154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9284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144142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95440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46737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98035" y="1984247"/>
            <a:ext cx="0" cy="3300984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5060" y="528523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5060" y="507891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5060" y="4872608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85060" y="4666296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5060" y="4459985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5060" y="425367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85060" y="4047362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5060" y="3841050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5060" y="3634739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5060" y="342842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5060" y="3222116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85060" y="3015804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5060" y="2809493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5060" y="2603181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85060" y="2396870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85060" y="2190558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85060" y="1984247"/>
            <a:ext cx="4512975" cy="0"/>
          </a:xfrm>
          <a:prstGeom prst="line">
            <a:avLst/>
          </a:prstGeom>
          <a:ln w="9525">
            <a:solidFill>
              <a:srgbClr val="D8D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85060" y="4047362"/>
            <a:ext cx="4512975" cy="0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790250" y="1984247"/>
            <a:ext cx="0" cy="3300984"/>
          </a:xfrm>
          <a:prstGeom prst="line">
            <a:avLst/>
          </a:prstGeom>
          <a:ln w="17780">
            <a:solidFill>
              <a:srgbClr val="1C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35060" y="4062362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655" y="4062362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42845" y="4062362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45440" y="4062362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8035" y="4062362"/>
            <a:ext cx="30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70250" y="5195231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70250" y="4782608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0250" y="4369985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70250" y="3544739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70250" y="3132116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70250" y="2719493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70250" y="2306870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0250" y="1894247"/>
            <a:ext cx="280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900" b="0">
                <a:solidFill>
                  <a:srgbClr val="1C2A22"/>
                </a:solidFill>
                <a:latin typeface="Calibri"/>
              </a:rPr>
              <a:t>10</a:t>
            </a:r>
          </a:p>
        </p:txBody>
      </p:sp>
      <p:sp>
        <p:nvSpPr>
          <p:cNvPr id="8" name="Freeform 7"/>
          <p:cNvSpPr/>
          <p:nvPr/>
        </p:nvSpPr>
        <p:spPr>
          <a:xfrm>
            <a:off x="1381597" y="1993977"/>
            <a:ext cx="2832411" cy="2053327"/>
          </a:xfrm>
          <a:custGeom>
            <a:avLst/>
            <a:gdLst/>
            <a:ahLst/>
            <a:cxnLst/>
            <a:rect l="l" t="t" r="r" b="b"/>
            <a:pathLst>
              <a:path w="2832411" h="2053327">
                <a:moveTo>
                  <a:pt x="0" y="43342"/>
                </a:moveTo>
                <a:lnTo>
                  <a:pt x="18883" y="96869"/>
                </a:lnTo>
                <a:lnTo>
                  <a:pt x="37766" y="149674"/>
                </a:lnTo>
                <a:lnTo>
                  <a:pt x="56648" y="201757"/>
                </a:lnTo>
                <a:lnTo>
                  <a:pt x="75531" y="253117"/>
                </a:lnTo>
                <a:lnTo>
                  <a:pt x="94414" y="303755"/>
                </a:lnTo>
                <a:lnTo>
                  <a:pt x="113296" y="353670"/>
                </a:lnTo>
                <a:lnTo>
                  <a:pt x="132179" y="402864"/>
                </a:lnTo>
                <a:lnTo>
                  <a:pt x="151062" y="451334"/>
                </a:lnTo>
                <a:lnTo>
                  <a:pt x="169945" y="499083"/>
                </a:lnTo>
                <a:lnTo>
                  <a:pt x="188827" y="546109"/>
                </a:lnTo>
                <a:lnTo>
                  <a:pt x="207710" y="592413"/>
                </a:lnTo>
                <a:lnTo>
                  <a:pt x="226593" y="637994"/>
                </a:lnTo>
                <a:lnTo>
                  <a:pt x="245476" y="682853"/>
                </a:lnTo>
                <a:lnTo>
                  <a:pt x="264358" y="726989"/>
                </a:lnTo>
                <a:lnTo>
                  <a:pt x="283241" y="770404"/>
                </a:lnTo>
                <a:lnTo>
                  <a:pt x="302124" y="813096"/>
                </a:lnTo>
                <a:lnTo>
                  <a:pt x="321007" y="855065"/>
                </a:lnTo>
                <a:lnTo>
                  <a:pt x="339889" y="896312"/>
                </a:lnTo>
                <a:lnTo>
                  <a:pt x="358772" y="936837"/>
                </a:lnTo>
                <a:lnTo>
                  <a:pt x="377655" y="976639"/>
                </a:lnTo>
                <a:lnTo>
                  <a:pt x="396538" y="1015719"/>
                </a:lnTo>
                <a:lnTo>
                  <a:pt x="415420" y="1054077"/>
                </a:lnTo>
                <a:lnTo>
                  <a:pt x="434303" y="1091712"/>
                </a:lnTo>
                <a:lnTo>
                  <a:pt x="453186" y="1128625"/>
                </a:lnTo>
                <a:lnTo>
                  <a:pt x="472069" y="1164816"/>
                </a:lnTo>
                <a:lnTo>
                  <a:pt x="490951" y="1200284"/>
                </a:lnTo>
                <a:lnTo>
                  <a:pt x="509834" y="1235030"/>
                </a:lnTo>
                <a:lnTo>
                  <a:pt x="528717" y="1269053"/>
                </a:lnTo>
                <a:lnTo>
                  <a:pt x="547600" y="1302354"/>
                </a:lnTo>
                <a:lnTo>
                  <a:pt x="566482" y="1334933"/>
                </a:lnTo>
                <a:lnTo>
                  <a:pt x="585365" y="1366790"/>
                </a:lnTo>
                <a:lnTo>
                  <a:pt x="604248" y="1397924"/>
                </a:lnTo>
                <a:lnTo>
                  <a:pt x="623130" y="1428335"/>
                </a:lnTo>
                <a:lnTo>
                  <a:pt x="642013" y="1458024"/>
                </a:lnTo>
                <a:lnTo>
                  <a:pt x="660896" y="1486991"/>
                </a:lnTo>
                <a:lnTo>
                  <a:pt x="679779" y="1515236"/>
                </a:lnTo>
                <a:lnTo>
                  <a:pt x="698661" y="1542758"/>
                </a:lnTo>
                <a:lnTo>
                  <a:pt x="717544" y="1569558"/>
                </a:lnTo>
                <a:lnTo>
                  <a:pt x="736427" y="1595635"/>
                </a:lnTo>
                <a:lnTo>
                  <a:pt x="755310" y="1620990"/>
                </a:lnTo>
                <a:lnTo>
                  <a:pt x="774192" y="1645623"/>
                </a:lnTo>
                <a:lnTo>
                  <a:pt x="793075" y="1669533"/>
                </a:lnTo>
                <a:lnTo>
                  <a:pt x="811958" y="1692721"/>
                </a:lnTo>
                <a:lnTo>
                  <a:pt x="830841" y="1715187"/>
                </a:lnTo>
                <a:lnTo>
                  <a:pt x="849723" y="1736930"/>
                </a:lnTo>
                <a:lnTo>
                  <a:pt x="868606" y="1757951"/>
                </a:lnTo>
                <a:lnTo>
                  <a:pt x="887489" y="1778250"/>
                </a:lnTo>
                <a:lnTo>
                  <a:pt x="906372" y="1797826"/>
                </a:lnTo>
                <a:lnTo>
                  <a:pt x="925254" y="1816679"/>
                </a:lnTo>
                <a:lnTo>
                  <a:pt x="944137" y="1834811"/>
                </a:lnTo>
                <a:lnTo>
                  <a:pt x="963020" y="1852220"/>
                </a:lnTo>
                <a:lnTo>
                  <a:pt x="981903" y="1868907"/>
                </a:lnTo>
                <a:lnTo>
                  <a:pt x="1000785" y="1884871"/>
                </a:lnTo>
                <a:lnTo>
                  <a:pt x="1019668" y="1900113"/>
                </a:lnTo>
                <a:lnTo>
                  <a:pt x="1038551" y="1914632"/>
                </a:lnTo>
                <a:lnTo>
                  <a:pt x="1057434" y="1928430"/>
                </a:lnTo>
                <a:lnTo>
                  <a:pt x="1076316" y="1941504"/>
                </a:lnTo>
                <a:lnTo>
                  <a:pt x="1095199" y="1953857"/>
                </a:lnTo>
                <a:lnTo>
                  <a:pt x="1114082" y="1965487"/>
                </a:lnTo>
                <a:lnTo>
                  <a:pt x="1132964" y="1976395"/>
                </a:lnTo>
                <a:lnTo>
                  <a:pt x="1151847" y="1986580"/>
                </a:lnTo>
                <a:lnTo>
                  <a:pt x="1170730" y="1996043"/>
                </a:lnTo>
                <a:lnTo>
                  <a:pt x="1189613" y="2004784"/>
                </a:lnTo>
                <a:lnTo>
                  <a:pt x="1208495" y="2012802"/>
                </a:lnTo>
                <a:lnTo>
                  <a:pt x="1227378" y="2020098"/>
                </a:lnTo>
                <a:lnTo>
                  <a:pt x="1246261" y="2026671"/>
                </a:lnTo>
                <a:lnTo>
                  <a:pt x="1265144" y="2032523"/>
                </a:lnTo>
                <a:lnTo>
                  <a:pt x="1284026" y="2037651"/>
                </a:lnTo>
                <a:lnTo>
                  <a:pt x="1302909" y="2042058"/>
                </a:lnTo>
                <a:lnTo>
                  <a:pt x="1321792" y="2045742"/>
                </a:lnTo>
                <a:lnTo>
                  <a:pt x="1340675" y="2048704"/>
                </a:lnTo>
                <a:lnTo>
                  <a:pt x="1359557" y="2050943"/>
                </a:lnTo>
                <a:lnTo>
                  <a:pt x="1378440" y="2052460"/>
                </a:lnTo>
                <a:lnTo>
                  <a:pt x="1397323" y="2053254"/>
                </a:lnTo>
                <a:lnTo>
                  <a:pt x="1416206" y="2053327"/>
                </a:lnTo>
                <a:lnTo>
                  <a:pt x="1435088" y="2052677"/>
                </a:lnTo>
                <a:lnTo>
                  <a:pt x="1453971" y="2051304"/>
                </a:lnTo>
                <a:lnTo>
                  <a:pt x="1472854" y="2049209"/>
                </a:lnTo>
                <a:lnTo>
                  <a:pt x="1491737" y="2046392"/>
                </a:lnTo>
                <a:lnTo>
                  <a:pt x="1510619" y="2042852"/>
                </a:lnTo>
                <a:lnTo>
                  <a:pt x="1529502" y="2038590"/>
                </a:lnTo>
                <a:lnTo>
                  <a:pt x="1548385" y="2033606"/>
                </a:lnTo>
                <a:lnTo>
                  <a:pt x="1567268" y="2027899"/>
                </a:lnTo>
                <a:lnTo>
                  <a:pt x="1586150" y="2021470"/>
                </a:lnTo>
                <a:lnTo>
                  <a:pt x="1605033" y="2014319"/>
                </a:lnTo>
                <a:lnTo>
                  <a:pt x="1623916" y="2006445"/>
                </a:lnTo>
                <a:lnTo>
                  <a:pt x="1642798" y="1997849"/>
                </a:lnTo>
                <a:lnTo>
                  <a:pt x="1661681" y="1988530"/>
                </a:lnTo>
                <a:lnTo>
                  <a:pt x="1680564" y="1978490"/>
                </a:lnTo>
                <a:lnTo>
                  <a:pt x="1699447" y="1967726"/>
                </a:lnTo>
                <a:lnTo>
                  <a:pt x="1718329" y="1956241"/>
                </a:lnTo>
                <a:lnTo>
                  <a:pt x="1737212" y="1944033"/>
                </a:lnTo>
                <a:lnTo>
                  <a:pt x="1756095" y="1931102"/>
                </a:lnTo>
                <a:lnTo>
                  <a:pt x="1774978" y="1917450"/>
                </a:lnTo>
                <a:lnTo>
                  <a:pt x="1793860" y="1903074"/>
                </a:lnTo>
                <a:lnTo>
                  <a:pt x="1812743" y="1887977"/>
                </a:lnTo>
                <a:lnTo>
                  <a:pt x="1831626" y="1872157"/>
                </a:lnTo>
                <a:lnTo>
                  <a:pt x="1850509" y="1855615"/>
                </a:lnTo>
                <a:lnTo>
                  <a:pt x="1869391" y="1838350"/>
                </a:lnTo>
                <a:lnTo>
                  <a:pt x="1888274" y="1820363"/>
                </a:lnTo>
                <a:lnTo>
                  <a:pt x="1907157" y="1801654"/>
                </a:lnTo>
                <a:lnTo>
                  <a:pt x="1926040" y="1782223"/>
                </a:lnTo>
                <a:lnTo>
                  <a:pt x="1944922" y="1762069"/>
                </a:lnTo>
                <a:lnTo>
                  <a:pt x="1963805" y="1741192"/>
                </a:lnTo>
                <a:lnTo>
                  <a:pt x="1982688" y="1719593"/>
                </a:lnTo>
                <a:lnTo>
                  <a:pt x="2001571" y="1697272"/>
                </a:lnTo>
                <a:lnTo>
                  <a:pt x="2020453" y="1674229"/>
                </a:lnTo>
                <a:lnTo>
                  <a:pt x="2039336" y="1650463"/>
                </a:lnTo>
                <a:lnTo>
                  <a:pt x="2058219" y="1625975"/>
                </a:lnTo>
                <a:lnTo>
                  <a:pt x="2077102" y="1600764"/>
                </a:lnTo>
                <a:lnTo>
                  <a:pt x="2095984" y="1574831"/>
                </a:lnTo>
                <a:lnTo>
                  <a:pt x="2114867" y="1548176"/>
                </a:lnTo>
                <a:lnTo>
                  <a:pt x="2133750" y="1520798"/>
                </a:lnTo>
                <a:lnTo>
                  <a:pt x="2152632" y="1492698"/>
                </a:lnTo>
                <a:lnTo>
                  <a:pt x="2171515" y="1463876"/>
                </a:lnTo>
                <a:lnTo>
                  <a:pt x="2190398" y="1434331"/>
                </a:lnTo>
                <a:lnTo>
                  <a:pt x="2209281" y="1404064"/>
                </a:lnTo>
                <a:lnTo>
                  <a:pt x="2228163" y="1373074"/>
                </a:lnTo>
                <a:lnTo>
                  <a:pt x="2247046" y="1341362"/>
                </a:lnTo>
                <a:lnTo>
                  <a:pt x="2265929" y="1308928"/>
                </a:lnTo>
                <a:lnTo>
                  <a:pt x="2284812" y="1275771"/>
                </a:lnTo>
                <a:lnTo>
                  <a:pt x="2303694" y="1241892"/>
                </a:lnTo>
                <a:lnTo>
                  <a:pt x="2322577" y="1207291"/>
                </a:lnTo>
                <a:lnTo>
                  <a:pt x="2341460" y="1171967"/>
                </a:lnTo>
                <a:lnTo>
                  <a:pt x="2360343" y="1135921"/>
                </a:lnTo>
                <a:lnTo>
                  <a:pt x="2379225" y="1099153"/>
                </a:lnTo>
                <a:lnTo>
                  <a:pt x="2398108" y="1061662"/>
                </a:lnTo>
                <a:lnTo>
                  <a:pt x="2416991" y="1023449"/>
                </a:lnTo>
                <a:lnTo>
                  <a:pt x="2435874" y="984513"/>
                </a:lnTo>
                <a:lnTo>
                  <a:pt x="2454756" y="944855"/>
                </a:lnTo>
                <a:lnTo>
                  <a:pt x="2473639" y="904475"/>
                </a:lnTo>
                <a:lnTo>
                  <a:pt x="2492522" y="863372"/>
                </a:lnTo>
                <a:lnTo>
                  <a:pt x="2511405" y="821547"/>
                </a:lnTo>
                <a:lnTo>
                  <a:pt x="2530287" y="779000"/>
                </a:lnTo>
                <a:lnTo>
                  <a:pt x="2549170" y="735730"/>
                </a:lnTo>
                <a:lnTo>
                  <a:pt x="2568053" y="691738"/>
                </a:lnTo>
                <a:lnTo>
                  <a:pt x="2586936" y="647024"/>
                </a:lnTo>
                <a:lnTo>
                  <a:pt x="2605818" y="601587"/>
                </a:lnTo>
                <a:lnTo>
                  <a:pt x="2624701" y="555427"/>
                </a:lnTo>
                <a:lnTo>
                  <a:pt x="2643584" y="508546"/>
                </a:lnTo>
                <a:lnTo>
                  <a:pt x="2662466" y="460942"/>
                </a:lnTo>
                <a:lnTo>
                  <a:pt x="2681349" y="412616"/>
                </a:lnTo>
                <a:lnTo>
                  <a:pt x="2700232" y="363567"/>
                </a:lnTo>
                <a:lnTo>
                  <a:pt x="2719115" y="313796"/>
                </a:lnTo>
                <a:lnTo>
                  <a:pt x="2737997" y="263302"/>
                </a:lnTo>
                <a:lnTo>
                  <a:pt x="2756880" y="212087"/>
                </a:lnTo>
                <a:lnTo>
                  <a:pt x="2775763" y="160148"/>
                </a:lnTo>
                <a:lnTo>
                  <a:pt x="2794646" y="107488"/>
                </a:lnTo>
                <a:lnTo>
                  <a:pt x="2813528" y="54105"/>
                </a:lnTo>
                <a:lnTo>
                  <a:pt x="2832411" y="0"/>
                </a:lnTo>
              </a:path>
            </a:pathLst>
          </a:custGeom>
          <a:noFill/>
          <a:ln w="30480">
            <a:solidFill>
              <a:srgbClr val="5C6B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Freeform 53"/>
          <p:cNvSpPr/>
          <p:nvPr/>
        </p:nvSpPr>
        <p:spPr>
          <a:xfrm>
            <a:off x="2099141" y="2022254"/>
            <a:ext cx="2284812" cy="2643861"/>
          </a:xfrm>
          <a:custGeom>
            <a:avLst/>
            <a:gdLst/>
            <a:ahLst/>
            <a:cxnLst/>
            <a:rect l="l" t="t" r="r" b="b"/>
            <a:pathLst>
              <a:path w="2284812" h="2643861">
                <a:moveTo>
                  <a:pt x="0" y="0"/>
                </a:moveTo>
                <a:lnTo>
                  <a:pt x="18883" y="86684"/>
                </a:lnTo>
                <a:lnTo>
                  <a:pt x="37766" y="171923"/>
                </a:lnTo>
                <a:lnTo>
                  <a:pt x="56648" y="255718"/>
                </a:lnTo>
                <a:lnTo>
                  <a:pt x="75531" y="338067"/>
                </a:lnTo>
                <a:lnTo>
                  <a:pt x="94414" y="418972"/>
                </a:lnTo>
                <a:lnTo>
                  <a:pt x="113297" y="498433"/>
                </a:lnTo>
                <a:lnTo>
                  <a:pt x="132179" y="576448"/>
                </a:lnTo>
                <a:lnTo>
                  <a:pt x="151062" y="653019"/>
                </a:lnTo>
                <a:lnTo>
                  <a:pt x="169945" y="728145"/>
                </a:lnTo>
                <a:lnTo>
                  <a:pt x="188828" y="801827"/>
                </a:lnTo>
                <a:lnTo>
                  <a:pt x="207710" y="874063"/>
                </a:lnTo>
                <a:lnTo>
                  <a:pt x="226593" y="944855"/>
                </a:lnTo>
                <a:lnTo>
                  <a:pt x="245476" y="1014202"/>
                </a:lnTo>
                <a:lnTo>
                  <a:pt x="264359" y="1082105"/>
                </a:lnTo>
                <a:lnTo>
                  <a:pt x="283241" y="1148563"/>
                </a:lnTo>
                <a:lnTo>
                  <a:pt x="302124" y="1213576"/>
                </a:lnTo>
                <a:lnTo>
                  <a:pt x="321007" y="1277144"/>
                </a:lnTo>
                <a:lnTo>
                  <a:pt x="339890" y="1339267"/>
                </a:lnTo>
                <a:lnTo>
                  <a:pt x="358772" y="1399946"/>
                </a:lnTo>
                <a:lnTo>
                  <a:pt x="377655" y="1459180"/>
                </a:lnTo>
                <a:lnTo>
                  <a:pt x="396538" y="1516970"/>
                </a:lnTo>
                <a:lnTo>
                  <a:pt x="415420" y="1573314"/>
                </a:lnTo>
                <a:lnTo>
                  <a:pt x="434303" y="1628214"/>
                </a:lnTo>
                <a:lnTo>
                  <a:pt x="453186" y="1681669"/>
                </a:lnTo>
                <a:lnTo>
                  <a:pt x="472069" y="1733680"/>
                </a:lnTo>
                <a:lnTo>
                  <a:pt x="490951" y="1784245"/>
                </a:lnTo>
                <a:lnTo>
                  <a:pt x="509834" y="1833366"/>
                </a:lnTo>
                <a:lnTo>
                  <a:pt x="528717" y="1881042"/>
                </a:lnTo>
                <a:lnTo>
                  <a:pt x="547600" y="1927274"/>
                </a:lnTo>
                <a:lnTo>
                  <a:pt x="566482" y="1972061"/>
                </a:lnTo>
                <a:lnTo>
                  <a:pt x="585365" y="2015403"/>
                </a:lnTo>
                <a:lnTo>
                  <a:pt x="604248" y="2057300"/>
                </a:lnTo>
                <a:lnTo>
                  <a:pt x="623131" y="2097752"/>
                </a:lnTo>
                <a:lnTo>
                  <a:pt x="642013" y="2136760"/>
                </a:lnTo>
                <a:lnTo>
                  <a:pt x="660896" y="2174323"/>
                </a:lnTo>
                <a:lnTo>
                  <a:pt x="679779" y="2210441"/>
                </a:lnTo>
                <a:lnTo>
                  <a:pt x="698662" y="2245115"/>
                </a:lnTo>
                <a:lnTo>
                  <a:pt x="717544" y="2278344"/>
                </a:lnTo>
                <a:lnTo>
                  <a:pt x="736427" y="2310128"/>
                </a:lnTo>
                <a:lnTo>
                  <a:pt x="755310" y="2340467"/>
                </a:lnTo>
                <a:lnTo>
                  <a:pt x="774193" y="2369362"/>
                </a:lnTo>
                <a:lnTo>
                  <a:pt x="793075" y="2396812"/>
                </a:lnTo>
                <a:lnTo>
                  <a:pt x="811958" y="2422817"/>
                </a:lnTo>
                <a:lnTo>
                  <a:pt x="830841" y="2447378"/>
                </a:lnTo>
                <a:lnTo>
                  <a:pt x="849724" y="2470493"/>
                </a:lnTo>
                <a:lnTo>
                  <a:pt x="868606" y="2492164"/>
                </a:lnTo>
                <a:lnTo>
                  <a:pt x="887489" y="2512391"/>
                </a:lnTo>
                <a:lnTo>
                  <a:pt x="906372" y="2531172"/>
                </a:lnTo>
                <a:lnTo>
                  <a:pt x="925254" y="2548509"/>
                </a:lnTo>
                <a:lnTo>
                  <a:pt x="944137" y="2564401"/>
                </a:lnTo>
                <a:lnTo>
                  <a:pt x="963020" y="2578848"/>
                </a:lnTo>
                <a:lnTo>
                  <a:pt x="981903" y="2591851"/>
                </a:lnTo>
                <a:lnTo>
                  <a:pt x="1000785" y="2603409"/>
                </a:lnTo>
                <a:lnTo>
                  <a:pt x="1019668" y="2613522"/>
                </a:lnTo>
                <a:lnTo>
                  <a:pt x="1038551" y="2622190"/>
                </a:lnTo>
                <a:lnTo>
                  <a:pt x="1057434" y="2629414"/>
                </a:lnTo>
                <a:lnTo>
                  <a:pt x="1076316" y="2635193"/>
                </a:lnTo>
                <a:lnTo>
                  <a:pt x="1095199" y="2639527"/>
                </a:lnTo>
                <a:lnTo>
                  <a:pt x="1114082" y="2642417"/>
                </a:lnTo>
                <a:lnTo>
                  <a:pt x="1132965" y="2643861"/>
                </a:lnTo>
                <a:lnTo>
                  <a:pt x="1151847" y="2643861"/>
                </a:lnTo>
                <a:lnTo>
                  <a:pt x="1170730" y="2642417"/>
                </a:lnTo>
                <a:lnTo>
                  <a:pt x="1189613" y="2639527"/>
                </a:lnTo>
                <a:lnTo>
                  <a:pt x="1208496" y="2635193"/>
                </a:lnTo>
                <a:lnTo>
                  <a:pt x="1227378" y="2629414"/>
                </a:lnTo>
                <a:lnTo>
                  <a:pt x="1246261" y="2622190"/>
                </a:lnTo>
                <a:lnTo>
                  <a:pt x="1265144" y="2613522"/>
                </a:lnTo>
                <a:lnTo>
                  <a:pt x="1284027" y="2603409"/>
                </a:lnTo>
                <a:lnTo>
                  <a:pt x="1302909" y="2591851"/>
                </a:lnTo>
                <a:lnTo>
                  <a:pt x="1321792" y="2578848"/>
                </a:lnTo>
                <a:lnTo>
                  <a:pt x="1340675" y="2564401"/>
                </a:lnTo>
                <a:lnTo>
                  <a:pt x="1359558" y="2548509"/>
                </a:lnTo>
                <a:lnTo>
                  <a:pt x="1378440" y="2531172"/>
                </a:lnTo>
                <a:lnTo>
                  <a:pt x="1397323" y="2512391"/>
                </a:lnTo>
                <a:lnTo>
                  <a:pt x="1416206" y="2492164"/>
                </a:lnTo>
                <a:lnTo>
                  <a:pt x="1435088" y="2470493"/>
                </a:lnTo>
                <a:lnTo>
                  <a:pt x="1453971" y="2447378"/>
                </a:lnTo>
                <a:lnTo>
                  <a:pt x="1472854" y="2422817"/>
                </a:lnTo>
                <a:lnTo>
                  <a:pt x="1491737" y="2396812"/>
                </a:lnTo>
                <a:lnTo>
                  <a:pt x="1510619" y="2369362"/>
                </a:lnTo>
                <a:lnTo>
                  <a:pt x="1529502" y="2340467"/>
                </a:lnTo>
                <a:lnTo>
                  <a:pt x="1548385" y="2310128"/>
                </a:lnTo>
                <a:lnTo>
                  <a:pt x="1567268" y="2278344"/>
                </a:lnTo>
                <a:lnTo>
                  <a:pt x="1586150" y="2245115"/>
                </a:lnTo>
                <a:lnTo>
                  <a:pt x="1605033" y="2210441"/>
                </a:lnTo>
                <a:lnTo>
                  <a:pt x="1623916" y="2174323"/>
                </a:lnTo>
                <a:lnTo>
                  <a:pt x="1642799" y="2136760"/>
                </a:lnTo>
                <a:lnTo>
                  <a:pt x="1661681" y="2097752"/>
                </a:lnTo>
                <a:lnTo>
                  <a:pt x="1680564" y="2057300"/>
                </a:lnTo>
                <a:lnTo>
                  <a:pt x="1699447" y="2015403"/>
                </a:lnTo>
                <a:lnTo>
                  <a:pt x="1718330" y="1972061"/>
                </a:lnTo>
                <a:lnTo>
                  <a:pt x="1737212" y="1927274"/>
                </a:lnTo>
                <a:lnTo>
                  <a:pt x="1756095" y="1881042"/>
                </a:lnTo>
                <a:lnTo>
                  <a:pt x="1774978" y="1833366"/>
                </a:lnTo>
                <a:lnTo>
                  <a:pt x="1793861" y="1784245"/>
                </a:lnTo>
                <a:lnTo>
                  <a:pt x="1812743" y="1733680"/>
                </a:lnTo>
                <a:lnTo>
                  <a:pt x="1831626" y="1681669"/>
                </a:lnTo>
                <a:lnTo>
                  <a:pt x="1850509" y="1628214"/>
                </a:lnTo>
                <a:lnTo>
                  <a:pt x="1869392" y="1573314"/>
                </a:lnTo>
                <a:lnTo>
                  <a:pt x="1888274" y="1516970"/>
                </a:lnTo>
                <a:lnTo>
                  <a:pt x="1907157" y="1459180"/>
                </a:lnTo>
                <a:lnTo>
                  <a:pt x="1926040" y="1399946"/>
                </a:lnTo>
                <a:lnTo>
                  <a:pt x="1944922" y="1339267"/>
                </a:lnTo>
                <a:lnTo>
                  <a:pt x="1963805" y="1277144"/>
                </a:lnTo>
                <a:lnTo>
                  <a:pt x="1982688" y="1213576"/>
                </a:lnTo>
                <a:lnTo>
                  <a:pt x="2001571" y="1148563"/>
                </a:lnTo>
                <a:lnTo>
                  <a:pt x="2020453" y="1082105"/>
                </a:lnTo>
                <a:lnTo>
                  <a:pt x="2039336" y="1014202"/>
                </a:lnTo>
                <a:lnTo>
                  <a:pt x="2058219" y="944855"/>
                </a:lnTo>
                <a:lnTo>
                  <a:pt x="2077102" y="874063"/>
                </a:lnTo>
                <a:lnTo>
                  <a:pt x="2095984" y="801827"/>
                </a:lnTo>
                <a:lnTo>
                  <a:pt x="2114867" y="728145"/>
                </a:lnTo>
                <a:lnTo>
                  <a:pt x="2133750" y="653019"/>
                </a:lnTo>
                <a:lnTo>
                  <a:pt x="2152633" y="576448"/>
                </a:lnTo>
                <a:lnTo>
                  <a:pt x="2171515" y="498433"/>
                </a:lnTo>
                <a:lnTo>
                  <a:pt x="2190398" y="418972"/>
                </a:lnTo>
                <a:lnTo>
                  <a:pt x="2209281" y="338067"/>
                </a:lnTo>
                <a:lnTo>
                  <a:pt x="2228164" y="255718"/>
                </a:lnTo>
                <a:lnTo>
                  <a:pt x="2247046" y="171923"/>
                </a:lnTo>
                <a:lnTo>
                  <a:pt x="2265929" y="86684"/>
                </a:lnTo>
                <a:lnTo>
                  <a:pt x="2284812" y="0"/>
                </a:lnTo>
              </a:path>
            </a:pathLst>
          </a:custGeom>
          <a:noFill/>
          <a:ln w="38100">
            <a:solidFill>
              <a:srgbClr val="C84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855655" y="3190116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2306952" y="3809050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2758250" y="4015362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3209547" y="3809050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3660845" y="3190116"/>
            <a:ext cx="64000" cy="64000"/>
          </a:xfrm>
          <a:prstGeom prst="ellipse">
            <a:avLst/>
          </a:prstGeom>
          <a:solidFill>
            <a:srgbClr val="5C6B6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2306952" y="2983804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2758250" y="4221673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3209547" y="4634296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3660845" y="4221673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4112142" y="2983804"/>
            <a:ext cx="64000" cy="64000"/>
          </a:xfrm>
          <a:prstGeom prst="ellipse">
            <a:avLst/>
          </a:prstGeom>
          <a:solidFill>
            <a:srgbClr val="C84F2F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1285060" y="5415231"/>
            <a:ext cx="350000" cy="0"/>
          </a:xfrm>
          <a:prstGeom prst="line">
            <a:avLst/>
          </a:prstGeom>
          <a:ln w="30480">
            <a:solidFill>
              <a:srgbClr val="5C6B6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85060" y="5325231"/>
            <a:ext cx="14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C2A22"/>
                </a:solidFill>
                <a:latin typeface="Cambria"/>
              </a:rPr>
              <a:t>y = f(x)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285060" y="5415231"/>
            <a:ext cx="350000" cy="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85060" y="5325231"/>
            <a:ext cx="1800000" cy="2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1C2A22"/>
                </a:solidFill>
                <a:latin typeface="Cambria"/>
              </a:rPr>
              <a:t>y = 2f(x−1)−3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60" grpId="0" animBg="1"/>
      <p:bldP spid="61" grpId="0" animBg="1"/>
      <p:bldP spid="62" grpId="0" animBg="1"/>
      <p:bldP spid="63" grpId="0" animBg="1"/>
      <p:bldP spid="6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 dirty="0" smtClean="0">
                <a:solidFill>
                  <a:srgbClr val="C84F2F"/>
                </a:solidFill>
                <a:latin typeface="Calibri"/>
              </a:rPr>
              <a:t>QUICK PRACTICE</a:t>
            </a:r>
            <a:endParaRPr sz="1250" b="1" i="0" spc="250" dirty="0">
              <a:solidFill>
                <a:srgbClr val="C84F2F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63208" y="420623"/>
            <a:ext cx="6603022" cy="6235153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20" y="539496"/>
            <a:ext cx="5472608" cy="5867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Oval 11"/>
          <p:cNvSpPr/>
          <p:nvPr/>
        </p:nvSpPr>
        <p:spPr>
          <a:xfrm>
            <a:off x="6400780" y="683512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/>
          <p:cNvSpPr/>
          <p:nvPr/>
        </p:nvSpPr>
        <p:spPr>
          <a:xfrm>
            <a:off x="5963969" y="1591041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/>
          <p:cNvSpPr/>
          <p:nvPr/>
        </p:nvSpPr>
        <p:spPr>
          <a:xfrm>
            <a:off x="6861403" y="1591041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/>
          <p:cNvSpPr/>
          <p:nvPr/>
        </p:nvSpPr>
        <p:spPr>
          <a:xfrm>
            <a:off x="5733658" y="2483712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/>
          <p:cNvSpPr/>
          <p:nvPr/>
        </p:nvSpPr>
        <p:spPr>
          <a:xfrm>
            <a:off x="7048852" y="2478035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/>
          <p:cNvSpPr/>
          <p:nvPr/>
        </p:nvSpPr>
        <p:spPr>
          <a:xfrm>
            <a:off x="8819584" y="1147788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/>
          <p:cNvSpPr/>
          <p:nvPr/>
        </p:nvSpPr>
        <p:spPr>
          <a:xfrm>
            <a:off x="8624073" y="2023567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/>
          <p:cNvSpPr/>
          <p:nvPr/>
        </p:nvSpPr>
        <p:spPr>
          <a:xfrm>
            <a:off x="9070657" y="2029917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/>
          <p:cNvSpPr/>
          <p:nvPr/>
        </p:nvSpPr>
        <p:spPr>
          <a:xfrm>
            <a:off x="8520762" y="2909888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/>
          <p:cNvSpPr/>
          <p:nvPr/>
        </p:nvSpPr>
        <p:spPr>
          <a:xfrm>
            <a:off x="9194606" y="2910561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/>
          <p:cNvSpPr/>
          <p:nvPr/>
        </p:nvSpPr>
        <p:spPr>
          <a:xfrm>
            <a:off x="6640126" y="5367356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/>
          <p:cNvSpPr/>
          <p:nvPr/>
        </p:nvSpPr>
        <p:spPr>
          <a:xfrm>
            <a:off x="5942965" y="4915985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/>
          <p:cNvSpPr/>
          <p:nvPr/>
        </p:nvSpPr>
        <p:spPr>
          <a:xfrm>
            <a:off x="7303949" y="4915985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/>
          <p:cNvSpPr/>
          <p:nvPr/>
        </p:nvSpPr>
        <p:spPr>
          <a:xfrm>
            <a:off x="5509454" y="4037006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/>
          <p:cNvSpPr/>
          <p:nvPr/>
        </p:nvSpPr>
        <p:spPr>
          <a:xfrm>
            <a:off x="8844835" y="5805184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/>
          <p:cNvSpPr/>
          <p:nvPr/>
        </p:nvSpPr>
        <p:spPr>
          <a:xfrm>
            <a:off x="8185774" y="4896613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/>
          <p:cNvSpPr/>
          <p:nvPr/>
        </p:nvSpPr>
        <p:spPr>
          <a:xfrm>
            <a:off x="9508658" y="4915663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Oval 28"/>
          <p:cNvSpPr/>
          <p:nvPr/>
        </p:nvSpPr>
        <p:spPr>
          <a:xfrm>
            <a:off x="7911013" y="4036684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Oval 29"/>
          <p:cNvSpPr/>
          <p:nvPr/>
        </p:nvSpPr>
        <p:spPr>
          <a:xfrm>
            <a:off x="9746907" y="4050057"/>
            <a:ext cx="104112" cy="9530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Freeform 30"/>
          <p:cNvSpPr/>
          <p:nvPr/>
        </p:nvSpPr>
        <p:spPr>
          <a:xfrm>
            <a:off x="5697820" y="719672"/>
            <a:ext cx="1493520" cy="2263140"/>
          </a:xfrm>
          <a:custGeom>
            <a:avLst/>
            <a:gdLst>
              <a:gd name="connsiteX0" fmla="*/ 0 w 1493520"/>
              <a:gd name="connsiteY0" fmla="*/ 2247900 h 2263140"/>
              <a:gd name="connsiteX1" fmla="*/ 83820 w 1493520"/>
              <a:gd name="connsiteY1" fmla="*/ 1821180 h 2263140"/>
              <a:gd name="connsiteX2" fmla="*/ 320040 w 1493520"/>
              <a:gd name="connsiteY2" fmla="*/ 922020 h 2263140"/>
              <a:gd name="connsiteX3" fmla="*/ 746760 w 1493520"/>
              <a:gd name="connsiteY3" fmla="*/ 0 h 2263140"/>
              <a:gd name="connsiteX4" fmla="*/ 1219200 w 1493520"/>
              <a:gd name="connsiteY4" fmla="*/ 922020 h 2263140"/>
              <a:gd name="connsiteX5" fmla="*/ 1409700 w 1493520"/>
              <a:gd name="connsiteY5" fmla="*/ 1813560 h 2263140"/>
              <a:gd name="connsiteX6" fmla="*/ 1493520 w 1493520"/>
              <a:gd name="connsiteY6" fmla="*/ 2263140 h 22631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3520" h="2263140">
                <a:moveTo>
                  <a:pt x="0" y="2247900"/>
                </a:moveTo>
                <a:cubicBezTo>
                  <a:pt x="15240" y="2145030"/>
                  <a:pt x="30480" y="2042160"/>
                  <a:pt x="83820" y="1821180"/>
                </a:cubicBezTo>
                <a:cubicBezTo>
                  <a:pt x="137160" y="1600200"/>
                  <a:pt x="209550" y="1225550"/>
                  <a:pt x="320040" y="922020"/>
                </a:cubicBezTo>
                <a:cubicBezTo>
                  <a:pt x="430530" y="618490"/>
                  <a:pt x="596900" y="0"/>
                  <a:pt x="746760" y="0"/>
                </a:cubicBezTo>
                <a:cubicBezTo>
                  <a:pt x="896620" y="0"/>
                  <a:pt x="1108710" y="619760"/>
                  <a:pt x="1219200" y="922020"/>
                </a:cubicBezTo>
                <a:cubicBezTo>
                  <a:pt x="1329690" y="1224280"/>
                  <a:pt x="1363980" y="1590040"/>
                  <a:pt x="1409700" y="1813560"/>
                </a:cubicBezTo>
                <a:cubicBezTo>
                  <a:pt x="1455420" y="2037080"/>
                  <a:pt x="1474470" y="2150110"/>
                  <a:pt x="1493520" y="2263140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Freeform 31"/>
          <p:cNvSpPr/>
          <p:nvPr/>
        </p:nvSpPr>
        <p:spPr>
          <a:xfrm>
            <a:off x="8570560" y="1184490"/>
            <a:ext cx="685800" cy="1790702"/>
          </a:xfrm>
          <a:custGeom>
            <a:avLst/>
            <a:gdLst>
              <a:gd name="connsiteX0" fmla="*/ 0 w 685800"/>
              <a:gd name="connsiteY0" fmla="*/ 1775462 h 1790702"/>
              <a:gd name="connsiteX1" fmla="*/ 106680 w 685800"/>
              <a:gd name="connsiteY1" fmla="*/ 891542 h 1790702"/>
              <a:gd name="connsiteX2" fmla="*/ 297180 w 685800"/>
              <a:gd name="connsiteY2" fmla="*/ 2 h 1790702"/>
              <a:gd name="connsiteX3" fmla="*/ 556260 w 685800"/>
              <a:gd name="connsiteY3" fmla="*/ 899162 h 1790702"/>
              <a:gd name="connsiteX4" fmla="*/ 685800 w 685800"/>
              <a:gd name="connsiteY4" fmla="*/ 1790702 h 1790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800" h="1790702">
                <a:moveTo>
                  <a:pt x="0" y="1775462"/>
                </a:moveTo>
                <a:cubicBezTo>
                  <a:pt x="28575" y="1481457"/>
                  <a:pt x="57150" y="1187452"/>
                  <a:pt x="106680" y="891542"/>
                </a:cubicBezTo>
                <a:cubicBezTo>
                  <a:pt x="156210" y="595632"/>
                  <a:pt x="222250" y="-1268"/>
                  <a:pt x="297180" y="2"/>
                </a:cubicBezTo>
                <a:cubicBezTo>
                  <a:pt x="372110" y="1272"/>
                  <a:pt x="491490" y="600712"/>
                  <a:pt x="556260" y="899162"/>
                </a:cubicBezTo>
                <a:cubicBezTo>
                  <a:pt x="621030" y="1197612"/>
                  <a:pt x="653415" y="1494157"/>
                  <a:pt x="685800" y="1790702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Freeform 32"/>
          <p:cNvSpPr/>
          <p:nvPr/>
        </p:nvSpPr>
        <p:spPr>
          <a:xfrm>
            <a:off x="5415880" y="3622892"/>
            <a:ext cx="1943100" cy="1805945"/>
          </a:xfrm>
          <a:custGeom>
            <a:avLst/>
            <a:gdLst>
              <a:gd name="connsiteX0" fmla="*/ 0 w 1943100"/>
              <a:gd name="connsiteY0" fmla="*/ 0 h 1805945"/>
              <a:gd name="connsiteX1" fmla="*/ 144780 w 1943100"/>
              <a:gd name="connsiteY1" fmla="*/ 472440 h 1805945"/>
              <a:gd name="connsiteX2" fmla="*/ 579120 w 1943100"/>
              <a:gd name="connsiteY2" fmla="*/ 1348740 h 1805945"/>
              <a:gd name="connsiteX3" fmla="*/ 1272540 w 1943100"/>
              <a:gd name="connsiteY3" fmla="*/ 1805940 h 1805945"/>
              <a:gd name="connsiteX4" fmla="*/ 1943100 w 1943100"/>
              <a:gd name="connsiteY4" fmla="*/ 1341120 h 1805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3100" h="1805945">
                <a:moveTo>
                  <a:pt x="0" y="0"/>
                </a:moveTo>
                <a:cubicBezTo>
                  <a:pt x="24130" y="123825"/>
                  <a:pt x="48260" y="247650"/>
                  <a:pt x="144780" y="472440"/>
                </a:cubicBezTo>
                <a:cubicBezTo>
                  <a:pt x="241300" y="697230"/>
                  <a:pt x="391160" y="1126490"/>
                  <a:pt x="579120" y="1348740"/>
                </a:cubicBezTo>
                <a:cubicBezTo>
                  <a:pt x="767080" y="1570990"/>
                  <a:pt x="1045210" y="1807210"/>
                  <a:pt x="1272540" y="1805940"/>
                </a:cubicBezTo>
                <a:cubicBezTo>
                  <a:pt x="1499870" y="1804670"/>
                  <a:pt x="1721485" y="1572895"/>
                  <a:pt x="1943100" y="1341120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Freeform 33"/>
          <p:cNvSpPr/>
          <p:nvPr/>
        </p:nvSpPr>
        <p:spPr>
          <a:xfrm>
            <a:off x="7869520" y="3630512"/>
            <a:ext cx="2004060" cy="2232662"/>
          </a:xfrm>
          <a:custGeom>
            <a:avLst/>
            <a:gdLst>
              <a:gd name="connsiteX0" fmla="*/ 0 w 2004060"/>
              <a:gd name="connsiteY0" fmla="*/ 0 h 2232662"/>
              <a:gd name="connsiteX1" fmla="*/ 91440 w 2004060"/>
              <a:gd name="connsiteY1" fmla="*/ 457200 h 2232662"/>
              <a:gd name="connsiteX2" fmla="*/ 381000 w 2004060"/>
              <a:gd name="connsiteY2" fmla="*/ 1325880 h 2232662"/>
              <a:gd name="connsiteX3" fmla="*/ 1036320 w 2004060"/>
              <a:gd name="connsiteY3" fmla="*/ 2232660 h 2232662"/>
              <a:gd name="connsiteX4" fmla="*/ 1691640 w 2004060"/>
              <a:gd name="connsiteY4" fmla="*/ 1333500 h 2232662"/>
              <a:gd name="connsiteX5" fmla="*/ 2004060 w 2004060"/>
              <a:gd name="connsiteY5" fmla="*/ 7620 h 2232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060" h="2232662">
                <a:moveTo>
                  <a:pt x="0" y="0"/>
                </a:moveTo>
                <a:cubicBezTo>
                  <a:pt x="13970" y="118110"/>
                  <a:pt x="27940" y="236220"/>
                  <a:pt x="91440" y="457200"/>
                </a:cubicBezTo>
                <a:cubicBezTo>
                  <a:pt x="154940" y="678180"/>
                  <a:pt x="223520" y="1029970"/>
                  <a:pt x="381000" y="1325880"/>
                </a:cubicBezTo>
                <a:cubicBezTo>
                  <a:pt x="538480" y="1621790"/>
                  <a:pt x="817880" y="2231390"/>
                  <a:pt x="1036320" y="2232660"/>
                </a:cubicBezTo>
                <a:cubicBezTo>
                  <a:pt x="1254760" y="2233930"/>
                  <a:pt x="1530350" y="1704340"/>
                  <a:pt x="1691640" y="1333500"/>
                </a:cubicBezTo>
                <a:cubicBezTo>
                  <a:pt x="1852930" y="962660"/>
                  <a:pt x="1928495" y="485140"/>
                  <a:pt x="2004060" y="7620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/>
          <p:cNvSpPr txBox="1"/>
          <p:nvPr/>
        </p:nvSpPr>
        <p:spPr>
          <a:xfrm>
            <a:off x="566928" y="868680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2A22"/>
                </a:solidFill>
                <a:latin typeface="Cambria"/>
              </a:rPr>
              <a:t>Sketch It Yourself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1691640"/>
            <a:ext cx="35204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Starting from the curve y = f(x), sketch each transformed graph on its own grid. The worked answers are already plotted so you can check your work.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/>
            <a:r>
              <a:rPr sz="1300" b="1">
                <a:solidFill>
                  <a:srgbClr val="E0AC2B"/>
                </a:solidFill>
                <a:latin typeface="Cambria"/>
              </a:rPr>
              <a:t>Tip: check inside vs outside the bracket first — inside is horizontal &amp; opposite, outside is vertical &amp; as written.</a:t>
            </a:r>
          </a:p>
        </p:txBody>
      </p:sp>
    </p:spTree>
    <p:extLst>
      <p:ext uri="{BB962C8B-B14F-4D97-AF65-F5344CB8AC3E}">
        <p14:creationId xmlns:p14="http://schemas.microsoft.com/office/powerpoint/2010/main" val="301188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023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50">
                <a:solidFill>
                  <a:srgbClr val="E0AC2B"/>
                </a:solidFill>
                <a:latin typeface="Calibri"/>
              </a:rPr>
              <a:t>GRAPHS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658368"/>
            <a:ext cx="9875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Graphs Back to the Golden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61872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EDEBDD"/>
                </a:solidFill>
                <a:latin typeface="Calibri"/>
              </a:rPr>
              <a:t>Whatever the transformation, track it one point at a time — the table method always 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f(x) + a → (x, y+a)   </a:t>
            </a:r>
            <a:r>
              <a:rPr sz="1300">
                <a:solidFill>
                  <a:srgbClr val="EDEBDD"/>
                </a:solidFill>
                <a:latin typeface="Calibri"/>
              </a:rPr>
              <a:t>shift up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25496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f(x) − a → (x, y−a)   </a:t>
            </a:r>
            <a:r>
              <a:rPr sz="1300">
                <a:solidFill>
                  <a:srgbClr val="EDEBDD"/>
                </a:solidFill>
                <a:latin typeface="Calibri"/>
              </a:rPr>
              <a:t>shift down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85032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a f(x) → (x, ay)   </a:t>
            </a:r>
            <a:r>
              <a:rPr sz="1300">
                <a:solidFill>
                  <a:srgbClr val="EDEBDD"/>
                </a:solidFill>
                <a:latin typeface="Calibri"/>
              </a:rPr>
              <a:t>stretch ×a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44568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−f(x) → (x, −y)   </a:t>
            </a:r>
            <a:r>
              <a:rPr sz="1300">
                <a:solidFill>
                  <a:srgbClr val="EDEBDD"/>
                </a:solidFill>
                <a:latin typeface="Calibri"/>
              </a:rPr>
              <a:t>reflect in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965960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f(x+a) → (x−a, y)   </a:t>
            </a:r>
            <a:r>
              <a:rPr sz="1300">
                <a:solidFill>
                  <a:srgbClr val="EDEBDD"/>
                </a:solidFill>
                <a:latin typeface="Calibri"/>
              </a:rPr>
              <a:t>shift left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825496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f(x−a) → (x+a, y)   </a:t>
            </a:r>
            <a:r>
              <a:rPr sz="1300">
                <a:solidFill>
                  <a:srgbClr val="EDEBDD"/>
                </a:solidFill>
                <a:latin typeface="Calibri"/>
              </a:rPr>
              <a:t>shift right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3685032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f(ax) → (x/a, y)   </a:t>
            </a:r>
            <a:r>
              <a:rPr sz="1300">
                <a:solidFill>
                  <a:srgbClr val="EDEBDD"/>
                </a:solidFill>
                <a:latin typeface="Calibri"/>
              </a:rPr>
              <a:t>squash ÷a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4544568"/>
            <a:ext cx="5349240" cy="749808"/>
          </a:xfrm>
          <a:prstGeom prst="roundRect">
            <a:avLst>
              <a:gd name="adj" fmla="val 12000"/>
            </a:avLst>
          </a:prstGeom>
          <a:solidFill>
            <a:srgbClr val="263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0" rIns="182880" bIns="0" rtlCol="0" anchor="ctr"/>
          <a:lstStyle/>
          <a:p>
            <a:pPr algn="ctr"/>
            <a:r>
              <a:rPr sz="1500" b="1">
                <a:solidFill>
                  <a:srgbClr val="C84F2F"/>
                </a:solidFill>
                <a:latin typeface="Cambria"/>
              </a:rPr>
              <a:t>f(−x) → (−x, y)   </a:t>
            </a:r>
            <a:r>
              <a:rPr sz="1300">
                <a:solidFill>
                  <a:srgbClr val="EDEBDD"/>
                </a:solidFill>
                <a:latin typeface="Calibri"/>
              </a:rPr>
              <a:t>reflect in 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700" b="1">
                <a:solidFill>
                  <a:srgbClr val="E0AC2B"/>
                </a:solidFill>
                <a:latin typeface="Cambria"/>
              </a:rPr>
              <a:t>Next: the same rules applied to y = sin x and y = cos 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443316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GB" sz="1250" b="1" spc="250" dirty="0">
                <a:solidFill>
                  <a:srgbClr val="C84F2F"/>
                </a:solidFill>
                <a:latin typeface="Calibri"/>
              </a:rPr>
              <a:t>WORKED EXAMPLE</a:t>
            </a:r>
            <a:endParaRPr sz="1250" b="1" i="0" spc="250" dirty="0">
              <a:solidFill>
                <a:srgbClr val="C84F2F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63208" y="791308"/>
            <a:ext cx="6603022" cy="5864468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2" descr="Graph Plo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0730" y="860611"/>
            <a:ext cx="5647978" cy="3488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 rot="17574187">
                <a:off x="8767350" y="2420173"/>
                <a:ext cx="1296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𝒚</m:t>
                      </m:r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=</m:t>
                      </m:r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𝒇</m:t>
                      </m:r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(</m:t>
                      </m:r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𝒙</m:t>
                      </m:r>
                      <m:r>
                        <a:rPr lang="en-GB" b="1" i="1" smtClean="0">
                          <a:solidFill>
                            <a:srgbClr val="00B0F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GB" b="1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574187">
                <a:off x="8767350" y="2420173"/>
                <a:ext cx="1296144" cy="369332"/>
              </a:xfrm>
              <a:prstGeom prst="rect">
                <a:avLst/>
              </a:prstGeom>
              <a:blipFill rotWithShape="1">
                <a:blip r:embed="rId3"/>
                <a:stretch>
                  <a:fillRect r="-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 rot="17574187">
                <a:off x="6922094" y="2784954"/>
                <a:ext cx="1296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𝑮𝒓𝒂𝒑𝒉</m:t>
                      </m:r>
                      <m:r>
                        <a:rPr lang="en-GB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 </m:t>
                      </m:r>
                      <m:r>
                        <a:rPr lang="en-GB" b="1" i="1" smtClean="0">
                          <a:solidFill>
                            <a:srgbClr val="FF0000"/>
                          </a:solidFill>
                          <a:latin typeface="Cambria Math"/>
                        </a:rPr>
                        <m:t>𝑮</m:t>
                      </m:r>
                    </m:oMath>
                  </m:oMathPara>
                </a14:m>
                <a:endParaRPr lang="en-GB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574187">
                <a:off x="6922094" y="2784954"/>
                <a:ext cx="1296144" cy="36933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5267781" y="4605027"/>
                <a:ext cx="5420927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The blue graph shows the line with equation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/>
                      </a:rPr>
                      <m:t>𝑦</m:t>
                    </m:r>
                    <m:r>
                      <a:rPr lang="en-GB" b="0" i="1" smtClean="0">
                        <a:latin typeface="Cambria Math"/>
                      </a:rPr>
                      <m:t>=</m:t>
                    </m:r>
                    <m:r>
                      <a:rPr lang="en-GB" b="0" i="1" smtClean="0">
                        <a:latin typeface="Cambria Math"/>
                      </a:rPr>
                      <m:t>𝑓</m:t>
                    </m:r>
                    <m:r>
                      <a:rPr lang="en-GB" b="0" i="1" smtClean="0">
                        <a:latin typeface="Cambria Math"/>
                      </a:rPr>
                      <m:t>(</m:t>
                    </m:r>
                    <m:r>
                      <a:rPr lang="en-GB" b="0" i="1" smtClean="0">
                        <a:latin typeface="Cambria Math"/>
                      </a:rPr>
                      <m:t>𝑥</m:t>
                    </m:r>
                    <m:r>
                      <a:rPr lang="en-GB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What is the equation of graph G, in terms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/>
                      </a:rPr>
                      <m:t>𝑓</m:t>
                    </m:r>
                  </m:oMath>
                </a14:m>
                <a:r>
                  <a:rPr lang="en-GB" dirty="0"/>
                  <a:t>?</a:t>
                </a:r>
              </a:p>
              <a:p>
                <a:endParaRPr lang="en-GB" b="1" dirty="0"/>
              </a:p>
              <a:p>
                <a:r>
                  <a:rPr lang="en-GB" b="1" dirty="0"/>
                  <a:t>The graph has moved 5 units to the left, so:</a:t>
                </a:r>
                <a:endParaRPr lang="en-GB" b="1" i="1" dirty="0">
                  <a:latin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smtClean="0">
                          <a:latin typeface="Cambria Math"/>
                        </a:rPr>
                        <m:t>𝒚</m:t>
                      </m:r>
                      <m:r>
                        <a:rPr lang="en-GB" b="1" i="1" smtClean="0">
                          <a:latin typeface="Cambria Math"/>
                        </a:rPr>
                        <m:t>=</m:t>
                      </m:r>
                      <m:r>
                        <a:rPr lang="en-GB" b="1" i="1" smtClean="0">
                          <a:latin typeface="Cambria Math"/>
                        </a:rPr>
                        <m:t>𝒇</m:t>
                      </m:r>
                      <m:r>
                        <a:rPr lang="en-GB" b="1" i="1" smtClean="0">
                          <a:latin typeface="Cambria Math"/>
                        </a:rPr>
                        <m:t>(</m:t>
                      </m:r>
                      <m:r>
                        <a:rPr lang="en-GB" b="1" i="1" smtClean="0">
                          <a:latin typeface="Cambria Math"/>
                        </a:rPr>
                        <m:t>𝒙</m:t>
                      </m:r>
                      <m:r>
                        <a:rPr lang="en-GB" b="1" i="1" smtClean="0">
                          <a:latin typeface="Cambria Math"/>
                        </a:rPr>
                        <m:t>+</m:t>
                      </m:r>
                      <m:r>
                        <a:rPr lang="en-GB" b="1" i="1" smtClean="0">
                          <a:latin typeface="Cambria Math"/>
                        </a:rPr>
                        <m:t>𝟓</m:t>
                      </m:r>
                      <m:r>
                        <a:rPr lang="en-GB" b="1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GB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781" y="4605027"/>
                <a:ext cx="5420927" cy="1477328"/>
              </a:xfrm>
              <a:prstGeom prst="rect">
                <a:avLst/>
              </a:prstGeom>
              <a:blipFill rotWithShape="1">
                <a:blip r:embed="rId5"/>
                <a:stretch>
                  <a:fillRect l="-900" t="-2058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/>
          <p:cNvSpPr/>
          <p:nvPr/>
        </p:nvSpPr>
        <p:spPr>
          <a:xfrm>
            <a:off x="5283200" y="5387881"/>
            <a:ext cx="5405507" cy="80132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868680"/>
            <a:ext cx="3520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C2A22"/>
                </a:solidFill>
                <a:latin typeface="Cambria"/>
              </a:rPr>
              <a:t>Reading a Translation from a Graph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1874519"/>
            <a:ext cx="3520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C6B60"/>
                </a:solidFill>
                <a:latin typeface="Calibri"/>
              </a:rPr>
              <a:t>Compare the key points on the red graph with the blue original to spot the shift. Then write the new equation in terms of f(x).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09728" rIns="201168" bIns="109728" rtlCol="0" anchor="ctr"/>
          <a:lstStyle/>
          <a:p>
            <a:pPr algn="ctr"/>
            <a:r>
              <a:rPr sz="1300" b="1">
                <a:solidFill>
                  <a:srgbClr val="E0AC2B"/>
                </a:solidFill>
                <a:latin typeface="Cambria"/>
              </a:rPr>
              <a:t>Rule: moving left 5 units means f(x) becomes f(x + 5) — inside the bracket, always opposite.</a:t>
            </a:r>
          </a:p>
        </p:txBody>
      </p:sp>
    </p:spTree>
    <p:extLst>
      <p:ext uri="{BB962C8B-B14F-4D97-AF65-F5344CB8AC3E}">
        <p14:creationId xmlns:p14="http://schemas.microsoft.com/office/powerpoint/2010/main" val="1350541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E86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Zπ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701"/>
            <a:ext cx="868680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GB" sz="1250" b="1" spc="250" dirty="0">
                <a:solidFill>
                  <a:srgbClr val="C84F2F"/>
                </a:solidFill>
                <a:latin typeface="Calibri"/>
              </a:rPr>
              <a:t>PRACTICE · YOUR TURN</a:t>
            </a:r>
            <a:endParaRPr sz="1250" b="1" i="0" spc="250" dirty="0">
              <a:solidFill>
                <a:srgbClr val="C84F2F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1885" y="993532"/>
            <a:ext cx="11324492" cy="5864468"/>
          </a:xfrm>
          <a:prstGeom prst="roundRect">
            <a:avLst>
              <a:gd name="adj" fmla="val 3500"/>
            </a:avLst>
          </a:prstGeom>
          <a:solidFill>
            <a:srgbClr val="EEF1E8"/>
          </a:solidFill>
          <a:ln>
            <a:noFill/>
          </a:ln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268760"/>
            <a:ext cx="3783613" cy="2194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1141816"/>
            <a:ext cx="3528392" cy="26088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750656"/>
            <a:ext cx="3421854" cy="25702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187624" y="3212976"/>
                <a:ext cx="2448272" cy="36933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/>
                        </a:rPr>
                        <m:t>𝑦</m:t>
                      </m:r>
                      <m:r>
                        <a:rPr lang="en-GB" b="0" i="1" smtClean="0">
                          <a:latin typeface="Cambria Math"/>
                        </a:rPr>
                        <m:t>=</m:t>
                      </m:r>
                      <m:r>
                        <a:rPr lang="en-GB" b="0" i="1" smtClean="0">
                          <a:latin typeface="Cambria Math"/>
                        </a:rPr>
                        <m:t>𝑓</m:t>
                      </m:r>
                      <m:r>
                        <a:rPr lang="en-GB" b="0" i="1" smtClean="0">
                          <a:latin typeface="Cambria Math"/>
                        </a:rPr>
                        <m:t>(</m:t>
                      </m:r>
                      <m:r>
                        <a:rPr lang="en-GB" b="0" i="1" smtClean="0">
                          <a:latin typeface="Cambria Math"/>
                        </a:rPr>
                        <m:t>𝑥</m:t>
                      </m:r>
                      <m:r>
                        <a:rPr lang="en-GB" b="0" i="1" smtClean="0">
                          <a:latin typeface="Cambria Math"/>
                        </a:rPr>
                        <m:t>−2)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212976"/>
                <a:ext cx="2448272" cy="369332"/>
              </a:xfrm>
              <a:prstGeom prst="rect">
                <a:avLst/>
              </a:prstGeom>
              <a:blipFill rotWithShape="1">
                <a:blip r:embed="rId5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256076" y="3554466"/>
                <a:ext cx="2448272" cy="36933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/>
                        </a:rPr>
                        <m:t>𝑦</m:t>
                      </m:r>
                      <m:r>
                        <a:rPr lang="en-GB" b="0" i="1" smtClean="0">
                          <a:latin typeface="Cambria Math"/>
                        </a:rPr>
                        <m:t>=</m:t>
                      </m:r>
                      <m:r>
                        <a:rPr lang="en-GB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GB" b="0" i="1" smtClean="0">
                          <a:latin typeface="Cambria Math"/>
                        </a:rPr>
                        <m:t>+2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076" y="3554466"/>
                <a:ext cx="2448272" cy="369332"/>
              </a:xfrm>
              <a:prstGeom prst="rect">
                <a:avLst/>
              </a:prstGeom>
              <a:blipFill rotWithShape="1">
                <a:blip r:embed="rId6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043608" y="6136275"/>
                <a:ext cx="2448272" cy="36933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/>
                        </a:rPr>
                        <m:t>𝑦</m:t>
                      </m:r>
                      <m:r>
                        <a:rPr lang="en-GB" b="0" i="1" smtClean="0">
                          <a:latin typeface="Cambria Math"/>
                        </a:rPr>
                        <m:t>=</m:t>
                      </m:r>
                      <m:r>
                        <a:rPr lang="en-GB" b="0" i="1" smtClean="0">
                          <a:latin typeface="Cambria Math"/>
                        </a:rPr>
                        <m:t>𝑓</m:t>
                      </m:r>
                      <m:r>
                        <a:rPr lang="en-GB" b="0" i="1" smtClean="0">
                          <a:latin typeface="Cambria Math"/>
                        </a:rPr>
                        <m:t>(2</m:t>
                      </m:r>
                      <m:r>
                        <a:rPr lang="en-GB" b="0" i="1" smtClean="0">
                          <a:latin typeface="Cambria Math"/>
                        </a:rPr>
                        <m:t>𝑥</m:t>
                      </m:r>
                      <m:r>
                        <a:rPr lang="en-GB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608" y="6136275"/>
                <a:ext cx="2448272" cy="369332"/>
              </a:xfrm>
              <a:prstGeom prst="rect">
                <a:avLst/>
              </a:prstGeom>
              <a:blipFill rotWithShape="1">
                <a:blip r:embed="rId7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5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4351" y="4077072"/>
            <a:ext cx="3951709" cy="2510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228184" y="6100271"/>
                <a:ext cx="2448272" cy="71468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/>
                        </a:rPr>
                        <m:t>𝑦</m:t>
                      </m:r>
                      <m:r>
                        <a:rPr lang="en-GB" b="0" i="1" smtClean="0">
                          <a:latin typeface="Cambria Math"/>
                        </a:rPr>
                        <m:t>=</m:t>
                      </m:r>
                      <m:r>
                        <a:rPr lang="en-GB" b="0" i="1" smtClean="0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GB" b="0" i="1" smtClean="0">
                              <a:latin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GB" b="0" i="1" smtClean="0">
                          <a:latin typeface="Cambria Math"/>
                        </a:rPr>
                        <m:t>+1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184" y="6100271"/>
                <a:ext cx="2448272" cy="714683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/>
          <p:cNvSpPr/>
          <p:nvPr/>
        </p:nvSpPr>
        <p:spPr>
          <a:xfrm>
            <a:off x="2189018" y="3140968"/>
            <a:ext cx="1446878" cy="4413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840" y="3554466"/>
            <a:ext cx="1486508" cy="36933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58001" y="6100271"/>
            <a:ext cx="1446878" cy="4413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21236" y="6100270"/>
            <a:ext cx="1555219" cy="71468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1325880" y="703510"/>
                <a:ext cx="83529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Given the blue graph has equation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/>
                      </a:rPr>
                      <m:t>𝑦</m:t>
                    </m:r>
                    <m:r>
                      <a:rPr lang="en-GB" b="0" i="1" smtClean="0">
                        <a:latin typeface="Cambria Math"/>
                      </a:rPr>
                      <m:t>=</m:t>
                    </m:r>
                    <m:r>
                      <a:rPr lang="en-GB" b="0" i="1" smtClean="0">
                        <a:latin typeface="Cambria Math"/>
                      </a:rPr>
                      <m:t>𝑓</m:t>
                    </m:r>
                    <m:r>
                      <a:rPr lang="en-GB" b="0" i="1" smtClean="0">
                        <a:latin typeface="Cambria Math"/>
                      </a:rPr>
                      <m:t>(</m:t>
                    </m:r>
                    <m:r>
                      <a:rPr lang="en-GB" b="0" i="1" smtClean="0">
                        <a:latin typeface="Cambria Math"/>
                      </a:rPr>
                      <m:t>𝑥</m:t>
                    </m:r>
                    <m:r>
                      <a:rPr lang="en-GB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GB" dirty="0"/>
                  <a:t>, determine the equation of the red graph.</a:t>
                </a: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703510"/>
                <a:ext cx="8352928" cy="369332"/>
              </a:xfrm>
              <a:prstGeom prst="rect">
                <a:avLst/>
              </a:prstGeom>
              <a:blipFill rotWithShape="1">
                <a:blip r:embed="rId10"/>
                <a:stretch>
                  <a:fillRect l="-657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1325880" y="32918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dirty="0">
                <a:solidFill>
                  <a:srgbClr val="1C2A22"/>
                </a:solidFill>
                <a:latin typeface="Cambria"/>
              </a:rPr>
              <a:t>Spot the Transformation</a:t>
            </a:r>
          </a:p>
        </p:txBody>
      </p:sp>
    </p:spTree>
    <p:extLst>
      <p:ext uri="{BB962C8B-B14F-4D97-AF65-F5344CB8AC3E}">
        <p14:creationId xmlns:p14="http://schemas.microsoft.com/office/powerpoint/2010/main" val="83469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Transforming sin and cos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rules apply to y = sin x and y = cos x.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start in different places.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the basic shapes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868680" y="306324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1143000" y="2971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x starts at (0, 0).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68680" y="361188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8" name="Text 46"/>
          <p:cNvSpPr/>
          <p:nvPr/>
        </p:nvSpPr>
        <p:spPr>
          <a:xfrm>
            <a:off x="1143000" y="3520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 x starts at (0, 1).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68680" y="41605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114300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repeat every 360°.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68680" y="470916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1143000" y="4617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range between −1 and 1.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556248" y="2523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a sin(bx) + c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92240" y="306324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 54"/>
              <p:cNvSpPr/>
              <p:nvPr/>
            </p:nvSpPr>
            <p:spPr>
              <a:xfrm>
                <a:off x="6766560" y="2971800"/>
                <a:ext cx="46634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3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a = amplitude (vertical stretch)</a:t>
                </a:r>
                <a:r>
                  <a:rPr lang="en-GB" sz="1400" dirty="0"/>
                  <a:t> </a:t>
                </a:r>
                <a:r>
                  <a:rPr lang="en-GB" sz="1400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latin typeface="Cambria Math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/>
                          </a:rPr>
                          <m:t>𝑚𝑎𝑥</m:t>
                        </m:r>
                        <m:r>
                          <a:rPr lang="en-US" sz="1400" i="1">
                            <a:latin typeface="Cambria Math"/>
                          </a:rPr>
                          <m:t>−</m:t>
                        </m:r>
                        <m:r>
                          <a:rPr lang="en-US" sz="1400" i="1">
                            <a:latin typeface="Cambria Math"/>
                          </a:rPr>
                          <m:t>𝑚𝑖𝑛</m:t>
                        </m:r>
                      </m:num>
                      <m:den>
                        <m:r>
                          <a:rPr lang="en-US" sz="1400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3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.</a:t>
                </a:r>
                <a:endParaRPr lang="en-US" sz="1350" dirty="0"/>
              </a:p>
            </p:txBody>
          </p:sp>
        </mc:Choice>
        <mc:Fallback xmlns="">
          <p:sp>
            <p:nvSpPr>
              <p:cNvPr id="56" name="Text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560" y="2971800"/>
                <a:ext cx="4663440" cy="502920"/>
              </a:xfrm>
              <a:prstGeom prst="rect">
                <a:avLst/>
              </a:prstGeom>
              <a:blipFill rotWithShape="1">
                <a:blip r:embed="rId3"/>
                <a:stretch>
                  <a:fillRect l="-222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Shape 55"/>
          <p:cNvSpPr/>
          <p:nvPr/>
        </p:nvSpPr>
        <p:spPr>
          <a:xfrm>
            <a:off x="6492240" y="361188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56"/>
              <p:cNvSpPr/>
              <p:nvPr/>
            </p:nvSpPr>
            <p:spPr>
              <a:xfrm>
                <a:off x="6766560" y="3520440"/>
                <a:ext cx="46634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3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c = shifts the whole curve up </a:t>
                </a:r>
                <a:r>
                  <a:rPr lang="en-US" sz="135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by </a:t>
                </a:r>
                <a:r>
                  <a:rPr lang="en-US" sz="1350" smtClean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c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>
                            <a:latin typeface="Cambria Math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/>
                          </a:rPr>
                          <m:t>𝑚𝑎𝑥</m:t>
                        </m:r>
                        <m:r>
                          <a:rPr lang="en-US" sz="1400" i="1">
                            <a:latin typeface="Cambria Math"/>
                          </a:rPr>
                          <m:t>+</m:t>
                        </m:r>
                        <m:r>
                          <a:rPr lang="en-US" sz="1400" i="1">
                            <a:latin typeface="Cambria Math"/>
                          </a:rPr>
                          <m:t>𝑚𝑖𝑛</m:t>
                        </m:r>
                      </m:num>
                      <m:den>
                        <m:r>
                          <a:rPr lang="en-US" sz="1400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endParaRPr lang="en-US" sz="1350" dirty="0"/>
              </a:p>
            </p:txBody>
          </p:sp>
        </mc:Choice>
        <mc:Fallback xmlns="">
          <p:sp>
            <p:nvSpPr>
              <p:cNvPr id="58" name="Text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560" y="3520440"/>
                <a:ext cx="4663440" cy="502920"/>
              </a:xfrm>
              <a:prstGeom prst="rect">
                <a:avLst/>
              </a:prstGeom>
              <a:blipFill rotWithShape="1">
                <a:blip r:embed="rId4"/>
                <a:stretch>
                  <a:fillRect l="-222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Shape 57"/>
          <p:cNvSpPr/>
          <p:nvPr/>
        </p:nvSpPr>
        <p:spPr>
          <a:xfrm>
            <a:off x="6492240" y="416052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676656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how many waves in 360°.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6492240" y="4709160"/>
            <a:ext cx="146304" cy="14630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0" y="4617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 − d) inside → shift right d.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a cos(x − b) + c combines a stretch, a horizontal shift and a vertical shift — all at once.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GRAPHS · BASIC SHAPES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Transforming sin and cos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rules apply to y = sin x and y = cos x.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start in different places.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a cos(x − b) + c combines a stretch, a horizontal shift and a vertical shift — all at once.</a:t>
            </a:r>
            <a:endParaRPr lang="en-US" sz="12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161" y="2421680"/>
            <a:ext cx="3086301" cy="16916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6520" y="2421680"/>
            <a:ext cx="3245479" cy="16916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566928" y="4250480"/>
          <a:ext cx="4937757" cy="868680"/>
        </p:xfrm>
        <a:graphic>
          <a:graphicData uri="http://schemas.openxmlformats.org/drawingml/2006/table">
            <a:tbl>
              <a:tblPr/>
              <a:tblGrid>
                <a:gridCol w="1086307"/>
                <a:gridCol w="770290"/>
                <a:gridCol w="770290"/>
                <a:gridCol w="770290"/>
                <a:gridCol w="770290"/>
                <a:gridCol w="77029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x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90°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180°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270°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360°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A22"/>
                          </a:solidFill>
                          <a:latin typeface="Calibri"/>
                        </a:rPr>
                        <a:t>y = sin x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29" name="Table 1028"/>
          <p:cNvGraphicFramePr>
            <a:graphicFrameLocks noGrp="1"/>
          </p:cNvGraphicFramePr>
          <p:nvPr/>
        </p:nvGraphicFramePr>
        <p:xfrm>
          <a:off x="6263640" y="4250480"/>
          <a:ext cx="4937757" cy="868680"/>
        </p:xfrm>
        <a:graphic>
          <a:graphicData uri="http://schemas.openxmlformats.org/drawingml/2006/table">
            <a:tbl>
              <a:tblPr/>
              <a:tblGrid>
                <a:gridCol w="1086307"/>
                <a:gridCol w="770290"/>
                <a:gridCol w="770290"/>
                <a:gridCol w="770290"/>
                <a:gridCol w="770290"/>
                <a:gridCol w="77029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x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90°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180°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270°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360°</a:t>
                      </a:r>
                    </a:p>
                  </a:txBody>
                  <a:tcPr marL="54864" marR="54864" marT="18288" marB="18288" anchor="ctr">
                    <a:solidFill>
                      <a:srgbClr val="C84F2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A22"/>
                          </a:solidFill>
                          <a:latin typeface="Calibri"/>
                        </a:rPr>
                        <a:t>y = cos x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A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EEF1E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4243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GRAPHS · WORKED EXAMPLE 1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y = 2 sin(x) and y = sin(x + 90°)</a:t>
            </a:r>
            <a:endParaRPr lang="en-US" sz="2700" dirty="0"/>
          </a:p>
        </p:txBody>
      </p:sp>
      <p:sp>
        <p:nvSpPr>
          <p:cNvPr id="43" name="Shape 41"/>
          <p:cNvSpPr/>
          <p:nvPr/>
        </p:nvSpPr>
        <p:spPr>
          <a:xfrm>
            <a:off x="56692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190488" y="2286000"/>
            <a:ext cx="5440680" cy="3017520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1855520" y="3993600"/>
            <a:ext cx="3888432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3799736" y="1689344"/>
            <a:ext cx="0" cy="42484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71944" y="384958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5720" y="140131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</a:t>
            </a:r>
          </a:p>
        </p:txBody>
      </p:sp>
      <p:sp>
        <p:nvSpPr>
          <p:cNvPr id="52" name="TextBox 51"/>
          <p:cNvSpPr txBox="1"/>
          <p:nvPr/>
        </p:nvSpPr>
        <p:spPr>
          <a:xfrm rot="2253773">
            <a:off x="4079725" y="2653836"/>
            <a:ext cx="116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y = sin(x)</a:t>
            </a:r>
            <a:endParaRPr lang="en-GB" b="1" baseline="30000" dirty="0">
              <a:solidFill>
                <a:schemeClr val="accent1"/>
              </a:solidFill>
            </a:endParaRPr>
          </a:p>
        </p:txBody>
      </p:sp>
      <p:grpSp>
        <p:nvGrpSpPr>
          <p:cNvPr id="54" name="Group 53"/>
          <p:cNvGrpSpPr/>
          <p:nvPr/>
        </p:nvGrpSpPr>
        <p:grpSpPr>
          <a:xfrm>
            <a:off x="2037636" y="2867760"/>
            <a:ext cx="3529528" cy="2160260"/>
            <a:chOff x="577652" y="2663200"/>
            <a:chExt cx="3529528" cy="2160260"/>
          </a:xfrm>
        </p:grpSpPr>
        <p:sp>
          <p:nvSpPr>
            <p:cNvPr id="55" name="Freeform 54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Freeform 55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3454936" y="28033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9696" y="168934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9696" y="4785688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39696" y="5721792"/>
            <a:ext cx="50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55520" y="3993600"/>
            <a:ext cx="4104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-360   -270   -180   -90                 90      180    270    360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054" y="1211722"/>
            <a:ext cx="7560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Below is a sketch of y = sin(x). Hence sketch the following. 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55307" y="5510414"/>
            <a:ext cx="2232248" cy="792088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Answer:  </a:t>
            </a:r>
          </a:p>
          <a:p>
            <a:pPr algn="ctr"/>
            <a:r>
              <a:rPr lang="en-GB" b="1" dirty="0"/>
              <a:t>y = sin(x + 90)</a:t>
            </a:r>
          </a:p>
        </p:txBody>
      </p:sp>
      <p:grpSp>
        <p:nvGrpSpPr>
          <p:cNvPr id="65" name="Group 64"/>
          <p:cNvGrpSpPr/>
          <p:nvPr/>
        </p:nvGrpSpPr>
        <p:grpSpPr>
          <a:xfrm>
            <a:off x="2037254" y="2867760"/>
            <a:ext cx="3529528" cy="2160260"/>
            <a:chOff x="577652" y="2663200"/>
            <a:chExt cx="3529528" cy="2160260"/>
          </a:xfrm>
        </p:grpSpPr>
        <p:sp>
          <p:nvSpPr>
            <p:cNvPr id="66" name="Freeform 65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Freeform 66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68" name="Straight Arrow Connector 67"/>
          <p:cNvCxnSpPr/>
          <p:nvPr/>
        </p:nvCxnSpPr>
        <p:spPr>
          <a:xfrm>
            <a:off x="6248008" y="3993600"/>
            <a:ext cx="3888432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8192224" y="1689344"/>
            <a:ext cx="0" cy="42484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064432" y="384958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8208" y="140131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</a:t>
            </a:r>
          </a:p>
        </p:txBody>
      </p:sp>
      <p:sp>
        <p:nvSpPr>
          <p:cNvPr id="72" name="TextBox 71"/>
          <p:cNvSpPr txBox="1"/>
          <p:nvPr/>
        </p:nvSpPr>
        <p:spPr>
          <a:xfrm rot="2253773">
            <a:off x="8472213" y="2653836"/>
            <a:ext cx="116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y = sin(x)</a:t>
            </a:r>
            <a:endParaRPr lang="en-GB" b="1" baseline="30000" dirty="0">
              <a:solidFill>
                <a:schemeClr val="accent1"/>
              </a:solidFill>
            </a:endParaRPr>
          </a:p>
        </p:txBody>
      </p:sp>
      <p:grpSp>
        <p:nvGrpSpPr>
          <p:cNvPr id="73" name="Group 72"/>
          <p:cNvGrpSpPr/>
          <p:nvPr/>
        </p:nvGrpSpPr>
        <p:grpSpPr>
          <a:xfrm>
            <a:off x="6430124" y="2867760"/>
            <a:ext cx="3529528" cy="2160260"/>
            <a:chOff x="577652" y="2663200"/>
            <a:chExt cx="3529528" cy="2160260"/>
          </a:xfrm>
        </p:grpSpPr>
        <p:sp>
          <p:nvSpPr>
            <p:cNvPr id="74" name="Freeform 73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Freeform 74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6" name="TextBox 75"/>
          <p:cNvSpPr txBox="1"/>
          <p:nvPr/>
        </p:nvSpPr>
        <p:spPr>
          <a:xfrm>
            <a:off x="7847424" y="28033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32184" y="1617336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32184" y="4785688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32184" y="5721792"/>
            <a:ext cx="50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8008" y="3993600"/>
            <a:ext cx="4104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-360   -270   -180   -90                 90      180    270    360 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641966" y="5444120"/>
            <a:ext cx="2232248" cy="792088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Answer:  </a:t>
            </a:r>
          </a:p>
          <a:p>
            <a:pPr algn="ctr"/>
            <a:r>
              <a:rPr lang="en-GB" b="1" dirty="0"/>
              <a:t>y = 2sin(x)</a:t>
            </a:r>
          </a:p>
        </p:txBody>
      </p:sp>
      <p:grpSp>
        <p:nvGrpSpPr>
          <p:cNvPr id="82" name="Group 81"/>
          <p:cNvGrpSpPr/>
          <p:nvPr/>
        </p:nvGrpSpPr>
        <p:grpSpPr>
          <a:xfrm>
            <a:off x="6429742" y="2867760"/>
            <a:ext cx="3529528" cy="2160260"/>
            <a:chOff x="577652" y="2663200"/>
            <a:chExt cx="3529528" cy="2160260"/>
          </a:xfrm>
        </p:grpSpPr>
        <p:sp>
          <p:nvSpPr>
            <p:cNvPr id="83" name="Freeform 82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Freeform 83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/>
          <p:cNvSpPr txBox="1"/>
          <p:nvPr/>
        </p:nvSpPr>
        <p:spPr>
          <a:xfrm>
            <a:off x="9889307" y="461409"/>
            <a:ext cx="1728192" cy="138499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GB" sz="1400" b="1" dirty="0"/>
              <a:t>Tip</a:t>
            </a:r>
            <a:r>
              <a:rPr lang="en-GB" sz="1400" dirty="0"/>
              <a:t>: The function here is the sin. So consider whether the change happens inside or outside the sin.</a:t>
            </a:r>
          </a:p>
        </p:txBody>
      </p:sp>
      <p:sp>
        <p:nvSpPr>
          <p:cNvPr id="86" name="TextBox 85"/>
          <p:cNvSpPr txBox="1"/>
          <p:nvPr/>
        </p:nvSpPr>
        <p:spPr>
          <a:xfrm rot="929022">
            <a:off x="1731274" y="2547925"/>
            <a:ext cx="162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y = sin(x + 90)</a:t>
            </a:r>
            <a:endParaRPr lang="en-GB" b="1" baseline="30000" dirty="0">
              <a:solidFill>
                <a:schemeClr val="accent2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 rot="929022">
            <a:off x="6496599" y="2305690"/>
            <a:ext cx="162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y = 2sin(x)</a:t>
            </a:r>
            <a:endParaRPr lang="en-GB" b="1" baseline="30000" dirty="0">
              <a:solidFill>
                <a:schemeClr val="accent2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00" b="1">
                <a:solidFill>
                  <a:srgbClr val="E0AC2B"/>
                </a:solidFill>
                <a:latin typeface="Cambria"/>
              </a:rPr>
              <a:t>Outside sin/cos → amplitude &amp; vertical shift, as written.  Inside → period &amp; horizontal shift, opposite sign.</a:t>
            </a:r>
          </a:p>
        </p:txBody>
      </p:sp>
    </p:spTree>
    <p:extLst>
      <p:ext uri="{BB962C8B-B14F-4D97-AF65-F5344CB8AC3E}">
        <p14:creationId xmlns:p14="http://schemas.microsoft.com/office/powerpoint/2010/main" val="4191709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82"/>
                                        </p:tgtEl>
                                      </p:cBhvr>
                                      <p:by x="1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38889E-6 7.03704E-6 L -0.03942 7.03704E-6 " pathEditMode="relative" ptsTypes="AA">
                                      <p:cBhvr>
                                        <p:cTn id="23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4"/>
                  </p:tgtEl>
                </p:cond>
              </p:nextCondLst>
            </p:seq>
          </p:childTnLst>
        </p:cTn>
      </p:par>
    </p:tnLst>
    <p:bldLst>
      <p:bldP spid="8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GRAPHS · WORKED EXAMPLE 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y = sin(2x) and y = 1.5 sin(x/2)</a:t>
            </a:r>
            <a:endParaRPr lang="en-US" sz="2700" dirty="0"/>
          </a:p>
        </p:txBody>
      </p:sp>
      <p:sp>
        <p:nvSpPr>
          <p:cNvPr id="43" name="Shape 41"/>
          <p:cNvSpPr/>
          <p:nvPr/>
        </p:nvSpPr>
        <p:spPr>
          <a:xfrm>
            <a:off x="566928" y="1582615"/>
            <a:ext cx="5440680" cy="5055577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6190488" y="1582615"/>
            <a:ext cx="5440680" cy="5055577"/>
          </a:xfrm>
          <a:prstGeom prst="roundRect">
            <a:avLst>
              <a:gd name="adj" fmla="val 181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6353356" y="4355788"/>
            <a:ext cx="3888432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V="1">
            <a:off x="8297572" y="2051532"/>
            <a:ext cx="0" cy="42484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0169780" y="42117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3556" y="176350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</a:t>
            </a:r>
          </a:p>
        </p:txBody>
      </p:sp>
      <p:sp>
        <p:nvSpPr>
          <p:cNvPr id="92" name="TextBox 91"/>
          <p:cNvSpPr txBox="1"/>
          <p:nvPr/>
        </p:nvSpPr>
        <p:spPr>
          <a:xfrm rot="2253773">
            <a:off x="8577561" y="3016024"/>
            <a:ext cx="116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y = sin(x)</a:t>
            </a:r>
            <a:endParaRPr lang="en-GB" b="1" baseline="30000" dirty="0">
              <a:solidFill>
                <a:schemeClr val="accent1"/>
              </a:solidFill>
            </a:endParaRPr>
          </a:p>
        </p:txBody>
      </p:sp>
      <p:grpSp>
        <p:nvGrpSpPr>
          <p:cNvPr id="93" name="Group 32"/>
          <p:cNvGrpSpPr/>
          <p:nvPr/>
        </p:nvGrpSpPr>
        <p:grpSpPr>
          <a:xfrm>
            <a:off x="6535472" y="3229948"/>
            <a:ext cx="3529528" cy="2160260"/>
            <a:chOff x="577652" y="2663200"/>
            <a:chExt cx="3529528" cy="2160260"/>
          </a:xfrm>
        </p:grpSpPr>
        <p:sp>
          <p:nvSpPr>
            <p:cNvPr id="94" name="Freeform 93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7952772" y="316556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37532" y="197952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37532" y="5147876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37532" y="6083980"/>
            <a:ext cx="50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53356" y="4355788"/>
            <a:ext cx="4104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-360   -270   -180   -90                 90      180    270    360 </a:t>
            </a:r>
          </a:p>
        </p:txBody>
      </p:sp>
      <p:grpSp>
        <p:nvGrpSpPr>
          <p:cNvPr id="101" name="Group 41"/>
          <p:cNvGrpSpPr/>
          <p:nvPr/>
        </p:nvGrpSpPr>
        <p:grpSpPr>
          <a:xfrm>
            <a:off x="6535090" y="3229948"/>
            <a:ext cx="3529528" cy="2160260"/>
            <a:chOff x="577652" y="2663200"/>
            <a:chExt cx="3529528" cy="2160260"/>
          </a:xfrm>
        </p:grpSpPr>
        <p:sp>
          <p:nvSpPr>
            <p:cNvPr id="102" name="Freeform 101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4" name="TextBox 103"/>
          <p:cNvSpPr txBox="1"/>
          <p:nvPr/>
        </p:nvSpPr>
        <p:spPr>
          <a:xfrm rot="929022">
            <a:off x="6301118" y="2766097"/>
            <a:ext cx="162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y = 1.5sin(x/2)</a:t>
            </a:r>
            <a:endParaRPr lang="en-GB" b="1" baseline="30000" dirty="0">
              <a:solidFill>
                <a:schemeClr val="accent2"/>
              </a:solidFill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1565332" y="1691492"/>
            <a:ext cx="4644008" cy="468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TextBox 105"/>
          <p:cNvSpPr txBox="1"/>
          <p:nvPr/>
        </p:nvSpPr>
        <p:spPr>
          <a:xfrm>
            <a:off x="3560284" y="316556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45044" y="205153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5044" y="5147876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45044" y="6083980"/>
            <a:ext cx="504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60868" y="4355788"/>
            <a:ext cx="4104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-360   -270   -180   -90                 90      180    270    360 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8720" y="1133856"/>
            <a:ext cx="7560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Below is a sketch of y = sin(x). Hence sketch the following. 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863599" y="5687936"/>
            <a:ext cx="2232248" cy="792088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Answer:  </a:t>
            </a:r>
          </a:p>
          <a:p>
            <a:pPr algn="ctr"/>
            <a:r>
              <a:rPr lang="en-GB" b="1" dirty="0"/>
              <a:t>y = sin(2x)</a:t>
            </a:r>
          </a:p>
        </p:txBody>
      </p:sp>
      <p:grpSp>
        <p:nvGrpSpPr>
          <p:cNvPr id="113" name="Group 24"/>
          <p:cNvGrpSpPr/>
          <p:nvPr/>
        </p:nvGrpSpPr>
        <p:grpSpPr>
          <a:xfrm>
            <a:off x="2142602" y="3229948"/>
            <a:ext cx="3529528" cy="2160260"/>
            <a:chOff x="577652" y="2663200"/>
            <a:chExt cx="3529528" cy="2160260"/>
          </a:xfrm>
        </p:grpSpPr>
        <p:sp>
          <p:nvSpPr>
            <p:cNvPr id="114" name="Freeform 113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6" name="Rectangle 115"/>
          <p:cNvSpPr/>
          <p:nvPr/>
        </p:nvSpPr>
        <p:spPr>
          <a:xfrm>
            <a:off x="9053656" y="5579924"/>
            <a:ext cx="2232248" cy="792088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Answer:  </a:t>
            </a:r>
          </a:p>
          <a:p>
            <a:pPr algn="ctr"/>
            <a:r>
              <a:rPr lang="en-GB" b="1" dirty="0"/>
              <a:t>y = 1.5sin(x/2)</a:t>
            </a:r>
          </a:p>
        </p:txBody>
      </p:sp>
      <p:sp>
        <p:nvSpPr>
          <p:cNvPr id="117" name="TextBox 116"/>
          <p:cNvSpPr txBox="1"/>
          <p:nvPr/>
        </p:nvSpPr>
        <p:spPr>
          <a:xfrm rot="929022">
            <a:off x="1836622" y="2910113"/>
            <a:ext cx="162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y = sin(2x)</a:t>
            </a:r>
            <a:endParaRPr lang="en-GB" b="1" baseline="30000" dirty="0">
              <a:solidFill>
                <a:schemeClr val="accent2"/>
              </a:solidFill>
            </a:endParaRPr>
          </a:p>
        </p:txBody>
      </p:sp>
      <p:grpSp>
        <p:nvGrpSpPr>
          <p:cNvPr id="118" name="Group 24"/>
          <p:cNvGrpSpPr/>
          <p:nvPr/>
        </p:nvGrpSpPr>
        <p:grpSpPr>
          <a:xfrm>
            <a:off x="4831028" y="3249380"/>
            <a:ext cx="792088" cy="2160260"/>
            <a:chOff x="577652" y="2663200"/>
            <a:chExt cx="3529528" cy="2160260"/>
          </a:xfrm>
        </p:grpSpPr>
        <p:sp>
          <p:nvSpPr>
            <p:cNvPr id="119" name="Freeform 118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0" name="Freeform 119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21" name="Group 24"/>
          <p:cNvGrpSpPr/>
          <p:nvPr/>
        </p:nvGrpSpPr>
        <p:grpSpPr>
          <a:xfrm>
            <a:off x="2176892" y="3229948"/>
            <a:ext cx="859100" cy="2160260"/>
            <a:chOff x="577652" y="2663200"/>
            <a:chExt cx="3529528" cy="2160260"/>
          </a:xfrm>
        </p:grpSpPr>
        <p:sp>
          <p:nvSpPr>
            <p:cNvPr id="122" name="Freeform 121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3" name="Freeform 122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24" name="Straight Arrow Connector 123"/>
          <p:cNvCxnSpPr/>
          <p:nvPr/>
        </p:nvCxnSpPr>
        <p:spPr>
          <a:xfrm>
            <a:off x="1960868" y="4355788"/>
            <a:ext cx="3888432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 flipV="1">
            <a:off x="3905084" y="2051532"/>
            <a:ext cx="0" cy="42484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777292" y="42117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61068" y="176350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</a:t>
            </a:r>
          </a:p>
        </p:txBody>
      </p:sp>
      <p:sp>
        <p:nvSpPr>
          <p:cNvPr id="128" name="TextBox 127"/>
          <p:cNvSpPr txBox="1"/>
          <p:nvPr/>
        </p:nvSpPr>
        <p:spPr>
          <a:xfrm rot="490302">
            <a:off x="3997433" y="2924447"/>
            <a:ext cx="116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/>
                </a:solidFill>
              </a:rPr>
              <a:t>y = sin(x)</a:t>
            </a:r>
            <a:endParaRPr lang="en-GB" b="1" baseline="30000" dirty="0">
              <a:solidFill>
                <a:schemeClr val="accent1"/>
              </a:solidFill>
            </a:endParaRPr>
          </a:p>
        </p:txBody>
      </p:sp>
      <p:grpSp>
        <p:nvGrpSpPr>
          <p:cNvPr id="129" name="Group 15"/>
          <p:cNvGrpSpPr/>
          <p:nvPr/>
        </p:nvGrpSpPr>
        <p:grpSpPr>
          <a:xfrm>
            <a:off x="2142984" y="3229948"/>
            <a:ext cx="3529528" cy="2160260"/>
            <a:chOff x="577652" y="2663200"/>
            <a:chExt cx="3529528" cy="2160260"/>
          </a:xfrm>
        </p:grpSpPr>
        <p:sp>
          <p:nvSpPr>
            <p:cNvPr id="130" name="Freeform 129"/>
            <p:cNvSpPr/>
            <p:nvPr/>
          </p:nvSpPr>
          <p:spPr>
            <a:xfrm>
              <a:off x="2346960" y="268097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1" name="Freeform 130"/>
            <p:cNvSpPr/>
            <p:nvPr/>
          </p:nvSpPr>
          <p:spPr>
            <a:xfrm>
              <a:off x="577652" y="2663200"/>
              <a:ext cx="1760220" cy="2142490"/>
            </a:xfrm>
            <a:custGeom>
              <a:avLst/>
              <a:gdLst>
                <a:gd name="connsiteX0" fmla="*/ 0 w 1760220"/>
                <a:gd name="connsiteY0" fmla="*/ 1106170 h 2142490"/>
                <a:gd name="connsiteX1" fmla="*/ 152400 w 1760220"/>
                <a:gd name="connsiteY1" fmla="*/ 549910 h 2142490"/>
                <a:gd name="connsiteX2" fmla="*/ 266700 w 1760220"/>
                <a:gd name="connsiteY2" fmla="*/ 229870 h 2142490"/>
                <a:gd name="connsiteX3" fmla="*/ 373380 w 1760220"/>
                <a:gd name="connsiteY3" fmla="*/ 69850 h 2142490"/>
                <a:gd name="connsiteX4" fmla="*/ 518160 w 1760220"/>
                <a:gd name="connsiteY4" fmla="*/ 1270 h 2142490"/>
                <a:gd name="connsiteX5" fmla="*/ 670560 w 1760220"/>
                <a:gd name="connsiteY5" fmla="*/ 62230 h 2142490"/>
                <a:gd name="connsiteX6" fmla="*/ 822960 w 1760220"/>
                <a:gd name="connsiteY6" fmla="*/ 367030 h 2142490"/>
                <a:gd name="connsiteX7" fmla="*/ 891540 w 1760220"/>
                <a:gd name="connsiteY7" fmla="*/ 786130 h 2142490"/>
                <a:gd name="connsiteX8" fmla="*/ 922020 w 1760220"/>
                <a:gd name="connsiteY8" fmla="*/ 1243330 h 2142490"/>
                <a:gd name="connsiteX9" fmla="*/ 952500 w 1760220"/>
                <a:gd name="connsiteY9" fmla="*/ 1647190 h 2142490"/>
                <a:gd name="connsiteX10" fmla="*/ 1059180 w 1760220"/>
                <a:gd name="connsiteY10" fmla="*/ 2005330 h 2142490"/>
                <a:gd name="connsiteX11" fmla="*/ 1280160 w 1760220"/>
                <a:gd name="connsiteY11" fmla="*/ 2127250 h 2142490"/>
                <a:gd name="connsiteX12" fmla="*/ 1478280 w 1760220"/>
                <a:gd name="connsiteY12" fmla="*/ 2096770 h 2142490"/>
                <a:gd name="connsiteX13" fmla="*/ 1607820 w 1760220"/>
                <a:gd name="connsiteY13" fmla="*/ 1875790 h 2142490"/>
                <a:gd name="connsiteX14" fmla="*/ 1676400 w 1760220"/>
                <a:gd name="connsiteY14" fmla="*/ 1570990 h 2142490"/>
                <a:gd name="connsiteX15" fmla="*/ 1760220 w 1760220"/>
                <a:gd name="connsiteY15" fmla="*/ 1098550 h 2142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60220" h="2142490">
                  <a:moveTo>
                    <a:pt x="0" y="1106170"/>
                  </a:moveTo>
                  <a:cubicBezTo>
                    <a:pt x="53975" y="901065"/>
                    <a:pt x="107950" y="695960"/>
                    <a:pt x="152400" y="549910"/>
                  </a:cubicBezTo>
                  <a:cubicBezTo>
                    <a:pt x="196850" y="403860"/>
                    <a:pt x="229870" y="309880"/>
                    <a:pt x="266700" y="229870"/>
                  </a:cubicBezTo>
                  <a:cubicBezTo>
                    <a:pt x="303530" y="149860"/>
                    <a:pt x="331470" y="107950"/>
                    <a:pt x="373380" y="69850"/>
                  </a:cubicBezTo>
                  <a:cubicBezTo>
                    <a:pt x="415290" y="31750"/>
                    <a:pt x="468630" y="2540"/>
                    <a:pt x="518160" y="1270"/>
                  </a:cubicBezTo>
                  <a:cubicBezTo>
                    <a:pt x="567690" y="0"/>
                    <a:pt x="619760" y="1270"/>
                    <a:pt x="670560" y="62230"/>
                  </a:cubicBezTo>
                  <a:cubicBezTo>
                    <a:pt x="721360" y="123190"/>
                    <a:pt x="786130" y="246380"/>
                    <a:pt x="822960" y="367030"/>
                  </a:cubicBezTo>
                  <a:cubicBezTo>
                    <a:pt x="859790" y="487680"/>
                    <a:pt x="875030" y="640080"/>
                    <a:pt x="891540" y="786130"/>
                  </a:cubicBezTo>
                  <a:cubicBezTo>
                    <a:pt x="908050" y="932180"/>
                    <a:pt x="911860" y="1099820"/>
                    <a:pt x="922020" y="1243330"/>
                  </a:cubicBezTo>
                  <a:cubicBezTo>
                    <a:pt x="932180" y="1386840"/>
                    <a:pt x="929640" y="1520190"/>
                    <a:pt x="952500" y="1647190"/>
                  </a:cubicBezTo>
                  <a:cubicBezTo>
                    <a:pt x="975360" y="1774190"/>
                    <a:pt x="1004570" y="1925320"/>
                    <a:pt x="1059180" y="2005330"/>
                  </a:cubicBezTo>
                  <a:cubicBezTo>
                    <a:pt x="1113790" y="2085340"/>
                    <a:pt x="1210310" y="2112010"/>
                    <a:pt x="1280160" y="2127250"/>
                  </a:cubicBezTo>
                  <a:cubicBezTo>
                    <a:pt x="1350010" y="2142490"/>
                    <a:pt x="1423670" y="2138680"/>
                    <a:pt x="1478280" y="2096770"/>
                  </a:cubicBezTo>
                  <a:cubicBezTo>
                    <a:pt x="1532890" y="2054860"/>
                    <a:pt x="1574800" y="1963420"/>
                    <a:pt x="1607820" y="1875790"/>
                  </a:cubicBezTo>
                  <a:cubicBezTo>
                    <a:pt x="1640840" y="1788160"/>
                    <a:pt x="1651000" y="1700530"/>
                    <a:pt x="1676400" y="1570990"/>
                  </a:cubicBezTo>
                  <a:cubicBezTo>
                    <a:pt x="1701800" y="1441450"/>
                    <a:pt x="1731010" y="1270000"/>
                    <a:pt x="1760220" y="1098550"/>
                  </a:cubicBezTo>
                </a:path>
              </a:pathLst>
            </a:cu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2" name="Rounded Rectangle 131"/>
          <p:cNvSpPr/>
          <p:nvPr/>
        </p:nvSpPr>
        <p:spPr>
          <a:xfrm>
            <a:off x="566928" y="5532120"/>
            <a:ext cx="11057839" cy="822960"/>
          </a:xfrm>
          <a:prstGeom prst="roundRect">
            <a:avLst>
              <a:gd name="adj" fmla="val 6669"/>
            </a:avLst>
          </a:prstGeom>
          <a:solidFill>
            <a:srgbClr val="162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74320" bIns="0" rtlCol="0" anchor="ctr"/>
          <a:lstStyle/>
          <a:p>
            <a:pPr algn="ctr"/>
            <a:r>
              <a:rPr sz="1500" b="1">
                <a:solidFill>
                  <a:srgbClr val="E0AC2B"/>
                </a:solidFill>
                <a:latin typeface="Cambria"/>
              </a:rPr>
              <a:t>Inside the bracket, coefficients squeeze or stretch the period — always the reciprocal effect.</a:t>
            </a:r>
          </a:p>
        </p:txBody>
      </p:sp>
    </p:spTree>
    <p:extLst>
      <p:ext uri="{BB962C8B-B14F-4D97-AF65-F5344CB8AC3E}">
        <p14:creationId xmlns:p14="http://schemas.microsoft.com/office/powerpoint/2010/main" val="3814812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000" fill="hold"/>
                                        <p:tgtEl>
                                          <p:spTgt spid="101"/>
                                        </p:tgtEl>
                                      </p:cBhvr>
                                      <p:by x="2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" dur="2000" fill="hold"/>
                                        <p:tgtEl>
                                          <p:spTgt spid="101"/>
                                        </p:tgtEl>
                                      </p:cBhvr>
                                      <p:by x="10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5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6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6" dur="2000" fill="hold"/>
                                        <p:tgtEl>
                                          <p:spTgt spid="113"/>
                                        </p:tgtEl>
                                      </p:cBhvr>
                                      <p:by x="5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</p:childTnLst>
        </p:cTn>
      </p:par>
    </p:tnLst>
    <p:bldLst>
      <p:bldP spid="11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inside/outside, then shift, stretch or reflect the key points.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bracket? → horizontal, opposite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Outside? → vertical, as written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marked point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Reflections change a sign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269024" y="1408176"/>
            <a:ext cx="7653648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176" y="1481328"/>
            <a:ext cx="750734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16059" y="1408176"/>
            <a:ext cx="675957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211" y="1481328"/>
            <a:ext cx="661327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327721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81328"/>
            <a:ext cx="9052560" cy="313091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496416" y="1408176"/>
            <a:ext cx="9198864" cy="307908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81328"/>
            <a:ext cx="9052560" cy="29327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10153" y="1408176"/>
            <a:ext cx="757138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305" y="1481328"/>
            <a:ext cx="742508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36756" y="1408176"/>
            <a:ext cx="691818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908" y="1481328"/>
            <a:ext cx="67718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63723" y="1408176"/>
            <a:ext cx="706424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875" y="1481328"/>
            <a:ext cx="691794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44088" y="1408176"/>
            <a:ext cx="7103520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240" y="1481328"/>
            <a:ext cx="6957216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27115" y="1408176"/>
            <a:ext cx="733746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267" y="1481328"/>
            <a:ext cx="71911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09154" y="1408176"/>
            <a:ext cx="737338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2306" y="1481328"/>
            <a:ext cx="722708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32304" y="1408176"/>
            <a:ext cx="6727087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456" y="1481328"/>
            <a:ext cx="6580783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87563" y="1408176"/>
            <a:ext cx="661656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715" y="1481328"/>
            <a:ext cx="647026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09646" y="1408176"/>
            <a:ext cx="6372404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2798" y="1481328"/>
            <a:ext cx="622610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84210" y="1408176"/>
            <a:ext cx="6823276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7362" y="1481328"/>
            <a:ext cx="667697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928103" y="1408176"/>
            <a:ext cx="6335488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tgq/q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255" y="1481328"/>
            <a:ext cx="6189184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bracket → vertical change, and it does what you expect.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bracket → horizontal change, and it does the OPPOSITE.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f(x)+a: up a;  f(x+a): LEFT a;  a f(x): stretch ×a;  f(ax): squash by 1/a.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−f(x) reflects in the x-axis;  f(−x) reflects in the y-axis.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each key point (like the turning point) by the same rule.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bracket is horizontal and opposite; outside is vertical and as-written.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2713</Words>
  <Application>Microsoft Office PowerPoint</Application>
  <PresentationFormat>Custom</PresentationFormat>
  <Paragraphs>535</Paragraphs>
  <Slides>37</Slides>
  <Notes>27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9</cp:revision>
  <dcterms:created xsi:type="dcterms:W3CDTF">2026-07-17T09:28:20Z</dcterms:created>
  <dcterms:modified xsi:type="dcterms:W3CDTF">2026-08-01T09:21:59Z</dcterms:modified>
</cp:coreProperties>
</file>