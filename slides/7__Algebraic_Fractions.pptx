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45.png" ContentType="image/png"/>
  <Override PartName="/ppt/media/image44.png" ContentType="image/png"/>
  <Override PartName="/ppt/media/image43.png" ContentType="image/png"/>
  <Override PartName="/ppt/media/image42.png" ContentType="image/png"/>
  <Override PartName="/ppt/media/image41.png" ContentType="image/png"/>
  <Override PartName="/ppt/media/image40.png" ContentType="image/png"/>
  <Override PartName="/ppt/media/image32.png" ContentType="image/png"/>
  <Override PartName="/ppt/media/image31.png" ContentType="image/png"/>
  <Override PartName="/ppt/media/image30.png" ContentType="image/png"/>
  <Override PartName="/ppt/media/image13.png" ContentType="image/png"/>
  <Override PartName="/ppt/media/image4.png" ContentType="image/png"/>
  <Override PartName="/ppt/media/image36.png" ContentType="image/png"/>
  <Override PartName="/ppt/media/image22.png" ContentType="image/png"/>
  <Override PartName="/ppt/media/image59.png" ContentType="image/png"/>
  <Override PartName="/ppt/media/image23.png" ContentType="image/png"/>
  <Override PartName="/ppt/media/image60.png" ContentType="image/png"/>
  <Override PartName="/ppt/media/image24.png" ContentType="image/png"/>
  <Override PartName="/ppt/media/image61.png" ContentType="image/png"/>
  <Override PartName="/ppt/media/image19.png" ContentType="image/png"/>
  <Override PartName="/ppt/media/image25.png" ContentType="image/png"/>
  <Override PartName="/ppt/media/image62.png" ContentType="image/png"/>
  <Override PartName="/ppt/media/image26.png" ContentType="image/png"/>
  <Override PartName="/ppt/media/image63.png" ContentType="image/png"/>
  <Override PartName="/ppt/media/image27.png" ContentType="image/png"/>
  <Override PartName="/ppt/media/image64.png" ContentType="image/png"/>
  <Override PartName="/ppt/media/image28.png" ContentType="image/png"/>
  <Override PartName="/ppt/media/image70.png" ContentType="image/png"/>
  <Override PartName="/ppt/media/image65.png" ContentType="image/png"/>
  <Override PartName="/ppt/media/image29.png" ContentType="image/png"/>
  <Override PartName="/ppt/media/image71.png" ContentType="image/png"/>
  <Override PartName="/ppt/media/image66.png" ContentType="image/png"/>
  <Override PartName="/ppt/media/image79.png" ContentType="image/png"/>
  <Override PartName="/ppt/media/image67.png" ContentType="image/png"/>
  <Override PartName="/ppt/media/image78.png" ContentType="image/png"/>
  <Override PartName="/ppt/media/image77.png" ContentType="image/png"/>
  <Override PartName="/ppt/media/image76.png" ContentType="image/png"/>
  <Override PartName="/ppt/media/image75.png" ContentType="image/png"/>
  <Override PartName="/ppt/media/image74.png" ContentType="image/png"/>
  <Override PartName="/ppt/media/image73.png" ContentType="image/png"/>
  <Override PartName="/ppt/media/image72.png" ContentType="image/png"/>
  <Override PartName="/ppt/media/image69.png" ContentType="image/png"/>
  <Override PartName="/ppt/media/image68.png" ContentType="image/png"/>
  <Override PartName="/ppt/media/image21.png" ContentType="image/png"/>
  <Override PartName="/ppt/media/image58.png" ContentType="image/png"/>
  <Override PartName="/ppt/media/image14.png" ContentType="image/png"/>
  <Override PartName="/ppt/media/image5.png" ContentType="image/png"/>
  <Override PartName="/ppt/media/image37.png" ContentType="image/png"/>
  <Override PartName="/ppt/media/image15.png" ContentType="image/png"/>
  <Override PartName="/ppt/media/image6.png" ContentType="image/png"/>
  <Override PartName="/ppt/media/image38.png" ContentType="image/png"/>
  <Override PartName="/ppt/media/image33.png" ContentType="image/png"/>
  <Override PartName="/ppt/media/image1.png" ContentType="image/png"/>
  <Override PartName="/ppt/media/image10.png" ContentType="image/png"/>
  <Override PartName="/ppt/media/image47.png" ContentType="image/png"/>
  <Override PartName="/ppt/media/image16.png" ContentType="image/png"/>
  <Override PartName="/ppt/media/image7.png" ContentType="image/png"/>
  <Override PartName="/ppt/media/image39.png" ContentType="image/png"/>
  <Override PartName="/ppt/media/image34.png" ContentType="image/png"/>
  <Override PartName="/ppt/media/image2.png" ContentType="image/png"/>
  <Override PartName="/ppt/media/image11.png" ContentType="image/png"/>
  <Override PartName="/ppt/media/image48.png" ContentType="image/png"/>
  <Override PartName="/ppt/media/image17.png" ContentType="image/png"/>
  <Override PartName="/ppt/media/image8.png" ContentType="image/png"/>
  <Override PartName="/ppt/media/image35.png" ContentType="image/png"/>
  <Override PartName="/ppt/media/image3.png" ContentType="image/png"/>
  <Override PartName="/ppt/media/image12.png" ContentType="image/png"/>
  <Override PartName="/ppt/media/image49.png" ContentType="image/png"/>
  <Override PartName="/ppt/media/image20.png" ContentType="image/png"/>
  <Override PartName="/ppt/media/image57.png" ContentType="image/png"/>
  <Override PartName="/ppt/media/image18.png" ContentType="image/png"/>
  <Override PartName="/ppt/media/image9.png" ContentType="image/png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27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_rels/notesSlide2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9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1415128-6ACA-403F-A1D2-204A36873EE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28F5D84-8818-462F-B86A-FF06E1DBC38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5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7A180D0-2B7C-409F-AAFC-467F03948E4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8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8EE17AB-198F-4249-8CCB-555DE296230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1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7D72A25-6E5E-4DD7-9F68-A8DABCC90D7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4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4DFE88C-9E3E-4F42-8BDC-B34F6777C7C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7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8845F1A-8C8C-403C-84B7-4DDBD63E4EC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0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7000E0F-E641-44AC-BF16-0093104169F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3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66BA882-BF22-4A58-8402-7914AAB2EF8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6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55F12C4-2E1D-424F-9BE7-15A1596C7D2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9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E9AF1CE-635B-4D1C-B81A-6F8CE15F6E9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2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A3AE605-61FE-487C-9C5F-ED7D17D4581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5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BA1B4EA-30DC-4DED-B939-2FE13351B7B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8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909F326-504C-486B-AD98-FD1D2F254D5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1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B031C7F-14A1-4965-B94E-25AF832254A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4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3F16D19-301B-4AC5-A426-8CDC5898C53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7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2372883-78FF-4593-866E-6E91EE2FD94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0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2718373-BA77-4982-ACF0-6494D11579D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3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39FEA94-F145-4074-A4F3-BEE03062EB6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6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07B78EF-43E7-46B8-99BB-AF6B3883AEB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9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902FE50-FFE3-4F3F-A8FB-986C64C50B8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2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C325A7A-C551-4B59-AB1B-04F932C5A94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5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48F9516-38FA-467D-8C68-D6A051E9BA9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8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D48BF64-A9CB-4AF8-9DC8-160E6B496AB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1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D548E64-C614-40CA-9F74-B95315D4B25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66.png"/><Relationship Id="rId2" Type="http://schemas.openxmlformats.org/officeDocument/2006/relationships/image" Target="../media/image6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68.png"/><Relationship Id="rId2" Type="http://schemas.openxmlformats.org/officeDocument/2006/relationships/image" Target="../media/image6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70.png"/><Relationship Id="rId2" Type="http://schemas.openxmlformats.org/officeDocument/2006/relationships/image" Target="../media/image7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7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73.png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78.png"/><Relationship Id="rId2" Type="http://schemas.openxmlformats.org/officeDocument/2006/relationships/image" Target="../media/image79.png"/><Relationship Id="rId3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7447320" y="777240"/>
            <a:ext cx="21045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33463a"/>
                </a:solidFill>
                <a:latin typeface="Cambria"/>
                <a:ea typeface="Cambria"/>
              </a:rPr>
              <a:t>a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7561440" y="1645920"/>
            <a:ext cx="1876320" cy="360"/>
          </a:xfrm>
          <a:prstGeom prst="line">
            <a:avLst/>
          </a:prstGeom>
          <a:ln w="1905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7447320" y="1682640"/>
            <a:ext cx="21045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33463a"/>
                </a:solidFill>
                <a:latin typeface="Cambria"/>
                <a:ea typeface="Cambria"/>
              </a:rPr>
              <a:t>x + 1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9437760" y="1325880"/>
            <a:ext cx="509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33463a"/>
                </a:solidFill>
                <a:latin typeface="Cambria"/>
                <a:ea typeface="Cambria"/>
              </a:rPr>
              <a:t>+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9833040" y="777240"/>
            <a:ext cx="21045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33463a"/>
                </a:solidFill>
                <a:latin typeface="Cambria"/>
                <a:ea typeface="Cambria"/>
              </a:rPr>
              <a:t>b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9947160" y="1645920"/>
            <a:ext cx="1876320" cy="360"/>
          </a:xfrm>
          <a:prstGeom prst="line">
            <a:avLst/>
          </a:prstGeom>
          <a:ln w="1905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9833040" y="1682640"/>
            <a:ext cx="21045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33463a"/>
                </a:solidFill>
                <a:latin typeface="Cambria"/>
                <a:ea typeface="Cambria"/>
              </a:rPr>
              <a:t>x − 1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46"/>
          <p:cNvSpPr/>
          <p:nvPr/>
        </p:nvSpPr>
        <p:spPr>
          <a:xfrm>
            <a:off x="777240" y="2240280"/>
            <a:ext cx="106066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e0ac2b"/>
                </a:solidFill>
                <a:latin typeface="Cambria"/>
                <a:ea typeface="Cambria"/>
              </a:rPr>
              <a:t>Algebraic Fractions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47"/>
          <p:cNvSpPr/>
          <p:nvPr/>
        </p:nvSpPr>
        <p:spPr>
          <a:xfrm>
            <a:off x="804600" y="329184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Add &amp; Subtract (number → linear → quadratic) · Multiply &amp; Divide · Solving Equations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48"/>
          <p:cNvSpPr/>
          <p:nvPr/>
        </p:nvSpPr>
        <p:spPr>
          <a:xfrm>
            <a:off x="777240" y="4297680"/>
            <a:ext cx="658332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49"/>
          <p:cNvSpPr/>
          <p:nvPr/>
        </p:nvSpPr>
        <p:spPr>
          <a:xfrm>
            <a:off x="1097280" y="4498920"/>
            <a:ext cx="5943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50"/>
          <p:cNvSpPr/>
          <p:nvPr/>
        </p:nvSpPr>
        <p:spPr>
          <a:xfrm>
            <a:off x="1097280" y="4956120"/>
            <a:ext cx="6034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51"/>
          <p:cNvSpPr/>
          <p:nvPr/>
        </p:nvSpPr>
        <p:spPr>
          <a:xfrm>
            <a:off x="1097280" y="5394960"/>
            <a:ext cx="6034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WARM-UP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It Starts with Number Fractions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39"/>
          <p:cNvSpPr/>
          <p:nvPr/>
        </p:nvSpPr>
        <p:spPr>
          <a:xfrm>
            <a:off x="567000" y="1463040"/>
            <a:ext cx="11063880" cy="731160"/>
          </a:xfrm>
          <a:prstGeom prst="roundRect">
            <a:avLst>
              <a:gd name="adj" fmla="val 75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40"/>
          <p:cNvSpPr/>
          <p:nvPr/>
        </p:nvSpPr>
        <p:spPr>
          <a:xfrm>
            <a:off x="887040" y="1463040"/>
            <a:ext cx="10423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c2b"/>
                </a:solidFill>
                <a:latin typeface="Calibri"/>
                <a:ea typeface="Calibri"/>
              </a:rPr>
              <a:t>To add or subtract: </a:t>
            </a:r>
            <a:r>
              <a:rPr b="0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find a common denominator, rewrite each fraction over it, then combine the numerators.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41"/>
          <p:cNvSpPr/>
          <p:nvPr/>
        </p:nvSpPr>
        <p:spPr>
          <a:xfrm>
            <a:off x="567000" y="2377440"/>
            <a:ext cx="5394600" cy="2742840"/>
          </a:xfrm>
          <a:prstGeom prst="roundRect">
            <a:avLst>
              <a:gd name="adj" fmla="val 200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42"/>
          <p:cNvSpPr/>
          <p:nvPr/>
        </p:nvSpPr>
        <p:spPr>
          <a:xfrm>
            <a:off x="932760" y="261504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Add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43"/>
          <p:cNvSpPr/>
          <p:nvPr/>
        </p:nvSpPr>
        <p:spPr>
          <a:xfrm>
            <a:off x="1784520" y="3209400"/>
            <a:ext cx="632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44"/>
          <p:cNvSpPr/>
          <p:nvPr/>
        </p:nvSpPr>
        <p:spPr>
          <a:xfrm>
            <a:off x="1898640" y="3566160"/>
            <a:ext cx="40356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45"/>
          <p:cNvSpPr/>
          <p:nvPr/>
        </p:nvSpPr>
        <p:spPr>
          <a:xfrm>
            <a:off x="1784520" y="3602880"/>
            <a:ext cx="632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46"/>
          <p:cNvSpPr/>
          <p:nvPr/>
        </p:nvSpPr>
        <p:spPr>
          <a:xfrm>
            <a:off x="2302560" y="3246120"/>
            <a:ext cx="299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+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47"/>
          <p:cNvSpPr/>
          <p:nvPr/>
        </p:nvSpPr>
        <p:spPr>
          <a:xfrm>
            <a:off x="2487600" y="3209400"/>
            <a:ext cx="632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48"/>
          <p:cNvSpPr/>
          <p:nvPr/>
        </p:nvSpPr>
        <p:spPr>
          <a:xfrm>
            <a:off x="2601720" y="3566160"/>
            <a:ext cx="40392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49"/>
          <p:cNvSpPr/>
          <p:nvPr/>
        </p:nvSpPr>
        <p:spPr>
          <a:xfrm>
            <a:off x="2487600" y="3602880"/>
            <a:ext cx="632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50"/>
          <p:cNvSpPr/>
          <p:nvPr/>
        </p:nvSpPr>
        <p:spPr>
          <a:xfrm>
            <a:off x="3005640" y="3246120"/>
            <a:ext cx="299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51"/>
          <p:cNvSpPr/>
          <p:nvPr/>
        </p:nvSpPr>
        <p:spPr>
          <a:xfrm>
            <a:off x="3191040" y="3209400"/>
            <a:ext cx="722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52"/>
          <p:cNvSpPr/>
          <p:nvPr/>
        </p:nvSpPr>
        <p:spPr>
          <a:xfrm>
            <a:off x="3305160" y="3566160"/>
            <a:ext cx="49428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53"/>
          <p:cNvSpPr/>
          <p:nvPr/>
        </p:nvSpPr>
        <p:spPr>
          <a:xfrm>
            <a:off x="3191040" y="3602880"/>
            <a:ext cx="722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12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54"/>
          <p:cNvSpPr/>
          <p:nvPr/>
        </p:nvSpPr>
        <p:spPr>
          <a:xfrm>
            <a:off x="3799800" y="3246120"/>
            <a:ext cx="299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+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55"/>
          <p:cNvSpPr/>
          <p:nvPr/>
        </p:nvSpPr>
        <p:spPr>
          <a:xfrm>
            <a:off x="3984840" y="3209400"/>
            <a:ext cx="722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56"/>
          <p:cNvSpPr/>
          <p:nvPr/>
        </p:nvSpPr>
        <p:spPr>
          <a:xfrm>
            <a:off x="4098960" y="3566160"/>
            <a:ext cx="49428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57"/>
          <p:cNvSpPr/>
          <p:nvPr/>
        </p:nvSpPr>
        <p:spPr>
          <a:xfrm>
            <a:off x="3984840" y="3602880"/>
            <a:ext cx="722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12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58"/>
          <p:cNvSpPr/>
          <p:nvPr/>
        </p:nvSpPr>
        <p:spPr>
          <a:xfrm>
            <a:off x="2817360" y="4114800"/>
            <a:ext cx="31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59"/>
          <p:cNvSpPr/>
          <p:nvPr/>
        </p:nvSpPr>
        <p:spPr>
          <a:xfrm>
            <a:off x="3017520" y="4041720"/>
            <a:ext cx="77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11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60"/>
          <p:cNvSpPr/>
          <p:nvPr/>
        </p:nvSpPr>
        <p:spPr>
          <a:xfrm>
            <a:off x="3131640" y="4434840"/>
            <a:ext cx="54324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61"/>
          <p:cNvSpPr/>
          <p:nvPr/>
        </p:nvSpPr>
        <p:spPr>
          <a:xfrm>
            <a:off x="3017520" y="4471560"/>
            <a:ext cx="77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12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62"/>
          <p:cNvSpPr/>
          <p:nvPr/>
        </p:nvSpPr>
        <p:spPr>
          <a:xfrm>
            <a:off x="6236280" y="2377440"/>
            <a:ext cx="5394600" cy="2742840"/>
          </a:xfrm>
          <a:prstGeom prst="roundRect">
            <a:avLst>
              <a:gd name="adj" fmla="val 200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63"/>
          <p:cNvSpPr/>
          <p:nvPr/>
        </p:nvSpPr>
        <p:spPr>
          <a:xfrm>
            <a:off x="6602040" y="2615040"/>
            <a:ext cx="466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Subtract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64"/>
          <p:cNvSpPr/>
          <p:nvPr/>
        </p:nvSpPr>
        <p:spPr>
          <a:xfrm>
            <a:off x="7410960" y="3209400"/>
            <a:ext cx="632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65"/>
          <p:cNvSpPr/>
          <p:nvPr/>
        </p:nvSpPr>
        <p:spPr>
          <a:xfrm>
            <a:off x="7525080" y="3566160"/>
            <a:ext cx="40392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66"/>
          <p:cNvSpPr/>
          <p:nvPr/>
        </p:nvSpPr>
        <p:spPr>
          <a:xfrm>
            <a:off x="7410960" y="3602880"/>
            <a:ext cx="632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67"/>
          <p:cNvSpPr/>
          <p:nvPr/>
        </p:nvSpPr>
        <p:spPr>
          <a:xfrm>
            <a:off x="7929000" y="3246120"/>
            <a:ext cx="299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68"/>
          <p:cNvSpPr/>
          <p:nvPr/>
        </p:nvSpPr>
        <p:spPr>
          <a:xfrm>
            <a:off x="8114400" y="3209400"/>
            <a:ext cx="632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69"/>
          <p:cNvSpPr/>
          <p:nvPr/>
        </p:nvSpPr>
        <p:spPr>
          <a:xfrm>
            <a:off x="8228520" y="3566160"/>
            <a:ext cx="40392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70"/>
          <p:cNvSpPr/>
          <p:nvPr/>
        </p:nvSpPr>
        <p:spPr>
          <a:xfrm>
            <a:off x="8114400" y="3602880"/>
            <a:ext cx="632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71"/>
          <p:cNvSpPr/>
          <p:nvPr/>
        </p:nvSpPr>
        <p:spPr>
          <a:xfrm>
            <a:off x="8632440" y="3246120"/>
            <a:ext cx="299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72"/>
          <p:cNvSpPr/>
          <p:nvPr/>
        </p:nvSpPr>
        <p:spPr>
          <a:xfrm>
            <a:off x="8817840" y="3209400"/>
            <a:ext cx="783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20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73"/>
          <p:cNvSpPr/>
          <p:nvPr/>
        </p:nvSpPr>
        <p:spPr>
          <a:xfrm>
            <a:off x="8931960" y="3566160"/>
            <a:ext cx="55512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74"/>
          <p:cNvSpPr/>
          <p:nvPr/>
        </p:nvSpPr>
        <p:spPr>
          <a:xfrm>
            <a:off x="8817840" y="3602880"/>
            <a:ext cx="783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24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75"/>
          <p:cNvSpPr/>
          <p:nvPr/>
        </p:nvSpPr>
        <p:spPr>
          <a:xfrm>
            <a:off x="9487440" y="3246120"/>
            <a:ext cx="299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76"/>
          <p:cNvSpPr/>
          <p:nvPr/>
        </p:nvSpPr>
        <p:spPr>
          <a:xfrm>
            <a:off x="9672480" y="3209400"/>
            <a:ext cx="783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9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77"/>
          <p:cNvSpPr/>
          <p:nvPr/>
        </p:nvSpPr>
        <p:spPr>
          <a:xfrm>
            <a:off x="9786600" y="3566160"/>
            <a:ext cx="55512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78"/>
          <p:cNvSpPr/>
          <p:nvPr/>
        </p:nvSpPr>
        <p:spPr>
          <a:xfrm>
            <a:off x="9672480" y="3602880"/>
            <a:ext cx="783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24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79"/>
          <p:cNvSpPr/>
          <p:nvPr/>
        </p:nvSpPr>
        <p:spPr>
          <a:xfrm>
            <a:off x="8471160" y="4114800"/>
            <a:ext cx="31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80"/>
          <p:cNvSpPr/>
          <p:nvPr/>
        </p:nvSpPr>
        <p:spPr>
          <a:xfrm>
            <a:off x="8671320" y="4041720"/>
            <a:ext cx="839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11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81"/>
          <p:cNvSpPr/>
          <p:nvPr/>
        </p:nvSpPr>
        <p:spPr>
          <a:xfrm>
            <a:off x="8785440" y="4434840"/>
            <a:ext cx="61092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82"/>
          <p:cNvSpPr/>
          <p:nvPr/>
        </p:nvSpPr>
        <p:spPr>
          <a:xfrm>
            <a:off x="8671320" y="4471560"/>
            <a:ext cx="839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24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83"/>
          <p:cNvSpPr/>
          <p:nvPr/>
        </p:nvSpPr>
        <p:spPr>
          <a:xfrm>
            <a:off x="567000" y="534924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c6b60"/>
                </a:solidFill>
                <a:latin typeface="Calibri"/>
                <a:ea typeface="Calibri"/>
              </a:rPr>
              <a:t>Every algebraic-fraction question uses this same idea — only the denominators get more interesting.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SIMPLIFYING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Simplifying Algebraic Fractions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Key idea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Factorise the numerator and denominator fully, then cancel any factor that appears on BOTH top and bottom. Never cancel single terms across a + or − sign.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43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44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45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0" name="Shape 46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47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48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Factorise the top:  x² − 9 = (x − 3)(x + 3)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49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50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51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Factorise the bottom:  x² + 5x + 6 = (x + 2)(x + 3)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52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53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54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9" name="Shape 55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56"/>
          <p:cNvSpPr/>
          <p:nvPr/>
        </p:nvSpPr>
        <p:spPr>
          <a:xfrm>
            <a:off x="3900960" y="5074920"/>
            <a:ext cx="29988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1" name="Text 57"/>
          <p:cNvSpPr/>
          <p:nvPr/>
        </p:nvSpPr>
        <p:spPr>
          <a:xfrm>
            <a:off x="6882120" y="5074920"/>
            <a:ext cx="292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=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58"/>
          <p:cNvSpPr/>
          <p:nvPr/>
        </p:nvSpPr>
        <p:spPr>
          <a:xfrm>
            <a:off x="7225200" y="5235120"/>
            <a:ext cx="1185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x − 3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59"/>
          <p:cNvSpPr/>
          <p:nvPr/>
        </p:nvSpPr>
        <p:spPr>
          <a:xfrm>
            <a:off x="7339320" y="5646240"/>
            <a:ext cx="957600" cy="360"/>
          </a:xfrm>
          <a:prstGeom prst="line">
            <a:avLst/>
          </a:prstGeom>
          <a:ln w="19050">
            <a:solidFill>
              <a:srgbClr val="e0ac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60"/>
          <p:cNvSpPr/>
          <p:nvPr/>
        </p:nvSpPr>
        <p:spPr>
          <a:xfrm>
            <a:off x="7225200" y="5682960"/>
            <a:ext cx="1185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x + 2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" name="q029.png" descr=""/>
          <p:cNvPicPr/>
          <p:nvPr/>
        </p:nvPicPr>
        <p:blipFill>
          <a:blip r:embed="rId1"/>
          <a:stretch/>
        </p:blipFill>
        <p:spPr>
          <a:xfrm>
            <a:off x="1362600" y="1819800"/>
            <a:ext cx="1729080" cy="383760"/>
          </a:xfrm>
          <a:prstGeom prst="rect">
            <a:avLst/>
          </a:prstGeom>
          <a:ln w="0">
            <a:noFill/>
          </a:ln>
        </p:spPr>
      </p:pic>
      <p:pic>
        <p:nvPicPr>
          <p:cNvPr id="206" name="q030.png" descr=""/>
          <p:cNvPicPr/>
          <p:nvPr/>
        </p:nvPicPr>
        <p:blipFill>
          <a:blip r:embed="rId2"/>
          <a:stretch/>
        </p:blipFill>
        <p:spPr>
          <a:xfrm>
            <a:off x="1362600" y="4014360"/>
            <a:ext cx="2829240" cy="383760"/>
          </a:xfrm>
          <a:prstGeom prst="rect">
            <a:avLst/>
          </a:prstGeom>
          <a:ln w="0">
            <a:noFill/>
          </a:ln>
        </p:spPr>
      </p:pic>
      <p:pic>
        <p:nvPicPr>
          <p:cNvPr id="207" name="q031.png" descr=""/>
          <p:cNvPicPr/>
          <p:nvPr/>
        </p:nvPicPr>
        <p:blipFill>
          <a:blip r:embed="rId3"/>
          <a:stretch/>
        </p:blipFill>
        <p:spPr>
          <a:xfrm>
            <a:off x="4894920" y="5394960"/>
            <a:ext cx="1011600" cy="50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PRACTICE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Simplify — Past-Paper Practice (1)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39"/>
          <p:cNvSpPr/>
          <p:nvPr/>
        </p:nvSpPr>
        <p:spPr>
          <a:xfrm>
            <a:off x="567000" y="146304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40"/>
          <p:cNvSpPr/>
          <p:nvPr/>
        </p:nvSpPr>
        <p:spPr>
          <a:xfrm>
            <a:off x="887040" y="146304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Factorise the numerator and denominator, then cancel common factors.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41"/>
          <p:cNvSpPr/>
          <p:nvPr/>
        </p:nvSpPr>
        <p:spPr>
          <a:xfrm>
            <a:off x="567000" y="23317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42"/>
          <p:cNvSpPr/>
          <p:nvPr/>
        </p:nvSpPr>
        <p:spPr>
          <a:xfrm>
            <a:off x="822960" y="24415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43"/>
          <p:cNvSpPr/>
          <p:nvPr/>
        </p:nvSpPr>
        <p:spPr>
          <a:xfrm>
            <a:off x="822960" y="2441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44"/>
          <p:cNvSpPr/>
          <p:nvPr/>
        </p:nvSpPr>
        <p:spPr>
          <a:xfrm>
            <a:off x="1417320" y="23317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3" name="Text 45"/>
          <p:cNvSpPr/>
          <p:nvPr/>
        </p:nvSpPr>
        <p:spPr>
          <a:xfrm>
            <a:off x="10607040" y="23317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[2]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46"/>
          <p:cNvSpPr/>
          <p:nvPr/>
        </p:nvSpPr>
        <p:spPr>
          <a:xfrm>
            <a:off x="567000" y="305424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47"/>
          <p:cNvSpPr/>
          <p:nvPr/>
        </p:nvSpPr>
        <p:spPr>
          <a:xfrm>
            <a:off x="822960" y="31636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48"/>
          <p:cNvSpPr/>
          <p:nvPr/>
        </p:nvSpPr>
        <p:spPr>
          <a:xfrm>
            <a:off x="822960" y="3163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49"/>
          <p:cNvSpPr/>
          <p:nvPr/>
        </p:nvSpPr>
        <p:spPr>
          <a:xfrm>
            <a:off x="1417320" y="305424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8" name="Text 50"/>
          <p:cNvSpPr/>
          <p:nvPr/>
        </p:nvSpPr>
        <p:spPr>
          <a:xfrm>
            <a:off x="10607040" y="305424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[2]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51"/>
          <p:cNvSpPr/>
          <p:nvPr/>
        </p:nvSpPr>
        <p:spPr>
          <a:xfrm>
            <a:off x="567000" y="377640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52"/>
          <p:cNvSpPr/>
          <p:nvPr/>
        </p:nvSpPr>
        <p:spPr>
          <a:xfrm>
            <a:off x="822960" y="388620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53"/>
          <p:cNvSpPr/>
          <p:nvPr/>
        </p:nvSpPr>
        <p:spPr>
          <a:xfrm>
            <a:off x="822960" y="3886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54"/>
          <p:cNvSpPr/>
          <p:nvPr/>
        </p:nvSpPr>
        <p:spPr>
          <a:xfrm>
            <a:off x="1417320" y="377640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3" name="Text 55"/>
          <p:cNvSpPr/>
          <p:nvPr/>
        </p:nvSpPr>
        <p:spPr>
          <a:xfrm>
            <a:off x="10607040" y="377640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[2]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56"/>
          <p:cNvSpPr/>
          <p:nvPr/>
        </p:nvSpPr>
        <p:spPr>
          <a:xfrm>
            <a:off x="567000" y="44989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57"/>
          <p:cNvSpPr/>
          <p:nvPr/>
        </p:nvSpPr>
        <p:spPr>
          <a:xfrm>
            <a:off x="822960" y="46087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58"/>
          <p:cNvSpPr/>
          <p:nvPr/>
        </p:nvSpPr>
        <p:spPr>
          <a:xfrm>
            <a:off x="822960" y="4608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59"/>
          <p:cNvSpPr/>
          <p:nvPr/>
        </p:nvSpPr>
        <p:spPr>
          <a:xfrm>
            <a:off x="1417320" y="44989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8" name="Text 60"/>
          <p:cNvSpPr/>
          <p:nvPr/>
        </p:nvSpPr>
        <p:spPr>
          <a:xfrm>
            <a:off x="10607040" y="44989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[2]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61"/>
          <p:cNvSpPr/>
          <p:nvPr/>
        </p:nvSpPr>
        <p:spPr>
          <a:xfrm>
            <a:off x="567000" y="522108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62"/>
          <p:cNvSpPr/>
          <p:nvPr/>
        </p:nvSpPr>
        <p:spPr>
          <a:xfrm>
            <a:off x="822960" y="53308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63"/>
          <p:cNvSpPr/>
          <p:nvPr/>
        </p:nvSpPr>
        <p:spPr>
          <a:xfrm>
            <a:off x="822960" y="5330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64"/>
          <p:cNvSpPr/>
          <p:nvPr/>
        </p:nvSpPr>
        <p:spPr>
          <a:xfrm>
            <a:off x="1417320" y="522108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3" name="Text 65"/>
          <p:cNvSpPr/>
          <p:nvPr/>
        </p:nvSpPr>
        <p:spPr>
          <a:xfrm>
            <a:off x="10607040" y="522108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[2]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66"/>
          <p:cNvSpPr/>
          <p:nvPr/>
        </p:nvSpPr>
        <p:spPr>
          <a:xfrm>
            <a:off x="567000" y="5989320"/>
            <a:ext cx="11063880" cy="45684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67"/>
          <p:cNvSpPr/>
          <p:nvPr/>
        </p:nvSpPr>
        <p:spPr>
          <a:xfrm>
            <a:off x="822960" y="598932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0ac2b"/>
                </a:solidFill>
                <a:latin typeface="Calibri"/>
                <a:ea typeface="Calibri"/>
              </a:rPr>
              <a:t>Answers:  1) (x−5)/(2x²)   2) 2(2x+5)/(3x²)   3) 4(x−2)/(3x)   4) (a−2)/(3a)   5) d(3c−8)/5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6" name="q032.png" descr=""/>
          <p:cNvPicPr/>
          <p:nvPr/>
        </p:nvPicPr>
        <p:blipFill>
          <a:blip r:embed="rId1"/>
          <a:stretch/>
        </p:blipFill>
        <p:spPr>
          <a:xfrm>
            <a:off x="1417320" y="2450520"/>
            <a:ext cx="1530000" cy="365400"/>
          </a:xfrm>
          <a:prstGeom prst="rect">
            <a:avLst/>
          </a:prstGeom>
          <a:ln w="0">
            <a:noFill/>
          </a:ln>
        </p:spPr>
      </p:pic>
      <p:pic>
        <p:nvPicPr>
          <p:cNvPr id="277" name="q033.png" descr=""/>
          <p:cNvPicPr/>
          <p:nvPr/>
        </p:nvPicPr>
        <p:blipFill>
          <a:blip r:embed="rId2"/>
          <a:stretch/>
        </p:blipFill>
        <p:spPr>
          <a:xfrm>
            <a:off x="1417320" y="3173040"/>
            <a:ext cx="1566000" cy="365400"/>
          </a:xfrm>
          <a:prstGeom prst="rect">
            <a:avLst/>
          </a:prstGeom>
          <a:ln w="0">
            <a:noFill/>
          </a:ln>
        </p:spPr>
      </p:pic>
      <p:pic>
        <p:nvPicPr>
          <p:cNvPr id="278" name="q034.png" descr=""/>
          <p:cNvPicPr/>
          <p:nvPr/>
        </p:nvPicPr>
        <p:blipFill>
          <a:blip r:embed="rId3"/>
          <a:stretch/>
        </p:blipFill>
        <p:spPr>
          <a:xfrm>
            <a:off x="1417320" y="3895200"/>
            <a:ext cx="1669320" cy="365400"/>
          </a:xfrm>
          <a:prstGeom prst="rect">
            <a:avLst/>
          </a:prstGeom>
          <a:ln w="0">
            <a:noFill/>
          </a:ln>
        </p:spPr>
      </p:pic>
      <p:pic>
        <p:nvPicPr>
          <p:cNvPr id="279" name="q035.png" descr=""/>
          <p:cNvPicPr/>
          <p:nvPr/>
        </p:nvPicPr>
        <p:blipFill>
          <a:blip r:embed="rId4"/>
          <a:stretch/>
        </p:blipFill>
        <p:spPr>
          <a:xfrm>
            <a:off x="1417320" y="4617720"/>
            <a:ext cx="1771920" cy="365400"/>
          </a:xfrm>
          <a:prstGeom prst="rect">
            <a:avLst/>
          </a:prstGeom>
          <a:ln w="0">
            <a:noFill/>
          </a:ln>
        </p:spPr>
      </p:pic>
      <p:pic>
        <p:nvPicPr>
          <p:cNvPr id="280" name="q036.png" descr=""/>
          <p:cNvPicPr/>
          <p:nvPr/>
        </p:nvPicPr>
        <p:blipFill>
          <a:blip r:embed="rId5"/>
          <a:stretch/>
        </p:blipFill>
        <p:spPr>
          <a:xfrm>
            <a:off x="1417320" y="5340240"/>
            <a:ext cx="1833120" cy="365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7" dur="indefinite" restart="never" nodeType="tmRoot">
          <p:childTnLst>
            <p:seq>
              <p:cTn id="68" dur="indefinite" nodeType="mainSeq">
                <p:childTnLst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3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6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9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2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7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3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6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9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4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7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0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3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6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1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4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7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0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3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8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1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PRACTICE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Simplify — Past-Paper Practice (2)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39"/>
          <p:cNvSpPr/>
          <p:nvPr/>
        </p:nvSpPr>
        <p:spPr>
          <a:xfrm>
            <a:off x="567000" y="146304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40"/>
          <p:cNvSpPr/>
          <p:nvPr/>
        </p:nvSpPr>
        <p:spPr>
          <a:xfrm>
            <a:off x="887040" y="146304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Factorise the numerator and denominator, then cancel common factors.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41"/>
          <p:cNvSpPr/>
          <p:nvPr/>
        </p:nvSpPr>
        <p:spPr>
          <a:xfrm>
            <a:off x="567000" y="23317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42"/>
          <p:cNvSpPr/>
          <p:nvPr/>
        </p:nvSpPr>
        <p:spPr>
          <a:xfrm>
            <a:off x="822960" y="24415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43"/>
          <p:cNvSpPr/>
          <p:nvPr/>
        </p:nvSpPr>
        <p:spPr>
          <a:xfrm>
            <a:off x="822960" y="2441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44"/>
          <p:cNvSpPr/>
          <p:nvPr/>
        </p:nvSpPr>
        <p:spPr>
          <a:xfrm>
            <a:off x="1417320" y="23317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6" name="Text 45"/>
          <p:cNvSpPr/>
          <p:nvPr/>
        </p:nvSpPr>
        <p:spPr>
          <a:xfrm>
            <a:off x="10607040" y="23317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[2]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46"/>
          <p:cNvSpPr/>
          <p:nvPr/>
        </p:nvSpPr>
        <p:spPr>
          <a:xfrm>
            <a:off x="567000" y="305424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47"/>
          <p:cNvSpPr/>
          <p:nvPr/>
        </p:nvSpPr>
        <p:spPr>
          <a:xfrm>
            <a:off x="822960" y="31636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 48"/>
          <p:cNvSpPr/>
          <p:nvPr/>
        </p:nvSpPr>
        <p:spPr>
          <a:xfrm>
            <a:off x="822960" y="3163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49"/>
          <p:cNvSpPr/>
          <p:nvPr/>
        </p:nvSpPr>
        <p:spPr>
          <a:xfrm>
            <a:off x="1417320" y="305424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1" name="Text 50"/>
          <p:cNvSpPr/>
          <p:nvPr/>
        </p:nvSpPr>
        <p:spPr>
          <a:xfrm>
            <a:off x="10607040" y="305424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51"/>
          <p:cNvSpPr/>
          <p:nvPr/>
        </p:nvSpPr>
        <p:spPr>
          <a:xfrm>
            <a:off x="567000" y="377640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52"/>
          <p:cNvSpPr/>
          <p:nvPr/>
        </p:nvSpPr>
        <p:spPr>
          <a:xfrm>
            <a:off x="822960" y="388620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53"/>
          <p:cNvSpPr/>
          <p:nvPr/>
        </p:nvSpPr>
        <p:spPr>
          <a:xfrm>
            <a:off x="822960" y="3886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54"/>
          <p:cNvSpPr/>
          <p:nvPr/>
        </p:nvSpPr>
        <p:spPr>
          <a:xfrm>
            <a:off x="1417320" y="377640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6" name="Text 55"/>
          <p:cNvSpPr/>
          <p:nvPr/>
        </p:nvSpPr>
        <p:spPr>
          <a:xfrm>
            <a:off x="10607040" y="377640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56"/>
          <p:cNvSpPr/>
          <p:nvPr/>
        </p:nvSpPr>
        <p:spPr>
          <a:xfrm>
            <a:off x="567000" y="44989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57"/>
          <p:cNvSpPr/>
          <p:nvPr/>
        </p:nvSpPr>
        <p:spPr>
          <a:xfrm>
            <a:off x="822960" y="46087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58"/>
          <p:cNvSpPr/>
          <p:nvPr/>
        </p:nvSpPr>
        <p:spPr>
          <a:xfrm>
            <a:off x="822960" y="4608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59"/>
          <p:cNvSpPr/>
          <p:nvPr/>
        </p:nvSpPr>
        <p:spPr>
          <a:xfrm>
            <a:off x="1417320" y="44989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1" name="Text 60"/>
          <p:cNvSpPr/>
          <p:nvPr/>
        </p:nvSpPr>
        <p:spPr>
          <a:xfrm>
            <a:off x="10607040" y="44989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61"/>
          <p:cNvSpPr/>
          <p:nvPr/>
        </p:nvSpPr>
        <p:spPr>
          <a:xfrm>
            <a:off x="567000" y="522108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62"/>
          <p:cNvSpPr/>
          <p:nvPr/>
        </p:nvSpPr>
        <p:spPr>
          <a:xfrm>
            <a:off x="822960" y="53308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63"/>
          <p:cNvSpPr/>
          <p:nvPr/>
        </p:nvSpPr>
        <p:spPr>
          <a:xfrm>
            <a:off x="822960" y="5330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64"/>
          <p:cNvSpPr/>
          <p:nvPr/>
        </p:nvSpPr>
        <p:spPr>
          <a:xfrm>
            <a:off x="1417320" y="522108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6" name="Text 65"/>
          <p:cNvSpPr/>
          <p:nvPr/>
        </p:nvSpPr>
        <p:spPr>
          <a:xfrm>
            <a:off x="10607040" y="522108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66"/>
          <p:cNvSpPr/>
          <p:nvPr/>
        </p:nvSpPr>
        <p:spPr>
          <a:xfrm>
            <a:off x="567000" y="5989320"/>
            <a:ext cx="11063880" cy="45684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67"/>
          <p:cNvSpPr/>
          <p:nvPr/>
        </p:nvSpPr>
        <p:spPr>
          <a:xfrm>
            <a:off x="822960" y="598932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0ac2b"/>
                </a:solidFill>
                <a:latin typeface="Calibri"/>
                <a:ea typeface="Calibri"/>
              </a:rPr>
              <a:t>Answers:  1) (f+2g²)/(3g)   2) (x+4)/7   3) (x+8)/(x−10)   4) (x+7)/(x+2)   5) (2x+1)/(x−3)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9" name="q037.png" descr=""/>
          <p:cNvPicPr/>
          <p:nvPr/>
        </p:nvPicPr>
        <p:blipFill>
          <a:blip r:embed="rId1"/>
          <a:stretch/>
        </p:blipFill>
        <p:spPr>
          <a:xfrm>
            <a:off x="1417320" y="2450520"/>
            <a:ext cx="1697400" cy="365400"/>
          </a:xfrm>
          <a:prstGeom prst="rect">
            <a:avLst/>
          </a:prstGeom>
          <a:ln w="0">
            <a:noFill/>
          </a:ln>
        </p:spPr>
      </p:pic>
      <p:pic>
        <p:nvPicPr>
          <p:cNvPr id="350" name="q038.png" descr=""/>
          <p:cNvPicPr/>
          <p:nvPr/>
        </p:nvPicPr>
        <p:blipFill>
          <a:blip r:embed="rId2"/>
          <a:stretch/>
        </p:blipFill>
        <p:spPr>
          <a:xfrm>
            <a:off x="1417320" y="3173040"/>
            <a:ext cx="1793880" cy="365400"/>
          </a:xfrm>
          <a:prstGeom prst="rect">
            <a:avLst/>
          </a:prstGeom>
          <a:ln w="0">
            <a:noFill/>
          </a:ln>
        </p:spPr>
      </p:pic>
      <p:pic>
        <p:nvPicPr>
          <p:cNvPr id="351" name="q039.png" descr=""/>
          <p:cNvPicPr/>
          <p:nvPr/>
        </p:nvPicPr>
        <p:blipFill>
          <a:blip r:embed="rId3"/>
          <a:stretch/>
        </p:blipFill>
        <p:spPr>
          <a:xfrm>
            <a:off x="1417320" y="3895200"/>
            <a:ext cx="1861560" cy="365400"/>
          </a:xfrm>
          <a:prstGeom prst="rect">
            <a:avLst/>
          </a:prstGeom>
          <a:ln w="0">
            <a:noFill/>
          </a:ln>
        </p:spPr>
      </p:pic>
      <p:pic>
        <p:nvPicPr>
          <p:cNvPr id="352" name="q040.png" descr=""/>
          <p:cNvPicPr/>
          <p:nvPr/>
        </p:nvPicPr>
        <p:blipFill>
          <a:blip r:embed="rId4"/>
          <a:stretch/>
        </p:blipFill>
        <p:spPr>
          <a:xfrm>
            <a:off x="1417320" y="4617720"/>
            <a:ext cx="1760400" cy="365400"/>
          </a:xfrm>
          <a:prstGeom prst="rect">
            <a:avLst/>
          </a:prstGeom>
          <a:ln w="0">
            <a:noFill/>
          </a:ln>
        </p:spPr>
      </p:pic>
      <p:pic>
        <p:nvPicPr>
          <p:cNvPr id="353" name="q041.png" descr=""/>
          <p:cNvPicPr/>
          <p:nvPr/>
        </p:nvPicPr>
        <p:blipFill>
          <a:blip r:embed="rId5"/>
          <a:stretch/>
        </p:blipFill>
        <p:spPr>
          <a:xfrm>
            <a:off x="1417320" y="5340240"/>
            <a:ext cx="1717560" cy="365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2" dur="indefinite" restart="never" nodeType="tmRoot">
          <p:childTnLst>
            <p:seq>
              <p:cTn id="163" dur="indefinite" nodeType="mainSeq">
                <p:childTnLst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8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1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4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7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0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5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8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1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4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7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5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8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1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4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9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2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5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8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1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6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9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2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5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8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3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6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PRACTICE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Simplify Fully — Past-Paper Practice (3)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39"/>
          <p:cNvSpPr/>
          <p:nvPr/>
        </p:nvSpPr>
        <p:spPr>
          <a:xfrm>
            <a:off x="567000" y="146304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 40"/>
          <p:cNvSpPr/>
          <p:nvPr/>
        </p:nvSpPr>
        <p:spPr>
          <a:xfrm>
            <a:off x="887040" y="146304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Factorise the numerator and denominator, then cancel common factors.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41"/>
          <p:cNvSpPr/>
          <p:nvPr/>
        </p:nvSpPr>
        <p:spPr>
          <a:xfrm>
            <a:off x="567000" y="23317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42"/>
          <p:cNvSpPr/>
          <p:nvPr/>
        </p:nvSpPr>
        <p:spPr>
          <a:xfrm>
            <a:off x="822960" y="24415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 43"/>
          <p:cNvSpPr/>
          <p:nvPr/>
        </p:nvSpPr>
        <p:spPr>
          <a:xfrm>
            <a:off x="822960" y="2441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 44"/>
          <p:cNvSpPr/>
          <p:nvPr/>
        </p:nvSpPr>
        <p:spPr>
          <a:xfrm>
            <a:off x="1417320" y="23317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9" name="Text 45"/>
          <p:cNvSpPr/>
          <p:nvPr/>
        </p:nvSpPr>
        <p:spPr>
          <a:xfrm>
            <a:off x="10607040" y="23317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46"/>
          <p:cNvSpPr/>
          <p:nvPr/>
        </p:nvSpPr>
        <p:spPr>
          <a:xfrm>
            <a:off x="567000" y="305424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47"/>
          <p:cNvSpPr/>
          <p:nvPr/>
        </p:nvSpPr>
        <p:spPr>
          <a:xfrm>
            <a:off x="822960" y="31636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 48"/>
          <p:cNvSpPr/>
          <p:nvPr/>
        </p:nvSpPr>
        <p:spPr>
          <a:xfrm>
            <a:off x="822960" y="3163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 49"/>
          <p:cNvSpPr/>
          <p:nvPr/>
        </p:nvSpPr>
        <p:spPr>
          <a:xfrm>
            <a:off x="1417320" y="305424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4" name="Text 50"/>
          <p:cNvSpPr/>
          <p:nvPr/>
        </p:nvSpPr>
        <p:spPr>
          <a:xfrm>
            <a:off x="10607040" y="305424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51"/>
          <p:cNvSpPr/>
          <p:nvPr/>
        </p:nvSpPr>
        <p:spPr>
          <a:xfrm>
            <a:off x="567000" y="377640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52"/>
          <p:cNvSpPr/>
          <p:nvPr/>
        </p:nvSpPr>
        <p:spPr>
          <a:xfrm>
            <a:off x="822960" y="388620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 53"/>
          <p:cNvSpPr/>
          <p:nvPr/>
        </p:nvSpPr>
        <p:spPr>
          <a:xfrm>
            <a:off x="822960" y="3886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54"/>
          <p:cNvSpPr/>
          <p:nvPr/>
        </p:nvSpPr>
        <p:spPr>
          <a:xfrm>
            <a:off x="1417320" y="377640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9" name="Text 55"/>
          <p:cNvSpPr/>
          <p:nvPr/>
        </p:nvSpPr>
        <p:spPr>
          <a:xfrm>
            <a:off x="10607040" y="377640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[4]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66"/>
          <p:cNvSpPr/>
          <p:nvPr/>
        </p:nvSpPr>
        <p:spPr>
          <a:xfrm>
            <a:off x="567000" y="5989320"/>
            <a:ext cx="11063880" cy="45684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67"/>
          <p:cNvSpPr/>
          <p:nvPr/>
        </p:nvSpPr>
        <p:spPr>
          <a:xfrm>
            <a:off x="822960" y="598932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0ac2b"/>
                </a:solidFill>
                <a:latin typeface="Calibri"/>
                <a:ea typeface="Calibri"/>
              </a:rPr>
              <a:t>Answers:  1) (5x+7)/(x−9)     2) (3−x)/x     3) x(3x−1)/(2x−5)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2" name="q042.png" descr=""/>
          <p:cNvPicPr/>
          <p:nvPr/>
        </p:nvPicPr>
        <p:blipFill>
          <a:blip r:embed="rId1"/>
          <a:stretch/>
        </p:blipFill>
        <p:spPr>
          <a:xfrm>
            <a:off x="1417320" y="2450520"/>
            <a:ext cx="1790640" cy="365400"/>
          </a:xfrm>
          <a:prstGeom prst="rect">
            <a:avLst/>
          </a:prstGeom>
          <a:ln w="0">
            <a:noFill/>
          </a:ln>
        </p:spPr>
      </p:pic>
      <p:pic>
        <p:nvPicPr>
          <p:cNvPr id="413" name="q043.png" descr=""/>
          <p:cNvPicPr/>
          <p:nvPr/>
        </p:nvPicPr>
        <p:blipFill>
          <a:blip r:embed="rId2"/>
          <a:stretch/>
        </p:blipFill>
        <p:spPr>
          <a:xfrm>
            <a:off x="1417320" y="3173040"/>
            <a:ext cx="2158920" cy="365400"/>
          </a:xfrm>
          <a:prstGeom prst="rect">
            <a:avLst/>
          </a:prstGeom>
          <a:ln w="0">
            <a:noFill/>
          </a:ln>
        </p:spPr>
      </p:pic>
      <p:pic>
        <p:nvPicPr>
          <p:cNvPr id="414" name="q044.png" descr=""/>
          <p:cNvPicPr/>
          <p:nvPr/>
        </p:nvPicPr>
        <p:blipFill>
          <a:blip r:embed="rId3"/>
          <a:stretch/>
        </p:blipFill>
        <p:spPr>
          <a:xfrm>
            <a:off x="1417320" y="3895200"/>
            <a:ext cx="2393640" cy="365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1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38"/>
          <p:cNvSpPr/>
          <p:nvPr/>
        </p:nvSpPr>
        <p:spPr>
          <a:xfrm>
            <a:off x="777240" y="169164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e0ac2b"/>
                </a:solidFill>
                <a:latin typeface="Cambria"/>
                <a:ea typeface="Cambria"/>
              </a:rPr>
              <a:t>Adding &amp; Subtracting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 39"/>
          <p:cNvSpPr/>
          <p:nvPr/>
        </p:nvSpPr>
        <p:spPr>
          <a:xfrm>
            <a:off x="804600" y="269748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Build up the denominator: a number, then linear, then quadratic.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Find the common denominator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Rewrite each fraction over it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Combine the numerators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Simplify — factorise &amp; cancel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DENOMINATOR = A NUMBER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Number Denominators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Key idea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With number denominators the common denominator is just the LCM of the numbers.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Common denominator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Top: 3x + 3 + 2x − 4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5x − 1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Text 57"/>
          <p:cNvSpPr/>
          <p:nvPr/>
        </p:nvSpPr>
        <p:spPr>
          <a:xfrm>
            <a:off x="3905640" y="5074920"/>
            <a:ext cx="2884320" cy="11426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Text 58"/>
          <p:cNvSpPr/>
          <p:nvPr/>
        </p:nvSpPr>
        <p:spPr>
          <a:xfrm>
            <a:off x="6771960" y="5074920"/>
            <a:ext cx="292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=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Text 59"/>
          <p:cNvSpPr/>
          <p:nvPr/>
        </p:nvSpPr>
        <p:spPr>
          <a:xfrm>
            <a:off x="7115040" y="5235120"/>
            <a:ext cx="129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5x − 1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60"/>
          <p:cNvSpPr/>
          <p:nvPr/>
        </p:nvSpPr>
        <p:spPr>
          <a:xfrm>
            <a:off x="7229160" y="5646240"/>
            <a:ext cx="1063080" cy="360"/>
          </a:xfrm>
          <a:prstGeom prst="line">
            <a:avLst/>
          </a:prstGeom>
          <a:ln w="19050">
            <a:solidFill>
              <a:srgbClr val="e0ac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Text 61"/>
          <p:cNvSpPr/>
          <p:nvPr/>
        </p:nvSpPr>
        <p:spPr>
          <a:xfrm>
            <a:off x="7115040" y="5682960"/>
            <a:ext cx="129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6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7" dur="indefinite" restart="never" nodeType="tmRoot">
          <p:childTnLst>
            <p:seq>
              <p:cTn id="258" dur="indefinite" nodeType="mainSeq">
                <p:childTnLst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3"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6"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9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4"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7"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0"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5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8"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1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6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9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2"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7"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0"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3"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6"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9"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2"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DENOMINATOR = A NUMBER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Subtracting with Number Denominators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Watch the signs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The minus sign multiplies the whole second numerator.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− </a:t>
            </a: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5(x − 3) = − 5x + 15.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A sign slip here is the most common error.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Subtracting flips the sign of every term in the second numerator.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Common denominator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20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Top: 8x + 4 − 5x + 15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3x + 19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Text 57"/>
          <p:cNvSpPr/>
          <p:nvPr/>
        </p:nvSpPr>
        <p:spPr>
          <a:xfrm>
            <a:off x="3724920" y="5074920"/>
            <a:ext cx="3069360" cy="114264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Text 58"/>
          <p:cNvSpPr/>
          <p:nvPr/>
        </p:nvSpPr>
        <p:spPr>
          <a:xfrm>
            <a:off x="6776280" y="5074920"/>
            <a:ext cx="292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=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Text 59"/>
          <p:cNvSpPr/>
          <p:nvPr/>
        </p:nvSpPr>
        <p:spPr>
          <a:xfrm>
            <a:off x="7119360" y="5235120"/>
            <a:ext cx="1467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3x + 19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Shape 60"/>
          <p:cNvSpPr/>
          <p:nvPr/>
        </p:nvSpPr>
        <p:spPr>
          <a:xfrm>
            <a:off x="7233480" y="5646240"/>
            <a:ext cx="1239840" cy="360"/>
          </a:xfrm>
          <a:prstGeom prst="line">
            <a:avLst/>
          </a:prstGeom>
          <a:ln w="19050">
            <a:solidFill>
              <a:srgbClr val="e0ac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Text 61"/>
          <p:cNvSpPr/>
          <p:nvPr/>
        </p:nvSpPr>
        <p:spPr>
          <a:xfrm>
            <a:off x="7119360" y="5682960"/>
            <a:ext cx="1467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20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3" dur="indefinite" restart="never" nodeType="tmRoot">
          <p:childTnLst>
            <p:seq>
              <p:cTn id="324" dur="indefinite" nodeType="mainSeq">
                <p:childTnLst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9" dur="5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2"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5" dur="5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0"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3"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6"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1"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4" dur="5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7" dur="5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>
                      <p:stCondLst>
                        <p:cond delay="indefinite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2"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5"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8"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3"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6"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9"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2"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5"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8"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DENOMINATOR = LINEAR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When the Denominator Contains x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39"/>
          <p:cNvSpPr/>
          <p:nvPr/>
        </p:nvSpPr>
        <p:spPr>
          <a:xfrm>
            <a:off x="567000" y="1481400"/>
            <a:ext cx="110638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1" name="Text 40"/>
          <p:cNvSpPr/>
          <p:nvPr/>
        </p:nvSpPr>
        <p:spPr>
          <a:xfrm>
            <a:off x="887040" y="1481400"/>
            <a:ext cx="10423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e0ac2b"/>
                </a:solidFill>
                <a:latin typeface="Calibri"/>
                <a:ea typeface="Calibri"/>
              </a:rPr>
              <a:t>The common denominator is the product of the linear denominators. </a:t>
            </a:r>
            <a:r>
              <a:rPr b="0" lang="en-US" sz="1450" spc="-1" strike="noStrike">
                <a:solidFill>
                  <a:srgbClr val="edebdd"/>
                </a:solidFill>
                <a:latin typeface="Calibri"/>
                <a:ea typeface="Calibri"/>
              </a:rPr>
              <a:t>Multiply each fraction top and bottom by the factor it is missing, then combine.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41"/>
          <p:cNvSpPr/>
          <p:nvPr/>
        </p:nvSpPr>
        <p:spPr>
          <a:xfrm>
            <a:off x="567000" y="2606040"/>
            <a:ext cx="11063880" cy="2377080"/>
          </a:xfrm>
          <a:prstGeom prst="roundRect">
            <a:avLst>
              <a:gd name="adj" fmla="val 2308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 42"/>
          <p:cNvSpPr/>
          <p:nvPr/>
        </p:nvSpPr>
        <p:spPr>
          <a:xfrm>
            <a:off x="914400" y="278892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General pattern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Text 43"/>
          <p:cNvSpPr/>
          <p:nvPr/>
        </p:nvSpPr>
        <p:spPr>
          <a:xfrm>
            <a:off x="3393360" y="3584520"/>
            <a:ext cx="1142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44"/>
          <p:cNvSpPr/>
          <p:nvPr/>
        </p:nvSpPr>
        <p:spPr>
          <a:xfrm>
            <a:off x="3507480" y="3977640"/>
            <a:ext cx="91440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Text 45"/>
          <p:cNvSpPr/>
          <p:nvPr/>
        </p:nvSpPr>
        <p:spPr>
          <a:xfrm>
            <a:off x="3393360" y="4014360"/>
            <a:ext cx="1142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x + 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 46"/>
          <p:cNvSpPr/>
          <p:nvPr/>
        </p:nvSpPr>
        <p:spPr>
          <a:xfrm>
            <a:off x="4421880" y="3657600"/>
            <a:ext cx="31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Text 47"/>
          <p:cNvSpPr/>
          <p:nvPr/>
        </p:nvSpPr>
        <p:spPr>
          <a:xfrm>
            <a:off x="4622400" y="3584520"/>
            <a:ext cx="1142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b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Shape 48"/>
          <p:cNvSpPr/>
          <p:nvPr/>
        </p:nvSpPr>
        <p:spPr>
          <a:xfrm>
            <a:off x="4736520" y="3977640"/>
            <a:ext cx="91440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Text 49"/>
          <p:cNvSpPr/>
          <p:nvPr/>
        </p:nvSpPr>
        <p:spPr>
          <a:xfrm>
            <a:off x="4622400" y="4014360"/>
            <a:ext cx="1142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x + q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Text 50"/>
          <p:cNvSpPr/>
          <p:nvPr/>
        </p:nvSpPr>
        <p:spPr>
          <a:xfrm>
            <a:off x="5650920" y="3657600"/>
            <a:ext cx="31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Text 51"/>
          <p:cNvSpPr/>
          <p:nvPr/>
        </p:nvSpPr>
        <p:spPr>
          <a:xfrm>
            <a:off x="5851080" y="3584520"/>
            <a:ext cx="2825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a(x + q) + b(x + p)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52"/>
          <p:cNvSpPr/>
          <p:nvPr/>
        </p:nvSpPr>
        <p:spPr>
          <a:xfrm>
            <a:off x="5965200" y="3977640"/>
            <a:ext cx="259704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Text 53"/>
          <p:cNvSpPr/>
          <p:nvPr/>
        </p:nvSpPr>
        <p:spPr>
          <a:xfrm>
            <a:off x="5851080" y="4014360"/>
            <a:ext cx="2825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(x + p)(x + q)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Text 54"/>
          <p:cNvSpPr/>
          <p:nvPr/>
        </p:nvSpPr>
        <p:spPr>
          <a:xfrm>
            <a:off x="567000" y="525780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c6b60"/>
                </a:solidFill>
                <a:latin typeface="Calibri"/>
                <a:ea typeface="Calibri"/>
              </a:rPr>
              <a:t>Multiply the two different denominators together to get the common denominator.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DENOMINATOR = LINEAR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Adding with Linear Denominators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Key idea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Multiply the two denominators to get the common one.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(x + 1)(x − 1) = x² − 1.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Expand the top; you may leave the bottom factorised.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43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0" name="Text 44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Text 45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46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3" name="Text 47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Text 48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Common denominator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(x + 1)(x − 1)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49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6" name="Text 50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Text 51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Top: 3(x − 1) + 2(x + 1)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52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9" name="Text 53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Text 54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= 3x − 3 + 2x + 2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5x − 1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55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2" name="Text 56"/>
          <p:cNvSpPr/>
          <p:nvPr/>
        </p:nvSpPr>
        <p:spPr>
          <a:xfrm>
            <a:off x="3942720" y="5074920"/>
            <a:ext cx="2809800" cy="11426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Text 57"/>
          <p:cNvSpPr/>
          <p:nvPr/>
        </p:nvSpPr>
        <p:spPr>
          <a:xfrm>
            <a:off x="6734520" y="5074920"/>
            <a:ext cx="292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=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Text 58"/>
          <p:cNvSpPr/>
          <p:nvPr/>
        </p:nvSpPr>
        <p:spPr>
          <a:xfrm>
            <a:off x="7077960" y="5235120"/>
            <a:ext cx="129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5x − 1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59"/>
          <p:cNvSpPr/>
          <p:nvPr/>
        </p:nvSpPr>
        <p:spPr>
          <a:xfrm>
            <a:off x="7192080" y="5646240"/>
            <a:ext cx="1063080" cy="360"/>
          </a:xfrm>
          <a:prstGeom prst="line">
            <a:avLst/>
          </a:prstGeom>
          <a:ln w="19050">
            <a:solidFill>
              <a:srgbClr val="e0ac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Text 60"/>
          <p:cNvSpPr/>
          <p:nvPr/>
        </p:nvSpPr>
        <p:spPr>
          <a:xfrm>
            <a:off x="7077960" y="5682960"/>
            <a:ext cx="129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x² − 1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9" dur="indefinite" restart="never" nodeType="tmRoot">
          <p:childTnLst>
            <p:seq>
              <p:cTn id="390" dur="indefinite" nodeType="mainSeq">
                <p:childTnLst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5"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8" dur="5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1" dur="5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indefinite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6" dur="5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9" dur="5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2" dur="5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7" dur="5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0"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3" dur="5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>
                      <p:stCondLst>
                        <p:cond delay="indefinite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id="42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8" dur="5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1" dur="5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4" dur="5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9"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2" dur="5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5"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8"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1"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4"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DENOMINATOR = LINEAR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Subtracting with Linear Denominators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Watch the signs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− </a:t>
            </a: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3(x + 2) = − 3x − 6, not − 3x + 6.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Use brackets every time you subtract.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Leave the denominator factorised.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Shape 43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1" name="Text 44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Text 45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46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4" name="Text 47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Text 48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Common denominator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(x + 2)(x − 1)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Shape 49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7" name="Text 50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Text 51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Top: 5(x − 1) − 3(x + 2)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Shape 52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0" name="Text 53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Text 54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= 5x − 5 − 3x − 6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2x − 11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Shape 55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3" name="Text 56"/>
          <p:cNvSpPr/>
          <p:nvPr/>
        </p:nvSpPr>
        <p:spPr>
          <a:xfrm>
            <a:off x="3446640" y="5074920"/>
            <a:ext cx="2884320" cy="11426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Text 57"/>
          <p:cNvSpPr/>
          <p:nvPr/>
        </p:nvSpPr>
        <p:spPr>
          <a:xfrm>
            <a:off x="6312960" y="5074920"/>
            <a:ext cx="292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=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Text 58"/>
          <p:cNvSpPr/>
          <p:nvPr/>
        </p:nvSpPr>
        <p:spPr>
          <a:xfrm>
            <a:off x="6656400" y="5235120"/>
            <a:ext cx="2208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2x − 11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Shape 59"/>
          <p:cNvSpPr/>
          <p:nvPr/>
        </p:nvSpPr>
        <p:spPr>
          <a:xfrm>
            <a:off x="6770520" y="5646240"/>
            <a:ext cx="1980720" cy="360"/>
          </a:xfrm>
          <a:prstGeom prst="line">
            <a:avLst/>
          </a:prstGeom>
          <a:ln w="19050">
            <a:solidFill>
              <a:srgbClr val="e0ac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Text 60"/>
          <p:cNvSpPr/>
          <p:nvPr/>
        </p:nvSpPr>
        <p:spPr>
          <a:xfrm>
            <a:off x="6656400" y="5682960"/>
            <a:ext cx="2208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(x + 2)(x − 1)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55" dur="indefinite" restart="never" nodeType="tmRoot">
          <p:childTnLst>
            <p:seq>
              <p:cTn id="456" dur="indefinite" nodeType="mainSeq">
                <p:childTnLst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1"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4"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7"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8" fill="hold">
                      <p:stCondLst>
                        <p:cond delay="indefinite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2"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5"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8"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fill="hold">
                      <p:stCondLst>
                        <p:cond delay="indefinite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3"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6"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9"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0" fill="hold">
                      <p:stCondLst>
                        <p:cond delay="indefinite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9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4"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7"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0"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1" fill="hold">
                      <p:stCondLst>
                        <p:cond delay="indefinite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5"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8"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1"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4"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7"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0"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DENOMINATOR = QUADRATIC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Factorise the Denominator First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Shape 39"/>
          <p:cNvSpPr/>
          <p:nvPr/>
        </p:nvSpPr>
        <p:spPr>
          <a:xfrm>
            <a:off x="567000" y="1481400"/>
            <a:ext cx="110638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8" name="Text 40"/>
          <p:cNvSpPr/>
          <p:nvPr/>
        </p:nvSpPr>
        <p:spPr>
          <a:xfrm>
            <a:off x="887040" y="1481400"/>
            <a:ext cx="104238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e0ac2b"/>
                </a:solidFill>
                <a:latin typeface="Calibri"/>
                <a:ea typeface="Calibri"/>
              </a:rPr>
              <a:t>Always factorise a quadratic denominator first. </a:t>
            </a:r>
            <a:r>
              <a:rPr b="0" lang="en-US" sz="1450" spc="-1" strike="noStrike">
                <a:solidFill>
                  <a:srgbClr val="edebdd"/>
                </a:solidFill>
                <a:latin typeface="Calibri"/>
                <a:ea typeface="Calibri"/>
              </a:rPr>
              <a:t>Often one denominator already contains the other's factor, so the common denominator is smaller than you expect.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Shape 41"/>
          <p:cNvSpPr/>
          <p:nvPr/>
        </p:nvSpPr>
        <p:spPr>
          <a:xfrm>
            <a:off x="567000" y="2606040"/>
            <a:ext cx="11063880" cy="2377080"/>
          </a:xfrm>
          <a:prstGeom prst="roundRect">
            <a:avLst>
              <a:gd name="adj" fmla="val 2308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Text 42"/>
          <p:cNvSpPr/>
          <p:nvPr/>
        </p:nvSpPr>
        <p:spPr>
          <a:xfrm>
            <a:off x="914400" y="27889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Spot the shared factor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Text 43"/>
          <p:cNvSpPr/>
          <p:nvPr/>
        </p:nvSpPr>
        <p:spPr>
          <a:xfrm>
            <a:off x="4381920" y="3584520"/>
            <a:ext cx="1170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Shape 44"/>
          <p:cNvSpPr/>
          <p:nvPr/>
        </p:nvSpPr>
        <p:spPr>
          <a:xfrm>
            <a:off x="4496040" y="3977640"/>
            <a:ext cx="94176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Text 45"/>
          <p:cNvSpPr/>
          <p:nvPr/>
        </p:nvSpPr>
        <p:spPr>
          <a:xfrm>
            <a:off x="4381920" y="4014360"/>
            <a:ext cx="1170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x² − 1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Text 46"/>
          <p:cNvSpPr/>
          <p:nvPr/>
        </p:nvSpPr>
        <p:spPr>
          <a:xfrm>
            <a:off x="5437800" y="3657600"/>
            <a:ext cx="31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Text 47"/>
          <p:cNvSpPr/>
          <p:nvPr/>
        </p:nvSpPr>
        <p:spPr>
          <a:xfrm>
            <a:off x="5638320" y="3584520"/>
            <a:ext cx="204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Shape 48"/>
          <p:cNvSpPr/>
          <p:nvPr/>
        </p:nvSpPr>
        <p:spPr>
          <a:xfrm>
            <a:off x="5752440" y="3977640"/>
            <a:ext cx="182124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Text 49"/>
          <p:cNvSpPr/>
          <p:nvPr/>
        </p:nvSpPr>
        <p:spPr>
          <a:xfrm>
            <a:off x="5638320" y="4014360"/>
            <a:ext cx="2049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c2a22"/>
                </a:solidFill>
                <a:latin typeface="Cambria"/>
                <a:ea typeface="Cambria"/>
              </a:rPr>
              <a:t>(x + 1)(x − 1)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Text 50"/>
          <p:cNvSpPr/>
          <p:nvPr/>
        </p:nvSpPr>
        <p:spPr>
          <a:xfrm>
            <a:off x="567000" y="525780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c6b60"/>
                </a:solidFill>
                <a:latin typeface="Calibri"/>
                <a:ea typeface="Calibri"/>
              </a:rPr>
              <a:t>Because x² − 1 = (x + 1)(x − 1), a fraction over (x + 1) only needs one extra factor.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DENOMINATOR = QUADRATIC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Quadratic Denominators (1)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Key idea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The first denominator already IS the common denominator.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Only the second fraction needs multiplying by (x − 1).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3 + 2(x − 1) = 3 + 2x − 2 = 2x + 1.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Shape 43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3" name="Text 44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Text 45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Shape 46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6" name="Text 47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Text 48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Factorise: x²−1 = (x+1)(x−1)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Shape 49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9" name="Text 50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Text 51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Common denominator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(x + 1)(x − 1)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Shape 52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2" name="Text 53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Text 54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Top: 3 + 2(x − 1)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2x + 1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Shape 55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5" name="Text 56"/>
          <p:cNvSpPr/>
          <p:nvPr/>
        </p:nvSpPr>
        <p:spPr>
          <a:xfrm>
            <a:off x="3890520" y="5074920"/>
            <a:ext cx="2914560" cy="11426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Text 57"/>
          <p:cNvSpPr/>
          <p:nvPr/>
        </p:nvSpPr>
        <p:spPr>
          <a:xfrm>
            <a:off x="6787080" y="5074920"/>
            <a:ext cx="292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=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Text 58"/>
          <p:cNvSpPr/>
          <p:nvPr/>
        </p:nvSpPr>
        <p:spPr>
          <a:xfrm>
            <a:off x="7130160" y="5235120"/>
            <a:ext cx="129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2x + 1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Shape 59"/>
          <p:cNvSpPr/>
          <p:nvPr/>
        </p:nvSpPr>
        <p:spPr>
          <a:xfrm>
            <a:off x="7244280" y="5646240"/>
            <a:ext cx="1063080" cy="360"/>
          </a:xfrm>
          <a:prstGeom prst="line">
            <a:avLst/>
          </a:prstGeom>
          <a:ln w="19050">
            <a:solidFill>
              <a:srgbClr val="e0ac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Text 60"/>
          <p:cNvSpPr/>
          <p:nvPr/>
        </p:nvSpPr>
        <p:spPr>
          <a:xfrm>
            <a:off x="7130160" y="5682960"/>
            <a:ext cx="129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x² − 1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21" dur="indefinite" restart="never" nodeType="tmRoot">
          <p:childTnLst>
            <p:seq>
              <p:cTn id="522" dur="indefinite" nodeType="mainSeq">
                <p:childTnLst>
                  <p:par>
                    <p:cTn id="523" fill="hold">
                      <p:stCondLst>
                        <p:cond delay="indefinite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7" dur="500"/>
                                        <p:tgtEl>
                                          <p:spTgt spid="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0" dur="500"/>
                                        <p:tgtEl>
                                          <p:spTgt spid="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3" dur="500"/>
                                        <p:tgtEl>
                                          <p:spTgt spid="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4" fill="hold">
                      <p:stCondLst>
                        <p:cond delay="indefinite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8" dur="500"/>
                                        <p:tgtEl>
                                          <p:spTgt spid="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1" dur="500"/>
                                        <p:tgtEl>
                                          <p:spTgt spid="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4" dur="500"/>
                                        <p:tgtEl>
                                          <p:spTgt spid="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5" fill="hold">
                      <p:stCondLst>
                        <p:cond delay="indefinite"/>
                      </p:stCondLst>
                      <p:childTnLst>
                        <p:par>
                          <p:cTn id="546" fill="hold">
                            <p:stCondLst>
                              <p:cond delay="0"/>
                            </p:stCondLst>
                            <p:childTnLst>
                              <p:par>
                                <p:cTn id="5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9" dur="500"/>
                                        <p:tgtEl>
                                          <p:spTgt spid="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2" dur="500"/>
                                        <p:tgtEl>
                                          <p:spTgt spid="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5" dur="50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6" fill="hold">
                      <p:stCondLst>
                        <p:cond delay="indefinite"/>
                      </p:stCondLst>
                      <p:childTnLst>
                        <p:par>
                          <p:cTn id="557" fill="hold">
                            <p:stCondLst>
                              <p:cond delay="0"/>
                            </p:stCondLst>
                            <p:childTnLst>
                              <p:par>
                                <p:cTn id="55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0" dur="500"/>
                                        <p:tgtEl>
                                          <p:spTgt spid="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3" dur="500"/>
                                        <p:tgtEl>
                                          <p:spTgt spid="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6" dur="500"/>
                                        <p:tgtEl>
                                          <p:spTgt spid="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7" fill="hold">
                      <p:stCondLst>
                        <p:cond delay="indefinite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1" dur="500"/>
                                        <p:tgtEl>
                                          <p:spTgt spid="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4" dur="500"/>
                                        <p:tgtEl>
                                          <p:spTgt spid="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7" dur="500"/>
                                        <p:tgtEl>
                                          <p:spTgt spid="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0" dur="500"/>
                                        <p:tgtEl>
                                          <p:spTgt spid="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3" dur="500"/>
                                        <p:tgtEl>
                                          <p:spTgt spid="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6" dur="500"/>
                                        <p:tgtEl>
                                          <p:spTgt spid="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DENOMINATOR = QUADRATIC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Quadratic Denominators (2)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Watch the signs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Subtracting (x + 3): x − x − 3 = − 3.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The x-terms cancel — a tidy constant numerator.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Leave the denominator factorised.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Shape 43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4" name="Text 44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Text 45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Shape 46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7" name="Text 47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8" name="Text 48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Factorise: x²+5x+6 = (x+2)(x+3)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Shape 49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0" name="Text 50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Text 51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Common denominator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(x + 2)(x + 3)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" name="Shape 52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3" name="Text 53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Text 54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Top: x − (x + 3)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− 3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Shape 55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ext 56"/>
          <p:cNvSpPr/>
          <p:nvPr/>
        </p:nvSpPr>
        <p:spPr>
          <a:xfrm>
            <a:off x="3260160" y="5074920"/>
            <a:ext cx="3186000" cy="11426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Text 57"/>
          <p:cNvSpPr/>
          <p:nvPr/>
        </p:nvSpPr>
        <p:spPr>
          <a:xfrm>
            <a:off x="6428160" y="5074920"/>
            <a:ext cx="292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=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Text 58"/>
          <p:cNvSpPr/>
          <p:nvPr/>
        </p:nvSpPr>
        <p:spPr>
          <a:xfrm>
            <a:off x="6771600" y="5235120"/>
            <a:ext cx="2280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− </a:t>
            </a: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3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Shape 59"/>
          <p:cNvSpPr/>
          <p:nvPr/>
        </p:nvSpPr>
        <p:spPr>
          <a:xfrm>
            <a:off x="6885720" y="5646240"/>
            <a:ext cx="2052000" cy="360"/>
          </a:xfrm>
          <a:prstGeom prst="line">
            <a:avLst/>
          </a:prstGeom>
          <a:ln w="19050">
            <a:solidFill>
              <a:srgbClr val="e0ac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Text 60"/>
          <p:cNvSpPr/>
          <p:nvPr/>
        </p:nvSpPr>
        <p:spPr>
          <a:xfrm>
            <a:off x="6771600" y="5682960"/>
            <a:ext cx="2280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(x + 2)(x + 3)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87" dur="indefinite" restart="never" nodeType="tmRoot">
          <p:childTnLst>
            <p:seq>
              <p:cTn id="588" dur="indefinite" nodeType="mainSeq">
                <p:childTnLst>
                  <p:par>
                    <p:cTn id="589" fill="hold">
                      <p:stCondLst>
                        <p:cond delay="indefinite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id="59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3" dur="500"/>
                                        <p:tgtEl>
                                          <p:spTgt spid="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6" dur="5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9" dur="5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0" fill="hold">
                      <p:stCondLst>
                        <p:cond delay="indefinite"/>
                      </p:stCondLst>
                      <p:childTnLst>
                        <p:par>
                          <p:cTn id="601" fill="hold">
                            <p:stCondLst>
                              <p:cond delay="0"/>
                            </p:stCondLst>
                            <p:childTnLst>
                              <p:par>
                                <p:cTn id="60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4"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7" dur="500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0" dur="500"/>
                                        <p:tgtEl>
                                          <p:spTgt spid="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1" fill="hold">
                      <p:stCondLst>
                        <p:cond delay="indefinite"/>
                      </p:stCondLst>
                      <p:childTnLst>
                        <p:par>
                          <p:cTn id="612" fill="hold">
                            <p:stCondLst>
                              <p:cond delay="0"/>
                            </p:stCondLst>
                            <p:childTnLst>
                              <p:par>
                                <p:cTn id="6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5" dur="500"/>
                                        <p:tgtEl>
                                          <p:spTgt spid="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8" dur="500"/>
                                        <p:tgtEl>
                                          <p:spTgt spid="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1" dur="500"/>
                                        <p:tgtEl>
                                          <p:spTgt spid="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2" fill="hold">
                      <p:stCondLst>
                        <p:cond delay="indefinite"/>
                      </p:stCondLst>
                      <p:childTnLst>
                        <p:par>
                          <p:cTn id="623" fill="hold">
                            <p:stCondLst>
                              <p:cond delay="0"/>
                            </p:stCondLst>
                            <p:childTnLst>
                              <p:par>
                                <p:cTn id="62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6" dur="500"/>
                                        <p:tgtEl>
                                          <p:spTgt spid="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9" dur="500"/>
                                        <p:tgtEl>
                                          <p:spTgt spid="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2" dur="500"/>
                                        <p:tgtEl>
                                          <p:spTgt spid="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3" fill="hold">
                      <p:stCondLst>
                        <p:cond delay="indefinite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7" dur="500"/>
                                        <p:tgtEl>
                                          <p:spTgt spid="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0" dur="500"/>
                                        <p:tgtEl>
                                          <p:spTgt spid="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3" dur="500"/>
                                        <p:tgtEl>
                                          <p:spTgt spid="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6" dur="500"/>
                                        <p:tgtEl>
                                          <p:spTgt spid="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9" dur="500"/>
                                        <p:tgtEl>
                                          <p:spTgt spid="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2" dur="500"/>
                                        <p:tgtEl>
                                          <p:spTgt spid="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PRACTICE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Add &amp; Subtract — Exam Questions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0" name="Shape 39"/>
          <p:cNvSpPr/>
          <p:nvPr/>
        </p:nvSpPr>
        <p:spPr>
          <a:xfrm>
            <a:off x="567000" y="146304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1" name="Text 40"/>
          <p:cNvSpPr/>
          <p:nvPr/>
        </p:nvSpPr>
        <p:spPr>
          <a:xfrm>
            <a:off x="887040" y="146304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Write each as a single fraction in its simplest form. Show every line.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Shape 41"/>
          <p:cNvSpPr/>
          <p:nvPr/>
        </p:nvSpPr>
        <p:spPr>
          <a:xfrm>
            <a:off x="567000" y="23317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Shape 42"/>
          <p:cNvSpPr/>
          <p:nvPr/>
        </p:nvSpPr>
        <p:spPr>
          <a:xfrm>
            <a:off x="822960" y="24415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4" name="Text 43"/>
          <p:cNvSpPr/>
          <p:nvPr/>
        </p:nvSpPr>
        <p:spPr>
          <a:xfrm>
            <a:off x="822960" y="2441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Text 44"/>
          <p:cNvSpPr/>
          <p:nvPr/>
        </p:nvSpPr>
        <p:spPr>
          <a:xfrm>
            <a:off x="1417320" y="23317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6" name="Text 45"/>
          <p:cNvSpPr/>
          <p:nvPr/>
        </p:nvSpPr>
        <p:spPr>
          <a:xfrm>
            <a:off x="10607040" y="23317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Shape 46"/>
          <p:cNvSpPr/>
          <p:nvPr/>
        </p:nvSpPr>
        <p:spPr>
          <a:xfrm>
            <a:off x="567000" y="305424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Shape 47"/>
          <p:cNvSpPr/>
          <p:nvPr/>
        </p:nvSpPr>
        <p:spPr>
          <a:xfrm>
            <a:off x="822960" y="31636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9" name="Text 48"/>
          <p:cNvSpPr/>
          <p:nvPr/>
        </p:nvSpPr>
        <p:spPr>
          <a:xfrm>
            <a:off x="822960" y="3163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Text 49"/>
          <p:cNvSpPr/>
          <p:nvPr/>
        </p:nvSpPr>
        <p:spPr>
          <a:xfrm>
            <a:off x="1417320" y="305424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1" name="Text 50"/>
          <p:cNvSpPr/>
          <p:nvPr/>
        </p:nvSpPr>
        <p:spPr>
          <a:xfrm>
            <a:off x="10607040" y="305424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Shape 51"/>
          <p:cNvSpPr/>
          <p:nvPr/>
        </p:nvSpPr>
        <p:spPr>
          <a:xfrm>
            <a:off x="567000" y="377640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Shape 52"/>
          <p:cNvSpPr/>
          <p:nvPr/>
        </p:nvSpPr>
        <p:spPr>
          <a:xfrm>
            <a:off x="822960" y="388620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4" name="Text 53"/>
          <p:cNvSpPr/>
          <p:nvPr/>
        </p:nvSpPr>
        <p:spPr>
          <a:xfrm>
            <a:off x="822960" y="3886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Text 54"/>
          <p:cNvSpPr/>
          <p:nvPr/>
        </p:nvSpPr>
        <p:spPr>
          <a:xfrm>
            <a:off x="1417320" y="377640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6" name="Text 55"/>
          <p:cNvSpPr/>
          <p:nvPr/>
        </p:nvSpPr>
        <p:spPr>
          <a:xfrm>
            <a:off x="10607040" y="377640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[2]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Shape 56"/>
          <p:cNvSpPr/>
          <p:nvPr/>
        </p:nvSpPr>
        <p:spPr>
          <a:xfrm>
            <a:off x="567000" y="44989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8" name="Shape 57"/>
          <p:cNvSpPr/>
          <p:nvPr/>
        </p:nvSpPr>
        <p:spPr>
          <a:xfrm>
            <a:off x="822960" y="46087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9" name="Text 58"/>
          <p:cNvSpPr/>
          <p:nvPr/>
        </p:nvSpPr>
        <p:spPr>
          <a:xfrm>
            <a:off x="822960" y="4608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Text 59"/>
          <p:cNvSpPr/>
          <p:nvPr/>
        </p:nvSpPr>
        <p:spPr>
          <a:xfrm>
            <a:off x="1417320" y="44989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01" name="Text 60"/>
          <p:cNvSpPr/>
          <p:nvPr/>
        </p:nvSpPr>
        <p:spPr>
          <a:xfrm>
            <a:off x="10607040" y="44989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" name="Shape 61"/>
          <p:cNvSpPr/>
          <p:nvPr/>
        </p:nvSpPr>
        <p:spPr>
          <a:xfrm>
            <a:off x="567000" y="522108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Shape 62"/>
          <p:cNvSpPr/>
          <p:nvPr/>
        </p:nvSpPr>
        <p:spPr>
          <a:xfrm>
            <a:off x="822960" y="53308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4" name="Text 63"/>
          <p:cNvSpPr/>
          <p:nvPr/>
        </p:nvSpPr>
        <p:spPr>
          <a:xfrm>
            <a:off x="822960" y="5330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" name="Text 64"/>
          <p:cNvSpPr/>
          <p:nvPr/>
        </p:nvSpPr>
        <p:spPr>
          <a:xfrm>
            <a:off x="1417320" y="522108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06" name="Text 65"/>
          <p:cNvSpPr/>
          <p:nvPr/>
        </p:nvSpPr>
        <p:spPr>
          <a:xfrm>
            <a:off x="10607040" y="522108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Shape 66"/>
          <p:cNvSpPr/>
          <p:nvPr/>
        </p:nvSpPr>
        <p:spPr>
          <a:xfrm>
            <a:off x="567000" y="5989320"/>
            <a:ext cx="11063880" cy="45684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8" name="Text 67"/>
          <p:cNvSpPr/>
          <p:nvPr/>
        </p:nvSpPr>
        <p:spPr>
          <a:xfrm>
            <a:off x="822960" y="598932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0ac2b"/>
                </a:solidFill>
                <a:latin typeface="Calibri"/>
                <a:ea typeface="Calibri"/>
              </a:rPr>
              <a:t>Answers:  </a:t>
            </a:r>
            <a:r>
              <a:rPr b="0" lang="en-US" sz="1250" spc="-1" strike="noStrike">
                <a:solidFill>
                  <a:srgbClr val="edebdd"/>
                </a:solidFill>
                <a:latin typeface="Calibri"/>
                <a:ea typeface="Calibri"/>
              </a:rPr>
              <a:t>1) (5x+7)/[(x+3)(x−1)]   2) (x+10)/[(x−2)(x+1)]   3) (2x+1)/[x(x+1)]   4) (x²+2x+6)/[(x+2)(x−1)]   5) (8−x)/[(x+3)(x−3)]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9" name="q001.png" descr=""/>
          <p:cNvPicPr/>
          <p:nvPr/>
        </p:nvPicPr>
        <p:blipFill>
          <a:blip r:embed="rId1"/>
          <a:stretch/>
        </p:blipFill>
        <p:spPr>
          <a:xfrm>
            <a:off x="1417320" y="2450520"/>
            <a:ext cx="4000320" cy="365400"/>
          </a:xfrm>
          <a:prstGeom prst="rect">
            <a:avLst/>
          </a:prstGeom>
          <a:ln w="0">
            <a:noFill/>
          </a:ln>
        </p:spPr>
      </p:pic>
      <p:pic>
        <p:nvPicPr>
          <p:cNvPr id="1010" name="q002.png" descr=""/>
          <p:cNvPicPr/>
          <p:nvPr/>
        </p:nvPicPr>
        <p:blipFill>
          <a:blip r:embed="rId2"/>
          <a:stretch/>
        </p:blipFill>
        <p:spPr>
          <a:xfrm>
            <a:off x="1417320" y="3173040"/>
            <a:ext cx="4000320" cy="365400"/>
          </a:xfrm>
          <a:prstGeom prst="rect">
            <a:avLst/>
          </a:prstGeom>
          <a:ln w="0">
            <a:noFill/>
          </a:ln>
        </p:spPr>
      </p:pic>
      <p:pic>
        <p:nvPicPr>
          <p:cNvPr id="1011" name="q003.png" descr=""/>
          <p:cNvPicPr/>
          <p:nvPr/>
        </p:nvPicPr>
        <p:blipFill>
          <a:blip r:embed="rId3"/>
          <a:stretch/>
        </p:blipFill>
        <p:spPr>
          <a:xfrm>
            <a:off x="1417320" y="3895200"/>
            <a:ext cx="3610440" cy="365400"/>
          </a:xfrm>
          <a:prstGeom prst="rect">
            <a:avLst/>
          </a:prstGeom>
          <a:ln w="0">
            <a:noFill/>
          </a:ln>
        </p:spPr>
      </p:pic>
      <p:pic>
        <p:nvPicPr>
          <p:cNvPr id="1012" name="q004.png" descr=""/>
          <p:cNvPicPr/>
          <p:nvPr/>
        </p:nvPicPr>
        <p:blipFill>
          <a:blip r:embed="rId4"/>
          <a:stretch/>
        </p:blipFill>
        <p:spPr>
          <a:xfrm>
            <a:off x="1417320" y="4617720"/>
            <a:ext cx="4000320" cy="365400"/>
          </a:xfrm>
          <a:prstGeom prst="rect">
            <a:avLst/>
          </a:prstGeom>
          <a:ln w="0">
            <a:noFill/>
          </a:ln>
        </p:spPr>
      </p:pic>
      <p:pic>
        <p:nvPicPr>
          <p:cNvPr id="1013" name="q005.png" descr=""/>
          <p:cNvPicPr/>
          <p:nvPr/>
        </p:nvPicPr>
        <p:blipFill>
          <a:blip r:embed="rId5"/>
          <a:stretch/>
        </p:blipFill>
        <p:spPr>
          <a:xfrm>
            <a:off x="1417320" y="5340240"/>
            <a:ext cx="3861720" cy="365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53" dur="indefinite" restart="never" nodeType="tmRoot">
          <p:childTnLst>
            <p:seq>
              <p:cTn id="654" dur="indefinite" nodeType="mainSeq">
                <p:childTnLst>
                  <p:par>
                    <p:cTn id="655" fill="hold">
                      <p:stCondLst>
                        <p:cond delay="indefinite"/>
                      </p:stCondLst>
                      <p:childTnLst>
                        <p:par>
                          <p:cTn id="656" fill="hold">
                            <p:stCondLst>
                              <p:cond delay="0"/>
                            </p:stCondLst>
                            <p:childTnLst>
                              <p:par>
                                <p:cTn id="65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9" dur="500"/>
                                        <p:tgtEl>
                                          <p:spTgt spid="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2" dur="5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5" dur="5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8" dur="5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1" dur="500"/>
                                        <p:tgtEl>
                                          <p:spTgt spid="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2" fill="hold">
                      <p:stCondLst>
                        <p:cond delay="indefinite"/>
                      </p:stCondLst>
                      <p:childTnLst>
                        <p:par>
                          <p:cTn id="673" fill="hold">
                            <p:stCondLst>
                              <p:cond delay="0"/>
                            </p:stCondLst>
                            <p:childTnLst>
                              <p:par>
                                <p:cTn id="6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6" dur="500"/>
                                        <p:tgtEl>
                                          <p:spTgt spid="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9" dur="500"/>
                                        <p:tgtEl>
                                          <p:spTgt spid="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2" dur="500"/>
                                        <p:tgtEl>
                                          <p:spTgt spid="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5" dur="500"/>
                                        <p:tgtEl>
                                          <p:spTgt spid="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8" dur="500"/>
                                        <p:tgtEl>
                                          <p:spTgt spid="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9" fill="hold">
                      <p:stCondLst>
                        <p:cond delay="indefinite"/>
                      </p:stCondLst>
                      <p:childTnLst>
                        <p:par>
                          <p:cTn id="690" fill="hold">
                            <p:stCondLst>
                              <p:cond delay="0"/>
                            </p:stCondLst>
                            <p:childTnLst>
                              <p:par>
                                <p:cTn id="69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3" dur="500"/>
                                        <p:tgtEl>
                                          <p:spTgt spid="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6" dur="500"/>
                                        <p:tgtEl>
                                          <p:spTgt spid="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9" dur="500"/>
                                        <p:tgtEl>
                                          <p:spTgt spid="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2" dur="500"/>
                                        <p:tgtEl>
                                          <p:spTgt spid="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5" dur="500"/>
                                        <p:tgtEl>
                                          <p:spTgt spid="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6" fill="hold">
                      <p:stCondLst>
                        <p:cond delay="indefinite"/>
                      </p:stCondLst>
                      <p:childTnLst>
                        <p:par>
                          <p:cTn id="707" fill="hold">
                            <p:stCondLst>
                              <p:cond delay="0"/>
                            </p:stCondLst>
                            <p:childTnLst>
                              <p:par>
                                <p:cTn id="70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0" dur="500"/>
                                        <p:tgtEl>
                                          <p:spTgt spid="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3" dur="500"/>
                                        <p:tgtEl>
                                          <p:spTgt spid="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6" dur="500"/>
                                        <p:tgtEl>
                                          <p:spTgt spid="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9" dur="500"/>
                                        <p:tgtEl>
                                          <p:spTgt spid="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2" dur="500"/>
                                        <p:tgtEl>
                                          <p:spTgt spid="1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3" fill="hold">
                      <p:stCondLst>
                        <p:cond delay="indefinite"/>
                      </p:stCondLst>
                      <p:childTnLst>
                        <p:par>
                          <p:cTn id="724" fill="hold">
                            <p:stCondLst>
                              <p:cond delay="0"/>
                            </p:stCondLst>
                            <p:childTnLst>
                              <p:par>
                                <p:cTn id="7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7" dur="500"/>
                                        <p:tgtEl>
                                          <p:spTgt spid="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0" dur="500"/>
                                        <p:tgtEl>
                                          <p:spTgt spid="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3" dur="50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6" dur="500"/>
                                        <p:tgtEl>
                                          <p:spTgt spid="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9"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0" fill="hold">
                      <p:stCondLst>
                        <p:cond delay="indefinite"/>
                      </p:stCondLst>
                      <p:childTnLst>
                        <p:par>
                          <p:cTn id="741" fill="hold">
                            <p:stCondLst>
                              <p:cond delay="0"/>
                            </p:stCondLst>
                            <p:childTnLst>
                              <p:par>
                                <p:cTn id="74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4" dur="5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7"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PRACTICE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Add &amp; Subtract — More Past-Paper Questions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3" name="Shape 39"/>
          <p:cNvSpPr/>
          <p:nvPr/>
        </p:nvSpPr>
        <p:spPr>
          <a:xfrm>
            <a:off x="567000" y="146304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4" name="Text 40"/>
          <p:cNvSpPr/>
          <p:nvPr/>
        </p:nvSpPr>
        <p:spPr>
          <a:xfrm>
            <a:off x="887040" y="146304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Write each as a single fraction in its simplest form. Factorise the denominators first.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5" name="Shape 41"/>
          <p:cNvSpPr/>
          <p:nvPr/>
        </p:nvSpPr>
        <p:spPr>
          <a:xfrm>
            <a:off x="567000" y="23317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Shape 42"/>
          <p:cNvSpPr/>
          <p:nvPr/>
        </p:nvSpPr>
        <p:spPr>
          <a:xfrm>
            <a:off x="822960" y="24415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7" name="Text 43"/>
          <p:cNvSpPr/>
          <p:nvPr/>
        </p:nvSpPr>
        <p:spPr>
          <a:xfrm>
            <a:off x="822960" y="2441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" name="Text 44"/>
          <p:cNvSpPr/>
          <p:nvPr/>
        </p:nvSpPr>
        <p:spPr>
          <a:xfrm>
            <a:off x="1417320" y="23317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9" name="Text 45"/>
          <p:cNvSpPr/>
          <p:nvPr/>
        </p:nvSpPr>
        <p:spPr>
          <a:xfrm>
            <a:off x="10607040" y="23317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Shape 46"/>
          <p:cNvSpPr/>
          <p:nvPr/>
        </p:nvSpPr>
        <p:spPr>
          <a:xfrm>
            <a:off x="567000" y="305424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1" name="Shape 47"/>
          <p:cNvSpPr/>
          <p:nvPr/>
        </p:nvSpPr>
        <p:spPr>
          <a:xfrm>
            <a:off x="822960" y="31636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2" name="Text 48"/>
          <p:cNvSpPr/>
          <p:nvPr/>
        </p:nvSpPr>
        <p:spPr>
          <a:xfrm>
            <a:off x="822960" y="3163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Text 49"/>
          <p:cNvSpPr/>
          <p:nvPr/>
        </p:nvSpPr>
        <p:spPr>
          <a:xfrm>
            <a:off x="1417320" y="305424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4" name="Text 50"/>
          <p:cNvSpPr/>
          <p:nvPr/>
        </p:nvSpPr>
        <p:spPr>
          <a:xfrm>
            <a:off x="10607040" y="305424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Shape 51"/>
          <p:cNvSpPr/>
          <p:nvPr/>
        </p:nvSpPr>
        <p:spPr>
          <a:xfrm>
            <a:off x="567000" y="377640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" name="Shape 52"/>
          <p:cNvSpPr/>
          <p:nvPr/>
        </p:nvSpPr>
        <p:spPr>
          <a:xfrm>
            <a:off x="822960" y="388620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7" name="Text 53"/>
          <p:cNvSpPr/>
          <p:nvPr/>
        </p:nvSpPr>
        <p:spPr>
          <a:xfrm>
            <a:off x="822960" y="3886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Text 54"/>
          <p:cNvSpPr/>
          <p:nvPr/>
        </p:nvSpPr>
        <p:spPr>
          <a:xfrm>
            <a:off x="1417320" y="377640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9" name="Text 55"/>
          <p:cNvSpPr/>
          <p:nvPr/>
        </p:nvSpPr>
        <p:spPr>
          <a:xfrm>
            <a:off x="10607040" y="377640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[4]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0" name="Shape 56"/>
          <p:cNvSpPr/>
          <p:nvPr/>
        </p:nvSpPr>
        <p:spPr>
          <a:xfrm>
            <a:off x="567000" y="44989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1" name="Shape 57"/>
          <p:cNvSpPr/>
          <p:nvPr/>
        </p:nvSpPr>
        <p:spPr>
          <a:xfrm>
            <a:off x="822960" y="46087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2" name="Text 58"/>
          <p:cNvSpPr/>
          <p:nvPr/>
        </p:nvSpPr>
        <p:spPr>
          <a:xfrm>
            <a:off x="822960" y="4608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Text 59"/>
          <p:cNvSpPr/>
          <p:nvPr/>
        </p:nvSpPr>
        <p:spPr>
          <a:xfrm>
            <a:off x="1417320" y="44989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4" name="Text 60"/>
          <p:cNvSpPr/>
          <p:nvPr/>
        </p:nvSpPr>
        <p:spPr>
          <a:xfrm>
            <a:off x="10607040" y="44989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[4]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5" name="Shape 61"/>
          <p:cNvSpPr/>
          <p:nvPr/>
        </p:nvSpPr>
        <p:spPr>
          <a:xfrm>
            <a:off x="567000" y="522108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6" name="Shape 62"/>
          <p:cNvSpPr/>
          <p:nvPr/>
        </p:nvSpPr>
        <p:spPr>
          <a:xfrm>
            <a:off x="822960" y="53308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7" name="Text 63"/>
          <p:cNvSpPr/>
          <p:nvPr/>
        </p:nvSpPr>
        <p:spPr>
          <a:xfrm>
            <a:off x="822960" y="5330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Text 64"/>
          <p:cNvSpPr/>
          <p:nvPr/>
        </p:nvSpPr>
        <p:spPr>
          <a:xfrm>
            <a:off x="1417320" y="522108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9" name="Text 65"/>
          <p:cNvSpPr/>
          <p:nvPr/>
        </p:nvSpPr>
        <p:spPr>
          <a:xfrm>
            <a:off x="10607040" y="522108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[4]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" name="Shape 66"/>
          <p:cNvSpPr/>
          <p:nvPr/>
        </p:nvSpPr>
        <p:spPr>
          <a:xfrm>
            <a:off x="567000" y="5989320"/>
            <a:ext cx="11063880" cy="45684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1" name="Text 67"/>
          <p:cNvSpPr/>
          <p:nvPr/>
        </p:nvSpPr>
        <p:spPr>
          <a:xfrm>
            <a:off x="822960" y="598932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0ac2b"/>
                </a:solidFill>
                <a:latin typeface="Calibri"/>
                <a:ea typeface="Calibri"/>
              </a:rPr>
              <a:t>Answers:  1) (17−3x)/[15(x+2)]   2) (19x+35)/[x(x−2)(x+5)]   3) 12(x+8)/[(x−7)(x+3)(x+7)]   4) (4x−90)/[3x(x−9)(x+4)]   5) (8x−45)/[(x−10)(x−3)(x+10)]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2" name="q015.png" descr=""/>
          <p:cNvPicPr/>
          <p:nvPr/>
        </p:nvPicPr>
        <p:blipFill>
          <a:blip r:embed="rId1"/>
          <a:stretch/>
        </p:blipFill>
        <p:spPr>
          <a:xfrm>
            <a:off x="1417320" y="2450520"/>
            <a:ext cx="2264400" cy="365400"/>
          </a:xfrm>
          <a:prstGeom prst="rect">
            <a:avLst/>
          </a:prstGeom>
          <a:ln w="0">
            <a:noFill/>
          </a:ln>
        </p:spPr>
      </p:pic>
      <p:pic>
        <p:nvPicPr>
          <p:cNvPr id="1083" name="q016.png" descr=""/>
          <p:cNvPicPr/>
          <p:nvPr/>
        </p:nvPicPr>
        <p:blipFill>
          <a:blip r:embed="rId2"/>
          <a:stretch/>
        </p:blipFill>
        <p:spPr>
          <a:xfrm>
            <a:off x="1417320" y="3173040"/>
            <a:ext cx="2746800" cy="365400"/>
          </a:xfrm>
          <a:prstGeom prst="rect">
            <a:avLst/>
          </a:prstGeom>
          <a:ln w="0">
            <a:noFill/>
          </a:ln>
        </p:spPr>
      </p:pic>
      <p:pic>
        <p:nvPicPr>
          <p:cNvPr id="1084" name="q017.png" descr=""/>
          <p:cNvPicPr/>
          <p:nvPr/>
        </p:nvPicPr>
        <p:blipFill>
          <a:blip r:embed="rId3"/>
          <a:stretch/>
        </p:blipFill>
        <p:spPr>
          <a:xfrm>
            <a:off x="1417320" y="3895200"/>
            <a:ext cx="2584080" cy="365400"/>
          </a:xfrm>
          <a:prstGeom prst="rect">
            <a:avLst/>
          </a:prstGeom>
          <a:ln w="0">
            <a:noFill/>
          </a:ln>
        </p:spPr>
      </p:pic>
      <p:pic>
        <p:nvPicPr>
          <p:cNvPr id="1085" name="q018.png" descr=""/>
          <p:cNvPicPr/>
          <p:nvPr/>
        </p:nvPicPr>
        <p:blipFill>
          <a:blip r:embed="rId4"/>
          <a:stretch/>
        </p:blipFill>
        <p:spPr>
          <a:xfrm>
            <a:off x="1417320" y="4617720"/>
            <a:ext cx="2820600" cy="365400"/>
          </a:xfrm>
          <a:prstGeom prst="rect">
            <a:avLst/>
          </a:prstGeom>
          <a:ln w="0">
            <a:noFill/>
          </a:ln>
        </p:spPr>
      </p:pic>
      <p:pic>
        <p:nvPicPr>
          <p:cNvPr id="1086" name="q019.png" descr=""/>
          <p:cNvPicPr/>
          <p:nvPr/>
        </p:nvPicPr>
        <p:blipFill>
          <a:blip r:embed="rId5"/>
          <a:stretch/>
        </p:blipFill>
        <p:spPr>
          <a:xfrm>
            <a:off x="1417320" y="5340240"/>
            <a:ext cx="2592720" cy="365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48" dur="indefinite" restart="never" nodeType="tmRoot">
          <p:childTnLst>
            <p:seq>
              <p:cTn id="749" dur="indefinite" nodeType="mainSeq">
                <p:childTnLst>
                  <p:par>
                    <p:cTn id="750" fill="hold">
                      <p:stCondLst>
                        <p:cond delay="indefinite"/>
                      </p:stCondLst>
                      <p:childTnLst>
                        <p:par>
                          <p:cTn id="751" fill="hold">
                            <p:stCondLst>
                              <p:cond delay="0"/>
                            </p:stCondLst>
                            <p:childTnLst>
                              <p:par>
                                <p:cTn id="75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4" dur="5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7" dur="500"/>
                                        <p:tgtEl>
                                          <p:spTgt spid="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0" dur="5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3" dur="50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6" dur="500"/>
                                        <p:tgtEl>
                                          <p:spTgt spid="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7" fill="hold">
                      <p:stCondLst>
                        <p:cond delay="indefinite"/>
                      </p:stCondLst>
                      <p:childTnLst>
                        <p:par>
                          <p:cTn id="768" fill="hold">
                            <p:stCondLst>
                              <p:cond delay="0"/>
                            </p:stCondLst>
                            <p:childTnLst>
                              <p:par>
                                <p:cTn id="76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71" dur="500"/>
                                        <p:tgtEl>
                                          <p:spTgt spid="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74" dur="500"/>
                                        <p:tgtEl>
                                          <p:spTgt spid="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77" dur="5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80" dur="500"/>
                                        <p:tgtEl>
                                          <p:spTgt spid="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83" dur="5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4" fill="hold">
                      <p:stCondLst>
                        <p:cond delay="indefinite"/>
                      </p:stCondLst>
                      <p:childTnLst>
                        <p:par>
                          <p:cTn id="785" fill="hold">
                            <p:stCondLst>
                              <p:cond delay="0"/>
                            </p:stCondLst>
                            <p:childTnLst>
                              <p:par>
                                <p:cTn id="78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88" dur="500"/>
                                        <p:tgtEl>
                                          <p:spTgt spid="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1" dur="500"/>
                                        <p:tgtEl>
                                          <p:spTgt spid="1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4" dur="500"/>
                                        <p:tgtEl>
                                          <p:spTgt spid="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7" dur="500"/>
                                        <p:tgtEl>
                                          <p:spTgt spid="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0" dur="500"/>
                                        <p:tgtEl>
                                          <p:spTgt spid="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1" fill="hold">
                      <p:stCondLst>
                        <p:cond delay="indefinite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id="80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5" dur="5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8" dur="500"/>
                                        <p:tgtEl>
                                          <p:spTgt spid="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1" dur="5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4" dur="500"/>
                                        <p:tgtEl>
                                          <p:spTgt spid="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7" dur="500"/>
                                        <p:tgtEl>
                                          <p:spTgt spid="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8" fill="hold">
                      <p:stCondLst>
                        <p:cond delay="indefinite"/>
                      </p:stCondLst>
                      <p:childTnLst>
                        <p:par>
                          <p:cTn id="819" fill="hold">
                            <p:stCondLst>
                              <p:cond delay="0"/>
                            </p:stCondLst>
                            <p:childTnLst>
                              <p:par>
                                <p:cTn id="8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2" dur="500"/>
                                        <p:tgtEl>
                                          <p:spTgt spid="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5" dur="500"/>
                                        <p:tgtEl>
                                          <p:spTgt spid="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8" dur="500"/>
                                        <p:tgtEl>
                                          <p:spTgt spid="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1" dur="500"/>
                                        <p:tgtEl>
                                          <p:spTgt spid="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4" dur="500"/>
                                        <p:tgtEl>
                                          <p:spTgt spid="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5" fill="hold">
                      <p:stCondLst>
                        <p:cond delay="indefinite"/>
                      </p:stCondLst>
                      <p:childTnLst>
                        <p:par>
                          <p:cTn id="836" fill="hold">
                            <p:stCondLst>
                              <p:cond delay="0"/>
                            </p:stCondLst>
                            <p:childTnLst>
                              <p:par>
                                <p:cTn id="83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9" dur="500"/>
                                        <p:tgtEl>
                                          <p:spTgt spid="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2" dur="500"/>
                                        <p:tgtEl>
                                          <p:spTgt spid="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PRACTICE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Add &amp; Subtract — Harder Past-Paper Questions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6" name="Shape 39"/>
          <p:cNvSpPr/>
          <p:nvPr/>
        </p:nvSpPr>
        <p:spPr>
          <a:xfrm>
            <a:off x="567000" y="146304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7" name="Text 40"/>
          <p:cNvSpPr/>
          <p:nvPr/>
        </p:nvSpPr>
        <p:spPr>
          <a:xfrm>
            <a:off x="887040" y="146304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Factorise every denominator first, then find the common denominator.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Shape 41"/>
          <p:cNvSpPr/>
          <p:nvPr/>
        </p:nvSpPr>
        <p:spPr>
          <a:xfrm>
            <a:off x="567000" y="23317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9" name="Shape 42"/>
          <p:cNvSpPr/>
          <p:nvPr/>
        </p:nvSpPr>
        <p:spPr>
          <a:xfrm>
            <a:off x="822960" y="24415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0" name="Text 43"/>
          <p:cNvSpPr/>
          <p:nvPr/>
        </p:nvSpPr>
        <p:spPr>
          <a:xfrm>
            <a:off x="822960" y="2441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1" name="Text 44"/>
          <p:cNvSpPr/>
          <p:nvPr/>
        </p:nvSpPr>
        <p:spPr>
          <a:xfrm>
            <a:off x="1417320" y="23317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2" name="Text 45"/>
          <p:cNvSpPr/>
          <p:nvPr/>
        </p:nvSpPr>
        <p:spPr>
          <a:xfrm>
            <a:off x="10607040" y="23317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[4]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3" name="Shape 46"/>
          <p:cNvSpPr/>
          <p:nvPr/>
        </p:nvSpPr>
        <p:spPr>
          <a:xfrm>
            <a:off x="567000" y="305424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Shape 47"/>
          <p:cNvSpPr/>
          <p:nvPr/>
        </p:nvSpPr>
        <p:spPr>
          <a:xfrm>
            <a:off x="822960" y="31636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5" name="Text 48"/>
          <p:cNvSpPr/>
          <p:nvPr/>
        </p:nvSpPr>
        <p:spPr>
          <a:xfrm>
            <a:off x="822960" y="3163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6" name="Text 49"/>
          <p:cNvSpPr/>
          <p:nvPr/>
        </p:nvSpPr>
        <p:spPr>
          <a:xfrm>
            <a:off x="1417320" y="305424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7" name="Text 50"/>
          <p:cNvSpPr/>
          <p:nvPr/>
        </p:nvSpPr>
        <p:spPr>
          <a:xfrm>
            <a:off x="10607040" y="305424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[4]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8" name="Shape 51"/>
          <p:cNvSpPr/>
          <p:nvPr/>
        </p:nvSpPr>
        <p:spPr>
          <a:xfrm>
            <a:off x="567000" y="377640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9" name="Shape 52"/>
          <p:cNvSpPr/>
          <p:nvPr/>
        </p:nvSpPr>
        <p:spPr>
          <a:xfrm>
            <a:off x="822960" y="388620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0" name="Text 53"/>
          <p:cNvSpPr/>
          <p:nvPr/>
        </p:nvSpPr>
        <p:spPr>
          <a:xfrm>
            <a:off x="822960" y="3886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" name="Text 54"/>
          <p:cNvSpPr/>
          <p:nvPr/>
        </p:nvSpPr>
        <p:spPr>
          <a:xfrm>
            <a:off x="1417320" y="377640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2" name="Text 55"/>
          <p:cNvSpPr/>
          <p:nvPr/>
        </p:nvSpPr>
        <p:spPr>
          <a:xfrm>
            <a:off x="10607040" y="377640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[4]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3" name="Shape 56"/>
          <p:cNvSpPr/>
          <p:nvPr/>
        </p:nvSpPr>
        <p:spPr>
          <a:xfrm>
            <a:off x="567000" y="44989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4" name="Shape 57"/>
          <p:cNvSpPr/>
          <p:nvPr/>
        </p:nvSpPr>
        <p:spPr>
          <a:xfrm>
            <a:off x="822960" y="46087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5" name="Text 58"/>
          <p:cNvSpPr/>
          <p:nvPr/>
        </p:nvSpPr>
        <p:spPr>
          <a:xfrm>
            <a:off x="822960" y="4608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6" name="Text 59"/>
          <p:cNvSpPr/>
          <p:nvPr/>
        </p:nvSpPr>
        <p:spPr>
          <a:xfrm>
            <a:off x="1417320" y="44989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7" name="Text 60"/>
          <p:cNvSpPr/>
          <p:nvPr/>
        </p:nvSpPr>
        <p:spPr>
          <a:xfrm>
            <a:off x="10607040" y="44989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8" name="Shape 66"/>
          <p:cNvSpPr/>
          <p:nvPr/>
        </p:nvSpPr>
        <p:spPr>
          <a:xfrm>
            <a:off x="567000" y="5989320"/>
            <a:ext cx="11063880" cy="45684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9" name="Text 67"/>
          <p:cNvSpPr/>
          <p:nvPr/>
        </p:nvSpPr>
        <p:spPr>
          <a:xfrm>
            <a:off x="822960" y="598932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0ac2b"/>
                </a:solidFill>
                <a:latin typeface="Calibri"/>
                <a:ea typeface="Calibri"/>
              </a:rPr>
              <a:t>Answers:  1) (x²−3x−6)/[(x−3)(x+3)²]   2) x(x−7)/[(x−1)(x+2)(x+3)]   3) (7−3x)/[2(3x−5)(3x+5)]   4) (3x+16)/(4x)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0" name="q020.png" descr=""/>
          <p:cNvPicPr/>
          <p:nvPr/>
        </p:nvPicPr>
        <p:blipFill>
          <a:blip r:embed="rId1"/>
          <a:stretch/>
        </p:blipFill>
        <p:spPr>
          <a:xfrm>
            <a:off x="1417320" y="2450520"/>
            <a:ext cx="2337840" cy="365400"/>
          </a:xfrm>
          <a:prstGeom prst="rect">
            <a:avLst/>
          </a:prstGeom>
          <a:ln w="0">
            <a:noFill/>
          </a:ln>
        </p:spPr>
      </p:pic>
      <p:pic>
        <p:nvPicPr>
          <p:cNvPr id="1151" name="q021.png" descr=""/>
          <p:cNvPicPr/>
          <p:nvPr/>
        </p:nvPicPr>
        <p:blipFill>
          <a:blip r:embed="rId2"/>
          <a:stretch/>
        </p:blipFill>
        <p:spPr>
          <a:xfrm>
            <a:off x="1417320" y="3173040"/>
            <a:ext cx="2715840" cy="365400"/>
          </a:xfrm>
          <a:prstGeom prst="rect">
            <a:avLst/>
          </a:prstGeom>
          <a:ln w="0">
            <a:noFill/>
          </a:ln>
        </p:spPr>
      </p:pic>
      <p:pic>
        <p:nvPicPr>
          <p:cNvPr id="1152" name="q022.png" descr=""/>
          <p:cNvPicPr/>
          <p:nvPr/>
        </p:nvPicPr>
        <p:blipFill>
          <a:blip r:embed="rId3"/>
          <a:stretch/>
        </p:blipFill>
        <p:spPr>
          <a:xfrm>
            <a:off x="1417320" y="3895200"/>
            <a:ext cx="2386800" cy="365400"/>
          </a:xfrm>
          <a:prstGeom prst="rect">
            <a:avLst/>
          </a:prstGeom>
          <a:ln w="0">
            <a:noFill/>
          </a:ln>
        </p:spPr>
      </p:pic>
      <p:pic>
        <p:nvPicPr>
          <p:cNvPr id="1153" name="q023.png" descr=""/>
          <p:cNvPicPr/>
          <p:nvPr/>
        </p:nvPicPr>
        <p:blipFill>
          <a:blip r:embed="rId4"/>
          <a:stretch/>
        </p:blipFill>
        <p:spPr>
          <a:xfrm>
            <a:off x="1417320" y="4617720"/>
            <a:ext cx="2173680" cy="365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9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0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1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2" name="Text 38"/>
          <p:cNvSpPr/>
          <p:nvPr/>
        </p:nvSpPr>
        <p:spPr>
          <a:xfrm>
            <a:off x="777240" y="169164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e0ac2b"/>
                </a:solidFill>
                <a:latin typeface="Cambria"/>
                <a:ea typeface="Cambria"/>
              </a:rPr>
              <a:t>Multiplying &amp; Dividing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3" name="Text 39"/>
          <p:cNvSpPr/>
          <p:nvPr/>
        </p:nvSpPr>
        <p:spPr>
          <a:xfrm>
            <a:off x="804600" y="269748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Factorise everything, then cancel. To divide, flip and multiply.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4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5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6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Factorise each numerator and denominator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7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8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9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Multiply: tops × tops, bottoms × bottoms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0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1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2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Divide: keep, flip the 2nd, multiply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3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4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5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Cancel common factors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MULTIPLYING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Multiplying Algebraic Fractions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5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6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7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Key idea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8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No common denominator needed for ×.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Factorise first so you can cancel.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Multiply numerators together and denominators together.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9" name="Shape 43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0" name="Text 44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1" name="Text 45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2" name="Shape 46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3" name="Text 47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4" name="Text 48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Factorise: x²−4 = (x−2)(x+2)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5" name="Shape 49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6" name="Text 50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7" name="Text 51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8" name="Shape 52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9" name="Text 53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0" name="Text 54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1" name="Shape 55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2" name="Text 56"/>
          <p:cNvSpPr/>
          <p:nvPr/>
        </p:nvSpPr>
        <p:spPr>
          <a:xfrm>
            <a:off x="3900960" y="5074920"/>
            <a:ext cx="2998800" cy="11426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3" name="Text 57"/>
          <p:cNvSpPr/>
          <p:nvPr/>
        </p:nvSpPr>
        <p:spPr>
          <a:xfrm>
            <a:off x="6882120" y="5074920"/>
            <a:ext cx="292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=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4" name="Text 58"/>
          <p:cNvSpPr/>
          <p:nvPr/>
        </p:nvSpPr>
        <p:spPr>
          <a:xfrm>
            <a:off x="7225200" y="5235120"/>
            <a:ext cx="1185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x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5" name="Shape 59"/>
          <p:cNvSpPr/>
          <p:nvPr/>
        </p:nvSpPr>
        <p:spPr>
          <a:xfrm>
            <a:off x="7339320" y="5646240"/>
            <a:ext cx="957600" cy="360"/>
          </a:xfrm>
          <a:prstGeom prst="line">
            <a:avLst/>
          </a:prstGeom>
          <a:ln w="19050">
            <a:solidFill>
              <a:srgbClr val="e0ac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6" name="Text 60"/>
          <p:cNvSpPr/>
          <p:nvPr/>
        </p:nvSpPr>
        <p:spPr>
          <a:xfrm>
            <a:off x="7225200" y="5682960"/>
            <a:ext cx="1185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x − 2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43" dur="indefinite" restart="never" nodeType="tmRoot">
          <p:childTnLst>
            <p:seq>
              <p:cTn id="844" dur="indefinite" nodeType="mainSeq">
                <p:childTnLst>
                  <p:par>
                    <p:cTn id="845" fill="hold">
                      <p:stCondLst>
                        <p:cond delay="indefinite"/>
                      </p:stCondLst>
                      <p:childTnLst>
                        <p:par>
                          <p:cTn id="846" fill="hold">
                            <p:stCondLst>
                              <p:cond delay="0"/>
                            </p:stCondLst>
                            <p:childTnLst>
                              <p:par>
                                <p:cTn id="8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9" dur="500"/>
                                        <p:tgtEl>
                                          <p:spTgt spid="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2" dur="500"/>
                                        <p:tgtEl>
                                          <p:spTgt spid="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5" dur="500"/>
                                        <p:tgtEl>
                                          <p:spTgt spid="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6" fill="hold">
                      <p:stCondLst>
                        <p:cond delay="indefinite"/>
                      </p:stCondLst>
                      <p:childTnLst>
                        <p:par>
                          <p:cTn id="857" fill="hold">
                            <p:stCondLst>
                              <p:cond delay="0"/>
                            </p:stCondLst>
                            <p:childTnLst>
                              <p:par>
                                <p:cTn id="85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0" dur="500"/>
                                        <p:tgtEl>
                                          <p:spTgt spid="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3" dur="500"/>
                                        <p:tgtEl>
                                          <p:spTgt spid="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6" dur="500"/>
                                        <p:tgtEl>
                                          <p:spTgt spid="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7" fill="hold">
                      <p:stCondLst>
                        <p:cond delay="indefinite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1" dur="500"/>
                                        <p:tgtEl>
                                          <p:spTgt spid="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4" dur="500"/>
                                        <p:tgtEl>
                                          <p:spTgt spid="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7" dur="500"/>
                                        <p:tgtEl>
                                          <p:spTgt spid="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8" fill="hold">
                      <p:stCondLst>
                        <p:cond delay="indefinite"/>
                      </p:stCondLst>
                      <p:childTnLst>
                        <p:par>
                          <p:cTn id="879" fill="hold">
                            <p:stCondLst>
                              <p:cond delay="0"/>
                            </p:stCondLst>
                            <p:childTnLst>
                              <p:par>
                                <p:cTn id="88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2" dur="500"/>
                                        <p:tgtEl>
                                          <p:spTgt spid="1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5" dur="500"/>
                                        <p:tgtEl>
                                          <p:spTgt spid="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8" dur="500"/>
                                        <p:tgtEl>
                                          <p:spTgt spid="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9" fill="hold">
                      <p:stCondLst>
                        <p:cond delay="indefinite"/>
                      </p:stCondLst>
                      <p:childTnLst>
                        <p:par>
                          <p:cTn id="890" fill="hold">
                            <p:stCondLst>
                              <p:cond delay="0"/>
                            </p:stCondLst>
                            <p:childTnLst>
                              <p:par>
                                <p:cTn id="89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93" dur="500"/>
                                        <p:tgtEl>
                                          <p:spTgt spid="1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96" dur="500"/>
                                        <p:tgtEl>
                                          <p:spTgt spid="1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99" dur="500"/>
                                        <p:tgtEl>
                                          <p:spTgt spid="1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2" dur="500"/>
                                        <p:tgtEl>
                                          <p:spTgt spid="1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5" dur="500"/>
                                        <p:tgtEl>
                                          <p:spTgt spid="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8" dur="500"/>
                                        <p:tgtEl>
                                          <p:spTgt spid="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DIVIDING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Dividing Algebraic Fractions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6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7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8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Keep – Flip – Multiply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9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Dividing = multiplying by the reciprocal.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Only the second fraction flips.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Then factorise and cancel as usual.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0" name="Shape 43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1" name="Text 44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2" name="Text 45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3" name="Shape 46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4" name="Text 47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5" name="Text 48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6" name="Shape 49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7" name="Text 50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8" name="Text 51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Factorise: x²−1 = (x+1)(x−1)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9" name="Shape 52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0" name="Text 53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1" name="Text 54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2" name="Shape 55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3" name="Text 56"/>
          <p:cNvSpPr/>
          <p:nvPr/>
        </p:nvSpPr>
        <p:spPr>
          <a:xfrm>
            <a:off x="4063320" y="5074920"/>
            <a:ext cx="2745360" cy="11426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4" name="Text 57"/>
          <p:cNvSpPr/>
          <p:nvPr/>
        </p:nvSpPr>
        <p:spPr>
          <a:xfrm>
            <a:off x="6790680" y="5074920"/>
            <a:ext cx="292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=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5" name="Text 58"/>
          <p:cNvSpPr/>
          <p:nvPr/>
        </p:nvSpPr>
        <p:spPr>
          <a:xfrm>
            <a:off x="7134120" y="5235120"/>
            <a:ext cx="1114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x − 1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6" name="Shape 59"/>
          <p:cNvSpPr/>
          <p:nvPr/>
        </p:nvSpPr>
        <p:spPr>
          <a:xfrm>
            <a:off x="7248240" y="5646240"/>
            <a:ext cx="886320" cy="360"/>
          </a:xfrm>
          <a:prstGeom prst="line">
            <a:avLst/>
          </a:prstGeom>
          <a:ln w="19050">
            <a:solidFill>
              <a:srgbClr val="e0ac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7" name="Text 60"/>
          <p:cNvSpPr/>
          <p:nvPr/>
        </p:nvSpPr>
        <p:spPr>
          <a:xfrm>
            <a:off x="7134120" y="5682960"/>
            <a:ext cx="1114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2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09" dur="indefinite" restart="never" nodeType="tmRoot">
          <p:childTnLst>
            <p:seq>
              <p:cTn id="910" dur="indefinite" nodeType="mainSeq">
                <p:childTnLst>
                  <p:par>
                    <p:cTn id="911" fill="hold">
                      <p:stCondLst>
                        <p:cond delay="indefinite"/>
                      </p:stCondLst>
                      <p:childTnLst>
                        <p:par>
                          <p:cTn id="912" fill="hold">
                            <p:stCondLst>
                              <p:cond delay="0"/>
                            </p:stCondLst>
                            <p:childTnLst>
                              <p:par>
                                <p:cTn id="9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15" dur="500"/>
                                        <p:tgtEl>
                                          <p:spTgt spid="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18" dur="500"/>
                                        <p:tgtEl>
                                          <p:spTgt spid="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21" dur="500"/>
                                        <p:tgtEl>
                                          <p:spTgt spid="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2" fill="hold">
                      <p:stCondLst>
                        <p:cond delay="indefinite"/>
                      </p:stCondLst>
                      <p:childTnLst>
                        <p:par>
                          <p:cTn id="923" fill="hold">
                            <p:stCondLst>
                              <p:cond delay="0"/>
                            </p:stCondLst>
                            <p:childTnLst>
                              <p:par>
                                <p:cTn id="92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26" dur="500"/>
                                        <p:tgtEl>
                                          <p:spTgt spid="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29" dur="500"/>
                                        <p:tgtEl>
                                          <p:spTgt spid="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32" dur="500"/>
                                        <p:tgtEl>
                                          <p:spTgt spid="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3" fill="hold">
                      <p:stCondLst>
                        <p:cond delay="indefinite"/>
                      </p:stCondLst>
                      <p:childTnLst>
                        <p:par>
                          <p:cTn id="934" fill="hold">
                            <p:stCondLst>
                              <p:cond delay="0"/>
                            </p:stCondLst>
                            <p:childTnLst>
                              <p:par>
                                <p:cTn id="93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37" dur="500"/>
                                        <p:tgtEl>
                                          <p:spTgt spid="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40" dur="500"/>
                                        <p:tgtEl>
                                          <p:spTgt spid="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43" dur="500"/>
                                        <p:tgtEl>
                                          <p:spTgt spid="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4" fill="hold">
                      <p:stCondLst>
                        <p:cond delay="indefinite"/>
                      </p:stCondLst>
                      <p:childTnLst>
                        <p:par>
                          <p:cTn id="945" fill="hold">
                            <p:stCondLst>
                              <p:cond delay="0"/>
                            </p:stCondLst>
                            <p:childTnLst>
                              <p:par>
                                <p:cTn id="94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48" dur="500"/>
                                        <p:tgtEl>
                                          <p:spTgt spid="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51" dur="500"/>
                                        <p:tgtEl>
                                          <p:spTgt spid="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54" dur="500"/>
                                        <p:tgtEl>
                                          <p:spTgt spid="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5" fill="hold">
                      <p:stCondLst>
                        <p:cond delay="indefinite"/>
                      </p:stCondLst>
                      <p:childTnLst>
                        <p:par>
                          <p:cTn id="956" fill="hold">
                            <p:stCondLst>
                              <p:cond delay="0"/>
                            </p:stCondLst>
                            <p:childTnLst>
                              <p:par>
                                <p:cTn id="95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59" dur="500"/>
                                        <p:tgtEl>
                                          <p:spTgt spid="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62" dur="500"/>
                                        <p:tgtEl>
                                          <p:spTgt spid="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65" dur="500"/>
                                        <p:tgtEl>
                                          <p:spTgt spid="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68" dur="500"/>
                                        <p:tgtEl>
                                          <p:spTgt spid="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71" dur="500"/>
                                        <p:tgtEl>
                                          <p:spTgt spid="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74" dur="500"/>
                                        <p:tgtEl>
                                          <p:spTgt spid="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MULTIPLY &amp; DIVIDE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Factorise, then Cancel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7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8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9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Key idea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0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Factorise every quadratic before cancelling.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Cancel factors that appear on top and bottom.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Never cancel single terms across a + or − sign.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1" name="Shape 43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2" name="Text 44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3" name="Text 45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4" name="Shape 46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5" name="Text 47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6" name="Text 48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7" name="Shape 49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8" name="Text 50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9" name="Text 51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0" name="Shape 52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1" name="Text 53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2" name="Text 54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3" name="Shape 55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4" name="Text 56"/>
          <p:cNvSpPr/>
          <p:nvPr/>
        </p:nvSpPr>
        <p:spPr>
          <a:xfrm>
            <a:off x="3451320" y="5074920"/>
            <a:ext cx="3898080" cy="114264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5" name="Text 57"/>
          <p:cNvSpPr/>
          <p:nvPr/>
        </p:nvSpPr>
        <p:spPr>
          <a:xfrm>
            <a:off x="7331760" y="5074920"/>
            <a:ext cx="2926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=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6" name="Text 58"/>
          <p:cNvSpPr/>
          <p:nvPr/>
        </p:nvSpPr>
        <p:spPr>
          <a:xfrm>
            <a:off x="7674840" y="5235120"/>
            <a:ext cx="1185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x + 3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7" name="Shape 59"/>
          <p:cNvSpPr/>
          <p:nvPr/>
        </p:nvSpPr>
        <p:spPr>
          <a:xfrm>
            <a:off x="7788960" y="5646240"/>
            <a:ext cx="957600" cy="360"/>
          </a:xfrm>
          <a:prstGeom prst="line">
            <a:avLst/>
          </a:prstGeom>
          <a:ln w="19050">
            <a:solidFill>
              <a:srgbClr val="e0ac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8" name="Text 60"/>
          <p:cNvSpPr/>
          <p:nvPr/>
        </p:nvSpPr>
        <p:spPr>
          <a:xfrm>
            <a:off x="7674840" y="5682960"/>
            <a:ext cx="1185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x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75" dur="indefinite" restart="never" nodeType="tmRoot">
          <p:childTnLst>
            <p:seq>
              <p:cTn id="976" dur="indefinite" nodeType="mainSeq">
                <p:childTnLst>
                  <p:par>
                    <p:cTn id="977" fill="hold">
                      <p:stCondLst>
                        <p:cond delay="indefinite"/>
                      </p:stCondLst>
                      <p:childTnLst>
                        <p:par>
                          <p:cTn id="978" fill="hold">
                            <p:stCondLst>
                              <p:cond delay="0"/>
                            </p:stCondLst>
                            <p:childTnLst>
                              <p:par>
                                <p:cTn id="9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81" dur="500"/>
                                        <p:tgtEl>
                                          <p:spTgt spid="1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84" dur="500"/>
                                        <p:tgtEl>
                                          <p:spTgt spid="1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87" dur="500"/>
                                        <p:tgtEl>
                                          <p:spTgt spid="1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8" fill="hold">
                      <p:stCondLst>
                        <p:cond delay="indefinite"/>
                      </p:stCondLst>
                      <p:childTnLst>
                        <p:par>
                          <p:cTn id="989" fill="hold">
                            <p:stCondLst>
                              <p:cond delay="0"/>
                            </p:stCondLst>
                            <p:childTnLst>
                              <p:par>
                                <p:cTn id="99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92" dur="500"/>
                                        <p:tgtEl>
                                          <p:spTgt spid="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95" dur="500"/>
                                        <p:tgtEl>
                                          <p:spTgt spid="1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98" dur="500"/>
                                        <p:tgtEl>
                                          <p:spTgt spid="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9" fill="hold">
                      <p:stCondLst>
                        <p:cond delay="indefinite"/>
                      </p:stCondLst>
                      <p:childTnLst>
                        <p:par>
                          <p:cTn id="1000" fill="hold">
                            <p:stCondLst>
                              <p:cond delay="0"/>
                            </p:stCondLst>
                            <p:childTnLst>
                              <p:par>
                                <p:cTn id="100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3" dur="500"/>
                                        <p:tgtEl>
                                          <p:spTgt spid="1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6" dur="500"/>
                                        <p:tgtEl>
                                          <p:spTgt spid="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9" dur="500"/>
                                        <p:tgtEl>
                                          <p:spTgt spid="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0" fill="hold">
                      <p:stCondLst>
                        <p:cond delay="indefinite"/>
                      </p:stCondLst>
                      <p:childTnLst>
                        <p:par>
                          <p:cTn id="1011" fill="hold">
                            <p:stCondLst>
                              <p:cond delay="0"/>
                            </p:stCondLst>
                            <p:childTnLst>
                              <p:par>
                                <p:cTn id="101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14" dur="500"/>
                                        <p:tgtEl>
                                          <p:spTgt spid="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17" dur="500"/>
                                        <p:tgtEl>
                                          <p:spTgt spid="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20" dur="500"/>
                                        <p:tgtEl>
                                          <p:spTgt spid="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1" fill="hold">
                      <p:stCondLst>
                        <p:cond delay="indefinite"/>
                      </p:stCondLst>
                      <p:childTnLst>
                        <p:par>
                          <p:cTn id="1022" fill="hold">
                            <p:stCondLst>
                              <p:cond delay="0"/>
                            </p:stCondLst>
                            <p:childTnLst>
                              <p:par>
                                <p:cTn id="102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25" dur="500"/>
                                        <p:tgtEl>
                                          <p:spTgt spid="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28" dur="500"/>
                                        <p:tgtEl>
                                          <p:spTgt spid="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1" dur="500"/>
                                        <p:tgtEl>
                                          <p:spTgt spid="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4" dur="500"/>
                                        <p:tgtEl>
                                          <p:spTgt spid="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7" dur="500"/>
                                        <p:tgtEl>
                                          <p:spTgt spid="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40" dur="500"/>
                                        <p:tgtEl>
                                          <p:spTgt spid="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PRACTICE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Multiply, Divide &amp; Simplify — Exam Questions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8" name="Shape 39"/>
          <p:cNvSpPr/>
          <p:nvPr/>
        </p:nvSpPr>
        <p:spPr>
          <a:xfrm>
            <a:off x="567000" y="146304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9" name="Text 40"/>
          <p:cNvSpPr/>
          <p:nvPr/>
        </p:nvSpPr>
        <p:spPr>
          <a:xfrm>
            <a:off x="887040" y="146304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Simplify each expression fully. Factorise first, then cancel.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0" name="Shape 41"/>
          <p:cNvSpPr/>
          <p:nvPr/>
        </p:nvSpPr>
        <p:spPr>
          <a:xfrm>
            <a:off x="567000" y="23317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1" name="Shape 42"/>
          <p:cNvSpPr/>
          <p:nvPr/>
        </p:nvSpPr>
        <p:spPr>
          <a:xfrm>
            <a:off x="822960" y="24415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2" name="Text 43"/>
          <p:cNvSpPr/>
          <p:nvPr/>
        </p:nvSpPr>
        <p:spPr>
          <a:xfrm>
            <a:off x="822960" y="2441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3" name="Text 44"/>
          <p:cNvSpPr/>
          <p:nvPr/>
        </p:nvSpPr>
        <p:spPr>
          <a:xfrm>
            <a:off x="1417320" y="23317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34" name="Text 45"/>
          <p:cNvSpPr/>
          <p:nvPr/>
        </p:nvSpPr>
        <p:spPr>
          <a:xfrm>
            <a:off x="10607040" y="23317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5" name="Shape 46"/>
          <p:cNvSpPr/>
          <p:nvPr/>
        </p:nvSpPr>
        <p:spPr>
          <a:xfrm>
            <a:off x="567000" y="305424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6" name="Shape 47"/>
          <p:cNvSpPr/>
          <p:nvPr/>
        </p:nvSpPr>
        <p:spPr>
          <a:xfrm>
            <a:off x="822960" y="31636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7" name="Text 48"/>
          <p:cNvSpPr/>
          <p:nvPr/>
        </p:nvSpPr>
        <p:spPr>
          <a:xfrm>
            <a:off x="822960" y="3163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8" name="Text 49"/>
          <p:cNvSpPr/>
          <p:nvPr/>
        </p:nvSpPr>
        <p:spPr>
          <a:xfrm>
            <a:off x="1417320" y="305424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39" name="Text 50"/>
          <p:cNvSpPr/>
          <p:nvPr/>
        </p:nvSpPr>
        <p:spPr>
          <a:xfrm>
            <a:off x="10607040" y="305424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0" name="Shape 51"/>
          <p:cNvSpPr/>
          <p:nvPr/>
        </p:nvSpPr>
        <p:spPr>
          <a:xfrm>
            <a:off x="567000" y="377640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1" name="Shape 52"/>
          <p:cNvSpPr/>
          <p:nvPr/>
        </p:nvSpPr>
        <p:spPr>
          <a:xfrm>
            <a:off x="822960" y="388620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2" name="Text 53"/>
          <p:cNvSpPr/>
          <p:nvPr/>
        </p:nvSpPr>
        <p:spPr>
          <a:xfrm>
            <a:off x="822960" y="3886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3" name="Text 54"/>
          <p:cNvSpPr/>
          <p:nvPr/>
        </p:nvSpPr>
        <p:spPr>
          <a:xfrm>
            <a:off x="1417320" y="377640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44" name="Text 55"/>
          <p:cNvSpPr/>
          <p:nvPr/>
        </p:nvSpPr>
        <p:spPr>
          <a:xfrm>
            <a:off x="10607040" y="377640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5" name="Shape 56"/>
          <p:cNvSpPr/>
          <p:nvPr/>
        </p:nvSpPr>
        <p:spPr>
          <a:xfrm>
            <a:off x="567000" y="44989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6" name="Shape 57"/>
          <p:cNvSpPr/>
          <p:nvPr/>
        </p:nvSpPr>
        <p:spPr>
          <a:xfrm>
            <a:off x="822960" y="46087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7" name="Text 58"/>
          <p:cNvSpPr/>
          <p:nvPr/>
        </p:nvSpPr>
        <p:spPr>
          <a:xfrm>
            <a:off x="822960" y="4608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8" name="Text 59"/>
          <p:cNvSpPr/>
          <p:nvPr/>
        </p:nvSpPr>
        <p:spPr>
          <a:xfrm>
            <a:off x="1417320" y="44989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49" name="Text 60"/>
          <p:cNvSpPr/>
          <p:nvPr/>
        </p:nvSpPr>
        <p:spPr>
          <a:xfrm>
            <a:off x="10607040" y="44989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0" name="Shape 61"/>
          <p:cNvSpPr/>
          <p:nvPr/>
        </p:nvSpPr>
        <p:spPr>
          <a:xfrm>
            <a:off x="567000" y="5266800"/>
            <a:ext cx="11063880" cy="45684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1" name="Text 62"/>
          <p:cNvSpPr/>
          <p:nvPr/>
        </p:nvSpPr>
        <p:spPr>
          <a:xfrm>
            <a:off x="822960" y="526680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0ac2b"/>
                </a:solidFill>
                <a:latin typeface="Calibri"/>
                <a:ea typeface="Calibri"/>
              </a:rPr>
              <a:t>Answers:  </a:t>
            </a:r>
            <a:r>
              <a:rPr b="0" lang="en-US" sz="1250" spc="-1" strike="noStrike">
                <a:solidFill>
                  <a:srgbClr val="edebdd"/>
                </a:solidFill>
                <a:latin typeface="Calibri"/>
                <a:ea typeface="Calibri"/>
              </a:rPr>
              <a:t>1) 1/2     2) (x+3)/x     3) (x−2)/x     4) (2x−1)/(x−1)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2" name="q006.png" descr=""/>
          <p:cNvPicPr/>
          <p:nvPr/>
        </p:nvPicPr>
        <p:blipFill>
          <a:blip r:embed="rId1"/>
          <a:stretch/>
        </p:blipFill>
        <p:spPr>
          <a:xfrm>
            <a:off x="1417320" y="2450520"/>
            <a:ext cx="2113560" cy="365400"/>
          </a:xfrm>
          <a:prstGeom prst="rect">
            <a:avLst/>
          </a:prstGeom>
          <a:ln w="0">
            <a:noFill/>
          </a:ln>
        </p:spPr>
      </p:pic>
      <p:pic>
        <p:nvPicPr>
          <p:cNvPr id="1453" name="q007.png" descr=""/>
          <p:cNvPicPr/>
          <p:nvPr/>
        </p:nvPicPr>
        <p:blipFill>
          <a:blip r:embed="rId2"/>
          <a:stretch/>
        </p:blipFill>
        <p:spPr>
          <a:xfrm>
            <a:off x="1417320" y="3173040"/>
            <a:ext cx="1912680" cy="365400"/>
          </a:xfrm>
          <a:prstGeom prst="rect">
            <a:avLst/>
          </a:prstGeom>
          <a:ln w="0">
            <a:noFill/>
          </a:ln>
        </p:spPr>
      </p:pic>
      <p:pic>
        <p:nvPicPr>
          <p:cNvPr id="1454" name="q008.png" descr=""/>
          <p:cNvPicPr/>
          <p:nvPr/>
        </p:nvPicPr>
        <p:blipFill>
          <a:blip r:embed="rId3"/>
          <a:stretch/>
        </p:blipFill>
        <p:spPr>
          <a:xfrm>
            <a:off x="1417320" y="3895200"/>
            <a:ext cx="1948680" cy="365400"/>
          </a:xfrm>
          <a:prstGeom prst="rect">
            <a:avLst/>
          </a:prstGeom>
          <a:ln w="0">
            <a:noFill/>
          </a:ln>
        </p:spPr>
      </p:pic>
      <p:pic>
        <p:nvPicPr>
          <p:cNvPr id="1455" name="q009.png" descr=""/>
          <p:cNvPicPr/>
          <p:nvPr/>
        </p:nvPicPr>
        <p:blipFill>
          <a:blip r:embed="rId4"/>
          <a:stretch/>
        </p:blipFill>
        <p:spPr>
          <a:xfrm>
            <a:off x="1417320" y="4617720"/>
            <a:ext cx="2088360" cy="365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41" dur="indefinite" restart="never" nodeType="tmRoot">
          <p:childTnLst>
            <p:seq>
              <p:cTn id="1042" dur="indefinite" nodeType="mainSeq">
                <p:childTnLst>
                  <p:par>
                    <p:cTn id="1043" fill="hold">
                      <p:stCondLst>
                        <p:cond delay="indefinite"/>
                      </p:stCondLst>
                      <p:childTnLst>
                        <p:par>
                          <p:cTn id="1044" fill="hold">
                            <p:stCondLst>
                              <p:cond delay="0"/>
                            </p:stCondLst>
                            <p:childTnLst>
                              <p:par>
                                <p:cTn id="104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47" dur="500"/>
                                        <p:tgtEl>
                                          <p:spTgt spid="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0" dur="500"/>
                                        <p:tgtEl>
                                          <p:spTgt spid="1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3" dur="500"/>
                                        <p:tgtEl>
                                          <p:spTgt spid="1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6" dur="500"/>
                                        <p:tgtEl>
                                          <p:spTgt spid="1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9" dur="500"/>
                                        <p:tgtEl>
                                          <p:spTgt spid="1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0" fill="hold">
                      <p:stCondLst>
                        <p:cond delay="indefinite"/>
                      </p:stCondLst>
                      <p:childTnLst>
                        <p:par>
                          <p:cTn id="1061" fill="hold">
                            <p:stCondLst>
                              <p:cond delay="0"/>
                            </p:stCondLst>
                            <p:childTnLst>
                              <p:par>
                                <p:cTn id="106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64" dur="500"/>
                                        <p:tgtEl>
                                          <p:spTgt spid="1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67" dur="500"/>
                                        <p:tgtEl>
                                          <p:spTgt spid="1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70" dur="500"/>
                                        <p:tgtEl>
                                          <p:spTgt spid="1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73" dur="500"/>
                                        <p:tgtEl>
                                          <p:spTgt spid="1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76" dur="500"/>
                                        <p:tgtEl>
                                          <p:spTgt spid="1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7" fill="hold">
                      <p:stCondLst>
                        <p:cond delay="indefinite"/>
                      </p:stCondLst>
                      <p:childTnLst>
                        <p:par>
                          <p:cTn id="1078" fill="hold">
                            <p:stCondLst>
                              <p:cond delay="0"/>
                            </p:stCondLst>
                            <p:childTnLst>
                              <p:par>
                                <p:cTn id="10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81" dur="500"/>
                                        <p:tgtEl>
                                          <p:spTgt spid="1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84" dur="500"/>
                                        <p:tgtEl>
                                          <p:spTgt spid="1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87" dur="500"/>
                                        <p:tgtEl>
                                          <p:spTgt spid="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90" dur="500"/>
                                        <p:tgtEl>
                                          <p:spTgt spid="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93" dur="500"/>
                                        <p:tgtEl>
                                          <p:spTgt spid="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4" fill="hold">
                      <p:stCondLst>
                        <p:cond delay="indefinite"/>
                      </p:stCondLst>
                      <p:childTnLst>
                        <p:par>
                          <p:cTn id="1095" fill="hold">
                            <p:stCondLst>
                              <p:cond delay="0"/>
                            </p:stCondLst>
                            <p:childTnLst>
                              <p:par>
                                <p:cTn id="109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98" dur="500"/>
                                        <p:tgtEl>
                                          <p:spTgt spid="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1" dur="500"/>
                                        <p:tgtEl>
                                          <p:spTgt spid="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4" dur="500"/>
                                        <p:tgtEl>
                                          <p:spTgt spid="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7" dur="500"/>
                                        <p:tgtEl>
                                          <p:spTgt spid="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10" dur="500"/>
                                        <p:tgtEl>
                                          <p:spTgt spid="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1" fill="hold">
                      <p:stCondLst>
                        <p:cond delay="indefinite"/>
                      </p:stCondLst>
                      <p:childTnLst>
                        <p:par>
                          <p:cTn id="1112" fill="hold">
                            <p:stCondLst>
                              <p:cond delay="0"/>
                            </p:stCondLst>
                            <p:childTnLst>
                              <p:par>
                                <p:cTn id="11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15" dur="500"/>
                                        <p:tgtEl>
                                          <p:spTgt spid="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18" dur="500"/>
                                        <p:tgtEl>
                                          <p:spTgt spid="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PRACTICE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Multiply, Divide &amp; Combine — Past-Paper Questions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5" name="Shape 39"/>
          <p:cNvSpPr/>
          <p:nvPr/>
        </p:nvSpPr>
        <p:spPr>
          <a:xfrm>
            <a:off x="567000" y="146304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6" name="Text 40"/>
          <p:cNvSpPr/>
          <p:nvPr/>
        </p:nvSpPr>
        <p:spPr>
          <a:xfrm>
            <a:off x="887040" y="146304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Factorise first, cancel, then combine. Show clear algebraic working.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7" name="Shape 41"/>
          <p:cNvSpPr/>
          <p:nvPr/>
        </p:nvSpPr>
        <p:spPr>
          <a:xfrm>
            <a:off x="567000" y="23317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8" name="Shape 42"/>
          <p:cNvSpPr/>
          <p:nvPr/>
        </p:nvSpPr>
        <p:spPr>
          <a:xfrm>
            <a:off x="822960" y="24415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9" name="Text 43"/>
          <p:cNvSpPr/>
          <p:nvPr/>
        </p:nvSpPr>
        <p:spPr>
          <a:xfrm>
            <a:off x="822960" y="2441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0" name="Text 44"/>
          <p:cNvSpPr/>
          <p:nvPr/>
        </p:nvSpPr>
        <p:spPr>
          <a:xfrm>
            <a:off x="1417320" y="23317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01" name="Text 45"/>
          <p:cNvSpPr/>
          <p:nvPr/>
        </p:nvSpPr>
        <p:spPr>
          <a:xfrm>
            <a:off x="10607040" y="23317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[4]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2" name="Shape 46"/>
          <p:cNvSpPr/>
          <p:nvPr/>
        </p:nvSpPr>
        <p:spPr>
          <a:xfrm>
            <a:off x="567000" y="305424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3" name="Shape 47"/>
          <p:cNvSpPr/>
          <p:nvPr/>
        </p:nvSpPr>
        <p:spPr>
          <a:xfrm>
            <a:off x="822960" y="31636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4" name="Text 48"/>
          <p:cNvSpPr/>
          <p:nvPr/>
        </p:nvSpPr>
        <p:spPr>
          <a:xfrm>
            <a:off x="822960" y="3163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5" name="Text 49"/>
          <p:cNvSpPr/>
          <p:nvPr/>
        </p:nvSpPr>
        <p:spPr>
          <a:xfrm>
            <a:off x="1417320" y="305424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06" name="Text 50"/>
          <p:cNvSpPr/>
          <p:nvPr/>
        </p:nvSpPr>
        <p:spPr>
          <a:xfrm>
            <a:off x="10607040" y="305424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[4]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7" name="Shape 51"/>
          <p:cNvSpPr/>
          <p:nvPr/>
        </p:nvSpPr>
        <p:spPr>
          <a:xfrm>
            <a:off x="567000" y="377640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8" name="Shape 52"/>
          <p:cNvSpPr/>
          <p:nvPr/>
        </p:nvSpPr>
        <p:spPr>
          <a:xfrm>
            <a:off x="822960" y="388620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9" name="Text 53"/>
          <p:cNvSpPr/>
          <p:nvPr/>
        </p:nvSpPr>
        <p:spPr>
          <a:xfrm>
            <a:off x="822960" y="3886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0" name="Text 54"/>
          <p:cNvSpPr/>
          <p:nvPr/>
        </p:nvSpPr>
        <p:spPr>
          <a:xfrm>
            <a:off x="1417320" y="377640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11" name="Text 55"/>
          <p:cNvSpPr/>
          <p:nvPr/>
        </p:nvSpPr>
        <p:spPr>
          <a:xfrm>
            <a:off x="10607040" y="377640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[5]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2" name="Shape 61"/>
          <p:cNvSpPr/>
          <p:nvPr/>
        </p:nvSpPr>
        <p:spPr>
          <a:xfrm>
            <a:off x="567000" y="5266800"/>
            <a:ext cx="11063880" cy="45684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3" name="Text 62"/>
          <p:cNvSpPr/>
          <p:nvPr/>
        </p:nvSpPr>
        <p:spPr>
          <a:xfrm>
            <a:off x="822960" y="526680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0ac2b"/>
                </a:solidFill>
                <a:latin typeface="Calibri"/>
                <a:ea typeface="Calibri"/>
              </a:rPr>
              <a:t>Answers:  1) (34−6x)/[(x−5)(x−1)]     2) 2/[(x−6)(x+6)]     3) 54/(5x+2)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4" name="q024.png" descr=""/>
          <p:cNvPicPr/>
          <p:nvPr/>
        </p:nvPicPr>
        <p:blipFill>
          <a:blip r:embed="rId1"/>
          <a:stretch/>
        </p:blipFill>
        <p:spPr>
          <a:xfrm>
            <a:off x="1417320" y="2450520"/>
            <a:ext cx="3096000" cy="365400"/>
          </a:xfrm>
          <a:prstGeom prst="rect">
            <a:avLst/>
          </a:prstGeom>
          <a:ln w="0">
            <a:noFill/>
          </a:ln>
        </p:spPr>
      </p:pic>
      <p:pic>
        <p:nvPicPr>
          <p:cNvPr id="1515" name="q025.png" descr=""/>
          <p:cNvPicPr/>
          <p:nvPr/>
        </p:nvPicPr>
        <p:blipFill>
          <a:blip r:embed="rId2"/>
          <a:stretch/>
        </p:blipFill>
        <p:spPr>
          <a:xfrm>
            <a:off x="1417320" y="3173040"/>
            <a:ext cx="2916000" cy="365400"/>
          </a:xfrm>
          <a:prstGeom prst="rect">
            <a:avLst/>
          </a:prstGeom>
          <a:ln w="0">
            <a:noFill/>
          </a:ln>
        </p:spPr>
      </p:pic>
      <p:pic>
        <p:nvPicPr>
          <p:cNvPr id="1516" name="q026.png" descr=""/>
          <p:cNvPicPr/>
          <p:nvPr/>
        </p:nvPicPr>
        <p:blipFill>
          <a:blip r:embed="rId3"/>
          <a:stretch/>
        </p:blipFill>
        <p:spPr>
          <a:xfrm>
            <a:off x="1417320" y="3895200"/>
            <a:ext cx="3386880" cy="365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2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3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4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3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5" name="Text 38"/>
          <p:cNvSpPr/>
          <p:nvPr/>
        </p:nvSpPr>
        <p:spPr>
          <a:xfrm>
            <a:off x="777240" y="1691640"/>
            <a:ext cx="10606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e0ac2b"/>
                </a:solidFill>
                <a:latin typeface="Cambria"/>
                <a:ea typeface="Cambria"/>
              </a:rPr>
              <a:t>Solving Equations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6" name="Text 39"/>
          <p:cNvSpPr/>
          <p:nvPr/>
        </p:nvSpPr>
        <p:spPr>
          <a:xfrm>
            <a:off x="804600" y="269748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Clear the fractions first — then solve what is left.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7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8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9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Equal to a number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0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1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2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Equal to a linear expression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3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4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5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A sum of fractions = a number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6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7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8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Equations that become quadratic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SOLVING · = A NUMBER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When a Fraction Equals a Number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8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9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0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Another type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1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2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Multiply both sides by the denominator to remove the fraction.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3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4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5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6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7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8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Multiply both sides by 4: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9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0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1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x + 3 = 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2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3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4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Subtract 3: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x = 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5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6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e0ac2b"/>
                </a:solidFill>
                <a:latin typeface="Cambria"/>
                <a:ea typeface="Cambria"/>
              </a:rPr>
              <a:t>x = 5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19" dur="indefinite" restart="never" nodeType="tmRoot">
          <p:childTnLst>
            <p:seq>
              <p:cTn id="1120" dur="indefinite" nodeType="mainSeq">
                <p:childTnLst>
                  <p:par>
                    <p:cTn id="1121" fill="hold">
                      <p:stCondLst>
                        <p:cond delay="indefinite"/>
                      </p:stCondLst>
                      <p:childTnLst>
                        <p:par>
                          <p:cTn id="1122" fill="hold">
                            <p:stCondLst>
                              <p:cond delay="0"/>
                            </p:stCondLst>
                            <p:childTnLst>
                              <p:par>
                                <p:cTn id="112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25" dur="500"/>
                                        <p:tgtEl>
                                          <p:spTgt spid="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28" dur="500"/>
                                        <p:tgtEl>
                                          <p:spTgt spid="1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31" dur="500"/>
                                        <p:tgtEl>
                                          <p:spTgt spid="1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2" fill="hold">
                      <p:stCondLst>
                        <p:cond delay="indefinite"/>
                      </p:stCondLst>
                      <p:childTnLst>
                        <p:par>
                          <p:cTn id="1133" fill="hold">
                            <p:stCondLst>
                              <p:cond delay="0"/>
                            </p:stCondLst>
                            <p:childTnLst>
                              <p:par>
                                <p:cTn id="113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36" dur="500"/>
                                        <p:tgtEl>
                                          <p:spTgt spid="1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39" dur="500"/>
                                        <p:tgtEl>
                                          <p:spTgt spid="1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42" dur="500"/>
                                        <p:tgtEl>
                                          <p:spTgt spid="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3" fill="hold">
                      <p:stCondLst>
                        <p:cond delay="indefinite"/>
                      </p:stCondLst>
                      <p:childTnLst>
                        <p:par>
                          <p:cTn id="1144" fill="hold">
                            <p:stCondLst>
                              <p:cond delay="0"/>
                            </p:stCondLst>
                            <p:childTnLst>
                              <p:par>
                                <p:cTn id="114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47" dur="500"/>
                                        <p:tgtEl>
                                          <p:spTgt spid="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50" dur="500"/>
                                        <p:tgtEl>
                                          <p:spTgt spid="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53" dur="500"/>
                                        <p:tgtEl>
                                          <p:spTgt spid="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4" fill="hold">
                      <p:stCondLst>
                        <p:cond delay="indefinite"/>
                      </p:stCondLst>
                      <p:childTnLst>
                        <p:par>
                          <p:cTn id="1155" fill="hold">
                            <p:stCondLst>
                              <p:cond delay="0"/>
                            </p:stCondLst>
                            <p:childTnLst>
                              <p:par>
                                <p:cTn id="115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58" dur="500"/>
                                        <p:tgtEl>
                                          <p:spTgt spid="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61" dur="500"/>
                                        <p:tgtEl>
                                          <p:spTgt spid="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64" dur="500"/>
                                        <p:tgtEl>
                                          <p:spTgt spid="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5" fill="hold">
                      <p:stCondLst>
                        <p:cond delay="indefinite"/>
                      </p:stCondLst>
                      <p:childTnLst>
                        <p:par>
                          <p:cTn id="1166" fill="hold">
                            <p:stCondLst>
                              <p:cond delay="0"/>
                            </p:stCondLst>
                            <p:childTnLst>
                              <p:par>
                                <p:cTn id="116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69" dur="500"/>
                                        <p:tgtEl>
                                          <p:spTgt spid="1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72" dur="500"/>
                                        <p:tgtEl>
                                          <p:spTgt spid="1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SOLVING · = A LINEAR EXPRESSION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When a Fraction Equals an Expression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6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7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8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Another type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9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0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Multiply out the bracket, gather the x-terms, then solve.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1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2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3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4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5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6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Multiply both sides by 3: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7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8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9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2x + 1 = 3(x − 1)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0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1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2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2x + 1 = 3x − 3  →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x = 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3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4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e0ac2b"/>
                </a:solidFill>
                <a:latin typeface="Cambria"/>
                <a:ea typeface="Cambria"/>
              </a:rPr>
              <a:t>x = 4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73" dur="indefinite" restart="never" nodeType="tmRoot">
          <p:childTnLst>
            <p:seq>
              <p:cTn id="1174" dur="indefinite" nodeType="mainSeq">
                <p:childTnLst>
                  <p:par>
                    <p:cTn id="1175" fill="hold">
                      <p:stCondLst>
                        <p:cond delay="indefinite"/>
                      </p:stCondLst>
                      <p:childTnLst>
                        <p:par>
                          <p:cTn id="1176" fill="hold">
                            <p:stCondLst>
                              <p:cond delay="0"/>
                            </p:stCondLst>
                            <p:childTnLst>
                              <p:par>
                                <p:cTn id="117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79" dur="500"/>
                                        <p:tgtEl>
                                          <p:spTgt spid="1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82" dur="500"/>
                                        <p:tgtEl>
                                          <p:spTgt spid="1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85" dur="500"/>
                                        <p:tgtEl>
                                          <p:spTgt spid="1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6" fill="hold">
                      <p:stCondLst>
                        <p:cond delay="indefinite"/>
                      </p:stCondLst>
                      <p:childTnLst>
                        <p:par>
                          <p:cTn id="1187" fill="hold">
                            <p:stCondLst>
                              <p:cond delay="0"/>
                            </p:stCondLst>
                            <p:childTnLst>
                              <p:par>
                                <p:cTn id="118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90" dur="500"/>
                                        <p:tgtEl>
                                          <p:spTgt spid="1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93" dur="500"/>
                                        <p:tgtEl>
                                          <p:spTgt spid="1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96" dur="500"/>
                                        <p:tgtEl>
                                          <p:spTgt spid="1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7" fill="hold">
                      <p:stCondLst>
                        <p:cond delay="indefinite"/>
                      </p:stCondLst>
                      <p:childTnLst>
                        <p:par>
                          <p:cTn id="1198" fill="hold">
                            <p:stCondLst>
                              <p:cond delay="0"/>
                            </p:stCondLst>
                            <p:childTnLst>
                              <p:par>
                                <p:cTn id="119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01" dur="500"/>
                                        <p:tgtEl>
                                          <p:spTgt spid="1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04" dur="500"/>
                                        <p:tgtEl>
                                          <p:spTgt spid="1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07" dur="500"/>
                                        <p:tgtEl>
                                          <p:spTgt spid="1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8" fill="hold">
                      <p:stCondLst>
                        <p:cond delay="indefinite"/>
                      </p:stCondLst>
                      <p:childTnLst>
                        <p:par>
                          <p:cTn id="1209" fill="hold">
                            <p:stCondLst>
                              <p:cond delay="0"/>
                            </p:stCondLst>
                            <p:childTnLst>
                              <p:par>
                                <p:cTn id="12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12" dur="500"/>
                                        <p:tgtEl>
                                          <p:spTgt spid="1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15" dur="500"/>
                                        <p:tgtEl>
                                          <p:spTgt spid="1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18" dur="500"/>
                                        <p:tgtEl>
                                          <p:spTgt spid="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9" fill="hold">
                      <p:stCondLst>
                        <p:cond delay="indefinite"/>
                      </p:stCondLst>
                      <p:childTnLst>
                        <p:par>
                          <p:cTn id="1220" fill="hold">
                            <p:stCondLst>
                              <p:cond delay="0"/>
                            </p:stCondLst>
                            <p:childTnLst>
                              <p:par>
                                <p:cTn id="122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23" dur="500"/>
                                        <p:tgtEl>
                                          <p:spTgt spid="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26" dur="500"/>
                                        <p:tgtEl>
                                          <p:spTgt spid="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SOLVING · A SUM = A NUMBER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Add the Fractions, then Solve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4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5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6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Another type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7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8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Multiplying every term by the common denominator clears all fractions at once.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9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0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1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2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3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4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Multiply every term by 6: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5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6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7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3x + 2x = 30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8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9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0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5x = 30  → 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x = 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1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2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e0ac2b"/>
                </a:solidFill>
                <a:latin typeface="Cambria"/>
                <a:ea typeface="Cambria"/>
              </a:rPr>
              <a:t>x = 6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27" dur="indefinite" restart="never" nodeType="tmRoot">
          <p:childTnLst>
            <p:seq>
              <p:cTn id="1228" dur="indefinite" nodeType="mainSeq">
                <p:childTnLst>
                  <p:par>
                    <p:cTn id="1229" fill="hold">
                      <p:stCondLst>
                        <p:cond delay="indefinite"/>
                      </p:stCondLst>
                      <p:childTnLst>
                        <p:par>
                          <p:cTn id="1230" fill="hold">
                            <p:stCondLst>
                              <p:cond delay="0"/>
                            </p:stCondLst>
                            <p:childTnLst>
                              <p:par>
                                <p:cTn id="123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33" dur="500"/>
                                        <p:tgtEl>
                                          <p:spTgt spid="1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36" dur="500"/>
                                        <p:tgtEl>
                                          <p:spTgt spid="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39" dur="500"/>
                                        <p:tgtEl>
                                          <p:spTgt spid="1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0" fill="hold">
                      <p:stCondLst>
                        <p:cond delay="indefinite"/>
                      </p:stCondLst>
                      <p:childTnLst>
                        <p:par>
                          <p:cTn id="1241" fill="hold">
                            <p:stCondLst>
                              <p:cond delay="0"/>
                            </p:stCondLst>
                            <p:childTnLst>
                              <p:par>
                                <p:cTn id="124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44" dur="500"/>
                                        <p:tgtEl>
                                          <p:spTgt spid="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47" dur="500"/>
                                        <p:tgtEl>
                                          <p:spTgt spid="1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50" dur="500"/>
                                        <p:tgtEl>
                                          <p:spTgt spid="1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1" fill="hold">
                      <p:stCondLst>
                        <p:cond delay="indefinite"/>
                      </p:stCondLst>
                      <p:childTnLst>
                        <p:par>
                          <p:cTn id="1252" fill="hold">
                            <p:stCondLst>
                              <p:cond delay="0"/>
                            </p:stCondLst>
                            <p:childTnLst>
                              <p:par>
                                <p:cTn id="125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55" dur="500"/>
                                        <p:tgtEl>
                                          <p:spTgt spid="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58" dur="500"/>
                                        <p:tgtEl>
                                          <p:spTgt spid="1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61" dur="500"/>
                                        <p:tgtEl>
                                          <p:spTgt spid="1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2" fill="hold">
                      <p:stCondLst>
                        <p:cond delay="indefinite"/>
                      </p:stCondLst>
                      <p:childTnLst>
                        <p:par>
                          <p:cTn id="1263" fill="hold">
                            <p:stCondLst>
                              <p:cond delay="0"/>
                            </p:stCondLst>
                            <p:childTnLst>
                              <p:par>
                                <p:cTn id="126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66" dur="500"/>
                                        <p:tgtEl>
                                          <p:spTgt spid="1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69" dur="500"/>
                                        <p:tgtEl>
                                          <p:spTgt spid="1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72" dur="500"/>
                                        <p:tgtEl>
                                          <p:spTgt spid="1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3" fill="hold">
                      <p:stCondLst>
                        <p:cond delay="indefinite"/>
                      </p:stCondLst>
                      <p:childTnLst>
                        <p:par>
                          <p:cTn id="1274" fill="hold">
                            <p:stCondLst>
                              <p:cond delay="0"/>
                            </p:stCondLst>
                            <p:childTnLst>
                              <p:par>
                                <p:cTn id="127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77" dur="500"/>
                                        <p:tgtEl>
                                          <p:spTgt spid="1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80" dur="500"/>
                                        <p:tgtEl>
                                          <p:spTgt spid="1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SOLVING · BECOMES QUADRATIC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When Solving Gives a Quadratic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2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3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4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Key idea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5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A variable in the denominator often leads to a quadratic.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Bring everything to one side: = 0.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Factorise and read off both solutions.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6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Always check for two solutions when the equation becomes quadratic.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7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8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9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0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1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2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Multiply every term by x: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3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4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5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x² + 6 = 5x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6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7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8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x² − 5x + 6 = 0  →  (x−2)(x−3) = 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9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0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e0ac2b"/>
                </a:solidFill>
                <a:latin typeface="Cambria"/>
                <a:ea typeface="Cambria"/>
              </a:rPr>
              <a:t>x = 2   or   x = 3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81" dur="indefinite" restart="never" nodeType="tmRoot">
          <p:childTnLst>
            <p:seq>
              <p:cTn id="1282" dur="indefinite" nodeType="mainSeq">
                <p:childTnLst>
                  <p:par>
                    <p:cTn id="1283" fill="hold">
                      <p:stCondLst>
                        <p:cond delay="indefinite"/>
                      </p:stCondLst>
                      <p:childTnLst>
                        <p:par>
                          <p:cTn id="1284" fill="hold">
                            <p:stCondLst>
                              <p:cond delay="0"/>
                            </p:stCondLst>
                            <p:childTnLst>
                              <p:par>
                                <p:cTn id="128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87" dur="500"/>
                                        <p:tgtEl>
                                          <p:spTgt spid="1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90" dur="500"/>
                                        <p:tgtEl>
                                          <p:spTgt spid="1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93" dur="500"/>
                                        <p:tgtEl>
                                          <p:spTgt spid="1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4" fill="hold">
                      <p:stCondLst>
                        <p:cond delay="indefinite"/>
                      </p:stCondLst>
                      <p:childTnLst>
                        <p:par>
                          <p:cTn id="1295" fill="hold">
                            <p:stCondLst>
                              <p:cond delay="0"/>
                            </p:stCondLst>
                            <p:childTnLst>
                              <p:par>
                                <p:cTn id="129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98" dur="500"/>
                                        <p:tgtEl>
                                          <p:spTgt spid="1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01" dur="500"/>
                                        <p:tgtEl>
                                          <p:spTgt spid="1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04" dur="500"/>
                                        <p:tgtEl>
                                          <p:spTgt spid="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5" fill="hold">
                      <p:stCondLst>
                        <p:cond delay="indefinite"/>
                      </p:stCondLst>
                      <p:childTnLst>
                        <p:par>
                          <p:cTn id="1306" fill="hold">
                            <p:stCondLst>
                              <p:cond delay="0"/>
                            </p:stCondLst>
                            <p:childTnLst>
                              <p:par>
                                <p:cTn id="130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09" dur="500"/>
                                        <p:tgtEl>
                                          <p:spTgt spid="1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12" dur="500"/>
                                        <p:tgtEl>
                                          <p:spTgt spid="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15" dur="500"/>
                                        <p:tgtEl>
                                          <p:spTgt spid="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6" fill="hold">
                      <p:stCondLst>
                        <p:cond delay="indefinite"/>
                      </p:stCondLst>
                      <p:childTnLst>
                        <p:par>
                          <p:cTn id="1317" fill="hold">
                            <p:stCondLst>
                              <p:cond delay="0"/>
                            </p:stCondLst>
                            <p:childTnLst>
                              <p:par>
                                <p:cTn id="131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20" dur="500"/>
                                        <p:tgtEl>
                                          <p:spTgt spid="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23" dur="500"/>
                                        <p:tgtEl>
                                          <p:spTgt spid="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26" dur="500"/>
                                        <p:tgtEl>
                                          <p:spTgt spid="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7" fill="hold">
                      <p:stCondLst>
                        <p:cond delay="indefinite"/>
                      </p:stCondLst>
                      <p:childTnLst>
                        <p:par>
                          <p:cTn id="1328" fill="hold">
                            <p:stCondLst>
                              <p:cond delay="0"/>
                            </p:stCondLst>
                            <p:childTnLst>
                              <p:par>
                                <p:cTn id="13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31" dur="500"/>
                                        <p:tgtEl>
                                          <p:spTgt spid="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34" dur="500"/>
                                        <p:tgtEl>
                                          <p:spTgt spid="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PRACTICE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Solving — Exam Questions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0" name="Shape 39"/>
          <p:cNvSpPr/>
          <p:nvPr/>
        </p:nvSpPr>
        <p:spPr>
          <a:xfrm>
            <a:off x="567000" y="146304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1" name="Text 40"/>
          <p:cNvSpPr/>
          <p:nvPr/>
        </p:nvSpPr>
        <p:spPr>
          <a:xfrm>
            <a:off x="887040" y="146304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Solve each equation. Show your method clearly.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2" name="Shape 41"/>
          <p:cNvSpPr/>
          <p:nvPr/>
        </p:nvSpPr>
        <p:spPr>
          <a:xfrm>
            <a:off x="567000" y="23317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3" name="Shape 42"/>
          <p:cNvSpPr/>
          <p:nvPr/>
        </p:nvSpPr>
        <p:spPr>
          <a:xfrm>
            <a:off x="822960" y="24415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4" name="Text 43"/>
          <p:cNvSpPr/>
          <p:nvPr/>
        </p:nvSpPr>
        <p:spPr>
          <a:xfrm>
            <a:off x="822960" y="2441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5" name="Text 44"/>
          <p:cNvSpPr/>
          <p:nvPr/>
        </p:nvSpPr>
        <p:spPr>
          <a:xfrm>
            <a:off x="1417320" y="23317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46" name="Text 45"/>
          <p:cNvSpPr/>
          <p:nvPr/>
        </p:nvSpPr>
        <p:spPr>
          <a:xfrm>
            <a:off x="10607040" y="23317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[2]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7" name="Shape 46"/>
          <p:cNvSpPr/>
          <p:nvPr/>
        </p:nvSpPr>
        <p:spPr>
          <a:xfrm>
            <a:off x="567000" y="305424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8" name="Shape 47"/>
          <p:cNvSpPr/>
          <p:nvPr/>
        </p:nvSpPr>
        <p:spPr>
          <a:xfrm>
            <a:off x="822960" y="31636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9" name="Text 48"/>
          <p:cNvSpPr/>
          <p:nvPr/>
        </p:nvSpPr>
        <p:spPr>
          <a:xfrm>
            <a:off x="822960" y="3163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0" name="Text 49"/>
          <p:cNvSpPr/>
          <p:nvPr/>
        </p:nvSpPr>
        <p:spPr>
          <a:xfrm>
            <a:off x="1417320" y="305424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51" name="Text 50"/>
          <p:cNvSpPr/>
          <p:nvPr/>
        </p:nvSpPr>
        <p:spPr>
          <a:xfrm>
            <a:off x="10607040" y="305424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[2]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2" name="Shape 51"/>
          <p:cNvSpPr/>
          <p:nvPr/>
        </p:nvSpPr>
        <p:spPr>
          <a:xfrm>
            <a:off x="567000" y="377640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3" name="Shape 52"/>
          <p:cNvSpPr/>
          <p:nvPr/>
        </p:nvSpPr>
        <p:spPr>
          <a:xfrm>
            <a:off x="822960" y="388620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4" name="Text 53"/>
          <p:cNvSpPr/>
          <p:nvPr/>
        </p:nvSpPr>
        <p:spPr>
          <a:xfrm>
            <a:off x="822960" y="3886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5" name="Text 54"/>
          <p:cNvSpPr/>
          <p:nvPr/>
        </p:nvSpPr>
        <p:spPr>
          <a:xfrm>
            <a:off x="1417320" y="377640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56" name="Text 55"/>
          <p:cNvSpPr/>
          <p:nvPr/>
        </p:nvSpPr>
        <p:spPr>
          <a:xfrm>
            <a:off x="10607040" y="377640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7" name="Shape 56"/>
          <p:cNvSpPr/>
          <p:nvPr/>
        </p:nvSpPr>
        <p:spPr>
          <a:xfrm>
            <a:off x="567000" y="44989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8" name="Shape 57"/>
          <p:cNvSpPr/>
          <p:nvPr/>
        </p:nvSpPr>
        <p:spPr>
          <a:xfrm>
            <a:off x="822960" y="46087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9" name="Text 58"/>
          <p:cNvSpPr/>
          <p:nvPr/>
        </p:nvSpPr>
        <p:spPr>
          <a:xfrm>
            <a:off x="822960" y="4608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0" name="Text 59"/>
          <p:cNvSpPr/>
          <p:nvPr/>
        </p:nvSpPr>
        <p:spPr>
          <a:xfrm>
            <a:off x="1417320" y="44989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61" name="Text 60"/>
          <p:cNvSpPr/>
          <p:nvPr/>
        </p:nvSpPr>
        <p:spPr>
          <a:xfrm>
            <a:off x="10607040" y="44989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2" name="Shape 61"/>
          <p:cNvSpPr/>
          <p:nvPr/>
        </p:nvSpPr>
        <p:spPr>
          <a:xfrm>
            <a:off x="567000" y="522108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3" name="Shape 62"/>
          <p:cNvSpPr/>
          <p:nvPr/>
        </p:nvSpPr>
        <p:spPr>
          <a:xfrm>
            <a:off x="822960" y="53308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4" name="Text 63"/>
          <p:cNvSpPr/>
          <p:nvPr/>
        </p:nvSpPr>
        <p:spPr>
          <a:xfrm>
            <a:off x="822960" y="53308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5" name="Text 64"/>
          <p:cNvSpPr/>
          <p:nvPr/>
        </p:nvSpPr>
        <p:spPr>
          <a:xfrm>
            <a:off x="1417320" y="522108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66" name="Text 65"/>
          <p:cNvSpPr/>
          <p:nvPr/>
        </p:nvSpPr>
        <p:spPr>
          <a:xfrm>
            <a:off x="10607040" y="522108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[3]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7" name="Shape 66"/>
          <p:cNvSpPr/>
          <p:nvPr/>
        </p:nvSpPr>
        <p:spPr>
          <a:xfrm>
            <a:off x="567000" y="5989320"/>
            <a:ext cx="11063880" cy="45684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8" name="Text 67"/>
          <p:cNvSpPr/>
          <p:nvPr/>
        </p:nvSpPr>
        <p:spPr>
          <a:xfrm>
            <a:off x="822960" y="598932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0ac2b"/>
                </a:solidFill>
                <a:latin typeface="Calibri"/>
                <a:ea typeface="Calibri"/>
              </a:rPr>
              <a:t>Answers:  </a:t>
            </a:r>
            <a:r>
              <a:rPr b="0" lang="en-US" sz="1250" spc="-1" strike="noStrike">
                <a:solidFill>
                  <a:srgbClr val="edebdd"/>
                </a:solidFill>
                <a:latin typeface="Calibri"/>
                <a:ea typeface="Calibri"/>
              </a:rPr>
              <a:t>1) x = 7     2) x = 4     3) x = 7     4) x = 24     5) x = 2 or x = 4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69" name="q010.png" descr=""/>
          <p:cNvPicPr/>
          <p:nvPr/>
        </p:nvPicPr>
        <p:blipFill>
          <a:blip r:embed="rId1"/>
          <a:stretch/>
        </p:blipFill>
        <p:spPr>
          <a:xfrm>
            <a:off x="1417320" y="2450520"/>
            <a:ext cx="1538280" cy="365400"/>
          </a:xfrm>
          <a:prstGeom prst="rect">
            <a:avLst/>
          </a:prstGeom>
          <a:ln w="0">
            <a:noFill/>
          </a:ln>
        </p:spPr>
      </p:pic>
      <p:pic>
        <p:nvPicPr>
          <p:cNvPr id="1870" name="q011.png" descr=""/>
          <p:cNvPicPr/>
          <p:nvPr/>
        </p:nvPicPr>
        <p:blipFill>
          <a:blip r:embed="rId2"/>
          <a:stretch/>
        </p:blipFill>
        <p:spPr>
          <a:xfrm>
            <a:off x="1417320" y="3173040"/>
            <a:ext cx="1541160" cy="365400"/>
          </a:xfrm>
          <a:prstGeom prst="rect">
            <a:avLst/>
          </a:prstGeom>
          <a:ln w="0">
            <a:noFill/>
          </a:ln>
        </p:spPr>
      </p:pic>
      <p:pic>
        <p:nvPicPr>
          <p:cNvPr id="1871" name="q012.png" descr=""/>
          <p:cNvPicPr/>
          <p:nvPr/>
        </p:nvPicPr>
        <p:blipFill>
          <a:blip r:embed="rId3"/>
          <a:stretch/>
        </p:blipFill>
        <p:spPr>
          <a:xfrm>
            <a:off x="1417320" y="3895200"/>
            <a:ext cx="2094120" cy="365400"/>
          </a:xfrm>
          <a:prstGeom prst="rect">
            <a:avLst/>
          </a:prstGeom>
          <a:ln w="0">
            <a:noFill/>
          </a:ln>
        </p:spPr>
      </p:pic>
      <p:pic>
        <p:nvPicPr>
          <p:cNvPr id="1872" name="q013.png" descr=""/>
          <p:cNvPicPr/>
          <p:nvPr/>
        </p:nvPicPr>
        <p:blipFill>
          <a:blip r:embed="rId4"/>
          <a:stretch/>
        </p:blipFill>
        <p:spPr>
          <a:xfrm>
            <a:off x="1417320" y="4617720"/>
            <a:ext cx="2073240" cy="365400"/>
          </a:xfrm>
          <a:prstGeom prst="rect">
            <a:avLst/>
          </a:prstGeom>
          <a:ln w="0">
            <a:noFill/>
          </a:ln>
        </p:spPr>
      </p:pic>
      <p:pic>
        <p:nvPicPr>
          <p:cNvPr id="1873" name="q014.png" descr=""/>
          <p:cNvPicPr/>
          <p:nvPr/>
        </p:nvPicPr>
        <p:blipFill>
          <a:blip r:embed="rId5"/>
          <a:stretch/>
        </p:blipFill>
        <p:spPr>
          <a:xfrm>
            <a:off x="1417320" y="5340240"/>
            <a:ext cx="1915560" cy="365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35" dur="indefinite" restart="never" nodeType="tmRoot">
          <p:childTnLst>
            <p:seq>
              <p:cTn id="1336" dur="indefinite" nodeType="mainSeq">
                <p:childTnLst>
                  <p:par>
                    <p:cTn id="1337" fill="hold">
                      <p:stCondLst>
                        <p:cond delay="indefinite"/>
                      </p:stCondLst>
                      <p:childTnLst>
                        <p:par>
                          <p:cTn id="1338" fill="hold">
                            <p:stCondLst>
                              <p:cond delay="0"/>
                            </p:stCondLst>
                            <p:childTnLst>
                              <p:par>
                                <p:cTn id="133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41" dur="500"/>
                                        <p:tgtEl>
                                          <p:spTgt spid="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44" dur="500"/>
                                        <p:tgtEl>
                                          <p:spTgt spid="1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47" dur="500"/>
                                        <p:tgtEl>
                                          <p:spTgt spid="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50" dur="500"/>
                                        <p:tgtEl>
                                          <p:spTgt spid="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53" dur="500"/>
                                        <p:tgtEl>
                                          <p:spTgt spid="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4" fill="hold">
                      <p:stCondLst>
                        <p:cond delay="indefinite"/>
                      </p:stCondLst>
                      <p:childTnLst>
                        <p:par>
                          <p:cTn id="1355" fill="hold">
                            <p:stCondLst>
                              <p:cond delay="0"/>
                            </p:stCondLst>
                            <p:childTnLst>
                              <p:par>
                                <p:cTn id="135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58" dur="500"/>
                                        <p:tgtEl>
                                          <p:spTgt spid="1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61" dur="500"/>
                                        <p:tgtEl>
                                          <p:spTgt spid="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64" dur="500"/>
                                        <p:tgtEl>
                                          <p:spTgt spid="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67" dur="500"/>
                                        <p:tgtEl>
                                          <p:spTgt spid="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70" dur="500"/>
                                        <p:tgtEl>
                                          <p:spTgt spid="1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1" fill="hold">
                      <p:stCondLst>
                        <p:cond delay="indefinite"/>
                      </p:stCondLst>
                      <p:childTnLst>
                        <p:par>
                          <p:cTn id="1372" fill="hold">
                            <p:stCondLst>
                              <p:cond delay="0"/>
                            </p:stCondLst>
                            <p:childTnLst>
                              <p:par>
                                <p:cTn id="137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75" dur="500"/>
                                        <p:tgtEl>
                                          <p:spTgt spid="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78" dur="500"/>
                                        <p:tgtEl>
                                          <p:spTgt spid="1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81" dur="500"/>
                                        <p:tgtEl>
                                          <p:spTgt spid="1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84" dur="500"/>
                                        <p:tgtEl>
                                          <p:spTgt spid="1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87" dur="500"/>
                                        <p:tgtEl>
                                          <p:spTgt spid="1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8" fill="hold">
                      <p:stCondLst>
                        <p:cond delay="indefinite"/>
                      </p:stCondLst>
                      <p:childTnLst>
                        <p:par>
                          <p:cTn id="1389" fill="hold">
                            <p:stCondLst>
                              <p:cond delay="0"/>
                            </p:stCondLst>
                            <p:childTnLst>
                              <p:par>
                                <p:cTn id="139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92" dur="500"/>
                                        <p:tgtEl>
                                          <p:spTgt spid="1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95" dur="500"/>
                                        <p:tgtEl>
                                          <p:spTgt spid="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98" dur="500"/>
                                        <p:tgtEl>
                                          <p:spTgt spid="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01" dur="500"/>
                                        <p:tgtEl>
                                          <p:spTgt spid="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04" dur="500"/>
                                        <p:tgtEl>
                                          <p:spTgt spid="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5" fill="hold">
                      <p:stCondLst>
                        <p:cond delay="indefinite"/>
                      </p:stCondLst>
                      <p:childTnLst>
                        <p:par>
                          <p:cTn id="1406" fill="hold">
                            <p:stCondLst>
                              <p:cond delay="0"/>
                            </p:stCondLst>
                            <p:childTnLst>
                              <p:par>
                                <p:cTn id="140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09" dur="500"/>
                                        <p:tgtEl>
                                          <p:spTgt spid="1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12" dur="500"/>
                                        <p:tgtEl>
                                          <p:spTgt spid="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15" dur="500"/>
                                        <p:tgtEl>
                                          <p:spTgt spid="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18" dur="500"/>
                                        <p:tgtEl>
                                          <p:spTgt spid="1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21" dur="500"/>
                                        <p:tgtEl>
                                          <p:spTgt spid="1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2" fill="hold">
                      <p:stCondLst>
                        <p:cond delay="indefinite"/>
                      </p:stCondLst>
                      <p:childTnLst>
                        <p:par>
                          <p:cTn id="1423" fill="hold">
                            <p:stCondLst>
                              <p:cond delay="0"/>
                            </p:stCondLst>
                            <p:childTnLst>
                              <p:par>
                                <p:cTn id="142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26" dur="500"/>
                                        <p:tgtEl>
                                          <p:spTgt spid="1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29" dur="500"/>
                                        <p:tgtEl>
                                          <p:spTgt spid="1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PRACTICE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Solving &amp; Rearranging — Past-Paper Questions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3" name="Shape 39"/>
          <p:cNvSpPr/>
          <p:nvPr/>
        </p:nvSpPr>
        <p:spPr>
          <a:xfrm>
            <a:off x="567000" y="1463040"/>
            <a:ext cx="11063880" cy="63972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4" name="Text 40"/>
          <p:cNvSpPr/>
          <p:nvPr/>
        </p:nvSpPr>
        <p:spPr>
          <a:xfrm>
            <a:off x="887040" y="146304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debdd"/>
                </a:solidFill>
                <a:latin typeface="Calibri"/>
                <a:ea typeface="Calibri"/>
              </a:rPr>
              <a:t>Show clear algebraic working for each.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5" name="Shape 41"/>
          <p:cNvSpPr/>
          <p:nvPr/>
        </p:nvSpPr>
        <p:spPr>
          <a:xfrm>
            <a:off x="567000" y="233172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6" name="Shape 42"/>
          <p:cNvSpPr/>
          <p:nvPr/>
        </p:nvSpPr>
        <p:spPr>
          <a:xfrm>
            <a:off x="822960" y="24415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7" name="Text 43"/>
          <p:cNvSpPr/>
          <p:nvPr/>
        </p:nvSpPr>
        <p:spPr>
          <a:xfrm>
            <a:off x="822960" y="2441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8" name="Text 44"/>
          <p:cNvSpPr/>
          <p:nvPr/>
        </p:nvSpPr>
        <p:spPr>
          <a:xfrm>
            <a:off x="1417320" y="233172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19" name="Text 45"/>
          <p:cNvSpPr/>
          <p:nvPr/>
        </p:nvSpPr>
        <p:spPr>
          <a:xfrm>
            <a:off x="10607040" y="233172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[4]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0" name="Shape 46"/>
          <p:cNvSpPr/>
          <p:nvPr/>
        </p:nvSpPr>
        <p:spPr>
          <a:xfrm>
            <a:off x="567000" y="305424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1" name="Shape 47"/>
          <p:cNvSpPr/>
          <p:nvPr/>
        </p:nvSpPr>
        <p:spPr>
          <a:xfrm>
            <a:off x="822960" y="31636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2" name="Text 48"/>
          <p:cNvSpPr/>
          <p:nvPr/>
        </p:nvSpPr>
        <p:spPr>
          <a:xfrm>
            <a:off x="822960" y="3163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3" name="Text 49"/>
          <p:cNvSpPr/>
          <p:nvPr/>
        </p:nvSpPr>
        <p:spPr>
          <a:xfrm>
            <a:off x="1417320" y="3054240"/>
            <a:ext cx="92350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24" name="Text 50"/>
          <p:cNvSpPr/>
          <p:nvPr/>
        </p:nvSpPr>
        <p:spPr>
          <a:xfrm>
            <a:off x="10607040" y="3054240"/>
            <a:ext cx="8226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[4]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5" name="Shape 66"/>
          <p:cNvSpPr/>
          <p:nvPr/>
        </p:nvSpPr>
        <p:spPr>
          <a:xfrm>
            <a:off x="567000" y="5989320"/>
            <a:ext cx="11063880" cy="456840"/>
          </a:xfrm>
          <a:prstGeom prst="roundRect">
            <a:avLst>
              <a:gd name="adj" fmla="val 12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6" name="Text 67"/>
          <p:cNvSpPr/>
          <p:nvPr/>
        </p:nvSpPr>
        <p:spPr>
          <a:xfrm>
            <a:off x="822960" y="598932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0ac2b"/>
                </a:solidFill>
                <a:latin typeface="Calibri"/>
                <a:ea typeface="Calibri"/>
              </a:rPr>
              <a:t>Answers:  1) x = −1 or x = 3/2      2) a = (3 − 4y)/(2y − 3)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27" name="q027.png" descr=""/>
          <p:cNvPicPr/>
          <p:nvPr/>
        </p:nvPicPr>
        <p:blipFill>
          <a:blip r:embed="rId1"/>
          <a:stretch/>
        </p:blipFill>
        <p:spPr>
          <a:xfrm>
            <a:off x="1417320" y="2450520"/>
            <a:ext cx="2184840" cy="365400"/>
          </a:xfrm>
          <a:prstGeom prst="rect">
            <a:avLst/>
          </a:prstGeom>
          <a:ln w="0">
            <a:noFill/>
          </a:ln>
        </p:spPr>
      </p:pic>
      <p:pic>
        <p:nvPicPr>
          <p:cNvPr id="1928" name="q028.png" descr=""/>
          <p:cNvPicPr/>
          <p:nvPr/>
        </p:nvPicPr>
        <p:blipFill>
          <a:blip r:embed="rId2"/>
          <a:stretch/>
        </p:blipFill>
        <p:spPr>
          <a:xfrm>
            <a:off x="1417320" y="3173040"/>
            <a:ext cx="5591520" cy="365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4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5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6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7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8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9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Add / subtract: common denominator first — number, then linear, then quadratic.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0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1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Factorise quadratic denominators; often one already contains the other's factor.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2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3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Multiply: multiply tops and bottoms, factorise and cancel — no common denominator needed.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4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5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Divide: keep the first, flip the second, multiply.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6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7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Solve: multiply every term by the denominator to clear fractions, then solve (watch for quadratics).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8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9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never cancel single terms across a + or − sign — only cancel whole factors.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2972</Words>
  <Paragraphs>532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2026-06-28T20:12:02Z</dcterms:created>
  <dc:creator>Zahra Sheikh Ali</dc:creator>
  <dc:description/>
  <dc:language>en-US</dc:language>
  <cp:lastModifiedBy>zahraa sheik ali</cp:lastModifiedBy>
  <dcterms:modified xsi:type="dcterms:W3CDTF">2026-06-29T11:42:23Z</dcterms:modified>
  <cp:revision>2</cp:revision>
  <dc:subject>PptxGenJS Presentation</dc:subject>
  <dc:title>Algebraic Fractions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24</vt:r8>
  </property>
  <property fmtid="{D5CDD505-2E9C-101B-9397-08002B2CF9AE}" pid="3" name="PresentationFormat">
    <vt:lpwstr>Custom</vt:lpwstr>
  </property>
  <property fmtid="{D5CDD505-2E9C-101B-9397-08002B2CF9AE}" pid="4" name="Slides">
    <vt:r8>32</vt:r8>
  </property>
</Properties>
</file>