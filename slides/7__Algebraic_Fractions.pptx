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900" r:id="rId2"/>
    <p:sldId id="902" r:id="rId3"/>
    <p:sldId id="903" r:id="rId4"/>
    <p:sldId id="904" r:id="rId5"/>
    <p:sldId id="905" r:id="rId6"/>
    <p:sldId id="906" r:id="rId7"/>
    <p:sldId id="907" r:id="rId8"/>
    <p:sldId id="908" r:id="rId9"/>
    <p:sldId id="909" r:id="rId10"/>
    <p:sldId id="910" r:id="rId11"/>
    <p:sldId id="911" r:id="rId12"/>
    <p:sldId id="912" r:id="rId13"/>
    <p:sldId id="913" r:id="rId14"/>
    <p:sldId id="914" r:id="rId15"/>
    <p:sldId id="915" r:id="rId16"/>
    <p:sldId id="916" r:id="rId17"/>
    <p:sldId id="917" r:id="rId18"/>
    <p:sldId id="918" r:id="rId19"/>
    <p:sldId id="919" r:id="rId20"/>
    <p:sldId id="920" r:id="rId21"/>
    <p:sldId id="921" r:id="rId22"/>
    <p:sldId id="922" r:id="rId23"/>
    <p:sldId id="923" r:id="rId24"/>
    <p:sldId id="924" r:id="rId25"/>
    <p:sldId id="925" r:id="rId26"/>
    <p:sldId id="926" r:id="rId27"/>
    <p:sldId id="927" r:id="rId28"/>
    <p:sldId id="928" r:id="rId29"/>
    <p:sldId id="929" r:id="rId30"/>
    <p:sldId id="930" r:id="rId31"/>
    <p:sldId id="931" r:id="rId32"/>
    <p:sldId id="932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1601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7422" y="777240"/>
            <a:ext cx="210476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600" dirty="0"/>
          </a:p>
        </p:txBody>
      </p:sp>
      <p:sp>
        <p:nvSpPr>
          <p:cNvPr id="38" name="Shape 36"/>
          <p:cNvSpPr/>
          <p:nvPr/>
        </p:nvSpPr>
        <p:spPr>
          <a:xfrm>
            <a:off x="7561722" y="1645920"/>
            <a:ext cx="1876166" cy="0"/>
          </a:xfrm>
          <a:prstGeom prst="line">
            <a:avLst/>
          </a:prstGeom>
          <a:noFill/>
          <a:ln w="19050">
            <a:solidFill>
              <a:srgbClr val="3346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47422" y="1682496"/>
            <a:ext cx="210476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+ 1</a:t>
            </a:r>
            <a:endParaRPr lang="en-US" sz="4600" dirty="0"/>
          </a:p>
        </p:txBody>
      </p:sp>
      <p:sp>
        <p:nvSpPr>
          <p:cNvPr id="40" name="Text 38"/>
          <p:cNvSpPr/>
          <p:nvPr/>
        </p:nvSpPr>
        <p:spPr>
          <a:xfrm>
            <a:off x="9437888" y="1325880"/>
            <a:ext cx="509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600" dirty="0"/>
          </a:p>
        </p:txBody>
      </p:sp>
      <p:sp>
        <p:nvSpPr>
          <p:cNvPr id="41" name="Text 39"/>
          <p:cNvSpPr/>
          <p:nvPr/>
        </p:nvSpPr>
        <p:spPr>
          <a:xfrm>
            <a:off x="9833092" y="777240"/>
            <a:ext cx="210476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4600" dirty="0"/>
          </a:p>
        </p:txBody>
      </p:sp>
      <p:sp>
        <p:nvSpPr>
          <p:cNvPr id="42" name="Shape 40"/>
          <p:cNvSpPr/>
          <p:nvPr/>
        </p:nvSpPr>
        <p:spPr>
          <a:xfrm>
            <a:off x="9947392" y="1645920"/>
            <a:ext cx="1876166" cy="0"/>
          </a:xfrm>
          <a:prstGeom prst="line">
            <a:avLst/>
          </a:prstGeom>
          <a:noFill/>
          <a:ln w="19050">
            <a:solidFill>
              <a:srgbClr val="3346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33092" y="1682496"/>
            <a:ext cx="210476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− 1</a:t>
            </a:r>
            <a:endParaRPr lang="en-US" sz="4600" dirty="0"/>
          </a:p>
        </p:txBody>
      </p:sp>
      <p:sp>
        <p:nvSpPr>
          <p:cNvPr id="44" name="Shape 42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6" name="Text 44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22402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Algebraic Fractions</a:t>
            </a:r>
            <a:endParaRPr lang="en-US" sz="5400" dirty="0"/>
          </a:p>
        </p:txBody>
      </p:sp>
      <p:sp>
        <p:nvSpPr>
          <p:cNvPr id="49" name="Text 47"/>
          <p:cNvSpPr/>
          <p:nvPr/>
        </p:nvSpPr>
        <p:spPr>
          <a:xfrm>
            <a:off x="804672" y="3291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&amp; Subtract (number → linear → quadratic) · Multiply &amp; Divide · Solving Equations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7240" y="4297680"/>
            <a:ext cx="658368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1097280" y="44988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097280" y="49560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1097280" y="539496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Starts with Number Fractions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or subtract: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common denominator, rewrite each fraction over it, then combine the numerators.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7744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784360" y="3209544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898660" y="3566160"/>
            <a:ext cx="403799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4360" y="3602736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2302459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2487717" y="3209544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2602017" y="3566160"/>
            <a:ext cx="403799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87717" y="3602736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3005816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3191073" y="3209544"/>
            <a:ext cx="7229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3305373" y="3566160"/>
            <a:ext cx="49432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91073" y="3602736"/>
            <a:ext cx="7229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3799698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984955" y="3209544"/>
            <a:ext cx="7229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4099255" y="3566160"/>
            <a:ext cx="49432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84955" y="3602736"/>
            <a:ext cx="7229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2817266" y="4114800"/>
            <a:ext cx="3145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3017520" y="4041648"/>
            <a:ext cx="7717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62" name="Shape 60"/>
          <p:cNvSpPr/>
          <p:nvPr/>
        </p:nvSpPr>
        <p:spPr>
          <a:xfrm>
            <a:off x="3131820" y="4434840"/>
            <a:ext cx="543154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017520" y="4471416"/>
            <a:ext cx="7717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64" name="Shape 62"/>
          <p:cNvSpPr/>
          <p:nvPr/>
        </p:nvSpPr>
        <p:spPr>
          <a:xfrm>
            <a:off x="6236208" y="237744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601968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1700" dirty="0"/>
          </a:p>
        </p:txBody>
      </p:sp>
      <p:sp>
        <p:nvSpPr>
          <p:cNvPr id="66" name="Text 64"/>
          <p:cNvSpPr/>
          <p:nvPr/>
        </p:nvSpPr>
        <p:spPr>
          <a:xfrm>
            <a:off x="7411029" y="3209544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7525329" y="3566160"/>
            <a:ext cx="403799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11029" y="3602736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7929128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8114386" y="3209544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8228686" y="3566160"/>
            <a:ext cx="403799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14386" y="3602736"/>
            <a:ext cx="632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73" name="Text 71"/>
          <p:cNvSpPr/>
          <p:nvPr/>
        </p:nvSpPr>
        <p:spPr>
          <a:xfrm>
            <a:off x="8632485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74" name="Text 72"/>
          <p:cNvSpPr/>
          <p:nvPr/>
        </p:nvSpPr>
        <p:spPr>
          <a:xfrm>
            <a:off x="8817742" y="3209544"/>
            <a:ext cx="78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8932042" y="3566160"/>
            <a:ext cx="555224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17742" y="3602736"/>
            <a:ext cx="78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800" dirty="0"/>
          </a:p>
        </p:txBody>
      </p:sp>
      <p:sp>
        <p:nvSpPr>
          <p:cNvPr id="77" name="Text 75"/>
          <p:cNvSpPr/>
          <p:nvPr/>
        </p:nvSpPr>
        <p:spPr>
          <a:xfrm>
            <a:off x="9487266" y="3246120"/>
            <a:ext cx="2995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9672523" y="3209544"/>
            <a:ext cx="78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786823" y="3566160"/>
            <a:ext cx="555224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672523" y="3602736"/>
            <a:ext cx="78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8471002" y="4114800"/>
            <a:ext cx="3145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82" name="Text 80"/>
          <p:cNvSpPr/>
          <p:nvPr/>
        </p:nvSpPr>
        <p:spPr>
          <a:xfrm>
            <a:off x="8671255" y="4041648"/>
            <a:ext cx="8394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83" name="Shape 81"/>
          <p:cNvSpPr/>
          <p:nvPr/>
        </p:nvSpPr>
        <p:spPr>
          <a:xfrm>
            <a:off x="8785555" y="4434840"/>
            <a:ext cx="610819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671255" y="4471416"/>
            <a:ext cx="8394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000" dirty="0"/>
          </a:p>
        </p:txBody>
      </p:sp>
      <p:sp>
        <p:nvSpPr>
          <p:cNvPr id="85" name="Text 83"/>
          <p:cNvSpPr/>
          <p:nvPr/>
        </p:nvSpPr>
        <p:spPr>
          <a:xfrm>
            <a:off x="566928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algebraic-fraction question uses this same idea — only the denominators get more interesting.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Simplifying Algebraic Fractions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numerator and denominator fully, then cancel any factor that appears on BOTH top and bottom. Never cancel single terms across a + or − sign.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top:  x² − 9 = (x − 3)(x + 3)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bottom:  x² + 5x + 6 = (x + 2)(x + 3)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901105" y="507492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882049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225314" y="5234940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− 3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339614" y="5646420"/>
            <a:ext cx="957377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25314" y="5682996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+ 2</a:t>
            </a:r>
            <a:endParaRPr lang="en-US" sz="2100" dirty="0"/>
          </a:p>
        </p:txBody>
      </p:sp>
      <p:pic>
        <p:nvPicPr>
          <p:cNvPr id="5000" name="q02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362456" y="1819656"/>
            <a:ext cx="1729379" cy="384048"/>
          </a:xfrm>
          <a:prstGeom prst="rect">
            <a:avLst/>
          </a:prstGeom>
        </p:spPr>
      </p:pic>
      <p:pic>
        <p:nvPicPr>
          <p:cNvPr id="5001" name="q030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362456" y="4014216"/>
            <a:ext cx="2829687" cy="384048"/>
          </a:xfrm>
          <a:prstGeom prst="rect">
            <a:avLst/>
          </a:prstGeom>
        </p:spPr>
      </p:pic>
      <p:pic>
        <p:nvPicPr>
          <p:cNvPr id="5002" name="q031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4894753" y="5394960"/>
            <a:ext cx="1011936" cy="502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— Past-Paper Practice (1)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numerator and denominator, then cancel common factors.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(x−5)/(2x²)   2) 2(2x+5)/(3x²)   3) 4(x−2)/(3x)   4) (a−2)/(3a)   5) d(3c−8)/5</a:t>
            </a:r>
            <a:endParaRPr lang="en-US" sz="1250" dirty="0"/>
          </a:p>
        </p:txBody>
      </p:sp>
      <p:pic>
        <p:nvPicPr>
          <p:cNvPr id="5000" name="q03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1530416" cy="365760"/>
          </a:xfrm>
          <a:prstGeom prst="rect">
            <a:avLst/>
          </a:prstGeom>
        </p:spPr>
      </p:pic>
      <p:pic>
        <p:nvPicPr>
          <p:cNvPr id="5001" name="q033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1566203" cy="365760"/>
          </a:xfrm>
          <a:prstGeom prst="rect">
            <a:avLst/>
          </a:prstGeom>
        </p:spPr>
      </p:pic>
      <p:pic>
        <p:nvPicPr>
          <p:cNvPr id="5002" name="q034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1669773" cy="365760"/>
          </a:xfrm>
          <a:prstGeom prst="rect">
            <a:avLst/>
          </a:prstGeom>
        </p:spPr>
      </p:pic>
      <p:pic>
        <p:nvPicPr>
          <p:cNvPr id="5003" name="q035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4617720"/>
            <a:ext cx="1772132" cy="365760"/>
          </a:xfrm>
          <a:prstGeom prst="rect">
            <a:avLst/>
          </a:prstGeom>
        </p:spPr>
      </p:pic>
      <p:pic>
        <p:nvPicPr>
          <p:cNvPr id="5004" name="q036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5340096"/>
            <a:ext cx="1833612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— Past-Paper Practice (2)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numerator and denominator, then cancel common factors.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(f+2g²)/(3g)   2) (x+4)/7   3) (x+8)/(x−10)   4) (x+7)/(x+2)   5) (2x+1)/(x−3)</a:t>
            </a:r>
            <a:endParaRPr lang="en-US" sz="1250" dirty="0"/>
          </a:p>
        </p:txBody>
      </p:sp>
      <p:pic>
        <p:nvPicPr>
          <p:cNvPr id="5000" name="q03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1697874" cy="365760"/>
          </a:xfrm>
          <a:prstGeom prst="rect">
            <a:avLst/>
          </a:prstGeom>
        </p:spPr>
      </p:pic>
      <p:pic>
        <p:nvPicPr>
          <p:cNvPr id="5001" name="q038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1794075" cy="365760"/>
          </a:xfrm>
          <a:prstGeom prst="rect">
            <a:avLst/>
          </a:prstGeom>
        </p:spPr>
      </p:pic>
      <p:pic>
        <p:nvPicPr>
          <p:cNvPr id="5002" name="q039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1862050" cy="365760"/>
          </a:xfrm>
          <a:prstGeom prst="rect">
            <a:avLst/>
          </a:prstGeom>
        </p:spPr>
      </p:pic>
      <p:pic>
        <p:nvPicPr>
          <p:cNvPr id="5003" name="q040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4617720"/>
            <a:ext cx="1760645" cy="365760"/>
          </a:xfrm>
          <a:prstGeom prst="rect">
            <a:avLst/>
          </a:prstGeom>
        </p:spPr>
      </p:pic>
      <p:pic>
        <p:nvPicPr>
          <p:cNvPr id="5004" name="q041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5340096"/>
            <a:ext cx="1717963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Fully — Past-Paper Practice (3)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the numerator and denominator, then cancel common factors.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(5x+7)/(x−9)     2) (3−x)/x     3) x(3x−1)/(2x−5)</a:t>
            </a:r>
            <a:endParaRPr lang="en-US" sz="1250" dirty="0"/>
          </a:p>
        </p:txBody>
      </p:sp>
      <p:pic>
        <p:nvPicPr>
          <p:cNvPr id="5000" name="q04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1791115" cy="365760"/>
          </a:xfrm>
          <a:prstGeom prst="rect">
            <a:avLst/>
          </a:prstGeom>
        </p:spPr>
      </p:pic>
      <p:pic>
        <p:nvPicPr>
          <p:cNvPr id="5001" name="q043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2159306" cy="365760"/>
          </a:xfrm>
          <a:prstGeom prst="rect">
            <a:avLst/>
          </a:prstGeom>
        </p:spPr>
      </p:pic>
      <p:pic>
        <p:nvPicPr>
          <p:cNvPr id="5002" name="q044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239406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&amp; Subtracting</a:t>
            </a:r>
            <a:endParaRPr lang="en-US" sz="46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 the denominator: a number, then linear, then quadratic.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common denominator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Rewrite each fraction over it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the numerators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— factorise &amp; cancel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A NUMBER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 Denominators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 42"/>
              <p:cNvSpPr/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Multiply each top by what its denominator is missing.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LCM of 2 and 3 is 6.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Quick: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4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</m:t>
                        </m:r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12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12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</m:t>
                        </m:r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7</m:t>
                            </m:r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12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35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x/3 + x/4 = 4x/12 + 3x/12 = 7x/12</a:t>
                    </a:r>
                  </mc:Fallback>
                </mc:AlternateContent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350" dirty="0"/>
              </a:p>
            </p:txBody>
          </p:sp>
        </mc:Choice>
        <mc:Fallback>
          <p:sp>
            <p:nvSpPr>
              <p:cNvPr id="44" name="Text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blipFill rotWithShape="1">
                <a:blip r:embed="rId3"/>
                <a:stretch>
                  <a:fillRect l="-2464" t="-230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number denominators the common denominator is just the LCM of the numbers.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− 2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+ 1)/2 + (x − 2)/3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 52"/>
              <p:cNvSpPr/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+ 1</m:t>
                                </m:r>
                              </m:e>
                            </m:d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den>
                        </m:f>
                        <m:r>
                          <a:rPr lang="en-US" sz="140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− 2</m:t>
                                </m:r>
                              </m:e>
                            </m:d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3(x + 1)/6 + 2(x − 2)/6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4" name="Text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blipFill rotWithShape="1">
                <a:blip r:embed="rId5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3x + 3 + 2x − 4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− 1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 57"/>
              <p:cNvSpPr/>
              <p:nvPr/>
            </p:nvSpPr>
            <p:spPr>
              <a:xfrm>
                <a:off x="3905631" y="5074920"/>
                <a:ext cx="2884566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num>
                            <m:den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− 2</m:t>
                              </m:r>
                            </m:num>
                            <m:den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3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(x + 1)/2 + (x − 2)/3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9" name="Text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5631" y="5074920"/>
                <a:ext cx="2884566" cy="114300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 58"/>
          <p:cNvSpPr/>
          <p:nvPr/>
        </p:nvSpPr>
        <p:spPr>
          <a:xfrm>
            <a:off x="6771909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115175" y="5234940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− 1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7229475" y="5646420"/>
            <a:ext cx="1062990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15175" y="5682996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A NUMBER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with Number Denominators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signs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minus sign multiplies the whole second numerator.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− 5(x − 3) = − 5x + 15.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slip here is the most common error.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flips the sign of every term in the second numerator.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5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−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− 3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4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(2x + 1)/5 − (x − 3)/4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 52"/>
              <p:cNvSpPr/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4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+ 1</m:t>
                                </m:r>
                              </m:e>
                            </m:d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20</m:t>
                            </m:r>
                          </m:den>
                        </m:f>
                        <m:r>
                          <a:rPr lang="en-US" sz="140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− </m:t>
                        </m:r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5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− 3</m:t>
                                </m:r>
                              </m:e>
                            </m:d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20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4(2x + 1)/20 − 5(x − 3)/20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4" name="Text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8x + 4 − 5x + 15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+ 19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 57"/>
              <p:cNvSpPr/>
              <p:nvPr/>
            </p:nvSpPr>
            <p:spPr>
              <a:xfrm>
                <a:off x="3724763" y="5074920"/>
                <a:ext cx="3069641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num>
                            <m:den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−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− 3</m:t>
                              </m:r>
                            </m:num>
                            <m:den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(2x + 1)/5 − (x − 3)/4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9" name="Text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763" y="5074920"/>
                <a:ext cx="3069641" cy="11430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 58"/>
          <p:cNvSpPr/>
          <p:nvPr/>
        </p:nvSpPr>
        <p:spPr>
          <a:xfrm>
            <a:off x="6776115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119381" y="5234940"/>
            <a:ext cx="14682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+ 19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7233681" y="5646420"/>
            <a:ext cx="1239652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19381" y="5682996"/>
            <a:ext cx="14682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LINEAR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Denominator Contains x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denominator is the product of the linear denominators. </a:t>
            </a:r>
            <a:r>
              <a:rPr lang="en-US" sz="14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fraction top and bottom by the factor it is missing, then combine.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6928" y="260604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 pattern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393338" y="35844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3507638" y="3977640"/>
            <a:ext cx="914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93338" y="401421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p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4422038" y="3657600"/>
            <a:ext cx="3145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4622292" y="35844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4736592" y="3977640"/>
            <a:ext cx="914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22292" y="401421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q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5650992" y="3657600"/>
            <a:ext cx="3145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5851246" y="358444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a(x + q) + b(x + p)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5965546" y="3977640"/>
            <a:ext cx="2596896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51246" y="4014216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p)(x + q)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two different denominators together to get the common denominator.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LINEAR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with Linear Denominators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two denominators to get the common one.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+ 1)(x − 1) = x² − 1.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top; you may leave the bottom factorised.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− 1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3/(x + 1) + 2/(x − 1)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+ 1)(x − 1)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3(x − 1) + 2(x + 1)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3x − 3 + 2x + 2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− 1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942847" y="5074920"/>
                <a:ext cx="2810134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3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2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− 1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3/(x + 1) + 2/(x − 1)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847" y="5074920"/>
                <a:ext cx="2810134" cy="11430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734693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077959" y="5234940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− 1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192259" y="5646420"/>
            <a:ext cx="1062990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77959" y="5682996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− 1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LINEAR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with Linear Denominators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signs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− 3(x + 2) = − 3x − 6, not − 3x + 6.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brackets every time you subtract.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denominator factorised.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5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+ 2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−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− 1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5/(x + 2) − 3/(x − 1)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303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+ 2)(x − 1)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5(x − 1) − 3(x + 2)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5x − 5 − 3x − 6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− 11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446694" y="5074920"/>
                <a:ext cx="2884566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5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+ 2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−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3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− 1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5/(x + 2) − 3/(x − 1)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694" y="5074920"/>
                <a:ext cx="2884566" cy="11430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312972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656238" y="5234940"/>
            <a:ext cx="22094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− 11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6770538" y="5646420"/>
            <a:ext cx="1980865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238" y="5682996"/>
            <a:ext cx="22094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+ 2)(x − 1)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Factorise the Denominator First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factorise a quadratic denominator first. </a:t>
            </a:r>
            <a:r>
              <a:rPr lang="en-US" sz="14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one denominator already contains the other's factor, so the common denominator is smaller than you expect.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6928" y="260604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shared factor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4381805" y="3584448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4496105" y="3977640"/>
            <a:ext cx="941832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1805" y="4014216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− 1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5437937" y="3657600"/>
            <a:ext cx="3145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5638190" y="3584448"/>
            <a:ext cx="2050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5752490" y="3977640"/>
            <a:ext cx="182148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38190" y="4014216"/>
            <a:ext cx="2050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+ 1)(x − 1)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x² − 1 = (x + 1)(x − 1), a fraction over (x + 1) only needs one extra factor.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 Denominators (1)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denominator already IS the common denominator.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second fraction needs multiplying by (x − 1).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+ 2(x − 1) = 3 + 2x − 2 = 2x + 1.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− 1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3/(x² − 1) + 2/(x + 1)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Factorise: x²−1 = (x+1)(x−1)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+ 1)(x − 1)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3 + 2(x − 1)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+ 1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890543" y="5074920"/>
                <a:ext cx="2914741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3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− 1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2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3/(x² − 1) + 2/(x + 1)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543" y="5074920"/>
                <a:ext cx="2914741" cy="11430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786997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130263" y="5234940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+ 1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244563" y="5646420"/>
            <a:ext cx="1062990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0263" y="5682996"/>
            <a:ext cx="12915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− 1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 Denominators (2)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signs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(x + 3): x − x − 3 = − 3.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x-terms cancel — a tidy constant numerator.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denominator factorised.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+ 5</m:t>
                            </m:r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+ 6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−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+ 2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x/(x² + 5x + 6) − 1/(x + 2)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Factorise: x²+5x+6 = (x+2)(x+3)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denominator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+ 2)(x + 3)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x − (x + 3)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− 3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260293" y="5074920"/>
                <a:ext cx="3186318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+ 5</m:t>
                              </m:r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+ 6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−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+ 2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x/(x²+5x+6) − 1/(x+2)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293" y="5074920"/>
                <a:ext cx="3186318" cy="11430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428323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771589" y="5234940"/>
            <a:ext cx="22805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− 3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6885889" y="5646420"/>
            <a:ext cx="2051914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71589" y="5682996"/>
            <a:ext cx="22805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+ 2)(x + 3)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&amp; Subtract —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as a single fraction in its simplest form. Show every line.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2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(5x+7)/[(x+3)(x−1)]   2) (x+10)/[(x−2)(x+1)]   3) (2x+1)/[x(x+1)]   4) (x²+2x+6)/[(x+2)(x−1)]   5) (8−x)/[(x+3)(x−3)]</a:t>
            </a:r>
            <a:endParaRPr lang="en-US" sz="1250" dirty="0"/>
          </a:p>
        </p:txBody>
      </p:sp>
      <p:pic>
        <p:nvPicPr>
          <p:cNvPr id="5000" name="q001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2450592"/>
            <a:ext cx="4000500" cy="365760"/>
          </a:xfrm>
          <a:prstGeom prst="rect">
            <a:avLst/>
          </a:prstGeom>
        </p:spPr>
      </p:pic>
      <p:pic>
        <p:nvPicPr>
          <p:cNvPr id="5001" name="q002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172968"/>
            <a:ext cx="4000500" cy="365760"/>
          </a:xfrm>
          <a:prstGeom prst="rect">
            <a:avLst/>
          </a:prstGeom>
        </p:spPr>
      </p:pic>
      <p:pic>
        <p:nvPicPr>
          <p:cNvPr id="5002" name="q003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3895344"/>
            <a:ext cx="3610907" cy="365760"/>
          </a:xfrm>
          <a:prstGeom prst="rect">
            <a:avLst/>
          </a:prstGeom>
        </p:spPr>
      </p:pic>
      <p:pic>
        <p:nvPicPr>
          <p:cNvPr id="5003" name="q004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4617720"/>
            <a:ext cx="4000500" cy="365760"/>
          </a:xfrm>
          <a:prstGeom prst="rect">
            <a:avLst/>
          </a:prstGeom>
        </p:spPr>
      </p:pic>
      <p:pic>
        <p:nvPicPr>
          <p:cNvPr id="5004" name="q005.png"/>
          <p:cNvPicPr/>
          <p:nvPr/>
        </p:nvPicPr>
        <p:blipFill>
          <a:blip r:embed="rId7"/>
          <a:stretch>
            <a:fillRect/>
          </a:stretch>
        </p:blipFill>
        <p:spPr>
          <a:xfrm>
            <a:off x="1417320" y="5340096"/>
            <a:ext cx="3862136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&amp; Subtract — More Past-Paper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as a single fraction in its simplest form. Factorise the denominators first.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(17−3x)/[15(x+2)]   2) (19x+35)/[x(x−2)(x+5)]   3) 12(x+8)/[(x−7)(x+3)(x+7)]   4) (4x−90)/[3x(x−9)(x+4)]   5) (8x−45)/[(x−10)(x−3)(x+10)]</a:t>
            </a:r>
            <a:endParaRPr lang="en-US" sz="1250" dirty="0"/>
          </a:p>
        </p:txBody>
      </p:sp>
      <p:pic>
        <p:nvPicPr>
          <p:cNvPr id="5000" name="q01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2264705" cy="365760"/>
          </a:xfrm>
          <a:prstGeom prst="rect">
            <a:avLst/>
          </a:prstGeom>
        </p:spPr>
      </p:pic>
      <p:pic>
        <p:nvPicPr>
          <p:cNvPr id="5001" name="q016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2746983" cy="365760"/>
          </a:xfrm>
          <a:prstGeom prst="rect">
            <a:avLst/>
          </a:prstGeom>
        </p:spPr>
      </p:pic>
      <p:pic>
        <p:nvPicPr>
          <p:cNvPr id="5002" name="q017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2584383" cy="365760"/>
          </a:xfrm>
          <a:prstGeom prst="rect">
            <a:avLst/>
          </a:prstGeom>
        </p:spPr>
      </p:pic>
      <p:pic>
        <p:nvPicPr>
          <p:cNvPr id="5003" name="q018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4617720"/>
            <a:ext cx="2820861" cy="365760"/>
          </a:xfrm>
          <a:prstGeom prst="rect">
            <a:avLst/>
          </a:prstGeom>
        </p:spPr>
      </p:pic>
      <p:pic>
        <p:nvPicPr>
          <p:cNvPr id="5004" name="q019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5340096"/>
            <a:ext cx="2593144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&amp; Subtract — Harder Past-Paper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every denominator first, then find the common denominator.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(x²−3x−6)/[(x−3)(x+3)²]   2) x(x−7)/[(x−1)(x+2)(x+3)]   3) (7−3x)/[2(3x−5)(3x+5)]   4) (3x+16)/(4x)</a:t>
            </a:r>
            <a:endParaRPr lang="en-US" sz="1250" dirty="0"/>
          </a:p>
        </p:txBody>
      </p:sp>
      <p:pic>
        <p:nvPicPr>
          <p:cNvPr id="5000" name="q02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2338086" cy="365760"/>
          </a:xfrm>
          <a:prstGeom prst="rect">
            <a:avLst/>
          </a:prstGeom>
        </p:spPr>
      </p:pic>
      <p:pic>
        <p:nvPicPr>
          <p:cNvPr id="5001" name="q021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2716062" cy="365760"/>
          </a:xfrm>
          <a:prstGeom prst="rect">
            <a:avLst/>
          </a:prstGeom>
        </p:spPr>
      </p:pic>
      <p:pic>
        <p:nvPicPr>
          <p:cNvPr id="5002" name="q022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2387325" cy="365760"/>
          </a:xfrm>
          <a:prstGeom prst="rect">
            <a:avLst/>
          </a:prstGeom>
        </p:spPr>
      </p:pic>
      <p:pic>
        <p:nvPicPr>
          <p:cNvPr id="5003" name="q023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4617720"/>
            <a:ext cx="2174097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&amp; Dividing</a:t>
            </a:r>
            <a:endParaRPr lang="en-US" sz="46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Factorise everything, then cancel. To divide, flip and multiply.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Factorise each numerator and denominator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Multiply: tops × tops, bottoms × bottoms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Divide: keep, flip the 2nd, multiply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 common factors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Algebraic Fractions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common denominator needed for ×.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first so you can cancel.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numerators together and denominators together.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+ 2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×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− 4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+ 2)/x × x²/(x² − 4)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757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Factorise: x²−4 = (x−2)(x+2)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 51"/>
              <p:cNvSpPr/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+ 2</m:t>
                            </m:r>
                          </m:e>
                        </m:d>
                        <m:r>
                          <a:rPr lang="en-US" sz="140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× </m:t>
                        </m:r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− 2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+ 2</m:t>
                                </m:r>
                              </m:e>
                            </m:d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+ 2)·x² / [x(x−2)(x+2)]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3" name="Text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 54"/>
              <p:cNvSpPr/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Cancel (x + 2) and one x  →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− 2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x/(x − 2)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6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blipFill rotWithShape="1">
                <a:blip r:embed="rId5"/>
                <a:stretch>
                  <a:fillRect l="-2000" b="-15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901105" y="5074920"/>
                <a:ext cx="2999232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+ 2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×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− 4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(x + 2)/x × x²/(x²−4)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105" y="5074920"/>
                <a:ext cx="2999232" cy="114300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882049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225314" y="5234940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339614" y="5646420"/>
            <a:ext cx="957377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25314" y="5682996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− 2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Algebraic Fractions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– Flip – Multiply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= multiplying by the reciprocal.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second fraction flips.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factorise and cancel as usual.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÷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− 1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3/(x + 1) ÷ 6/(x² − 1)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 48"/>
              <p:cNvSpPr/>
              <p:nvPr/>
            </p:nvSpPr>
            <p:spPr>
              <a:xfrm>
                <a:off x="1362456" y="254203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Keep, flip, multiply: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den>
                        </m:f>
                        <m:r>
                          <a:rPr lang="en-US" sz="140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× </m:t>
                        </m:r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− 1</m:t>
                            </m:r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3/(x+1) × (x²−1)/6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0" name="Text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254203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757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Factorise: x²−1 = (x+1)(x−1)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 54"/>
              <p:cNvSpPr/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Cancel (x + 1) and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3/6</a:t>
                    </a:r>
                  </mc:Fallback>
                </mc:AlternateContent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→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− 1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− 1)/2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6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blipFill rotWithShape="1">
                <a:blip r:embed="rId5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4063365" y="5074920"/>
                <a:ext cx="2745760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3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÷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6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− 1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3/(x + 1) ÷ 6/(x²−1)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365" y="5074920"/>
                <a:ext cx="2745760" cy="114300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6790837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134103" y="5234940"/>
            <a:ext cx="1114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− 1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248403" y="5646420"/>
            <a:ext cx="886328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4103" y="5682996"/>
            <a:ext cx="1114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&amp; DIVIDE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Factorise, then Cancel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every quadratic before cancelling.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factors that appear on top and bottom.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cancel single terms across a + or − sign.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 out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− 9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² + </m:t>
                            </m:r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×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− 3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(x²−9)/(x²+x) × (x+1)/(x−3)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757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Shape 46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 48"/>
              <p:cNvSpPr/>
              <p:nvPr/>
            </p:nvSpPr>
            <p:spPr>
              <a:xfrm>
                <a:off x="1362456" y="254203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Factorise: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− 3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+ 3</m:t>
                                </m:r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+ 1</m:t>
                                </m:r>
                              </m:e>
                            </m:d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(x−3)(x+3) / x(x+1)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0" name="Text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254203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303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Shape 49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 51"/>
              <p:cNvSpPr/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− 3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+ 3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+ 1</m:t>
                                </m:r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+ 1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sz="1400" i="1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x</m:t>
                                </m:r>
                                <m:r>
                                  <a:rPr lang="en-US" sz="1400" dirty="0">
                                    <a:solidFill>
                                      <a:srgbClr val="1C2A22"/>
                                    </a:solidFill>
                                    <a:latin typeface="Cambria Math"/>
                                    <a:ea typeface="Calibri" pitchFamily="34" charset="-122"/>
                                    <a:cs typeface="Calibri" pitchFamily="34" charset="-120"/>
                                  </a:rPr>
                                  <m:t> − 3</m:t>
                                </m:r>
                              </m:e>
                            </m:d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(x−3)(x+3)(x+1) / [x(x+1)(x−3)]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3" name="Text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blipFill rotWithShape="1">
                <a:blip r:embed="rId5"/>
                <a:stretch>
                  <a:fillRect l="-2000" b="-303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hape 52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 54"/>
              <p:cNvSpPr/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Cancel (x−3) and (x+1)  →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+ 3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C84F2F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+ 3)/x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56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4005072"/>
                <a:ext cx="5486400" cy="402336"/>
              </a:xfrm>
              <a:prstGeom prst="rect">
                <a:avLst/>
              </a:prstGeom>
              <a:blipFill rotWithShape="1">
                <a:blip r:embed="rId6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 56"/>
              <p:cNvSpPr/>
              <p:nvPr/>
            </p:nvSpPr>
            <p:spPr>
              <a:xfrm>
                <a:off x="3451494" y="5074920"/>
                <a:ext cx="3898453" cy="1143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− 9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² + </m:t>
                              </m:r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</m:den>
                          </m:f>
                          <m:r>
                            <a:rPr lang="en-US" sz="2200" b="1" dirty="0">
                              <a:solidFill>
                                <a:srgbClr val="FFFFFF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 × </m:t>
                          </m:r>
                          <m:f>
                            <m:fPr>
                              <m:ctrlPr>
                                <a:rPr lang="en-US" sz="2200" b="1" i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+ 1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x</m:t>
                              </m:r>
                              <m:r>
                                <a:rPr lang="en-US" sz="2200" b="1" dirty="0">
                                  <a:solidFill>
                                    <a:srgbClr val="FFFFFF"/>
                                  </a:solidFill>
                                  <a:latin typeface="Cambria Math"/>
                                  <a:ea typeface="Cambria" pitchFamily="34" charset="-122"/>
                                  <a:cs typeface="Cambria" pitchFamily="34" charset="-120"/>
                                </a:rPr>
                                <m:t> − 3</m:t>
                              </m:r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a:t xml:space="preserve">(x²−9)/(x²+x) × (x+1)/(x−3)</a:t>
                    </a:r>
                  </mc:Fallback>
                </mc:AlternateContent>
                <a:endParaRPr lang="en-US" sz="2200" dirty="0"/>
              </a:p>
            </p:txBody>
          </p:sp>
        </mc:Choice>
        <mc:Fallback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94" y="5074920"/>
                <a:ext cx="3898453" cy="114300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 57"/>
          <p:cNvSpPr/>
          <p:nvPr/>
        </p:nvSpPr>
        <p:spPr>
          <a:xfrm>
            <a:off x="7331659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7674925" y="5234940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</a:t>
            </a:r>
            <a:endParaRPr lang="en-US" sz="2100" dirty="0"/>
          </a:p>
        </p:txBody>
      </p:sp>
      <p:sp>
        <p:nvSpPr>
          <p:cNvPr id="61" name="Shape 59"/>
          <p:cNvSpPr/>
          <p:nvPr/>
        </p:nvSpPr>
        <p:spPr>
          <a:xfrm>
            <a:off x="7789225" y="5646420"/>
            <a:ext cx="957377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74925" y="5682996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Multiply, Divide &amp; Simplify —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each expression fully. Factorise first, then cancel.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66944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822960" y="526694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2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1/2     2) (x+3)/x     3) (x−2)/x     4) (2x−1)/(x−1)</a:t>
            </a:r>
            <a:endParaRPr lang="en-US" sz="1250" dirty="0"/>
          </a:p>
        </p:txBody>
      </p:sp>
      <p:pic>
        <p:nvPicPr>
          <p:cNvPr id="5000" name="q006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2450592"/>
            <a:ext cx="2113807" cy="365760"/>
          </a:xfrm>
          <a:prstGeom prst="rect">
            <a:avLst/>
          </a:prstGeom>
        </p:spPr>
      </p:pic>
      <p:pic>
        <p:nvPicPr>
          <p:cNvPr id="5001" name="q007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172968"/>
            <a:ext cx="1913035" cy="365760"/>
          </a:xfrm>
          <a:prstGeom prst="rect">
            <a:avLst/>
          </a:prstGeom>
        </p:spPr>
      </p:pic>
      <p:pic>
        <p:nvPicPr>
          <p:cNvPr id="5002" name="q008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3895344"/>
            <a:ext cx="1949205" cy="365760"/>
          </a:xfrm>
          <a:prstGeom prst="rect">
            <a:avLst/>
          </a:prstGeom>
        </p:spPr>
      </p:pic>
      <p:pic>
        <p:nvPicPr>
          <p:cNvPr id="5003" name="q009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4617720"/>
            <a:ext cx="2088798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Multiply, Divide &amp; Combine — Past-Paper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first, cancel, then combine. Show clear algebraic working.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66944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822960" y="526694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(34−6x)/[(x−5)(x−1)]     2) 2/[(x−6)(x+6)]     3) 54/(5x+2)</a:t>
            </a:r>
            <a:endParaRPr lang="en-US" sz="1250" dirty="0"/>
          </a:p>
        </p:txBody>
      </p:sp>
      <p:pic>
        <p:nvPicPr>
          <p:cNvPr id="5000" name="q02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3096465" cy="365760"/>
          </a:xfrm>
          <a:prstGeom prst="rect">
            <a:avLst/>
          </a:prstGeom>
        </p:spPr>
      </p:pic>
      <p:pic>
        <p:nvPicPr>
          <p:cNvPr id="5001" name="q025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2916454" cy="365760"/>
          </a:xfrm>
          <a:prstGeom prst="rect">
            <a:avLst/>
          </a:prstGeom>
        </p:spPr>
      </p:pic>
      <p:pic>
        <p:nvPicPr>
          <p:cNvPr id="5002" name="q026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895344"/>
            <a:ext cx="3387159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Equations</a:t>
            </a:r>
            <a:endParaRPr lang="en-US" sz="46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the fractions first — then solve what is left.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to a number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to a linear expression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sum of fractions = a number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 that become quadratic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= A NUMBER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Fraction Equals a Number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Another type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 42"/>
              <p:cNvSpPr/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Variable in the denominator: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12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5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12/x = 3</a:t>
                    </a:r>
                  </mc:Fallback>
                </mc:AlternateContent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Multiply by x:  12 = 3x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  x = 4.</a:t>
                </a:r>
                <a:endParaRPr lang="en-US" sz="1350" dirty="0"/>
              </a:p>
            </p:txBody>
          </p:sp>
        </mc:Choice>
        <mc:Fallback>
          <p:sp>
            <p:nvSpPr>
              <p:cNvPr id="44" name="Text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blipFill rotWithShape="1">
                <a:blip r:embed="rId3"/>
                <a:stretch>
                  <a:fillRect l="-2464" t="-230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the denominator to remove the fraction.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+ 3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4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 + 3)/4 = 2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4: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+ 3 = 8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3: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5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5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= A LINEAR EXPRESSION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Fraction Equals an Expression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Another type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 42"/>
              <p:cNvSpPr/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− 2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x</m:t>
                        </m:r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5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(3x − 2)/2 = x + 3</a:t>
                    </a:r>
                  </mc:Fallback>
                </mc:AlternateContent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Multiply by 2:  3x − 2 = 2(x + 3)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3x − 2 = 2x + 6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  x = 8.</a:t>
                </a:r>
                <a:endParaRPr lang="en-US" sz="1350" dirty="0"/>
              </a:p>
            </p:txBody>
          </p:sp>
        </mc:Choice>
        <mc:Fallback>
          <p:sp>
            <p:nvSpPr>
              <p:cNvPr id="44" name="Text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blipFill rotWithShape="1">
                <a:blip r:embed="rId3"/>
                <a:stretch>
                  <a:fillRect l="-2464" t="-25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out the bracket, gather the x-terms, then solve.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x</m:t>
                        </m:r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− 1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(2x + 1)/3 = x − 1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3: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+ 1 = 3(x − 1)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+ 1 = 3x − 3  →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4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A SUM = A NUMBER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Fractions, then Solve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Another type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 42"/>
              <p:cNvSpPr/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+ 1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350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 − 2</m:t>
                            </m:r>
                          </m:num>
                          <m:den>
                            <m:r>
                              <a:rPr lang="en-US" sz="1350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den>
                        </m:f>
                        <m:r>
                          <a:rPr lang="en-US" sz="1350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4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5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(x+1)/2 + (x−2)/3 = 4</a:t>
                    </a:r>
                  </mc:Fallback>
                </mc:AlternateContent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Multiply by 6:  3(x+1) + 2(x−2) = 24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5x − 1 = 24</a:t>
                </a:r>
                <a:endParaRPr lang="en-US" sz="1350" dirty="0"/>
              </a:p>
              <a:p>
                <a:pPr marL="0" indent="0">
                  <a:spcAft>
                    <a:spcPts val="800"/>
                  </a:spcAft>
                  <a:buNone/>
                </a:pPr>
                <a:r>
                  <a:rPr lang="en-US" sz="135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  x = 5.</a:t>
                </a:r>
                <a:endParaRPr lang="en-US" sz="1350" dirty="0"/>
              </a:p>
            </p:txBody>
          </p:sp>
        </mc:Choice>
        <mc:Fallback>
          <p:sp>
            <p:nvSpPr>
              <p:cNvPr id="44" name="Text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0" y="2240280"/>
                <a:ext cx="4206240" cy="2377440"/>
              </a:xfrm>
              <a:prstGeom prst="rect">
                <a:avLst/>
              </a:prstGeom>
              <a:blipFill rotWithShape="1">
                <a:blip r:embed="rId3"/>
                <a:stretch>
                  <a:fillRect l="-2464" t="-25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every term by the common denominator clears all fractions at once.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2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num>
                          <m:den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3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x/2 + x/3 = 5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4"/>
                <a:stretch>
                  <a:fillRect l="-2000" b="-15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every term by 6: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+ 2x = 30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= 30  →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6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6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BECOMES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Solving Gives a Quadratic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in the denominator often leads to a quadratic.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everything to one side: = 0.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and read off both solutions.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for two solutions when the equation becomes quadratic.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 46"/>
              <p:cNvSpPr/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Solve 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x</m:t>
                        </m:r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+ </m:t>
                        </m:r>
                        <m:f>
                          <m:fPr>
                            <m:ctrlPr>
                              <a:rPr lang="en-US" sz="1400" b="1" i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fPr>
                          <m:num>
                            <m: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6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1" dirty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  <m:t>x</m:t>
                            </m:r>
                          </m:den>
                        </m:f>
                        <m:r>
                          <a:rPr lang="en-US" sz="1400" b="1" dirty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  <m:t> = 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a:t xml:space="preserve">x + 6/x = 5</a:t>
                    </a:r>
                  </mc:Fallback>
                </mc:AlternateContent>
                <a:endParaRPr lang="en-US" sz="1400" dirty="0"/>
              </a:p>
            </p:txBody>
          </p:sp>
        </mc:Choice>
        <mc:Fallback>
          <p:sp>
            <p:nvSpPr>
              <p:cNvPr id="48" name="Text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181051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4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every term by x: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x² + 6 = 5x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x² − 5x + 6 = 0  →  (x−2)(x−3) = 0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   or   x = 3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—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each equation. Show your method clearly.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2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x = 7     2) x = 4     3) x = 7     4) x = 24     5) x = 2 or x = 4</a:t>
            </a:r>
            <a:endParaRPr lang="en-US" sz="1250" dirty="0"/>
          </a:p>
        </p:txBody>
      </p:sp>
      <p:pic>
        <p:nvPicPr>
          <p:cNvPr id="5000" name="q010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2450592"/>
            <a:ext cx="1538714" cy="365760"/>
          </a:xfrm>
          <a:prstGeom prst="rect">
            <a:avLst/>
          </a:prstGeom>
        </p:spPr>
      </p:pic>
      <p:pic>
        <p:nvPicPr>
          <p:cNvPr id="5001" name="q011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417320" y="3172968"/>
            <a:ext cx="1541417" cy="365760"/>
          </a:xfrm>
          <a:prstGeom prst="rect">
            <a:avLst/>
          </a:prstGeom>
        </p:spPr>
      </p:pic>
      <p:pic>
        <p:nvPicPr>
          <p:cNvPr id="5002" name="q012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320" y="3895344"/>
            <a:ext cx="2094568" cy="365760"/>
          </a:xfrm>
          <a:prstGeom prst="rect">
            <a:avLst/>
          </a:prstGeom>
        </p:spPr>
      </p:pic>
      <p:pic>
        <p:nvPicPr>
          <p:cNvPr id="5003" name="q013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1417320" y="4617720"/>
            <a:ext cx="2073623" cy="365760"/>
          </a:xfrm>
          <a:prstGeom prst="rect">
            <a:avLst/>
          </a:prstGeom>
        </p:spPr>
      </p:pic>
      <p:pic>
        <p:nvPicPr>
          <p:cNvPr id="5004" name="q014.png"/>
          <p:cNvPicPr/>
          <p:nvPr/>
        </p:nvPicPr>
        <p:blipFill>
          <a:blip r:embed="rId7"/>
          <a:stretch>
            <a:fillRect/>
          </a:stretch>
        </p:blipFill>
        <p:spPr>
          <a:xfrm>
            <a:off x="1417320" y="5340096"/>
            <a:ext cx="1915885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&amp; Rearranging — Past-Paper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 for each.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1) x = −1 or x = 3/2      2) a = (3 − 4y)/(2y − 3)</a:t>
            </a:r>
            <a:endParaRPr lang="en-US" sz="1250" dirty="0"/>
          </a:p>
        </p:txBody>
      </p:sp>
      <p:pic>
        <p:nvPicPr>
          <p:cNvPr id="5000" name="q02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417320" y="2450592"/>
            <a:ext cx="2185181" cy="365760"/>
          </a:xfrm>
          <a:prstGeom prst="rect">
            <a:avLst/>
          </a:prstGeom>
        </p:spPr>
      </p:pic>
      <p:pic>
        <p:nvPicPr>
          <p:cNvPr id="5001" name="q028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417320" y="3172968"/>
            <a:ext cx="5591907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subtract: common denominator first — number, then linear, then quadratic.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quadratic denominators; often one already contains the other's factor.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multiply tops and bottoms, factorise and cancel — no common denominator needed.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keep the first, flip the second, multiply.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multiply every term by the denominator to clear fractions, then solve (watch for quadratics).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cancel single terms across a + or − sign — only cancel whole factors.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2972</Words>
  <Application>Microsoft Office PowerPoint</Application>
  <PresentationFormat>Custom</PresentationFormat>
  <Paragraphs>532</Paragraphs>
  <Slides>32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Fractions</dc:title>
  <dc:subject>PptxGenJS Presentation</dc:subject>
  <dc:creator>Zahra Sheikh Ali</dc:creator>
  <cp:lastModifiedBy>zahraa sheik ali</cp:lastModifiedBy>
  <cp:revision>2</cp:revision>
  <dcterms:created xsi:type="dcterms:W3CDTF">2026-06-28T20:12:02Z</dcterms:created>
  <dcterms:modified xsi:type="dcterms:W3CDTF">2026-06-29T11:42:23Z</dcterms:modified>
</cp:coreProperties>
</file>