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72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9570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69680" y="685800"/>
            <a:ext cx="2286000" cy="2286000"/>
          </a:xfrm>
          <a:prstGeom prst="ellipse">
            <a:avLst/>
          </a:prstGeom>
          <a:ln w="6350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1371600"/>
            <a:ext cx="2926080" cy="100584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86800" y="2468880"/>
            <a:ext cx="2834640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2" name="Text 40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Chords, Secants &amp; Tangents</a:t>
            </a:r>
            <a:endParaRPr lang="en-US" sz="3600" dirty="0"/>
          </a:p>
        </p:txBody>
      </p:sp>
      <p:sp>
        <p:nvSpPr>
          <p:cNvPr id="45" name="Text 43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Intersecting Chord Theorem · Intersecting Secant Theorem · Tangent–Secant · Finding Lengths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Theorems About LENGTHS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theorems are about LENGTHS, not angles.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cut a circle, the products of their segments are equal.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Chord, secant or tangent?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Intersecting chord theorem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Intersecting secant theorem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Substituting into the formula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full lengths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· secant · tangent · segment · product · external part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Chords vs Secants vs Tangents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s-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 = touches at ONE point.  Secant = cuts through at TWO points.  Chord = joins two points on the circumference.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IDEA 1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Intersecting Chord Theorem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s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chords cross INSIDE the circle,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the two parts of one chord = the product of the two parts of the other.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RULES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These Two Formulas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rules say the same thing: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EQUAL. Only where the lines meet changes.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9456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Chords meet INSIDE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chords cross inside the circle.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× b  =  c × d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 the two parts of each chord.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0488" y="219456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4323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Secants meet OUTSIDE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secants meet at a point outside.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× (a + b)  =  c × (c + d)</a:t>
            </a:r>
            <a:endParaRPr lang="en-US" sz="16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part × WHOLE length, for each secant.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66928" y="57150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715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the circle: external part × the WHOLE secant.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IDEA 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Intersecting Secant Theorem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s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secants meet OUTSIDE the circle,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part × whole secant  =  external part × whole secant.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into the Formula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8126922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segment, then substitute.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often get an equation to solve for x.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id="{11DB5D03-3814-5568-288F-B8966732EEDF}"/>
                  </a:ext>
                </a:extLst>
              </p:cNvPr>
              <p:cNvSpPr txBox="1"/>
              <p:nvPr/>
            </p:nvSpPr>
            <p:spPr>
              <a:xfrm>
                <a:off x="3181831" y="1329452"/>
                <a:ext cx="2658148" cy="369332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Find the missing length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GB" sz="1600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1DB5D03-3814-5568-288F-B8966732E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831" y="1329452"/>
                <a:ext cx="2658148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Oval 73">
            <a:extLst>
              <a:ext uri="{FF2B5EF4-FFF2-40B4-BE49-F238E27FC236}">
                <a16:creationId xmlns:a16="http://schemas.microsoft.com/office/drawing/2014/main" xmlns="" id="{00DC27DC-8721-1EE8-F628-1B6CC8AE9F34}"/>
              </a:ext>
            </a:extLst>
          </p:cNvPr>
          <p:cNvSpPr/>
          <p:nvPr/>
        </p:nvSpPr>
        <p:spPr>
          <a:xfrm>
            <a:off x="7213597" y="1817135"/>
            <a:ext cx="3816424" cy="381642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xmlns="" id="{C0D252E5-39BC-F32B-B0FF-DBEF4BA0AA23}"/>
              </a:ext>
            </a:extLst>
          </p:cNvPr>
          <p:cNvCxnSpPr>
            <a:cxnSpLocks/>
          </p:cNvCxnSpPr>
          <p:nvPr/>
        </p:nvCxnSpPr>
        <p:spPr>
          <a:xfrm>
            <a:off x="7285605" y="3257295"/>
            <a:ext cx="3024336" cy="19442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xmlns="" id="{92728F5A-0DBA-6953-8FAE-B00427AE05C4}"/>
              </a:ext>
            </a:extLst>
          </p:cNvPr>
          <p:cNvCxnSpPr>
            <a:cxnSpLocks/>
          </p:cNvCxnSpPr>
          <p:nvPr/>
        </p:nvCxnSpPr>
        <p:spPr>
          <a:xfrm flipH="1">
            <a:off x="7673969" y="1839995"/>
            <a:ext cx="1447840" cy="31525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xmlns="" id="{DEEBE3AC-0696-8284-8AA6-5CFF35967469}"/>
                  </a:ext>
                </a:extLst>
              </p:cNvPr>
              <p:cNvSpPr txBox="1"/>
              <p:nvPr/>
            </p:nvSpPr>
            <p:spPr>
              <a:xfrm>
                <a:off x="7818536" y="4350303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EEBE3AC-0696-8284-8AA6-5CFF35967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536" y="4350303"/>
                <a:ext cx="551459" cy="4616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id="{D89BF0B0-2B80-7D3C-F89E-290B40D1D1AD}"/>
                  </a:ext>
                </a:extLst>
              </p:cNvPr>
              <p:cNvSpPr txBox="1"/>
              <p:nvPr/>
            </p:nvSpPr>
            <p:spPr>
              <a:xfrm>
                <a:off x="9121809" y="4121391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89BF0B0-2B80-7D3C-F89E-290B40D1D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1809" y="4121391"/>
                <a:ext cx="551459" cy="46166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id="{3DB6150C-7A94-09AE-8C17-F6DED4D9EB3A}"/>
                  </a:ext>
                </a:extLst>
              </p:cNvPr>
              <p:cNvSpPr txBox="1"/>
              <p:nvPr/>
            </p:nvSpPr>
            <p:spPr>
              <a:xfrm>
                <a:off x="8617753" y="2553368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DB6150C-7A94-09AE-8C17-F6DED4D9E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53" y="2553368"/>
                <a:ext cx="551459" cy="4616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id="{2C144442-5B2A-63C4-0A1C-8C49FF15A7DB}"/>
                  </a:ext>
                </a:extLst>
              </p:cNvPr>
              <p:cNvSpPr txBox="1"/>
              <p:nvPr/>
            </p:nvSpPr>
            <p:spPr>
              <a:xfrm>
                <a:off x="7598242" y="3081860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2C144442-5B2A-63C4-0A1C-8C49FF15A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8242" y="3081860"/>
                <a:ext cx="551459" cy="46166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id="{D0725CD6-57AB-6DF3-FD65-A6F5B28E2652}"/>
                  </a:ext>
                </a:extLst>
              </p:cNvPr>
              <p:cNvSpPr txBox="1"/>
              <p:nvPr/>
            </p:nvSpPr>
            <p:spPr>
              <a:xfrm>
                <a:off x="3129931" y="1803877"/>
                <a:ext cx="2813938" cy="434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𝑎𝑏</m:t>
                      </m:r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=3×6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=18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b="0" dirty="0"/>
              </a:p>
              <a:p>
                <a:pPr algn="ctr"/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800" b="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0725CD6-57AB-6DF3-FD65-A6F5B28E2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9931" y="1803877"/>
                <a:ext cx="2813938" cy="4348883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AC42BF4D-9C71-2840-DA17-24D2FB826D2B}"/>
              </a:ext>
            </a:extLst>
          </p:cNvPr>
          <p:cNvCxnSpPr>
            <a:cxnSpLocks/>
          </p:cNvCxnSpPr>
          <p:nvPr/>
        </p:nvCxnSpPr>
        <p:spPr>
          <a:xfrm flipH="1">
            <a:off x="5839979" y="2302284"/>
            <a:ext cx="463930" cy="55344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xmlns="" id="{419E119C-E713-7026-5151-DC08A556423D}"/>
              </a:ext>
            </a:extLst>
          </p:cNvPr>
          <p:cNvSpPr txBox="1"/>
          <p:nvPr/>
        </p:nvSpPr>
        <p:spPr>
          <a:xfrm>
            <a:off x="5899846" y="1613114"/>
            <a:ext cx="1307882" cy="83099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Substitute</a:t>
            </a:r>
            <a:r>
              <a:rPr lang="en-GB" sz="1600" dirty="0"/>
              <a:t> into the formula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xmlns="" id="{79DE05CF-64EE-4613-7041-2E76A2867942}"/>
              </a:ext>
            </a:extLst>
          </p:cNvPr>
          <p:cNvCxnSpPr>
            <a:cxnSpLocks/>
          </p:cNvCxnSpPr>
          <p:nvPr/>
        </p:nvCxnSpPr>
        <p:spPr>
          <a:xfrm flipH="1" flipV="1">
            <a:off x="5817506" y="4743998"/>
            <a:ext cx="586735" cy="65763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xmlns="" id="{502840F5-3BD6-ED6A-39E1-3DF8802E237D}"/>
                  </a:ext>
                </a:extLst>
              </p:cNvPr>
              <p:cNvSpPr txBox="1"/>
              <p:nvPr/>
            </p:nvSpPr>
            <p:spPr>
              <a:xfrm>
                <a:off x="5977723" y="5136584"/>
                <a:ext cx="1307882" cy="36933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b="1" dirty="0"/>
                  <a:t>Solve</a:t>
                </a:r>
                <a:r>
                  <a:rPr lang="en-GB" sz="1600" dirty="0"/>
                  <a:t>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GB" sz="16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02840F5-3BD6-ED6A-39E1-3DF8802E2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7723" y="5136584"/>
                <a:ext cx="1307882" cy="369332"/>
              </a:xfrm>
              <a:prstGeom prst="rect">
                <a:avLst/>
              </a:prstGeom>
              <a:blipFill rotWithShape="1">
                <a:blip r:embed="rId9"/>
                <a:stretch>
                  <a:fillRect b="-17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Oval 85">
            <a:extLst>
              <a:ext uri="{FF2B5EF4-FFF2-40B4-BE49-F238E27FC236}">
                <a16:creationId xmlns:a16="http://schemas.microsoft.com/office/drawing/2014/main" xmlns="" id="{78CEC4BC-DC2E-2DC1-FE5D-C08A50158986}"/>
              </a:ext>
            </a:extLst>
          </p:cNvPr>
          <p:cNvSpPr/>
          <p:nvPr/>
        </p:nvSpPr>
        <p:spPr>
          <a:xfrm flipV="1">
            <a:off x="9158393" y="3620763"/>
            <a:ext cx="45719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  <p:bldP spid="8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FULL Lengths of the Secants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133856"/>
            <a:ext cx="8616848" cy="487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Careful: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secant length is the OUTSIDE part PLUS the part inside the circle — not just one piece.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xmlns="" id="{25594902-F7DB-FA7F-CB24-F5C566553FE8}"/>
                  </a:ext>
                </a:extLst>
              </p:cNvPr>
              <p:cNvSpPr txBox="1"/>
              <p:nvPr/>
            </p:nvSpPr>
            <p:spPr>
              <a:xfrm>
                <a:off x="3103903" y="1395405"/>
                <a:ext cx="2939639" cy="400110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/>
                  <a:t>Find the missing length</a:t>
                </a:r>
                <a:r>
                  <a:rPr lang="en-GB" sz="2000" dirty="0"/>
                  <a:t>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25594902-F7DB-FA7F-CB24-F5C566553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3903" y="1395405"/>
                <a:ext cx="2939639" cy="400110"/>
              </a:xfrm>
              <a:prstGeom prst="rect">
                <a:avLst/>
              </a:prstGeom>
              <a:blipFill rotWithShape="1">
                <a:blip r:embed="rId3"/>
                <a:stretch>
                  <a:fillRect b="-2222"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xmlns="" id="{63CC6FCB-3503-44D7-5742-8E0C231F16CC}"/>
              </a:ext>
            </a:extLst>
          </p:cNvPr>
          <p:cNvSpPr/>
          <p:nvPr/>
        </p:nvSpPr>
        <p:spPr>
          <a:xfrm>
            <a:off x="8309453" y="2325274"/>
            <a:ext cx="3173976" cy="324744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xmlns="" id="{36032A4E-1A30-8661-339F-1EA8E1355CB5}"/>
              </a:ext>
            </a:extLst>
          </p:cNvPr>
          <p:cNvCxnSpPr>
            <a:cxnSpLocks/>
          </p:cNvCxnSpPr>
          <p:nvPr/>
        </p:nvCxnSpPr>
        <p:spPr>
          <a:xfrm>
            <a:off x="7945419" y="1169558"/>
            <a:ext cx="2293554" cy="4347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xmlns="" id="{7BAAFD88-541F-ED85-E487-9F7A0FD91369}"/>
              </a:ext>
            </a:extLst>
          </p:cNvPr>
          <p:cNvCxnSpPr>
            <a:cxnSpLocks/>
          </p:cNvCxnSpPr>
          <p:nvPr/>
        </p:nvCxnSpPr>
        <p:spPr>
          <a:xfrm flipH="1" flipV="1">
            <a:off x="7945419" y="1169558"/>
            <a:ext cx="3412443" cy="2167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xmlns="" id="{86A81B74-6673-C910-83CC-E8045D81B345}"/>
                  </a:ext>
                </a:extLst>
              </p:cNvPr>
              <p:cNvSpPr txBox="1"/>
              <p:nvPr/>
            </p:nvSpPr>
            <p:spPr>
              <a:xfrm>
                <a:off x="9060865" y="4093341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6A81B74-6673-C910-83CC-E8045D81B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865" y="4093341"/>
                <a:ext cx="551459" cy="461665"/>
              </a:xfrm>
              <a:prstGeom prst="rect">
                <a:avLst/>
              </a:prstGeom>
              <a:blipFill rotWithShape="1">
                <a:blip r:embed="rId4"/>
                <a:stretch>
                  <a:fillRect r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xmlns="" id="{D4C26DC6-7000-7C6E-CA7E-3DBCECEE574F}"/>
                  </a:ext>
                </a:extLst>
              </p:cNvPr>
              <p:cNvSpPr txBox="1"/>
              <p:nvPr/>
            </p:nvSpPr>
            <p:spPr>
              <a:xfrm>
                <a:off x="8785135" y="1333850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4C26DC6-7000-7C6E-CA7E-3DBCECEE5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5135" y="1333850"/>
                <a:ext cx="551459" cy="461665"/>
              </a:xfrm>
              <a:prstGeom prst="rect">
                <a:avLst/>
              </a:prstGeom>
              <a:blipFill rotWithShape="1">
                <a:blip r:embed="rId5"/>
                <a:stretch>
                  <a:fillRect r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xmlns="" id="{80EE462A-09AD-1FF0-B160-4E337DFF8690}"/>
                  </a:ext>
                </a:extLst>
              </p:cNvPr>
              <p:cNvSpPr txBox="1"/>
              <p:nvPr/>
            </p:nvSpPr>
            <p:spPr>
              <a:xfrm>
                <a:off x="10088810" y="2794066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0EE462A-09AD-1FF0-B160-4E337DFF8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8810" y="2794066"/>
                <a:ext cx="551459" cy="461665"/>
              </a:xfrm>
              <a:prstGeom prst="rect">
                <a:avLst/>
              </a:prstGeom>
              <a:blipFill rotWithShape="1">
                <a:blip r:embed="rId6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xmlns="" id="{72FBEB96-FF69-B13A-A1F6-D72A8DBA3E37}"/>
                  </a:ext>
                </a:extLst>
              </p:cNvPr>
              <p:cNvSpPr txBox="1"/>
              <p:nvPr/>
            </p:nvSpPr>
            <p:spPr>
              <a:xfrm>
                <a:off x="3013603" y="1701132"/>
                <a:ext cx="4123686" cy="434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                      11+9=20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           10+</m:t>
                      </m:r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𝑎𝑏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     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20=10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(10+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GB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         180=100+10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:r>
                  <a:rPr lang="en-GB" sz="2800" b="0" dirty="0"/>
                  <a:t> 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80=10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GB" sz="2800" b="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72FBEB96-FF69-B13A-A1F6-D72A8DBA3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603" y="1701132"/>
                <a:ext cx="4123686" cy="4348883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xmlns="" id="{5F8889FF-1367-5AA7-6383-17365BB8CDBA}"/>
              </a:ext>
            </a:extLst>
          </p:cNvPr>
          <p:cNvCxnSpPr>
            <a:cxnSpLocks/>
          </p:cNvCxnSpPr>
          <p:nvPr/>
        </p:nvCxnSpPr>
        <p:spPr>
          <a:xfrm flipH="1" flipV="1">
            <a:off x="6008082" y="2728764"/>
            <a:ext cx="609338" cy="33287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xmlns="" id="{45FB7E1B-C5DB-7745-A186-08AEA6CEB2A3}"/>
              </a:ext>
            </a:extLst>
          </p:cNvPr>
          <p:cNvSpPr txBox="1"/>
          <p:nvPr/>
        </p:nvSpPr>
        <p:spPr>
          <a:xfrm>
            <a:off x="6477320" y="2696888"/>
            <a:ext cx="1415898" cy="73866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Find the lengths of the </a:t>
            </a:r>
            <a:r>
              <a:rPr lang="en-GB" sz="1400" b="1" dirty="0"/>
              <a:t>full secants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xmlns="" id="{DF33AC37-3979-F0D8-2AC4-C4FB4874F364}"/>
              </a:ext>
            </a:extLst>
          </p:cNvPr>
          <p:cNvCxnSpPr>
            <a:cxnSpLocks/>
          </p:cNvCxnSpPr>
          <p:nvPr/>
        </p:nvCxnSpPr>
        <p:spPr>
          <a:xfrm flipH="1" flipV="1">
            <a:off x="6264176" y="4575649"/>
            <a:ext cx="586735" cy="65763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xmlns="" id="{7CE2D072-42B5-B704-2DD9-CB201692573C}"/>
                  </a:ext>
                </a:extLst>
              </p:cNvPr>
              <p:cNvSpPr txBox="1"/>
              <p:nvPr/>
            </p:nvSpPr>
            <p:spPr>
              <a:xfrm>
                <a:off x="6424393" y="4968235"/>
                <a:ext cx="1158524" cy="33855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b="1" dirty="0"/>
                  <a:t>Solve</a:t>
                </a:r>
                <a:r>
                  <a:rPr lang="en-GB" sz="1400" dirty="0"/>
                  <a:t> for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14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7CE2D072-42B5-B704-2DD9-CB20169257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4393" y="4968235"/>
                <a:ext cx="1158524" cy="338554"/>
              </a:xfrm>
              <a:prstGeom prst="rect">
                <a:avLst/>
              </a:prstGeom>
              <a:blipFill rotWithShape="1">
                <a:blip r:embed="rId8"/>
                <a:stretch>
                  <a:fillRect b="-12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Oval 56">
            <a:extLst>
              <a:ext uri="{FF2B5EF4-FFF2-40B4-BE49-F238E27FC236}">
                <a16:creationId xmlns:a16="http://schemas.microsoft.com/office/drawing/2014/main" xmlns="" id="{702B0BDF-A0B4-66BA-4D05-396FCA65FB24}"/>
              </a:ext>
            </a:extLst>
          </p:cNvPr>
          <p:cNvSpPr/>
          <p:nvPr/>
        </p:nvSpPr>
        <p:spPr>
          <a:xfrm flipV="1">
            <a:off x="9936243" y="3895108"/>
            <a:ext cx="45719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xmlns="" id="{4C123E9C-4075-314F-BBFA-006C06893716}"/>
                  </a:ext>
                </a:extLst>
              </p:cNvPr>
              <p:cNvSpPr txBox="1"/>
              <p:nvPr/>
            </p:nvSpPr>
            <p:spPr>
              <a:xfrm>
                <a:off x="7963760" y="2022575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C123E9C-4075-314F-BBFA-006C06893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3760" y="2022575"/>
                <a:ext cx="551459" cy="461665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xmlns="" id="{40FD7C2D-7D1F-FD42-AD30-D297A9A0CE8A}"/>
              </a:ext>
            </a:extLst>
          </p:cNvPr>
          <p:cNvSpPr txBox="1"/>
          <p:nvPr/>
        </p:nvSpPr>
        <p:spPr>
          <a:xfrm>
            <a:off x="3277231" y="1781820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Full lengths: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6" grpId="0" animBg="1"/>
      <p:bldP spid="5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 UNDERSTANDING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475874"/>
            <a:ext cx="7974522" cy="453173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first: do the lines meet inside (chords) or outside (secants)?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id="{4A9885F0-62EA-1E01-4D54-B3B44AD81A8A}"/>
                  </a:ext>
                </a:extLst>
              </p:cNvPr>
              <p:cNvSpPr txBox="1"/>
              <p:nvPr/>
            </p:nvSpPr>
            <p:spPr>
              <a:xfrm>
                <a:off x="3263066" y="1724219"/>
                <a:ext cx="2658148" cy="338554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Find the missing length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1600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A9885F0-62EA-1E01-4D54-B3B44AD81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066" y="1724219"/>
                <a:ext cx="2658148" cy="338554"/>
              </a:xfrm>
              <a:prstGeom prst="rect">
                <a:avLst/>
              </a:prstGeom>
              <a:blipFill rotWithShape="1">
                <a:blip r:embed="rId3"/>
                <a:stretch>
                  <a:fillRect b="-2597"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Oval 73">
            <a:extLst>
              <a:ext uri="{FF2B5EF4-FFF2-40B4-BE49-F238E27FC236}">
                <a16:creationId xmlns:a16="http://schemas.microsoft.com/office/drawing/2014/main" xmlns="" id="{7A8739EF-A309-3C0B-A8D5-3D1ED8E4679D}"/>
              </a:ext>
            </a:extLst>
          </p:cNvPr>
          <p:cNvSpPr/>
          <p:nvPr/>
        </p:nvSpPr>
        <p:spPr>
          <a:xfrm>
            <a:off x="6981667" y="2043609"/>
            <a:ext cx="3816424" cy="381642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xmlns="" id="{DB05EE6D-7FDA-E326-4567-EF4DCF9C81DF}"/>
              </a:ext>
            </a:extLst>
          </p:cNvPr>
          <p:cNvCxnSpPr>
            <a:cxnSpLocks/>
            <a:stCxn id="74" idx="1"/>
            <a:endCxn id="74" idx="6"/>
          </p:cNvCxnSpPr>
          <p:nvPr/>
        </p:nvCxnSpPr>
        <p:spPr>
          <a:xfrm>
            <a:off x="7540569" y="2602511"/>
            <a:ext cx="3257522" cy="13493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xmlns="" id="{BF53F291-E741-A298-5DD7-0E125135CF57}"/>
              </a:ext>
            </a:extLst>
          </p:cNvPr>
          <p:cNvCxnSpPr>
            <a:cxnSpLocks/>
            <a:stCxn id="74" idx="0"/>
            <a:endCxn id="74" idx="4"/>
          </p:cNvCxnSpPr>
          <p:nvPr/>
        </p:nvCxnSpPr>
        <p:spPr>
          <a:xfrm>
            <a:off x="8889879" y="2043609"/>
            <a:ext cx="0" cy="38164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xmlns="" id="{77DDDE34-E761-D191-446E-3518862EA6F3}"/>
              </a:ext>
            </a:extLst>
          </p:cNvPr>
          <p:cNvSpPr/>
          <p:nvPr/>
        </p:nvSpPr>
        <p:spPr>
          <a:xfrm flipV="1">
            <a:off x="8867019" y="3951821"/>
            <a:ext cx="45719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id="{DBD86CBE-FC56-4BB6-BE80-59DE3002AFDE}"/>
                  </a:ext>
                </a:extLst>
              </p:cNvPr>
              <p:cNvSpPr txBox="1"/>
              <p:nvPr/>
            </p:nvSpPr>
            <p:spPr>
              <a:xfrm>
                <a:off x="8768430" y="2371678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BD86CBE-FC56-4BB6-BE80-59DE3002A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30" y="2371678"/>
                <a:ext cx="551459" cy="4616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id="{1394F4DA-A529-72C5-A76E-4479D329E868}"/>
                  </a:ext>
                </a:extLst>
              </p:cNvPr>
              <p:cNvSpPr txBox="1"/>
              <p:nvPr/>
            </p:nvSpPr>
            <p:spPr>
              <a:xfrm>
                <a:off x="9657969" y="3535876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394F4DA-A529-72C5-A76E-4479D329E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7969" y="3535876"/>
                <a:ext cx="551459" cy="461665"/>
              </a:xfrm>
              <a:prstGeom prst="rect">
                <a:avLst/>
              </a:prstGeom>
              <a:blipFill rotWithShape="1"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id="{4DDDFF5C-19AC-EC15-C35A-15C24B2E1808}"/>
                  </a:ext>
                </a:extLst>
              </p:cNvPr>
              <p:cNvSpPr txBox="1"/>
              <p:nvPr/>
            </p:nvSpPr>
            <p:spPr>
              <a:xfrm>
                <a:off x="7817504" y="2815501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DDDFF5C-19AC-EC15-C35A-15C24B2E1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504" y="2815501"/>
                <a:ext cx="551459" cy="4616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id="{FCEAC0B3-DB1F-4BAA-3579-94777995B3AE}"/>
                  </a:ext>
                </a:extLst>
              </p:cNvPr>
              <p:cNvSpPr txBox="1"/>
              <p:nvPr/>
            </p:nvSpPr>
            <p:spPr>
              <a:xfrm>
                <a:off x="8867019" y="4697954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CEAC0B3-DB1F-4BAA-3579-94777995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7019" y="4697954"/>
                <a:ext cx="551459" cy="46166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E7AC6552-F408-FEAE-9B8E-2C95914C6069}"/>
              </a:ext>
            </a:extLst>
          </p:cNvPr>
          <p:cNvCxnSpPr>
            <a:cxnSpLocks/>
          </p:cNvCxnSpPr>
          <p:nvPr/>
        </p:nvCxnSpPr>
        <p:spPr>
          <a:xfrm flipV="1">
            <a:off x="8984140" y="3974681"/>
            <a:ext cx="0" cy="18739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xmlns="" id="{6A655BB8-0968-59F5-86F0-C47F9A4F5C68}"/>
                  </a:ext>
                </a:extLst>
              </p:cNvPr>
              <p:cNvSpPr txBox="1"/>
              <p:nvPr/>
            </p:nvSpPr>
            <p:spPr>
              <a:xfrm>
                <a:off x="3059204" y="2523512"/>
                <a:ext cx="2813938" cy="34871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9−6=3</m:t>
                      </m:r>
                    </m:oMath>
                  </m:oMathPara>
                </a14:m>
                <a:endParaRPr lang="en-GB" sz="28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+3=12</m:t>
                      </m:r>
                    </m:oMath>
                  </m:oMathPara>
                </a14:m>
                <a:endParaRPr lang="en-GB" sz="2800" i="1" dirty="0">
                  <a:latin typeface="Cambria Math" panose="02040503050406030204" pitchFamily="18" charset="0"/>
                </a:endParaRPr>
              </a:p>
              <a:p>
                <a:pPr algn="ctr"/>
                <a:endParaRPr lang="en-GB" sz="28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×6=8×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:r>
                  <a:rPr lang="en-GB" sz="2800" dirty="0"/>
                  <a:t> 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6A655BB8-0968-59F5-86F0-C47F9A4F5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204" y="2523512"/>
                <a:ext cx="2813938" cy="3487108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xmlns="" id="{A4087EF9-2733-DAB7-C5D9-2C320DA65794}"/>
              </a:ext>
            </a:extLst>
          </p:cNvPr>
          <p:cNvSpPr/>
          <p:nvPr/>
        </p:nvSpPr>
        <p:spPr>
          <a:xfrm>
            <a:off x="3263066" y="3898353"/>
            <a:ext cx="2406214" cy="1610125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xmlns="" id="{34887FDF-8FC2-17F7-625A-E6003D0DA210}"/>
              </a:ext>
            </a:extLst>
          </p:cNvPr>
          <p:cNvSpPr/>
          <p:nvPr/>
        </p:nvSpPr>
        <p:spPr>
          <a:xfrm>
            <a:off x="3263066" y="2523512"/>
            <a:ext cx="2406214" cy="924253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xmlns="" id="{5CCE08B4-6A07-BE02-F2E9-24688E94733E}"/>
              </a:ext>
            </a:extLst>
          </p:cNvPr>
          <p:cNvSpPr/>
          <p:nvPr/>
        </p:nvSpPr>
        <p:spPr>
          <a:xfrm>
            <a:off x="3263066" y="5508479"/>
            <a:ext cx="2406214" cy="502142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760173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</p:childTnLst>
        </p:cTn>
      </p:par>
    </p:tnLst>
    <p:bldLst>
      <p:bldP spid="84" grpId="0" animBg="1"/>
      <p:bldP spid="84" grpId="1" animBg="1"/>
      <p:bldP spid="85" grpId="0" animBg="1"/>
      <p:bldP spid="85" grpId="1" animBg="1"/>
      <p:bldP spid="8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 UNDERSTANDING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475874"/>
            <a:ext cx="7974522" cy="453173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first: do the lines meet inside (chords) or outside (secants)?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id="{4A9885F0-62EA-1E01-4D54-B3B44AD81A8A}"/>
                  </a:ext>
                </a:extLst>
              </p:cNvPr>
              <p:cNvSpPr txBox="1"/>
              <p:nvPr/>
            </p:nvSpPr>
            <p:spPr>
              <a:xfrm>
                <a:off x="3263066" y="1724219"/>
                <a:ext cx="2658148" cy="338554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Find the missing length </a:t>
                </a: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1600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A9885F0-62EA-1E01-4D54-B3B44AD81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066" y="1724219"/>
                <a:ext cx="2658148" cy="338554"/>
              </a:xfrm>
              <a:prstGeom prst="rect">
                <a:avLst/>
              </a:prstGeom>
              <a:blipFill rotWithShape="1">
                <a:blip r:embed="rId3"/>
                <a:stretch>
                  <a:fillRect b="-2597"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Oval 73">
            <a:extLst>
              <a:ext uri="{FF2B5EF4-FFF2-40B4-BE49-F238E27FC236}">
                <a16:creationId xmlns:a16="http://schemas.microsoft.com/office/drawing/2014/main" xmlns="" id="{7A8739EF-A309-3C0B-A8D5-3D1ED8E4679D}"/>
              </a:ext>
            </a:extLst>
          </p:cNvPr>
          <p:cNvSpPr/>
          <p:nvPr/>
        </p:nvSpPr>
        <p:spPr>
          <a:xfrm>
            <a:off x="6981667" y="2043609"/>
            <a:ext cx="3816424" cy="381642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xmlns="" id="{DB05EE6D-7FDA-E326-4567-EF4DCF9C81DF}"/>
              </a:ext>
            </a:extLst>
          </p:cNvPr>
          <p:cNvCxnSpPr>
            <a:cxnSpLocks/>
            <a:stCxn id="74" idx="1"/>
            <a:endCxn id="74" idx="6"/>
          </p:cNvCxnSpPr>
          <p:nvPr/>
        </p:nvCxnSpPr>
        <p:spPr>
          <a:xfrm>
            <a:off x="7540569" y="2602511"/>
            <a:ext cx="3257522" cy="13493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xmlns="" id="{BF53F291-E741-A298-5DD7-0E125135CF57}"/>
              </a:ext>
            </a:extLst>
          </p:cNvPr>
          <p:cNvCxnSpPr>
            <a:cxnSpLocks/>
            <a:stCxn id="74" idx="0"/>
            <a:endCxn id="74" idx="4"/>
          </p:cNvCxnSpPr>
          <p:nvPr/>
        </p:nvCxnSpPr>
        <p:spPr>
          <a:xfrm>
            <a:off x="8889879" y="2043609"/>
            <a:ext cx="0" cy="38164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xmlns="" id="{77DDDE34-E761-D191-446E-3518862EA6F3}"/>
              </a:ext>
            </a:extLst>
          </p:cNvPr>
          <p:cNvSpPr/>
          <p:nvPr/>
        </p:nvSpPr>
        <p:spPr>
          <a:xfrm flipV="1">
            <a:off x="8867019" y="3951821"/>
            <a:ext cx="45719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id="{DBD86CBE-FC56-4BB6-BE80-59DE3002AFDE}"/>
                  </a:ext>
                </a:extLst>
              </p:cNvPr>
              <p:cNvSpPr txBox="1"/>
              <p:nvPr/>
            </p:nvSpPr>
            <p:spPr>
              <a:xfrm>
                <a:off x="8768430" y="2371678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BD86CBE-FC56-4BB6-BE80-59DE3002A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30" y="2371678"/>
                <a:ext cx="551459" cy="46166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id="{1394F4DA-A529-72C5-A76E-4479D329E868}"/>
                  </a:ext>
                </a:extLst>
              </p:cNvPr>
              <p:cNvSpPr txBox="1"/>
              <p:nvPr/>
            </p:nvSpPr>
            <p:spPr>
              <a:xfrm>
                <a:off x="9657969" y="3535876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1394F4DA-A529-72C5-A76E-4479D329E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7969" y="3535876"/>
                <a:ext cx="551459" cy="461665"/>
              </a:xfrm>
              <a:prstGeom prst="rect">
                <a:avLst/>
              </a:prstGeom>
              <a:blipFill rotWithShape="1"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id="{4DDDFF5C-19AC-EC15-C35A-15C24B2E1808}"/>
                  </a:ext>
                </a:extLst>
              </p:cNvPr>
              <p:cNvSpPr txBox="1"/>
              <p:nvPr/>
            </p:nvSpPr>
            <p:spPr>
              <a:xfrm>
                <a:off x="7817504" y="2815501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4DDDFF5C-19AC-EC15-C35A-15C24B2E1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7504" y="2815501"/>
                <a:ext cx="551459" cy="4616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id="{FCEAC0B3-DB1F-4BAA-3579-94777995B3AE}"/>
                  </a:ext>
                </a:extLst>
              </p:cNvPr>
              <p:cNvSpPr txBox="1"/>
              <p:nvPr/>
            </p:nvSpPr>
            <p:spPr>
              <a:xfrm>
                <a:off x="8867019" y="4697954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CEAC0B3-DB1F-4BAA-3579-94777995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7019" y="4697954"/>
                <a:ext cx="551459" cy="46166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E7AC6552-F408-FEAE-9B8E-2C95914C6069}"/>
              </a:ext>
            </a:extLst>
          </p:cNvPr>
          <p:cNvCxnSpPr>
            <a:cxnSpLocks/>
          </p:cNvCxnSpPr>
          <p:nvPr/>
        </p:nvCxnSpPr>
        <p:spPr>
          <a:xfrm flipV="1">
            <a:off x="8984140" y="3974681"/>
            <a:ext cx="0" cy="18739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xmlns="" id="{6A655BB8-0968-59F5-86F0-C47F9A4F5C68}"/>
                  </a:ext>
                </a:extLst>
              </p:cNvPr>
              <p:cNvSpPr txBox="1"/>
              <p:nvPr/>
            </p:nvSpPr>
            <p:spPr>
              <a:xfrm>
                <a:off x="3059204" y="2523512"/>
                <a:ext cx="2813938" cy="34871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9−6=3</m:t>
                      </m:r>
                    </m:oMath>
                  </m:oMathPara>
                </a14:m>
                <a:endParaRPr lang="en-GB" sz="28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+3=12</m:t>
                      </m:r>
                    </m:oMath>
                  </m:oMathPara>
                </a14:m>
                <a:endParaRPr lang="en-GB" sz="2800" i="1" dirty="0">
                  <a:latin typeface="Cambria Math" panose="02040503050406030204" pitchFamily="18" charset="0"/>
                </a:endParaRPr>
              </a:p>
              <a:p>
                <a:pPr algn="ctr"/>
                <a:endParaRPr lang="en-GB" sz="28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×6=8×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:r>
                  <a:rPr lang="en-GB" sz="2800" dirty="0"/>
                  <a:t> 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6A655BB8-0968-59F5-86F0-C47F9A4F5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204" y="2523512"/>
                <a:ext cx="2813938" cy="3487108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xmlns="" id="{A4087EF9-2733-DAB7-C5D9-2C320DA65794}"/>
              </a:ext>
            </a:extLst>
          </p:cNvPr>
          <p:cNvSpPr/>
          <p:nvPr/>
        </p:nvSpPr>
        <p:spPr>
          <a:xfrm>
            <a:off x="3263066" y="3898353"/>
            <a:ext cx="2406214" cy="1610125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xmlns="" id="{34887FDF-8FC2-17F7-625A-E6003D0DA210}"/>
              </a:ext>
            </a:extLst>
          </p:cNvPr>
          <p:cNvSpPr/>
          <p:nvPr/>
        </p:nvSpPr>
        <p:spPr>
          <a:xfrm>
            <a:off x="3263066" y="2523512"/>
            <a:ext cx="2406214" cy="924253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xmlns="" id="{5CCE08B4-6A07-BE02-F2E9-24688E94733E}"/>
              </a:ext>
            </a:extLst>
          </p:cNvPr>
          <p:cNvSpPr/>
          <p:nvPr/>
        </p:nvSpPr>
        <p:spPr>
          <a:xfrm>
            <a:off x="3263066" y="5508479"/>
            <a:ext cx="2406214" cy="502142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2999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</p:childTnLst>
        </p:cTn>
      </p:par>
    </p:tnLst>
    <p:bldLst>
      <p:bldP spid="84" grpId="0" animBg="1"/>
      <p:bldP spid="84" grpId="1" animBg="1"/>
      <p:bldP spid="85" grpId="0" animBg="1"/>
      <p:bldP spid="85" grpId="1" animBg="1"/>
      <p:bldP spid="8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82" y="2674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63588" y="292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43132" y="14181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12228" y="3931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Practice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19" y="292608"/>
            <a:ext cx="8183069" cy="571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equation, then solve for the unknown length.</a:t>
            </a:r>
            <a:endParaRPr lang="en-US" sz="13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xmlns="" id="{4D7C6399-25C3-989B-8368-AAB1221A5A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83" t="12851" r="49985" b="36842"/>
          <a:stretch/>
        </p:blipFill>
        <p:spPr>
          <a:xfrm>
            <a:off x="7528027" y="2450778"/>
            <a:ext cx="3456385" cy="2808312"/>
          </a:xfrm>
          <a:prstGeom prst="rect">
            <a:avLst/>
          </a:prstGeom>
        </p:spPr>
      </p:pic>
      <p:sp>
        <p:nvSpPr>
          <p:cNvPr id="46" name="Rectangle: Rounded Corners 4">
            <a:extLst>
              <a:ext uri="{FF2B5EF4-FFF2-40B4-BE49-F238E27FC236}">
                <a16:creationId xmlns:a16="http://schemas.microsoft.com/office/drawing/2014/main" xmlns="" id="{ACD47F95-1D50-6545-C826-634AC3B52EBD}"/>
              </a:ext>
            </a:extLst>
          </p:cNvPr>
          <p:cNvSpPr/>
          <p:nvPr/>
        </p:nvSpPr>
        <p:spPr>
          <a:xfrm>
            <a:off x="2685852" y="482740"/>
            <a:ext cx="328468" cy="3333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>
                <a:latin typeface="Wingdings" panose="05000000000000000000" pitchFamily="2" charset="2"/>
              </a:rPr>
              <a:t>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xmlns="" id="{892813A9-3050-ADCC-7AB2-AC4DF1B858B3}"/>
                  </a:ext>
                </a:extLst>
              </p:cNvPr>
              <p:cNvSpPr txBox="1"/>
              <p:nvPr/>
            </p:nvSpPr>
            <p:spPr>
              <a:xfrm>
                <a:off x="3658227" y="351659"/>
                <a:ext cx="7322019" cy="20033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i="1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[Edexcel IGCSE(9-1) June 2018 1H</a:t>
                </a:r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i="1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Q22]</a:t>
                </a:r>
              </a:p>
              <a:p>
                <a:pPr>
                  <a:lnSpc>
                    <a:spcPct val="107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𝐵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𝐷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𝐸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are four points on a circle, centre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𝑂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𝐴𝐹𝐵𝐶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𝑂𝐸𝐶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𝑂𝐹𝐷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are straight lines. </a:t>
                </a:r>
                <a:b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/>
                </a:r>
                <a:b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𝐴𝐹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7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cm,  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𝐹𝐵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4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cm,  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𝐵𝐶</m:t>
                    </m:r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cm ,  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𝐹𝐷</m:t>
                    </m:r>
                    <m:r>
                      <a:rPr lang="en-GB" i="1" dirty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cm and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𝐶𝐸</m:t>
                    </m:r>
                    <m:r>
                      <a:rPr lang="en-GB" i="1" dirty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cm.</a:t>
                </a:r>
                <a:b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Work out the value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GB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92813A9-3050-ADCC-7AB2-AC4DF1B85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27" y="351659"/>
                <a:ext cx="7322019" cy="2003305"/>
              </a:xfrm>
              <a:prstGeom prst="rect">
                <a:avLst/>
              </a:prstGeom>
              <a:blipFill rotWithShape="1">
                <a:blip r:embed="rId4"/>
                <a:stretch>
                  <a:fillRect l="-666" t="-1220" b="-4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xmlns="" id="{E076A34A-09CF-C04D-D5AB-EEB7324F0482}"/>
                  </a:ext>
                </a:extLst>
              </p:cNvPr>
              <p:cNvSpPr txBox="1"/>
              <p:nvPr/>
            </p:nvSpPr>
            <p:spPr>
              <a:xfrm>
                <a:off x="3706220" y="2684466"/>
                <a:ext cx="2520280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𝐹𝑍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×7</m:t>
                      </m:r>
                    </m:oMath>
                  </m:oMathPara>
                </a14:m>
                <a:endParaRPr lang="en-GB" sz="2000" dirty="0"/>
              </a:p>
              <a:p>
                <a:pPr algn="ctr"/>
                <a:r>
                  <a:rPr lang="en-GB" sz="2000" b="0" dirty="0"/>
                  <a:t>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FZ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=14</m:t>
                    </m:r>
                  </m:oMath>
                </a14:m>
                <a:r>
                  <a:rPr lang="en-GB" sz="2000" b="0" dirty="0"/>
                  <a:t> cm</a:t>
                </a: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E076A34A-09CF-C04D-D5AB-EEB7324F0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220" y="2684466"/>
                <a:ext cx="2520280" cy="707886"/>
              </a:xfrm>
              <a:prstGeom prst="rect">
                <a:avLst/>
              </a:prstGeom>
              <a:blipFill rotWithShape="1">
                <a:blip r:embed="rId5"/>
                <a:stretch>
                  <a:fillRect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xmlns="" id="{45AA4764-1DE4-8920-553C-4446B492F702}"/>
              </a:ext>
            </a:extLst>
          </p:cNvPr>
          <p:cNvCxnSpPr>
            <a:cxnSpLocks/>
          </p:cNvCxnSpPr>
          <p:nvPr/>
        </p:nvCxnSpPr>
        <p:spPr>
          <a:xfrm flipV="1">
            <a:off x="8536139" y="3911625"/>
            <a:ext cx="369901" cy="12241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xmlns="" id="{C9FBF539-68A8-FACA-52AB-C7B25E173A03}"/>
                  </a:ext>
                </a:extLst>
              </p:cNvPr>
              <p:cNvSpPr txBox="1"/>
              <p:nvPr/>
            </p:nvSpPr>
            <p:spPr>
              <a:xfrm>
                <a:off x="8169630" y="5084194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C9FBF539-68A8-FACA-52AB-C7B25E173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9630" y="5084194"/>
                <a:ext cx="551459" cy="46166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xmlns="" id="{05553D45-F5E2-C618-F3F2-6DAD6DA2341C}"/>
                  </a:ext>
                </a:extLst>
              </p:cNvPr>
              <p:cNvSpPr txBox="1"/>
              <p:nvPr/>
            </p:nvSpPr>
            <p:spPr>
              <a:xfrm>
                <a:off x="3634211" y="3581731"/>
                <a:ext cx="2808313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𝑑𝑖𝑎𝑚𝑒𝑡𝑒𝑟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=2+14</m:t>
                      </m:r>
                    </m:oMath>
                  </m:oMathPara>
                </a14:m>
                <a:endParaRPr lang="en-GB" sz="2000" b="0" dirty="0"/>
              </a:p>
              <a:p>
                <a:pPr algn="ctr"/>
                <a:r>
                  <a:rPr lang="en-GB" sz="2000" b="0" dirty="0"/>
                  <a:t>             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en-GB" sz="2000" b="0" dirty="0"/>
                  <a:t> cm</a:t>
                </a: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05553D45-F5E2-C618-F3F2-6DAD6DA23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4211" y="3581731"/>
                <a:ext cx="2808313" cy="707886"/>
              </a:xfrm>
              <a:prstGeom prst="rect">
                <a:avLst/>
              </a:prstGeom>
              <a:blipFill rotWithShape="1">
                <a:blip r:embed="rId7"/>
                <a:stretch>
                  <a:fillRect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xmlns="" id="{0D98F587-707F-A0B7-C1B0-94E03EF7B145}"/>
                  </a:ext>
                </a:extLst>
              </p:cNvPr>
              <p:cNvSpPr txBox="1"/>
              <p:nvPr/>
            </p:nvSpPr>
            <p:spPr>
              <a:xfrm>
                <a:off x="3658227" y="4400284"/>
                <a:ext cx="280831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𝐸𝑌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=16</m:t>
                    </m:r>
                  </m:oMath>
                </a14:m>
                <a:r>
                  <a:rPr lang="en-GB" sz="2000" b="0" dirty="0"/>
                  <a:t> cm</a:t>
                </a: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0D98F587-707F-A0B7-C1B0-94E03EF7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27" y="4400284"/>
                <a:ext cx="2808313" cy="400110"/>
              </a:xfrm>
              <a:prstGeom prst="rect">
                <a:avLst/>
              </a:prstGeom>
              <a:blipFill rotWithShape="1">
                <a:blip r:embed="rId8"/>
                <a:stretch>
                  <a:fillRect t="-7692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xmlns="" id="{4AF17172-537E-A060-1CC4-54876F869929}"/>
              </a:ext>
            </a:extLst>
          </p:cNvPr>
          <p:cNvCxnSpPr>
            <a:cxnSpLocks/>
          </p:cNvCxnSpPr>
          <p:nvPr/>
        </p:nvCxnSpPr>
        <p:spPr>
          <a:xfrm flipV="1">
            <a:off x="7700425" y="3915512"/>
            <a:ext cx="1205614" cy="53863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xmlns="" id="{FEB06D32-02B8-A562-F1EE-DBC3F92E0A9C}"/>
                  </a:ext>
                </a:extLst>
              </p:cNvPr>
              <p:cNvSpPr txBox="1"/>
              <p:nvPr/>
            </p:nvSpPr>
            <p:spPr>
              <a:xfrm>
                <a:off x="7252297" y="4321361"/>
                <a:ext cx="55145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EB06D32-02B8-A562-F1EE-DBC3F92E0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297" y="4321361"/>
                <a:ext cx="551459" cy="461665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54">
            <a:extLst>
              <a:ext uri="{FF2B5EF4-FFF2-40B4-BE49-F238E27FC236}">
                <a16:creationId xmlns:a16="http://schemas.microsoft.com/office/drawing/2014/main" xmlns="" id="{F970A78E-6B01-2166-9F60-4AF2849233EC}"/>
              </a:ext>
            </a:extLst>
          </p:cNvPr>
          <p:cNvSpPr/>
          <p:nvPr/>
        </p:nvSpPr>
        <p:spPr>
          <a:xfrm>
            <a:off x="3127463" y="2684466"/>
            <a:ext cx="2998732" cy="738642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xmlns="" id="{BC84F628-9AB1-AB35-C2B0-E6B5BD3690D8}"/>
              </a:ext>
            </a:extLst>
          </p:cNvPr>
          <p:cNvSpPr/>
          <p:nvPr/>
        </p:nvSpPr>
        <p:spPr>
          <a:xfrm>
            <a:off x="3516167" y="3523109"/>
            <a:ext cx="2998732" cy="1323439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xmlns="" id="{8CF33D84-0853-A44A-E4A8-3CF13DF0799C}"/>
              </a:ext>
            </a:extLst>
          </p:cNvPr>
          <p:cNvSpPr/>
          <p:nvPr/>
        </p:nvSpPr>
        <p:spPr>
          <a:xfrm>
            <a:off x="3516167" y="5074413"/>
            <a:ext cx="2998732" cy="930951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</p:childTnLst>
        </p:cTn>
      </p:par>
    </p:tnLst>
    <p:bldLst>
      <p:bldP spid="50" grpId="0"/>
      <p:bldP spid="50" grpId="1"/>
      <p:bldP spid="54" grpId="0"/>
      <p:bldP spid="54" grpId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the product equation, then solve.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Chords inside → a × b = c × d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Secants outside → external × whole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every segment on the diagram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the equation for x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  ·  Exam question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18080" y="1399032"/>
            <a:ext cx="7897520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3" name="Picture 1">
            <a:extLst>
              <a:ext uri="{FF2B5EF4-FFF2-40B4-BE49-F238E27FC236}">
                <a16:creationId xmlns:a16="http://schemas.microsoft.com/office/drawing/2014/main" xmlns="" id="{0907AD1C-DC95-0A47-554A-1BAD921ABB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94"/>
          <a:stretch/>
        </p:blipFill>
        <p:spPr bwMode="auto">
          <a:xfrm>
            <a:off x="7108360" y="1499937"/>
            <a:ext cx="2783065" cy="2811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xmlns="" id="{F78567E9-0410-2C2E-3A73-043FB05F1479}"/>
                  </a:ext>
                </a:extLst>
              </p:cNvPr>
              <p:cNvSpPr txBox="1"/>
              <p:nvPr/>
            </p:nvSpPr>
            <p:spPr>
              <a:xfrm>
                <a:off x="2666290" y="1557367"/>
                <a:ext cx="3738268" cy="2554545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en-GB" sz="1600" i="1" dirty="0"/>
                  <a:t>[Edexcel IGCSE Jan2022 4MA1/2H Q19]</a:t>
                </a:r>
                <a:endParaRPr lang="en-GB" sz="1600" dirty="0"/>
              </a:p>
              <a:p>
                <a:endParaRPr lang="en-GB" sz="1600" dirty="0"/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𝑃𝑇𝑄</m:t>
                    </m:r>
                  </m:oMath>
                </a14:m>
                <a:r>
                  <a:rPr lang="en-GB" sz="1600" dirty="0"/>
                  <a:t> is a diameter of a circle. </a:t>
                </a:r>
                <a:br>
                  <a:rPr lang="en-GB" sz="1600" dirty="0"/>
                </a:b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𝑅𝑇𝑆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is a chord of the circle.</a:t>
                </a:r>
              </a:p>
              <a:p>
                <a:endParaRPr lang="en-GB" sz="1600" dirty="0"/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𝑇𝑄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3 </m:t>
                    </m:r>
                  </m:oMath>
                </a14:m>
                <a:r>
                  <a:rPr lang="en-GB" sz="1600" dirty="0"/>
                  <a:t>cm;</a:t>
                </a:r>
                <a:br>
                  <a:rPr lang="en-GB" sz="1600" dirty="0"/>
                </a:b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𝑆𝑇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4 </m:t>
                    </m:r>
                  </m:oMath>
                </a14:m>
                <a:r>
                  <a:rPr lang="en-GB" sz="1600" dirty="0"/>
                  <a:t>cm;</a:t>
                </a:r>
                <a:br>
                  <a:rPr lang="en-GB" sz="1600" dirty="0"/>
                </a:b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𝑇𝑅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12 </m:t>
                    </m:r>
                  </m:oMath>
                </a14:m>
                <a:r>
                  <a:rPr lang="en-GB" sz="1600" dirty="0"/>
                  <a:t>cm</a:t>
                </a:r>
              </a:p>
              <a:p>
                <a:endParaRPr lang="en-GB" sz="1600" dirty="0"/>
              </a:p>
              <a:p>
                <a:r>
                  <a:rPr lang="en-GB" sz="1600" dirty="0"/>
                  <a:t>Calculate the radius of the circle.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78567E9-0410-2C2E-3A73-043FB05F1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290" y="1557367"/>
                <a:ext cx="3738268" cy="255454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xmlns="" id="{DBCC44D7-61D0-30C9-C80A-FB7452B4F088}"/>
                  </a:ext>
                </a:extLst>
              </p:cNvPr>
              <p:cNvSpPr txBox="1"/>
              <p:nvPr/>
            </p:nvSpPr>
            <p:spPr>
              <a:xfrm>
                <a:off x="2776155" y="4311155"/>
                <a:ext cx="3024336" cy="21944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×12=3×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𝑃𝑇</m:t>
                      </m:r>
                    </m:oMath>
                  </m:oMathPara>
                </a14:m>
                <a:endParaRPr lang="en-GB" sz="2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𝑃𝑇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=48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𝑃𝑇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𝑃𝑇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=16</m:t>
                      </m:r>
                    </m:oMath>
                  </m:oMathPara>
                </a14:m>
                <a:endParaRPr lang="en-GB" sz="2800" b="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BCC44D7-61D0-30C9-C80A-FB7452B4F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6155" y="4311155"/>
                <a:ext cx="3024336" cy="2194447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xmlns="" id="{8B5BE9FD-FB2C-9234-06E3-D569B2B03CF1}"/>
                  </a:ext>
                </a:extLst>
              </p:cNvPr>
              <p:cNvSpPr txBox="1"/>
              <p:nvPr/>
            </p:nvSpPr>
            <p:spPr>
              <a:xfrm>
                <a:off x="6295988" y="4367676"/>
                <a:ext cx="3168352" cy="20814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𝑃𝑄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=16+3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𝑃𝑄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=19</m:t>
                      </m:r>
                    </m:oMath>
                  </m:oMathPara>
                </a14:m>
                <a:endParaRPr lang="en-GB" sz="2800" b="0" dirty="0"/>
              </a:p>
              <a:p>
                <a:pPr algn="ctr"/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3200" i="1">
                            <a:latin typeface="Cambria Math"/>
                          </a:rPr>
                        </m:ctrlPr>
                      </m:fPr>
                      <m:num>
                        <m:r>
                          <a:rPr lang="en-GB" sz="3200" b="0" i="1" smtClean="0">
                            <a:latin typeface="Cambria Math" panose="02040503050406030204" pitchFamily="18" charset="0"/>
                          </a:rPr>
                          <m:t>19</m:t>
                        </m:r>
                      </m:num>
                      <m:den>
                        <m:r>
                          <a:rPr lang="en-GB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GB" sz="2800" b="0" dirty="0"/>
              </a:p>
              <a:p>
                <a:pPr algn="ctr"/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=9.5 </m:t>
                    </m:r>
                  </m:oMath>
                </a14:m>
                <a:r>
                  <a:rPr lang="en-GB" sz="2800" b="0" dirty="0"/>
                  <a:t>cm</a:t>
                </a: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5BE9FD-FB2C-9234-06E3-D569B2B03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5988" y="4367676"/>
                <a:ext cx="3168352" cy="2081404"/>
              </a:xfrm>
              <a:prstGeom prst="rect">
                <a:avLst/>
              </a:prstGeom>
              <a:blipFill rotWithShape="1">
                <a:blip r:embed="rId6"/>
                <a:stretch>
                  <a:fillRect b="-73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xmlns="" id="{5CEA9611-BEFA-33EB-828E-DF06784081F9}"/>
              </a:ext>
            </a:extLst>
          </p:cNvPr>
          <p:cNvSpPr/>
          <p:nvPr/>
        </p:nvSpPr>
        <p:spPr>
          <a:xfrm>
            <a:off x="2914545" y="4311154"/>
            <a:ext cx="2813938" cy="2231637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xmlns="" id="{D9BA6786-EC4B-62D6-7892-0A757FCC0E84}"/>
              </a:ext>
            </a:extLst>
          </p:cNvPr>
          <p:cNvSpPr/>
          <p:nvPr/>
        </p:nvSpPr>
        <p:spPr>
          <a:xfrm>
            <a:off x="6736595" y="4320891"/>
            <a:ext cx="2813938" cy="2231637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</p:childTnLst>
        </p:cTn>
      </p:par>
    </p:tnLst>
    <p:bldLst>
      <p:bldP spid="47" grpId="0" animBg="1"/>
      <p:bldP spid="47" grpId="1" animBg="1"/>
      <p:bldP spid="4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1851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28346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  ·  Exam question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18080" y="1133856"/>
            <a:ext cx="9287408" cy="55138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xmlns="" id="{A6EBD601-E1C5-BE9C-54B0-70927C7EF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720"/>
          <a:stretch/>
        </p:blipFill>
        <p:spPr bwMode="auto">
          <a:xfrm>
            <a:off x="8083805" y="1037805"/>
            <a:ext cx="3744416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xmlns="" id="{286D6FCC-C563-3FCD-55ED-087060AA45DF}"/>
                  </a:ext>
                </a:extLst>
              </p:cNvPr>
              <p:cNvSpPr txBox="1"/>
              <p:nvPr/>
            </p:nvSpPr>
            <p:spPr>
              <a:xfrm>
                <a:off x="3129833" y="1063081"/>
                <a:ext cx="4854516" cy="3785652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r>
                  <a:rPr lang="pt-BR" sz="1600" i="1" dirty="0"/>
                  <a:t>[Edexcel IGCSE(9-1) June 2018(R) 1H Q16 Edited]</a:t>
                </a:r>
              </a:p>
              <a:p>
                <a:endParaRPr lang="pt-BR" sz="1600" i="1" dirty="0"/>
              </a:p>
              <a:p>
                <a:r>
                  <a:rPr lang="en-GB" sz="1600" dirty="0"/>
                  <a:t>The points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sz="1600" dirty="0"/>
                  <a:t>,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sz="1600" dirty="0"/>
                  <a:t>,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16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and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1600" dirty="0"/>
                  <a:t> lie on a circle.</a:t>
                </a:r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𝐴𝑋𝑌</m:t>
                    </m:r>
                  </m:oMath>
                </a14:m>
                <a:r>
                  <a:rPr lang="en-GB" sz="1600" dirty="0"/>
                  <a:t> and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𝐴𝐵𝐶</m:t>
                    </m:r>
                  </m:oMath>
                </a14:m>
                <a:r>
                  <a:rPr lang="en-GB" sz="1600" dirty="0"/>
                  <a:t> are straight lines.</a:t>
                </a:r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𝐴𝑋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12 </m:t>
                    </m:r>
                  </m:oMath>
                </a14:m>
                <a:r>
                  <a:rPr lang="en-GB" sz="1600" dirty="0"/>
                  <a:t>cm        </a:t>
                </a:r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𝑋𝑌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cm        </a:t>
                </a:r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𝐴𝐵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cm       </a:t>
                </a:r>
              </a:p>
              <a:p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𝐵𝐶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= 4 </m:t>
                    </m:r>
                  </m:oMath>
                </a14:m>
                <a:r>
                  <a:rPr lang="en-GB" sz="1600" dirty="0"/>
                  <a:t>cm</a:t>
                </a:r>
              </a:p>
              <a:p>
                <a:endParaRPr lang="en-GB" sz="1600" dirty="0"/>
              </a:p>
              <a:p>
                <a:pPr marL="342900" indent="-342900">
                  <a:buAutoNum type="alphaLcParenR"/>
                </a:pPr>
                <a:r>
                  <a:rPr lang="en-GB" sz="1600" dirty="0"/>
                  <a:t>Show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600" b="0" i="1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−8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600" dirty="0"/>
                  <a:t> where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sz="1600" dirty="0"/>
                  <a:t> is a constant to be found.</a:t>
                </a:r>
              </a:p>
              <a:p>
                <a:pPr marL="342900" indent="-342900">
                  <a:buAutoNum type="alphaLcParenR"/>
                </a:pPr>
                <a:endParaRPr lang="en-GB" sz="1600" dirty="0"/>
              </a:p>
              <a:p>
                <a:pPr marL="342900" indent="-342900">
                  <a:buAutoNum type="alphaLcParenR"/>
                </a:pPr>
                <a:r>
                  <a:rPr lang="en-GB" sz="1600" dirty="0"/>
                  <a:t>Hence find the length of AC. </a:t>
                </a:r>
                <a:br>
                  <a:rPr lang="en-GB" sz="1600" dirty="0"/>
                </a:br>
                <a:r>
                  <a:rPr lang="en-GB" sz="1600" dirty="0"/>
                  <a:t>Give your answer correct to 3 significant figures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286D6FCC-C563-3FCD-55ED-087060AA4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9833" y="1063081"/>
                <a:ext cx="4854516" cy="378565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Picture 2">
            <a:extLst>
              <a:ext uri="{FF2B5EF4-FFF2-40B4-BE49-F238E27FC236}">
                <a16:creationId xmlns:a16="http://schemas.microsoft.com/office/drawing/2014/main" xmlns="" id="{8E464471-C649-3F40-0CE5-BED04204CF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42" b="74090"/>
          <a:stretch/>
        </p:blipFill>
        <p:spPr bwMode="auto">
          <a:xfrm>
            <a:off x="8282717" y="3524925"/>
            <a:ext cx="1505873" cy="671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xmlns="" id="{2E4EB9F5-79F7-4A06-034D-ADB07EC154EC}"/>
                  </a:ext>
                </a:extLst>
              </p:cNvPr>
              <p:cNvSpPr txBox="1"/>
              <p:nvPr/>
            </p:nvSpPr>
            <p:spPr>
              <a:xfrm>
                <a:off x="2925276" y="4864144"/>
                <a:ext cx="4464496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+4)=12(12+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400" b="0" i="1" dirty="0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=144+12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400" b="0" i="1" dirty="0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−144=0</m:t>
                      </m:r>
                    </m:oMath>
                  </m:oMathPara>
                </a14:m>
                <a:endParaRPr lang="en-GB" sz="2400" b="0" dirty="0"/>
              </a:p>
              <a:p>
                <a:pPr algn="ctr"/>
                <a14:m>
                  <m:oMath xmlns:m="http://schemas.openxmlformats.org/officeDocument/2006/math"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0" i="0" dirty="0" smtClean="0">
                        <a:latin typeface="Cambria Math" panose="02040503050406030204" pitchFamily="18" charset="0"/>
                      </a:rPr>
                      <m:t>16.649...</m:t>
                    </m:r>
                  </m:oMath>
                </a14:m>
                <a:r>
                  <a:rPr lang="en-GB" sz="2400" b="1" dirty="0"/>
                  <a:t> </a:t>
                </a:r>
                <a:r>
                  <a:rPr lang="en-GB" sz="2400" dirty="0"/>
                  <a:t>or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=−8.649. ..</m:t>
                    </m:r>
                  </m:oMath>
                </a14:m>
                <a:endParaRPr lang="en-GB" sz="2400" b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16.649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2E4EB9F5-79F7-4A06-034D-ADB07EC15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5276" y="4864144"/>
                <a:ext cx="4464496" cy="1938992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xmlns="" id="{B6F898BD-AE48-F695-2FE2-ACF93F311CD6}"/>
                  </a:ext>
                </a:extLst>
              </p:cNvPr>
              <p:cNvSpPr txBox="1"/>
              <p:nvPr/>
            </p:nvSpPr>
            <p:spPr>
              <a:xfrm>
                <a:off x="7919551" y="5377223"/>
                <a:ext cx="280831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𝐴𝐶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=16.649+4</m:t>
                      </m:r>
                    </m:oMath>
                  </m:oMathPara>
                </a14:m>
                <a:endParaRPr lang="en-GB" sz="240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𝑨𝑪</m:t>
                    </m:r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𝟐𝟎</m:t>
                    </m:r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𝟔</m:t>
                    </m:r>
                  </m:oMath>
                </a14:m>
                <a:r>
                  <a:rPr lang="en-GB" sz="2400" b="1" dirty="0">
                    <a:ea typeface="Cambria Math" panose="02040503050406030204" pitchFamily="18" charset="0"/>
                  </a:rPr>
                  <a:t> cm</a:t>
                </a:r>
              </a:p>
              <a:p>
                <a:pPr algn="ctr"/>
                <a:endParaRPr lang="en-GB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B6F898BD-AE48-F695-2FE2-ACF93F311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551" y="5377223"/>
                <a:ext cx="2808312" cy="120032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ectangle 47">
            <a:extLst>
              <a:ext uri="{FF2B5EF4-FFF2-40B4-BE49-F238E27FC236}">
                <a16:creationId xmlns:a16="http://schemas.microsoft.com/office/drawing/2014/main" xmlns="" id="{35B5F00B-B853-8115-9398-46F22C6A947F}"/>
              </a:ext>
            </a:extLst>
          </p:cNvPr>
          <p:cNvSpPr/>
          <p:nvPr/>
        </p:nvSpPr>
        <p:spPr>
          <a:xfrm>
            <a:off x="3133484" y="4994328"/>
            <a:ext cx="7598030" cy="1808808"/>
          </a:xfrm>
          <a:prstGeom prst="rect">
            <a:avLst/>
          </a:prstGeom>
          <a:solidFill>
            <a:srgbClr val="9BBB59"/>
          </a:solidFill>
          <a:ln w="25400" cap="flat" cmpd="sng" algn="ctr">
            <a:solidFill>
              <a:srgbClr val="9BBB59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  ·  Jan 2023 · Paper 2HR — chords AEC and BED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18080" y="1399032"/>
            <a:ext cx="6955536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s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088" y="1463040"/>
            <a:ext cx="6827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TANGENT touches at one point; a SECANT cuts through at two; a CHORD joins two points on the circumference.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Chords crossing INSIDE:  a × b = c × d  (product of the parts of each chord).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Secants meeting OUTSIDE:  external part × WHOLE secant = external part × WHOLE secant.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‘whole’ secant = the outside part PLUS the inside part — add them before multiplying.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diagram, substitute, then solve the equation.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→ part × part;  outside → outside × whole.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1031</Words>
  <Application>Microsoft Office PowerPoint</Application>
  <PresentationFormat>Custom</PresentationFormat>
  <Paragraphs>229</Paragraphs>
  <Slides>16</Slides>
  <Notes>16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4</cp:revision>
  <dcterms:created xsi:type="dcterms:W3CDTF">2026-07-13T09:35:21Z</dcterms:created>
  <dcterms:modified xsi:type="dcterms:W3CDTF">2026-07-25T08:48:48Z</dcterms:modified>
</cp:coreProperties>
</file>