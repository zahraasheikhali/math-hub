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jpeg" ContentType="image/jpe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A183491-131D-4D95-8763-3F6D5A7370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F199F1-33EC-4750-A44A-AA4EEA6C3DE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01179F-B857-43E8-B964-B70FE48729A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77673B-743D-45DD-A05E-7761EAEBBDD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F265581-5903-4632-B3BA-6C85B6E6D9E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6620AE-80DC-4867-AD7C-EB4E0FE585E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FC46FA-5750-41E9-808B-C2CFEA0AF0A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A61F13-9E07-4371-80CB-BC94CB28033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7586E73-7782-473F-BB77-9486D04EF4A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16AC18D-131F-47CA-BB70-1C9209DB8A9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9C34C4-3318-4D2D-B3F3-789CAF5248D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C5C63C-8375-41C2-8B8D-26621BAD3E2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1863FEF-ADF3-4D9B-9538-00CD383BD9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D38BF0-F3A2-4EB8-B4DA-D3B7B61B5C2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2384B6-0B62-4C16-A962-B4485A628DF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6F6AA66-F371-4A33-AA64-C0CE1D27466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D67ED9-7B42-4B8F-9610-B1F32F60D3A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869680" y="685800"/>
            <a:ext cx="2285640" cy="2285640"/>
          </a:xfrm>
          <a:prstGeom prst="ellipse">
            <a:avLst/>
          </a:prstGeom>
          <a:noFill/>
          <a:ln w="635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8595360" y="1371600"/>
            <a:ext cx="2926080" cy="100584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8686800" y="2468880"/>
            <a:ext cx="2834640" cy="360"/>
          </a:xfrm>
          <a:prstGeom prst="line">
            <a:avLst/>
          </a:prstGeom>
          <a:ln w="381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0ac2b"/>
                </a:solidFill>
                <a:latin typeface="Cambria"/>
                <a:ea typeface="Cambria"/>
              </a:rPr>
              <a:t>Chords, Secants &amp; Tangents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Intersecting Chord Theorem · Intersecting Secant Theorem · Tangent–Secant · Finding Lengths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Theorems About LENGTHS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These theorems are about LENGTHS, not angles.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When two lines cut a circle, the products of their segments are equal.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Chord, secant or tangent?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Intersecting chord theorem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Intersecting secant theorem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Substituting into the formula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full lengths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chord · secant · tangent · segment · product · external part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VOCABULARY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Chords vs Secants vs Tangents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0" descr="/tmp/work/cs-28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16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Tangent = touches at ONE point.  Secant = cuts through at TWO points.  Chord = joins two points on the circumference.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BIG IDEA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Intersecting Chord Theorem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0" descr="/tmp/work/cs-29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20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When two chords cross INSIDE the circle,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product of the two parts of one chord = the product of the two parts of the other.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TWO RULES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Learn These Two Formulas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Both rules say the same thing: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two products are EQUAL. Only where the lines meet changes.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41"/>
          <p:cNvSpPr/>
          <p:nvPr/>
        </p:nvSpPr>
        <p:spPr>
          <a:xfrm>
            <a:off x="567000" y="219456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42"/>
          <p:cNvSpPr/>
          <p:nvPr/>
        </p:nvSpPr>
        <p:spPr>
          <a:xfrm>
            <a:off x="93276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Chords meet INSIDE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43"/>
          <p:cNvSpPr/>
          <p:nvPr/>
        </p:nvSpPr>
        <p:spPr>
          <a:xfrm>
            <a:off x="914400" y="292608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60"/>
                </a:solidFill>
                <a:latin typeface="Cambria"/>
                <a:ea typeface="Cambria"/>
              </a:rPr>
              <a:t>Two chords cross inside the circle.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en-US" sz="2600" spc="-1" strike="noStrike">
                <a:solidFill>
                  <a:srgbClr val="c84f2f"/>
                </a:solidFill>
                <a:latin typeface="Cambria"/>
                <a:ea typeface="Cambria"/>
              </a:rPr>
              <a:t>a × b  =  c × d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Multiply the two parts of each chord.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44"/>
          <p:cNvSpPr/>
          <p:nvPr/>
        </p:nvSpPr>
        <p:spPr>
          <a:xfrm>
            <a:off x="6190560" y="219456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45"/>
          <p:cNvSpPr/>
          <p:nvPr/>
        </p:nvSpPr>
        <p:spPr>
          <a:xfrm>
            <a:off x="6556320" y="243216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Secants meet OUTSIDE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46"/>
          <p:cNvSpPr/>
          <p:nvPr/>
        </p:nvSpPr>
        <p:spPr>
          <a:xfrm>
            <a:off x="6537960" y="2926080"/>
            <a:ext cx="47545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5c6b60"/>
                </a:solidFill>
                <a:latin typeface="Cambria"/>
                <a:ea typeface="Cambria"/>
              </a:rPr>
              <a:t>Two secants meet at a point outside.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a × (a + b)  =  c × (c + d)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OUTSIDE part × WHOLE length, for each secant.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47"/>
          <p:cNvSpPr/>
          <p:nvPr/>
        </p:nvSpPr>
        <p:spPr>
          <a:xfrm>
            <a:off x="567000" y="5715000"/>
            <a:ext cx="11063880" cy="914040"/>
          </a:xfrm>
          <a:prstGeom prst="roundRect">
            <a:avLst>
              <a:gd name="adj" fmla="val 6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48"/>
          <p:cNvSpPr/>
          <p:nvPr/>
        </p:nvSpPr>
        <p:spPr>
          <a:xfrm>
            <a:off x="841320" y="57150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Outside the circle: external part × the WHOLE secant.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BIG IDEA 2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Intersecting Secant Theorem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39"/>
          <p:cNvSpPr/>
          <p:nvPr/>
        </p:nvSpPr>
        <p:spPr>
          <a:xfrm>
            <a:off x="3014280" y="1353240"/>
            <a:ext cx="61628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Image 0" descr="/tmp/work/cs-30.png"/>
          <p:cNvPicPr/>
          <p:nvPr/>
        </p:nvPicPr>
        <p:blipFill>
          <a:blip r:embed="rId1"/>
          <a:stretch/>
        </p:blipFill>
        <p:spPr>
          <a:xfrm>
            <a:off x="3078360" y="1417320"/>
            <a:ext cx="6034680" cy="4525920"/>
          </a:xfrm>
          <a:prstGeom prst="rect">
            <a:avLst/>
          </a:prstGeom>
          <a:ln w="0">
            <a:noFill/>
          </a:ln>
        </p:spPr>
      </p:pic>
      <p:sp>
        <p:nvSpPr>
          <p:cNvPr id="298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When two secants meet OUTSIDE the circle,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external part × whole secant  =  external part × whole secant.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Substitute into the Formula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9"/>
          <p:cNvSpPr/>
          <p:nvPr/>
        </p:nvSpPr>
        <p:spPr>
          <a:xfrm>
            <a:off x="3014280" y="1353240"/>
            <a:ext cx="81266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Label each segment, then substitute.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You often get an equation to solve for x.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72"/>
          <p:cNvSpPr/>
          <p:nvPr/>
        </p:nvSpPr>
        <p:spPr>
          <a:xfrm>
            <a:off x="3181680" y="1329480"/>
            <a:ext cx="2657880" cy="3690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Oval 73"/>
          <p:cNvSpPr/>
          <p:nvPr/>
        </p:nvSpPr>
        <p:spPr>
          <a:xfrm>
            <a:off x="7213680" y="1817280"/>
            <a:ext cx="3816000" cy="3816000"/>
          </a:xfrm>
          <a:prstGeom prst="ellipse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44" name="Straight Connector 74"/>
          <p:cNvCxnSpPr/>
          <p:nvPr/>
        </p:nvCxnSpPr>
        <p:spPr>
          <a:xfrm>
            <a:off x="7285320" y="3257280"/>
            <a:ext cx="3024720" cy="1944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345" name="Straight Connector 75"/>
          <p:cNvCxnSpPr/>
          <p:nvPr/>
        </p:nvCxnSpPr>
        <p:spPr>
          <a:xfrm flipH="1">
            <a:off x="7673760" y="1839960"/>
            <a:ext cx="1448280" cy="31528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46" name="TextBox 76"/>
          <p:cNvSpPr/>
          <p:nvPr/>
        </p:nvSpPr>
        <p:spPr>
          <a:xfrm>
            <a:off x="7818480" y="4350240"/>
            <a:ext cx="55116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77"/>
          <p:cNvSpPr/>
          <p:nvPr/>
        </p:nvSpPr>
        <p:spPr>
          <a:xfrm>
            <a:off x="9121680" y="4121280"/>
            <a:ext cx="55116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78"/>
          <p:cNvSpPr/>
          <p:nvPr/>
        </p:nvSpPr>
        <p:spPr>
          <a:xfrm>
            <a:off x="8617680" y="2553480"/>
            <a:ext cx="55116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79"/>
          <p:cNvSpPr/>
          <p:nvPr/>
        </p:nvSpPr>
        <p:spPr>
          <a:xfrm>
            <a:off x="7598160" y="3081960"/>
            <a:ext cx="551160" cy="46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80"/>
          <p:cNvSpPr/>
          <p:nvPr/>
        </p:nvSpPr>
        <p:spPr>
          <a:xfrm>
            <a:off x="3129840" y="1803960"/>
            <a:ext cx="2813400" cy="43484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51" name="Straight Arrow Connector 81"/>
          <p:cNvCxnSpPr/>
          <p:nvPr/>
        </p:nvCxnSpPr>
        <p:spPr>
          <a:xfrm flipH="1">
            <a:off x="5839920" y="2302200"/>
            <a:ext cx="464040" cy="553680"/>
          </a:xfrm>
          <a:prstGeom prst="straightConnector1">
            <a:avLst/>
          </a:prstGeom>
          <a:ln w="57150">
            <a:solidFill>
              <a:srgbClr val="000000"/>
            </a:solidFill>
            <a:tailEnd len="med" type="triangle" w="med"/>
          </a:ln>
        </p:spPr>
      </p:cxnSp>
      <p:sp>
        <p:nvSpPr>
          <p:cNvPr id="352" name="TextBox 82"/>
          <p:cNvSpPr/>
          <p:nvPr/>
        </p:nvSpPr>
        <p:spPr>
          <a:xfrm>
            <a:off x="5899680" y="1613160"/>
            <a:ext cx="1307520" cy="820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GB" sz="1600" spc="-1" strike="noStrike">
                <a:solidFill>
                  <a:schemeClr val="lt1"/>
                </a:solidFill>
                <a:latin typeface="Calibri"/>
              </a:rPr>
              <a:t>Substitute</a:t>
            </a:r>
            <a:r>
              <a:rPr b="0" lang="en-GB" sz="1600" spc="-1" strike="noStrike">
                <a:solidFill>
                  <a:schemeClr val="lt1"/>
                </a:solidFill>
                <a:latin typeface="Calibri"/>
              </a:rPr>
              <a:t> into the formula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3" name="Straight Arrow Connector 83"/>
          <p:cNvCxnSpPr/>
          <p:nvPr/>
        </p:nvCxnSpPr>
        <p:spPr>
          <a:xfrm flipH="1" flipV="1">
            <a:off x="5817240" y="4743720"/>
            <a:ext cx="587160" cy="658080"/>
          </a:xfrm>
          <a:prstGeom prst="straightConnector1">
            <a:avLst/>
          </a:prstGeom>
          <a:ln w="57150">
            <a:solidFill>
              <a:srgbClr val="000000"/>
            </a:solidFill>
            <a:tailEnd len="med" type="triangle" w="med"/>
          </a:ln>
        </p:spPr>
      </p:cxnSp>
      <p:sp>
        <p:nvSpPr>
          <p:cNvPr id="354" name="TextBox 84"/>
          <p:cNvSpPr/>
          <p:nvPr/>
        </p:nvSpPr>
        <p:spPr>
          <a:xfrm>
            <a:off x="5977800" y="5136480"/>
            <a:ext cx="1307520" cy="36900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Oval 85"/>
          <p:cNvSpPr/>
          <p:nvPr/>
        </p:nvSpPr>
        <p:spPr>
          <a:xfrm flipV="1">
            <a:off x="9158400" y="3620880"/>
            <a:ext cx="45360" cy="4536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-12600" bIns="-12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FULL Lengths of the Secants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39"/>
          <p:cNvSpPr/>
          <p:nvPr/>
        </p:nvSpPr>
        <p:spPr>
          <a:xfrm>
            <a:off x="3014280" y="1134000"/>
            <a:ext cx="8616600" cy="487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Careful: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secant length is the OUTSIDE part PLUS the part inside the circle — not just one piece.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44"/>
          <p:cNvSpPr/>
          <p:nvPr/>
        </p:nvSpPr>
        <p:spPr>
          <a:xfrm>
            <a:off x="3103920" y="1395360"/>
            <a:ext cx="2939400" cy="399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Oval 45"/>
          <p:cNvSpPr/>
          <p:nvPr/>
        </p:nvSpPr>
        <p:spPr>
          <a:xfrm>
            <a:off x="8309520" y="2325240"/>
            <a:ext cx="3173760" cy="3247200"/>
          </a:xfrm>
          <a:prstGeom prst="ellipse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00" name="Straight Connector 46"/>
          <p:cNvCxnSpPr/>
          <p:nvPr/>
        </p:nvCxnSpPr>
        <p:spPr>
          <a:xfrm>
            <a:off x="7945200" y="1169280"/>
            <a:ext cx="2293920" cy="4347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401" name="Straight Connector 47"/>
          <p:cNvCxnSpPr/>
          <p:nvPr/>
        </p:nvCxnSpPr>
        <p:spPr>
          <a:xfrm flipH="1" flipV="1">
            <a:off x="7945200" y="1169280"/>
            <a:ext cx="3412800" cy="2168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02" name="TextBox 48"/>
          <p:cNvSpPr/>
          <p:nvPr/>
        </p:nvSpPr>
        <p:spPr>
          <a:xfrm>
            <a:off x="9060840" y="4093200"/>
            <a:ext cx="55116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Box 49"/>
          <p:cNvSpPr/>
          <p:nvPr/>
        </p:nvSpPr>
        <p:spPr>
          <a:xfrm>
            <a:off x="8785080" y="1333800"/>
            <a:ext cx="55116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50"/>
          <p:cNvSpPr/>
          <p:nvPr/>
        </p:nvSpPr>
        <p:spPr>
          <a:xfrm>
            <a:off x="10088640" y="2793960"/>
            <a:ext cx="55116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51"/>
          <p:cNvSpPr/>
          <p:nvPr/>
        </p:nvSpPr>
        <p:spPr>
          <a:xfrm>
            <a:off x="3013560" y="1701000"/>
            <a:ext cx="4123440" cy="43484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6" name="Straight Arrow Connector 52"/>
          <p:cNvCxnSpPr/>
          <p:nvPr/>
        </p:nvCxnSpPr>
        <p:spPr>
          <a:xfrm flipH="1" flipV="1">
            <a:off x="6008040" y="2728440"/>
            <a:ext cx="609480" cy="333360"/>
          </a:xfrm>
          <a:prstGeom prst="straightConnector1">
            <a:avLst/>
          </a:prstGeom>
          <a:ln w="57150">
            <a:solidFill>
              <a:srgbClr val="000000"/>
            </a:solidFill>
            <a:tailEnd len="med" type="triangle" w="med"/>
          </a:ln>
        </p:spPr>
      </p:cxnSp>
      <p:sp>
        <p:nvSpPr>
          <p:cNvPr id="407" name="TextBox 53"/>
          <p:cNvSpPr/>
          <p:nvPr/>
        </p:nvSpPr>
        <p:spPr>
          <a:xfrm>
            <a:off x="6477480" y="2696760"/>
            <a:ext cx="1415520" cy="7300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lt1"/>
                </a:solidFill>
                <a:latin typeface="Calibri"/>
              </a:rPr>
              <a:t>Find the lengths of the </a:t>
            </a:r>
            <a:r>
              <a:rPr b="1" lang="en-GB" sz="1400" spc="-1" strike="noStrike">
                <a:solidFill>
                  <a:schemeClr val="lt1"/>
                </a:solidFill>
                <a:latin typeface="Calibri"/>
              </a:rPr>
              <a:t>full secants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08" name="Straight Arrow Connector 54"/>
          <p:cNvCxnSpPr/>
          <p:nvPr/>
        </p:nvCxnSpPr>
        <p:spPr>
          <a:xfrm flipH="1" flipV="1">
            <a:off x="6264000" y="4575600"/>
            <a:ext cx="587160" cy="657720"/>
          </a:xfrm>
          <a:prstGeom prst="straightConnector1">
            <a:avLst/>
          </a:prstGeom>
          <a:ln w="57150">
            <a:solidFill>
              <a:srgbClr val="000000"/>
            </a:solidFill>
            <a:tailEnd len="med" type="triangle" w="med"/>
          </a:ln>
        </p:spPr>
      </p:cxnSp>
      <p:sp>
        <p:nvSpPr>
          <p:cNvPr id="409" name="TextBox 55"/>
          <p:cNvSpPr/>
          <p:nvPr/>
        </p:nvSpPr>
        <p:spPr>
          <a:xfrm>
            <a:off x="6424560" y="4968360"/>
            <a:ext cx="1158120" cy="3380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Oval 56"/>
          <p:cNvSpPr/>
          <p:nvPr/>
        </p:nvSpPr>
        <p:spPr>
          <a:xfrm flipV="1">
            <a:off x="9936360" y="3895200"/>
            <a:ext cx="45360" cy="4536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-12600" bIns="-12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57"/>
          <p:cNvSpPr/>
          <p:nvPr/>
        </p:nvSpPr>
        <p:spPr>
          <a:xfrm>
            <a:off x="7963920" y="2022480"/>
            <a:ext cx="551160" cy="4611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58"/>
          <p:cNvSpPr/>
          <p:nvPr/>
        </p:nvSpPr>
        <p:spPr>
          <a:xfrm>
            <a:off x="3367800" y="1782000"/>
            <a:ext cx="1426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000" spc="-1" strike="noStrike">
                <a:solidFill>
                  <a:schemeClr val="dk1"/>
                </a:solidFill>
                <a:latin typeface="Calibri"/>
              </a:rPr>
              <a:t>Full lengths: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TEST YOUR UNDERSTANDING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Your Turn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39"/>
          <p:cNvSpPr/>
          <p:nvPr/>
        </p:nvSpPr>
        <p:spPr>
          <a:xfrm>
            <a:off x="3014280" y="1476000"/>
            <a:ext cx="7974000" cy="453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Decide first: do the lines meet inside (chords) or outside (secants)?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Box 72"/>
          <p:cNvSpPr/>
          <p:nvPr/>
        </p:nvSpPr>
        <p:spPr>
          <a:xfrm>
            <a:off x="3263040" y="1724040"/>
            <a:ext cx="2657880" cy="338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Oval 73"/>
          <p:cNvSpPr/>
          <p:nvPr/>
        </p:nvSpPr>
        <p:spPr>
          <a:xfrm>
            <a:off x="6981840" y="2043720"/>
            <a:ext cx="3816000" cy="3816000"/>
          </a:xfrm>
          <a:prstGeom prst="ellipse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457" name="Straight Connector 74"/>
          <p:cNvCxnSpPr>
            <a:stCxn id="456" idx="1"/>
            <a:endCxn id="456" idx="6"/>
          </p:cNvCxnSpPr>
          <p:nvPr/>
        </p:nvCxnSpPr>
        <p:spPr>
          <a:xfrm>
            <a:off x="7540560" y="2602440"/>
            <a:ext cx="3257640" cy="1349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458" name="Straight Connector 75"/>
          <p:cNvCxnSpPr>
            <a:stCxn id="456" idx="0"/>
            <a:endCxn id="456" idx="4"/>
          </p:cNvCxnSpPr>
          <p:nvPr/>
        </p:nvCxnSpPr>
        <p:spPr>
          <a:xfrm>
            <a:off x="8889840" y="2043360"/>
            <a:ext cx="360" cy="381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59" name="Oval 76"/>
          <p:cNvSpPr/>
          <p:nvPr/>
        </p:nvSpPr>
        <p:spPr>
          <a:xfrm flipV="1">
            <a:off x="8867160" y="3951720"/>
            <a:ext cx="45360" cy="4536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-12600" bIns="-12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77"/>
          <p:cNvSpPr/>
          <p:nvPr/>
        </p:nvSpPr>
        <p:spPr>
          <a:xfrm>
            <a:off x="8768520" y="2371680"/>
            <a:ext cx="55116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Box 78"/>
          <p:cNvSpPr/>
          <p:nvPr/>
        </p:nvSpPr>
        <p:spPr>
          <a:xfrm>
            <a:off x="9658080" y="3535920"/>
            <a:ext cx="55116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Box 79"/>
          <p:cNvSpPr/>
          <p:nvPr/>
        </p:nvSpPr>
        <p:spPr>
          <a:xfrm>
            <a:off x="7817400" y="2815560"/>
            <a:ext cx="55116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80"/>
          <p:cNvSpPr/>
          <p:nvPr/>
        </p:nvSpPr>
        <p:spPr>
          <a:xfrm>
            <a:off x="8867160" y="4698000"/>
            <a:ext cx="551160" cy="46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64" name="Straight Arrow Connector 81"/>
          <p:cNvCxnSpPr/>
          <p:nvPr/>
        </p:nvCxnSpPr>
        <p:spPr>
          <a:xfrm flipV="1">
            <a:off x="8983800" y="3974400"/>
            <a:ext cx="360" cy="1874520"/>
          </a:xfrm>
          <a:prstGeom prst="straightConnector1">
            <a:avLst/>
          </a:prstGeom>
          <a:ln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465" name="TextBox 82"/>
          <p:cNvSpPr/>
          <p:nvPr/>
        </p:nvSpPr>
        <p:spPr>
          <a:xfrm>
            <a:off x="3059280" y="2523600"/>
            <a:ext cx="2813400" cy="3486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ectangle 83"/>
          <p:cNvSpPr/>
          <p:nvPr/>
        </p:nvSpPr>
        <p:spPr>
          <a:xfrm>
            <a:off x="3263040" y="3898440"/>
            <a:ext cx="2405880" cy="160992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Rectangle 84"/>
          <p:cNvSpPr/>
          <p:nvPr/>
        </p:nvSpPr>
        <p:spPr>
          <a:xfrm>
            <a:off x="3263040" y="2523600"/>
            <a:ext cx="2405880" cy="92376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ectangle 85"/>
          <p:cNvSpPr/>
          <p:nvPr/>
        </p:nvSpPr>
        <p:spPr>
          <a:xfrm>
            <a:off x="3263040" y="5508360"/>
            <a:ext cx="2405880" cy="50184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" dur="indefinite" restart="never" nodeType="tmRoot">
          <p:childTnLst>
            <p:seq>
              <p:cTn id="78" restart="whenNotActive" nodeType="interactiveSeq" fill="hold">
                <p:stCondLst>
                  <p:cond delay="0" evt="onClick">
                    <p:tgtEl>
                      <p:spTgt spid="466"/>
                    </p:tgtEl>
                  </p:cond>
                </p:stCondLst>
                <p:childTnLst>
                  <p:par>
                    <p:cTn id="79" fill="hold">
                      <p:stCondLst>
                        <p:cond delay="0" evt="onClick">
                          <p:tgtEl>
                            <p:spTgt spid="466"/>
                          </p:tgtEl>
                        </p:cond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3" restart="whenNotActive" nodeType="interactiveSeq" fill="hold">
                <p:stCondLst>
                  <p:cond delay="0" evt="onClick">
                    <p:tgtEl>
                      <p:spTgt spid="467"/>
                    </p:tgtEl>
                  </p:cond>
                </p:stCondLst>
                <p:childTnLst>
                  <p:par>
                    <p:cTn id="84" fill="hold">
                      <p:stCondLst>
                        <p:cond delay="0" evt="onClick">
                          <p:tgtEl>
                            <p:spTgt spid="467"/>
                          </p:tgtEl>
                        </p:cond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88" restart="whenNotActive" nodeType="interactiveSeq" fill="hold">
                <p:stCondLst>
                  <p:cond delay="0" evt="onClick">
                    <p:tgtEl>
                      <p:spTgt spid="468"/>
                    </p:tgtEl>
                  </p:cond>
                </p:stCondLst>
                <p:childTnLst>
                  <p:par>
                    <p:cTn id="89" fill="hold">
                      <p:stCondLst>
                        <p:cond delay="0" evt="onClick">
                          <p:tgtEl>
                            <p:spTgt spid="468"/>
                          </p:tgtEl>
                        </p:cond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TEST YOUR UNDERSTANDING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Your Turn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9"/>
          <p:cNvSpPr/>
          <p:nvPr/>
        </p:nvSpPr>
        <p:spPr>
          <a:xfrm>
            <a:off x="3014280" y="1476000"/>
            <a:ext cx="7974000" cy="4531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Decide first: do the lines meet inside (chords) or outside (secants)?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Box 72"/>
          <p:cNvSpPr/>
          <p:nvPr/>
        </p:nvSpPr>
        <p:spPr>
          <a:xfrm>
            <a:off x="3263040" y="1724040"/>
            <a:ext cx="2657880" cy="3380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Oval 73"/>
          <p:cNvSpPr/>
          <p:nvPr/>
        </p:nvSpPr>
        <p:spPr>
          <a:xfrm>
            <a:off x="6981840" y="2043720"/>
            <a:ext cx="3816000" cy="3816000"/>
          </a:xfrm>
          <a:prstGeom prst="ellipse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GB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13" name="Straight Connector 74"/>
          <p:cNvCxnSpPr>
            <a:stCxn id="512" idx="1"/>
            <a:endCxn id="512" idx="6"/>
          </p:cNvCxnSpPr>
          <p:nvPr/>
        </p:nvCxnSpPr>
        <p:spPr>
          <a:xfrm>
            <a:off x="7540560" y="2602440"/>
            <a:ext cx="3257640" cy="13496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514" name="Straight Connector 75"/>
          <p:cNvCxnSpPr>
            <a:stCxn id="512" idx="0"/>
            <a:endCxn id="512" idx="4"/>
          </p:cNvCxnSpPr>
          <p:nvPr/>
        </p:nvCxnSpPr>
        <p:spPr>
          <a:xfrm>
            <a:off x="8889840" y="2043360"/>
            <a:ext cx="360" cy="3816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15" name="Oval 76"/>
          <p:cNvSpPr/>
          <p:nvPr/>
        </p:nvSpPr>
        <p:spPr>
          <a:xfrm flipV="1">
            <a:off x="8867160" y="3951720"/>
            <a:ext cx="45360" cy="4536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-12600" bIns="-126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TextBox 77"/>
          <p:cNvSpPr/>
          <p:nvPr/>
        </p:nvSpPr>
        <p:spPr>
          <a:xfrm>
            <a:off x="8768520" y="2371680"/>
            <a:ext cx="551160" cy="4611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Box 78"/>
          <p:cNvSpPr/>
          <p:nvPr/>
        </p:nvSpPr>
        <p:spPr>
          <a:xfrm>
            <a:off x="9658080" y="3535920"/>
            <a:ext cx="551160" cy="4611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79"/>
          <p:cNvSpPr/>
          <p:nvPr/>
        </p:nvSpPr>
        <p:spPr>
          <a:xfrm>
            <a:off x="7817400" y="2815560"/>
            <a:ext cx="55116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80"/>
          <p:cNvSpPr/>
          <p:nvPr/>
        </p:nvSpPr>
        <p:spPr>
          <a:xfrm>
            <a:off x="8867160" y="4698000"/>
            <a:ext cx="551160" cy="4611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20" name="Straight Arrow Connector 81"/>
          <p:cNvCxnSpPr/>
          <p:nvPr/>
        </p:nvCxnSpPr>
        <p:spPr>
          <a:xfrm flipV="1">
            <a:off x="8983800" y="3974400"/>
            <a:ext cx="360" cy="1874520"/>
          </a:xfrm>
          <a:prstGeom prst="straightConnector1">
            <a:avLst/>
          </a:prstGeom>
          <a:ln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521" name="TextBox 82"/>
          <p:cNvSpPr/>
          <p:nvPr/>
        </p:nvSpPr>
        <p:spPr>
          <a:xfrm>
            <a:off x="3059280" y="2523600"/>
            <a:ext cx="2813400" cy="3486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ectangle 83"/>
          <p:cNvSpPr/>
          <p:nvPr/>
        </p:nvSpPr>
        <p:spPr>
          <a:xfrm>
            <a:off x="3263040" y="3898440"/>
            <a:ext cx="2405880" cy="160992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Rectangle 84"/>
          <p:cNvSpPr/>
          <p:nvPr/>
        </p:nvSpPr>
        <p:spPr>
          <a:xfrm>
            <a:off x="3263040" y="2523600"/>
            <a:ext cx="2405880" cy="92376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Rectangle 85"/>
          <p:cNvSpPr/>
          <p:nvPr/>
        </p:nvSpPr>
        <p:spPr>
          <a:xfrm>
            <a:off x="3263040" y="5508360"/>
            <a:ext cx="2405880" cy="50184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restart="whenNotActive" nodeType="interactiveSeq" fill="hold">
                <p:stCondLst>
                  <p:cond delay="0" evt="onClick">
                    <p:tgtEl>
                      <p:spTgt spid="522"/>
                    </p:tgtEl>
                  </p:cond>
                </p:stCondLst>
                <p:childTnLst>
                  <p:par>
                    <p:cTn id="99" fill="hold">
                      <p:stCondLst>
                        <p:cond delay="0" evt="onClick">
                          <p:tgtEl>
                            <p:spTgt spid="522"/>
                          </p:tgtEl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03" restart="whenNotActive" nodeType="interactiveSeq" fill="hold">
                <p:stCondLst>
                  <p:cond delay="0" evt="onClick">
                    <p:tgtEl>
                      <p:spTgt spid="523"/>
                    </p:tgtEl>
                  </p:cond>
                </p:stCondLst>
                <p:childTnLst>
                  <p:par>
                    <p:cTn id="104" fill="hold">
                      <p:stCondLst>
                        <p:cond delay="0" evt="onClick">
                          <p:tgtEl>
                            <p:spTgt spid="523"/>
                          </p:tgtEl>
                        </p:cond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08" restart="whenNotActive" nodeType="interactiveSeq" fill="hold">
                <p:stCondLst>
                  <p:cond delay="0" evt="onClick">
                    <p:tgtEl>
                      <p:spTgt spid="524"/>
                    </p:tgtEl>
                  </p:cond>
                </p:stCondLst>
                <p:childTnLst>
                  <p:par>
                    <p:cTn id="109" fill="hold">
                      <p:stCondLst>
                        <p:cond delay="0" evt="onClick">
                          <p:tgtEl>
                            <p:spTgt spid="524"/>
                          </p:tgtEl>
                        </p:cond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35"/>
          <p:cNvSpPr/>
          <p:nvPr/>
        </p:nvSpPr>
        <p:spPr>
          <a:xfrm>
            <a:off x="38880" y="267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36"/>
          <p:cNvSpPr/>
          <p:nvPr/>
        </p:nvSpPr>
        <p:spPr>
          <a:xfrm>
            <a:off x="63720" y="2926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37"/>
          <p:cNvSpPr/>
          <p:nvPr/>
        </p:nvSpPr>
        <p:spPr>
          <a:xfrm>
            <a:off x="743040" y="14184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EXERCISE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38"/>
          <p:cNvSpPr/>
          <p:nvPr/>
        </p:nvSpPr>
        <p:spPr>
          <a:xfrm>
            <a:off x="612360" y="39312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Mixed Practice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9"/>
          <p:cNvSpPr/>
          <p:nvPr/>
        </p:nvSpPr>
        <p:spPr>
          <a:xfrm>
            <a:off x="3014280" y="292680"/>
            <a:ext cx="8182800" cy="571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Set up the equation, then solve for the unknown length.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7" name="Picture 44" descr=""/>
          <p:cNvPicPr/>
          <p:nvPr/>
        </p:nvPicPr>
        <p:blipFill>
          <a:blip r:embed="rId1"/>
          <a:srcRect l="5585" t="12846" r="49982" b="36838"/>
          <a:stretch/>
        </p:blipFill>
        <p:spPr>
          <a:xfrm>
            <a:off x="7527960" y="2450880"/>
            <a:ext cx="3456000" cy="2808000"/>
          </a:xfrm>
          <a:prstGeom prst="rect">
            <a:avLst/>
          </a:prstGeom>
          <a:ln w="0">
            <a:noFill/>
          </a:ln>
        </p:spPr>
      </p:pic>
      <p:sp>
        <p:nvSpPr>
          <p:cNvPr id="568" name="Rectangle: Rounded Corners 4"/>
          <p:cNvSpPr/>
          <p:nvPr/>
        </p:nvSpPr>
        <p:spPr>
          <a:xfrm>
            <a:off x="2685960" y="482760"/>
            <a:ext cx="327960" cy="333000"/>
          </a:xfrm>
          <a:prstGeom prst="roundRect">
            <a:avLst>
              <a:gd name="adj" fmla="val 16667"/>
            </a:avLst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2000" spc="-1" strike="noStrike">
                <a:solidFill>
                  <a:schemeClr val="lt1"/>
                </a:solidFill>
                <a:latin typeface="Wingdings"/>
              </a:rPr>
              <a:t>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46"/>
          <p:cNvSpPr/>
          <p:nvPr/>
        </p:nvSpPr>
        <p:spPr>
          <a:xfrm>
            <a:off x="3658320" y="351720"/>
            <a:ext cx="7321680" cy="2003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Box 47"/>
          <p:cNvSpPr/>
          <p:nvPr/>
        </p:nvSpPr>
        <p:spPr>
          <a:xfrm>
            <a:off x="3706200" y="2684520"/>
            <a:ext cx="2520000" cy="7074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1" name="Straight Connector 48"/>
          <p:cNvCxnSpPr/>
          <p:nvPr/>
        </p:nvCxnSpPr>
        <p:spPr>
          <a:xfrm flipV="1">
            <a:off x="8535960" y="3911400"/>
            <a:ext cx="370440" cy="122472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572" name="TextBox 49"/>
          <p:cNvSpPr/>
          <p:nvPr/>
        </p:nvSpPr>
        <p:spPr>
          <a:xfrm>
            <a:off x="8169480" y="5084280"/>
            <a:ext cx="551160" cy="46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Box 50"/>
          <p:cNvSpPr/>
          <p:nvPr/>
        </p:nvSpPr>
        <p:spPr>
          <a:xfrm>
            <a:off x="3634200" y="3581640"/>
            <a:ext cx="2808000" cy="70740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Box 51"/>
          <p:cNvSpPr/>
          <p:nvPr/>
        </p:nvSpPr>
        <p:spPr>
          <a:xfrm>
            <a:off x="3658320" y="4400280"/>
            <a:ext cx="2808000" cy="39960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5" name="Straight Connector 52"/>
          <p:cNvCxnSpPr/>
          <p:nvPr/>
        </p:nvCxnSpPr>
        <p:spPr>
          <a:xfrm flipV="1">
            <a:off x="7700400" y="3915360"/>
            <a:ext cx="1205640" cy="538920"/>
          </a:xfrm>
          <a:prstGeom prst="straightConnector1">
            <a:avLst/>
          </a:prstGeom>
          <a:ln w="9525">
            <a:solidFill>
              <a:srgbClr val="000000"/>
            </a:solidFill>
            <a:prstDash val="dash"/>
            <a:round/>
          </a:ln>
        </p:spPr>
      </p:cxnSp>
      <p:sp>
        <p:nvSpPr>
          <p:cNvPr id="576" name="TextBox 53"/>
          <p:cNvSpPr/>
          <p:nvPr/>
        </p:nvSpPr>
        <p:spPr>
          <a:xfrm>
            <a:off x="7252200" y="4321440"/>
            <a:ext cx="551160" cy="4611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Rectangle 54"/>
          <p:cNvSpPr/>
          <p:nvPr/>
        </p:nvSpPr>
        <p:spPr>
          <a:xfrm>
            <a:off x="3127320" y="2684520"/>
            <a:ext cx="2998440" cy="73836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Rectangle 55"/>
          <p:cNvSpPr/>
          <p:nvPr/>
        </p:nvSpPr>
        <p:spPr>
          <a:xfrm>
            <a:off x="3516120" y="3522960"/>
            <a:ext cx="2998440" cy="132300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Rectangle 56"/>
          <p:cNvSpPr/>
          <p:nvPr/>
        </p:nvSpPr>
        <p:spPr>
          <a:xfrm>
            <a:off x="3516120" y="5074560"/>
            <a:ext cx="2998440" cy="93060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" dur="indefinite" restart="never" nodeType="tmRoot">
          <p:childTnLst>
            <p:seq>
              <p:cTn id="118" dur="indefinite" nodeType="mainSeq">
                <p:childTnLst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35" restart="whenNotActive" nodeType="interactiveSeq" fill="hold">
                <p:stCondLst>
                  <p:cond delay="0" evt="onClick">
                    <p:tgtEl>
                      <p:spTgt spid="577"/>
                    </p:tgtEl>
                  </p:cond>
                </p:stCondLst>
                <p:childTnLst>
                  <p:par>
                    <p:cTn id="136" fill="hold">
                      <p:stCondLst>
                        <p:cond delay="0" evt="onClick">
                          <p:tgtEl>
                            <p:spTgt spid="577"/>
                          </p:tgtEl>
                        </p:cond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44" restart="whenNotActive" nodeType="interactiveSeq" fill="hold">
                <p:stCondLst>
                  <p:cond delay="0" evt="onClick">
                    <p:tgtEl>
                      <p:spTgt spid="578"/>
                    </p:tgtEl>
                  </p:cond>
                </p:stCondLst>
                <p:childTnLst>
                  <p:par>
                    <p:cTn id="145" fill="hold">
                      <p:stCondLst>
                        <p:cond delay="0" evt="onClick">
                          <p:tgtEl>
                            <p:spTgt spid="578"/>
                          </p:tgtEl>
                        </p:cond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53" restart="whenNotActive" nodeType="interactiveSeq" fill="hold">
                <p:stCondLst>
                  <p:cond delay="0" evt="onClick">
                    <p:tgtEl>
                      <p:spTgt spid="579"/>
                    </p:tgtEl>
                  </p:cond>
                </p:stCondLst>
                <p:childTnLst>
                  <p:par>
                    <p:cTn id="154" fill="hold">
                      <p:stCondLst>
                        <p:cond delay="0" evt="onClick">
                          <p:tgtEl>
                            <p:spTgt spid="579"/>
                          </p:tgtEl>
                        </p:cond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Set up the product equation, then solve.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Chords inside → a × b = c × 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Secants outside → external × whole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every segment on the diagram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Solve the equation for 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  ·  Exam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9"/>
          <p:cNvSpPr/>
          <p:nvPr/>
        </p:nvSpPr>
        <p:spPr>
          <a:xfrm>
            <a:off x="2617920" y="1398960"/>
            <a:ext cx="78973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2" name="Picture 1" descr=""/>
          <p:cNvPicPr/>
          <p:nvPr/>
        </p:nvPicPr>
        <p:blipFill>
          <a:blip r:embed="rId1"/>
          <a:srcRect l="0" t="0" r="50790" b="0"/>
          <a:stretch/>
        </p:blipFill>
        <p:spPr>
          <a:xfrm>
            <a:off x="7108200" y="1499760"/>
            <a:ext cx="2782800" cy="2810880"/>
          </a:xfrm>
          <a:prstGeom prst="rect">
            <a:avLst/>
          </a:prstGeom>
          <a:ln w="0">
            <a:noFill/>
          </a:ln>
        </p:spPr>
      </p:pic>
      <p:sp>
        <p:nvSpPr>
          <p:cNvPr id="673" name="TextBox 43"/>
          <p:cNvSpPr/>
          <p:nvPr/>
        </p:nvSpPr>
        <p:spPr>
          <a:xfrm>
            <a:off x="2666160" y="1557360"/>
            <a:ext cx="3737880" cy="25542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44"/>
          <p:cNvSpPr/>
          <p:nvPr/>
        </p:nvSpPr>
        <p:spPr>
          <a:xfrm>
            <a:off x="2776320" y="4311000"/>
            <a:ext cx="3024000" cy="21942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Box 45"/>
          <p:cNvSpPr/>
          <p:nvPr/>
        </p:nvSpPr>
        <p:spPr>
          <a:xfrm>
            <a:off x="6296040" y="4367520"/>
            <a:ext cx="3168000" cy="208116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Rectangle 46"/>
          <p:cNvSpPr/>
          <p:nvPr/>
        </p:nvSpPr>
        <p:spPr>
          <a:xfrm>
            <a:off x="2914560" y="4311000"/>
            <a:ext cx="2813400" cy="223128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Rectangle 47"/>
          <p:cNvSpPr/>
          <p:nvPr/>
        </p:nvSpPr>
        <p:spPr>
          <a:xfrm>
            <a:off x="6736680" y="4320720"/>
            <a:ext cx="2813400" cy="223128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8" dur="indefinite" restart="never" nodeType="tmRoot">
          <p:childTnLst>
            <p:seq>
              <p:cTn id="159" restart="whenNotActive" nodeType="interactiveSeq" fill="hold">
                <p:stCondLst>
                  <p:cond delay="0" evt="onClick">
                    <p:tgtEl>
                      <p:spTgt spid="676"/>
                    </p:tgtEl>
                  </p:cond>
                </p:stCondLst>
                <p:childTnLst>
                  <p:par>
                    <p:cTn id="160" fill="hold">
                      <p:stCondLst>
                        <p:cond delay="0" evt="onClick">
                          <p:tgtEl>
                            <p:spTgt spid="676"/>
                          </p:tgtEl>
                        </p:cond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64" restart="whenNotActive" nodeType="interactiveSeq" fill="hold">
                <p:stCondLst>
                  <p:cond delay="0" evt="onClick">
                    <p:tgtEl>
                      <p:spTgt spid="677"/>
                    </p:tgtEl>
                  </p:cond>
                </p:stCondLst>
                <p:childTnLst>
                  <p:par>
                    <p:cTn id="165" fill="hold">
                      <p:stCondLst>
                        <p:cond delay="0" evt="onClick">
                          <p:tgtEl>
                            <p:spTgt spid="677"/>
                          </p:tgtEl>
                        </p:cond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37"/>
          <p:cNvSpPr/>
          <p:nvPr/>
        </p:nvSpPr>
        <p:spPr>
          <a:xfrm>
            <a:off x="1325880" y="4176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38"/>
          <p:cNvSpPr/>
          <p:nvPr/>
        </p:nvSpPr>
        <p:spPr>
          <a:xfrm>
            <a:off x="1325880" y="28332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  ·  Exam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39"/>
          <p:cNvSpPr/>
          <p:nvPr/>
        </p:nvSpPr>
        <p:spPr>
          <a:xfrm>
            <a:off x="2617920" y="1134000"/>
            <a:ext cx="9286920" cy="551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8" name="Picture 42" descr=""/>
          <p:cNvPicPr/>
          <p:nvPr/>
        </p:nvPicPr>
        <p:blipFill>
          <a:blip r:embed="rId1"/>
          <a:srcRect l="0" t="0" r="32713" b="0"/>
          <a:stretch/>
        </p:blipFill>
        <p:spPr>
          <a:xfrm>
            <a:off x="8083800" y="1037880"/>
            <a:ext cx="3744000" cy="2592000"/>
          </a:xfrm>
          <a:prstGeom prst="rect">
            <a:avLst/>
          </a:prstGeom>
          <a:ln w="0">
            <a:noFill/>
          </a:ln>
        </p:spPr>
      </p:pic>
      <p:sp>
        <p:nvSpPr>
          <p:cNvPr id="719" name="TextBox 43"/>
          <p:cNvSpPr/>
          <p:nvPr/>
        </p:nvSpPr>
        <p:spPr>
          <a:xfrm>
            <a:off x="3129840" y="1063080"/>
            <a:ext cx="4854240" cy="37854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0" name="Picture 2" descr=""/>
          <p:cNvPicPr/>
          <p:nvPr/>
        </p:nvPicPr>
        <p:blipFill>
          <a:blip r:embed="rId3"/>
          <a:srcRect l="72927" t="0" r="0" b="74082"/>
          <a:stretch/>
        </p:blipFill>
        <p:spPr>
          <a:xfrm>
            <a:off x="8282880" y="3524760"/>
            <a:ext cx="1505520" cy="671400"/>
          </a:xfrm>
          <a:prstGeom prst="rect">
            <a:avLst/>
          </a:prstGeom>
          <a:ln w="0">
            <a:noFill/>
          </a:ln>
        </p:spPr>
      </p:pic>
      <p:sp>
        <p:nvSpPr>
          <p:cNvPr id="721" name="TextBox 45"/>
          <p:cNvSpPr/>
          <p:nvPr/>
        </p:nvSpPr>
        <p:spPr>
          <a:xfrm>
            <a:off x="2925360" y="4864320"/>
            <a:ext cx="4464000" cy="193860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TextBox 46"/>
          <p:cNvSpPr/>
          <p:nvPr/>
        </p:nvSpPr>
        <p:spPr>
          <a:xfrm>
            <a:off x="7919640" y="5377320"/>
            <a:ext cx="2808000" cy="11998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Rectangle 47"/>
          <p:cNvSpPr/>
          <p:nvPr/>
        </p:nvSpPr>
        <p:spPr>
          <a:xfrm>
            <a:off x="3133440" y="4994280"/>
            <a:ext cx="7597800" cy="1808280"/>
          </a:xfrm>
          <a:prstGeom prst="rect">
            <a:avLst/>
          </a:prstGeom>
          <a:solidFill>
            <a:srgbClr val="9bbb59"/>
          </a:solidFill>
          <a:ln w="25400">
            <a:solidFill>
              <a:srgbClr val="728a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1" dur="indefinite" restart="never" nodeType="tmRoot">
          <p:childTnLst>
            <p:seq>
              <p:cTn id="172" restart="whenNotActive" nodeType="interactiveSeq" fill="hold">
                <p:stCondLst>
                  <p:cond delay="0" evt="onClick">
                    <p:tgtEl>
                      <p:spTgt spid="723"/>
                    </p:tgtEl>
                  </p:cond>
                </p:stCondLst>
                <p:childTnLst>
                  <p:par>
                    <p:cTn id="173" fill="hold">
                      <p:stCondLst>
                        <p:cond delay="0" evt="onClick">
                          <p:tgtEl>
                            <p:spTgt spid="723"/>
                          </p:tgtEl>
                        </p:cond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  ·  Jan 2023 · Paper 2HR — chords AEC and BED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39"/>
          <p:cNvSpPr/>
          <p:nvPr/>
        </p:nvSpPr>
        <p:spPr>
          <a:xfrm>
            <a:off x="2617920" y="1398960"/>
            <a:ext cx="69552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4" name="Image 0" descr="/tmp/work/cs-37.png"/>
          <p:cNvPicPr/>
          <p:nvPr/>
        </p:nvPicPr>
        <p:blipFill>
          <a:blip r:embed="rId1"/>
          <a:stretch/>
        </p:blipFill>
        <p:spPr>
          <a:xfrm>
            <a:off x="2682000" y="1463040"/>
            <a:ext cx="68270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TANGENT touches at one point; a SECANT cuts through at two; a CHORD joins two points on the circumference.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Chords crossing INSIDE:  a × b = c × d  (product of the parts of each chord).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Secants meeting OUTSIDE:  external part × WHOLE secant = external part × WHOLE secant.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The ‘whole’ secant = the outside part PLUS the inside part — add them before multiplying.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Label the diagram, substitute, then solve the equation.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inside → part × part;  outside → outside × whole.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1031</Words>
  <Paragraphs>229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2026-07-13T09:35:21Z</dcterms:created>
  <dc:creator>Zahra Sheikh Ali</dc:creator>
  <dc:description/>
  <dc:language>en-US</dc:language>
  <cp:lastModifiedBy>zahraa sheik ali</cp:lastModifiedBy>
  <dcterms:modified xsi:type="dcterms:W3CDTF">2026-07-25T08:48:48Z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Custom</vt:lpwstr>
  </property>
  <property fmtid="{D5CDD505-2E9C-101B-9397-08002B2CF9AE}" pid="4" name="Slides">
    <vt:r8>16</vt:r8>
  </property>
</Properties>
</file>