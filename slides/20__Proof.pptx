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0" y="8686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0" b="1" i="1" dirty="0">
                <a:solidFill>
                  <a:srgbClr val="334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2n + 1</a:t>
            </a:r>
            <a:endParaRPr lang="en-US" sz="4600" dirty="0"/>
          </a:p>
        </p:txBody>
      </p:sp>
      <p:sp>
        <p:nvSpPr>
          <p:cNvPr id="38" name="Text 36"/>
          <p:cNvSpPr/>
          <p:nvPr/>
        </p:nvSpPr>
        <p:spPr>
          <a:xfrm>
            <a:off x="7680960" y="15544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i="1" dirty="0">
                <a:solidFill>
                  <a:srgbClr val="334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2n, 2n+2</a:t>
            </a:r>
            <a:endParaRPr lang="en-US" sz="4000" dirty="0"/>
          </a:p>
        </p:txBody>
      </p:sp>
      <p:sp>
        <p:nvSpPr>
          <p:cNvPr id="39" name="Shape 37"/>
          <p:cNvSpPr/>
          <p:nvPr/>
        </p:nvSpPr>
        <p:spPr>
          <a:xfrm>
            <a:off x="777240" y="6400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/>
        </p:spPr>
      </p:sp>
      <p:sp>
        <p:nvSpPr>
          <p:cNvPr id="40" name="Text 38"/>
          <p:cNvSpPr/>
          <p:nvPr/>
        </p:nvSpPr>
        <p:spPr>
          <a:xfrm>
            <a:off x="777240" y="640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21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2160" dirty="0"/>
          </a:p>
        </p:txBody>
      </p:sp>
      <p:sp>
        <p:nvSpPr>
          <p:cNvPr id="41" name="Text 39"/>
          <p:cNvSpPr/>
          <p:nvPr/>
        </p:nvSpPr>
        <p:spPr>
          <a:xfrm>
            <a:off x="1600200" y="60350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Zπ  MATHS HUB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60020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IGCSE (9–1) · Higher Tier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777240" y="22402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Algebraic Proof</a:t>
            </a:r>
            <a:endParaRPr lang="en-US" sz="4400" dirty="0"/>
          </a:p>
        </p:txBody>
      </p:sp>
      <p:sp>
        <p:nvSpPr>
          <p:cNvPr id="44" name="Text 42"/>
          <p:cNvSpPr/>
          <p:nvPr/>
        </p:nvSpPr>
        <p:spPr>
          <a:xfrm>
            <a:off x="804672" y="33101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Numbers Algebraically · Odd, Even &amp; Consecutive · Multiples · Identities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77240" y="4297680"/>
            <a:ext cx="6766560" cy="169164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1097280" y="449884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Zahra Sheikh Ali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097280" y="495604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D2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IGCSE Mathematics Teacher  ·  M.Sc. Differential Geometry &amp; Geometric Control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1097280" y="539496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  66613748</a:t>
            </a:r>
            <a:pPr indent="0" marL="0">
              <a:buNone/>
            </a:pPr>
            <a:r>
              <a:rPr lang="en-US" sz="1250" b="1" dirty="0">
                <a:solidFill>
                  <a:srgbClr val="E8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✉  zahraa.sheikhali@outlook.com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OVERVIEW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It for EVERY Number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481328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48132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proof must work for every number, not just examples. </a:t>
            </a:r>
            <a:pPr algn="l" indent="0" marL="0">
              <a:buNone/>
            </a:pP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write the numbers with algebra (n, 2n, 2n+1…), manipulate, and reach the required form.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22960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1435608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numbers with n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343400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599432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4599432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5212080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Odd, even &amp; consecutive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8119872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375904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375904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8988552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of a proof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566928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22960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7" name="Text 55"/>
          <p:cNvSpPr/>
          <p:nvPr/>
        </p:nvSpPr>
        <p:spPr>
          <a:xfrm>
            <a:off x="822960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1435608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Multiples &amp; divisibility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4343400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599432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1" name="Text 59"/>
          <p:cNvSpPr/>
          <p:nvPr/>
        </p:nvSpPr>
        <p:spPr>
          <a:xfrm>
            <a:off x="4599432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5212080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Proving identities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8119872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8375904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5" name="Text 63"/>
          <p:cNvSpPr/>
          <p:nvPr/>
        </p:nvSpPr>
        <p:spPr>
          <a:xfrm>
            <a:off x="8375904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8988552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Past-paper questions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words:  </a:t>
            </a:r>
            <a:pPr algn="ctr" indent="0" marL="0">
              <a:buNone/>
            </a:pPr>
            <a:r>
              <a:rPr lang="en-US" sz="13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· show that · integer · consecutive · multiple · factor · identity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IDEA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Numbers Algebraically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37160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3716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starts here. </a:t>
            </a:r>
            <a:pPr algn="l" indent="0" marL="0">
              <a:buNone/>
            </a:pPr>
            <a:r>
              <a:rPr lang="en-US" sz="14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n be any integer, then build the numbers you need.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66928" y="2194560"/>
            <a:ext cx="5212080" cy="457200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44" name="Text 42"/>
          <p:cNvSpPr/>
          <p:nvPr/>
        </p:nvSpPr>
        <p:spPr>
          <a:xfrm>
            <a:off x="704088" y="21945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words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852160" y="2194560"/>
            <a:ext cx="5779008" cy="457200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46" name="Text 44"/>
          <p:cNvSpPr/>
          <p:nvPr/>
        </p:nvSpPr>
        <p:spPr>
          <a:xfrm>
            <a:off x="5989320" y="2194560"/>
            <a:ext cx="5504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algebra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66928" y="2688336"/>
            <a:ext cx="5212080" cy="53035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9808" y="2688336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integer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5852160" y="2688336"/>
            <a:ext cx="5779008" cy="53035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35040" y="2688336"/>
            <a:ext cx="5413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566928" y="3255264"/>
            <a:ext cx="5212080" cy="53035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9808" y="3255264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consecutive integers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5852160" y="3255264"/>
            <a:ext cx="5779008" cy="53035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35040" y="3255264"/>
            <a:ext cx="5413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n,  n+1,  n+2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566928" y="3822192"/>
            <a:ext cx="5212080" cy="53035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49808" y="3822192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even number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5852160" y="3822192"/>
            <a:ext cx="5779008" cy="53035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035040" y="3822192"/>
            <a:ext cx="5413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2n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566928" y="4389120"/>
            <a:ext cx="5212080" cy="53035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9808" y="4389120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odd number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5852160" y="4389120"/>
            <a:ext cx="5779008" cy="53035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35040" y="4389120"/>
            <a:ext cx="5413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2n + 1   (or 2n − 1)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566928" y="4956048"/>
            <a:ext cx="5212080" cy="53035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956048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consecutive even numbers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5852160" y="4956048"/>
            <a:ext cx="5779008" cy="53035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035040" y="4956048"/>
            <a:ext cx="5413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2n,  2n+2</a:t>
            </a:r>
            <a:endParaRPr lang="en-US" sz="1500" dirty="0"/>
          </a:p>
        </p:txBody>
      </p:sp>
      <p:sp>
        <p:nvSpPr>
          <p:cNvPr id="67" name="Shape 65"/>
          <p:cNvSpPr/>
          <p:nvPr/>
        </p:nvSpPr>
        <p:spPr>
          <a:xfrm>
            <a:off x="566928" y="5522976"/>
            <a:ext cx="5212080" cy="53035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49808" y="5522976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multiple of k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5852160" y="5522976"/>
            <a:ext cx="5779008" cy="53035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035040" y="5522976"/>
            <a:ext cx="5413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</a:t>
            </a:r>
            <a:endParaRPr lang="en-US" sz="1500" dirty="0"/>
          </a:p>
        </p:txBody>
      </p:sp>
      <p:sp>
        <p:nvSpPr>
          <p:cNvPr id="71" name="Text 69"/>
          <p:cNvSpPr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‘Multiple of 4’ means ‘= 4 × (an integer)’ — so aim to factor out a 4 at the end.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6916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Set Out a Proof</a:t>
            </a:r>
            <a:endParaRPr lang="en-US" sz="4400" dirty="0"/>
          </a:p>
        </p:txBody>
      </p:sp>
      <p:sp>
        <p:nvSpPr>
          <p:cNvPr id="41" name="Text 39"/>
          <p:cNvSpPr/>
          <p:nvPr/>
        </p:nvSpPr>
        <p:spPr>
          <a:xfrm>
            <a:off x="804672" y="2697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use examples — use algebra so it holds for every number.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68680" y="3611880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3611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1554480" y="361188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each number with n (2n, 2n+1, …)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868680" y="4325112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" y="4325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554480" y="4325112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the expression the question describes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868680" y="5038344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5038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554480" y="5038344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 and simplify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868680" y="5751576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2" name="Text 50"/>
          <p:cNvSpPr/>
          <p:nvPr/>
        </p:nvSpPr>
        <p:spPr>
          <a:xfrm>
            <a:off x="868680" y="5751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1554480" y="5751576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 to the target form, then conclude in words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· MULTIPLES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Consecutive Even Squares → Multiple of 4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554480"/>
            <a:ext cx="6126480" cy="324612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903720" y="1554480"/>
            <a:ext cx="4727448" cy="324612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178040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223760" y="224028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numbers are 2n, 2n+2, 2n+4, …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‘Multiple of 4’ = 4 × (an integer).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out the 4 to finish.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with a sentence: ‘…which is a multiple of 4, as required.’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68680" y="184708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7" name="Text 45"/>
          <p:cNvSpPr/>
          <p:nvPr/>
        </p:nvSpPr>
        <p:spPr>
          <a:xfrm>
            <a:off x="868680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362456" y="181051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consecutive even numbers:  2n  and  2n+2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68680" y="257860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0" name="Text 48"/>
          <p:cNvSpPr/>
          <p:nvPr/>
        </p:nvSpPr>
        <p:spPr>
          <a:xfrm>
            <a:off x="868680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362456" y="254203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of squares:  (2n+2)² − (2n)²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868680" y="331012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68680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362456" y="327355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4n² + 8n + 4 − 4n² = 8n + 4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868680" y="404164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6" name="Text 54"/>
          <p:cNvSpPr/>
          <p:nvPr/>
        </p:nvSpPr>
        <p:spPr>
          <a:xfrm>
            <a:off x="868680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362456" y="40050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4(2n + 1)   →  a multiple of 4  ✓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566928" y="507492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41248" y="507492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8n + 4 = 4(2n + 1),  a multiple of 4</a:t>
            </a:r>
            <a:endParaRPr lang="en-US" sz="2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· EDEXCEL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Consecutive Odd Squares → Multiple of 8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554480"/>
            <a:ext cx="6126480" cy="324612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903720" y="1554480"/>
            <a:ext cx="4727448" cy="324612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178040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idea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223760" y="224028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 numbers: 2n+1, 2n+3, 2n+5, …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both squares carefully.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4n² terms cancel, leaving 8n + 8.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 — 4 marks for the full algebraic proof.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68680" y="184708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7" name="Text 45"/>
          <p:cNvSpPr/>
          <p:nvPr/>
        </p:nvSpPr>
        <p:spPr>
          <a:xfrm>
            <a:off x="868680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362456" y="181051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consecutive odd numbers:  2n+1  and  2n+3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68680" y="257860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0" name="Text 48"/>
          <p:cNvSpPr/>
          <p:nvPr/>
        </p:nvSpPr>
        <p:spPr>
          <a:xfrm>
            <a:off x="868680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362456" y="254203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(2n+3)² − (2n+1)²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868680" y="331012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68680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362456" y="327355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(4n²+12n+9) − (4n²+4n+1) = 8n + 8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868680" y="404164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6" name="Text 54"/>
          <p:cNvSpPr/>
          <p:nvPr/>
        </p:nvSpPr>
        <p:spPr>
          <a:xfrm>
            <a:off x="868680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362456" y="40050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8(n + 1)   →  a multiple of 8  ✓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566928" y="507492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41248" y="507492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8n + 8 = 8(n + 1),  a multiple of 8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· ODD/EVEN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Product of Two Odd Numbers is Odd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554480"/>
            <a:ext cx="6126480" cy="324612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903720" y="1554480"/>
            <a:ext cx="4727448" cy="324612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178040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m, not n?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223760" y="224028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DIFFERENT letters so the two numbers are independent.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‘Even + 1’ is always odd: 2(…) + 1.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form 2 × integer + 1 to prove it is odd.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of the form 2k is even; 2k + 1 is odd.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68680" y="184708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7" name="Text 45"/>
          <p:cNvSpPr/>
          <p:nvPr/>
        </p:nvSpPr>
        <p:spPr>
          <a:xfrm>
            <a:off x="868680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362456" y="181051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odd numbers:  2n+1  and  2m+1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68680" y="257860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0" name="Text 48"/>
          <p:cNvSpPr/>
          <p:nvPr/>
        </p:nvSpPr>
        <p:spPr>
          <a:xfrm>
            <a:off x="868680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362456" y="254203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(2n+1)(2m+1) = 4nm + 2n + 2m + 1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868680" y="331012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68680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362456" y="327355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2(2nm + n + m) + 1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868680" y="404164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6" name="Text 54"/>
          <p:cNvSpPr/>
          <p:nvPr/>
        </p:nvSpPr>
        <p:spPr>
          <a:xfrm>
            <a:off x="868680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362456" y="40050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 × (integer) + 1   →  odd  ✓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566928" y="507492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41248" y="507492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2(2nm + n + m) + 1  is odd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· DIVISIBILITY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Number Minus Its Cube → Multiple of 6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554480"/>
            <a:ext cx="6126480" cy="324612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903720" y="1554480"/>
            <a:ext cx="4727448" cy="324612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178040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idea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223760" y="224028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n³ − n factorises to n(n−1)(n+1).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3 consecutive integers include a multiple of 2 AND a multiple of 3.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3 = 6, so the product is a multiple of 6.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a whole number and its cube — always a multiple of 6.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68680" y="184708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7" name="Text 45"/>
          <p:cNvSpPr/>
          <p:nvPr/>
        </p:nvSpPr>
        <p:spPr>
          <a:xfrm>
            <a:off x="868680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362456" y="181051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 x(x−1)(x+1) = x³ − x:  x(x²−1) = x³ − x  ✓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68680" y="257860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0" name="Text 48"/>
          <p:cNvSpPr/>
          <p:nvPr/>
        </p:nvSpPr>
        <p:spPr>
          <a:xfrm>
            <a:off x="868680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362456" y="254203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 n³ − n = n(n−1)(n+1)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868680" y="331012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68680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362456" y="327355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3 consecutive integers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868680" y="404164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6" name="Text 54"/>
          <p:cNvSpPr/>
          <p:nvPr/>
        </p:nvSpPr>
        <p:spPr>
          <a:xfrm>
            <a:off x="868680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362456" y="40050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is even, one is a multiple of 3 → divisible by 6  ✓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566928" y="507492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41248" y="507492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n(n−1)(n+1)  is a multiple of 6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· REMAINDERS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Odd Number Squared, Divided by 4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554480"/>
            <a:ext cx="6126480" cy="324612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903720" y="1554480"/>
            <a:ext cx="4727448" cy="324612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178040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idea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223760" y="224028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4(n²+n) is a multiple of 4.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‘+ 1’ is what is left over.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remainder is always 1.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multiple of 4 plus a clear remainder term.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68680" y="184708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7" name="Text 45"/>
          <p:cNvSpPr/>
          <p:nvPr/>
        </p:nvSpPr>
        <p:spPr>
          <a:xfrm>
            <a:off x="868680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362456" y="181051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odd number:  2n + 1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68680" y="257860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0" name="Text 48"/>
          <p:cNvSpPr/>
          <p:nvPr/>
        </p:nvSpPr>
        <p:spPr>
          <a:xfrm>
            <a:off x="868680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362456" y="254203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(2n + 1)² = 4n² + 4n + 1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868680" y="331012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68680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362456" y="327355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4(n² + n) + 1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868680" y="404164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6" name="Text 54"/>
          <p:cNvSpPr/>
          <p:nvPr/>
        </p:nvSpPr>
        <p:spPr>
          <a:xfrm>
            <a:off x="868680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362456" y="40050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Dividing by 4 leaves remainder 1  ✓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566928" y="507492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41248" y="507492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(2n+1)² = 4(n² + n) + 1  →  remainder 1</a:t>
            </a:r>
            <a:endParaRPr lang="en-US" sz="2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· DIFFERENCE OF SQUARES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A² − B² is a Multiple of 20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554480"/>
            <a:ext cx="6126480" cy="324612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903720" y="1554480"/>
            <a:ext cx="4727448" cy="324612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178040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idea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223760" y="224028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multiple of 5 as N = 5k.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+ B = 2N and A − B = 2.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of two squares does the heavy lifting.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A² − B² = (A+B)(A−B) is the difference-of-two-squares identity.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68680" y="184708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7" name="Text 45"/>
          <p:cNvSpPr/>
          <p:nvPr/>
        </p:nvSpPr>
        <p:spPr>
          <a:xfrm>
            <a:off x="868680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362456" y="181051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is a multiple of 5:  N = 5k.   A = N+1,  B = N−1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68680" y="257860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0" name="Text 48"/>
          <p:cNvSpPr/>
          <p:nvPr/>
        </p:nvSpPr>
        <p:spPr>
          <a:xfrm>
            <a:off x="868680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362456" y="254203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A² − B² = (A + B)(A − B)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868680" y="331012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68680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362456" y="327355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(2N)(2) = 4N = 4 × 5k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868680" y="404164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6" name="Text 54"/>
          <p:cNvSpPr/>
          <p:nvPr/>
        </p:nvSpPr>
        <p:spPr>
          <a:xfrm>
            <a:off x="868680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362456" y="40050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20k   →  a multiple of 20  ✓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566928" y="507492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41248" y="507492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A² − B² = 20k,  a multiple of 20</a:t>
            </a:r>
            <a:endParaRPr lang="en-US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6916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Past-Paper Questions</a:t>
            </a:r>
            <a:endParaRPr lang="en-US" sz="4400" dirty="0"/>
          </a:p>
        </p:txBody>
      </p:sp>
      <p:sp>
        <p:nvSpPr>
          <p:cNvPr id="41" name="Text 39"/>
          <p:cNvSpPr/>
          <p:nvPr/>
        </p:nvSpPr>
        <p:spPr>
          <a:xfrm>
            <a:off x="804672" y="2697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each one up with algebra, then work towards the required form.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68680" y="3611880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3611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1554480" y="361188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the numbers with n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868680" y="4325112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" y="4325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554480" y="4325112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 and simplify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868680" y="5038344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5038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554480" y="5038344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 or rearrange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868680" y="5751576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2" name="Text 50"/>
          <p:cNvSpPr/>
          <p:nvPr/>
        </p:nvSpPr>
        <p:spPr>
          <a:xfrm>
            <a:off x="868680" y="5751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1554480" y="5751576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Conclude in a sentence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· PROVE THE IDENTITY (1 of 2)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LHS = RHS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645920"/>
            <a:ext cx="11064240" cy="1481328"/>
          </a:xfrm>
          <a:prstGeom prst="roundRect">
            <a:avLst>
              <a:gd name="adj" fmla="val 3704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41248" y="1810512"/>
            <a:ext cx="420624" cy="42062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3" name="Text 41"/>
          <p:cNvSpPr/>
          <p:nvPr/>
        </p:nvSpPr>
        <p:spPr>
          <a:xfrm>
            <a:off x="841248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463040" y="175564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 (n+4)² − (3n+4) = (n+1)(n+4) + 8.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463040" y="2267712"/>
            <a:ext cx="9966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Proof:  </a:t>
            </a:r>
            <a:pPr indent="0" marL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LHS = n²+8n+16 − 3n − 4 = n²+5n+12.   RHS = (n²+5n+4)+8 = n²+5n+12.  ✓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566928" y="3255264"/>
            <a:ext cx="11064240" cy="1481328"/>
          </a:xfrm>
          <a:prstGeom prst="roundRect">
            <a:avLst>
              <a:gd name="adj" fmla="val 3704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41248" y="3419856"/>
            <a:ext cx="420624" cy="42062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8" name="Text 46"/>
          <p:cNvSpPr/>
          <p:nvPr/>
        </p:nvSpPr>
        <p:spPr>
          <a:xfrm>
            <a:off x="841248" y="3419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463040" y="336499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 (n+4)² − (3n+4) = (n+2)(n+3) + 6.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463040" y="3877056"/>
            <a:ext cx="9966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Proof:  </a:t>
            </a:r>
            <a:pPr indent="0" marL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LHS = n²+5n+12.   RHS = (n²+5n+6)+6 = n²+5n+12.  ✓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566928" y="4864608"/>
            <a:ext cx="11064240" cy="1481328"/>
          </a:xfrm>
          <a:prstGeom prst="roundRect">
            <a:avLst>
              <a:gd name="adj" fmla="val 3704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41248" y="5029200"/>
            <a:ext cx="420624" cy="42062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41248" y="5029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463040" y="4974336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 (n+3)² − (3n+5) = (n+1)(n+2) + 2.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1463040" y="5486400"/>
            <a:ext cx="9966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Proof:  </a:t>
            </a:r>
            <a:pPr indent="0" marL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LHS = n²+6n+9 − 3n − 5 = n²+3n+4.   RHS = (n²+3n+2)+2 = n²+3n+4.  ✓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· PROVE THE IDENTITY (2 of 2)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LHS = RHS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645920"/>
            <a:ext cx="11064240" cy="1481328"/>
          </a:xfrm>
          <a:prstGeom prst="roundRect">
            <a:avLst>
              <a:gd name="adj" fmla="val 3704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41248" y="1810512"/>
            <a:ext cx="420624" cy="42062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3" name="Text 41"/>
          <p:cNvSpPr/>
          <p:nvPr/>
        </p:nvSpPr>
        <p:spPr>
          <a:xfrm>
            <a:off x="841248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463040" y="175564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 (n−5)² − (2n−1) = (n−3)(n−9) − 1.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463040" y="2267712"/>
            <a:ext cx="9966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Proof:  </a:t>
            </a:r>
            <a:pPr indent="0" marL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LHS = n²−10n+25 − 2n+1 = n²−12n+26.   RHS = (n²−12n+27)−1 = n²−12n+26.  ✓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566928" y="3255264"/>
            <a:ext cx="11064240" cy="1481328"/>
          </a:xfrm>
          <a:prstGeom prst="roundRect">
            <a:avLst>
              <a:gd name="adj" fmla="val 3704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41248" y="3419856"/>
            <a:ext cx="420624" cy="42062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8" name="Text 46"/>
          <p:cNvSpPr/>
          <p:nvPr/>
        </p:nvSpPr>
        <p:spPr>
          <a:xfrm>
            <a:off x="841248" y="3419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463040" y="336499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 (n−3)² − (n−5) = (n−3)(n−4) + 2.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463040" y="3877056"/>
            <a:ext cx="9966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Proof:  </a:t>
            </a:r>
            <a:pPr indent="0" marL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LHS = n²−6n+9 − n+5 = n²−7n+14.   RHS = (n²−7n+12)+2 = n²−7n+14.  ✓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566928" y="4864608"/>
            <a:ext cx="11064240" cy="1481328"/>
          </a:xfrm>
          <a:prstGeom prst="roundRect">
            <a:avLst>
              <a:gd name="adj" fmla="val 3704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41248" y="5029200"/>
            <a:ext cx="420624" cy="42062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41248" y="5029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463040" y="4974336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 ½(n+1)(n+2) − ½n(n+1) = n + 1.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1463040" y="5486400"/>
            <a:ext cx="9966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Proof:  </a:t>
            </a:r>
            <a:pPr indent="0" marL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 ½(n+1): ½(n+1)[(n+2)−n] = ½(n+1)(2) = n+1.  ✓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· MULTIPLES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Difference of Two Squares → a Multiple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37160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3716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uses the same trick:  </a:t>
            </a:r>
            <a:pPr algn="l" indent="0" marL="0">
              <a:buNone/>
            </a:pP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(kn+1)² − (kn−1)² = (2kn)(2) = 4kn.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286000"/>
            <a:ext cx="4389120" cy="457200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44" name="Text 42"/>
          <p:cNvSpPr/>
          <p:nvPr/>
        </p:nvSpPr>
        <p:spPr>
          <a:xfrm>
            <a:off x="676656" y="2286000"/>
            <a:ext cx="4169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this is a multiple…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5120640" y="2286000"/>
            <a:ext cx="3291840" cy="457200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46" name="Text 44"/>
          <p:cNvSpPr/>
          <p:nvPr/>
        </p:nvSpPr>
        <p:spPr>
          <a:xfrm>
            <a:off x="5230368" y="2286000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Simplifies to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8595360" y="2286000"/>
            <a:ext cx="3035808" cy="457200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48" name="Text 46"/>
          <p:cNvSpPr/>
          <p:nvPr/>
        </p:nvSpPr>
        <p:spPr>
          <a:xfrm>
            <a:off x="8705088" y="228600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566928" y="2779776"/>
            <a:ext cx="4389120" cy="53035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4088" y="2779776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(3n+1)² − (3n−1)²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5120640" y="2779776"/>
            <a:ext cx="3291840" cy="53035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57800" y="277977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12n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8595360" y="2779776"/>
            <a:ext cx="3035808" cy="53035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732520" y="2779776"/>
            <a:ext cx="2761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of 6  ✓</a:t>
            </a:r>
            <a:endParaRPr lang="en-US" sz="1350" dirty="0"/>
          </a:p>
        </p:txBody>
      </p:sp>
      <p:sp>
        <p:nvSpPr>
          <p:cNvPr id="55" name="Shape 53"/>
          <p:cNvSpPr/>
          <p:nvPr/>
        </p:nvSpPr>
        <p:spPr>
          <a:xfrm>
            <a:off x="566928" y="3346704"/>
            <a:ext cx="4389120" cy="53035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4088" y="3346704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(4n+1)² − (4n−1)²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5120640" y="3346704"/>
            <a:ext cx="3291840" cy="53035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57800" y="334670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16n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8595360" y="3346704"/>
            <a:ext cx="3035808" cy="53035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732520" y="3346704"/>
            <a:ext cx="2761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of 8  ✓</a:t>
            </a:r>
            <a:endParaRPr lang="en-US" sz="1350" dirty="0"/>
          </a:p>
        </p:txBody>
      </p:sp>
      <p:sp>
        <p:nvSpPr>
          <p:cNvPr id="61" name="Shape 59"/>
          <p:cNvSpPr/>
          <p:nvPr/>
        </p:nvSpPr>
        <p:spPr>
          <a:xfrm>
            <a:off x="566928" y="3913632"/>
            <a:ext cx="4389120" cy="53035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04088" y="3913632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(5n+1)² − (5n−1)²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5120640" y="3913632"/>
            <a:ext cx="3291840" cy="53035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257800" y="391363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20n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8595360" y="3913632"/>
            <a:ext cx="3035808" cy="53035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732520" y="3913632"/>
            <a:ext cx="2761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of 5  ✓</a:t>
            </a:r>
            <a:endParaRPr lang="en-US" sz="1350" dirty="0"/>
          </a:p>
        </p:txBody>
      </p:sp>
      <p:sp>
        <p:nvSpPr>
          <p:cNvPr id="67" name="Shape 65"/>
          <p:cNvSpPr/>
          <p:nvPr/>
        </p:nvSpPr>
        <p:spPr>
          <a:xfrm>
            <a:off x="566928" y="4480560"/>
            <a:ext cx="4389120" cy="53035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04088" y="448056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(2n+1)² − (2n−1)²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5120640" y="4480560"/>
            <a:ext cx="3291840" cy="53035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257800" y="448056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8n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8595360" y="4480560"/>
            <a:ext cx="3035808" cy="53035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732520" y="4480560"/>
            <a:ext cx="2761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of 8  ✓</a:t>
            </a:r>
            <a:endParaRPr lang="en-US" sz="1350" dirty="0"/>
          </a:p>
        </p:txBody>
      </p:sp>
      <p:sp>
        <p:nvSpPr>
          <p:cNvPr id="73" name="Shape 71"/>
          <p:cNvSpPr/>
          <p:nvPr/>
        </p:nvSpPr>
        <p:spPr>
          <a:xfrm>
            <a:off x="566928" y="5047488"/>
            <a:ext cx="4389120" cy="53035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04088" y="5047488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(5n+1)² − (5n−1)²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5120640" y="5047488"/>
            <a:ext cx="3291840" cy="53035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257800" y="504748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20n</a:t>
            </a:r>
            <a:endParaRPr lang="en-US" sz="1400" dirty="0"/>
          </a:p>
        </p:txBody>
      </p:sp>
      <p:sp>
        <p:nvSpPr>
          <p:cNvPr id="77" name="Shape 75"/>
          <p:cNvSpPr/>
          <p:nvPr/>
        </p:nvSpPr>
        <p:spPr>
          <a:xfrm>
            <a:off x="8595360" y="5047488"/>
            <a:ext cx="3035808" cy="53035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732520" y="5047488"/>
            <a:ext cx="2761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of 4  ✓</a:t>
            </a:r>
            <a:endParaRPr lang="en-US" sz="1350" dirty="0"/>
          </a:p>
        </p:txBody>
      </p:sp>
      <p:sp>
        <p:nvSpPr>
          <p:cNvPr id="79" name="Text 77"/>
          <p:cNvSpPr/>
          <p:nvPr/>
        </p:nvSpPr>
        <p:spPr>
          <a:xfrm>
            <a:off x="566928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4kn is a multiple of 4k — and therefore of any factor of 4k (e.g. 8n is a multiple of 8, and of 4 and 2).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· CONSECUTIVE NUMBERS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the Result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645920"/>
            <a:ext cx="11064240" cy="1481328"/>
          </a:xfrm>
          <a:prstGeom prst="roundRect">
            <a:avLst>
              <a:gd name="adj" fmla="val 3704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41248" y="1810512"/>
            <a:ext cx="420624" cy="42062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3" name="Text 41"/>
          <p:cNvSpPr/>
          <p:nvPr/>
        </p:nvSpPr>
        <p:spPr>
          <a:xfrm>
            <a:off x="841248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463040" y="175564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any 3 consecutive whole numbers, prove:  smallest² + largest² = 2 + 2 × middle².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463040" y="2267712"/>
            <a:ext cx="9966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Proof:  </a:t>
            </a:r>
            <a:pPr indent="0" marL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n, n+1, n+2:   n² + (n+2)² = 2n²+4n+4.   2(n+1)²+2 = 2n²+4n+4.   Equal  ✓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566928" y="3255264"/>
            <a:ext cx="11064240" cy="1481328"/>
          </a:xfrm>
          <a:prstGeom prst="roundRect">
            <a:avLst>
              <a:gd name="adj" fmla="val 3704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41248" y="3419856"/>
            <a:ext cx="420624" cy="42062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8" name="Text 46"/>
          <p:cNvSpPr/>
          <p:nvPr/>
        </p:nvSpPr>
        <p:spPr>
          <a:xfrm>
            <a:off x="841248" y="3419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463040" y="336499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any 3 consecutive even numbers, prove:  largest² − smallest² = 8 × middle.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463040" y="3877056"/>
            <a:ext cx="9966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Proof:  </a:t>
            </a:r>
            <a:pPr indent="0" marL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2n, 2n+2, 2n+4:   (2n+4)² − (2n)² = 16n+16 = 8(2n+2) = 8 × middle  ✓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3716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41" name="Shape 39"/>
          <p:cNvSpPr/>
          <p:nvPr/>
        </p:nvSpPr>
        <p:spPr>
          <a:xfrm>
            <a:off x="868680" y="2368296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2" name="Text 40"/>
          <p:cNvSpPr/>
          <p:nvPr/>
        </p:nvSpPr>
        <p:spPr>
          <a:xfrm>
            <a:off x="1234440" y="23317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proof must work for EVERY number — use algebra, never examples.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868680" y="2935224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4" name="Text 42"/>
          <p:cNvSpPr/>
          <p:nvPr/>
        </p:nvSpPr>
        <p:spPr>
          <a:xfrm>
            <a:off x="1234440" y="28986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= 2n,  odd = 2n+1,  consecutive = n, n+1, n+2,  multiple of k = kn.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868680" y="3502152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6" name="Text 44"/>
          <p:cNvSpPr/>
          <p:nvPr/>
        </p:nvSpPr>
        <p:spPr>
          <a:xfrm>
            <a:off x="1234440" y="346557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Expand, simplify, then FACTOR to the target form.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868680" y="4069080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8" name="Text 46"/>
          <p:cNvSpPr/>
          <p:nvPr/>
        </p:nvSpPr>
        <p:spPr>
          <a:xfrm>
            <a:off x="1234440" y="403250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‘Multiple of k’ → show it equals k × (an integer).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868680" y="4636008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50" name="Text 48"/>
          <p:cNvSpPr/>
          <p:nvPr/>
        </p:nvSpPr>
        <p:spPr>
          <a:xfrm>
            <a:off x="1234440" y="459943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with a clear concluding sentence.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777240" y="5440680"/>
            <a:ext cx="10607040" cy="86868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77240" y="5440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 rule:  </a:t>
            </a:r>
            <a:pPr algn="ctr" indent="0" marL="0">
              <a:buNone/>
            </a:pPr>
            <a:r>
              <a:rPr lang="en-US" sz="17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the right algebra at the start — the rest is expand and factor.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Zahra Sheikh Ali</dc:creator>
  <cp:lastModifiedBy>Zahra Sheikh Ali</cp:lastModifiedBy>
  <cp:revision>1</cp:revision>
  <dcterms:created xsi:type="dcterms:W3CDTF">2026-07-11T11:20:12Z</dcterms:created>
  <dcterms:modified xsi:type="dcterms:W3CDTF">2026-07-11T11:20:12Z</dcterms:modified>
</cp:coreProperties>
</file>