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7BC30808-2D39-4949-B289-99AF8B4151F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B9C0ACE-BBF6-497D-9FFF-E2B90D22F4B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02F0020-C540-4D9C-9AAE-CB6B6C87FF5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C075D4D-D4CA-4411-B5C0-088BC468C87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E313BC-69F2-460E-AD7B-E92CB7566F7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84F7E3-8AB0-4EFB-B5F7-F43FAE08DF5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2FCAA3-8D46-4566-AA00-2324170C78D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F9DE61-CED4-4443-9B5E-F13CC41E57C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D4B6AC3-2AA3-495D-B962-7D97F5B7593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D737BD1-B14E-4169-B64C-B584936C70D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335FC5A-BECB-4586-98A4-D1EF5B1C9D5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3B2454A-2466-494A-A0C0-63160A1B9D6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E72C91-45AE-4A56-BE83-C9D338D8B05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02ADD4E-F4D4-4517-A43D-7D9492B71E7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9E7E011-6015-4FF8-A9AF-8B38517971E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FDFC45-26BD-476D-913B-0CE55232E0E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CB335A0-401C-45D1-9C79-FA824204E47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8229600" y="868680"/>
            <a:ext cx="3474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4600" spc="-1" strike="noStrike">
                <a:solidFill>
                  <a:srgbClr val="33463a"/>
                </a:solidFill>
                <a:latin typeface="Cambria"/>
                <a:ea typeface="Cambria"/>
              </a:rPr>
              <a:t>2n + 1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36"/>
          <p:cNvSpPr/>
          <p:nvPr/>
        </p:nvSpPr>
        <p:spPr>
          <a:xfrm>
            <a:off x="7680960" y="1554480"/>
            <a:ext cx="40230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4000" spc="-1" strike="noStrike">
                <a:solidFill>
                  <a:srgbClr val="33463a"/>
                </a:solidFill>
                <a:latin typeface="Cambria"/>
                <a:ea typeface="Cambria"/>
              </a:rPr>
              <a:t>2n, 2n+2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37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Algebraic Proof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42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Writing Numbers Algebraically · Odd, Even &amp; Consecutive · Multiples · Identities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Shape 43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46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Prove It for EVERY Number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 proof must work for every number, not just examples.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So we write the numbers with algebra (n, 2n, 2n+1…), manipulate, and reach the required form.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Writing numbers with 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Odd, even &amp; consecutive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Structure of a proof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Multiples &amp; divisibility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Proving identities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prove · show that · integer · consecutive · multiple · factor · identity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KEY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Writing Numbers Algebraically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39"/>
          <p:cNvSpPr/>
          <p:nvPr/>
        </p:nvSpPr>
        <p:spPr>
          <a:xfrm>
            <a:off x="567000" y="137160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40"/>
          <p:cNvSpPr/>
          <p:nvPr/>
        </p:nvSpPr>
        <p:spPr>
          <a:xfrm>
            <a:off x="887040" y="13716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libri"/>
                <a:ea typeface="Calibri"/>
              </a:rPr>
              <a:t>Everything starts here. </a:t>
            </a:r>
            <a:r>
              <a:rPr b="0" lang="en-US" sz="1400" spc="-1" strike="noStrike">
                <a:solidFill>
                  <a:srgbClr val="edebdd"/>
                </a:solidFill>
                <a:latin typeface="Calibri"/>
                <a:ea typeface="Calibri"/>
              </a:rPr>
              <a:t>Let n be any integer, then build the numbers you need.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41"/>
          <p:cNvSpPr/>
          <p:nvPr/>
        </p:nvSpPr>
        <p:spPr>
          <a:xfrm>
            <a:off x="567000" y="2194560"/>
            <a:ext cx="5211720" cy="45684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 42"/>
          <p:cNvSpPr/>
          <p:nvPr/>
        </p:nvSpPr>
        <p:spPr>
          <a:xfrm>
            <a:off x="704160" y="219456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mbria"/>
                <a:ea typeface="Cambria"/>
              </a:rPr>
              <a:t>In words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43"/>
          <p:cNvSpPr/>
          <p:nvPr/>
        </p:nvSpPr>
        <p:spPr>
          <a:xfrm>
            <a:off x="5852160" y="2194560"/>
            <a:ext cx="5778720" cy="45684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44"/>
          <p:cNvSpPr/>
          <p:nvPr/>
        </p:nvSpPr>
        <p:spPr>
          <a:xfrm>
            <a:off x="5989320" y="2194560"/>
            <a:ext cx="5504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mbria"/>
                <a:ea typeface="Cambria"/>
              </a:rPr>
              <a:t>In algebra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45"/>
          <p:cNvSpPr/>
          <p:nvPr/>
        </p:nvSpPr>
        <p:spPr>
          <a:xfrm>
            <a:off x="567000" y="2688480"/>
            <a:ext cx="521172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46"/>
          <p:cNvSpPr/>
          <p:nvPr/>
        </p:nvSpPr>
        <p:spPr>
          <a:xfrm>
            <a:off x="749880" y="2688480"/>
            <a:ext cx="4845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any integer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Shape 47"/>
          <p:cNvSpPr/>
          <p:nvPr/>
        </p:nvSpPr>
        <p:spPr>
          <a:xfrm>
            <a:off x="5852160" y="2688480"/>
            <a:ext cx="577872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48"/>
          <p:cNvSpPr/>
          <p:nvPr/>
        </p:nvSpPr>
        <p:spPr>
          <a:xfrm>
            <a:off x="6035040" y="2688480"/>
            <a:ext cx="5412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Shape 49"/>
          <p:cNvSpPr/>
          <p:nvPr/>
        </p:nvSpPr>
        <p:spPr>
          <a:xfrm>
            <a:off x="567000" y="3255120"/>
            <a:ext cx="521172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50"/>
          <p:cNvSpPr/>
          <p:nvPr/>
        </p:nvSpPr>
        <p:spPr>
          <a:xfrm>
            <a:off x="749880" y="3255120"/>
            <a:ext cx="4845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three consecutive integers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51"/>
          <p:cNvSpPr/>
          <p:nvPr/>
        </p:nvSpPr>
        <p:spPr>
          <a:xfrm>
            <a:off x="5852160" y="3255120"/>
            <a:ext cx="577872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52"/>
          <p:cNvSpPr/>
          <p:nvPr/>
        </p:nvSpPr>
        <p:spPr>
          <a:xfrm>
            <a:off x="6035040" y="3255120"/>
            <a:ext cx="5412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n,  n+1,  n+2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53"/>
          <p:cNvSpPr/>
          <p:nvPr/>
        </p:nvSpPr>
        <p:spPr>
          <a:xfrm>
            <a:off x="567000" y="3822120"/>
            <a:ext cx="521172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54"/>
          <p:cNvSpPr/>
          <p:nvPr/>
        </p:nvSpPr>
        <p:spPr>
          <a:xfrm>
            <a:off x="749880" y="3822120"/>
            <a:ext cx="4845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any even number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55"/>
          <p:cNvSpPr/>
          <p:nvPr/>
        </p:nvSpPr>
        <p:spPr>
          <a:xfrm>
            <a:off x="5852160" y="3822120"/>
            <a:ext cx="577872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56"/>
          <p:cNvSpPr/>
          <p:nvPr/>
        </p:nvSpPr>
        <p:spPr>
          <a:xfrm>
            <a:off x="6035040" y="3822120"/>
            <a:ext cx="5412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2n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57"/>
          <p:cNvSpPr/>
          <p:nvPr/>
        </p:nvSpPr>
        <p:spPr>
          <a:xfrm>
            <a:off x="567000" y="4389120"/>
            <a:ext cx="521172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58"/>
          <p:cNvSpPr/>
          <p:nvPr/>
        </p:nvSpPr>
        <p:spPr>
          <a:xfrm>
            <a:off x="749880" y="4389120"/>
            <a:ext cx="4845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any odd number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59"/>
          <p:cNvSpPr/>
          <p:nvPr/>
        </p:nvSpPr>
        <p:spPr>
          <a:xfrm>
            <a:off x="5852160" y="4389120"/>
            <a:ext cx="577872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60"/>
          <p:cNvSpPr/>
          <p:nvPr/>
        </p:nvSpPr>
        <p:spPr>
          <a:xfrm>
            <a:off x="6035040" y="4389120"/>
            <a:ext cx="5412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2n + 1   (or 2n − 1)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61"/>
          <p:cNvSpPr/>
          <p:nvPr/>
        </p:nvSpPr>
        <p:spPr>
          <a:xfrm>
            <a:off x="567000" y="4956120"/>
            <a:ext cx="521172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62"/>
          <p:cNvSpPr/>
          <p:nvPr/>
        </p:nvSpPr>
        <p:spPr>
          <a:xfrm>
            <a:off x="749880" y="4956120"/>
            <a:ext cx="4845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two consecutive even numbers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63"/>
          <p:cNvSpPr/>
          <p:nvPr/>
        </p:nvSpPr>
        <p:spPr>
          <a:xfrm>
            <a:off x="5852160" y="4956120"/>
            <a:ext cx="577872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64"/>
          <p:cNvSpPr/>
          <p:nvPr/>
        </p:nvSpPr>
        <p:spPr>
          <a:xfrm>
            <a:off x="6035040" y="4956120"/>
            <a:ext cx="5412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2n,  2n+2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65"/>
          <p:cNvSpPr/>
          <p:nvPr/>
        </p:nvSpPr>
        <p:spPr>
          <a:xfrm>
            <a:off x="567000" y="5523120"/>
            <a:ext cx="521172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66"/>
          <p:cNvSpPr/>
          <p:nvPr/>
        </p:nvSpPr>
        <p:spPr>
          <a:xfrm>
            <a:off x="749880" y="5523120"/>
            <a:ext cx="4845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a multiple of 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67"/>
          <p:cNvSpPr/>
          <p:nvPr/>
        </p:nvSpPr>
        <p:spPr>
          <a:xfrm>
            <a:off x="5852160" y="5523120"/>
            <a:ext cx="577872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68"/>
          <p:cNvSpPr/>
          <p:nvPr/>
        </p:nvSpPr>
        <p:spPr>
          <a:xfrm>
            <a:off x="6035040" y="5523120"/>
            <a:ext cx="5412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kn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69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‘</a:t>
            </a: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Multiple of 4’ means ‘= 4 × (an integer)’ — so aim to factor out a 4 at the end.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THE METHOD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How to Set Out a Proof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Never use examples — use algebra so it holds for every number.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Write each number with n (2n, 2n+1, …)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Form the expression the question describes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Expand and simplify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Factor to the target form, then conclude in words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· MULTIPLES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Consecutive Even Squares → Multiple of 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Setup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Even numbers are 2n, 2n+2, 2n+4, …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‘</a:t>
            </a: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Multiple of 4’ = 4 × (an integer).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Factor out the 4 to finish.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Finish with a sentence: ‘…which is a multiple of 4, as required.’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Two consecutive even numbers:  2n  and  2n+2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Difference of squares:  (2n+2)² − (2n)²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= 4n² + 8n + 4 − 4n² = 8n + 4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= 4(2n + 1)   →  a multiple of 4  ✓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8n + 4 = 4(2n + 1),  a multiple of 4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· EDEXCEL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Consecutive Odd Squares → Multiple of 8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Key idea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Odd numbers: 2n+1, 2n+3, 2n+5, …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Expand both squares carefully.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The 4n² terms cancel, leaving 8n + 8.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Past-paper question — 4 marks for the full algebraic proof.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Two consecutive odd numbers:  2n+1  and  2n+3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(2n+3)² − (2n+1)²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= (4n²+12n+9) − (4n²+4n+1) = 8n + 8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= 8(n + 1)   →  a multiple of 8  ✓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8n + 8 = 8(n + 1),  a multiple of 8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· ODD/EVEN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Product of Two Odd Numbers is Odd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Why m, not n?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Use DIFFERENT letters so the two numbers are independent.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‘</a:t>
            </a: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Even + 1’ is always odd: 2(…) + 1.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Show the form 2 × integer + 1 to prove it is odd.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Anything of the form 2k is even; 2k + 1 is odd.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Two odd numbers:  2n+1  and  2m+1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(2n+1)(2m+1) = 4nm + 2n + 2m + 1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= 2(2nm + n + m) + 1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= 2 × (integer) + 1   →  odd  ✓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2(2nm + n + m) + 1  is odd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· DIVISIBILITY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 Number Minus Its Cube → Multiple of 6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Key idea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n³ − n factorises to n(n−1)(n+1).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Any 3 consecutive integers include a multiple of 2 AND a multiple of 3.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2 × 3 = 6, so the product is a multiple of 6.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Difference between a whole number and its cube — always a multiple of 6.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Show  x(x−1)(x+1) = x³ − x:  x(x²−1) = x³ − x  ✓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So  n³ − n = n(n−1)(n+1)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These are 3 consecutive integers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One is even, one is a multiple of 3 → divisible by 6  ✓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n(n−1)(n+1)  is a multiple of 6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· REMAINDERS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Odd Number Squared, Divided by 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Key idea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4(n²+n) is a multiple of 4.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The ‘+ 1’ is what is left over.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So the remainder is always 1.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Show the multiple of 4 plus a clear remainder term.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An odd number:  2n + 1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(2n + 1)² = 4n² + 4n + 1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= 4(n² + n) + 1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Dividing by 4 leaves remainder 1  ✓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(2n+1)² = 4(n² + n) + 1  →  remainder 1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· DIFFERENCE OF SQUARES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A² − B² is a Multiple of 20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Key idea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Write the multiple of 5 as N = 5k.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A + B = 2N and A − B = 2.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Difference of two squares does the heavy lifting.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A² − B² = (A+B)(A−B) is the difference-of-two-squares identity.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N is a multiple of 5:  N = 5k.   A = N+1,  B = N−1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A² − B² = (A + B)(A − B)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= (2N)(2) = 4N = 4 × 5k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= 20k   →  a multiple of 20  ✓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A² − B² = 20k,  a multiple of 20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9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More 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Set each one up with algebra, then work towards the required form.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2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3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Write the numbers with 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Expand and simplify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Factor or rearrange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0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1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Conclude in a sentence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· PROVE THE IDENTITY (1 of 2)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Show LHS = RHS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Shape 39"/>
          <p:cNvSpPr/>
          <p:nvPr/>
        </p:nvSpPr>
        <p:spPr>
          <a:xfrm>
            <a:off x="567000" y="1645920"/>
            <a:ext cx="11063880" cy="1481040"/>
          </a:xfrm>
          <a:prstGeom prst="roundRect">
            <a:avLst>
              <a:gd name="adj" fmla="val 370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40"/>
          <p:cNvSpPr/>
          <p:nvPr/>
        </p:nvSpPr>
        <p:spPr>
          <a:xfrm>
            <a:off x="841320" y="1810440"/>
            <a:ext cx="420120" cy="420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Text 41"/>
          <p:cNvSpPr/>
          <p:nvPr/>
        </p:nvSpPr>
        <p:spPr>
          <a:xfrm>
            <a:off x="841320" y="181044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Text 42"/>
          <p:cNvSpPr/>
          <p:nvPr/>
        </p:nvSpPr>
        <p:spPr>
          <a:xfrm>
            <a:off x="1463040" y="1755720"/>
            <a:ext cx="9966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Prove  (n+4)² − (3n+4) = (n+1)(n+4) + 8.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Text 43"/>
          <p:cNvSpPr/>
          <p:nvPr/>
        </p:nvSpPr>
        <p:spPr>
          <a:xfrm>
            <a:off x="1463040" y="2267640"/>
            <a:ext cx="996660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Proof:  </a:t>
            </a: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LHS = n²+8n+16 − 3n − 4 = n²+5n+12.   RHS = (n²+5n+4)+8 = n²+5n+12.  ✓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Shape 44"/>
          <p:cNvSpPr/>
          <p:nvPr/>
        </p:nvSpPr>
        <p:spPr>
          <a:xfrm>
            <a:off x="567000" y="3255120"/>
            <a:ext cx="11063880" cy="1481040"/>
          </a:xfrm>
          <a:prstGeom prst="roundRect">
            <a:avLst>
              <a:gd name="adj" fmla="val 370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45"/>
          <p:cNvSpPr/>
          <p:nvPr/>
        </p:nvSpPr>
        <p:spPr>
          <a:xfrm>
            <a:off x="841320" y="3420000"/>
            <a:ext cx="420120" cy="420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Text 46"/>
          <p:cNvSpPr/>
          <p:nvPr/>
        </p:nvSpPr>
        <p:spPr>
          <a:xfrm>
            <a:off x="841320" y="342000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Text 47"/>
          <p:cNvSpPr/>
          <p:nvPr/>
        </p:nvSpPr>
        <p:spPr>
          <a:xfrm>
            <a:off x="1463040" y="3364920"/>
            <a:ext cx="9966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Prove  (n+4)² − (3n+4) = (n+2)(n+3) + 6.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 48"/>
          <p:cNvSpPr/>
          <p:nvPr/>
        </p:nvSpPr>
        <p:spPr>
          <a:xfrm>
            <a:off x="1463040" y="3877200"/>
            <a:ext cx="996660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Proof:  </a:t>
            </a: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LHS = n²+5n+12.   RHS = (n²+5n+6)+6 = n²+5n+12.  ✓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Shape 49"/>
          <p:cNvSpPr/>
          <p:nvPr/>
        </p:nvSpPr>
        <p:spPr>
          <a:xfrm>
            <a:off x="567000" y="4864680"/>
            <a:ext cx="11063880" cy="1481040"/>
          </a:xfrm>
          <a:prstGeom prst="roundRect">
            <a:avLst>
              <a:gd name="adj" fmla="val 370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Shape 50"/>
          <p:cNvSpPr/>
          <p:nvPr/>
        </p:nvSpPr>
        <p:spPr>
          <a:xfrm>
            <a:off x="841320" y="5029200"/>
            <a:ext cx="420120" cy="420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 51"/>
          <p:cNvSpPr/>
          <p:nvPr/>
        </p:nvSpPr>
        <p:spPr>
          <a:xfrm>
            <a:off x="841320" y="502920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 52"/>
          <p:cNvSpPr/>
          <p:nvPr/>
        </p:nvSpPr>
        <p:spPr>
          <a:xfrm>
            <a:off x="1463040" y="4974480"/>
            <a:ext cx="9966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Prove  (n+3)² − (3n+5) = (n+1)(n+2) + 2.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Text 53"/>
          <p:cNvSpPr/>
          <p:nvPr/>
        </p:nvSpPr>
        <p:spPr>
          <a:xfrm>
            <a:off x="1463040" y="5486400"/>
            <a:ext cx="996660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Proof:  </a:t>
            </a: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LHS = n²+6n+9 − 3n − 5 = n²+3n+4.   RHS = (n²+3n+2)+2 = n²+3n+4.  ✓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· PROVE THE IDENTITY (2 of 2)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Show LHS = RHS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Shape 39"/>
          <p:cNvSpPr/>
          <p:nvPr/>
        </p:nvSpPr>
        <p:spPr>
          <a:xfrm>
            <a:off x="567000" y="1645920"/>
            <a:ext cx="11063880" cy="1481040"/>
          </a:xfrm>
          <a:prstGeom prst="roundRect">
            <a:avLst>
              <a:gd name="adj" fmla="val 370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Shape 40"/>
          <p:cNvSpPr/>
          <p:nvPr/>
        </p:nvSpPr>
        <p:spPr>
          <a:xfrm>
            <a:off x="841320" y="1810440"/>
            <a:ext cx="420120" cy="420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8" name="Text 41"/>
          <p:cNvSpPr/>
          <p:nvPr/>
        </p:nvSpPr>
        <p:spPr>
          <a:xfrm>
            <a:off x="841320" y="181044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Text 42"/>
          <p:cNvSpPr/>
          <p:nvPr/>
        </p:nvSpPr>
        <p:spPr>
          <a:xfrm>
            <a:off x="1463040" y="1755720"/>
            <a:ext cx="9966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Prove  (n−5)² − (2n−1) = (n−3)(n−9) − 1.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Text 43"/>
          <p:cNvSpPr/>
          <p:nvPr/>
        </p:nvSpPr>
        <p:spPr>
          <a:xfrm>
            <a:off x="1463040" y="2267640"/>
            <a:ext cx="996660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Proof:  </a:t>
            </a: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LHS = n²−10n+25 − 2n+1 = n²−12n+26.   RHS = (n²−12n+27)−1 = n²−12n+26.  ✓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Shape 44"/>
          <p:cNvSpPr/>
          <p:nvPr/>
        </p:nvSpPr>
        <p:spPr>
          <a:xfrm>
            <a:off x="567000" y="3255120"/>
            <a:ext cx="11063880" cy="1481040"/>
          </a:xfrm>
          <a:prstGeom prst="roundRect">
            <a:avLst>
              <a:gd name="adj" fmla="val 370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45"/>
          <p:cNvSpPr/>
          <p:nvPr/>
        </p:nvSpPr>
        <p:spPr>
          <a:xfrm>
            <a:off x="841320" y="3420000"/>
            <a:ext cx="420120" cy="420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Text 46"/>
          <p:cNvSpPr/>
          <p:nvPr/>
        </p:nvSpPr>
        <p:spPr>
          <a:xfrm>
            <a:off x="841320" y="342000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Text 47"/>
          <p:cNvSpPr/>
          <p:nvPr/>
        </p:nvSpPr>
        <p:spPr>
          <a:xfrm>
            <a:off x="1463040" y="3364920"/>
            <a:ext cx="9966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Prove  (n−3)² − (n−5) = (n−3)(n−4) + 2.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Text 48"/>
          <p:cNvSpPr/>
          <p:nvPr/>
        </p:nvSpPr>
        <p:spPr>
          <a:xfrm>
            <a:off x="1463040" y="3877200"/>
            <a:ext cx="996660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Proof:  </a:t>
            </a: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LHS = n²−6n+9 − n+5 = n²−7n+14.   RHS = (n²−7n+12)+2 = n²−7n+14.  ✓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Shape 49"/>
          <p:cNvSpPr/>
          <p:nvPr/>
        </p:nvSpPr>
        <p:spPr>
          <a:xfrm>
            <a:off x="567000" y="4864680"/>
            <a:ext cx="11063880" cy="1481040"/>
          </a:xfrm>
          <a:prstGeom prst="roundRect">
            <a:avLst>
              <a:gd name="adj" fmla="val 370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Shape 50"/>
          <p:cNvSpPr/>
          <p:nvPr/>
        </p:nvSpPr>
        <p:spPr>
          <a:xfrm>
            <a:off x="841320" y="5029200"/>
            <a:ext cx="420120" cy="420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8" name="Text 51"/>
          <p:cNvSpPr/>
          <p:nvPr/>
        </p:nvSpPr>
        <p:spPr>
          <a:xfrm>
            <a:off x="841320" y="502920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Text 52"/>
          <p:cNvSpPr/>
          <p:nvPr/>
        </p:nvSpPr>
        <p:spPr>
          <a:xfrm>
            <a:off x="1463040" y="4974480"/>
            <a:ext cx="9966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Prove  ½(n+1)(n+2) − ½n(n+1) = n + 1.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 53"/>
          <p:cNvSpPr/>
          <p:nvPr/>
        </p:nvSpPr>
        <p:spPr>
          <a:xfrm>
            <a:off x="1463040" y="5486400"/>
            <a:ext cx="996660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Proof:  </a:t>
            </a: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Factor ½(n+1): ½(n+1)[(n+2)−n] = ½(n+1)(2) = n+1.  ✓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· MULTIPLES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Difference of Two Squares → a Multiple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Shape 39"/>
          <p:cNvSpPr/>
          <p:nvPr/>
        </p:nvSpPr>
        <p:spPr>
          <a:xfrm>
            <a:off x="567000" y="1371600"/>
            <a:ext cx="11063880" cy="73116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Text 40"/>
          <p:cNvSpPr/>
          <p:nvPr/>
        </p:nvSpPr>
        <p:spPr>
          <a:xfrm>
            <a:off x="887040" y="137160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Every one uses the same trick: 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(kn+1)² − (kn−1)² = (2kn)(2) = 4kn.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Shape 41"/>
          <p:cNvSpPr/>
          <p:nvPr/>
        </p:nvSpPr>
        <p:spPr>
          <a:xfrm>
            <a:off x="567000" y="2286000"/>
            <a:ext cx="4388760" cy="45684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3" name="Text 42"/>
          <p:cNvSpPr/>
          <p:nvPr/>
        </p:nvSpPr>
        <p:spPr>
          <a:xfrm>
            <a:off x="676800" y="2286000"/>
            <a:ext cx="4169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0ac2b"/>
                </a:solidFill>
                <a:latin typeface="Cambria"/>
                <a:ea typeface="Cambria"/>
              </a:rPr>
              <a:t>Prove this is a multiple…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Shape 43"/>
          <p:cNvSpPr/>
          <p:nvPr/>
        </p:nvSpPr>
        <p:spPr>
          <a:xfrm>
            <a:off x="5120640" y="2286000"/>
            <a:ext cx="3291480" cy="45684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5" name="Text 44"/>
          <p:cNvSpPr/>
          <p:nvPr/>
        </p:nvSpPr>
        <p:spPr>
          <a:xfrm>
            <a:off x="5230440" y="2286000"/>
            <a:ext cx="3071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0ac2b"/>
                </a:solidFill>
                <a:latin typeface="Cambria"/>
                <a:ea typeface="Cambria"/>
              </a:rPr>
              <a:t>Simplifies to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Shape 45"/>
          <p:cNvSpPr/>
          <p:nvPr/>
        </p:nvSpPr>
        <p:spPr>
          <a:xfrm>
            <a:off x="8595360" y="2286000"/>
            <a:ext cx="3035520" cy="45684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7" name="Text 46"/>
          <p:cNvSpPr/>
          <p:nvPr/>
        </p:nvSpPr>
        <p:spPr>
          <a:xfrm>
            <a:off x="8705160" y="2286000"/>
            <a:ext cx="2815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0ac2b"/>
                </a:solidFill>
                <a:latin typeface="Cambria"/>
                <a:ea typeface="Cambria"/>
              </a:rPr>
              <a:t>Conclusion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Shape 47"/>
          <p:cNvSpPr/>
          <p:nvPr/>
        </p:nvSpPr>
        <p:spPr>
          <a:xfrm>
            <a:off x="567000" y="2779920"/>
            <a:ext cx="438876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Text 48"/>
          <p:cNvSpPr/>
          <p:nvPr/>
        </p:nvSpPr>
        <p:spPr>
          <a:xfrm>
            <a:off x="704160" y="2779920"/>
            <a:ext cx="41144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(3n+1)² − (3n−1)²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Shape 49"/>
          <p:cNvSpPr/>
          <p:nvPr/>
        </p:nvSpPr>
        <p:spPr>
          <a:xfrm>
            <a:off x="5120640" y="2779920"/>
            <a:ext cx="329148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Text 50"/>
          <p:cNvSpPr/>
          <p:nvPr/>
        </p:nvSpPr>
        <p:spPr>
          <a:xfrm>
            <a:off x="5257800" y="2779920"/>
            <a:ext cx="30171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= 12n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Shape 51"/>
          <p:cNvSpPr/>
          <p:nvPr/>
        </p:nvSpPr>
        <p:spPr>
          <a:xfrm>
            <a:off x="8595360" y="2779920"/>
            <a:ext cx="303552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Text 52"/>
          <p:cNvSpPr/>
          <p:nvPr/>
        </p:nvSpPr>
        <p:spPr>
          <a:xfrm>
            <a:off x="8732520" y="2779920"/>
            <a:ext cx="27612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multiple of 6  ✓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Shape 53"/>
          <p:cNvSpPr/>
          <p:nvPr/>
        </p:nvSpPr>
        <p:spPr>
          <a:xfrm>
            <a:off x="567000" y="3346560"/>
            <a:ext cx="438876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Text 54"/>
          <p:cNvSpPr/>
          <p:nvPr/>
        </p:nvSpPr>
        <p:spPr>
          <a:xfrm>
            <a:off x="704160" y="3346560"/>
            <a:ext cx="41144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(4n+1)² − (4n−1)²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Shape 55"/>
          <p:cNvSpPr/>
          <p:nvPr/>
        </p:nvSpPr>
        <p:spPr>
          <a:xfrm>
            <a:off x="5120640" y="3346560"/>
            <a:ext cx="329148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ext 56"/>
          <p:cNvSpPr/>
          <p:nvPr/>
        </p:nvSpPr>
        <p:spPr>
          <a:xfrm>
            <a:off x="5257800" y="3346560"/>
            <a:ext cx="30171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= 16n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Shape 57"/>
          <p:cNvSpPr/>
          <p:nvPr/>
        </p:nvSpPr>
        <p:spPr>
          <a:xfrm>
            <a:off x="8595360" y="3346560"/>
            <a:ext cx="303552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Text 58"/>
          <p:cNvSpPr/>
          <p:nvPr/>
        </p:nvSpPr>
        <p:spPr>
          <a:xfrm>
            <a:off x="8732520" y="3346560"/>
            <a:ext cx="27612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multiple of 8  ✓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Shape 59"/>
          <p:cNvSpPr/>
          <p:nvPr/>
        </p:nvSpPr>
        <p:spPr>
          <a:xfrm>
            <a:off x="567000" y="3913560"/>
            <a:ext cx="438876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Text 60"/>
          <p:cNvSpPr/>
          <p:nvPr/>
        </p:nvSpPr>
        <p:spPr>
          <a:xfrm>
            <a:off x="704160" y="3913560"/>
            <a:ext cx="41144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(5n+1)² − (5n−1)²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Shape 61"/>
          <p:cNvSpPr/>
          <p:nvPr/>
        </p:nvSpPr>
        <p:spPr>
          <a:xfrm>
            <a:off x="5120640" y="3913560"/>
            <a:ext cx="329148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Text 62"/>
          <p:cNvSpPr/>
          <p:nvPr/>
        </p:nvSpPr>
        <p:spPr>
          <a:xfrm>
            <a:off x="5257800" y="3913560"/>
            <a:ext cx="30171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= 20n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Shape 63"/>
          <p:cNvSpPr/>
          <p:nvPr/>
        </p:nvSpPr>
        <p:spPr>
          <a:xfrm>
            <a:off x="8595360" y="3913560"/>
            <a:ext cx="303552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Text 64"/>
          <p:cNvSpPr/>
          <p:nvPr/>
        </p:nvSpPr>
        <p:spPr>
          <a:xfrm>
            <a:off x="8732520" y="3913560"/>
            <a:ext cx="27612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multiple of 5  ✓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Shape 65"/>
          <p:cNvSpPr/>
          <p:nvPr/>
        </p:nvSpPr>
        <p:spPr>
          <a:xfrm>
            <a:off x="567000" y="4480560"/>
            <a:ext cx="438876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Text 66"/>
          <p:cNvSpPr/>
          <p:nvPr/>
        </p:nvSpPr>
        <p:spPr>
          <a:xfrm>
            <a:off x="704160" y="4480560"/>
            <a:ext cx="41144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(2n+1)² − (2n−1)²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Shape 67"/>
          <p:cNvSpPr/>
          <p:nvPr/>
        </p:nvSpPr>
        <p:spPr>
          <a:xfrm>
            <a:off x="5120640" y="4480560"/>
            <a:ext cx="329148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Text 68"/>
          <p:cNvSpPr/>
          <p:nvPr/>
        </p:nvSpPr>
        <p:spPr>
          <a:xfrm>
            <a:off x="5257800" y="4480560"/>
            <a:ext cx="30171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= 8n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Shape 69"/>
          <p:cNvSpPr/>
          <p:nvPr/>
        </p:nvSpPr>
        <p:spPr>
          <a:xfrm>
            <a:off x="8595360" y="4480560"/>
            <a:ext cx="303552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Text 70"/>
          <p:cNvSpPr/>
          <p:nvPr/>
        </p:nvSpPr>
        <p:spPr>
          <a:xfrm>
            <a:off x="8732520" y="4480560"/>
            <a:ext cx="27612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multiple of 8  ✓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Shape 71"/>
          <p:cNvSpPr/>
          <p:nvPr/>
        </p:nvSpPr>
        <p:spPr>
          <a:xfrm>
            <a:off x="567000" y="5047560"/>
            <a:ext cx="438876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Text 72"/>
          <p:cNvSpPr/>
          <p:nvPr/>
        </p:nvSpPr>
        <p:spPr>
          <a:xfrm>
            <a:off x="704160" y="5047560"/>
            <a:ext cx="41144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(5n+1)² − (5n−1)²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Shape 73"/>
          <p:cNvSpPr/>
          <p:nvPr/>
        </p:nvSpPr>
        <p:spPr>
          <a:xfrm>
            <a:off x="5120640" y="5047560"/>
            <a:ext cx="329148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Text 74"/>
          <p:cNvSpPr/>
          <p:nvPr/>
        </p:nvSpPr>
        <p:spPr>
          <a:xfrm>
            <a:off x="5257800" y="5047560"/>
            <a:ext cx="30171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= 20n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Shape 75"/>
          <p:cNvSpPr/>
          <p:nvPr/>
        </p:nvSpPr>
        <p:spPr>
          <a:xfrm>
            <a:off x="8595360" y="5047560"/>
            <a:ext cx="303552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Text 76"/>
          <p:cNvSpPr/>
          <p:nvPr/>
        </p:nvSpPr>
        <p:spPr>
          <a:xfrm>
            <a:off x="8732520" y="5047560"/>
            <a:ext cx="27612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multiple of 4  ✓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Text 77"/>
          <p:cNvSpPr/>
          <p:nvPr/>
        </p:nvSpPr>
        <p:spPr>
          <a:xfrm>
            <a:off x="567000" y="58978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4kn is a multiple of 4k — and therefore of any factor of 4k (e.g. 8n is a multiple of 8, and of 4 and 2).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· CONSECUTIVE NUMBERS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Prove the Result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Shape 39"/>
          <p:cNvSpPr/>
          <p:nvPr/>
        </p:nvSpPr>
        <p:spPr>
          <a:xfrm>
            <a:off x="567000" y="1645920"/>
            <a:ext cx="11063880" cy="1481040"/>
          </a:xfrm>
          <a:prstGeom prst="roundRect">
            <a:avLst>
              <a:gd name="adj" fmla="val 370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Shape 40"/>
          <p:cNvSpPr/>
          <p:nvPr/>
        </p:nvSpPr>
        <p:spPr>
          <a:xfrm>
            <a:off x="841320" y="1810440"/>
            <a:ext cx="420120" cy="420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0" name="Text 41"/>
          <p:cNvSpPr/>
          <p:nvPr/>
        </p:nvSpPr>
        <p:spPr>
          <a:xfrm>
            <a:off x="841320" y="181044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7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Text 42"/>
          <p:cNvSpPr/>
          <p:nvPr/>
        </p:nvSpPr>
        <p:spPr>
          <a:xfrm>
            <a:off x="1463040" y="1755720"/>
            <a:ext cx="9966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For any 3 consecutive whole numbers, prove:  smallest² + largest² = 2 + 2 × middle².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Text 43"/>
          <p:cNvSpPr/>
          <p:nvPr/>
        </p:nvSpPr>
        <p:spPr>
          <a:xfrm>
            <a:off x="1463040" y="2267640"/>
            <a:ext cx="996660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Proof:  </a:t>
            </a: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n, n+1, n+2:   n² + (n+2)² = 2n²+4n+4.   2(n+1)²+2 = 2n²+4n+4.   Equal  ✓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Shape 44"/>
          <p:cNvSpPr/>
          <p:nvPr/>
        </p:nvSpPr>
        <p:spPr>
          <a:xfrm>
            <a:off x="567000" y="3255120"/>
            <a:ext cx="11063880" cy="1481040"/>
          </a:xfrm>
          <a:prstGeom prst="roundRect">
            <a:avLst>
              <a:gd name="adj" fmla="val 370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Shape 45"/>
          <p:cNvSpPr/>
          <p:nvPr/>
        </p:nvSpPr>
        <p:spPr>
          <a:xfrm>
            <a:off x="841320" y="3420000"/>
            <a:ext cx="420120" cy="42012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5" name="Text 46"/>
          <p:cNvSpPr/>
          <p:nvPr/>
        </p:nvSpPr>
        <p:spPr>
          <a:xfrm>
            <a:off x="841320" y="342000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8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Text 47"/>
          <p:cNvSpPr/>
          <p:nvPr/>
        </p:nvSpPr>
        <p:spPr>
          <a:xfrm>
            <a:off x="1463040" y="3364920"/>
            <a:ext cx="9966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For any 3 consecutive even numbers, prove:  largest² − smallest² = 8 × middle.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Text 48"/>
          <p:cNvSpPr/>
          <p:nvPr/>
        </p:nvSpPr>
        <p:spPr>
          <a:xfrm>
            <a:off x="1463040" y="3877200"/>
            <a:ext cx="996660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Proof:  </a:t>
            </a: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2n, 2n+2, 2n+4:   (2n+4)² − (2n)² = 16n+16 = 8(2n+2) = 8 × middle  ✓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3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4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5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6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7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8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A proof must work for EVERY number — use algebra, never examples.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9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0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Even = 2n,  odd = 2n+1,  consecutive = n, n+1, n+2,  multiple of k = kn.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1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2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Expand, simplify, then FACTOR to the target form.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3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4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‘</a:t>
            </a: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Multiple of k’ → show it equals k × (an integer).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5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6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Finish with a clear concluding sentence.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7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8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choose the right algebra at the start — the rest is expand and factor.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2026-07-11T11:20:12Z</dcterms:created>
  <dc:creator>Zahra Sheikh Ali</dc:creator>
  <dc:description/>
  <dc:language>en-US</dc:language>
  <cp:lastModifiedBy>Zahra Sheikh Ali</cp:lastModifiedBy>
  <dcterms:modified xsi:type="dcterms:W3CDTF">2026-07-11T11:20:12Z</dcterms:modified>
  <cp:revision>1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16</vt:r8>
  </property>
  <property fmtid="{D5CDD505-2E9C-101B-9397-08002B2CF9AE}" pid="3" name="PresentationFormat">
    <vt:lpwstr>On-screen Show (16:9)</vt:lpwstr>
  </property>
  <property fmtid="{D5CDD505-2E9C-101B-9397-08002B2CF9AE}" pid="4" name="Slides">
    <vt:r8>16</vt:r8>
  </property>
</Properties>
</file>