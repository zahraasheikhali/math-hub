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B75BA1-4EFD-4DE3-AF5B-B9AC7F2A42D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7FAB8D-A776-457A-9DC7-2A21F524C1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B46BF7-DEF0-41A5-B173-AB054395BE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1BC29A-706F-4A5E-81A7-645D19090C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91FC47-9C59-4A19-9023-EC792F2B0B7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1: x=9.  2: x=13.  3: x=10.  4: x=30.  5: x=–13.  6: x=5.  7: x=4 (negative coefficient).  8: x=–2.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EEA5854-4204-4C1D-AE22-0447AD476A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0868CA-F568-4D1C-8ACF-E28F542A77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1: a=3. 2: b=8. 3: c=4. 4: d=6. 5: e=2. 6: f=7. 7: x=4. 8: x=7.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83DB58-4853-4750-BCF0-6FA8997A79B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Worked: 4x+6–8=22 → 4x–2=22 → 4x=24 → x=6.  Now try — 1: x+2x–5x=12 → –2x=12 → x=–6. 2: 4x−x+4−7=15 → 3x−3=15 → x=6. 3: 5x−3−8x+1=−26 → −3x−2=−26 → −3x=−24 → x=8.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A200D1-A151-4A63-8F93-7F981C68FB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3EB53D-BEF0-42F9-822D-0C418828488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0D648-943E-4F08-8D61-B28D5720557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3C760D-8366-479D-8C8F-3A13F0FA127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Practice — 1: x=7. 2: x=2. 3: x=4. 4: x=–3.  Challenge — Mild: x=4. Medium: x=7. Hot: 3x−2=2x+7 → x=9.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FE52A-6E88-47C3-AA68-8327D1B68A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CDC7DF-5046-461C-B9FD-C89F56E0AE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CF3D4E-0728-4D3D-B6A0-DE2C209E6F4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Answers — (a) p=3.  (b) 7r+2=5r−20 → 2r=−22 → r=−11.  Q3: 4x−13=17+8x → −30=4x → x=−7.5.  Q4: 5x+15=3x−4 → 2x=−19 → x=−9.5.  Q5: 5x+35=2x−10 → 3x=−45 → x=−15.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9B47EF-B6FD-4A2A-99DF-758D606A739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A2C4F1-01B3-48BE-8DB5-77FE61CF359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28F3E0-BC5E-4C26-BC2E-E12906388CA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11816-081A-4EF5-AF30-C9BB359E4F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8961120" y="914400"/>
            <a:ext cx="274284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22000" spc="-1" strike="noStrike">
                <a:solidFill>
                  <a:srgbClr val="283731"/>
                </a:solidFill>
                <a:latin typeface="Cambria"/>
                <a:ea typeface="Cambria"/>
              </a:rPr>
              <a:t>x</a:t>
            </a:r>
            <a:endParaRPr b="0" lang="en-US" sz="2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8046720" y="2834640"/>
            <a:ext cx="1828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0" spc="-1" strike="noStrike">
                <a:solidFill>
                  <a:srgbClr val="283731"/>
                </a:solidFill>
                <a:latin typeface="Cambria"/>
                <a:ea typeface="Cambria"/>
              </a:rPr>
              <a:t>=</a:t>
            </a:r>
            <a:endParaRPr b="0" lang="en-US" sz="1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731520" y="640080"/>
            <a:ext cx="712800" cy="71280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31520" y="621720"/>
            <a:ext cx="7128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9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4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16275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1627560" y="951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Pearson Edexcel IGCSE (9–1) · Higher Tier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anim_1_a"/>
          <p:cNvSpPr/>
          <p:nvPr/>
        </p:nvSpPr>
        <p:spPr>
          <a:xfrm>
            <a:off x="731520" y="1828800"/>
            <a:ext cx="8412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e0ac2b"/>
                </a:solidFill>
                <a:latin typeface="Cambria"/>
                <a:ea typeface="Cambria"/>
              </a:rPr>
              <a:t>Solving Linear Equations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anim_2_a"/>
          <p:cNvSpPr/>
          <p:nvPr/>
        </p:nvSpPr>
        <p:spPr>
          <a:xfrm>
            <a:off x="758880" y="29718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One-step · Two-step · Simplify · Brackets · Both Sides · Fractions · Past Papers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anim_3_a"/>
          <p:cNvSpPr/>
          <p:nvPr/>
        </p:nvSpPr>
        <p:spPr>
          <a:xfrm>
            <a:off x="731520" y="4160520"/>
            <a:ext cx="6857640" cy="1627200"/>
          </a:xfrm>
          <a:prstGeom prst="roundRect">
            <a:avLst>
              <a:gd name="adj" fmla="val 6742"/>
            </a:avLst>
          </a:prstGeom>
          <a:solidFill>
            <a:srgbClr val="283731"/>
          </a:solidFill>
          <a:ln w="0">
            <a:noFill/>
          </a:ln>
          <a:effectLst>
            <a:outerShdw algn="bl" blurRad="152280" dir="5400000" dist="507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anim_3_a"/>
          <p:cNvSpPr/>
          <p:nvPr/>
        </p:nvSpPr>
        <p:spPr>
          <a:xfrm>
            <a:off x="1005840" y="4343400"/>
            <a:ext cx="64004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e0ac2b"/>
                </a:solidFill>
                <a:latin typeface="Cambria"/>
                <a:ea typeface="Cambria"/>
              </a:rPr>
              <a:t>Zahra Sheikh Ali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anim_3_a"/>
          <p:cNvSpPr/>
          <p:nvPr/>
        </p:nvSpPr>
        <p:spPr>
          <a:xfrm>
            <a:off x="1005840" y="4736520"/>
            <a:ext cx="64004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edebdd"/>
                </a:solidFill>
                <a:latin typeface="Calibri"/>
                <a:ea typeface="Calibri"/>
              </a:rPr>
              <a:t>IGCSE Mathematics Teacher  ·  M.Sc. Differential Geometry &amp; Geometric Control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anim_3_a"/>
          <p:cNvSpPr/>
          <p:nvPr/>
        </p:nvSpPr>
        <p:spPr>
          <a:xfrm>
            <a:off x="1005840" y="5175360"/>
            <a:ext cx="6400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☎  </a:t>
            </a:r>
            <a:r>
              <a:rPr b="1" lang="en-US" sz="1250" spc="-1" strike="noStrike">
                <a:solidFill>
                  <a:srgbClr val="e0ac2b"/>
                </a:solidFill>
                <a:latin typeface="Calibri"/>
                <a:ea typeface="Calibri"/>
              </a:rPr>
              <a:t>66613748        ✉  zahraa.sheikhali@outlook.com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THE BIG IDEA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Inverse Operations &amp; Balance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anim_1_a"/>
          <p:cNvSpPr/>
          <p:nvPr/>
        </p:nvSpPr>
        <p:spPr>
          <a:xfrm>
            <a:off x="548640" y="1554480"/>
            <a:ext cx="11091240" cy="1188360"/>
          </a:xfrm>
          <a:prstGeom prst="roundRect">
            <a:avLst>
              <a:gd name="adj" fmla="val 7692"/>
            </a:avLst>
          </a:prstGeom>
          <a:solidFill>
            <a:srgbClr val="16261f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anim_1_a"/>
          <p:cNvSpPr/>
          <p:nvPr/>
        </p:nvSpPr>
        <p:spPr>
          <a:xfrm>
            <a:off x="868680" y="170064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e0ac2b"/>
                </a:solidFill>
                <a:latin typeface="Calibri"/>
                <a:ea typeface="Calibri"/>
              </a:rPr>
              <a:t>GOLDEN RULE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anim_1_a"/>
          <p:cNvSpPr/>
          <p:nvPr/>
        </p:nvSpPr>
        <p:spPr>
          <a:xfrm>
            <a:off x="868680" y="1974960"/>
            <a:ext cx="1033236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ffff"/>
                </a:solidFill>
                <a:latin typeface="Cambria"/>
                <a:ea typeface="Cambria"/>
              </a:rPr>
              <a:t>Undo each operation with its INVERSE — and always do the same to both sides to keep the equation balanced.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anim_2_c"/>
          <p:cNvSpPr/>
          <p:nvPr/>
        </p:nvSpPr>
        <p:spPr>
          <a:xfrm>
            <a:off x="548640" y="29260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84f2f"/>
                </a:solidFill>
                <a:latin typeface="Calibri"/>
                <a:ea typeface="Calibri"/>
              </a:rPr>
              <a:t>INVERSE PAIRS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anim_2_c"/>
          <p:cNvSpPr/>
          <p:nvPr/>
        </p:nvSpPr>
        <p:spPr>
          <a:xfrm>
            <a:off x="548640" y="3273480"/>
            <a:ext cx="2605680" cy="868320"/>
          </a:xfrm>
          <a:prstGeom prst="roundRect">
            <a:avLst>
              <a:gd name="adj" fmla="val 12632"/>
            </a:avLst>
          </a:prstGeom>
          <a:solidFill>
            <a:srgbClr val="eef1e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anim_2_c"/>
          <p:cNvSpPr/>
          <p:nvPr/>
        </p:nvSpPr>
        <p:spPr>
          <a:xfrm>
            <a:off x="548640" y="327348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+   </a:t>
            </a:r>
            <a:r>
              <a:rPr b="1" lang="en-US" sz="2200" spc="-1" strike="noStrike">
                <a:solidFill>
                  <a:srgbClr val="c84f2f"/>
                </a:solidFill>
                <a:latin typeface="Calibri"/>
                <a:ea typeface="Calibri"/>
              </a:rPr>
              <a:t>⇄</a:t>
            </a: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   –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anim_2_c"/>
          <p:cNvSpPr/>
          <p:nvPr/>
        </p:nvSpPr>
        <p:spPr>
          <a:xfrm>
            <a:off x="3383280" y="3273480"/>
            <a:ext cx="2605680" cy="868320"/>
          </a:xfrm>
          <a:prstGeom prst="roundRect">
            <a:avLst>
              <a:gd name="adj" fmla="val 12632"/>
            </a:avLst>
          </a:prstGeom>
          <a:solidFill>
            <a:srgbClr val="eef1e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anim_2_c"/>
          <p:cNvSpPr/>
          <p:nvPr/>
        </p:nvSpPr>
        <p:spPr>
          <a:xfrm>
            <a:off x="3383280" y="3273480"/>
            <a:ext cx="2605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×   </a:t>
            </a:r>
            <a:r>
              <a:rPr b="1" lang="en-US" sz="2200" spc="-1" strike="noStrike">
                <a:solidFill>
                  <a:srgbClr val="c84f2f"/>
                </a:solidFill>
                <a:latin typeface="Calibri"/>
                <a:ea typeface="Calibri"/>
              </a:rPr>
              <a:t>⇄</a:t>
            </a: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   ÷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anim_3_c"/>
          <p:cNvSpPr/>
          <p:nvPr/>
        </p:nvSpPr>
        <p:spPr>
          <a:xfrm>
            <a:off x="6400800" y="29260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99" strike="noStrike">
                <a:solidFill>
                  <a:srgbClr val="c84f2f"/>
                </a:solidFill>
                <a:latin typeface="Calibri"/>
                <a:ea typeface="Calibri"/>
              </a:rPr>
              <a:t>KEY WORDS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anim_3_c"/>
          <p:cNvSpPr/>
          <p:nvPr/>
        </p:nvSpPr>
        <p:spPr>
          <a:xfrm>
            <a:off x="6400800" y="3273480"/>
            <a:ext cx="2514240" cy="548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anim_3_c"/>
          <p:cNvSpPr/>
          <p:nvPr/>
        </p:nvSpPr>
        <p:spPr>
          <a:xfrm>
            <a:off x="6546960" y="32734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61f"/>
                </a:solidFill>
                <a:latin typeface="Cambria"/>
                <a:ea typeface="Cambria"/>
              </a:rPr>
              <a:t>Equation:  </a:t>
            </a:r>
            <a:r>
              <a:rPr b="0" lang="en-US" sz="1050" spc="-1" strike="noStrike">
                <a:solidFill>
                  <a:srgbClr val="24332d"/>
                </a:solidFill>
                <a:latin typeface="Calibri"/>
                <a:ea typeface="Calibri"/>
              </a:rPr>
              <a:t>two sides joined by =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anim_3_c"/>
          <p:cNvSpPr/>
          <p:nvPr/>
        </p:nvSpPr>
        <p:spPr>
          <a:xfrm>
            <a:off x="9052560" y="3273480"/>
            <a:ext cx="2514240" cy="548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anim_3_c"/>
          <p:cNvSpPr/>
          <p:nvPr/>
        </p:nvSpPr>
        <p:spPr>
          <a:xfrm>
            <a:off x="9198720" y="327348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61f"/>
                </a:solidFill>
                <a:latin typeface="Cambria"/>
                <a:ea typeface="Cambria"/>
              </a:rPr>
              <a:t>Variable:  </a:t>
            </a:r>
            <a:r>
              <a:rPr b="0" lang="en-US" sz="1050" spc="-1" strike="noStrike">
                <a:solidFill>
                  <a:srgbClr val="24332d"/>
                </a:solidFill>
                <a:latin typeface="Calibri"/>
                <a:ea typeface="Calibri"/>
              </a:rPr>
              <a:t>the unknown letter, e.g. x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anim_3_c"/>
          <p:cNvSpPr/>
          <p:nvPr/>
        </p:nvSpPr>
        <p:spPr>
          <a:xfrm>
            <a:off x="6400800" y="3931920"/>
            <a:ext cx="2514240" cy="548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anim_3_c"/>
          <p:cNvSpPr/>
          <p:nvPr/>
        </p:nvSpPr>
        <p:spPr>
          <a:xfrm>
            <a:off x="6546960" y="39319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61f"/>
                </a:solidFill>
                <a:latin typeface="Cambria"/>
                <a:ea typeface="Cambria"/>
              </a:rPr>
              <a:t>Solve:  </a:t>
            </a:r>
            <a:r>
              <a:rPr b="0" lang="en-US" sz="1050" spc="-1" strike="noStrike">
                <a:solidFill>
                  <a:srgbClr val="24332d"/>
                </a:solidFill>
                <a:latin typeface="Calibri"/>
                <a:ea typeface="Calibri"/>
              </a:rPr>
              <a:t>find the variable's value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anim_3_c"/>
          <p:cNvSpPr/>
          <p:nvPr/>
        </p:nvSpPr>
        <p:spPr>
          <a:xfrm>
            <a:off x="9052560" y="3931920"/>
            <a:ext cx="2514240" cy="5482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anim_3_c"/>
          <p:cNvSpPr/>
          <p:nvPr/>
        </p:nvSpPr>
        <p:spPr>
          <a:xfrm>
            <a:off x="9198720" y="3931920"/>
            <a:ext cx="2285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5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6261f"/>
                </a:solidFill>
                <a:latin typeface="Cambria"/>
                <a:ea typeface="Cambria"/>
              </a:rPr>
              <a:t>Inverse:  </a:t>
            </a:r>
            <a:r>
              <a:rPr b="0" lang="en-US" sz="1050" spc="-1" strike="noStrike">
                <a:solidFill>
                  <a:srgbClr val="24332d"/>
                </a:solidFill>
                <a:latin typeface="Calibri"/>
                <a:ea typeface="Calibri"/>
              </a:rPr>
              <a:t>the opposite operation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anim_3_c"/>
          <p:cNvSpPr/>
          <p:nvPr/>
        </p:nvSpPr>
        <p:spPr>
          <a:xfrm>
            <a:off x="548640" y="4892040"/>
            <a:ext cx="5486040" cy="868320"/>
          </a:xfrm>
          <a:prstGeom prst="roundRect">
            <a:avLst>
              <a:gd name="adj" fmla="val 10526"/>
            </a:avLst>
          </a:prstGeom>
          <a:solidFill>
            <a:srgbClr val="fbf3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anim_3_c"/>
          <p:cNvSpPr/>
          <p:nvPr/>
        </p:nvSpPr>
        <p:spPr>
          <a:xfrm>
            <a:off x="868680" y="4892040"/>
            <a:ext cx="51202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Example:  </a:t>
            </a:r>
            <a:r>
              <a:rPr b="1" lang="en-US" sz="1500" spc="-1" strike="noStrike">
                <a:solidFill>
                  <a:srgbClr val="16261f"/>
                </a:solidFill>
                <a:latin typeface="Cambria"/>
                <a:ea typeface="Cambria"/>
              </a:rPr>
              <a:t>x + 7 = 11  →  subtract 7  →  x = 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" dur="indefinite" restart="never" nodeType="tmRoot">
          <p:childTnLst>
            <p:seq>
              <p:cTn id="28" dur="indefinite" nodeType="mainSeq"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ROADMAP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What We'll Cover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anim_1_a"/>
          <p:cNvSpPr/>
          <p:nvPr/>
        </p:nvSpPr>
        <p:spPr>
          <a:xfrm>
            <a:off x="548640" y="178308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anim_1_a"/>
          <p:cNvSpPr/>
          <p:nvPr/>
        </p:nvSpPr>
        <p:spPr>
          <a:xfrm>
            <a:off x="841320" y="209412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anim_1_a"/>
          <p:cNvSpPr/>
          <p:nvPr/>
        </p:nvSpPr>
        <p:spPr>
          <a:xfrm>
            <a:off x="841320" y="2094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anim_1_a"/>
          <p:cNvSpPr/>
          <p:nvPr/>
        </p:nvSpPr>
        <p:spPr>
          <a:xfrm>
            <a:off x="1508760" y="178308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One-step equations (all four cases)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anim_1_a"/>
          <p:cNvSpPr/>
          <p:nvPr/>
        </p:nvSpPr>
        <p:spPr>
          <a:xfrm>
            <a:off x="6263640" y="178308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anim_1_a"/>
          <p:cNvSpPr/>
          <p:nvPr/>
        </p:nvSpPr>
        <p:spPr>
          <a:xfrm>
            <a:off x="6556320" y="209412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anim_1_a"/>
          <p:cNvSpPr/>
          <p:nvPr/>
        </p:nvSpPr>
        <p:spPr>
          <a:xfrm>
            <a:off x="6556320" y="20941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anim_1_a"/>
          <p:cNvSpPr/>
          <p:nvPr/>
        </p:nvSpPr>
        <p:spPr>
          <a:xfrm>
            <a:off x="7223760" y="178308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Two-step equations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anim_2_c"/>
          <p:cNvSpPr/>
          <p:nvPr/>
        </p:nvSpPr>
        <p:spPr>
          <a:xfrm>
            <a:off x="548640" y="310896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anim_2_c"/>
          <p:cNvSpPr/>
          <p:nvPr/>
        </p:nvSpPr>
        <p:spPr>
          <a:xfrm>
            <a:off x="841320" y="342000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anim_2_c"/>
          <p:cNvSpPr/>
          <p:nvPr/>
        </p:nvSpPr>
        <p:spPr>
          <a:xfrm>
            <a:off x="841320" y="3420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anim_2_c"/>
          <p:cNvSpPr/>
          <p:nvPr/>
        </p:nvSpPr>
        <p:spPr>
          <a:xfrm>
            <a:off x="1508760" y="310896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Simplify, then solve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anim_2_c"/>
          <p:cNvSpPr/>
          <p:nvPr/>
        </p:nvSpPr>
        <p:spPr>
          <a:xfrm>
            <a:off x="6263640" y="310896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anim_2_c"/>
          <p:cNvSpPr/>
          <p:nvPr/>
        </p:nvSpPr>
        <p:spPr>
          <a:xfrm>
            <a:off x="6556320" y="342000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anim_2_c"/>
          <p:cNvSpPr/>
          <p:nvPr/>
        </p:nvSpPr>
        <p:spPr>
          <a:xfrm>
            <a:off x="6556320" y="3420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anim_2_c"/>
          <p:cNvSpPr/>
          <p:nvPr/>
        </p:nvSpPr>
        <p:spPr>
          <a:xfrm>
            <a:off x="7223760" y="310896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Equations with brackets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anim_3_c"/>
          <p:cNvSpPr/>
          <p:nvPr/>
        </p:nvSpPr>
        <p:spPr>
          <a:xfrm>
            <a:off x="548640" y="443484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anim_3_c"/>
          <p:cNvSpPr/>
          <p:nvPr/>
        </p:nvSpPr>
        <p:spPr>
          <a:xfrm>
            <a:off x="841320" y="474588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anim_3_c"/>
          <p:cNvSpPr/>
          <p:nvPr/>
        </p:nvSpPr>
        <p:spPr>
          <a:xfrm>
            <a:off x="841320" y="4745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anim_3_c"/>
          <p:cNvSpPr/>
          <p:nvPr/>
        </p:nvSpPr>
        <p:spPr>
          <a:xfrm>
            <a:off x="1508760" y="443484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Unknowns on both sides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anim_3_c"/>
          <p:cNvSpPr/>
          <p:nvPr/>
        </p:nvSpPr>
        <p:spPr>
          <a:xfrm>
            <a:off x="6263640" y="4434840"/>
            <a:ext cx="5440320" cy="1096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anim_3_c"/>
          <p:cNvSpPr/>
          <p:nvPr/>
        </p:nvSpPr>
        <p:spPr>
          <a:xfrm>
            <a:off x="6556320" y="474588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anim_3_c"/>
          <p:cNvSpPr/>
          <p:nvPr/>
        </p:nvSpPr>
        <p:spPr>
          <a:xfrm>
            <a:off x="6556320" y="47458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mbria"/>
                <a:ea typeface="Cambria"/>
              </a:rPr>
              <a:t>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anim_3_c"/>
          <p:cNvSpPr/>
          <p:nvPr/>
        </p:nvSpPr>
        <p:spPr>
          <a:xfrm>
            <a:off x="7223760" y="4434840"/>
            <a:ext cx="42973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16261f"/>
                </a:solidFill>
                <a:latin typeface="Cambria"/>
                <a:ea typeface="Cambria"/>
              </a:rPr>
              <a:t>Fractions, non-linear &amp; past-paper questions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ONE-STEP · ALL CASES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One-Step Equations — the Four Operations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anim_1_a"/>
          <p:cNvSpPr/>
          <p:nvPr/>
        </p:nvSpPr>
        <p:spPr>
          <a:xfrm>
            <a:off x="548640" y="1691640"/>
            <a:ext cx="544032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anim_1_a"/>
          <p:cNvSpPr/>
          <p:nvPr/>
        </p:nvSpPr>
        <p:spPr>
          <a:xfrm>
            <a:off x="822960" y="1929240"/>
            <a:ext cx="1554120" cy="383760"/>
          </a:xfrm>
          <a:prstGeom prst="roundRect">
            <a:avLst>
              <a:gd name="adj" fmla="val 47619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anim_1_a"/>
          <p:cNvSpPr/>
          <p:nvPr/>
        </p:nvSpPr>
        <p:spPr>
          <a:xfrm>
            <a:off x="822960" y="192924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ADD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anim_1_a"/>
          <p:cNvSpPr/>
          <p:nvPr/>
        </p:nvSpPr>
        <p:spPr>
          <a:xfrm>
            <a:off x="859680" y="236844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6261f"/>
                </a:solidFill>
                <a:latin typeface="Cambria"/>
                <a:ea typeface="Cambria"/>
              </a:rPr>
              <a:t>x + 7 = 11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anim_1_a"/>
          <p:cNvSpPr/>
          <p:nvPr/>
        </p:nvSpPr>
        <p:spPr>
          <a:xfrm>
            <a:off x="859680" y="27889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a7269"/>
                </a:solidFill>
                <a:latin typeface="Calibri"/>
                <a:ea typeface="Calibri"/>
              </a:rPr>
              <a:t>subtract 7 from both sides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anim_1_a"/>
          <p:cNvSpPr/>
          <p:nvPr/>
        </p:nvSpPr>
        <p:spPr>
          <a:xfrm>
            <a:off x="4114800" y="2917080"/>
            <a:ext cx="1599840" cy="566640"/>
          </a:xfrm>
          <a:prstGeom prst="roundRect">
            <a:avLst>
              <a:gd name="adj" fmla="val 16129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anim_1_a"/>
          <p:cNvSpPr/>
          <p:nvPr/>
        </p:nvSpPr>
        <p:spPr>
          <a:xfrm>
            <a:off x="4114800" y="2917080"/>
            <a:ext cx="1599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anim_2_c"/>
          <p:cNvSpPr/>
          <p:nvPr/>
        </p:nvSpPr>
        <p:spPr>
          <a:xfrm>
            <a:off x="6199560" y="1691640"/>
            <a:ext cx="544032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anim_2_c"/>
          <p:cNvSpPr/>
          <p:nvPr/>
        </p:nvSpPr>
        <p:spPr>
          <a:xfrm>
            <a:off x="6473880" y="1929240"/>
            <a:ext cx="1554120" cy="383760"/>
          </a:xfrm>
          <a:prstGeom prst="roundRect">
            <a:avLst>
              <a:gd name="adj" fmla="val 47619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anim_2_c"/>
          <p:cNvSpPr/>
          <p:nvPr/>
        </p:nvSpPr>
        <p:spPr>
          <a:xfrm>
            <a:off x="6473880" y="192924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SUBTRACT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anim_2_c"/>
          <p:cNvSpPr/>
          <p:nvPr/>
        </p:nvSpPr>
        <p:spPr>
          <a:xfrm>
            <a:off x="6510600" y="236844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6261f"/>
                </a:solidFill>
                <a:latin typeface="Cambria"/>
                <a:ea typeface="Cambria"/>
              </a:rPr>
              <a:t>x – 4 = 8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anim_2_c"/>
          <p:cNvSpPr/>
          <p:nvPr/>
        </p:nvSpPr>
        <p:spPr>
          <a:xfrm>
            <a:off x="6510600" y="278892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a7269"/>
                </a:solidFill>
                <a:latin typeface="Calibri"/>
                <a:ea typeface="Calibri"/>
              </a:rPr>
              <a:t>add 4 to both sides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anim_2_c"/>
          <p:cNvSpPr/>
          <p:nvPr/>
        </p:nvSpPr>
        <p:spPr>
          <a:xfrm>
            <a:off x="9765720" y="2917080"/>
            <a:ext cx="1599840" cy="566640"/>
          </a:xfrm>
          <a:prstGeom prst="roundRect">
            <a:avLst>
              <a:gd name="adj" fmla="val 16129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anim_2_c"/>
          <p:cNvSpPr/>
          <p:nvPr/>
        </p:nvSpPr>
        <p:spPr>
          <a:xfrm>
            <a:off x="9765720" y="2917080"/>
            <a:ext cx="1599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12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anim_3_c"/>
          <p:cNvSpPr/>
          <p:nvPr/>
        </p:nvSpPr>
        <p:spPr>
          <a:xfrm>
            <a:off x="548640" y="3840480"/>
            <a:ext cx="544032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anim_3_c"/>
          <p:cNvSpPr/>
          <p:nvPr/>
        </p:nvSpPr>
        <p:spPr>
          <a:xfrm>
            <a:off x="822960" y="4078080"/>
            <a:ext cx="1554120" cy="383760"/>
          </a:xfrm>
          <a:prstGeom prst="roundRect">
            <a:avLst>
              <a:gd name="adj" fmla="val 47619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anim_3_c"/>
          <p:cNvSpPr/>
          <p:nvPr/>
        </p:nvSpPr>
        <p:spPr>
          <a:xfrm>
            <a:off x="822960" y="40780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MULTIPLY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anim_3_c"/>
          <p:cNvSpPr/>
          <p:nvPr/>
        </p:nvSpPr>
        <p:spPr>
          <a:xfrm>
            <a:off x="859680" y="451728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6261f"/>
                </a:solidFill>
                <a:latin typeface="Cambria"/>
                <a:ea typeface="Cambria"/>
              </a:rPr>
              <a:t>5x = 15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anim_3_c"/>
          <p:cNvSpPr/>
          <p:nvPr/>
        </p:nvSpPr>
        <p:spPr>
          <a:xfrm>
            <a:off x="859680" y="493776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a7269"/>
                </a:solidFill>
                <a:latin typeface="Calibri"/>
                <a:ea typeface="Calibri"/>
              </a:rPr>
              <a:t>divide both sides by 5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anim_3_c"/>
          <p:cNvSpPr/>
          <p:nvPr/>
        </p:nvSpPr>
        <p:spPr>
          <a:xfrm>
            <a:off x="4114800" y="5065920"/>
            <a:ext cx="1599840" cy="566640"/>
          </a:xfrm>
          <a:prstGeom prst="roundRect">
            <a:avLst>
              <a:gd name="adj" fmla="val 16129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anim_3_c"/>
          <p:cNvSpPr/>
          <p:nvPr/>
        </p:nvSpPr>
        <p:spPr>
          <a:xfrm>
            <a:off x="4114800" y="5065920"/>
            <a:ext cx="1599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anim_4_c"/>
          <p:cNvSpPr/>
          <p:nvPr/>
        </p:nvSpPr>
        <p:spPr>
          <a:xfrm>
            <a:off x="6199560" y="3840480"/>
            <a:ext cx="544032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anim_4_c"/>
          <p:cNvSpPr/>
          <p:nvPr/>
        </p:nvSpPr>
        <p:spPr>
          <a:xfrm>
            <a:off x="6473880" y="4078080"/>
            <a:ext cx="1554120" cy="383760"/>
          </a:xfrm>
          <a:prstGeom prst="roundRect">
            <a:avLst>
              <a:gd name="adj" fmla="val 47619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anim_4_c"/>
          <p:cNvSpPr/>
          <p:nvPr/>
        </p:nvSpPr>
        <p:spPr>
          <a:xfrm>
            <a:off x="6473880" y="4078080"/>
            <a:ext cx="1554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DIVIDE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anim_4_c"/>
          <p:cNvSpPr/>
          <p:nvPr/>
        </p:nvSpPr>
        <p:spPr>
          <a:xfrm>
            <a:off x="6510600" y="4937760"/>
            <a:ext cx="3382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6a7269"/>
                </a:solidFill>
                <a:latin typeface="Calibri"/>
                <a:ea typeface="Calibri"/>
              </a:rPr>
              <a:t>multiply both sides by 3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anim_4_c"/>
          <p:cNvSpPr/>
          <p:nvPr/>
        </p:nvSpPr>
        <p:spPr>
          <a:xfrm>
            <a:off x="9765720" y="5065920"/>
            <a:ext cx="1599840" cy="566640"/>
          </a:xfrm>
          <a:prstGeom prst="roundRect">
            <a:avLst>
              <a:gd name="adj" fmla="val 16129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anim_4_c"/>
          <p:cNvSpPr/>
          <p:nvPr/>
        </p:nvSpPr>
        <p:spPr>
          <a:xfrm>
            <a:off x="9765720" y="5065920"/>
            <a:ext cx="1599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24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anim_4_c"/>
          <p:cNvSpPr/>
          <p:nvPr/>
        </p:nvSpPr>
        <p:spPr>
          <a:xfrm>
            <a:off x="6583680" y="444384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x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anim_4_c"/>
          <p:cNvSpPr/>
          <p:nvPr/>
        </p:nvSpPr>
        <p:spPr>
          <a:xfrm>
            <a:off x="6620040" y="4699800"/>
            <a:ext cx="384120" cy="360"/>
          </a:xfrm>
          <a:prstGeom prst="line">
            <a:avLst/>
          </a:prstGeom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anim_4_c"/>
          <p:cNvSpPr/>
          <p:nvPr/>
        </p:nvSpPr>
        <p:spPr>
          <a:xfrm>
            <a:off x="6583680" y="4709160"/>
            <a:ext cx="4568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anim_4_c"/>
          <p:cNvSpPr/>
          <p:nvPr/>
        </p:nvSpPr>
        <p:spPr>
          <a:xfrm>
            <a:off x="7132320" y="448056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1f"/>
                </a:solidFill>
                <a:latin typeface="Cambria"/>
                <a:ea typeface="Cambria"/>
              </a:rPr>
              <a:t>= 8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2" dur="indefinite" restart="never" nodeType="tmRoot">
          <p:childTnLst>
            <p:seq>
              <p:cTn id="173" dur="indefinite" nodeType="mainSeq"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6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9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>
                      <p:stCondLst>
                        <p:cond delay="indefinite"/>
                      </p:stCondLst>
                      <p:childTnLst>
                        <p:par>
                          <p:cTn id="221" fill="hold">
                            <p:stCondLst>
                              <p:cond delay="0"/>
                            </p:stCondLst>
                            <p:childTnLst>
                              <p:par>
                                <p:cTn id="2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9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ONE-STEP ·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One-Step — Your Turn (incl. negatives &amp; fractions)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548640" y="14173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Use one inverse operation. Watch out for negative and fraction cases.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anim_1_a"/>
          <p:cNvSpPr/>
          <p:nvPr/>
        </p:nvSpPr>
        <p:spPr>
          <a:xfrm>
            <a:off x="640080" y="19202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anim_1_a"/>
          <p:cNvSpPr/>
          <p:nvPr/>
        </p:nvSpPr>
        <p:spPr>
          <a:xfrm>
            <a:off x="640080" y="1920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anim_1_a"/>
          <p:cNvSpPr/>
          <p:nvPr/>
        </p:nvSpPr>
        <p:spPr>
          <a:xfrm>
            <a:off x="1243440" y="19202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anim_1_a"/>
          <p:cNvSpPr/>
          <p:nvPr/>
        </p:nvSpPr>
        <p:spPr>
          <a:xfrm>
            <a:off x="1463040" y="19202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x + 6 = 15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anim_1_a"/>
          <p:cNvSpPr/>
          <p:nvPr/>
        </p:nvSpPr>
        <p:spPr>
          <a:xfrm>
            <a:off x="640080" y="276156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anim_1_a"/>
          <p:cNvSpPr/>
          <p:nvPr/>
        </p:nvSpPr>
        <p:spPr>
          <a:xfrm>
            <a:off x="640080" y="2761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anim_1_a"/>
          <p:cNvSpPr/>
          <p:nvPr/>
        </p:nvSpPr>
        <p:spPr>
          <a:xfrm>
            <a:off x="1243440" y="276156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anim_1_a"/>
          <p:cNvSpPr/>
          <p:nvPr/>
        </p:nvSpPr>
        <p:spPr>
          <a:xfrm>
            <a:off x="1463040" y="276156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x – 3 = 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anim_1_a"/>
          <p:cNvSpPr/>
          <p:nvPr/>
        </p:nvSpPr>
        <p:spPr>
          <a:xfrm>
            <a:off x="640080" y="360288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anim_1_a"/>
          <p:cNvSpPr/>
          <p:nvPr/>
        </p:nvSpPr>
        <p:spPr>
          <a:xfrm>
            <a:off x="640080" y="3602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anim_1_a"/>
          <p:cNvSpPr/>
          <p:nvPr/>
        </p:nvSpPr>
        <p:spPr>
          <a:xfrm>
            <a:off x="1243440" y="360288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anim_1_a"/>
          <p:cNvSpPr/>
          <p:nvPr/>
        </p:nvSpPr>
        <p:spPr>
          <a:xfrm>
            <a:off x="1463040" y="360288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3x = 30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anim_1_a"/>
          <p:cNvSpPr/>
          <p:nvPr/>
        </p:nvSpPr>
        <p:spPr>
          <a:xfrm>
            <a:off x="640080" y="44438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anim_1_a"/>
          <p:cNvSpPr/>
          <p:nvPr/>
        </p:nvSpPr>
        <p:spPr>
          <a:xfrm>
            <a:off x="640080" y="44438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anim_1_a"/>
          <p:cNvSpPr/>
          <p:nvPr/>
        </p:nvSpPr>
        <p:spPr>
          <a:xfrm>
            <a:off x="1243440" y="4325040"/>
            <a:ext cx="4571640" cy="71280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anim_1_a"/>
          <p:cNvSpPr/>
          <p:nvPr/>
        </p:nvSpPr>
        <p:spPr>
          <a:xfrm>
            <a:off x="1554480" y="427032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mbria"/>
                <a:ea typeface="Cambria"/>
              </a:rPr>
              <a:t>x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anim_1_a"/>
          <p:cNvSpPr/>
          <p:nvPr/>
        </p:nvSpPr>
        <p:spPr>
          <a:xfrm>
            <a:off x="1590840" y="4681440"/>
            <a:ext cx="347400" cy="360"/>
          </a:xfrm>
          <a:prstGeom prst="line">
            <a:avLst/>
          </a:prstGeom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anim_1_a"/>
          <p:cNvSpPr/>
          <p:nvPr/>
        </p:nvSpPr>
        <p:spPr>
          <a:xfrm>
            <a:off x="1554480" y="4718160"/>
            <a:ext cx="4201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24332d"/>
                </a:solidFill>
                <a:latin typeface="Cambria"/>
                <a:ea typeface="Cambria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anim_1_a"/>
          <p:cNvSpPr/>
          <p:nvPr/>
        </p:nvSpPr>
        <p:spPr>
          <a:xfrm>
            <a:off x="2121480" y="4443840"/>
            <a:ext cx="32000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= 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anim_2_c"/>
          <p:cNvSpPr/>
          <p:nvPr/>
        </p:nvSpPr>
        <p:spPr>
          <a:xfrm>
            <a:off x="6355080" y="19202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anim_2_c"/>
          <p:cNvSpPr/>
          <p:nvPr/>
        </p:nvSpPr>
        <p:spPr>
          <a:xfrm>
            <a:off x="6355080" y="1920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anim_2_c"/>
          <p:cNvSpPr/>
          <p:nvPr/>
        </p:nvSpPr>
        <p:spPr>
          <a:xfrm>
            <a:off x="6958440" y="19202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anim_2_c"/>
          <p:cNvSpPr/>
          <p:nvPr/>
        </p:nvSpPr>
        <p:spPr>
          <a:xfrm>
            <a:off x="7178040" y="19202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x + 5 = –8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anim_2_c"/>
          <p:cNvSpPr/>
          <p:nvPr/>
        </p:nvSpPr>
        <p:spPr>
          <a:xfrm>
            <a:off x="6355080" y="276156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anim_2_c"/>
          <p:cNvSpPr/>
          <p:nvPr/>
        </p:nvSpPr>
        <p:spPr>
          <a:xfrm>
            <a:off x="6355080" y="2761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anim_2_c"/>
          <p:cNvSpPr/>
          <p:nvPr/>
        </p:nvSpPr>
        <p:spPr>
          <a:xfrm>
            <a:off x="6958440" y="276156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anim_2_c"/>
          <p:cNvSpPr/>
          <p:nvPr/>
        </p:nvSpPr>
        <p:spPr>
          <a:xfrm>
            <a:off x="7178040" y="276156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x – 7 = –2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anim_2_c"/>
          <p:cNvSpPr/>
          <p:nvPr/>
        </p:nvSpPr>
        <p:spPr>
          <a:xfrm>
            <a:off x="6355080" y="360288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anim_2_c"/>
          <p:cNvSpPr/>
          <p:nvPr/>
        </p:nvSpPr>
        <p:spPr>
          <a:xfrm>
            <a:off x="6355080" y="3602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anim_2_c"/>
          <p:cNvSpPr/>
          <p:nvPr/>
        </p:nvSpPr>
        <p:spPr>
          <a:xfrm>
            <a:off x="6958440" y="360288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anim_2_c"/>
          <p:cNvSpPr/>
          <p:nvPr/>
        </p:nvSpPr>
        <p:spPr>
          <a:xfrm>
            <a:off x="7178040" y="360288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–</a:t>
            </a: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2x = –8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anim_2_c"/>
          <p:cNvSpPr/>
          <p:nvPr/>
        </p:nvSpPr>
        <p:spPr>
          <a:xfrm>
            <a:off x="6355080" y="44438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anim_2_c"/>
          <p:cNvSpPr/>
          <p:nvPr/>
        </p:nvSpPr>
        <p:spPr>
          <a:xfrm>
            <a:off x="6355080" y="44438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anim_2_c"/>
          <p:cNvSpPr/>
          <p:nvPr/>
        </p:nvSpPr>
        <p:spPr>
          <a:xfrm>
            <a:off x="6958440" y="44438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anim_2_c"/>
          <p:cNvSpPr/>
          <p:nvPr/>
        </p:nvSpPr>
        <p:spPr>
          <a:xfrm>
            <a:off x="7178040" y="44438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5x = –10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75" dur="indefinite" restart="never" nodeType="tmRoot">
          <p:childTnLst>
            <p:seq>
              <p:cTn id="276" dur="indefinite" nodeType="mainSeq">
                <p:childTnLst>
                  <p:par>
                    <p:cTn id="277" fill="hold">
                      <p:stCondLst>
                        <p:cond delay="0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4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0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2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3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9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6" fill="hold">
                      <p:stCondLst>
                        <p:cond delay="indefinite"/>
                      </p:stCondLst>
                      <p:childTnLst>
                        <p:par>
                          <p:cTn id="337" fill="hold">
                            <p:stCondLst>
                              <p:cond delay="0"/>
                            </p:stCondLst>
                            <p:childTnLst>
                              <p:par>
                                <p:cTn id="3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3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5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8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1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3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9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5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TWO-STEP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Two-Step Equations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undo + and – first, then undo × and ÷ — doing the same to both sides.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anim_1_a"/>
          <p:cNvSpPr/>
          <p:nvPr/>
        </p:nvSpPr>
        <p:spPr>
          <a:xfrm>
            <a:off x="548640" y="2377440"/>
            <a:ext cx="1109124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anim_1_a"/>
          <p:cNvSpPr/>
          <p:nvPr/>
        </p:nvSpPr>
        <p:spPr>
          <a:xfrm>
            <a:off x="548640" y="237744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Solve   5x + 6 = 21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anim_2_c"/>
          <p:cNvSpPr/>
          <p:nvPr/>
        </p:nvSpPr>
        <p:spPr>
          <a:xfrm>
            <a:off x="548640" y="347472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anim_2_c"/>
          <p:cNvSpPr/>
          <p:nvPr/>
        </p:nvSpPr>
        <p:spPr>
          <a:xfrm>
            <a:off x="868680" y="37674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anim_2_c"/>
          <p:cNvSpPr/>
          <p:nvPr/>
        </p:nvSpPr>
        <p:spPr>
          <a:xfrm>
            <a:off x="868680" y="37674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anim_2_c"/>
          <p:cNvSpPr/>
          <p:nvPr/>
        </p:nvSpPr>
        <p:spPr>
          <a:xfrm>
            <a:off x="1417320" y="370332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Subtract 6 from both sides: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5x = 15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anim_3_c"/>
          <p:cNvSpPr/>
          <p:nvPr/>
        </p:nvSpPr>
        <p:spPr>
          <a:xfrm>
            <a:off x="868680" y="45446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anim_3_c"/>
          <p:cNvSpPr/>
          <p:nvPr/>
        </p:nvSpPr>
        <p:spPr>
          <a:xfrm>
            <a:off x="868680" y="45446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anim_3_c"/>
          <p:cNvSpPr/>
          <p:nvPr/>
        </p:nvSpPr>
        <p:spPr>
          <a:xfrm>
            <a:off x="1417320" y="44805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Divide both sides by 5: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anim_4_c"/>
          <p:cNvSpPr/>
          <p:nvPr/>
        </p:nvSpPr>
        <p:spPr>
          <a:xfrm>
            <a:off x="868680" y="5212080"/>
            <a:ext cx="3108600" cy="60300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anim_4_c"/>
          <p:cNvSpPr/>
          <p:nvPr/>
        </p:nvSpPr>
        <p:spPr>
          <a:xfrm>
            <a:off x="1051560" y="5212080"/>
            <a:ext cx="27428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x =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anim_4_c"/>
          <p:cNvSpPr/>
          <p:nvPr/>
        </p:nvSpPr>
        <p:spPr>
          <a:xfrm>
            <a:off x="4297680" y="5212080"/>
            <a:ext cx="548604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a7269"/>
                </a:solidFill>
                <a:latin typeface="Cambria"/>
                <a:ea typeface="Cambria"/>
              </a:rPr>
              <a:t>Check:  5(3) + 6 = 21 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6" dur="indefinite" restart="never" nodeType="tmRoot">
          <p:childTnLst>
            <p:seq>
              <p:cTn id="387" dur="indefinite" nodeType="mainSeq">
                <p:childTnLst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8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2" fill="hold">
                      <p:stCondLst>
                        <p:cond delay="indefinite"/>
                      </p:stCondLst>
                      <p:childTnLst>
                        <p:par>
                          <p:cTn id="403" fill="hold">
                            <p:stCondLst>
                              <p:cond delay="0"/>
                            </p:stCondLst>
                            <p:childTnLst>
                              <p:par>
                                <p:cTn id="4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9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5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6" fill="hold">
                      <p:stCondLst>
                        <p:cond delay="indefinite"/>
                      </p:stCondLst>
                      <p:childTnLst>
                        <p:par>
                          <p:cTn id="417" fill="hold">
                            <p:stCondLst>
                              <p:cond delay="0"/>
                            </p:stCondLst>
                            <p:childTnLst>
                              <p:par>
                                <p:cTn id="4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0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3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6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TWO-STEP ·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Two-Step — Your Turn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4"/>
          <p:cNvSpPr/>
          <p:nvPr/>
        </p:nvSpPr>
        <p:spPr>
          <a:xfrm>
            <a:off x="548640" y="1417320"/>
            <a:ext cx="1109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50" spc="-1" strike="noStrike">
                <a:solidFill>
                  <a:srgbClr val="6a7269"/>
                </a:solidFill>
                <a:latin typeface="Calibri"/>
                <a:ea typeface="Calibri"/>
              </a:rPr>
              <a:t>Undo the + or –, then the × or ÷.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anim_1_a"/>
          <p:cNvSpPr/>
          <p:nvPr/>
        </p:nvSpPr>
        <p:spPr>
          <a:xfrm>
            <a:off x="640080" y="19202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anim_1_a"/>
          <p:cNvSpPr/>
          <p:nvPr/>
        </p:nvSpPr>
        <p:spPr>
          <a:xfrm>
            <a:off x="640080" y="1920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anim_1_a"/>
          <p:cNvSpPr/>
          <p:nvPr/>
        </p:nvSpPr>
        <p:spPr>
          <a:xfrm>
            <a:off x="1243440" y="19202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anim_1_a"/>
          <p:cNvSpPr/>
          <p:nvPr/>
        </p:nvSpPr>
        <p:spPr>
          <a:xfrm>
            <a:off x="1463040" y="19202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3a + 6 = 15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anim_1_a"/>
          <p:cNvSpPr/>
          <p:nvPr/>
        </p:nvSpPr>
        <p:spPr>
          <a:xfrm>
            <a:off x="640080" y="276156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anim_1_a"/>
          <p:cNvSpPr/>
          <p:nvPr/>
        </p:nvSpPr>
        <p:spPr>
          <a:xfrm>
            <a:off x="640080" y="2761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anim_1_a"/>
          <p:cNvSpPr/>
          <p:nvPr/>
        </p:nvSpPr>
        <p:spPr>
          <a:xfrm>
            <a:off x="1243440" y="276156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anim_1_a"/>
          <p:cNvSpPr/>
          <p:nvPr/>
        </p:nvSpPr>
        <p:spPr>
          <a:xfrm>
            <a:off x="1463040" y="276156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2b + 5 = 21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anim_1_a"/>
          <p:cNvSpPr/>
          <p:nvPr/>
        </p:nvSpPr>
        <p:spPr>
          <a:xfrm>
            <a:off x="640080" y="360288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anim_1_a"/>
          <p:cNvSpPr/>
          <p:nvPr/>
        </p:nvSpPr>
        <p:spPr>
          <a:xfrm>
            <a:off x="640080" y="3602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anim_1_a"/>
          <p:cNvSpPr/>
          <p:nvPr/>
        </p:nvSpPr>
        <p:spPr>
          <a:xfrm>
            <a:off x="1243440" y="360288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anim_1_a"/>
          <p:cNvSpPr/>
          <p:nvPr/>
        </p:nvSpPr>
        <p:spPr>
          <a:xfrm>
            <a:off x="1463040" y="360288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7c – 1 = 27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anim_1_a"/>
          <p:cNvSpPr/>
          <p:nvPr/>
        </p:nvSpPr>
        <p:spPr>
          <a:xfrm>
            <a:off x="640080" y="44438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anim_1_a"/>
          <p:cNvSpPr/>
          <p:nvPr/>
        </p:nvSpPr>
        <p:spPr>
          <a:xfrm>
            <a:off x="640080" y="44438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anim_1_a"/>
          <p:cNvSpPr/>
          <p:nvPr/>
        </p:nvSpPr>
        <p:spPr>
          <a:xfrm>
            <a:off x="1243440" y="44438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anim_1_a"/>
          <p:cNvSpPr/>
          <p:nvPr/>
        </p:nvSpPr>
        <p:spPr>
          <a:xfrm>
            <a:off x="1463040" y="44438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12d – 64 = 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anim_2_c"/>
          <p:cNvSpPr/>
          <p:nvPr/>
        </p:nvSpPr>
        <p:spPr>
          <a:xfrm>
            <a:off x="6355080" y="19202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anim_2_c"/>
          <p:cNvSpPr/>
          <p:nvPr/>
        </p:nvSpPr>
        <p:spPr>
          <a:xfrm>
            <a:off x="6355080" y="19202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anim_2_c"/>
          <p:cNvSpPr/>
          <p:nvPr/>
        </p:nvSpPr>
        <p:spPr>
          <a:xfrm>
            <a:off x="6958440" y="19202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anim_2_c"/>
          <p:cNvSpPr/>
          <p:nvPr/>
        </p:nvSpPr>
        <p:spPr>
          <a:xfrm>
            <a:off x="7178040" y="19202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3 + 6e = 15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anim_2_c"/>
          <p:cNvSpPr/>
          <p:nvPr/>
        </p:nvSpPr>
        <p:spPr>
          <a:xfrm>
            <a:off x="6355080" y="276156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anim_2_c"/>
          <p:cNvSpPr/>
          <p:nvPr/>
        </p:nvSpPr>
        <p:spPr>
          <a:xfrm>
            <a:off x="6355080" y="276156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6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anim_2_c"/>
          <p:cNvSpPr/>
          <p:nvPr/>
        </p:nvSpPr>
        <p:spPr>
          <a:xfrm>
            <a:off x="6958440" y="276156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anim_2_c"/>
          <p:cNvSpPr/>
          <p:nvPr/>
        </p:nvSpPr>
        <p:spPr>
          <a:xfrm>
            <a:off x="7178040" y="276156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18 + 7f = 67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anim_2_c"/>
          <p:cNvSpPr/>
          <p:nvPr/>
        </p:nvSpPr>
        <p:spPr>
          <a:xfrm>
            <a:off x="6355080" y="360288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anim_2_c"/>
          <p:cNvSpPr/>
          <p:nvPr/>
        </p:nvSpPr>
        <p:spPr>
          <a:xfrm>
            <a:off x="6355080" y="360288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7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anim_2_c"/>
          <p:cNvSpPr/>
          <p:nvPr/>
        </p:nvSpPr>
        <p:spPr>
          <a:xfrm>
            <a:off x="6958440" y="360288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anim_2_c"/>
          <p:cNvSpPr/>
          <p:nvPr/>
        </p:nvSpPr>
        <p:spPr>
          <a:xfrm>
            <a:off x="7178040" y="360288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8 = 3x – 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anim_2_c"/>
          <p:cNvSpPr/>
          <p:nvPr/>
        </p:nvSpPr>
        <p:spPr>
          <a:xfrm>
            <a:off x="6355080" y="4443840"/>
            <a:ext cx="475200" cy="475200"/>
          </a:xfrm>
          <a:prstGeom prst="roundRect">
            <a:avLst>
              <a:gd name="adj" fmla="val 15385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anim_2_c"/>
          <p:cNvSpPr/>
          <p:nvPr/>
        </p:nvSpPr>
        <p:spPr>
          <a:xfrm>
            <a:off x="6355080" y="4443840"/>
            <a:ext cx="47520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anim_2_c"/>
          <p:cNvSpPr/>
          <p:nvPr/>
        </p:nvSpPr>
        <p:spPr>
          <a:xfrm>
            <a:off x="6958440" y="4443840"/>
            <a:ext cx="4571640" cy="4752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anim_2_c"/>
          <p:cNvSpPr/>
          <p:nvPr/>
        </p:nvSpPr>
        <p:spPr>
          <a:xfrm>
            <a:off x="7178040" y="4443840"/>
            <a:ext cx="420588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47 = 6x + 5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38" dur="indefinite" restart="never" nodeType="tmRoot">
          <p:childTnLst>
            <p:seq>
              <p:cTn id="439" dur="indefinite" nodeType="mainSeq">
                <p:childTnLst>
                  <p:par>
                    <p:cTn id="440" fill="hold">
                      <p:stCondLst>
                        <p:cond delay="0"/>
                      </p:stCondLst>
                      <p:childTnLst>
                        <p:par>
                          <p:cTn id="441" fill="hold">
                            <p:stCondLst>
                              <p:cond delay="0"/>
                            </p:stCondLst>
                            <p:childTnLst>
                              <p:par>
                                <p:cTn id="442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4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6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9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8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1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7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6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0" fill="hold">
                      <p:stCondLst>
                        <p:cond delay="indefinite"/>
                      </p:stCondLst>
                      <p:childTnLst>
                        <p:par>
                          <p:cTn id="491" fill="hold">
                            <p:stCondLst>
                              <p:cond delay="0"/>
                            </p:stCondLst>
                            <p:childTnLst>
                              <p:par>
                                <p:cTn id="4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4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7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0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3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9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2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4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6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9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SIMPLIFY, THEN SOLVE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Collect Like Terms First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simplify each side by collecting like terms, then solve as usual.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anim_1_a"/>
          <p:cNvSpPr/>
          <p:nvPr/>
        </p:nvSpPr>
        <p:spPr>
          <a:xfrm>
            <a:off x="548640" y="2331720"/>
            <a:ext cx="11091240" cy="1828440"/>
          </a:xfrm>
          <a:prstGeom prst="roundRect">
            <a:avLst>
              <a:gd name="adj" fmla="val 5000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anim_1_a"/>
          <p:cNvSpPr/>
          <p:nvPr/>
        </p:nvSpPr>
        <p:spPr>
          <a:xfrm>
            <a:off x="868680" y="246888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Solve   4x + 6 – 8 = 22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anim_2_c"/>
          <p:cNvSpPr/>
          <p:nvPr/>
        </p:nvSpPr>
        <p:spPr>
          <a:xfrm>
            <a:off x="868680" y="3017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anim_2_c"/>
          <p:cNvSpPr/>
          <p:nvPr/>
        </p:nvSpPr>
        <p:spPr>
          <a:xfrm>
            <a:off x="868680" y="3017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anim_2_c"/>
          <p:cNvSpPr/>
          <p:nvPr/>
        </p:nvSpPr>
        <p:spPr>
          <a:xfrm>
            <a:off x="1417320" y="295344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Collect like terms: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4x – 2 = 22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anim_3_c"/>
          <p:cNvSpPr/>
          <p:nvPr/>
        </p:nvSpPr>
        <p:spPr>
          <a:xfrm>
            <a:off x="868680" y="36302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anim_3_c"/>
          <p:cNvSpPr/>
          <p:nvPr/>
        </p:nvSpPr>
        <p:spPr>
          <a:xfrm>
            <a:off x="868680" y="3630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anim_3_c"/>
          <p:cNvSpPr/>
          <p:nvPr/>
        </p:nvSpPr>
        <p:spPr>
          <a:xfrm>
            <a:off x="1417320" y="3566160"/>
            <a:ext cx="9783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Add 2, then divide by 4:   4x = 24   →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anim_4_c"/>
          <p:cNvSpPr/>
          <p:nvPr/>
        </p:nvSpPr>
        <p:spPr>
          <a:xfrm>
            <a:off x="548640" y="434340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c84f2f"/>
                </a:solidFill>
                <a:latin typeface="Calibri"/>
                <a:ea typeface="Calibri"/>
              </a:rPr>
              <a:t>NOW TRY — simplify first: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anim_4_c"/>
          <p:cNvSpPr/>
          <p:nvPr/>
        </p:nvSpPr>
        <p:spPr>
          <a:xfrm>
            <a:off x="548640" y="470916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anim_4_c"/>
          <p:cNvSpPr/>
          <p:nvPr/>
        </p:nvSpPr>
        <p:spPr>
          <a:xfrm>
            <a:off x="749880" y="49834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anim_4_c"/>
          <p:cNvSpPr/>
          <p:nvPr/>
        </p:nvSpPr>
        <p:spPr>
          <a:xfrm>
            <a:off x="749880" y="4983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anim_4_c"/>
          <p:cNvSpPr/>
          <p:nvPr/>
        </p:nvSpPr>
        <p:spPr>
          <a:xfrm>
            <a:off x="1225440" y="470916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x + 2x – 5x = 12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anim_4_c"/>
          <p:cNvSpPr/>
          <p:nvPr/>
        </p:nvSpPr>
        <p:spPr>
          <a:xfrm>
            <a:off x="4260960" y="470916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anim_4_c"/>
          <p:cNvSpPr/>
          <p:nvPr/>
        </p:nvSpPr>
        <p:spPr>
          <a:xfrm>
            <a:off x="4462200" y="49834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anim_4_c"/>
          <p:cNvSpPr/>
          <p:nvPr/>
        </p:nvSpPr>
        <p:spPr>
          <a:xfrm>
            <a:off x="4462200" y="4983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anim_4_c"/>
          <p:cNvSpPr/>
          <p:nvPr/>
        </p:nvSpPr>
        <p:spPr>
          <a:xfrm>
            <a:off x="4937760" y="470916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4x – x + 4 – 7 = 15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anim_4_c"/>
          <p:cNvSpPr/>
          <p:nvPr/>
        </p:nvSpPr>
        <p:spPr>
          <a:xfrm>
            <a:off x="7973640" y="4709160"/>
            <a:ext cx="352008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anim_4_c"/>
          <p:cNvSpPr/>
          <p:nvPr/>
        </p:nvSpPr>
        <p:spPr>
          <a:xfrm>
            <a:off x="8174880" y="49834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anim_4_c"/>
          <p:cNvSpPr/>
          <p:nvPr/>
        </p:nvSpPr>
        <p:spPr>
          <a:xfrm>
            <a:off x="8174880" y="49834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anim_4_c"/>
          <p:cNvSpPr/>
          <p:nvPr/>
        </p:nvSpPr>
        <p:spPr>
          <a:xfrm>
            <a:off x="8650080" y="4709160"/>
            <a:ext cx="2742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5x – 3 – 8x + 1 = –26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40" dur="indefinite" restart="never" nodeType="tmRoot">
          <p:childTnLst>
            <p:seq>
              <p:cTn id="541" dur="indefinite" nodeType="mainSeq">
                <p:childTnLst>
                  <p:par>
                    <p:cTn id="542" fill="hold">
                      <p:stCondLst>
                        <p:cond delay="0"/>
                      </p:stCondLst>
                      <p:childTnLst>
                        <p:par>
                          <p:cTn id="543" fill="hold">
                            <p:stCondLst>
                              <p:cond delay="0"/>
                            </p:stCondLst>
                            <p:childTnLst>
                              <p:par>
                                <p:cTn id="54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6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9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0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6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7" fill="hold">
                      <p:stCondLst>
                        <p:cond delay="indefinite"/>
                      </p:stCondLst>
                      <p:childTnLst>
                        <p:par>
                          <p:cTn id="568" fill="hold">
                            <p:stCondLst>
                              <p:cond delay="0"/>
                            </p:stCondLst>
                            <p:childTnLst>
                              <p:par>
                                <p:cTn id="5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2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9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5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8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BRACKETS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Equations with Brackets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expand the bracket first, then solve the two-step equation.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anim_1_a"/>
          <p:cNvSpPr/>
          <p:nvPr/>
        </p:nvSpPr>
        <p:spPr>
          <a:xfrm>
            <a:off x="548640" y="2377440"/>
            <a:ext cx="1109124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anim_1_a"/>
          <p:cNvSpPr/>
          <p:nvPr/>
        </p:nvSpPr>
        <p:spPr>
          <a:xfrm>
            <a:off x="548640" y="237744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Solve   4(2x + 3) = 42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anim_2_c"/>
          <p:cNvSpPr/>
          <p:nvPr/>
        </p:nvSpPr>
        <p:spPr>
          <a:xfrm>
            <a:off x="548640" y="347472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anim_2_c"/>
          <p:cNvSpPr/>
          <p:nvPr/>
        </p:nvSpPr>
        <p:spPr>
          <a:xfrm>
            <a:off x="868680" y="3721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anim_2_c"/>
          <p:cNvSpPr/>
          <p:nvPr/>
        </p:nvSpPr>
        <p:spPr>
          <a:xfrm>
            <a:off x="868680" y="3721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anim_2_c"/>
          <p:cNvSpPr/>
          <p:nvPr/>
        </p:nvSpPr>
        <p:spPr>
          <a:xfrm>
            <a:off x="1417320" y="365760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Expand the bracket: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8x + 12 = 42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anim_3_c"/>
          <p:cNvSpPr/>
          <p:nvPr/>
        </p:nvSpPr>
        <p:spPr>
          <a:xfrm>
            <a:off x="868680" y="43617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anim_3_c"/>
          <p:cNvSpPr/>
          <p:nvPr/>
        </p:nvSpPr>
        <p:spPr>
          <a:xfrm>
            <a:off x="868680" y="43617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anim_3_c"/>
          <p:cNvSpPr/>
          <p:nvPr/>
        </p:nvSpPr>
        <p:spPr>
          <a:xfrm>
            <a:off x="1417320" y="429768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Subtract 12 from both sides: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8x = 30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anim_4_c"/>
          <p:cNvSpPr/>
          <p:nvPr/>
        </p:nvSpPr>
        <p:spPr>
          <a:xfrm>
            <a:off x="868680" y="50018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anim_4_c"/>
          <p:cNvSpPr/>
          <p:nvPr/>
        </p:nvSpPr>
        <p:spPr>
          <a:xfrm>
            <a:off x="868680" y="50018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anim_4_c"/>
          <p:cNvSpPr/>
          <p:nvPr/>
        </p:nvSpPr>
        <p:spPr>
          <a:xfrm>
            <a:off x="1417320" y="49377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Divide both sides by 8: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3.75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anim_4_c"/>
          <p:cNvSpPr/>
          <p:nvPr/>
        </p:nvSpPr>
        <p:spPr>
          <a:xfrm>
            <a:off x="868680" y="5532120"/>
            <a:ext cx="3931560" cy="411120"/>
          </a:xfrm>
          <a:prstGeom prst="roundRect">
            <a:avLst>
              <a:gd name="adj" fmla="val 26667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anim_4_c"/>
          <p:cNvSpPr/>
          <p:nvPr/>
        </p:nvSpPr>
        <p:spPr>
          <a:xfrm>
            <a:off x="1051560" y="5532120"/>
            <a:ext cx="3565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mbria"/>
                <a:ea typeface="Cambria"/>
              </a:rPr>
              <a:t>x = 3.75  (or 15/4)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19" dur="indefinite" restart="never" nodeType="tmRoot">
          <p:childTnLst>
            <p:seq>
              <p:cTn id="620" dur="indefinite" nodeType="mainSeq">
                <p:childTnLst>
                  <p:par>
                    <p:cTn id="621" fill="hold">
                      <p:stCondLst>
                        <p:cond delay="0"/>
                      </p:stCondLst>
                      <p:childTnLst>
                        <p:par>
                          <p:cTn id="622" fill="hold">
                            <p:stCondLst>
                              <p:cond delay="0"/>
                            </p:stCondLst>
                            <p:childTnLst>
                              <p:par>
                                <p:cTn id="62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28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1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4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5" fill="hold">
                      <p:stCondLst>
                        <p:cond delay="indefinite"/>
                      </p:stCondLst>
                      <p:childTnLst>
                        <p:par>
                          <p:cTn id="636" fill="hold">
                            <p:stCondLst>
                              <p:cond delay="0"/>
                            </p:stCondLst>
                            <p:childTnLst>
                              <p:par>
                                <p:cTn id="6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9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2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5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8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9" fill="hold">
                      <p:stCondLst>
                        <p:cond delay="indefinite"/>
                      </p:stCondLst>
                      <p:childTnLst>
                        <p:par>
                          <p:cTn id="650" fill="hold">
                            <p:stCondLst>
                              <p:cond delay="0"/>
                            </p:stCondLst>
                            <p:childTnLst>
                              <p:par>
                                <p:cTn id="6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3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59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0" fill="hold">
                      <p:stCondLst>
                        <p:cond delay="indefinite"/>
                      </p:stCondLst>
                      <p:childTnLst>
                        <p:par>
                          <p:cTn id="661" fill="hold">
                            <p:stCondLst>
                              <p:cond delay="0"/>
                            </p:stCondLst>
                            <p:childTnLst>
                              <p:par>
                                <p:cTn id="6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BOTH SIDES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Unknowns on Both Sides — “the river”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move the variable to one side — subtract the smaller x-term from both sides.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anim_1_a"/>
          <p:cNvSpPr/>
          <p:nvPr/>
        </p:nvSpPr>
        <p:spPr>
          <a:xfrm>
            <a:off x="548640" y="2377440"/>
            <a:ext cx="1109124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anim_1_a"/>
          <p:cNvSpPr/>
          <p:nvPr/>
        </p:nvSpPr>
        <p:spPr>
          <a:xfrm>
            <a:off x="548640" y="2377440"/>
            <a:ext cx="1109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Solve   3x + 2 = 4x – 1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anim_2_c"/>
          <p:cNvSpPr/>
          <p:nvPr/>
        </p:nvSpPr>
        <p:spPr>
          <a:xfrm>
            <a:off x="548640" y="3474720"/>
            <a:ext cx="11091240" cy="2468520"/>
          </a:xfrm>
          <a:prstGeom prst="roundRect">
            <a:avLst>
              <a:gd name="adj" fmla="val 370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anim_2_c"/>
          <p:cNvSpPr/>
          <p:nvPr/>
        </p:nvSpPr>
        <p:spPr>
          <a:xfrm>
            <a:off x="868680" y="3749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anim_2_c"/>
          <p:cNvSpPr/>
          <p:nvPr/>
        </p:nvSpPr>
        <p:spPr>
          <a:xfrm>
            <a:off x="868680" y="3749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anim_2_c"/>
          <p:cNvSpPr/>
          <p:nvPr/>
        </p:nvSpPr>
        <p:spPr>
          <a:xfrm>
            <a:off x="1417320" y="368496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Subtract 3x from both sides: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2 = x – 1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anim_3_c"/>
          <p:cNvSpPr/>
          <p:nvPr/>
        </p:nvSpPr>
        <p:spPr>
          <a:xfrm>
            <a:off x="868680" y="44532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anim_3_c"/>
          <p:cNvSpPr/>
          <p:nvPr/>
        </p:nvSpPr>
        <p:spPr>
          <a:xfrm>
            <a:off x="868680" y="44532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anim_3_c"/>
          <p:cNvSpPr/>
          <p:nvPr/>
        </p:nvSpPr>
        <p:spPr>
          <a:xfrm>
            <a:off x="1417320" y="438912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Add 1 to both sides: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 = 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anim_4_c"/>
          <p:cNvSpPr/>
          <p:nvPr/>
        </p:nvSpPr>
        <p:spPr>
          <a:xfrm>
            <a:off x="868680" y="5139000"/>
            <a:ext cx="3108600" cy="566640"/>
          </a:xfrm>
          <a:prstGeom prst="roundRect">
            <a:avLst>
              <a:gd name="adj" fmla="val 19355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anim_4_c"/>
          <p:cNvSpPr/>
          <p:nvPr/>
        </p:nvSpPr>
        <p:spPr>
          <a:xfrm>
            <a:off x="1051560" y="5139000"/>
            <a:ext cx="27428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e0ac2b"/>
                </a:solidFill>
                <a:latin typeface="Cambria"/>
                <a:ea typeface="Cambria"/>
              </a:rPr>
              <a:t>x = 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anim_4_c"/>
          <p:cNvSpPr/>
          <p:nvPr/>
        </p:nvSpPr>
        <p:spPr>
          <a:xfrm>
            <a:off x="4297680" y="5139000"/>
            <a:ext cx="6400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a7269"/>
                </a:solidFill>
                <a:latin typeface="Cambria"/>
                <a:ea typeface="Cambria"/>
              </a:rPr>
              <a:t>Check:  3(3)+2 = 11   and   4(3)–1 = 11  ✓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77" dur="indefinite" restart="never" nodeType="tmRoot">
          <p:childTnLst>
            <p:seq>
              <p:cTn id="678" dur="indefinite" nodeType="mainSeq">
                <p:childTnLst>
                  <p:par>
                    <p:cTn id="679" fill="hold">
                      <p:stCondLst>
                        <p:cond delay="0"/>
                      </p:stCondLst>
                      <p:childTnLst>
                        <p:par>
                          <p:cTn id="680" fill="hold">
                            <p:stCondLst>
                              <p:cond delay="0"/>
                            </p:stCondLst>
                            <p:childTnLst>
                              <p:par>
                                <p:cTn id="681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89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2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indefinite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97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0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06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7" fill="hold">
                      <p:stCondLst>
                        <p:cond delay="indefinite"/>
                      </p:stCondLst>
                      <p:childTnLst>
                        <p:par>
                          <p:cTn id="708" fill="hold">
                            <p:stCondLst>
                              <p:cond delay="0"/>
                            </p:stCondLst>
                            <p:childTnLst>
                              <p:par>
                                <p:cTn id="7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1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4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7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indefinite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2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5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28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BOTH SIDES · BRACKETS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Both Sides with Brackets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expand both brackets first, then collect the variable on one side.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anim_1_a"/>
          <p:cNvSpPr/>
          <p:nvPr/>
        </p:nvSpPr>
        <p:spPr>
          <a:xfrm>
            <a:off x="548640" y="2377440"/>
            <a:ext cx="11091240" cy="822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anim_1_a"/>
          <p:cNvSpPr/>
          <p:nvPr/>
        </p:nvSpPr>
        <p:spPr>
          <a:xfrm>
            <a:off x="548640" y="2377440"/>
            <a:ext cx="11091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rgbClr val="16261f"/>
                </a:solidFill>
                <a:latin typeface="Cambria"/>
                <a:ea typeface="Cambria"/>
              </a:rPr>
              <a:t>Solve   3(x + 5) = 9(x – 1)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anim_2_c"/>
          <p:cNvSpPr/>
          <p:nvPr/>
        </p:nvSpPr>
        <p:spPr>
          <a:xfrm>
            <a:off x="548640" y="3337560"/>
            <a:ext cx="11091240" cy="260568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anim_2_c"/>
          <p:cNvSpPr/>
          <p:nvPr/>
        </p:nvSpPr>
        <p:spPr>
          <a:xfrm>
            <a:off x="868680" y="3584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anim_2_c"/>
          <p:cNvSpPr/>
          <p:nvPr/>
        </p:nvSpPr>
        <p:spPr>
          <a:xfrm>
            <a:off x="868680" y="3584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anim_2_c"/>
          <p:cNvSpPr/>
          <p:nvPr/>
        </p:nvSpPr>
        <p:spPr>
          <a:xfrm>
            <a:off x="1417320" y="352044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Expand both sides: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3x + 15 = 9x – 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anim_3_c"/>
          <p:cNvSpPr/>
          <p:nvPr/>
        </p:nvSpPr>
        <p:spPr>
          <a:xfrm>
            <a:off x="868680" y="42246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anim_3_c"/>
          <p:cNvSpPr/>
          <p:nvPr/>
        </p:nvSpPr>
        <p:spPr>
          <a:xfrm>
            <a:off x="868680" y="4224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anim_3_c"/>
          <p:cNvSpPr/>
          <p:nvPr/>
        </p:nvSpPr>
        <p:spPr>
          <a:xfrm>
            <a:off x="1417320" y="416052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Subtract 3x: 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15 = 6x – 9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anim_4_c"/>
          <p:cNvSpPr/>
          <p:nvPr/>
        </p:nvSpPr>
        <p:spPr>
          <a:xfrm>
            <a:off x="868680" y="4864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anim_4_c"/>
          <p:cNvSpPr/>
          <p:nvPr/>
        </p:nvSpPr>
        <p:spPr>
          <a:xfrm>
            <a:off x="868680" y="486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anim_4_c"/>
          <p:cNvSpPr/>
          <p:nvPr/>
        </p:nvSpPr>
        <p:spPr>
          <a:xfrm>
            <a:off x="1417320" y="480060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Add 9, then divide by 6:    24 = 6x   →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anim_5_c"/>
          <p:cNvSpPr/>
          <p:nvPr/>
        </p:nvSpPr>
        <p:spPr>
          <a:xfrm>
            <a:off x="868680" y="5440680"/>
            <a:ext cx="3108600" cy="45684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anim_5_c"/>
          <p:cNvSpPr/>
          <p:nvPr/>
        </p:nvSpPr>
        <p:spPr>
          <a:xfrm>
            <a:off x="1051560" y="544068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29" dur="indefinite" restart="never" nodeType="tmRoot">
          <p:childTnLst>
            <p:seq>
              <p:cTn id="730" dur="indefinite" nodeType="mainSeq">
                <p:childTnLst>
                  <p:par>
                    <p:cTn id="731" fill="hold">
                      <p:stCondLst>
                        <p:cond delay="0"/>
                      </p:stCondLst>
                      <p:childTnLst>
                        <p:par>
                          <p:cTn id="732" fill="hold">
                            <p:stCondLst>
                              <p:cond delay="0"/>
                            </p:stCondLst>
                            <p:childTnLst>
                              <p:par>
                                <p:cTn id="73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5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38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5" fill="hold">
                      <p:stCondLst>
                        <p:cond delay="indefinite"/>
                      </p:stCondLst>
                      <p:childTnLst>
                        <p:par>
                          <p:cTn id="746" fill="hold">
                            <p:stCondLst>
                              <p:cond delay="0"/>
                            </p:stCondLst>
                            <p:childTnLst>
                              <p:par>
                                <p:cTn id="7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9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2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5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9" fill="hold">
                      <p:stCondLst>
                        <p:cond delay="indefinite"/>
                      </p:stCondLst>
                      <p:childTnLst>
                        <p:par>
                          <p:cTn id="760" fill="hold">
                            <p:stCondLst>
                              <p:cond delay="0"/>
                            </p:stCondLst>
                            <p:childTnLst>
                              <p:par>
                                <p:cTn id="7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3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6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9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0" fill="hold">
                      <p:stCondLst>
                        <p:cond delay="indefinite"/>
                      </p:stCondLst>
                      <p:childTnLst>
                        <p:par>
                          <p:cTn id="771" fill="hold">
                            <p:stCondLst>
                              <p:cond delay="0"/>
                            </p:stCondLst>
                            <p:childTnLst>
                              <p:par>
                                <p:cTn id="7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4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77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0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1" fill="hold">
                      <p:stCondLst>
                        <p:cond delay="indefinite"/>
                      </p:stCondLst>
                      <p:childTnLst>
                        <p:par>
                          <p:cTn id="782" fill="hold">
                            <p:stCondLst>
                              <p:cond delay="0"/>
                            </p:stCondLst>
                            <p:childTnLst>
                              <p:par>
                                <p:cTn id="7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8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BOTH SIDES · PRACTICE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Your Turn + Challenge Ladder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anim_1_a"/>
          <p:cNvSpPr/>
          <p:nvPr/>
        </p:nvSpPr>
        <p:spPr>
          <a:xfrm>
            <a:off x="640080" y="178308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anim_1_a"/>
          <p:cNvSpPr/>
          <p:nvPr/>
        </p:nvSpPr>
        <p:spPr>
          <a:xfrm>
            <a:off x="64008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anim_1_a"/>
          <p:cNvSpPr/>
          <p:nvPr/>
        </p:nvSpPr>
        <p:spPr>
          <a:xfrm>
            <a:off x="1225440" y="1783080"/>
            <a:ext cx="42973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anim_1_a"/>
          <p:cNvSpPr/>
          <p:nvPr/>
        </p:nvSpPr>
        <p:spPr>
          <a:xfrm>
            <a:off x="1426320" y="178308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2x + 2 = x + 9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anim_1_a"/>
          <p:cNvSpPr/>
          <p:nvPr/>
        </p:nvSpPr>
        <p:spPr>
          <a:xfrm>
            <a:off x="640080" y="249624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anim_1_a"/>
          <p:cNvSpPr/>
          <p:nvPr/>
        </p:nvSpPr>
        <p:spPr>
          <a:xfrm>
            <a:off x="640080" y="2496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anim_1_a"/>
          <p:cNvSpPr/>
          <p:nvPr/>
        </p:nvSpPr>
        <p:spPr>
          <a:xfrm>
            <a:off x="1225440" y="2496240"/>
            <a:ext cx="42973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anim_1_a"/>
          <p:cNvSpPr/>
          <p:nvPr/>
        </p:nvSpPr>
        <p:spPr>
          <a:xfrm>
            <a:off x="1426320" y="249624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3x + 1 = x + 5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anim_1_a"/>
          <p:cNvSpPr/>
          <p:nvPr/>
        </p:nvSpPr>
        <p:spPr>
          <a:xfrm>
            <a:off x="640080" y="320940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anim_1_a"/>
          <p:cNvSpPr/>
          <p:nvPr/>
        </p:nvSpPr>
        <p:spPr>
          <a:xfrm>
            <a:off x="640080" y="320940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anim_1_a"/>
          <p:cNvSpPr/>
          <p:nvPr/>
        </p:nvSpPr>
        <p:spPr>
          <a:xfrm>
            <a:off x="1225440" y="3209400"/>
            <a:ext cx="42973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anim_1_a"/>
          <p:cNvSpPr/>
          <p:nvPr/>
        </p:nvSpPr>
        <p:spPr>
          <a:xfrm>
            <a:off x="1426320" y="320940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6x – 8 = 4x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anim_1_a"/>
          <p:cNvSpPr/>
          <p:nvPr/>
        </p:nvSpPr>
        <p:spPr>
          <a:xfrm>
            <a:off x="640080" y="3922920"/>
            <a:ext cx="456840" cy="456840"/>
          </a:xfrm>
          <a:prstGeom prst="roundRect">
            <a:avLst>
              <a:gd name="adj" fmla="val 16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anim_1_a"/>
          <p:cNvSpPr/>
          <p:nvPr/>
        </p:nvSpPr>
        <p:spPr>
          <a:xfrm>
            <a:off x="640080" y="39229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anim_1_a"/>
          <p:cNvSpPr/>
          <p:nvPr/>
        </p:nvSpPr>
        <p:spPr>
          <a:xfrm>
            <a:off x="1225440" y="3922920"/>
            <a:ext cx="4297320" cy="456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anim_1_a"/>
          <p:cNvSpPr/>
          <p:nvPr/>
        </p:nvSpPr>
        <p:spPr>
          <a:xfrm>
            <a:off x="1426320" y="3922920"/>
            <a:ext cx="4023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5x + 1 = x – 11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anim_2_c"/>
          <p:cNvSpPr/>
          <p:nvPr/>
        </p:nvSpPr>
        <p:spPr>
          <a:xfrm>
            <a:off x="5852160" y="16916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148" strike="noStrike">
                <a:solidFill>
                  <a:srgbClr val="c84f2f"/>
                </a:solidFill>
                <a:latin typeface="Calibri"/>
                <a:ea typeface="Calibri"/>
              </a:rPr>
              <a:t>CHALLENGE LADDER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anim_2_c"/>
          <p:cNvSpPr/>
          <p:nvPr/>
        </p:nvSpPr>
        <p:spPr>
          <a:xfrm>
            <a:off x="5852160" y="2057400"/>
            <a:ext cx="5760360" cy="1096920"/>
          </a:xfrm>
          <a:prstGeom prst="roundRect">
            <a:avLst>
              <a:gd name="adj" fmla="val 8333"/>
            </a:avLst>
          </a:prstGeom>
          <a:solidFill>
            <a:srgbClr val="eef1e8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anim_2_c"/>
          <p:cNvSpPr/>
          <p:nvPr/>
        </p:nvSpPr>
        <p:spPr>
          <a:xfrm>
            <a:off x="6089760" y="2277000"/>
            <a:ext cx="1279800" cy="36540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anim_2_c"/>
          <p:cNvSpPr/>
          <p:nvPr/>
        </p:nvSpPr>
        <p:spPr>
          <a:xfrm>
            <a:off x="6089760" y="227700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MILD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anim_2_c"/>
          <p:cNvSpPr/>
          <p:nvPr/>
        </p:nvSpPr>
        <p:spPr>
          <a:xfrm>
            <a:off x="6126480" y="266076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6a7269"/>
                </a:solidFill>
                <a:latin typeface="Cambria"/>
                <a:ea typeface="Cambria"/>
              </a:rPr>
              <a:t>Solve: 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2x + 3 = x + 7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anim_3_c"/>
          <p:cNvSpPr/>
          <p:nvPr/>
        </p:nvSpPr>
        <p:spPr>
          <a:xfrm>
            <a:off x="5852160" y="3337560"/>
            <a:ext cx="5760360" cy="1096920"/>
          </a:xfrm>
          <a:prstGeom prst="roundRect">
            <a:avLst>
              <a:gd name="adj" fmla="val 8333"/>
            </a:avLst>
          </a:prstGeom>
          <a:solidFill>
            <a:srgbClr val="fbf3dd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anim_3_c"/>
          <p:cNvSpPr/>
          <p:nvPr/>
        </p:nvSpPr>
        <p:spPr>
          <a:xfrm>
            <a:off x="6089760" y="3557160"/>
            <a:ext cx="1279800" cy="36540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anim_3_c"/>
          <p:cNvSpPr/>
          <p:nvPr/>
        </p:nvSpPr>
        <p:spPr>
          <a:xfrm>
            <a:off x="6089760" y="355716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MEDIUM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anim_3_c"/>
          <p:cNvSpPr/>
          <p:nvPr/>
        </p:nvSpPr>
        <p:spPr>
          <a:xfrm>
            <a:off x="6126480" y="394092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6a7269"/>
                </a:solidFill>
                <a:latin typeface="Cambria"/>
                <a:ea typeface="Cambria"/>
              </a:rPr>
              <a:t>Solve: 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2(x + 1) = x + 9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anim_4_c"/>
          <p:cNvSpPr/>
          <p:nvPr/>
        </p:nvSpPr>
        <p:spPr>
          <a:xfrm>
            <a:off x="5852160" y="4617720"/>
            <a:ext cx="5760360" cy="1096920"/>
          </a:xfrm>
          <a:prstGeom prst="roundRect">
            <a:avLst>
              <a:gd name="adj" fmla="val 8333"/>
            </a:avLst>
          </a:prstGeom>
          <a:solidFill>
            <a:srgbClr val="fbeae3"/>
          </a:solidFill>
          <a:ln w="0">
            <a:noFill/>
          </a:ln>
          <a:effectLst>
            <a:outerShdw algn="bl" blurRad="763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anim_4_c"/>
          <p:cNvSpPr/>
          <p:nvPr/>
        </p:nvSpPr>
        <p:spPr>
          <a:xfrm>
            <a:off x="6089760" y="4837320"/>
            <a:ext cx="1279800" cy="365400"/>
          </a:xfrm>
          <a:prstGeom prst="roundRect">
            <a:avLst>
              <a:gd name="adj" fmla="val 50000"/>
            </a:avLst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anim_4_c"/>
          <p:cNvSpPr/>
          <p:nvPr/>
        </p:nvSpPr>
        <p:spPr>
          <a:xfrm>
            <a:off x="6089760" y="4837320"/>
            <a:ext cx="1279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7" strike="noStrike">
                <a:solidFill>
                  <a:srgbClr val="ffffff"/>
                </a:solidFill>
                <a:latin typeface="Calibri"/>
                <a:ea typeface="Calibri"/>
              </a:rPr>
              <a:t>HOT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anim_4_c"/>
          <p:cNvSpPr/>
          <p:nvPr/>
        </p:nvSpPr>
        <p:spPr>
          <a:xfrm>
            <a:off x="6126480" y="5221080"/>
            <a:ext cx="5303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pc="-1" strike="noStrike">
                <a:solidFill>
                  <a:srgbClr val="6a7269"/>
                </a:solidFill>
                <a:latin typeface="Cambria"/>
                <a:ea typeface="Cambria"/>
              </a:rPr>
              <a:t>Solve:  </a:t>
            </a:r>
            <a:r>
              <a:rPr b="1" lang="en-US" sz="1700" spc="-1" strike="noStrike">
                <a:solidFill>
                  <a:srgbClr val="16261f"/>
                </a:solidFill>
                <a:latin typeface="Cambria"/>
                <a:ea typeface="Cambria"/>
              </a:rPr>
              <a:t>3(x – 2) + 4 = 2(x + 1) + 5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89" dur="indefinite" restart="never" nodeType="tmRoot">
          <p:childTnLst>
            <p:seq>
              <p:cTn id="790" dur="indefinite" nodeType="mainSeq">
                <p:childTnLst>
                  <p:par>
                    <p:cTn id="791" fill="hold">
                      <p:stCondLst>
                        <p:cond delay="0"/>
                      </p:stCondLst>
                      <p:childTnLst>
                        <p:par>
                          <p:cTn id="792" fill="hold">
                            <p:stCondLst>
                              <p:cond delay="0"/>
                            </p:stCondLst>
                            <p:childTnLst>
                              <p:par>
                                <p:cTn id="79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5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8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1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07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0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3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6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19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2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28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1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4"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37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0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1" fill="hold">
                      <p:stCondLst>
                        <p:cond delay="indefinite"/>
                      </p:stCondLst>
                      <p:childTnLst>
                        <p:par>
                          <p:cTn id="842" fill="hold">
                            <p:stCondLst>
                              <p:cond delay="0"/>
                            </p:stCondLst>
                            <p:childTnLst>
                              <p:par>
                                <p:cTn id="8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5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8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1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4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57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indefinite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2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5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8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1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2" fill="hold">
                      <p:stCondLst>
                        <p:cond delay="indefinite"/>
                      </p:stCondLst>
                      <p:childTnLst>
                        <p:par>
                          <p:cTn id="873" fill="hold">
                            <p:stCondLst>
                              <p:cond delay="0"/>
                            </p:stCondLst>
                            <p:childTnLst>
                              <p:par>
                                <p:cTn id="8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6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79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2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85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FRACTIONS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Equations with Fractions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Strategy: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multiply both sides to clear the fraction, then solve.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anim_2_c"/>
          <p:cNvSpPr/>
          <p:nvPr/>
        </p:nvSpPr>
        <p:spPr>
          <a:xfrm>
            <a:off x="548640" y="2377440"/>
            <a:ext cx="5440320" cy="3565800"/>
          </a:xfrm>
          <a:prstGeom prst="roundRect">
            <a:avLst>
              <a:gd name="adj" fmla="val 2564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anim_2_c"/>
          <p:cNvSpPr/>
          <p:nvPr/>
        </p:nvSpPr>
        <p:spPr>
          <a:xfrm>
            <a:off x="868680" y="2541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Fraction coefficient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anim_2_c"/>
          <p:cNvSpPr/>
          <p:nvPr/>
        </p:nvSpPr>
        <p:spPr>
          <a:xfrm>
            <a:off x="868680" y="2880360"/>
            <a:ext cx="1188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Solve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anim_2_c"/>
          <p:cNvSpPr/>
          <p:nvPr/>
        </p:nvSpPr>
        <p:spPr>
          <a:xfrm>
            <a:off x="2148840" y="2715840"/>
            <a:ext cx="456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anim_2_c"/>
          <p:cNvSpPr/>
          <p:nvPr/>
        </p:nvSpPr>
        <p:spPr>
          <a:xfrm>
            <a:off x="2185200" y="3126960"/>
            <a:ext cx="384120" cy="360"/>
          </a:xfrm>
          <a:prstGeom prst="line">
            <a:avLst/>
          </a:prstGeom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anim_2_c"/>
          <p:cNvSpPr/>
          <p:nvPr/>
        </p:nvSpPr>
        <p:spPr>
          <a:xfrm>
            <a:off x="2148840" y="3163680"/>
            <a:ext cx="456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3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anim_2_c"/>
          <p:cNvSpPr/>
          <p:nvPr/>
        </p:nvSpPr>
        <p:spPr>
          <a:xfrm>
            <a:off x="2788920" y="28987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6261f"/>
                </a:solidFill>
                <a:latin typeface="Cambria"/>
                <a:ea typeface="Cambria"/>
              </a:rPr>
              <a:t>= 8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anim_2_c"/>
          <p:cNvSpPr/>
          <p:nvPr/>
        </p:nvSpPr>
        <p:spPr>
          <a:xfrm>
            <a:off x="868680" y="35388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anim_2_c"/>
          <p:cNvSpPr/>
          <p:nvPr/>
        </p:nvSpPr>
        <p:spPr>
          <a:xfrm>
            <a:off x="868680" y="3538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anim_2_c"/>
          <p:cNvSpPr/>
          <p:nvPr/>
        </p:nvSpPr>
        <p:spPr>
          <a:xfrm>
            <a:off x="1417320" y="347472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Multiply both sides by 3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anim_2_c"/>
          <p:cNvSpPr/>
          <p:nvPr/>
        </p:nvSpPr>
        <p:spPr>
          <a:xfrm>
            <a:off x="868680" y="4160520"/>
            <a:ext cx="2925720" cy="566640"/>
          </a:xfrm>
          <a:prstGeom prst="roundRect">
            <a:avLst>
              <a:gd name="adj" fmla="val 19355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anim_2_c"/>
          <p:cNvSpPr/>
          <p:nvPr/>
        </p:nvSpPr>
        <p:spPr>
          <a:xfrm>
            <a:off x="1051560" y="4160520"/>
            <a:ext cx="2559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24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anim_3_c"/>
          <p:cNvSpPr/>
          <p:nvPr/>
        </p:nvSpPr>
        <p:spPr>
          <a:xfrm>
            <a:off x="6199560" y="2377440"/>
            <a:ext cx="5440320" cy="3565800"/>
          </a:xfrm>
          <a:prstGeom prst="roundRect">
            <a:avLst>
              <a:gd name="adj" fmla="val 2564"/>
            </a:avLst>
          </a:prstGeom>
          <a:solidFill>
            <a:srgbClr val="fbf3dd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anim_3_c"/>
          <p:cNvSpPr/>
          <p:nvPr/>
        </p:nvSpPr>
        <p:spPr>
          <a:xfrm>
            <a:off x="6519600" y="2541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c84f2f"/>
                </a:solidFill>
                <a:latin typeface="Calibri"/>
                <a:ea typeface="Calibri"/>
              </a:rPr>
              <a:t>Fraction equation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anim_3_c"/>
          <p:cNvSpPr/>
          <p:nvPr/>
        </p:nvSpPr>
        <p:spPr>
          <a:xfrm>
            <a:off x="6519600" y="2880360"/>
            <a:ext cx="1142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1f"/>
                </a:solidFill>
                <a:latin typeface="Cambria"/>
                <a:ea typeface="Cambria"/>
              </a:rPr>
              <a:t>Solve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anim_3_c"/>
          <p:cNvSpPr/>
          <p:nvPr/>
        </p:nvSpPr>
        <p:spPr>
          <a:xfrm>
            <a:off x="7726680" y="271584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6261f"/>
                </a:solidFill>
                <a:latin typeface="Cambria"/>
                <a:ea typeface="Cambria"/>
              </a:rPr>
              <a:t>2x + 3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anim_3_c"/>
          <p:cNvSpPr/>
          <p:nvPr/>
        </p:nvSpPr>
        <p:spPr>
          <a:xfrm>
            <a:off x="7763040" y="3126960"/>
            <a:ext cx="1024200" cy="360"/>
          </a:xfrm>
          <a:prstGeom prst="line">
            <a:avLst/>
          </a:prstGeom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anim_3_c"/>
          <p:cNvSpPr/>
          <p:nvPr/>
        </p:nvSpPr>
        <p:spPr>
          <a:xfrm>
            <a:off x="7726680" y="3163680"/>
            <a:ext cx="1096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1f"/>
                </a:solidFill>
                <a:latin typeface="Cambria"/>
                <a:ea typeface="Cambria"/>
              </a:rPr>
              <a:t>4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anim_3_c"/>
          <p:cNvSpPr/>
          <p:nvPr/>
        </p:nvSpPr>
        <p:spPr>
          <a:xfrm>
            <a:off x="8961120" y="2898720"/>
            <a:ext cx="1828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6261f"/>
                </a:solidFill>
                <a:latin typeface="Cambria"/>
                <a:ea typeface="Cambria"/>
              </a:rPr>
              <a:t>= 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anim_3_c"/>
          <p:cNvSpPr/>
          <p:nvPr/>
        </p:nvSpPr>
        <p:spPr>
          <a:xfrm>
            <a:off x="6519600" y="35388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anim_3_c"/>
          <p:cNvSpPr/>
          <p:nvPr/>
        </p:nvSpPr>
        <p:spPr>
          <a:xfrm>
            <a:off x="6519600" y="35388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anim_3_c"/>
          <p:cNvSpPr/>
          <p:nvPr/>
        </p:nvSpPr>
        <p:spPr>
          <a:xfrm>
            <a:off x="7068240" y="347472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4332d"/>
                </a:solidFill>
                <a:latin typeface="Cambria"/>
                <a:ea typeface="Cambria"/>
              </a:rPr>
              <a:t>Multiply by 4:   2x + 3 = 20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anim_3_c"/>
          <p:cNvSpPr/>
          <p:nvPr/>
        </p:nvSpPr>
        <p:spPr>
          <a:xfrm>
            <a:off x="6519600" y="413316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anim_3_c"/>
          <p:cNvSpPr/>
          <p:nvPr/>
        </p:nvSpPr>
        <p:spPr>
          <a:xfrm>
            <a:off x="6519600" y="413316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anim_3_c"/>
          <p:cNvSpPr/>
          <p:nvPr/>
        </p:nvSpPr>
        <p:spPr>
          <a:xfrm>
            <a:off x="7068240" y="4069080"/>
            <a:ext cx="4205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24332d"/>
                </a:solidFill>
                <a:latin typeface="Calibri"/>
                <a:ea typeface="Calibri"/>
              </a:rPr>
              <a:t>Subtract 3, divide by 2</a:t>
            </a:r>
            <a:endParaRPr b="0" lang="en-US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anim_3_c"/>
          <p:cNvSpPr/>
          <p:nvPr/>
        </p:nvSpPr>
        <p:spPr>
          <a:xfrm>
            <a:off x="6519600" y="4754880"/>
            <a:ext cx="3657240" cy="566640"/>
          </a:xfrm>
          <a:prstGeom prst="roundRect">
            <a:avLst>
              <a:gd name="adj" fmla="val 19355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anim_3_c"/>
          <p:cNvSpPr/>
          <p:nvPr/>
        </p:nvSpPr>
        <p:spPr>
          <a:xfrm>
            <a:off x="6702480" y="4754880"/>
            <a:ext cx="32914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0ac2b"/>
                </a:solidFill>
                <a:latin typeface="Cambria"/>
                <a:ea typeface="Cambria"/>
              </a:rPr>
              <a:t>x = 8.5  (or 17/2)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86" dur="indefinite" restart="never" nodeType="tmRoot">
          <p:childTnLst>
            <p:seq>
              <p:cTn id="887" dur="indefinite" nodeType="mainSeq">
                <p:childTnLst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2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5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6" fill="hold">
                      <p:stCondLst>
                        <p:cond delay="indefinite"/>
                      </p:stCondLst>
                      <p:childTnLst>
                        <p:par>
                          <p:cTn id="897" fill="hold">
                            <p:stCondLst>
                              <p:cond delay="0"/>
                            </p:stCondLst>
                            <p:childTnLst>
                              <p:par>
                                <p:cTn id="8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3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6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09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2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5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8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1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4"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27"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0"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3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4" fill="hold">
                      <p:stCondLst>
                        <p:cond delay="indefinite"/>
                      </p:stCondLst>
                      <p:childTnLst>
                        <p:par>
                          <p:cTn id="935" fill="hold">
                            <p:stCondLst>
                              <p:cond delay="0"/>
                            </p:stCondLst>
                            <p:childTnLst>
                              <p:par>
                                <p:cTn id="9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38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1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4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7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0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6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59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2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5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8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1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0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NON-LINEAR → LINEAR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Equations that Reduce to Linear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anim_1_a"/>
          <p:cNvSpPr/>
          <p:nvPr/>
        </p:nvSpPr>
        <p:spPr>
          <a:xfrm>
            <a:off x="548640" y="1463040"/>
            <a:ext cx="11091240" cy="731160"/>
          </a:xfrm>
          <a:prstGeom prst="roundRect">
            <a:avLst>
              <a:gd name="adj" fmla="val 125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anim_1_a"/>
          <p:cNvSpPr/>
          <p:nvPr/>
        </p:nvSpPr>
        <p:spPr>
          <a:xfrm>
            <a:off x="868680" y="1463040"/>
            <a:ext cx="104238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e0ac2b"/>
                </a:solidFill>
                <a:latin typeface="Calibri"/>
                <a:ea typeface="Calibri"/>
              </a:rPr>
              <a:t>Watch:  </a:t>
            </a:r>
            <a:r>
              <a:rPr b="0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expand both sides — the x² terms cancel, leaving a linear equation.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anim_1_a"/>
          <p:cNvSpPr/>
          <p:nvPr/>
        </p:nvSpPr>
        <p:spPr>
          <a:xfrm>
            <a:off x="548640" y="2377440"/>
            <a:ext cx="11091240" cy="868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01520" dir="5400000" dist="255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anim_1_a"/>
          <p:cNvSpPr/>
          <p:nvPr/>
        </p:nvSpPr>
        <p:spPr>
          <a:xfrm>
            <a:off x="548640" y="2377440"/>
            <a:ext cx="11091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16261f"/>
                </a:solidFill>
                <a:latin typeface="Cambria"/>
                <a:ea typeface="Cambria"/>
              </a:rPr>
              <a:t>Solve   (2x + 5)</a:t>
            </a:r>
            <a:r>
              <a:rPr b="1" lang="en-US" sz="2400" spc="-1" strike="noStrike" baseline="30000">
                <a:solidFill>
                  <a:srgbClr val="16261f"/>
                </a:solidFill>
                <a:latin typeface="Cambria"/>
                <a:ea typeface="Cambria"/>
              </a:rPr>
              <a:t>2</a:t>
            </a:r>
            <a:r>
              <a:rPr b="1" lang="en-US" sz="2400" spc="-1" strike="noStrike">
                <a:solidFill>
                  <a:srgbClr val="16261f"/>
                </a:solidFill>
                <a:latin typeface="Cambria"/>
                <a:ea typeface="Cambria"/>
              </a:rPr>
              <a:t> = (2x + 3)(2x – 1)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anim_2_c"/>
          <p:cNvSpPr/>
          <p:nvPr/>
        </p:nvSpPr>
        <p:spPr>
          <a:xfrm>
            <a:off x="548640" y="3337560"/>
            <a:ext cx="11091240" cy="2605680"/>
          </a:xfrm>
          <a:prstGeom prst="roundRect">
            <a:avLst>
              <a:gd name="adj" fmla="val 3509"/>
            </a:avLst>
          </a:prstGeom>
          <a:solidFill>
            <a:srgbClr val="eef1e8"/>
          </a:solidFill>
          <a:ln w="0">
            <a:noFill/>
          </a:ln>
          <a:effectLst>
            <a:outerShdw algn="bl" blurRad="1015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anim_2_c"/>
          <p:cNvSpPr/>
          <p:nvPr/>
        </p:nvSpPr>
        <p:spPr>
          <a:xfrm>
            <a:off x="868680" y="358452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anim_2_c"/>
          <p:cNvSpPr/>
          <p:nvPr/>
        </p:nvSpPr>
        <p:spPr>
          <a:xfrm>
            <a:off x="868680" y="35845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anim_2_c"/>
          <p:cNvSpPr/>
          <p:nvPr/>
        </p:nvSpPr>
        <p:spPr>
          <a:xfrm>
            <a:off x="1417320" y="352044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Expand both sides:   4x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+ 20x + 25 = 4x</a:t>
            </a:r>
            <a:r>
              <a:rPr b="1" lang="en-US" sz="155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550" spc="-1" strike="noStrike">
                <a:solidFill>
                  <a:srgbClr val="24332d"/>
                </a:solidFill>
                <a:latin typeface="Cambria"/>
                <a:ea typeface="Cambria"/>
              </a:rPr>
              <a:t> + 4x – 3</a:t>
            </a:r>
            <a:endParaRPr b="0" lang="en-US" sz="1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anim_3_c"/>
          <p:cNvSpPr/>
          <p:nvPr/>
        </p:nvSpPr>
        <p:spPr>
          <a:xfrm>
            <a:off x="868680" y="422460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anim_3_c"/>
          <p:cNvSpPr/>
          <p:nvPr/>
        </p:nvSpPr>
        <p:spPr>
          <a:xfrm>
            <a:off x="868680" y="422460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anim_3_c"/>
          <p:cNvSpPr/>
          <p:nvPr/>
        </p:nvSpPr>
        <p:spPr>
          <a:xfrm>
            <a:off x="1417320" y="416052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The 4x</a:t>
            </a:r>
            <a:r>
              <a:rPr b="1" lang="en-US" sz="1600" spc="-1" strike="noStrike" baseline="30000">
                <a:solidFill>
                  <a:srgbClr val="24332d"/>
                </a:solidFill>
                <a:latin typeface="Cambria"/>
                <a:ea typeface="Cambria"/>
              </a:rPr>
              <a:t>2</a:t>
            </a: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 cancels: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20x + 25 = 4x – 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anim_4_c"/>
          <p:cNvSpPr/>
          <p:nvPr/>
        </p:nvSpPr>
        <p:spPr>
          <a:xfrm>
            <a:off x="868680" y="486468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anim_4_c"/>
          <p:cNvSpPr/>
          <p:nvPr/>
        </p:nvSpPr>
        <p:spPr>
          <a:xfrm>
            <a:off x="868680" y="486468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anim_4_c"/>
          <p:cNvSpPr/>
          <p:nvPr/>
        </p:nvSpPr>
        <p:spPr>
          <a:xfrm>
            <a:off x="1417320" y="4800600"/>
            <a:ext cx="9875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4332d"/>
                </a:solidFill>
                <a:latin typeface="Cambria"/>
                <a:ea typeface="Cambria"/>
              </a:rPr>
              <a:t>Solve:   16x = –28   →   </a:t>
            </a:r>
            <a:r>
              <a:rPr b="1" lang="en-US" sz="1600" spc="-1" strike="noStrike">
                <a:solidFill>
                  <a:srgbClr val="c84f2f"/>
                </a:solidFill>
                <a:latin typeface="Cambria"/>
                <a:ea typeface="Cambria"/>
              </a:rPr>
              <a:t>x = –1.75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anim_4_c"/>
          <p:cNvSpPr/>
          <p:nvPr/>
        </p:nvSpPr>
        <p:spPr>
          <a:xfrm>
            <a:off x="868680" y="5440680"/>
            <a:ext cx="4023000" cy="456840"/>
          </a:xfrm>
          <a:prstGeom prst="roundRect">
            <a:avLst>
              <a:gd name="adj" fmla="val 240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anim_4_c"/>
          <p:cNvSpPr/>
          <p:nvPr/>
        </p:nvSpPr>
        <p:spPr>
          <a:xfrm>
            <a:off x="1051560" y="54406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e0ac2b"/>
                </a:solidFill>
                <a:latin typeface="Cambria"/>
                <a:ea typeface="Cambria"/>
              </a:rPr>
              <a:t>x = –1.75  (or –7/4)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81" dur="indefinite" restart="never" nodeType="tmRoot">
          <p:childTnLst>
            <p:seq>
              <p:cTn id="982" dur="indefinite" nodeType="mainSeq">
                <p:childTnLst>
                  <p:par>
                    <p:cTn id="983" fill="hold">
                      <p:stCondLst>
                        <p:cond delay="0"/>
                      </p:stCondLst>
                      <p:childTnLst>
                        <p:par>
                          <p:cTn id="984" fill="hold">
                            <p:stCondLst>
                              <p:cond delay="0"/>
                            </p:stCondLst>
                            <p:childTnLst>
                              <p:par>
                                <p:cTn id="98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7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0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3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6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7" fill="hold">
                      <p:stCondLst>
                        <p:cond delay="indefinite"/>
                      </p:stCondLst>
                      <p:childTnLst>
                        <p:par>
                          <p:cTn id="998" fill="hold">
                            <p:stCondLst>
                              <p:cond delay="0"/>
                            </p:stCondLst>
                            <p:childTnLst>
                              <p:par>
                                <p:cTn id="9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1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07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0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1" fill="hold">
                      <p:stCondLst>
                        <p:cond delay="indefinite"/>
                      </p:stCondLst>
                      <p:childTnLst>
                        <p:par>
                          <p:cTn id="1012" fill="hold">
                            <p:stCondLst>
                              <p:cond delay="0"/>
                            </p:stCondLst>
                            <p:childTnLst>
                              <p:par>
                                <p:cTn id="10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8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1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2" fill="hold">
                      <p:stCondLst>
                        <p:cond delay="indefinite"/>
                      </p:stCondLst>
                      <p:childTnLst>
                        <p:par>
                          <p:cTn id="1023" fill="hold">
                            <p:stCondLst>
                              <p:cond delay="0"/>
                            </p:stCondLst>
                            <p:childTnLst>
                              <p:par>
                                <p:cTn id="10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6"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9"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2"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5"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38"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PAST PAPER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Exam Questions — Solve (show clear working)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anim_1_a"/>
          <p:cNvSpPr/>
          <p:nvPr/>
        </p:nvSpPr>
        <p:spPr>
          <a:xfrm>
            <a:off x="548640" y="1572840"/>
            <a:ext cx="11091240" cy="155412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anim_1_a"/>
          <p:cNvSpPr/>
          <p:nvPr/>
        </p:nvSpPr>
        <p:spPr>
          <a:xfrm>
            <a:off x="822960" y="1783080"/>
            <a:ext cx="1828440" cy="402120"/>
          </a:xfrm>
          <a:prstGeom prst="roundRect">
            <a:avLst>
              <a:gd name="adj" fmla="val 18182"/>
            </a:avLst>
          </a:prstGeom>
          <a:solidFill>
            <a:srgbClr val="1626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anim_1_a"/>
          <p:cNvSpPr/>
          <p:nvPr/>
        </p:nvSpPr>
        <p:spPr>
          <a:xfrm>
            <a:off x="822960" y="1783080"/>
            <a:ext cx="182844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e0ac2b"/>
                </a:solidFill>
                <a:latin typeface="Calibri"/>
                <a:ea typeface="Calibri"/>
              </a:rPr>
              <a:t>EXAM QUESTION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anim_1_a"/>
          <p:cNvSpPr/>
          <p:nvPr/>
        </p:nvSpPr>
        <p:spPr>
          <a:xfrm>
            <a:off x="9052560" y="1783080"/>
            <a:ext cx="237708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6a7269"/>
                </a:solidFill>
                <a:latin typeface="Calibri"/>
                <a:ea typeface="Calibri"/>
              </a:rPr>
              <a:t>(Total 4 marks)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anim_1_a"/>
          <p:cNvSpPr/>
          <p:nvPr/>
        </p:nvSpPr>
        <p:spPr>
          <a:xfrm>
            <a:off x="914400" y="228600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(a)  Solve   7p + 2 = 5p + 8</a:t>
            </a:r>
            <a:r>
              <a:rPr b="0" i="1" lang="en-US" sz="1800" spc="-1" strike="noStrike">
                <a:solidFill>
                  <a:srgbClr val="6a7269"/>
                </a:solidFill>
                <a:latin typeface="Cambria"/>
                <a:ea typeface="Cambria"/>
              </a:rPr>
              <a:t>        (2)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24332d"/>
                </a:solidFill>
                <a:latin typeface="Cambria"/>
                <a:ea typeface="Cambria"/>
              </a:rPr>
              <a:t>(b)  Solve   7r + 2 = 5(r – 4)</a:t>
            </a:r>
            <a:r>
              <a:rPr b="0" i="1" lang="en-US" sz="1800" spc="-1" strike="noStrike">
                <a:solidFill>
                  <a:srgbClr val="6a7269"/>
                </a:solidFill>
                <a:latin typeface="Cambria"/>
                <a:ea typeface="Cambria"/>
              </a:rPr>
              <a:t>     (2)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anim_2_c"/>
          <p:cNvSpPr/>
          <p:nvPr/>
        </p:nvSpPr>
        <p:spPr>
          <a:xfrm>
            <a:off x="548640" y="3383280"/>
            <a:ext cx="3520080" cy="14169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889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anim_2_c"/>
          <p:cNvSpPr/>
          <p:nvPr/>
        </p:nvSpPr>
        <p:spPr>
          <a:xfrm>
            <a:off x="786240" y="363924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anim_2_c"/>
          <p:cNvSpPr/>
          <p:nvPr/>
        </p:nvSpPr>
        <p:spPr>
          <a:xfrm>
            <a:off x="786240" y="3639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anim_2_c"/>
          <p:cNvSpPr/>
          <p:nvPr/>
        </p:nvSpPr>
        <p:spPr>
          <a:xfrm>
            <a:off x="822960" y="4224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Solve   4x – 13 = 17 + 8x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anim_2_c"/>
          <p:cNvSpPr/>
          <p:nvPr/>
        </p:nvSpPr>
        <p:spPr>
          <a:xfrm>
            <a:off x="822960" y="44805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a7269"/>
                </a:solidFill>
                <a:latin typeface="Calibri"/>
                <a:ea typeface="Calibri"/>
              </a:rPr>
              <a:t>Show clear algebraic working.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anim_3_c"/>
          <p:cNvSpPr/>
          <p:nvPr/>
        </p:nvSpPr>
        <p:spPr>
          <a:xfrm>
            <a:off x="4260960" y="3383280"/>
            <a:ext cx="3520080" cy="14169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889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anim_3_c"/>
          <p:cNvSpPr/>
          <p:nvPr/>
        </p:nvSpPr>
        <p:spPr>
          <a:xfrm>
            <a:off x="4498920" y="363924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anim_3_c"/>
          <p:cNvSpPr/>
          <p:nvPr/>
        </p:nvSpPr>
        <p:spPr>
          <a:xfrm>
            <a:off x="4498920" y="3639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anim_3_c"/>
          <p:cNvSpPr/>
          <p:nvPr/>
        </p:nvSpPr>
        <p:spPr>
          <a:xfrm>
            <a:off x="4535280" y="4224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Solve   5(x + 3) = 3x – 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anim_3_c"/>
          <p:cNvSpPr/>
          <p:nvPr/>
        </p:nvSpPr>
        <p:spPr>
          <a:xfrm>
            <a:off x="4535280" y="44805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a7269"/>
                </a:solidFill>
                <a:latin typeface="Calibri"/>
                <a:ea typeface="Calibri"/>
              </a:rPr>
              <a:t>Show clear algebraic working.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anim_4_c"/>
          <p:cNvSpPr/>
          <p:nvPr/>
        </p:nvSpPr>
        <p:spPr>
          <a:xfrm>
            <a:off x="7973640" y="3383280"/>
            <a:ext cx="3520080" cy="141696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88920" dir="5400000" dist="255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anim_4_c"/>
          <p:cNvSpPr/>
          <p:nvPr/>
        </p:nvSpPr>
        <p:spPr>
          <a:xfrm>
            <a:off x="8211240" y="3639240"/>
            <a:ext cx="502560" cy="5025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anim_4_c"/>
          <p:cNvSpPr/>
          <p:nvPr/>
        </p:nvSpPr>
        <p:spPr>
          <a:xfrm>
            <a:off x="8211240" y="36392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5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anim_4_c"/>
          <p:cNvSpPr/>
          <p:nvPr/>
        </p:nvSpPr>
        <p:spPr>
          <a:xfrm>
            <a:off x="8247960" y="4224600"/>
            <a:ext cx="3017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24332d"/>
                </a:solidFill>
                <a:latin typeface="Cambria"/>
                <a:ea typeface="Cambria"/>
              </a:rPr>
              <a:t>Solve   5(x + 7) = 2x – 10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anim_4_c"/>
          <p:cNvSpPr/>
          <p:nvPr/>
        </p:nvSpPr>
        <p:spPr>
          <a:xfrm>
            <a:off x="8247960" y="4480560"/>
            <a:ext cx="3017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6a7269"/>
                </a:solidFill>
                <a:latin typeface="Calibri"/>
                <a:ea typeface="Calibri"/>
              </a:rPr>
              <a:t>Show clear algebraic working.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039" dur="indefinite" restart="never" nodeType="tmRoot">
          <p:childTnLst>
            <p:seq>
              <p:cTn id="1040" dur="indefinite" nodeType="mainSeq">
                <p:childTnLst>
                  <p:par>
                    <p:cTn id="1041" fill="hold">
                      <p:stCondLst>
                        <p:cond delay="0"/>
                      </p:stCondLst>
                      <p:childTnLst>
                        <p:par>
                          <p:cTn id="1042" fill="hold">
                            <p:stCondLst>
                              <p:cond delay="0"/>
                            </p:stCondLst>
                            <p:childTnLst>
                              <p:par>
                                <p:cTn id="104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5"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48"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1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4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7"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8" fill="hold">
                      <p:stCondLst>
                        <p:cond delay="indefinite"/>
                      </p:stCondLst>
                      <p:childTnLst>
                        <p:par>
                          <p:cTn id="1059" fill="hold">
                            <p:stCondLst>
                              <p:cond delay="0"/>
                            </p:stCondLst>
                            <p:childTnLst>
                              <p:par>
                                <p:cTn id="10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2"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5"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8"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1"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4"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5" fill="hold">
                      <p:stCondLst>
                        <p:cond delay="indefinite"/>
                      </p:stCondLst>
                      <p:childTnLst>
                        <p:par>
                          <p:cTn id="1076" fill="hold">
                            <p:stCondLst>
                              <p:cond delay="0"/>
                            </p:stCondLst>
                            <p:childTnLst>
                              <p:par>
                                <p:cTn id="10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79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2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5"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8"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1"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2" fill="hold">
                      <p:stCondLst>
                        <p:cond delay="indefinite"/>
                      </p:stCondLst>
                      <p:childTnLst>
                        <p:par>
                          <p:cTn id="1093" fill="hold">
                            <p:stCondLst>
                              <p:cond delay="0"/>
                            </p:stCondLst>
                            <p:childTnLst>
                              <p:par>
                                <p:cTn id="10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6"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9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2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5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8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PAST 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Isosceles Triangle — Form &amp; Solve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anim_1_a"/>
          <p:cNvSpPr/>
          <p:nvPr/>
        </p:nvSpPr>
        <p:spPr>
          <a:xfrm>
            <a:off x="548640" y="15728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anim_1_a"/>
          <p:cNvSpPr/>
          <p:nvPr/>
        </p:nvSpPr>
        <p:spPr>
          <a:xfrm>
            <a:off x="1371600" y="4572000"/>
            <a:ext cx="4023360" cy="36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anim_1_a"/>
          <p:cNvSpPr/>
          <p:nvPr/>
        </p:nvSpPr>
        <p:spPr>
          <a:xfrm flipV="1">
            <a:off x="1371600" y="2057400"/>
            <a:ext cx="2011680" cy="251460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anim_1_a"/>
          <p:cNvSpPr/>
          <p:nvPr/>
        </p:nvSpPr>
        <p:spPr>
          <a:xfrm>
            <a:off x="3383280" y="2057400"/>
            <a:ext cx="2011680" cy="2514600"/>
          </a:xfrm>
          <a:prstGeom prst="line">
            <a:avLst/>
          </a:prstGeom>
          <a:ln w="25400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anim_1_a"/>
          <p:cNvSpPr/>
          <p:nvPr/>
        </p:nvSpPr>
        <p:spPr>
          <a:xfrm>
            <a:off x="3200400" y="169164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anim_1_a"/>
          <p:cNvSpPr/>
          <p:nvPr/>
        </p:nvSpPr>
        <p:spPr>
          <a:xfrm>
            <a:off x="1005840" y="46177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P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anim_1_a"/>
          <p:cNvSpPr/>
          <p:nvPr/>
        </p:nvSpPr>
        <p:spPr>
          <a:xfrm>
            <a:off x="5440680" y="461772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4332d"/>
                </a:solidFill>
                <a:latin typeface="Cambria"/>
                <a:ea typeface="Cambria"/>
              </a:rPr>
              <a:t>Q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anim_1_a"/>
          <p:cNvSpPr/>
          <p:nvPr/>
        </p:nvSpPr>
        <p:spPr>
          <a:xfrm>
            <a:off x="3218760" y="2468880"/>
            <a:ext cx="365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c84f2f"/>
                </a:solidFill>
                <a:latin typeface="Cambria"/>
                <a:ea typeface="Cambria"/>
              </a:rPr>
              <a:t>y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anim_1_a"/>
          <p:cNvSpPr/>
          <p:nvPr/>
        </p:nvSpPr>
        <p:spPr>
          <a:xfrm>
            <a:off x="1691640" y="4114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4332d"/>
                </a:solidFill>
                <a:latin typeface="Cambria"/>
                <a:ea typeface="Cambria"/>
              </a:rPr>
              <a:t>(3x + 10)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anim_1_a"/>
          <p:cNvSpPr/>
          <p:nvPr/>
        </p:nvSpPr>
        <p:spPr>
          <a:xfrm>
            <a:off x="3840480" y="411480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4332d"/>
                </a:solidFill>
                <a:latin typeface="Cambria"/>
                <a:ea typeface="Cambria"/>
              </a:rPr>
              <a:t>(x + 52)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anim_1_a"/>
          <p:cNvSpPr/>
          <p:nvPr/>
        </p:nvSpPr>
        <p:spPr>
          <a:xfrm>
            <a:off x="868680" y="53492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a7269"/>
                </a:solidFill>
                <a:latin typeface="Calibri"/>
                <a:ea typeface="Calibri"/>
              </a:rPr>
              <a:t>RP = RQ  ·  Diagram not accurately drawn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anim_1_a"/>
          <p:cNvSpPr/>
          <p:nvPr/>
        </p:nvSpPr>
        <p:spPr>
          <a:xfrm>
            <a:off x="6400800" y="1572840"/>
            <a:ext cx="5239080" cy="109692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anim_1_a"/>
          <p:cNvSpPr/>
          <p:nvPr/>
        </p:nvSpPr>
        <p:spPr>
          <a:xfrm>
            <a:off x="6675120" y="157284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RP = RQ, so the base angles are equal.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Find the value of y.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anim_2_c"/>
          <p:cNvSpPr/>
          <p:nvPr/>
        </p:nvSpPr>
        <p:spPr>
          <a:xfrm>
            <a:off x="6400800" y="29444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anim_2_c"/>
          <p:cNvSpPr/>
          <p:nvPr/>
        </p:nvSpPr>
        <p:spPr>
          <a:xfrm>
            <a:off x="6400800" y="294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anim_2_c"/>
          <p:cNvSpPr/>
          <p:nvPr/>
        </p:nvSpPr>
        <p:spPr>
          <a:xfrm>
            <a:off x="6949440" y="28803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Base angles equal:  3x+10 = x+52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anim_3_c"/>
          <p:cNvSpPr/>
          <p:nvPr/>
        </p:nvSpPr>
        <p:spPr>
          <a:xfrm>
            <a:off x="6400800" y="36302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anim_3_c"/>
          <p:cNvSpPr/>
          <p:nvPr/>
        </p:nvSpPr>
        <p:spPr>
          <a:xfrm>
            <a:off x="6400800" y="3630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anim_3_c"/>
          <p:cNvSpPr/>
          <p:nvPr/>
        </p:nvSpPr>
        <p:spPr>
          <a:xfrm>
            <a:off x="6949440" y="35661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24332d"/>
                </a:solidFill>
                <a:latin typeface="Calibri"/>
                <a:ea typeface="Calibri"/>
              </a:rPr>
              <a:t>2x = 42  →  x = 21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anim_4_c"/>
          <p:cNvSpPr/>
          <p:nvPr/>
        </p:nvSpPr>
        <p:spPr>
          <a:xfrm>
            <a:off x="6400800" y="4316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anim_4_c"/>
          <p:cNvSpPr/>
          <p:nvPr/>
        </p:nvSpPr>
        <p:spPr>
          <a:xfrm>
            <a:off x="6400800" y="4316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anim_4_c"/>
          <p:cNvSpPr/>
          <p:nvPr/>
        </p:nvSpPr>
        <p:spPr>
          <a:xfrm>
            <a:off x="6949440" y="42519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Each base angle = 73°,  so y = 180 – 146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anim_4_c"/>
          <p:cNvSpPr/>
          <p:nvPr/>
        </p:nvSpPr>
        <p:spPr>
          <a:xfrm>
            <a:off x="6949440" y="4937760"/>
            <a:ext cx="3657240" cy="54828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anim_4_c"/>
          <p:cNvSpPr/>
          <p:nvPr/>
        </p:nvSpPr>
        <p:spPr>
          <a:xfrm>
            <a:off x="7132320" y="49377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y = 34°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9" dur="indefinite" restart="never" nodeType="tmRoot">
          <p:childTnLst>
            <p:seq>
              <p:cTn id="1110" dur="indefinite" nodeType="mainSeq">
                <p:childTnLst>
                  <p:par>
                    <p:cTn id="1111" fill="hold">
                      <p:stCondLst>
                        <p:cond delay="0"/>
                      </p:stCondLst>
                      <p:childTnLst>
                        <p:par>
                          <p:cTn id="1112" fill="hold">
                            <p:stCondLst>
                              <p:cond delay="0"/>
                            </p:stCondLst>
                            <p:childTnLst>
                              <p:par>
                                <p:cTn id="1113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5"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18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1"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4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27"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0"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3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6"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9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2"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5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48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1"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2" fill="hold">
                      <p:stCondLst>
                        <p:cond delay="indefinite"/>
                      </p:stCondLst>
                      <p:childTnLst>
                        <p:par>
                          <p:cTn id="1153" fill="hold">
                            <p:stCondLst>
                              <p:cond delay="0"/>
                            </p:stCondLst>
                            <p:childTnLst>
                              <p:par>
                                <p:cTn id="115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6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59"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2" dur="5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3" fill="hold">
                      <p:stCondLst>
                        <p:cond delay="indefinite"/>
                      </p:stCondLst>
                      <p:childTnLst>
                        <p:par>
                          <p:cTn id="1164" fill="hold">
                            <p:stCondLst>
                              <p:cond delay="0"/>
                            </p:stCondLst>
                            <p:childTnLst>
                              <p:par>
                                <p:cTn id="11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7" dur="50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0" dur="5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3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4" fill="hold">
                      <p:stCondLst>
                        <p:cond delay="indefinite"/>
                      </p:stCondLst>
                      <p:childTnLst>
                        <p:par>
                          <p:cTn id="1175" fill="hold">
                            <p:stCondLst>
                              <p:cond delay="0"/>
                            </p:stCondLst>
                            <p:childTnLst>
                              <p:par>
                                <p:cTn id="117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78" dur="5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1" dur="50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4"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87"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0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Shape 0"/>
          <p:cNvSpPr/>
          <p:nvPr/>
        </p:nvSpPr>
        <p:spPr>
          <a:xfrm>
            <a:off x="548640" y="420480"/>
            <a:ext cx="548280" cy="54828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Text 1"/>
          <p:cNvSpPr/>
          <p:nvPr/>
        </p:nvSpPr>
        <p:spPr>
          <a:xfrm>
            <a:off x="548640" y="402480"/>
            <a:ext cx="5482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2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19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Text 2"/>
          <p:cNvSpPr/>
          <p:nvPr/>
        </p:nvSpPr>
        <p:spPr>
          <a:xfrm>
            <a:off x="1243440" y="420480"/>
            <a:ext cx="9143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pc="199" strike="noStrike">
                <a:solidFill>
                  <a:srgbClr val="c84f2f"/>
                </a:solidFill>
                <a:latin typeface="Calibri"/>
                <a:ea typeface="Calibri"/>
              </a:rPr>
              <a:t>PAST PAPER · GEOMETRY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 3"/>
          <p:cNvSpPr/>
          <p:nvPr/>
        </p:nvSpPr>
        <p:spPr>
          <a:xfrm>
            <a:off x="1225440" y="658440"/>
            <a:ext cx="105152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16261f"/>
                </a:solidFill>
                <a:latin typeface="Cambria"/>
                <a:ea typeface="Cambria"/>
              </a:rPr>
              <a:t>Rectangles — Form &amp; Solve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anim_1_a"/>
          <p:cNvSpPr/>
          <p:nvPr/>
        </p:nvSpPr>
        <p:spPr>
          <a:xfrm>
            <a:off x="548640" y="1572840"/>
            <a:ext cx="5668920" cy="420588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6c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anim_1_a"/>
          <p:cNvSpPr/>
          <p:nvPr/>
        </p:nvSpPr>
        <p:spPr>
          <a:xfrm>
            <a:off x="914400" y="1874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61f"/>
                </a:solidFill>
                <a:latin typeface="Cambria"/>
                <a:ea typeface="Cambria"/>
              </a:rPr>
              <a:t>rectangle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anim_1_a"/>
          <p:cNvSpPr/>
          <p:nvPr/>
        </p:nvSpPr>
        <p:spPr>
          <a:xfrm>
            <a:off x="1234440" y="2286000"/>
            <a:ext cx="1462680" cy="914040"/>
          </a:xfrm>
          <a:prstGeom prst="rect">
            <a:avLst/>
          </a:prstGeom>
          <a:solidFill>
            <a:srgbClr val="eef1e8"/>
          </a:solidFill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anim_1_a"/>
          <p:cNvSpPr/>
          <p:nvPr/>
        </p:nvSpPr>
        <p:spPr>
          <a:xfrm>
            <a:off x="411480" y="2606040"/>
            <a:ext cx="868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4332d"/>
                </a:solidFill>
                <a:latin typeface="Cambria"/>
                <a:ea typeface="Cambria"/>
              </a:rPr>
              <a:t>(5 – x) cm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anim_1_a"/>
          <p:cNvSpPr/>
          <p:nvPr/>
        </p:nvSpPr>
        <p:spPr>
          <a:xfrm>
            <a:off x="1234440" y="3246120"/>
            <a:ext cx="1462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4332d"/>
                </a:solidFill>
                <a:latin typeface="Cambria"/>
                <a:ea typeface="Cambria"/>
              </a:rPr>
              <a:t>4 cm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anim_1_a"/>
          <p:cNvSpPr/>
          <p:nvPr/>
        </p:nvSpPr>
        <p:spPr>
          <a:xfrm>
            <a:off x="3383280" y="1874520"/>
            <a:ext cx="2011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16261f"/>
                </a:solidFill>
                <a:latin typeface="Cambria"/>
                <a:ea typeface="Cambria"/>
              </a:rPr>
              <a:t>rectangle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anim_1_a"/>
          <p:cNvSpPr/>
          <p:nvPr/>
        </p:nvSpPr>
        <p:spPr>
          <a:xfrm>
            <a:off x="3611880" y="2286000"/>
            <a:ext cx="1737000" cy="1279800"/>
          </a:xfrm>
          <a:prstGeom prst="rect">
            <a:avLst/>
          </a:prstGeom>
          <a:solidFill>
            <a:srgbClr val="fbf3dd"/>
          </a:solidFill>
          <a:ln w="22225">
            <a:solidFill>
              <a:srgbClr val="24332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anim_1_a"/>
          <p:cNvSpPr/>
          <p:nvPr/>
        </p:nvSpPr>
        <p:spPr>
          <a:xfrm>
            <a:off x="5394960" y="278892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4332d"/>
                </a:solidFill>
                <a:latin typeface="Cambria"/>
                <a:ea typeface="Cambria"/>
              </a:rPr>
              <a:t>(2x – 1) cm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anim_1_a"/>
          <p:cNvSpPr/>
          <p:nvPr/>
        </p:nvSpPr>
        <p:spPr>
          <a:xfrm>
            <a:off x="3611880" y="3611880"/>
            <a:ext cx="173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4332d"/>
                </a:solidFill>
                <a:latin typeface="Cambria"/>
                <a:ea typeface="Cambria"/>
              </a:rPr>
              <a:t>5 cm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anim_1_a"/>
          <p:cNvSpPr/>
          <p:nvPr/>
        </p:nvSpPr>
        <p:spPr>
          <a:xfrm>
            <a:off x="868680" y="539496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a7269"/>
                </a:solidFill>
                <a:latin typeface="Calibri"/>
                <a:ea typeface="Calibri"/>
              </a:rPr>
              <a:t>Area of B = 2 × Area of A  ·  not accurately drawn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anim_1_a"/>
          <p:cNvSpPr/>
          <p:nvPr/>
        </p:nvSpPr>
        <p:spPr>
          <a:xfrm>
            <a:off x="6400800" y="1572840"/>
            <a:ext cx="5239080" cy="1096920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anim_1_a"/>
          <p:cNvSpPr/>
          <p:nvPr/>
        </p:nvSpPr>
        <p:spPr>
          <a:xfrm>
            <a:off x="6675120" y="1572840"/>
            <a:ext cx="47545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The area of B is twice the area of A.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Work out the value of x.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anim_2_c"/>
          <p:cNvSpPr/>
          <p:nvPr/>
        </p:nvSpPr>
        <p:spPr>
          <a:xfrm>
            <a:off x="6400800" y="29444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anim_2_c"/>
          <p:cNvSpPr/>
          <p:nvPr/>
        </p:nvSpPr>
        <p:spPr>
          <a:xfrm>
            <a:off x="6400800" y="29444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anim_2_c"/>
          <p:cNvSpPr/>
          <p:nvPr/>
        </p:nvSpPr>
        <p:spPr>
          <a:xfrm>
            <a:off x="6949440" y="28803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Area A = 4(5–x),   Area B = 5(2x–1)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anim_3_c"/>
          <p:cNvSpPr/>
          <p:nvPr/>
        </p:nvSpPr>
        <p:spPr>
          <a:xfrm>
            <a:off x="6400800" y="36302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anim_3_c"/>
          <p:cNvSpPr/>
          <p:nvPr/>
        </p:nvSpPr>
        <p:spPr>
          <a:xfrm>
            <a:off x="6400800" y="36302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anim_3_c"/>
          <p:cNvSpPr/>
          <p:nvPr/>
        </p:nvSpPr>
        <p:spPr>
          <a:xfrm>
            <a:off x="6949440" y="35661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B = 2A:  5(2x–1) = 2×4(5–x)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anim_4_c"/>
          <p:cNvSpPr/>
          <p:nvPr/>
        </p:nvSpPr>
        <p:spPr>
          <a:xfrm>
            <a:off x="6400800" y="4316040"/>
            <a:ext cx="383760" cy="383760"/>
          </a:xfrm>
          <a:prstGeom prst="ellipse">
            <a:avLst/>
          </a:prstGeom>
          <a:solidFill>
            <a:srgbClr val="c84f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anim_4_c"/>
          <p:cNvSpPr/>
          <p:nvPr/>
        </p:nvSpPr>
        <p:spPr>
          <a:xfrm>
            <a:off x="6400800" y="431604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anim_4_c"/>
          <p:cNvSpPr/>
          <p:nvPr/>
        </p:nvSpPr>
        <p:spPr>
          <a:xfrm>
            <a:off x="6949440" y="4251960"/>
            <a:ext cx="4599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24332d"/>
                </a:solidFill>
                <a:latin typeface="Calibri"/>
                <a:ea typeface="Calibri"/>
              </a:rPr>
              <a:t>10x–5 = 40–8x  →  18x = 45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anim_4_c"/>
          <p:cNvSpPr/>
          <p:nvPr/>
        </p:nvSpPr>
        <p:spPr>
          <a:xfrm>
            <a:off x="6949440" y="4937760"/>
            <a:ext cx="3657240" cy="548280"/>
          </a:xfrm>
          <a:prstGeom prst="roundRect">
            <a:avLst>
              <a:gd name="adj" fmla="val 20000"/>
            </a:avLst>
          </a:prstGeom>
          <a:solidFill>
            <a:srgbClr val="16261f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000000">
                <a:alpha val="1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anim_4_c"/>
          <p:cNvSpPr/>
          <p:nvPr/>
        </p:nvSpPr>
        <p:spPr>
          <a:xfrm>
            <a:off x="7132320" y="4937760"/>
            <a:ext cx="3291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0ac2b"/>
                </a:solidFill>
                <a:latin typeface="Cambria"/>
                <a:ea typeface="Cambria"/>
              </a:rPr>
              <a:t>x = 2.5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91" dur="indefinite" restart="never" nodeType="tmRoot">
          <p:childTnLst>
            <p:seq>
              <p:cTn id="1192" dur="indefinite" nodeType="mainSeq">
                <p:childTnLst>
                  <p:par>
                    <p:cTn id="1193" fill="hold">
                      <p:stCondLst>
                        <p:cond delay="0"/>
                      </p:stCondLst>
                      <p:childTnLst>
                        <p:par>
                          <p:cTn id="1194" fill="hold">
                            <p:stCondLst>
                              <p:cond delay="0"/>
                            </p:stCondLst>
                            <p:childTnLst>
                              <p:par>
                                <p:cTn id="1195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7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0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3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6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09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2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5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8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1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4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27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0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1" fill="hold">
                      <p:stCondLst>
                        <p:cond delay="indefinite"/>
                      </p:stCondLst>
                      <p:childTnLst>
                        <p:par>
                          <p:cTn id="1232" fill="hold">
                            <p:stCondLst>
                              <p:cond delay="0"/>
                            </p:stCondLst>
                            <p:childTnLst>
                              <p:par>
                                <p:cTn id="12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5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38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1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2" fill="hold">
                      <p:stCondLst>
                        <p:cond delay="indefinite"/>
                      </p:stCondLst>
                      <p:childTnLst>
                        <p:par>
                          <p:cTn id="1243" fill="hold">
                            <p:stCondLst>
                              <p:cond delay="0"/>
                            </p:stCondLst>
                            <p:childTnLst>
                              <p:par>
                                <p:cTn id="124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6"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9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2"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3" fill="hold">
                      <p:stCondLst>
                        <p:cond delay="indefinite"/>
                      </p:stCondLst>
                      <p:childTnLst>
                        <p:par>
                          <p:cTn id="1254" fill="hold">
                            <p:stCondLst>
                              <p:cond delay="0"/>
                            </p:stCondLst>
                            <p:childTnLst>
                              <p:par>
                                <p:cTn id="12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57"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0"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3"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6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9"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Text 0"/>
          <p:cNvSpPr/>
          <p:nvPr/>
        </p:nvSpPr>
        <p:spPr>
          <a:xfrm>
            <a:off x="10058400" y="292608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0" spc="-1" strike="noStrike">
                <a:solidFill>
                  <a:srgbClr val="283731"/>
                </a:solidFill>
                <a:latin typeface="Cambria"/>
                <a:ea typeface="Cambria"/>
              </a:rPr>
              <a:t>=</a:t>
            </a:r>
            <a:endParaRPr b="0" lang="en-US" sz="14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Shape 1"/>
          <p:cNvSpPr/>
          <p:nvPr/>
        </p:nvSpPr>
        <p:spPr>
          <a:xfrm>
            <a:off x="731520" y="640080"/>
            <a:ext cx="639720" cy="639720"/>
          </a:xfrm>
          <a:prstGeom prst="roundRect">
            <a:avLst>
              <a:gd name="adj" fmla="val 22000"/>
            </a:avLst>
          </a:prstGeom>
          <a:solidFill>
            <a:srgbClr val="e8623d"/>
          </a:solidFill>
          <a:ln w="0">
            <a:noFill/>
          </a:ln>
          <a:effectLst>
            <a:outerShdw algn="bl" blurRad="88920" dir="5400000" dist="25560" kx="0" ky="0" rotWithShape="0" sx="100000" sy="100000">
              <a:srgbClr val="000000">
                <a:alpha val="2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2"/>
          <p:cNvSpPr/>
          <p:nvPr/>
        </p:nvSpPr>
        <p:spPr>
          <a:xfrm>
            <a:off x="731520" y="621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40" spc="-1" strike="noStrike">
                <a:solidFill>
                  <a:srgbClr val="ffffff"/>
                </a:solidFill>
                <a:latin typeface="Cambria"/>
                <a:ea typeface="Cambria"/>
              </a:rPr>
              <a:t>Zπ</a:t>
            </a:r>
            <a:endParaRPr b="0" lang="en-US" sz="22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3"/>
          <p:cNvSpPr/>
          <p:nvPr/>
        </p:nvSpPr>
        <p:spPr>
          <a:xfrm>
            <a:off x="1517760" y="6768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248" strike="noStrike">
                <a:solidFill>
                  <a:srgbClr val="e0ac2b"/>
                </a:solidFill>
                <a:latin typeface="Calibri"/>
                <a:ea typeface="Calibri"/>
              </a:rPr>
              <a:t>Zπ MATHS HUB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4"/>
          <p:cNvSpPr/>
          <p:nvPr/>
        </p:nvSpPr>
        <p:spPr>
          <a:xfrm>
            <a:off x="731520" y="12801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e0ac2b"/>
                </a:solidFill>
                <a:latin typeface="Cambria"/>
                <a:ea typeface="Cambria"/>
              </a:rPr>
              <a:t>Recap &amp; Resources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anim_1_a"/>
          <p:cNvSpPr/>
          <p:nvPr/>
        </p:nvSpPr>
        <p:spPr>
          <a:xfrm>
            <a:off x="731520" y="205740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anim_1_a"/>
          <p:cNvSpPr/>
          <p:nvPr/>
        </p:nvSpPr>
        <p:spPr>
          <a:xfrm>
            <a:off x="1005840" y="21672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One &amp; two-step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anim_1_a"/>
          <p:cNvSpPr/>
          <p:nvPr/>
        </p:nvSpPr>
        <p:spPr>
          <a:xfrm>
            <a:off x="1005840" y="247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inverse operations, both sides equal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anim_1_a"/>
          <p:cNvSpPr/>
          <p:nvPr/>
        </p:nvSpPr>
        <p:spPr>
          <a:xfrm>
            <a:off x="6172200" y="205740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anim_1_a"/>
          <p:cNvSpPr/>
          <p:nvPr/>
        </p:nvSpPr>
        <p:spPr>
          <a:xfrm>
            <a:off x="6446520" y="216720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Simplify first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anim_1_a"/>
          <p:cNvSpPr/>
          <p:nvPr/>
        </p:nvSpPr>
        <p:spPr>
          <a:xfrm>
            <a:off x="6446520" y="2477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collect like terms, then solve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anim_2_c"/>
          <p:cNvSpPr/>
          <p:nvPr/>
        </p:nvSpPr>
        <p:spPr>
          <a:xfrm>
            <a:off x="731520" y="301752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anim_2_c"/>
          <p:cNvSpPr/>
          <p:nvPr/>
        </p:nvSpPr>
        <p:spPr>
          <a:xfrm>
            <a:off x="1005840" y="31273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Brackets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anim_2_c"/>
          <p:cNvSpPr/>
          <p:nvPr/>
        </p:nvSpPr>
        <p:spPr>
          <a:xfrm>
            <a:off x="1005840" y="34380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expand, then solve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anim_2_c"/>
          <p:cNvSpPr/>
          <p:nvPr/>
        </p:nvSpPr>
        <p:spPr>
          <a:xfrm>
            <a:off x="6172200" y="301752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anim_2_c"/>
          <p:cNvSpPr/>
          <p:nvPr/>
        </p:nvSpPr>
        <p:spPr>
          <a:xfrm>
            <a:off x="6446520" y="312732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Both sides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anim_2_c"/>
          <p:cNvSpPr/>
          <p:nvPr/>
        </p:nvSpPr>
        <p:spPr>
          <a:xfrm>
            <a:off x="6446520" y="343800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subtract the smaller x-term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anim_3_c"/>
          <p:cNvSpPr/>
          <p:nvPr/>
        </p:nvSpPr>
        <p:spPr>
          <a:xfrm>
            <a:off x="731520" y="397764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anim_3_c"/>
          <p:cNvSpPr/>
          <p:nvPr/>
        </p:nvSpPr>
        <p:spPr>
          <a:xfrm>
            <a:off x="1005840" y="40874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Fractions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anim_3_c"/>
          <p:cNvSpPr/>
          <p:nvPr/>
        </p:nvSpPr>
        <p:spPr>
          <a:xfrm>
            <a:off x="1005840" y="4398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multiply to clear the fraction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anim_3_c"/>
          <p:cNvSpPr/>
          <p:nvPr/>
        </p:nvSpPr>
        <p:spPr>
          <a:xfrm>
            <a:off x="6172200" y="3977640"/>
            <a:ext cx="5440320" cy="840960"/>
          </a:xfrm>
          <a:prstGeom prst="roundRect">
            <a:avLst>
              <a:gd name="adj" fmla="val 10870"/>
            </a:avLst>
          </a:prstGeom>
          <a:solidFill>
            <a:srgbClr val="283731"/>
          </a:solidFill>
          <a:ln w="0">
            <a:noFill/>
          </a:ln>
          <a:effectLst>
            <a:outerShdw algn="bl" blurRad="114480" dir="5400000" dist="38160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anim_3_c"/>
          <p:cNvSpPr/>
          <p:nvPr/>
        </p:nvSpPr>
        <p:spPr>
          <a:xfrm>
            <a:off x="6446520" y="4087440"/>
            <a:ext cx="49374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0ac2b"/>
                </a:solidFill>
                <a:latin typeface="Cambria"/>
                <a:ea typeface="Cambria"/>
              </a:rPr>
              <a:t>Non-linear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anim_3_c"/>
          <p:cNvSpPr/>
          <p:nvPr/>
        </p:nvSpPr>
        <p:spPr>
          <a:xfrm>
            <a:off x="6446520" y="4398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edebdd"/>
                </a:solidFill>
                <a:latin typeface="Calibri"/>
                <a:ea typeface="Calibri"/>
              </a:rPr>
              <a:t>expand — x² cancels to linear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anim_3_c"/>
          <p:cNvSpPr/>
          <p:nvPr/>
        </p:nvSpPr>
        <p:spPr>
          <a:xfrm>
            <a:off x="731520" y="5074920"/>
            <a:ext cx="10926720" cy="868320"/>
          </a:xfrm>
          <a:prstGeom prst="roundRect">
            <a:avLst>
              <a:gd name="adj" fmla="val 12632"/>
            </a:avLst>
          </a:prstGeom>
          <a:solidFill>
            <a:srgbClr val="16261f"/>
          </a:solidFill>
          <a:ln w="15875">
            <a:solidFill>
              <a:srgbClr val="28373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anim_3_c"/>
          <p:cNvSpPr/>
          <p:nvPr/>
        </p:nvSpPr>
        <p:spPr>
          <a:xfrm>
            <a:off x="1051560" y="513900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 u="sng">
                <a:solidFill>
                  <a:srgbClr val="e0ac2b"/>
                </a:solidFill>
                <a:uFillTx/>
                <a:latin typeface="Calibri"/>
                <a:ea typeface="Calibri"/>
              </a:rPr>
              <a:t>Practice:  </a:t>
            </a:r>
            <a:r>
              <a:rPr b="0" lang="en-US" sz="1250" spc="-1" strike="noStrike" u="sng">
                <a:solidFill>
                  <a:srgbClr val="edebdd"/>
                </a:solidFill>
                <a:uFillTx/>
                <a:latin typeface="Calibri"/>
                <a:ea typeface="Calibri"/>
              </a:rPr>
              <a:t>wordwall.net — two-step equations        ✉ zahraa.sheikhali@outlook.com  ·  ☎ 66613748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anim_3_c"/>
          <p:cNvSpPr/>
          <p:nvPr/>
        </p:nvSpPr>
        <p:spPr>
          <a:xfrm>
            <a:off x="1051560" y="552312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a7269"/>
                </a:solidFill>
                <a:latin typeface="Calibri"/>
                <a:ea typeface="Calibri"/>
              </a:rPr>
              <a:t>Ms. Zahra Sheikh Ali  ·  Pearson Edexcel IGCSE (9–1) Mathematics A  ·  Higher Tier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70" dur="indefinite" restart="never" nodeType="tmRoot">
          <p:childTnLst>
            <p:seq>
              <p:cTn id="1271" dur="indefinite" nodeType="mainSeq">
                <p:childTnLst>
                  <p:par>
                    <p:cTn id="1272" fill="hold">
                      <p:stCondLst>
                        <p:cond delay="0"/>
                      </p:stCondLst>
                      <p:childTnLst>
                        <p:par>
                          <p:cTn id="1273" fill="hold">
                            <p:stCondLst>
                              <p:cond delay="0"/>
                            </p:stCondLst>
                            <p:childTnLst>
                              <p:par>
                                <p:cTn id="1274" nodeType="after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6"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79" dur="5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2"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5" dur="5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88" dur="500"/>
                                        <p:tgtEl>
                                          <p:spTgt spid="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1" dur="5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2" fill="hold">
                      <p:stCondLst>
                        <p:cond delay="indefinite"/>
                      </p:stCondLst>
                      <p:childTnLst>
                        <p:par>
                          <p:cTn id="1293" fill="hold">
                            <p:stCondLst>
                              <p:cond delay="0"/>
                            </p:stCondLst>
                            <p:childTnLst>
                              <p:par>
                                <p:cTn id="12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6" dur="5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9" dur="5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2" dur="5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5" dur="5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08"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1" dur="5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2" fill="hold">
                      <p:stCondLst>
                        <p:cond delay="indefinite"/>
                      </p:stCondLst>
                      <p:childTnLst>
                        <p:par>
                          <p:cTn id="1313" fill="hold">
                            <p:stCondLst>
                              <p:cond delay="0"/>
                            </p:stCondLst>
                            <p:childTnLst>
                              <p:par>
                                <p:cTn id="13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6" dur="5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9" dur="5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2" dur="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5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8" dur="50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1" dur="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4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37"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40" dur="5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2026-06-28T09:06:53Z</dcterms:created>
  <dc:creator>Zahra Sheikh Ali</dc:creator>
  <dc:description/>
  <dc:language>en-US</dc:language>
  <cp:lastModifiedBy>Zahra Sheikh Ali</cp:lastModifiedBy>
  <dcterms:modified xsi:type="dcterms:W3CDTF">2026-06-28T09:06:53Z</dcterms:modified>
  <cp:revision>1</cp:revision>
  <dc:subject>PptxGenJS Presentation</dc:subject>
  <dc:title>Expanding Brackets — IGCSE Mathematics (Higher Tier)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