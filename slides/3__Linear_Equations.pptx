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— 1: x=9.  2: x=13.  3: x=10.  4: x=30.  5: x=–13.  6: x=5.  7: x=4 (negative coefficient).  8: x=–2.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— 1: a=3. 2: b=8. 3: c=4. 4: d=6. 5: e=2. 6: f=7. 7: x=4. 8: x=7.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Worked: 4x+6–8=22 → 4x–2=22 → 4x=24 → x=6.  Now try — 1: x+2x–5x=12 → –2x=12 → x=–6. 2: 4x−x+4−7=15 → 3x−3=15 → x=6. 3: 5x−3−8x+1=−26 → −3x−2=−26 → −3x=−24 → x=8.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Practice — 1: x=7. 2: x=2. 3: x=4. 4: x=–3.  Challenge — Mild: x=4. Medium: x=7. Hot: 3x−2=2x+7 → x=9.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— (a) p=3.  (b) 7r+2=5r−20 → 2r=−22 → r=−11.  Q3: 4x−13=17+8x → −30=4x → x=−7.5.  Q4: 5x+15=3x−4 → 2x=−19 → x=−9.5.  Q5: 5x+35=2x−10 → 3x=−45 → x=−15.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961120" y="914400"/>
            <a:ext cx="27432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0" b="1" i="1" dirty="0">
                <a:solidFill>
                  <a:srgbClr val="2837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endParaRPr lang="en-US" sz="22000" dirty="0"/>
          </a:p>
        </p:txBody>
      </p:sp>
      <p:sp>
        <p:nvSpPr>
          <p:cNvPr id="3" name="Text 1"/>
          <p:cNvSpPr/>
          <p:nvPr/>
        </p:nvSpPr>
        <p:spPr>
          <a:xfrm>
            <a:off x="8046720" y="283464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0" b="1" dirty="0">
                <a:solidFill>
                  <a:srgbClr val="2837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11000" dirty="0"/>
          </a:p>
        </p:txBody>
      </p:sp>
      <p:sp>
        <p:nvSpPr>
          <p:cNvPr id="4" name="Shape 2"/>
          <p:cNvSpPr/>
          <p:nvPr/>
        </p:nvSpPr>
        <p:spPr>
          <a:xfrm>
            <a:off x="731520" y="640080"/>
            <a:ext cx="713232" cy="713232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/>
          <a:effectLst>
            <a:outerShdw sx="100000" sy="100000" kx="0" ky="0" algn="bl" rotWithShape="0" blurRad="88900" dist="25400" dir="5400000">
              <a:srgbClr val="000000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621792"/>
            <a:ext cx="7132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96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2496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2496" dirty="0"/>
          </a:p>
        </p:txBody>
      </p:sp>
      <p:sp>
        <p:nvSpPr>
          <p:cNvPr id="6" name="Text 4"/>
          <p:cNvSpPr/>
          <p:nvPr/>
        </p:nvSpPr>
        <p:spPr>
          <a:xfrm>
            <a:off x="1627632" y="67665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50" kern="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Zπ MATHS HUB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627632" y="95097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Pearson Edexcel IGCSE (9–1) · Higher Tier</a:t>
            </a:r>
            <a:endParaRPr lang="en-US" sz="1150" dirty="0"/>
          </a:p>
        </p:txBody>
      </p:sp>
      <p:sp>
        <p:nvSpPr>
          <p:cNvPr id="8" name="anim_1_a"/>
          <p:cNvSpPr/>
          <p:nvPr/>
        </p:nvSpPr>
        <p:spPr>
          <a:xfrm>
            <a:off x="731520" y="1828800"/>
            <a:ext cx="8412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Solving Linear Equations</a:t>
            </a:r>
            <a:endParaRPr lang="en-US" sz="4800" dirty="0"/>
          </a:p>
        </p:txBody>
      </p:sp>
      <p:sp>
        <p:nvSpPr>
          <p:cNvPr id="9" name="anim_2_a"/>
          <p:cNvSpPr/>
          <p:nvPr/>
        </p:nvSpPr>
        <p:spPr>
          <a:xfrm>
            <a:off x="758952" y="297180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One-step · Two-step · Simplify · Brackets · Both Sides · Fractions · Past Papers</a:t>
            </a:r>
            <a:endParaRPr lang="en-US" sz="1700" dirty="0"/>
          </a:p>
        </p:txBody>
      </p:sp>
      <p:sp>
        <p:nvSpPr>
          <p:cNvPr id="10" name="anim_3_a"/>
          <p:cNvSpPr/>
          <p:nvPr/>
        </p:nvSpPr>
        <p:spPr>
          <a:xfrm>
            <a:off x="731520" y="4160520"/>
            <a:ext cx="6858000" cy="1627632"/>
          </a:xfrm>
          <a:prstGeom prst="roundRect">
            <a:avLst>
              <a:gd name="adj" fmla="val 6742"/>
            </a:avLst>
          </a:prstGeom>
          <a:solidFill>
            <a:srgbClr val="283731"/>
          </a:solidFill>
          <a:ln/>
          <a:effectLst>
            <a:outerShdw sx="100000" sy="100000" kx="0" ky="0" algn="bl" rotWithShape="0" blurRad="152400" dist="50800" dir="5400000">
              <a:srgbClr val="000000">
                <a:alpha val="28000"/>
              </a:srgbClr>
            </a:outerShdw>
          </a:effectLst>
        </p:spPr>
      </p:sp>
      <p:sp>
        <p:nvSpPr>
          <p:cNvPr id="11" name="anim_3_a"/>
          <p:cNvSpPr/>
          <p:nvPr/>
        </p:nvSpPr>
        <p:spPr>
          <a:xfrm>
            <a:off x="1005840" y="434340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Zahra Sheikh Ali</a:t>
            </a:r>
            <a:endParaRPr lang="en-US" sz="2100" dirty="0"/>
          </a:p>
        </p:txBody>
      </p:sp>
      <p:sp>
        <p:nvSpPr>
          <p:cNvPr id="12" name="anim_3_a"/>
          <p:cNvSpPr/>
          <p:nvPr/>
        </p:nvSpPr>
        <p:spPr>
          <a:xfrm>
            <a:off x="1005840" y="4736592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IGCSE Mathematics Teacher  ·  M.Sc. Differential Geometry &amp; Geometric Control</a:t>
            </a:r>
            <a:endParaRPr lang="en-US" sz="1200" dirty="0"/>
          </a:p>
        </p:txBody>
      </p:sp>
      <p:sp>
        <p:nvSpPr>
          <p:cNvPr id="13" name="anim_3_a"/>
          <p:cNvSpPr/>
          <p:nvPr/>
        </p:nvSpPr>
        <p:spPr>
          <a:xfrm>
            <a:off x="1005840" y="5175504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☎  66613748</a:t>
            </a:r>
            <a:pPr indent="0" marL="0">
              <a:buNone/>
            </a:pPr>
            <a:r>
              <a:rPr lang="en-US" sz="12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✉  zahraa.sheikhali@outlook.com</a:t>
            </a:r>
            <a:endParaRPr lang="en-US" sz="1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/>
          <a:effectLst>
            <a:outerShdw sx="100000" sy="100000" kx="0" ky="0" algn="bl" rotWithShape="0" blurRad="88900" dist="25400" dir="5400000">
              <a:srgbClr val="000000">
                <a:alpha val="22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40233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9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920" dirty="0"/>
          </a:p>
        </p:txBody>
      </p:sp>
      <p:sp>
        <p:nvSpPr>
          <p:cNvPr id="4" name="Text 2"/>
          <p:cNvSpPr/>
          <p:nvPr/>
        </p:nvSpPr>
        <p:spPr>
          <a:xfrm>
            <a:off x="1243584" y="42062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 IDEA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25296" y="658368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Inverse Operations &amp; Balance</a:t>
            </a:r>
            <a:endParaRPr lang="en-US" sz="2800" dirty="0"/>
          </a:p>
        </p:txBody>
      </p:sp>
      <p:sp>
        <p:nvSpPr>
          <p:cNvPr id="6" name="anim_1_a"/>
          <p:cNvSpPr/>
          <p:nvPr/>
        </p:nvSpPr>
        <p:spPr>
          <a:xfrm>
            <a:off x="548640" y="1554480"/>
            <a:ext cx="11091672" cy="1188720"/>
          </a:xfrm>
          <a:prstGeom prst="roundRect">
            <a:avLst>
              <a:gd name="adj" fmla="val 7692"/>
            </a:avLst>
          </a:prstGeom>
          <a:solidFill>
            <a:srgbClr val="16261F"/>
          </a:solidFill>
          <a:ln/>
          <a:effectLst>
            <a:outerShdw sx="100000" sy="100000" kx="0" ky="0" algn="bl" rotWithShape="0" blurRad="114300" dist="38100" dir="5400000">
              <a:srgbClr val="000000">
                <a:alpha val="14000"/>
              </a:srgbClr>
            </a:outerShdw>
          </a:effectLst>
        </p:spPr>
      </p:sp>
      <p:sp>
        <p:nvSpPr>
          <p:cNvPr id="7" name="anim_1_a"/>
          <p:cNvSpPr/>
          <p:nvPr/>
        </p:nvSpPr>
        <p:spPr>
          <a:xfrm>
            <a:off x="868680" y="17007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RULE</a:t>
            </a:r>
            <a:endParaRPr lang="en-US" sz="1200" dirty="0"/>
          </a:p>
        </p:txBody>
      </p:sp>
      <p:sp>
        <p:nvSpPr>
          <p:cNvPr id="8" name="anim_1_a"/>
          <p:cNvSpPr/>
          <p:nvPr/>
        </p:nvSpPr>
        <p:spPr>
          <a:xfrm>
            <a:off x="868680" y="1975104"/>
            <a:ext cx="10332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Undo each operation with its INVERSE — and always do the same to both sides to keep the equation balanced.</a:t>
            </a:r>
            <a:endParaRPr lang="en-US" sz="1700" dirty="0"/>
          </a:p>
        </p:txBody>
      </p:sp>
      <p:sp>
        <p:nvSpPr>
          <p:cNvPr id="9" name="anim_2_c"/>
          <p:cNvSpPr/>
          <p:nvPr/>
        </p:nvSpPr>
        <p:spPr>
          <a:xfrm>
            <a:off x="548640" y="2926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INVERSE PAIRS</a:t>
            </a:r>
            <a:endParaRPr lang="en-US" sz="1200" dirty="0"/>
          </a:p>
        </p:txBody>
      </p:sp>
      <p:sp>
        <p:nvSpPr>
          <p:cNvPr id="10" name="anim_2_c"/>
          <p:cNvSpPr/>
          <p:nvPr/>
        </p:nvSpPr>
        <p:spPr>
          <a:xfrm>
            <a:off x="548640" y="3273552"/>
            <a:ext cx="2606040" cy="868680"/>
          </a:xfrm>
          <a:prstGeom prst="roundRect">
            <a:avLst>
              <a:gd name="adj" fmla="val 12632"/>
            </a:avLst>
          </a:prstGeom>
          <a:solidFill>
            <a:srgbClr val="EEF1E8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anim_2_c"/>
          <p:cNvSpPr/>
          <p:nvPr/>
        </p:nvSpPr>
        <p:spPr>
          <a:xfrm>
            <a:off x="548640" y="3273552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   </a:t>
            </a:r>
            <a:pPr algn="ctr" indent="0" marL="0">
              <a:buNone/>
            </a:pPr>
            <a:r>
              <a:rPr lang="en-US" sz="22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⇄</a:t>
            </a:r>
            <a:pPr algn="ctr" indent="0" marL="0">
              <a:buNone/>
            </a:pPr>
            <a:r>
              <a:rPr lang="en-US" sz="28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–</a:t>
            </a:r>
            <a:endParaRPr lang="en-US" sz="2800" dirty="0"/>
          </a:p>
        </p:txBody>
      </p:sp>
      <p:sp>
        <p:nvSpPr>
          <p:cNvPr id="12" name="anim_2_c"/>
          <p:cNvSpPr/>
          <p:nvPr/>
        </p:nvSpPr>
        <p:spPr>
          <a:xfrm>
            <a:off x="3383280" y="3273552"/>
            <a:ext cx="2606040" cy="868680"/>
          </a:xfrm>
          <a:prstGeom prst="roundRect">
            <a:avLst>
              <a:gd name="adj" fmla="val 12632"/>
            </a:avLst>
          </a:prstGeom>
          <a:solidFill>
            <a:srgbClr val="EEF1E8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3" name="anim_2_c"/>
          <p:cNvSpPr/>
          <p:nvPr/>
        </p:nvSpPr>
        <p:spPr>
          <a:xfrm>
            <a:off x="3383280" y="3273552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   </a:t>
            </a:r>
            <a:pPr algn="ctr" indent="0" marL="0">
              <a:buNone/>
            </a:pPr>
            <a:r>
              <a:rPr lang="en-US" sz="22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⇄</a:t>
            </a:r>
            <a:pPr algn="ctr" indent="0" marL="0">
              <a:buNone/>
            </a:pPr>
            <a:r>
              <a:rPr lang="en-US" sz="28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÷</a:t>
            </a:r>
            <a:endParaRPr lang="en-US" sz="2800" dirty="0"/>
          </a:p>
        </p:txBody>
      </p:sp>
      <p:sp>
        <p:nvSpPr>
          <p:cNvPr id="14" name="anim_3_c"/>
          <p:cNvSpPr/>
          <p:nvPr/>
        </p:nvSpPr>
        <p:spPr>
          <a:xfrm>
            <a:off x="6400800" y="2926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WORDS</a:t>
            </a:r>
            <a:endParaRPr lang="en-US" sz="1200" dirty="0"/>
          </a:p>
        </p:txBody>
      </p:sp>
      <p:sp>
        <p:nvSpPr>
          <p:cNvPr id="15" name="anim_3_c"/>
          <p:cNvSpPr/>
          <p:nvPr/>
        </p:nvSpPr>
        <p:spPr>
          <a:xfrm>
            <a:off x="6400800" y="3273552"/>
            <a:ext cx="25146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9D6C6"/>
            </a:solidFill>
            <a:prstDash val="solid"/>
          </a:ln>
        </p:spPr>
      </p:sp>
      <p:sp>
        <p:nvSpPr>
          <p:cNvPr id="16" name="anim_3_c"/>
          <p:cNvSpPr/>
          <p:nvPr/>
        </p:nvSpPr>
        <p:spPr>
          <a:xfrm>
            <a:off x="6547104" y="327355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Equation:  </a:t>
            </a:r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sides joined by =</a:t>
            </a:r>
            <a:endParaRPr lang="en-US" sz="1200" dirty="0"/>
          </a:p>
        </p:txBody>
      </p:sp>
      <p:sp>
        <p:nvSpPr>
          <p:cNvPr id="17" name="anim_3_c"/>
          <p:cNvSpPr/>
          <p:nvPr/>
        </p:nvSpPr>
        <p:spPr>
          <a:xfrm>
            <a:off x="9052560" y="3273552"/>
            <a:ext cx="25146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9D6C6"/>
            </a:solidFill>
            <a:prstDash val="solid"/>
          </a:ln>
        </p:spPr>
      </p:sp>
      <p:sp>
        <p:nvSpPr>
          <p:cNvPr id="18" name="anim_3_c"/>
          <p:cNvSpPr/>
          <p:nvPr/>
        </p:nvSpPr>
        <p:spPr>
          <a:xfrm>
            <a:off x="9198864" y="327355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Variable:  </a:t>
            </a:r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unknown letter, e.g. x</a:t>
            </a:r>
            <a:endParaRPr lang="en-US" sz="1200" dirty="0"/>
          </a:p>
        </p:txBody>
      </p:sp>
      <p:sp>
        <p:nvSpPr>
          <p:cNvPr id="19" name="anim_3_c"/>
          <p:cNvSpPr/>
          <p:nvPr/>
        </p:nvSpPr>
        <p:spPr>
          <a:xfrm>
            <a:off x="6400800" y="3931920"/>
            <a:ext cx="25146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9D6C6"/>
            </a:solidFill>
            <a:prstDash val="solid"/>
          </a:ln>
        </p:spPr>
      </p:sp>
      <p:sp>
        <p:nvSpPr>
          <p:cNvPr id="20" name="anim_3_c"/>
          <p:cNvSpPr/>
          <p:nvPr/>
        </p:nvSpPr>
        <p:spPr>
          <a:xfrm>
            <a:off x="6547104" y="39319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Solve:  </a:t>
            </a:r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variable's value</a:t>
            </a:r>
            <a:endParaRPr lang="en-US" sz="1200" dirty="0"/>
          </a:p>
        </p:txBody>
      </p:sp>
      <p:sp>
        <p:nvSpPr>
          <p:cNvPr id="21" name="anim_3_c"/>
          <p:cNvSpPr/>
          <p:nvPr/>
        </p:nvSpPr>
        <p:spPr>
          <a:xfrm>
            <a:off x="9052560" y="3931920"/>
            <a:ext cx="25146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9D6C6"/>
            </a:solidFill>
            <a:prstDash val="solid"/>
          </a:ln>
        </p:spPr>
      </p:sp>
      <p:sp>
        <p:nvSpPr>
          <p:cNvPr id="22" name="anim_3_c"/>
          <p:cNvSpPr/>
          <p:nvPr/>
        </p:nvSpPr>
        <p:spPr>
          <a:xfrm>
            <a:off x="9198864" y="39319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Inverse:  </a:t>
            </a:r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opposite operation</a:t>
            </a:r>
            <a:endParaRPr lang="en-US" sz="1200" dirty="0"/>
          </a:p>
        </p:txBody>
      </p:sp>
      <p:sp>
        <p:nvSpPr>
          <p:cNvPr id="23" name="anim_3_c"/>
          <p:cNvSpPr/>
          <p:nvPr/>
        </p:nvSpPr>
        <p:spPr>
          <a:xfrm>
            <a:off x="548640" y="4892040"/>
            <a:ext cx="5486400" cy="868680"/>
          </a:xfrm>
          <a:prstGeom prst="roundRect">
            <a:avLst>
              <a:gd name="adj" fmla="val 10526"/>
            </a:avLst>
          </a:prstGeom>
          <a:solidFill>
            <a:srgbClr val="FBF3DD"/>
          </a:solidFill>
          <a:ln/>
        </p:spPr>
      </p:sp>
      <p:sp>
        <p:nvSpPr>
          <p:cNvPr id="24" name="anim_3_c"/>
          <p:cNvSpPr/>
          <p:nvPr/>
        </p:nvSpPr>
        <p:spPr>
          <a:xfrm>
            <a:off x="868680" y="489204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 </a:t>
            </a:r>
            <a:pPr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+ 7 = 11  →  subtract 7  →  x = 4</a:t>
            </a:r>
            <a:endParaRPr lang="en-US" sz="13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/>
          <a:effectLst>
            <a:outerShdw sx="100000" sy="100000" kx="0" ky="0" algn="bl" rotWithShape="0" blurRad="88900" dist="25400" dir="5400000">
              <a:srgbClr val="000000">
                <a:alpha val="22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40233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9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920" dirty="0"/>
          </a:p>
        </p:txBody>
      </p:sp>
      <p:sp>
        <p:nvSpPr>
          <p:cNvPr id="4" name="Text 2"/>
          <p:cNvSpPr/>
          <p:nvPr/>
        </p:nvSpPr>
        <p:spPr>
          <a:xfrm>
            <a:off x="1243584" y="42062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25296" y="658368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We'll Cover</a:t>
            </a:r>
            <a:endParaRPr lang="en-US" sz="2800" dirty="0"/>
          </a:p>
        </p:txBody>
      </p:sp>
      <p:sp>
        <p:nvSpPr>
          <p:cNvPr id="6" name="anim_1_a"/>
          <p:cNvSpPr/>
          <p:nvPr/>
        </p:nvSpPr>
        <p:spPr>
          <a:xfrm>
            <a:off x="548640" y="1783080"/>
            <a:ext cx="5440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6C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anim_1_a"/>
          <p:cNvSpPr/>
          <p:nvPr/>
        </p:nvSpPr>
        <p:spPr>
          <a:xfrm>
            <a:off x="841248" y="2093976"/>
            <a:ext cx="502920" cy="50292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8" name="anim_1_a"/>
          <p:cNvSpPr/>
          <p:nvPr/>
        </p:nvSpPr>
        <p:spPr>
          <a:xfrm>
            <a:off x="841248" y="209397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anim_1_a"/>
          <p:cNvSpPr/>
          <p:nvPr/>
        </p:nvSpPr>
        <p:spPr>
          <a:xfrm>
            <a:off x="1508760" y="17830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One-step equations (all four cases)</a:t>
            </a:r>
            <a:endParaRPr lang="en-US" sz="1600" dirty="0"/>
          </a:p>
        </p:txBody>
      </p:sp>
      <p:sp>
        <p:nvSpPr>
          <p:cNvPr id="10" name="anim_1_a"/>
          <p:cNvSpPr/>
          <p:nvPr/>
        </p:nvSpPr>
        <p:spPr>
          <a:xfrm>
            <a:off x="6263640" y="1783080"/>
            <a:ext cx="5440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6C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anim_1_a"/>
          <p:cNvSpPr/>
          <p:nvPr/>
        </p:nvSpPr>
        <p:spPr>
          <a:xfrm>
            <a:off x="6556248" y="2093976"/>
            <a:ext cx="502920" cy="50292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12" name="anim_1_a"/>
          <p:cNvSpPr/>
          <p:nvPr/>
        </p:nvSpPr>
        <p:spPr>
          <a:xfrm>
            <a:off x="6556248" y="209397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anim_1_a"/>
          <p:cNvSpPr/>
          <p:nvPr/>
        </p:nvSpPr>
        <p:spPr>
          <a:xfrm>
            <a:off x="7223760" y="17830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Two-step equations</a:t>
            </a:r>
            <a:endParaRPr lang="en-US" sz="1600" dirty="0"/>
          </a:p>
        </p:txBody>
      </p:sp>
      <p:sp>
        <p:nvSpPr>
          <p:cNvPr id="14" name="anim_2_c"/>
          <p:cNvSpPr/>
          <p:nvPr/>
        </p:nvSpPr>
        <p:spPr>
          <a:xfrm>
            <a:off x="548640" y="3108960"/>
            <a:ext cx="5440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6C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anim_2_c"/>
          <p:cNvSpPr/>
          <p:nvPr/>
        </p:nvSpPr>
        <p:spPr>
          <a:xfrm>
            <a:off x="841248" y="3419856"/>
            <a:ext cx="502920" cy="50292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16" name="anim_2_c"/>
          <p:cNvSpPr/>
          <p:nvPr/>
        </p:nvSpPr>
        <p:spPr>
          <a:xfrm>
            <a:off x="841248" y="34198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anim_2_c"/>
          <p:cNvSpPr/>
          <p:nvPr/>
        </p:nvSpPr>
        <p:spPr>
          <a:xfrm>
            <a:off x="1508760" y="310896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Simplify, then solve</a:t>
            </a:r>
            <a:endParaRPr lang="en-US" sz="1600" dirty="0"/>
          </a:p>
        </p:txBody>
      </p:sp>
      <p:sp>
        <p:nvSpPr>
          <p:cNvPr id="18" name="anim_2_c"/>
          <p:cNvSpPr/>
          <p:nvPr/>
        </p:nvSpPr>
        <p:spPr>
          <a:xfrm>
            <a:off x="6263640" y="3108960"/>
            <a:ext cx="5440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6C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anim_2_c"/>
          <p:cNvSpPr/>
          <p:nvPr/>
        </p:nvSpPr>
        <p:spPr>
          <a:xfrm>
            <a:off x="6556248" y="3419856"/>
            <a:ext cx="502920" cy="50292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20" name="anim_2_c"/>
          <p:cNvSpPr/>
          <p:nvPr/>
        </p:nvSpPr>
        <p:spPr>
          <a:xfrm>
            <a:off x="6556248" y="34198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anim_2_c"/>
          <p:cNvSpPr/>
          <p:nvPr/>
        </p:nvSpPr>
        <p:spPr>
          <a:xfrm>
            <a:off x="7223760" y="310896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Equations with brackets</a:t>
            </a:r>
            <a:endParaRPr lang="en-US" sz="1600" dirty="0"/>
          </a:p>
        </p:txBody>
      </p:sp>
      <p:sp>
        <p:nvSpPr>
          <p:cNvPr id="22" name="anim_3_c"/>
          <p:cNvSpPr/>
          <p:nvPr/>
        </p:nvSpPr>
        <p:spPr>
          <a:xfrm>
            <a:off x="548640" y="4434840"/>
            <a:ext cx="5440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6C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anim_3_c"/>
          <p:cNvSpPr/>
          <p:nvPr/>
        </p:nvSpPr>
        <p:spPr>
          <a:xfrm>
            <a:off x="841248" y="4745736"/>
            <a:ext cx="502920" cy="50292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24" name="anim_3_c"/>
          <p:cNvSpPr/>
          <p:nvPr/>
        </p:nvSpPr>
        <p:spPr>
          <a:xfrm>
            <a:off x="841248" y="474573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25" name="anim_3_c"/>
          <p:cNvSpPr/>
          <p:nvPr/>
        </p:nvSpPr>
        <p:spPr>
          <a:xfrm>
            <a:off x="1508760" y="443484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Unknowns on both sides</a:t>
            </a:r>
            <a:endParaRPr lang="en-US" sz="1600" dirty="0"/>
          </a:p>
        </p:txBody>
      </p:sp>
      <p:sp>
        <p:nvSpPr>
          <p:cNvPr id="26" name="anim_3_c"/>
          <p:cNvSpPr/>
          <p:nvPr/>
        </p:nvSpPr>
        <p:spPr>
          <a:xfrm>
            <a:off x="6263640" y="4434840"/>
            <a:ext cx="5440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6C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7" name="anim_3_c"/>
          <p:cNvSpPr/>
          <p:nvPr/>
        </p:nvSpPr>
        <p:spPr>
          <a:xfrm>
            <a:off x="6556248" y="4745736"/>
            <a:ext cx="502920" cy="50292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28" name="anim_3_c"/>
          <p:cNvSpPr/>
          <p:nvPr/>
        </p:nvSpPr>
        <p:spPr>
          <a:xfrm>
            <a:off x="6556248" y="474573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29" name="anim_3_c"/>
          <p:cNvSpPr/>
          <p:nvPr/>
        </p:nvSpPr>
        <p:spPr>
          <a:xfrm>
            <a:off x="7223760" y="443484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Fractions, non-linear &amp; past-paper questions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/>
          <a:effectLst>
            <a:outerShdw sx="100000" sy="100000" kx="0" ky="0" algn="bl" rotWithShape="0" blurRad="88900" dist="25400" dir="5400000">
              <a:srgbClr val="000000">
                <a:alpha val="22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40233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9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920" dirty="0"/>
          </a:p>
        </p:txBody>
      </p:sp>
      <p:sp>
        <p:nvSpPr>
          <p:cNvPr id="4" name="Text 2"/>
          <p:cNvSpPr/>
          <p:nvPr/>
        </p:nvSpPr>
        <p:spPr>
          <a:xfrm>
            <a:off x="1243584" y="42062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ONE-STEP · ALL CASES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25296" y="658368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One-Step Equations — the Four Operations</a:t>
            </a:r>
            <a:endParaRPr lang="en-US" sz="2800" dirty="0"/>
          </a:p>
        </p:txBody>
      </p:sp>
      <p:sp>
        <p:nvSpPr>
          <p:cNvPr id="6" name="anim_1_a"/>
          <p:cNvSpPr/>
          <p:nvPr/>
        </p:nvSpPr>
        <p:spPr>
          <a:xfrm>
            <a:off x="548640" y="1691640"/>
            <a:ext cx="54406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9D6C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anim_1_a"/>
          <p:cNvSpPr/>
          <p:nvPr/>
        </p:nvSpPr>
        <p:spPr>
          <a:xfrm>
            <a:off x="822960" y="1929384"/>
            <a:ext cx="1554480" cy="384048"/>
          </a:xfrm>
          <a:prstGeom prst="roundRect">
            <a:avLst>
              <a:gd name="adj" fmla="val 47619"/>
            </a:avLst>
          </a:prstGeom>
          <a:solidFill>
            <a:srgbClr val="C84F2F"/>
          </a:solidFill>
          <a:ln/>
        </p:spPr>
      </p:sp>
      <p:sp>
        <p:nvSpPr>
          <p:cNvPr id="8" name="anim_1_a"/>
          <p:cNvSpPr/>
          <p:nvPr/>
        </p:nvSpPr>
        <p:spPr>
          <a:xfrm>
            <a:off x="822960" y="1929384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</a:t>
            </a:r>
            <a:endParaRPr lang="en-US" sz="1100" dirty="0"/>
          </a:p>
        </p:txBody>
      </p:sp>
      <p:sp>
        <p:nvSpPr>
          <p:cNvPr id="9" name="anim_1_a"/>
          <p:cNvSpPr/>
          <p:nvPr/>
        </p:nvSpPr>
        <p:spPr>
          <a:xfrm>
            <a:off x="859536" y="2368296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+ 7 = 11</a:t>
            </a:r>
            <a:endParaRPr lang="en-US" sz="2600" dirty="0"/>
          </a:p>
        </p:txBody>
      </p:sp>
      <p:sp>
        <p:nvSpPr>
          <p:cNvPr id="10" name="anim_1_a"/>
          <p:cNvSpPr/>
          <p:nvPr/>
        </p:nvSpPr>
        <p:spPr>
          <a:xfrm>
            <a:off x="859536" y="27889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A7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subtract 7 from both sides</a:t>
            </a:r>
            <a:endParaRPr lang="en-US" sz="1250" dirty="0"/>
          </a:p>
        </p:txBody>
      </p:sp>
      <p:sp>
        <p:nvSpPr>
          <p:cNvPr id="11" name="anim_1_a"/>
          <p:cNvSpPr/>
          <p:nvPr/>
        </p:nvSpPr>
        <p:spPr>
          <a:xfrm>
            <a:off x="4114800" y="2916936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16261F"/>
          </a:solidFill>
          <a:ln/>
        </p:spPr>
      </p:sp>
      <p:sp>
        <p:nvSpPr>
          <p:cNvPr id="12" name="anim_1_a"/>
          <p:cNvSpPr/>
          <p:nvPr/>
        </p:nvSpPr>
        <p:spPr>
          <a:xfrm>
            <a:off x="4114800" y="2916936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= 4</a:t>
            </a:r>
            <a:endParaRPr lang="en-US" sz="2000" dirty="0"/>
          </a:p>
        </p:txBody>
      </p:sp>
      <p:sp>
        <p:nvSpPr>
          <p:cNvPr id="13" name="anim_2_c"/>
          <p:cNvSpPr/>
          <p:nvPr/>
        </p:nvSpPr>
        <p:spPr>
          <a:xfrm>
            <a:off x="6199632" y="1691640"/>
            <a:ext cx="54406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9D6C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anim_2_c"/>
          <p:cNvSpPr/>
          <p:nvPr/>
        </p:nvSpPr>
        <p:spPr>
          <a:xfrm>
            <a:off x="6473952" y="1929384"/>
            <a:ext cx="1554480" cy="384048"/>
          </a:xfrm>
          <a:prstGeom prst="roundRect">
            <a:avLst>
              <a:gd name="adj" fmla="val 47619"/>
            </a:avLst>
          </a:prstGeom>
          <a:solidFill>
            <a:srgbClr val="C84F2F"/>
          </a:solidFill>
          <a:ln/>
        </p:spPr>
      </p:sp>
      <p:sp>
        <p:nvSpPr>
          <p:cNvPr id="15" name="anim_2_c"/>
          <p:cNvSpPr/>
          <p:nvPr/>
        </p:nvSpPr>
        <p:spPr>
          <a:xfrm>
            <a:off x="6473952" y="1929384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SUBTRACT</a:t>
            </a:r>
            <a:endParaRPr lang="en-US" sz="1100" dirty="0"/>
          </a:p>
        </p:txBody>
      </p:sp>
      <p:sp>
        <p:nvSpPr>
          <p:cNvPr id="16" name="anim_2_c"/>
          <p:cNvSpPr/>
          <p:nvPr/>
        </p:nvSpPr>
        <p:spPr>
          <a:xfrm>
            <a:off x="6510528" y="2368296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– 4 = 8</a:t>
            </a:r>
            <a:endParaRPr lang="en-US" sz="2600" dirty="0"/>
          </a:p>
        </p:txBody>
      </p:sp>
      <p:sp>
        <p:nvSpPr>
          <p:cNvPr id="17" name="anim_2_c"/>
          <p:cNvSpPr/>
          <p:nvPr/>
        </p:nvSpPr>
        <p:spPr>
          <a:xfrm>
            <a:off x="6510528" y="27889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A7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4 to both sides</a:t>
            </a:r>
            <a:endParaRPr lang="en-US" sz="1250" dirty="0"/>
          </a:p>
        </p:txBody>
      </p:sp>
      <p:sp>
        <p:nvSpPr>
          <p:cNvPr id="18" name="anim_2_c"/>
          <p:cNvSpPr/>
          <p:nvPr/>
        </p:nvSpPr>
        <p:spPr>
          <a:xfrm>
            <a:off x="9765792" y="2916936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16261F"/>
          </a:solidFill>
          <a:ln/>
        </p:spPr>
      </p:sp>
      <p:sp>
        <p:nvSpPr>
          <p:cNvPr id="19" name="anim_2_c"/>
          <p:cNvSpPr/>
          <p:nvPr/>
        </p:nvSpPr>
        <p:spPr>
          <a:xfrm>
            <a:off x="9765792" y="2916936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= 12</a:t>
            </a:r>
            <a:endParaRPr lang="en-US" sz="2000" dirty="0"/>
          </a:p>
        </p:txBody>
      </p:sp>
      <p:sp>
        <p:nvSpPr>
          <p:cNvPr id="20" name="anim_3_c"/>
          <p:cNvSpPr/>
          <p:nvPr/>
        </p:nvSpPr>
        <p:spPr>
          <a:xfrm>
            <a:off x="548640" y="3840480"/>
            <a:ext cx="54406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9D6C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anim_3_c"/>
          <p:cNvSpPr/>
          <p:nvPr/>
        </p:nvSpPr>
        <p:spPr>
          <a:xfrm>
            <a:off x="822960" y="4078224"/>
            <a:ext cx="1554480" cy="384048"/>
          </a:xfrm>
          <a:prstGeom prst="roundRect">
            <a:avLst>
              <a:gd name="adj" fmla="val 47619"/>
            </a:avLst>
          </a:prstGeom>
          <a:solidFill>
            <a:srgbClr val="C84F2F"/>
          </a:solidFill>
          <a:ln/>
        </p:spPr>
      </p:sp>
      <p:sp>
        <p:nvSpPr>
          <p:cNvPr id="22" name="anim_3_c"/>
          <p:cNvSpPr/>
          <p:nvPr/>
        </p:nvSpPr>
        <p:spPr>
          <a:xfrm>
            <a:off x="822960" y="4078224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</a:t>
            </a:r>
            <a:endParaRPr lang="en-US" sz="1100" dirty="0"/>
          </a:p>
        </p:txBody>
      </p:sp>
      <p:sp>
        <p:nvSpPr>
          <p:cNvPr id="23" name="anim_3_c"/>
          <p:cNvSpPr/>
          <p:nvPr/>
        </p:nvSpPr>
        <p:spPr>
          <a:xfrm>
            <a:off x="859536" y="4517136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5x = 15</a:t>
            </a:r>
            <a:endParaRPr lang="en-US" sz="2600" dirty="0"/>
          </a:p>
        </p:txBody>
      </p:sp>
      <p:sp>
        <p:nvSpPr>
          <p:cNvPr id="24" name="anim_3_c"/>
          <p:cNvSpPr/>
          <p:nvPr/>
        </p:nvSpPr>
        <p:spPr>
          <a:xfrm>
            <a:off x="859536" y="49377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A7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 both sides by 5</a:t>
            </a:r>
            <a:endParaRPr lang="en-US" sz="1250" dirty="0"/>
          </a:p>
        </p:txBody>
      </p:sp>
      <p:sp>
        <p:nvSpPr>
          <p:cNvPr id="25" name="anim_3_c"/>
          <p:cNvSpPr/>
          <p:nvPr/>
        </p:nvSpPr>
        <p:spPr>
          <a:xfrm>
            <a:off x="4114800" y="5065776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16261F"/>
          </a:solidFill>
          <a:ln/>
        </p:spPr>
      </p:sp>
      <p:sp>
        <p:nvSpPr>
          <p:cNvPr id="26" name="anim_3_c"/>
          <p:cNvSpPr/>
          <p:nvPr/>
        </p:nvSpPr>
        <p:spPr>
          <a:xfrm>
            <a:off x="4114800" y="5065776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= 3</a:t>
            </a:r>
            <a:endParaRPr lang="en-US" sz="2000" dirty="0"/>
          </a:p>
        </p:txBody>
      </p:sp>
      <p:sp>
        <p:nvSpPr>
          <p:cNvPr id="27" name="anim_4_c"/>
          <p:cNvSpPr/>
          <p:nvPr/>
        </p:nvSpPr>
        <p:spPr>
          <a:xfrm>
            <a:off x="6199632" y="3840480"/>
            <a:ext cx="54406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9D6C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8" name="anim_4_c"/>
          <p:cNvSpPr/>
          <p:nvPr/>
        </p:nvSpPr>
        <p:spPr>
          <a:xfrm>
            <a:off x="6473952" y="4078224"/>
            <a:ext cx="1554480" cy="384048"/>
          </a:xfrm>
          <a:prstGeom prst="roundRect">
            <a:avLst>
              <a:gd name="adj" fmla="val 47619"/>
            </a:avLst>
          </a:prstGeom>
          <a:solidFill>
            <a:srgbClr val="C84F2F"/>
          </a:solidFill>
          <a:ln/>
        </p:spPr>
      </p:sp>
      <p:sp>
        <p:nvSpPr>
          <p:cNvPr id="29" name="anim_4_c"/>
          <p:cNvSpPr/>
          <p:nvPr/>
        </p:nvSpPr>
        <p:spPr>
          <a:xfrm>
            <a:off x="6473952" y="4078224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</a:t>
            </a:r>
            <a:endParaRPr lang="en-US" sz="1100" dirty="0"/>
          </a:p>
        </p:txBody>
      </p:sp>
      <p:sp>
        <p:nvSpPr>
          <p:cNvPr id="30" name="anim_4_c"/>
          <p:cNvSpPr/>
          <p:nvPr/>
        </p:nvSpPr>
        <p:spPr>
          <a:xfrm>
            <a:off x="6510528" y="49377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A7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both sides by 3</a:t>
            </a:r>
            <a:endParaRPr lang="en-US" sz="1250" dirty="0"/>
          </a:p>
        </p:txBody>
      </p:sp>
      <p:sp>
        <p:nvSpPr>
          <p:cNvPr id="31" name="anim_4_c"/>
          <p:cNvSpPr/>
          <p:nvPr/>
        </p:nvSpPr>
        <p:spPr>
          <a:xfrm>
            <a:off x="9765792" y="5065776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16261F"/>
          </a:solidFill>
          <a:ln/>
        </p:spPr>
      </p:sp>
      <p:sp>
        <p:nvSpPr>
          <p:cNvPr id="32" name="anim_4_c"/>
          <p:cNvSpPr/>
          <p:nvPr/>
        </p:nvSpPr>
        <p:spPr>
          <a:xfrm>
            <a:off x="9765792" y="5065776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= 24</a:t>
            </a:r>
            <a:endParaRPr lang="en-US" sz="2000" dirty="0"/>
          </a:p>
        </p:txBody>
      </p:sp>
      <p:sp>
        <p:nvSpPr>
          <p:cNvPr id="33" name="anim_4_c"/>
          <p:cNvSpPr/>
          <p:nvPr/>
        </p:nvSpPr>
        <p:spPr>
          <a:xfrm>
            <a:off x="6583680" y="444398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endParaRPr lang="en-US" sz="1800" dirty="0"/>
          </a:p>
        </p:txBody>
      </p:sp>
      <p:sp>
        <p:nvSpPr>
          <p:cNvPr id="34" name="anim_4_c"/>
          <p:cNvSpPr/>
          <p:nvPr/>
        </p:nvSpPr>
        <p:spPr>
          <a:xfrm>
            <a:off x="6620256" y="4700016"/>
            <a:ext cx="384048" cy="0"/>
          </a:xfrm>
          <a:prstGeom prst="line">
            <a:avLst/>
          </a:prstGeom>
          <a:noFill/>
          <a:ln w="22225">
            <a:solidFill>
              <a:srgbClr val="24332D"/>
            </a:solidFill>
            <a:prstDash val="solid"/>
          </a:ln>
        </p:spPr>
      </p:sp>
      <p:sp>
        <p:nvSpPr>
          <p:cNvPr id="35" name="anim_4_c"/>
          <p:cNvSpPr/>
          <p:nvPr/>
        </p:nvSpPr>
        <p:spPr>
          <a:xfrm>
            <a:off x="6583680" y="4709160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36" name="anim_4_c"/>
          <p:cNvSpPr/>
          <p:nvPr/>
        </p:nvSpPr>
        <p:spPr>
          <a:xfrm>
            <a:off x="7132320" y="44805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 8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/>
          <a:effectLst>
            <a:outerShdw sx="100000" sy="100000" kx="0" ky="0" algn="bl" rotWithShape="0" blurRad="88900" dist="25400" dir="5400000">
              <a:srgbClr val="000000">
                <a:alpha val="22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40233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9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920" dirty="0"/>
          </a:p>
        </p:txBody>
      </p:sp>
      <p:sp>
        <p:nvSpPr>
          <p:cNvPr id="4" name="Text 2"/>
          <p:cNvSpPr/>
          <p:nvPr/>
        </p:nvSpPr>
        <p:spPr>
          <a:xfrm>
            <a:off x="1243584" y="42062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ONE-STEP · PRACTICE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25296" y="658368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One-Step — Your Turn (incl. negatives &amp; fractions)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A7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one inverse operation. Watch out for negative and fraction cases.</a:t>
            </a:r>
            <a:endParaRPr lang="en-US" sz="1350" dirty="0"/>
          </a:p>
        </p:txBody>
      </p:sp>
      <p:sp>
        <p:nvSpPr>
          <p:cNvPr id="7" name="anim_1_a"/>
          <p:cNvSpPr/>
          <p:nvPr/>
        </p:nvSpPr>
        <p:spPr>
          <a:xfrm>
            <a:off x="640080" y="1920240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C84F2F"/>
          </a:solidFill>
          <a:ln/>
        </p:spPr>
      </p:sp>
      <p:sp>
        <p:nvSpPr>
          <p:cNvPr id="8" name="anim_1_a"/>
          <p:cNvSpPr/>
          <p:nvPr/>
        </p:nvSpPr>
        <p:spPr>
          <a:xfrm>
            <a:off x="640080" y="19202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anim_1_a"/>
          <p:cNvSpPr/>
          <p:nvPr/>
        </p:nvSpPr>
        <p:spPr>
          <a:xfrm>
            <a:off x="1243584" y="1920240"/>
            <a:ext cx="4572000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D9D6C6"/>
            </a:solidFill>
            <a:prstDash val="solid"/>
          </a:ln>
        </p:spPr>
      </p:sp>
      <p:sp>
        <p:nvSpPr>
          <p:cNvPr id="10" name="anim_1_a"/>
          <p:cNvSpPr/>
          <p:nvPr/>
        </p:nvSpPr>
        <p:spPr>
          <a:xfrm>
            <a:off x="1463040" y="1920240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3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+ 6 = 15</a:t>
            </a:r>
            <a:endParaRPr lang="en-US" sz="1800" dirty="0"/>
          </a:p>
        </p:txBody>
      </p:sp>
      <p:sp>
        <p:nvSpPr>
          <p:cNvPr id="11" name="anim_1_a"/>
          <p:cNvSpPr/>
          <p:nvPr/>
        </p:nvSpPr>
        <p:spPr>
          <a:xfrm>
            <a:off x="640080" y="2761488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C84F2F"/>
          </a:solidFill>
          <a:ln/>
        </p:spPr>
      </p:sp>
      <p:sp>
        <p:nvSpPr>
          <p:cNvPr id="12" name="anim_1_a"/>
          <p:cNvSpPr/>
          <p:nvPr/>
        </p:nvSpPr>
        <p:spPr>
          <a:xfrm>
            <a:off x="640080" y="27614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anim_1_a"/>
          <p:cNvSpPr/>
          <p:nvPr/>
        </p:nvSpPr>
        <p:spPr>
          <a:xfrm>
            <a:off x="1243584" y="2761488"/>
            <a:ext cx="4572000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D9D6C6"/>
            </a:solidFill>
            <a:prstDash val="solid"/>
          </a:ln>
        </p:spPr>
      </p:sp>
      <p:sp>
        <p:nvSpPr>
          <p:cNvPr id="14" name="anim_1_a"/>
          <p:cNvSpPr/>
          <p:nvPr/>
        </p:nvSpPr>
        <p:spPr>
          <a:xfrm>
            <a:off x="1463040" y="2761488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3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– 3 = 10</a:t>
            </a:r>
            <a:endParaRPr lang="en-US" sz="1800" dirty="0"/>
          </a:p>
        </p:txBody>
      </p:sp>
      <p:sp>
        <p:nvSpPr>
          <p:cNvPr id="15" name="anim_1_a"/>
          <p:cNvSpPr/>
          <p:nvPr/>
        </p:nvSpPr>
        <p:spPr>
          <a:xfrm>
            <a:off x="640080" y="3602736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C84F2F"/>
          </a:solidFill>
          <a:ln/>
        </p:spPr>
      </p:sp>
      <p:sp>
        <p:nvSpPr>
          <p:cNvPr id="16" name="anim_1_a"/>
          <p:cNvSpPr/>
          <p:nvPr/>
        </p:nvSpPr>
        <p:spPr>
          <a:xfrm>
            <a:off x="640080" y="36027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anim_1_a"/>
          <p:cNvSpPr/>
          <p:nvPr/>
        </p:nvSpPr>
        <p:spPr>
          <a:xfrm>
            <a:off x="1243584" y="3602736"/>
            <a:ext cx="4572000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D9D6C6"/>
            </a:solidFill>
            <a:prstDash val="solid"/>
          </a:ln>
        </p:spPr>
      </p:sp>
      <p:sp>
        <p:nvSpPr>
          <p:cNvPr id="18" name="anim_1_a"/>
          <p:cNvSpPr/>
          <p:nvPr/>
        </p:nvSpPr>
        <p:spPr>
          <a:xfrm>
            <a:off x="1463040" y="3602736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3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3x = 30</a:t>
            </a:r>
            <a:endParaRPr lang="en-US" sz="1800" dirty="0"/>
          </a:p>
        </p:txBody>
      </p:sp>
      <p:sp>
        <p:nvSpPr>
          <p:cNvPr id="19" name="anim_1_a"/>
          <p:cNvSpPr/>
          <p:nvPr/>
        </p:nvSpPr>
        <p:spPr>
          <a:xfrm>
            <a:off x="640080" y="4443984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C84F2F"/>
          </a:solidFill>
          <a:ln/>
        </p:spPr>
      </p:sp>
      <p:sp>
        <p:nvSpPr>
          <p:cNvPr id="20" name="anim_1_a"/>
          <p:cNvSpPr/>
          <p:nvPr/>
        </p:nvSpPr>
        <p:spPr>
          <a:xfrm>
            <a:off x="640080" y="444398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anim_1_a"/>
          <p:cNvSpPr/>
          <p:nvPr/>
        </p:nvSpPr>
        <p:spPr>
          <a:xfrm>
            <a:off x="1243584" y="4325112"/>
            <a:ext cx="457200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9D6C6"/>
            </a:solidFill>
            <a:prstDash val="solid"/>
          </a:ln>
        </p:spPr>
      </p:sp>
      <p:sp>
        <p:nvSpPr>
          <p:cNvPr id="22" name="anim_1_a"/>
          <p:cNvSpPr/>
          <p:nvPr/>
        </p:nvSpPr>
        <p:spPr>
          <a:xfrm>
            <a:off x="1554480" y="4270248"/>
            <a:ext cx="4206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43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endParaRPr lang="en-US" sz="1500" dirty="0"/>
          </a:p>
        </p:txBody>
      </p:sp>
      <p:sp>
        <p:nvSpPr>
          <p:cNvPr id="23" name="anim_1_a"/>
          <p:cNvSpPr/>
          <p:nvPr/>
        </p:nvSpPr>
        <p:spPr>
          <a:xfrm>
            <a:off x="1591056" y="4681728"/>
            <a:ext cx="347472" cy="0"/>
          </a:xfrm>
          <a:prstGeom prst="line">
            <a:avLst/>
          </a:prstGeom>
          <a:noFill/>
          <a:ln w="22225">
            <a:solidFill>
              <a:srgbClr val="24332D"/>
            </a:solidFill>
            <a:prstDash val="solid"/>
          </a:ln>
        </p:spPr>
      </p:sp>
      <p:sp>
        <p:nvSpPr>
          <p:cNvPr id="24" name="anim_1_a"/>
          <p:cNvSpPr/>
          <p:nvPr/>
        </p:nvSpPr>
        <p:spPr>
          <a:xfrm>
            <a:off x="1554480" y="4718304"/>
            <a:ext cx="4206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43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5" name="anim_1_a"/>
          <p:cNvSpPr/>
          <p:nvPr/>
        </p:nvSpPr>
        <p:spPr>
          <a:xfrm>
            <a:off x="2121408" y="4443984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3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 6</a:t>
            </a:r>
            <a:endParaRPr lang="en-US" sz="1800" dirty="0"/>
          </a:p>
        </p:txBody>
      </p:sp>
      <p:sp>
        <p:nvSpPr>
          <p:cNvPr id="26" name="anim_2_c"/>
          <p:cNvSpPr/>
          <p:nvPr/>
        </p:nvSpPr>
        <p:spPr>
          <a:xfrm>
            <a:off x="6355080" y="1920240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C84F2F"/>
          </a:solidFill>
          <a:ln/>
        </p:spPr>
      </p:sp>
      <p:sp>
        <p:nvSpPr>
          <p:cNvPr id="27" name="anim_2_c"/>
          <p:cNvSpPr/>
          <p:nvPr/>
        </p:nvSpPr>
        <p:spPr>
          <a:xfrm>
            <a:off x="6355080" y="19202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8" name="anim_2_c"/>
          <p:cNvSpPr/>
          <p:nvPr/>
        </p:nvSpPr>
        <p:spPr>
          <a:xfrm>
            <a:off x="6958584" y="1920240"/>
            <a:ext cx="4572000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D9D6C6"/>
            </a:solidFill>
            <a:prstDash val="solid"/>
          </a:ln>
        </p:spPr>
      </p:sp>
      <p:sp>
        <p:nvSpPr>
          <p:cNvPr id="29" name="anim_2_c"/>
          <p:cNvSpPr/>
          <p:nvPr/>
        </p:nvSpPr>
        <p:spPr>
          <a:xfrm>
            <a:off x="7178040" y="1920240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3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+ 5 = –8</a:t>
            </a:r>
            <a:endParaRPr lang="en-US" sz="1800" dirty="0"/>
          </a:p>
        </p:txBody>
      </p:sp>
      <p:sp>
        <p:nvSpPr>
          <p:cNvPr id="30" name="anim_2_c"/>
          <p:cNvSpPr/>
          <p:nvPr/>
        </p:nvSpPr>
        <p:spPr>
          <a:xfrm>
            <a:off x="6355080" y="2761488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C84F2F"/>
          </a:solidFill>
          <a:ln/>
        </p:spPr>
      </p:sp>
      <p:sp>
        <p:nvSpPr>
          <p:cNvPr id="31" name="anim_2_c"/>
          <p:cNvSpPr/>
          <p:nvPr/>
        </p:nvSpPr>
        <p:spPr>
          <a:xfrm>
            <a:off x="6355080" y="27614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32" name="anim_2_c"/>
          <p:cNvSpPr/>
          <p:nvPr/>
        </p:nvSpPr>
        <p:spPr>
          <a:xfrm>
            <a:off x="6958584" y="2761488"/>
            <a:ext cx="4572000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D9D6C6"/>
            </a:solidFill>
            <a:prstDash val="solid"/>
          </a:ln>
        </p:spPr>
      </p:sp>
      <p:sp>
        <p:nvSpPr>
          <p:cNvPr id="33" name="anim_2_c"/>
          <p:cNvSpPr/>
          <p:nvPr/>
        </p:nvSpPr>
        <p:spPr>
          <a:xfrm>
            <a:off x="7178040" y="2761488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3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– 7 = –2</a:t>
            </a:r>
            <a:endParaRPr lang="en-US" sz="1800" dirty="0"/>
          </a:p>
        </p:txBody>
      </p:sp>
      <p:sp>
        <p:nvSpPr>
          <p:cNvPr id="34" name="anim_2_c"/>
          <p:cNvSpPr/>
          <p:nvPr/>
        </p:nvSpPr>
        <p:spPr>
          <a:xfrm>
            <a:off x="6355080" y="3602736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C84F2F"/>
          </a:solidFill>
          <a:ln/>
        </p:spPr>
      </p:sp>
      <p:sp>
        <p:nvSpPr>
          <p:cNvPr id="35" name="anim_2_c"/>
          <p:cNvSpPr/>
          <p:nvPr/>
        </p:nvSpPr>
        <p:spPr>
          <a:xfrm>
            <a:off x="6355080" y="36027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36" name="anim_2_c"/>
          <p:cNvSpPr/>
          <p:nvPr/>
        </p:nvSpPr>
        <p:spPr>
          <a:xfrm>
            <a:off x="6958584" y="3602736"/>
            <a:ext cx="4572000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D9D6C6"/>
            </a:solidFill>
            <a:prstDash val="solid"/>
          </a:ln>
        </p:spPr>
      </p:sp>
      <p:sp>
        <p:nvSpPr>
          <p:cNvPr id="37" name="anim_2_c"/>
          <p:cNvSpPr/>
          <p:nvPr/>
        </p:nvSpPr>
        <p:spPr>
          <a:xfrm>
            <a:off x="7178040" y="3602736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3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–2x = –8</a:t>
            </a:r>
            <a:endParaRPr lang="en-US" sz="1800" dirty="0"/>
          </a:p>
        </p:txBody>
      </p:sp>
      <p:sp>
        <p:nvSpPr>
          <p:cNvPr id="38" name="anim_2_c"/>
          <p:cNvSpPr/>
          <p:nvPr/>
        </p:nvSpPr>
        <p:spPr>
          <a:xfrm>
            <a:off x="6355080" y="4443984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C84F2F"/>
          </a:solidFill>
          <a:ln/>
        </p:spPr>
      </p:sp>
      <p:sp>
        <p:nvSpPr>
          <p:cNvPr id="39" name="anim_2_c"/>
          <p:cNvSpPr/>
          <p:nvPr/>
        </p:nvSpPr>
        <p:spPr>
          <a:xfrm>
            <a:off x="6355080" y="444398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500" dirty="0"/>
          </a:p>
        </p:txBody>
      </p:sp>
      <p:sp>
        <p:nvSpPr>
          <p:cNvPr id="40" name="anim_2_c"/>
          <p:cNvSpPr/>
          <p:nvPr/>
        </p:nvSpPr>
        <p:spPr>
          <a:xfrm>
            <a:off x="6958584" y="4443984"/>
            <a:ext cx="4572000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D9D6C6"/>
            </a:solidFill>
            <a:prstDash val="solid"/>
          </a:ln>
        </p:spPr>
      </p:sp>
      <p:sp>
        <p:nvSpPr>
          <p:cNvPr id="41" name="anim_2_c"/>
          <p:cNvSpPr/>
          <p:nvPr/>
        </p:nvSpPr>
        <p:spPr>
          <a:xfrm>
            <a:off x="7178040" y="4443984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3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5x = –10</a:t>
            </a:r>
            <a:endParaRPr lang="en-US" sz="18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/>
          <a:effectLst>
            <a:outerShdw sx="100000" sy="100000" kx="0" ky="0" algn="bl" rotWithShape="0" blurRad="88900" dist="25400" dir="5400000">
              <a:srgbClr val="000000">
                <a:alpha val="22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40233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9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920" dirty="0"/>
          </a:p>
        </p:txBody>
      </p:sp>
      <p:sp>
        <p:nvSpPr>
          <p:cNvPr id="4" name="Text 2"/>
          <p:cNvSpPr/>
          <p:nvPr/>
        </p:nvSpPr>
        <p:spPr>
          <a:xfrm>
            <a:off x="1243584" y="42062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TWO-STEP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25296" y="658368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Two-Step Equations</a:t>
            </a:r>
            <a:endParaRPr lang="en-US" sz="2800" dirty="0"/>
          </a:p>
        </p:txBody>
      </p:sp>
      <p:sp>
        <p:nvSpPr>
          <p:cNvPr id="6" name="anim_1_a"/>
          <p:cNvSpPr/>
          <p:nvPr/>
        </p:nvSpPr>
        <p:spPr>
          <a:xfrm>
            <a:off x="548640" y="1463040"/>
            <a:ext cx="11091672" cy="731520"/>
          </a:xfrm>
          <a:prstGeom prst="roundRect">
            <a:avLst>
              <a:gd name="adj" fmla="val 12500"/>
            </a:avLst>
          </a:prstGeom>
          <a:solidFill>
            <a:srgbClr val="16261F"/>
          </a:solidFill>
          <a:ln/>
          <a:effectLst>
            <a:outerShdw sx="100000" sy="100000" kx="0" ky="0" algn="bl" rotWithShape="0" blurRad="101600" dist="38100" dir="5400000">
              <a:srgbClr val="000000">
                <a:alpha val="14000"/>
              </a:srgbClr>
            </a:outerShdw>
          </a:effectLst>
        </p:spPr>
      </p:sp>
      <p:sp>
        <p:nvSpPr>
          <p:cNvPr id="7" name="anim_1_a"/>
          <p:cNvSpPr/>
          <p:nvPr/>
        </p:nvSpPr>
        <p:spPr>
          <a:xfrm>
            <a:off x="868680" y="146304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Strategy: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 + and – first, then undo × and ÷ — doing the same to both sides.</a:t>
            </a:r>
            <a:endParaRPr lang="en-US" sz="1600" dirty="0"/>
          </a:p>
        </p:txBody>
      </p:sp>
      <p:sp>
        <p:nvSpPr>
          <p:cNvPr id="8" name="anim_1_a"/>
          <p:cNvSpPr/>
          <p:nvPr/>
        </p:nvSpPr>
        <p:spPr>
          <a:xfrm>
            <a:off x="548640" y="2377440"/>
            <a:ext cx="11091672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6C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anim_1_a"/>
          <p:cNvSpPr/>
          <p:nvPr/>
        </p:nvSpPr>
        <p:spPr>
          <a:xfrm>
            <a:off x="548640" y="23774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Solve   5x + 6 = 21</a:t>
            </a:r>
            <a:endParaRPr lang="en-US" sz="2800" dirty="0"/>
          </a:p>
        </p:txBody>
      </p:sp>
      <p:sp>
        <p:nvSpPr>
          <p:cNvPr id="10" name="anim_2_c"/>
          <p:cNvSpPr/>
          <p:nvPr/>
        </p:nvSpPr>
        <p:spPr>
          <a:xfrm>
            <a:off x="548640" y="3474720"/>
            <a:ext cx="11091672" cy="2468880"/>
          </a:xfrm>
          <a:prstGeom prst="roundRect">
            <a:avLst>
              <a:gd name="adj" fmla="val 3704"/>
            </a:avLst>
          </a:prstGeom>
          <a:solidFill>
            <a:srgbClr val="EEF1E8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anim_2_c"/>
          <p:cNvSpPr/>
          <p:nvPr/>
        </p:nvSpPr>
        <p:spPr>
          <a:xfrm>
            <a:off x="868680" y="3767328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12" name="anim_2_c"/>
          <p:cNvSpPr/>
          <p:nvPr/>
        </p:nvSpPr>
        <p:spPr>
          <a:xfrm>
            <a:off x="868680" y="3767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3" name="anim_2_c"/>
          <p:cNvSpPr/>
          <p:nvPr/>
        </p:nvSpPr>
        <p:spPr>
          <a:xfrm>
            <a:off x="1417320" y="370332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243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Subtract 6 from both sides:    </a:t>
            </a:r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5x = 15</a:t>
            </a:r>
            <a:endParaRPr lang="en-US" sz="1600" dirty="0"/>
          </a:p>
        </p:txBody>
      </p:sp>
      <p:sp>
        <p:nvSpPr>
          <p:cNvPr id="14" name="anim_3_c"/>
          <p:cNvSpPr/>
          <p:nvPr/>
        </p:nvSpPr>
        <p:spPr>
          <a:xfrm>
            <a:off x="868680" y="4544568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15" name="anim_3_c"/>
          <p:cNvSpPr/>
          <p:nvPr/>
        </p:nvSpPr>
        <p:spPr>
          <a:xfrm>
            <a:off x="868680" y="4544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anim_3_c"/>
          <p:cNvSpPr/>
          <p:nvPr/>
        </p:nvSpPr>
        <p:spPr>
          <a:xfrm>
            <a:off x="1417320" y="448056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243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Divide both sides by 5:    </a:t>
            </a:r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= 3</a:t>
            </a:r>
            <a:endParaRPr lang="en-US" sz="1600" dirty="0"/>
          </a:p>
        </p:txBody>
      </p:sp>
      <p:sp>
        <p:nvSpPr>
          <p:cNvPr id="17" name="anim_4_c"/>
          <p:cNvSpPr/>
          <p:nvPr/>
        </p:nvSpPr>
        <p:spPr>
          <a:xfrm>
            <a:off x="868680" y="5212080"/>
            <a:ext cx="3108960" cy="603504"/>
          </a:xfrm>
          <a:prstGeom prst="roundRect">
            <a:avLst>
              <a:gd name="adj" fmla="val 18182"/>
            </a:avLst>
          </a:prstGeom>
          <a:solidFill>
            <a:srgbClr val="16261F"/>
          </a:solidFill>
          <a:ln/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8" name="anim_4_c"/>
          <p:cNvSpPr/>
          <p:nvPr/>
        </p:nvSpPr>
        <p:spPr>
          <a:xfrm>
            <a:off x="1051560" y="5212080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= 3</a:t>
            </a:r>
            <a:endParaRPr lang="en-US" sz="2200" dirty="0"/>
          </a:p>
        </p:txBody>
      </p:sp>
      <p:sp>
        <p:nvSpPr>
          <p:cNvPr id="19" name="anim_4_c"/>
          <p:cNvSpPr/>
          <p:nvPr/>
        </p:nvSpPr>
        <p:spPr>
          <a:xfrm>
            <a:off x="4297680" y="5212080"/>
            <a:ext cx="5486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A72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Check:  5(3) + 6 = 21 ✓</a:t>
            </a:r>
            <a:endParaRPr lang="en-US" sz="14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/>
          <a:effectLst>
            <a:outerShdw sx="100000" sy="100000" kx="0" ky="0" algn="bl" rotWithShape="0" blurRad="88900" dist="25400" dir="5400000">
              <a:srgbClr val="000000">
                <a:alpha val="22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40233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9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920" dirty="0"/>
          </a:p>
        </p:txBody>
      </p:sp>
      <p:sp>
        <p:nvSpPr>
          <p:cNvPr id="4" name="Text 2"/>
          <p:cNvSpPr/>
          <p:nvPr/>
        </p:nvSpPr>
        <p:spPr>
          <a:xfrm>
            <a:off x="1243584" y="42062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TWO-STEP · PRACTICE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25296" y="658368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Two-Step — Your Turn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A7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 the + or –, then the × or ÷.</a:t>
            </a:r>
            <a:endParaRPr lang="en-US" sz="1350" dirty="0"/>
          </a:p>
        </p:txBody>
      </p:sp>
      <p:sp>
        <p:nvSpPr>
          <p:cNvPr id="7" name="anim_1_a"/>
          <p:cNvSpPr/>
          <p:nvPr/>
        </p:nvSpPr>
        <p:spPr>
          <a:xfrm>
            <a:off x="640080" y="1920240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C84F2F"/>
          </a:solidFill>
          <a:ln/>
        </p:spPr>
      </p:sp>
      <p:sp>
        <p:nvSpPr>
          <p:cNvPr id="8" name="anim_1_a"/>
          <p:cNvSpPr/>
          <p:nvPr/>
        </p:nvSpPr>
        <p:spPr>
          <a:xfrm>
            <a:off x="640080" y="19202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anim_1_a"/>
          <p:cNvSpPr/>
          <p:nvPr/>
        </p:nvSpPr>
        <p:spPr>
          <a:xfrm>
            <a:off x="1243584" y="1920240"/>
            <a:ext cx="4572000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D9D6C6"/>
            </a:solidFill>
            <a:prstDash val="solid"/>
          </a:ln>
        </p:spPr>
      </p:sp>
      <p:sp>
        <p:nvSpPr>
          <p:cNvPr id="10" name="anim_1_a"/>
          <p:cNvSpPr/>
          <p:nvPr/>
        </p:nvSpPr>
        <p:spPr>
          <a:xfrm>
            <a:off x="1463040" y="1920240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3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3a + 6 = 15</a:t>
            </a:r>
            <a:endParaRPr lang="en-US" sz="1800" dirty="0"/>
          </a:p>
        </p:txBody>
      </p:sp>
      <p:sp>
        <p:nvSpPr>
          <p:cNvPr id="11" name="anim_1_a"/>
          <p:cNvSpPr/>
          <p:nvPr/>
        </p:nvSpPr>
        <p:spPr>
          <a:xfrm>
            <a:off x="640080" y="2761488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C84F2F"/>
          </a:solidFill>
          <a:ln/>
        </p:spPr>
      </p:sp>
      <p:sp>
        <p:nvSpPr>
          <p:cNvPr id="12" name="anim_1_a"/>
          <p:cNvSpPr/>
          <p:nvPr/>
        </p:nvSpPr>
        <p:spPr>
          <a:xfrm>
            <a:off x="640080" y="27614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anim_1_a"/>
          <p:cNvSpPr/>
          <p:nvPr/>
        </p:nvSpPr>
        <p:spPr>
          <a:xfrm>
            <a:off x="1243584" y="2761488"/>
            <a:ext cx="4572000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D9D6C6"/>
            </a:solidFill>
            <a:prstDash val="solid"/>
          </a:ln>
        </p:spPr>
      </p:sp>
      <p:sp>
        <p:nvSpPr>
          <p:cNvPr id="14" name="anim_1_a"/>
          <p:cNvSpPr/>
          <p:nvPr/>
        </p:nvSpPr>
        <p:spPr>
          <a:xfrm>
            <a:off x="1463040" y="2761488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3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2b + 5 = 21</a:t>
            </a:r>
            <a:endParaRPr lang="en-US" sz="1800" dirty="0"/>
          </a:p>
        </p:txBody>
      </p:sp>
      <p:sp>
        <p:nvSpPr>
          <p:cNvPr id="15" name="anim_1_a"/>
          <p:cNvSpPr/>
          <p:nvPr/>
        </p:nvSpPr>
        <p:spPr>
          <a:xfrm>
            <a:off x="640080" y="3602736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C84F2F"/>
          </a:solidFill>
          <a:ln/>
        </p:spPr>
      </p:sp>
      <p:sp>
        <p:nvSpPr>
          <p:cNvPr id="16" name="anim_1_a"/>
          <p:cNvSpPr/>
          <p:nvPr/>
        </p:nvSpPr>
        <p:spPr>
          <a:xfrm>
            <a:off x="640080" y="36027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anim_1_a"/>
          <p:cNvSpPr/>
          <p:nvPr/>
        </p:nvSpPr>
        <p:spPr>
          <a:xfrm>
            <a:off x="1243584" y="3602736"/>
            <a:ext cx="4572000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D9D6C6"/>
            </a:solidFill>
            <a:prstDash val="solid"/>
          </a:ln>
        </p:spPr>
      </p:sp>
      <p:sp>
        <p:nvSpPr>
          <p:cNvPr id="18" name="anim_1_a"/>
          <p:cNvSpPr/>
          <p:nvPr/>
        </p:nvSpPr>
        <p:spPr>
          <a:xfrm>
            <a:off x="1463040" y="3602736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3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7c – 1 = 27</a:t>
            </a:r>
            <a:endParaRPr lang="en-US" sz="1800" dirty="0"/>
          </a:p>
        </p:txBody>
      </p:sp>
      <p:sp>
        <p:nvSpPr>
          <p:cNvPr id="19" name="anim_1_a"/>
          <p:cNvSpPr/>
          <p:nvPr/>
        </p:nvSpPr>
        <p:spPr>
          <a:xfrm>
            <a:off x="640080" y="4443984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C84F2F"/>
          </a:solidFill>
          <a:ln/>
        </p:spPr>
      </p:sp>
      <p:sp>
        <p:nvSpPr>
          <p:cNvPr id="20" name="anim_1_a"/>
          <p:cNvSpPr/>
          <p:nvPr/>
        </p:nvSpPr>
        <p:spPr>
          <a:xfrm>
            <a:off x="640080" y="444398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anim_1_a"/>
          <p:cNvSpPr/>
          <p:nvPr/>
        </p:nvSpPr>
        <p:spPr>
          <a:xfrm>
            <a:off x="1243584" y="4443984"/>
            <a:ext cx="4572000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D9D6C6"/>
            </a:solidFill>
            <a:prstDash val="solid"/>
          </a:ln>
        </p:spPr>
      </p:sp>
      <p:sp>
        <p:nvSpPr>
          <p:cNvPr id="22" name="anim_1_a"/>
          <p:cNvSpPr/>
          <p:nvPr/>
        </p:nvSpPr>
        <p:spPr>
          <a:xfrm>
            <a:off x="1463040" y="4443984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3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12d – 64 = 8</a:t>
            </a:r>
            <a:endParaRPr lang="en-US" sz="1800" dirty="0"/>
          </a:p>
        </p:txBody>
      </p:sp>
      <p:sp>
        <p:nvSpPr>
          <p:cNvPr id="23" name="anim_2_c"/>
          <p:cNvSpPr/>
          <p:nvPr/>
        </p:nvSpPr>
        <p:spPr>
          <a:xfrm>
            <a:off x="6355080" y="1920240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C84F2F"/>
          </a:solidFill>
          <a:ln/>
        </p:spPr>
      </p:sp>
      <p:sp>
        <p:nvSpPr>
          <p:cNvPr id="24" name="anim_2_c"/>
          <p:cNvSpPr/>
          <p:nvPr/>
        </p:nvSpPr>
        <p:spPr>
          <a:xfrm>
            <a:off x="6355080" y="19202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5" name="anim_2_c"/>
          <p:cNvSpPr/>
          <p:nvPr/>
        </p:nvSpPr>
        <p:spPr>
          <a:xfrm>
            <a:off x="6958584" y="1920240"/>
            <a:ext cx="4572000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D9D6C6"/>
            </a:solidFill>
            <a:prstDash val="solid"/>
          </a:ln>
        </p:spPr>
      </p:sp>
      <p:sp>
        <p:nvSpPr>
          <p:cNvPr id="26" name="anim_2_c"/>
          <p:cNvSpPr/>
          <p:nvPr/>
        </p:nvSpPr>
        <p:spPr>
          <a:xfrm>
            <a:off x="7178040" y="1920240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3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+ 6e = 15</a:t>
            </a:r>
            <a:endParaRPr lang="en-US" sz="1800" dirty="0"/>
          </a:p>
        </p:txBody>
      </p:sp>
      <p:sp>
        <p:nvSpPr>
          <p:cNvPr id="27" name="anim_2_c"/>
          <p:cNvSpPr/>
          <p:nvPr/>
        </p:nvSpPr>
        <p:spPr>
          <a:xfrm>
            <a:off x="6355080" y="2761488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C84F2F"/>
          </a:solidFill>
          <a:ln/>
        </p:spPr>
      </p:sp>
      <p:sp>
        <p:nvSpPr>
          <p:cNvPr id="28" name="anim_2_c"/>
          <p:cNvSpPr/>
          <p:nvPr/>
        </p:nvSpPr>
        <p:spPr>
          <a:xfrm>
            <a:off x="6355080" y="27614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9" name="anim_2_c"/>
          <p:cNvSpPr/>
          <p:nvPr/>
        </p:nvSpPr>
        <p:spPr>
          <a:xfrm>
            <a:off x="6958584" y="2761488"/>
            <a:ext cx="4572000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D9D6C6"/>
            </a:solidFill>
            <a:prstDash val="solid"/>
          </a:ln>
        </p:spPr>
      </p:sp>
      <p:sp>
        <p:nvSpPr>
          <p:cNvPr id="30" name="anim_2_c"/>
          <p:cNvSpPr/>
          <p:nvPr/>
        </p:nvSpPr>
        <p:spPr>
          <a:xfrm>
            <a:off x="7178040" y="2761488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3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 + 7f = 67</a:t>
            </a:r>
            <a:endParaRPr lang="en-US" sz="1800" dirty="0"/>
          </a:p>
        </p:txBody>
      </p:sp>
      <p:sp>
        <p:nvSpPr>
          <p:cNvPr id="31" name="anim_2_c"/>
          <p:cNvSpPr/>
          <p:nvPr/>
        </p:nvSpPr>
        <p:spPr>
          <a:xfrm>
            <a:off x="6355080" y="3602736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C84F2F"/>
          </a:solidFill>
          <a:ln/>
        </p:spPr>
      </p:sp>
      <p:sp>
        <p:nvSpPr>
          <p:cNvPr id="32" name="anim_2_c"/>
          <p:cNvSpPr/>
          <p:nvPr/>
        </p:nvSpPr>
        <p:spPr>
          <a:xfrm>
            <a:off x="6355080" y="36027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33" name="anim_2_c"/>
          <p:cNvSpPr/>
          <p:nvPr/>
        </p:nvSpPr>
        <p:spPr>
          <a:xfrm>
            <a:off x="6958584" y="3602736"/>
            <a:ext cx="4572000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D9D6C6"/>
            </a:solidFill>
            <a:prstDash val="solid"/>
          </a:ln>
        </p:spPr>
      </p:sp>
      <p:sp>
        <p:nvSpPr>
          <p:cNvPr id="34" name="anim_2_c"/>
          <p:cNvSpPr/>
          <p:nvPr/>
        </p:nvSpPr>
        <p:spPr>
          <a:xfrm>
            <a:off x="7178040" y="3602736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3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= 3x – 4</a:t>
            </a:r>
            <a:endParaRPr lang="en-US" sz="1800" dirty="0"/>
          </a:p>
        </p:txBody>
      </p:sp>
      <p:sp>
        <p:nvSpPr>
          <p:cNvPr id="35" name="anim_2_c"/>
          <p:cNvSpPr/>
          <p:nvPr/>
        </p:nvSpPr>
        <p:spPr>
          <a:xfrm>
            <a:off x="6355080" y="4443984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C84F2F"/>
          </a:solidFill>
          <a:ln/>
        </p:spPr>
      </p:sp>
      <p:sp>
        <p:nvSpPr>
          <p:cNvPr id="36" name="anim_2_c"/>
          <p:cNvSpPr/>
          <p:nvPr/>
        </p:nvSpPr>
        <p:spPr>
          <a:xfrm>
            <a:off x="6355080" y="444398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500" dirty="0"/>
          </a:p>
        </p:txBody>
      </p:sp>
      <p:sp>
        <p:nvSpPr>
          <p:cNvPr id="37" name="anim_2_c"/>
          <p:cNvSpPr/>
          <p:nvPr/>
        </p:nvSpPr>
        <p:spPr>
          <a:xfrm>
            <a:off x="6958584" y="4443984"/>
            <a:ext cx="4572000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D9D6C6"/>
            </a:solidFill>
            <a:prstDash val="solid"/>
          </a:ln>
        </p:spPr>
      </p:sp>
      <p:sp>
        <p:nvSpPr>
          <p:cNvPr id="38" name="anim_2_c"/>
          <p:cNvSpPr/>
          <p:nvPr/>
        </p:nvSpPr>
        <p:spPr>
          <a:xfrm>
            <a:off x="7178040" y="4443984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3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 = 6x + 5</a:t>
            </a:r>
            <a:endParaRPr lang="en-US" sz="18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/>
          <a:effectLst>
            <a:outerShdw sx="100000" sy="100000" kx="0" ky="0" algn="bl" rotWithShape="0" blurRad="88900" dist="25400" dir="5400000">
              <a:srgbClr val="000000">
                <a:alpha val="22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40233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9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920" dirty="0"/>
          </a:p>
        </p:txBody>
      </p:sp>
      <p:sp>
        <p:nvSpPr>
          <p:cNvPr id="4" name="Text 2"/>
          <p:cNvSpPr/>
          <p:nvPr/>
        </p:nvSpPr>
        <p:spPr>
          <a:xfrm>
            <a:off x="1243584" y="42062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SIMPLIFY, THEN SOLVE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25296" y="658368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Collect Like Terms First</a:t>
            </a:r>
            <a:endParaRPr lang="en-US" sz="2800" dirty="0"/>
          </a:p>
        </p:txBody>
      </p:sp>
      <p:sp>
        <p:nvSpPr>
          <p:cNvPr id="6" name="anim_1_a"/>
          <p:cNvSpPr/>
          <p:nvPr/>
        </p:nvSpPr>
        <p:spPr>
          <a:xfrm>
            <a:off x="548640" y="1463040"/>
            <a:ext cx="11091672" cy="731520"/>
          </a:xfrm>
          <a:prstGeom prst="roundRect">
            <a:avLst>
              <a:gd name="adj" fmla="val 12500"/>
            </a:avLst>
          </a:prstGeom>
          <a:solidFill>
            <a:srgbClr val="16261F"/>
          </a:solidFill>
          <a:ln/>
          <a:effectLst>
            <a:outerShdw sx="100000" sy="100000" kx="0" ky="0" algn="bl" rotWithShape="0" blurRad="101600" dist="38100" dir="5400000">
              <a:srgbClr val="000000">
                <a:alpha val="14000"/>
              </a:srgbClr>
            </a:outerShdw>
          </a:effectLst>
        </p:spPr>
      </p:sp>
      <p:sp>
        <p:nvSpPr>
          <p:cNvPr id="7" name="anim_1_a"/>
          <p:cNvSpPr/>
          <p:nvPr/>
        </p:nvSpPr>
        <p:spPr>
          <a:xfrm>
            <a:off x="868680" y="146304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Strategy: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simplify each side by collecting like terms, then solve as usual.</a:t>
            </a:r>
            <a:endParaRPr lang="en-US" sz="1600" dirty="0"/>
          </a:p>
        </p:txBody>
      </p:sp>
      <p:sp>
        <p:nvSpPr>
          <p:cNvPr id="8" name="anim_1_a"/>
          <p:cNvSpPr/>
          <p:nvPr/>
        </p:nvSpPr>
        <p:spPr>
          <a:xfrm>
            <a:off x="548640" y="2331720"/>
            <a:ext cx="11091672" cy="1828800"/>
          </a:xfrm>
          <a:prstGeom prst="roundRect">
            <a:avLst>
              <a:gd name="adj" fmla="val 5000"/>
            </a:avLst>
          </a:prstGeom>
          <a:solidFill>
            <a:srgbClr val="EEF1E8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anim_1_a"/>
          <p:cNvSpPr/>
          <p:nvPr/>
        </p:nvSpPr>
        <p:spPr>
          <a:xfrm>
            <a:off x="868680" y="24688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Solve   4x + 6 – 8 = 22</a:t>
            </a:r>
            <a:endParaRPr lang="en-US" sz="2200" dirty="0"/>
          </a:p>
        </p:txBody>
      </p:sp>
      <p:sp>
        <p:nvSpPr>
          <p:cNvPr id="10" name="anim_2_c"/>
          <p:cNvSpPr/>
          <p:nvPr/>
        </p:nvSpPr>
        <p:spPr>
          <a:xfrm>
            <a:off x="868680" y="3017520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11" name="anim_2_c"/>
          <p:cNvSpPr/>
          <p:nvPr/>
        </p:nvSpPr>
        <p:spPr>
          <a:xfrm>
            <a:off x="868680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anim_2_c"/>
          <p:cNvSpPr/>
          <p:nvPr/>
        </p:nvSpPr>
        <p:spPr>
          <a:xfrm>
            <a:off x="1417320" y="2953512"/>
            <a:ext cx="9784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243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Collect like terms:   </a:t>
            </a:r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4x – 2 = 22</a:t>
            </a:r>
            <a:endParaRPr lang="en-US" sz="1600" dirty="0"/>
          </a:p>
        </p:txBody>
      </p:sp>
      <p:sp>
        <p:nvSpPr>
          <p:cNvPr id="13" name="anim_3_c"/>
          <p:cNvSpPr/>
          <p:nvPr/>
        </p:nvSpPr>
        <p:spPr>
          <a:xfrm>
            <a:off x="868680" y="3630168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14" name="anim_3_c"/>
          <p:cNvSpPr/>
          <p:nvPr/>
        </p:nvSpPr>
        <p:spPr>
          <a:xfrm>
            <a:off x="868680" y="3630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anim_3_c"/>
          <p:cNvSpPr/>
          <p:nvPr/>
        </p:nvSpPr>
        <p:spPr>
          <a:xfrm>
            <a:off x="1417320" y="3566160"/>
            <a:ext cx="9784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243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2, then divide by 4:   4x = 24   →   </a:t>
            </a:r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= 6</a:t>
            </a:r>
            <a:endParaRPr lang="en-US" sz="1600" dirty="0"/>
          </a:p>
        </p:txBody>
      </p:sp>
      <p:sp>
        <p:nvSpPr>
          <p:cNvPr id="16" name="anim_4_c"/>
          <p:cNvSpPr/>
          <p:nvPr/>
        </p:nvSpPr>
        <p:spPr>
          <a:xfrm>
            <a:off x="548640" y="43434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TRY — simplify first:</a:t>
            </a:r>
            <a:endParaRPr lang="en-US" sz="1200" dirty="0"/>
          </a:p>
        </p:txBody>
      </p:sp>
      <p:sp>
        <p:nvSpPr>
          <p:cNvPr id="17" name="anim_4_c"/>
          <p:cNvSpPr/>
          <p:nvPr/>
        </p:nvSpPr>
        <p:spPr>
          <a:xfrm>
            <a:off x="548640" y="4709160"/>
            <a:ext cx="352044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6C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8" name="anim_4_c"/>
          <p:cNvSpPr/>
          <p:nvPr/>
        </p:nvSpPr>
        <p:spPr>
          <a:xfrm>
            <a:off x="749808" y="4983480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19" name="anim_4_c"/>
          <p:cNvSpPr/>
          <p:nvPr/>
        </p:nvSpPr>
        <p:spPr>
          <a:xfrm>
            <a:off x="749808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0" name="anim_4_c"/>
          <p:cNvSpPr/>
          <p:nvPr/>
        </p:nvSpPr>
        <p:spPr>
          <a:xfrm>
            <a:off x="1225296" y="470916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+ 2x – 5x = 12</a:t>
            </a:r>
            <a:endParaRPr lang="en-US" sz="1700" dirty="0"/>
          </a:p>
        </p:txBody>
      </p:sp>
      <p:sp>
        <p:nvSpPr>
          <p:cNvPr id="21" name="anim_4_c"/>
          <p:cNvSpPr/>
          <p:nvPr/>
        </p:nvSpPr>
        <p:spPr>
          <a:xfrm>
            <a:off x="4261104" y="4709160"/>
            <a:ext cx="352044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6C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2" name="anim_4_c"/>
          <p:cNvSpPr/>
          <p:nvPr/>
        </p:nvSpPr>
        <p:spPr>
          <a:xfrm>
            <a:off x="4462272" y="4983480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23" name="anim_4_c"/>
          <p:cNvSpPr/>
          <p:nvPr/>
        </p:nvSpPr>
        <p:spPr>
          <a:xfrm>
            <a:off x="4462272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4" name="anim_4_c"/>
          <p:cNvSpPr/>
          <p:nvPr/>
        </p:nvSpPr>
        <p:spPr>
          <a:xfrm>
            <a:off x="4937760" y="470916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4x – x + 4 – 7 = 15</a:t>
            </a:r>
            <a:endParaRPr lang="en-US" sz="1700" dirty="0"/>
          </a:p>
        </p:txBody>
      </p:sp>
      <p:sp>
        <p:nvSpPr>
          <p:cNvPr id="25" name="anim_4_c"/>
          <p:cNvSpPr/>
          <p:nvPr/>
        </p:nvSpPr>
        <p:spPr>
          <a:xfrm>
            <a:off x="7973568" y="4709160"/>
            <a:ext cx="352044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6C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6" name="anim_4_c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27" name="anim_4_c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8" name="anim_4_c"/>
          <p:cNvSpPr/>
          <p:nvPr/>
        </p:nvSpPr>
        <p:spPr>
          <a:xfrm>
            <a:off x="8650224" y="470916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3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5x – 3 – 8x + 1 = –26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/>
          <a:effectLst>
            <a:outerShdw sx="100000" sy="100000" kx="0" ky="0" algn="bl" rotWithShape="0" blurRad="88900" dist="25400" dir="5400000">
              <a:srgbClr val="000000">
                <a:alpha val="22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40233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9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920" dirty="0"/>
          </a:p>
        </p:txBody>
      </p:sp>
      <p:sp>
        <p:nvSpPr>
          <p:cNvPr id="4" name="Text 2"/>
          <p:cNvSpPr/>
          <p:nvPr/>
        </p:nvSpPr>
        <p:spPr>
          <a:xfrm>
            <a:off x="1243584" y="42062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BRACKETS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25296" y="658368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Equations with Brackets</a:t>
            </a:r>
            <a:endParaRPr lang="en-US" sz="2800" dirty="0"/>
          </a:p>
        </p:txBody>
      </p:sp>
      <p:sp>
        <p:nvSpPr>
          <p:cNvPr id="6" name="anim_1_a"/>
          <p:cNvSpPr/>
          <p:nvPr/>
        </p:nvSpPr>
        <p:spPr>
          <a:xfrm>
            <a:off x="548640" y="1463040"/>
            <a:ext cx="11091672" cy="731520"/>
          </a:xfrm>
          <a:prstGeom prst="roundRect">
            <a:avLst>
              <a:gd name="adj" fmla="val 12500"/>
            </a:avLst>
          </a:prstGeom>
          <a:solidFill>
            <a:srgbClr val="16261F"/>
          </a:solidFill>
          <a:ln/>
          <a:effectLst>
            <a:outerShdw sx="100000" sy="100000" kx="0" ky="0" algn="bl" rotWithShape="0" blurRad="101600" dist="38100" dir="5400000">
              <a:srgbClr val="000000">
                <a:alpha val="14000"/>
              </a:srgbClr>
            </a:outerShdw>
          </a:effectLst>
        </p:spPr>
      </p:sp>
      <p:sp>
        <p:nvSpPr>
          <p:cNvPr id="7" name="anim_1_a"/>
          <p:cNvSpPr/>
          <p:nvPr/>
        </p:nvSpPr>
        <p:spPr>
          <a:xfrm>
            <a:off x="868680" y="146304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Strategy: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the bracket first, then solve the two-step equation.</a:t>
            </a:r>
            <a:endParaRPr lang="en-US" sz="1600" dirty="0"/>
          </a:p>
        </p:txBody>
      </p:sp>
      <p:sp>
        <p:nvSpPr>
          <p:cNvPr id="8" name="anim_1_a"/>
          <p:cNvSpPr/>
          <p:nvPr/>
        </p:nvSpPr>
        <p:spPr>
          <a:xfrm>
            <a:off x="548640" y="2377440"/>
            <a:ext cx="11091672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6C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anim_1_a"/>
          <p:cNvSpPr/>
          <p:nvPr/>
        </p:nvSpPr>
        <p:spPr>
          <a:xfrm>
            <a:off x="548640" y="23774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Solve   4(2x + 3) = 42</a:t>
            </a:r>
            <a:endParaRPr lang="en-US" sz="2800" dirty="0"/>
          </a:p>
        </p:txBody>
      </p:sp>
      <p:sp>
        <p:nvSpPr>
          <p:cNvPr id="10" name="anim_2_c"/>
          <p:cNvSpPr/>
          <p:nvPr/>
        </p:nvSpPr>
        <p:spPr>
          <a:xfrm>
            <a:off x="548640" y="3474720"/>
            <a:ext cx="11091672" cy="2468880"/>
          </a:xfrm>
          <a:prstGeom prst="roundRect">
            <a:avLst>
              <a:gd name="adj" fmla="val 3704"/>
            </a:avLst>
          </a:prstGeom>
          <a:solidFill>
            <a:srgbClr val="EEF1E8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anim_2_c"/>
          <p:cNvSpPr/>
          <p:nvPr/>
        </p:nvSpPr>
        <p:spPr>
          <a:xfrm>
            <a:off x="868680" y="3721608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12" name="anim_2_c"/>
          <p:cNvSpPr/>
          <p:nvPr/>
        </p:nvSpPr>
        <p:spPr>
          <a:xfrm>
            <a:off x="868680" y="3721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3" name="anim_2_c"/>
          <p:cNvSpPr/>
          <p:nvPr/>
        </p:nvSpPr>
        <p:spPr>
          <a:xfrm>
            <a:off x="1417320" y="365760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243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Expand the bracket:   </a:t>
            </a:r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8x + 12 = 42</a:t>
            </a:r>
            <a:endParaRPr lang="en-US" sz="1600" dirty="0"/>
          </a:p>
        </p:txBody>
      </p:sp>
      <p:sp>
        <p:nvSpPr>
          <p:cNvPr id="14" name="anim_3_c"/>
          <p:cNvSpPr/>
          <p:nvPr/>
        </p:nvSpPr>
        <p:spPr>
          <a:xfrm>
            <a:off x="868680" y="4361688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15" name="anim_3_c"/>
          <p:cNvSpPr/>
          <p:nvPr/>
        </p:nvSpPr>
        <p:spPr>
          <a:xfrm>
            <a:off x="868680" y="4361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anim_3_c"/>
          <p:cNvSpPr/>
          <p:nvPr/>
        </p:nvSpPr>
        <p:spPr>
          <a:xfrm>
            <a:off x="1417320" y="429768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243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Subtract 12 from both sides:   </a:t>
            </a:r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8x = 30</a:t>
            </a:r>
            <a:endParaRPr lang="en-US" sz="1600" dirty="0"/>
          </a:p>
        </p:txBody>
      </p:sp>
      <p:sp>
        <p:nvSpPr>
          <p:cNvPr id="17" name="anim_4_c"/>
          <p:cNvSpPr/>
          <p:nvPr/>
        </p:nvSpPr>
        <p:spPr>
          <a:xfrm>
            <a:off x="868680" y="5001768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18" name="anim_4_c"/>
          <p:cNvSpPr/>
          <p:nvPr/>
        </p:nvSpPr>
        <p:spPr>
          <a:xfrm>
            <a:off x="868680" y="5001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anim_4_c"/>
          <p:cNvSpPr/>
          <p:nvPr/>
        </p:nvSpPr>
        <p:spPr>
          <a:xfrm>
            <a:off x="1417320" y="493776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243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Divide both sides by 8:   </a:t>
            </a:r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= 3.75</a:t>
            </a:r>
            <a:endParaRPr lang="en-US" sz="1600" dirty="0"/>
          </a:p>
        </p:txBody>
      </p:sp>
      <p:sp>
        <p:nvSpPr>
          <p:cNvPr id="20" name="anim_4_c"/>
          <p:cNvSpPr/>
          <p:nvPr/>
        </p:nvSpPr>
        <p:spPr>
          <a:xfrm>
            <a:off x="868680" y="5532120"/>
            <a:ext cx="3931920" cy="411480"/>
          </a:xfrm>
          <a:prstGeom prst="roundRect">
            <a:avLst>
              <a:gd name="adj" fmla="val 26667"/>
            </a:avLst>
          </a:prstGeom>
          <a:solidFill>
            <a:srgbClr val="16261F"/>
          </a:solidFill>
          <a:ln/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21" name="anim_4_c"/>
          <p:cNvSpPr/>
          <p:nvPr/>
        </p:nvSpPr>
        <p:spPr>
          <a:xfrm>
            <a:off x="1051560" y="55321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= 3.75  (or 15/4)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/>
          <a:effectLst>
            <a:outerShdw sx="100000" sy="100000" kx="0" ky="0" algn="bl" rotWithShape="0" blurRad="88900" dist="25400" dir="5400000">
              <a:srgbClr val="000000">
                <a:alpha val="22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40233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9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920" dirty="0"/>
          </a:p>
        </p:txBody>
      </p:sp>
      <p:sp>
        <p:nvSpPr>
          <p:cNvPr id="4" name="Text 2"/>
          <p:cNvSpPr/>
          <p:nvPr/>
        </p:nvSpPr>
        <p:spPr>
          <a:xfrm>
            <a:off x="1243584" y="42062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SIDES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25296" y="658368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Unknowns on Both Sides — “the river”</a:t>
            </a:r>
            <a:endParaRPr lang="en-US" sz="2800" dirty="0"/>
          </a:p>
        </p:txBody>
      </p:sp>
      <p:sp>
        <p:nvSpPr>
          <p:cNvPr id="6" name="anim_1_a"/>
          <p:cNvSpPr/>
          <p:nvPr/>
        </p:nvSpPr>
        <p:spPr>
          <a:xfrm>
            <a:off x="548640" y="1463040"/>
            <a:ext cx="11091672" cy="731520"/>
          </a:xfrm>
          <a:prstGeom prst="roundRect">
            <a:avLst>
              <a:gd name="adj" fmla="val 12500"/>
            </a:avLst>
          </a:prstGeom>
          <a:solidFill>
            <a:srgbClr val="16261F"/>
          </a:solidFill>
          <a:ln/>
          <a:effectLst>
            <a:outerShdw sx="100000" sy="100000" kx="0" ky="0" algn="bl" rotWithShape="0" blurRad="101600" dist="38100" dir="5400000">
              <a:srgbClr val="000000">
                <a:alpha val="14000"/>
              </a:srgbClr>
            </a:outerShdw>
          </a:effectLst>
        </p:spPr>
      </p:sp>
      <p:sp>
        <p:nvSpPr>
          <p:cNvPr id="7" name="anim_1_a"/>
          <p:cNvSpPr/>
          <p:nvPr/>
        </p:nvSpPr>
        <p:spPr>
          <a:xfrm>
            <a:off x="868680" y="146304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Strategy: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the variable to one side — subtract the smaller x-term from both sides.</a:t>
            </a:r>
            <a:endParaRPr lang="en-US" sz="1600" dirty="0"/>
          </a:p>
        </p:txBody>
      </p:sp>
      <p:sp>
        <p:nvSpPr>
          <p:cNvPr id="8" name="anim_1_a"/>
          <p:cNvSpPr/>
          <p:nvPr/>
        </p:nvSpPr>
        <p:spPr>
          <a:xfrm>
            <a:off x="548640" y="2377440"/>
            <a:ext cx="11091672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6C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anim_1_a"/>
          <p:cNvSpPr/>
          <p:nvPr/>
        </p:nvSpPr>
        <p:spPr>
          <a:xfrm>
            <a:off x="548640" y="23774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Solve   3x + 2 = 4x – 1</a:t>
            </a:r>
            <a:endParaRPr lang="en-US" sz="2800" dirty="0"/>
          </a:p>
        </p:txBody>
      </p:sp>
      <p:sp>
        <p:nvSpPr>
          <p:cNvPr id="10" name="anim_2_c"/>
          <p:cNvSpPr/>
          <p:nvPr/>
        </p:nvSpPr>
        <p:spPr>
          <a:xfrm>
            <a:off x="548640" y="3474720"/>
            <a:ext cx="11091672" cy="2468880"/>
          </a:xfrm>
          <a:prstGeom prst="roundRect">
            <a:avLst>
              <a:gd name="adj" fmla="val 3704"/>
            </a:avLst>
          </a:prstGeom>
          <a:solidFill>
            <a:srgbClr val="EEF1E8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anim_2_c"/>
          <p:cNvSpPr/>
          <p:nvPr/>
        </p:nvSpPr>
        <p:spPr>
          <a:xfrm>
            <a:off x="868680" y="3749040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12" name="anim_2_c"/>
          <p:cNvSpPr/>
          <p:nvPr/>
        </p:nvSpPr>
        <p:spPr>
          <a:xfrm>
            <a:off x="868680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3" name="anim_2_c"/>
          <p:cNvSpPr/>
          <p:nvPr/>
        </p:nvSpPr>
        <p:spPr>
          <a:xfrm>
            <a:off x="1417320" y="3685032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243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Subtract 3x from both sides:    </a:t>
            </a:r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= x – 1</a:t>
            </a:r>
            <a:endParaRPr lang="en-US" sz="1600" dirty="0"/>
          </a:p>
        </p:txBody>
      </p:sp>
      <p:sp>
        <p:nvSpPr>
          <p:cNvPr id="14" name="anim_3_c"/>
          <p:cNvSpPr/>
          <p:nvPr/>
        </p:nvSpPr>
        <p:spPr>
          <a:xfrm>
            <a:off x="868680" y="4453128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15" name="anim_3_c"/>
          <p:cNvSpPr/>
          <p:nvPr/>
        </p:nvSpPr>
        <p:spPr>
          <a:xfrm>
            <a:off x="868680" y="4453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anim_3_c"/>
          <p:cNvSpPr/>
          <p:nvPr/>
        </p:nvSpPr>
        <p:spPr>
          <a:xfrm>
            <a:off x="1417320" y="438912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243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1 to both sides:    </a:t>
            </a:r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= x</a:t>
            </a:r>
            <a:endParaRPr lang="en-US" sz="1600" dirty="0"/>
          </a:p>
        </p:txBody>
      </p:sp>
      <p:sp>
        <p:nvSpPr>
          <p:cNvPr id="17" name="anim_4_c"/>
          <p:cNvSpPr/>
          <p:nvPr/>
        </p:nvSpPr>
        <p:spPr>
          <a:xfrm>
            <a:off x="868680" y="5138928"/>
            <a:ext cx="3108960" cy="566928"/>
          </a:xfrm>
          <a:prstGeom prst="roundRect">
            <a:avLst>
              <a:gd name="adj" fmla="val 19355"/>
            </a:avLst>
          </a:prstGeom>
          <a:solidFill>
            <a:srgbClr val="16261F"/>
          </a:solidFill>
          <a:ln/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8" name="anim_4_c"/>
          <p:cNvSpPr/>
          <p:nvPr/>
        </p:nvSpPr>
        <p:spPr>
          <a:xfrm>
            <a:off x="1051560" y="5138928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= 3</a:t>
            </a:r>
            <a:endParaRPr lang="en-US" sz="2200" dirty="0"/>
          </a:p>
        </p:txBody>
      </p:sp>
      <p:sp>
        <p:nvSpPr>
          <p:cNvPr id="19" name="anim_4_c"/>
          <p:cNvSpPr/>
          <p:nvPr/>
        </p:nvSpPr>
        <p:spPr>
          <a:xfrm>
            <a:off x="4297680" y="5138928"/>
            <a:ext cx="6400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A72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Check:  3(3)+2 = 11   and   4(3)–1 = 11  ✓</a:t>
            </a:r>
            <a:endParaRPr lang="en-US" sz="14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/>
          <a:effectLst>
            <a:outerShdw sx="100000" sy="100000" kx="0" ky="0" algn="bl" rotWithShape="0" blurRad="88900" dist="25400" dir="5400000">
              <a:srgbClr val="000000">
                <a:alpha val="22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40233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9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920" dirty="0"/>
          </a:p>
        </p:txBody>
      </p:sp>
      <p:sp>
        <p:nvSpPr>
          <p:cNvPr id="4" name="Text 2"/>
          <p:cNvSpPr/>
          <p:nvPr/>
        </p:nvSpPr>
        <p:spPr>
          <a:xfrm>
            <a:off x="1243584" y="42062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SIDES · BRACKETS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25296" y="658368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Both Sides with Brackets</a:t>
            </a:r>
            <a:endParaRPr lang="en-US" sz="2800" dirty="0"/>
          </a:p>
        </p:txBody>
      </p:sp>
      <p:sp>
        <p:nvSpPr>
          <p:cNvPr id="6" name="anim_1_a"/>
          <p:cNvSpPr/>
          <p:nvPr/>
        </p:nvSpPr>
        <p:spPr>
          <a:xfrm>
            <a:off x="548640" y="1463040"/>
            <a:ext cx="11091672" cy="731520"/>
          </a:xfrm>
          <a:prstGeom prst="roundRect">
            <a:avLst>
              <a:gd name="adj" fmla="val 12500"/>
            </a:avLst>
          </a:prstGeom>
          <a:solidFill>
            <a:srgbClr val="16261F"/>
          </a:solidFill>
          <a:ln/>
          <a:effectLst>
            <a:outerShdw sx="100000" sy="100000" kx="0" ky="0" algn="bl" rotWithShape="0" blurRad="101600" dist="38100" dir="5400000">
              <a:srgbClr val="000000">
                <a:alpha val="14000"/>
              </a:srgbClr>
            </a:outerShdw>
          </a:effectLst>
        </p:spPr>
      </p:sp>
      <p:sp>
        <p:nvSpPr>
          <p:cNvPr id="7" name="anim_1_a"/>
          <p:cNvSpPr/>
          <p:nvPr/>
        </p:nvSpPr>
        <p:spPr>
          <a:xfrm>
            <a:off x="868680" y="146304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Strategy: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both brackets first, then collect the variable on one side.</a:t>
            </a:r>
            <a:endParaRPr lang="en-US" sz="1600" dirty="0"/>
          </a:p>
        </p:txBody>
      </p:sp>
      <p:sp>
        <p:nvSpPr>
          <p:cNvPr id="8" name="anim_1_a"/>
          <p:cNvSpPr/>
          <p:nvPr/>
        </p:nvSpPr>
        <p:spPr>
          <a:xfrm>
            <a:off x="548640" y="2377440"/>
            <a:ext cx="11091672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9D6C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anim_1_a"/>
          <p:cNvSpPr/>
          <p:nvPr/>
        </p:nvSpPr>
        <p:spPr>
          <a:xfrm>
            <a:off x="548640" y="23774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Solve   3(x + 5) = 9(x – 1)</a:t>
            </a:r>
            <a:endParaRPr lang="en-US" sz="2500" dirty="0"/>
          </a:p>
        </p:txBody>
      </p:sp>
      <p:sp>
        <p:nvSpPr>
          <p:cNvPr id="10" name="anim_2_c"/>
          <p:cNvSpPr/>
          <p:nvPr/>
        </p:nvSpPr>
        <p:spPr>
          <a:xfrm>
            <a:off x="548640" y="3337560"/>
            <a:ext cx="11091672" cy="2606040"/>
          </a:xfrm>
          <a:prstGeom prst="roundRect">
            <a:avLst>
              <a:gd name="adj" fmla="val 3509"/>
            </a:avLst>
          </a:prstGeom>
          <a:solidFill>
            <a:srgbClr val="EEF1E8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anim_2_c"/>
          <p:cNvSpPr/>
          <p:nvPr/>
        </p:nvSpPr>
        <p:spPr>
          <a:xfrm>
            <a:off x="868680" y="3584448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12" name="anim_2_c"/>
          <p:cNvSpPr/>
          <p:nvPr/>
        </p:nvSpPr>
        <p:spPr>
          <a:xfrm>
            <a:off x="868680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3" name="anim_2_c"/>
          <p:cNvSpPr/>
          <p:nvPr/>
        </p:nvSpPr>
        <p:spPr>
          <a:xfrm>
            <a:off x="1417320" y="352044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243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Expand both sides:    </a:t>
            </a:r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3x + 15 = 9x – 9</a:t>
            </a:r>
            <a:endParaRPr lang="en-US" sz="1600" dirty="0"/>
          </a:p>
        </p:txBody>
      </p:sp>
      <p:sp>
        <p:nvSpPr>
          <p:cNvPr id="14" name="anim_3_c"/>
          <p:cNvSpPr/>
          <p:nvPr/>
        </p:nvSpPr>
        <p:spPr>
          <a:xfrm>
            <a:off x="868680" y="4224528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15" name="anim_3_c"/>
          <p:cNvSpPr/>
          <p:nvPr/>
        </p:nvSpPr>
        <p:spPr>
          <a:xfrm>
            <a:off x="868680" y="4224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anim_3_c"/>
          <p:cNvSpPr/>
          <p:nvPr/>
        </p:nvSpPr>
        <p:spPr>
          <a:xfrm>
            <a:off x="1417320" y="416052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243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Subtract 3x:    </a:t>
            </a:r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 = 6x – 9</a:t>
            </a:r>
            <a:endParaRPr lang="en-US" sz="1600" dirty="0"/>
          </a:p>
        </p:txBody>
      </p:sp>
      <p:sp>
        <p:nvSpPr>
          <p:cNvPr id="17" name="anim_4_c"/>
          <p:cNvSpPr/>
          <p:nvPr/>
        </p:nvSpPr>
        <p:spPr>
          <a:xfrm>
            <a:off x="868680" y="4864608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18" name="anim_4_c"/>
          <p:cNvSpPr/>
          <p:nvPr/>
        </p:nvSpPr>
        <p:spPr>
          <a:xfrm>
            <a:off x="868680" y="4864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anim_4_c"/>
          <p:cNvSpPr/>
          <p:nvPr/>
        </p:nvSpPr>
        <p:spPr>
          <a:xfrm>
            <a:off x="1417320" y="480060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243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9, then divide by 6:    24 = 6x   →   </a:t>
            </a:r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= 4</a:t>
            </a:r>
            <a:endParaRPr lang="en-US" sz="1600" dirty="0"/>
          </a:p>
        </p:txBody>
      </p:sp>
      <p:sp>
        <p:nvSpPr>
          <p:cNvPr id="20" name="anim_5_c"/>
          <p:cNvSpPr/>
          <p:nvPr/>
        </p:nvSpPr>
        <p:spPr>
          <a:xfrm>
            <a:off x="868680" y="5440680"/>
            <a:ext cx="3108960" cy="457200"/>
          </a:xfrm>
          <a:prstGeom prst="roundRect">
            <a:avLst>
              <a:gd name="adj" fmla="val 24000"/>
            </a:avLst>
          </a:prstGeom>
          <a:solidFill>
            <a:srgbClr val="16261F"/>
          </a:solidFill>
          <a:ln/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21" name="anim_5_c"/>
          <p:cNvSpPr/>
          <p:nvPr/>
        </p:nvSpPr>
        <p:spPr>
          <a:xfrm>
            <a:off x="1051560" y="54406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= 4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/>
          <a:effectLst>
            <a:outerShdw sx="100000" sy="100000" kx="0" ky="0" algn="bl" rotWithShape="0" blurRad="88900" dist="25400" dir="5400000">
              <a:srgbClr val="000000">
                <a:alpha val="22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40233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9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920" dirty="0"/>
          </a:p>
        </p:txBody>
      </p:sp>
      <p:sp>
        <p:nvSpPr>
          <p:cNvPr id="4" name="Text 2"/>
          <p:cNvSpPr/>
          <p:nvPr/>
        </p:nvSpPr>
        <p:spPr>
          <a:xfrm>
            <a:off x="1243584" y="42062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SIDES · PRACTICE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25296" y="658368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Turn + Challenge Ladder</a:t>
            </a:r>
            <a:endParaRPr lang="en-US" sz="2800" dirty="0"/>
          </a:p>
        </p:txBody>
      </p:sp>
      <p:sp>
        <p:nvSpPr>
          <p:cNvPr id="6" name="anim_1_a"/>
          <p:cNvSpPr/>
          <p:nvPr/>
        </p:nvSpPr>
        <p:spPr>
          <a:xfrm>
            <a:off x="640080" y="17830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C84F2F"/>
          </a:solidFill>
          <a:ln/>
        </p:spPr>
      </p:sp>
      <p:sp>
        <p:nvSpPr>
          <p:cNvPr id="7" name="anim_1_a"/>
          <p:cNvSpPr/>
          <p:nvPr/>
        </p:nvSpPr>
        <p:spPr>
          <a:xfrm>
            <a:off x="64008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anim_1_a"/>
          <p:cNvSpPr/>
          <p:nvPr/>
        </p:nvSpPr>
        <p:spPr>
          <a:xfrm>
            <a:off x="1225296" y="1783080"/>
            <a:ext cx="429768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9D6C6"/>
            </a:solidFill>
            <a:prstDash val="solid"/>
          </a:ln>
        </p:spPr>
      </p:sp>
      <p:sp>
        <p:nvSpPr>
          <p:cNvPr id="9" name="anim_1_a"/>
          <p:cNvSpPr/>
          <p:nvPr/>
        </p:nvSpPr>
        <p:spPr>
          <a:xfrm>
            <a:off x="1426464" y="178308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2x + 2 = x + 9</a:t>
            </a:r>
            <a:endParaRPr lang="en-US" sz="1700" dirty="0"/>
          </a:p>
        </p:txBody>
      </p:sp>
      <p:sp>
        <p:nvSpPr>
          <p:cNvPr id="10" name="anim_1_a"/>
          <p:cNvSpPr/>
          <p:nvPr/>
        </p:nvSpPr>
        <p:spPr>
          <a:xfrm>
            <a:off x="640080" y="249631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C84F2F"/>
          </a:solidFill>
          <a:ln/>
        </p:spPr>
      </p:sp>
      <p:sp>
        <p:nvSpPr>
          <p:cNvPr id="11" name="anim_1_a"/>
          <p:cNvSpPr/>
          <p:nvPr/>
        </p:nvSpPr>
        <p:spPr>
          <a:xfrm>
            <a:off x="640080" y="2496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anim_1_a"/>
          <p:cNvSpPr/>
          <p:nvPr/>
        </p:nvSpPr>
        <p:spPr>
          <a:xfrm>
            <a:off x="1225296" y="2496312"/>
            <a:ext cx="429768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9D6C6"/>
            </a:solidFill>
            <a:prstDash val="solid"/>
          </a:ln>
        </p:spPr>
      </p:sp>
      <p:sp>
        <p:nvSpPr>
          <p:cNvPr id="13" name="anim_1_a"/>
          <p:cNvSpPr/>
          <p:nvPr/>
        </p:nvSpPr>
        <p:spPr>
          <a:xfrm>
            <a:off x="1426464" y="249631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3x + 1 = x + 5</a:t>
            </a:r>
            <a:endParaRPr lang="en-US" sz="1700" dirty="0"/>
          </a:p>
        </p:txBody>
      </p:sp>
      <p:sp>
        <p:nvSpPr>
          <p:cNvPr id="14" name="anim_1_a"/>
          <p:cNvSpPr/>
          <p:nvPr/>
        </p:nvSpPr>
        <p:spPr>
          <a:xfrm>
            <a:off x="640080" y="320954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C84F2F"/>
          </a:solidFill>
          <a:ln/>
        </p:spPr>
      </p:sp>
      <p:sp>
        <p:nvSpPr>
          <p:cNvPr id="15" name="anim_1_a"/>
          <p:cNvSpPr/>
          <p:nvPr/>
        </p:nvSpPr>
        <p:spPr>
          <a:xfrm>
            <a:off x="640080" y="3209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anim_1_a"/>
          <p:cNvSpPr/>
          <p:nvPr/>
        </p:nvSpPr>
        <p:spPr>
          <a:xfrm>
            <a:off x="1225296" y="3209544"/>
            <a:ext cx="429768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9D6C6"/>
            </a:solidFill>
            <a:prstDash val="solid"/>
          </a:ln>
        </p:spPr>
      </p:sp>
      <p:sp>
        <p:nvSpPr>
          <p:cNvPr id="17" name="anim_1_a"/>
          <p:cNvSpPr/>
          <p:nvPr/>
        </p:nvSpPr>
        <p:spPr>
          <a:xfrm>
            <a:off x="1426464" y="3209544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6x – 8 = 4x</a:t>
            </a:r>
            <a:endParaRPr lang="en-US" sz="1700" dirty="0"/>
          </a:p>
        </p:txBody>
      </p:sp>
      <p:sp>
        <p:nvSpPr>
          <p:cNvPr id="18" name="anim_1_a"/>
          <p:cNvSpPr/>
          <p:nvPr/>
        </p:nvSpPr>
        <p:spPr>
          <a:xfrm>
            <a:off x="640080" y="392277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C84F2F"/>
          </a:solidFill>
          <a:ln/>
        </p:spPr>
      </p:sp>
      <p:sp>
        <p:nvSpPr>
          <p:cNvPr id="19" name="anim_1_a"/>
          <p:cNvSpPr/>
          <p:nvPr/>
        </p:nvSpPr>
        <p:spPr>
          <a:xfrm>
            <a:off x="640080" y="39227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anim_1_a"/>
          <p:cNvSpPr/>
          <p:nvPr/>
        </p:nvSpPr>
        <p:spPr>
          <a:xfrm>
            <a:off x="1225296" y="3922776"/>
            <a:ext cx="429768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9D6C6"/>
            </a:solidFill>
            <a:prstDash val="solid"/>
          </a:ln>
        </p:spPr>
      </p:sp>
      <p:sp>
        <p:nvSpPr>
          <p:cNvPr id="21" name="anim_1_a"/>
          <p:cNvSpPr/>
          <p:nvPr/>
        </p:nvSpPr>
        <p:spPr>
          <a:xfrm>
            <a:off x="1426464" y="392277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5x + 1 = x – 11</a:t>
            </a:r>
            <a:endParaRPr lang="en-US" sz="1700" dirty="0"/>
          </a:p>
        </p:txBody>
      </p:sp>
      <p:sp>
        <p:nvSpPr>
          <p:cNvPr id="22" name="anim_2_c"/>
          <p:cNvSpPr/>
          <p:nvPr/>
        </p:nvSpPr>
        <p:spPr>
          <a:xfrm>
            <a:off x="5852160" y="1691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LADDER</a:t>
            </a:r>
            <a:endParaRPr lang="en-US" sz="1200" dirty="0"/>
          </a:p>
        </p:txBody>
      </p:sp>
      <p:sp>
        <p:nvSpPr>
          <p:cNvPr id="23" name="anim_2_c"/>
          <p:cNvSpPr/>
          <p:nvPr/>
        </p:nvSpPr>
        <p:spPr>
          <a:xfrm>
            <a:off x="5852160" y="2057400"/>
            <a:ext cx="5760720" cy="1097280"/>
          </a:xfrm>
          <a:prstGeom prst="roundRect">
            <a:avLst>
              <a:gd name="adj" fmla="val 8333"/>
            </a:avLst>
          </a:prstGeom>
          <a:solidFill>
            <a:srgbClr val="EEF1E8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4" name="anim_2_c"/>
          <p:cNvSpPr/>
          <p:nvPr/>
        </p:nvSpPr>
        <p:spPr>
          <a:xfrm>
            <a:off x="6089904" y="2276856"/>
            <a:ext cx="1280160" cy="365760"/>
          </a:xfrm>
          <a:prstGeom prst="roundRect">
            <a:avLst>
              <a:gd name="adj" fmla="val 50000"/>
            </a:avLst>
          </a:prstGeom>
          <a:solidFill>
            <a:srgbClr val="C84F2F"/>
          </a:solidFill>
          <a:ln/>
        </p:spPr>
      </p:sp>
      <p:sp>
        <p:nvSpPr>
          <p:cNvPr id="25" name="anim_2_c"/>
          <p:cNvSpPr/>
          <p:nvPr/>
        </p:nvSpPr>
        <p:spPr>
          <a:xfrm>
            <a:off x="6089904" y="2276856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MILD</a:t>
            </a:r>
            <a:endParaRPr lang="en-US" sz="1100" dirty="0"/>
          </a:p>
        </p:txBody>
      </p:sp>
      <p:sp>
        <p:nvSpPr>
          <p:cNvPr id="26" name="anim_2_c"/>
          <p:cNvSpPr/>
          <p:nvPr/>
        </p:nvSpPr>
        <p:spPr>
          <a:xfrm>
            <a:off x="6126480" y="2660904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6A72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Solve:  </a:t>
            </a:r>
            <a:pPr indent="0" marL="0">
              <a:buNone/>
            </a:pPr>
            <a:r>
              <a:rPr lang="en-US" sz="17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2x + 3 = x + 7</a:t>
            </a:r>
            <a:endParaRPr lang="en-US" sz="1700" dirty="0"/>
          </a:p>
        </p:txBody>
      </p:sp>
      <p:sp>
        <p:nvSpPr>
          <p:cNvPr id="27" name="anim_3_c"/>
          <p:cNvSpPr/>
          <p:nvPr/>
        </p:nvSpPr>
        <p:spPr>
          <a:xfrm>
            <a:off x="5852160" y="3337560"/>
            <a:ext cx="5760720" cy="1097280"/>
          </a:xfrm>
          <a:prstGeom prst="roundRect">
            <a:avLst>
              <a:gd name="adj" fmla="val 8333"/>
            </a:avLst>
          </a:prstGeom>
          <a:solidFill>
            <a:srgbClr val="FBF3DD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8" name="anim_3_c"/>
          <p:cNvSpPr/>
          <p:nvPr/>
        </p:nvSpPr>
        <p:spPr>
          <a:xfrm>
            <a:off x="6089904" y="3557016"/>
            <a:ext cx="1280160" cy="365760"/>
          </a:xfrm>
          <a:prstGeom prst="roundRect">
            <a:avLst>
              <a:gd name="adj" fmla="val 50000"/>
            </a:avLst>
          </a:prstGeom>
          <a:solidFill>
            <a:srgbClr val="C84F2F"/>
          </a:solidFill>
          <a:ln/>
        </p:spPr>
      </p:sp>
      <p:sp>
        <p:nvSpPr>
          <p:cNvPr id="29" name="anim_3_c"/>
          <p:cNvSpPr/>
          <p:nvPr/>
        </p:nvSpPr>
        <p:spPr>
          <a:xfrm>
            <a:off x="6089904" y="3557016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100" dirty="0"/>
          </a:p>
        </p:txBody>
      </p:sp>
      <p:sp>
        <p:nvSpPr>
          <p:cNvPr id="30" name="anim_3_c"/>
          <p:cNvSpPr/>
          <p:nvPr/>
        </p:nvSpPr>
        <p:spPr>
          <a:xfrm>
            <a:off x="6126480" y="3941064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6A72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Solve:  </a:t>
            </a:r>
            <a:pPr indent="0" marL="0">
              <a:buNone/>
            </a:pPr>
            <a:r>
              <a:rPr lang="en-US" sz="17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2(x + 1) = x + 9</a:t>
            </a:r>
            <a:endParaRPr lang="en-US" sz="1700" dirty="0"/>
          </a:p>
        </p:txBody>
      </p:sp>
      <p:sp>
        <p:nvSpPr>
          <p:cNvPr id="31" name="anim_4_c"/>
          <p:cNvSpPr/>
          <p:nvPr/>
        </p:nvSpPr>
        <p:spPr>
          <a:xfrm>
            <a:off x="5852160" y="4617720"/>
            <a:ext cx="5760720" cy="1097280"/>
          </a:xfrm>
          <a:prstGeom prst="roundRect">
            <a:avLst>
              <a:gd name="adj" fmla="val 8333"/>
            </a:avLst>
          </a:prstGeom>
          <a:solidFill>
            <a:srgbClr val="FBEAE3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32" name="anim_4_c"/>
          <p:cNvSpPr/>
          <p:nvPr/>
        </p:nvSpPr>
        <p:spPr>
          <a:xfrm>
            <a:off x="6089904" y="4837176"/>
            <a:ext cx="1280160" cy="365760"/>
          </a:xfrm>
          <a:prstGeom prst="roundRect">
            <a:avLst>
              <a:gd name="adj" fmla="val 50000"/>
            </a:avLst>
          </a:prstGeom>
          <a:solidFill>
            <a:srgbClr val="C84F2F"/>
          </a:solidFill>
          <a:ln/>
        </p:spPr>
      </p:sp>
      <p:sp>
        <p:nvSpPr>
          <p:cNvPr id="33" name="anim_4_c"/>
          <p:cNvSpPr/>
          <p:nvPr/>
        </p:nvSpPr>
        <p:spPr>
          <a:xfrm>
            <a:off x="6089904" y="4837176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</a:t>
            </a:r>
            <a:endParaRPr lang="en-US" sz="1100" dirty="0"/>
          </a:p>
        </p:txBody>
      </p:sp>
      <p:sp>
        <p:nvSpPr>
          <p:cNvPr id="34" name="anim_4_c"/>
          <p:cNvSpPr/>
          <p:nvPr/>
        </p:nvSpPr>
        <p:spPr>
          <a:xfrm>
            <a:off x="6126480" y="5221224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6A72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Solve:  </a:t>
            </a:r>
            <a:pPr indent="0" marL="0">
              <a:buNone/>
            </a:pPr>
            <a:r>
              <a:rPr lang="en-US" sz="17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3(x – 2) + 4 = 2(x + 1) + 5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/>
          <a:effectLst>
            <a:outerShdw sx="100000" sy="100000" kx="0" ky="0" algn="bl" rotWithShape="0" blurRad="88900" dist="25400" dir="5400000">
              <a:srgbClr val="000000">
                <a:alpha val="22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40233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9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920" dirty="0"/>
          </a:p>
        </p:txBody>
      </p:sp>
      <p:sp>
        <p:nvSpPr>
          <p:cNvPr id="4" name="Text 2"/>
          <p:cNvSpPr/>
          <p:nvPr/>
        </p:nvSpPr>
        <p:spPr>
          <a:xfrm>
            <a:off x="1243584" y="42062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FRACTIONS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25296" y="658368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Equations with Fractions</a:t>
            </a:r>
            <a:endParaRPr lang="en-US" sz="2800" dirty="0"/>
          </a:p>
        </p:txBody>
      </p:sp>
      <p:sp>
        <p:nvSpPr>
          <p:cNvPr id="6" name="anim_1_a"/>
          <p:cNvSpPr/>
          <p:nvPr/>
        </p:nvSpPr>
        <p:spPr>
          <a:xfrm>
            <a:off x="548640" y="1463040"/>
            <a:ext cx="11091672" cy="731520"/>
          </a:xfrm>
          <a:prstGeom prst="roundRect">
            <a:avLst>
              <a:gd name="adj" fmla="val 12500"/>
            </a:avLst>
          </a:prstGeom>
          <a:solidFill>
            <a:srgbClr val="16261F"/>
          </a:solidFill>
          <a:ln/>
          <a:effectLst>
            <a:outerShdw sx="100000" sy="100000" kx="0" ky="0" algn="bl" rotWithShape="0" blurRad="101600" dist="38100" dir="5400000">
              <a:srgbClr val="000000">
                <a:alpha val="14000"/>
              </a:srgbClr>
            </a:outerShdw>
          </a:effectLst>
        </p:spPr>
      </p:sp>
      <p:sp>
        <p:nvSpPr>
          <p:cNvPr id="7" name="anim_1_a"/>
          <p:cNvSpPr/>
          <p:nvPr/>
        </p:nvSpPr>
        <p:spPr>
          <a:xfrm>
            <a:off x="868680" y="146304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Strategy: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both sides to clear the fraction, then solve.</a:t>
            </a:r>
            <a:endParaRPr lang="en-US" sz="1600" dirty="0"/>
          </a:p>
        </p:txBody>
      </p:sp>
      <p:sp>
        <p:nvSpPr>
          <p:cNvPr id="8" name="anim_2_c"/>
          <p:cNvSpPr/>
          <p:nvPr/>
        </p:nvSpPr>
        <p:spPr>
          <a:xfrm>
            <a:off x="548640" y="2377440"/>
            <a:ext cx="5440680" cy="3566160"/>
          </a:xfrm>
          <a:prstGeom prst="roundRect">
            <a:avLst>
              <a:gd name="adj" fmla="val 2564"/>
            </a:avLst>
          </a:prstGeom>
          <a:solidFill>
            <a:srgbClr val="EEF1E8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anim_2_c"/>
          <p:cNvSpPr/>
          <p:nvPr/>
        </p:nvSpPr>
        <p:spPr>
          <a:xfrm>
            <a:off x="868680" y="254203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 coefficient</a:t>
            </a:r>
            <a:endParaRPr lang="en-US" sz="1300" dirty="0"/>
          </a:p>
        </p:txBody>
      </p:sp>
      <p:sp>
        <p:nvSpPr>
          <p:cNvPr id="10" name="anim_2_c"/>
          <p:cNvSpPr/>
          <p:nvPr/>
        </p:nvSpPr>
        <p:spPr>
          <a:xfrm>
            <a:off x="868680" y="288036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Solve</a:t>
            </a:r>
            <a:endParaRPr lang="en-US" sz="2200" dirty="0"/>
          </a:p>
        </p:txBody>
      </p:sp>
      <p:sp>
        <p:nvSpPr>
          <p:cNvPr id="11" name="anim_2_c"/>
          <p:cNvSpPr/>
          <p:nvPr/>
        </p:nvSpPr>
        <p:spPr>
          <a:xfrm>
            <a:off x="2148840" y="271576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endParaRPr lang="en-US" sz="2200" dirty="0"/>
          </a:p>
        </p:txBody>
      </p:sp>
      <p:sp>
        <p:nvSpPr>
          <p:cNvPr id="12" name="anim_2_c"/>
          <p:cNvSpPr/>
          <p:nvPr/>
        </p:nvSpPr>
        <p:spPr>
          <a:xfrm>
            <a:off x="2185416" y="3127248"/>
            <a:ext cx="384048" cy="0"/>
          </a:xfrm>
          <a:prstGeom prst="line">
            <a:avLst/>
          </a:prstGeom>
          <a:noFill/>
          <a:ln w="22225">
            <a:solidFill>
              <a:srgbClr val="24332D"/>
            </a:solidFill>
            <a:prstDash val="solid"/>
          </a:ln>
        </p:spPr>
      </p:sp>
      <p:sp>
        <p:nvSpPr>
          <p:cNvPr id="13" name="anim_2_c"/>
          <p:cNvSpPr/>
          <p:nvPr/>
        </p:nvSpPr>
        <p:spPr>
          <a:xfrm>
            <a:off x="2148840" y="316382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anim_2_c"/>
          <p:cNvSpPr/>
          <p:nvPr/>
        </p:nvSpPr>
        <p:spPr>
          <a:xfrm>
            <a:off x="2788920" y="289864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 8</a:t>
            </a:r>
            <a:endParaRPr lang="en-US" sz="2200" dirty="0"/>
          </a:p>
        </p:txBody>
      </p:sp>
      <p:sp>
        <p:nvSpPr>
          <p:cNvPr id="15" name="anim_2_c"/>
          <p:cNvSpPr/>
          <p:nvPr/>
        </p:nvSpPr>
        <p:spPr>
          <a:xfrm>
            <a:off x="868680" y="3538728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16" name="anim_2_c"/>
          <p:cNvSpPr/>
          <p:nvPr/>
        </p:nvSpPr>
        <p:spPr>
          <a:xfrm>
            <a:off x="868680" y="3538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7" name="anim_2_c"/>
          <p:cNvSpPr/>
          <p:nvPr/>
        </p:nvSpPr>
        <p:spPr>
          <a:xfrm>
            <a:off x="1417320" y="347472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both sides by 3</a:t>
            </a:r>
            <a:endParaRPr lang="en-US" sz="1450" dirty="0"/>
          </a:p>
        </p:txBody>
      </p:sp>
      <p:sp>
        <p:nvSpPr>
          <p:cNvPr id="18" name="anim_2_c"/>
          <p:cNvSpPr/>
          <p:nvPr/>
        </p:nvSpPr>
        <p:spPr>
          <a:xfrm>
            <a:off x="868680" y="4160520"/>
            <a:ext cx="2926080" cy="566928"/>
          </a:xfrm>
          <a:prstGeom prst="roundRect">
            <a:avLst>
              <a:gd name="adj" fmla="val 19355"/>
            </a:avLst>
          </a:prstGeom>
          <a:solidFill>
            <a:srgbClr val="16261F"/>
          </a:solidFill>
          <a:ln/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9" name="anim_2_c"/>
          <p:cNvSpPr/>
          <p:nvPr/>
        </p:nvSpPr>
        <p:spPr>
          <a:xfrm>
            <a:off x="1051560" y="416052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= 24</a:t>
            </a:r>
            <a:endParaRPr lang="en-US" sz="2000" dirty="0"/>
          </a:p>
        </p:txBody>
      </p:sp>
      <p:sp>
        <p:nvSpPr>
          <p:cNvPr id="20" name="anim_3_c"/>
          <p:cNvSpPr/>
          <p:nvPr/>
        </p:nvSpPr>
        <p:spPr>
          <a:xfrm>
            <a:off x="6199632" y="2377440"/>
            <a:ext cx="5440680" cy="3566160"/>
          </a:xfrm>
          <a:prstGeom prst="roundRect">
            <a:avLst>
              <a:gd name="adj" fmla="val 2564"/>
            </a:avLst>
          </a:prstGeom>
          <a:solidFill>
            <a:srgbClr val="FBF3DD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anim_3_c"/>
          <p:cNvSpPr/>
          <p:nvPr/>
        </p:nvSpPr>
        <p:spPr>
          <a:xfrm>
            <a:off x="6519672" y="254203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 equation</a:t>
            </a:r>
            <a:endParaRPr lang="en-US" sz="1300" dirty="0"/>
          </a:p>
        </p:txBody>
      </p:sp>
      <p:sp>
        <p:nvSpPr>
          <p:cNvPr id="22" name="anim_3_c"/>
          <p:cNvSpPr/>
          <p:nvPr/>
        </p:nvSpPr>
        <p:spPr>
          <a:xfrm>
            <a:off x="6519672" y="288036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Solve</a:t>
            </a:r>
            <a:endParaRPr lang="en-US" sz="2000" dirty="0"/>
          </a:p>
        </p:txBody>
      </p:sp>
      <p:sp>
        <p:nvSpPr>
          <p:cNvPr id="23" name="anim_3_c"/>
          <p:cNvSpPr/>
          <p:nvPr/>
        </p:nvSpPr>
        <p:spPr>
          <a:xfrm>
            <a:off x="7726680" y="2715768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2x + 3</a:t>
            </a:r>
            <a:endParaRPr lang="en-US" sz="1800" dirty="0"/>
          </a:p>
        </p:txBody>
      </p:sp>
      <p:sp>
        <p:nvSpPr>
          <p:cNvPr id="24" name="anim_3_c"/>
          <p:cNvSpPr/>
          <p:nvPr/>
        </p:nvSpPr>
        <p:spPr>
          <a:xfrm>
            <a:off x="7763256" y="3127248"/>
            <a:ext cx="1024128" cy="0"/>
          </a:xfrm>
          <a:prstGeom prst="line">
            <a:avLst/>
          </a:prstGeom>
          <a:noFill/>
          <a:ln w="22225">
            <a:solidFill>
              <a:srgbClr val="24332D"/>
            </a:solidFill>
            <a:prstDash val="solid"/>
          </a:ln>
        </p:spPr>
      </p:sp>
      <p:sp>
        <p:nvSpPr>
          <p:cNvPr id="25" name="anim_3_c"/>
          <p:cNvSpPr/>
          <p:nvPr/>
        </p:nvSpPr>
        <p:spPr>
          <a:xfrm>
            <a:off x="7726680" y="316382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6" name="anim_3_c"/>
          <p:cNvSpPr/>
          <p:nvPr/>
        </p:nvSpPr>
        <p:spPr>
          <a:xfrm>
            <a:off x="8961120" y="289864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 5</a:t>
            </a:r>
            <a:endParaRPr lang="en-US" sz="2000" dirty="0"/>
          </a:p>
        </p:txBody>
      </p:sp>
      <p:sp>
        <p:nvSpPr>
          <p:cNvPr id="27" name="anim_3_c"/>
          <p:cNvSpPr/>
          <p:nvPr/>
        </p:nvSpPr>
        <p:spPr>
          <a:xfrm>
            <a:off x="6519672" y="3538728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28" name="anim_3_c"/>
          <p:cNvSpPr/>
          <p:nvPr/>
        </p:nvSpPr>
        <p:spPr>
          <a:xfrm>
            <a:off x="6519672" y="3538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29" name="anim_3_c"/>
          <p:cNvSpPr/>
          <p:nvPr/>
        </p:nvSpPr>
        <p:spPr>
          <a:xfrm>
            <a:off x="7068312" y="347472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43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Multiply by 4:   2x + 3 = 20</a:t>
            </a:r>
            <a:endParaRPr lang="en-US" sz="1450" dirty="0"/>
          </a:p>
        </p:txBody>
      </p:sp>
      <p:sp>
        <p:nvSpPr>
          <p:cNvPr id="30" name="anim_3_c"/>
          <p:cNvSpPr/>
          <p:nvPr/>
        </p:nvSpPr>
        <p:spPr>
          <a:xfrm>
            <a:off x="6519672" y="4133088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31" name="anim_3_c"/>
          <p:cNvSpPr/>
          <p:nvPr/>
        </p:nvSpPr>
        <p:spPr>
          <a:xfrm>
            <a:off x="6519672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32" name="anim_3_c"/>
          <p:cNvSpPr/>
          <p:nvPr/>
        </p:nvSpPr>
        <p:spPr>
          <a:xfrm>
            <a:off x="7068312" y="406908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Subtract 3, divide by 2</a:t>
            </a:r>
            <a:endParaRPr lang="en-US" sz="1450" dirty="0"/>
          </a:p>
        </p:txBody>
      </p:sp>
      <p:sp>
        <p:nvSpPr>
          <p:cNvPr id="33" name="anim_3_c"/>
          <p:cNvSpPr/>
          <p:nvPr/>
        </p:nvSpPr>
        <p:spPr>
          <a:xfrm>
            <a:off x="6519672" y="4754880"/>
            <a:ext cx="3657600" cy="566928"/>
          </a:xfrm>
          <a:prstGeom prst="roundRect">
            <a:avLst>
              <a:gd name="adj" fmla="val 19355"/>
            </a:avLst>
          </a:prstGeom>
          <a:solidFill>
            <a:srgbClr val="16261F"/>
          </a:solidFill>
          <a:ln/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34" name="anim_3_c"/>
          <p:cNvSpPr/>
          <p:nvPr/>
        </p:nvSpPr>
        <p:spPr>
          <a:xfrm>
            <a:off x="6702552" y="475488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= 8.5  (or 17/2)</a:t>
            </a:r>
            <a:endParaRPr lang="en-US" sz="18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/>
          <a:effectLst>
            <a:outerShdw sx="100000" sy="100000" kx="0" ky="0" algn="bl" rotWithShape="0" blurRad="88900" dist="25400" dir="5400000">
              <a:srgbClr val="000000">
                <a:alpha val="22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40233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9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920" dirty="0"/>
          </a:p>
        </p:txBody>
      </p:sp>
      <p:sp>
        <p:nvSpPr>
          <p:cNvPr id="4" name="Text 2"/>
          <p:cNvSpPr/>
          <p:nvPr/>
        </p:nvSpPr>
        <p:spPr>
          <a:xfrm>
            <a:off x="1243584" y="42062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NON-LINEAR → LINEAR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25296" y="658368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Equations that Reduce to Linear</a:t>
            </a:r>
            <a:endParaRPr lang="en-US" sz="2800" dirty="0"/>
          </a:p>
        </p:txBody>
      </p:sp>
      <p:sp>
        <p:nvSpPr>
          <p:cNvPr id="6" name="anim_1_a"/>
          <p:cNvSpPr/>
          <p:nvPr/>
        </p:nvSpPr>
        <p:spPr>
          <a:xfrm>
            <a:off x="548640" y="1463040"/>
            <a:ext cx="11091672" cy="731520"/>
          </a:xfrm>
          <a:prstGeom prst="roundRect">
            <a:avLst>
              <a:gd name="adj" fmla="val 12500"/>
            </a:avLst>
          </a:prstGeom>
          <a:solidFill>
            <a:srgbClr val="16261F"/>
          </a:solidFill>
          <a:ln/>
          <a:effectLst>
            <a:outerShdw sx="100000" sy="100000" kx="0" ky="0" algn="bl" rotWithShape="0" blurRad="101600" dist="38100" dir="5400000">
              <a:srgbClr val="000000">
                <a:alpha val="14000"/>
              </a:srgbClr>
            </a:outerShdw>
          </a:effectLst>
        </p:spPr>
      </p:sp>
      <p:sp>
        <p:nvSpPr>
          <p:cNvPr id="7" name="anim_1_a"/>
          <p:cNvSpPr/>
          <p:nvPr/>
        </p:nvSpPr>
        <p:spPr>
          <a:xfrm>
            <a:off x="868680" y="146304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Watch: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both sides — the x² terms cancel, leaving a linear equation.</a:t>
            </a:r>
            <a:endParaRPr lang="en-US" sz="1600" dirty="0"/>
          </a:p>
        </p:txBody>
      </p:sp>
      <p:sp>
        <p:nvSpPr>
          <p:cNvPr id="8" name="anim_1_a"/>
          <p:cNvSpPr/>
          <p:nvPr/>
        </p:nvSpPr>
        <p:spPr>
          <a:xfrm>
            <a:off x="548640" y="2377440"/>
            <a:ext cx="11091672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9D6C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anim_1_a"/>
          <p:cNvSpPr/>
          <p:nvPr/>
        </p:nvSpPr>
        <p:spPr>
          <a:xfrm>
            <a:off x="548640" y="23774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Solve   (2x + 5)</a:t>
            </a:r>
            <a:pPr algn="ctr" indent="0" marL="0">
              <a:buNone/>
            </a:pPr>
            <a:r>
              <a:rPr lang="en-US" sz="2400" b="1" baseline="30000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pPr algn="ctr" indent="0" marL="0">
              <a:buNone/>
            </a:pPr>
            <a:r>
              <a:rPr lang="en-US" sz="24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(2x + 3)(2x – 1)</a:t>
            </a:r>
            <a:endParaRPr lang="en-US" sz="2400" dirty="0"/>
          </a:p>
        </p:txBody>
      </p:sp>
      <p:sp>
        <p:nvSpPr>
          <p:cNvPr id="10" name="anim_2_c"/>
          <p:cNvSpPr/>
          <p:nvPr/>
        </p:nvSpPr>
        <p:spPr>
          <a:xfrm>
            <a:off x="548640" y="3337560"/>
            <a:ext cx="11091672" cy="2606040"/>
          </a:xfrm>
          <a:prstGeom prst="roundRect">
            <a:avLst>
              <a:gd name="adj" fmla="val 3509"/>
            </a:avLst>
          </a:prstGeom>
          <a:solidFill>
            <a:srgbClr val="EEF1E8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anim_2_c"/>
          <p:cNvSpPr/>
          <p:nvPr/>
        </p:nvSpPr>
        <p:spPr>
          <a:xfrm>
            <a:off x="868680" y="3584448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12" name="anim_2_c"/>
          <p:cNvSpPr/>
          <p:nvPr/>
        </p:nvSpPr>
        <p:spPr>
          <a:xfrm>
            <a:off x="868680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3" name="anim_2_c"/>
          <p:cNvSpPr/>
          <p:nvPr/>
        </p:nvSpPr>
        <p:spPr>
          <a:xfrm>
            <a:off x="1417320" y="352044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243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Expand both sides:   4x</a:t>
            </a:r>
            <a:pPr indent="0" marL="0">
              <a:lnSpc>
                <a:spcPct val="105000"/>
              </a:lnSpc>
              <a:buNone/>
            </a:pPr>
            <a:r>
              <a:rPr lang="en-US" sz="1550" b="1" baseline="30000" dirty="0">
                <a:solidFill>
                  <a:srgbClr val="243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pPr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243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+ 20x + 25 = 4x</a:t>
            </a:r>
            <a:pPr indent="0" marL="0">
              <a:lnSpc>
                <a:spcPct val="105000"/>
              </a:lnSpc>
              <a:buNone/>
            </a:pPr>
            <a:r>
              <a:rPr lang="en-US" sz="1550" b="1" baseline="30000" dirty="0">
                <a:solidFill>
                  <a:srgbClr val="243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pPr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243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+ 4x – 3</a:t>
            </a:r>
            <a:endParaRPr lang="en-US" sz="1550" dirty="0"/>
          </a:p>
        </p:txBody>
      </p:sp>
      <p:sp>
        <p:nvSpPr>
          <p:cNvPr id="14" name="anim_3_c"/>
          <p:cNvSpPr/>
          <p:nvPr/>
        </p:nvSpPr>
        <p:spPr>
          <a:xfrm>
            <a:off x="868680" y="4224528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15" name="anim_3_c"/>
          <p:cNvSpPr/>
          <p:nvPr/>
        </p:nvSpPr>
        <p:spPr>
          <a:xfrm>
            <a:off x="868680" y="4224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anim_3_c"/>
          <p:cNvSpPr/>
          <p:nvPr/>
        </p:nvSpPr>
        <p:spPr>
          <a:xfrm>
            <a:off x="1417320" y="416052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243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4x</a:t>
            </a:r>
            <a:pPr indent="0" marL="0">
              <a:lnSpc>
                <a:spcPct val="105000"/>
              </a:lnSpc>
              <a:buNone/>
            </a:pPr>
            <a:r>
              <a:rPr lang="en-US" sz="1600" b="1" baseline="30000" dirty="0">
                <a:solidFill>
                  <a:srgbClr val="243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243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cancels:   </a:t>
            </a:r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20x + 25 = 4x – 3</a:t>
            </a:r>
            <a:endParaRPr lang="en-US" sz="1600" dirty="0"/>
          </a:p>
        </p:txBody>
      </p:sp>
      <p:sp>
        <p:nvSpPr>
          <p:cNvPr id="17" name="anim_4_c"/>
          <p:cNvSpPr/>
          <p:nvPr/>
        </p:nvSpPr>
        <p:spPr>
          <a:xfrm>
            <a:off x="868680" y="4864608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18" name="anim_4_c"/>
          <p:cNvSpPr/>
          <p:nvPr/>
        </p:nvSpPr>
        <p:spPr>
          <a:xfrm>
            <a:off x="868680" y="4864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anim_4_c"/>
          <p:cNvSpPr/>
          <p:nvPr/>
        </p:nvSpPr>
        <p:spPr>
          <a:xfrm>
            <a:off x="1417320" y="480060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243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Solve:   16x = –28   →   </a:t>
            </a:r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= –1.75</a:t>
            </a:r>
            <a:endParaRPr lang="en-US" sz="1600" dirty="0"/>
          </a:p>
        </p:txBody>
      </p:sp>
      <p:sp>
        <p:nvSpPr>
          <p:cNvPr id="20" name="anim_4_c"/>
          <p:cNvSpPr/>
          <p:nvPr/>
        </p:nvSpPr>
        <p:spPr>
          <a:xfrm>
            <a:off x="868680" y="5440680"/>
            <a:ext cx="4023360" cy="457200"/>
          </a:xfrm>
          <a:prstGeom prst="roundRect">
            <a:avLst>
              <a:gd name="adj" fmla="val 24000"/>
            </a:avLst>
          </a:prstGeom>
          <a:solidFill>
            <a:srgbClr val="16261F"/>
          </a:solidFill>
          <a:ln/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21" name="anim_4_c"/>
          <p:cNvSpPr/>
          <p:nvPr/>
        </p:nvSpPr>
        <p:spPr>
          <a:xfrm>
            <a:off x="1051560" y="54406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= –1.75  (or –7/4)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/>
          <a:effectLst>
            <a:outerShdw sx="100000" sy="100000" kx="0" ky="0" algn="bl" rotWithShape="0" blurRad="88900" dist="25400" dir="5400000">
              <a:srgbClr val="000000">
                <a:alpha val="22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40233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9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920" dirty="0"/>
          </a:p>
        </p:txBody>
      </p:sp>
      <p:sp>
        <p:nvSpPr>
          <p:cNvPr id="4" name="Text 2"/>
          <p:cNvSpPr/>
          <p:nvPr/>
        </p:nvSpPr>
        <p:spPr>
          <a:xfrm>
            <a:off x="1243584" y="42062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PAPER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25296" y="658368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 Questions — Solve (show clear working)</a:t>
            </a:r>
            <a:endParaRPr lang="en-US" sz="2800" dirty="0"/>
          </a:p>
        </p:txBody>
      </p:sp>
      <p:sp>
        <p:nvSpPr>
          <p:cNvPr id="6" name="anim_1_a"/>
          <p:cNvSpPr/>
          <p:nvPr/>
        </p:nvSpPr>
        <p:spPr>
          <a:xfrm>
            <a:off x="548640" y="1572768"/>
            <a:ext cx="11091672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9D6C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2000"/>
              </a:srgbClr>
            </a:outerShdw>
          </a:effectLst>
        </p:spPr>
      </p:sp>
      <p:sp>
        <p:nvSpPr>
          <p:cNvPr id="7" name="anim_1_a"/>
          <p:cNvSpPr/>
          <p:nvPr/>
        </p:nvSpPr>
        <p:spPr>
          <a:xfrm>
            <a:off x="822960" y="1783080"/>
            <a:ext cx="1828800" cy="402336"/>
          </a:xfrm>
          <a:prstGeom prst="roundRect">
            <a:avLst>
              <a:gd name="adj" fmla="val 18182"/>
            </a:avLst>
          </a:prstGeom>
          <a:solidFill>
            <a:srgbClr val="16261F"/>
          </a:solidFill>
          <a:ln/>
        </p:spPr>
      </p:sp>
      <p:sp>
        <p:nvSpPr>
          <p:cNvPr id="8" name="anim_1_a"/>
          <p:cNvSpPr/>
          <p:nvPr/>
        </p:nvSpPr>
        <p:spPr>
          <a:xfrm>
            <a:off x="822960" y="178308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QUESTION</a:t>
            </a:r>
            <a:endParaRPr lang="en-US" sz="1000" dirty="0"/>
          </a:p>
        </p:txBody>
      </p:sp>
      <p:sp>
        <p:nvSpPr>
          <p:cNvPr id="9" name="anim_1_a"/>
          <p:cNvSpPr/>
          <p:nvPr/>
        </p:nvSpPr>
        <p:spPr>
          <a:xfrm>
            <a:off x="9052560" y="1783080"/>
            <a:ext cx="237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A7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(Total 4 marks)</a:t>
            </a:r>
            <a:endParaRPr lang="en-US" sz="1200" dirty="0"/>
          </a:p>
        </p:txBody>
      </p:sp>
      <p:sp>
        <p:nvSpPr>
          <p:cNvPr id="10" name="anim_1_a"/>
          <p:cNvSpPr/>
          <p:nvPr/>
        </p:nvSpPr>
        <p:spPr>
          <a:xfrm>
            <a:off x="914400" y="22860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243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(a)  Solve   7p + 2 = 5p + 8</a:t>
            </a:r>
            <a:pPr indent="0" marL="0">
              <a:lnSpc>
                <a:spcPct val="125000"/>
              </a:lnSpc>
              <a:buNone/>
            </a:pPr>
            <a:r>
              <a:rPr lang="en-US" sz="1800" i="1" dirty="0">
                <a:solidFill>
                  <a:srgbClr val="6A72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     (2)</a:t>
            </a:r>
            <a:endParaRPr lang="en-US" sz="1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243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(b)  Solve   7r + 2 = 5(r – 4)</a:t>
            </a:r>
            <a:pPr indent="0" marL="0">
              <a:lnSpc>
                <a:spcPct val="125000"/>
              </a:lnSpc>
              <a:buNone/>
            </a:pPr>
            <a:r>
              <a:rPr lang="en-US" sz="1800" i="1" dirty="0">
                <a:solidFill>
                  <a:srgbClr val="6A72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  (2)</a:t>
            </a:r>
            <a:endParaRPr lang="en-US" sz="1800" dirty="0"/>
          </a:p>
        </p:txBody>
      </p:sp>
      <p:sp>
        <p:nvSpPr>
          <p:cNvPr id="11" name="anim_2_c"/>
          <p:cNvSpPr/>
          <p:nvPr/>
        </p:nvSpPr>
        <p:spPr>
          <a:xfrm>
            <a:off x="548640" y="3383280"/>
            <a:ext cx="35204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9D6C6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12" name="anim_2_c"/>
          <p:cNvSpPr/>
          <p:nvPr/>
        </p:nvSpPr>
        <p:spPr>
          <a:xfrm>
            <a:off x="786384" y="3639312"/>
            <a:ext cx="502920" cy="50292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13" name="anim_2_c"/>
          <p:cNvSpPr/>
          <p:nvPr/>
        </p:nvSpPr>
        <p:spPr>
          <a:xfrm>
            <a:off x="786384" y="36393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anim_2_c"/>
          <p:cNvSpPr/>
          <p:nvPr/>
        </p:nvSpPr>
        <p:spPr>
          <a:xfrm>
            <a:off x="822960" y="42245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Solve   4x – 13 = 17 + 8x</a:t>
            </a:r>
            <a:endParaRPr lang="en-US" sz="1700" dirty="0"/>
          </a:p>
        </p:txBody>
      </p:sp>
      <p:sp>
        <p:nvSpPr>
          <p:cNvPr id="15" name="anim_2_c"/>
          <p:cNvSpPr/>
          <p:nvPr/>
        </p:nvSpPr>
        <p:spPr>
          <a:xfrm>
            <a:off x="822960" y="44805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A7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clear algebraic working.</a:t>
            </a:r>
            <a:endParaRPr lang="en-US" sz="950" dirty="0"/>
          </a:p>
        </p:txBody>
      </p:sp>
      <p:sp>
        <p:nvSpPr>
          <p:cNvPr id="16" name="anim_3_c"/>
          <p:cNvSpPr/>
          <p:nvPr/>
        </p:nvSpPr>
        <p:spPr>
          <a:xfrm>
            <a:off x="4261104" y="3383280"/>
            <a:ext cx="35204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9D6C6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17" name="anim_3_c"/>
          <p:cNvSpPr/>
          <p:nvPr/>
        </p:nvSpPr>
        <p:spPr>
          <a:xfrm>
            <a:off x="4498848" y="3639312"/>
            <a:ext cx="502920" cy="50292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18" name="anim_3_c"/>
          <p:cNvSpPr/>
          <p:nvPr/>
        </p:nvSpPr>
        <p:spPr>
          <a:xfrm>
            <a:off x="4498848" y="36393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anim_3_c"/>
          <p:cNvSpPr/>
          <p:nvPr/>
        </p:nvSpPr>
        <p:spPr>
          <a:xfrm>
            <a:off x="4535424" y="42245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Solve   5(x + 3) = 3x – 4</a:t>
            </a:r>
            <a:endParaRPr lang="en-US" sz="1700" dirty="0"/>
          </a:p>
        </p:txBody>
      </p:sp>
      <p:sp>
        <p:nvSpPr>
          <p:cNvPr id="20" name="anim_3_c"/>
          <p:cNvSpPr/>
          <p:nvPr/>
        </p:nvSpPr>
        <p:spPr>
          <a:xfrm>
            <a:off x="4535424" y="44805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A7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clear algebraic working.</a:t>
            </a:r>
            <a:endParaRPr lang="en-US" sz="950" dirty="0"/>
          </a:p>
        </p:txBody>
      </p:sp>
      <p:sp>
        <p:nvSpPr>
          <p:cNvPr id="21" name="anim_4_c"/>
          <p:cNvSpPr/>
          <p:nvPr/>
        </p:nvSpPr>
        <p:spPr>
          <a:xfrm>
            <a:off x="7973568" y="3383280"/>
            <a:ext cx="35204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9D6C6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22" name="anim_4_c"/>
          <p:cNvSpPr/>
          <p:nvPr/>
        </p:nvSpPr>
        <p:spPr>
          <a:xfrm>
            <a:off x="8211312" y="3639312"/>
            <a:ext cx="502920" cy="50292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23" name="anim_4_c"/>
          <p:cNvSpPr/>
          <p:nvPr/>
        </p:nvSpPr>
        <p:spPr>
          <a:xfrm>
            <a:off x="8211312" y="36393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4" name="anim_4_c"/>
          <p:cNvSpPr/>
          <p:nvPr/>
        </p:nvSpPr>
        <p:spPr>
          <a:xfrm>
            <a:off x="8247888" y="42245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Solve   5(x + 7) = 2x – 10</a:t>
            </a:r>
            <a:endParaRPr lang="en-US" sz="1700" dirty="0"/>
          </a:p>
        </p:txBody>
      </p:sp>
      <p:sp>
        <p:nvSpPr>
          <p:cNvPr id="25" name="anim_4_c"/>
          <p:cNvSpPr/>
          <p:nvPr/>
        </p:nvSpPr>
        <p:spPr>
          <a:xfrm>
            <a:off x="8247888" y="44805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A7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clear algebraic working.</a:t>
            </a:r>
            <a:endParaRPr lang="en-US" sz="9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/>
          <a:effectLst>
            <a:outerShdw sx="100000" sy="100000" kx="0" ky="0" algn="bl" rotWithShape="0" blurRad="88900" dist="25400" dir="5400000">
              <a:srgbClr val="000000">
                <a:alpha val="22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40233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9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920" dirty="0"/>
          </a:p>
        </p:txBody>
      </p:sp>
      <p:sp>
        <p:nvSpPr>
          <p:cNvPr id="4" name="Text 2"/>
          <p:cNvSpPr/>
          <p:nvPr/>
        </p:nvSpPr>
        <p:spPr>
          <a:xfrm>
            <a:off x="1243584" y="42062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PAPER · GEOMETRY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25296" y="658368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Isosceles Triangle — Form &amp; Solve</a:t>
            </a:r>
            <a:endParaRPr lang="en-US" sz="2800" dirty="0"/>
          </a:p>
        </p:txBody>
      </p:sp>
      <p:sp>
        <p:nvSpPr>
          <p:cNvPr id="6" name="anim_1_a"/>
          <p:cNvSpPr/>
          <p:nvPr/>
        </p:nvSpPr>
        <p:spPr>
          <a:xfrm>
            <a:off x="548640" y="1572768"/>
            <a:ext cx="5669280" cy="420624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2700">
            <a:solidFill>
              <a:srgbClr val="D9D6C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2000"/>
              </a:srgbClr>
            </a:outerShdw>
          </a:effectLst>
        </p:spPr>
      </p:sp>
      <p:sp>
        <p:nvSpPr>
          <p:cNvPr id="7" name="anim_1_a"/>
          <p:cNvSpPr/>
          <p:nvPr/>
        </p:nvSpPr>
        <p:spPr>
          <a:xfrm>
            <a:off x="1371600" y="4572000"/>
            <a:ext cx="4023360" cy="0"/>
          </a:xfrm>
          <a:prstGeom prst="line">
            <a:avLst/>
          </a:prstGeom>
          <a:noFill/>
          <a:ln w="25400">
            <a:solidFill>
              <a:srgbClr val="24332D"/>
            </a:solidFill>
            <a:prstDash val="solid"/>
          </a:ln>
        </p:spPr>
      </p:sp>
      <p:sp>
        <p:nvSpPr>
          <p:cNvPr id="8" name="anim_1_a"/>
          <p:cNvSpPr/>
          <p:nvPr/>
        </p:nvSpPr>
        <p:spPr>
          <a:xfrm flipV="1">
            <a:off x="1371600" y="2057400"/>
            <a:ext cx="2011680" cy="2514600"/>
          </a:xfrm>
          <a:prstGeom prst="line">
            <a:avLst/>
          </a:prstGeom>
          <a:noFill/>
          <a:ln w="25400">
            <a:solidFill>
              <a:srgbClr val="24332D"/>
            </a:solidFill>
            <a:prstDash val="solid"/>
          </a:ln>
        </p:spPr>
      </p:sp>
      <p:sp>
        <p:nvSpPr>
          <p:cNvPr id="9" name="anim_1_a"/>
          <p:cNvSpPr/>
          <p:nvPr/>
        </p:nvSpPr>
        <p:spPr>
          <a:xfrm>
            <a:off x="3383280" y="2057400"/>
            <a:ext cx="2011680" cy="2514600"/>
          </a:xfrm>
          <a:prstGeom prst="line">
            <a:avLst/>
          </a:prstGeom>
          <a:noFill/>
          <a:ln w="25400">
            <a:solidFill>
              <a:srgbClr val="24332D"/>
            </a:solidFill>
            <a:prstDash val="solid"/>
          </a:ln>
        </p:spPr>
      </p:sp>
      <p:sp>
        <p:nvSpPr>
          <p:cNvPr id="10" name="anim_1_a"/>
          <p:cNvSpPr/>
          <p:nvPr/>
        </p:nvSpPr>
        <p:spPr>
          <a:xfrm>
            <a:off x="3200400" y="16916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243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endParaRPr lang="en-US" sz="1400" dirty="0"/>
          </a:p>
        </p:txBody>
      </p:sp>
      <p:sp>
        <p:nvSpPr>
          <p:cNvPr id="11" name="anim_1_a"/>
          <p:cNvSpPr/>
          <p:nvPr/>
        </p:nvSpPr>
        <p:spPr>
          <a:xfrm>
            <a:off x="1005840" y="46177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243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endParaRPr lang="en-US" sz="1400" dirty="0"/>
          </a:p>
        </p:txBody>
      </p:sp>
      <p:sp>
        <p:nvSpPr>
          <p:cNvPr id="12" name="anim_1_a"/>
          <p:cNvSpPr/>
          <p:nvPr/>
        </p:nvSpPr>
        <p:spPr>
          <a:xfrm>
            <a:off x="5440680" y="46177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243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endParaRPr lang="en-US" sz="1400" dirty="0"/>
          </a:p>
        </p:txBody>
      </p:sp>
      <p:sp>
        <p:nvSpPr>
          <p:cNvPr id="13" name="anim_1_a"/>
          <p:cNvSpPr/>
          <p:nvPr/>
        </p:nvSpPr>
        <p:spPr>
          <a:xfrm>
            <a:off x="3218688" y="246888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</a:t>
            </a:r>
            <a:endParaRPr lang="en-US" sz="1500" dirty="0"/>
          </a:p>
        </p:txBody>
      </p:sp>
      <p:sp>
        <p:nvSpPr>
          <p:cNvPr id="14" name="anim_1_a"/>
          <p:cNvSpPr/>
          <p:nvPr/>
        </p:nvSpPr>
        <p:spPr>
          <a:xfrm>
            <a:off x="1691640" y="4114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43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(3x + 10)</a:t>
            </a:r>
            <a:endParaRPr lang="en-US" sz="1200" dirty="0"/>
          </a:p>
        </p:txBody>
      </p:sp>
      <p:sp>
        <p:nvSpPr>
          <p:cNvPr id="15" name="anim_1_a"/>
          <p:cNvSpPr/>
          <p:nvPr/>
        </p:nvSpPr>
        <p:spPr>
          <a:xfrm>
            <a:off x="3840480" y="4114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43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(x + 52)</a:t>
            </a:r>
            <a:endParaRPr lang="en-US" sz="1200" dirty="0"/>
          </a:p>
        </p:txBody>
      </p:sp>
      <p:sp>
        <p:nvSpPr>
          <p:cNvPr id="16" name="anim_1_a"/>
          <p:cNvSpPr/>
          <p:nvPr/>
        </p:nvSpPr>
        <p:spPr>
          <a:xfrm>
            <a:off x="868680" y="53492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A7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= RQ  ·  Diagram not accurately drawn</a:t>
            </a:r>
            <a:endParaRPr lang="en-US" sz="1050" dirty="0"/>
          </a:p>
        </p:txBody>
      </p:sp>
      <p:sp>
        <p:nvSpPr>
          <p:cNvPr id="17" name="anim_1_a"/>
          <p:cNvSpPr/>
          <p:nvPr/>
        </p:nvSpPr>
        <p:spPr>
          <a:xfrm>
            <a:off x="6400800" y="1572768"/>
            <a:ext cx="5239512" cy="1097280"/>
          </a:xfrm>
          <a:prstGeom prst="roundRect">
            <a:avLst>
              <a:gd name="adj" fmla="val 8333"/>
            </a:avLst>
          </a:prstGeom>
          <a:solidFill>
            <a:srgbClr val="16261F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8" name="anim_1_a"/>
          <p:cNvSpPr/>
          <p:nvPr/>
        </p:nvSpPr>
        <p:spPr>
          <a:xfrm>
            <a:off x="6675120" y="1572768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RP = RQ, so the base angles are equal.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the value of y.</a:t>
            </a:r>
            <a:endParaRPr lang="en-US" sz="1500" dirty="0"/>
          </a:p>
        </p:txBody>
      </p:sp>
      <p:sp>
        <p:nvSpPr>
          <p:cNvPr id="19" name="anim_2_c"/>
          <p:cNvSpPr/>
          <p:nvPr/>
        </p:nvSpPr>
        <p:spPr>
          <a:xfrm>
            <a:off x="6400800" y="2944368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20" name="anim_2_c"/>
          <p:cNvSpPr/>
          <p:nvPr/>
        </p:nvSpPr>
        <p:spPr>
          <a:xfrm>
            <a:off x="6400800" y="2944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21" name="anim_2_c"/>
          <p:cNvSpPr/>
          <p:nvPr/>
        </p:nvSpPr>
        <p:spPr>
          <a:xfrm>
            <a:off x="6949440" y="2880360"/>
            <a:ext cx="4599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angles equal:  3x+10 = x+52</a:t>
            </a:r>
            <a:endParaRPr lang="en-US" sz="1400" dirty="0"/>
          </a:p>
        </p:txBody>
      </p:sp>
      <p:sp>
        <p:nvSpPr>
          <p:cNvPr id="22" name="anim_3_c"/>
          <p:cNvSpPr/>
          <p:nvPr/>
        </p:nvSpPr>
        <p:spPr>
          <a:xfrm>
            <a:off x="6400800" y="3630168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23" name="anim_3_c"/>
          <p:cNvSpPr/>
          <p:nvPr/>
        </p:nvSpPr>
        <p:spPr>
          <a:xfrm>
            <a:off x="6400800" y="3630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4" name="anim_3_c"/>
          <p:cNvSpPr/>
          <p:nvPr/>
        </p:nvSpPr>
        <p:spPr>
          <a:xfrm>
            <a:off x="6949440" y="3566160"/>
            <a:ext cx="4599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2x = 42  →  x = 21</a:t>
            </a:r>
            <a:endParaRPr lang="en-US" sz="1400" dirty="0"/>
          </a:p>
        </p:txBody>
      </p:sp>
      <p:sp>
        <p:nvSpPr>
          <p:cNvPr id="25" name="anim_4_c"/>
          <p:cNvSpPr/>
          <p:nvPr/>
        </p:nvSpPr>
        <p:spPr>
          <a:xfrm>
            <a:off x="6400800" y="4315968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26" name="anim_4_c"/>
          <p:cNvSpPr/>
          <p:nvPr/>
        </p:nvSpPr>
        <p:spPr>
          <a:xfrm>
            <a:off x="6400800" y="4315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7" name="anim_4_c"/>
          <p:cNvSpPr/>
          <p:nvPr/>
        </p:nvSpPr>
        <p:spPr>
          <a:xfrm>
            <a:off x="6949440" y="4251960"/>
            <a:ext cx="4599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base angle = 73°,  so y = 180 – 146</a:t>
            </a:r>
            <a:endParaRPr lang="en-US" sz="1350" dirty="0"/>
          </a:p>
        </p:txBody>
      </p:sp>
      <p:sp>
        <p:nvSpPr>
          <p:cNvPr id="28" name="anim_4_c"/>
          <p:cNvSpPr/>
          <p:nvPr/>
        </p:nvSpPr>
        <p:spPr>
          <a:xfrm>
            <a:off x="6949440" y="4937760"/>
            <a:ext cx="3657600" cy="548640"/>
          </a:xfrm>
          <a:prstGeom prst="roundRect">
            <a:avLst>
              <a:gd name="adj" fmla="val 20000"/>
            </a:avLst>
          </a:prstGeom>
          <a:solidFill>
            <a:srgbClr val="16261F"/>
          </a:solidFill>
          <a:ln/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29" name="anim_4_c"/>
          <p:cNvSpPr/>
          <p:nvPr/>
        </p:nvSpPr>
        <p:spPr>
          <a:xfrm>
            <a:off x="7132320" y="493776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= 34°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/>
          <a:effectLst>
            <a:outerShdw sx="100000" sy="100000" kx="0" ky="0" algn="bl" rotWithShape="0" blurRad="88900" dist="25400" dir="5400000">
              <a:srgbClr val="000000">
                <a:alpha val="22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40233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9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920" dirty="0"/>
          </a:p>
        </p:txBody>
      </p:sp>
      <p:sp>
        <p:nvSpPr>
          <p:cNvPr id="4" name="Text 2"/>
          <p:cNvSpPr/>
          <p:nvPr/>
        </p:nvSpPr>
        <p:spPr>
          <a:xfrm>
            <a:off x="1243584" y="42062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PAPER · GEOMETRY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25296" y="658368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Rectangles — Form &amp; Solve</a:t>
            </a:r>
            <a:endParaRPr lang="en-US" sz="2800" dirty="0"/>
          </a:p>
        </p:txBody>
      </p:sp>
      <p:sp>
        <p:nvSpPr>
          <p:cNvPr id="6" name="anim_1_a"/>
          <p:cNvSpPr/>
          <p:nvPr/>
        </p:nvSpPr>
        <p:spPr>
          <a:xfrm>
            <a:off x="548640" y="1572768"/>
            <a:ext cx="5669280" cy="420624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2700">
            <a:solidFill>
              <a:srgbClr val="D9D6C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2000"/>
              </a:srgbClr>
            </a:outerShdw>
          </a:effectLst>
        </p:spPr>
      </p:sp>
      <p:sp>
        <p:nvSpPr>
          <p:cNvPr id="7" name="anim_1_a"/>
          <p:cNvSpPr/>
          <p:nvPr/>
        </p:nvSpPr>
        <p:spPr>
          <a:xfrm>
            <a:off x="914400" y="1874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rectangle A</a:t>
            </a:r>
            <a:endParaRPr lang="en-US" sz="1300" dirty="0"/>
          </a:p>
        </p:txBody>
      </p:sp>
      <p:sp>
        <p:nvSpPr>
          <p:cNvPr id="8" name="anim_1_a"/>
          <p:cNvSpPr/>
          <p:nvPr/>
        </p:nvSpPr>
        <p:spPr>
          <a:xfrm>
            <a:off x="1234440" y="2286000"/>
            <a:ext cx="1463040" cy="914400"/>
          </a:xfrm>
          <a:prstGeom prst="rect">
            <a:avLst/>
          </a:prstGeom>
          <a:solidFill>
            <a:srgbClr val="EEF1E8"/>
          </a:solidFill>
          <a:ln w="22225">
            <a:solidFill>
              <a:srgbClr val="24332D"/>
            </a:solidFill>
            <a:prstDash val="solid"/>
          </a:ln>
        </p:spPr>
      </p:sp>
      <p:sp>
        <p:nvSpPr>
          <p:cNvPr id="9" name="anim_1_a"/>
          <p:cNvSpPr/>
          <p:nvPr/>
        </p:nvSpPr>
        <p:spPr>
          <a:xfrm>
            <a:off x="411480" y="2606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243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(5 – x) cm</a:t>
            </a:r>
            <a:endParaRPr lang="en-US" sz="1100" dirty="0"/>
          </a:p>
        </p:txBody>
      </p:sp>
      <p:sp>
        <p:nvSpPr>
          <p:cNvPr id="10" name="anim_1_a"/>
          <p:cNvSpPr/>
          <p:nvPr/>
        </p:nvSpPr>
        <p:spPr>
          <a:xfrm>
            <a:off x="1234440" y="32461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243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cm</a:t>
            </a:r>
            <a:endParaRPr lang="en-US" sz="1100" dirty="0"/>
          </a:p>
        </p:txBody>
      </p:sp>
      <p:sp>
        <p:nvSpPr>
          <p:cNvPr id="11" name="anim_1_a"/>
          <p:cNvSpPr/>
          <p:nvPr/>
        </p:nvSpPr>
        <p:spPr>
          <a:xfrm>
            <a:off x="3383280" y="1874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rectangle B</a:t>
            </a:r>
            <a:endParaRPr lang="en-US" sz="1300" dirty="0"/>
          </a:p>
        </p:txBody>
      </p:sp>
      <p:sp>
        <p:nvSpPr>
          <p:cNvPr id="12" name="anim_1_a"/>
          <p:cNvSpPr/>
          <p:nvPr/>
        </p:nvSpPr>
        <p:spPr>
          <a:xfrm>
            <a:off x="3611880" y="2286000"/>
            <a:ext cx="1737360" cy="1280160"/>
          </a:xfrm>
          <a:prstGeom prst="rect">
            <a:avLst/>
          </a:prstGeom>
          <a:solidFill>
            <a:srgbClr val="FBF3DD"/>
          </a:solidFill>
          <a:ln w="22225">
            <a:solidFill>
              <a:srgbClr val="24332D"/>
            </a:solidFill>
            <a:prstDash val="solid"/>
          </a:ln>
        </p:spPr>
      </p:sp>
      <p:sp>
        <p:nvSpPr>
          <p:cNvPr id="13" name="anim_1_a"/>
          <p:cNvSpPr/>
          <p:nvPr/>
        </p:nvSpPr>
        <p:spPr>
          <a:xfrm>
            <a:off x="5394960" y="278892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43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(2x – 1) cm</a:t>
            </a:r>
            <a:endParaRPr lang="en-US" sz="1100" dirty="0"/>
          </a:p>
        </p:txBody>
      </p:sp>
      <p:sp>
        <p:nvSpPr>
          <p:cNvPr id="14" name="anim_1_a"/>
          <p:cNvSpPr/>
          <p:nvPr/>
        </p:nvSpPr>
        <p:spPr>
          <a:xfrm>
            <a:off x="3611880" y="36118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243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cm</a:t>
            </a:r>
            <a:endParaRPr lang="en-US" sz="1100" dirty="0"/>
          </a:p>
        </p:txBody>
      </p:sp>
      <p:sp>
        <p:nvSpPr>
          <p:cNvPr id="15" name="anim_1_a"/>
          <p:cNvSpPr/>
          <p:nvPr/>
        </p:nvSpPr>
        <p:spPr>
          <a:xfrm>
            <a:off x="868680" y="53949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A7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 of B = 2 × Area of A  ·  not accurately drawn</a:t>
            </a:r>
            <a:endParaRPr lang="en-US" sz="1050" dirty="0"/>
          </a:p>
        </p:txBody>
      </p:sp>
      <p:sp>
        <p:nvSpPr>
          <p:cNvPr id="16" name="anim_1_a"/>
          <p:cNvSpPr/>
          <p:nvPr/>
        </p:nvSpPr>
        <p:spPr>
          <a:xfrm>
            <a:off x="6400800" y="1572768"/>
            <a:ext cx="5239512" cy="1097280"/>
          </a:xfrm>
          <a:prstGeom prst="roundRect">
            <a:avLst>
              <a:gd name="adj" fmla="val 8333"/>
            </a:avLst>
          </a:prstGeom>
          <a:solidFill>
            <a:srgbClr val="16261F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7" name="anim_1_a"/>
          <p:cNvSpPr/>
          <p:nvPr/>
        </p:nvSpPr>
        <p:spPr>
          <a:xfrm>
            <a:off x="6675120" y="1572768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area of B is twice the area of A.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 out the value of x.</a:t>
            </a:r>
            <a:endParaRPr lang="en-US" sz="1500" dirty="0"/>
          </a:p>
        </p:txBody>
      </p:sp>
      <p:sp>
        <p:nvSpPr>
          <p:cNvPr id="18" name="anim_2_c"/>
          <p:cNvSpPr/>
          <p:nvPr/>
        </p:nvSpPr>
        <p:spPr>
          <a:xfrm>
            <a:off x="6400800" y="2944368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19" name="anim_2_c"/>
          <p:cNvSpPr/>
          <p:nvPr/>
        </p:nvSpPr>
        <p:spPr>
          <a:xfrm>
            <a:off x="6400800" y="2944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20" name="anim_2_c"/>
          <p:cNvSpPr/>
          <p:nvPr/>
        </p:nvSpPr>
        <p:spPr>
          <a:xfrm>
            <a:off x="6949440" y="2880360"/>
            <a:ext cx="4599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 A = 4(5–x),   Area B = 5(2x–1)</a:t>
            </a:r>
            <a:endParaRPr lang="en-US" sz="1350" dirty="0"/>
          </a:p>
        </p:txBody>
      </p:sp>
      <p:sp>
        <p:nvSpPr>
          <p:cNvPr id="21" name="anim_3_c"/>
          <p:cNvSpPr/>
          <p:nvPr/>
        </p:nvSpPr>
        <p:spPr>
          <a:xfrm>
            <a:off x="6400800" y="3630168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22" name="anim_3_c"/>
          <p:cNvSpPr/>
          <p:nvPr/>
        </p:nvSpPr>
        <p:spPr>
          <a:xfrm>
            <a:off x="6400800" y="3630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3" name="anim_3_c"/>
          <p:cNvSpPr/>
          <p:nvPr/>
        </p:nvSpPr>
        <p:spPr>
          <a:xfrm>
            <a:off x="6949440" y="3566160"/>
            <a:ext cx="4599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= 2A:  5(2x–1) = 2×4(5–x)</a:t>
            </a:r>
            <a:endParaRPr lang="en-US" sz="1350" dirty="0"/>
          </a:p>
        </p:txBody>
      </p:sp>
      <p:sp>
        <p:nvSpPr>
          <p:cNvPr id="24" name="anim_4_c"/>
          <p:cNvSpPr/>
          <p:nvPr/>
        </p:nvSpPr>
        <p:spPr>
          <a:xfrm>
            <a:off x="6400800" y="4315968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25" name="anim_4_c"/>
          <p:cNvSpPr/>
          <p:nvPr/>
        </p:nvSpPr>
        <p:spPr>
          <a:xfrm>
            <a:off x="6400800" y="4315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6" name="anim_4_c"/>
          <p:cNvSpPr/>
          <p:nvPr/>
        </p:nvSpPr>
        <p:spPr>
          <a:xfrm>
            <a:off x="6949440" y="4251960"/>
            <a:ext cx="4599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10x–5 = 40–8x  →  18x = 45</a:t>
            </a:r>
            <a:endParaRPr lang="en-US" sz="1350" dirty="0"/>
          </a:p>
        </p:txBody>
      </p:sp>
      <p:sp>
        <p:nvSpPr>
          <p:cNvPr id="27" name="anim_4_c"/>
          <p:cNvSpPr/>
          <p:nvPr/>
        </p:nvSpPr>
        <p:spPr>
          <a:xfrm>
            <a:off x="6949440" y="4937760"/>
            <a:ext cx="3657600" cy="548640"/>
          </a:xfrm>
          <a:prstGeom prst="roundRect">
            <a:avLst>
              <a:gd name="adj" fmla="val 20000"/>
            </a:avLst>
          </a:prstGeom>
          <a:solidFill>
            <a:srgbClr val="16261F"/>
          </a:solidFill>
          <a:ln/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28" name="anim_4_c"/>
          <p:cNvSpPr/>
          <p:nvPr/>
        </p:nvSpPr>
        <p:spPr>
          <a:xfrm>
            <a:off x="7132320" y="493776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= 2.5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58400" y="2926080"/>
            <a:ext cx="22860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0" b="1" dirty="0">
                <a:solidFill>
                  <a:srgbClr val="2837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14000" dirty="0"/>
          </a:p>
        </p:txBody>
      </p:sp>
      <p:sp>
        <p:nvSpPr>
          <p:cNvPr id="3" name="Shape 1"/>
          <p:cNvSpPr/>
          <p:nvPr/>
        </p:nvSpPr>
        <p:spPr>
          <a:xfrm>
            <a:off x="731520" y="640080"/>
            <a:ext cx="640080" cy="64008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/>
          <a:effectLst>
            <a:outerShdw sx="100000" sy="100000" kx="0" ky="0" algn="bl" rotWithShape="0" blurRad="88900" dist="25400" dir="5400000">
              <a:srgbClr val="000000">
                <a:alpha val="2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31520" y="62179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22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2240" dirty="0"/>
          </a:p>
        </p:txBody>
      </p:sp>
      <p:sp>
        <p:nvSpPr>
          <p:cNvPr id="5" name="Text 3"/>
          <p:cNvSpPr/>
          <p:nvPr/>
        </p:nvSpPr>
        <p:spPr>
          <a:xfrm>
            <a:off x="1517904" y="67665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Zπ MATHS HUB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12801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Recap &amp; Resources</a:t>
            </a:r>
            <a:endParaRPr lang="en-US" sz="3200" dirty="0"/>
          </a:p>
        </p:txBody>
      </p:sp>
      <p:sp>
        <p:nvSpPr>
          <p:cNvPr id="7" name="anim_1_a"/>
          <p:cNvSpPr/>
          <p:nvPr/>
        </p:nvSpPr>
        <p:spPr>
          <a:xfrm>
            <a:off x="731520" y="2057400"/>
            <a:ext cx="5440680" cy="841248"/>
          </a:xfrm>
          <a:prstGeom prst="roundRect">
            <a:avLst>
              <a:gd name="adj" fmla="val 10870"/>
            </a:avLst>
          </a:prstGeom>
          <a:solidFill>
            <a:srgbClr val="283731"/>
          </a:solidFill>
          <a:ln/>
          <a:effectLst>
            <a:outerShdw sx="100000" sy="100000" kx="0" ky="0" algn="bl" rotWithShape="0" blurRad="114300" dist="38100" dir="5400000">
              <a:srgbClr val="000000">
                <a:alpha val="25000"/>
              </a:srgbClr>
            </a:outerShdw>
          </a:effectLst>
        </p:spPr>
      </p:sp>
      <p:sp>
        <p:nvSpPr>
          <p:cNvPr id="8" name="anim_1_a"/>
          <p:cNvSpPr/>
          <p:nvPr/>
        </p:nvSpPr>
        <p:spPr>
          <a:xfrm>
            <a:off x="1005840" y="2167128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&amp; two-step</a:t>
            </a:r>
            <a:endParaRPr lang="en-US" sz="1500" dirty="0"/>
          </a:p>
        </p:txBody>
      </p:sp>
      <p:sp>
        <p:nvSpPr>
          <p:cNvPr id="9" name="anim_1_a"/>
          <p:cNvSpPr/>
          <p:nvPr/>
        </p:nvSpPr>
        <p:spPr>
          <a:xfrm>
            <a:off x="1005840" y="247802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inverse operations, both sides equal</a:t>
            </a:r>
            <a:endParaRPr lang="en-US" sz="1150" dirty="0"/>
          </a:p>
        </p:txBody>
      </p:sp>
      <p:sp>
        <p:nvSpPr>
          <p:cNvPr id="10" name="anim_1_a"/>
          <p:cNvSpPr/>
          <p:nvPr/>
        </p:nvSpPr>
        <p:spPr>
          <a:xfrm>
            <a:off x="6172200" y="2057400"/>
            <a:ext cx="5440680" cy="841248"/>
          </a:xfrm>
          <a:prstGeom prst="roundRect">
            <a:avLst>
              <a:gd name="adj" fmla="val 10870"/>
            </a:avLst>
          </a:prstGeom>
          <a:solidFill>
            <a:srgbClr val="283731"/>
          </a:solidFill>
          <a:ln/>
          <a:effectLst>
            <a:outerShdw sx="100000" sy="100000" kx="0" ky="0" algn="bl" rotWithShape="0" blurRad="114300" dist="38100" dir="5400000">
              <a:srgbClr val="000000">
                <a:alpha val="25000"/>
              </a:srgbClr>
            </a:outerShdw>
          </a:effectLst>
        </p:spPr>
      </p:sp>
      <p:sp>
        <p:nvSpPr>
          <p:cNvPr id="11" name="anim_1_a"/>
          <p:cNvSpPr/>
          <p:nvPr/>
        </p:nvSpPr>
        <p:spPr>
          <a:xfrm>
            <a:off x="6446520" y="2167128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Simplify first</a:t>
            </a:r>
            <a:endParaRPr lang="en-US" sz="1500" dirty="0"/>
          </a:p>
        </p:txBody>
      </p:sp>
      <p:sp>
        <p:nvSpPr>
          <p:cNvPr id="12" name="anim_1_a"/>
          <p:cNvSpPr/>
          <p:nvPr/>
        </p:nvSpPr>
        <p:spPr>
          <a:xfrm>
            <a:off x="6446520" y="247802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like terms, then solve</a:t>
            </a:r>
            <a:endParaRPr lang="en-US" sz="1150" dirty="0"/>
          </a:p>
        </p:txBody>
      </p:sp>
      <p:sp>
        <p:nvSpPr>
          <p:cNvPr id="13" name="anim_2_c"/>
          <p:cNvSpPr/>
          <p:nvPr/>
        </p:nvSpPr>
        <p:spPr>
          <a:xfrm>
            <a:off x="731520" y="3017520"/>
            <a:ext cx="5440680" cy="841248"/>
          </a:xfrm>
          <a:prstGeom prst="roundRect">
            <a:avLst>
              <a:gd name="adj" fmla="val 10870"/>
            </a:avLst>
          </a:prstGeom>
          <a:solidFill>
            <a:srgbClr val="283731"/>
          </a:solidFill>
          <a:ln/>
          <a:effectLst>
            <a:outerShdw sx="100000" sy="100000" kx="0" ky="0" algn="bl" rotWithShape="0" blurRad="114300" dist="38100" dir="5400000">
              <a:srgbClr val="000000">
                <a:alpha val="25000"/>
              </a:srgbClr>
            </a:outerShdw>
          </a:effectLst>
        </p:spPr>
      </p:sp>
      <p:sp>
        <p:nvSpPr>
          <p:cNvPr id="14" name="anim_2_c"/>
          <p:cNvSpPr/>
          <p:nvPr/>
        </p:nvSpPr>
        <p:spPr>
          <a:xfrm>
            <a:off x="1005840" y="3127248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Brackets</a:t>
            </a:r>
            <a:endParaRPr lang="en-US" sz="1500" dirty="0"/>
          </a:p>
        </p:txBody>
      </p:sp>
      <p:sp>
        <p:nvSpPr>
          <p:cNvPr id="15" name="anim_2_c"/>
          <p:cNvSpPr/>
          <p:nvPr/>
        </p:nvSpPr>
        <p:spPr>
          <a:xfrm>
            <a:off x="1005840" y="343814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expand, then solve</a:t>
            </a:r>
            <a:endParaRPr lang="en-US" sz="1150" dirty="0"/>
          </a:p>
        </p:txBody>
      </p:sp>
      <p:sp>
        <p:nvSpPr>
          <p:cNvPr id="16" name="anim_2_c"/>
          <p:cNvSpPr/>
          <p:nvPr/>
        </p:nvSpPr>
        <p:spPr>
          <a:xfrm>
            <a:off x="6172200" y="3017520"/>
            <a:ext cx="5440680" cy="841248"/>
          </a:xfrm>
          <a:prstGeom prst="roundRect">
            <a:avLst>
              <a:gd name="adj" fmla="val 10870"/>
            </a:avLst>
          </a:prstGeom>
          <a:solidFill>
            <a:srgbClr val="283731"/>
          </a:solidFill>
          <a:ln/>
          <a:effectLst>
            <a:outerShdw sx="100000" sy="100000" kx="0" ky="0" algn="bl" rotWithShape="0" blurRad="114300" dist="38100" dir="5400000">
              <a:srgbClr val="000000">
                <a:alpha val="25000"/>
              </a:srgbClr>
            </a:outerShdw>
          </a:effectLst>
        </p:spPr>
      </p:sp>
      <p:sp>
        <p:nvSpPr>
          <p:cNvPr id="17" name="anim_2_c"/>
          <p:cNvSpPr/>
          <p:nvPr/>
        </p:nvSpPr>
        <p:spPr>
          <a:xfrm>
            <a:off x="6446520" y="3127248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Both sides</a:t>
            </a:r>
            <a:endParaRPr lang="en-US" sz="1500" dirty="0"/>
          </a:p>
        </p:txBody>
      </p:sp>
      <p:sp>
        <p:nvSpPr>
          <p:cNvPr id="18" name="anim_2_c"/>
          <p:cNvSpPr/>
          <p:nvPr/>
        </p:nvSpPr>
        <p:spPr>
          <a:xfrm>
            <a:off x="6446520" y="343814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subtract the smaller x-term</a:t>
            </a:r>
            <a:endParaRPr lang="en-US" sz="1150" dirty="0"/>
          </a:p>
        </p:txBody>
      </p:sp>
      <p:sp>
        <p:nvSpPr>
          <p:cNvPr id="19" name="anim_3_c"/>
          <p:cNvSpPr/>
          <p:nvPr/>
        </p:nvSpPr>
        <p:spPr>
          <a:xfrm>
            <a:off x="731520" y="3977640"/>
            <a:ext cx="5440680" cy="841248"/>
          </a:xfrm>
          <a:prstGeom prst="roundRect">
            <a:avLst>
              <a:gd name="adj" fmla="val 10870"/>
            </a:avLst>
          </a:prstGeom>
          <a:solidFill>
            <a:srgbClr val="283731"/>
          </a:solidFill>
          <a:ln/>
          <a:effectLst>
            <a:outerShdw sx="100000" sy="100000" kx="0" ky="0" algn="bl" rotWithShape="0" blurRad="114300" dist="38100" dir="5400000">
              <a:srgbClr val="000000">
                <a:alpha val="25000"/>
              </a:srgbClr>
            </a:outerShdw>
          </a:effectLst>
        </p:spPr>
      </p:sp>
      <p:sp>
        <p:nvSpPr>
          <p:cNvPr id="20" name="anim_3_c"/>
          <p:cNvSpPr/>
          <p:nvPr/>
        </p:nvSpPr>
        <p:spPr>
          <a:xfrm>
            <a:off x="1005840" y="4087368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Fractions</a:t>
            </a:r>
            <a:endParaRPr lang="en-US" sz="1500" dirty="0"/>
          </a:p>
        </p:txBody>
      </p:sp>
      <p:sp>
        <p:nvSpPr>
          <p:cNvPr id="21" name="anim_3_c"/>
          <p:cNvSpPr/>
          <p:nvPr/>
        </p:nvSpPr>
        <p:spPr>
          <a:xfrm>
            <a:off x="1005840" y="439826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to clear the fraction</a:t>
            </a:r>
            <a:endParaRPr lang="en-US" sz="1150" dirty="0"/>
          </a:p>
        </p:txBody>
      </p:sp>
      <p:sp>
        <p:nvSpPr>
          <p:cNvPr id="22" name="anim_3_c"/>
          <p:cNvSpPr/>
          <p:nvPr/>
        </p:nvSpPr>
        <p:spPr>
          <a:xfrm>
            <a:off x="6172200" y="3977640"/>
            <a:ext cx="5440680" cy="841248"/>
          </a:xfrm>
          <a:prstGeom prst="roundRect">
            <a:avLst>
              <a:gd name="adj" fmla="val 10870"/>
            </a:avLst>
          </a:prstGeom>
          <a:solidFill>
            <a:srgbClr val="283731"/>
          </a:solidFill>
          <a:ln/>
          <a:effectLst>
            <a:outerShdw sx="100000" sy="100000" kx="0" ky="0" algn="bl" rotWithShape="0" blurRad="114300" dist="38100" dir="5400000">
              <a:srgbClr val="000000">
                <a:alpha val="25000"/>
              </a:srgbClr>
            </a:outerShdw>
          </a:effectLst>
        </p:spPr>
      </p:sp>
      <p:sp>
        <p:nvSpPr>
          <p:cNvPr id="23" name="anim_3_c"/>
          <p:cNvSpPr/>
          <p:nvPr/>
        </p:nvSpPr>
        <p:spPr>
          <a:xfrm>
            <a:off x="6446520" y="4087368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Non-linear</a:t>
            </a:r>
            <a:endParaRPr lang="en-US" sz="1500" dirty="0"/>
          </a:p>
        </p:txBody>
      </p:sp>
      <p:sp>
        <p:nvSpPr>
          <p:cNvPr id="24" name="anim_3_c"/>
          <p:cNvSpPr/>
          <p:nvPr/>
        </p:nvSpPr>
        <p:spPr>
          <a:xfrm>
            <a:off x="6446520" y="439826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— x² cancels to linear</a:t>
            </a:r>
            <a:endParaRPr lang="en-US" sz="1150" dirty="0"/>
          </a:p>
        </p:txBody>
      </p:sp>
      <p:sp>
        <p:nvSpPr>
          <p:cNvPr id="25" name="anim_3_c"/>
          <p:cNvSpPr/>
          <p:nvPr/>
        </p:nvSpPr>
        <p:spPr>
          <a:xfrm>
            <a:off x="731520" y="5074920"/>
            <a:ext cx="10927080" cy="868680"/>
          </a:xfrm>
          <a:prstGeom prst="roundRect">
            <a:avLst>
              <a:gd name="adj" fmla="val 12632"/>
            </a:avLst>
          </a:prstGeom>
          <a:solidFill>
            <a:srgbClr val="16261F"/>
          </a:solidFill>
          <a:ln w="15875">
            <a:solidFill>
              <a:srgbClr val="283731"/>
            </a:solidFill>
            <a:prstDash val="solid"/>
          </a:ln>
        </p:spPr>
      </p:sp>
      <p:sp>
        <p:nvSpPr>
          <p:cNvPr id="26" name="anim_3_c">
            <a:hlinkClick r:id="rIdundefined" tooltip=""/>
          </p:cNvPr>
          <p:cNvSpPr/>
          <p:nvPr/>
        </p:nvSpPr>
        <p:spPr>
          <a:xfrm>
            <a:off x="1051560" y="5138928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undefined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Practice:  </a:t>
            </a:r>
            <a:pPr indent="0" marL="0">
              <a:buNone/>
            </a:pPr>
            <a:r>
              <a:rPr lang="en-US" sz="1250" u="sng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undefined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wordwall.net — two-step equations        ✉ zahraa.sheikhali@outlook.com  ·  ☎ 66613748</a:t>
            </a:r>
            <a:endParaRPr lang="en-US" sz="1250" dirty="0"/>
          </a:p>
        </p:txBody>
      </p:sp>
      <p:sp>
        <p:nvSpPr>
          <p:cNvPr id="27" name="anim_3_c"/>
          <p:cNvSpPr/>
          <p:nvPr/>
        </p:nvSpPr>
        <p:spPr>
          <a:xfrm>
            <a:off x="1051560" y="552297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7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Ms. Zahra Sheikh Ali  ·  Pearson Edexcel IGCSE (9–1) Mathematics A  ·  Higher Tier</a:t>
            </a:r>
            <a:endParaRPr lang="en-US" sz="11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Expanding Brackets — IGCSE Mathematics (Higher Tier)</dc:title>
  <dc:subject>PptxGenJS Presentation</dc:subject>
  <dc:creator>Zahra Sheikh Ali</dc:creator>
  <cp:lastModifiedBy>Zahra Sheikh Ali</cp:lastModifiedBy>
  <cp:revision>1</cp:revision>
  <dcterms:created xsi:type="dcterms:W3CDTF">2026-06-28T09:06:53Z</dcterms:created>
  <dcterms:modified xsi:type="dcterms:W3CDTF">2026-06-28T09:06:53Z</dcterms:modified>
</cp:coreProperties>
</file>