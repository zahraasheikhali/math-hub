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0" y="10058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i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a² + b² = c²</a:t>
            </a:r>
            <a:endParaRPr lang="en-US" sz="4400" dirty="0"/>
          </a:p>
        </p:txBody>
      </p:sp>
      <p:sp>
        <p:nvSpPr>
          <p:cNvPr id="38" name="Shape 36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39" name="Text 37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2160" dirty="0"/>
          </a:p>
        </p:txBody>
      </p:sp>
      <p:sp>
        <p:nvSpPr>
          <p:cNvPr id="40" name="Text 38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Pythagoras’ Theorem</a:t>
            </a:r>
            <a:endParaRPr lang="en-US" sz="4000" dirty="0"/>
          </a:p>
        </p:txBody>
      </p:sp>
      <p:sp>
        <p:nvSpPr>
          <p:cNvPr id="43" name="Text 41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a² + b² = c² · Finding the Hypotenuse · Finding a Shorter Side · Problem Solving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</a:t>
            </a:r>
            <a:pPr indent="0" marL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Sides of a Right-Angled Triangle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Pythagoras links the three SIDES of a right-angled triangle.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angles needed — if a question gives you two sides and a right angle, think Pythagoras.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hypotenuse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a² + b² = c²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hypotenuse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 shorter side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solving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pPr algn="ctr" indent="0" marL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hypotenuse · right angle · square · square root · 3 significant figures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STEP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Hypotenuse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42720" y="1353312"/>
            <a:ext cx="8906256" cy="4532055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6728" y="1417320"/>
            <a:ext cx="8778240" cy="4404039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hypotenuse is OPPOSITE the right angle </a:t>
            </a:r>
            <a:pPr algn="l" indent="0" marL="0">
              <a:buNone/>
            </a:pP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is always the longest side. Label it c.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Pythagoras’ Theorem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597466" y="1353312"/>
            <a:ext cx="6996763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1474" y="1417320"/>
            <a:ext cx="6868747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square of the hypotenuse equals the sum of the squares of the other two sides.” </a:t>
            </a:r>
            <a:pPr algn="l" indent="0" marL="0">
              <a:buNone/>
            </a:pP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a² + b² = c²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CASES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or Subtract?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side are you looking for?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hypotenuse → ADD.  A shorter side → SUBTRACT.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94560"/>
            <a:ext cx="5440680" cy="3657600"/>
          </a:xfrm>
          <a:prstGeom prst="roundRect">
            <a:avLst>
              <a:gd name="adj" fmla="val 150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4323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HYPOTENUSE → ADD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1234440" y="3063240"/>
            <a:ext cx="1828800" cy="1463040"/>
          </a:xfrm>
          <a:custGeom>
            <a:avLst/>
            <a:gdLst/>
            <a:ahLst/>
            <a:cxnLst/>
            <a:rect l="l" t="t" r="r" b="b"/>
            <a:pathLst>
              <a:path w="1828800" h="1463040">
                <a:moveTo>
                  <a:pt x="0" y="1463040"/>
                </a:moveTo>
                <a:lnTo>
                  <a:pt x="1828800" y="1463040"/>
                </a:lnTo>
                <a:lnTo>
                  <a:pt x="0" y="0"/>
                </a:lnTo>
                <a:close/>
              </a:path>
            </a:pathLst>
          </a:custGeom>
          <a:solidFill>
            <a:srgbClr val="E0AC2B">
              <a:alpha val="65000"/>
            </a:srgbClr>
          </a:solidFill>
          <a:ln w="27940">
            <a:solidFill>
              <a:srgbClr val="1C2A2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234440" y="4325112"/>
            <a:ext cx="201168" cy="201168"/>
          </a:xfrm>
          <a:prstGeom prst="rect">
            <a:avLst/>
          </a:prstGeom>
          <a:ln w="17780">
            <a:solidFill>
              <a:srgbClr val="1C2A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36118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234440" y="45720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2002536" y="33558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3566160" y="320040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pPr indent="0" marL="0">
              <a:buNone/>
            </a:pPr>
            <a:r>
              <a:rPr lang="en-US" sz="16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3</a:t>
            </a:r>
            <a:pPr indent="0" marL="0">
              <a:buNone/>
            </a:pPr>
            <a:r>
              <a:rPr lang="en-US" sz="16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+ 4</a:t>
            </a:r>
            <a:pPr indent="0" marL="0">
              <a:buNone/>
            </a:pPr>
            <a:r>
              <a:rPr lang="en-US" sz="16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9 + 16 = 25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= √25 = </a:t>
            </a:r>
            <a:pPr indent="0" marL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914400" y="50292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hypotenuse is the LONGEST side — your answer must be bigger than both other sides.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190488" y="2194560"/>
            <a:ext cx="5440680" cy="3657600"/>
          </a:xfrm>
          <a:prstGeom prst="roundRect">
            <a:avLst>
              <a:gd name="adj" fmla="val 150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6556248" y="24323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 SHORTER SIDE → SUBTRACT</a:t>
            </a:r>
            <a:endParaRPr lang="en-US" sz="1700" dirty="0"/>
          </a:p>
        </p:txBody>
      </p:sp>
      <p:sp>
        <p:nvSpPr>
          <p:cNvPr id="54" name="Shape 52"/>
          <p:cNvSpPr/>
          <p:nvPr/>
        </p:nvSpPr>
        <p:spPr>
          <a:xfrm>
            <a:off x="6858000" y="3063240"/>
            <a:ext cx="1828800" cy="1463040"/>
          </a:xfrm>
          <a:custGeom>
            <a:avLst/>
            <a:gdLst/>
            <a:ahLst/>
            <a:cxnLst/>
            <a:rect l="l" t="t" r="r" b="b"/>
            <a:pathLst>
              <a:path w="1828800" h="1463040">
                <a:moveTo>
                  <a:pt x="0" y="1463040"/>
                </a:moveTo>
                <a:lnTo>
                  <a:pt x="1828800" y="1463040"/>
                </a:lnTo>
                <a:lnTo>
                  <a:pt x="0" y="0"/>
                </a:lnTo>
                <a:close/>
              </a:path>
            </a:pathLst>
          </a:custGeom>
          <a:solidFill>
            <a:srgbClr val="C84F2F">
              <a:alpha val="65000"/>
            </a:srgbClr>
          </a:solidFill>
          <a:ln w="27940">
            <a:solidFill>
              <a:srgbClr val="1C2A2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858000" y="4325112"/>
            <a:ext cx="201168" cy="201168"/>
          </a:xfrm>
          <a:prstGeom prst="rect">
            <a:avLst/>
          </a:prstGeom>
          <a:ln w="17780">
            <a:solidFill>
              <a:srgbClr val="1C2A2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989320" y="36118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6858000" y="45720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7626096" y="33558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9189720" y="320040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pPr indent="0" marL="0">
              <a:buNone/>
            </a:pPr>
            <a:r>
              <a:rPr lang="en-US" sz="15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13</a:t>
            </a:r>
            <a:pPr indent="0" marL="0">
              <a:buNone/>
            </a:pPr>
            <a:r>
              <a:rPr lang="en-US" sz="15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− 6</a:t>
            </a:r>
            <a:pPr indent="0" marL="0">
              <a:buNone/>
            </a:pPr>
            <a:r>
              <a:rPr lang="en-US" sz="15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169 − 36 = 133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= √133 = </a:t>
            </a:r>
            <a:pPr indent="0" marL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11.5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6537960" y="50292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shorter side must be SMALLER than the hypotenuse — a good check.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square first, then add or subtract, then square-root at the end.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Original Lesson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82717" y="1353312"/>
            <a:ext cx="6026262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46725" y="1417320"/>
            <a:ext cx="5898246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 finds the hypotenuse (add).  Example 2 finds a shorter side (subtract).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Steps Every Time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mistakes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when you should subtract — check which side is the hypotenuse.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square root at the end.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too early — keep full accuracy until the last step.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units — make them match first.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the right angle first — no right angle means no Pythagoras.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Label the hypotenuse (opposite the right angle).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Decide: is the unknown the hypotenuse (ADD) or a shorter side (SUBTRACT)?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Square the two known sides, then add or subtract.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Square-root to finish. Round as asked (often 3 s.f.).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Hypotenuse → ADD.   Shorter side → SUBTRACT.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SOLVING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Pythagoras Hides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questions rarely say ‘use Pythagoras’.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spot the right-angled triangle inside the shape.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9456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14400" y="219456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Rectangle / square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4206240" y="2194560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DIAGONAL splits it into two right-angled triangles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566928" y="301752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914400" y="301752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Isosceles triangle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4206240" y="3017520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the HEIGHT to the middle of the base — it makes a right angle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566928" y="384048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914400" y="384048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Circle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206240" y="3840480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angle in a SEMICIRCLE is 90° — so the diameter is the hypotenuse</a:t>
            </a:r>
            <a:endParaRPr lang="en-US" sz="1350" dirty="0"/>
          </a:p>
        </p:txBody>
      </p:sp>
      <p:sp>
        <p:nvSpPr>
          <p:cNvPr id="52" name="Shape 50"/>
          <p:cNvSpPr/>
          <p:nvPr/>
        </p:nvSpPr>
        <p:spPr>
          <a:xfrm>
            <a:off x="566928" y="466344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14400" y="466344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Trapezium / compound shape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4206240" y="4663440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 it into a rectangle and a right-angled triangle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566928" y="548640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914400" y="548640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 given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4206240" y="5486400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area to find the missing length first, then Pythagoras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566928" y="6355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right-angled triangle on the diagram, label the sides, then use a² + b² = c².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Sides only, with a right angle — these are all Pythagoras questions.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right-angled triangle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the hypotenuse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for the hypotenuse, subtract for a shorter side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Square-root, then round as asked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899041" y="1399032"/>
            <a:ext cx="6393614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4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3049" y="1463040"/>
            <a:ext cx="626559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756701" y="1399032"/>
            <a:ext cx="8678294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4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0709" y="1463040"/>
            <a:ext cx="855027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713874" y="1399032"/>
            <a:ext cx="6763947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4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7882" y="1463040"/>
            <a:ext cx="6635931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422971" y="1399032"/>
            <a:ext cx="5345754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4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6979" y="1463040"/>
            <a:ext cx="521773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92080" y="1399032"/>
            <a:ext cx="8807535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4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6088" y="1463040"/>
            <a:ext cx="8679519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185520" y="1399032"/>
            <a:ext cx="9820656" cy="50656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4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528" y="1463040"/>
            <a:ext cx="9692640" cy="493758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906704" y="1399032"/>
            <a:ext cx="6378287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4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0712" y="1463040"/>
            <a:ext cx="6250271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8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23981" y="1399032"/>
            <a:ext cx="9343734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5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7989" y="1463040"/>
            <a:ext cx="921571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9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69089" y="1399032"/>
            <a:ext cx="9053518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5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3097" y="1463040"/>
            <a:ext cx="892550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10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185520" y="1399032"/>
            <a:ext cx="9820656" cy="3710079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5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528" y="1463040"/>
            <a:ext cx="9692640" cy="358206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180355" y="1399032"/>
            <a:ext cx="7830984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5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4363" y="1463040"/>
            <a:ext cx="770296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587587" y="1399032"/>
            <a:ext cx="5016520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1595" y="1463040"/>
            <a:ext cx="48885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37733" y="1399032"/>
            <a:ext cx="9116229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/ts-6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1741" y="1463040"/>
            <a:ext cx="898821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Pythagoras works ONLY in a right-angled triangle:  a² + b² = c².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hypotenuse (c) is opposite the right angle and is the longest side.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hypotenuse → ADD the two squares, then square-root.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 shorter side → SUBTRACT the squares, then square-root.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hidden right-angled triangles: diagonals, heights of isosceles triangles, semicircles.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pPr algn="ctr" indent="0" marL="0">
              <a:buNone/>
            </a:pP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sides and a right angle → Pythagoras.  An angle involved → use trigonometry instead.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 Sheikh Ali</cp:lastModifiedBy>
  <cp:revision>1</cp:revision>
  <dcterms:created xsi:type="dcterms:W3CDTF">2026-07-14T07:20:37Z</dcterms:created>
  <dcterms:modified xsi:type="dcterms:W3CDTF">2026-07-14T07:20:37Z</dcterms:modified>
</cp:coreProperties>
</file>