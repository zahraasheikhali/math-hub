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5D03734-451B-4E94-8CF2-9C1282D259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497982-D259-445B-98B3-35B9C62AF5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AAF536-A11C-43F8-81A7-3C86E640C6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C032FE-F69F-4846-BEF0-A42EC2CEDD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493705-FFED-49C9-ADB8-66C76588B4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A03412-89D6-4226-9FD8-D104E234F3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DF76DB-2EF0-43DA-A365-FC9E2AFCC1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D20608-DF14-44B7-9148-8F6A54C940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165D79-F672-4356-8031-FD38F7EC29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0B024-19AF-4B38-B4BA-8CE17F3343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06DBB-7C65-4CDF-B894-3DB98074FE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9D04A8-BFFD-4ABA-B71B-6D2475DA67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645B5B-D8F9-4CC0-88FD-E15C5DC5D7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88B322-12BC-474F-8208-35FBFE8C4F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AF2E7-4A80-4191-AADE-3D3EC00964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F3CE7B-F61F-41EC-8BF4-AE70495B96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CE63F-E831-4F1E-AE41-46187088F0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9A62A-1FA3-43FB-AAC1-36070DF1CA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579D7B-6626-4E97-970B-6C41225C50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E789C5-C751-4C9B-BDB1-99FF7AD6DF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2F902A-1A79-4934-8EC2-003447D299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AAD079-B99F-4A98-A108-4B1AFFBC5C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2CFB1F-449E-41BD-BA22-69E0DD6437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0AABC1-196A-45C9-89A2-AF546F67CC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498080" y="1005840"/>
            <a:ext cx="4205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400" spc="-1" strike="noStrike">
                <a:solidFill>
                  <a:srgbClr val="33463a"/>
                </a:solidFill>
                <a:latin typeface="Cambria"/>
                <a:ea typeface="Cambria"/>
              </a:rPr>
              <a:t>a² + b² = c²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Pythagoras’ Theorem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a² + b² = c² · Finding the Hypotenuse · Finding a Shorter Side · Problem Solving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Sides of a Right-Angled Triangle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Pythagoras links the three SIDES of a right-angled triangle.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No angles needed — if a question gives you two sides and a right angle, think Pythagoras.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hypotenuse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a² + b² = c²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hypotenuse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a shorter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Problem solving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hypotenuse · right angle · square · square root · 3 significant figures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FIRST STEP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Hypotenuse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1642680" y="1353240"/>
            <a:ext cx="8906040" cy="453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0" descr="/tmp/work/clean/ts-03.png"/>
          <p:cNvPicPr/>
          <p:nvPr/>
        </p:nvPicPr>
        <p:blipFill>
          <a:blip r:embed="rId1"/>
          <a:stretch/>
        </p:blipFill>
        <p:spPr>
          <a:xfrm>
            <a:off x="1706760" y="1417320"/>
            <a:ext cx="8777880" cy="4403520"/>
          </a:xfrm>
          <a:prstGeom prst="rect">
            <a:avLst/>
          </a:prstGeom>
          <a:ln w="0">
            <a:noFill/>
          </a:ln>
        </p:spPr>
      </p:pic>
      <p:sp>
        <p:nvSpPr>
          <p:cNvPr id="161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The hypotenuse is OPPOSITE the right angle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and is always the longest side. Label it 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Pythagoras’ Theorem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9"/>
          <p:cNvSpPr/>
          <p:nvPr/>
        </p:nvSpPr>
        <p:spPr>
          <a:xfrm>
            <a:off x="2597400" y="1353240"/>
            <a:ext cx="69962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Image 0" descr="/tmp/work/clean/ts-04.png"/>
          <p:cNvPicPr/>
          <p:nvPr/>
        </p:nvPicPr>
        <p:blipFill>
          <a:blip r:embed="rId1"/>
          <a:stretch/>
        </p:blipFill>
        <p:spPr>
          <a:xfrm>
            <a:off x="2661480" y="1417320"/>
            <a:ext cx="6868440" cy="4525920"/>
          </a:xfrm>
          <a:prstGeom prst="rect">
            <a:avLst/>
          </a:prstGeom>
          <a:ln w="0">
            <a:noFill/>
          </a:ln>
        </p:spPr>
      </p:pic>
      <p:sp>
        <p:nvSpPr>
          <p:cNvPr id="204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“</a:t>
            </a: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The square of the hypotenuse equals the sum of the squares of the other two sides.”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a² + b² = c²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TWO CASES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or Subtract?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Which side are you looking for?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hypotenuse → ADD.  A shorter side → SUBTRACT.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41"/>
          <p:cNvSpPr/>
          <p:nvPr/>
        </p:nvSpPr>
        <p:spPr>
          <a:xfrm>
            <a:off x="567000" y="2194560"/>
            <a:ext cx="5440320" cy="3657240"/>
          </a:xfrm>
          <a:prstGeom prst="roundRect">
            <a:avLst>
              <a:gd name="adj" fmla="val 15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42"/>
          <p:cNvSpPr/>
          <p:nvPr/>
        </p:nvSpPr>
        <p:spPr>
          <a:xfrm>
            <a:off x="93276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HYPOTENUSE → ADD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43"/>
          <p:cNvSpPr/>
          <p:nvPr/>
        </p:nvSpPr>
        <p:spPr>
          <a:xfrm>
            <a:off x="1234440" y="3063240"/>
            <a:ext cx="1828440" cy="1462680"/>
          </a:xfrm>
          <a:custGeom>
            <a:avLst/>
            <a:gdLst>
              <a:gd name="textAreaLeft" fmla="*/ 0 w 1828440"/>
              <a:gd name="textAreaRight" fmla="*/ 1828800 w 1828440"/>
              <a:gd name="textAreaTop" fmla="*/ 0 h 1462680"/>
              <a:gd name="textAreaBottom" fmla="*/ 1463040 h 1462680"/>
            </a:gdLst>
            <a:ahLst/>
            <a:rect l="textAreaLeft" t="textAreaTop" r="textAreaRight" b="textAreaBottom"/>
            <a:pathLst>
              <a:path w="1828800" h="1463040">
                <a:moveTo>
                  <a:pt x="0" y="1463040"/>
                </a:moveTo>
                <a:lnTo>
                  <a:pt x="1828800" y="1463040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6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44"/>
          <p:cNvSpPr/>
          <p:nvPr/>
        </p:nvSpPr>
        <p:spPr>
          <a:xfrm>
            <a:off x="1234440" y="4325040"/>
            <a:ext cx="200880" cy="200880"/>
          </a:xfrm>
          <a:prstGeom prst="rect">
            <a:avLst/>
          </a:prstGeom>
          <a:noFill/>
          <a:ln w="1778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45"/>
          <p:cNvSpPr/>
          <p:nvPr/>
        </p:nvSpPr>
        <p:spPr>
          <a:xfrm>
            <a:off x="365760" y="361188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46"/>
          <p:cNvSpPr/>
          <p:nvPr/>
        </p:nvSpPr>
        <p:spPr>
          <a:xfrm>
            <a:off x="1234440" y="4572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47"/>
          <p:cNvSpPr/>
          <p:nvPr/>
        </p:nvSpPr>
        <p:spPr>
          <a:xfrm>
            <a:off x="2002680" y="33559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48"/>
          <p:cNvSpPr/>
          <p:nvPr/>
        </p:nvSpPr>
        <p:spPr>
          <a:xfrm>
            <a:off x="3566160" y="3200400"/>
            <a:ext cx="228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r>
              <a:rPr b="0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 = 3</a:t>
            </a:r>
            <a:r>
              <a:rPr b="0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 + 4</a:t>
            </a:r>
            <a:r>
              <a:rPr b="0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 = 9 + 16 = 25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c = √25 =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49"/>
          <p:cNvSpPr/>
          <p:nvPr/>
        </p:nvSpPr>
        <p:spPr>
          <a:xfrm>
            <a:off x="914400" y="50292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The hypotenuse is the LONGEST side — your answer must be bigger than both other sides.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50"/>
          <p:cNvSpPr/>
          <p:nvPr/>
        </p:nvSpPr>
        <p:spPr>
          <a:xfrm>
            <a:off x="6190560" y="2194560"/>
            <a:ext cx="544032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51"/>
          <p:cNvSpPr/>
          <p:nvPr/>
        </p:nvSpPr>
        <p:spPr>
          <a:xfrm>
            <a:off x="655632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a SHORTER SIDE → SUBTRACT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52"/>
          <p:cNvSpPr/>
          <p:nvPr/>
        </p:nvSpPr>
        <p:spPr>
          <a:xfrm>
            <a:off x="6858000" y="3063240"/>
            <a:ext cx="1828440" cy="1462680"/>
          </a:xfrm>
          <a:custGeom>
            <a:avLst/>
            <a:gdLst>
              <a:gd name="textAreaLeft" fmla="*/ 0 w 1828440"/>
              <a:gd name="textAreaRight" fmla="*/ 1828800 w 1828440"/>
              <a:gd name="textAreaTop" fmla="*/ 0 h 1462680"/>
              <a:gd name="textAreaBottom" fmla="*/ 1463040 h 1462680"/>
            </a:gdLst>
            <a:ahLst/>
            <a:rect l="textAreaLeft" t="textAreaTop" r="textAreaRight" b="textAreaBottom"/>
            <a:pathLst>
              <a:path w="1828800" h="1463040">
                <a:moveTo>
                  <a:pt x="0" y="1463040"/>
                </a:moveTo>
                <a:lnTo>
                  <a:pt x="1828800" y="1463040"/>
                </a:lnTo>
                <a:lnTo>
                  <a:pt x="0" y="0"/>
                </a:lnTo>
                <a:close/>
              </a:path>
            </a:pathLst>
          </a:custGeom>
          <a:solidFill>
            <a:srgbClr val="c84f2f">
              <a:alpha val="6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53"/>
          <p:cNvSpPr/>
          <p:nvPr/>
        </p:nvSpPr>
        <p:spPr>
          <a:xfrm>
            <a:off x="6858000" y="4325040"/>
            <a:ext cx="200880" cy="200880"/>
          </a:xfrm>
          <a:prstGeom prst="rect">
            <a:avLst/>
          </a:prstGeom>
          <a:noFill/>
          <a:ln w="1778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54"/>
          <p:cNvSpPr/>
          <p:nvPr/>
        </p:nvSpPr>
        <p:spPr>
          <a:xfrm>
            <a:off x="5989320" y="361188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55"/>
          <p:cNvSpPr/>
          <p:nvPr/>
        </p:nvSpPr>
        <p:spPr>
          <a:xfrm>
            <a:off x="6858000" y="4572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56"/>
          <p:cNvSpPr/>
          <p:nvPr/>
        </p:nvSpPr>
        <p:spPr>
          <a:xfrm>
            <a:off x="7626240" y="33559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13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57"/>
          <p:cNvSpPr/>
          <p:nvPr/>
        </p:nvSpPr>
        <p:spPr>
          <a:xfrm>
            <a:off x="9189720" y="3200400"/>
            <a:ext cx="2377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13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− 6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169 − 36 = 133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 = √133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11.5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58"/>
          <p:cNvSpPr/>
          <p:nvPr/>
        </p:nvSpPr>
        <p:spPr>
          <a:xfrm>
            <a:off x="6537960" y="50292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A shorter side must be SMALLER than the hypotenuse — a good check.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59"/>
          <p:cNvSpPr/>
          <p:nvPr/>
        </p:nvSpPr>
        <p:spPr>
          <a:xfrm>
            <a:off x="567000" y="60350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Always square first, then add or subtract, then square-root at the end.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From the Original Lesson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39"/>
          <p:cNvSpPr/>
          <p:nvPr/>
        </p:nvSpPr>
        <p:spPr>
          <a:xfrm>
            <a:off x="3082680" y="1353240"/>
            <a:ext cx="60260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Image 0" descr="/tmp/work/clean/ts-05.png"/>
          <p:cNvPicPr/>
          <p:nvPr/>
        </p:nvPicPr>
        <p:blipFill>
          <a:blip r:embed="rId1"/>
          <a:stretch/>
        </p:blipFill>
        <p:spPr>
          <a:xfrm>
            <a:off x="3146760" y="1417320"/>
            <a:ext cx="5897880" cy="4525920"/>
          </a:xfrm>
          <a:prstGeom prst="rect">
            <a:avLst/>
          </a:prstGeom>
          <a:ln w="0">
            <a:noFill/>
          </a:ln>
        </p:spPr>
      </p:pic>
      <p:sp>
        <p:nvSpPr>
          <p:cNvPr id="307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Example 1 finds the hypotenuse (add).  Example 2 finds a shorter side (subtract).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Four Steps Every Time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Common mistakes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Adding when you should subtract — check which side is the hypotenuse.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Forgetting the square root at the end.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Rounding too early — keep full accuracy until the last step.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Mixing units — make them match first.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Look for the right angle first — no right angle means no Pythagoras.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1.  Label the hypotenuse (opposite the right angle).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2.  Decide: is the unknown the hypotenuse (ADD) or a shorter side (SUBTRACT)?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3.  Square the two known sides, then add or subtract.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4.  Square-root to finish. Round as asked (often 3 s.f.).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Hypotenuse → ADD.   Shorter side → SUBTRACT.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PROBLEM SOLVING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Where Pythagoras Hides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Exam questions rarely say ‘use Pythagoras’.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You must spot the right-angled triangle inside the shape.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41"/>
          <p:cNvSpPr/>
          <p:nvPr/>
        </p:nvSpPr>
        <p:spPr>
          <a:xfrm>
            <a:off x="567000" y="219456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42"/>
          <p:cNvSpPr/>
          <p:nvPr/>
        </p:nvSpPr>
        <p:spPr>
          <a:xfrm>
            <a:off x="914400" y="219456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Rectangle / square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43"/>
          <p:cNvSpPr/>
          <p:nvPr/>
        </p:nvSpPr>
        <p:spPr>
          <a:xfrm>
            <a:off x="4206240" y="2194560"/>
            <a:ext cx="7223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DIAGONAL splits it into two right-angled triangles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44"/>
          <p:cNvSpPr/>
          <p:nvPr/>
        </p:nvSpPr>
        <p:spPr>
          <a:xfrm>
            <a:off x="567000" y="301752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45"/>
          <p:cNvSpPr/>
          <p:nvPr/>
        </p:nvSpPr>
        <p:spPr>
          <a:xfrm>
            <a:off x="914400" y="301752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Isosceles triangle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6"/>
          <p:cNvSpPr/>
          <p:nvPr/>
        </p:nvSpPr>
        <p:spPr>
          <a:xfrm>
            <a:off x="4206240" y="3017520"/>
            <a:ext cx="7223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drop the HEIGHT to the middle of the base — it makes a right angle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47"/>
          <p:cNvSpPr/>
          <p:nvPr/>
        </p:nvSpPr>
        <p:spPr>
          <a:xfrm>
            <a:off x="567000" y="384048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48"/>
          <p:cNvSpPr/>
          <p:nvPr/>
        </p:nvSpPr>
        <p:spPr>
          <a:xfrm>
            <a:off x="914400" y="384048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Circle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49"/>
          <p:cNvSpPr/>
          <p:nvPr/>
        </p:nvSpPr>
        <p:spPr>
          <a:xfrm>
            <a:off x="4206240" y="3840480"/>
            <a:ext cx="7223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 angle in a SEMICIRCLE is 90° — so the diameter is the hypotenuse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50"/>
          <p:cNvSpPr/>
          <p:nvPr/>
        </p:nvSpPr>
        <p:spPr>
          <a:xfrm>
            <a:off x="567000" y="466344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51"/>
          <p:cNvSpPr/>
          <p:nvPr/>
        </p:nvSpPr>
        <p:spPr>
          <a:xfrm>
            <a:off x="914400" y="466344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Trapezium / compound shape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52"/>
          <p:cNvSpPr/>
          <p:nvPr/>
        </p:nvSpPr>
        <p:spPr>
          <a:xfrm>
            <a:off x="4206240" y="4663440"/>
            <a:ext cx="7223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split it into a rectangle and a right-angled triangle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53"/>
          <p:cNvSpPr/>
          <p:nvPr/>
        </p:nvSpPr>
        <p:spPr>
          <a:xfrm>
            <a:off x="567000" y="548640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54"/>
          <p:cNvSpPr/>
          <p:nvPr/>
        </p:nvSpPr>
        <p:spPr>
          <a:xfrm>
            <a:off x="914400" y="548640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Area given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55"/>
          <p:cNvSpPr/>
          <p:nvPr/>
        </p:nvSpPr>
        <p:spPr>
          <a:xfrm>
            <a:off x="4206240" y="5486400"/>
            <a:ext cx="7223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use area to find the missing length first, then Pythagoras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6"/>
          <p:cNvSpPr/>
          <p:nvPr/>
        </p:nvSpPr>
        <p:spPr>
          <a:xfrm>
            <a:off x="567000" y="63550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Draw the right-angled triangle on the diagram, label the sides, then use a² + b² = c².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Sides only, with a right angle — these are all Pythagoras questions.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right-angled triangle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the hypotenuse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Add for the hypotenuse, subtract for a shorter side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Square-root, then round as asked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39"/>
          <p:cNvSpPr/>
          <p:nvPr/>
        </p:nvSpPr>
        <p:spPr>
          <a:xfrm>
            <a:off x="2899080" y="1398960"/>
            <a:ext cx="63932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6" name="Image 0" descr="/tmp/work/clean/ts-43.png"/>
          <p:cNvPicPr/>
          <p:nvPr/>
        </p:nvPicPr>
        <p:blipFill>
          <a:blip r:embed="rId1"/>
          <a:stretch/>
        </p:blipFill>
        <p:spPr>
          <a:xfrm>
            <a:off x="2963160" y="1463040"/>
            <a:ext cx="62650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39"/>
          <p:cNvSpPr/>
          <p:nvPr/>
        </p:nvSpPr>
        <p:spPr>
          <a:xfrm>
            <a:off x="1756800" y="1398960"/>
            <a:ext cx="86778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7" name="Image 0" descr="/tmp/work/clean/ts-44.png"/>
          <p:cNvPicPr/>
          <p:nvPr/>
        </p:nvPicPr>
        <p:blipFill>
          <a:blip r:embed="rId1"/>
          <a:stretch/>
        </p:blipFill>
        <p:spPr>
          <a:xfrm>
            <a:off x="1820880" y="1463040"/>
            <a:ext cx="85500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9"/>
          <p:cNvSpPr/>
          <p:nvPr/>
        </p:nvSpPr>
        <p:spPr>
          <a:xfrm>
            <a:off x="2714040" y="1398960"/>
            <a:ext cx="67636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8" name="Image 0" descr="/tmp/work/clean/ts-45.png"/>
          <p:cNvPicPr/>
          <p:nvPr/>
        </p:nvPicPr>
        <p:blipFill>
          <a:blip r:embed="rId1"/>
          <a:stretch/>
        </p:blipFill>
        <p:spPr>
          <a:xfrm>
            <a:off x="2777760" y="1463040"/>
            <a:ext cx="66355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39"/>
          <p:cNvSpPr/>
          <p:nvPr/>
        </p:nvSpPr>
        <p:spPr>
          <a:xfrm>
            <a:off x="3422880" y="1398960"/>
            <a:ext cx="53452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9" name="Image 0" descr="/tmp/work/clean/ts-46.png"/>
          <p:cNvPicPr/>
          <p:nvPr/>
        </p:nvPicPr>
        <p:blipFill>
          <a:blip r:embed="rId1"/>
          <a:stretch/>
        </p:blipFill>
        <p:spPr>
          <a:xfrm>
            <a:off x="3486960" y="1463040"/>
            <a:ext cx="52174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9"/>
          <p:cNvSpPr/>
          <p:nvPr/>
        </p:nvSpPr>
        <p:spPr>
          <a:xfrm>
            <a:off x="1692000" y="1398960"/>
            <a:ext cx="88070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0" name="Image 0" descr="/tmp/work/clean/ts-47.png"/>
          <p:cNvPicPr/>
          <p:nvPr/>
        </p:nvPicPr>
        <p:blipFill>
          <a:blip r:embed="rId1"/>
          <a:stretch/>
        </p:blipFill>
        <p:spPr>
          <a:xfrm>
            <a:off x="1756080" y="1463040"/>
            <a:ext cx="86792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39"/>
          <p:cNvSpPr/>
          <p:nvPr/>
        </p:nvSpPr>
        <p:spPr>
          <a:xfrm>
            <a:off x="1185480" y="1398960"/>
            <a:ext cx="9820440" cy="50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1" name="Image 0" descr="/tmp/work/clean/ts-48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9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39"/>
          <p:cNvSpPr/>
          <p:nvPr/>
        </p:nvSpPr>
        <p:spPr>
          <a:xfrm>
            <a:off x="2906640" y="1398960"/>
            <a:ext cx="63777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2" name="Image 0" descr="/tmp/work/clean/ts-49.png"/>
          <p:cNvPicPr/>
          <p:nvPr/>
        </p:nvPicPr>
        <p:blipFill>
          <a:blip r:embed="rId1"/>
          <a:stretch/>
        </p:blipFill>
        <p:spPr>
          <a:xfrm>
            <a:off x="2970720" y="1463040"/>
            <a:ext cx="62499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9"/>
          <p:cNvSpPr/>
          <p:nvPr/>
        </p:nvSpPr>
        <p:spPr>
          <a:xfrm>
            <a:off x="1424160" y="1398960"/>
            <a:ext cx="93434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3" name="Image 0" descr="/tmp/work/clean/ts-50.png"/>
          <p:cNvPicPr/>
          <p:nvPr/>
        </p:nvPicPr>
        <p:blipFill>
          <a:blip r:embed="rId1"/>
          <a:stretch/>
        </p:blipFill>
        <p:spPr>
          <a:xfrm>
            <a:off x="1487880" y="1463040"/>
            <a:ext cx="92152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9"/>
          <p:cNvSpPr/>
          <p:nvPr/>
        </p:nvSpPr>
        <p:spPr>
          <a:xfrm>
            <a:off x="1569240" y="1398960"/>
            <a:ext cx="90532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4" name="Image 0" descr="/tmp/work/clean/ts-51.png"/>
          <p:cNvPicPr/>
          <p:nvPr/>
        </p:nvPicPr>
        <p:blipFill>
          <a:blip r:embed="rId1"/>
          <a:stretch/>
        </p:blipFill>
        <p:spPr>
          <a:xfrm>
            <a:off x="1632960" y="1463040"/>
            <a:ext cx="89251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39"/>
          <p:cNvSpPr/>
          <p:nvPr/>
        </p:nvSpPr>
        <p:spPr>
          <a:xfrm>
            <a:off x="1185480" y="1398960"/>
            <a:ext cx="9820440" cy="370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5" name="Image 0" descr="/tmp/work/clean/ts-52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358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39"/>
          <p:cNvSpPr/>
          <p:nvPr/>
        </p:nvSpPr>
        <p:spPr>
          <a:xfrm>
            <a:off x="2180520" y="1398960"/>
            <a:ext cx="78307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6" name="Image 0" descr="/tmp/work/clean/ts-53.png"/>
          <p:cNvPicPr/>
          <p:nvPr/>
        </p:nvPicPr>
        <p:blipFill>
          <a:blip r:embed="rId1"/>
          <a:stretch/>
        </p:blipFill>
        <p:spPr>
          <a:xfrm>
            <a:off x="2244240" y="1463040"/>
            <a:ext cx="77025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39"/>
          <p:cNvSpPr/>
          <p:nvPr/>
        </p:nvSpPr>
        <p:spPr>
          <a:xfrm>
            <a:off x="3587760" y="1398960"/>
            <a:ext cx="50162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7" name="Image 0" descr="/tmp/work/clean/ts-58.png"/>
          <p:cNvPicPr/>
          <p:nvPr/>
        </p:nvPicPr>
        <p:blipFill>
          <a:blip r:embed="rId1"/>
          <a:stretch/>
        </p:blipFill>
        <p:spPr>
          <a:xfrm>
            <a:off x="3651480" y="1463040"/>
            <a:ext cx="48880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39"/>
          <p:cNvSpPr/>
          <p:nvPr/>
        </p:nvSpPr>
        <p:spPr>
          <a:xfrm>
            <a:off x="1537560" y="1398960"/>
            <a:ext cx="91159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8" name="Image 0" descr="/tmp/work/clean/ts-64.png"/>
          <p:cNvPicPr/>
          <p:nvPr/>
        </p:nvPicPr>
        <p:blipFill>
          <a:blip r:embed="rId1"/>
          <a:stretch/>
        </p:blipFill>
        <p:spPr>
          <a:xfrm>
            <a:off x="1601640" y="1463040"/>
            <a:ext cx="89877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Pythagoras works ONLY in a right-angled triangle:  a² + b² = c².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 hypotenuse (c) is opposite the right angle and is the longest side.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Finding the hypotenuse → ADD the two squares, then square-root.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Finding a shorter side → SUBTRACT the squares, then square-root.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Look for hidden right-angled triangles: diagonals, heights of isosceles triangles, semicircles.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two sides and a right angle → Pythagoras.  An angle involved → use trigonometry instead.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2026-07-14T07:20:37Z</dcterms:created>
  <dc:creator>Zahra Sheikh Ali</dc:creator>
  <dc:description/>
  <dc:language>en-US</dc:language>
  <cp:lastModifiedBy>Zahra Sheikh Ali</cp:lastModifiedBy>
  <dcterms:modified xsi:type="dcterms:W3CDTF">2026-07-14T07:20:37Z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