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15.png" ContentType="image/png"/>
  <Override PartName="/ppt/media/image9.png" ContentType="image/png"/>
  <Override PartName="/ppt/media/image20.png" ContentType="image/png"/>
  <Override PartName="/ppt/media/image18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2.png" ContentType="image/png"/>
  <Override PartName="/ppt/media/image40.png" ContentType="image/png"/>
  <Override PartName="/ppt/media/image41.png" ContentType="image/png"/>
  <Override PartName="/ppt/media/image30.png" ContentType="image/png"/>
  <Override PartName="/ppt/media/image42.png" ContentType="image/png"/>
  <Override PartName="/ppt/media/image31.png" ContentType="image/png"/>
  <Override PartName="/ppt/media/image43.png" ContentType="image/png"/>
  <Override PartName="/ppt/media/image12.png" ContentType="image/png"/>
  <Override PartName="/ppt/media/image3.png" ContentType="image/png"/>
  <Override PartName="/ppt/media/image35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39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81F7A30-7C5D-4B8D-97FF-A5A2A8A04DA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CA06ADB-22D6-411F-97CE-A973C46B767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AA7F0EE-4DA8-4B3F-8CB5-8D856D415E7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2DABB90-2D1C-49EC-9A89-98C2104A5CDA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28A8EF3-6A89-4633-A631-DD3593FD0F5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1: x=y–5. 2: a=b/3. 3: x=(y–7)/2. 4: t=(V–u)/a. 5: s=(m–5n)/5 = m/5 – n. 6: b=a–2.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3273E21-0696-4176-ABFD-1F3DA44176D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0663807-A0C0-4D12-AFE9-BB9E8E16AC5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7B11257-67F1-48E1-8433-E38AB66737B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512C923-B004-4752-B483-CDB0460D1E31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A9C8C58-5E92-436F-8D89-938D050DD02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D9826AF-6452-4F4E-A2F8-0CA1E32A751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92D0802-9378-4D05-9900-77142FA34D36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98B7A1B-9AE5-45CB-A5D0-5CBD753F5EB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A4D6A17-8C38-4AA9-AF1F-DB58BF6A59A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E0B8D90-BB10-43A6-9610-31777C5851E2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d=g+2ac: a=(d–g)/(2c).  M=ac–bd: a=(M+bd)/c.  A=c/y–5z: c=y(A+5z).  c=t³–8v: t=∛(c+8v).  P=½ab²+c: b=√(2(P–c)/a).  m=√(⅓ef): f=3m²/e.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2D1B653-8DBA-4BB0-8117-C6A2CDE52F6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y=(5–2x)/(x+3): x=(5–3y)/(y+2).  w=(2f+3)/(8–f): f=(8w–3)/(w+2).  p³=(x+m)/(2m–y): m=(x+yp³)/(2p³–1).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DCC6EF5-3D83-4335-9033-2A977AA7083F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Answers — y=(n²+d)/n²: n=√(d/(y–1)).  a²=(4d+e²)/r²: e=√(a²r²–4d).  p=√((ae+8)/(3+e)): e=(8–3p²)/(p²–a).  y=√((3x–2)/(x+1)): x=(2+y²)/(3–y²).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91C4DA3-F5FE-43E2-9E7E-731F3CC03815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B8C3A8E-8417-4E79-B3FE-3A02CD7AA0D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8503920" y="1371600"/>
            <a:ext cx="36572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8000" spc="-1" strike="noStrike">
                <a:solidFill>
                  <a:srgbClr val="283731"/>
                </a:solidFill>
                <a:latin typeface="Cambria"/>
                <a:ea typeface="Cambria"/>
              </a:rPr>
              <a:t>y = ?</a:t>
            </a:r>
            <a:endParaRPr b="0" lang="en-US" sz="8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731520" y="640080"/>
            <a:ext cx="712800" cy="71280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731520" y="621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9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49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6275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627560" y="9511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anim_1_a"/>
          <p:cNvSpPr/>
          <p:nvPr/>
        </p:nvSpPr>
        <p:spPr>
          <a:xfrm>
            <a:off x="731520" y="1828800"/>
            <a:ext cx="8777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Rearranging Formulae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anim_2_a"/>
          <p:cNvSpPr/>
          <p:nvPr/>
        </p:nvSpPr>
        <p:spPr>
          <a:xfrm>
            <a:off x="758880" y="2926080"/>
            <a:ext cx="10881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ffffff"/>
                </a:solidFill>
                <a:latin typeface="Cambria"/>
                <a:ea typeface="Cambria"/>
              </a:rPr>
              <a:t>Changing the Subject — Linear · Powers · Completing the Square · Algebraic Fractions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anim_3_a"/>
          <p:cNvSpPr/>
          <p:nvPr/>
        </p:nvSpPr>
        <p:spPr>
          <a:xfrm>
            <a:off x="731520" y="4114800"/>
            <a:ext cx="6857640" cy="1627200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 w="0">
            <a:noFill/>
          </a:ln>
          <a:effectLst>
            <a:outerShdw algn="bl" blurRad="152280" dir="5400000" dist="50760" rotWithShape="0">
              <a:srgbClr val="000000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anim_3_a"/>
          <p:cNvSpPr/>
          <p:nvPr/>
        </p:nvSpPr>
        <p:spPr>
          <a:xfrm>
            <a:off x="1005840" y="4297680"/>
            <a:ext cx="64004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anim_3_a"/>
          <p:cNvSpPr/>
          <p:nvPr/>
        </p:nvSpPr>
        <p:spPr>
          <a:xfrm>
            <a:off x="1005840" y="4690800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IGCSE Mathematics Teacher  ·  M.Sc. Differential Geometry &amp; Geometric Control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anim_3_a"/>
          <p:cNvSpPr/>
          <p:nvPr/>
        </p:nvSpPr>
        <p:spPr>
          <a:xfrm>
            <a:off x="1005840" y="512964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0ac2b"/>
                </a:solidFill>
                <a:latin typeface="Calibri"/>
                <a:ea typeface="Calibri"/>
              </a:rPr>
              <a:t>66613748  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THE BIG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Changing the Subject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anim_1_a"/>
          <p:cNvSpPr/>
          <p:nvPr/>
        </p:nvSpPr>
        <p:spPr>
          <a:xfrm>
            <a:off x="548640" y="1572840"/>
            <a:ext cx="11091240" cy="1188360"/>
          </a:xfrm>
          <a:prstGeom prst="roundRect">
            <a:avLst>
              <a:gd name="adj" fmla="val 7692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anim_1_a"/>
          <p:cNvSpPr/>
          <p:nvPr/>
        </p:nvSpPr>
        <p:spPr>
          <a:xfrm>
            <a:off x="868680" y="171900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e0ac2b"/>
                </a:solidFill>
                <a:latin typeface="Calibri"/>
                <a:ea typeface="Calibri"/>
              </a:rPr>
              <a:t>GOLDEN RULE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anim_1_a"/>
          <p:cNvSpPr/>
          <p:nvPr/>
        </p:nvSpPr>
        <p:spPr>
          <a:xfrm>
            <a:off x="868680" y="1993320"/>
            <a:ext cx="103323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Use inverse operations to get the new subject on its own — doing the same to both sides every time.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anim_2_c"/>
          <p:cNvSpPr/>
          <p:nvPr/>
        </p:nvSpPr>
        <p:spPr>
          <a:xfrm>
            <a:off x="548640" y="2971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99" strike="noStrike">
                <a:solidFill>
                  <a:srgbClr val="c84f2f"/>
                </a:solidFill>
                <a:latin typeface="Calibri"/>
                <a:ea typeface="Calibri"/>
              </a:rPr>
              <a:t>THE CASES WE'LL MEET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anim_2_c"/>
          <p:cNvSpPr/>
          <p:nvPr/>
        </p:nvSpPr>
        <p:spPr>
          <a:xfrm>
            <a:off x="548640" y="329184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anim_2_c"/>
          <p:cNvSpPr/>
          <p:nvPr/>
        </p:nvSpPr>
        <p:spPr>
          <a:xfrm>
            <a:off x="804600" y="362088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anim_2_c"/>
          <p:cNvSpPr/>
          <p:nvPr/>
        </p:nvSpPr>
        <p:spPr>
          <a:xfrm>
            <a:off x="804600" y="3620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anim_2_c"/>
          <p:cNvSpPr/>
          <p:nvPr/>
        </p:nvSpPr>
        <p:spPr>
          <a:xfrm>
            <a:off x="1463040" y="329184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Linear — inverse operations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anim_2_c"/>
          <p:cNvSpPr/>
          <p:nvPr/>
        </p:nvSpPr>
        <p:spPr>
          <a:xfrm>
            <a:off x="4260960" y="329184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anim_2_c"/>
          <p:cNvSpPr/>
          <p:nvPr/>
        </p:nvSpPr>
        <p:spPr>
          <a:xfrm>
            <a:off x="4517280" y="362088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anim_2_c"/>
          <p:cNvSpPr/>
          <p:nvPr/>
        </p:nvSpPr>
        <p:spPr>
          <a:xfrm>
            <a:off x="4517280" y="3620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anim_2_c"/>
          <p:cNvSpPr/>
          <p:nvPr/>
        </p:nvSpPr>
        <p:spPr>
          <a:xfrm>
            <a:off x="5175360" y="329184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Subject appears twice — factorise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anim_2_c"/>
          <p:cNvSpPr/>
          <p:nvPr/>
        </p:nvSpPr>
        <p:spPr>
          <a:xfrm>
            <a:off x="7973640" y="329184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anim_2_c"/>
          <p:cNvSpPr/>
          <p:nvPr/>
        </p:nvSpPr>
        <p:spPr>
          <a:xfrm>
            <a:off x="8229600" y="362088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anim_2_c"/>
          <p:cNvSpPr/>
          <p:nvPr/>
        </p:nvSpPr>
        <p:spPr>
          <a:xfrm>
            <a:off x="8229600" y="3620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anim_2_c"/>
          <p:cNvSpPr/>
          <p:nvPr/>
        </p:nvSpPr>
        <p:spPr>
          <a:xfrm>
            <a:off x="8888040" y="329184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Powers &amp; roots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anim_3_c"/>
          <p:cNvSpPr/>
          <p:nvPr/>
        </p:nvSpPr>
        <p:spPr>
          <a:xfrm>
            <a:off x="548640" y="459036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anim_3_c"/>
          <p:cNvSpPr/>
          <p:nvPr/>
        </p:nvSpPr>
        <p:spPr>
          <a:xfrm>
            <a:off x="804600" y="491940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anim_3_c"/>
          <p:cNvSpPr/>
          <p:nvPr/>
        </p:nvSpPr>
        <p:spPr>
          <a:xfrm>
            <a:off x="804600" y="4919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anim_3_c"/>
          <p:cNvSpPr/>
          <p:nvPr/>
        </p:nvSpPr>
        <p:spPr>
          <a:xfrm>
            <a:off x="1463040" y="459036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Completing the square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anim_3_c"/>
          <p:cNvSpPr/>
          <p:nvPr/>
        </p:nvSpPr>
        <p:spPr>
          <a:xfrm>
            <a:off x="4260960" y="459036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anim_3_c"/>
          <p:cNvSpPr/>
          <p:nvPr/>
        </p:nvSpPr>
        <p:spPr>
          <a:xfrm>
            <a:off x="4517280" y="491940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anim_3_c"/>
          <p:cNvSpPr/>
          <p:nvPr/>
        </p:nvSpPr>
        <p:spPr>
          <a:xfrm>
            <a:off x="4517280" y="4919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anim_3_c"/>
          <p:cNvSpPr/>
          <p:nvPr/>
        </p:nvSpPr>
        <p:spPr>
          <a:xfrm>
            <a:off x="5175360" y="459036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Algebraic fractions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anim_3_c"/>
          <p:cNvSpPr/>
          <p:nvPr/>
        </p:nvSpPr>
        <p:spPr>
          <a:xfrm>
            <a:off x="7973640" y="4590360"/>
            <a:ext cx="3520080" cy="1142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889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anim_3_c"/>
          <p:cNvSpPr/>
          <p:nvPr/>
        </p:nvSpPr>
        <p:spPr>
          <a:xfrm>
            <a:off x="8229600" y="4919400"/>
            <a:ext cx="502560" cy="502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anim_3_c"/>
          <p:cNvSpPr/>
          <p:nvPr/>
        </p:nvSpPr>
        <p:spPr>
          <a:xfrm>
            <a:off x="8229600" y="491940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anim_3_c"/>
          <p:cNvSpPr/>
          <p:nvPr/>
        </p:nvSpPr>
        <p:spPr>
          <a:xfrm>
            <a:off x="8888040" y="4590360"/>
            <a:ext cx="2514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6261f"/>
                </a:solidFill>
                <a:latin typeface="Cambria"/>
                <a:ea typeface="Cambria"/>
              </a:rPr>
              <a:t>Fractions with powers / roots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5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6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7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8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1 · LINEAR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Inverse Operations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anim_1_a"/>
          <p:cNvSpPr/>
          <p:nvPr/>
        </p:nvSpPr>
        <p:spPr>
          <a:xfrm>
            <a:off x="86868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Make t the subject:   m = 6p + 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anim_1_a"/>
          <p:cNvSpPr/>
          <p:nvPr/>
        </p:nvSpPr>
        <p:spPr>
          <a:xfrm>
            <a:off x="868680" y="2441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anim_1_a"/>
          <p:cNvSpPr/>
          <p:nvPr/>
        </p:nvSpPr>
        <p:spPr>
          <a:xfrm>
            <a:off x="868680" y="2441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anim_1_a"/>
          <p:cNvSpPr/>
          <p:nvPr/>
        </p:nvSpPr>
        <p:spPr>
          <a:xfrm>
            <a:off x="1417320" y="23774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subtract 6p from both sides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anim_2_c"/>
          <p:cNvSpPr/>
          <p:nvPr/>
        </p:nvSpPr>
        <p:spPr>
          <a:xfrm>
            <a:off x="868680" y="3063240"/>
            <a:ext cx="420588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anim_3_c"/>
          <p:cNvSpPr/>
          <p:nvPr/>
        </p:nvSpPr>
        <p:spPr>
          <a:xfrm>
            <a:off x="6172200" y="1691640"/>
            <a:ext cx="5467680" cy="3931560"/>
          </a:xfrm>
          <a:prstGeom prst="roundRect">
            <a:avLst>
              <a:gd name="adj" fmla="val 2326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anim_3_c"/>
          <p:cNvSpPr/>
          <p:nvPr/>
        </p:nvSpPr>
        <p:spPr>
          <a:xfrm>
            <a:off x="649224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y the subject:   Dy – 3e = 2g + 5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anim_3_c"/>
          <p:cNvSpPr/>
          <p:nvPr/>
        </p:nvSpPr>
        <p:spPr>
          <a:xfrm>
            <a:off x="6492240" y="2441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anim_3_c"/>
          <p:cNvSpPr/>
          <p:nvPr/>
        </p:nvSpPr>
        <p:spPr>
          <a:xfrm>
            <a:off x="6492240" y="2441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anim_3_c"/>
          <p:cNvSpPr/>
          <p:nvPr/>
        </p:nvSpPr>
        <p:spPr>
          <a:xfrm>
            <a:off x="7040880" y="23774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add 3e:   Dy = 2g + 3e + 5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anim_4_c"/>
          <p:cNvSpPr/>
          <p:nvPr/>
        </p:nvSpPr>
        <p:spPr>
          <a:xfrm>
            <a:off x="6492240" y="3035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anim_4_c"/>
          <p:cNvSpPr/>
          <p:nvPr/>
        </p:nvSpPr>
        <p:spPr>
          <a:xfrm>
            <a:off x="6492240" y="3035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anim_4_c"/>
          <p:cNvSpPr/>
          <p:nvPr/>
        </p:nvSpPr>
        <p:spPr>
          <a:xfrm>
            <a:off x="7040880" y="29718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divide by 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anim_5_c"/>
          <p:cNvSpPr/>
          <p:nvPr/>
        </p:nvSpPr>
        <p:spPr>
          <a:xfrm>
            <a:off x="6492240" y="3749040"/>
            <a:ext cx="502884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9" name="eq001.png" descr=""/>
          <p:cNvPicPr/>
          <p:nvPr/>
        </p:nvPicPr>
        <p:blipFill>
          <a:blip r:embed="rId2"/>
          <a:stretch/>
        </p:blipFill>
        <p:spPr>
          <a:xfrm>
            <a:off x="2319840" y="3216960"/>
            <a:ext cx="1303560" cy="332640"/>
          </a:xfrm>
          <a:prstGeom prst="rect">
            <a:avLst/>
          </a:prstGeom>
          <a:ln w="0">
            <a:noFill/>
          </a:ln>
        </p:spPr>
      </p:pic>
      <p:pic>
        <p:nvPicPr>
          <p:cNvPr id="70" name="eq002.png" descr=""/>
          <p:cNvPicPr/>
          <p:nvPr/>
        </p:nvPicPr>
        <p:blipFill>
          <a:blip r:embed="rId3"/>
          <a:stretch/>
        </p:blipFill>
        <p:spPr>
          <a:xfrm>
            <a:off x="8283600" y="3968640"/>
            <a:ext cx="1445760" cy="475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1 · LINEAR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With Brackets &amp; Fractions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anim_1_a"/>
          <p:cNvSpPr/>
          <p:nvPr/>
        </p:nvSpPr>
        <p:spPr>
          <a:xfrm>
            <a:off x="86868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S the subject:   a(y + S) = F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anim_1_a"/>
          <p:cNvSpPr/>
          <p:nvPr/>
        </p:nvSpPr>
        <p:spPr>
          <a:xfrm>
            <a:off x="868680" y="23958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anim_1_a"/>
          <p:cNvSpPr/>
          <p:nvPr/>
        </p:nvSpPr>
        <p:spPr>
          <a:xfrm>
            <a:off x="868680" y="2395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anim_1_a"/>
          <p:cNvSpPr/>
          <p:nvPr/>
        </p:nvSpPr>
        <p:spPr>
          <a:xfrm>
            <a:off x="1417320" y="23317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expand:  ay + aS = 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anim_2_c"/>
          <p:cNvSpPr/>
          <p:nvPr/>
        </p:nvSpPr>
        <p:spPr>
          <a:xfrm>
            <a:off x="868680" y="29444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anim_2_c"/>
          <p:cNvSpPr/>
          <p:nvPr/>
        </p:nvSpPr>
        <p:spPr>
          <a:xfrm>
            <a:off x="868680" y="2944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anim_2_c"/>
          <p:cNvSpPr/>
          <p:nvPr/>
        </p:nvSpPr>
        <p:spPr>
          <a:xfrm>
            <a:off x="1417320" y="28803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subtract ay, then divide by 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anim_3_c"/>
          <p:cNvSpPr/>
          <p:nvPr/>
        </p:nvSpPr>
        <p:spPr>
          <a:xfrm>
            <a:off x="868680" y="361188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anim_4_c"/>
          <p:cNvSpPr/>
          <p:nvPr/>
        </p:nvSpPr>
        <p:spPr>
          <a:xfrm>
            <a:off x="6492240" y="1874520"/>
            <a:ext cx="29257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C the subject:   F =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anim_4_c"/>
          <p:cNvSpPr/>
          <p:nvPr/>
        </p:nvSpPr>
        <p:spPr>
          <a:xfrm>
            <a:off x="8869680" y="1700640"/>
            <a:ext cx="5482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9C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anim_4_c"/>
          <p:cNvSpPr/>
          <p:nvPr/>
        </p:nvSpPr>
        <p:spPr>
          <a:xfrm>
            <a:off x="8915400" y="2103120"/>
            <a:ext cx="457200" cy="360"/>
          </a:xfrm>
          <a:prstGeom prst="line">
            <a:avLst/>
          </a:prstGeom>
          <a:ln w="25400">
            <a:solidFill>
              <a:srgbClr val="1626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anim_4_c"/>
          <p:cNvSpPr/>
          <p:nvPr/>
        </p:nvSpPr>
        <p:spPr>
          <a:xfrm>
            <a:off x="9464040" y="187452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+ 32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anim_4_c"/>
          <p:cNvSpPr/>
          <p:nvPr/>
        </p:nvSpPr>
        <p:spPr>
          <a:xfrm>
            <a:off x="6492240" y="25329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anim_4_c"/>
          <p:cNvSpPr/>
          <p:nvPr/>
        </p:nvSpPr>
        <p:spPr>
          <a:xfrm>
            <a:off x="6492240" y="2532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anim_5_c"/>
          <p:cNvSpPr/>
          <p:nvPr/>
        </p:nvSpPr>
        <p:spPr>
          <a:xfrm>
            <a:off x="6492240" y="329184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0" name="eq003.png" descr=""/>
          <p:cNvPicPr/>
          <p:nvPr/>
        </p:nvPicPr>
        <p:blipFill>
          <a:blip r:embed="rId2"/>
          <a:stretch/>
        </p:blipFill>
        <p:spPr>
          <a:xfrm>
            <a:off x="8280720" y="3511440"/>
            <a:ext cx="1269000" cy="475200"/>
          </a:xfrm>
          <a:prstGeom prst="rect">
            <a:avLst/>
          </a:prstGeom>
          <a:ln w="0">
            <a:noFill/>
          </a:ln>
        </p:spPr>
      </p:pic>
      <p:pic>
        <p:nvPicPr>
          <p:cNvPr id="91" name="eq004.png" descr=""/>
          <p:cNvPicPr/>
          <p:nvPr/>
        </p:nvPicPr>
        <p:blipFill>
          <a:blip r:embed="rId3"/>
          <a:stretch/>
        </p:blipFill>
        <p:spPr>
          <a:xfrm>
            <a:off x="2701800" y="3831480"/>
            <a:ext cx="1179720" cy="475200"/>
          </a:xfrm>
          <a:prstGeom prst="rect">
            <a:avLst/>
          </a:prstGeom>
          <a:ln w="0">
            <a:noFill/>
          </a:ln>
        </p:spPr>
      </p:pic>
      <p:pic>
        <p:nvPicPr>
          <p:cNvPr id="92" name="eq040.png" descr=""/>
          <p:cNvPicPr/>
          <p:nvPr/>
        </p:nvPicPr>
        <p:blipFill>
          <a:blip r:embed="rId4"/>
          <a:stretch/>
        </p:blipFill>
        <p:spPr>
          <a:xfrm>
            <a:off x="6900120" y="2305080"/>
            <a:ext cx="3209760" cy="35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1 ·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Make the Given Letter the Subject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anim_1_a"/>
          <p:cNvSpPr/>
          <p:nvPr/>
        </p:nvSpPr>
        <p:spPr>
          <a:xfrm>
            <a:off x="640080" y="182880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anim_1_a"/>
          <p:cNvSpPr/>
          <p:nvPr/>
        </p:nvSpPr>
        <p:spPr>
          <a:xfrm>
            <a:off x="640080" y="18288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anim_1_a"/>
          <p:cNvSpPr/>
          <p:nvPr/>
        </p:nvSpPr>
        <p:spPr>
          <a:xfrm>
            <a:off x="1243440" y="1828800"/>
            <a:ext cx="4571640" cy="4752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anim_1_a"/>
          <p:cNvSpPr/>
          <p:nvPr/>
        </p:nvSpPr>
        <p:spPr>
          <a:xfrm>
            <a:off x="1463040" y="182880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y = x + 5   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(x)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anim_1_a"/>
          <p:cNvSpPr/>
          <p:nvPr/>
        </p:nvSpPr>
        <p:spPr>
          <a:xfrm>
            <a:off x="640080" y="297180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anim_1_a"/>
          <p:cNvSpPr/>
          <p:nvPr/>
        </p:nvSpPr>
        <p:spPr>
          <a:xfrm>
            <a:off x="640080" y="29718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anim_1_a"/>
          <p:cNvSpPr/>
          <p:nvPr/>
        </p:nvSpPr>
        <p:spPr>
          <a:xfrm>
            <a:off x="1243440" y="2971800"/>
            <a:ext cx="4571640" cy="4752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anim_1_a"/>
          <p:cNvSpPr/>
          <p:nvPr/>
        </p:nvSpPr>
        <p:spPr>
          <a:xfrm>
            <a:off x="1463040" y="297180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b = 3a      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(a)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anim_1_a"/>
          <p:cNvSpPr/>
          <p:nvPr/>
        </p:nvSpPr>
        <p:spPr>
          <a:xfrm>
            <a:off x="640080" y="411480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anim_1_a"/>
          <p:cNvSpPr/>
          <p:nvPr/>
        </p:nvSpPr>
        <p:spPr>
          <a:xfrm>
            <a:off x="640080" y="41148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anim_1_a"/>
          <p:cNvSpPr/>
          <p:nvPr/>
        </p:nvSpPr>
        <p:spPr>
          <a:xfrm>
            <a:off x="1243440" y="4114800"/>
            <a:ext cx="4571640" cy="4752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anim_1_a"/>
          <p:cNvSpPr/>
          <p:nvPr/>
        </p:nvSpPr>
        <p:spPr>
          <a:xfrm>
            <a:off x="1463040" y="411480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y = 2x + 7  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(x)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anim_2_c"/>
          <p:cNvSpPr/>
          <p:nvPr/>
        </p:nvSpPr>
        <p:spPr>
          <a:xfrm>
            <a:off x="6355080" y="182880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anim_2_c"/>
          <p:cNvSpPr/>
          <p:nvPr/>
        </p:nvSpPr>
        <p:spPr>
          <a:xfrm>
            <a:off x="6355080" y="18288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anim_2_c"/>
          <p:cNvSpPr/>
          <p:nvPr/>
        </p:nvSpPr>
        <p:spPr>
          <a:xfrm>
            <a:off x="6958440" y="1828800"/>
            <a:ext cx="4571640" cy="4752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anim_2_c"/>
          <p:cNvSpPr/>
          <p:nvPr/>
        </p:nvSpPr>
        <p:spPr>
          <a:xfrm>
            <a:off x="7178040" y="182880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V = u + at   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(t)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anim_2_c"/>
          <p:cNvSpPr/>
          <p:nvPr/>
        </p:nvSpPr>
        <p:spPr>
          <a:xfrm>
            <a:off x="6355080" y="297180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anim_2_c"/>
          <p:cNvSpPr/>
          <p:nvPr/>
        </p:nvSpPr>
        <p:spPr>
          <a:xfrm>
            <a:off x="6355080" y="29718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anim_2_c"/>
          <p:cNvSpPr/>
          <p:nvPr/>
        </p:nvSpPr>
        <p:spPr>
          <a:xfrm>
            <a:off x="6958440" y="2971800"/>
            <a:ext cx="4571640" cy="4752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anim_2_c"/>
          <p:cNvSpPr/>
          <p:nvPr/>
        </p:nvSpPr>
        <p:spPr>
          <a:xfrm>
            <a:off x="7178040" y="297180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m = 5(n + s)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(s)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anim_2_c"/>
          <p:cNvSpPr/>
          <p:nvPr/>
        </p:nvSpPr>
        <p:spPr>
          <a:xfrm>
            <a:off x="6355080" y="4114800"/>
            <a:ext cx="475200" cy="475200"/>
          </a:xfrm>
          <a:prstGeom prst="roundRect">
            <a:avLst>
              <a:gd name="adj" fmla="val 15385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anim_2_c"/>
          <p:cNvSpPr/>
          <p:nvPr/>
        </p:nvSpPr>
        <p:spPr>
          <a:xfrm>
            <a:off x="6355080" y="41148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anim_2_c"/>
          <p:cNvSpPr/>
          <p:nvPr/>
        </p:nvSpPr>
        <p:spPr>
          <a:xfrm>
            <a:off x="6958440" y="4114800"/>
            <a:ext cx="4571640" cy="4752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anim_2_c"/>
          <p:cNvSpPr/>
          <p:nvPr/>
        </p:nvSpPr>
        <p:spPr>
          <a:xfrm>
            <a:off x="7178040" y="4114800"/>
            <a:ext cx="42058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a = b + 2      </a:t>
            </a:r>
            <a:r>
              <a:rPr b="1" lang="en-US" sz="1700" spc="-1" strike="noStrike">
                <a:solidFill>
                  <a:srgbClr val="c84f2f"/>
                </a:solidFill>
                <a:latin typeface="Cambria"/>
                <a:ea typeface="Cambria"/>
              </a:rPr>
              <a:t>(b)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9" dur="indefinite" restart="never" nodeType="tmRoot">
          <p:childTnLst>
            <p:seq>
              <p:cTn id="120" dur="indefinite" nodeType="mainSeq">
                <p:childTnLst>
                  <p:par>
                    <p:cTn id="121" fill="hold">
                      <p:stCondLst>
                        <p:cond delay="0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5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2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4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3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3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6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49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2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58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3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6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69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78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1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87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96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2 · SUBJECT APPEARS TWICE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Collect, then Factorise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Collect every term with the subject on one side, factorise it out, then divide.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anim_2_c"/>
          <p:cNvSpPr/>
          <p:nvPr/>
        </p:nvSpPr>
        <p:spPr>
          <a:xfrm>
            <a:off x="54864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anim_2_c"/>
          <p:cNvSpPr/>
          <p:nvPr/>
        </p:nvSpPr>
        <p:spPr>
          <a:xfrm>
            <a:off x="868680" y="254196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Make x the subject: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ax – m = bx + y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anim_2_c"/>
          <p:cNvSpPr/>
          <p:nvPr/>
        </p:nvSpPr>
        <p:spPr>
          <a:xfrm>
            <a:off x="868680" y="3310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anim_2_c"/>
          <p:cNvSpPr/>
          <p:nvPr/>
        </p:nvSpPr>
        <p:spPr>
          <a:xfrm>
            <a:off x="868680" y="3310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nim_2_c"/>
          <p:cNvSpPr/>
          <p:nvPr/>
        </p:nvSpPr>
        <p:spPr>
          <a:xfrm>
            <a:off x="1417320" y="32461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libri"/>
                <a:ea typeface="Calibri"/>
              </a:rPr>
              <a:t>ax – bx = m + y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anim_3_c"/>
          <p:cNvSpPr/>
          <p:nvPr/>
        </p:nvSpPr>
        <p:spPr>
          <a:xfrm>
            <a:off x="868680" y="3858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anim_3_c"/>
          <p:cNvSpPr/>
          <p:nvPr/>
        </p:nvSpPr>
        <p:spPr>
          <a:xfrm>
            <a:off x="868680" y="3858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anim_3_c"/>
          <p:cNvSpPr/>
          <p:nvPr/>
        </p:nvSpPr>
        <p:spPr>
          <a:xfrm>
            <a:off x="1417320" y="3794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factorise:  x(a – b) = m + 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anim_4_c"/>
          <p:cNvSpPr/>
          <p:nvPr/>
        </p:nvSpPr>
        <p:spPr>
          <a:xfrm>
            <a:off x="868680" y="452628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anim_5_c"/>
          <p:cNvSpPr/>
          <p:nvPr/>
        </p:nvSpPr>
        <p:spPr>
          <a:xfrm>
            <a:off x="617220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anim_5_c"/>
          <p:cNvSpPr/>
          <p:nvPr/>
        </p:nvSpPr>
        <p:spPr>
          <a:xfrm>
            <a:off x="6492240" y="254196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w the subject: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S = 2lw + 2lh + 2hw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anim_5_c"/>
          <p:cNvSpPr/>
          <p:nvPr/>
        </p:nvSpPr>
        <p:spPr>
          <a:xfrm>
            <a:off x="6492240" y="3310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anim_5_c"/>
          <p:cNvSpPr/>
          <p:nvPr/>
        </p:nvSpPr>
        <p:spPr>
          <a:xfrm>
            <a:off x="6492240" y="3310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anim_5_c"/>
          <p:cNvSpPr/>
          <p:nvPr/>
        </p:nvSpPr>
        <p:spPr>
          <a:xfrm>
            <a:off x="7040880" y="32461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2lw + 2hw = S – 2lh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anim_5_c"/>
          <p:cNvSpPr/>
          <p:nvPr/>
        </p:nvSpPr>
        <p:spPr>
          <a:xfrm>
            <a:off x="6492240" y="3858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anim_5_c"/>
          <p:cNvSpPr/>
          <p:nvPr/>
        </p:nvSpPr>
        <p:spPr>
          <a:xfrm>
            <a:off x="6492240" y="3858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anim_5_c"/>
          <p:cNvSpPr/>
          <p:nvPr/>
        </p:nvSpPr>
        <p:spPr>
          <a:xfrm>
            <a:off x="7040880" y="3794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w(2l + 2h) = S – 2lh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anim_5_c"/>
          <p:cNvSpPr/>
          <p:nvPr/>
        </p:nvSpPr>
        <p:spPr>
          <a:xfrm>
            <a:off x="6492240" y="452628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5" name="eq005.png" descr=""/>
          <p:cNvPicPr/>
          <p:nvPr/>
        </p:nvPicPr>
        <p:blipFill>
          <a:blip r:embed="rId2"/>
          <a:stretch/>
        </p:blipFill>
        <p:spPr>
          <a:xfrm>
            <a:off x="2785680" y="4745880"/>
            <a:ext cx="1011960" cy="475200"/>
          </a:xfrm>
          <a:prstGeom prst="rect">
            <a:avLst/>
          </a:prstGeom>
          <a:ln w="0">
            <a:noFill/>
          </a:ln>
        </p:spPr>
      </p:pic>
      <p:pic>
        <p:nvPicPr>
          <p:cNvPr id="146" name="eq006.png" descr=""/>
          <p:cNvPicPr/>
          <p:nvPr/>
        </p:nvPicPr>
        <p:blipFill>
          <a:blip r:embed="rId3"/>
          <a:stretch/>
        </p:blipFill>
        <p:spPr>
          <a:xfrm>
            <a:off x="8322840" y="4745880"/>
            <a:ext cx="1185120" cy="475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3 · POWERS &amp; ROOTS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Square → √ ,  Cube → ∛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Isolate the power, then take the matching root — the inverse of squaring is √, of cubing is ∛.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anim_2_c"/>
          <p:cNvSpPr/>
          <p:nvPr/>
        </p:nvSpPr>
        <p:spPr>
          <a:xfrm>
            <a:off x="54864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anim_2_c"/>
          <p:cNvSpPr/>
          <p:nvPr/>
        </p:nvSpPr>
        <p:spPr>
          <a:xfrm>
            <a:off x="868680" y="2541960"/>
            <a:ext cx="49374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q the subject: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5(p + q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) = 4V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anim_2_c"/>
          <p:cNvSpPr/>
          <p:nvPr/>
        </p:nvSpPr>
        <p:spPr>
          <a:xfrm>
            <a:off x="868680" y="3310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anim_2_c"/>
          <p:cNvSpPr/>
          <p:nvPr/>
        </p:nvSpPr>
        <p:spPr>
          <a:xfrm>
            <a:off x="868680" y="3310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anim_2_c"/>
          <p:cNvSpPr/>
          <p:nvPr/>
        </p:nvSpPr>
        <p:spPr>
          <a:xfrm>
            <a:off x="1417320" y="32461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5p + 5q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 = 4V  →  5q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 = 4V – 5p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anim_3_c"/>
          <p:cNvSpPr/>
          <p:nvPr/>
        </p:nvSpPr>
        <p:spPr>
          <a:xfrm>
            <a:off x="868680" y="3904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anim_3_c"/>
          <p:cNvSpPr/>
          <p:nvPr/>
        </p:nvSpPr>
        <p:spPr>
          <a:xfrm>
            <a:off x="868680" y="3904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anim_4_c"/>
          <p:cNvSpPr/>
          <p:nvPr/>
        </p:nvSpPr>
        <p:spPr>
          <a:xfrm>
            <a:off x="868680" y="452628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anim_5_c"/>
          <p:cNvSpPr/>
          <p:nvPr/>
        </p:nvSpPr>
        <p:spPr>
          <a:xfrm>
            <a:off x="617220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anim_5_c"/>
          <p:cNvSpPr/>
          <p:nvPr/>
        </p:nvSpPr>
        <p:spPr>
          <a:xfrm>
            <a:off x="6492240" y="2541960"/>
            <a:ext cx="18284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r the subject: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V =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anim_5_c"/>
          <p:cNvSpPr/>
          <p:nvPr/>
        </p:nvSpPr>
        <p:spPr>
          <a:xfrm>
            <a:off x="7772400" y="279792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anim_5_c"/>
          <p:cNvSpPr/>
          <p:nvPr/>
        </p:nvSpPr>
        <p:spPr>
          <a:xfrm>
            <a:off x="7818120" y="3200400"/>
            <a:ext cx="365760" cy="360"/>
          </a:xfrm>
          <a:prstGeom prst="line">
            <a:avLst/>
          </a:prstGeom>
          <a:ln w="25400">
            <a:solidFill>
              <a:srgbClr val="1626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anim_5_c"/>
          <p:cNvSpPr/>
          <p:nvPr/>
        </p:nvSpPr>
        <p:spPr>
          <a:xfrm>
            <a:off x="7772400" y="323712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anim_5_c"/>
          <p:cNvSpPr/>
          <p:nvPr/>
        </p:nvSpPr>
        <p:spPr>
          <a:xfrm>
            <a:off x="8275320" y="301752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πr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anim_5_c"/>
          <p:cNvSpPr/>
          <p:nvPr/>
        </p:nvSpPr>
        <p:spPr>
          <a:xfrm>
            <a:off x="6492240" y="37674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anim_5_c"/>
          <p:cNvSpPr/>
          <p:nvPr/>
        </p:nvSpPr>
        <p:spPr>
          <a:xfrm>
            <a:off x="649224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anim_5_c"/>
          <p:cNvSpPr/>
          <p:nvPr/>
        </p:nvSpPr>
        <p:spPr>
          <a:xfrm>
            <a:off x="7040880" y="37033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3V = 4πr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  →  cube-root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anim_5_c"/>
          <p:cNvSpPr/>
          <p:nvPr/>
        </p:nvSpPr>
        <p:spPr>
          <a:xfrm>
            <a:off x="6492240" y="452628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1" name="eq007.png" descr=""/>
          <p:cNvPicPr/>
          <p:nvPr/>
        </p:nvPicPr>
        <p:blipFill>
          <a:blip r:embed="rId2"/>
          <a:stretch/>
        </p:blipFill>
        <p:spPr>
          <a:xfrm>
            <a:off x="2700360" y="4745880"/>
            <a:ext cx="1182600" cy="475200"/>
          </a:xfrm>
          <a:prstGeom prst="rect">
            <a:avLst/>
          </a:prstGeom>
          <a:ln w="0">
            <a:noFill/>
          </a:ln>
        </p:spPr>
      </p:pic>
      <p:pic>
        <p:nvPicPr>
          <p:cNvPr id="172" name="eq008.png" descr=""/>
          <p:cNvPicPr/>
          <p:nvPr/>
        </p:nvPicPr>
        <p:blipFill>
          <a:blip r:embed="rId3"/>
          <a:stretch/>
        </p:blipFill>
        <p:spPr>
          <a:xfrm>
            <a:off x="8515800" y="4745880"/>
            <a:ext cx="798840" cy="475200"/>
          </a:xfrm>
          <a:prstGeom prst="rect">
            <a:avLst/>
          </a:prstGeom>
          <a:ln w="0">
            <a:noFill/>
          </a:ln>
        </p:spPr>
      </p:pic>
      <p:pic>
        <p:nvPicPr>
          <p:cNvPr id="173" name="eq041.png" descr=""/>
          <p:cNvPicPr/>
          <p:nvPr/>
        </p:nvPicPr>
        <p:blipFill>
          <a:blip r:embed="rId4"/>
          <a:stretch/>
        </p:blipFill>
        <p:spPr>
          <a:xfrm>
            <a:off x="1360080" y="3729960"/>
            <a:ext cx="3956760" cy="35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3 · POWERS &amp; ROOTS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More Worked Examples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anim_1_a"/>
          <p:cNvSpPr/>
          <p:nvPr/>
        </p:nvSpPr>
        <p:spPr>
          <a:xfrm>
            <a:off x="548640" y="1737360"/>
            <a:ext cx="5467680" cy="1874160"/>
          </a:xfrm>
          <a:prstGeom prst="roundRect">
            <a:avLst>
              <a:gd name="adj" fmla="val 4878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anim_1_a"/>
          <p:cNvSpPr/>
          <p:nvPr/>
        </p:nvSpPr>
        <p:spPr>
          <a:xfrm>
            <a:off x="868680" y="187452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n the subject:   y = 5√(mn)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anim_1_a"/>
          <p:cNvSpPr/>
          <p:nvPr/>
        </p:nvSpPr>
        <p:spPr>
          <a:xfrm>
            <a:off x="868680" y="23500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anim_1_a"/>
          <p:cNvSpPr/>
          <p:nvPr/>
        </p:nvSpPr>
        <p:spPr>
          <a:xfrm>
            <a:off x="868680" y="2350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anim_1_a"/>
          <p:cNvSpPr/>
          <p:nvPr/>
        </p:nvSpPr>
        <p:spPr>
          <a:xfrm>
            <a:off x="1417320" y="22860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square both sides:  y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= 25mn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anim_2_c"/>
          <p:cNvSpPr/>
          <p:nvPr/>
        </p:nvSpPr>
        <p:spPr>
          <a:xfrm>
            <a:off x="868680" y="2834640"/>
            <a:ext cx="2468520" cy="77688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anim_3_c"/>
          <p:cNvSpPr/>
          <p:nvPr/>
        </p:nvSpPr>
        <p:spPr>
          <a:xfrm>
            <a:off x="6172200" y="1737360"/>
            <a:ext cx="5467680" cy="1874160"/>
          </a:xfrm>
          <a:prstGeom prst="roundRect">
            <a:avLst>
              <a:gd name="adj" fmla="val 4878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anim_3_c"/>
          <p:cNvSpPr/>
          <p:nvPr/>
        </p:nvSpPr>
        <p:spPr>
          <a:xfrm>
            <a:off x="6492240" y="1847160"/>
            <a:ext cx="49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Make b the subject (b &gt; 0):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P = ½ ab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 + c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anim_3_c"/>
          <p:cNvSpPr/>
          <p:nvPr/>
        </p:nvSpPr>
        <p:spPr>
          <a:xfrm>
            <a:off x="6492240" y="24872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anim_3_c"/>
          <p:cNvSpPr/>
          <p:nvPr/>
        </p:nvSpPr>
        <p:spPr>
          <a:xfrm>
            <a:off x="6492240" y="24872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anim_4_c"/>
          <p:cNvSpPr/>
          <p:nvPr/>
        </p:nvSpPr>
        <p:spPr>
          <a:xfrm>
            <a:off x="6876360" y="2834640"/>
            <a:ext cx="4461840" cy="77688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anim_5_c"/>
          <p:cNvSpPr/>
          <p:nvPr/>
        </p:nvSpPr>
        <p:spPr>
          <a:xfrm>
            <a:off x="548640" y="3794760"/>
            <a:ext cx="11091240" cy="1965600"/>
          </a:xfrm>
          <a:prstGeom prst="roundRect">
            <a:avLst>
              <a:gd name="adj" fmla="val 4651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anim_5_c"/>
          <p:cNvSpPr/>
          <p:nvPr/>
        </p:nvSpPr>
        <p:spPr>
          <a:xfrm>
            <a:off x="868680" y="39776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Worded:   A cylinder has volume V = πr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h .   Make r the subject.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anim_5_c"/>
          <p:cNvSpPr/>
          <p:nvPr/>
        </p:nvSpPr>
        <p:spPr>
          <a:xfrm>
            <a:off x="868680" y="45446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anim_5_c"/>
          <p:cNvSpPr/>
          <p:nvPr/>
        </p:nvSpPr>
        <p:spPr>
          <a:xfrm>
            <a:off x="868680" y="45446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anim_6_c"/>
          <p:cNvSpPr/>
          <p:nvPr/>
        </p:nvSpPr>
        <p:spPr>
          <a:xfrm>
            <a:off x="868680" y="4983480"/>
            <a:ext cx="457164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4" name="eq009.png" descr=""/>
          <p:cNvPicPr/>
          <p:nvPr/>
        </p:nvPicPr>
        <p:blipFill>
          <a:blip r:embed="rId2"/>
          <a:stretch/>
        </p:blipFill>
        <p:spPr>
          <a:xfrm>
            <a:off x="8271360" y="2917080"/>
            <a:ext cx="1288080" cy="475200"/>
          </a:xfrm>
          <a:prstGeom prst="rect">
            <a:avLst/>
          </a:prstGeom>
          <a:ln w="0">
            <a:noFill/>
          </a:ln>
        </p:spPr>
      </p:pic>
      <p:pic>
        <p:nvPicPr>
          <p:cNvPr id="195" name="eq010.png" descr=""/>
          <p:cNvPicPr/>
          <p:nvPr/>
        </p:nvPicPr>
        <p:blipFill>
          <a:blip r:embed="rId3"/>
          <a:stretch/>
        </p:blipFill>
        <p:spPr>
          <a:xfrm>
            <a:off x="1561320" y="2962800"/>
            <a:ext cx="780480" cy="475200"/>
          </a:xfrm>
          <a:prstGeom prst="rect">
            <a:avLst/>
          </a:prstGeom>
          <a:ln w="0">
            <a:noFill/>
          </a:ln>
        </p:spPr>
      </p:pic>
      <p:pic>
        <p:nvPicPr>
          <p:cNvPr id="196" name="eq011.png" descr=""/>
          <p:cNvPicPr/>
          <p:nvPr/>
        </p:nvPicPr>
        <p:blipFill>
          <a:blip r:embed="rId4"/>
          <a:stretch/>
        </p:blipFill>
        <p:spPr>
          <a:xfrm>
            <a:off x="2731680" y="5203080"/>
            <a:ext cx="846000" cy="475200"/>
          </a:xfrm>
          <a:prstGeom prst="rect">
            <a:avLst/>
          </a:prstGeom>
          <a:ln w="0">
            <a:noFill/>
          </a:ln>
        </p:spPr>
      </p:pic>
      <p:pic>
        <p:nvPicPr>
          <p:cNvPr id="197" name="eq034.png" descr=""/>
          <p:cNvPicPr/>
          <p:nvPr/>
        </p:nvPicPr>
        <p:blipFill>
          <a:blip r:embed="rId5"/>
          <a:stretch/>
        </p:blipFill>
        <p:spPr>
          <a:xfrm>
            <a:off x="6850080" y="2360160"/>
            <a:ext cx="762480" cy="269640"/>
          </a:xfrm>
          <a:prstGeom prst="rect">
            <a:avLst/>
          </a:prstGeom>
          <a:ln w="0">
            <a:noFill/>
          </a:ln>
        </p:spPr>
      </p:pic>
      <p:pic>
        <p:nvPicPr>
          <p:cNvPr id="198" name="eq035.png" descr=""/>
          <p:cNvPicPr/>
          <p:nvPr/>
        </p:nvPicPr>
        <p:blipFill>
          <a:blip r:embed="rId6"/>
          <a:stretch/>
        </p:blipFill>
        <p:spPr>
          <a:xfrm>
            <a:off x="1360080" y="4460040"/>
            <a:ext cx="3730680" cy="42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4 · COMPLETING THE SQUARE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When the Subject is Squared AND Linear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If the subject appears as both x</a:t>
            </a:r>
            <a:r>
              <a:rPr b="0" lang="en-US" sz="1500" spc="-1" strike="noStrike" baseline="30000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r>
              <a:rPr b="0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 and x, complete the square, then square-root both sides.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anim_2_c"/>
          <p:cNvSpPr/>
          <p:nvPr/>
        </p:nvSpPr>
        <p:spPr>
          <a:xfrm>
            <a:off x="54864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anim_2_c"/>
          <p:cNvSpPr/>
          <p:nvPr/>
        </p:nvSpPr>
        <p:spPr>
          <a:xfrm>
            <a:off x="868680" y="2541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x the subject:   y = x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 + 8x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anim_2_c"/>
          <p:cNvSpPr/>
          <p:nvPr/>
        </p:nvSpPr>
        <p:spPr>
          <a:xfrm>
            <a:off x="868680" y="30816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anim_2_c"/>
          <p:cNvSpPr/>
          <p:nvPr/>
        </p:nvSpPr>
        <p:spPr>
          <a:xfrm>
            <a:off x="868680" y="3081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anim_2_c"/>
          <p:cNvSpPr/>
          <p:nvPr/>
        </p:nvSpPr>
        <p:spPr>
          <a:xfrm>
            <a:off x="1417320" y="30175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complete the square:  y = (x + 4)</a:t>
            </a:r>
            <a:r>
              <a:rPr b="1" lang="en-US" sz="13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 – 16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anim_3_c"/>
          <p:cNvSpPr/>
          <p:nvPr/>
        </p:nvSpPr>
        <p:spPr>
          <a:xfrm>
            <a:off x="868680" y="36759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anim_3_c"/>
          <p:cNvSpPr/>
          <p:nvPr/>
        </p:nvSpPr>
        <p:spPr>
          <a:xfrm>
            <a:off x="868680" y="3675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anim_3_c"/>
          <p:cNvSpPr/>
          <p:nvPr/>
        </p:nvSpPr>
        <p:spPr>
          <a:xfrm>
            <a:off x="1417320" y="36118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(x + 4)</a:t>
            </a:r>
            <a:r>
              <a:rPr b="1" lang="en-US" sz="13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 = y + 16  →  √ both sides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anim_4_c"/>
          <p:cNvSpPr/>
          <p:nvPr/>
        </p:nvSpPr>
        <p:spPr>
          <a:xfrm>
            <a:off x="868680" y="4343400"/>
            <a:ext cx="45716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anim_4_c"/>
          <p:cNvSpPr/>
          <p:nvPr/>
        </p:nvSpPr>
        <p:spPr>
          <a:xfrm>
            <a:off x="1051560" y="4343400"/>
            <a:ext cx="4205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–4 ± √(y + 16)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anim_5_c"/>
          <p:cNvSpPr/>
          <p:nvPr/>
        </p:nvSpPr>
        <p:spPr>
          <a:xfrm>
            <a:off x="6172200" y="2377440"/>
            <a:ext cx="5467680" cy="3382920"/>
          </a:xfrm>
          <a:prstGeom prst="roundRect">
            <a:avLst>
              <a:gd name="adj" fmla="val 270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anim_5_c"/>
          <p:cNvSpPr/>
          <p:nvPr/>
        </p:nvSpPr>
        <p:spPr>
          <a:xfrm>
            <a:off x="6492240" y="2541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Make x the subject:   y = x</a:t>
            </a:r>
            <a:r>
              <a:rPr b="1" lang="en-US" sz="16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 – 6x + 1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anim_5_c"/>
          <p:cNvSpPr/>
          <p:nvPr/>
        </p:nvSpPr>
        <p:spPr>
          <a:xfrm>
            <a:off x="6492240" y="30816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anim_5_c"/>
          <p:cNvSpPr/>
          <p:nvPr/>
        </p:nvSpPr>
        <p:spPr>
          <a:xfrm>
            <a:off x="6492240" y="3081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anim_5_c"/>
          <p:cNvSpPr/>
          <p:nvPr/>
        </p:nvSpPr>
        <p:spPr>
          <a:xfrm>
            <a:off x="7040880" y="301752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y = (x – 3)</a:t>
            </a:r>
            <a:r>
              <a:rPr b="1" lang="en-US" sz="12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 – 9 + 1 = (x – 3)</a:t>
            </a:r>
            <a:r>
              <a:rPr b="1" lang="en-US" sz="12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 – 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anim_6_c"/>
          <p:cNvSpPr/>
          <p:nvPr/>
        </p:nvSpPr>
        <p:spPr>
          <a:xfrm>
            <a:off x="6492240" y="36759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anim_6_c"/>
          <p:cNvSpPr/>
          <p:nvPr/>
        </p:nvSpPr>
        <p:spPr>
          <a:xfrm>
            <a:off x="6492240" y="36759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anim_6_c"/>
          <p:cNvSpPr/>
          <p:nvPr/>
        </p:nvSpPr>
        <p:spPr>
          <a:xfrm>
            <a:off x="7040880" y="36118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(x – 3)</a:t>
            </a:r>
            <a:r>
              <a:rPr b="1" lang="en-US" sz="13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00" spc="-1" strike="noStrike">
                <a:solidFill>
                  <a:srgbClr val="24332d"/>
                </a:solidFill>
                <a:latin typeface="Cambria"/>
                <a:ea typeface="Cambria"/>
              </a:rPr>
              <a:t> = y + 8  →  √ both sides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anim_6_c"/>
          <p:cNvSpPr/>
          <p:nvPr/>
        </p:nvSpPr>
        <p:spPr>
          <a:xfrm>
            <a:off x="6492240" y="4343400"/>
            <a:ext cx="45716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anim_6_c"/>
          <p:cNvSpPr/>
          <p:nvPr/>
        </p:nvSpPr>
        <p:spPr>
          <a:xfrm>
            <a:off x="6675120" y="4343400"/>
            <a:ext cx="42058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x = 3 ± √(y + 8)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7" dur="indefinite" restart="never" nodeType="tmRoot">
          <p:childTnLst>
            <p:seq>
              <p:cTn id="198" dur="indefinite" nodeType="mainSeq">
                <p:childTnLst>
                  <p:par>
                    <p:cTn id="199" fill="hold">
                      <p:stCondLst>
                        <p:cond delay="0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3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06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1" dur="5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4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17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0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3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28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4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39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2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47" dur="5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3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6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59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4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67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3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76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5 · ALGEBRAIC FRACTIONS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Clear the Denominators First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anim_1_a"/>
          <p:cNvSpPr/>
          <p:nvPr/>
        </p:nvSpPr>
        <p:spPr>
          <a:xfrm>
            <a:off x="548640" y="1463040"/>
            <a:ext cx="11091240" cy="731160"/>
          </a:xfrm>
          <a:prstGeom prst="roundRect">
            <a:avLst>
              <a:gd name="adj" fmla="val 12500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4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anim_1_a"/>
          <p:cNvSpPr/>
          <p:nvPr/>
        </p:nvSpPr>
        <p:spPr>
          <a:xfrm>
            <a:off x="868680" y="1463040"/>
            <a:ext cx="104238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Multiply through to clear fractions, collect the subject, factorise, then divide.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anim_2_c"/>
          <p:cNvSpPr/>
          <p:nvPr/>
        </p:nvSpPr>
        <p:spPr>
          <a:xfrm>
            <a:off x="548640" y="2377440"/>
            <a:ext cx="11091240" cy="3382920"/>
          </a:xfrm>
          <a:prstGeom prst="roundRect">
            <a:avLst>
              <a:gd name="adj" fmla="val 270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anim_2_c"/>
          <p:cNvSpPr/>
          <p:nvPr/>
        </p:nvSpPr>
        <p:spPr>
          <a:xfrm>
            <a:off x="868680" y="256032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6261f"/>
                </a:solidFill>
                <a:latin typeface="Cambria"/>
                <a:ea typeface="Cambria"/>
              </a:rPr>
              <a:t>Make R the subject: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anim_2_c"/>
          <p:cNvSpPr/>
          <p:nvPr/>
        </p:nvSpPr>
        <p:spPr>
          <a:xfrm>
            <a:off x="4114800" y="238644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anim_2_c"/>
          <p:cNvSpPr/>
          <p:nvPr/>
        </p:nvSpPr>
        <p:spPr>
          <a:xfrm>
            <a:off x="4160520" y="2788920"/>
            <a:ext cx="365760" cy="360"/>
          </a:xfrm>
          <a:prstGeom prst="line">
            <a:avLst/>
          </a:prstGeom>
          <a:ln w="25400">
            <a:solidFill>
              <a:srgbClr val="1626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anim_2_c"/>
          <p:cNvSpPr/>
          <p:nvPr/>
        </p:nvSpPr>
        <p:spPr>
          <a:xfrm>
            <a:off x="4114800" y="282564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anim_2_c"/>
          <p:cNvSpPr/>
          <p:nvPr/>
        </p:nvSpPr>
        <p:spPr>
          <a:xfrm>
            <a:off x="4617720" y="256032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=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anim_2_c"/>
          <p:cNvSpPr/>
          <p:nvPr/>
        </p:nvSpPr>
        <p:spPr>
          <a:xfrm>
            <a:off x="5074920" y="238644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anim_2_c"/>
          <p:cNvSpPr/>
          <p:nvPr/>
        </p:nvSpPr>
        <p:spPr>
          <a:xfrm>
            <a:off x="5120640" y="2788920"/>
            <a:ext cx="365760" cy="360"/>
          </a:xfrm>
          <a:prstGeom prst="line">
            <a:avLst/>
          </a:prstGeom>
          <a:ln w="25400">
            <a:solidFill>
              <a:srgbClr val="1626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anim_2_c"/>
          <p:cNvSpPr/>
          <p:nvPr/>
        </p:nvSpPr>
        <p:spPr>
          <a:xfrm>
            <a:off x="5074920" y="282564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anim_2_c"/>
          <p:cNvSpPr/>
          <p:nvPr/>
        </p:nvSpPr>
        <p:spPr>
          <a:xfrm>
            <a:off x="5577840" y="2560320"/>
            <a:ext cx="365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6261f"/>
                </a:solidFill>
                <a:latin typeface="Cambria"/>
                <a:ea typeface="Cambria"/>
              </a:rPr>
              <a:t>+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anim_2_c"/>
          <p:cNvSpPr/>
          <p:nvPr/>
        </p:nvSpPr>
        <p:spPr>
          <a:xfrm>
            <a:off x="5989320" y="238644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anim_2_c"/>
          <p:cNvSpPr/>
          <p:nvPr/>
        </p:nvSpPr>
        <p:spPr>
          <a:xfrm>
            <a:off x="6035040" y="2788920"/>
            <a:ext cx="365760" cy="360"/>
          </a:xfrm>
          <a:prstGeom prst="line">
            <a:avLst/>
          </a:prstGeom>
          <a:ln w="25400">
            <a:solidFill>
              <a:srgbClr val="1626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anim_2_c"/>
          <p:cNvSpPr/>
          <p:nvPr/>
        </p:nvSpPr>
        <p:spPr>
          <a:xfrm>
            <a:off x="5989320" y="2825640"/>
            <a:ext cx="4568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16261f"/>
                </a:solidFill>
                <a:latin typeface="Cambria"/>
                <a:ea typeface="Cambria"/>
              </a:rPr>
              <a:t>b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anim_3_c"/>
          <p:cNvSpPr/>
          <p:nvPr/>
        </p:nvSpPr>
        <p:spPr>
          <a:xfrm>
            <a:off x="868680" y="34473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anim_3_c"/>
          <p:cNvSpPr/>
          <p:nvPr/>
        </p:nvSpPr>
        <p:spPr>
          <a:xfrm>
            <a:off x="868680" y="344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anim_4_c"/>
          <p:cNvSpPr/>
          <p:nvPr/>
        </p:nvSpPr>
        <p:spPr>
          <a:xfrm>
            <a:off x="868680" y="40874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anim_4_c"/>
          <p:cNvSpPr/>
          <p:nvPr/>
        </p:nvSpPr>
        <p:spPr>
          <a:xfrm>
            <a:off x="868680" y="40874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anim_4_c"/>
          <p:cNvSpPr/>
          <p:nvPr/>
        </p:nvSpPr>
        <p:spPr>
          <a:xfrm>
            <a:off x="1417320" y="4023360"/>
            <a:ext cx="9783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divide both sides by (a + b)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anim_5_c"/>
          <p:cNvSpPr/>
          <p:nvPr/>
        </p:nvSpPr>
        <p:spPr>
          <a:xfrm>
            <a:off x="868680" y="4709160"/>
            <a:ext cx="457164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50" name="eq012.png" descr=""/>
          <p:cNvPicPr/>
          <p:nvPr/>
        </p:nvPicPr>
        <p:blipFill>
          <a:blip r:embed="rId2"/>
          <a:stretch/>
        </p:blipFill>
        <p:spPr>
          <a:xfrm>
            <a:off x="2666520" y="4928760"/>
            <a:ext cx="975960" cy="475200"/>
          </a:xfrm>
          <a:prstGeom prst="rect">
            <a:avLst/>
          </a:prstGeom>
          <a:ln w="0">
            <a:noFill/>
          </a:ln>
        </p:spPr>
      </p:pic>
      <p:pic>
        <p:nvPicPr>
          <p:cNvPr id="251" name="eq036.png" descr=""/>
          <p:cNvPicPr/>
          <p:nvPr/>
        </p:nvPicPr>
        <p:blipFill>
          <a:blip r:embed="rId3"/>
          <a:stretch/>
        </p:blipFill>
        <p:spPr>
          <a:xfrm>
            <a:off x="1360080" y="3330000"/>
            <a:ext cx="3111120" cy="399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5 · ALGEBRAIC FRACTIONS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Subject in the Numerator AND Denominator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anim_1_a"/>
          <p:cNvSpPr/>
          <p:nvPr/>
        </p:nvSpPr>
        <p:spPr>
          <a:xfrm>
            <a:off x="54864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anim_1_a"/>
          <p:cNvSpPr/>
          <p:nvPr/>
        </p:nvSpPr>
        <p:spPr>
          <a:xfrm>
            <a:off x="868680" y="2715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anim_1_a"/>
          <p:cNvSpPr/>
          <p:nvPr/>
        </p:nvSpPr>
        <p:spPr>
          <a:xfrm>
            <a:off x="868680" y="2715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anim_1_a"/>
          <p:cNvSpPr/>
          <p:nvPr/>
        </p:nvSpPr>
        <p:spPr>
          <a:xfrm>
            <a:off x="1417320" y="2651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y(x + 3) = 5 – 2x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anim_2_c"/>
          <p:cNvSpPr/>
          <p:nvPr/>
        </p:nvSpPr>
        <p:spPr>
          <a:xfrm>
            <a:off x="868680" y="32644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anim_2_c"/>
          <p:cNvSpPr/>
          <p:nvPr/>
        </p:nvSpPr>
        <p:spPr>
          <a:xfrm>
            <a:off x="868680" y="3264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anim_2_c"/>
          <p:cNvSpPr/>
          <p:nvPr/>
        </p:nvSpPr>
        <p:spPr>
          <a:xfrm>
            <a:off x="1417320" y="32004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yx + 2x = 5 – 3y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anim_3_c"/>
          <p:cNvSpPr/>
          <p:nvPr/>
        </p:nvSpPr>
        <p:spPr>
          <a:xfrm>
            <a:off x="868680" y="3813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anim_3_c"/>
          <p:cNvSpPr/>
          <p:nvPr/>
        </p:nvSpPr>
        <p:spPr>
          <a:xfrm>
            <a:off x="868680" y="3813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anim_3_c"/>
          <p:cNvSpPr/>
          <p:nvPr/>
        </p:nvSpPr>
        <p:spPr>
          <a:xfrm>
            <a:off x="1417320" y="37490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x(y + 2) = 5 – 3y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anim_4_c"/>
          <p:cNvSpPr/>
          <p:nvPr/>
        </p:nvSpPr>
        <p:spPr>
          <a:xfrm>
            <a:off x="868680" y="448056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anim_5_c"/>
          <p:cNvSpPr/>
          <p:nvPr/>
        </p:nvSpPr>
        <p:spPr>
          <a:xfrm>
            <a:off x="617220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anim_5_c"/>
          <p:cNvSpPr/>
          <p:nvPr/>
        </p:nvSpPr>
        <p:spPr>
          <a:xfrm>
            <a:off x="6492240" y="2715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anim_5_c"/>
          <p:cNvSpPr/>
          <p:nvPr/>
        </p:nvSpPr>
        <p:spPr>
          <a:xfrm>
            <a:off x="6492240" y="2715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anim_5_c"/>
          <p:cNvSpPr/>
          <p:nvPr/>
        </p:nvSpPr>
        <p:spPr>
          <a:xfrm>
            <a:off x="7040880" y="2651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w(8 – f) = 2f + 3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anim_5_c"/>
          <p:cNvSpPr/>
          <p:nvPr/>
        </p:nvSpPr>
        <p:spPr>
          <a:xfrm>
            <a:off x="6492240" y="32644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anim_5_c"/>
          <p:cNvSpPr/>
          <p:nvPr/>
        </p:nvSpPr>
        <p:spPr>
          <a:xfrm>
            <a:off x="6492240" y="3264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anim_5_c"/>
          <p:cNvSpPr/>
          <p:nvPr/>
        </p:nvSpPr>
        <p:spPr>
          <a:xfrm>
            <a:off x="7040880" y="32004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8w – 3 = 2f + wf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anim_5_c"/>
          <p:cNvSpPr/>
          <p:nvPr/>
        </p:nvSpPr>
        <p:spPr>
          <a:xfrm>
            <a:off x="6492240" y="38131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anim_5_c"/>
          <p:cNvSpPr/>
          <p:nvPr/>
        </p:nvSpPr>
        <p:spPr>
          <a:xfrm>
            <a:off x="6492240" y="38131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anim_5_c"/>
          <p:cNvSpPr/>
          <p:nvPr/>
        </p:nvSpPr>
        <p:spPr>
          <a:xfrm>
            <a:off x="7040880" y="37490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24332d"/>
                </a:solidFill>
                <a:latin typeface="Cambria"/>
                <a:ea typeface="Cambria"/>
              </a:rPr>
              <a:t>8w – 3 = f(2 + w)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anim_5_c"/>
          <p:cNvSpPr/>
          <p:nvPr/>
        </p:nvSpPr>
        <p:spPr>
          <a:xfrm>
            <a:off x="6492240" y="448056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8" name="eq013.png" descr=""/>
          <p:cNvPicPr/>
          <p:nvPr/>
        </p:nvPicPr>
        <p:blipFill>
          <a:blip r:embed="rId2"/>
          <a:stretch/>
        </p:blipFill>
        <p:spPr>
          <a:xfrm>
            <a:off x="2829600" y="4700160"/>
            <a:ext cx="924480" cy="475200"/>
          </a:xfrm>
          <a:prstGeom prst="rect">
            <a:avLst/>
          </a:prstGeom>
          <a:ln w="0">
            <a:noFill/>
          </a:ln>
        </p:spPr>
      </p:pic>
      <p:pic>
        <p:nvPicPr>
          <p:cNvPr id="279" name="eq014.png" descr=""/>
          <p:cNvPicPr/>
          <p:nvPr/>
        </p:nvPicPr>
        <p:blipFill>
          <a:blip r:embed="rId3"/>
          <a:stretch/>
        </p:blipFill>
        <p:spPr>
          <a:xfrm>
            <a:off x="8363880" y="4700160"/>
            <a:ext cx="1103040" cy="475200"/>
          </a:xfrm>
          <a:prstGeom prst="rect">
            <a:avLst/>
          </a:prstGeom>
          <a:ln w="0">
            <a:noFill/>
          </a:ln>
        </p:spPr>
      </p:pic>
      <p:pic>
        <p:nvPicPr>
          <p:cNvPr id="280" name="eq021.png" descr=""/>
          <p:cNvPicPr/>
          <p:nvPr/>
        </p:nvPicPr>
        <p:blipFill>
          <a:blip r:embed="rId4"/>
          <a:stretch/>
        </p:blipFill>
        <p:spPr>
          <a:xfrm>
            <a:off x="820080" y="1850040"/>
            <a:ext cx="3245760" cy="469800"/>
          </a:xfrm>
          <a:prstGeom prst="rect">
            <a:avLst/>
          </a:prstGeom>
          <a:ln w="0">
            <a:noFill/>
          </a:ln>
        </p:spPr>
      </p:pic>
      <p:pic>
        <p:nvPicPr>
          <p:cNvPr id="281" name="eq022.png" descr=""/>
          <p:cNvPicPr/>
          <p:nvPr/>
        </p:nvPicPr>
        <p:blipFill>
          <a:blip r:embed="rId5"/>
          <a:stretch/>
        </p:blipFill>
        <p:spPr>
          <a:xfrm>
            <a:off x="6440040" y="1850040"/>
            <a:ext cx="2759040" cy="46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6 · FRACTIONS WITH POWERS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Powers Inside an Algebraic Fraction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anim_1_a"/>
          <p:cNvSpPr/>
          <p:nvPr/>
        </p:nvSpPr>
        <p:spPr>
          <a:xfrm>
            <a:off x="54864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anim_1_a"/>
          <p:cNvSpPr/>
          <p:nvPr/>
        </p:nvSpPr>
        <p:spPr>
          <a:xfrm>
            <a:off x="868680" y="2715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anim_1_a"/>
          <p:cNvSpPr/>
          <p:nvPr/>
        </p:nvSpPr>
        <p:spPr>
          <a:xfrm>
            <a:off x="868680" y="2715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anim_1_a"/>
          <p:cNvSpPr/>
          <p:nvPr/>
        </p:nvSpPr>
        <p:spPr>
          <a:xfrm>
            <a:off x="1417320" y="2651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yn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= n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+ 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anim_2_c"/>
          <p:cNvSpPr/>
          <p:nvPr/>
        </p:nvSpPr>
        <p:spPr>
          <a:xfrm>
            <a:off x="868680" y="32644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anim_2_c"/>
          <p:cNvSpPr/>
          <p:nvPr/>
        </p:nvSpPr>
        <p:spPr>
          <a:xfrm>
            <a:off x="868680" y="3264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anim_2_c"/>
          <p:cNvSpPr/>
          <p:nvPr/>
        </p:nvSpPr>
        <p:spPr>
          <a:xfrm>
            <a:off x="1417320" y="32004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n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(y – 1) = 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anim_3_c"/>
          <p:cNvSpPr/>
          <p:nvPr/>
        </p:nvSpPr>
        <p:spPr>
          <a:xfrm>
            <a:off x="868680" y="406908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anim_4_c"/>
          <p:cNvSpPr/>
          <p:nvPr/>
        </p:nvSpPr>
        <p:spPr>
          <a:xfrm>
            <a:off x="617220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anim_4_c"/>
          <p:cNvSpPr/>
          <p:nvPr/>
        </p:nvSpPr>
        <p:spPr>
          <a:xfrm>
            <a:off x="6492240" y="2715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anim_4_c"/>
          <p:cNvSpPr/>
          <p:nvPr/>
        </p:nvSpPr>
        <p:spPr>
          <a:xfrm>
            <a:off x="6492240" y="2715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anim_4_c"/>
          <p:cNvSpPr/>
          <p:nvPr/>
        </p:nvSpPr>
        <p:spPr>
          <a:xfrm>
            <a:off x="7040880" y="2651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a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r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= 4d + e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anim_5_c"/>
          <p:cNvSpPr/>
          <p:nvPr/>
        </p:nvSpPr>
        <p:spPr>
          <a:xfrm>
            <a:off x="6492240" y="32644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anim_5_c"/>
          <p:cNvSpPr/>
          <p:nvPr/>
        </p:nvSpPr>
        <p:spPr>
          <a:xfrm>
            <a:off x="6492240" y="3264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anim_5_c"/>
          <p:cNvSpPr/>
          <p:nvPr/>
        </p:nvSpPr>
        <p:spPr>
          <a:xfrm>
            <a:off x="7040880" y="32004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e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= a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r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– 4d   →   √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anim_6_c"/>
          <p:cNvSpPr/>
          <p:nvPr/>
        </p:nvSpPr>
        <p:spPr>
          <a:xfrm>
            <a:off x="6492240" y="4069080"/>
            <a:ext cx="45716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2" name="eq015.png" descr=""/>
          <p:cNvPicPr/>
          <p:nvPr/>
        </p:nvPicPr>
        <p:blipFill>
          <a:blip r:embed="rId2"/>
          <a:stretch/>
        </p:blipFill>
        <p:spPr>
          <a:xfrm>
            <a:off x="2786400" y="4288680"/>
            <a:ext cx="1010880" cy="475200"/>
          </a:xfrm>
          <a:prstGeom prst="rect">
            <a:avLst/>
          </a:prstGeom>
          <a:ln w="0">
            <a:noFill/>
          </a:ln>
        </p:spPr>
      </p:pic>
      <p:pic>
        <p:nvPicPr>
          <p:cNvPr id="303" name="eq016.png" descr=""/>
          <p:cNvPicPr/>
          <p:nvPr/>
        </p:nvPicPr>
        <p:blipFill>
          <a:blip r:embed="rId3"/>
          <a:stretch/>
        </p:blipFill>
        <p:spPr>
          <a:xfrm>
            <a:off x="7986240" y="4222800"/>
            <a:ext cx="1584000" cy="332640"/>
          </a:xfrm>
          <a:prstGeom prst="rect">
            <a:avLst/>
          </a:prstGeom>
          <a:ln w="0">
            <a:noFill/>
          </a:ln>
        </p:spPr>
      </p:pic>
      <p:pic>
        <p:nvPicPr>
          <p:cNvPr id="304" name="eq023.png" descr=""/>
          <p:cNvPicPr/>
          <p:nvPr/>
        </p:nvPicPr>
        <p:blipFill>
          <a:blip r:embed="rId4"/>
          <a:stretch/>
        </p:blipFill>
        <p:spPr>
          <a:xfrm>
            <a:off x="820080" y="1850040"/>
            <a:ext cx="3401640" cy="469800"/>
          </a:xfrm>
          <a:prstGeom prst="rect">
            <a:avLst/>
          </a:prstGeom>
          <a:ln w="0">
            <a:noFill/>
          </a:ln>
        </p:spPr>
      </p:pic>
      <p:pic>
        <p:nvPicPr>
          <p:cNvPr id="305" name="eq024.png" descr=""/>
          <p:cNvPicPr/>
          <p:nvPr/>
        </p:nvPicPr>
        <p:blipFill>
          <a:blip r:embed="rId5"/>
          <a:stretch/>
        </p:blipFill>
        <p:spPr>
          <a:xfrm>
            <a:off x="6440040" y="1850040"/>
            <a:ext cx="2927880" cy="46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CASE 6 · FRACTIONS WITH ROOTS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Square Both Sides First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anim_1_a"/>
          <p:cNvSpPr/>
          <p:nvPr/>
        </p:nvSpPr>
        <p:spPr>
          <a:xfrm>
            <a:off x="54864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anim_1_a"/>
          <p:cNvSpPr/>
          <p:nvPr/>
        </p:nvSpPr>
        <p:spPr>
          <a:xfrm>
            <a:off x="868680" y="2715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anim_1_a"/>
          <p:cNvSpPr/>
          <p:nvPr/>
        </p:nvSpPr>
        <p:spPr>
          <a:xfrm>
            <a:off x="868680" y="2715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anim_1_a"/>
          <p:cNvSpPr/>
          <p:nvPr/>
        </p:nvSpPr>
        <p:spPr>
          <a:xfrm>
            <a:off x="1417320" y="2651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square:  p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(3 + e) = ae + 8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anim_2_c"/>
          <p:cNvSpPr/>
          <p:nvPr/>
        </p:nvSpPr>
        <p:spPr>
          <a:xfrm>
            <a:off x="868680" y="32644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anim_2_c"/>
          <p:cNvSpPr/>
          <p:nvPr/>
        </p:nvSpPr>
        <p:spPr>
          <a:xfrm>
            <a:off x="868680" y="3264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anim_2_c"/>
          <p:cNvSpPr/>
          <p:nvPr/>
        </p:nvSpPr>
        <p:spPr>
          <a:xfrm>
            <a:off x="1417320" y="32004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3p</a:t>
            </a:r>
            <a:r>
              <a:rPr b="1" lang="en-US" sz="12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 – 8 = ae – ep</a:t>
            </a:r>
            <a:r>
              <a:rPr b="1" lang="en-US" sz="12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 = e(a – p</a:t>
            </a:r>
            <a:r>
              <a:rPr b="1" lang="en-US" sz="12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250" spc="-1" strike="noStrike">
                <a:solidFill>
                  <a:srgbClr val="24332d"/>
                </a:solidFill>
                <a:latin typeface="Cambria"/>
                <a:ea typeface="Cambria"/>
              </a:rPr>
              <a:t>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anim_3_c"/>
          <p:cNvSpPr/>
          <p:nvPr/>
        </p:nvSpPr>
        <p:spPr>
          <a:xfrm>
            <a:off x="868680" y="4069080"/>
            <a:ext cx="493740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anim_4_c"/>
          <p:cNvSpPr/>
          <p:nvPr/>
        </p:nvSpPr>
        <p:spPr>
          <a:xfrm>
            <a:off x="617220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anim_4_c"/>
          <p:cNvSpPr/>
          <p:nvPr/>
        </p:nvSpPr>
        <p:spPr>
          <a:xfrm>
            <a:off x="6492240" y="271584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anim_4_c"/>
          <p:cNvSpPr/>
          <p:nvPr/>
        </p:nvSpPr>
        <p:spPr>
          <a:xfrm>
            <a:off x="6492240" y="271584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anim_4_c"/>
          <p:cNvSpPr/>
          <p:nvPr/>
        </p:nvSpPr>
        <p:spPr>
          <a:xfrm>
            <a:off x="7040880" y="265176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square:  y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(x + 1) = 3x – 2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anim_5_c"/>
          <p:cNvSpPr/>
          <p:nvPr/>
        </p:nvSpPr>
        <p:spPr>
          <a:xfrm>
            <a:off x="6492240" y="32644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anim_5_c"/>
          <p:cNvSpPr/>
          <p:nvPr/>
        </p:nvSpPr>
        <p:spPr>
          <a:xfrm>
            <a:off x="6492240" y="3264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anim_5_c"/>
          <p:cNvSpPr/>
          <p:nvPr/>
        </p:nvSpPr>
        <p:spPr>
          <a:xfrm>
            <a:off x="7040880" y="320040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x(y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350" spc="-1" strike="noStrike">
                <a:solidFill>
                  <a:srgbClr val="24332d"/>
                </a:solidFill>
                <a:latin typeface="Cambria"/>
                <a:ea typeface="Cambria"/>
              </a:rPr>
              <a:t> – 3) = – 2 – y</a:t>
            </a:r>
            <a:r>
              <a:rPr b="1" lang="en-US" sz="135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anim_6_c"/>
          <p:cNvSpPr/>
          <p:nvPr/>
        </p:nvSpPr>
        <p:spPr>
          <a:xfrm>
            <a:off x="6492240" y="4069080"/>
            <a:ext cx="493740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6" name="eq017.png" descr=""/>
          <p:cNvPicPr/>
          <p:nvPr/>
        </p:nvPicPr>
        <p:blipFill>
          <a:blip r:embed="rId2"/>
          <a:stretch/>
        </p:blipFill>
        <p:spPr>
          <a:xfrm>
            <a:off x="2895840" y="4288680"/>
            <a:ext cx="883080" cy="475200"/>
          </a:xfrm>
          <a:prstGeom prst="rect">
            <a:avLst/>
          </a:prstGeom>
          <a:ln w="0">
            <a:noFill/>
          </a:ln>
        </p:spPr>
      </p:pic>
      <p:pic>
        <p:nvPicPr>
          <p:cNvPr id="327" name="eq018.png" descr=""/>
          <p:cNvPicPr/>
          <p:nvPr/>
        </p:nvPicPr>
        <p:blipFill>
          <a:blip r:embed="rId3"/>
          <a:stretch/>
        </p:blipFill>
        <p:spPr>
          <a:xfrm>
            <a:off x="8560440" y="4288680"/>
            <a:ext cx="801000" cy="475200"/>
          </a:xfrm>
          <a:prstGeom prst="rect">
            <a:avLst/>
          </a:prstGeom>
          <a:ln w="0">
            <a:noFill/>
          </a:ln>
        </p:spPr>
      </p:pic>
      <p:pic>
        <p:nvPicPr>
          <p:cNvPr id="328" name="eq025.png" descr=""/>
          <p:cNvPicPr/>
          <p:nvPr/>
        </p:nvPicPr>
        <p:blipFill>
          <a:blip r:embed="rId4"/>
          <a:stretch/>
        </p:blipFill>
        <p:spPr>
          <a:xfrm>
            <a:off x="820080" y="1800000"/>
            <a:ext cx="3441240" cy="559800"/>
          </a:xfrm>
          <a:prstGeom prst="rect">
            <a:avLst/>
          </a:prstGeom>
          <a:ln w="0">
            <a:noFill/>
          </a:ln>
        </p:spPr>
      </p:pic>
      <p:pic>
        <p:nvPicPr>
          <p:cNvPr id="329" name="eq026.png" descr=""/>
          <p:cNvPicPr/>
          <p:nvPr/>
        </p:nvPicPr>
        <p:blipFill>
          <a:blip r:embed="rId5"/>
          <a:stretch/>
        </p:blipFill>
        <p:spPr>
          <a:xfrm>
            <a:off x="6440040" y="1800000"/>
            <a:ext cx="3559320" cy="55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WORDED FORMULAE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Real-World Rearranging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anim_1_a"/>
          <p:cNvSpPr/>
          <p:nvPr/>
        </p:nvSpPr>
        <p:spPr>
          <a:xfrm>
            <a:off x="54864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eef1e8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anim_1_a"/>
          <p:cNvSpPr/>
          <p:nvPr/>
        </p:nvSpPr>
        <p:spPr>
          <a:xfrm>
            <a:off x="868680" y="18745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c84f2f"/>
                </a:solidFill>
                <a:latin typeface="Calibri"/>
                <a:ea typeface="Calibri"/>
              </a:rPr>
              <a:t>Pythagoras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anim_1_a"/>
          <p:cNvSpPr/>
          <p:nvPr/>
        </p:nvSpPr>
        <p:spPr>
          <a:xfrm>
            <a:off x="868680" y="21945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c = √(a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 + b</a:t>
            </a:r>
            <a:r>
              <a:rPr b="1" lang="en-US" sz="1500" spc="-1" strike="noStrike" baseline="30000">
                <a:solidFill>
                  <a:srgbClr val="16261f"/>
                </a:solidFill>
                <a:latin typeface="Cambria"/>
                <a:ea typeface="Cambria"/>
              </a:rPr>
              <a:t>2</a:t>
            </a:r>
            <a:r>
              <a:rPr b="1" lang="en-US" sz="1500" spc="-1" strike="noStrike">
                <a:solidFill>
                  <a:srgbClr val="16261f"/>
                </a:solidFill>
                <a:latin typeface="Cambria"/>
                <a:ea typeface="Cambria"/>
              </a:rPr>
              <a:t>) .   Make a the subject.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anim_1_a"/>
          <p:cNvSpPr/>
          <p:nvPr/>
        </p:nvSpPr>
        <p:spPr>
          <a:xfrm>
            <a:off x="868680" y="2761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anim_1_a"/>
          <p:cNvSpPr/>
          <p:nvPr/>
        </p:nvSpPr>
        <p:spPr>
          <a:xfrm>
            <a:off x="868680" y="2761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anim_1_a"/>
          <p:cNvSpPr/>
          <p:nvPr/>
        </p:nvSpPr>
        <p:spPr>
          <a:xfrm>
            <a:off x="1417320" y="269748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square:  c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= a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+ b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anim_2_c"/>
          <p:cNvSpPr/>
          <p:nvPr/>
        </p:nvSpPr>
        <p:spPr>
          <a:xfrm>
            <a:off x="868680" y="33559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anim_2_c"/>
          <p:cNvSpPr/>
          <p:nvPr/>
        </p:nvSpPr>
        <p:spPr>
          <a:xfrm>
            <a:off x="868680" y="33559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anim_2_c"/>
          <p:cNvSpPr/>
          <p:nvPr/>
        </p:nvSpPr>
        <p:spPr>
          <a:xfrm>
            <a:off x="1417320" y="32918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a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= c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– b</a:t>
            </a:r>
            <a:r>
              <a:rPr b="1" lang="en-US" sz="14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400" spc="-1" strike="noStrike">
                <a:solidFill>
                  <a:srgbClr val="24332d"/>
                </a:solidFill>
                <a:latin typeface="Cambria"/>
                <a:ea typeface="Cambria"/>
              </a:rPr>
              <a:t>  →  square-root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anim_3_c"/>
          <p:cNvSpPr/>
          <p:nvPr/>
        </p:nvSpPr>
        <p:spPr>
          <a:xfrm>
            <a:off x="868680" y="4023360"/>
            <a:ext cx="4571640" cy="639720"/>
          </a:xfrm>
          <a:prstGeom prst="roundRect">
            <a:avLst>
              <a:gd name="adj" fmla="val 17143"/>
            </a:avLst>
          </a:prstGeom>
          <a:solidFill>
            <a:srgbClr val="16261f"/>
          </a:solidFill>
          <a:ln w="0">
            <a:noFill/>
          </a:ln>
          <a:effectLst>
            <a:outerShdw algn="bl" blurRad="1015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anim_4_c"/>
          <p:cNvSpPr/>
          <p:nvPr/>
        </p:nvSpPr>
        <p:spPr>
          <a:xfrm>
            <a:off x="6172200" y="1737360"/>
            <a:ext cx="5467680" cy="4023000"/>
          </a:xfrm>
          <a:prstGeom prst="roundRect">
            <a:avLst>
              <a:gd name="adj" fmla="val 2273"/>
            </a:avLst>
          </a:prstGeom>
          <a:solidFill>
            <a:srgbClr val="fbf3dd"/>
          </a:solidFill>
          <a:ln w="0">
            <a:noFill/>
          </a:ln>
          <a:effectLst>
            <a:outerShdw algn="bl" blurRad="101520" dir="5400000" dist="25560" rotWithShape="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anim_4_c"/>
          <p:cNvSpPr/>
          <p:nvPr/>
        </p:nvSpPr>
        <p:spPr>
          <a:xfrm>
            <a:off x="6492240" y="187452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c84f2f"/>
                </a:solidFill>
                <a:latin typeface="Calibri"/>
                <a:ea typeface="Calibri"/>
              </a:rPr>
              <a:t>Pendulum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anim_4_c"/>
          <p:cNvSpPr/>
          <p:nvPr/>
        </p:nvSpPr>
        <p:spPr>
          <a:xfrm>
            <a:off x="6492240" y="276156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anim_4_c"/>
          <p:cNvSpPr/>
          <p:nvPr/>
        </p:nvSpPr>
        <p:spPr>
          <a:xfrm>
            <a:off x="6492240" y="27615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anim_5_c"/>
          <p:cNvSpPr/>
          <p:nvPr/>
        </p:nvSpPr>
        <p:spPr>
          <a:xfrm>
            <a:off x="6492240" y="33559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anim_5_c"/>
          <p:cNvSpPr/>
          <p:nvPr/>
        </p:nvSpPr>
        <p:spPr>
          <a:xfrm>
            <a:off x="6492240" y="33559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anim_5_c"/>
          <p:cNvSpPr/>
          <p:nvPr/>
        </p:nvSpPr>
        <p:spPr>
          <a:xfrm>
            <a:off x="7040880" y="3291840"/>
            <a:ext cx="4297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4332d"/>
                </a:solidFill>
                <a:latin typeface="Calibri"/>
                <a:ea typeface="Calibri"/>
              </a:rPr>
              <a:t>multiply by 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anim_6_c"/>
          <p:cNvSpPr/>
          <p:nvPr/>
        </p:nvSpPr>
        <p:spPr>
          <a:xfrm>
            <a:off x="6492240" y="4023360"/>
            <a:ext cx="4845960" cy="9140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52" name="eq019.png" descr=""/>
          <p:cNvPicPr/>
          <p:nvPr/>
        </p:nvPicPr>
        <p:blipFill>
          <a:blip r:embed="rId2"/>
          <a:stretch/>
        </p:blipFill>
        <p:spPr>
          <a:xfrm>
            <a:off x="2475720" y="4177080"/>
            <a:ext cx="1357560" cy="332640"/>
          </a:xfrm>
          <a:prstGeom prst="rect">
            <a:avLst/>
          </a:prstGeom>
          <a:ln w="0">
            <a:noFill/>
          </a:ln>
        </p:spPr>
      </p:pic>
      <p:pic>
        <p:nvPicPr>
          <p:cNvPr id="353" name="eq020.png" descr=""/>
          <p:cNvPicPr/>
          <p:nvPr/>
        </p:nvPicPr>
        <p:blipFill>
          <a:blip r:embed="rId3"/>
          <a:stretch/>
        </p:blipFill>
        <p:spPr>
          <a:xfrm>
            <a:off x="8605800" y="4242960"/>
            <a:ext cx="619200" cy="475200"/>
          </a:xfrm>
          <a:prstGeom prst="rect">
            <a:avLst/>
          </a:prstGeom>
          <a:ln w="0">
            <a:noFill/>
          </a:ln>
        </p:spPr>
      </p:pic>
      <p:pic>
        <p:nvPicPr>
          <p:cNvPr id="354" name="eq037.png" descr=""/>
          <p:cNvPicPr/>
          <p:nvPr/>
        </p:nvPicPr>
        <p:blipFill>
          <a:blip r:embed="rId4"/>
          <a:stretch/>
        </p:blipFill>
        <p:spPr>
          <a:xfrm>
            <a:off x="6440040" y="2080080"/>
            <a:ext cx="2728080" cy="429480"/>
          </a:xfrm>
          <a:prstGeom prst="rect">
            <a:avLst/>
          </a:prstGeom>
          <a:ln w="0">
            <a:noFill/>
          </a:ln>
        </p:spPr>
      </p:pic>
      <p:pic>
        <p:nvPicPr>
          <p:cNvPr id="355" name="eq038.png" descr=""/>
          <p:cNvPicPr/>
          <p:nvPr/>
        </p:nvPicPr>
        <p:blipFill>
          <a:blip r:embed="rId5"/>
          <a:stretch/>
        </p:blipFill>
        <p:spPr>
          <a:xfrm>
            <a:off x="6990120" y="2649960"/>
            <a:ext cx="3708000" cy="42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Linear, Powers &amp; Roots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anim_1_a"/>
          <p:cNvSpPr/>
          <p:nvPr/>
        </p:nvSpPr>
        <p:spPr>
          <a:xfrm>
            <a:off x="548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anim_1_a"/>
          <p:cNvSpPr/>
          <p:nvPr/>
        </p:nvSpPr>
        <p:spPr>
          <a:xfrm>
            <a:off x="786240" y="1892880"/>
            <a:ext cx="22856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anim_1_a"/>
          <p:cNvSpPr/>
          <p:nvPr/>
        </p:nvSpPr>
        <p:spPr>
          <a:xfrm>
            <a:off x="786240" y="189288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MAKE a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anim_1_a"/>
          <p:cNvSpPr/>
          <p:nvPr/>
        </p:nvSpPr>
        <p:spPr>
          <a:xfrm>
            <a:off x="841320" y="2313360"/>
            <a:ext cx="29714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d = g + 2ac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anim_1_a"/>
          <p:cNvSpPr/>
          <p:nvPr/>
        </p:nvSpPr>
        <p:spPr>
          <a:xfrm>
            <a:off x="426096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anim_1_a"/>
          <p:cNvSpPr/>
          <p:nvPr/>
        </p:nvSpPr>
        <p:spPr>
          <a:xfrm>
            <a:off x="4498920" y="1892880"/>
            <a:ext cx="22856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anim_1_a"/>
          <p:cNvSpPr/>
          <p:nvPr/>
        </p:nvSpPr>
        <p:spPr>
          <a:xfrm>
            <a:off x="4498920" y="189288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MAKE a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anim_1_a"/>
          <p:cNvSpPr/>
          <p:nvPr/>
        </p:nvSpPr>
        <p:spPr>
          <a:xfrm>
            <a:off x="4553640" y="2313360"/>
            <a:ext cx="29714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M = ac – bd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anim_1_a"/>
          <p:cNvSpPr/>
          <p:nvPr/>
        </p:nvSpPr>
        <p:spPr>
          <a:xfrm>
            <a:off x="7973640" y="169164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anim_1_a"/>
          <p:cNvSpPr/>
          <p:nvPr/>
        </p:nvSpPr>
        <p:spPr>
          <a:xfrm>
            <a:off x="8211240" y="1892880"/>
            <a:ext cx="22856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anim_1_a"/>
          <p:cNvSpPr/>
          <p:nvPr/>
        </p:nvSpPr>
        <p:spPr>
          <a:xfrm>
            <a:off x="8211240" y="189288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MAKE c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anim_2_c"/>
          <p:cNvSpPr/>
          <p:nvPr/>
        </p:nvSpPr>
        <p:spPr>
          <a:xfrm>
            <a:off x="548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anim_2_c"/>
          <p:cNvSpPr/>
          <p:nvPr/>
        </p:nvSpPr>
        <p:spPr>
          <a:xfrm>
            <a:off x="786240" y="3996000"/>
            <a:ext cx="22856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anim_2_c"/>
          <p:cNvSpPr/>
          <p:nvPr/>
        </p:nvSpPr>
        <p:spPr>
          <a:xfrm>
            <a:off x="786240" y="39960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MAKE 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anim_2_c"/>
          <p:cNvSpPr/>
          <p:nvPr/>
        </p:nvSpPr>
        <p:spPr>
          <a:xfrm>
            <a:off x="841320" y="4416480"/>
            <a:ext cx="29714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c = t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3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– 8v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anim_2_c"/>
          <p:cNvSpPr/>
          <p:nvPr/>
        </p:nvSpPr>
        <p:spPr>
          <a:xfrm>
            <a:off x="426096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anim_2_c"/>
          <p:cNvSpPr/>
          <p:nvPr/>
        </p:nvSpPr>
        <p:spPr>
          <a:xfrm>
            <a:off x="4498920" y="3996000"/>
            <a:ext cx="22856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anim_2_c"/>
          <p:cNvSpPr/>
          <p:nvPr/>
        </p:nvSpPr>
        <p:spPr>
          <a:xfrm>
            <a:off x="4498920" y="39960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MAKE b  (b &gt; 0)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anim_2_c"/>
          <p:cNvSpPr/>
          <p:nvPr/>
        </p:nvSpPr>
        <p:spPr>
          <a:xfrm>
            <a:off x="4553640" y="4416480"/>
            <a:ext cx="29714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P = ½ ab</a:t>
            </a:r>
            <a:r>
              <a:rPr b="1" lang="en-US" sz="1700" spc="-1" strike="noStrike" baseline="30000">
                <a:solidFill>
                  <a:srgbClr val="24332d"/>
                </a:solidFill>
                <a:latin typeface="Cambria"/>
                <a:ea typeface="Cambria"/>
              </a:rPr>
              <a:t>2</a:t>
            </a: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 + c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anim_2_c"/>
          <p:cNvSpPr/>
          <p:nvPr/>
        </p:nvSpPr>
        <p:spPr>
          <a:xfrm>
            <a:off x="7973640" y="3794760"/>
            <a:ext cx="3520080" cy="18741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anim_2_c"/>
          <p:cNvSpPr/>
          <p:nvPr/>
        </p:nvSpPr>
        <p:spPr>
          <a:xfrm>
            <a:off x="8211240" y="3996000"/>
            <a:ext cx="22856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anim_2_c"/>
          <p:cNvSpPr/>
          <p:nvPr/>
        </p:nvSpPr>
        <p:spPr>
          <a:xfrm>
            <a:off x="8211240" y="39960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49" strike="noStrike">
                <a:solidFill>
                  <a:srgbClr val="ffffff"/>
                </a:solidFill>
                <a:latin typeface="Calibri"/>
                <a:ea typeface="Calibri"/>
              </a:rPr>
              <a:t>MAKE f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anim_2_c"/>
          <p:cNvSpPr/>
          <p:nvPr/>
        </p:nvSpPr>
        <p:spPr>
          <a:xfrm>
            <a:off x="8266320" y="4416480"/>
            <a:ext cx="2971440" cy="11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4332d"/>
                </a:solidFill>
                <a:latin typeface="Cambria"/>
                <a:ea typeface="Cambria"/>
              </a:rPr>
              <a:t>m = √(⅓ ef)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3" name="eq039.png" descr=""/>
          <p:cNvPicPr/>
          <p:nvPr/>
        </p:nvPicPr>
        <p:blipFill>
          <a:blip r:embed="rId2"/>
          <a:stretch/>
        </p:blipFill>
        <p:spPr>
          <a:xfrm>
            <a:off x="8200080" y="2210040"/>
            <a:ext cx="1238400" cy="429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Algebraic Fractions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anim_1_a"/>
          <p:cNvSpPr/>
          <p:nvPr/>
        </p:nvSpPr>
        <p:spPr>
          <a:xfrm>
            <a:off x="548640" y="1783080"/>
            <a:ext cx="3520080" cy="329148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anim_1_a"/>
          <p:cNvSpPr/>
          <p:nvPr/>
        </p:nvSpPr>
        <p:spPr>
          <a:xfrm>
            <a:off x="786240" y="1993320"/>
            <a:ext cx="18284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anim_1_a"/>
          <p:cNvSpPr/>
          <p:nvPr/>
        </p:nvSpPr>
        <p:spPr>
          <a:xfrm>
            <a:off x="786240" y="199332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MAKE 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anim_1_a"/>
          <p:cNvSpPr/>
          <p:nvPr/>
        </p:nvSpPr>
        <p:spPr>
          <a:xfrm>
            <a:off x="2286000" y="319140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x + 3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anim_2_c"/>
          <p:cNvSpPr/>
          <p:nvPr/>
        </p:nvSpPr>
        <p:spPr>
          <a:xfrm>
            <a:off x="4260960" y="1783080"/>
            <a:ext cx="3520080" cy="329148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anim_2_c"/>
          <p:cNvSpPr/>
          <p:nvPr/>
        </p:nvSpPr>
        <p:spPr>
          <a:xfrm>
            <a:off x="4498920" y="1993320"/>
            <a:ext cx="18284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anim_2_c"/>
          <p:cNvSpPr/>
          <p:nvPr/>
        </p:nvSpPr>
        <p:spPr>
          <a:xfrm>
            <a:off x="4498920" y="199332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MAKE f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anim_2_c"/>
          <p:cNvSpPr/>
          <p:nvPr/>
        </p:nvSpPr>
        <p:spPr>
          <a:xfrm>
            <a:off x="6035040" y="3191400"/>
            <a:ext cx="12798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8 – f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anim_3_c"/>
          <p:cNvSpPr/>
          <p:nvPr/>
        </p:nvSpPr>
        <p:spPr>
          <a:xfrm>
            <a:off x="7973640" y="1783080"/>
            <a:ext cx="3666240" cy="329148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anim_3_c"/>
          <p:cNvSpPr/>
          <p:nvPr/>
        </p:nvSpPr>
        <p:spPr>
          <a:xfrm>
            <a:off x="8211240" y="1993320"/>
            <a:ext cx="18284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anim_3_c"/>
          <p:cNvSpPr/>
          <p:nvPr/>
        </p:nvSpPr>
        <p:spPr>
          <a:xfrm>
            <a:off x="8211240" y="1993320"/>
            <a:ext cx="1828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MAKE 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anim_3_c"/>
          <p:cNvSpPr/>
          <p:nvPr/>
        </p:nvSpPr>
        <p:spPr>
          <a:xfrm>
            <a:off x="10012680" y="3191400"/>
            <a:ext cx="13712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4332d"/>
                </a:solidFill>
                <a:latin typeface="Cambria"/>
                <a:ea typeface="Cambria"/>
              </a:rPr>
              <a:t>2m – 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0" name="eq027.png" descr=""/>
          <p:cNvPicPr/>
          <p:nvPr/>
        </p:nvPicPr>
        <p:blipFill>
          <a:blip r:embed="rId2"/>
          <a:stretch/>
        </p:blipFill>
        <p:spPr>
          <a:xfrm>
            <a:off x="799920" y="2734920"/>
            <a:ext cx="1052640" cy="469800"/>
          </a:xfrm>
          <a:prstGeom prst="rect">
            <a:avLst/>
          </a:prstGeom>
          <a:ln w="0">
            <a:noFill/>
          </a:ln>
        </p:spPr>
      </p:pic>
      <p:pic>
        <p:nvPicPr>
          <p:cNvPr id="401" name="eq028.png" descr=""/>
          <p:cNvPicPr/>
          <p:nvPr/>
        </p:nvPicPr>
        <p:blipFill>
          <a:blip r:embed="rId3"/>
          <a:stretch/>
        </p:blipFill>
        <p:spPr>
          <a:xfrm>
            <a:off x="4500000" y="2734920"/>
            <a:ext cx="918360" cy="469800"/>
          </a:xfrm>
          <a:prstGeom prst="rect">
            <a:avLst/>
          </a:prstGeom>
          <a:ln w="0">
            <a:noFill/>
          </a:ln>
        </p:spPr>
      </p:pic>
      <p:pic>
        <p:nvPicPr>
          <p:cNvPr id="402" name="eq029.png" descr=""/>
          <p:cNvPicPr/>
          <p:nvPr/>
        </p:nvPicPr>
        <p:blipFill>
          <a:blip r:embed="rId4"/>
          <a:stretch/>
        </p:blipFill>
        <p:spPr>
          <a:xfrm>
            <a:off x="8200080" y="2734920"/>
            <a:ext cx="1183320" cy="46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548640" y="420480"/>
            <a:ext cx="548280" cy="5482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1"/>
          <p:cNvSpPr/>
          <p:nvPr/>
        </p:nvSpPr>
        <p:spPr>
          <a:xfrm>
            <a:off x="548640" y="402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2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2"/>
          <p:cNvSpPr/>
          <p:nvPr/>
        </p:nvSpPr>
        <p:spPr>
          <a:xfrm>
            <a:off x="1243440" y="4204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199" strike="noStrike">
                <a:solidFill>
                  <a:srgbClr val="c84f2f"/>
                </a:solidFill>
                <a:latin typeface="Calibri"/>
                <a:ea typeface="Calibri"/>
              </a:rPr>
              <a:t>PAST PAPER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3"/>
          <p:cNvSpPr/>
          <p:nvPr/>
        </p:nvSpPr>
        <p:spPr>
          <a:xfrm>
            <a:off x="1225440" y="658440"/>
            <a:ext cx="10515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16261f"/>
                </a:solidFill>
                <a:latin typeface="Cambria"/>
                <a:ea typeface="Cambria"/>
              </a:rPr>
              <a:t>Fractions with Powers &amp; Roots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anim_1_a"/>
          <p:cNvSpPr/>
          <p:nvPr/>
        </p:nvSpPr>
        <p:spPr>
          <a:xfrm>
            <a:off x="548640" y="1783080"/>
            <a:ext cx="5467680" cy="1782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anim_1_a"/>
          <p:cNvSpPr/>
          <p:nvPr/>
        </p:nvSpPr>
        <p:spPr>
          <a:xfrm>
            <a:off x="786240" y="1993320"/>
            <a:ext cx="274284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anim_1_a"/>
          <p:cNvSpPr/>
          <p:nvPr/>
        </p:nvSpPr>
        <p:spPr>
          <a:xfrm>
            <a:off x="786240" y="1993320"/>
            <a:ext cx="2742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  <a:ea typeface="Calibri"/>
              </a:rPr>
              <a:t>MAKE n  (n &gt; 0)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anim_2_c"/>
          <p:cNvSpPr/>
          <p:nvPr/>
        </p:nvSpPr>
        <p:spPr>
          <a:xfrm>
            <a:off x="6172200" y="1783080"/>
            <a:ext cx="5467680" cy="17827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anim_2_c"/>
          <p:cNvSpPr/>
          <p:nvPr/>
        </p:nvSpPr>
        <p:spPr>
          <a:xfrm>
            <a:off x="6409800" y="199332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anim_2_c"/>
          <p:cNvSpPr/>
          <p:nvPr/>
        </p:nvSpPr>
        <p:spPr>
          <a:xfrm>
            <a:off x="6409800" y="199332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MAKE 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anim_3_c"/>
          <p:cNvSpPr/>
          <p:nvPr/>
        </p:nvSpPr>
        <p:spPr>
          <a:xfrm>
            <a:off x="548640" y="3749040"/>
            <a:ext cx="5467680" cy="2011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anim_3_c"/>
          <p:cNvSpPr/>
          <p:nvPr/>
        </p:nvSpPr>
        <p:spPr>
          <a:xfrm>
            <a:off x="786240" y="39592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anim_3_c"/>
          <p:cNvSpPr/>
          <p:nvPr/>
        </p:nvSpPr>
        <p:spPr>
          <a:xfrm>
            <a:off x="786240" y="39592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MAKE 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anim_4_c"/>
          <p:cNvSpPr/>
          <p:nvPr/>
        </p:nvSpPr>
        <p:spPr>
          <a:xfrm>
            <a:off x="6172200" y="3749040"/>
            <a:ext cx="5467680" cy="2011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9d6c6"/>
            </a:solidFill>
            <a:round/>
          </a:ln>
          <a:effectLst>
            <a:outerShdw algn="bl"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anim_4_c"/>
          <p:cNvSpPr/>
          <p:nvPr/>
        </p:nvSpPr>
        <p:spPr>
          <a:xfrm>
            <a:off x="6409800" y="3959280"/>
            <a:ext cx="2011320" cy="365400"/>
          </a:xfrm>
          <a:prstGeom prst="roundRect">
            <a:avLst>
              <a:gd name="adj" fmla="val 50000"/>
            </a:avLst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anim_4_c"/>
          <p:cNvSpPr/>
          <p:nvPr/>
        </p:nvSpPr>
        <p:spPr>
          <a:xfrm>
            <a:off x="6409800" y="3959280"/>
            <a:ext cx="2011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MAKE 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9" name="eq030.png" descr=""/>
          <p:cNvPicPr/>
          <p:nvPr/>
        </p:nvPicPr>
        <p:blipFill>
          <a:blip r:embed="rId2"/>
          <a:stretch/>
        </p:blipFill>
        <p:spPr>
          <a:xfrm>
            <a:off x="799920" y="2660040"/>
            <a:ext cx="904320" cy="469800"/>
          </a:xfrm>
          <a:prstGeom prst="rect">
            <a:avLst/>
          </a:prstGeom>
          <a:ln w="0">
            <a:noFill/>
          </a:ln>
        </p:spPr>
      </p:pic>
      <p:pic>
        <p:nvPicPr>
          <p:cNvPr id="420" name="eq031.png" descr=""/>
          <p:cNvPicPr/>
          <p:nvPr/>
        </p:nvPicPr>
        <p:blipFill>
          <a:blip r:embed="rId3"/>
          <a:stretch/>
        </p:blipFill>
        <p:spPr>
          <a:xfrm>
            <a:off x="6419880" y="2660040"/>
            <a:ext cx="1077120" cy="469800"/>
          </a:xfrm>
          <a:prstGeom prst="rect">
            <a:avLst/>
          </a:prstGeom>
          <a:ln w="0">
            <a:noFill/>
          </a:ln>
        </p:spPr>
      </p:pic>
      <p:pic>
        <p:nvPicPr>
          <p:cNvPr id="421" name="eq032.png" descr=""/>
          <p:cNvPicPr/>
          <p:nvPr/>
        </p:nvPicPr>
        <p:blipFill>
          <a:blip r:embed="rId4"/>
          <a:stretch/>
        </p:blipFill>
        <p:spPr>
          <a:xfrm>
            <a:off x="799920" y="4600080"/>
            <a:ext cx="1314720" cy="559800"/>
          </a:xfrm>
          <a:prstGeom prst="rect">
            <a:avLst/>
          </a:prstGeom>
          <a:ln w="0">
            <a:noFill/>
          </a:ln>
        </p:spPr>
      </p:pic>
      <p:pic>
        <p:nvPicPr>
          <p:cNvPr id="422" name="eq033.png" descr=""/>
          <p:cNvPicPr/>
          <p:nvPr/>
        </p:nvPicPr>
        <p:blipFill>
          <a:blip r:embed="rId5"/>
          <a:stretch/>
        </p:blipFill>
        <p:spPr>
          <a:xfrm>
            <a:off x="6419880" y="4600080"/>
            <a:ext cx="1347480" cy="55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Text 0"/>
          <p:cNvSpPr/>
          <p:nvPr/>
        </p:nvSpPr>
        <p:spPr>
          <a:xfrm>
            <a:off x="9144000" y="3108960"/>
            <a:ext cx="27428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6000" spc="-1" strike="noStrike">
                <a:solidFill>
                  <a:srgbClr val="283731"/>
                </a:solidFill>
                <a:latin typeface="Cambria"/>
                <a:ea typeface="Cambria"/>
              </a:rPr>
              <a:t>y = ?</a:t>
            </a:r>
            <a:endParaRPr b="0" lang="en-US" sz="6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Shape 1"/>
          <p:cNvSpPr/>
          <p:nvPr/>
        </p:nvSpPr>
        <p:spPr>
          <a:xfrm>
            <a:off x="731520" y="640080"/>
            <a:ext cx="639720" cy="63972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 w="0">
            <a:noFill/>
          </a:ln>
          <a:effectLst>
            <a:outerShdw algn="bl" blurRad="88920" dir="5400000" dist="25560" rotWithShape="0">
              <a:srgbClr val="000000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2"/>
          <p:cNvSpPr/>
          <p:nvPr/>
        </p:nvSpPr>
        <p:spPr>
          <a:xfrm>
            <a:off x="731520" y="62172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4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2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3"/>
          <p:cNvSpPr/>
          <p:nvPr/>
        </p:nvSpPr>
        <p:spPr>
          <a:xfrm>
            <a:off x="1517760" y="67680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48" strike="noStrike">
                <a:solidFill>
                  <a:srgbClr val="e0ac2b"/>
                </a:solidFill>
                <a:latin typeface="Calibri"/>
                <a:ea typeface="Calibri"/>
              </a:rPr>
              <a:t>Zπ MATHS HUB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4"/>
          <p:cNvSpPr/>
          <p:nvPr/>
        </p:nvSpPr>
        <p:spPr>
          <a:xfrm>
            <a:off x="731520" y="12801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e0ac2b"/>
                </a:solidFill>
                <a:latin typeface="Cambria"/>
                <a:ea typeface="Cambria"/>
              </a:rPr>
              <a:t>Recap &amp; Resources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anim_1_a"/>
          <p:cNvSpPr/>
          <p:nvPr/>
        </p:nvSpPr>
        <p:spPr>
          <a:xfrm>
            <a:off x="73152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anim_1_a"/>
          <p:cNvSpPr/>
          <p:nvPr/>
        </p:nvSpPr>
        <p:spPr>
          <a:xfrm>
            <a:off x="100584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Linear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anim_1_a"/>
          <p:cNvSpPr/>
          <p:nvPr/>
        </p:nvSpPr>
        <p:spPr>
          <a:xfrm>
            <a:off x="100584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inverse operations, both sides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anim_1_a"/>
          <p:cNvSpPr/>
          <p:nvPr/>
        </p:nvSpPr>
        <p:spPr>
          <a:xfrm>
            <a:off x="6172200" y="205740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anim_1_a"/>
          <p:cNvSpPr/>
          <p:nvPr/>
        </p:nvSpPr>
        <p:spPr>
          <a:xfrm>
            <a:off x="6446520" y="216720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Subject twice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anim_1_a"/>
          <p:cNvSpPr/>
          <p:nvPr/>
        </p:nvSpPr>
        <p:spPr>
          <a:xfrm>
            <a:off x="6446520" y="247788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collect · factorise · divide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anim_2_c"/>
          <p:cNvSpPr/>
          <p:nvPr/>
        </p:nvSpPr>
        <p:spPr>
          <a:xfrm>
            <a:off x="73152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anim_2_c"/>
          <p:cNvSpPr/>
          <p:nvPr/>
        </p:nvSpPr>
        <p:spPr>
          <a:xfrm>
            <a:off x="100584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Powers &amp; roots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anim_2_c"/>
          <p:cNvSpPr/>
          <p:nvPr/>
        </p:nvSpPr>
        <p:spPr>
          <a:xfrm>
            <a:off x="100584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isolate the power, take the root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anim_2_c"/>
          <p:cNvSpPr/>
          <p:nvPr/>
        </p:nvSpPr>
        <p:spPr>
          <a:xfrm>
            <a:off x="6172200" y="301752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anim_2_c"/>
          <p:cNvSpPr/>
          <p:nvPr/>
        </p:nvSpPr>
        <p:spPr>
          <a:xfrm>
            <a:off x="6446520" y="312732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Completing the square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anim_2_c"/>
          <p:cNvSpPr/>
          <p:nvPr/>
        </p:nvSpPr>
        <p:spPr>
          <a:xfrm>
            <a:off x="6446520" y="343800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when x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anim_3_c"/>
          <p:cNvSpPr/>
          <p:nvPr/>
        </p:nvSpPr>
        <p:spPr>
          <a:xfrm>
            <a:off x="73152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anim_3_c"/>
          <p:cNvSpPr/>
          <p:nvPr/>
        </p:nvSpPr>
        <p:spPr>
          <a:xfrm>
            <a:off x="100584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Algebraic fractions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anim_3_c"/>
          <p:cNvSpPr/>
          <p:nvPr/>
        </p:nvSpPr>
        <p:spPr>
          <a:xfrm>
            <a:off x="100584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clear denominators, then factorise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anim_3_c"/>
          <p:cNvSpPr/>
          <p:nvPr/>
        </p:nvSpPr>
        <p:spPr>
          <a:xfrm>
            <a:off x="6172200" y="3977640"/>
            <a:ext cx="5440320" cy="840960"/>
          </a:xfrm>
          <a:prstGeom prst="roundRect">
            <a:avLst>
              <a:gd name="adj" fmla="val 10870"/>
            </a:avLst>
          </a:prstGeom>
          <a:solidFill>
            <a:srgbClr val="283731"/>
          </a:solidFill>
          <a:ln w="0">
            <a:noFill/>
          </a:ln>
          <a:effectLst>
            <a:outerShdw algn="bl" blurRad="114480" dir="5400000" dist="38160" rotWithShape="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anim_3_c"/>
          <p:cNvSpPr/>
          <p:nvPr/>
        </p:nvSpPr>
        <p:spPr>
          <a:xfrm>
            <a:off x="6446520" y="4087440"/>
            <a:ext cx="4937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e0ac2b"/>
                </a:solidFill>
                <a:latin typeface="Cambria"/>
                <a:ea typeface="Cambria"/>
              </a:rPr>
              <a:t>Fractions with powers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anim_3_c"/>
          <p:cNvSpPr/>
          <p:nvPr/>
        </p:nvSpPr>
        <p:spPr>
          <a:xfrm>
            <a:off x="6446520" y="4398120"/>
            <a:ext cx="4937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debdd"/>
                </a:solidFill>
                <a:latin typeface="Calibri"/>
                <a:ea typeface="Calibri"/>
              </a:rPr>
              <a:t>square / root, then rearrange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anim_3_c"/>
          <p:cNvSpPr/>
          <p:nvPr/>
        </p:nvSpPr>
        <p:spPr>
          <a:xfrm>
            <a:off x="731520" y="5074920"/>
            <a:ext cx="10926720" cy="868320"/>
          </a:xfrm>
          <a:prstGeom prst="roundRect">
            <a:avLst>
              <a:gd name="adj" fmla="val 12632"/>
            </a:avLst>
          </a:prstGeom>
          <a:solidFill>
            <a:srgbClr val="16261f"/>
          </a:solidFill>
          <a:ln w="15875">
            <a:solidFill>
              <a:srgbClr val="28373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anim_3_c"/>
          <p:cNvSpPr/>
          <p:nvPr/>
        </p:nvSpPr>
        <p:spPr>
          <a:xfrm>
            <a:off x="1051560" y="5139000"/>
            <a:ext cx="10423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 u="sng">
                <a:solidFill>
                  <a:srgbClr val="e0ac2b"/>
                </a:solidFill>
                <a:uFillTx/>
                <a:latin typeface="Calibri"/>
                <a:ea typeface="Calibri"/>
              </a:rPr>
              <a:t>Practice:  </a:t>
            </a:r>
            <a:r>
              <a:rPr b="0" lang="en-US" sz="1250" spc="-1" strike="noStrike" u="sng">
                <a:solidFill>
                  <a:srgbClr val="edebdd"/>
                </a:solidFill>
                <a:uFillTx/>
                <a:latin typeface="Calibri"/>
                <a:ea typeface="Calibri"/>
              </a:rPr>
              <a:t>wordwall.net — rearranging formulae        ✉ zahraa.sheikhali@outlook.com  ·  ☎ 66613748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anim_3_c"/>
          <p:cNvSpPr/>
          <p:nvPr/>
        </p:nvSpPr>
        <p:spPr>
          <a:xfrm>
            <a:off x="1051560" y="5523120"/>
            <a:ext cx="100580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a7269"/>
                </a:solidFill>
                <a:latin typeface="Calibri"/>
                <a:ea typeface="Calibri"/>
              </a:rPr>
              <a:t>Ms. Zahra Sheikh Ali  ·  Pearson Edexcel IGCSE (9–1) Mathematics A  ·  Higher Tier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7" dur="indefinite" restart="never" nodeType="tmRoot">
          <p:childTnLst>
            <p:seq>
              <p:cTn id="278" dur="indefinite" nodeType="mainSeq">
                <p:childTnLst>
                  <p:par>
                    <p:cTn id="279" fill="hold">
                      <p:stCondLst>
                        <p:cond delay="0"/>
                      </p:stCondLst>
                      <p:childTnLst>
                        <p:par>
                          <p:cTn id="280" fill="hold">
                            <p:stCondLst>
                              <p:cond delay="0"/>
                            </p:stCondLst>
                            <p:childTnLst>
                              <p:par>
                                <p:cTn id="281" nodeType="after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3" dur="5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6" dur="5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89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2" dur="5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5" dur="5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298" dur="5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3" dur="500"/>
                                        <p:tgtEl>
                                          <p:spTgt spid="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6" dur="5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09" dur="500"/>
                                        <p:tgtEl>
                                          <p:spTgt spid="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2" dur="500"/>
                                        <p:tgtEl>
                                          <p:spTgt spid="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5" dur="500"/>
                                        <p:tgtEl>
                                          <p:spTgt spid="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18" dur="5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nodeType="click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3" dur="500"/>
                                        <p:tgtEl>
                                          <p:spTgt spid="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6" dur="500"/>
                                        <p:tgtEl>
                                          <p:spTgt spid="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29" dur="5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2" dur="5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5" dur="5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38" dur="5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1" dur="5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4" dur="500"/>
                                        <p:tgtEl>
                                          <p:spTgt spid="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5" nodeType="withEffect" fill="hold" presetClass="entr" presetID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347" dur="5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1263</Words>
  <Paragraphs>260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2026-06-28T11:21:33Z</dcterms:created>
  <dc:creator>Zahra Sheikh Ali</dc:creator>
  <dc:description/>
  <dc:language>en-US</dc:language>
  <cp:lastModifiedBy>zahraa sheik ali</cp:lastModifiedBy>
  <dcterms:modified xsi:type="dcterms:W3CDTF">2026-06-29T12:18:37Z</dcterms:modified>
  <cp:revision>2</cp:revision>
  <dc:subject>PptxGenJS Presentation</dc:subject>
  <dc:title>Expanding Brackets — IGCSE Mathematics (Higher Tier)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Custom</vt:lpwstr>
  </property>
  <property fmtid="{D5CDD505-2E9C-101B-9397-08002B2CF9AE}" pid="4" name="Slides">
    <vt:r8>18</vt:r8>
  </property>
</Properties>
</file>