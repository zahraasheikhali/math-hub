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3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1: x=y–5. 2: a=b/3. 3: x=(y–7)/2. 4: t=(V–u)/a. 5: s=(m–5n)/5 = m/5 – n. 6: b=a–2.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d=g+2ac: a=(d–g)/(2c).  M=ac–bd: a=(M+bd)/c.  A=c/y–5z: c=y(A+5z).  c=t³–8v: t=∛(c+8v).  P=½ab²+c: b=√(2(P–c)/a).  m=√(⅓ef): f=3m²/e.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y=(5–2x)/(x+3): x=(5–3y)/(y+2).  w=(2f+3)/(8–f): f=(8w–3)/(w+2).  p³=(x+m)/(2m–y): m=(x+yp³)/(2p³–1).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y=(n²+d)/n²: n=√(d/(y–1)).  a²=(4d+e²)/r²: e=√(a²r²–4d).  p=√((ae+8)/(3+e)): e=(8–3p²)/(p²–a).  y=√((3x–2)/(x+1)): x=(2+y²)/(3–y²).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621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496" dirty="0"/>
          </a:p>
        </p:txBody>
      </p:sp>
      <p:sp>
        <p:nvSpPr>
          <p:cNvPr id="5" name="Text 3"/>
          <p:cNvSpPr/>
          <p:nvPr/>
        </p:nvSpPr>
        <p:spPr>
          <a:xfrm>
            <a:off x="162763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27632" y="950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7" name="anim_1_a"/>
          <p:cNvSpPr/>
          <p:nvPr/>
        </p:nvSpPr>
        <p:spPr>
          <a:xfrm>
            <a:off x="731520" y="1828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Rearranging Formulae</a:t>
            </a:r>
            <a:endParaRPr lang="en-US" sz="4400" dirty="0"/>
          </a:p>
        </p:txBody>
      </p:sp>
      <p:sp>
        <p:nvSpPr>
          <p:cNvPr id="8" name="anim_2_a"/>
          <p:cNvSpPr/>
          <p:nvPr/>
        </p:nvSpPr>
        <p:spPr>
          <a:xfrm>
            <a:off x="758952" y="2926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the Subject — Linear · Powers · Completing the Square · Algebraic Fractions</a:t>
            </a:r>
            <a:endParaRPr lang="en-US" sz="1500" dirty="0"/>
          </a:p>
        </p:txBody>
      </p:sp>
      <p:sp>
        <p:nvSpPr>
          <p:cNvPr id="9" name="anim_3_a"/>
          <p:cNvSpPr/>
          <p:nvPr/>
        </p:nvSpPr>
        <p:spPr>
          <a:xfrm>
            <a:off x="731520" y="4114800"/>
            <a:ext cx="6858000" cy="1627632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anim_3_a"/>
          <p:cNvSpPr/>
          <p:nvPr/>
        </p:nvSpPr>
        <p:spPr>
          <a:xfrm>
            <a:off x="1005840" y="4297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100" dirty="0"/>
          </a:p>
        </p:txBody>
      </p:sp>
      <p:sp>
        <p:nvSpPr>
          <p:cNvPr id="11" name="anim_3_a"/>
          <p:cNvSpPr/>
          <p:nvPr/>
        </p:nvSpPr>
        <p:spPr>
          <a:xfrm>
            <a:off x="1005840" y="4690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Mathematics Teacher  ·  M.Sc. Differential Geometry &amp; Geometric Control</a:t>
            </a:r>
            <a:endParaRPr lang="en-US" sz="1200" dirty="0"/>
          </a:p>
        </p:txBody>
      </p:sp>
      <p:sp>
        <p:nvSpPr>
          <p:cNvPr id="12" name="anim_3_a"/>
          <p:cNvSpPr/>
          <p:nvPr/>
        </p:nvSpPr>
        <p:spPr>
          <a:xfrm>
            <a:off x="1005840" y="5129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the Subject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868680" y="199339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inverse operations to get the new subject on its own — doing the same to both sides every time.</a:t>
            </a:r>
            <a:endParaRPr lang="en-US" sz="1700" dirty="0"/>
          </a:p>
        </p:txBody>
      </p:sp>
      <p:sp>
        <p:nvSpPr>
          <p:cNvPr id="9" name="anim_2_c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CASES WE'LL MEET</a:t>
            </a:r>
            <a:endParaRPr lang="en-US" sz="1200" dirty="0"/>
          </a:p>
        </p:txBody>
      </p:sp>
      <p:sp>
        <p:nvSpPr>
          <p:cNvPr id="10" name="anim_2_c"/>
          <p:cNvSpPr/>
          <p:nvPr/>
        </p:nvSpPr>
        <p:spPr>
          <a:xfrm>
            <a:off x="548640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04672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04672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anim_2_c"/>
          <p:cNvSpPr/>
          <p:nvPr/>
        </p:nvSpPr>
        <p:spPr>
          <a:xfrm>
            <a:off x="1463040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— inverse operations</a:t>
            </a:r>
            <a:endParaRPr lang="en-US" sz="1350" dirty="0"/>
          </a:p>
        </p:txBody>
      </p:sp>
      <p:sp>
        <p:nvSpPr>
          <p:cNvPr id="14" name="anim_2_c"/>
          <p:cNvSpPr/>
          <p:nvPr/>
        </p:nvSpPr>
        <p:spPr>
          <a:xfrm>
            <a:off x="4261104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anim_2_c"/>
          <p:cNvSpPr/>
          <p:nvPr/>
        </p:nvSpPr>
        <p:spPr>
          <a:xfrm>
            <a:off x="4517136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2_c"/>
          <p:cNvSpPr/>
          <p:nvPr/>
        </p:nvSpPr>
        <p:spPr>
          <a:xfrm>
            <a:off x="4517136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anim_2_c"/>
          <p:cNvSpPr/>
          <p:nvPr/>
        </p:nvSpPr>
        <p:spPr>
          <a:xfrm>
            <a:off x="5175504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appears twice — factorise</a:t>
            </a:r>
            <a:endParaRPr lang="en-US" sz="1350" dirty="0"/>
          </a:p>
        </p:txBody>
      </p:sp>
      <p:sp>
        <p:nvSpPr>
          <p:cNvPr id="18" name="anim_2_c"/>
          <p:cNvSpPr/>
          <p:nvPr/>
        </p:nvSpPr>
        <p:spPr>
          <a:xfrm>
            <a:off x="7973568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8229600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822960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anim_2_c"/>
          <p:cNvSpPr/>
          <p:nvPr/>
        </p:nvSpPr>
        <p:spPr>
          <a:xfrm>
            <a:off x="8887968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&amp; roots</a:t>
            </a:r>
            <a:endParaRPr lang="en-US" sz="1350" dirty="0"/>
          </a:p>
        </p:txBody>
      </p:sp>
      <p:sp>
        <p:nvSpPr>
          <p:cNvPr id="22" name="anim_3_c"/>
          <p:cNvSpPr/>
          <p:nvPr/>
        </p:nvSpPr>
        <p:spPr>
          <a:xfrm>
            <a:off x="548640" y="459028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anim_3_c"/>
          <p:cNvSpPr/>
          <p:nvPr/>
        </p:nvSpPr>
        <p:spPr>
          <a:xfrm>
            <a:off x="804672" y="4919472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3_c"/>
          <p:cNvSpPr/>
          <p:nvPr/>
        </p:nvSpPr>
        <p:spPr>
          <a:xfrm>
            <a:off x="804672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nim_3_c"/>
          <p:cNvSpPr/>
          <p:nvPr/>
        </p:nvSpPr>
        <p:spPr>
          <a:xfrm>
            <a:off x="1463040" y="4590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</a:t>
            </a:r>
            <a:endParaRPr lang="en-US" sz="1350" dirty="0"/>
          </a:p>
        </p:txBody>
      </p:sp>
      <p:sp>
        <p:nvSpPr>
          <p:cNvPr id="26" name="anim_3_c"/>
          <p:cNvSpPr/>
          <p:nvPr/>
        </p:nvSpPr>
        <p:spPr>
          <a:xfrm>
            <a:off x="4261104" y="459028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anim_3_c"/>
          <p:cNvSpPr/>
          <p:nvPr/>
        </p:nvSpPr>
        <p:spPr>
          <a:xfrm>
            <a:off x="4517136" y="4919472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8" name="anim_3_c"/>
          <p:cNvSpPr/>
          <p:nvPr/>
        </p:nvSpPr>
        <p:spPr>
          <a:xfrm>
            <a:off x="4517136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anim_3_c"/>
          <p:cNvSpPr/>
          <p:nvPr/>
        </p:nvSpPr>
        <p:spPr>
          <a:xfrm>
            <a:off x="5175504" y="4590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fractions</a:t>
            </a:r>
            <a:endParaRPr lang="en-US" sz="1350" dirty="0"/>
          </a:p>
        </p:txBody>
      </p:sp>
      <p:sp>
        <p:nvSpPr>
          <p:cNvPr id="30" name="anim_3_c"/>
          <p:cNvSpPr/>
          <p:nvPr/>
        </p:nvSpPr>
        <p:spPr>
          <a:xfrm>
            <a:off x="7973568" y="459028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anim_3_c"/>
          <p:cNvSpPr/>
          <p:nvPr/>
        </p:nvSpPr>
        <p:spPr>
          <a:xfrm>
            <a:off x="8229600" y="4919472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2" name="anim_3_c"/>
          <p:cNvSpPr/>
          <p:nvPr/>
        </p:nvSpPr>
        <p:spPr>
          <a:xfrm>
            <a:off x="822960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anim_3_c"/>
          <p:cNvSpPr/>
          <p:nvPr/>
        </p:nvSpPr>
        <p:spPr>
          <a:xfrm>
            <a:off x="8887968" y="4590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with powers / roots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LINEAR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Operations</a:t>
            </a:r>
            <a:endParaRPr lang="en-US" sz="2800" dirty="0"/>
          </a:p>
        </p:txBody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 the subject:   m = 6p + t</a:t>
            </a:r>
            <a:endParaRPr lang="en-US" sz="1700" dirty="0"/>
          </a:p>
        </p:txBody>
      </p:sp>
      <p:sp>
        <p:nvSpPr>
          <p:cNvPr id="8" name="anim_1_a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6p from both sides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868680" y="306324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anim_3_c"/>
          <p:cNvSpPr/>
          <p:nvPr/>
        </p:nvSpPr>
        <p:spPr>
          <a:xfrm>
            <a:off x="6172200" y="1691640"/>
            <a:ext cx="5468112" cy="3931920"/>
          </a:xfrm>
          <a:prstGeom prst="roundRect">
            <a:avLst>
              <a:gd name="adj" fmla="val 2326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 the subject:   Dy – 3e = 2g + 5</a:t>
            </a:r>
            <a:endParaRPr lang="en-US" sz="1600" dirty="0"/>
          </a:p>
        </p:txBody>
      </p:sp>
      <p:sp>
        <p:nvSpPr>
          <p:cNvPr id="15" name="anim_3_c"/>
          <p:cNvSpPr/>
          <p:nvPr/>
        </p:nvSpPr>
        <p:spPr>
          <a:xfrm>
            <a:off x="6492240" y="2441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3_c"/>
          <p:cNvSpPr/>
          <p:nvPr/>
        </p:nvSpPr>
        <p:spPr>
          <a:xfrm>
            <a:off x="64922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anim_3_c"/>
          <p:cNvSpPr/>
          <p:nvPr/>
        </p:nvSpPr>
        <p:spPr>
          <a:xfrm>
            <a:off x="704088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3e:   Dy = 2g + 3e + 5</a:t>
            </a:r>
            <a:endParaRPr lang="en-US" sz="1400" dirty="0"/>
          </a:p>
        </p:txBody>
      </p:sp>
      <p:sp>
        <p:nvSpPr>
          <p:cNvPr id="18" name="anim_4_c"/>
          <p:cNvSpPr/>
          <p:nvPr/>
        </p:nvSpPr>
        <p:spPr>
          <a:xfrm>
            <a:off x="6492240" y="30358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4_c"/>
          <p:cNvSpPr/>
          <p:nvPr/>
        </p:nvSpPr>
        <p:spPr>
          <a:xfrm>
            <a:off x="64922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anim_4_c"/>
          <p:cNvSpPr/>
          <p:nvPr/>
        </p:nvSpPr>
        <p:spPr>
          <a:xfrm>
            <a:off x="7040880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D</a:t>
            </a:r>
            <a:endParaRPr lang="en-US" sz="1400" dirty="0"/>
          </a:p>
        </p:txBody>
      </p:sp>
      <p:sp>
        <p:nvSpPr>
          <p:cNvPr id="21" name="anim_5_c"/>
          <p:cNvSpPr/>
          <p:nvPr/>
        </p:nvSpPr>
        <p:spPr>
          <a:xfrm>
            <a:off x="6492240" y="37490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00" name="eq00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19872" y="3216859"/>
            <a:ext cx="1303856" cy="332841"/>
          </a:xfrm>
          <a:prstGeom prst="rect">
            <a:avLst/>
          </a:prstGeom>
        </p:spPr>
      </p:pic>
      <p:pic>
        <p:nvPicPr>
          <p:cNvPr id="7001" name="eq002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283702" y="3968496"/>
            <a:ext cx="1446276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LINEAR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Brackets &amp; Fractions</a:t>
            </a:r>
            <a:endParaRPr lang="en-US" sz="2800" dirty="0"/>
          </a:p>
        </p:txBody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 the subject:   a(y + S) = F</a:t>
            </a:r>
            <a:endParaRPr lang="en-US" sz="1600" dirty="0"/>
          </a:p>
        </p:txBody>
      </p:sp>
      <p:sp>
        <p:nvSpPr>
          <p:cNvPr id="8" name="anim_1_a"/>
          <p:cNvSpPr/>
          <p:nvPr/>
        </p:nvSpPr>
        <p:spPr>
          <a:xfrm>
            <a:off x="868680" y="23957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 ay + aS = F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868680" y="29443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ay, then divide by a</a:t>
            </a:r>
            <a:endParaRPr lang="en-US" sz="1400" dirty="0"/>
          </a:p>
        </p:txBody>
      </p:sp>
      <p:sp>
        <p:nvSpPr>
          <p:cNvPr id="14" name="anim_3_c"/>
          <p:cNvSpPr/>
          <p:nvPr/>
        </p:nvSpPr>
        <p:spPr>
          <a:xfrm>
            <a:off x="868680" y="36118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anim_4_c"/>
          <p:cNvSpPr/>
          <p:nvPr/>
        </p:nvSpPr>
        <p:spPr>
          <a:xfrm>
            <a:off x="649224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 the subject:   F = </a:t>
            </a:r>
            <a:endParaRPr lang="en-US" sz="1600" dirty="0"/>
          </a:p>
        </p:txBody>
      </p:sp>
      <p:sp>
        <p:nvSpPr>
          <p:cNvPr id="21" name="anim_4_c"/>
          <p:cNvSpPr/>
          <p:nvPr/>
        </p:nvSpPr>
        <p:spPr>
          <a:xfrm>
            <a:off x="8869680" y="1700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9C</a:t>
            </a:r>
            <a:endParaRPr lang="en-US" sz="1500" dirty="0"/>
          </a:p>
        </p:txBody>
      </p:sp>
      <p:sp>
        <p:nvSpPr>
          <p:cNvPr id="22" name="anim_4_c"/>
          <p:cNvSpPr/>
          <p:nvPr/>
        </p:nvSpPr>
        <p:spPr>
          <a:xfrm>
            <a:off x="8915400" y="2103120"/>
            <a:ext cx="45720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24" name="anim_4_c"/>
          <p:cNvSpPr/>
          <p:nvPr/>
        </p:nvSpPr>
        <p:spPr>
          <a:xfrm>
            <a:off x="94640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+ 32</a:t>
            </a:r>
            <a:endParaRPr lang="en-US" sz="1600" dirty="0"/>
          </a:p>
        </p:txBody>
      </p:sp>
      <p:sp>
        <p:nvSpPr>
          <p:cNvPr id="25" name="anim_4_c"/>
          <p:cNvSpPr/>
          <p:nvPr/>
        </p:nvSpPr>
        <p:spPr>
          <a:xfrm>
            <a:off x="6492240" y="25328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6" name="anim_4_c"/>
          <p:cNvSpPr/>
          <p:nvPr/>
        </p:nvSpPr>
        <p:spPr>
          <a:xfrm>
            <a:off x="64922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anim_5_c"/>
          <p:cNvSpPr/>
          <p:nvPr/>
        </p:nvSpPr>
        <p:spPr>
          <a:xfrm>
            <a:off x="6492240" y="329184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02" name="eq0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727" y="3511296"/>
            <a:ext cx="1269346" cy="475488"/>
          </a:xfrm>
          <a:prstGeom prst="rect">
            <a:avLst/>
          </a:prstGeom>
        </p:spPr>
      </p:pic>
      <p:pic>
        <p:nvPicPr>
          <p:cNvPr id="7003" name="eq0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701791" y="3831336"/>
            <a:ext cx="1180097" cy="475488"/>
          </a:xfrm>
          <a:prstGeom prst="rect">
            <a:avLst/>
          </a:prstGeom>
        </p:spPr>
      </p:pic>
      <p:pic>
        <p:nvPicPr>
          <p:cNvPr id="7039" name="eq040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6900000" y="2305000"/>
            <a:ext cx="3210247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PRACTICE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Given Letter the Subject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640080" y="1828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7" name="anim_1_a"/>
          <p:cNvSpPr/>
          <p:nvPr/>
        </p:nvSpPr>
        <p:spPr>
          <a:xfrm>
            <a:off x="640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1243584" y="1828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9" name="anim_1_a"/>
          <p:cNvSpPr/>
          <p:nvPr/>
        </p:nvSpPr>
        <p:spPr>
          <a:xfrm>
            <a:off x="1463040" y="1828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x + 5   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(x)</a:t>
            </a:r>
            <a:endParaRPr lang="en-US" sz="1700" dirty="0"/>
          </a:p>
        </p:txBody>
      </p:sp>
      <p:sp>
        <p:nvSpPr>
          <p:cNvPr id="10" name="anim_1_a"/>
          <p:cNvSpPr/>
          <p:nvPr/>
        </p:nvSpPr>
        <p:spPr>
          <a:xfrm>
            <a:off x="640080" y="2971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11" name="anim_1_a"/>
          <p:cNvSpPr/>
          <p:nvPr/>
        </p:nvSpPr>
        <p:spPr>
          <a:xfrm>
            <a:off x="64008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anim_1_a"/>
          <p:cNvSpPr/>
          <p:nvPr/>
        </p:nvSpPr>
        <p:spPr>
          <a:xfrm>
            <a:off x="1243584" y="2971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3" name="anim_1_a"/>
          <p:cNvSpPr/>
          <p:nvPr/>
        </p:nvSpPr>
        <p:spPr>
          <a:xfrm>
            <a:off x="1463040" y="2971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3a      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endParaRPr lang="en-US" sz="1700" dirty="0"/>
          </a:p>
        </p:txBody>
      </p:sp>
      <p:sp>
        <p:nvSpPr>
          <p:cNvPr id="14" name="anim_1_a"/>
          <p:cNvSpPr/>
          <p:nvPr/>
        </p:nvSpPr>
        <p:spPr>
          <a:xfrm>
            <a:off x="640080" y="4114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15" name="anim_1_a"/>
          <p:cNvSpPr/>
          <p:nvPr/>
        </p:nvSpPr>
        <p:spPr>
          <a:xfrm>
            <a:off x="640080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anim_1_a"/>
          <p:cNvSpPr/>
          <p:nvPr/>
        </p:nvSpPr>
        <p:spPr>
          <a:xfrm>
            <a:off x="1243584" y="4114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7" name="anim_1_a"/>
          <p:cNvSpPr/>
          <p:nvPr/>
        </p:nvSpPr>
        <p:spPr>
          <a:xfrm>
            <a:off x="1463040" y="4114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2x + 7  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(x)</a:t>
            </a:r>
            <a:endParaRPr lang="en-US" sz="1700" dirty="0"/>
          </a:p>
        </p:txBody>
      </p:sp>
      <p:sp>
        <p:nvSpPr>
          <p:cNvPr id="18" name="anim_2_c"/>
          <p:cNvSpPr/>
          <p:nvPr/>
        </p:nvSpPr>
        <p:spPr>
          <a:xfrm>
            <a:off x="6355080" y="1828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19" name="anim_2_c"/>
          <p:cNvSpPr/>
          <p:nvPr/>
        </p:nvSpPr>
        <p:spPr>
          <a:xfrm>
            <a:off x="6355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anim_2_c"/>
          <p:cNvSpPr/>
          <p:nvPr/>
        </p:nvSpPr>
        <p:spPr>
          <a:xfrm>
            <a:off x="6958584" y="1828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1" name="anim_2_c"/>
          <p:cNvSpPr/>
          <p:nvPr/>
        </p:nvSpPr>
        <p:spPr>
          <a:xfrm>
            <a:off x="7178040" y="1828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u + at   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</a:t>
            </a:r>
            <a:endParaRPr lang="en-US" sz="1700" dirty="0"/>
          </a:p>
        </p:txBody>
      </p:sp>
      <p:sp>
        <p:nvSpPr>
          <p:cNvPr id="22" name="anim_2_c"/>
          <p:cNvSpPr/>
          <p:nvPr/>
        </p:nvSpPr>
        <p:spPr>
          <a:xfrm>
            <a:off x="6355080" y="2971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23" name="anim_2_c"/>
          <p:cNvSpPr/>
          <p:nvPr/>
        </p:nvSpPr>
        <p:spPr>
          <a:xfrm>
            <a:off x="635508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anim_2_c"/>
          <p:cNvSpPr/>
          <p:nvPr/>
        </p:nvSpPr>
        <p:spPr>
          <a:xfrm>
            <a:off x="6958584" y="2971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5" name="anim_2_c"/>
          <p:cNvSpPr/>
          <p:nvPr/>
        </p:nvSpPr>
        <p:spPr>
          <a:xfrm>
            <a:off x="7178040" y="2971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5(n + s)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</a:t>
            </a:r>
            <a:endParaRPr lang="en-US" sz="1700" dirty="0"/>
          </a:p>
        </p:txBody>
      </p:sp>
      <p:sp>
        <p:nvSpPr>
          <p:cNvPr id="26" name="anim_2_c"/>
          <p:cNvSpPr/>
          <p:nvPr/>
        </p:nvSpPr>
        <p:spPr>
          <a:xfrm>
            <a:off x="6355080" y="41148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27" name="anim_2_c"/>
          <p:cNvSpPr/>
          <p:nvPr/>
        </p:nvSpPr>
        <p:spPr>
          <a:xfrm>
            <a:off x="6355080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anim_2_c"/>
          <p:cNvSpPr/>
          <p:nvPr/>
        </p:nvSpPr>
        <p:spPr>
          <a:xfrm>
            <a:off x="6958584" y="41148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9" name="anim_2_c"/>
          <p:cNvSpPr/>
          <p:nvPr/>
        </p:nvSpPr>
        <p:spPr>
          <a:xfrm>
            <a:off x="7178040" y="4114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b + 2      </a:t>
            </a: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SUBJECT APPEARS TWICE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Collect, then Factorise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term with the subject on one side, factorise it out, then divide.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x the subject: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 – m = bx + y</a:t>
            </a:r>
            <a:endParaRPr lang="en-US" sz="1700" dirty="0"/>
          </a:p>
        </p:txBody>
      </p:sp>
      <p:sp>
        <p:nvSpPr>
          <p:cNvPr id="10" name="anim_2_c"/>
          <p:cNvSpPr/>
          <p:nvPr/>
        </p:nvSpPr>
        <p:spPr>
          <a:xfrm>
            <a:off x="868680" y="3310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– bx = m + y</a:t>
            </a:r>
            <a:endParaRPr lang="en-US" sz="1450" dirty="0"/>
          </a:p>
        </p:txBody>
      </p:sp>
      <p:sp>
        <p:nvSpPr>
          <p:cNvPr id="13" name="anim_3_c"/>
          <p:cNvSpPr/>
          <p:nvPr/>
        </p:nvSpPr>
        <p:spPr>
          <a:xfrm>
            <a:off x="868680" y="3858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factorise:  x(a – b) = m + y</a:t>
            </a:r>
            <a:endParaRPr lang="en-US" sz="1400" dirty="0"/>
          </a:p>
        </p:txBody>
      </p:sp>
      <p:sp>
        <p:nvSpPr>
          <p:cNvPr id="16" name="anim_4_c"/>
          <p:cNvSpPr/>
          <p:nvPr/>
        </p:nvSpPr>
        <p:spPr>
          <a:xfrm>
            <a:off x="868680" y="45262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anim_5_c"/>
          <p:cNvSpPr/>
          <p:nvPr/>
        </p:nvSpPr>
        <p:spPr>
          <a:xfrm>
            <a:off x="617220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anim_5_c"/>
          <p:cNvSpPr/>
          <p:nvPr/>
        </p:nvSpPr>
        <p:spPr>
          <a:xfrm>
            <a:off x="6492240" y="25420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w the subject: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2lw + 2lh + 2hw</a:t>
            </a:r>
            <a:endParaRPr lang="en-US" sz="1600" dirty="0"/>
          </a:p>
        </p:txBody>
      </p:sp>
      <p:sp>
        <p:nvSpPr>
          <p:cNvPr id="23" name="anim_5_c"/>
          <p:cNvSpPr/>
          <p:nvPr/>
        </p:nvSpPr>
        <p:spPr>
          <a:xfrm>
            <a:off x="6492240" y="3310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5_c"/>
          <p:cNvSpPr/>
          <p:nvPr/>
        </p:nvSpPr>
        <p:spPr>
          <a:xfrm>
            <a:off x="64922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anim_5_c"/>
          <p:cNvSpPr/>
          <p:nvPr/>
        </p:nvSpPr>
        <p:spPr>
          <a:xfrm>
            <a:off x="704088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2lw + 2hw = S – 2lh</a:t>
            </a:r>
            <a:endParaRPr lang="en-US" sz="1400" dirty="0"/>
          </a:p>
        </p:txBody>
      </p:sp>
      <p:sp>
        <p:nvSpPr>
          <p:cNvPr id="26" name="anim_5_c"/>
          <p:cNvSpPr/>
          <p:nvPr/>
        </p:nvSpPr>
        <p:spPr>
          <a:xfrm>
            <a:off x="6492240" y="3858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7" name="anim_5_c"/>
          <p:cNvSpPr/>
          <p:nvPr/>
        </p:nvSpPr>
        <p:spPr>
          <a:xfrm>
            <a:off x="64922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anim_5_c"/>
          <p:cNvSpPr/>
          <p:nvPr/>
        </p:nvSpPr>
        <p:spPr>
          <a:xfrm>
            <a:off x="704088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w(2l + 2h) = S – 2lh</a:t>
            </a:r>
            <a:endParaRPr lang="en-US" sz="1400" dirty="0"/>
          </a:p>
        </p:txBody>
      </p:sp>
      <p:sp>
        <p:nvSpPr>
          <p:cNvPr id="29" name="anim_5_c"/>
          <p:cNvSpPr/>
          <p:nvPr/>
        </p:nvSpPr>
        <p:spPr>
          <a:xfrm>
            <a:off x="6492240" y="45262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04" name="eq00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85639" y="4745736"/>
            <a:ext cx="1012402" cy="475488"/>
          </a:xfrm>
          <a:prstGeom prst="rect">
            <a:avLst/>
          </a:prstGeom>
        </p:spPr>
      </p:pic>
      <p:pic>
        <p:nvPicPr>
          <p:cNvPr id="7005" name="eq00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322746" y="4745736"/>
            <a:ext cx="1185307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POWERS &amp; ROOTS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→ √ ,  Cube → ∛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power, then take the matching root — the inverse of squaring is √, of cubing is ∛.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q the subject: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5(p + q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4V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868680" y="3310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5p + 5q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4V  →  5q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4V – 5p</a:t>
            </a:r>
            <a:endParaRPr lang="en-US" sz="1350" dirty="0"/>
          </a:p>
        </p:txBody>
      </p:sp>
      <p:sp>
        <p:nvSpPr>
          <p:cNvPr id="13" name="anim_3_c"/>
          <p:cNvSpPr/>
          <p:nvPr/>
        </p:nvSpPr>
        <p:spPr>
          <a:xfrm>
            <a:off x="868680" y="3904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4_c"/>
          <p:cNvSpPr/>
          <p:nvPr/>
        </p:nvSpPr>
        <p:spPr>
          <a:xfrm>
            <a:off x="868680" y="45262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anim_5_c"/>
          <p:cNvSpPr/>
          <p:nvPr/>
        </p:nvSpPr>
        <p:spPr>
          <a:xfrm>
            <a:off x="617220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anim_5_c"/>
          <p:cNvSpPr/>
          <p:nvPr/>
        </p:nvSpPr>
        <p:spPr>
          <a:xfrm>
            <a:off x="6492240" y="25420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r the subject: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</a:t>
            </a:r>
            <a:endParaRPr lang="en-US" sz="1600" dirty="0"/>
          </a:p>
        </p:txBody>
      </p:sp>
      <p:sp>
        <p:nvSpPr>
          <p:cNvPr id="24" name="anim_5_c"/>
          <p:cNvSpPr/>
          <p:nvPr/>
        </p:nvSpPr>
        <p:spPr>
          <a:xfrm>
            <a:off x="7772400" y="2798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anim_5_c"/>
          <p:cNvSpPr/>
          <p:nvPr/>
        </p:nvSpPr>
        <p:spPr>
          <a:xfrm>
            <a:off x="7818120" y="3200400"/>
            <a:ext cx="36576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26" name="anim_5_c"/>
          <p:cNvSpPr/>
          <p:nvPr/>
        </p:nvSpPr>
        <p:spPr>
          <a:xfrm>
            <a:off x="7772400" y="32369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anim_5_c"/>
          <p:cNvSpPr/>
          <p:nvPr/>
        </p:nvSpPr>
        <p:spPr>
          <a:xfrm>
            <a:off x="82753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πr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anim_5_c"/>
          <p:cNvSpPr/>
          <p:nvPr/>
        </p:nvSpPr>
        <p:spPr>
          <a:xfrm>
            <a:off x="6492240" y="37673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9" name="anim_5_c"/>
          <p:cNvSpPr/>
          <p:nvPr/>
        </p:nvSpPr>
        <p:spPr>
          <a:xfrm>
            <a:off x="649224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anim_5_c"/>
          <p:cNvSpPr/>
          <p:nvPr/>
        </p:nvSpPr>
        <p:spPr>
          <a:xfrm>
            <a:off x="704088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3V = 4πr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cube-root</a:t>
            </a:r>
            <a:endParaRPr lang="en-US" sz="1350" dirty="0"/>
          </a:p>
        </p:txBody>
      </p:sp>
      <p:sp>
        <p:nvSpPr>
          <p:cNvPr id="31" name="anim_5_c"/>
          <p:cNvSpPr/>
          <p:nvPr/>
        </p:nvSpPr>
        <p:spPr>
          <a:xfrm>
            <a:off x="6492240" y="45262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06" name="eq00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00288" y="4745736"/>
            <a:ext cx="1183104" cy="475488"/>
          </a:xfrm>
          <a:prstGeom prst="rect">
            <a:avLst/>
          </a:prstGeom>
        </p:spPr>
      </p:pic>
      <p:pic>
        <p:nvPicPr>
          <p:cNvPr id="7007" name="eq00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515788" y="4745736"/>
            <a:ext cx="799224" cy="475488"/>
          </a:xfrm>
          <a:prstGeom prst="rect">
            <a:avLst/>
          </a:prstGeom>
        </p:spPr>
      </p:pic>
      <p:pic>
        <p:nvPicPr>
          <p:cNvPr id="7040" name="eq041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1360000" y="3730000"/>
            <a:ext cx="395702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POWERS &amp; ROOTS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Worked Examples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n the subject:   y = 5√(mn)</a:t>
            </a:r>
            <a:endParaRPr lang="en-US" sz="1600" dirty="0"/>
          </a:p>
        </p:txBody>
      </p:sp>
      <p:sp>
        <p:nvSpPr>
          <p:cNvPr id="8" name="anim_1_a"/>
          <p:cNvSpPr/>
          <p:nvPr/>
        </p:nvSpPr>
        <p:spPr>
          <a:xfrm>
            <a:off x="868680" y="23500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both sides:  y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25mn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868680" y="28346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anim_3_c"/>
          <p:cNvSpPr/>
          <p:nvPr/>
        </p:nvSpPr>
        <p:spPr>
          <a:xfrm>
            <a:off x="6172200" y="173736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anim_3_c"/>
          <p:cNvSpPr/>
          <p:nvPr/>
        </p:nvSpPr>
        <p:spPr>
          <a:xfrm>
            <a:off x="6492240" y="1847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b the subject (b &gt; 0):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½ ab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c</a:t>
            </a:r>
            <a:endParaRPr lang="en-US" sz="1500" dirty="0"/>
          </a:p>
        </p:txBody>
      </p:sp>
      <p:sp>
        <p:nvSpPr>
          <p:cNvPr id="18" name="anim_3_c"/>
          <p:cNvSpPr/>
          <p:nvPr/>
        </p:nvSpPr>
        <p:spPr>
          <a:xfrm>
            <a:off x="6492240" y="24871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3_c"/>
          <p:cNvSpPr/>
          <p:nvPr/>
        </p:nvSpPr>
        <p:spPr>
          <a:xfrm>
            <a:off x="64922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anim_4_c"/>
          <p:cNvSpPr/>
          <p:nvPr/>
        </p:nvSpPr>
        <p:spPr>
          <a:xfrm>
            <a:off x="6876288" y="2834640"/>
            <a:ext cx="4462272" cy="7772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anim_5_c"/>
          <p:cNvSpPr/>
          <p:nvPr/>
        </p:nvSpPr>
        <p:spPr>
          <a:xfrm>
            <a:off x="548640" y="379476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anim_5_c"/>
          <p:cNvSpPr/>
          <p:nvPr/>
        </p:nvSpPr>
        <p:spPr>
          <a:xfrm>
            <a:off x="86868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Worded:   A cylinder has volume V = πr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.   Make r the subject.</a:t>
            </a:r>
            <a:endParaRPr lang="en-US" sz="1600" dirty="0"/>
          </a:p>
        </p:txBody>
      </p:sp>
      <p:sp>
        <p:nvSpPr>
          <p:cNvPr id="29" name="anim_5_c"/>
          <p:cNvSpPr/>
          <p:nvPr/>
        </p:nvSpPr>
        <p:spPr>
          <a:xfrm>
            <a:off x="868680" y="45445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0" name="anim_5_c"/>
          <p:cNvSpPr/>
          <p:nvPr/>
        </p:nvSpPr>
        <p:spPr>
          <a:xfrm>
            <a:off x="86868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anim_6_c"/>
          <p:cNvSpPr/>
          <p:nvPr/>
        </p:nvSpPr>
        <p:spPr>
          <a:xfrm>
            <a:off x="868680" y="498348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08" name="eq00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271222" y="2916936"/>
            <a:ext cx="1288355" cy="475488"/>
          </a:xfrm>
          <a:prstGeom prst="rect">
            <a:avLst/>
          </a:prstGeom>
        </p:spPr>
      </p:pic>
      <p:pic>
        <p:nvPicPr>
          <p:cNvPr id="7009" name="eq010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561386" y="2962656"/>
            <a:ext cx="781014" cy="475488"/>
          </a:xfrm>
          <a:prstGeom prst="rect">
            <a:avLst/>
          </a:prstGeom>
        </p:spPr>
      </p:pic>
      <p:pic>
        <p:nvPicPr>
          <p:cNvPr id="7010" name="eq011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2731576" y="5202936"/>
            <a:ext cx="846207" cy="475488"/>
          </a:xfrm>
          <a:prstGeom prst="rect">
            <a:avLst/>
          </a:prstGeom>
        </p:spPr>
      </p:pic>
      <p:pic>
        <p:nvPicPr>
          <p:cNvPr id="7033" name="eq034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850000" y="2360000"/>
            <a:ext cx="762815" cy="270000"/>
          </a:xfrm>
          <a:prstGeom prst="rect">
            <a:avLst/>
          </a:prstGeom>
        </p:spPr>
      </p:pic>
      <p:pic>
        <p:nvPicPr>
          <p:cNvPr id="7034" name="eq035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360000" y="4460000"/>
            <a:ext cx="3730945" cy="43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· COMPLETING THE SQUARE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Subject is Squared AND Linear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subject appears as both x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x, complete the square, then square-root both sides.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x the subject:   y = x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+ 8x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868680" y="30815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y = (x + 4)</a:t>
            </a:r>
            <a:r>
              <a:rPr lang="en-US" sz="13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16</a:t>
            </a:r>
            <a:endParaRPr lang="en-US" sz="1300" dirty="0"/>
          </a:p>
        </p:txBody>
      </p:sp>
      <p:sp>
        <p:nvSpPr>
          <p:cNvPr id="13" name="anim_3_c"/>
          <p:cNvSpPr/>
          <p:nvPr/>
        </p:nvSpPr>
        <p:spPr>
          <a:xfrm>
            <a:off x="868680" y="36758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+ 4)</a:t>
            </a:r>
            <a:r>
              <a:rPr lang="en-US" sz="13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y + 16  →  √ both sides</a:t>
            </a:r>
            <a:endParaRPr lang="en-US" sz="1300" dirty="0"/>
          </a:p>
        </p:txBody>
      </p:sp>
      <p:sp>
        <p:nvSpPr>
          <p:cNvPr id="16" name="anim_4_c"/>
          <p:cNvSpPr/>
          <p:nvPr/>
        </p:nvSpPr>
        <p:spPr>
          <a:xfrm>
            <a:off x="868680" y="434340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1051560" y="4343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–4 ± √(y + 16)</a:t>
            </a:r>
            <a:endParaRPr lang="en-US" sz="1700" dirty="0"/>
          </a:p>
        </p:txBody>
      </p:sp>
      <p:sp>
        <p:nvSpPr>
          <p:cNvPr id="18" name="anim_5_c"/>
          <p:cNvSpPr/>
          <p:nvPr/>
        </p:nvSpPr>
        <p:spPr>
          <a:xfrm>
            <a:off x="617220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anim_5_c"/>
          <p:cNvSpPr/>
          <p:nvPr/>
        </p:nvSpPr>
        <p:spPr>
          <a:xfrm>
            <a:off x="649224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x the subject:   y = x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6x + 1</a:t>
            </a:r>
            <a:endParaRPr lang="en-US" sz="1600" dirty="0"/>
          </a:p>
        </p:txBody>
      </p:sp>
      <p:sp>
        <p:nvSpPr>
          <p:cNvPr id="20" name="anim_5_c"/>
          <p:cNvSpPr/>
          <p:nvPr/>
        </p:nvSpPr>
        <p:spPr>
          <a:xfrm>
            <a:off x="6492240" y="30815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5_c"/>
          <p:cNvSpPr/>
          <p:nvPr/>
        </p:nvSpPr>
        <p:spPr>
          <a:xfrm>
            <a:off x="6492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anim_5_c"/>
          <p:cNvSpPr/>
          <p:nvPr/>
        </p:nvSpPr>
        <p:spPr>
          <a:xfrm>
            <a:off x="704088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(x – 3)</a:t>
            </a:r>
            <a:r>
              <a:rPr lang="en-US" sz="12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 + 1 = (x – 3)</a:t>
            </a:r>
            <a:r>
              <a:rPr lang="en-US" sz="12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</a:t>
            </a:r>
            <a:endParaRPr lang="en-US" sz="1250" dirty="0"/>
          </a:p>
        </p:txBody>
      </p:sp>
      <p:sp>
        <p:nvSpPr>
          <p:cNvPr id="23" name="anim_6_c"/>
          <p:cNvSpPr/>
          <p:nvPr/>
        </p:nvSpPr>
        <p:spPr>
          <a:xfrm>
            <a:off x="6492240" y="36758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6_c"/>
          <p:cNvSpPr/>
          <p:nvPr/>
        </p:nvSpPr>
        <p:spPr>
          <a:xfrm>
            <a:off x="64922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anim_6_c"/>
          <p:cNvSpPr/>
          <p:nvPr/>
        </p:nvSpPr>
        <p:spPr>
          <a:xfrm>
            <a:off x="704088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3)</a:t>
            </a:r>
            <a:r>
              <a:rPr lang="en-US" sz="13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y + 8  →  √ both sides</a:t>
            </a:r>
            <a:endParaRPr lang="en-US" sz="1300" dirty="0"/>
          </a:p>
        </p:txBody>
      </p:sp>
      <p:sp>
        <p:nvSpPr>
          <p:cNvPr id="26" name="anim_6_c"/>
          <p:cNvSpPr/>
          <p:nvPr/>
        </p:nvSpPr>
        <p:spPr>
          <a:xfrm>
            <a:off x="6492240" y="434340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anim_6_c"/>
          <p:cNvSpPr/>
          <p:nvPr/>
        </p:nvSpPr>
        <p:spPr>
          <a:xfrm>
            <a:off x="6675120" y="4343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 ± √(y + 8)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ALGEBRAIC FRACTIONS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the Denominators First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through to clear fractions, collect the subject, factorise, then divide.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1109167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R the subject:</a:t>
            </a:r>
            <a:endParaRPr lang="en-US" sz="1700" dirty="0"/>
          </a:p>
        </p:txBody>
      </p:sp>
      <p:sp>
        <p:nvSpPr>
          <p:cNvPr id="10" name="anim_2_c"/>
          <p:cNvSpPr/>
          <p:nvPr/>
        </p:nvSpPr>
        <p:spPr>
          <a:xfrm>
            <a:off x="4114800" y="2386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anim_2_c"/>
          <p:cNvSpPr/>
          <p:nvPr/>
        </p:nvSpPr>
        <p:spPr>
          <a:xfrm>
            <a:off x="4160520" y="2788920"/>
            <a:ext cx="36576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12" name="anim_2_c"/>
          <p:cNvSpPr/>
          <p:nvPr/>
        </p:nvSpPr>
        <p:spPr>
          <a:xfrm>
            <a:off x="4114800" y="2825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anim_2_c"/>
          <p:cNvSpPr/>
          <p:nvPr/>
        </p:nvSpPr>
        <p:spPr>
          <a:xfrm>
            <a:off x="461772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14" name="anim_2_c"/>
          <p:cNvSpPr/>
          <p:nvPr/>
        </p:nvSpPr>
        <p:spPr>
          <a:xfrm>
            <a:off x="5074920" y="2386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anim_2_c"/>
          <p:cNvSpPr/>
          <p:nvPr/>
        </p:nvSpPr>
        <p:spPr>
          <a:xfrm>
            <a:off x="5120640" y="2788920"/>
            <a:ext cx="36576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16" name="anim_2_c"/>
          <p:cNvSpPr/>
          <p:nvPr/>
        </p:nvSpPr>
        <p:spPr>
          <a:xfrm>
            <a:off x="5074920" y="2825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anim_2_c"/>
          <p:cNvSpPr/>
          <p:nvPr/>
        </p:nvSpPr>
        <p:spPr>
          <a:xfrm>
            <a:off x="557784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anim_2_c"/>
          <p:cNvSpPr/>
          <p:nvPr/>
        </p:nvSpPr>
        <p:spPr>
          <a:xfrm>
            <a:off x="5989320" y="2386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anim_2_c"/>
          <p:cNvSpPr/>
          <p:nvPr/>
        </p:nvSpPr>
        <p:spPr>
          <a:xfrm>
            <a:off x="6035040" y="2788920"/>
            <a:ext cx="36576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20" name="anim_2_c"/>
          <p:cNvSpPr/>
          <p:nvPr/>
        </p:nvSpPr>
        <p:spPr>
          <a:xfrm>
            <a:off x="5989320" y="2825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anim_3_c"/>
          <p:cNvSpPr/>
          <p:nvPr/>
        </p:nvSpPr>
        <p:spPr>
          <a:xfrm>
            <a:off x="868680" y="34472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3_c"/>
          <p:cNvSpPr/>
          <p:nvPr/>
        </p:nvSpPr>
        <p:spPr>
          <a:xfrm>
            <a:off x="86868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anim_4_c"/>
          <p:cNvSpPr/>
          <p:nvPr/>
        </p:nvSpPr>
        <p:spPr>
          <a:xfrm>
            <a:off x="868680" y="40873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4_c"/>
          <p:cNvSpPr/>
          <p:nvPr/>
        </p:nvSpPr>
        <p:spPr>
          <a:xfrm>
            <a:off x="8686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anim_4_c"/>
          <p:cNvSpPr/>
          <p:nvPr/>
        </p:nvSpPr>
        <p:spPr>
          <a:xfrm>
            <a:off x="1417320" y="40233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both sides by (a + b)</a:t>
            </a:r>
            <a:endParaRPr lang="en-US" sz="1500" dirty="0"/>
          </a:p>
        </p:txBody>
      </p:sp>
      <p:sp>
        <p:nvSpPr>
          <p:cNvPr id="27" name="anim_5_c"/>
          <p:cNvSpPr/>
          <p:nvPr/>
        </p:nvSpPr>
        <p:spPr>
          <a:xfrm>
            <a:off x="868680" y="470916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11" name="eq01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666497" y="4928616"/>
            <a:ext cx="976366" cy="475488"/>
          </a:xfrm>
          <a:prstGeom prst="rect">
            <a:avLst/>
          </a:prstGeom>
        </p:spPr>
      </p:pic>
      <p:pic>
        <p:nvPicPr>
          <p:cNvPr id="7035" name="eq03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360000" y="3330000"/>
            <a:ext cx="3111557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ALGEBRAIC FRACTIONS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in the Numerator AND Denominator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86868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8686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1_a"/>
          <p:cNvSpPr/>
          <p:nvPr/>
        </p:nvSpPr>
        <p:spPr>
          <a:xfrm>
            <a:off x="141732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y(x + 3) = 5 – 2x</a:t>
            </a:r>
            <a:endParaRPr lang="en-US" sz="1450" dirty="0"/>
          </a:p>
        </p:txBody>
      </p:sp>
      <p:sp>
        <p:nvSpPr>
          <p:cNvPr id="14" name="anim_2_c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2_c"/>
          <p:cNvSpPr/>
          <p:nvPr/>
        </p:nvSpPr>
        <p:spPr>
          <a:xfrm>
            <a:off x="141732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yx + 2x = 5 – 3y</a:t>
            </a:r>
            <a:endParaRPr lang="en-US" sz="1450" dirty="0"/>
          </a:p>
        </p:txBody>
      </p:sp>
      <p:sp>
        <p:nvSpPr>
          <p:cNvPr id="17" name="anim_3_c"/>
          <p:cNvSpPr/>
          <p:nvPr/>
        </p:nvSpPr>
        <p:spPr>
          <a:xfrm>
            <a:off x="868680" y="3813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3_c"/>
          <p:cNvSpPr/>
          <p:nvPr/>
        </p:nvSpPr>
        <p:spPr>
          <a:xfrm>
            <a:off x="8686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nim_3_c"/>
          <p:cNvSpPr/>
          <p:nvPr/>
        </p:nvSpPr>
        <p:spPr>
          <a:xfrm>
            <a:off x="141732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x(y + 2) = 5 – 3y</a:t>
            </a:r>
            <a:endParaRPr lang="en-US" sz="1450" dirty="0"/>
          </a:p>
        </p:txBody>
      </p:sp>
      <p:sp>
        <p:nvSpPr>
          <p:cNvPr id="20" name="anim_4_c"/>
          <p:cNvSpPr/>
          <p:nvPr/>
        </p:nvSpPr>
        <p:spPr>
          <a:xfrm>
            <a:off x="868680" y="44805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anim_5_c"/>
          <p:cNvSpPr/>
          <p:nvPr/>
        </p:nvSpPr>
        <p:spPr>
          <a:xfrm>
            <a:off x="617220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anim_5_c"/>
          <p:cNvSpPr/>
          <p:nvPr/>
        </p:nvSpPr>
        <p:spPr>
          <a:xfrm>
            <a:off x="649224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1" name="anim_5_c"/>
          <p:cNvSpPr/>
          <p:nvPr/>
        </p:nvSpPr>
        <p:spPr>
          <a:xfrm>
            <a:off x="64922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anim_5_c"/>
          <p:cNvSpPr/>
          <p:nvPr/>
        </p:nvSpPr>
        <p:spPr>
          <a:xfrm>
            <a:off x="704088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w(8 – f) = 2f + 3</a:t>
            </a:r>
            <a:endParaRPr lang="en-US" sz="1450" dirty="0"/>
          </a:p>
        </p:txBody>
      </p:sp>
      <p:sp>
        <p:nvSpPr>
          <p:cNvPr id="33" name="anim_5_c"/>
          <p:cNvSpPr/>
          <p:nvPr/>
        </p:nvSpPr>
        <p:spPr>
          <a:xfrm>
            <a:off x="649224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4" name="anim_5_c"/>
          <p:cNvSpPr/>
          <p:nvPr/>
        </p:nvSpPr>
        <p:spPr>
          <a:xfrm>
            <a:off x="64922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anim_5_c"/>
          <p:cNvSpPr/>
          <p:nvPr/>
        </p:nvSpPr>
        <p:spPr>
          <a:xfrm>
            <a:off x="704088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8w – 3 = 2f + wf</a:t>
            </a:r>
            <a:endParaRPr lang="en-US" sz="1450" dirty="0"/>
          </a:p>
        </p:txBody>
      </p:sp>
      <p:sp>
        <p:nvSpPr>
          <p:cNvPr id="36" name="anim_5_c"/>
          <p:cNvSpPr/>
          <p:nvPr/>
        </p:nvSpPr>
        <p:spPr>
          <a:xfrm>
            <a:off x="6492240" y="3813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7" name="anim_5_c"/>
          <p:cNvSpPr/>
          <p:nvPr/>
        </p:nvSpPr>
        <p:spPr>
          <a:xfrm>
            <a:off x="64922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anim_5_c"/>
          <p:cNvSpPr/>
          <p:nvPr/>
        </p:nvSpPr>
        <p:spPr>
          <a:xfrm>
            <a:off x="704088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8w – 3 = f(2 + w)</a:t>
            </a:r>
            <a:endParaRPr lang="en-US" sz="1450" dirty="0"/>
          </a:p>
        </p:txBody>
      </p:sp>
      <p:sp>
        <p:nvSpPr>
          <p:cNvPr id="39" name="anim_5_c"/>
          <p:cNvSpPr/>
          <p:nvPr/>
        </p:nvSpPr>
        <p:spPr>
          <a:xfrm>
            <a:off x="6492240" y="44805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12" name="eq01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829504" y="4700016"/>
            <a:ext cx="924672" cy="475488"/>
          </a:xfrm>
          <a:prstGeom prst="rect">
            <a:avLst/>
          </a:prstGeom>
        </p:spPr>
      </p:pic>
      <p:pic>
        <p:nvPicPr>
          <p:cNvPr id="7013" name="eq01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363787" y="4700016"/>
            <a:ext cx="1103225" cy="475488"/>
          </a:xfrm>
          <a:prstGeom prst="rect">
            <a:avLst/>
          </a:prstGeom>
        </p:spPr>
      </p:pic>
      <p:pic>
        <p:nvPicPr>
          <p:cNvPr id="7020" name="eq021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20000" y="1850000"/>
            <a:ext cx="3246225" cy="470000"/>
          </a:xfrm>
          <a:prstGeom prst="rect">
            <a:avLst/>
          </a:prstGeom>
        </p:spPr>
      </p:pic>
      <p:pic>
        <p:nvPicPr>
          <p:cNvPr id="7021" name="eq022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440000" y="1850000"/>
            <a:ext cx="2759543" cy="47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FRACTIONS WITH POWERS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Inside an Algebraic Fraction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86868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8686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1_a"/>
          <p:cNvSpPr/>
          <p:nvPr/>
        </p:nvSpPr>
        <p:spPr>
          <a:xfrm>
            <a:off x="141732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yn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n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d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2_c"/>
          <p:cNvSpPr/>
          <p:nvPr/>
        </p:nvSpPr>
        <p:spPr>
          <a:xfrm>
            <a:off x="141732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 – 1) = d</a:t>
            </a:r>
            <a:endParaRPr lang="en-US" sz="1400" dirty="0"/>
          </a:p>
        </p:txBody>
      </p:sp>
      <p:sp>
        <p:nvSpPr>
          <p:cNvPr id="17" name="anim_3_c"/>
          <p:cNvSpPr/>
          <p:nvPr/>
        </p:nvSpPr>
        <p:spPr>
          <a:xfrm>
            <a:off x="868680" y="40690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anim_4_c"/>
          <p:cNvSpPr/>
          <p:nvPr/>
        </p:nvSpPr>
        <p:spPr>
          <a:xfrm>
            <a:off x="617220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anim_4_c"/>
          <p:cNvSpPr/>
          <p:nvPr/>
        </p:nvSpPr>
        <p:spPr>
          <a:xfrm>
            <a:off x="649224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9" name="anim_4_c"/>
          <p:cNvSpPr/>
          <p:nvPr/>
        </p:nvSpPr>
        <p:spPr>
          <a:xfrm>
            <a:off x="64922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anim_4_c"/>
          <p:cNvSpPr/>
          <p:nvPr/>
        </p:nvSpPr>
        <p:spPr>
          <a:xfrm>
            <a:off x="704088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4d + e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anim_5_c"/>
          <p:cNvSpPr/>
          <p:nvPr/>
        </p:nvSpPr>
        <p:spPr>
          <a:xfrm>
            <a:off x="649224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2" name="anim_5_c"/>
          <p:cNvSpPr/>
          <p:nvPr/>
        </p:nvSpPr>
        <p:spPr>
          <a:xfrm>
            <a:off x="64922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anim_5_c"/>
          <p:cNvSpPr/>
          <p:nvPr/>
        </p:nvSpPr>
        <p:spPr>
          <a:xfrm>
            <a:off x="704088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4d   →   √</a:t>
            </a:r>
            <a:endParaRPr lang="en-US" sz="1400" dirty="0"/>
          </a:p>
        </p:txBody>
      </p:sp>
      <p:sp>
        <p:nvSpPr>
          <p:cNvPr id="34" name="anim_6_c"/>
          <p:cNvSpPr/>
          <p:nvPr/>
        </p:nvSpPr>
        <p:spPr>
          <a:xfrm>
            <a:off x="6492240" y="406908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014" name="eq01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86282" y="4288536"/>
            <a:ext cx="1011116" cy="475488"/>
          </a:xfrm>
          <a:prstGeom prst="rect">
            <a:avLst/>
          </a:prstGeom>
        </p:spPr>
      </p:pic>
      <p:pic>
        <p:nvPicPr>
          <p:cNvPr id="7015" name="eq01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7986078" y="4222699"/>
            <a:ext cx="1584323" cy="332841"/>
          </a:xfrm>
          <a:prstGeom prst="rect">
            <a:avLst/>
          </a:prstGeom>
        </p:spPr>
      </p:pic>
      <p:pic>
        <p:nvPicPr>
          <p:cNvPr id="7022" name="eq023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20000" y="1850000"/>
            <a:ext cx="3402092" cy="470000"/>
          </a:xfrm>
          <a:prstGeom prst="rect">
            <a:avLst/>
          </a:prstGeom>
        </p:spPr>
      </p:pic>
      <p:pic>
        <p:nvPicPr>
          <p:cNvPr id="7023" name="eq024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440000" y="1850000"/>
            <a:ext cx="2928158" cy="47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FRACTIONS WITH ROOTS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Both Sides First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86868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8686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1_a"/>
          <p:cNvSpPr/>
          <p:nvPr/>
        </p:nvSpPr>
        <p:spPr>
          <a:xfrm>
            <a:off x="141732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square:  p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+ e) = ae + 8</a:t>
            </a:r>
            <a:endParaRPr lang="en-US" sz="1350" dirty="0"/>
          </a:p>
        </p:txBody>
      </p:sp>
      <p:sp>
        <p:nvSpPr>
          <p:cNvPr id="14" name="anim_2_c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2_c"/>
          <p:cNvSpPr/>
          <p:nvPr/>
        </p:nvSpPr>
        <p:spPr>
          <a:xfrm>
            <a:off x="141732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3p</a:t>
            </a:r>
            <a:r>
              <a:rPr lang="en-US" sz="12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 = ae – ep</a:t>
            </a:r>
            <a:r>
              <a:rPr lang="en-US" sz="12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e(a – p</a:t>
            </a:r>
            <a:r>
              <a:rPr lang="en-US" sz="12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2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50" dirty="0"/>
          </a:p>
        </p:txBody>
      </p:sp>
      <p:sp>
        <p:nvSpPr>
          <p:cNvPr id="17" name="anim_3_c"/>
          <p:cNvSpPr/>
          <p:nvPr/>
        </p:nvSpPr>
        <p:spPr>
          <a:xfrm>
            <a:off x="868680" y="40690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anim_4_c"/>
          <p:cNvSpPr/>
          <p:nvPr/>
        </p:nvSpPr>
        <p:spPr>
          <a:xfrm>
            <a:off x="617220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anim_4_c"/>
          <p:cNvSpPr/>
          <p:nvPr/>
        </p:nvSpPr>
        <p:spPr>
          <a:xfrm>
            <a:off x="6492240" y="2715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8" name="anim_4_c"/>
          <p:cNvSpPr/>
          <p:nvPr/>
        </p:nvSpPr>
        <p:spPr>
          <a:xfrm>
            <a:off x="64922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anim_4_c"/>
          <p:cNvSpPr/>
          <p:nvPr/>
        </p:nvSpPr>
        <p:spPr>
          <a:xfrm>
            <a:off x="704088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square:  y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 = 3x – 2</a:t>
            </a:r>
            <a:endParaRPr lang="en-US" sz="1350" dirty="0"/>
          </a:p>
        </p:txBody>
      </p:sp>
      <p:sp>
        <p:nvSpPr>
          <p:cNvPr id="30" name="anim_5_c"/>
          <p:cNvSpPr/>
          <p:nvPr/>
        </p:nvSpPr>
        <p:spPr>
          <a:xfrm>
            <a:off x="6492240" y="32644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1" name="anim_5_c"/>
          <p:cNvSpPr/>
          <p:nvPr/>
        </p:nvSpPr>
        <p:spPr>
          <a:xfrm>
            <a:off x="64922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anim_5_c"/>
          <p:cNvSpPr/>
          <p:nvPr/>
        </p:nvSpPr>
        <p:spPr>
          <a:xfrm>
            <a:off x="704088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x(y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3) = – 2 – y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33" name="anim_6_c"/>
          <p:cNvSpPr/>
          <p:nvPr/>
        </p:nvSpPr>
        <p:spPr>
          <a:xfrm>
            <a:off x="6492240" y="40690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16" name="eq01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895908" y="4288536"/>
            <a:ext cx="883303" cy="475488"/>
          </a:xfrm>
          <a:prstGeom prst="rect">
            <a:avLst/>
          </a:prstGeom>
        </p:spPr>
      </p:pic>
      <p:pic>
        <p:nvPicPr>
          <p:cNvPr id="7017" name="eq01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560477" y="4288536"/>
            <a:ext cx="801285" cy="475488"/>
          </a:xfrm>
          <a:prstGeom prst="rect">
            <a:avLst/>
          </a:prstGeom>
        </p:spPr>
      </p:pic>
      <p:pic>
        <p:nvPicPr>
          <p:cNvPr id="7024" name="eq02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20000" y="1800000"/>
            <a:ext cx="3441619" cy="560000"/>
          </a:xfrm>
          <a:prstGeom prst="rect">
            <a:avLst/>
          </a:prstGeom>
        </p:spPr>
      </p:pic>
      <p:pic>
        <p:nvPicPr>
          <p:cNvPr id="7025" name="eq02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440000" y="1800000"/>
            <a:ext cx="3559834" cy="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WORDED FORMULAE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Rearranging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Pythagoras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86868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√(a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.   Make a the subject.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1_a"/>
          <p:cNvSpPr/>
          <p:nvPr/>
        </p:nvSpPr>
        <p:spPr>
          <a:xfrm>
            <a:off x="8686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1_a"/>
          <p:cNvSpPr/>
          <p:nvPr/>
        </p:nvSpPr>
        <p:spPr>
          <a:xfrm>
            <a:off x="1417320" y="2697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square:  c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868680" y="33558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2_c"/>
          <p:cNvSpPr/>
          <p:nvPr/>
        </p:nvSpPr>
        <p:spPr>
          <a:xfrm>
            <a:off x="8686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141732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c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b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square-root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868680" y="402336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6172200" y="17373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6492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Pendulum</a:t>
            </a:r>
            <a:endParaRPr lang="en-US" sz="1200" dirty="0"/>
          </a:p>
        </p:txBody>
      </p:sp>
      <p:sp>
        <p:nvSpPr>
          <p:cNvPr id="20" name="anim_4_c"/>
          <p:cNvSpPr/>
          <p:nvPr/>
        </p:nvSpPr>
        <p:spPr>
          <a:xfrm>
            <a:off x="6492240" y="2761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4_c"/>
          <p:cNvSpPr/>
          <p:nvPr/>
        </p:nvSpPr>
        <p:spPr>
          <a:xfrm>
            <a:off x="64922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anim_5_c"/>
          <p:cNvSpPr/>
          <p:nvPr/>
        </p:nvSpPr>
        <p:spPr>
          <a:xfrm>
            <a:off x="6492240" y="33558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5_c"/>
          <p:cNvSpPr/>
          <p:nvPr/>
        </p:nvSpPr>
        <p:spPr>
          <a:xfrm>
            <a:off x="64922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anim_5_c"/>
          <p:cNvSpPr/>
          <p:nvPr/>
        </p:nvSpPr>
        <p:spPr>
          <a:xfrm>
            <a:off x="704088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g</a:t>
            </a:r>
            <a:endParaRPr lang="en-US" sz="1400" dirty="0"/>
          </a:p>
        </p:txBody>
      </p:sp>
      <p:sp>
        <p:nvSpPr>
          <p:cNvPr id="26" name="anim_6_c"/>
          <p:cNvSpPr/>
          <p:nvPr/>
        </p:nvSpPr>
        <p:spPr>
          <a:xfrm>
            <a:off x="6492240" y="40233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018" name="eq01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475684" y="4176979"/>
            <a:ext cx="1357991" cy="332841"/>
          </a:xfrm>
          <a:prstGeom prst="rect">
            <a:avLst/>
          </a:prstGeom>
        </p:spPr>
      </p:pic>
      <p:pic>
        <p:nvPicPr>
          <p:cNvPr id="7019" name="eq020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605670" y="4242816"/>
            <a:ext cx="619460" cy="475488"/>
          </a:xfrm>
          <a:prstGeom prst="rect">
            <a:avLst/>
          </a:prstGeom>
        </p:spPr>
      </p:pic>
      <p:pic>
        <p:nvPicPr>
          <p:cNvPr id="7036" name="eq037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6440000" y="2080000"/>
            <a:ext cx="2728340" cy="430000"/>
          </a:xfrm>
          <a:prstGeom prst="rect">
            <a:avLst/>
          </a:prstGeom>
        </p:spPr>
      </p:pic>
      <p:pic>
        <p:nvPicPr>
          <p:cNvPr id="7037" name="eq038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990000" y="2650000"/>
            <a:ext cx="3708477" cy="43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Linear, Powers &amp; Roots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</a:t>
            </a:r>
            <a:endParaRPr lang="en-US" sz="950" dirty="0"/>
          </a:p>
        </p:txBody>
      </p:sp>
      <p:sp>
        <p:nvSpPr>
          <p:cNvPr id="9" name="anim_1_a"/>
          <p:cNvSpPr/>
          <p:nvPr/>
        </p:nvSpPr>
        <p:spPr>
          <a:xfrm>
            <a:off x="841248" y="2313432"/>
            <a:ext cx="29718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g + 2ac</a:t>
            </a:r>
            <a:endParaRPr lang="en-US" sz="1700" dirty="0"/>
          </a:p>
        </p:txBody>
      </p:sp>
      <p:sp>
        <p:nvSpPr>
          <p:cNvPr id="10" name="anim_1_a"/>
          <p:cNvSpPr/>
          <p:nvPr/>
        </p:nvSpPr>
        <p:spPr>
          <a:xfrm>
            <a:off x="4261104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4498848" y="189280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4498848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</a:t>
            </a:r>
            <a:endParaRPr lang="en-US" sz="950" dirty="0"/>
          </a:p>
        </p:txBody>
      </p:sp>
      <p:sp>
        <p:nvSpPr>
          <p:cNvPr id="13" name="anim_1_a"/>
          <p:cNvSpPr/>
          <p:nvPr/>
        </p:nvSpPr>
        <p:spPr>
          <a:xfrm>
            <a:off x="4553712" y="2313432"/>
            <a:ext cx="29718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ac – bd</a:t>
            </a:r>
            <a:endParaRPr lang="en-US" sz="1700" dirty="0"/>
          </a:p>
        </p:txBody>
      </p:sp>
      <p:sp>
        <p:nvSpPr>
          <p:cNvPr id="14" name="anim_1_a"/>
          <p:cNvSpPr/>
          <p:nvPr/>
        </p:nvSpPr>
        <p:spPr>
          <a:xfrm>
            <a:off x="797356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nim_1_a"/>
          <p:cNvSpPr/>
          <p:nvPr/>
        </p:nvSpPr>
        <p:spPr>
          <a:xfrm>
            <a:off x="8211312" y="189280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8211312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</a:t>
            </a:r>
            <a:endParaRPr lang="en-US" sz="950" dirty="0"/>
          </a:p>
        </p:txBody>
      </p:sp>
      <p:sp>
        <p:nvSpPr>
          <p:cNvPr id="18" name="anim_2_c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786384" y="39959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786384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</a:t>
            </a:r>
            <a:endParaRPr lang="en-US" sz="950" dirty="0"/>
          </a:p>
        </p:txBody>
      </p:sp>
      <p:sp>
        <p:nvSpPr>
          <p:cNvPr id="21" name="anim_2_c"/>
          <p:cNvSpPr/>
          <p:nvPr/>
        </p:nvSpPr>
        <p:spPr>
          <a:xfrm>
            <a:off x="841248" y="4416552"/>
            <a:ext cx="29718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t</a:t>
            </a: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8v</a:t>
            </a:r>
            <a:endParaRPr lang="en-US" sz="1700" dirty="0"/>
          </a:p>
        </p:txBody>
      </p:sp>
      <p:sp>
        <p:nvSpPr>
          <p:cNvPr id="22" name="anim_2_c"/>
          <p:cNvSpPr/>
          <p:nvPr/>
        </p:nvSpPr>
        <p:spPr>
          <a:xfrm>
            <a:off x="4261104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anim_2_c"/>
          <p:cNvSpPr/>
          <p:nvPr/>
        </p:nvSpPr>
        <p:spPr>
          <a:xfrm>
            <a:off x="4498848" y="39959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4498848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  (b &gt; 0)</a:t>
            </a:r>
            <a:endParaRPr lang="en-US" sz="950" dirty="0"/>
          </a:p>
        </p:txBody>
      </p:sp>
      <p:sp>
        <p:nvSpPr>
          <p:cNvPr id="25" name="anim_2_c"/>
          <p:cNvSpPr/>
          <p:nvPr/>
        </p:nvSpPr>
        <p:spPr>
          <a:xfrm>
            <a:off x="4553712" y="4416552"/>
            <a:ext cx="29718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½ ab</a:t>
            </a: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c</a:t>
            </a:r>
            <a:endParaRPr lang="en-US" sz="1700" dirty="0"/>
          </a:p>
        </p:txBody>
      </p:sp>
      <p:sp>
        <p:nvSpPr>
          <p:cNvPr id="26" name="anim_2_c"/>
          <p:cNvSpPr/>
          <p:nvPr/>
        </p:nvSpPr>
        <p:spPr>
          <a:xfrm>
            <a:off x="7973568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anim_2_c"/>
          <p:cNvSpPr/>
          <p:nvPr/>
        </p:nvSpPr>
        <p:spPr>
          <a:xfrm>
            <a:off x="8211312" y="39959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8211312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</a:t>
            </a:r>
            <a:endParaRPr lang="en-US" sz="950" dirty="0"/>
          </a:p>
        </p:txBody>
      </p:sp>
      <p:sp>
        <p:nvSpPr>
          <p:cNvPr id="29" name="anim_2_c"/>
          <p:cNvSpPr/>
          <p:nvPr/>
        </p:nvSpPr>
        <p:spPr>
          <a:xfrm>
            <a:off x="8266176" y="4416552"/>
            <a:ext cx="29718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√(⅓ ef)</a:t>
            </a:r>
            <a:endParaRPr lang="en-US" sz="1700" dirty="0"/>
          </a:p>
        </p:txBody>
      </p:sp>
      <p:pic>
        <p:nvPicPr>
          <p:cNvPr id="7038" name="eq03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200000" y="2210000"/>
            <a:ext cx="1238809" cy="43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Fractions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9933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x</a:t>
            </a:r>
            <a:endParaRPr lang="en-US" sz="1000" dirty="0"/>
          </a:p>
        </p:txBody>
      </p:sp>
      <p:sp>
        <p:nvSpPr>
          <p:cNvPr id="12" name="anim_1_a"/>
          <p:cNvSpPr/>
          <p:nvPr/>
        </p:nvSpPr>
        <p:spPr>
          <a:xfrm>
            <a:off x="2286000" y="3191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+ 3</a:t>
            </a:r>
            <a:endParaRPr lang="en-US" sz="1500" dirty="0"/>
          </a:p>
        </p:txBody>
      </p:sp>
      <p:sp>
        <p:nvSpPr>
          <p:cNvPr id="13" name="anim_2_c"/>
          <p:cNvSpPr/>
          <p:nvPr/>
        </p:nvSpPr>
        <p:spPr>
          <a:xfrm>
            <a:off x="4261104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4498848" y="19933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4498848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</a:t>
            </a:r>
            <a:endParaRPr lang="en-US" sz="1000" dirty="0"/>
          </a:p>
        </p:txBody>
      </p:sp>
      <p:sp>
        <p:nvSpPr>
          <p:cNvPr id="19" name="anim_2_c"/>
          <p:cNvSpPr/>
          <p:nvPr/>
        </p:nvSpPr>
        <p:spPr>
          <a:xfrm>
            <a:off x="6035040" y="3191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– f</a:t>
            </a:r>
            <a:endParaRPr lang="en-US" sz="1500" dirty="0"/>
          </a:p>
        </p:txBody>
      </p:sp>
      <p:sp>
        <p:nvSpPr>
          <p:cNvPr id="20" name="anim_3_c"/>
          <p:cNvSpPr/>
          <p:nvPr/>
        </p:nvSpPr>
        <p:spPr>
          <a:xfrm>
            <a:off x="7973568" y="1783080"/>
            <a:ext cx="36667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anim_3_c"/>
          <p:cNvSpPr/>
          <p:nvPr/>
        </p:nvSpPr>
        <p:spPr>
          <a:xfrm>
            <a:off x="8211312" y="19933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2" name="anim_3_c"/>
          <p:cNvSpPr/>
          <p:nvPr/>
        </p:nvSpPr>
        <p:spPr>
          <a:xfrm>
            <a:off x="8211312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</a:t>
            </a:r>
            <a:endParaRPr lang="en-US" sz="1000" dirty="0"/>
          </a:p>
        </p:txBody>
      </p:sp>
      <p:sp>
        <p:nvSpPr>
          <p:cNvPr id="26" name="anim_3_c"/>
          <p:cNvSpPr/>
          <p:nvPr/>
        </p:nvSpPr>
        <p:spPr>
          <a:xfrm>
            <a:off x="10012680" y="3191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– y</a:t>
            </a:r>
            <a:endParaRPr lang="en-US" sz="1500" dirty="0"/>
          </a:p>
        </p:txBody>
      </p:sp>
      <p:pic>
        <p:nvPicPr>
          <p:cNvPr id="7026" name="eq02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0000" y="2735000"/>
            <a:ext cx="1052892" cy="470000"/>
          </a:xfrm>
          <a:prstGeom prst="rect">
            <a:avLst/>
          </a:prstGeom>
        </p:spPr>
      </p:pic>
      <p:pic>
        <p:nvPicPr>
          <p:cNvPr id="7027" name="eq02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4500000" y="2735000"/>
            <a:ext cx="918547" cy="470000"/>
          </a:xfrm>
          <a:prstGeom prst="rect">
            <a:avLst/>
          </a:prstGeom>
        </p:spPr>
      </p:pic>
      <p:pic>
        <p:nvPicPr>
          <p:cNvPr id="7028" name="eq029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200000" y="2735000"/>
            <a:ext cx="1183785" cy="47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with Powers &amp; Roots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9933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  (n &gt; 0)</a:t>
            </a:r>
            <a:endParaRPr lang="en-US" sz="950" dirty="0"/>
          </a:p>
        </p:txBody>
      </p:sp>
      <p:sp>
        <p:nvSpPr>
          <p:cNvPr id="13" name="anim_2_c"/>
          <p:cNvSpPr/>
          <p:nvPr/>
        </p:nvSpPr>
        <p:spPr>
          <a:xfrm>
            <a:off x="6172200" y="178308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6409944" y="199339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6409944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</a:t>
            </a:r>
            <a:endParaRPr lang="en-US" sz="1000" dirty="0"/>
          </a:p>
        </p:txBody>
      </p:sp>
      <p:sp>
        <p:nvSpPr>
          <p:cNvPr id="20" name="anim_3_c"/>
          <p:cNvSpPr/>
          <p:nvPr/>
        </p:nvSpPr>
        <p:spPr>
          <a:xfrm>
            <a:off x="548640" y="37490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anim_3_c"/>
          <p:cNvSpPr/>
          <p:nvPr/>
        </p:nvSpPr>
        <p:spPr>
          <a:xfrm>
            <a:off x="786384" y="395935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2" name="anim_3_c"/>
          <p:cNvSpPr/>
          <p:nvPr/>
        </p:nvSpPr>
        <p:spPr>
          <a:xfrm>
            <a:off x="786384" y="3959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</a:t>
            </a:r>
            <a:endParaRPr lang="en-US" sz="1000" dirty="0"/>
          </a:p>
        </p:txBody>
      </p:sp>
      <p:sp>
        <p:nvSpPr>
          <p:cNvPr id="27" name="anim_4_c"/>
          <p:cNvSpPr/>
          <p:nvPr/>
        </p:nvSpPr>
        <p:spPr>
          <a:xfrm>
            <a:off x="6172200" y="37490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anim_4_c"/>
          <p:cNvSpPr/>
          <p:nvPr/>
        </p:nvSpPr>
        <p:spPr>
          <a:xfrm>
            <a:off x="6409944" y="395935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9" name="anim_4_c"/>
          <p:cNvSpPr/>
          <p:nvPr/>
        </p:nvSpPr>
        <p:spPr>
          <a:xfrm>
            <a:off x="6409944" y="3959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x</a:t>
            </a:r>
            <a:endParaRPr lang="en-US" sz="1000" dirty="0"/>
          </a:p>
        </p:txBody>
      </p:sp>
      <p:pic>
        <p:nvPicPr>
          <p:cNvPr id="7029" name="eq03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0000" y="2660000"/>
            <a:ext cx="904602" cy="470000"/>
          </a:xfrm>
          <a:prstGeom prst="rect">
            <a:avLst/>
          </a:prstGeom>
        </p:spPr>
      </p:pic>
      <p:pic>
        <p:nvPicPr>
          <p:cNvPr id="7030" name="eq031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6420000" y="2660000"/>
            <a:ext cx="1077656" cy="470000"/>
          </a:xfrm>
          <a:prstGeom prst="rect">
            <a:avLst/>
          </a:prstGeom>
        </p:spPr>
      </p:pic>
      <p:pic>
        <p:nvPicPr>
          <p:cNvPr id="7031" name="eq032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00000" y="4600000"/>
            <a:ext cx="1314979" cy="560000"/>
          </a:xfrm>
          <a:prstGeom prst="rect">
            <a:avLst/>
          </a:prstGeom>
        </p:spPr>
      </p:pic>
      <p:pic>
        <p:nvPicPr>
          <p:cNvPr id="7032" name="eq033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6420000" y="4600000"/>
            <a:ext cx="1347717" cy="5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108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240" dirty="0"/>
          </a:p>
        </p:txBody>
      </p:sp>
      <p:sp>
        <p:nvSpPr>
          <p:cNvPr id="5" name="Text 3"/>
          <p:cNvSpPr/>
          <p:nvPr/>
        </p:nvSpPr>
        <p:spPr>
          <a:xfrm>
            <a:off x="1517904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Resources</a:t>
            </a:r>
            <a:endParaRPr lang="en-US" sz="3200" dirty="0"/>
          </a:p>
        </p:txBody>
      </p:sp>
      <p:sp>
        <p:nvSpPr>
          <p:cNvPr id="7" name="anim_1_a"/>
          <p:cNvSpPr/>
          <p:nvPr/>
        </p:nvSpPr>
        <p:spPr>
          <a:xfrm>
            <a:off x="73152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anim_1_a"/>
          <p:cNvSpPr/>
          <p:nvPr/>
        </p:nvSpPr>
        <p:spPr>
          <a:xfrm>
            <a:off x="100584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100584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operations, both sides</a:t>
            </a:r>
            <a:endParaRPr lang="en-US" sz="1150" dirty="0"/>
          </a:p>
        </p:txBody>
      </p:sp>
      <p:sp>
        <p:nvSpPr>
          <p:cNvPr id="10" name="anim_1_a"/>
          <p:cNvSpPr/>
          <p:nvPr/>
        </p:nvSpPr>
        <p:spPr>
          <a:xfrm>
            <a:off x="617220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44652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twice</a:t>
            </a:r>
            <a:endParaRPr lang="en-US" sz="1500" dirty="0"/>
          </a:p>
        </p:txBody>
      </p:sp>
      <p:sp>
        <p:nvSpPr>
          <p:cNvPr id="12" name="anim_1_a"/>
          <p:cNvSpPr/>
          <p:nvPr/>
        </p:nvSpPr>
        <p:spPr>
          <a:xfrm>
            <a:off x="644652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· factorise · divide</a:t>
            </a:r>
            <a:endParaRPr lang="en-US" sz="1150" dirty="0"/>
          </a:p>
        </p:txBody>
      </p:sp>
      <p:sp>
        <p:nvSpPr>
          <p:cNvPr id="13" name="anim_2_c"/>
          <p:cNvSpPr/>
          <p:nvPr/>
        </p:nvSpPr>
        <p:spPr>
          <a:xfrm>
            <a:off x="73152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100584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&amp; roots</a:t>
            </a:r>
            <a:endParaRPr lang="en-US" sz="1500" dirty="0"/>
          </a:p>
        </p:txBody>
      </p:sp>
      <p:sp>
        <p:nvSpPr>
          <p:cNvPr id="15" name="anim_2_c"/>
          <p:cNvSpPr/>
          <p:nvPr/>
        </p:nvSpPr>
        <p:spPr>
          <a:xfrm>
            <a:off x="100584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power, take the root</a:t>
            </a:r>
            <a:endParaRPr lang="en-US" sz="1150" dirty="0"/>
          </a:p>
        </p:txBody>
      </p:sp>
      <p:sp>
        <p:nvSpPr>
          <p:cNvPr id="16" name="anim_2_c"/>
          <p:cNvSpPr/>
          <p:nvPr/>
        </p:nvSpPr>
        <p:spPr>
          <a:xfrm>
            <a:off x="617220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644652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644652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</a:t>
            </a:r>
            <a:endParaRPr lang="en-US" sz="1150" dirty="0"/>
          </a:p>
        </p:txBody>
      </p:sp>
      <p:sp>
        <p:nvSpPr>
          <p:cNvPr id="19" name="anim_3_c"/>
          <p:cNvSpPr/>
          <p:nvPr/>
        </p:nvSpPr>
        <p:spPr>
          <a:xfrm>
            <a:off x="73152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anim_3_c"/>
          <p:cNvSpPr/>
          <p:nvPr/>
        </p:nvSpPr>
        <p:spPr>
          <a:xfrm>
            <a:off x="100584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fractions</a:t>
            </a:r>
            <a:endParaRPr lang="en-US" sz="1500" dirty="0"/>
          </a:p>
        </p:txBody>
      </p:sp>
      <p:sp>
        <p:nvSpPr>
          <p:cNvPr id="21" name="anim_3_c"/>
          <p:cNvSpPr/>
          <p:nvPr/>
        </p:nvSpPr>
        <p:spPr>
          <a:xfrm>
            <a:off x="100584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denominators, then factorise</a:t>
            </a:r>
            <a:endParaRPr lang="en-US" sz="1150" dirty="0"/>
          </a:p>
        </p:txBody>
      </p:sp>
      <p:sp>
        <p:nvSpPr>
          <p:cNvPr id="22" name="anim_3_c"/>
          <p:cNvSpPr/>
          <p:nvPr/>
        </p:nvSpPr>
        <p:spPr>
          <a:xfrm>
            <a:off x="617220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anim_3_c"/>
          <p:cNvSpPr/>
          <p:nvPr/>
        </p:nvSpPr>
        <p:spPr>
          <a:xfrm>
            <a:off x="644652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with powers</a:t>
            </a:r>
            <a:endParaRPr lang="en-US" sz="1500" dirty="0"/>
          </a:p>
        </p:txBody>
      </p:sp>
      <p:sp>
        <p:nvSpPr>
          <p:cNvPr id="24" name="anim_3_c"/>
          <p:cNvSpPr/>
          <p:nvPr/>
        </p:nvSpPr>
        <p:spPr>
          <a:xfrm>
            <a:off x="644652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/ root, then rearrange</a:t>
            </a:r>
            <a:endParaRPr lang="en-US" sz="1150" dirty="0"/>
          </a:p>
        </p:txBody>
      </p:sp>
      <p:sp>
        <p:nvSpPr>
          <p:cNvPr id="25" name="anim_3_c"/>
          <p:cNvSpPr/>
          <p:nvPr/>
        </p:nvSpPr>
        <p:spPr>
          <a:xfrm>
            <a:off x="731520" y="507492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16261F"/>
          </a:solidFill>
          <a:ln w="15875">
            <a:solidFill>
              <a:srgbClr val="283731"/>
            </a:solidFill>
            <a:prstDash val="solid"/>
          </a:ln>
        </p:spPr>
      </p:sp>
      <p:sp>
        <p:nvSpPr>
          <p:cNvPr id="26" name="anim_3_c"/>
          <p:cNvSpPr/>
          <p:nvPr/>
        </p:nvSpPr>
        <p:spPr>
          <a:xfrm>
            <a:off x="105156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Practice:  </a:t>
            </a:r>
            <a:r>
              <a:rPr lang="en-US" sz="1250" u="sng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wordwall.net — rearranging formulae        ✉ zahraa.sheikhali@outlook.com  ·  ☎ 66613748</a:t>
            </a:r>
            <a:endParaRPr lang="en-US" sz="1250" dirty="0"/>
          </a:p>
        </p:txBody>
      </p:sp>
      <p:sp>
        <p:nvSpPr>
          <p:cNvPr id="27" name="anim_3_c"/>
          <p:cNvSpPr/>
          <p:nvPr/>
        </p:nvSpPr>
        <p:spPr>
          <a:xfrm>
            <a:off x="1051560" y="55229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Zahra Sheikh Ali  ·  Pearson Edexcel IGCSE (9–1) Mathematics A  ·  Higher Tier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1263</Words>
  <Application>Microsoft Office PowerPoint</Application>
  <PresentationFormat>Custom</PresentationFormat>
  <Paragraphs>260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Brackets — IGCSE Mathematics (Higher Tier)</dc:title>
  <dc:subject>PptxGenJS Presentation</dc:subject>
  <dc:creator>Zahra Sheikh Ali</dc:creator>
  <cp:lastModifiedBy>zahraa sheik ali</cp:lastModifiedBy>
  <cp:revision>2</cp:revision>
  <dcterms:created xsi:type="dcterms:W3CDTF">2026-06-28T11:21:33Z</dcterms:created>
  <dcterms:modified xsi:type="dcterms:W3CDTF">2026-06-29T12:18:37Z</dcterms:modified>
</cp:coreProperties>
</file>