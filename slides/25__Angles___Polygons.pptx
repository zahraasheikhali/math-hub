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  <Override PartName="/ppt/media/image17.png" ContentType="image/png"/>
  <Override PartName="/ppt/media/image8.png" ContentType="image/png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_rels/notesSlide24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FC3E3C-BCCF-44A5-9A68-8709927BAE7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CDBB287-3CC5-48C3-A646-640F5A1EBA0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AC9833A-3495-4C34-8C9A-C0C88F93E8C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FE69A59-7A9A-43A4-B5D5-D40BA987331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DB63838-607D-4C97-9AE5-FA440ACB479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FB90D81-F537-4219-83E6-991F95479FB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DA3E12A-D62E-4EBE-A1DC-53374D2682A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5072390-2166-43D3-9383-2953EBA53374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BAAD7E9-E5FD-453C-8A7D-4270CB4E1BC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E5167EB-C560-495C-BCD3-1DC85C159C3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958170F-E719-4649-AF9E-8595BDF8A54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B737D9-C3EE-4532-B651-BF4A92BCB1C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E6EAF5-E876-47B3-965C-010A985BAF9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5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AFCDD3-ABBF-40F3-873B-28D5185358F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8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63CB9F-1F56-4749-8FDB-4EC4C471230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1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12F8582-43E5-4D66-9B34-8001E0888BF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89C4279-35B1-45DC-B4CA-A1237A41210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7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3C33370-F061-470F-807F-3558C742279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0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6232205-6247-49A5-841E-5AED0DFF824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324F294-A89A-4DE9-A516-0DC60B9C44A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6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3089CBB-ECB1-4D9F-847A-EAF08972537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9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57CDB92-9F13-4BA8-903D-AD3AF221849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4BE257-1023-4A7B-90BF-385970EE2470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5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F4B81F-A108-40BB-914C-82360C18C2B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8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55F0AF1-B5DA-47BE-AF58-C111865B04D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1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F539478-3BC5-4CD8-913B-48EE0C88C2B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4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188EB0-5BA0-4029-9470-2E8987686FD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4386458-E159-4969-9F99-4B23406FE1C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0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DD99A2-D77F-4E3B-8306-F26559BD997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119DA17-84B7-469E-BDC3-D7FE2E31DF6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6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D7A7AC4-FFE5-408E-B015-C1CAFCBA68B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9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0D1AC38-2C47-485E-B25E-F9212B23CDA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2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E8027B6-2DC1-4084-8568-209571930895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9226800" y="640080"/>
            <a:ext cx="1662840" cy="1919880"/>
          </a:xfrm>
          <a:custGeom>
            <a:avLst/>
            <a:gdLst>
              <a:gd name="textAreaLeft" fmla="*/ 0 w 1662840"/>
              <a:gd name="textAreaRight" fmla="*/ 1663200 w 1662840"/>
              <a:gd name="textAreaTop" fmla="*/ 0 h 1919880"/>
              <a:gd name="textAreaBottom" fmla="*/ 1920240 h 1919880"/>
            </a:gdLst>
            <a:ahLst/>
            <a:rect l="textAreaLeft" t="textAreaTop" r="textAreaRight" b="textAreaBottom"/>
            <a:pathLst>
              <a:path w="1663294" h="1920240">
                <a:moveTo>
                  <a:pt x="831190" y="0"/>
                </a:moveTo>
                <a:lnTo>
                  <a:pt x="0" y="480060"/>
                </a:lnTo>
                <a:lnTo>
                  <a:pt x="0" y="1440180"/>
                </a:lnTo>
                <a:lnTo>
                  <a:pt x="831190" y="1920240"/>
                </a:lnTo>
                <a:lnTo>
                  <a:pt x="1663294" y="1440180"/>
                </a:lnTo>
                <a:lnTo>
                  <a:pt x="1663294" y="480060"/>
                </a:lnTo>
                <a:close/>
              </a:path>
            </a:pathLst>
          </a:custGeom>
          <a:solidFill>
            <a:srgbClr val="33463a">
              <a:alpha val="75000"/>
            </a:srgbClr>
          </a:solidFill>
          <a:ln w="254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e0ac2b"/>
                </a:solidFill>
                <a:latin typeface="Cambria"/>
                <a:ea typeface="Cambria"/>
              </a:rPr>
              <a:t>Angles &amp; Polygons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Angle Rules · Parallel Lines · Triangles &amp; Quadrilaterals · Interior &amp; Exterior Angles of Polygons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From Basic Angle Rules to Polygons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Part 1 covers the ANGLE RULES — straight lines, points, triangles and parallel lines.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Part 2 applies them to POLYGONS, using the interior angle sum (n − 2) × 180° and the fact that exterior angles add up to 360°.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Straight line, point, opposite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Triangles &amp; quadrilaterals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Parallel lines: F, Z, 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Interior angle sum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Exterior angles &amp; regular polygons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straight line · vertically opposite · alternate · co-interior · isosceles · polygon · interior · exterior · regular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BASIC RULES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Straight Line · Point · Vertically Opposite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Three rules that appear in almost every question.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1"/>
          <p:cNvSpPr/>
          <p:nvPr/>
        </p:nvSpPr>
        <p:spPr>
          <a:xfrm>
            <a:off x="1622520" y="1947600"/>
            <a:ext cx="8946000" cy="414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0" descr="/tmp/work/agt/t-ang1.png"/>
          <p:cNvPicPr/>
          <p:nvPr/>
        </p:nvPicPr>
        <p:blipFill>
          <a:blip r:embed="rId1"/>
          <a:stretch/>
        </p:blipFill>
        <p:spPr>
          <a:xfrm>
            <a:off x="1704960" y="2030040"/>
            <a:ext cx="8781480" cy="3977280"/>
          </a:xfrm>
          <a:prstGeom prst="rect">
            <a:avLst/>
          </a:prstGeom>
          <a:ln w="0">
            <a:noFill/>
          </a:ln>
        </p:spPr>
      </p:pic>
      <p:sp>
        <p:nvSpPr>
          <p:cNvPr id="163" name="Shape 42"/>
          <p:cNvSpPr/>
          <p:nvPr/>
        </p:nvSpPr>
        <p:spPr>
          <a:xfrm>
            <a:off x="567000" y="62636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43"/>
          <p:cNvSpPr/>
          <p:nvPr/>
        </p:nvSpPr>
        <p:spPr>
          <a:xfrm>
            <a:off x="841320" y="62636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Straight line = 180°.   Full turn at a point = 360°.   Vertically opposite angles are equal.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TRIANGLES &amp; QUADRILATERALS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Angle Sums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Add up the angles inside the shape — and learn the exterior-angle rule.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41"/>
          <p:cNvSpPr/>
          <p:nvPr/>
        </p:nvSpPr>
        <p:spPr>
          <a:xfrm>
            <a:off x="1622520" y="1947600"/>
            <a:ext cx="8946000" cy="414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Image 0" descr="/tmp/work/agt/t-ang2.png"/>
          <p:cNvPicPr/>
          <p:nvPr/>
        </p:nvPicPr>
        <p:blipFill>
          <a:blip r:embed="rId1"/>
          <a:stretch/>
        </p:blipFill>
        <p:spPr>
          <a:xfrm>
            <a:off x="1704960" y="2030040"/>
            <a:ext cx="8781480" cy="3977280"/>
          </a:xfrm>
          <a:prstGeom prst="rect">
            <a:avLst/>
          </a:prstGeom>
          <a:ln w="0">
            <a:noFill/>
          </a:ln>
        </p:spPr>
      </p:pic>
      <p:sp>
        <p:nvSpPr>
          <p:cNvPr id="208" name="Shape 42"/>
          <p:cNvSpPr/>
          <p:nvPr/>
        </p:nvSpPr>
        <p:spPr>
          <a:xfrm>
            <a:off x="567000" y="62636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43"/>
          <p:cNvSpPr/>
          <p:nvPr/>
        </p:nvSpPr>
        <p:spPr>
          <a:xfrm>
            <a:off x="841320" y="62636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Triangle = 180°.   Quadrilateral = 360°.   Exterior angle of a triangle = the two opposite interior angles.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PARALLEL LINES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Corresponding · Alternate · Interior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9"/>
          <p:cNvSpPr/>
          <p:nvPr/>
        </p:nvSpPr>
        <p:spPr>
          <a:xfrm>
            <a:off x="567000" y="128016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40"/>
          <p:cNvSpPr/>
          <p:nvPr/>
        </p:nvSpPr>
        <p:spPr>
          <a:xfrm>
            <a:off x="887040" y="128016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Look for the F, Z and C shapes. Arrows on the lines tell you they are parallel.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41"/>
          <p:cNvSpPr/>
          <p:nvPr/>
        </p:nvSpPr>
        <p:spPr>
          <a:xfrm>
            <a:off x="1622520" y="1947600"/>
            <a:ext cx="8946000" cy="414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Image 0" descr="/tmp/work/agt/t-ang3.png"/>
          <p:cNvPicPr/>
          <p:nvPr/>
        </p:nvPicPr>
        <p:blipFill>
          <a:blip r:embed="rId1"/>
          <a:stretch/>
        </p:blipFill>
        <p:spPr>
          <a:xfrm>
            <a:off x="1704960" y="2030040"/>
            <a:ext cx="8781480" cy="3977280"/>
          </a:xfrm>
          <a:prstGeom prst="rect">
            <a:avLst/>
          </a:prstGeom>
          <a:ln w="0">
            <a:noFill/>
          </a:ln>
        </p:spPr>
      </p:pic>
      <p:sp>
        <p:nvSpPr>
          <p:cNvPr id="253" name="Shape 42"/>
          <p:cNvSpPr/>
          <p:nvPr/>
        </p:nvSpPr>
        <p:spPr>
          <a:xfrm>
            <a:off x="567000" y="626364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43"/>
          <p:cNvSpPr/>
          <p:nvPr/>
        </p:nvSpPr>
        <p:spPr>
          <a:xfrm>
            <a:off x="841320" y="62636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Corresponding and alternate angles are EQUAL;  interior (co-interior) angles ADD UP TO 180°.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ISOSCELES TRIANGLES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Two Equal Sides → Two Equal Angles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Exam questions very often hide an isosceles triangle.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Equal sides (the dashes) mean the base angles are equal.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41"/>
          <p:cNvSpPr/>
          <p:nvPr/>
        </p:nvSpPr>
        <p:spPr>
          <a:xfrm>
            <a:off x="567000" y="2057400"/>
            <a:ext cx="5623200" cy="379440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42"/>
          <p:cNvSpPr/>
          <p:nvPr/>
        </p:nvSpPr>
        <p:spPr>
          <a:xfrm>
            <a:off x="3378600" y="2574000"/>
            <a:ext cx="1970640" cy="2683800"/>
          </a:xfrm>
          <a:prstGeom prst="line">
            <a:avLst/>
          </a:prstGeom>
          <a:ln w="355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43"/>
          <p:cNvSpPr/>
          <p:nvPr/>
        </p:nvSpPr>
        <p:spPr>
          <a:xfrm>
            <a:off x="1417320" y="5257800"/>
            <a:ext cx="3931920" cy="360"/>
          </a:xfrm>
          <a:prstGeom prst="line">
            <a:avLst/>
          </a:prstGeom>
          <a:ln w="355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44"/>
          <p:cNvSpPr/>
          <p:nvPr/>
        </p:nvSpPr>
        <p:spPr>
          <a:xfrm>
            <a:off x="5349240" y="5257800"/>
            <a:ext cx="360" cy="360"/>
          </a:xfrm>
          <a:prstGeom prst="line">
            <a:avLst/>
          </a:prstGeom>
          <a:ln w="355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45"/>
          <p:cNvSpPr/>
          <p:nvPr/>
        </p:nvSpPr>
        <p:spPr>
          <a:xfrm>
            <a:off x="2495520" y="4002480"/>
            <a:ext cx="360" cy="36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46"/>
          <p:cNvSpPr/>
          <p:nvPr/>
        </p:nvSpPr>
        <p:spPr>
          <a:xfrm flipH="1">
            <a:off x="4129200" y="3717000"/>
            <a:ext cx="234720" cy="14148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47"/>
          <p:cNvSpPr/>
          <p:nvPr/>
        </p:nvSpPr>
        <p:spPr>
          <a:xfrm>
            <a:off x="3127320" y="2880360"/>
            <a:ext cx="51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x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48"/>
          <p:cNvSpPr/>
          <p:nvPr/>
        </p:nvSpPr>
        <p:spPr>
          <a:xfrm>
            <a:off x="1600200" y="4727520"/>
            <a:ext cx="51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49"/>
          <p:cNvSpPr/>
          <p:nvPr/>
        </p:nvSpPr>
        <p:spPr>
          <a:xfrm>
            <a:off x="4654440" y="4727520"/>
            <a:ext cx="51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50"/>
          <p:cNvSpPr/>
          <p:nvPr/>
        </p:nvSpPr>
        <p:spPr>
          <a:xfrm>
            <a:off x="777240" y="224028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equal sides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51"/>
          <p:cNvSpPr/>
          <p:nvPr/>
        </p:nvSpPr>
        <p:spPr>
          <a:xfrm>
            <a:off x="567000" y="5440680"/>
            <a:ext cx="5623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the two base angles are equal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52"/>
          <p:cNvSpPr/>
          <p:nvPr/>
        </p:nvSpPr>
        <p:spPr>
          <a:xfrm>
            <a:off x="6446520" y="2057400"/>
            <a:ext cx="5184360" cy="3794400"/>
          </a:xfrm>
          <a:prstGeom prst="roundRect">
            <a:avLst>
              <a:gd name="adj" fmla="val 1446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53"/>
          <p:cNvSpPr/>
          <p:nvPr/>
        </p:nvSpPr>
        <p:spPr>
          <a:xfrm>
            <a:off x="6812280" y="2295000"/>
            <a:ext cx="445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How to use 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54"/>
          <p:cNvSpPr/>
          <p:nvPr/>
        </p:nvSpPr>
        <p:spPr>
          <a:xfrm>
            <a:off x="6748200" y="296280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55"/>
          <p:cNvSpPr/>
          <p:nvPr/>
        </p:nvSpPr>
        <p:spPr>
          <a:xfrm>
            <a:off x="6995160" y="283464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two base angles are EQUAL (both y).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56"/>
          <p:cNvSpPr/>
          <p:nvPr/>
        </p:nvSpPr>
        <p:spPr>
          <a:xfrm>
            <a:off x="6748200" y="351144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57"/>
          <p:cNvSpPr/>
          <p:nvPr/>
        </p:nvSpPr>
        <p:spPr>
          <a:xfrm>
            <a:off x="6995160" y="338328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x + y + y = 180°,  so  x + 2y = 180°.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58"/>
          <p:cNvSpPr/>
          <p:nvPr/>
        </p:nvSpPr>
        <p:spPr>
          <a:xfrm>
            <a:off x="6748200" y="406008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59"/>
          <p:cNvSpPr/>
          <p:nvPr/>
        </p:nvSpPr>
        <p:spPr>
          <a:xfrm>
            <a:off x="6995160" y="393192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Given the apex x:   y = (180° − x) ÷ 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60"/>
          <p:cNvSpPr/>
          <p:nvPr/>
        </p:nvSpPr>
        <p:spPr>
          <a:xfrm>
            <a:off x="6748200" y="460872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61"/>
          <p:cNvSpPr/>
          <p:nvPr/>
        </p:nvSpPr>
        <p:spPr>
          <a:xfrm>
            <a:off x="6995160" y="448056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Given a base angle y:   x = 180° − 2y.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62"/>
          <p:cNvSpPr/>
          <p:nvPr/>
        </p:nvSpPr>
        <p:spPr>
          <a:xfrm>
            <a:off x="6748200" y="5157360"/>
            <a:ext cx="136800" cy="136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63"/>
          <p:cNvSpPr/>
          <p:nvPr/>
        </p:nvSpPr>
        <p:spPr>
          <a:xfrm>
            <a:off x="6995160" y="5029200"/>
            <a:ext cx="4480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Equilateral triangle: every angle is 60°.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64"/>
          <p:cNvSpPr/>
          <p:nvPr/>
        </p:nvSpPr>
        <p:spPr>
          <a:xfrm>
            <a:off x="567000" y="605340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65"/>
          <p:cNvSpPr/>
          <p:nvPr/>
        </p:nvSpPr>
        <p:spPr>
          <a:xfrm>
            <a:off x="841320" y="6053400"/>
            <a:ext cx="10515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Equal sides → equal base angles. Look for the dashes, or two matching sides / radii.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42"/>
          <p:cNvSpPr/>
          <p:nvPr/>
        </p:nvSpPr>
        <p:spPr>
          <a:xfrm flipH="1">
            <a:off x="1417320" y="2574000"/>
            <a:ext cx="1935720" cy="2720160"/>
          </a:xfrm>
          <a:prstGeom prst="line">
            <a:avLst/>
          </a:prstGeom>
          <a:ln w="3556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46"/>
          <p:cNvSpPr/>
          <p:nvPr/>
        </p:nvSpPr>
        <p:spPr>
          <a:xfrm>
            <a:off x="2325960" y="3717000"/>
            <a:ext cx="169560" cy="251280"/>
          </a:xfrm>
          <a:prstGeom prst="line">
            <a:avLst/>
          </a:prstGeom>
          <a:ln w="330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EXAM TECHNIQUE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Give a Reason for Every Step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39"/>
          <p:cNvSpPr/>
          <p:nvPr/>
        </p:nvSpPr>
        <p:spPr>
          <a:xfrm>
            <a:off x="567000" y="132588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40"/>
          <p:cNvSpPr/>
          <p:nvPr/>
        </p:nvSpPr>
        <p:spPr>
          <a:xfrm>
            <a:off x="887040" y="132588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Marks are given for the REASON as well as the number. Use the proper wording.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41"/>
          <p:cNvSpPr/>
          <p:nvPr/>
        </p:nvSpPr>
        <p:spPr>
          <a:xfrm>
            <a:off x="567000" y="2057400"/>
            <a:ext cx="5348880" cy="43848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42"/>
          <p:cNvSpPr/>
          <p:nvPr/>
        </p:nvSpPr>
        <p:spPr>
          <a:xfrm>
            <a:off x="676800" y="2057400"/>
            <a:ext cx="5129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mbria"/>
                <a:ea typeface="Cambria"/>
              </a:rPr>
              <a:t>What you used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43"/>
          <p:cNvSpPr/>
          <p:nvPr/>
        </p:nvSpPr>
        <p:spPr>
          <a:xfrm>
            <a:off x="6035040" y="2057400"/>
            <a:ext cx="5595840" cy="43848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44"/>
          <p:cNvSpPr/>
          <p:nvPr/>
        </p:nvSpPr>
        <p:spPr>
          <a:xfrm>
            <a:off x="6144840" y="2057400"/>
            <a:ext cx="53762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mbria"/>
                <a:ea typeface="Cambria"/>
              </a:rPr>
              <a:t>How to write the reason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45"/>
          <p:cNvSpPr/>
          <p:nvPr/>
        </p:nvSpPr>
        <p:spPr>
          <a:xfrm>
            <a:off x="567000" y="2496240"/>
            <a:ext cx="53488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46"/>
          <p:cNvSpPr/>
          <p:nvPr/>
        </p:nvSpPr>
        <p:spPr>
          <a:xfrm>
            <a:off x="731520" y="2496240"/>
            <a:ext cx="5019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Straight 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47"/>
          <p:cNvSpPr/>
          <p:nvPr/>
        </p:nvSpPr>
        <p:spPr>
          <a:xfrm>
            <a:off x="6035040" y="2496240"/>
            <a:ext cx="55958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48"/>
          <p:cNvSpPr/>
          <p:nvPr/>
        </p:nvSpPr>
        <p:spPr>
          <a:xfrm>
            <a:off x="6199560" y="2496240"/>
            <a:ext cx="5266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angles on a straight line add up to 180°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49"/>
          <p:cNvSpPr/>
          <p:nvPr/>
        </p:nvSpPr>
        <p:spPr>
          <a:xfrm>
            <a:off x="567000" y="2953440"/>
            <a:ext cx="53488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50"/>
          <p:cNvSpPr/>
          <p:nvPr/>
        </p:nvSpPr>
        <p:spPr>
          <a:xfrm>
            <a:off x="731520" y="2953440"/>
            <a:ext cx="5019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Point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51"/>
          <p:cNvSpPr/>
          <p:nvPr/>
        </p:nvSpPr>
        <p:spPr>
          <a:xfrm>
            <a:off x="6035040" y="2953440"/>
            <a:ext cx="55958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52"/>
          <p:cNvSpPr/>
          <p:nvPr/>
        </p:nvSpPr>
        <p:spPr>
          <a:xfrm>
            <a:off x="6199560" y="2953440"/>
            <a:ext cx="5266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angles at a point add up to 360°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53"/>
          <p:cNvSpPr/>
          <p:nvPr/>
        </p:nvSpPr>
        <p:spPr>
          <a:xfrm>
            <a:off x="567000" y="3410640"/>
            <a:ext cx="53488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54"/>
          <p:cNvSpPr/>
          <p:nvPr/>
        </p:nvSpPr>
        <p:spPr>
          <a:xfrm>
            <a:off x="731520" y="3410640"/>
            <a:ext cx="5019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Crossing lines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55"/>
          <p:cNvSpPr/>
          <p:nvPr/>
        </p:nvSpPr>
        <p:spPr>
          <a:xfrm>
            <a:off x="6035040" y="3410640"/>
            <a:ext cx="55958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56"/>
          <p:cNvSpPr/>
          <p:nvPr/>
        </p:nvSpPr>
        <p:spPr>
          <a:xfrm>
            <a:off x="6199560" y="3410640"/>
            <a:ext cx="5266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vertically opposite angles are equal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57"/>
          <p:cNvSpPr/>
          <p:nvPr/>
        </p:nvSpPr>
        <p:spPr>
          <a:xfrm>
            <a:off x="567000" y="3867840"/>
            <a:ext cx="53488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58"/>
          <p:cNvSpPr/>
          <p:nvPr/>
        </p:nvSpPr>
        <p:spPr>
          <a:xfrm>
            <a:off x="731520" y="3867840"/>
            <a:ext cx="5019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Triangle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59"/>
          <p:cNvSpPr/>
          <p:nvPr/>
        </p:nvSpPr>
        <p:spPr>
          <a:xfrm>
            <a:off x="6035040" y="3867840"/>
            <a:ext cx="55958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60"/>
          <p:cNvSpPr/>
          <p:nvPr/>
        </p:nvSpPr>
        <p:spPr>
          <a:xfrm>
            <a:off x="6199560" y="3867840"/>
            <a:ext cx="5266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angles in a triangle add up to 180°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61"/>
          <p:cNvSpPr/>
          <p:nvPr/>
        </p:nvSpPr>
        <p:spPr>
          <a:xfrm>
            <a:off x="567000" y="4325040"/>
            <a:ext cx="53488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62"/>
          <p:cNvSpPr/>
          <p:nvPr/>
        </p:nvSpPr>
        <p:spPr>
          <a:xfrm>
            <a:off x="731520" y="4325040"/>
            <a:ext cx="5019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Parallel, F-shape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63"/>
          <p:cNvSpPr/>
          <p:nvPr/>
        </p:nvSpPr>
        <p:spPr>
          <a:xfrm>
            <a:off x="6035040" y="4325040"/>
            <a:ext cx="55958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64"/>
          <p:cNvSpPr/>
          <p:nvPr/>
        </p:nvSpPr>
        <p:spPr>
          <a:xfrm>
            <a:off x="6199560" y="4325040"/>
            <a:ext cx="5266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corresponding angles are equal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65"/>
          <p:cNvSpPr/>
          <p:nvPr/>
        </p:nvSpPr>
        <p:spPr>
          <a:xfrm>
            <a:off x="567000" y="4782240"/>
            <a:ext cx="53488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66"/>
          <p:cNvSpPr/>
          <p:nvPr/>
        </p:nvSpPr>
        <p:spPr>
          <a:xfrm>
            <a:off x="731520" y="4782240"/>
            <a:ext cx="5019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Parallel, Z-shape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67"/>
          <p:cNvSpPr/>
          <p:nvPr/>
        </p:nvSpPr>
        <p:spPr>
          <a:xfrm>
            <a:off x="6035040" y="4782240"/>
            <a:ext cx="55958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68"/>
          <p:cNvSpPr/>
          <p:nvPr/>
        </p:nvSpPr>
        <p:spPr>
          <a:xfrm>
            <a:off x="6199560" y="4782240"/>
            <a:ext cx="5266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alternate angles are equal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69"/>
          <p:cNvSpPr/>
          <p:nvPr/>
        </p:nvSpPr>
        <p:spPr>
          <a:xfrm>
            <a:off x="567000" y="5239440"/>
            <a:ext cx="53488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70"/>
          <p:cNvSpPr/>
          <p:nvPr/>
        </p:nvSpPr>
        <p:spPr>
          <a:xfrm>
            <a:off x="731520" y="5239440"/>
            <a:ext cx="5019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Parallel, C-shape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71"/>
          <p:cNvSpPr/>
          <p:nvPr/>
        </p:nvSpPr>
        <p:spPr>
          <a:xfrm>
            <a:off x="6035040" y="5239440"/>
            <a:ext cx="559584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72"/>
          <p:cNvSpPr/>
          <p:nvPr/>
        </p:nvSpPr>
        <p:spPr>
          <a:xfrm>
            <a:off x="6199560" y="5239440"/>
            <a:ext cx="5266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co-interior angles add up to 180°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73"/>
          <p:cNvSpPr/>
          <p:nvPr/>
        </p:nvSpPr>
        <p:spPr>
          <a:xfrm>
            <a:off x="567000" y="5696640"/>
            <a:ext cx="53488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74"/>
          <p:cNvSpPr/>
          <p:nvPr/>
        </p:nvSpPr>
        <p:spPr>
          <a:xfrm>
            <a:off x="731520" y="5696640"/>
            <a:ext cx="50198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f2f"/>
                </a:solidFill>
                <a:latin typeface="Cambria"/>
                <a:ea typeface="Cambria"/>
              </a:rPr>
              <a:t>Equal sides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75"/>
          <p:cNvSpPr/>
          <p:nvPr/>
        </p:nvSpPr>
        <p:spPr>
          <a:xfrm>
            <a:off x="6035040" y="5696640"/>
            <a:ext cx="559584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76"/>
          <p:cNvSpPr/>
          <p:nvPr/>
        </p:nvSpPr>
        <p:spPr>
          <a:xfrm>
            <a:off x="6199560" y="5696640"/>
            <a:ext cx="526644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a22"/>
                </a:solidFill>
                <a:latin typeface="Cambria"/>
                <a:ea typeface="Cambria"/>
              </a:rPr>
              <a:t>base angles of an isosceles triangle are equal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77"/>
          <p:cNvSpPr/>
          <p:nvPr/>
        </p:nvSpPr>
        <p:spPr>
          <a:xfrm>
            <a:off x="567000" y="62636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Work one angle at a time, write it on the diagram, and state the reason — then use it to find the next.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Angles in Polygons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Every polygon question comes from two facts: the interior angle sum, and exterior angles = 360°.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Sum of interior = (n − 2) × 180°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Exterior angles add to 360°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Regular: exterior = 360 ÷ 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interior + exterior = 180°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POLYGONS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Names and What ‘Regular’ Means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REGULAR means all sides equal AND all angles equal.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If it is not regular, the angles can all be different.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41"/>
          <p:cNvSpPr/>
          <p:nvPr/>
        </p:nvSpPr>
        <p:spPr>
          <a:xfrm>
            <a:off x="822960" y="205740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42"/>
          <p:cNvSpPr/>
          <p:nvPr/>
        </p:nvSpPr>
        <p:spPr>
          <a:xfrm>
            <a:off x="1121400" y="2313360"/>
            <a:ext cx="1139760" cy="987120"/>
          </a:xfrm>
          <a:custGeom>
            <a:avLst/>
            <a:gdLst>
              <a:gd name="textAreaLeft" fmla="*/ 0 w 1139760"/>
              <a:gd name="textAreaRight" fmla="*/ 1140120 w 1139760"/>
              <a:gd name="textAreaTop" fmla="*/ 0 h 987120"/>
              <a:gd name="textAreaBottom" fmla="*/ 987480 h 987120"/>
            </a:gdLst>
            <a:ahLst/>
            <a:rect l="textAreaLeft" t="textAreaTop" r="textAreaRight" b="textAreaBottom"/>
            <a:pathLst>
              <a:path w="1140257" h="987552">
                <a:moveTo>
                  <a:pt x="570586" y="0"/>
                </a:moveTo>
                <a:lnTo>
                  <a:pt x="0" y="987552"/>
                </a:lnTo>
                <a:lnTo>
                  <a:pt x="1140257" y="987552"/>
                </a:lnTo>
                <a:close/>
              </a:path>
            </a:pathLst>
          </a:custGeom>
          <a:solidFill>
            <a:srgbClr val="ffffff">
              <a:alpha val="7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43"/>
          <p:cNvSpPr/>
          <p:nvPr/>
        </p:nvSpPr>
        <p:spPr>
          <a:xfrm>
            <a:off x="2514600" y="246888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Triangle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Text 44"/>
          <p:cNvSpPr/>
          <p:nvPr/>
        </p:nvSpPr>
        <p:spPr>
          <a:xfrm>
            <a:off x="2514600" y="292608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3 sides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45"/>
          <p:cNvSpPr/>
          <p:nvPr/>
        </p:nvSpPr>
        <p:spPr>
          <a:xfrm>
            <a:off x="4617720" y="205740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46"/>
          <p:cNvSpPr/>
          <p:nvPr/>
        </p:nvSpPr>
        <p:spPr>
          <a:xfrm>
            <a:off x="4827960" y="2313360"/>
            <a:ext cx="1316520" cy="1316520"/>
          </a:xfrm>
          <a:custGeom>
            <a:avLst/>
            <a:gdLst>
              <a:gd name="textAreaLeft" fmla="*/ 0 w 1316520"/>
              <a:gd name="textAreaRight" fmla="*/ 1316880 w 1316520"/>
              <a:gd name="textAreaTop" fmla="*/ 0 h 1316520"/>
              <a:gd name="textAreaBottom" fmla="*/ 1316880 h 1316520"/>
            </a:gdLst>
            <a:ahLst/>
            <a:rect l="textAreaLeft" t="textAreaTop" r="textAreaRight" b="textAreaBottom"/>
            <a:pathLst>
              <a:path w="1316736" h="1316736">
                <a:moveTo>
                  <a:pt x="658368" y="0"/>
                </a:moveTo>
                <a:lnTo>
                  <a:pt x="0" y="658368"/>
                </a:lnTo>
                <a:lnTo>
                  <a:pt x="658368" y="1316736"/>
                </a:lnTo>
                <a:lnTo>
                  <a:pt x="1316736" y="658368"/>
                </a:lnTo>
                <a:close/>
              </a:path>
            </a:pathLst>
          </a:custGeom>
          <a:solidFill>
            <a:srgbClr val="ffffff">
              <a:alpha val="7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 47"/>
          <p:cNvSpPr/>
          <p:nvPr/>
        </p:nvSpPr>
        <p:spPr>
          <a:xfrm>
            <a:off x="6309360" y="246888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Quadrilateral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48"/>
          <p:cNvSpPr/>
          <p:nvPr/>
        </p:nvSpPr>
        <p:spPr>
          <a:xfrm>
            <a:off x="6309360" y="292608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4 sides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49"/>
          <p:cNvSpPr/>
          <p:nvPr/>
        </p:nvSpPr>
        <p:spPr>
          <a:xfrm>
            <a:off x="8412480" y="205740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50"/>
          <p:cNvSpPr/>
          <p:nvPr/>
        </p:nvSpPr>
        <p:spPr>
          <a:xfrm>
            <a:off x="8655120" y="2313360"/>
            <a:ext cx="1252440" cy="1190160"/>
          </a:xfrm>
          <a:custGeom>
            <a:avLst/>
            <a:gdLst>
              <a:gd name="textAreaLeft" fmla="*/ 0 w 1252440"/>
              <a:gd name="textAreaRight" fmla="*/ 1252800 w 1252440"/>
              <a:gd name="textAreaTop" fmla="*/ 0 h 1190160"/>
              <a:gd name="textAreaBottom" fmla="*/ 1190520 h 1190160"/>
            </a:gdLst>
            <a:ahLst/>
            <a:rect l="textAreaLeft" t="textAreaTop" r="textAreaRight" b="textAreaBottom"/>
            <a:pathLst>
              <a:path w="1252728" h="1190549">
                <a:moveTo>
                  <a:pt x="626364" y="0"/>
                </a:moveTo>
                <a:lnTo>
                  <a:pt x="0" y="455371"/>
                </a:lnTo>
                <a:lnTo>
                  <a:pt x="239573" y="1190549"/>
                </a:lnTo>
                <a:lnTo>
                  <a:pt x="1013155" y="1190549"/>
                </a:lnTo>
                <a:lnTo>
                  <a:pt x="1252728" y="455371"/>
                </a:lnTo>
                <a:close/>
              </a:path>
            </a:pathLst>
          </a:custGeom>
          <a:solidFill>
            <a:srgbClr val="ffffff">
              <a:alpha val="7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Text 51"/>
          <p:cNvSpPr/>
          <p:nvPr/>
        </p:nvSpPr>
        <p:spPr>
          <a:xfrm>
            <a:off x="10104120" y="246888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Pentagon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52"/>
          <p:cNvSpPr/>
          <p:nvPr/>
        </p:nvSpPr>
        <p:spPr>
          <a:xfrm>
            <a:off x="10104120" y="292608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5 sides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53"/>
          <p:cNvSpPr/>
          <p:nvPr/>
        </p:nvSpPr>
        <p:spPr>
          <a:xfrm>
            <a:off x="822960" y="406908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54"/>
          <p:cNvSpPr/>
          <p:nvPr/>
        </p:nvSpPr>
        <p:spPr>
          <a:xfrm>
            <a:off x="1121400" y="4325040"/>
            <a:ext cx="1139760" cy="1316520"/>
          </a:xfrm>
          <a:custGeom>
            <a:avLst/>
            <a:gdLst>
              <a:gd name="textAreaLeft" fmla="*/ 0 w 1139760"/>
              <a:gd name="textAreaRight" fmla="*/ 1140120 w 1139760"/>
              <a:gd name="textAreaTop" fmla="*/ 0 h 1316520"/>
              <a:gd name="textAreaBottom" fmla="*/ 1316880 h 1316520"/>
            </a:gdLst>
            <a:ahLst/>
            <a:rect l="textAreaLeft" t="textAreaTop" r="textAreaRight" b="textAreaBottom"/>
            <a:pathLst>
              <a:path w="1140257" h="1316736">
                <a:moveTo>
                  <a:pt x="570586" y="0"/>
                </a:moveTo>
                <a:lnTo>
                  <a:pt x="0" y="329184"/>
                </a:lnTo>
                <a:lnTo>
                  <a:pt x="0" y="987552"/>
                </a:lnTo>
                <a:lnTo>
                  <a:pt x="570586" y="1316736"/>
                </a:lnTo>
                <a:lnTo>
                  <a:pt x="1140257" y="987552"/>
                </a:lnTo>
                <a:lnTo>
                  <a:pt x="1140257" y="329184"/>
                </a:lnTo>
                <a:close/>
              </a:path>
            </a:pathLst>
          </a:custGeom>
          <a:solidFill>
            <a:srgbClr val="ffffff">
              <a:alpha val="7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 55"/>
          <p:cNvSpPr/>
          <p:nvPr/>
        </p:nvSpPr>
        <p:spPr>
          <a:xfrm>
            <a:off x="2514600" y="448056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Hexagon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56"/>
          <p:cNvSpPr/>
          <p:nvPr/>
        </p:nvSpPr>
        <p:spPr>
          <a:xfrm>
            <a:off x="2514600" y="493776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6 sides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57"/>
          <p:cNvSpPr/>
          <p:nvPr/>
        </p:nvSpPr>
        <p:spPr>
          <a:xfrm>
            <a:off x="4617720" y="406908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58"/>
          <p:cNvSpPr/>
          <p:nvPr/>
        </p:nvSpPr>
        <p:spPr>
          <a:xfrm>
            <a:off x="4827960" y="4325040"/>
            <a:ext cx="1316520" cy="1316520"/>
          </a:xfrm>
          <a:custGeom>
            <a:avLst/>
            <a:gdLst>
              <a:gd name="textAreaLeft" fmla="*/ 0 w 1316520"/>
              <a:gd name="textAreaRight" fmla="*/ 1316880 w 1316520"/>
              <a:gd name="textAreaTop" fmla="*/ 0 h 1316520"/>
              <a:gd name="textAreaBottom" fmla="*/ 1316880 h 1316520"/>
            </a:gdLst>
            <a:ahLst/>
            <a:rect l="textAreaLeft" t="textAreaTop" r="textAreaRight" b="textAreaBottom"/>
            <a:pathLst>
              <a:path w="1316736" h="1316736">
                <a:moveTo>
                  <a:pt x="658368" y="0"/>
                </a:moveTo>
                <a:lnTo>
                  <a:pt x="192938" y="192938"/>
                </a:lnTo>
                <a:lnTo>
                  <a:pt x="0" y="658368"/>
                </a:lnTo>
                <a:lnTo>
                  <a:pt x="192938" y="1123798"/>
                </a:lnTo>
                <a:lnTo>
                  <a:pt x="658368" y="1316736"/>
                </a:lnTo>
                <a:lnTo>
                  <a:pt x="1123798" y="1123798"/>
                </a:lnTo>
                <a:lnTo>
                  <a:pt x="1316736" y="658368"/>
                </a:lnTo>
                <a:lnTo>
                  <a:pt x="1123798" y="192938"/>
                </a:lnTo>
                <a:close/>
              </a:path>
            </a:pathLst>
          </a:custGeom>
          <a:solidFill>
            <a:srgbClr val="ffffff">
              <a:alpha val="7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59"/>
          <p:cNvSpPr/>
          <p:nvPr/>
        </p:nvSpPr>
        <p:spPr>
          <a:xfrm>
            <a:off x="6309360" y="448056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Octagon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60"/>
          <p:cNvSpPr/>
          <p:nvPr/>
        </p:nvSpPr>
        <p:spPr>
          <a:xfrm>
            <a:off x="6309360" y="493776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8 sides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61"/>
          <p:cNvSpPr/>
          <p:nvPr/>
        </p:nvSpPr>
        <p:spPr>
          <a:xfrm>
            <a:off x="8412480" y="4069080"/>
            <a:ext cx="3474360" cy="1828440"/>
          </a:xfrm>
          <a:prstGeom prst="roundRect">
            <a:avLst>
              <a:gd name="adj" fmla="val 30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62"/>
          <p:cNvSpPr/>
          <p:nvPr/>
        </p:nvSpPr>
        <p:spPr>
          <a:xfrm>
            <a:off x="8655120" y="4325040"/>
            <a:ext cx="1252440" cy="1316520"/>
          </a:xfrm>
          <a:custGeom>
            <a:avLst/>
            <a:gdLst>
              <a:gd name="textAreaLeft" fmla="*/ 0 w 1252440"/>
              <a:gd name="textAreaRight" fmla="*/ 1252800 w 1252440"/>
              <a:gd name="textAreaTop" fmla="*/ 0 h 1316520"/>
              <a:gd name="textAreaBottom" fmla="*/ 1316880 h 1316520"/>
            </a:gdLst>
            <a:ahLst/>
            <a:rect l="textAreaLeft" t="textAreaTop" r="textAreaRight" b="textAreaBottom"/>
            <a:pathLst>
              <a:path w="1252728" h="1316736">
                <a:moveTo>
                  <a:pt x="626364" y="0"/>
                </a:moveTo>
                <a:lnTo>
                  <a:pt x="239573" y="126187"/>
                </a:lnTo>
                <a:lnTo>
                  <a:pt x="0" y="455371"/>
                </a:lnTo>
                <a:lnTo>
                  <a:pt x="0" y="861365"/>
                </a:lnTo>
                <a:lnTo>
                  <a:pt x="239573" y="1190549"/>
                </a:lnTo>
                <a:lnTo>
                  <a:pt x="626364" y="1316736"/>
                </a:lnTo>
                <a:lnTo>
                  <a:pt x="1013155" y="1190549"/>
                </a:lnTo>
                <a:lnTo>
                  <a:pt x="1252728" y="861365"/>
                </a:lnTo>
                <a:lnTo>
                  <a:pt x="1252728" y="455371"/>
                </a:lnTo>
                <a:lnTo>
                  <a:pt x="1013155" y="126187"/>
                </a:lnTo>
                <a:close/>
              </a:path>
            </a:pathLst>
          </a:custGeom>
          <a:solidFill>
            <a:srgbClr val="ffffff">
              <a:alpha val="7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63"/>
          <p:cNvSpPr/>
          <p:nvPr/>
        </p:nvSpPr>
        <p:spPr>
          <a:xfrm>
            <a:off x="10104120" y="4480560"/>
            <a:ext cx="16912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Decagon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64"/>
          <p:cNvSpPr/>
          <p:nvPr/>
        </p:nvSpPr>
        <p:spPr>
          <a:xfrm>
            <a:off x="10104120" y="493776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10 sides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65"/>
          <p:cNvSpPr/>
          <p:nvPr/>
        </p:nvSpPr>
        <p:spPr>
          <a:xfrm>
            <a:off x="567000" y="61264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n = the number of sides. A regular polygon has n equal sides and n equal angles.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INTERIOR ANGLE SUM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Split the Polygon into Triangles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39"/>
          <p:cNvSpPr/>
          <p:nvPr/>
        </p:nvSpPr>
        <p:spPr>
          <a:xfrm>
            <a:off x="567000" y="128016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40"/>
          <p:cNvSpPr/>
          <p:nvPr/>
        </p:nvSpPr>
        <p:spPr>
          <a:xfrm>
            <a:off x="887040" y="128016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From one corner, draw diagonals.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A polygon with n sides splits into (n − 2) triangles, and each triangle is 180°.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41"/>
          <p:cNvSpPr/>
          <p:nvPr/>
        </p:nvSpPr>
        <p:spPr>
          <a:xfrm>
            <a:off x="1582560" y="2240280"/>
            <a:ext cx="2869200" cy="2729160"/>
          </a:xfrm>
          <a:custGeom>
            <a:avLst/>
            <a:gdLst>
              <a:gd name="textAreaLeft" fmla="*/ 0 w 2869200"/>
              <a:gd name="textAreaRight" fmla="*/ 2869560 w 2869200"/>
              <a:gd name="textAreaTop" fmla="*/ 0 h 2729160"/>
              <a:gd name="textAreaBottom" fmla="*/ 2729520 h 2729160"/>
            </a:gdLst>
            <a:ahLst/>
            <a:rect l="textAreaLeft" t="textAreaTop" r="textAreaRight" b="textAreaBottom"/>
            <a:pathLst>
              <a:path w="2869387" h="2729484">
                <a:moveTo>
                  <a:pt x="1434694" y="0"/>
                </a:moveTo>
                <a:lnTo>
                  <a:pt x="0" y="1042416"/>
                </a:lnTo>
                <a:lnTo>
                  <a:pt x="547726" y="2729484"/>
                </a:lnTo>
                <a:lnTo>
                  <a:pt x="2321662" y="2729484"/>
                </a:lnTo>
                <a:lnTo>
                  <a:pt x="2869387" y="1042416"/>
                </a:lnTo>
                <a:close/>
              </a:path>
            </a:pathLst>
          </a:custGeom>
          <a:solidFill>
            <a:srgbClr val="eef1e8">
              <a:alpha val="7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42"/>
          <p:cNvSpPr/>
          <p:nvPr/>
        </p:nvSpPr>
        <p:spPr>
          <a:xfrm>
            <a:off x="3017520" y="2240280"/>
            <a:ext cx="360" cy="2729160"/>
          </a:xfrm>
          <a:prstGeom prst="line">
            <a:avLst/>
          </a:prstGeom>
          <a:ln w="2286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43"/>
          <p:cNvSpPr/>
          <p:nvPr/>
        </p:nvSpPr>
        <p:spPr>
          <a:xfrm>
            <a:off x="3017520" y="2240280"/>
            <a:ext cx="886680" cy="2729160"/>
          </a:xfrm>
          <a:prstGeom prst="line">
            <a:avLst/>
          </a:prstGeom>
          <a:ln w="2286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44"/>
          <p:cNvSpPr/>
          <p:nvPr/>
        </p:nvSpPr>
        <p:spPr>
          <a:xfrm>
            <a:off x="1097280" y="5486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pentagon: 5 − 2 = 3 triangles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45"/>
          <p:cNvSpPr/>
          <p:nvPr/>
        </p:nvSpPr>
        <p:spPr>
          <a:xfrm>
            <a:off x="5760720" y="2103120"/>
            <a:ext cx="5870160" cy="1188360"/>
          </a:xfrm>
          <a:prstGeom prst="roundRect">
            <a:avLst>
              <a:gd name="adj" fmla="val 4615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46"/>
          <p:cNvSpPr/>
          <p:nvPr/>
        </p:nvSpPr>
        <p:spPr>
          <a:xfrm>
            <a:off x="5760720" y="2103120"/>
            <a:ext cx="58701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sum of interior angles  =  (n − 2) × 180°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47"/>
          <p:cNvSpPr/>
          <p:nvPr/>
        </p:nvSpPr>
        <p:spPr>
          <a:xfrm>
            <a:off x="5760720" y="3474720"/>
            <a:ext cx="23770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48"/>
          <p:cNvSpPr/>
          <p:nvPr/>
        </p:nvSpPr>
        <p:spPr>
          <a:xfrm>
            <a:off x="5852160" y="347472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Triangle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49"/>
          <p:cNvSpPr/>
          <p:nvPr/>
        </p:nvSpPr>
        <p:spPr>
          <a:xfrm>
            <a:off x="8138160" y="3474720"/>
            <a:ext cx="10054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50"/>
          <p:cNvSpPr/>
          <p:nvPr/>
        </p:nvSpPr>
        <p:spPr>
          <a:xfrm>
            <a:off x="8229600" y="3474720"/>
            <a:ext cx="822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3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51"/>
          <p:cNvSpPr/>
          <p:nvPr/>
        </p:nvSpPr>
        <p:spPr>
          <a:xfrm>
            <a:off x="9144000" y="3474720"/>
            <a:ext cx="24868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52"/>
          <p:cNvSpPr/>
          <p:nvPr/>
        </p:nvSpPr>
        <p:spPr>
          <a:xfrm>
            <a:off x="9235440" y="3474720"/>
            <a:ext cx="2304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(3−2)×180 = 180°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53"/>
          <p:cNvSpPr/>
          <p:nvPr/>
        </p:nvSpPr>
        <p:spPr>
          <a:xfrm>
            <a:off x="5760720" y="3931920"/>
            <a:ext cx="23770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54"/>
          <p:cNvSpPr/>
          <p:nvPr/>
        </p:nvSpPr>
        <p:spPr>
          <a:xfrm>
            <a:off x="5852160" y="393192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Quadrilateral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55"/>
          <p:cNvSpPr/>
          <p:nvPr/>
        </p:nvSpPr>
        <p:spPr>
          <a:xfrm>
            <a:off x="8138160" y="3931920"/>
            <a:ext cx="10054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56"/>
          <p:cNvSpPr/>
          <p:nvPr/>
        </p:nvSpPr>
        <p:spPr>
          <a:xfrm>
            <a:off x="8229600" y="3931920"/>
            <a:ext cx="822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4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57"/>
          <p:cNvSpPr/>
          <p:nvPr/>
        </p:nvSpPr>
        <p:spPr>
          <a:xfrm>
            <a:off x="9144000" y="3931920"/>
            <a:ext cx="24868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58"/>
          <p:cNvSpPr/>
          <p:nvPr/>
        </p:nvSpPr>
        <p:spPr>
          <a:xfrm>
            <a:off x="9235440" y="3931920"/>
            <a:ext cx="2304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(4−2)×180 = 360°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59"/>
          <p:cNvSpPr/>
          <p:nvPr/>
        </p:nvSpPr>
        <p:spPr>
          <a:xfrm>
            <a:off x="5760720" y="4389120"/>
            <a:ext cx="23770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60"/>
          <p:cNvSpPr/>
          <p:nvPr/>
        </p:nvSpPr>
        <p:spPr>
          <a:xfrm>
            <a:off x="5852160" y="438912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Pentagon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61"/>
          <p:cNvSpPr/>
          <p:nvPr/>
        </p:nvSpPr>
        <p:spPr>
          <a:xfrm>
            <a:off x="8138160" y="4389120"/>
            <a:ext cx="10054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Text 62"/>
          <p:cNvSpPr/>
          <p:nvPr/>
        </p:nvSpPr>
        <p:spPr>
          <a:xfrm>
            <a:off x="8229600" y="4389120"/>
            <a:ext cx="822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5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63"/>
          <p:cNvSpPr/>
          <p:nvPr/>
        </p:nvSpPr>
        <p:spPr>
          <a:xfrm>
            <a:off x="9144000" y="4389120"/>
            <a:ext cx="24868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64"/>
          <p:cNvSpPr/>
          <p:nvPr/>
        </p:nvSpPr>
        <p:spPr>
          <a:xfrm>
            <a:off x="9235440" y="4389120"/>
            <a:ext cx="2304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(5−2)×180 = 540°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65"/>
          <p:cNvSpPr/>
          <p:nvPr/>
        </p:nvSpPr>
        <p:spPr>
          <a:xfrm>
            <a:off x="5760720" y="4846320"/>
            <a:ext cx="23770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66"/>
          <p:cNvSpPr/>
          <p:nvPr/>
        </p:nvSpPr>
        <p:spPr>
          <a:xfrm>
            <a:off x="5852160" y="484632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Hexagon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67"/>
          <p:cNvSpPr/>
          <p:nvPr/>
        </p:nvSpPr>
        <p:spPr>
          <a:xfrm>
            <a:off x="8138160" y="4846320"/>
            <a:ext cx="10054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68"/>
          <p:cNvSpPr/>
          <p:nvPr/>
        </p:nvSpPr>
        <p:spPr>
          <a:xfrm>
            <a:off x="8229600" y="4846320"/>
            <a:ext cx="822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6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69"/>
          <p:cNvSpPr/>
          <p:nvPr/>
        </p:nvSpPr>
        <p:spPr>
          <a:xfrm>
            <a:off x="9144000" y="4846320"/>
            <a:ext cx="2486880" cy="42012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70"/>
          <p:cNvSpPr/>
          <p:nvPr/>
        </p:nvSpPr>
        <p:spPr>
          <a:xfrm>
            <a:off x="9235440" y="4846320"/>
            <a:ext cx="2304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(6−2)×180 = 720°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71"/>
          <p:cNvSpPr/>
          <p:nvPr/>
        </p:nvSpPr>
        <p:spPr>
          <a:xfrm>
            <a:off x="5760720" y="5303520"/>
            <a:ext cx="23770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Text 72"/>
          <p:cNvSpPr/>
          <p:nvPr/>
        </p:nvSpPr>
        <p:spPr>
          <a:xfrm>
            <a:off x="5852160" y="5303520"/>
            <a:ext cx="21942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Octagon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73"/>
          <p:cNvSpPr/>
          <p:nvPr/>
        </p:nvSpPr>
        <p:spPr>
          <a:xfrm>
            <a:off x="8138160" y="5303520"/>
            <a:ext cx="10054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74"/>
          <p:cNvSpPr/>
          <p:nvPr/>
        </p:nvSpPr>
        <p:spPr>
          <a:xfrm>
            <a:off x="8229600" y="5303520"/>
            <a:ext cx="822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8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75"/>
          <p:cNvSpPr/>
          <p:nvPr/>
        </p:nvSpPr>
        <p:spPr>
          <a:xfrm>
            <a:off x="9144000" y="5303520"/>
            <a:ext cx="2486880" cy="42012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76"/>
          <p:cNvSpPr/>
          <p:nvPr/>
        </p:nvSpPr>
        <p:spPr>
          <a:xfrm>
            <a:off x="9235440" y="5303520"/>
            <a:ext cx="2304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(8−2)×180 = 1080°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77"/>
          <p:cNvSpPr/>
          <p:nvPr/>
        </p:nvSpPr>
        <p:spPr>
          <a:xfrm>
            <a:off x="567000" y="594360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78"/>
          <p:cNvSpPr/>
          <p:nvPr/>
        </p:nvSpPr>
        <p:spPr>
          <a:xfrm>
            <a:off x="841320" y="594360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Sum of interior angles = (n − 2) × 180°  —  because the polygon splits into (n − 2) triangles.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EXTERIOR ANGLES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They Always Add Up to 360°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An exterior angle is the angle you turn at each corner.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Walking right round the shape is one full turn — 360°, whatever the number of sides.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41"/>
          <p:cNvSpPr/>
          <p:nvPr/>
        </p:nvSpPr>
        <p:spPr>
          <a:xfrm>
            <a:off x="1626120" y="2286000"/>
            <a:ext cx="2782080" cy="2646000"/>
          </a:xfrm>
          <a:custGeom>
            <a:avLst/>
            <a:gdLst>
              <a:gd name="textAreaLeft" fmla="*/ 0 w 2782080"/>
              <a:gd name="textAreaRight" fmla="*/ 2782440 w 2782080"/>
              <a:gd name="textAreaTop" fmla="*/ 0 h 2646000"/>
              <a:gd name="textAreaBottom" fmla="*/ 2646360 h 2646000"/>
            </a:gdLst>
            <a:ahLst/>
            <a:rect l="textAreaLeft" t="textAreaTop" r="textAreaRight" b="textAreaBottom"/>
            <a:pathLst>
              <a:path w="2782519" h="2646274">
                <a:moveTo>
                  <a:pt x="1391717" y="0"/>
                </a:moveTo>
                <a:lnTo>
                  <a:pt x="0" y="1011326"/>
                </a:lnTo>
                <a:lnTo>
                  <a:pt x="531266" y="2646274"/>
                </a:lnTo>
                <a:lnTo>
                  <a:pt x="2251253" y="2646274"/>
                </a:lnTo>
                <a:lnTo>
                  <a:pt x="2782519" y="1011326"/>
                </a:lnTo>
                <a:close/>
              </a:path>
            </a:pathLst>
          </a:custGeom>
          <a:solidFill>
            <a:srgbClr val="fbf3dd">
              <a:alpha val="75000"/>
            </a:srgbClr>
          </a:solidFill>
          <a:ln w="2540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42"/>
          <p:cNvSpPr/>
          <p:nvPr/>
        </p:nvSpPr>
        <p:spPr>
          <a:xfrm>
            <a:off x="1625760" y="3296880"/>
            <a:ext cx="360" cy="333000"/>
          </a:xfrm>
          <a:prstGeom prst="line">
            <a:avLst/>
          </a:prstGeom>
          <a:ln w="22860">
            <a:solidFill>
              <a:srgbClr val="c84f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43"/>
          <p:cNvSpPr/>
          <p:nvPr/>
        </p:nvSpPr>
        <p:spPr>
          <a:xfrm>
            <a:off x="2157480" y="4932360"/>
            <a:ext cx="174960" cy="539280"/>
          </a:xfrm>
          <a:prstGeom prst="line">
            <a:avLst/>
          </a:prstGeom>
          <a:ln w="22860">
            <a:solidFill>
              <a:srgbClr val="c84f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44"/>
          <p:cNvSpPr/>
          <p:nvPr/>
        </p:nvSpPr>
        <p:spPr>
          <a:xfrm>
            <a:off x="3877200" y="4932360"/>
            <a:ext cx="567000" cy="360"/>
          </a:xfrm>
          <a:prstGeom prst="line">
            <a:avLst/>
          </a:prstGeom>
          <a:ln w="22860">
            <a:solidFill>
              <a:srgbClr val="c84f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45"/>
          <p:cNvSpPr/>
          <p:nvPr/>
        </p:nvSpPr>
        <p:spPr>
          <a:xfrm>
            <a:off x="4408920" y="3296880"/>
            <a:ext cx="174960" cy="360"/>
          </a:xfrm>
          <a:prstGeom prst="line">
            <a:avLst/>
          </a:prstGeom>
          <a:ln w="22860">
            <a:solidFill>
              <a:srgbClr val="c84f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46"/>
          <p:cNvSpPr/>
          <p:nvPr/>
        </p:nvSpPr>
        <p:spPr>
          <a:xfrm>
            <a:off x="3017520" y="2286000"/>
            <a:ext cx="360" cy="360"/>
          </a:xfrm>
          <a:prstGeom prst="line">
            <a:avLst/>
          </a:prstGeom>
          <a:ln w="22860">
            <a:solidFill>
              <a:srgbClr val="c84f2f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Text 47"/>
          <p:cNvSpPr/>
          <p:nvPr/>
        </p:nvSpPr>
        <p:spPr>
          <a:xfrm>
            <a:off x="1097280" y="5486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5c6b60"/>
                </a:solidFill>
                <a:latin typeface="Calibri"/>
                <a:ea typeface="Calibri"/>
              </a:rPr>
              <a:t>each turn is an exterior angle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48"/>
          <p:cNvSpPr/>
          <p:nvPr/>
        </p:nvSpPr>
        <p:spPr>
          <a:xfrm>
            <a:off x="5760720" y="2194560"/>
            <a:ext cx="587016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49"/>
          <p:cNvSpPr/>
          <p:nvPr/>
        </p:nvSpPr>
        <p:spPr>
          <a:xfrm>
            <a:off x="5760720" y="2194560"/>
            <a:ext cx="58701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sum of exterior angles  =  360°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50"/>
          <p:cNvSpPr/>
          <p:nvPr/>
        </p:nvSpPr>
        <p:spPr>
          <a:xfrm>
            <a:off x="5760720" y="3520440"/>
            <a:ext cx="5870160" cy="2148480"/>
          </a:xfrm>
          <a:prstGeom prst="roundRect">
            <a:avLst>
              <a:gd name="adj" fmla="val 255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Text 51"/>
          <p:cNvSpPr/>
          <p:nvPr/>
        </p:nvSpPr>
        <p:spPr>
          <a:xfrm>
            <a:off x="6126480" y="3758040"/>
            <a:ext cx="5138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Interior + exterior at each corner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52"/>
          <p:cNvSpPr/>
          <p:nvPr/>
        </p:nvSpPr>
        <p:spPr>
          <a:xfrm>
            <a:off x="6080760" y="4206240"/>
            <a:ext cx="5211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interior + exterior = 180°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They sit on a straight line at every corner.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53"/>
          <p:cNvSpPr/>
          <p:nvPr/>
        </p:nvSpPr>
        <p:spPr>
          <a:xfrm>
            <a:off x="567000" y="589788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54"/>
          <p:cNvSpPr/>
          <p:nvPr/>
        </p:nvSpPr>
        <p:spPr>
          <a:xfrm>
            <a:off x="841320" y="589788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Exterior angles ALWAYS add to 360°;  at each corner, interior + exterior = 180°.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REGULAR POLYGONS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One Exterior Angle, One Interior Angle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39"/>
          <p:cNvSpPr/>
          <p:nvPr/>
        </p:nvSpPr>
        <p:spPr>
          <a:xfrm>
            <a:off x="567000" y="1280160"/>
            <a:ext cx="11063880" cy="603000"/>
          </a:xfrm>
          <a:prstGeom prst="roundRect">
            <a:avLst>
              <a:gd name="adj" fmla="val 9091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 40"/>
          <p:cNvSpPr/>
          <p:nvPr/>
        </p:nvSpPr>
        <p:spPr>
          <a:xfrm>
            <a:off x="887040" y="1280160"/>
            <a:ext cx="104238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In a REGULAR polygon every angle is the same, so just divide.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41"/>
          <p:cNvSpPr/>
          <p:nvPr/>
        </p:nvSpPr>
        <p:spPr>
          <a:xfrm>
            <a:off x="567000" y="2011680"/>
            <a:ext cx="5440320" cy="2194200"/>
          </a:xfrm>
          <a:prstGeom prst="roundRect">
            <a:avLst>
              <a:gd name="adj" fmla="val 250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42"/>
          <p:cNvSpPr/>
          <p:nvPr/>
        </p:nvSpPr>
        <p:spPr>
          <a:xfrm>
            <a:off x="932760" y="22492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Each exterior angle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43"/>
          <p:cNvSpPr/>
          <p:nvPr/>
        </p:nvSpPr>
        <p:spPr>
          <a:xfrm>
            <a:off x="2286000" y="2880360"/>
            <a:ext cx="365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44"/>
          <p:cNvSpPr/>
          <p:nvPr/>
        </p:nvSpPr>
        <p:spPr>
          <a:xfrm>
            <a:off x="2926080" y="284364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360°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45"/>
          <p:cNvSpPr/>
          <p:nvPr/>
        </p:nvSpPr>
        <p:spPr>
          <a:xfrm>
            <a:off x="2926080" y="3154680"/>
            <a:ext cx="128016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46"/>
          <p:cNvSpPr/>
          <p:nvPr/>
        </p:nvSpPr>
        <p:spPr>
          <a:xfrm>
            <a:off x="2926080" y="3191400"/>
            <a:ext cx="1279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47"/>
          <p:cNvSpPr/>
          <p:nvPr/>
        </p:nvSpPr>
        <p:spPr>
          <a:xfrm>
            <a:off x="6190560" y="2011680"/>
            <a:ext cx="5440320" cy="2194200"/>
          </a:xfrm>
          <a:prstGeom prst="roundRect">
            <a:avLst>
              <a:gd name="adj" fmla="val 250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Text 48"/>
          <p:cNvSpPr/>
          <p:nvPr/>
        </p:nvSpPr>
        <p:spPr>
          <a:xfrm>
            <a:off x="6556320" y="224928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Each interior angle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 49"/>
          <p:cNvSpPr/>
          <p:nvPr/>
        </p:nvSpPr>
        <p:spPr>
          <a:xfrm>
            <a:off x="6537960" y="2880360"/>
            <a:ext cx="47545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= 180° − exterior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Text 50"/>
          <p:cNvSpPr/>
          <p:nvPr/>
        </p:nvSpPr>
        <p:spPr>
          <a:xfrm>
            <a:off x="6537960" y="34290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(or  sum ÷ 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51"/>
          <p:cNvSpPr/>
          <p:nvPr/>
        </p:nvSpPr>
        <p:spPr>
          <a:xfrm>
            <a:off x="567000" y="4389120"/>
            <a:ext cx="4114440" cy="38376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Text 52"/>
          <p:cNvSpPr/>
          <p:nvPr/>
        </p:nvSpPr>
        <p:spPr>
          <a:xfrm>
            <a:off x="704160" y="438912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Regular polygon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53"/>
          <p:cNvSpPr/>
          <p:nvPr/>
        </p:nvSpPr>
        <p:spPr>
          <a:xfrm>
            <a:off x="4754880" y="4389120"/>
            <a:ext cx="3428640" cy="38376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54"/>
          <p:cNvSpPr/>
          <p:nvPr/>
        </p:nvSpPr>
        <p:spPr>
          <a:xfrm>
            <a:off x="4892040" y="43891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Exterior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55"/>
          <p:cNvSpPr/>
          <p:nvPr/>
        </p:nvSpPr>
        <p:spPr>
          <a:xfrm>
            <a:off x="8229600" y="4389120"/>
            <a:ext cx="3401280" cy="383760"/>
          </a:xfrm>
          <a:prstGeom prst="rect">
            <a:avLst/>
          </a:prstGeom>
          <a:solidFill>
            <a:srgbClr val="16261f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9" name="Text 56"/>
          <p:cNvSpPr/>
          <p:nvPr/>
        </p:nvSpPr>
        <p:spPr>
          <a:xfrm>
            <a:off x="8366760" y="4389120"/>
            <a:ext cx="312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0ac2b"/>
                </a:solidFill>
                <a:latin typeface="Cambria"/>
                <a:ea typeface="Cambria"/>
              </a:rPr>
              <a:t>Interior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57"/>
          <p:cNvSpPr/>
          <p:nvPr/>
        </p:nvSpPr>
        <p:spPr>
          <a:xfrm>
            <a:off x="567000" y="4791600"/>
            <a:ext cx="4114440" cy="383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Text 58"/>
          <p:cNvSpPr/>
          <p:nvPr/>
        </p:nvSpPr>
        <p:spPr>
          <a:xfrm>
            <a:off x="704160" y="47916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Pentagon (n=5)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59"/>
          <p:cNvSpPr/>
          <p:nvPr/>
        </p:nvSpPr>
        <p:spPr>
          <a:xfrm>
            <a:off x="4754880" y="4791600"/>
            <a:ext cx="3428640" cy="383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60"/>
          <p:cNvSpPr/>
          <p:nvPr/>
        </p:nvSpPr>
        <p:spPr>
          <a:xfrm>
            <a:off x="4892040" y="479160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360÷5 = 72°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61"/>
          <p:cNvSpPr/>
          <p:nvPr/>
        </p:nvSpPr>
        <p:spPr>
          <a:xfrm>
            <a:off x="8229600" y="4791600"/>
            <a:ext cx="3401280" cy="383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Text 62"/>
          <p:cNvSpPr/>
          <p:nvPr/>
        </p:nvSpPr>
        <p:spPr>
          <a:xfrm>
            <a:off x="8366760" y="4791600"/>
            <a:ext cx="312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180−72 = 108°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63"/>
          <p:cNvSpPr/>
          <p:nvPr/>
        </p:nvSpPr>
        <p:spPr>
          <a:xfrm>
            <a:off x="567000" y="5193720"/>
            <a:ext cx="4114440" cy="383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Text 64"/>
          <p:cNvSpPr/>
          <p:nvPr/>
        </p:nvSpPr>
        <p:spPr>
          <a:xfrm>
            <a:off x="704160" y="519372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Hexagon (n=6)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65"/>
          <p:cNvSpPr/>
          <p:nvPr/>
        </p:nvSpPr>
        <p:spPr>
          <a:xfrm>
            <a:off x="4754880" y="5193720"/>
            <a:ext cx="3428640" cy="383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Text 66"/>
          <p:cNvSpPr/>
          <p:nvPr/>
        </p:nvSpPr>
        <p:spPr>
          <a:xfrm>
            <a:off x="4892040" y="51937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360÷6 = 60°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67"/>
          <p:cNvSpPr/>
          <p:nvPr/>
        </p:nvSpPr>
        <p:spPr>
          <a:xfrm>
            <a:off x="8229600" y="5193720"/>
            <a:ext cx="3401280" cy="383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Text 68"/>
          <p:cNvSpPr/>
          <p:nvPr/>
        </p:nvSpPr>
        <p:spPr>
          <a:xfrm>
            <a:off x="8366760" y="5193720"/>
            <a:ext cx="312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180−60 = 120°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69"/>
          <p:cNvSpPr/>
          <p:nvPr/>
        </p:nvSpPr>
        <p:spPr>
          <a:xfrm>
            <a:off x="567000" y="5596200"/>
            <a:ext cx="4114440" cy="383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Text 70"/>
          <p:cNvSpPr/>
          <p:nvPr/>
        </p:nvSpPr>
        <p:spPr>
          <a:xfrm>
            <a:off x="704160" y="55962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Octagon (n=8)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71"/>
          <p:cNvSpPr/>
          <p:nvPr/>
        </p:nvSpPr>
        <p:spPr>
          <a:xfrm>
            <a:off x="4754880" y="5596200"/>
            <a:ext cx="3428640" cy="383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72"/>
          <p:cNvSpPr/>
          <p:nvPr/>
        </p:nvSpPr>
        <p:spPr>
          <a:xfrm>
            <a:off x="4892040" y="559620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360÷8 = 45°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73"/>
          <p:cNvSpPr/>
          <p:nvPr/>
        </p:nvSpPr>
        <p:spPr>
          <a:xfrm>
            <a:off x="8229600" y="5596200"/>
            <a:ext cx="3401280" cy="38376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Text 74"/>
          <p:cNvSpPr/>
          <p:nvPr/>
        </p:nvSpPr>
        <p:spPr>
          <a:xfrm>
            <a:off x="8366760" y="5596200"/>
            <a:ext cx="312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180−45 = 135°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75"/>
          <p:cNvSpPr/>
          <p:nvPr/>
        </p:nvSpPr>
        <p:spPr>
          <a:xfrm>
            <a:off x="567000" y="5998320"/>
            <a:ext cx="4114440" cy="383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76"/>
          <p:cNvSpPr/>
          <p:nvPr/>
        </p:nvSpPr>
        <p:spPr>
          <a:xfrm>
            <a:off x="704160" y="599832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1c2a22"/>
                </a:solidFill>
                <a:latin typeface="Cambria"/>
                <a:ea typeface="Cambria"/>
              </a:rPr>
              <a:t>Decagon (n=10)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77"/>
          <p:cNvSpPr/>
          <p:nvPr/>
        </p:nvSpPr>
        <p:spPr>
          <a:xfrm>
            <a:off x="4754880" y="5998320"/>
            <a:ext cx="3428640" cy="383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Text 78"/>
          <p:cNvSpPr/>
          <p:nvPr/>
        </p:nvSpPr>
        <p:spPr>
          <a:xfrm>
            <a:off x="4892040" y="59983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360÷10 = 36°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79"/>
          <p:cNvSpPr/>
          <p:nvPr/>
        </p:nvSpPr>
        <p:spPr>
          <a:xfrm>
            <a:off x="8229600" y="5998320"/>
            <a:ext cx="3401280" cy="38376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80"/>
          <p:cNvSpPr/>
          <p:nvPr/>
        </p:nvSpPr>
        <p:spPr>
          <a:xfrm>
            <a:off x="8366760" y="5998320"/>
            <a:ext cx="312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84f2f"/>
                </a:solidFill>
                <a:latin typeface="Cambria"/>
                <a:ea typeface="Cambria"/>
              </a:rPr>
              <a:t>180−36 = 144°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THE NUMBER OF SIDES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 Backwards from an Angle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Always turn the interior angle into the EXTERIOR angle first.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exterior = 180° − interior.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n = 360° ÷ exterior angle.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Check: n must be a whole number.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You can also use the sum: (n − 2) × 180 = n × interior, then solve for 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 regular polygon has an exterior angle of 24°.  How many sides?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n = 360° ÷ exterior = 360 ÷ 24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15 sides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If instead the INTERIOR angle is 150°:  exterior = 180 − 150 = 30°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n = 360 ÷ 30 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12 sides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n = 360° ÷ exterior angle   (interior first → exterior = 180° − interior)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SHAPES MEETING AT A POINT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 Very Common Exam Question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39"/>
          <p:cNvSpPr/>
          <p:nvPr/>
        </p:nvSpPr>
        <p:spPr>
          <a:xfrm>
            <a:off x="567000" y="129852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Text 40"/>
          <p:cNvSpPr/>
          <p:nvPr/>
        </p:nvSpPr>
        <p:spPr>
          <a:xfrm>
            <a:off x="887040" y="129852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When regular polygons meet at a point, their INTERIOR angles fit together.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They must add up to 360°.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41"/>
          <p:cNvSpPr/>
          <p:nvPr/>
        </p:nvSpPr>
        <p:spPr>
          <a:xfrm>
            <a:off x="56700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 idea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43"/>
          <p:cNvSpPr/>
          <p:nvPr/>
        </p:nvSpPr>
        <p:spPr>
          <a:xfrm>
            <a:off x="868680" y="310896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Text 44"/>
          <p:cNvSpPr/>
          <p:nvPr/>
        </p:nvSpPr>
        <p:spPr>
          <a:xfrm>
            <a:off x="1097280" y="301752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Work out each polygon's INTERIOR angle.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45"/>
          <p:cNvSpPr/>
          <p:nvPr/>
        </p:nvSpPr>
        <p:spPr>
          <a:xfrm>
            <a:off x="868680" y="365760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Text 46"/>
          <p:cNvSpPr/>
          <p:nvPr/>
        </p:nvSpPr>
        <p:spPr>
          <a:xfrm>
            <a:off x="1097280" y="356616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At a point they add up to 360°.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47"/>
          <p:cNvSpPr/>
          <p:nvPr/>
        </p:nvSpPr>
        <p:spPr>
          <a:xfrm>
            <a:off x="868680" y="420624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48"/>
          <p:cNvSpPr/>
          <p:nvPr/>
        </p:nvSpPr>
        <p:spPr>
          <a:xfrm>
            <a:off x="1097280" y="411480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Round a straight line they add to 180°.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49"/>
          <p:cNvSpPr/>
          <p:nvPr/>
        </p:nvSpPr>
        <p:spPr>
          <a:xfrm>
            <a:off x="868680" y="4754880"/>
            <a:ext cx="127800" cy="1278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50"/>
          <p:cNvSpPr/>
          <p:nvPr/>
        </p:nvSpPr>
        <p:spPr>
          <a:xfrm>
            <a:off x="1097280" y="4663440"/>
            <a:ext cx="4754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Inside a shape, use the angle sum.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51"/>
          <p:cNvSpPr/>
          <p:nvPr/>
        </p:nvSpPr>
        <p:spPr>
          <a:xfrm>
            <a:off x="619056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ext 52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Example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Text 53"/>
          <p:cNvSpPr/>
          <p:nvPr/>
        </p:nvSpPr>
        <p:spPr>
          <a:xfrm>
            <a:off x="6537960" y="3017520"/>
            <a:ext cx="4754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A regular hexagon and a regular octagon meet at a point. Find the third angle.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hexagon interior = 120°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octagon interior = 135°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third = 360 − 120 − 135 = </a:t>
            </a:r>
            <a:r>
              <a:rPr b="1" lang="en-US" sz="1350" spc="-1" strike="noStrike">
                <a:solidFill>
                  <a:srgbClr val="c84f2f"/>
                </a:solidFill>
                <a:latin typeface="Cambria"/>
                <a:ea typeface="Cambria"/>
              </a:rPr>
              <a:t>105°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54"/>
          <p:cNvSpPr/>
          <p:nvPr/>
        </p:nvSpPr>
        <p:spPr>
          <a:xfrm>
            <a:off x="567000" y="553212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Text 55"/>
          <p:cNvSpPr/>
          <p:nvPr/>
        </p:nvSpPr>
        <p:spPr>
          <a:xfrm>
            <a:off x="841320" y="553212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Find each interior angle first, then use ‘angles at a point add to 360°’.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3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Angle-rule questions first, then the polygon questions.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One rule at a time — give the reason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Parallel → F, Z, 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Polygons → (n − 2) × 180°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Regular → exterior = 360 ÷ 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39"/>
          <p:cNvSpPr/>
          <p:nvPr/>
        </p:nvSpPr>
        <p:spPr>
          <a:xfrm>
            <a:off x="2000160" y="1408320"/>
            <a:ext cx="81907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0" name="Image 0" descr="/tmp/work/agq/q-19.png"/>
          <p:cNvPicPr/>
          <p:nvPr/>
        </p:nvPicPr>
        <p:blipFill>
          <a:blip r:embed="rId1"/>
          <a:stretch/>
        </p:blipFill>
        <p:spPr>
          <a:xfrm>
            <a:off x="2073600" y="1481400"/>
            <a:ext cx="80445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39"/>
          <p:cNvSpPr/>
          <p:nvPr/>
        </p:nvSpPr>
        <p:spPr>
          <a:xfrm>
            <a:off x="2472120" y="1408320"/>
            <a:ext cx="72468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1" name="Image 0" descr="/tmp/work/agq/q-20.png"/>
          <p:cNvPicPr/>
          <p:nvPr/>
        </p:nvPicPr>
        <p:blipFill>
          <a:blip r:embed="rId1"/>
          <a:stretch/>
        </p:blipFill>
        <p:spPr>
          <a:xfrm>
            <a:off x="2545560" y="1481400"/>
            <a:ext cx="71006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Shape 39"/>
          <p:cNvSpPr/>
          <p:nvPr/>
        </p:nvSpPr>
        <p:spPr>
          <a:xfrm>
            <a:off x="1587960" y="1408320"/>
            <a:ext cx="9015480" cy="4653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2" name="Image 0" descr="/tmp/work/agq/q-21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50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Shape 39"/>
          <p:cNvSpPr/>
          <p:nvPr/>
        </p:nvSpPr>
        <p:spPr>
          <a:xfrm>
            <a:off x="1587960" y="1408320"/>
            <a:ext cx="9015480" cy="493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3" name="Image 0" descr="/tmp/work/agq/q-22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78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3" name="Shape 39"/>
          <p:cNvSpPr/>
          <p:nvPr/>
        </p:nvSpPr>
        <p:spPr>
          <a:xfrm>
            <a:off x="2037240" y="1408320"/>
            <a:ext cx="81169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4" name="Image 0" descr="/tmp/work/agq/q-23.png"/>
          <p:cNvPicPr/>
          <p:nvPr/>
        </p:nvPicPr>
        <p:blipFill>
          <a:blip r:embed="rId1"/>
          <a:stretch/>
        </p:blipFill>
        <p:spPr>
          <a:xfrm>
            <a:off x="2110320" y="1481400"/>
            <a:ext cx="79707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4" name="Shape 39"/>
          <p:cNvSpPr/>
          <p:nvPr/>
        </p:nvSpPr>
        <p:spPr>
          <a:xfrm>
            <a:off x="3187080" y="1408320"/>
            <a:ext cx="58172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5" name="Image 0" descr="/tmp/work/agq/q-24.png"/>
          <p:cNvPicPr/>
          <p:nvPr/>
        </p:nvPicPr>
        <p:blipFill>
          <a:blip r:embed="rId1"/>
          <a:stretch/>
        </p:blipFill>
        <p:spPr>
          <a:xfrm>
            <a:off x="3260160" y="1481400"/>
            <a:ext cx="567108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Shape 39"/>
          <p:cNvSpPr/>
          <p:nvPr/>
        </p:nvSpPr>
        <p:spPr>
          <a:xfrm>
            <a:off x="1587960" y="1408320"/>
            <a:ext cx="9015480" cy="5144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6" name="Image 0" descr="/tmp/work/agq/q-26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99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" name="Shape 39"/>
          <p:cNvSpPr/>
          <p:nvPr/>
        </p:nvSpPr>
        <p:spPr>
          <a:xfrm>
            <a:off x="2268000" y="1408320"/>
            <a:ext cx="76554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7" name="Image 0" descr="/tmp/work/agq/q-27.png"/>
          <p:cNvPicPr/>
          <p:nvPr/>
        </p:nvPicPr>
        <p:blipFill>
          <a:blip r:embed="rId1"/>
          <a:stretch/>
        </p:blipFill>
        <p:spPr>
          <a:xfrm>
            <a:off x="2341080" y="1481400"/>
            <a:ext cx="75092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7" name="Shape 39"/>
          <p:cNvSpPr/>
          <p:nvPr/>
        </p:nvSpPr>
        <p:spPr>
          <a:xfrm>
            <a:off x="1587960" y="1408320"/>
            <a:ext cx="9015480" cy="490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8" name="Image 0" descr="/tmp/work/agq/q-28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75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8" name="Shape 39"/>
          <p:cNvSpPr/>
          <p:nvPr/>
        </p:nvSpPr>
        <p:spPr>
          <a:xfrm>
            <a:off x="2394720" y="1408320"/>
            <a:ext cx="74019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9" name="Image 0" descr="/tmp/work/agq/q-29.png"/>
          <p:cNvPicPr/>
          <p:nvPr/>
        </p:nvPicPr>
        <p:blipFill>
          <a:blip r:embed="rId1"/>
          <a:stretch/>
        </p:blipFill>
        <p:spPr>
          <a:xfrm>
            <a:off x="2467800" y="1481400"/>
            <a:ext cx="72558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9" name="Shape 39"/>
          <p:cNvSpPr/>
          <p:nvPr/>
        </p:nvSpPr>
        <p:spPr>
          <a:xfrm>
            <a:off x="2323440" y="1408320"/>
            <a:ext cx="75448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0" name="Image 0" descr="/tmp/work/agq/q-30.png"/>
          <p:cNvPicPr/>
          <p:nvPr/>
        </p:nvPicPr>
        <p:blipFill>
          <a:blip r:embed="rId1"/>
          <a:stretch/>
        </p:blipFill>
        <p:spPr>
          <a:xfrm>
            <a:off x="2396520" y="1481400"/>
            <a:ext cx="73983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0" name="Shape 39"/>
          <p:cNvSpPr/>
          <p:nvPr/>
        </p:nvSpPr>
        <p:spPr>
          <a:xfrm>
            <a:off x="1587960" y="1408320"/>
            <a:ext cx="9015480" cy="5127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1" name="Image 0" descr="/tmp/work/agq/q-31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98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" name="Shape 39"/>
          <p:cNvSpPr/>
          <p:nvPr/>
        </p:nvSpPr>
        <p:spPr>
          <a:xfrm>
            <a:off x="1587960" y="1408320"/>
            <a:ext cx="9015480" cy="44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2" name="Image 0" descr="/tmp/work/agq/q-32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29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" name="Shape 39"/>
          <p:cNvSpPr/>
          <p:nvPr/>
        </p:nvSpPr>
        <p:spPr>
          <a:xfrm>
            <a:off x="1587960" y="1408320"/>
            <a:ext cx="9015480" cy="44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3" name="Image 0" descr="/tmp/work/agq/q-33.png"/>
          <p:cNvPicPr/>
          <p:nvPr/>
        </p:nvPicPr>
        <p:blipFill>
          <a:blip r:embed="rId1"/>
          <a:stretch/>
        </p:blipFill>
        <p:spPr>
          <a:xfrm>
            <a:off x="1661040" y="1481400"/>
            <a:ext cx="8869320" cy="425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3" name="Shape 39"/>
          <p:cNvSpPr/>
          <p:nvPr/>
        </p:nvSpPr>
        <p:spPr>
          <a:xfrm>
            <a:off x="2608920" y="1408320"/>
            <a:ext cx="69735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4" name="Image 0" descr="/tmp/work/agq/q-34.png"/>
          <p:cNvPicPr/>
          <p:nvPr/>
        </p:nvPicPr>
        <p:blipFill>
          <a:blip r:embed="rId1"/>
          <a:stretch/>
        </p:blipFill>
        <p:spPr>
          <a:xfrm>
            <a:off x="2682000" y="1481400"/>
            <a:ext cx="68274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4" name="Shape 39"/>
          <p:cNvSpPr/>
          <p:nvPr/>
        </p:nvSpPr>
        <p:spPr>
          <a:xfrm>
            <a:off x="2197800" y="1408320"/>
            <a:ext cx="779580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5" name="Image 0" descr="/tmp/work/agq/q-35.png"/>
          <p:cNvPicPr/>
          <p:nvPr/>
        </p:nvPicPr>
        <p:blipFill>
          <a:blip r:embed="rId1"/>
          <a:stretch/>
        </p:blipFill>
        <p:spPr>
          <a:xfrm>
            <a:off x="2270880" y="1481400"/>
            <a:ext cx="764964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1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2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3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4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5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6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Straight line 180°, point 360°, vertically opposite angles equal.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7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8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Triangle 180°, quadrilateral 360°; exterior angle of a triangle = the two opposite interior angles.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9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0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Parallel lines: corresponding and alternate EQUAL; co-interior add to 180°.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1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2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Polygons: sum of interior angles = (n − 2) × 180°;  exterior angles add to 360°.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3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4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Regular polygon: exterior = 360° ÷ n, interior = 180° − exterior, and n = 360° ÷ exterior.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5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6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one rule at a time with a reason — and for polygons, go through the exterior angle.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1556</Words>
  <Paragraphs>300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2026-07-23T19:57:02Z</dcterms:created>
  <dc:creator>Zahra Sheikh Ali</dc:creator>
  <dc:description/>
  <dc:language>en-US</dc:language>
  <cp:lastModifiedBy>zahraa sheik ali</cp:lastModifiedBy>
  <dcterms:modified xsi:type="dcterms:W3CDTF">2026-07-23T20:12:10Z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32</vt:r8>
  </property>
  <property fmtid="{D5CDD505-2E9C-101B-9397-08002B2CF9AE}" pid="3" name="PresentationFormat">
    <vt:lpwstr>Custom</vt:lpwstr>
  </property>
  <property fmtid="{D5CDD505-2E9C-101B-9397-08002B2CF9AE}" pid="4" name="Slides">
    <vt:r8>32</vt:r8>
  </property>
</Properties>
</file>