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9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9399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26912" y="640080"/>
            <a:ext cx="1663294" cy="1920240"/>
          </a:xfrm>
          <a:custGeom>
            <a:avLst/>
            <a:gdLst/>
            <a:ahLst/>
            <a:cxnLst/>
            <a:rect l="l" t="t" r="r" b="b"/>
            <a:pathLst>
              <a:path w="1663294" h="1920240">
                <a:moveTo>
                  <a:pt x="831190" y="0"/>
                </a:moveTo>
                <a:lnTo>
                  <a:pt x="0" y="480060"/>
                </a:lnTo>
                <a:lnTo>
                  <a:pt x="0" y="1440180"/>
                </a:lnTo>
                <a:lnTo>
                  <a:pt x="831190" y="1920240"/>
                </a:lnTo>
                <a:lnTo>
                  <a:pt x="1663294" y="1440180"/>
                </a:lnTo>
                <a:lnTo>
                  <a:pt x="1663294" y="480060"/>
                </a:lnTo>
                <a:close/>
              </a:path>
            </a:pathLst>
          </a:custGeom>
          <a:solidFill>
            <a:srgbClr val="33463A">
              <a:alpha val="75000"/>
            </a:srgbClr>
          </a:solidFill>
          <a:ln w="25400">
            <a:solidFill>
              <a:srgbClr val="3346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&amp; Polygons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 Rules · Parallel Lines · Triangles &amp; Quadrilaterals · Interior &amp; Exterior Angles of Polygons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Basic Angle Rules to Polygons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covers the ANGLE RULES — straight lines, points, triangles and parallel lines.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applies them to POLYGONS, using the interior angle sum (n − 2) × 180° and the fact that exterior angles add up to 360°.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line, point, opposite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Triangles &amp; quadrilaterals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lines: F, Z, C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angle sum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Exterior angles &amp; regular polygons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line · vertically opposite · alternate · co-interior · isosceles · polygon · interior · exterior · regular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RULES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Line · Point · Vertically Opposite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that appear in almost every question.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622650" y="1947672"/>
            <a:ext cx="8946395" cy="4142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4" name="Image 0" descr="/tmp/work/agt/t-an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946" y="2029968"/>
            <a:ext cx="8781803" cy="397764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6263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841248" y="62636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line = 180°.   Full turn at a point = 360°.   Vertically opposite angles are equal.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TRIANGLES &amp; QUADRILATERALS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 Sums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the angles inside the shape — and learn the exterior-angle rule.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622650" y="1947672"/>
            <a:ext cx="8946395" cy="4142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4" name="Image 0" descr="/tmp/work/agt/t-ang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946" y="2029968"/>
            <a:ext cx="8781803" cy="397764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6263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841248" y="62636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 = 180°.   Quadrilateral = 360°.   Exterior angle of a triangle = the two opposite interior angles.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LINES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Corresponding · Alternate · Interior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F, Z and C shapes. Arrows on the lines tell you they are parallel.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622650" y="1947672"/>
            <a:ext cx="8946395" cy="4142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4" name="Image 0" descr="/tmp/work/agt/t-an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946" y="2029968"/>
            <a:ext cx="8781803" cy="397764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62636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841248" y="626364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Corresponding and alternate angles are EQUAL;  interior (co-interior) angles ADD UP TO 180°.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ISOSCELES TRIANGLES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Equal Sides → Two Equal Angles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questions very often hide an isosceles triangle.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sides (the dashes) mean the base angles are equal.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57400"/>
            <a:ext cx="5623560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378708" y="2574036"/>
            <a:ext cx="1970532" cy="2683764"/>
          </a:xfrm>
          <a:prstGeom prst="line">
            <a:avLst/>
          </a:prstGeom>
          <a:noFill/>
          <a:ln w="35560">
            <a:solidFill>
              <a:srgbClr val="1C2A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17320" y="5257800"/>
            <a:ext cx="3931920" cy="0"/>
          </a:xfrm>
          <a:prstGeom prst="line">
            <a:avLst/>
          </a:prstGeom>
          <a:noFill/>
          <a:ln w="35560">
            <a:solidFill>
              <a:srgbClr val="1C2A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349240" y="5257800"/>
            <a:ext cx="0" cy="0"/>
          </a:xfrm>
          <a:prstGeom prst="line">
            <a:avLst/>
          </a:prstGeom>
          <a:noFill/>
          <a:ln w="35560">
            <a:solidFill>
              <a:srgbClr val="1C2A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495791" y="4002715"/>
            <a:ext cx="0" cy="0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4129318" y="3717177"/>
            <a:ext cx="234656" cy="141591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27248" y="288036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1600200" y="4727448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4654296" y="4727448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777240" y="2240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sides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566928" y="5440680"/>
            <a:ext cx="5623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base angles are equal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446520" y="2057400"/>
            <a:ext cx="5184648" cy="3794760"/>
          </a:xfrm>
          <a:prstGeom prst="roundRect">
            <a:avLst>
              <a:gd name="adj" fmla="val 1446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812280" y="2295144"/>
            <a:ext cx="4453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it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6748272" y="2962656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6995160" y="283464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base angles are EQUAL (both y).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6748272" y="3511296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9" name="Text 57"/>
          <p:cNvSpPr/>
          <p:nvPr/>
        </p:nvSpPr>
        <p:spPr>
          <a:xfrm>
            <a:off x="6995160" y="338328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y + y = 180°,  so  x + 2y = 180°.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748272" y="4059936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6995160" y="39319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the apex x:   y = (180° − x) ÷ 2.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6748272" y="4608576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3" name="Text 61"/>
          <p:cNvSpPr/>
          <p:nvPr/>
        </p:nvSpPr>
        <p:spPr>
          <a:xfrm>
            <a:off x="6995160" y="44805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a base angle y:   x = 180° − 2y.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748272" y="5157216"/>
            <a:ext cx="137160" cy="13716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6995160" y="502920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Equilateral triangle: every angle is 60°.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566928" y="605332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841248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sides → equal base angles. Look for the dashes, or two matching sides / radii.</a:t>
            </a:r>
            <a:endParaRPr lang="en-US" sz="2300" dirty="0"/>
          </a:p>
        </p:txBody>
      </p:sp>
      <p:sp>
        <p:nvSpPr>
          <p:cNvPr id="68" name="Shape 42"/>
          <p:cNvSpPr/>
          <p:nvPr/>
        </p:nvSpPr>
        <p:spPr>
          <a:xfrm flipH="1">
            <a:off x="1417320" y="2574036"/>
            <a:ext cx="1935721" cy="2720340"/>
          </a:xfrm>
          <a:prstGeom prst="line">
            <a:avLst/>
          </a:prstGeom>
          <a:noFill/>
          <a:ln w="35560">
            <a:solidFill>
              <a:srgbClr val="1C2A22"/>
            </a:solidFill>
            <a:prstDash val="solid"/>
          </a:ln>
        </p:spPr>
      </p:sp>
      <p:sp>
        <p:nvSpPr>
          <p:cNvPr id="70" name="Shape 46"/>
          <p:cNvSpPr/>
          <p:nvPr/>
        </p:nvSpPr>
        <p:spPr>
          <a:xfrm>
            <a:off x="2326105" y="3717177"/>
            <a:ext cx="169686" cy="251319"/>
          </a:xfrm>
          <a:prstGeom prst="line">
            <a:avLst/>
          </a:prstGeom>
          <a:noFill/>
          <a:ln w="33020">
            <a:solidFill>
              <a:srgbClr val="C84F2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TECHNIQUE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 Reason for Every Step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are given for the REASON as well as the number. Use the proper wording.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57400"/>
            <a:ext cx="5349240" cy="438912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2057400"/>
            <a:ext cx="5129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used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035040" y="2057400"/>
            <a:ext cx="5596128" cy="438912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6144768" y="2057400"/>
            <a:ext cx="5376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write the reason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2496312"/>
            <a:ext cx="53492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" y="24963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line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035040" y="2496312"/>
            <a:ext cx="5596128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24963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on a straight line add up to 180°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2953512"/>
            <a:ext cx="53492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29535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35040" y="2953512"/>
            <a:ext cx="5596128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29535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at a point add up to 360°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66928" y="3410712"/>
            <a:ext cx="53492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1520" y="34107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Crossing lines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035040" y="3410712"/>
            <a:ext cx="5596128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99632" y="34107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vertically opposite angles are equal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566928" y="3867912"/>
            <a:ext cx="53492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38679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035040" y="3867912"/>
            <a:ext cx="5596128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99632" y="38679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in a triangle add up to 180°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66928" y="4325112"/>
            <a:ext cx="53492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1520" y="43251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Parallel, F-shape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6035040" y="4325112"/>
            <a:ext cx="5596128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99632" y="43251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corresponding angles are equal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66928" y="4782312"/>
            <a:ext cx="53492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1520" y="47823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Parallel, Z-shape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035040" y="4782312"/>
            <a:ext cx="5596128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99632" y="47823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alternate angles are equal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566928" y="5239512"/>
            <a:ext cx="53492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1520" y="52395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Parallel, C-shape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035040" y="5239512"/>
            <a:ext cx="5596128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99632" y="52395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co-interior angles add up to 180°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566928" y="5696712"/>
            <a:ext cx="53492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31520" y="569671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sides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035040" y="5696712"/>
            <a:ext cx="5596128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99632" y="5696712"/>
            <a:ext cx="5266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angles of an isosceles triangle are equal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one angle at a time, write it on the diagram, and state the reason — then use it to find the next.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in Polygons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polygon question comes from two facts: the interior angle sum, and exterior angles = 360°.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interior = (n − 2) × 180°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Exterior angles add to 360°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Regular: exterior = 360 ÷ n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+ exterior = 180°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 and What ‘Regular’ Means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means all sides equal AND all angles equal.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 not regular, the angles can all be different.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22960" y="205740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121477" y="2313432"/>
            <a:ext cx="1140257" cy="987552"/>
          </a:xfrm>
          <a:custGeom>
            <a:avLst/>
            <a:gdLst/>
            <a:ahLst/>
            <a:cxnLst/>
            <a:rect l="l" t="t" r="r" b="b"/>
            <a:pathLst>
              <a:path w="1140257" h="987552">
                <a:moveTo>
                  <a:pt x="570586" y="0"/>
                </a:moveTo>
                <a:lnTo>
                  <a:pt x="0" y="987552"/>
                </a:lnTo>
                <a:lnTo>
                  <a:pt x="1140257" y="987552"/>
                </a:lnTo>
                <a:close/>
              </a:path>
            </a:pathLst>
          </a:custGeom>
          <a:solidFill>
            <a:srgbClr val="FFFFFF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14600" y="2468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2514600" y="2926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sides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617720" y="205740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828032" y="2313432"/>
            <a:ext cx="1316736" cy="1316736"/>
          </a:xfrm>
          <a:custGeom>
            <a:avLst/>
            <a:gdLst/>
            <a:ahLst/>
            <a:cxnLst/>
            <a:rect l="l" t="t" r="r" b="b"/>
            <a:pathLst>
              <a:path w="1316736" h="1316736">
                <a:moveTo>
                  <a:pt x="658368" y="0"/>
                </a:moveTo>
                <a:lnTo>
                  <a:pt x="0" y="658368"/>
                </a:lnTo>
                <a:lnTo>
                  <a:pt x="658368" y="1316736"/>
                </a:lnTo>
                <a:lnTo>
                  <a:pt x="1316736" y="658368"/>
                </a:lnTo>
                <a:close/>
              </a:path>
            </a:pathLst>
          </a:custGeom>
          <a:solidFill>
            <a:srgbClr val="FFFFFF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9360" y="2468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Quadrilateral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309360" y="2926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sides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412480" y="205740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55015" y="2313432"/>
            <a:ext cx="1252728" cy="1190549"/>
          </a:xfrm>
          <a:custGeom>
            <a:avLst/>
            <a:gdLst/>
            <a:ahLst/>
            <a:cxnLst/>
            <a:rect l="l" t="t" r="r" b="b"/>
            <a:pathLst>
              <a:path w="1252728" h="1190549">
                <a:moveTo>
                  <a:pt x="626364" y="0"/>
                </a:moveTo>
                <a:lnTo>
                  <a:pt x="0" y="455371"/>
                </a:lnTo>
                <a:lnTo>
                  <a:pt x="239573" y="1190549"/>
                </a:lnTo>
                <a:lnTo>
                  <a:pt x="1013155" y="1190549"/>
                </a:lnTo>
                <a:lnTo>
                  <a:pt x="1252728" y="455371"/>
                </a:lnTo>
                <a:close/>
              </a:path>
            </a:pathLst>
          </a:custGeom>
          <a:solidFill>
            <a:srgbClr val="FFFFFF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104120" y="2468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Pentagon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0104120" y="2926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sides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22960" y="406908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121477" y="4325112"/>
            <a:ext cx="1140257" cy="1316736"/>
          </a:xfrm>
          <a:custGeom>
            <a:avLst/>
            <a:gdLst/>
            <a:ahLst/>
            <a:cxnLst/>
            <a:rect l="l" t="t" r="r" b="b"/>
            <a:pathLst>
              <a:path w="1140257" h="1316736">
                <a:moveTo>
                  <a:pt x="570586" y="0"/>
                </a:moveTo>
                <a:lnTo>
                  <a:pt x="0" y="329184"/>
                </a:lnTo>
                <a:lnTo>
                  <a:pt x="0" y="987552"/>
                </a:lnTo>
                <a:lnTo>
                  <a:pt x="570586" y="1316736"/>
                </a:lnTo>
                <a:lnTo>
                  <a:pt x="1140257" y="987552"/>
                </a:lnTo>
                <a:lnTo>
                  <a:pt x="1140257" y="329184"/>
                </a:lnTo>
                <a:close/>
              </a:path>
            </a:pathLst>
          </a:custGeom>
          <a:solidFill>
            <a:srgbClr val="FFFFFF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14600" y="44805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Hexagon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2514600" y="4937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sides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617720" y="406908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828032" y="4325112"/>
            <a:ext cx="1316736" cy="1316736"/>
          </a:xfrm>
          <a:custGeom>
            <a:avLst/>
            <a:gdLst/>
            <a:ahLst/>
            <a:cxnLst/>
            <a:rect l="l" t="t" r="r" b="b"/>
            <a:pathLst>
              <a:path w="1316736" h="1316736">
                <a:moveTo>
                  <a:pt x="658368" y="0"/>
                </a:moveTo>
                <a:lnTo>
                  <a:pt x="192938" y="192938"/>
                </a:lnTo>
                <a:lnTo>
                  <a:pt x="0" y="658368"/>
                </a:lnTo>
                <a:lnTo>
                  <a:pt x="192938" y="1123798"/>
                </a:lnTo>
                <a:lnTo>
                  <a:pt x="658368" y="1316736"/>
                </a:lnTo>
                <a:lnTo>
                  <a:pt x="1123798" y="1123798"/>
                </a:lnTo>
                <a:lnTo>
                  <a:pt x="1316736" y="658368"/>
                </a:lnTo>
                <a:lnTo>
                  <a:pt x="1123798" y="192938"/>
                </a:lnTo>
                <a:close/>
              </a:path>
            </a:pathLst>
          </a:custGeom>
          <a:solidFill>
            <a:srgbClr val="FFFFFF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9360" y="44805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Octagon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6309360" y="4937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sides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412480" y="406908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655015" y="4325112"/>
            <a:ext cx="1252728" cy="1316736"/>
          </a:xfrm>
          <a:custGeom>
            <a:avLst/>
            <a:gdLst/>
            <a:ahLst/>
            <a:cxnLst/>
            <a:rect l="l" t="t" r="r" b="b"/>
            <a:pathLst>
              <a:path w="1252728" h="1316736">
                <a:moveTo>
                  <a:pt x="626364" y="0"/>
                </a:moveTo>
                <a:lnTo>
                  <a:pt x="239573" y="126187"/>
                </a:lnTo>
                <a:lnTo>
                  <a:pt x="0" y="455371"/>
                </a:lnTo>
                <a:lnTo>
                  <a:pt x="0" y="861365"/>
                </a:lnTo>
                <a:lnTo>
                  <a:pt x="239573" y="1190549"/>
                </a:lnTo>
                <a:lnTo>
                  <a:pt x="626364" y="1316736"/>
                </a:lnTo>
                <a:lnTo>
                  <a:pt x="1013155" y="1190549"/>
                </a:lnTo>
                <a:lnTo>
                  <a:pt x="1252728" y="861365"/>
                </a:lnTo>
                <a:lnTo>
                  <a:pt x="1252728" y="455371"/>
                </a:lnTo>
                <a:lnTo>
                  <a:pt x="1013155" y="126187"/>
                </a:lnTo>
                <a:close/>
              </a:path>
            </a:pathLst>
          </a:custGeom>
          <a:solidFill>
            <a:srgbClr val="FFFFFF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104120" y="44805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Decagon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10104120" y="4937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sides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566928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the number of sides. A regular polygon has n equal sides and n equal angles.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ANGLE SUM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the Polygon into Triangles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corner, draw diagonals.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polygon with n sides splits into (n − 2) triangles, and each triangle is 180°.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582604" y="2240280"/>
            <a:ext cx="2869387" cy="2729484"/>
          </a:xfrm>
          <a:custGeom>
            <a:avLst/>
            <a:gdLst/>
            <a:ahLst/>
            <a:cxnLst/>
            <a:rect l="l" t="t" r="r" b="b"/>
            <a:pathLst>
              <a:path w="2869387" h="2729484">
                <a:moveTo>
                  <a:pt x="1434694" y="0"/>
                </a:moveTo>
                <a:lnTo>
                  <a:pt x="0" y="1042416"/>
                </a:lnTo>
                <a:lnTo>
                  <a:pt x="547726" y="2729484"/>
                </a:lnTo>
                <a:lnTo>
                  <a:pt x="2321662" y="2729484"/>
                </a:lnTo>
                <a:lnTo>
                  <a:pt x="2869387" y="1042416"/>
                </a:lnTo>
                <a:close/>
              </a:path>
            </a:pathLst>
          </a:custGeom>
          <a:solidFill>
            <a:srgbClr val="EEF1E8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17520" y="2240280"/>
            <a:ext cx="0" cy="2729372"/>
          </a:xfrm>
          <a:prstGeom prst="line">
            <a:avLst/>
          </a:prstGeom>
          <a:noFill/>
          <a:ln w="22860">
            <a:solidFill>
              <a:srgbClr val="C84F2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17520" y="2240280"/>
            <a:ext cx="886827" cy="2729372"/>
          </a:xfrm>
          <a:prstGeom prst="line">
            <a:avLst/>
          </a:prstGeom>
          <a:noFill/>
          <a:ln w="22860">
            <a:solidFill>
              <a:srgbClr val="C84F2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97280" y="54864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pentagon: 5 − 2 = 3 triangles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760720" y="2103120"/>
            <a:ext cx="5870448" cy="1188720"/>
          </a:xfrm>
          <a:prstGeom prst="roundRect">
            <a:avLst>
              <a:gd name="adj" fmla="val 4615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760720" y="2103120"/>
            <a:ext cx="5870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interior angles  =  (n − 2) × 180°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5760720" y="3474720"/>
            <a:ext cx="23774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52160" y="34747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138160" y="3474720"/>
            <a:ext cx="10058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0" y="34747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9144000" y="3474720"/>
            <a:ext cx="2487168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35440" y="3474720"/>
            <a:ext cx="2304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(3−2)×180 = 180°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760720" y="3931920"/>
            <a:ext cx="23774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5216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Quadrilateral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8138160" y="3931920"/>
            <a:ext cx="10058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29600" y="39319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9144000" y="3931920"/>
            <a:ext cx="2487168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235440" y="3931920"/>
            <a:ext cx="2304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(4−2)×180 = 360°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760720" y="4389120"/>
            <a:ext cx="23774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852160" y="43891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Pentagon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138160" y="4389120"/>
            <a:ext cx="10058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229600" y="43891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9144000" y="4389120"/>
            <a:ext cx="2487168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235440" y="4389120"/>
            <a:ext cx="2304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(5−2)×180 = 540°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5760720" y="4846320"/>
            <a:ext cx="23774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852160" y="48463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Hexagon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138160" y="4846320"/>
            <a:ext cx="100584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29600" y="48463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9144000" y="4846320"/>
            <a:ext cx="2487168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235440" y="4846320"/>
            <a:ext cx="2304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(6−2)×180 = 720°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5760720" y="5303520"/>
            <a:ext cx="23774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852160" y="53035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Octagon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8138160" y="5303520"/>
            <a:ext cx="100584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229600" y="53035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9144000" y="5303520"/>
            <a:ext cx="2487168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235440" y="5303520"/>
            <a:ext cx="2304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(8−2)×180 = 1080°</a:t>
            </a:r>
            <a:endParaRPr lang="en-US" sz="1150" dirty="0"/>
          </a:p>
        </p:txBody>
      </p:sp>
      <p:sp>
        <p:nvSpPr>
          <p:cNvPr id="79" name="Shape 77"/>
          <p:cNvSpPr/>
          <p:nvPr/>
        </p:nvSpPr>
        <p:spPr>
          <a:xfrm>
            <a:off x="566928" y="594360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841248" y="59436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interior angles = (n − 2) × 180°  —  because the polygon splits into (n − 2) triangles.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EXTERIOR ANGLES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Always Add Up to 360°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exterior angle is the angle you turn at each corner.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right round the shape is one full turn — 360°, whatever the number of sides.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626086" y="2286000"/>
            <a:ext cx="2782519" cy="2646274"/>
          </a:xfrm>
          <a:custGeom>
            <a:avLst/>
            <a:gdLst/>
            <a:ahLst/>
            <a:cxnLst/>
            <a:rect l="l" t="t" r="r" b="b"/>
            <a:pathLst>
              <a:path w="2782519" h="2646274">
                <a:moveTo>
                  <a:pt x="1391717" y="0"/>
                </a:moveTo>
                <a:lnTo>
                  <a:pt x="0" y="1011326"/>
                </a:lnTo>
                <a:lnTo>
                  <a:pt x="531266" y="2646274"/>
                </a:lnTo>
                <a:lnTo>
                  <a:pt x="2251253" y="2646274"/>
                </a:lnTo>
                <a:lnTo>
                  <a:pt x="2782519" y="1011326"/>
                </a:lnTo>
                <a:close/>
              </a:path>
            </a:pathLst>
          </a:custGeom>
          <a:solidFill>
            <a:srgbClr val="FBF3DD">
              <a:alpha val="75000"/>
            </a:srgbClr>
          </a:solidFill>
          <a:ln w="25400">
            <a:solidFill>
              <a:srgbClr val="1C2A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626086" y="3296936"/>
            <a:ext cx="0" cy="333232"/>
          </a:xfrm>
          <a:prstGeom prst="line">
            <a:avLst/>
          </a:prstGeom>
          <a:noFill/>
          <a:ln w="22860">
            <a:solidFill>
              <a:srgbClr val="C84F2F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2157567" y="4932664"/>
            <a:ext cx="175190" cy="539181"/>
          </a:xfrm>
          <a:prstGeom prst="line">
            <a:avLst/>
          </a:prstGeom>
          <a:noFill/>
          <a:ln w="22860">
            <a:solidFill>
              <a:srgbClr val="C84F2F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877473" y="4932664"/>
            <a:ext cx="566928" cy="0"/>
          </a:xfrm>
          <a:prstGeom prst="line">
            <a:avLst/>
          </a:prstGeom>
          <a:noFill/>
          <a:ln w="22860">
            <a:solidFill>
              <a:srgbClr val="C84F2F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408954" y="3296936"/>
            <a:ext cx="175190" cy="0"/>
          </a:xfrm>
          <a:prstGeom prst="line">
            <a:avLst/>
          </a:prstGeom>
          <a:noFill/>
          <a:ln w="22860">
            <a:solidFill>
              <a:srgbClr val="C84F2F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017520" y="2286000"/>
            <a:ext cx="0" cy="0"/>
          </a:xfrm>
          <a:prstGeom prst="line">
            <a:avLst/>
          </a:prstGeom>
          <a:noFill/>
          <a:ln w="22860">
            <a:solidFill>
              <a:srgbClr val="C84F2F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097280" y="54864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is an exterior angle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760720" y="2194560"/>
            <a:ext cx="5870448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760720" y="2194560"/>
            <a:ext cx="58704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exterior angles  =  360°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760720" y="3520440"/>
            <a:ext cx="5870448" cy="2148840"/>
          </a:xfrm>
          <a:prstGeom prst="roundRect">
            <a:avLst>
              <a:gd name="adj" fmla="val 2553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126480" y="3758184"/>
            <a:ext cx="5138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+ exterior at each corner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6080760" y="420624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+ exterior = 180°</a:t>
            </a:r>
            <a:endParaRPr lang="en-US" sz="1500" dirty="0"/>
          </a:p>
          <a:p>
            <a:pPr marL="0" indent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sit on a straight line at every corner.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66928" y="589788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41248" y="58978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Exterior angles ALWAYS add to 360°;  at each corner, interior + exterior = 180°.</a:t>
            </a:r>
            <a:endParaRPr lang="en-US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POLYGONS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Exterior Angle, One Interior Angle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REGULAR polygon every angle is the same, so just divide.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011680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2494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exterior angle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2286000" y="28803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2926080" y="28437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360°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2926080" y="3154680"/>
            <a:ext cx="1280160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26080" y="3191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6190488" y="2011680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556248" y="224942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interior angle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53796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180° − exterior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537960" y="3429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 sum ÷ n)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66928" y="4389120"/>
            <a:ext cx="4114800" cy="384048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4088" y="43891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 polygon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4754880" y="4389120"/>
            <a:ext cx="3429000" cy="384048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92040" y="438912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Exterior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8229600" y="4389120"/>
            <a:ext cx="3401568" cy="384048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66760" y="438912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566928" y="4791456"/>
            <a:ext cx="4114800" cy="38404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4088" y="479145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Pentagon (n=5)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4754880" y="4791456"/>
            <a:ext cx="3429000" cy="38404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92040" y="479145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360÷5 = 72°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229600" y="4791456"/>
            <a:ext cx="3401568" cy="38404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4791456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180−72 = 108°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66928" y="5193792"/>
            <a:ext cx="4114800" cy="38404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4088" y="519379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Hexagon (n=6)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4754880" y="5193792"/>
            <a:ext cx="3429000" cy="38404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92040" y="51937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360÷6 = 60°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229600" y="5193792"/>
            <a:ext cx="3401568" cy="38404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5193792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180−60 = 120°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596128"/>
            <a:ext cx="4114800" cy="38404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04088" y="55961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Octagon (n=8)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4754880" y="5596128"/>
            <a:ext cx="3429000" cy="38404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892040" y="55961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360÷8 = 45°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8229600" y="5596128"/>
            <a:ext cx="3401568" cy="384048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66760" y="5596128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180−45 = 135°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566928" y="5998464"/>
            <a:ext cx="4114800" cy="38404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04088" y="599846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Decagon (n=10)</a:t>
            </a:r>
            <a:endParaRPr lang="en-US" sz="1150" dirty="0"/>
          </a:p>
        </p:txBody>
      </p:sp>
      <p:sp>
        <p:nvSpPr>
          <p:cNvPr id="79" name="Shape 77"/>
          <p:cNvSpPr/>
          <p:nvPr/>
        </p:nvSpPr>
        <p:spPr>
          <a:xfrm>
            <a:off x="4754880" y="5998464"/>
            <a:ext cx="3429000" cy="38404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892040" y="599846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360÷10 = 36°</a:t>
            </a:r>
            <a:endParaRPr lang="en-US" sz="1150" dirty="0"/>
          </a:p>
        </p:txBody>
      </p:sp>
      <p:sp>
        <p:nvSpPr>
          <p:cNvPr id="81" name="Shape 79"/>
          <p:cNvSpPr/>
          <p:nvPr/>
        </p:nvSpPr>
        <p:spPr>
          <a:xfrm>
            <a:off x="8229600" y="5998464"/>
            <a:ext cx="3401568" cy="384048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366760" y="5998464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180−36 = 144°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NUMBER OF SIDES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Backwards from an Angle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 the interior angle into the EXTERIOR angle first.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exterior = 180° − interior.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360° ÷ exterior angle.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n must be a whole number.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also use the sum: (n − 2) × 180 = n × interior, then solve for n.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polygon has an exterior angle of 24°.  How many sides?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360° ÷ exterior = 360 ÷ 24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sides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instead the INTERIOR angle is 150°:  exterior = 180 − 150 = 30°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360 ÷ 30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sides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360° ÷ exterior angle   (interior first → exterior = 180° − interior)</a:t>
            </a:r>
            <a:endParaRPr lang="en-US" sz="2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MEETING AT A POINT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Very Common Exam Question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regular polygons meet at a point, their INTERIOR angles fit together.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must add up to 360°.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868680" y="310896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1097280" y="30175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out each polygon's INTERIOR angle.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68680" y="365760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8" name="Text 46"/>
          <p:cNvSpPr/>
          <p:nvPr/>
        </p:nvSpPr>
        <p:spPr>
          <a:xfrm>
            <a:off x="1097280" y="3566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a point they add up to 360°.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68680" y="420624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1097280" y="4114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a straight line they add to 180°.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68680" y="4754880"/>
            <a:ext cx="128016" cy="12801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1097280" y="46634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shape, use the angle sum.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19048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6537960" y="30175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regular hexagon and a regular octagon meet at a point. Find the third angle.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hexagon interior = 120°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octagon interior = 135°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 = 360 − 120 − 135 = </a:t>
            </a: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105°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566928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841248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each interior angle first, then use ‘angles at a point add to 360°’.</a:t>
            </a:r>
            <a:endParaRPr lang="en-US" sz="2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Angle-rule questions first, then the polygon questions.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 at a time — give the reason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→ F, Z, C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Polygons → (n − 2) × 180°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 → exterior = 360 ÷ 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000309" y="1408176"/>
            <a:ext cx="819107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3461" y="1481328"/>
            <a:ext cx="804477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72278" y="1408176"/>
            <a:ext cx="7247140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30" y="1481328"/>
            <a:ext cx="7100836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65414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50784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93580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78950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037199" y="1408176"/>
            <a:ext cx="8117297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351" y="1481328"/>
            <a:ext cx="7970993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187013" y="1408176"/>
            <a:ext cx="5817668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0165" y="1481328"/>
            <a:ext cx="567136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514440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99809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267922" y="1408176"/>
            <a:ext cx="7655852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074" y="1481328"/>
            <a:ext cx="7509548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90223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75592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94616" y="1408176"/>
            <a:ext cx="740246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7768" y="1481328"/>
            <a:ext cx="725616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23268" y="1408176"/>
            <a:ext cx="7545160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420" y="1481328"/>
            <a:ext cx="7398856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5127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9810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4378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2915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40375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1481328"/>
            <a:ext cx="8869680" cy="425744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08896" y="1408176"/>
            <a:ext cx="6973903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048" y="1481328"/>
            <a:ext cx="6827599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197729" y="1408176"/>
            <a:ext cx="779623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agq/q-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881" y="1481328"/>
            <a:ext cx="764993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line 180°, point 360°, vertically opposite angles equal.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180°, quadrilateral 360°; exterior angle of a triangle = the two opposite interior angles.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lines: corresponding and alternate EQUAL; co-interior add to 180°.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Polygons: sum of interior angles = (n − 2) × 180°;  exterior angles add to 360°.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polygon: exterior = 360° ÷ n, interior = 180° − exterior, and n = 360° ÷ exterior.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rule at a time with a reason — and for polygons, go through the exterior angle.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1556</Words>
  <Application>Microsoft Office PowerPoint</Application>
  <PresentationFormat>Custom</PresentationFormat>
  <Paragraphs>300</Paragraphs>
  <Slides>32</Slides>
  <Notes>32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2</cp:revision>
  <dcterms:created xsi:type="dcterms:W3CDTF">2026-07-23T19:57:02Z</dcterms:created>
  <dcterms:modified xsi:type="dcterms:W3CDTF">2026-07-23T20:12:10Z</dcterms:modified>
</cp:coreProperties>
</file>