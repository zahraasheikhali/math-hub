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3.png" ContentType="image/png"/>
  <Override PartName="/ppt/media/image4.png" ContentType="image/png"/>
  <Override PartName="/ppt/media/image9.png" ContentType="image/png"/>
  <Override PartName="/ppt/media/image14.png" ContentType="image/png"/>
  <Override PartName="/ppt/media/image5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16.png" ContentType="image/png"/>
  <Override PartName="/ppt/media/image7.png" ContentType="image/png"/>
  <Override PartName="/ppt/media/image11.png" ContentType="image/png"/>
  <Override PartName="/ppt/media/image2.png" ContentType="image/png"/>
  <Override PartName="/ppt/media/image17.png" ContentType="image/png"/>
  <Override PartName="/ppt/media/image8.png" ContentType="image/png"/>
  <Override PartName="/ppt/media/image12.png" ContentType="image/png"/>
  <Override PartName="/ppt/media/image3.png" ContentType="image/png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4.xml.rels" ContentType="application/vnd.openxmlformats-package.relationships+xml"/>
  <Override PartName="/ppt/slides/_rels/slide26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28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25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8AD0F153-BDB4-4B2C-9440-01BE764AD1E8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9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1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18715D7-9D51-49CC-866A-99873BA966F9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9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4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C50E00F-0FF7-43F0-824E-513BFE312969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9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7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52E018E-856C-4987-AB7C-E2634C4EED75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9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0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A7DC406-4C12-4F08-B107-AB4919FEFED2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0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3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DD64A44-50FC-4C1E-9780-9EB77E7897C1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0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6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B1ABCD5-864C-4B54-96C8-2B16117C1DFA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0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9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AEED0D0-8F48-42C7-B8CA-9C31AE444327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1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2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22A0F3E-F771-4156-B60A-C05B2C9DF0FB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1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5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2FB733A-8FBF-41F7-9F3D-EE0365CE8192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1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8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416D6B7-731E-4DF6-BDF6-6895B2585D31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2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1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E4F509F-2705-4362-8666-C578A5ABAD8D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2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4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0DCA61F-D76A-4035-BE14-C196000F5DF9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2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7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196FF23-B931-4355-AC5A-C948F0CB50D0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2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0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D2C7BF2-EC31-45D3-8A20-38922CE9B8A5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3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3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916A7FF-75B2-4464-BA7B-0D0D41FF81B5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3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6" name="PlaceHolder 3"/>
          <p:cNvSpPr>
            <a:spLocks noGrp="1"/>
          </p:cNvSpPr>
          <p:nvPr>
            <p:ph type="sldNum" idx="1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05AC276-E4D9-436A-8DE3-B129B2CCAF95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3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9" name="PlaceHolder 3"/>
          <p:cNvSpPr>
            <a:spLocks noGrp="1"/>
          </p:cNvSpPr>
          <p:nvPr>
            <p:ph type="sldNum" idx="2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7CF10BF-AA96-4520-99F2-E0BA8F59A928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4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2" name="PlaceHolder 3"/>
          <p:cNvSpPr>
            <a:spLocks noGrp="1"/>
          </p:cNvSpPr>
          <p:nvPr>
            <p:ph type="sldNum" idx="2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1A4915C-3511-47BA-84A4-FF63901BCABA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4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5" name="PlaceHolder 3"/>
          <p:cNvSpPr>
            <a:spLocks noGrp="1"/>
          </p:cNvSpPr>
          <p:nvPr>
            <p:ph type="sldNum" idx="2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514A21C-8FB6-43BF-826B-F5982D7E1110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4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8" name="PlaceHolder 3"/>
          <p:cNvSpPr>
            <a:spLocks noGrp="1"/>
          </p:cNvSpPr>
          <p:nvPr>
            <p:ph type="sldNum" idx="2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51D5ED9-AD15-4FCB-B36F-3C5D90EF3708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5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1" name="PlaceHolder 3"/>
          <p:cNvSpPr>
            <a:spLocks noGrp="1"/>
          </p:cNvSpPr>
          <p:nvPr>
            <p:ph type="sldNum" idx="2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0392A5F-F5D4-4A6A-AA5E-CB63302B025E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5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4" name="PlaceHolder 3"/>
          <p:cNvSpPr>
            <a:spLocks noGrp="1"/>
          </p:cNvSpPr>
          <p:nvPr>
            <p:ph type="sldNum" idx="2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25DCEF5-F47A-4D2F-AF18-E97553BF2CC8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5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7" name="PlaceHolder 3"/>
          <p:cNvSpPr>
            <a:spLocks noGrp="1"/>
          </p:cNvSpPr>
          <p:nvPr>
            <p:ph type="sldNum" idx="2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A08CCFC-22FF-48E2-A59E-5FC75FDB1747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5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0" name="PlaceHolder 3"/>
          <p:cNvSpPr>
            <a:spLocks noGrp="1"/>
          </p:cNvSpPr>
          <p:nvPr>
            <p:ph type="sldNum" idx="2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C0F2661-6400-4C9F-8EEF-7480017F8D24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6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3" name="PlaceHolder 3"/>
          <p:cNvSpPr>
            <a:spLocks noGrp="1"/>
          </p:cNvSpPr>
          <p:nvPr>
            <p:ph type="sldNum" idx="2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794EA60-38F1-4427-9EDE-30A2B33B118C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6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6" name="PlaceHolder 3"/>
          <p:cNvSpPr>
            <a:spLocks noGrp="1"/>
          </p:cNvSpPr>
          <p:nvPr>
            <p:ph type="sldNum" idx="2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450CDE8-35C5-496B-89A5-7D7DF8F49D17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6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9" name="PlaceHolder 3"/>
          <p:cNvSpPr>
            <a:spLocks noGrp="1"/>
          </p:cNvSpPr>
          <p:nvPr>
            <p:ph type="sldNum" idx="3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149338B-2126-4776-A3CB-30416CD878D7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7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2" name="PlaceHolder 3"/>
          <p:cNvSpPr>
            <a:spLocks noGrp="1"/>
          </p:cNvSpPr>
          <p:nvPr>
            <p:ph type="sldNum" idx="3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1938135-F881-4296-80E0-4B57B500A353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35"/>
          <p:cNvSpPr/>
          <p:nvPr/>
        </p:nvSpPr>
        <p:spPr>
          <a:xfrm>
            <a:off x="8778240" y="1097280"/>
            <a:ext cx="2742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4600" spc="-1" strike="noStrike">
                <a:solidFill>
                  <a:srgbClr val="33463a"/>
                </a:solidFill>
                <a:latin typeface="Cambria"/>
                <a:ea typeface="Cambria"/>
              </a:rPr>
              <a:t>f(x)</a:t>
            </a:r>
            <a:endParaRPr b="0" lang="en-US" sz="4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Shape 36"/>
          <p:cNvSpPr/>
          <p:nvPr/>
        </p:nvSpPr>
        <p:spPr>
          <a:xfrm>
            <a:off x="777240" y="640080"/>
            <a:ext cx="658080" cy="658080"/>
          </a:xfrm>
          <a:prstGeom prst="roundRect">
            <a:avLst>
              <a:gd name="adj" fmla="val 13889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37"/>
          <p:cNvSpPr/>
          <p:nvPr/>
        </p:nvSpPr>
        <p:spPr>
          <a:xfrm>
            <a:off x="777240" y="640080"/>
            <a:ext cx="6580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6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21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38"/>
          <p:cNvSpPr/>
          <p:nvPr/>
        </p:nvSpPr>
        <p:spPr>
          <a:xfrm>
            <a:off x="1600200" y="603360"/>
            <a:ext cx="7314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99" strike="noStrike">
                <a:solidFill>
                  <a:srgbClr val="e0ac2b"/>
                </a:solidFill>
                <a:latin typeface="Calibri"/>
                <a:ea typeface="Calibri"/>
              </a:rPr>
              <a:t>Zπ  MATHS HUB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39"/>
          <p:cNvSpPr/>
          <p:nvPr/>
        </p:nvSpPr>
        <p:spPr>
          <a:xfrm>
            <a:off x="1600200" y="9144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9d2c5"/>
                </a:solidFill>
                <a:latin typeface="Calibri"/>
                <a:ea typeface="Calibri"/>
              </a:rPr>
              <a:t>Pearson Edexcel IGCSE (9–1) · Higher Tier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40"/>
          <p:cNvSpPr/>
          <p:nvPr/>
        </p:nvSpPr>
        <p:spPr>
          <a:xfrm>
            <a:off x="777240" y="2240280"/>
            <a:ext cx="107895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pc="-1" strike="noStrike">
                <a:solidFill>
                  <a:srgbClr val="e0ac2b"/>
                </a:solidFill>
                <a:latin typeface="Cambria"/>
                <a:ea typeface="Cambria"/>
              </a:rPr>
              <a:t>Functions</a:t>
            </a:r>
            <a:endParaRPr b="0" lang="en-US" sz="4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41"/>
          <p:cNvSpPr/>
          <p:nvPr/>
        </p:nvSpPr>
        <p:spPr>
          <a:xfrm>
            <a:off x="804600" y="331020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edebdd"/>
                </a:solidFill>
                <a:latin typeface="Cambria"/>
                <a:ea typeface="Cambria"/>
              </a:rPr>
              <a:t>Notation &amp; Machines · Domain &amp; Range · Composite Functions · Inverse Functions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Shape 42"/>
          <p:cNvSpPr/>
          <p:nvPr/>
        </p:nvSpPr>
        <p:spPr>
          <a:xfrm>
            <a:off x="777240" y="4297680"/>
            <a:ext cx="6766200" cy="1691280"/>
          </a:xfrm>
          <a:prstGeom prst="roundRect">
            <a:avLst>
              <a:gd name="adj" fmla="val 324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43"/>
          <p:cNvSpPr/>
          <p:nvPr/>
        </p:nvSpPr>
        <p:spPr>
          <a:xfrm>
            <a:off x="1097280" y="4498920"/>
            <a:ext cx="6126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0ac2b"/>
                </a:solidFill>
                <a:latin typeface="Cambria"/>
                <a:ea typeface="Cambria"/>
              </a:rPr>
              <a:t>Zahra Sheikh Ali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44"/>
          <p:cNvSpPr/>
          <p:nvPr/>
        </p:nvSpPr>
        <p:spPr>
          <a:xfrm>
            <a:off x="1097280" y="4956120"/>
            <a:ext cx="6217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c9d2c5"/>
                </a:solidFill>
                <a:latin typeface="Cambria"/>
                <a:ea typeface="Cambria"/>
              </a:rPr>
              <a:t>IGCSE Mathematics Teacher  ·  M.Sc. Differential Geometry &amp; Geometric Control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45"/>
          <p:cNvSpPr/>
          <p:nvPr/>
        </p:nvSpPr>
        <p:spPr>
          <a:xfrm>
            <a:off x="1097280" y="5394960"/>
            <a:ext cx="6217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8623d"/>
                </a:solidFill>
                <a:latin typeface="Calibri"/>
                <a:ea typeface="Calibri"/>
              </a:rPr>
              <a:t>☎  </a:t>
            </a:r>
            <a:r>
              <a:rPr b="1" lang="en-US" sz="1250" spc="-1" strike="noStrike">
                <a:solidFill>
                  <a:srgbClr val="e8623d"/>
                </a:solidFill>
                <a:latin typeface="Calibri"/>
                <a:ea typeface="Calibri"/>
              </a:rPr>
              <a:t>66613748      ✉  zahraa.sheikhali@outlook.com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LESSON OVERVIEW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A Rule That Turns Inputs into Outputs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39"/>
          <p:cNvSpPr/>
          <p:nvPr/>
        </p:nvSpPr>
        <p:spPr>
          <a:xfrm>
            <a:off x="567000" y="1481400"/>
            <a:ext cx="11063880" cy="822600"/>
          </a:xfrm>
          <a:prstGeom prst="roundRect">
            <a:avLst>
              <a:gd name="adj" fmla="val 6667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 40"/>
          <p:cNvSpPr/>
          <p:nvPr/>
        </p:nvSpPr>
        <p:spPr>
          <a:xfrm>
            <a:off x="887040" y="1481400"/>
            <a:ext cx="10423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0ac2b"/>
                </a:solidFill>
                <a:latin typeface="Calibri"/>
                <a:ea typeface="Calibri"/>
              </a:rPr>
              <a:t>A function is a rule: put a number IN, get one number OUT. </a:t>
            </a:r>
            <a:r>
              <a:rPr b="0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We write it as f(x). This lesson covers notation, domain &amp; range, composite functions and inverses.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41"/>
          <p:cNvSpPr/>
          <p:nvPr/>
        </p:nvSpPr>
        <p:spPr>
          <a:xfrm>
            <a:off x="5670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42"/>
          <p:cNvSpPr/>
          <p:nvPr/>
        </p:nvSpPr>
        <p:spPr>
          <a:xfrm>
            <a:off x="8229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 43"/>
          <p:cNvSpPr/>
          <p:nvPr/>
        </p:nvSpPr>
        <p:spPr>
          <a:xfrm>
            <a:off x="8229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44"/>
          <p:cNvSpPr/>
          <p:nvPr/>
        </p:nvSpPr>
        <p:spPr>
          <a:xfrm>
            <a:off x="14356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Function notation f(x)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45"/>
          <p:cNvSpPr/>
          <p:nvPr/>
        </p:nvSpPr>
        <p:spPr>
          <a:xfrm>
            <a:off x="43434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46"/>
          <p:cNvSpPr/>
          <p:nvPr/>
        </p:nvSpPr>
        <p:spPr>
          <a:xfrm>
            <a:off x="45993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 47"/>
          <p:cNvSpPr/>
          <p:nvPr/>
        </p:nvSpPr>
        <p:spPr>
          <a:xfrm>
            <a:off x="45993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48"/>
          <p:cNvSpPr/>
          <p:nvPr/>
        </p:nvSpPr>
        <p:spPr>
          <a:xfrm>
            <a:off x="52120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Algebraic inputs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49"/>
          <p:cNvSpPr/>
          <p:nvPr/>
        </p:nvSpPr>
        <p:spPr>
          <a:xfrm>
            <a:off x="81198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50"/>
          <p:cNvSpPr/>
          <p:nvPr/>
        </p:nvSpPr>
        <p:spPr>
          <a:xfrm>
            <a:off x="83757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 51"/>
          <p:cNvSpPr/>
          <p:nvPr/>
        </p:nvSpPr>
        <p:spPr>
          <a:xfrm>
            <a:off x="83757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52"/>
          <p:cNvSpPr/>
          <p:nvPr/>
        </p:nvSpPr>
        <p:spPr>
          <a:xfrm>
            <a:off x="89884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Domain &amp; range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53"/>
          <p:cNvSpPr/>
          <p:nvPr/>
        </p:nvSpPr>
        <p:spPr>
          <a:xfrm>
            <a:off x="5670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54"/>
          <p:cNvSpPr/>
          <p:nvPr/>
        </p:nvSpPr>
        <p:spPr>
          <a:xfrm>
            <a:off x="8229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55"/>
          <p:cNvSpPr/>
          <p:nvPr/>
        </p:nvSpPr>
        <p:spPr>
          <a:xfrm>
            <a:off x="8229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56"/>
          <p:cNvSpPr/>
          <p:nvPr/>
        </p:nvSpPr>
        <p:spPr>
          <a:xfrm>
            <a:off x="14356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Composite fg(x)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57"/>
          <p:cNvSpPr/>
          <p:nvPr/>
        </p:nvSpPr>
        <p:spPr>
          <a:xfrm>
            <a:off x="43434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Shape 58"/>
          <p:cNvSpPr/>
          <p:nvPr/>
        </p:nvSpPr>
        <p:spPr>
          <a:xfrm>
            <a:off x="45993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 59"/>
          <p:cNvSpPr/>
          <p:nvPr/>
        </p:nvSpPr>
        <p:spPr>
          <a:xfrm>
            <a:off x="45993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5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60"/>
          <p:cNvSpPr/>
          <p:nvPr/>
        </p:nvSpPr>
        <p:spPr>
          <a:xfrm>
            <a:off x="52120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Inverse f⁻¹(x)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Shape 61"/>
          <p:cNvSpPr/>
          <p:nvPr/>
        </p:nvSpPr>
        <p:spPr>
          <a:xfrm>
            <a:off x="81198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62"/>
          <p:cNvSpPr/>
          <p:nvPr/>
        </p:nvSpPr>
        <p:spPr>
          <a:xfrm>
            <a:off x="83757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 63"/>
          <p:cNvSpPr/>
          <p:nvPr/>
        </p:nvSpPr>
        <p:spPr>
          <a:xfrm>
            <a:off x="83757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6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64"/>
          <p:cNvSpPr/>
          <p:nvPr/>
        </p:nvSpPr>
        <p:spPr>
          <a:xfrm>
            <a:off x="89884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Past-paper questions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65"/>
          <p:cNvSpPr/>
          <p:nvPr/>
        </p:nvSpPr>
        <p:spPr>
          <a:xfrm>
            <a:off x="567000" y="617220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4f2f"/>
                </a:solidFill>
                <a:latin typeface="Calibri"/>
                <a:ea typeface="Calibri"/>
              </a:rPr>
              <a:t>Key words:  </a:t>
            </a:r>
            <a:r>
              <a:rPr b="0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function · input · output · domain · range · composite · inverse · f(x)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THE KEY IDEA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Function Notation:  f(x)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39"/>
          <p:cNvSpPr/>
          <p:nvPr/>
        </p:nvSpPr>
        <p:spPr>
          <a:xfrm>
            <a:off x="567000" y="1298520"/>
            <a:ext cx="11063880" cy="658080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 40"/>
          <p:cNvSpPr/>
          <p:nvPr/>
        </p:nvSpPr>
        <p:spPr>
          <a:xfrm>
            <a:off x="887040" y="1298520"/>
            <a:ext cx="104238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f(x) is the OUTPUT when the input is x.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To evaluate f(a), substitute a for every x.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41"/>
          <p:cNvSpPr/>
          <p:nvPr/>
        </p:nvSpPr>
        <p:spPr>
          <a:xfrm>
            <a:off x="3108960" y="2286000"/>
            <a:ext cx="914040" cy="914040"/>
          </a:xfrm>
          <a:prstGeom prst="ellipse">
            <a:avLst/>
          </a:prstGeom>
          <a:solidFill>
            <a:srgbClr val="eef1e8"/>
          </a:solidFill>
          <a:ln w="2286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42"/>
          <p:cNvSpPr/>
          <p:nvPr/>
        </p:nvSpPr>
        <p:spPr>
          <a:xfrm>
            <a:off x="3108960" y="2286000"/>
            <a:ext cx="914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2200" spc="-1" strike="noStrike">
                <a:solidFill>
                  <a:srgbClr val="1c2a22"/>
                </a:solidFill>
                <a:latin typeface="Cambria"/>
                <a:ea typeface="Cambria"/>
              </a:rPr>
              <a:t>x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Shape 43"/>
          <p:cNvSpPr/>
          <p:nvPr/>
        </p:nvSpPr>
        <p:spPr>
          <a:xfrm>
            <a:off x="4069080" y="2743200"/>
            <a:ext cx="640080" cy="360"/>
          </a:xfrm>
          <a:prstGeom prst="line">
            <a:avLst/>
          </a:prstGeom>
          <a:ln w="38100">
            <a:solidFill>
              <a:srgbClr val="e0ac2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Shape 44"/>
          <p:cNvSpPr/>
          <p:nvPr/>
        </p:nvSpPr>
        <p:spPr>
          <a:xfrm>
            <a:off x="4754880" y="2377440"/>
            <a:ext cx="2194200" cy="731160"/>
          </a:xfrm>
          <a:prstGeom prst="roundRect">
            <a:avLst>
              <a:gd name="adj" fmla="val 7500"/>
            </a:avLst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Text 45"/>
          <p:cNvSpPr/>
          <p:nvPr/>
        </p:nvSpPr>
        <p:spPr>
          <a:xfrm>
            <a:off x="4754880" y="2377440"/>
            <a:ext cx="2194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mbria"/>
                <a:ea typeface="Cambria"/>
              </a:rPr>
              <a:t>× 2,  then − 1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46"/>
          <p:cNvSpPr/>
          <p:nvPr/>
        </p:nvSpPr>
        <p:spPr>
          <a:xfrm>
            <a:off x="6995160" y="2743200"/>
            <a:ext cx="640080" cy="360"/>
          </a:xfrm>
          <a:prstGeom prst="line">
            <a:avLst/>
          </a:prstGeom>
          <a:ln w="38100">
            <a:solidFill>
              <a:srgbClr val="e0ac2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47"/>
          <p:cNvSpPr/>
          <p:nvPr/>
        </p:nvSpPr>
        <p:spPr>
          <a:xfrm>
            <a:off x="7680960" y="2286000"/>
            <a:ext cx="1371240" cy="914040"/>
          </a:xfrm>
          <a:prstGeom prst="ellipse">
            <a:avLst/>
          </a:prstGeom>
          <a:solidFill>
            <a:srgbClr val="fbf3dd"/>
          </a:solidFill>
          <a:ln w="2286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48"/>
          <p:cNvSpPr/>
          <p:nvPr/>
        </p:nvSpPr>
        <p:spPr>
          <a:xfrm>
            <a:off x="7680960" y="2286000"/>
            <a:ext cx="1371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c84f2f"/>
                </a:solidFill>
                <a:latin typeface="Cambria"/>
                <a:ea typeface="Cambria"/>
              </a:rPr>
              <a:t>2x − 1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49"/>
          <p:cNvSpPr/>
          <p:nvPr/>
        </p:nvSpPr>
        <p:spPr>
          <a:xfrm>
            <a:off x="567000" y="3429000"/>
            <a:ext cx="11063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A function machine for  f(x) = 2x − 1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Shape 50"/>
          <p:cNvSpPr/>
          <p:nvPr/>
        </p:nvSpPr>
        <p:spPr>
          <a:xfrm>
            <a:off x="567000" y="3977640"/>
            <a:ext cx="5440320" cy="1691280"/>
          </a:xfrm>
          <a:prstGeom prst="roundRect">
            <a:avLst>
              <a:gd name="adj" fmla="val 3243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51"/>
          <p:cNvSpPr/>
          <p:nvPr/>
        </p:nvSpPr>
        <p:spPr>
          <a:xfrm>
            <a:off x="932760" y="421524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Find f(3)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52"/>
          <p:cNvSpPr/>
          <p:nvPr/>
        </p:nvSpPr>
        <p:spPr>
          <a:xfrm>
            <a:off x="914400" y="4709160"/>
            <a:ext cx="4754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f(3) = 2(3) − 1 = </a:t>
            </a:r>
            <a:r>
              <a:rPr b="1" lang="en-US" sz="1700" spc="-1" strike="noStrike">
                <a:solidFill>
                  <a:srgbClr val="c84f2f"/>
                </a:solidFill>
                <a:latin typeface="Cambria"/>
                <a:ea typeface="Cambria"/>
              </a:rPr>
              <a:t>5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53"/>
          <p:cNvSpPr/>
          <p:nvPr/>
        </p:nvSpPr>
        <p:spPr>
          <a:xfrm>
            <a:off x="6190560" y="3977640"/>
            <a:ext cx="5440320" cy="1691280"/>
          </a:xfrm>
          <a:prstGeom prst="roundRect">
            <a:avLst>
              <a:gd name="adj" fmla="val 3243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54"/>
          <p:cNvSpPr/>
          <p:nvPr/>
        </p:nvSpPr>
        <p:spPr>
          <a:xfrm>
            <a:off x="6556320" y="421524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Find f(0) and f(−2)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55"/>
          <p:cNvSpPr/>
          <p:nvPr/>
        </p:nvSpPr>
        <p:spPr>
          <a:xfrm>
            <a:off x="6537960" y="4709160"/>
            <a:ext cx="4754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f(0) = −1,   f(−2) = 2(−2) − 1 = </a:t>
            </a:r>
            <a:r>
              <a:rPr b="1" lang="en-US" sz="1500" spc="-1" strike="noStrike">
                <a:solidFill>
                  <a:srgbClr val="c84f2f"/>
                </a:solidFill>
                <a:latin typeface="Cambria"/>
                <a:ea typeface="Cambria"/>
              </a:rPr>
              <a:t>−5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56"/>
          <p:cNvSpPr/>
          <p:nvPr/>
        </p:nvSpPr>
        <p:spPr>
          <a:xfrm>
            <a:off x="567000" y="585216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Substitute the value in place of x — that is all f(a) means.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ALGEBRAIC INPUTS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Substituting an Expression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Shape 39"/>
          <p:cNvSpPr/>
          <p:nvPr/>
        </p:nvSpPr>
        <p:spPr>
          <a:xfrm>
            <a:off x="567000" y="1554480"/>
            <a:ext cx="6126120" cy="324576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Shape 40"/>
          <p:cNvSpPr/>
          <p:nvPr/>
        </p:nvSpPr>
        <p:spPr>
          <a:xfrm>
            <a:off x="6903720" y="1554480"/>
            <a:ext cx="4727160" cy="324576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 41"/>
          <p:cNvSpPr/>
          <p:nvPr/>
        </p:nvSpPr>
        <p:spPr>
          <a:xfrm>
            <a:off x="7178040" y="17557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Key idea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42"/>
          <p:cNvSpPr/>
          <p:nvPr/>
        </p:nvSpPr>
        <p:spPr>
          <a:xfrm>
            <a:off x="7223760" y="2240280"/>
            <a:ext cx="42058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Replace EVERY x with the whole input.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Use brackets — (2x)² = 4x², not 2x².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Then expand and simplify.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This is the basis of composite functions.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 43"/>
          <p:cNvSpPr/>
          <p:nvPr/>
        </p:nvSpPr>
        <p:spPr>
          <a:xfrm>
            <a:off x="567000" y="63277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A common slip: forgetting the brackets when the input is negative or an expression.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Shape 44"/>
          <p:cNvSpPr/>
          <p:nvPr/>
        </p:nvSpPr>
        <p:spPr>
          <a:xfrm>
            <a:off x="868680" y="184716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Text 45"/>
          <p:cNvSpPr/>
          <p:nvPr/>
        </p:nvSpPr>
        <p:spPr>
          <a:xfrm>
            <a:off x="868680" y="184716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 46"/>
          <p:cNvSpPr/>
          <p:nvPr/>
        </p:nvSpPr>
        <p:spPr>
          <a:xfrm>
            <a:off x="1362600" y="181044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For f(x) = x</a:t>
            </a:r>
            <a:r>
              <a:rPr b="0" lang="en-US" sz="1400" spc="-1" strike="noStrike" baseline="30000">
                <a:solidFill>
                  <a:srgbClr val="1c2a22"/>
                </a:solidFill>
                <a:latin typeface="Calibri"/>
                <a:ea typeface="Calibri"/>
              </a:rPr>
              <a:t>2</a:t>
            </a: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, the input can be an expression too.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Shape 47"/>
          <p:cNvSpPr/>
          <p:nvPr/>
        </p:nvSpPr>
        <p:spPr>
          <a:xfrm>
            <a:off x="868680" y="257868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Text 48"/>
          <p:cNvSpPr/>
          <p:nvPr/>
        </p:nvSpPr>
        <p:spPr>
          <a:xfrm>
            <a:off x="868680" y="257868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 49"/>
          <p:cNvSpPr/>
          <p:nvPr/>
        </p:nvSpPr>
        <p:spPr>
          <a:xfrm>
            <a:off x="1362600" y="254196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f(x + 1) = (x + 1)</a:t>
            </a:r>
            <a:r>
              <a:rPr b="0" lang="en-US" sz="1400" spc="-1" strike="noStrike" baseline="30000">
                <a:solidFill>
                  <a:srgbClr val="1c2a22"/>
                </a:solidFill>
                <a:latin typeface="Calibri"/>
                <a:ea typeface="Calibri"/>
              </a:rPr>
              <a:t>2</a:t>
            </a: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 = x</a:t>
            </a:r>
            <a:r>
              <a:rPr b="0" lang="en-US" sz="1400" spc="-1" strike="noStrike" baseline="30000">
                <a:solidFill>
                  <a:srgbClr val="1c2a22"/>
                </a:solidFill>
                <a:latin typeface="Calibri"/>
                <a:ea typeface="Calibri"/>
              </a:rPr>
              <a:t>2</a:t>
            </a: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 + 2x + 1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Shape 50"/>
          <p:cNvSpPr/>
          <p:nvPr/>
        </p:nvSpPr>
        <p:spPr>
          <a:xfrm>
            <a:off x="868680" y="331020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Text 51"/>
          <p:cNvSpPr/>
          <p:nvPr/>
        </p:nvSpPr>
        <p:spPr>
          <a:xfrm>
            <a:off x="868680" y="33102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 52"/>
          <p:cNvSpPr/>
          <p:nvPr/>
        </p:nvSpPr>
        <p:spPr>
          <a:xfrm>
            <a:off x="1362600" y="327348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f(2x) = (2x)</a:t>
            </a:r>
            <a:r>
              <a:rPr b="0" lang="en-US" sz="1400" spc="-1" strike="noStrike" baseline="30000">
                <a:solidFill>
                  <a:srgbClr val="1c2a22"/>
                </a:solidFill>
                <a:latin typeface="Calibri"/>
                <a:ea typeface="Calibri"/>
              </a:rPr>
              <a:t>2</a:t>
            </a: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 = 4x</a:t>
            </a:r>
            <a:r>
              <a:rPr b="0" lang="en-US" sz="1400" spc="-1" strike="noStrike" baseline="30000">
                <a:solidFill>
                  <a:srgbClr val="1c2a22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Shape 53"/>
          <p:cNvSpPr/>
          <p:nvPr/>
        </p:nvSpPr>
        <p:spPr>
          <a:xfrm>
            <a:off x="868680" y="404172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Text 54"/>
          <p:cNvSpPr/>
          <p:nvPr/>
        </p:nvSpPr>
        <p:spPr>
          <a:xfrm>
            <a:off x="868680" y="40417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 55"/>
          <p:cNvSpPr/>
          <p:nvPr/>
        </p:nvSpPr>
        <p:spPr>
          <a:xfrm>
            <a:off x="1362600" y="400500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f(−3) = (−3)</a:t>
            </a:r>
            <a:r>
              <a:rPr b="0" lang="en-US" sz="1400" spc="-1" strike="noStrike" baseline="30000">
                <a:solidFill>
                  <a:srgbClr val="1c2a22"/>
                </a:solidFill>
                <a:latin typeface="Calibri"/>
                <a:ea typeface="Calibri"/>
              </a:rPr>
              <a:t>2</a:t>
            </a: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 = 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Shape 56"/>
          <p:cNvSpPr/>
          <p:nvPr/>
        </p:nvSpPr>
        <p:spPr>
          <a:xfrm>
            <a:off x="567000" y="5074920"/>
            <a:ext cx="11063880" cy="114264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Text 57"/>
          <p:cNvSpPr/>
          <p:nvPr/>
        </p:nvSpPr>
        <p:spPr>
          <a:xfrm>
            <a:off x="841320" y="5074920"/>
            <a:ext cx="10515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Replace every x with the input, in brackets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DOMAIN &amp; RANGE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Inputs In, Outputs Out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Shape 39"/>
          <p:cNvSpPr/>
          <p:nvPr/>
        </p:nvSpPr>
        <p:spPr>
          <a:xfrm>
            <a:off x="567000" y="1325880"/>
            <a:ext cx="11063880" cy="658080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" name="Text 40"/>
          <p:cNvSpPr/>
          <p:nvPr/>
        </p:nvSpPr>
        <p:spPr>
          <a:xfrm>
            <a:off x="887040" y="1325880"/>
            <a:ext cx="104238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Two words examiners love.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The domain is what you are allowed to put IN; the range is what can come OUT.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Shape 41"/>
          <p:cNvSpPr/>
          <p:nvPr/>
        </p:nvSpPr>
        <p:spPr>
          <a:xfrm>
            <a:off x="567000" y="2286000"/>
            <a:ext cx="5440320" cy="3017160"/>
          </a:xfrm>
          <a:prstGeom prst="roundRect">
            <a:avLst>
              <a:gd name="adj" fmla="val 1818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 42"/>
          <p:cNvSpPr/>
          <p:nvPr/>
        </p:nvSpPr>
        <p:spPr>
          <a:xfrm>
            <a:off x="932760" y="252360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DOMAIN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 43"/>
          <p:cNvSpPr/>
          <p:nvPr/>
        </p:nvSpPr>
        <p:spPr>
          <a:xfrm>
            <a:off x="914400" y="3017520"/>
            <a:ext cx="475452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b="0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the set of allowed INPUTS (x-values).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mbria"/>
                <a:ea typeface="Cambria"/>
              </a:rPr>
              <a:t>Think: what can I feed into the machine?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Shape 44"/>
          <p:cNvSpPr/>
          <p:nvPr/>
        </p:nvSpPr>
        <p:spPr>
          <a:xfrm>
            <a:off x="6190560" y="2286000"/>
            <a:ext cx="5440320" cy="3017160"/>
          </a:xfrm>
          <a:prstGeom prst="roundRect">
            <a:avLst>
              <a:gd name="adj" fmla="val 1818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Text 45"/>
          <p:cNvSpPr/>
          <p:nvPr/>
        </p:nvSpPr>
        <p:spPr>
          <a:xfrm>
            <a:off x="6556320" y="252360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RANGE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Text 46"/>
          <p:cNvSpPr/>
          <p:nvPr/>
        </p:nvSpPr>
        <p:spPr>
          <a:xfrm>
            <a:off x="6537960" y="3017520"/>
            <a:ext cx="475452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b="0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the set of possible OUTPUTS (f(x)-values).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mbria"/>
                <a:ea typeface="Cambria"/>
              </a:rPr>
              <a:t>Think: what can come out of the machine?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Shape 47"/>
          <p:cNvSpPr/>
          <p:nvPr/>
        </p:nvSpPr>
        <p:spPr>
          <a:xfrm>
            <a:off x="567000" y="5486400"/>
            <a:ext cx="11063880" cy="822600"/>
          </a:xfrm>
          <a:prstGeom prst="roundRect">
            <a:avLst>
              <a:gd name="adj" fmla="val 6667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Text 48"/>
          <p:cNvSpPr/>
          <p:nvPr/>
        </p:nvSpPr>
        <p:spPr>
          <a:xfrm>
            <a:off x="841320" y="548640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Domain = inputs (x).   Range = outputs (y or f(x)).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DOMAIN RESTRICTIONS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Values That Are Not Allowed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Shape 39"/>
          <p:cNvSpPr/>
          <p:nvPr/>
        </p:nvSpPr>
        <p:spPr>
          <a:xfrm>
            <a:off x="567000" y="1325880"/>
            <a:ext cx="11063880" cy="658080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" name="Text 40"/>
          <p:cNvSpPr/>
          <p:nvPr/>
        </p:nvSpPr>
        <p:spPr>
          <a:xfrm>
            <a:off x="887040" y="1325880"/>
            <a:ext cx="104238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Two things are forbidden in maths: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dividing by zero, and square-rooting a negative. These restrict the domain.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Shape 41"/>
          <p:cNvSpPr/>
          <p:nvPr/>
        </p:nvSpPr>
        <p:spPr>
          <a:xfrm>
            <a:off x="567000" y="2286000"/>
            <a:ext cx="5440320" cy="3108600"/>
          </a:xfrm>
          <a:prstGeom prst="roundRect">
            <a:avLst>
              <a:gd name="adj" fmla="val 1765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Text 42"/>
          <p:cNvSpPr/>
          <p:nvPr/>
        </p:nvSpPr>
        <p:spPr>
          <a:xfrm>
            <a:off x="932760" y="252360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No dividing by 0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Text 43"/>
          <p:cNvSpPr/>
          <p:nvPr/>
        </p:nvSpPr>
        <p:spPr>
          <a:xfrm>
            <a:off x="960120" y="3063240"/>
            <a:ext cx="1188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f(x) =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Text 44"/>
          <p:cNvSpPr/>
          <p:nvPr/>
        </p:nvSpPr>
        <p:spPr>
          <a:xfrm>
            <a:off x="2263320" y="2980800"/>
            <a:ext cx="12340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1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Shape 45"/>
          <p:cNvSpPr/>
          <p:nvPr/>
        </p:nvSpPr>
        <p:spPr>
          <a:xfrm>
            <a:off x="2262960" y="3291840"/>
            <a:ext cx="1234440" cy="360"/>
          </a:xfrm>
          <a:prstGeom prst="line">
            <a:avLst/>
          </a:prstGeom>
          <a:ln w="2032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Text 46"/>
          <p:cNvSpPr/>
          <p:nvPr/>
        </p:nvSpPr>
        <p:spPr>
          <a:xfrm>
            <a:off x="2263320" y="3328560"/>
            <a:ext cx="12340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x − 2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Text 47"/>
          <p:cNvSpPr/>
          <p:nvPr/>
        </p:nvSpPr>
        <p:spPr>
          <a:xfrm>
            <a:off x="960120" y="4160520"/>
            <a:ext cx="46630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The denominator cannot be 0,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so  x − 2 ≠ 0   →   </a:t>
            </a:r>
            <a:r>
              <a:rPr b="1" lang="en-US" sz="1500" spc="-1" strike="noStrike">
                <a:solidFill>
                  <a:srgbClr val="c84f2f"/>
                </a:solidFill>
                <a:latin typeface="Cambria"/>
                <a:ea typeface="Cambria"/>
              </a:rPr>
              <a:t>x ≠ 2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Shape 48"/>
          <p:cNvSpPr/>
          <p:nvPr/>
        </p:nvSpPr>
        <p:spPr>
          <a:xfrm>
            <a:off x="6190560" y="2286000"/>
            <a:ext cx="5440320" cy="3108600"/>
          </a:xfrm>
          <a:prstGeom prst="roundRect">
            <a:avLst>
              <a:gd name="adj" fmla="val 1765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Text 49"/>
          <p:cNvSpPr/>
          <p:nvPr/>
        </p:nvSpPr>
        <p:spPr>
          <a:xfrm>
            <a:off x="6556320" y="252360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No root of a negative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Text 50"/>
          <p:cNvSpPr/>
          <p:nvPr/>
        </p:nvSpPr>
        <p:spPr>
          <a:xfrm>
            <a:off x="6583680" y="3200400"/>
            <a:ext cx="1188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f(x) =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Text 54"/>
          <p:cNvSpPr/>
          <p:nvPr/>
        </p:nvSpPr>
        <p:spPr>
          <a:xfrm>
            <a:off x="7369920" y="3246120"/>
            <a:ext cx="1051200" cy="31068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Text 55"/>
          <p:cNvSpPr/>
          <p:nvPr/>
        </p:nvSpPr>
        <p:spPr>
          <a:xfrm>
            <a:off x="6583680" y="4160520"/>
            <a:ext cx="46630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The inside must be ≥ 0,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so  x − 3 ≥ 0   →   </a:t>
            </a:r>
            <a:r>
              <a:rPr b="1" lang="en-US" sz="1500" spc="-1" strike="noStrike">
                <a:solidFill>
                  <a:srgbClr val="c84f2f"/>
                </a:solidFill>
                <a:latin typeface="Cambria"/>
                <a:ea typeface="Cambria"/>
              </a:rPr>
              <a:t>x ≥ 3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Shape 56"/>
          <p:cNvSpPr/>
          <p:nvPr/>
        </p:nvSpPr>
        <p:spPr>
          <a:xfrm>
            <a:off x="567000" y="5532120"/>
            <a:ext cx="11063880" cy="822600"/>
          </a:xfrm>
          <a:prstGeom prst="roundRect">
            <a:avLst>
              <a:gd name="adj" fmla="val 6667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" name="Text 57"/>
          <p:cNvSpPr/>
          <p:nvPr/>
        </p:nvSpPr>
        <p:spPr>
          <a:xfrm>
            <a:off x="841320" y="553212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‘</a:t>
            </a: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Which value cannot be in the domain?’ → the one that makes the bottom 0.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5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RANGE OF A QUADRATIC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Use the Turning Point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Shape 39"/>
          <p:cNvSpPr/>
          <p:nvPr/>
        </p:nvSpPr>
        <p:spPr>
          <a:xfrm>
            <a:off x="567000" y="1554480"/>
            <a:ext cx="6126120" cy="324576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Shape 40"/>
          <p:cNvSpPr/>
          <p:nvPr/>
        </p:nvSpPr>
        <p:spPr>
          <a:xfrm>
            <a:off x="6903720" y="1554480"/>
            <a:ext cx="4727160" cy="324576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Text 41"/>
          <p:cNvSpPr/>
          <p:nvPr/>
        </p:nvSpPr>
        <p:spPr>
          <a:xfrm>
            <a:off x="7178040" y="17557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Method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Text 42"/>
          <p:cNvSpPr/>
          <p:nvPr/>
        </p:nvSpPr>
        <p:spPr>
          <a:xfrm>
            <a:off x="7223760" y="2240280"/>
            <a:ext cx="42058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A quadratic has a minimum (∪) or maximum (∩).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Complete the square, or find the turning point.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∪</a:t>
            </a: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-shape: range is f(x) ≥ the minimum.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∩</a:t>
            </a: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-shape: range is f(x) ≤ the maximum.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Text 43"/>
          <p:cNvSpPr/>
          <p:nvPr/>
        </p:nvSpPr>
        <p:spPr>
          <a:xfrm>
            <a:off x="567000" y="63277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The turning point gives the smallest (or largest) output — that is the edge of the range.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Shape 44"/>
          <p:cNvSpPr/>
          <p:nvPr/>
        </p:nvSpPr>
        <p:spPr>
          <a:xfrm>
            <a:off x="868680" y="184716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4" name="Text 45"/>
          <p:cNvSpPr/>
          <p:nvPr/>
        </p:nvSpPr>
        <p:spPr>
          <a:xfrm>
            <a:off x="868680" y="184716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Text 46"/>
          <p:cNvSpPr/>
          <p:nvPr/>
        </p:nvSpPr>
        <p:spPr>
          <a:xfrm>
            <a:off x="1362600" y="181044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Find the range of f(x) = x</a:t>
            </a:r>
            <a:r>
              <a:rPr b="0" lang="en-US" sz="1400" spc="-1" strike="noStrike" baseline="30000">
                <a:solidFill>
                  <a:srgbClr val="1c2a22"/>
                </a:solidFill>
                <a:latin typeface="Calibri"/>
                <a:ea typeface="Calibri"/>
              </a:rPr>
              <a:t>2</a:t>
            </a: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 − 4x + 1.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Shape 47"/>
          <p:cNvSpPr/>
          <p:nvPr/>
        </p:nvSpPr>
        <p:spPr>
          <a:xfrm>
            <a:off x="868680" y="257868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7" name="Text 48"/>
          <p:cNvSpPr/>
          <p:nvPr/>
        </p:nvSpPr>
        <p:spPr>
          <a:xfrm>
            <a:off x="868680" y="257868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Text 49"/>
          <p:cNvSpPr/>
          <p:nvPr/>
        </p:nvSpPr>
        <p:spPr>
          <a:xfrm>
            <a:off x="1362600" y="254196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Complete the square: (x − 2)</a:t>
            </a:r>
            <a:r>
              <a:rPr b="0" lang="en-US" sz="1400" spc="-1" strike="noStrike" baseline="30000">
                <a:solidFill>
                  <a:srgbClr val="1c2a22"/>
                </a:solidFill>
                <a:latin typeface="Calibri"/>
                <a:ea typeface="Calibri"/>
              </a:rPr>
              <a:t>2</a:t>
            </a: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 − 3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Shape 50"/>
          <p:cNvSpPr/>
          <p:nvPr/>
        </p:nvSpPr>
        <p:spPr>
          <a:xfrm>
            <a:off x="868680" y="331020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0" name="Text 51"/>
          <p:cNvSpPr/>
          <p:nvPr/>
        </p:nvSpPr>
        <p:spPr>
          <a:xfrm>
            <a:off x="868680" y="33102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Text 52"/>
          <p:cNvSpPr/>
          <p:nvPr/>
        </p:nvSpPr>
        <p:spPr>
          <a:xfrm>
            <a:off x="1362600" y="327348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Smallest value is −3 (when x = 2) — a MINIMUM.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Shape 53"/>
          <p:cNvSpPr/>
          <p:nvPr/>
        </p:nvSpPr>
        <p:spPr>
          <a:xfrm>
            <a:off x="868680" y="404172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3" name="Text 54"/>
          <p:cNvSpPr/>
          <p:nvPr/>
        </p:nvSpPr>
        <p:spPr>
          <a:xfrm>
            <a:off x="868680" y="40417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Text 55"/>
          <p:cNvSpPr/>
          <p:nvPr/>
        </p:nvSpPr>
        <p:spPr>
          <a:xfrm>
            <a:off x="1362600" y="400500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Range:  </a:t>
            </a:r>
            <a:r>
              <a:rPr b="1" lang="en-US" sz="1400" spc="-1" strike="noStrike">
                <a:solidFill>
                  <a:srgbClr val="c84f2f"/>
                </a:solidFill>
                <a:latin typeface="Calibri"/>
                <a:ea typeface="Calibri"/>
              </a:rPr>
              <a:t>f(x) ≥ −3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Shape 56"/>
          <p:cNvSpPr/>
          <p:nvPr/>
        </p:nvSpPr>
        <p:spPr>
          <a:xfrm>
            <a:off x="567000" y="5074920"/>
            <a:ext cx="11063880" cy="114264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6" name="Text 57"/>
          <p:cNvSpPr/>
          <p:nvPr/>
        </p:nvSpPr>
        <p:spPr>
          <a:xfrm>
            <a:off x="841320" y="5074920"/>
            <a:ext cx="10515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Minimum value −3, so the range is f(x) ≥ −3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3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COMPOSITE FUNCTIONS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One Machine, Then Another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Shape 39"/>
          <p:cNvSpPr/>
          <p:nvPr/>
        </p:nvSpPr>
        <p:spPr>
          <a:xfrm>
            <a:off x="567000" y="1325880"/>
            <a:ext cx="11063880" cy="658080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7" name="Text 40"/>
          <p:cNvSpPr/>
          <p:nvPr/>
        </p:nvSpPr>
        <p:spPr>
          <a:xfrm>
            <a:off x="887040" y="1325880"/>
            <a:ext cx="104238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fg(x) means do g FIRST, then f.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Work from the inside out — right to left.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Shape 41"/>
          <p:cNvSpPr/>
          <p:nvPr/>
        </p:nvSpPr>
        <p:spPr>
          <a:xfrm>
            <a:off x="1188720" y="2651760"/>
            <a:ext cx="914040" cy="914040"/>
          </a:xfrm>
          <a:prstGeom prst="ellipse">
            <a:avLst/>
          </a:prstGeom>
          <a:solidFill>
            <a:srgbClr val="eef1e8"/>
          </a:solidFill>
          <a:ln w="2286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Text 42"/>
          <p:cNvSpPr/>
          <p:nvPr/>
        </p:nvSpPr>
        <p:spPr>
          <a:xfrm>
            <a:off x="1188720" y="2651760"/>
            <a:ext cx="914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2000" spc="-1" strike="noStrike">
                <a:solidFill>
                  <a:srgbClr val="1c2a22"/>
                </a:solidFill>
                <a:latin typeface="Cambria"/>
                <a:ea typeface="Cambria"/>
              </a:rPr>
              <a:t>x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Shape 43"/>
          <p:cNvSpPr/>
          <p:nvPr/>
        </p:nvSpPr>
        <p:spPr>
          <a:xfrm>
            <a:off x="2194560" y="3108960"/>
            <a:ext cx="640080" cy="360"/>
          </a:xfrm>
          <a:prstGeom prst="line">
            <a:avLst/>
          </a:prstGeom>
          <a:ln w="38100">
            <a:solidFill>
              <a:srgbClr val="e0ac2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Shape 44"/>
          <p:cNvSpPr/>
          <p:nvPr/>
        </p:nvSpPr>
        <p:spPr>
          <a:xfrm>
            <a:off x="2926080" y="2743200"/>
            <a:ext cx="1554120" cy="731160"/>
          </a:xfrm>
          <a:prstGeom prst="roundRect">
            <a:avLst>
              <a:gd name="adj" fmla="val 7500"/>
            </a:avLst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2" name="Text 45"/>
          <p:cNvSpPr/>
          <p:nvPr/>
        </p:nvSpPr>
        <p:spPr>
          <a:xfrm>
            <a:off x="2926080" y="2743200"/>
            <a:ext cx="1554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mbria"/>
                <a:ea typeface="Cambria"/>
              </a:rPr>
              <a:t>g first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Shape 46"/>
          <p:cNvSpPr/>
          <p:nvPr/>
        </p:nvSpPr>
        <p:spPr>
          <a:xfrm>
            <a:off x="4572000" y="3108960"/>
            <a:ext cx="640080" cy="360"/>
          </a:xfrm>
          <a:prstGeom prst="line">
            <a:avLst/>
          </a:prstGeom>
          <a:ln w="38100">
            <a:solidFill>
              <a:srgbClr val="e0ac2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Shape 47"/>
          <p:cNvSpPr/>
          <p:nvPr/>
        </p:nvSpPr>
        <p:spPr>
          <a:xfrm>
            <a:off x="5303520" y="2743200"/>
            <a:ext cx="1554120" cy="731160"/>
          </a:xfrm>
          <a:prstGeom prst="roundRect">
            <a:avLst>
              <a:gd name="adj" fmla="val 7500"/>
            </a:avLst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5" name="Text 48"/>
          <p:cNvSpPr/>
          <p:nvPr/>
        </p:nvSpPr>
        <p:spPr>
          <a:xfrm>
            <a:off x="5303520" y="2743200"/>
            <a:ext cx="1554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mbria"/>
                <a:ea typeface="Cambria"/>
              </a:rPr>
              <a:t>then f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Shape 49"/>
          <p:cNvSpPr/>
          <p:nvPr/>
        </p:nvSpPr>
        <p:spPr>
          <a:xfrm>
            <a:off x="6949440" y="3108960"/>
            <a:ext cx="640080" cy="360"/>
          </a:xfrm>
          <a:prstGeom prst="line">
            <a:avLst/>
          </a:prstGeom>
          <a:ln w="38100">
            <a:solidFill>
              <a:srgbClr val="e0ac2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Shape 50"/>
          <p:cNvSpPr/>
          <p:nvPr/>
        </p:nvSpPr>
        <p:spPr>
          <a:xfrm>
            <a:off x="7680960" y="2651760"/>
            <a:ext cx="1737000" cy="914040"/>
          </a:xfrm>
          <a:prstGeom prst="ellipse">
            <a:avLst/>
          </a:prstGeom>
          <a:solidFill>
            <a:srgbClr val="fbf3dd"/>
          </a:solidFill>
          <a:ln w="2286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Text 51"/>
          <p:cNvSpPr/>
          <p:nvPr/>
        </p:nvSpPr>
        <p:spPr>
          <a:xfrm>
            <a:off x="7680960" y="2651760"/>
            <a:ext cx="17370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c84f2f"/>
                </a:solidFill>
                <a:latin typeface="Cambria"/>
                <a:ea typeface="Cambria"/>
              </a:rPr>
              <a:t>fg(x)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Shape 52"/>
          <p:cNvSpPr/>
          <p:nvPr/>
        </p:nvSpPr>
        <p:spPr>
          <a:xfrm>
            <a:off x="567000" y="4160520"/>
            <a:ext cx="11063880" cy="914040"/>
          </a:xfrm>
          <a:prstGeom prst="roundRect">
            <a:avLst>
              <a:gd name="adj" fmla="val 6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0" name="Text 53"/>
          <p:cNvSpPr/>
          <p:nvPr/>
        </p:nvSpPr>
        <p:spPr>
          <a:xfrm>
            <a:off x="841320" y="4160520"/>
            <a:ext cx="10515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fg(x) = f( g(x) ).   The function nearest x acts first.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Text 54"/>
          <p:cNvSpPr/>
          <p:nvPr/>
        </p:nvSpPr>
        <p:spPr>
          <a:xfrm>
            <a:off x="567000" y="534924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Order matters: fg(x) is usually NOT the same as gf(x).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8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COMPOSITE · WORKED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fg(x),  gf(x)  and  ff(x)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Shape 39"/>
          <p:cNvSpPr/>
          <p:nvPr/>
        </p:nvSpPr>
        <p:spPr>
          <a:xfrm>
            <a:off x="567000" y="1554480"/>
            <a:ext cx="6126120" cy="354744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Shape 40"/>
          <p:cNvSpPr/>
          <p:nvPr/>
        </p:nvSpPr>
        <p:spPr>
          <a:xfrm>
            <a:off x="6903720" y="1554480"/>
            <a:ext cx="4727160" cy="352008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Text 41"/>
          <p:cNvSpPr/>
          <p:nvPr/>
        </p:nvSpPr>
        <p:spPr>
          <a:xfrm>
            <a:off x="7178040" y="17557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ff and gg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Text 42"/>
          <p:cNvSpPr/>
          <p:nvPr/>
        </p:nvSpPr>
        <p:spPr>
          <a:xfrm>
            <a:off x="7223760" y="2240280"/>
            <a:ext cx="42058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ff(x) means apply f TWICE: f(f(x)).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gg(x) means apply g twice: g(g(x)).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Same rule — put the whole output back in as the input.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ff(x) is not (f(x))² — it is f OF f(x).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Text 43"/>
          <p:cNvSpPr/>
          <p:nvPr/>
        </p:nvSpPr>
        <p:spPr>
          <a:xfrm>
            <a:off x="567000" y="63277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ff(x) and gg(x) are just composites of a function with itself.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Shape 44"/>
          <p:cNvSpPr/>
          <p:nvPr/>
        </p:nvSpPr>
        <p:spPr>
          <a:xfrm>
            <a:off x="868680" y="184716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7" name="Text 45"/>
          <p:cNvSpPr/>
          <p:nvPr/>
        </p:nvSpPr>
        <p:spPr>
          <a:xfrm>
            <a:off x="868680" y="184716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Text 46"/>
          <p:cNvSpPr/>
          <p:nvPr/>
        </p:nvSpPr>
        <p:spPr>
          <a:xfrm>
            <a:off x="1362600" y="181044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f(x) = 2x − 1,   g(x) = x</a:t>
            </a:r>
            <a:r>
              <a:rPr b="0" lang="en-US" sz="1400" spc="-1" strike="noStrike" baseline="30000">
                <a:solidFill>
                  <a:srgbClr val="1c2a22"/>
                </a:solidFill>
                <a:latin typeface="Calibri"/>
                <a:ea typeface="Calibri"/>
              </a:rPr>
              <a:t>2</a:t>
            </a: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 + 3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Shape 47"/>
          <p:cNvSpPr/>
          <p:nvPr/>
        </p:nvSpPr>
        <p:spPr>
          <a:xfrm>
            <a:off x="868680" y="257868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0" name="Text 48"/>
          <p:cNvSpPr/>
          <p:nvPr/>
        </p:nvSpPr>
        <p:spPr>
          <a:xfrm>
            <a:off x="868680" y="257868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Text 49"/>
          <p:cNvSpPr/>
          <p:nvPr/>
        </p:nvSpPr>
        <p:spPr>
          <a:xfrm>
            <a:off x="1362600" y="254196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fg(x) = f( g(x) ) = 2(x</a:t>
            </a:r>
            <a:r>
              <a:rPr b="0" lang="en-US" sz="1400" spc="-1" strike="noStrike" baseline="30000">
                <a:solidFill>
                  <a:srgbClr val="1c2a22"/>
                </a:solidFill>
                <a:latin typeface="Calibri"/>
                <a:ea typeface="Calibri"/>
              </a:rPr>
              <a:t>2</a:t>
            </a: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 + 3) − 1 = 2x</a:t>
            </a:r>
            <a:r>
              <a:rPr b="0" lang="en-US" sz="1400" spc="-1" strike="noStrike" baseline="30000">
                <a:solidFill>
                  <a:srgbClr val="1c2a22"/>
                </a:solidFill>
                <a:latin typeface="Calibri"/>
                <a:ea typeface="Calibri"/>
              </a:rPr>
              <a:t>2</a:t>
            </a:r>
            <a:r>
              <a:rPr b="1" lang="en-US" sz="1400" spc="-1" strike="noStrike">
                <a:solidFill>
                  <a:srgbClr val="c84f2f"/>
                </a:solidFill>
                <a:latin typeface="Calibri"/>
                <a:ea typeface="Calibri"/>
              </a:rPr>
              <a:t> + 5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Shape 50"/>
          <p:cNvSpPr/>
          <p:nvPr/>
        </p:nvSpPr>
        <p:spPr>
          <a:xfrm>
            <a:off x="868680" y="331020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3" name="Text 51"/>
          <p:cNvSpPr/>
          <p:nvPr/>
        </p:nvSpPr>
        <p:spPr>
          <a:xfrm>
            <a:off x="868680" y="33102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Text 52"/>
          <p:cNvSpPr/>
          <p:nvPr/>
        </p:nvSpPr>
        <p:spPr>
          <a:xfrm>
            <a:off x="1362600" y="327348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gf(x) = g(2x − 1) = (2x − 1)</a:t>
            </a:r>
            <a:r>
              <a:rPr b="0" lang="en-US" sz="1400" spc="-1" strike="noStrike" baseline="30000">
                <a:solidFill>
                  <a:srgbClr val="1c2a22"/>
                </a:solidFill>
                <a:latin typeface="Calibri"/>
                <a:ea typeface="Calibri"/>
              </a:rPr>
              <a:t>2</a:t>
            </a: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 + 3   (different order!)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Shape 53"/>
          <p:cNvSpPr/>
          <p:nvPr/>
        </p:nvSpPr>
        <p:spPr>
          <a:xfrm>
            <a:off x="868680" y="404172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6" name="Text 54"/>
          <p:cNvSpPr/>
          <p:nvPr/>
        </p:nvSpPr>
        <p:spPr>
          <a:xfrm>
            <a:off x="868680" y="40417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Text 55"/>
          <p:cNvSpPr/>
          <p:nvPr/>
        </p:nvSpPr>
        <p:spPr>
          <a:xfrm>
            <a:off x="1362600" y="400500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ff(x) = f( f(x) ) = 2(2x − 1) − 1 = </a:t>
            </a:r>
            <a:r>
              <a:rPr b="1" lang="en-US" sz="1400" spc="-1" strike="noStrike">
                <a:solidFill>
                  <a:srgbClr val="c84f2f"/>
                </a:solidFill>
                <a:latin typeface="Calibri"/>
                <a:ea typeface="Calibri"/>
              </a:rPr>
              <a:t>4x − 3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Shape 56"/>
          <p:cNvSpPr/>
          <p:nvPr/>
        </p:nvSpPr>
        <p:spPr>
          <a:xfrm>
            <a:off x="868680" y="477324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9" name="Text 57"/>
          <p:cNvSpPr/>
          <p:nvPr/>
        </p:nvSpPr>
        <p:spPr>
          <a:xfrm>
            <a:off x="868680" y="477324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Text 58"/>
          <p:cNvSpPr/>
          <p:nvPr/>
        </p:nvSpPr>
        <p:spPr>
          <a:xfrm>
            <a:off x="1362600" y="473652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gg(x) = g( g(x) ) = (x</a:t>
            </a:r>
            <a:r>
              <a:rPr b="0" lang="en-US" sz="1400" spc="-1" strike="noStrike" baseline="30000">
                <a:solidFill>
                  <a:srgbClr val="1c2a22"/>
                </a:solidFill>
                <a:latin typeface="Calibri"/>
                <a:ea typeface="Calibri"/>
              </a:rPr>
              <a:t>2</a:t>
            </a: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 + 3)</a:t>
            </a:r>
            <a:r>
              <a:rPr b="0" lang="en-US" sz="1400" spc="-1" strike="noStrike" baseline="30000">
                <a:solidFill>
                  <a:srgbClr val="1c2a22"/>
                </a:solidFill>
                <a:latin typeface="Calibri"/>
                <a:ea typeface="Calibri"/>
              </a:rPr>
              <a:t>2</a:t>
            </a: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 + 3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Shape 59"/>
          <p:cNvSpPr/>
          <p:nvPr/>
        </p:nvSpPr>
        <p:spPr>
          <a:xfrm>
            <a:off x="567000" y="5222520"/>
            <a:ext cx="11063880" cy="114264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2" name="Text 60"/>
          <p:cNvSpPr/>
          <p:nvPr/>
        </p:nvSpPr>
        <p:spPr>
          <a:xfrm>
            <a:off x="841320" y="5074920"/>
            <a:ext cx="10515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ff(x) = f(f(x)) = 4x − 3   (apply f twice)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9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INVERSE FUNCTIONS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f⁻¹(x) Undoes f(x)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Shape 39"/>
          <p:cNvSpPr/>
          <p:nvPr/>
        </p:nvSpPr>
        <p:spPr>
          <a:xfrm>
            <a:off x="567000" y="1325880"/>
            <a:ext cx="11063880" cy="658080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3" name="Text 40"/>
          <p:cNvSpPr/>
          <p:nvPr/>
        </p:nvSpPr>
        <p:spPr>
          <a:xfrm>
            <a:off x="887040" y="1325880"/>
            <a:ext cx="104238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The inverse reverses the function.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Three steps: change notation, rearrange, change notation back.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Shape 41"/>
          <p:cNvSpPr/>
          <p:nvPr/>
        </p:nvSpPr>
        <p:spPr>
          <a:xfrm>
            <a:off x="567000" y="2194560"/>
            <a:ext cx="11063880" cy="804240"/>
          </a:xfrm>
          <a:prstGeom prst="roundRect">
            <a:avLst>
              <a:gd name="adj" fmla="val 6818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5" name="Shape 42"/>
          <p:cNvSpPr/>
          <p:nvPr/>
        </p:nvSpPr>
        <p:spPr>
          <a:xfrm>
            <a:off x="868680" y="236844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6" name="Text 43"/>
          <p:cNvSpPr/>
          <p:nvPr/>
        </p:nvSpPr>
        <p:spPr>
          <a:xfrm>
            <a:off x="868680" y="23684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Text 44"/>
          <p:cNvSpPr/>
          <p:nvPr/>
        </p:nvSpPr>
        <p:spPr>
          <a:xfrm>
            <a:off x="1508760" y="2194560"/>
            <a:ext cx="987516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1c2a22"/>
                </a:solidFill>
                <a:latin typeface="Cambria"/>
                <a:ea typeface="Cambria"/>
              </a:rPr>
              <a:t>Write y = f(x)  (change f(x) to y).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Shape 45"/>
          <p:cNvSpPr/>
          <p:nvPr/>
        </p:nvSpPr>
        <p:spPr>
          <a:xfrm>
            <a:off x="567000" y="3108960"/>
            <a:ext cx="11063880" cy="804240"/>
          </a:xfrm>
          <a:prstGeom prst="roundRect">
            <a:avLst>
              <a:gd name="adj" fmla="val 6818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Shape 46"/>
          <p:cNvSpPr/>
          <p:nvPr/>
        </p:nvSpPr>
        <p:spPr>
          <a:xfrm>
            <a:off x="868680" y="328284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0" name="Text 47"/>
          <p:cNvSpPr/>
          <p:nvPr/>
        </p:nvSpPr>
        <p:spPr>
          <a:xfrm>
            <a:off x="868680" y="32828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Text 48"/>
          <p:cNvSpPr/>
          <p:nvPr/>
        </p:nvSpPr>
        <p:spPr>
          <a:xfrm>
            <a:off x="1508760" y="3108960"/>
            <a:ext cx="987516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1c2a22"/>
                </a:solidFill>
                <a:latin typeface="Cambria"/>
                <a:ea typeface="Cambria"/>
              </a:rPr>
              <a:t>REARRANGE to make x the subject.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Shape 49"/>
          <p:cNvSpPr/>
          <p:nvPr/>
        </p:nvSpPr>
        <p:spPr>
          <a:xfrm>
            <a:off x="567000" y="4023360"/>
            <a:ext cx="11063880" cy="804240"/>
          </a:xfrm>
          <a:prstGeom prst="roundRect">
            <a:avLst>
              <a:gd name="adj" fmla="val 6818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Shape 50"/>
          <p:cNvSpPr/>
          <p:nvPr/>
        </p:nvSpPr>
        <p:spPr>
          <a:xfrm>
            <a:off x="868680" y="419724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4" name="Text 51"/>
          <p:cNvSpPr/>
          <p:nvPr/>
        </p:nvSpPr>
        <p:spPr>
          <a:xfrm>
            <a:off x="868680" y="41972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Text 52"/>
          <p:cNvSpPr/>
          <p:nvPr/>
        </p:nvSpPr>
        <p:spPr>
          <a:xfrm>
            <a:off x="1508760" y="4023360"/>
            <a:ext cx="987516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1c2a22"/>
                </a:solidFill>
                <a:latin typeface="Cambria"/>
                <a:ea typeface="Cambria"/>
              </a:rPr>
              <a:t>Swap x and y  (change notation back).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Shape 53"/>
          <p:cNvSpPr/>
          <p:nvPr/>
        </p:nvSpPr>
        <p:spPr>
          <a:xfrm>
            <a:off x="567000" y="4937760"/>
            <a:ext cx="11063880" cy="804240"/>
          </a:xfrm>
          <a:prstGeom prst="roundRect">
            <a:avLst>
              <a:gd name="adj" fmla="val 6818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Shape 54"/>
          <p:cNvSpPr/>
          <p:nvPr/>
        </p:nvSpPr>
        <p:spPr>
          <a:xfrm>
            <a:off x="868680" y="511164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8" name="Text 55"/>
          <p:cNvSpPr/>
          <p:nvPr/>
        </p:nvSpPr>
        <p:spPr>
          <a:xfrm>
            <a:off x="868680" y="51116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Text 56"/>
          <p:cNvSpPr/>
          <p:nvPr/>
        </p:nvSpPr>
        <p:spPr>
          <a:xfrm>
            <a:off x="1508760" y="4937760"/>
            <a:ext cx="987516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1c2a22"/>
                </a:solidFill>
                <a:latin typeface="Cambria"/>
                <a:ea typeface="Cambria"/>
              </a:rPr>
              <a:t>That expression is f⁻¹(x).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Text 57"/>
          <p:cNvSpPr/>
          <p:nvPr/>
        </p:nvSpPr>
        <p:spPr>
          <a:xfrm>
            <a:off x="567000" y="608076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The domain of f becomes the range of f⁻¹, and the range of f becomes the domain of f⁻¹.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3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7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INVERSE · WORKED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Finding f⁻¹(x)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Shape 39"/>
          <p:cNvSpPr/>
          <p:nvPr/>
        </p:nvSpPr>
        <p:spPr>
          <a:xfrm>
            <a:off x="567000" y="1325880"/>
            <a:ext cx="11063880" cy="621360"/>
          </a:xfrm>
          <a:prstGeom prst="roundRect">
            <a:avLst>
              <a:gd name="adj" fmla="val 8824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1" name="Text 40"/>
          <p:cNvSpPr/>
          <p:nvPr/>
        </p:nvSpPr>
        <p:spPr>
          <a:xfrm>
            <a:off x="887040" y="1325880"/>
            <a:ext cx="1042380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f(x) = 2x − 1. 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Write y = f(x), rearrange for x, then swap.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Shape 41"/>
          <p:cNvSpPr/>
          <p:nvPr/>
        </p:nvSpPr>
        <p:spPr>
          <a:xfrm>
            <a:off x="567000" y="2148840"/>
            <a:ext cx="5851800" cy="3565800"/>
          </a:xfrm>
          <a:prstGeom prst="roundRect">
            <a:avLst>
              <a:gd name="adj" fmla="val 1538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Text 42"/>
          <p:cNvSpPr/>
          <p:nvPr/>
        </p:nvSpPr>
        <p:spPr>
          <a:xfrm>
            <a:off x="932760" y="2386440"/>
            <a:ext cx="5120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Working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Text 43"/>
          <p:cNvSpPr/>
          <p:nvPr/>
        </p:nvSpPr>
        <p:spPr>
          <a:xfrm>
            <a:off x="914400" y="2880360"/>
            <a:ext cx="512028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y = 2x − 1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y + 1 = 2x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x =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Text 44"/>
          <p:cNvSpPr/>
          <p:nvPr/>
        </p:nvSpPr>
        <p:spPr>
          <a:xfrm>
            <a:off x="1783080" y="3849480"/>
            <a:ext cx="1096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c2a22"/>
                </a:solidFill>
                <a:latin typeface="Cambria"/>
                <a:ea typeface="Cambria"/>
              </a:rPr>
              <a:t>y + 1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" name="Shape 45"/>
          <p:cNvSpPr/>
          <p:nvPr/>
        </p:nvSpPr>
        <p:spPr>
          <a:xfrm>
            <a:off x="1783080" y="4160520"/>
            <a:ext cx="1097280" cy="360"/>
          </a:xfrm>
          <a:prstGeom prst="line">
            <a:avLst/>
          </a:prstGeom>
          <a:ln w="2032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Text 46"/>
          <p:cNvSpPr/>
          <p:nvPr/>
        </p:nvSpPr>
        <p:spPr>
          <a:xfrm>
            <a:off x="1783080" y="4197240"/>
            <a:ext cx="1096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c2a22"/>
                </a:solidFill>
                <a:latin typeface="Cambria"/>
                <a:ea typeface="Cambria"/>
              </a:rPr>
              <a:t>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Text 47"/>
          <p:cNvSpPr/>
          <p:nvPr/>
        </p:nvSpPr>
        <p:spPr>
          <a:xfrm>
            <a:off x="914400" y="470916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then swap x and y: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Text 48"/>
          <p:cNvSpPr/>
          <p:nvPr/>
        </p:nvSpPr>
        <p:spPr>
          <a:xfrm>
            <a:off x="914400" y="525780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c84f2f"/>
                </a:solidFill>
                <a:latin typeface="Cambria"/>
                <a:ea typeface="Cambria"/>
              </a:rPr>
              <a:t>f⁻¹(x) =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Text 49"/>
          <p:cNvSpPr/>
          <p:nvPr/>
        </p:nvSpPr>
        <p:spPr>
          <a:xfrm>
            <a:off x="3040560" y="5129640"/>
            <a:ext cx="12340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c84f2f"/>
                </a:solidFill>
                <a:latin typeface="Cambria"/>
                <a:ea typeface="Cambria"/>
              </a:rPr>
              <a:t>x + 1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Shape 50"/>
          <p:cNvSpPr/>
          <p:nvPr/>
        </p:nvSpPr>
        <p:spPr>
          <a:xfrm>
            <a:off x="3040200" y="5440680"/>
            <a:ext cx="1234440" cy="360"/>
          </a:xfrm>
          <a:prstGeom prst="line">
            <a:avLst/>
          </a:prstGeom>
          <a:ln w="203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Text 51"/>
          <p:cNvSpPr/>
          <p:nvPr/>
        </p:nvSpPr>
        <p:spPr>
          <a:xfrm>
            <a:off x="3040560" y="5477400"/>
            <a:ext cx="12340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c84f2f"/>
                </a:solidFill>
                <a:latin typeface="Cambria"/>
                <a:ea typeface="Cambria"/>
              </a:rPr>
              <a:t>2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Shape 52"/>
          <p:cNvSpPr/>
          <p:nvPr/>
        </p:nvSpPr>
        <p:spPr>
          <a:xfrm>
            <a:off x="6583680" y="2148840"/>
            <a:ext cx="5047200" cy="3565800"/>
          </a:xfrm>
          <a:prstGeom prst="roundRect">
            <a:avLst>
              <a:gd name="adj" fmla="val 1538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" name="Text 53"/>
          <p:cNvSpPr/>
          <p:nvPr/>
        </p:nvSpPr>
        <p:spPr>
          <a:xfrm>
            <a:off x="6949440" y="2386440"/>
            <a:ext cx="4315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Check it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Shape 54"/>
          <p:cNvSpPr/>
          <p:nvPr/>
        </p:nvSpPr>
        <p:spPr>
          <a:xfrm>
            <a:off x="6858000" y="2990160"/>
            <a:ext cx="145800" cy="145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6" name="Text 55"/>
          <p:cNvSpPr/>
          <p:nvPr/>
        </p:nvSpPr>
        <p:spPr>
          <a:xfrm>
            <a:off x="7132320" y="2880360"/>
            <a:ext cx="4343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f⁻¹ undoes f:  f⁻¹(f(x)) = x.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Shape 56"/>
          <p:cNvSpPr/>
          <p:nvPr/>
        </p:nvSpPr>
        <p:spPr>
          <a:xfrm>
            <a:off x="6858000" y="3611880"/>
            <a:ext cx="145800" cy="145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8" name="Text 57"/>
          <p:cNvSpPr/>
          <p:nvPr/>
        </p:nvSpPr>
        <p:spPr>
          <a:xfrm>
            <a:off x="7132320" y="3502080"/>
            <a:ext cx="4343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f(3) = 5, and f⁻¹(5) = (5+1)/2 = 3. ✓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Shape 58"/>
          <p:cNvSpPr/>
          <p:nvPr/>
        </p:nvSpPr>
        <p:spPr>
          <a:xfrm>
            <a:off x="6858000" y="4233600"/>
            <a:ext cx="145800" cy="145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0" name="Text 59"/>
          <p:cNvSpPr/>
          <p:nvPr/>
        </p:nvSpPr>
        <p:spPr>
          <a:xfrm>
            <a:off x="7132320" y="4123800"/>
            <a:ext cx="4343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Only one-to-one functions have an inverse.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Shape 60"/>
          <p:cNvSpPr/>
          <p:nvPr/>
        </p:nvSpPr>
        <p:spPr>
          <a:xfrm>
            <a:off x="6858000" y="4855320"/>
            <a:ext cx="145800" cy="145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2" name="Text 61"/>
          <p:cNvSpPr/>
          <p:nvPr/>
        </p:nvSpPr>
        <p:spPr>
          <a:xfrm>
            <a:off x="7132320" y="4745880"/>
            <a:ext cx="4343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Give the answer as f⁻¹(x) = …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Text 62"/>
          <p:cNvSpPr/>
          <p:nvPr/>
        </p:nvSpPr>
        <p:spPr>
          <a:xfrm>
            <a:off x="567000" y="594360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‘</a:t>
            </a:r>
            <a:r>
              <a:rPr b="0" i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Express the inverse in the form f⁻¹(x) = …’ is a very common exam instruction.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9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0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1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HARDER INVERSES (1)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2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Fraction &amp; Square-Root Functions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3" name="Shape 39"/>
          <p:cNvSpPr/>
          <p:nvPr/>
        </p:nvSpPr>
        <p:spPr>
          <a:xfrm>
            <a:off x="567000" y="1298520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4" name="Text 40"/>
          <p:cNvSpPr/>
          <p:nvPr/>
        </p:nvSpPr>
        <p:spPr>
          <a:xfrm>
            <a:off x="887040" y="129852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Same three steps — just more algebra to rearrange.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5" name="Shape 41"/>
          <p:cNvSpPr/>
          <p:nvPr/>
        </p:nvSpPr>
        <p:spPr>
          <a:xfrm>
            <a:off x="567000" y="1965960"/>
            <a:ext cx="5440320" cy="4114440"/>
          </a:xfrm>
          <a:prstGeom prst="roundRect">
            <a:avLst>
              <a:gd name="adj" fmla="val 1333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6" name="Text 42"/>
          <p:cNvSpPr/>
          <p:nvPr/>
        </p:nvSpPr>
        <p:spPr>
          <a:xfrm>
            <a:off x="932760" y="220356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x on top AND bottom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" name="Text 43"/>
          <p:cNvSpPr/>
          <p:nvPr/>
        </p:nvSpPr>
        <p:spPr>
          <a:xfrm>
            <a:off x="914400" y="2697480"/>
            <a:ext cx="1142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c2a22"/>
                </a:solidFill>
                <a:latin typeface="Cambria"/>
                <a:ea typeface="Cambria"/>
              </a:rPr>
              <a:t>f(x) =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8" name="Text 44"/>
          <p:cNvSpPr/>
          <p:nvPr/>
        </p:nvSpPr>
        <p:spPr>
          <a:xfrm>
            <a:off x="2194560" y="2615040"/>
            <a:ext cx="1554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c2a22"/>
                </a:solidFill>
                <a:latin typeface="Cambria"/>
                <a:ea typeface="Cambria"/>
              </a:rPr>
              <a:t>2x + 1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9" name="Shape 45"/>
          <p:cNvSpPr/>
          <p:nvPr/>
        </p:nvSpPr>
        <p:spPr>
          <a:xfrm>
            <a:off x="2194560" y="2926080"/>
            <a:ext cx="1554480" cy="360"/>
          </a:xfrm>
          <a:prstGeom prst="line">
            <a:avLst/>
          </a:prstGeom>
          <a:ln w="2032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" name="Text 46"/>
          <p:cNvSpPr/>
          <p:nvPr/>
        </p:nvSpPr>
        <p:spPr>
          <a:xfrm>
            <a:off x="2194560" y="2962800"/>
            <a:ext cx="1554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c2a22"/>
                </a:solidFill>
                <a:latin typeface="Cambria"/>
                <a:ea typeface="Cambria"/>
              </a:rPr>
              <a:t>x − 3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1" name="Text 47"/>
          <p:cNvSpPr/>
          <p:nvPr/>
        </p:nvSpPr>
        <p:spPr>
          <a:xfrm>
            <a:off x="914400" y="3611880"/>
            <a:ext cx="475452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y (x − 3) = 2x + 1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xy − 3y = 2x + 1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xy − 2x = 3y + 1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x (y − 2) = 3y + 1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2" name="Text 48"/>
          <p:cNvSpPr/>
          <p:nvPr/>
        </p:nvSpPr>
        <p:spPr>
          <a:xfrm>
            <a:off x="914400" y="553212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c84f2f"/>
                </a:solidFill>
                <a:latin typeface="Cambria"/>
                <a:ea typeface="Cambria"/>
              </a:rPr>
              <a:t>f⁻¹(x) =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3" name="Text 49"/>
          <p:cNvSpPr/>
          <p:nvPr/>
        </p:nvSpPr>
        <p:spPr>
          <a:xfrm>
            <a:off x="3200400" y="5403960"/>
            <a:ext cx="1554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c84f2f"/>
                </a:solidFill>
                <a:latin typeface="Cambria"/>
                <a:ea typeface="Cambria"/>
              </a:rPr>
              <a:t>3x + 1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4" name="Shape 50"/>
          <p:cNvSpPr/>
          <p:nvPr/>
        </p:nvSpPr>
        <p:spPr>
          <a:xfrm>
            <a:off x="3200400" y="5715000"/>
            <a:ext cx="1554480" cy="360"/>
          </a:xfrm>
          <a:prstGeom prst="line">
            <a:avLst/>
          </a:prstGeom>
          <a:ln w="203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5" name="Text 51"/>
          <p:cNvSpPr/>
          <p:nvPr/>
        </p:nvSpPr>
        <p:spPr>
          <a:xfrm>
            <a:off x="3200400" y="5751720"/>
            <a:ext cx="1554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c84f2f"/>
                </a:solidFill>
                <a:latin typeface="Cambria"/>
                <a:ea typeface="Cambria"/>
              </a:rPr>
              <a:t>x − 2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6" name="Shape 52"/>
          <p:cNvSpPr/>
          <p:nvPr/>
        </p:nvSpPr>
        <p:spPr>
          <a:xfrm>
            <a:off x="6190560" y="1965960"/>
            <a:ext cx="5440320" cy="4114440"/>
          </a:xfrm>
          <a:prstGeom prst="roundRect">
            <a:avLst>
              <a:gd name="adj" fmla="val 1333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7" name="Text 53"/>
          <p:cNvSpPr/>
          <p:nvPr/>
        </p:nvSpPr>
        <p:spPr>
          <a:xfrm>
            <a:off x="6556320" y="220356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Square-root function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8" name="Text 54"/>
          <p:cNvSpPr/>
          <p:nvPr/>
        </p:nvSpPr>
        <p:spPr>
          <a:xfrm>
            <a:off x="6537960" y="2743200"/>
            <a:ext cx="1142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c2a22"/>
                </a:solidFill>
                <a:latin typeface="Cambria"/>
                <a:ea typeface="Cambria"/>
              </a:rPr>
              <a:t>f(x) =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" name="Text 59"/>
          <p:cNvSpPr/>
          <p:nvPr/>
        </p:nvSpPr>
        <p:spPr>
          <a:xfrm>
            <a:off x="9692640" y="2697480"/>
            <a:ext cx="1462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c6b60"/>
                </a:solidFill>
                <a:latin typeface="Calibri"/>
                <a:ea typeface="Calibri"/>
              </a:rPr>
              <a:t>(x ≥ 4)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0" name="Text 60"/>
          <p:cNvSpPr/>
          <p:nvPr/>
        </p:nvSpPr>
        <p:spPr>
          <a:xfrm>
            <a:off x="6537960" y="3429000"/>
            <a:ext cx="475452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c6b60"/>
                </a:solidFill>
                <a:latin typeface="Cambria"/>
                <a:ea typeface="Cambria"/>
              </a:rPr>
              <a:t>Square both sides: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y</a:t>
            </a:r>
            <a:r>
              <a:rPr b="0" lang="en-US" sz="1500" spc="-1" strike="noStrike" baseline="30000">
                <a:solidFill>
                  <a:srgbClr val="1c2a22"/>
                </a:solidFill>
                <a:latin typeface="Cambria"/>
                <a:ea typeface="Cambria"/>
              </a:rPr>
              <a:t>2</a:t>
            </a:r>
            <a:r>
              <a:rPr b="0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 = x − 4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x = y</a:t>
            </a:r>
            <a:r>
              <a:rPr b="0" lang="en-US" sz="1500" spc="-1" strike="noStrike" baseline="30000">
                <a:solidFill>
                  <a:srgbClr val="1c2a22"/>
                </a:solidFill>
                <a:latin typeface="Cambria"/>
                <a:ea typeface="Cambria"/>
              </a:rPr>
              <a:t>2</a:t>
            </a:r>
            <a:r>
              <a:rPr b="0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 + 4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1" name="Text 61"/>
          <p:cNvSpPr/>
          <p:nvPr/>
        </p:nvSpPr>
        <p:spPr>
          <a:xfrm>
            <a:off x="6537960" y="5257800"/>
            <a:ext cx="4845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c84f2f"/>
                </a:solidFill>
                <a:latin typeface="Cambria"/>
                <a:ea typeface="Cambria"/>
              </a:rPr>
              <a:t>f⁻¹(x) = x</a:t>
            </a:r>
            <a:r>
              <a:rPr b="1" lang="en-US" sz="1700" spc="-1" strike="noStrike" baseline="30000">
                <a:solidFill>
                  <a:srgbClr val="c84f2f"/>
                </a:solidFill>
                <a:latin typeface="Cambria"/>
                <a:ea typeface="Cambria"/>
              </a:rPr>
              <a:t>2</a:t>
            </a:r>
            <a:r>
              <a:rPr b="1" lang="en-US" sz="1700" spc="-1" strike="noStrike">
                <a:solidFill>
                  <a:srgbClr val="c84f2f"/>
                </a:solidFill>
                <a:latin typeface="Cambria"/>
                <a:ea typeface="Cambria"/>
              </a:rPr>
              <a:t> + 4</a:t>
            </a:r>
            <a:r>
              <a:rPr b="0" i="1" lang="en-US" sz="1200" spc="-1" strike="noStrike">
                <a:solidFill>
                  <a:srgbClr val="5c6b60"/>
                </a:solidFill>
                <a:latin typeface="Cambria"/>
                <a:ea typeface="Cambria"/>
              </a:rPr>
              <a:t>    (x ≥ 0)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" name="Text 62"/>
          <p:cNvSpPr/>
          <p:nvPr/>
        </p:nvSpPr>
        <p:spPr>
          <a:xfrm>
            <a:off x="567000" y="62179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5c6b60"/>
                </a:solidFill>
                <a:latin typeface="Calibri"/>
                <a:ea typeface="Calibri"/>
              </a:rPr>
              <a:t>Reverse a square root by SQUARING;  reverse a fraction by multiplying up and collecting the x-terms.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3" name="Text 54"/>
          <p:cNvSpPr/>
          <p:nvPr/>
        </p:nvSpPr>
        <p:spPr>
          <a:xfrm>
            <a:off x="7241760" y="2809800"/>
            <a:ext cx="1051200" cy="31068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9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0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1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HARDER INVERSES (2)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2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Quadratic — Complete the Square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3" name="Shape 39"/>
          <p:cNvSpPr/>
          <p:nvPr/>
        </p:nvSpPr>
        <p:spPr>
          <a:xfrm>
            <a:off x="567000" y="1298520"/>
            <a:ext cx="11063880" cy="621360"/>
          </a:xfrm>
          <a:prstGeom prst="roundRect">
            <a:avLst>
              <a:gd name="adj" fmla="val 8824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4" name="Text 40"/>
          <p:cNvSpPr/>
          <p:nvPr/>
        </p:nvSpPr>
        <p:spPr>
          <a:xfrm>
            <a:off x="887040" y="1298520"/>
            <a:ext cx="1042380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You cannot rearrange x² + 6x − 7 for x directly.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Complete the square first, then undo it with a root.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5" name="Shape 41"/>
          <p:cNvSpPr/>
          <p:nvPr/>
        </p:nvSpPr>
        <p:spPr>
          <a:xfrm>
            <a:off x="567000" y="2103120"/>
            <a:ext cx="5851800" cy="3611520"/>
          </a:xfrm>
          <a:prstGeom prst="roundRect">
            <a:avLst>
              <a:gd name="adj" fmla="val 1519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6" name="Text 42"/>
          <p:cNvSpPr/>
          <p:nvPr/>
        </p:nvSpPr>
        <p:spPr>
          <a:xfrm>
            <a:off x="932760" y="2340720"/>
            <a:ext cx="5120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Working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7" name="Text 43"/>
          <p:cNvSpPr/>
          <p:nvPr/>
        </p:nvSpPr>
        <p:spPr>
          <a:xfrm>
            <a:off x="914400" y="2834640"/>
            <a:ext cx="5394600" cy="26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1c2a22"/>
                </a:solidFill>
                <a:latin typeface="Cambria"/>
                <a:ea typeface="Cambria"/>
              </a:rPr>
              <a:t>f(x) = x</a:t>
            </a:r>
            <a:r>
              <a:rPr b="0" lang="en-US" sz="1550" spc="-1" strike="noStrike" baseline="30000">
                <a:solidFill>
                  <a:srgbClr val="1c2a22"/>
                </a:solidFill>
                <a:latin typeface="Cambria"/>
                <a:ea typeface="Cambria"/>
              </a:rPr>
              <a:t>2</a:t>
            </a:r>
            <a:r>
              <a:rPr b="0" lang="en-US" sz="1550" spc="-1" strike="noStrike">
                <a:solidFill>
                  <a:srgbClr val="1c2a22"/>
                </a:solidFill>
                <a:latin typeface="Cambria"/>
                <a:ea typeface="Cambria"/>
              </a:rPr>
              <a:t> + 6x − 7      (x ≥ −3)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1c2a22"/>
                </a:solidFill>
                <a:latin typeface="Cambria"/>
                <a:ea typeface="Cambria"/>
              </a:rPr>
              <a:t>= (x + 3)</a:t>
            </a:r>
            <a:r>
              <a:rPr b="0" lang="en-US" sz="1550" spc="-1" strike="noStrike" baseline="30000">
                <a:solidFill>
                  <a:srgbClr val="1c2a22"/>
                </a:solidFill>
                <a:latin typeface="Cambria"/>
                <a:ea typeface="Cambria"/>
              </a:rPr>
              <a:t>2</a:t>
            </a:r>
            <a:r>
              <a:rPr b="0" lang="en-US" sz="1550" spc="-1" strike="noStrike">
                <a:solidFill>
                  <a:srgbClr val="1c2a22"/>
                </a:solidFill>
                <a:latin typeface="Cambria"/>
                <a:ea typeface="Cambria"/>
              </a:rPr>
              <a:t> − 16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1c2a22"/>
                </a:solidFill>
                <a:latin typeface="Cambria"/>
                <a:ea typeface="Cambria"/>
              </a:rPr>
              <a:t>y + 16 = (x + 3)</a:t>
            </a:r>
            <a:r>
              <a:rPr b="0" lang="en-US" sz="1550" spc="-1" strike="noStrike" baseline="30000">
                <a:solidFill>
                  <a:srgbClr val="1c2a22"/>
                </a:solidFill>
                <a:latin typeface="Cambria"/>
                <a:ea typeface="Cambria"/>
              </a:rPr>
              <a:t>2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1c2a22"/>
                </a:solidFill>
                <a:latin typeface="Cambria"/>
                <a:ea typeface="Cambria"/>
              </a:rPr>
              <a:t>x + 3 =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8" name="Shape 48"/>
          <p:cNvSpPr/>
          <p:nvPr/>
        </p:nvSpPr>
        <p:spPr>
          <a:xfrm>
            <a:off x="6583680" y="2103120"/>
            <a:ext cx="5047200" cy="3611520"/>
          </a:xfrm>
          <a:prstGeom prst="roundRect">
            <a:avLst>
              <a:gd name="adj" fmla="val 1519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9" name="Text 49"/>
          <p:cNvSpPr/>
          <p:nvPr/>
        </p:nvSpPr>
        <p:spPr>
          <a:xfrm>
            <a:off x="6949440" y="2340720"/>
            <a:ext cx="4315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Why complete the square?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0" name="Shape 50"/>
          <p:cNvSpPr/>
          <p:nvPr/>
        </p:nvSpPr>
        <p:spPr>
          <a:xfrm>
            <a:off x="6858000" y="2944440"/>
            <a:ext cx="145800" cy="145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1" name="Text 51"/>
          <p:cNvSpPr/>
          <p:nvPr/>
        </p:nvSpPr>
        <p:spPr>
          <a:xfrm>
            <a:off x="7132320" y="2834640"/>
            <a:ext cx="43430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c2a22"/>
                </a:solidFill>
                <a:latin typeface="Cambria"/>
                <a:ea typeface="Cambria"/>
              </a:rPr>
              <a:t>No way to rearrange x² + 6x − 7 for x.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2" name="Shape 52"/>
          <p:cNvSpPr/>
          <p:nvPr/>
        </p:nvSpPr>
        <p:spPr>
          <a:xfrm>
            <a:off x="6858000" y="3547800"/>
            <a:ext cx="145800" cy="145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3" name="Text 53"/>
          <p:cNvSpPr/>
          <p:nvPr/>
        </p:nvSpPr>
        <p:spPr>
          <a:xfrm>
            <a:off x="7132320" y="3438000"/>
            <a:ext cx="43430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c2a22"/>
                </a:solidFill>
                <a:latin typeface="Cambria"/>
                <a:ea typeface="Cambria"/>
              </a:rPr>
              <a:t>It gives ONE (x + 3)² to undo.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4" name="Shape 54"/>
          <p:cNvSpPr/>
          <p:nvPr/>
        </p:nvSpPr>
        <p:spPr>
          <a:xfrm>
            <a:off x="6858000" y="4151520"/>
            <a:ext cx="145800" cy="145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5" name="Text 55"/>
          <p:cNvSpPr/>
          <p:nvPr/>
        </p:nvSpPr>
        <p:spPr>
          <a:xfrm>
            <a:off x="7132320" y="4041720"/>
            <a:ext cx="43430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c2a22"/>
                </a:solidFill>
                <a:latin typeface="Cambria"/>
                <a:ea typeface="Cambria"/>
              </a:rPr>
              <a:t>Undo with a square root, then − 3.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6" name="Shape 56"/>
          <p:cNvSpPr/>
          <p:nvPr/>
        </p:nvSpPr>
        <p:spPr>
          <a:xfrm>
            <a:off x="6858000" y="4754880"/>
            <a:ext cx="145800" cy="145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7" name="Text 57"/>
          <p:cNvSpPr/>
          <p:nvPr/>
        </p:nvSpPr>
        <p:spPr>
          <a:xfrm>
            <a:off x="7132320" y="4645080"/>
            <a:ext cx="43430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c2a22"/>
                </a:solidFill>
                <a:latin typeface="Cambria"/>
                <a:ea typeface="Cambria"/>
              </a:rPr>
              <a:t>x ≥ −3 → take the POSITIVE root.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8" name="Text 58"/>
          <p:cNvSpPr/>
          <p:nvPr/>
        </p:nvSpPr>
        <p:spPr>
          <a:xfrm>
            <a:off x="6858000" y="534924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c84f2f"/>
                </a:solidFill>
                <a:latin typeface="Cambria"/>
                <a:ea typeface="Cambria"/>
              </a:rPr>
              <a:t>f⁻¹(x) =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9" name="Text 63"/>
          <p:cNvSpPr/>
          <p:nvPr/>
        </p:nvSpPr>
        <p:spPr>
          <a:xfrm>
            <a:off x="8695800" y="5330880"/>
            <a:ext cx="822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c84f2f"/>
                </a:solidFill>
                <a:latin typeface="Cambria"/>
                <a:ea typeface="Cambria"/>
              </a:rPr>
              <a:t>− </a:t>
            </a:r>
            <a:r>
              <a:rPr b="1" lang="en-US" sz="1600" spc="-1" strike="noStrike">
                <a:solidFill>
                  <a:srgbClr val="c84f2f"/>
                </a:solidFill>
                <a:latin typeface="Cambria"/>
                <a:ea typeface="Cambria"/>
              </a:rPr>
              <a:t>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0" name="Text 64"/>
          <p:cNvSpPr/>
          <p:nvPr/>
        </p:nvSpPr>
        <p:spPr>
          <a:xfrm>
            <a:off x="567000" y="594360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c6b60"/>
                </a:solidFill>
                <a:latin typeface="Calibri"/>
                <a:ea typeface="Calibri"/>
              </a:rPr>
              <a:t>A quadratic only has an inverse on a restricted domain (x ≥ −3) so it is one-to-one.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1" name="Text 54"/>
          <p:cNvSpPr/>
          <p:nvPr/>
        </p:nvSpPr>
        <p:spPr>
          <a:xfrm>
            <a:off x="1570680" y="3551400"/>
            <a:ext cx="1051200" cy="31068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2" name="Text 54"/>
          <p:cNvSpPr/>
          <p:nvPr/>
        </p:nvSpPr>
        <p:spPr>
          <a:xfrm>
            <a:off x="7726680" y="5403960"/>
            <a:ext cx="1051200" cy="31068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4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5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6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7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8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9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0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1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2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3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4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5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6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7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8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9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0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1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2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3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4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5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6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7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8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9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0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1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2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3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4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5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6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7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8" name="Shape 35"/>
          <p:cNvSpPr/>
          <p:nvPr/>
        </p:nvSpPr>
        <p:spPr>
          <a:xfrm>
            <a:off x="777240" y="64008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9" name="Text 36"/>
          <p:cNvSpPr/>
          <p:nvPr/>
        </p:nvSpPr>
        <p:spPr>
          <a:xfrm>
            <a:off x="777240" y="640080"/>
            <a:ext cx="60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79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7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0" name="Text 37"/>
          <p:cNvSpPr/>
          <p:nvPr/>
        </p:nvSpPr>
        <p:spPr>
          <a:xfrm>
            <a:off x="1554480" y="676800"/>
            <a:ext cx="8229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e0ac2b"/>
                </a:solidFill>
                <a:latin typeface="Calibri"/>
                <a:ea typeface="Calibri"/>
              </a:rPr>
              <a:t>PART 2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1" name="Text 38"/>
          <p:cNvSpPr/>
          <p:nvPr/>
        </p:nvSpPr>
        <p:spPr>
          <a:xfrm>
            <a:off x="777240" y="1691640"/>
            <a:ext cx="10789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e0ac2b"/>
                </a:solidFill>
                <a:latin typeface="Cambria"/>
                <a:ea typeface="Cambria"/>
              </a:rPr>
              <a:t>Past-Paper Questions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2" name="Text 39"/>
          <p:cNvSpPr/>
          <p:nvPr/>
        </p:nvSpPr>
        <p:spPr>
          <a:xfrm>
            <a:off x="804600" y="269748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Evaluate, find the range, build composites, and rearrange for inverses.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3" name="Shape 40"/>
          <p:cNvSpPr/>
          <p:nvPr/>
        </p:nvSpPr>
        <p:spPr>
          <a:xfrm>
            <a:off x="868680" y="361188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4" name="Text 41"/>
          <p:cNvSpPr/>
          <p:nvPr/>
        </p:nvSpPr>
        <p:spPr>
          <a:xfrm>
            <a:off x="868680" y="361188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5" name="Text 42"/>
          <p:cNvSpPr/>
          <p:nvPr/>
        </p:nvSpPr>
        <p:spPr>
          <a:xfrm>
            <a:off x="1554480" y="361188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f(a) → substitute a for x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6" name="Shape 43"/>
          <p:cNvSpPr/>
          <p:nvPr/>
        </p:nvSpPr>
        <p:spPr>
          <a:xfrm>
            <a:off x="868680" y="432504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7" name="Text 44"/>
          <p:cNvSpPr/>
          <p:nvPr/>
        </p:nvSpPr>
        <p:spPr>
          <a:xfrm>
            <a:off x="868680" y="432504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8" name="Text 45"/>
          <p:cNvSpPr/>
          <p:nvPr/>
        </p:nvSpPr>
        <p:spPr>
          <a:xfrm>
            <a:off x="1554480" y="432504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Domain → avoid ÷0 and √(negative)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9" name="Shape 46"/>
          <p:cNvSpPr/>
          <p:nvPr/>
        </p:nvSpPr>
        <p:spPr>
          <a:xfrm>
            <a:off x="868680" y="503820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0" name="Text 47"/>
          <p:cNvSpPr/>
          <p:nvPr/>
        </p:nvSpPr>
        <p:spPr>
          <a:xfrm>
            <a:off x="868680" y="503820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1" name="Text 48"/>
          <p:cNvSpPr/>
          <p:nvPr/>
        </p:nvSpPr>
        <p:spPr>
          <a:xfrm>
            <a:off x="1554480" y="503820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fg(x) → do g first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2" name="Shape 49"/>
          <p:cNvSpPr/>
          <p:nvPr/>
        </p:nvSpPr>
        <p:spPr>
          <a:xfrm>
            <a:off x="868680" y="575172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3" name="Text 50"/>
          <p:cNvSpPr/>
          <p:nvPr/>
        </p:nvSpPr>
        <p:spPr>
          <a:xfrm>
            <a:off x="868680" y="575172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4" name="Text 51"/>
          <p:cNvSpPr/>
          <p:nvPr/>
        </p:nvSpPr>
        <p:spPr>
          <a:xfrm>
            <a:off x="1554480" y="575172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Inverse → rearrange, then swap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6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7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8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9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0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1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2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3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4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5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6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7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8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9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0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1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2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3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4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5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6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7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8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9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0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1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2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3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4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5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6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7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8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9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0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1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2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3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4" name="Shape 39"/>
          <p:cNvSpPr/>
          <p:nvPr/>
        </p:nvSpPr>
        <p:spPr>
          <a:xfrm>
            <a:off x="1652760" y="1408320"/>
            <a:ext cx="8886240" cy="522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45" name="Image 0" descr="/tmp/work/fnq/q-20.png"/>
          <p:cNvPicPr/>
          <p:nvPr/>
        </p:nvPicPr>
        <p:blipFill>
          <a:blip r:embed="rId1"/>
          <a:stretch/>
        </p:blipFill>
        <p:spPr>
          <a:xfrm>
            <a:off x="1725840" y="1481400"/>
            <a:ext cx="8739720" cy="507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7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8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9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0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1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2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3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4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5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6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7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8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9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0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1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2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3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4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5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6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7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8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9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0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1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2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3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4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5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6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7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8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9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0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1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2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3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4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2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5" name="Shape 39"/>
          <p:cNvSpPr/>
          <p:nvPr/>
        </p:nvSpPr>
        <p:spPr>
          <a:xfrm>
            <a:off x="1633680" y="1408320"/>
            <a:ext cx="8924040" cy="3425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86" name="Image 0" descr="/tmp/work/fnq/q-21.png"/>
          <p:cNvPicPr/>
          <p:nvPr/>
        </p:nvPicPr>
        <p:blipFill>
          <a:blip r:embed="rId1"/>
          <a:stretch/>
        </p:blipFill>
        <p:spPr>
          <a:xfrm>
            <a:off x="1706760" y="1481400"/>
            <a:ext cx="8777880" cy="3279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8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9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0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1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2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3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4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5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6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7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8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9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0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1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2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3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4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5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6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7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8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9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0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1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2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3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4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5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6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7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8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9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0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1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2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3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4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5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3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6" name="Shape 39"/>
          <p:cNvSpPr/>
          <p:nvPr/>
        </p:nvSpPr>
        <p:spPr>
          <a:xfrm>
            <a:off x="1633680" y="1408320"/>
            <a:ext cx="8924040" cy="3515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27" name="Image 0" descr="/tmp/work/fnq/q-22.png"/>
          <p:cNvPicPr/>
          <p:nvPr/>
        </p:nvPicPr>
        <p:blipFill>
          <a:blip r:embed="rId1"/>
          <a:stretch/>
        </p:blipFill>
        <p:spPr>
          <a:xfrm>
            <a:off x="1706760" y="1481400"/>
            <a:ext cx="8777880" cy="3368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3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4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5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6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4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7" name="Shape 39"/>
          <p:cNvSpPr/>
          <p:nvPr/>
        </p:nvSpPr>
        <p:spPr>
          <a:xfrm>
            <a:off x="1633680" y="1408320"/>
            <a:ext cx="8924040" cy="230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68" name="Image 0" descr="/tmp/work/fnq/q-23.png"/>
          <p:cNvPicPr/>
          <p:nvPr/>
        </p:nvPicPr>
        <p:blipFill>
          <a:blip r:embed="rId1"/>
          <a:stretch/>
        </p:blipFill>
        <p:spPr>
          <a:xfrm>
            <a:off x="1706760" y="1481400"/>
            <a:ext cx="8777880" cy="2153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0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1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2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3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4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5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6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7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8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9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0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1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2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3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4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5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6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7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8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9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0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1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2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3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4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5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6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7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8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9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0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1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2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3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4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5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6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7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5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8" name="Shape 39"/>
          <p:cNvSpPr/>
          <p:nvPr/>
        </p:nvSpPr>
        <p:spPr>
          <a:xfrm>
            <a:off x="1633680" y="1408320"/>
            <a:ext cx="8924040" cy="309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09" name="Image 0" descr="/tmp/work/fnq/q-24.png"/>
          <p:cNvPicPr/>
          <p:nvPr/>
        </p:nvPicPr>
        <p:blipFill>
          <a:blip r:embed="rId1"/>
          <a:stretch/>
        </p:blipFill>
        <p:spPr>
          <a:xfrm>
            <a:off x="1706760" y="1481400"/>
            <a:ext cx="8777880" cy="2951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1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2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3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4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5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6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7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8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9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0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1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2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3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4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5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6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7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8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9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0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1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2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3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4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5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6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7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8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9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0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1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2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3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4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5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6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7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6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9" name="Shape 39"/>
          <p:cNvSpPr/>
          <p:nvPr/>
        </p:nvSpPr>
        <p:spPr>
          <a:xfrm>
            <a:off x="1633680" y="1408320"/>
            <a:ext cx="8924040" cy="4903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50" name="Image 0" descr="/tmp/work/fnq/q-25.png"/>
          <p:cNvPicPr/>
          <p:nvPr/>
        </p:nvPicPr>
        <p:blipFill>
          <a:blip r:embed="rId1"/>
          <a:stretch/>
        </p:blipFill>
        <p:spPr>
          <a:xfrm>
            <a:off x="1706760" y="1481400"/>
            <a:ext cx="8777880" cy="4757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2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3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4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5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6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7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8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9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0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1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2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3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4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5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6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7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8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9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0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1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2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3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4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5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6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7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8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9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0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1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2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3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4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5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6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7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8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9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7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0" name="Shape 39"/>
          <p:cNvSpPr/>
          <p:nvPr/>
        </p:nvSpPr>
        <p:spPr>
          <a:xfrm>
            <a:off x="1633680" y="1408320"/>
            <a:ext cx="8924040" cy="145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91" name="Image 0" descr="/tmp/work/fnq/q-26.png"/>
          <p:cNvPicPr/>
          <p:nvPr/>
        </p:nvPicPr>
        <p:blipFill>
          <a:blip r:embed="rId1"/>
          <a:stretch/>
        </p:blipFill>
        <p:spPr>
          <a:xfrm>
            <a:off x="1706760" y="1481400"/>
            <a:ext cx="8777880" cy="1305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3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4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5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6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7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8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9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0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1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2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3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4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5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6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7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8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9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0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1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2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3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4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5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6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7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8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9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0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1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2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3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4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5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6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7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8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9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0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8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1" name="Shape 39"/>
          <p:cNvSpPr/>
          <p:nvPr/>
        </p:nvSpPr>
        <p:spPr>
          <a:xfrm>
            <a:off x="1770840" y="1408320"/>
            <a:ext cx="8649720" cy="522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32" name="Image 0" descr="/tmp/work/fnq/q-28.png"/>
          <p:cNvPicPr/>
          <p:nvPr/>
        </p:nvPicPr>
        <p:blipFill>
          <a:blip r:embed="rId1"/>
          <a:stretch/>
        </p:blipFill>
        <p:spPr>
          <a:xfrm>
            <a:off x="1843920" y="1481400"/>
            <a:ext cx="8503560" cy="507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4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5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6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7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8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9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0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1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2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3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4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5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6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7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8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9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0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1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2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3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4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5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6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7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8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9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0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1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2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3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4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5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6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7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8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9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0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1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9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2" name="Shape 39"/>
          <p:cNvSpPr/>
          <p:nvPr/>
        </p:nvSpPr>
        <p:spPr>
          <a:xfrm>
            <a:off x="1637640" y="1408320"/>
            <a:ext cx="8916120" cy="522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73" name="Image 0" descr="/tmp/work/fnq/q-29.png"/>
          <p:cNvPicPr/>
          <p:nvPr/>
        </p:nvPicPr>
        <p:blipFill>
          <a:blip r:embed="rId1"/>
          <a:stretch/>
        </p:blipFill>
        <p:spPr>
          <a:xfrm>
            <a:off x="1710720" y="1481400"/>
            <a:ext cx="8769960" cy="507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9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0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1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2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10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3" name="Shape 39"/>
          <p:cNvSpPr/>
          <p:nvPr/>
        </p:nvSpPr>
        <p:spPr>
          <a:xfrm>
            <a:off x="1633680" y="1408320"/>
            <a:ext cx="8924040" cy="275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14" name="Image 0" descr="/tmp/work/fnq/q-30.png"/>
          <p:cNvPicPr/>
          <p:nvPr/>
        </p:nvPicPr>
        <p:blipFill>
          <a:blip r:embed="rId1"/>
          <a:stretch/>
        </p:blipFill>
        <p:spPr>
          <a:xfrm>
            <a:off x="1706760" y="1481400"/>
            <a:ext cx="8777880" cy="261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6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7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8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9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0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1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2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3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4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5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6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7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8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9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0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1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2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3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4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5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6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7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8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9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0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1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2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3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4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5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6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7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8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9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0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1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2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3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11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4" name="Shape 39"/>
          <p:cNvSpPr/>
          <p:nvPr/>
        </p:nvSpPr>
        <p:spPr>
          <a:xfrm>
            <a:off x="2468160" y="1408320"/>
            <a:ext cx="7255440" cy="522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55" name="Image 0" descr="/tmp/work/fnq/q-31.png"/>
          <p:cNvPicPr/>
          <p:nvPr/>
        </p:nvPicPr>
        <p:blipFill>
          <a:blip r:embed="rId1"/>
          <a:stretch/>
        </p:blipFill>
        <p:spPr>
          <a:xfrm>
            <a:off x="2541240" y="1481400"/>
            <a:ext cx="7108920" cy="507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7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8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9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0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1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2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3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4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5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6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7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8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9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0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1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2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3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4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5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6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7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8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9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0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1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2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3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4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5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6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7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8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9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0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1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2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3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4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12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5" name="Shape 39"/>
          <p:cNvSpPr/>
          <p:nvPr/>
        </p:nvSpPr>
        <p:spPr>
          <a:xfrm>
            <a:off x="1633680" y="1408320"/>
            <a:ext cx="8924040" cy="322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96" name="Image 0" descr="/tmp/work/fnq/q-32.png"/>
          <p:cNvPicPr/>
          <p:nvPr/>
        </p:nvPicPr>
        <p:blipFill>
          <a:blip r:embed="rId1"/>
          <a:stretch/>
        </p:blipFill>
        <p:spPr>
          <a:xfrm>
            <a:off x="1706760" y="1481400"/>
            <a:ext cx="8777880" cy="3075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8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9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0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1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2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3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4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5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6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7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8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9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0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1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2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3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4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5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6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7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8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9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0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1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2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3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4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5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6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7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8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9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0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1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2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3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4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5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13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6" name="Shape 39"/>
          <p:cNvSpPr/>
          <p:nvPr/>
        </p:nvSpPr>
        <p:spPr>
          <a:xfrm>
            <a:off x="4201200" y="420480"/>
            <a:ext cx="4180680" cy="6208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37" name="Image 0" descr="/tmp/work/fnq/q-33.png"/>
          <p:cNvPicPr/>
          <p:nvPr/>
        </p:nvPicPr>
        <p:blipFill>
          <a:blip r:embed="rId1"/>
          <a:stretch/>
        </p:blipFill>
        <p:spPr>
          <a:xfrm>
            <a:off x="4274280" y="521280"/>
            <a:ext cx="4332240" cy="6034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3" name="Shape 35"/>
          <p:cNvSpPr/>
          <p:nvPr/>
        </p:nvSpPr>
        <p:spPr>
          <a:xfrm>
            <a:off x="777240" y="64008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4" name="Text 36"/>
          <p:cNvSpPr/>
          <p:nvPr/>
        </p:nvSpPr>
        <p:spPr>
          <a:xfrm>
            <a:off x="777240" y="640080"/>
            <a:ext cx="60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79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7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5" name="Text 37"/>
          <p:cNvSpPr/>
          <p:nvPr/>
        </p:nvSpPr>
        <p:spPr>
          <a:xfrm>
            <a:off x="1554480" y="676800"/>
            <a:ext cx="7314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e0ac2b"/>
                </a:solidFill>
                <a:latin typeface="Calibri"/>
                <a:ea typeface="Calibri"/>
              </a:rPr>
              <a:t>RECAP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6" name="Text 38"/>
          <p:cNvSpPr/>
          <p:nvPr/>
        </p:nvSpPr>
        <p:spPr>
          <a:xfrm>
            <a:off x="777240" y="1371600"/>
            <a:ext cx="10606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e0ac2b"/>
                </a:solidFill>
                <a:latin typeface="Cambria"/>
                <a:ea typeface="Cambria"/>
              </a:rPr>
              <a:t>Key Takeaways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7" name="Shape 39"/>
          <p:cNvSpPr/>
          <p:nvPr/>
        </p:nvSpPr>
        <p:spPr>
          <a:xfrm>
            <a:off x="868680" y="236844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8" name="Text 40"/>
          <p:cNvSpPr/>
          <p:nvPr/>
        </p:nvSpPr>
        <p:spPr>
          <a:xfrm>
            <a:off x="1234440" y="2331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f(x) is the output for input x; to find f(a), substitute a for every x.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9" name="Shape 41"/>
          <p:cNvSpPr/>
          <p:nvPr/>
        </p:nvSpPr>
        <p:spPr>
          <a:xfrm>
            <a:off x="868680" y="2935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0" name="Text 42"/>
          <p:cNvSpPr/>
          <p:nvPr/>
        </p:nvSpPr>
        <p:spPr>
          <a:xfrm>
            <a:off x="1234440" y="2898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Domain = allowed inputs; range = possible outputs.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1" name="Shape 43"/>
          <p:cNvSpPr/>
          <p:nvPr/>
        </p:nvSpPr>
        <p:spPr>
          <a:xfrm>
            <a:off x="868680" y="3502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2" name="Text 44"/>
          <p:cNvSpPr/>
          <p:nvPr/>
        </p:nvSpPr>
        <p:spPr>
          <a:xfrm>
            <a:off x="1234440" y="3465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Domain restrictions: never divide by 0, never square-root a negative.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3" name="Shape 45"/>
          <p:cNvSpPr/>
          <p:nvPr/>
        </p:nvSpPr>
        <p:spPr>
          <a:xfrm>
            <a:off x="868680" y="4069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4" name="Text 46"/>
          <p:cNvSpPr/>
          <p:nvPr/>
        </p:nvSpPr>
        <p:spPr>
          <a:xfrm>
            <a:off x="1234440" y="403236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Composite fg(x) = f(g(x)) — do the inner function g FIRST.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5" name="Shape 47"/>
          <p:cNvSpPr/>
          <p:nvPr/>
        </p:nvSpPr>
        <p:spPr>
          <a:xfrm>
            <a:off x="868680" y="4636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6" name="Text 48"/>
          <p:cNvSpPr/>
          <p:nvPr/>
        </p:nvSpPr>
        <p:spPr>
          <a:xfrm>
            <a:off x="1234440" y="459936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Inverse f⁻¹(x): write y = f(x), rearrange for x, then swap x and y.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7" name="Shape 49"/>
          <p:cNvSpPr/>
          <p:nvPr/>
        </p:nvSpPr>
        <p:spPr>
          <a:xfrm>
            <a:off x="777240" y="5440680"/>
            <a:ext cx="10606680" cy="868320"/>
          </a:xfrm>
          <a:prstGeom prst="roundRect">
            <a:avLst>
              <a:gd name="adj" fmla="val 6316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8" name="Text 50"/>
          <p:cNvSpPr/>
          <p:nvPr/>
        </p:nvSpPr>
        <p:spPr>
          <a:xfrm>
            <a:off x="777240" y="5440680"/>
            <a:ext cx="10606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0ac2b"/>
                </a:solidFill>
                <a:latin typeface="Cambria"/>
                <a:ea typeface="Cambria"/>
              </a:rPr>
              <a:t>Golden rule:  </a:t>
            </a:r>
            <a:r>
              <a:rPr b="0" lang="en-US" sz="1700" spc="-1" strike="noStrike">
                <a:solidFill>
                  <a:srgbClr val="edebdd"/>
                </a:solidFill>
                <a:latin typeface="Cambria"/>
                <a:ea typeface="Cambria"/>
              </a:rPr>
              <a:t>fg means g first;  the inverse just reverses the steps.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LibreOffice/24.2.7.2$Linux_X86_64 LibreOffice_project/420$Build-2</Application>
  <AppVersion>15.0000</AppVersion>
  <Words>1688</Words>
  <Paragraphs>296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2026-07-17T09:24:37Z</dcterms:created>
  <dc:creator>Zahra Sheikh Ali</dc:creator>
  <dc:description/>
  <dc:language>en-US</dc:language>
  <cp:lastModifiedBy>zahraa sheik ali</cp:lastModifiedBy>
  <dcterms:modified xsi:type="dcterms:W3CDTF">2026-07-27T11:02:58Z</dcterms:modified>
  <cp:revision>3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28</vt:r8>
  </property>
  <property fmtid="{D5CDD505-2E9C-101B-9397-08002B2CF9AE}" pid="3" name="PresentationFormat">
    <vt:lpwstr>Custom</vt:lpwstr>
  </property>
  <property fmtid="{D5CDD505-2E9C-101B-9397-08002B2CF9AE}" pid="4" name="Slides">
    <vt:r8>28</vt:r8>
  </property>
</Properties>
</file>