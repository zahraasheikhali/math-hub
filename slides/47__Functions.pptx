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1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6375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78240" y="10972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</a:t>
            </a:r>
            <a:endParaRPr lang="en-US" sz="46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Functions</a:t>
            </a:r>
            <a:endParaRPr lang="en-US" sz="42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 &amp; Machines · Domain &amp; Range · Composite Functions · Inverse Functions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Rule That Turns Inputs into Outputs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is a rule: put a number IN, get one number OUT.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it as f(x). This lesson covers notation, domain &amp; range, composite functions and inverses.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notation f(x)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Algebraic inputs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&amp; range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Composite fg(x)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Inverse f⁻¹(x)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· input · output · domain · range · composite · inverse · f(x)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Notation:  f(x)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is the OUTPUT when the input is x.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f(a), substitute a for every x.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3108960" y="2286000"/>
            <a:ext cx="914400" cy="914400"/>
          </a:xfrm>
          <a:prstGeom prst="ellipse">
            <a:avLst/>
          </a:prstGeom>
          <a:solidFill>
            <a:srgbClr val="EEF1E8"/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08960" y="2286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45" name="Shape 43"/>
          <p:cNvSpPr/>
          <p:nvPr/>
        </p:nvSpPr>
        <p:spPr>
          <a:xfrm>
            <a:off x="4069080" y="2743200"/>
            <a:ext cx="640080" cy="0"/>
          </a:xfrm>
          <a:prstGeom prst="line">
            <a:avLst/>
          </a:prstGeom>
          <a:noFill/>
          <a:ln w="3810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4754880" y="2377440"/>
            <a:ext cx="2194560" cy="731520"/>
          </a:xfrm>
          <a:prstGeom prst="roundRect">
            <a:avLst>
              <a:gd name="adj" fmla="val 7500"/>
            </a:avLst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475488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2,  then − 1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995160" y="2743200"/>
            <a:ext cx="640080" cy="0"/>
          </a:xfrm>
          <a:prstGeom prst="line">
            <a:avLst/>
          </a:prstGeom>
          <a:noFill/>
          <a:ln w="3810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680960" y="2286000"/>
            <a:ext cx="1371600" cy="914400"/>
          </a:xfrm>
          <a:prstGeom prst="ellipse">
            <a:avLst/>
          </a:prstGeom>
          <a:solidFill>
            <a:srgbClr val="FBF3DD"/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680960" y="22860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− 1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566928" y="3429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machine for  f(x) = 2x − 1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566928" y="3977640"/>
            <a:ext cx="5440680" cy="1691640"/>
          </a:xfrm>
          <a:prstGeom prst="roundRect">
            <a:avLst>
              <a:gd name="adj" fmla="val 324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32688" y="42153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f(3)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91440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f(3) = 2(3) − 1 = </a:t>
            </a: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190488" y="3977640"/>
            <a:ext cx="5440680" cy="1691640"/>
          </a:xfrm>
          <a:prstGeom prst="roundRect">
            <a:avLst>
              <a:gd name="adj" fmla="val 3243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556248" y="42153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f(0) and f(−2)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65379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f(0) = −1,   f(−2) = 2(−2) − 1 = </a:t>
            </a: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566928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value in place of x — that is all f(a) means.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INPUTS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Substituting an Expression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EVERY x with the whole input.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brackets — (2x)² = 4x², not 2x².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expand and simplify.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basis of composite functions.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slip: forgetting the brackets when the input is negative or an expression.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f(x)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input can be an expression too.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 + 1) = (x + 1)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+ 2x + 1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f(2x) = (2x)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4x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f(−3) = (−3)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9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every x with the input, in brackets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RANGE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Inputs In, Outputs Out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words examiners love.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domain is what you are allowed to put IN; the range is what can come OUT.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1752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set of allowed INPUTS (x-values).</a:t>
            </a:r>
            <a:endParaRPr lang="en-US" sz="16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Think: what can I feed into the machine?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01752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set of possible OUTPUTS (f(x)-values).</a:t>
            </a:r>
            <a:endParaRPr lang="en-US" sz="16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Think: what can come out of the machine?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66928" y="548640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486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= inputs (x).   Range = outputs (y or f(x)).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RESTRICTIONS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That Are Not Allowed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are forbidden in maths: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by zero, and square-rooting a negative. These restrict the domain.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dividing by 0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6012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 =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226314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2263140" y="3291840"/>
            <a:ext cx="1234440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6314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− 2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960120" y="41605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denominator cannot be 0,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 x − 2 ≠ 0   →   </a:t>
            </a: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≠ 2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19048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root of a negative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658368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 =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 54"/>
              <p:cNvSpPr/>
              <p:nvPr/>
            </p:nvSpPr>
            <p:spPr>
              <a:xfrm>
                <a:off x="7370064" y="3246120"/>
                <a:ext cx="105156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7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17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sz="17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 − 3</m:t>
                          </m:r>
                          <m:r>
                            <m:rPr>
                              <m:nor/>
                            </m:rPr>
                            <a:rPr lang="en-US" sz="17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1700" dirty="0"/>
              </a:p>
            </p:txBody>
          </p:sp>
        </mc:Choice>
        <mc:Fallback>
          <p:sp>
            <p:nvSpPr>
              <p:cNvPr id="56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064" y="3246120"/>
                <a:ext cx="1051560" cy="310896"/>
              </a:xfrm>
              <a:prstGeom prst="rect">
                <a:avLst/>
              </a:prstGeom>
              <a:blipFill rotWithShape="1">
                <a:blip r:embed="rId3"/>
                <a:stretch>
                  <a:fillRect b="-196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 55"/>
          <p:cNvSpPr/>
          <p:nvPr/>
        </p:nvSpPr>
        <p:spPr>
          <a:xfrm>
            <a:off x="6583680" y="41605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inside must be ≥ 0,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 x − 3 ≥ 0   →   </a:t>
            </a: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≥ 3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566928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532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‘Which value cannot be in the domain?’ → the one that makes the bottom 0.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OF A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Turning Point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quadratic has a minimum (∪) or maximum (∩).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square, or find the turning point.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∪-shape: range is f(x) ≥ the minimum.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∩-shape: range is f(x) ≤ the maximum.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turning point gives the smallest (or largest) output — that is the edge of the range.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range of f(x)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− 4x + 1.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square: (x − 2)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value is −3 (when x = 2) — a MINIMUM.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≥ −3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value −3, so the range is f(x) ≥ −3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FUNCTIONS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Machine, Then Another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fg(x) means do g FIRST, then f.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from the inside out — right to left.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188720" y="2651760"/>
            <a:ext cx="914400" cy="914400"/>
          </a:xfrm>
          <a:prstGeom prst="ellipse">
            <a:avLst/>
          </a:prstGeom>
          <a:solidFill>
            <a:srgbClr val="EEF1E8"/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887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2194560" y="3108960"/>
            <a:ext cx="640080" cy="0"/>
          </a:xfrm>
          <a:prstGeom prst="line">
            <a:avLst/>
          </a:prstGeom>
          <a:noFill/>
          <a:ln w="3810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926080" y="274320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2926080" y="27432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first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572000" y="3108960"/>
            <a:ext cx="640080" cy="0"/>
          </a:xfrm>
          <a:prstGeom prst="line">
            <a:avLst/>
          </a:prstGeom>
          <a:noFill/>
          <a:ln w="3810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303520" y="274320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5303520" y="27432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f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6949440" y="3108960"/>
            <a:ext cx="640080" cy="0"/>
          </a:xfrm>
          <a:prstGeom prst="line">
            <a:avLst/>
          </a:prstGeom>
          <a:noFill/>
          <a:ln w="3810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7680960" y="2651760"/>
            <a:ext cx="1737360" cy="914400"/>
          </a:xfrm>
          <a:prstGeom prst="ellipse">
            <a:avLst/>
          </a:prstGeom>
          <a:solidFill>
            <a:srgbClr val="FBF3DD"/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80960" y="26517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fg(x)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41248" y="4160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fg(x) = f( g(x) ).   The function nearest x acts first.</a:t>
            </a:r>
            <a:endParaRPr lang="en-US" sz="2300" dirty="0"/>
          </a:p>
        </p:txBody>
      </p:sp>
      <p:sp>
        <p:nvSpPr>
          <p:cNvPr id="56" name="Text 54"/>
          <p:cNvSpPr/>
          <p:nvPr/>
        </p:nvSpPr>
        <p:spPr>
          <a:xfrm>
            <a:off x="566928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fg(x) is usually NOT the same as gf(x).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· WORKED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fg(x),  gf(x)  and  ff(x)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547872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52044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ff and gg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ff(x) means apply f TWICE: f(f(x)).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gg(x) means apply g twice: g(g(x)).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 — put the whole output back in as the input.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ff(x) is not (f(x))² — it is f OF f(x).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ff(x) and gg(x) are just composites of a function with itself.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= 2x − 1,   g(x)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fg(x) = f( g(x) ) = 2(x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+ 3) − 1 = 2x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gf(x) = g(2x − 1) = (2x − 1)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   (different order!)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ff(x) = f( f(x) ) = 2(2x − 1) − 1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 − 3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868680" y="477316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868680" y="4773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362456" y="47365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gg(x) = g( g(x) ) = (x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+ 3)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66928" y="5222347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ff(x) = f(f(x)) = 4x − 3   (apply f twice)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FUNCTIONS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f⁻¹(x) Undoes f(x)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inverse reverses the function.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steps: change notation, rearrange, change notation back.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68680" y="23682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2368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508760" y="21945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y = f(x)  (change f(x) to y).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566928" y="31089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2826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508760" y="31089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 to make x the subject.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566928" y="40233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8680" y="41970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508760" y="40233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x and y  (change notation back).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566928" y="49377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6868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1508760" y="49377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expression is f⁻¹(x).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domain of f becomes the range of f⁻¹, and the range of f becomes the domain of f⁻¹.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· WORKED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f⁻¹(x)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= 2x − 1. 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 = f(x), rearrange for x, then swap.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852160" cy="356616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865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88036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2x − 1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+ 1 = 2x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783080" y="3849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+ 1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783080" y="4160520"/>
            <a:ext cx="1097280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783080" y="41970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4400" y="4709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swap x and y: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14400" y="5257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f⁻¹(x) =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3040380" y="51297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+ 1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3040380" y="5440680"/>
            <a:ext cx="1234440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0380" y="54772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6583680" y="2148840"/>
            <a:ext cx="5047488" cy="356616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949440" y="2386584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it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6858000" y="299008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713232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f⁻¹ undoes f:  f⁻¹(f(x)) = x.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6858000" y="361188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0" y="3502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f(3) = 5, and f⁻¹(5) = (5+1)/2 = 3. ✓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858000" y="423367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7132320" y="41239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one-to-one functions have an inverse.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858000" y="485546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3" name="Text 61"/>
          <p:cNvSpPr/>
          <p:nvPr/>
        </p:nvSpPr>
        <p:spPr>
          <a:xfrm>
            <a:off x="7132320" y="47457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answer as f⁻¹(x) = …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‘Express the inverse in the form f⁻¹(x) = …’ is a very common exam instruction.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INVERSES (1)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Fraction &amp; Square-Root Functions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steps — just more algebra to rearrange.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1965960"/>
            <a:ext cx="5440680" cy="4114800"/>
          </a:xfrm>
          <a:prstGeom prst="roundRect">
            <a:avLst>
              <a:gd name="adj" fmla="val 133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2037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on top AND bottom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 =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2194560" y="261518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2194560" y="2926080"/>
            <a:ext cx="1554480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4560" y="29626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− 3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4400" y="36118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(x − 3) = 2x + 1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− 3y = 2x + 1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− 2x = 3y + 1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(y − 2) = 3y + 1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91440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f⁻¹(x) =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3200400" y="540410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+ 1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200400" y="5715000"/>
            <a:ext cx="1554480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0" y="575157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− 2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90488" y="1965960"/>
            <a:ext cx="5440680" cy="4114800"/>
          </a:xfrm>
          <a:prstGeom prst="roundRect">
            <a:avLst>
              <a:gd name="adj" fmla="val 1333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556248" y="22037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Square-root function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6537960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 =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96926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≥ 4)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537960" y="34290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 both sides: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x − 4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y</a:t>
            </a: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+ 4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6537960" y="5257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f⁻¹(x) = x</a:t>
            </a:r>
            <a:r>
              <a:rPr lang="en-US" sz="1700" b="1" baseline="300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+ 4</a:t>
            </a: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(x ≥ 0)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566928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a square root by SQUARING;  reverse a fraction by multiplying up and collecting the x-terms.</a:t>
            </a:r>
            <a:endParaRPr lang="en-US" sz="11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 54"/>
              <p:cNvSpPr/>
              <p:nvPr/>
            </p:nvSpPr>
            <p:spPr>
              <a:xfrm>
                <a:off x="7241727" y="2809775"/>
                <a:ext cx="105156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7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17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sz="17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 − </m:t>
                          </m:r>
                          <m:r>
                            <m:rPr>
                              <m:nor/>
                            </m:rPr>
                            <a:rPr lang="en-US" sz="1700" b="0" i="0" dirty="0" smtClean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4</m:t>
                          </m:r>
                          <m:r>
                            <m:rPr>
                              <m:nor/>
                            </m:rPr>
                            <a:rPr lang="en-US" sz="17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1700" dirty="0"/>
              </a:p>
            </p:txBody>
          </p:sp>
        </mc:Choice>
        <mc:Fallback>
          <p:sp>
            <p:nvSpPr>
              <p:cNvPr id="65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1727" y="2809775"/>
                <a:ext cx="1051560" cy="310896"/>
              </a:xfrm>
              <a:prstGeom prst="rect">
                <a:avLst/>
              </a:prstGeom>
              <a:blipFill rotWithShape="1">
                <a:blip r:embed="rId3"/>
                <a:stretch>
                  <a:fillRect b="-196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INVERSES (2)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Quadratic — Complete the Square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rearrange x² + 6x − 7 for x directly.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square first, then undo it with a root.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5852160" cy="3611880"/>
          </a:xfrm>
          <a:prstGeom prst="roundRect">
            <a:avLst>
              <a:gd name="adj" fmla="val 1519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40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83464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 = x</a:t>
            </a:r>
            <a:r>
              <a:rPr lang="en-US" sz="155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+ 6x − 7      (x ≥ −3)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(x + 3)</a:t>
            </a:r>
            <a:r>
              <a:rPr lang="en-US" sz="155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− 16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+ 16 = (x + 3)</a:t>
            </a:r>
            <a:r>
              <a:rPr lang="en-US" sz="155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</a:t>
            </a:r>
            <a:endParaRPr lang="en-US" sz="1550" dirty="0"/>
          </a:p>
        </p:txBody>
      </p:sp>
      <p:sp>
        <p:nvSpPr>
          <p:cNvPr id="50" name="Shape 48"/>
          <p:cNvSpPr/>
          <p:nvPr/>
        </p:nvSpPr>
        <p:spPr>
          <a:xfrm>
            <a:off x="6583680" y="2103120"/>
            <a:ext cx="5047488" cy="3611880"/>
          </a:xfrm>
          <a:prstGeom prst="roundRect">
            <a:avLst>
              <a:gd name="adj" fmla="val 1519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949440" y="2340864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complete the square?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6858000" y="294436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7132320" y="283464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way to rearrange x² + 6x − 7 for x.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6858000" y="354787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7132320" y="34381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gives ONE (x + 3)² to undo.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6858000" y="415137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7132320" y="40416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 with a square root, then − 3.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858000" y="475488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0" y="464515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≥ −3 → take the POSITIVE root.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6858000" y="5349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f⁻¹(x) =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8695944" y="53309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− 3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quadratic only has an inverse on a restricted domain (x ≥ −3) so it is one-to-one.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 54"/>
              <p:cNvSpPr/>
              <p:nvPr/>
            </p:nvSpPr>
            <p:spPr>
              <a:xfrm>
                <a:off x="1570843" y="3551562"/>
                <a:ext cx="105156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7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1700" b="1" i="0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sz="17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1700" b="0" i="0" dirty="0" smtClean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+16</m:t>
                          </m:r>
                          <m:r>
                            <m:rPr>
                              <m:nor/>
                            </m:rPr>
                            <a:rPr lang="en-US" sz="17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1700" dirty="0"/>
              </a:p>
            </p:txBody>
          </p:sp>
        </mc:Choice>
        <mc:Fallback>
          <p:sp>
            <p:nvSpPr>
              <p:cNvPr id="67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843" y="3551562"/>
                <a:ext cx="1051560" cy="310896"/>
              </a:xfrm>
              <a:prstGeom prst="rect">
                <a:avLst/>
              </a:prstGeom>
              <a:blipFill rotWithShape="1">
                <a:blip r:embed="rId3"/>
                <a:stretch>
                  <a:fillRect b="-156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 54"/>
              <p:cNvSpPr/>
              <p:nvPr/>
            </p:nvSpPr>
            <p:spPr>
              <a:xfrm>
                <a:off x="7726680" y="5404104"/>
                <a:ext cx="105156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700" b="1" i="1" smtClean="0">
                              <a:solidFill>
                                <a:srgbClr val="C00000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1700" b="1" i="0" smtClean="0">
                              <a:solidFill>
                                <a:srgbClr val="C00000"/>
                              </a:solidFill>
                              <a:latin typeface="Cambria Math"/>
                              <a:ea typeface="Cambria" pitchFamily="34" charset="-122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sz="1700" b="1" dirty="0">
                              <a:solidFill>
                                <a:srgbClr val="C00000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700" b="0" i="0" dirty="0" smtClean="0">
                              <a:solidFill>
                                <a:srgbClr val="C00000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+16</m:t>
                          </m:r>
                          <m:r>
                            <m:rPr>
                              <m:nor/>
                            </m:rPr>
                            <a:rPr lang="en-US" sz="1700" dirty="0">
                              <a:solidFill>
                                <a:srgbClr val="C00000"/>
                              </a:solidFill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1700" dirty="0"/>
              </a:p>
            </p:txBody>
          </p:sp>
        </mc:Choice>
        <mc:Fallback>
          <p:sp>
            <p:nvSpPr>
              <p:cNvPr id="68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6680" y="5404104"/>
                <a:ext cx="1051560" cy="310896"/>
              </a:xfrm>
              <a:prstGeom prst="rect">
                <a:avLst/>
              </a:prstGeom>
              <a:blipFill rotWithShape="1">
                <a:blip r:embed="rId4"/>
                <a:stretch>
                  <a:fillRect b="-196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Evaluate, find the range, build composites, and rearrange for inverses.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f(a) → substitute a for x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→ avoid ÷0 and √(negative)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fg(x) → do g first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Inverse → rearrange, then swap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52626" y="1408176"/>
            <a:ext cx="888644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778" y="1481328"/>
            <a:ext cx="874014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342574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32794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351566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336936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2300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21539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30983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29520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490419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47578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145235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13060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770736" y="1408176"/>
            <a:ext cx="865022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888" y="1481328"/>
            <a:ext cx="85039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7600" y="1408176"/>
            <a:ext cx="8916495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752" y="1481328"/>
            <a:ext cx="8770191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27565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26102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68016" y="1408176"/>
            <a:ext cx="7255663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168" y="1481328"/>
            <a:ext cx="7109359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33576" y="1408176"/>
            <a:ext cx="8924544" cy="3222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8" y="1481328"/>
            <a:ext cx="8778240" cy="307620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201028" y="420624"/>
            <a:ext cx="4180971" cy="6208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nq/q-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180" y="521448"/>
            <a:ext cx="4332439" cy="6034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is the output for input x; to find f(a), substitute a for every x.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= allowed inputs; range = possible outputs.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restrictions: never divide by 0, never square-root a negative.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fg(x) = f(g(x)) — do the inner function g FIRST.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f⁻¹(x): write y = f(x), rearrange for x, then swap x and y.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fg means g first;  the inverse just reverses the steps.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1688</Words>
  <Application>Microsoft Office PowerPoint</Application>
  <PresentationFormat>Custom</PresentationFormat>
  <Paragraphs>296</Paragraphs>
  <Slides>28</Slides>
  <Notes>28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3</cp:revision>
  <dcterms:created xsi:type="dcterms:W3CDTF">2026-07-17T09:24:37Z</dcterms:created>
  <dcterms:modified xsi:type="dcterms:W3CDTF">2026-07-27T11:02:58Z</dcterms:modified>
</cp:coreProperties>
</file>