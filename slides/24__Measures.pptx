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356F7EE-656D-48E4-A42A-2DBEE546CE6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3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3942FA-1015-482F-BE3C-CB07705A21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3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45A95D-2957-4FE7-9C07-85AA2B27D7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3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64E069-E56B-4FC1-A7F0-5821B15AF15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4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00DF40-1981-4C5A-A814-F8E93225156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4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C7168E-D08F-4094-8716-232608CCC9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4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17F96A-B6C8-4ABD-97BA-E3145F056F0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5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2A92E1-62C7-4CA2-8BCE-3FAB921860B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5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210731-F954-4EB8-9D59-F0A168FAF1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5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53D310-1290-4DF7-887E-1C1D03638BE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6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42A125-D0D2-488C-9BB7-114FD2BD63F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6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9962AE-85ED-4A6C-B752-D1AFFE0C1B6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6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75E817-95BC-4B32-8BE7-34436662052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6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20864F-5C27-4E8F-A967-46B23BEC75C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7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448FEF-3D17-4CB0-893F-A9947570B12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7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6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4ACBA0-C7B7-4440-A8DE-0A1CEF856F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7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1027A59-B57E-479C-93F1-7EE71E5FC0D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8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2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D30EED-A325-44A1-B0A2-FA050689E5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8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CD6EB6D-A5E6-41C7-AF5A-41F549B4995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8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403E69-9067-4298-A397-E1BEF5F79EF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9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PlaceHolder 3"/>
          <p:cNvSpPr>
            <a:spLocks noGrp="1"/>
          </p:cNvSpPr>
          <p:nvPr>
            <p:ph type="sldNum" idx="2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F89196-398F-40CF-AEEC-AC9BA5C1A12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9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4" name="PlaceHolder 3"/>
          <p:cNvSpPr>
            <a:spLocks noGrp="1"/>
          </p:cNvSpPr>
          <p:nvPr>
            <p:ph type="sldNum" idx="2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687EAD9-A18E-4B88-881D-27715258D2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9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PlaceHolder 3"/>
          <p:cNvSpPr>
            <a:spLocks noGrp="1"/>
          </p:cNvSpPr>
          <p:nvPr>
            <p:ph type="sldNum" idx="2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1F6906-EC8D-4527-9F0B-1C4FF78A530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9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0" name="PlaceHolder 3"/>
          <p:cNvSpPr>
            <a:spLocks noGrp="1"/>
          </p:cNvSpPr>
          <p:nvPr>
            <p:ph type="sldNum" idx="2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41161D1-EA68-4E24-9EAB-5C7949B9939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9418320" y="868680"/>
            <a:ext cx="1919880" cy="155412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9850320" y="1723320"/>
            <a:ext cx="1055880" cy="36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10378440" y="1723320"/>
            <a:ext cx="360" cy="69984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9921240" y="117972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33463a"/>
                </a:solidFill>
                <a:latin typeface="Cambria"/>
                <a:ea typeface="Cambria"/>
              </a:rPr>
              <a:t>D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9804600" y="1925640"/>
            <a:ext cx="527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33463a"/>
                </a:solidFill>
                <a:latin typeface="Cambria"/>
                <a:ea typeface="Cambria"/>
              </a:rPr>
              <a:t>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10424160" y="1925640"/>
            <a:ext cx="527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33463a"/>
                </a:solidFill>
                <a:latin typeface="Cambria"/>
                <a:ea typeface="Cambria"/>
              </a:rPr>
              <a:t>T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Shape 41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e0ac2b"/>
                </a:solidFill>
                <a:latin typeface="Cambria"/>
                <a:ea typeface="Cambria"/>
              </a:rPr>
              <a:t>Compound Measures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46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Speed, Distance &amp; Time · Density, Mass &amp; Volume · Pressure, Force &amp; Area · Unit Conversions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47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48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49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50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One Triangle, Three Formulas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COMPOUND MEASURE links two different quantities — you can hear it in the word ‘per’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(kilometres per hour, grams per cm³). ‘Per’ means DIVIDED BY, and each one has a formula triangle.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What ‘per’ means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Speed, distance &amp; time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Density, mass &amp; volume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Pressure, force &amp; area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Matching the units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compound measure · per · formula triangle · density · speed · pressure · units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‘</a:t>
            </a: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Per’ Means Divided By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compound measure tells you about a relationship between two quantities.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Its unit always contains the word ‘per’ when you say it out loud.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41"/>
          <p:cNvSpPr/>
          <p:nvPr/>
        </p:nvSpPr>
        <p:spPr>
          <a:xfrm>
            <a:off x="567000" y="228600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42"/>
          <p:cNvSpPr/>
          <p:nvPr/>
        </p:nvSpPr>
        <p:spPr>
          <a:xfrm>
            <a:off x="93276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Hear the word ‘per’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43"/>
          <p:cNvSpPr/>
          <p:nvPr/>
        </p:nvSpPr>
        <p:spPr>
          <a:xfrm>
            <a:off x="868680" y="310896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 44"/>
          <p:cNvSpPr/>
          <p:nvPr/>
        </p:nvSpPr>
        <p:spPr>
          <a:xfrm>
            <a:off x="1143000" y="3017520"/>
            <a:ext cx="46630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kilometres PER hour  →  km ÷ h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45"/>
          <p:cNvSpPr/>
          <p:nvPr/>
        </p:nvSpPr>
        <p:spPr>
          <a:xfrm>
            <a:off x="868680" y="367596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46"/>
          <p:cNvSpPr/>
          <p:nvPr/>
        </p:nvSpPr>
        <p:spPr>
          <a:xfrm>
            <a:off x="1143000" y="3584520"/>
            <a:ext cx="46630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grams PER cm³  →  g ÷ cm³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47"/>
          <p:cNvSpPr/>
          <p:nvPr/>
        </p:nvSpPr>
        <p:spPr>
          <a:xfrm>
            <a:off x="868680" y="424296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48"/>
          <p:cNvSpPr/>
          <p:nvPr/>
        </p:nvSpPr>
        <p:spPr>
          <a:xfrm>
            <a:off x="1143000" y="4151520"/>
            <a:ext cx="46630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newtons PER m²  →  N ÷ m²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49"/>
          <p:cNvSpPr/>
          <p:nvPr/>
        </p:nvSpPr>
        <p:spPr>
          <a:xfrm>
            <a:off x="868680" y="480960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50"/>
          <p:cNvSpPr/>
          <p:nvPr/>
        </p:nvSpPr>
        <p:spPr>
          <a:xfrm>
            <a:off x="1143000" y="4718160"/>
            <a:ext cx="46630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The slash / is just ‘divided by’.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51"/>
          <p:cNvSpPr/>
          <p:nvPr/>
        </p:nvSpPr>
        <p:spPr>
          <a:xfrm>
            <a:off x="6190560" y="228600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52"/>
          <p:cNvSpPr/>
          <p:nvPr/>
        </p:nvSpPr>
        <p:spPr>
          <a:xfrm>
            <a:off x="655632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The three you need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53"/>
          <p:cNvSpPr/>
          <p:nvPr/>
        </p:nvSpPr>
        <p:spPr>
          <a:xfrm>
            <a:off x="6537960" y="3017520"/>
            <a:ext cx="1599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Density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54"/>
          <p:cNvSpPr/>
          <p:nvPr/>
        </p:nvSpPr>
        <p:spPr>
          <a:xfrm>
            <a:off x="8092440" y="3017520"/>
            <a:ext cx="2102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mass ÷ volume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55"/>
          <p:cNvSpPr/>
          <p:nvPr/>
        </p:nvSpPr>
        <p:spPr>
          <a:xfrm>
            <a:off x="10149840" y="3017520"/>
            <a:ext cx="1371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libri"/>
                <a:ea typeface="Calibri"/>
              </a:rPr>
              <a:t>g/cm³, kg/m³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56"/>
          <p:cNvSpPr/>
          <p:nvPr/>
        </p:nvSpPr>
        <p:spPr>
          <a:xfrm>
            <a:off x="6537960" y="3730680"/>
            <a:ext cx="1599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Speed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57"/>
          <p:cNvSpPr/>
          <p:nvPr/>
        </p:nvSpPr>
        <p:spPr>
          <a:xfrm>
            <a:off x="8092440" y="3730680"/>
            <a:ext cx="2102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distance ÷ time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58"/>
          <p:cNvSpPr/>
          <p:nvPr/>
        </p:nvSpPr>
        <p:spPr>
          <a:xfrm>
            <a:off x="10149840" y="3730680"/>
            <a:ext cx="1371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libri"/>
                <a:ea typeface="Calibri"/>
              </a:rPr>
              <a:t>m/s, km/h, mph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59"/>
          <p:cNvSpPr/>
          <p:nvPr/>
        </p:nvSpPr>
        <p:spPr>
          <a:xfrm>
            <a:off x="6537960" y="4443840"/>
            <a:ext cx="1599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Pressure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60"/>
          <p:cNvSpPr/>
          <p:nvPr/>
        </p:nvSpPr>
        <p:spPr>
          <a:xfrm>
            <a:off x="8092440" y="4443840"/>
            <a:ext cx="2102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force ÷ area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61"/>
          <p:cNvSpPr/>
          <p:nvPr/>
        </p:nvSpPr>
        <p:spPr>
          <a:xfrm>
            <a:off x="10149840" y="4443840"/>
            <a:ext cx="1371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libri"/>
                <a:ea typeface="Calibri"/>
              </a:rPr>
              <a:t>N/m², N/cm²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62"/>
          <p:cNvSpPr/>
          <p:nvPr/>
        </p:nvSpPr>
        <p:spPr>
          <a:xfrm>
            <a:off x="567000" y="5623560"/>
            <a:ext cx="11063880" cy="73116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 63"/>
          <p:cNvSpPr/>
          <p:nvPr/>
        </p:nvSpPr>
        <p:spPr>
          <a:xfrm>
            <a:off x="841320" y="562356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Every compound measure is a DIVISION — and every one has a formula triangle.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FORMULA TRIANGLE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Cover Up What You Want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Put the measure on top, the other two underneath.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Cover the one you are looking for and read off what is left.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41"/>
          <p:cNvSpPr/>
          <p:nvPr/>
        </p:nvSpPr>
        <p:spPr>
          <a:xfrm>
            <a:off x="1737360" y="2286000"/>
            <a:ext cx="3108600" cy="265140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42"/>
          <p:cNvSpPr/>
          <p:nvPr/>
        </p:nvSpPr>
        <p:spPr>
          <a:xfrm>
            <a:off x="2436840" y="3744360"/>
            <a:ext cx="1709640" cy="36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43"/>
          <p:cNvSpPr/>
          <p:nvPr/>
        </p:nvSpPr>
        <p:spPr>
          <a:xfrm>
            <a:off x="3291840" y="3744360"/>
            <a:ext cx="360" cy="119340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44"/>
          <p:cNvSpPr/>
          <p:nvPr/>
        </p:nvSpPr>
        <p:spPr>
          <a:xfrm>
            <a:off x="2834640" y="281628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84f2f"/>
                </a:solidFill>
                <a:latin typeface="Cambria"/>
                <a:ea typeface="Cambria"/>
              </a:rPr>
              <a:t>D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45"/>
          <p:cNvSpPr/>
          <p:nvPr/>
        </p:nvSpPr>
        <p:spPr>
          <a:xfrm>
            <a:off x="2391120" y="4089240"/>
            <a:ext cx="854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4f2f"/>
                </a:solidFill>
                <a:latin typeface="Cambria"/>
                <a:ea typeface="Cambria"/>
              </a:rPr>
              <a:t>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46"/>
          <p:cNvSpPr/>
          <p:nvPr/>
        </p:nvSpPr>
        <p:spPr>
          <a:xfrm>
            <a:off x="3337560" y="4089240"/>
            <a:ext cx="854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4f2f"/>
                </a:solidFill>
                <a:latin typeface="Cambria"/>
                <a:ea typeface="Cambria"/>
              </a:rPr>
              <a:t>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47"/>
          <p:cNvSpPr/>
          <p:nvPr/>
        </p:nvSpPr>
        <p:spPr>
          <a:xfrm>
            <a:off x="822960" y="507492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5c6b60"/>
                </a:solidFill>
                <a:latin typeface="Calibri"/>
                <a:ea typeface="Calibri"/>
              </a:rPr>
              <a:t>distance on top;  speed × time underneath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48"/>
          <p:cNvSpPr/>
          <p:nvPr/>
        </p:nvSpPr>
        <p:spPr>
          <a:xfrm>
            <a:off x="6400800" y="2286000"/>
            <a:ext cx="5230080" cy="301716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49"/>
          <p:cNvSpPr/>
          <p:nvPr/>
        </p:nvSpPr>
        <p:spPr>
          <a:xfrm>
            <a:off x="6766560" y="2523600"/>
            <a:ext cx="4498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Reading the triangle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50"/>
          <p:cNvSpPr/>
          <p:nvPr/>
        </p:nvSpPr>
        <p:spPr>
          <a:xfrm>
            <a:off x="6675120" y="304488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51"/>
          <p:cNvSpPr/>
          <p:nvPr/>
        </p:nvSpPr>
        <p:spPr>
          <a:xfrm>
            <a:off x="6903720" y="2971800"/>
            <a:ext cx="44802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Cover D  →  D = S × 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52"/>
          <p:cNvSpPr/>
          <p:nvPr/>
        </p:nvSpPr>
        <p:spPr>
          <a:xfrm>
            <a:off x="6675120" y="350208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53"/>
          <p:cNvSpPr/>
          <p:nvPr/>
        </p:nvSpPr>
        <p:spPr>
          <a:xfrm>
            <a:off x="6903720" y="3429000"/>
            <a:ext cx="44802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Cover S  →  S = D ÷ 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54"/>
          <p:cNvSpPr/>
          <p:nvPr/>
        </p:nvSpPr>
        <p:spPr>
          <a:xfrm>
            <a:off x="6675120" y="395928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55"/>
          <p:cNvSpPr/>
          <p:nvPr/>
        </p:nvSpPr>
        <p:spPr>
          <a:xfrm>
            <a:off x="6903720" y="3886200"/>
            <a:ext cx="44802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Cover T  →  T = D ÷ 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56"/>
          <p:cNvSpPr/>
          <p:nvPr/>
        </p:nvSpPr>
        <p:spPr>
          <a:xfrm>
            <a:off x="6675120" y="441648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57"/>
          <p:cNvSpPr/>
          <p:nvPr/>
        </p:nvSpPr>
        <p:spPr>
          <a:xfrm>
            <a:off x="6903720" y="4343400"/>
            <a:ext cx="44802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The horizontal line means DIVIDE.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58"/>
          <p:cNvSpPr/>
          <p:nvPr/>
        </p:nvSpPr>
        <p:spPr>
          <a:xfrm>
            <a:off x="6675120" y="487368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 59"/>
          <p:cNvSpPr/>
          <p:nvPr/>
        </p:nvSpPr>
        <p:spPr>
          <a:xfrm>
            <a:off x="6903720" y="4800600"/>
            <a:ext cx="44802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Check the units match first.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60"/>
          <p:cNvSpPr/>
          <p:nvPr/>
        </p:nvSpPr>
        <p:spPr>
          <a:xfrm>
            <a:off x="567000" y="5577840"/>
            <a:ext cx="11063880" cy="73116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61"/>
          <p:cNvSpPr/>
          <p:nvPr/>
        </p:nvSpPr>
        <p:spPr>
          <a:xfrm>
            <a:off x="841320" y="557784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Side by side (S × T) means multiply;  one above the other means divide.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SPEED · DISTANCE · TIME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Speed = Distance ÷ Time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39"/>
          <p:cNvSpPr/>
          <p:nvPr/>
        </p:nvSpPr>
        <p:spPr>
          <a:xfrm>
            <a:off x="567000" y="128016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40"/>
          <p:cNvSpPr/>
          <p:nvPr/>
        </p:nvSpPr>
        <p:spPr>
          <a:xfrm>
            <a:off x="887040" y="128016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Average speed = total distance ÷ total time.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41"/>
          <p:cNvSpPr/>
          <p:nvPr/>
        </p:nvSpPr>
        <p:spPr>
          <a:xfrm>
            <a:off x="868680" y="1965960"/>
            <a:ext cx="2468520" cy="210276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42"/>
          <p:cNvSpPr/>
          <p:nvPr/>
        </p:nvSpPr>
        <p:spPr>
          <a:xfrm>
            <a:off x="1424160" y="3122640"/>
            <a:ext cx="1357560" cy="36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43"/>
          <p:cNvSpPr/>
          <p:nvPr/>
        </p:nvSpPr>
        <p:spPr>
          <a:xfrm>
            <a:off x="2103120" y="3122640"/>
            <a:ext cx="360" cy="94644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44"/>
          <p:cNvSpPr/>
          <p:nvPr/>
        </p:nvSpPr>
        <p:spPr>
          <a:xfrm>
            <a:off x="1645920" y="238644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84f2f"/>
                </a:solidFill>
                <a:latin typeface="Cambria"/>
                <a:ea typeface="Cambria"/>
              </a:rPr>
              <a:t>D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 45"/>
          <p:cNvSpPr/>
          <p:nvPr/>
        </p:nvSpPr>
        <p:spPr>
          <a:xfrm>
            <a:off x="1378440" y="3396240"/>
            <a:ext cx="678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4f2f"/>
                </a:solidFill>
                <a:latin typeface="Cambria"/>
                <a:ea typeface="Cambria"/>
              </a:rPr>
              <a:t>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46"/>
          <p:cNvSpPr/>
          <p:nvPr/>
        </p:nvSpPr>
        <p:spPr>
          <a:xfrm>
            <a:off x="2148840" y="3396240"/>
            <a:ext cx="678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4f2f"/>
                </a:solidFill>
                <a:latin typeface="Cambria"/>
                <a:ea typeface="Cambria"/>
              </a:rPr>
              <a:t>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47"/>
          <p:cNvSpPr/>
          <p:nvPr/>
        </p:nvSpPr>
        <p:spPr>
          <a:xfrm>
            <a:off x="3794760" y="1965960"/>
            <a:ext cx="3885840" cy="3794400"/>
          </a:xfrm>
          <a:prstGeom prst="roundRect">
            <a:avLst>
              <a:gd name="adj" fmla="val 1446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48"/>
          <p:cNvSpPr/>
          <p:nvPr/>
        </p:nvSpPr>
        <p:spPr>
          <a:xfrm>
            <a:off x="4160520" y="2203560"/>
            <a:ext cx="3154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 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 49"/>
          <p:cNvSpPr/>
          <p:nvPr/>
        </p:nvSpPr>
        <p:spPr>
          <a:xfrm>
            <a:off x="4069080" y="2651760"/>
            <a:ext cx="3382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 car travels 126 miles in 3 hours. Find its average speed.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50"/>
          <p:cNvSpPr/>
          <p:nvPr/>
        </p:nvSpPr>
        <p:spPr>
          <a:xfrm>
            <a:off x="4114800" y="356616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s =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 51"/>
          <p:cNvSpPr/>
          <p:nvPr/>
        </p:nvSpPr>
        <p:spPr>
          <a:xfrm>
            <a:off x="4640760" y="3429000"/>
            <a:ext cx="868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52"/>
          <p:cNvSpPr/>
          <p:nvPr/>
        </p:nvSpPr>
        <p:spPr>
          <a:xfrm>
            <a:off x="4640400" y="3794760"/>
            <a:ext cx="868680" cy="360"/>
          </a:xfrm>
          <a:prstGeom prst="line">
            <a:avLst/>
          </a:prstGeom>
          <a:ln w="2159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53"/>
          <p:cNvSpPr/>
          <p:nvPr/>
        </p:nvSpPr>
        <p:spPr>
          <a:xfrm>
            <a:off x="4640760" y="3831480"/>
            <a:ext cx="868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 54"/>
          <p:cNvSpPr/>
          <p:nvPr/>
        </p:nvSpPr>
        <p:spPr>
          <a:xfrm>
            <a:off x="5623560" y="356616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=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 55"/>
          <p:cNvSpPr/>
          <p:nvPr/>
        </p:nvSpPr>
        <p:spPr>
          <a:xfrm>
            <a:off x="6103800" y="3429000"/>
            <a:ext cx="868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126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56"/>
          <p:cNvSpPr/>
          <p:nvPr/>
        </p:nvSpPr>
        <p:spPr>
          <a:xfrm>
            <a:off x="6103440" y="3794760"/>
            <a:ext cx="868680" cy="360"/>
          </a:xfrm>
          <a:prstGeom prst="line">
            <a:avLst/>
          </a:prstGeom>
          <a:ln w="2159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 57"/>
          <p:cNvSpPr/>
          <p:nvPr/>
        </p:nvSpPr>
        <p:spPr>
          <a:xfrm>
            <a:off x="6103800" y="3831480"/>
            <a:ext cx="868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58"/>
          <p:cNvSpPr/>
          <p:nvPr/>
        </p:nvSpPr>
        <p:spPr>
          <a:xfrm>
            <a:off x="4069080" y="443484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= 42 mph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59"/>
          <p:cNvSpPr/>
          <p:nvPr/>
        </p:nvSpPr>
        <p:spPr>
          <a:xfrm>
            <a:off x="7863840" y="1965960"/>
            <a:ext cx="3767040" cy="3794400"/>
          </a:xfrm>
          <a:prstGeom prst="roundRect">
            <a:avLst>
              <a:gd name="adj" fmla="val 1456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 60"/>
          <p:cNvSpPr/>
          <p:nvPr/>
        </p:nvSpPr>
        <p:spPr>
          <a:xfrm>
            <a:off x="8229600" y="2203560"/>
            <a:ext cx="3035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 2 · minutes!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 61"/>
          <p:cNvSpPr/>
          <p:nvPr/>
        </p:nvSpPr>
        <p:spPr>
          <a:xfrm>
            <a:off x="8138160" y="2651760"/>
            <a:ext cx="3245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 car travels 40 miles in 45 minutes. Find its average speed.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 62"/>
          <p:cNvSpPr/>
          <p:nvPr/>
        </p:nvSpPr>
        <p:spPr>
          <a:xfrm>
            <a:off x="8138160" y="3429000"/>
            <a:ext cx="324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45 min = 0.75 hours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 63"/>
          <p:cNvSpPr/>
          <p:nvPr/>
        </p:nvSpPr>
        <p:spPr>
          <a:xfrm>
            <a:off x="8138160" y="388620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s =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64"/>
          <p:cNvSpPr/>
          <p:nvPr/>
        </p:nvSpPr>
        <p:spPr>
          <a:xfrm>
            <a:off x="880128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40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65"/>
          <p:cNvSpPr/>
          <p:nvPr/>
        </p:nvSpPr>
        <p:spPr>
          <a:xfrm>
            <a:off x="8800920" y="4114800"/>
            <a:ext cx="960120" cy="360"/>
          </a:xfrm>
          <a:prstGeom prst="line">
            <a:avLst/>
          </a:prstGeom>
          <a:ln w="2159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66"/>
          <p:cNvSpPr/>
          <p:nvPr/>
        </p:nvSpPr>
        <p:spPr>
          <a:xfrm>
            <a:off x="8801280" y="415152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0.75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67"/>
          <p:cNvSpPr/>
          <p:nvPr/>
        </p:nvSpPr>
        <p:spPr>
          <a:xfrm>
            <a:off x="8138160" y="4754880"/>
            <a:ext cx="3245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= 53.3 mph (1 dp)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68"/>
          <p:cNvSpPr/>
          <p:nvPr/>
        </p:nvSpPr>
        <p:spPr>
          <a:xfrm>
            <a:off x="567000" y="594360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69"/>
          <p:cNvSpPr/>
          <p:nvPr/>
        </p:nvSpPr>
        <p:spPr>
          <a:xfrm>
            <a:off x="841320" y="594360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Time must be in HOURS for km/h or mph.  Minutes ÷ 60 turns them into hours.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FINDING THE TIME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And Turning Decimals Back into Minutes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39"/>
          <p:cNvSpPr/>
          <p:nvPr/>
        </p:nvSpPr>
        <p:spPr>
          <a:xfrm>
            <a:off x="567000" y="129852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Text 40"/>
          <p:cNvSpPr/>
          <p:nvPr/>
        </p:nvSpPr>
        <p:spPr>
          <a:xfrm>
            <a:off x="887040" y="1298520"/>
            <a:ext cx="10423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Cover T in the triangle:  time = distance ÷ speed.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41"/>
          <p:cNvSpPr/>
          <p:nvPr/>
        </p:nvSpPr>
        <p:spPr>
          <a:xfrm>
            <a:off x="567000" y="210312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 42"/>
          <p:cNvSpPr/>
          <p:nvPr/>
        </p:nvSpPr>
        <p:spPr>
          <a:xfrm>
            <a:off x="932760" y="234072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 43"/>
          <p:cNvSpPr/>
          <p:nvPr/>
        </p:nvSpPr>
        <p:spPr>
          <a:xfrm>
            <a:off x="914400" y="2788920"/>
            <a:ext cx="4754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A train completes a 520 km journey at an average speed of 160 km/h. Find the time taken.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 44"/>
          <p:cNvSpPr/>
          <p:nvPr/>
        </p:nvSpPr>
        <p:spPr>
          <a:xfrm>
            <a:off x="914400" y="374904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t =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 45"/>
          <p:cNvSpPr/>
          <p:nvPr/>
        </p:nvSpPr>
        <p:spPr>
          <a:xfrm>
            <a:off x="1531800" y="3611880"/>
            <a:ext cx="868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46"/>
          <p:cNvSpPr/>
          <p:nvPr/>
        </p:nvSpPr>
        <p:spPr>
          <a:xfrm>
            <a:off x="1531440" y="3977640"/>
            <a:ext cx="868680" cy="360"/>
          </a:xfrm>
          <a:prstGeom prst="line">
            <a:avLst/>
          </a:prstGeom>
          <a:ln w="2159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 47"/>
          <p:cNvSpPr/>
          <p:nvPr/>
        </p:nvSpPr>
        <p:spPr>
          <a:xfrm>
            <a:off x="1531800" y="4014360"/>
            <a:ext cx="868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 48"/>
          <p:cNvSpPr/>
          <p:nvPr/>
        </p:nvSpPr>
        <p:spPr>
          <a:xfrm>
            <a:off x="2514600" y="374904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=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 49"/>
          <p:cNvSpPr/>
          <p:nvPr/>
        </p:nvSpPr>
        <p:spPr>
          <a:xfrm>
            <a:off x="3017520" y="3611880"/>
            <a:ext cx="1005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520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50"/>
          <p:cNvSpPr/>
          <p:nvPr/>
        </p:nvSpPr>
        <p:spPr>
          <a:xfrm>
            <a:off x="3017520" y="3977640"/>
            <a:ext cx="1005840" cy="360"/>
          </a:xfrm>
          <a:prstGeom prst="line">
            <a:avLst/>
          </a:prstGeom>
          <a:ln w="2159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 51"/>
          <p:cNvSpPr/>
          <p:nvPr/>
        </p:nvSpPr>
        <p:spPr>
          <a:xfrm>
            <a:off x="3017520" y="4014360"/>
            <a:ext cx="1005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160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914400" y="461772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= 3.25 hours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53"/>
          <p:cNvSpPr/>
          <p:nvPr/>
        </p:nvSpPr>
        <p:spPr>
          <a:xfrm>
            <a:off x="6190560" y="210312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 54"/>
          <p:cNvSpPr/>
          <p:nvPr/>
        </p:nvSpPr>
        <p:spPr>
          <a:xfrm>
            <a:off x="6556320" y="234072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Decimal hours ↔ minutes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55"/>
          <p:cNvSpPr/>
          <p:nvPr/>
        </p:nvSpPr>
        <p:spPr>
          <a:xfrm>
            <a:off x="6492240" y="292608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 56"/>
          <p:cNvSpPr/>
          <p:nvPr/>
        </p:nvSpPr>
        <p:spPr>
          <a:xfrm>
            <a:off x="6720840" y="283464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0.25 h = 15 min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57"/>
          <p:cNvSpPr/>
          <p:nvPr/>
        </p:nvSpPr>
        <p:spPr>
          <a:xfrm>
            <a:off x="6492240" y="342900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 58"/>
          <p:cNvSpPr/>
          <p:nvPr/>
        </p:nvSpPr>
        <p:spPr>
          <a:xfrm>
            <a:off x="6720840" y="333756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0.5 h = 30 min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59"/>
          <p:cNvSpPr/>
          <p:nvPr/>
        </p:nvSpPr>
        <p:spPr>
          <a:xfrm>
            <a:off x="6492240" y="393192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Text 60"/>
          <p:cNvSpPr/>
          <p:nvPr/>
        </p:nvSpPr>
        <p:spPr>
          <a:xfrm>
            <a:off x="6720840" y="384048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0.75 h = 45 min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61"/>
          <p:cNvSpPr/>
          <p:nvPr/>
        </p:nvSpPr>
        <p:spPr>
          <a:xfrm>
            <a:off x="6492240" y="443484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Text 62"/>
          <p:cNvSpPr/>
          <p:nvPr/>
        </p:nvSpPr>
        <p:spPr>
          <a:xfrm>
            <a:off x="6720840" y="434340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Decimal × 60 gives the minutes: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63"/>
          <p:cNvSpPr/>
          <p:nvPr/>
        </p:nvSpPr>
        <p:spPr>
          <a:xfrm>
            <a:off x="6492240" y="493776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 64"/>
          <p:cNvSpPr/>
          <p:nvPr/>
        </p:nvSpPr>
        <p:spPr>
          <a:xfrm>
            <a:off x="6720840" y="48463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3.25 h = 3 hours 15 minutes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65"/>
          <p:cNvSpPr/>
          <p:nvPr/>
        </p:nvSpPr>
        <p:spPr>
          <a:xfrm>
            <a:off x="567000" y="5577840"/>
            <a:ext cx="11063880" cy="73116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Text 66"/>
          <p:cNvSpPr/>
          <p:nvPr/>
        </p:nvSpPr>
        <p:spPr>
          <a:xfrm>
            <a:off x="841320" y="557784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Minutes → hours: ÷ 60.   Hours → minutes: × 60.   Never write 3.25 hours as 3 h 25 min.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DENSITY · MASS · VOLUME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Density = Mass ÷ Volume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39"/>
          <p:cNvSpPr/>
          <p:nvPr/>
        </p:nvSpPr>
        <p:spPr>
          <a:xfrm>
            <a:off x="567000" y="128016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Text 40"/>
          <p:cNvSpPr/>
          <p:nvPr/>
        </p:nvSpPr>
        <p:spPr>
          <a:xfrm>
            <a:off x="887040" y="128016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Mass on top;  density × volume underneath.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41"/>
          <p:cNvSpPr/>
          <p:nvPr/>
        </p:nvSpPr>
        <p:spPr>
          <a:xfrm>
            <a:off x="868680" y="1965960"/>
            <a:ext cx="2468520" cy="210276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42"/>
          <p:cNvSpPr/>
          <p:nvPr/>
        </p:nvSpPr>
        <p:spPr>
          <a:xfrm>
            <a:off x="1424160" y="3122640"/>
            <a:ext cx="1357560" cy="36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43"/>
          <p:cNvSpPr/>
          <p:nvPr/>
        </p:nvSpPr>
        <p:spPr>
          <a:xfrm>
            <a:off x="2103120" y="3122640"/>
            <a:ext cx="360" cy="94644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 44"/>
          <p:cNvSpPr/>
          <p:nvPr/>
        </p:nvSpPr>
        <p:spPr>
          <a:xfrm>
            <a:off x="1645920" y="238644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84f2f"/>
                </a:solidFill>
                <a:latin typeface="Cambria"/>
                <a:ea typeface="Cambria"/>
              </a:rPr>
              <a:t>M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 45"/>
          <p:cNvSpPr/>
          <p:nvPr/>
        </p:nvSpPr>
        <p:spPr>
          <a:xfrm>
            <a:off x="1378440" y="3396240"/>
            <a:ext cx="678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4f2f"/>
                </a:solidFill>
                <a:latin typeface="Cambria"/>
                <a:ea typeface="Cambria"/>
              </a:rPr>
              <a:t>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 46"/>
          <p:cNvSpPr/>
          <p:nvPr/>
        </p:nvSpPr>
        <p:spPr>
          <a:xfrm>
            <a:off x="2148840" y="3396240"/>
            <a:ext cx="678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4f2f"/>
                </a:solidFill>
                <a:latin typeface="Cambria"/>
                <a:ea typeface="Cambria"/>
              </a:rPr>
              <a:t>V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47"/>
          <p:cNvSpPr/>
          <p:nvPr/>
        </p:nvSpPr>
        <p:spPr>
          <a:xfrm>
            <a:off x="3794760" y="1965960"/>
            <a:ext cx="3885840" cy="3794400"/>
          </a:xfrm>
          <a:prstGeom prst="roundRect">
            <a:avLst>
              <a:gd name="adj" fmla="val 1446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 48"/>
          <p:cNvSpPr/>
          <p:nvPr/>
        </p:nvSpPr>
        <p:spPr>
          <a:xfrm>
            <a:off x="4160520" y="2203560"/>
            <a:ext cx="3154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 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 49"/>
          <p:cNvSpPr/>
          <p:nvPr/>
        </p:nvSpPr>
        <p:spPr>
          <a:xfrm>
            <a:off x="4069080" y="2651760"/>
            <a:ext cx="3382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 block has a volume of 600 cm³ and a mass of 204 g. Find its density.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 50"/>
          <p:cNvSpPr/>
          <p:nvPr/>
        </p:nvSpPr>
        <p:spPr>
          <a:xfrm>
            <a:off x="4114800" y="361188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d =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 51"/>
          <p:cNvSpPr/>
          <p:nvPr/>
        </p:nvSpPr>
        <p:spPr>
          <a:xfrm>
            <a:off x="4686480" y="3474720"/>
            <a:ext cx="868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52"/>
          <p:cNvSpPr/>
          <p:nvPr/>
        </p:nvSpPr>
        <p:spPr>
          <a:xfrm>
            <a:off x="4686120" y="3840480"/>
            <a:ext cx="868680" cy="360"/>
          </a:xfrm>
          <a:prstGeom prst="line">
            <a:avLst/>
          </a:prstGeom>
          <a:ln w="2159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 53"/>
          <p:cNvSpPr/>
          <p:nvPr/>
        </p:nvSpPr>
        <p:spPr>
          <a:xfrm>
            <a:off x="4686480" y="3877200"/>
            <a:ext cx="868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v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 54"/>
          <p:cNvSpPr/>
          <p:nvPr/>
        </p:nvSpPr>
        <p:spPr>
          <a:xfrm>
            <a:off x="5669280" y="361188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=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55"/>
          <p:cNvSpPr/>
          <p:nvPr/>
        </p:nvSpPr>
        <p:spPr>
          <a:xfrm>
            <a:off x="6126480" y="3474720"/>
            <a:ext cx="91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204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56"/>
          <p:cNvSpPr/>
          <p:nvPr/>
        </p:nvSpPr>
        <p:spPr>
          <a:xfrm>
            <a:off x="6126480" y="3840480"/>
            <a:ext cx="914400" cy="360"/>
          </a:xfrm>
          <a:prstGeom prst="line">
            <a:avLst/>
          </a:prstGeom>
          <a:ln w="2159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 57"/>
          <p:cNvSpPr/>
          <p:nvPr/>
        </p:nvSpPr>
        <p:spPr>
          <a:xfrm>
            <a:off x="6126480" y="3877200"/>
            <a:ext cx="91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600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 58"/>
          <p:cNvSpPr/>
          <p:nvPr/>
        </p:nvSpPr>
        <p:spPr>
          <a:xfrm>
            <a:off x="4069080" y="452628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= 0.34 g/cm³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59"/>
          <p:cNvSpPr/>
          <p:nvPr/>
        </p:nvSpPr>
        <p:spPr>
          <a:xfrm>
            <a:off x="7863840" y="1965960"/>
            <a:ext cx="3767040" cy="3794400"/>
          </a:xfrm>
          <a:prstGeom prst="roundRect">
            <a:avLst>
              <a:gd name="adj" fmla="val 1456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 60"/>
          <p:cNvSpPr/>
          <p:nvPr/>
        </p:nvSpPr>
        <p:spPr>
          <a:xfrm>
            <a:off x="8229600" y="2203560"/>
            <a:ext cx="3035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 2 · find the volume first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 61"/>
          <p:cNvSpPr/>
          <p:nvPr/>
        </p:nvSpPr>
        <p:spPr>
          <a:xfrm>
            <a:off x="8138160" y="2697480"/>
            <a:ext cx="3245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A cube of ice of side 2 cm has a mass of 7.36 g. Find the density of ice.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 62"/>
          <p:cNvSpPr/>
          <p:nvPr/>
        </p:nvSpPr>
        <p:spPr>
          <a:xfrm>
            <a:off x="8138160" y="3520440"/>
            <a:ext cx="324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volume = 2³ = 8 cm³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 63"/>
          <p:cNvSpPr/>
          <p:nvPr/>
        </p:nvSpPr>
        <p:spPr>
          <a:xfrm>
            <a:off x="8138160" y="393192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d =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 64"/>
          <p:cNvSpPr/>
          <p:nvPr/>
        </p:nvSpPr>
        <p:spPr>
          <a:xfrm>
            <a:off x="8847000" y="379476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7.36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65"/>
          <p:cNvSpPr/>
          <p:nvPr/>
        </p:nvSpPr>
        <p:spPr>
          <a:xfrm>
            <a:off x="8846640" y="4160520"/>
            <a:ext cx="960120" cy="360"/>
          </a:xfrm>
          <a:prstGeom prst="line">
            <a:avLst/>
          </a:prstGeom>
          <a:ln w="2159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 66"/>
          <p:cNvSpPr/>
          <p:nvPr/>
        </p:nvSpPr>
        <p:spPr>
          <a:xfrm>
            <a:off x="8847000" y="41972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8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 67"/>
          <p:cNvSpPr/>
          <p:nvPr/>
        </p:nvSpPr>
        <p:spPr>
          <a:xfrm>
            <a:off x="8138160" y="4800600"/>
            <a:ext cx="3245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= 0.92 g/cm³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68"/>
          <p:cNvSpPr/>
          <p:nvPr/>
        </p:nvSpPr>
        <p:spPr>
          <a:xfrm>
            <a:off x="567000" y="594360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 69"/>
          <p:cNvSpPr/>
          <p:nvPr/>
        </p:nvSpPr>
        <p:spPr>
          <a:xfrm>
            <a:off x="841320" y="594360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If the shape is a cube, cuboid or cylinder, work out its VOLUME first.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MATCHING THE UNITS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Step Most Marks Are Lost On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Before you divide, make sure the units agree.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A density in g/cm³ needs the mass in GRAMS and the volume in cm³.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Shape 41"/>
          <p:cNvSpPr/>
          <p:nvPr/>
        </p:nvSpPr>
        <p:spPr>
          <a:xfrm>
            <a:off x="567000" y="2286000"/>
            <a:ext cx="5851800" cy="310860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 42"/>
          <p:cNvSpPr/>
          <p:nvPr/>
        </p:nvSpPr>
        <p:spPr>
          <a:xfrm>
            <a:off x="932760" y="252360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 43"/>
          <p:cNvSpPr/>
          <p:nvPr/>
        </p:nvSpPr>
        <p:spPr>
          <a:xfrm>
            <a:off x="914400" y="2971800"/>
            <a:ext cx="52117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A tyre made of rubber (density 1.2 g/cm³) has a mass of 3.6 kg. Find its volume.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 44"/>
          <p:cNvSpPr/>
          <p:nvPr/>
        </p:nvSpPr>
        <p:spPr>
          <a:xfrm>
            <a:off x="914400" y="379476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3.6 kg = 3600 g   (× 1000)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Text 45"/>
          <p:cNvSpPr/>
          <p:nvPr/>
        </p:nvSpPr>
        <p:spPr>
          <a:xfrm>
            <a:off x="914400" y="420624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v =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Text 46"/>
          <p:cNvSpPr/>
          <p:nvPr/>
        </p:nvSpPr>
        <p:spPr>
          <a:xfrm>
            <a:off x="1531800" y="4069080"/>
            <a:ext cx="868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47"/>
          <p:cNvSpPr/>
          <p:nvPr/>
        </p:nvSpPr>
        <p:spPr>
          <a:xfrm>
            <a:off x="1531440" y="4434840"/>
            <a:ext cx="868680" cy="360"/>
          </a:xfrm>
          <a:prstGeom prst="line">
            <a:avLst/>
          </a:prstGeom>
          <a:ln w="2159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 48"/>
          <p:cNvSpPr/>
          <p:nvPr/>
        </p:nvSpPr>
        <p:spPr>
          <a:xfrm>
            <a:off x="1531800" y="4471560"/>
            <a:ext cx="868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 49"/>
          <p:cNvSpPr/>
          <p:nvPr/>
        </p:nvSpPr>
        <p:spPr>
          <a:xfrm>
            <a:off x="2514600" y="420624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=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 50"/>
          <p:cNvSpPr/>
          <p:nvPr/>
        </p:nvSpPr>
        <p:spPr>
          <a:xfrm>
            <a:off x="3040560" y="4069080"/>
            <a:ext cx="1051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3600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51"/>
          <p:cNvSpPr/>
          <p:nvPr/>
        </p:nvSpPr>
        <p:spPr>
          <a:xfrm>
            <a:off x="3040200" y="4434840"/>
            <a:ext cx="1051560" cy="360"/>
          </a:xfrm>
          <a:prstGeom prst="line">
            <a:avLst/>
          </a:prstGeom>
          <a:ln w="2159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 52"/>
          <p:cNvSpPr/>
          <p:nvPr/>
        </p:nvSpPr>
        <p:spPr>
          <a:xfrm>
            <a:off x="3040560" y="4471560"/>
            <a:ext cx="1051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1.2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 53"/>
          <p:cNvSpPr/>
          <p:nvPr/>
        </p:nvSpPr>
        <p:spPr>
          <a:xfrm>
            <a:off x="4572000" y="420624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= 3000 cm³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54"/>
          <p:cNvSpPr/>
          <p:nvPr/>
        </p:nvSpPr>
        <p:spPr>
          <a:xfrm>
            <a:off x="6583680" y="2286000"/>
            <a:ext cx="5047200" cy="310860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 55"/>
          <p:cNvSpPr/>
          <p:nvPr/>
        </p:nvSpPr>
        <p:spPr>
          <a:xfrm>
            <a:off x="6949440" y="2523600"/>
            <a:ext cx="4315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Conversions to know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56"/>
          <p:cNvSpPr/>
          <p:nvPr/>
        </p:nvSpPr>
        <p:spPr>
          <a:xfrm>
            <a:off x="6858000" y="309060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 57"/>
          <p:cNvSpPr/>
          <p:nvPr/>
        </p:nvSpPr>
        <p:spPr>
          <a:xfrm>
            <a:off x="7086600" y="3017520"/>
            <a:ext cx="43430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1 kg = 1000 g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58"/>
          <p:cNvSpPr/>
          <p:nvPr/>
        </p:nvSpPr>
        <p:spPr>
          <a:xfrm>
            <a:off x="6858000" y="354780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Text 59"/>
          <p:cNvSpPr/>
          <p:nvPr/>
        </p:nvSpPr>
        <p:spPr>
          <a:xfrm>
            <a:off x="7086600" y="3474720"/>
            <a:ext cx="43430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1 m = 100 cm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60"/>
          <p:cNvSpPr/>
          <p:nvPr/>
        </p:nvSpPr>
        <p:spPr>
          <a:xfrm>
            <a:off x="6858000" y="400500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61"/>
          <p:cNvSpPr/>
          <p:nvPr/>
        </p:nvSpPr>
        <p:spPr>
          <a:xfrm>
            <a:off x="7086600" y="3931920"/>
            <a:ext cx="43430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1 m³ = 1 000 000 cm³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62"/>
          <p:cNvSpPr/>
          <p:nvPr/>
        </p:nvSpPr>
        <p:spPr>
          <a:xfrm>
            <a:off x="6858000" y="446220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Text 63"/>
          <p:cNvSpPr/>
          <p:nvPr/>
        </p:nvSpPr>
        <p:spPr>
          <a:xfrm>
            <a:off x="7086600" y="4389120"/>
            <a:ext cx="43430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1 litre = 1000 cm³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64"/>
          <p:cNvSpPr/>
          <p:nvPr/>
        </p:nvSpPr>
        <p:spPr>
          <a:xfrm>
            <a:off x="6858000" y="491940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65"/>
          <p:cNvSpPr/>
          <p:nvPr/>
        </p:nvSpPr>
        <p:spPr>
          <a:xfrm>
            <a:off x="7086600" y="4846320"/>
            <a:ext cx="43430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1 km = 1000 m,  1 hour = 3600 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66"/>
          <p:cNvSpPr/>
          <p:nvPr/>
        </p:nvSpPr>
        <p:spPr>
          <a:xfrm>
            <a:off x="567000" y="5577840"/>
            <a:ext cx="11063880" cy="73116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Text 67"/>
          <p:cNvSpPr/>
          <p:nvPr/>
        </p:nvSpPr>
        <p:spPr>
          <a:xfrm>
            <a:off x="841320" y="557784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Convert FIRST, then use the formula — and give the answer in the unit the question asks for.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PRESSURE · FORCE · AREA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Pressure = Force ÷ Area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39"/>
          <p:cNvSpPr/>
          <p:nvPr/>
        </p:nvSpPr>
        <p:spPr>
          <a:xfrm>
            <a:off x="567000" y="128016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Text 40"/>
          <p:cNvSpPr/>
          <p:nvPr/>
        </p:nvSpPr>
        <p:spPr>
          <a:xfrm>
            <a:off x="887040" y="1280160"/>
            <a:ext cx="10423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Force on top;  pressure × area underneath. Measured in N/m² or N/cm².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41"/>
          <p:cNvSpPr/>
          <p:nvPr/>
        </p:nvSpPr>
        <p:spPr>
          <a:xfrm>
            <a:off x="1371600" y="2103120"/>
            <a:ext cx="2651400" cy="228564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42"/>
          <p:cNvSpPr/>
          <p:nvPr/>
        </p:nvSpPr>
        <p:spPr>
          <a:xfrm>
            <a:off x="1968120" y="3360240"/>
            <a:ext cx="1458360" cy="36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43"/>
          <p:cNvSpPr/>
          <p:nvPr/>
        </p:nvSpPr>
        <p:spPr>
          <a:xfrm>
            <a:off x="2697480" y="3360240"/>
            <a:ext cx="360" cy="102888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 44"/>
          <p:cNvSpPr/>
          <p:nvPr/>
        </p:nvSpPr>
        <p:spPr>
          <a:xfrm>
            <a:off x="2240280" y="256032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84f2f"/>
                </a:solidFill>
                <a:latin typeface="Cambria"/>
                <a:ea typeface="Cambria"/>
              </a:rPr>
              <a:t>F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 45"/>
          <p:cNvSpPr/>
          <p:nvPr/>
        </p:nvSpPr>
        <p:spPr>
          <a:xfrm>
            <a:off x="1922400" y="3657600"/>
            <a:ext cx="729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4f2f"/>
                </a:solidFill>
                <a:latin typeface="Cambria"/>
                <a:ea typeface="Cambria"/>
              </a:rPr>
              <a:t>P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Text 46"/>
          <p:cNvSpPr/>
          <p:nvPr/>
        </p:nvSpPr>
        <p:spPr>
          <a:xfrm>
            <a:off x="2743200" y="3657600"/>
            <a:ext cx="729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4f2f"/>
                </a:solidFill>
                <a:latin typeface="Cambria"/>
                <a:ea typeface="Cambria"/>
              </a:rPr>
              <a:t>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47"/>
          <p:cNvSpPr/>
          <p:nvPr/>
        </p:nvSpPr>
        <p:spPr>
          <a:xfrm>
            <a:off x="4754880" y="2103120"/>
            <a:ext cx="6876000" cy="320004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 48"/>
          <p:cNvSpPr/>
          <p:nvPr/>
        </p:nvSpPr>
        <p:spPr>
          <a:xfrm>
            <a:off x="5120640" y="2340720"/>
            <a:ext cx="6144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How it is used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49"/>
          <p:cNvSpPr/>
          <p:nvPr/>
        </p:nvSpPr>
        <p:spPr>
          <a:xfrm>
            <a:off x="5029200" y="286200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 50"/>
          <p:cNvSpPr/>
          <p:nvPr/>
        </p:nvSpPr>
        <p:spPr>
          <a:xfrm>
            <a:off x="5257800" y="2788920"/>
            <a:ext cx="6126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Cover F  →  F = P × A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Shape 51"/>
          <p:cNvSpPr/>
          <p:nvPr/>
        </p:nvSpPr>
        <p:spPr>
          <a:xfrm>
            <a:off x="5029200" y="329184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 52"/>
          <p:cNvSpPr/>
          <p:nvPr/>
        </p:nvSpPr>
        <p:spPr>
          <a:xfrm>
            <a:off x="5257800" y="3218760"/>
            <a:ext cx="6126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Cover P  →  P = F ÷ A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53"/>
          <p:cNvSpPr/>
          <p:nvPr/>
        </p:nvSpPr>
        <p:spPr>
          <a:xfrm>
            <a:off x="5029200" y="372168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Text 54"/>
          <p:cNvSpPr/>
          <p:nvPr/>
        </p:nvSpPr>
        <p:spPr>
          <a:xfrm>
            <a:off x="5257800" y="3648600"/>
            <a:ext cx="6126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Cover A  →  A = F ÷ 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Shape 55"/>
          <p:cNvSpPr/>
          <p:nvPr/>
        </p:nvSpPr>
        <p:spPr>
          <a:xfrm>
            <a:off x="5029200" y="415152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Text 56"/>
          <p:cNvSpPr/>
          <p:nvPr/>
        </p:nvSpPr>
        <p:spPr>
          <a:xfrm>
            <a:off x="5257800" y="4078080"/>
            <a:ext cx="6126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The AREA is the face in contact with the surface.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57"/>
          <p:cNvSpPr/>
          <p:nvPr/>
        </p:nvSpPr>
        <p:spPr>
          <a:xfrm>
            <a:off x="5029200" y="458100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 58"/>
          <p:cNvSpPr/>
          <p:nvPr/>
        </p:nvSpPr>
        <p:spPr>
          <a:xfrm>
            <a:off x="5257800" y="4507920"/>
            <a:ext cx="6126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For a cuboid on a table: area = length × width.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59"/>
          <p:cNvSpPr/>
          <p:nvPr/>
        </p:nvSpPr>
        <p:spPr>
          <a:xfrm>
            <a:off x="5029200" y="5010840"/>
            <a:ext cx="127800" cy="127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 60"/>
          <p:cNvSpPr/>
          <p:nvPr/>
        </p:nvSpPr>
        <p:spPr>
          <a:xfrm>
            <a:off x="5257800" y="4937760"/>
            <a:ext cx="6126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For a cube of side 7 cm: area = 7 × 7 = 49 cm².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61"/>
          <p:cNvSpPr/>
          <p:nvPr/>
        </p:nvSpPr>
        <p:spPr>
          <a:xfrm>
            <a:off x="567000" y="5577840"/>
            <a:ext cx="11063880" cy="73116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Text 62"/>
          <p:cNvSpPr/>
          <p:nvPr/>
        </p:nvSpPr>
        <p:spPr>
          <a:xfrm>
            <a:off x="841320" y="557784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Read carefully which FACE is touching the table — that face gives the area.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CONVERTING SPEEDS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km/h  ↔  m/s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1 km = 1000 m and 1 hour = 3600 s.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So to change km/h into m/s, multiply by 1000 and divide by 3600 — that is the same as dividing by 3.6.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41"/>
          <p:cNvSpPr/>
          <p:nvPr/>
        </p:nvSpPr>
        <p:spPr>
          <a:xfrm>
            <a:off x="567000" y="2331720"/>
            <a:ext cx="5440320" cy="301716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 42"/>
          <p:cNvSpPr/>
          <p:nvPr/>
        </p:nvSpPr>
        <p:spPr>
          <a:xfrm>
            <a:off x="932760" y="256932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km/h → m/s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 43"/>
          <p:cNvSpPr/>
          <p:nvPr/>
        </p:nvSpPr>
        <p:spPr>
          <a:xfrm>
            <a:off x="914400" y="306324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4f2f"/>
                </a:solidFill>
                <a:latin typeface="Cambria"/>
                <a:ea typeface="Cambria"/>
              </a:rPr>
              <a:t>÷ 3.6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 44"/>
          <p:cNvSpPr/>
          <p:nvPr/>
        </p:nvSpPr>
        <p:spPr>
          <a:xfrm>
            <a:off x="914400" y="3657600"/>
            <a:ext cx="47545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e.g.  72 km/h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 45"/>
          <p:cNvSpPr/>
          <p:nvPr/>
        </p:nvSpPr>
        <p:spPr>
          <a:xfrm>
            <a:off x="914400" y="411480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=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Text 46"/>
          <p:cNvSpPr/>
          <p:nvPr/>
        </p:nvSpPr>
        <p:spPr>
          <a:xfrm>
            <a:off x="1531800" y="397764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72 × 1000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47"/>
          <p:cNvSpPr/>
          <p:nvPr/>
        </p:nvSpPr>
        <p:spPr>
          <a:xfrm>
            <a:off x="1531440" y="4343400"/>
            <a:ext cx="1234440" cy="360"/>
          </a:xfrm>
          <a:prstGeom prst="line">
            <a:avLst/>
          </a:prstGeom>
          <a:ln w="2159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Text 48"/>
          <p:cNvSpPr/>
          <p:nvPr/>
        </p:nvSpPr>
        <p:spPr>
          <a:xfrm>
            <a:off x="1531800" y="438012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3600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 49"/>
          <p:cNvSpPr/>
          <p:nvPr/>
        </p:nvSpPr>
        <p:spPr>
          <a:xfrm>
            <a:off x="3063240" y="411480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= 20 m/s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50"/>
          <p:cNvSpPr/>
          <p:nvPr/>
        </p:nvSpPr>
        <p:spPr>
          <a:xfrm>
            <a:off x="6190560" y="2331720"/>
            <a:ext cx="5440320" cy="3017160"/>
          </a:xfrm>
          <a:prstGeom prst="roundRect">
            <a:avLst>
              <a:gd name="adj" fmla="val 181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 51"/>
          <p:cNvSpPr/>
          <p:nvPr/>
        </p:nvSpPr>
        <p:spPr>
          <a:xfrm>
            <a:off x="6556320" y="256932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m/s → km/h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 52"/>
          <p:cNvSpPr/>
          <p:nvPr/>
        </p:nvSpPr>
        <p:spPr>
          <a:xfrm>
            <a:off x="6537960" y="306324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4f2f"/>
                </a:solidFill>
                <a:latin typeface="Cambria"/>
                <a:ea typeface="Cambria"/>
              </a:rPr>
              <a:t>× 3.6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 53"/>
          <p:cNvSpPr/>
          <p:nvPr/>
        </p:nvSpPr>
        <p:spPr>
          <a:xfrm>
            <a:off x="6537960" y="3749040"/>
            <a:ext cx="4754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e.g.  15 m/s  =  15 × 3.6  =  54 km/h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 54"/>
          <p:cNvSpPr/>
          <p:nvPr/>
        </p:nvSpPr>
        <p:spPr>
          <a:xfrm>
            <a:off x="6537960" y="438912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c6b60"/>
                </a:solidFill>
                <a:latin typeface="Calibri"/>
                <a:ea typeface="Calibri"/>
              </a:rPr>
              <a:t>(× 3600 seconds, ÷ 1000 metres)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55"/>
          <p:cNvSpPr/>
          <p:nvPr/>
        </p:nvSpPr>
        <p:spPr>
          <a:xfrm>
            <a:off x="567000" y="5577840"/>
            <a:ext cx="11063880" cy="73116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 56"/>
          <p:cNvSpPr/>
          <p:nvPr/>
        </p:nvSpPr>
        <p:spPr>
          <a:xfrm>
            <a:off x="841320" y="557784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km/h → m/s:  ÷ 3.6.    m/s → km/h:  × 3.6.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Pick the right triangle, match the units, then work one step at a time.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Which measure is it?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Cover what you want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Match the units first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Answer in the unit asked for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39"/>
          <p:cNvSpPr/>
          <p:nvPr/>
        </p:nvSpPr>
        <p:spPr>
          <a:xfrm>
            <a:off x="1143000" y="1600200"/>
            <a:ext cx="9920880" cy="470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Text 40"/>
          <p:cNvSpPr/>
          <p:nvPr/>
        </p:nvSpPr>
        <p:spPr>
          <a:xfrm>
            <a:off x="1600200" y="198432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plane takes 3 hours 36 minutes to fly from the Cayman Islands to New York.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Text 41"/>
          <p:cNvSpPr/>
          <p:nvPr/>
        </p:nvSpPr>
        <p:spPr>
          <a:xfrm>
            <a:off x="1600200" y="240480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The plane flies a distance of 2470 km.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Text 42"/>
          <p:cNvSpPr/>
          <p:nvPr/>
        </p:nvSpPr>
        <p:spPr>
          <a:xfrm>
            <a:off x="1600200" y="302652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Work out the average speed of the plane in km/h.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Text 43"/>
          <p:cNvSpPr/>
          <p:nvPr/>
        </p:nvSpPr>
        <p:spPr>
          <a:xfrm>
            <a:off x="1600200" y="344736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Give your answer correct to the nearest whole number.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44"/>
          <p:cNvSpPr/>
          <p:nvPr/>
        </p:nvSpPr>
        <p:spPr>
          <a:xfrm>
            <a:off x="6080760" y="5166360"/>
            <a:ext cx="3200400" cy="360"/>
          </a:xfrm>
          <a:prstGeom prst="line">
            <a:avLst/>
          </a:prstGeom>
          <a:ln w="12700">
            <a:solidFill>
              <a:srgbClr val="5c6b60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Text 45"/>
          <p:cNvSpPr/>
          <p:nvPr/>
        </p:nvSpPr>
        <p:spPr>
          <a:xfrm>
            <a:off x="9372600" y="4965120"/>
            <a:ext cx="13712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km/h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Text 46"/>
          <p:cNvSpPr/>
          <p:nvPr/>
        </p:nvSpPr>
        <p:spPr>
          <a:xfrm>
            <a:off x="1600200" y="5742360"/>
            <a:ext cx="9006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(3 marks)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39"/>
          <p:cNvSpPr/>
          <p:nvPr/>
        </p:nvSpPr>
        <p:spPr>
          <a:xfrm>
            <a:off x="1143000" y="1600200"/>
            <a:ext cx="9920880" cy="470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Text 40"/>
          <p:cNvSpPr/>
          <p:nvPr/>
        </p:nvSpPr>
        <p:spPr>
          <a:xfrm>
            <a:off x="1600200" y="198432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Change a speed of 630 kilometres per hour to a speed in metres per second.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41"/>
          <p:cNvSpPr/>
          <p:nvPr/>
        </p:nvSpPr>
        <p:spPr>
          <a:xfrm>
            <a:off x="6080760" y="5166360"/>
            <a:ext cx="3200400" cy="360"/>
          </a:xfrm>
          <a:prstGeom prst="line">
            <a:avLst/>
          </a:prstGeom>
          <a:ln w="12700">
            <a:solidFill>
              <a:srgbClr val="5c6b60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Text 42"/>
          <p:cNvSpPr/>
          <p:nvPr/>
        </p:nvSpPr>
        <p:spPr>
          <a:xfrm>
            <a:off x="9372600" y="4965120"/>
            <a:ext cx="13712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m/s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Text 43"/>
          <p:cNvSpPr/>
          <p:nvPr/>
        </p:nvSpPr>
        <p:spPr>
          <a:xfrm>
            <a:off x="1600200" y="5742360"/>
            <a:ext cx="9006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(3)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Shape 39"/>
          <p:cNvSpPr/>
          <p:nvPr/>
        </p:nvSpPr>
        <p:spPr>
          <a:xfrm>
            <a:off x="1143000" y="1600200"/>
            <a:ext cx="9920880" cy="470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 40"/>
          <p:cNvSpPr/>
          <p:nvPr/>
        </p:nvSpPr>
        <p:spPr>
          <a:xfrm>
            <a:off x="1600200" y="198432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block of wood has a mass of 3.5 kg.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Text 41"/>
          <p:cNvSpPr/>
          <p:nvPr/>
        </p:nvSpPr>
        <p:spPr>
          <a:xfrm>
            <a:off x="1600200" y="240480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The wood has density 0.65 kg/m³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Text 42"/>
          <p:cNvSpPr/>
          <p:nvPr/>
        </p:nvSpPr>
        <p:spPr>
          <a:xfrm>
            <a:off x="1600200" y="302652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(a)  Work out the volume of the block of wood.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Text 43"/>
          <p:cNvSpPr/>
          <p:nvPr/>
        </p:nvSpPr>
        <p:spPr>
          <a:xfrm>
            <a:off x="1600200" y="344736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      </a:t>
            </a: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Give your answer correct to 3 significant figures.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44"/>
          <p:cNvSpPr/>
          <p:nvPr/>
        </p:nvSpPr>
        <p:spPr>
          <a:xfrm>
            <a:off x="6080760" y="5166360"/>
            <a:ext cx="3200400" cy="360"/>
          </a:xfrm>
          <a:prstGeom prst="line">
            <a:avLst/>
          </a:prstGeom>
          <a:ln w="12700">
            <a:solidFill>
              <a:srgbClr val="5c6b60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Text 45"/>
          <p:cNvSpPr/>
          <p:nvPr/>
        </p:nvSpPr>
        <p:spPr>
          <a:xfrm>
            <a:off x="9372600" y="4965120"/>
            <a:ext cx="13712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m³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Text 46"/>
          <p:cNvSpPr/>
          <p:nvPr/>
        </p:nvSpPr>
        <p:spPr>
          <a:xfrm>
            <a:off x="1600200" y="5742360"/>
            <a:ext cx="9006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(2)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Shape 39"/>
          <p:cNvSpPr/>
          <p:nvPr/>
        </p:nvSpPr>
        <p:spPr>
          <a:xfrm>
            <a:off x="1029960" y="1435680"/>
            <a:ext cx="10131120" cy="402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76" name="Image 0" descr="/tmp/work/msq/q-19.png"/>
          <p:cNvPicPr/>
          <p:nvPr/>
        </p:nvPicPr>
        <p:blipFill>
          <a:blip r:embed="rId1"/>
          <a:stretch/>
        </p:blipFill>
        <p:spPr>
          <a:xfrm>
            <a:off x="1112400" y="1517760"/>
            <a:ext cx="9966600" cy="3859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Shape 39"/>
          <p:cNvSpPr/>
          <p:nvPr/>
        </p:nvSpPr>
        <p:spPr>
          <a:xfrm>
            <a:off x="1962360" y="1435680"/>
            <a:ext cx="8266320" cy="539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7" name="Image 0" descr="/tmp/work/msq/q-20.png"/>
          <p:cNvPicPr/>
          <p:nvPr/>
        </p:nvPicPr>
        <p:blipFill>
          <a:blip r:embed="rId1"/>
          <a:stretch/>
        </p:blipFill>
        <p:spPr>
          <a:xfrm>
            <a:off x="2044800" y="1517760"/>
            <a:ext cx="8101800" cy="5230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Shape 39"/>
          <p:cNvSpPr/>
          <p:nvPr/>
        </p:nvSpPr>
        <p:spPr>
          <a:xfrm>
            <a:off x="1143000" y="1600200"/>
            <a:ext cx="9920880" cy="470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Text 40"/>
          <p:cNvSpPr/>
          <p:nvPr/>
        </p:nvSpPr>
        <p:spPr>
          <a:xfrm>
            <a:off x="1600200" y="198432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train takes 6 hours 39 minutes to travel from New Delhi to Kanpur.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Text 41"/>
          <p:cNvSpPr/>
          <p:nvPr/>
        </p:nvSpPr>
        <p:spPr>
          <a:xfrm>
            <a:off x="1600200" y="240480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The train travels a distance of 429 km.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Text 42"/>
          <p:cNvSpPr/>
          <p:nvPr/>
        </p:nvSpPr>
        <p:spPr>
          <a:xfrm>
            <a:off x="1600200" y="302652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Work out the average speed of the train.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Text 43"/>
          <p:cNvSpPr/>
          <p:nvPr/>
        </p:nvSpPr>
        <p:spPr>
          <a:xfrm>
            <a:off x="1600200" y="344736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Give your answer in km/h correct to one decimal place.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44"/>
          <p:cNvSpPr/>
          <p:nvPr/>
        </p:nvSpPr>
        <p:spPr>
          <a:xfrm>
            <a:off x="6080760" y="5166360"/>
            <a:ext cx="3200400" cy="360"/>
          </a:xfrm>
          <a:prstGeom prst="line">
            <a:avLst/>
          </a:prstGeom>
          <a:ln w="12700">
            <a:solidFill>
              <a:srgbClr val="5c6b60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Text 45"/>
          <p:cNvSpPr/>
          <p:nvPr/>
        </p:nvSpPr>
        <p:spPr>
          <a:xfrm>
            <a:off x="9372600" y="4965120"/>
            <a:ext cx="13712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km/h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7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Shape 39"/>
          <p:cNvSpPr/>
          <p:nvPr/>
        </p:nvSpPr>
        <p:spPr>
          <a:xfrm>
            <a:off x="1143000" y="1600200"/>
            <a:ext cx="9920880" cy="470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Text 40"/>
          <p:cNvSpPr/>
          <p:nvPr/>
        </p:nvSpPr>
        <p:spPr>
          <a:xfrm>
            <a:off x="1600200" y="198432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Change a speed of 81 kilometres per hour to a speed in metres per second.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Shape 41"/>
          <p:cNvSpPr/>
          <p:nvPr/>
        </p:nvSpPr>
        <p:spPr>
          <a:xfrm>
            <a:off x="6080760" y="5166360"/>
            <a:ext cx="3200400" cy="360"/>
          </a:xfrm>
          <a:prstGeom prst="line">
            <a:avLst/>
          </a:prstGeom>
          <a:ln w="12700">
            <a:solidFill>
              <a:srgbClr val="5c6b60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Text 42"/>
          <p:cNvSpPr/>
          <p:nvPr/>
        </p:nvSpPr>
        <p:spPr>
          <a:xfrm>
            <a:off x="9372600" y="4965120"/>
            <a:ext cx="13712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m/s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8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Shape 39"/>
          <p:cNvSpPr/>
          <p:nvPr/>
        </p:nvSpPr>
        <p:spPr>
          <a:xfrm>
            <a:off x="1029960" y="1435680"/>
            <a:ext cx="10131120" cy="4874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7" name="Image 0" descr="/tmp/work/msq/q-23.png"/>
          <p:cNvPicPr/>
          <p:nvPr/>
        </p:nvPicPr>
        <p:blipFill>
          <a:blip r:embed="rId1"/>
          <a:stretch/>
        </p:blipFill>
        <p:spPr>
          <a:xfrm>
            <a:off x="1112400" y="1517760"/>
            <a:ext cx="9966600" cy="4709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9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Shape 39"/>
          <p:cNvSpPr/>
          <p:nvPr/>
        </p:nvSpPr>
        <p:spPr>
          <a:xfrm>
            <a:off x="1029960" y="1435680"/>
            <a:ext cx="10131120" cy="482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8" name="Image 0" descr="/tmp/work/msq/q-24.png"/>
          <p:cNvPicPr/>
          <p:nvPr/>
        </p:nvPicPr>
        <p:blipFill>
          <a:blip r:embed="rId1"/>
          <a:stretch/>
        </p:blipFill>
        <p:spPr>
          <a:xfrm>
            <a:off x="1112400" y="1517760"/>
            <a:ext cx="9966600" cy="4657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10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Shape 39"/>
          <p:cNvSpPr/>
          <p:nvPr/>
        </p:nvSpPr>
        <p:spPr>
          <a:xfrm>
            <a:off x="1143000" y="1600200"/>
            <a:ext cx="9920880" cy="470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Text 40"/>
          <p:cNvSpPr/>
          <p:nvPr/>
        </p:nvSpPr>
        <p:spPr>
          <a:xfrm>
            <a:off x="1600200" y="198432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parcel in the shape of a cube is placed on a table so that the whole of one face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Text 41"/>
          <p:cNvSpPr/>
          <p:nvPr/>
        </p:nvSpPr>
        <p:spPr>
          <a:xfrm>
            <a:off x="1600200" y="240480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of the parcel is in contact with the table.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Text 42"/>
          <p:cNvSpPr/>
          <p:nvPr/>
        </p:nvSpPr>
        <p:spPr>
          <a:xfrm>
            <a:off x="1600200" y="282564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The parcel has sides of length 7 cm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Text 43"/>
          <p:cNvSpPr/>
          <p:nvPr/>
        </p:nvSpPr>
        <p:spPr>
          <a:xfrm>
            <a:off x="1600200" y="3246120"/>
            <a:ext cx="9006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The pressure on the table due to the parcel is 62 newtons/cm²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Text 44"/>
          <p:cNvSpPr/>
          <p:nvPr/>
        </p:nvSpPr>
        <p:spPr>
          <a:xfrm>
            <a:off x="2377440" y="3831480"/>
            <a:ext cx="1737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pressure  =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Text 45"/>
          <p:cNvSpPr/>
          <p:nvPr/>
        </p:nvSpPr>
        <p:spPr>
          <a:xfrm>
            <a:off x="4160520" y="3740040"/>
            <a:ext cx="1096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force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Shape 46"/>
          <p:cNvSpPr/>
          <p:nvPr/>
        </p:nvSpPr>
        <p:spPr>
          <a:xfrm>
            <a:off x="4160520" y="4105440"/>
            <a:ext cx="1097280" cy="360"/>
          </a:xfrm>
          <a:prstGeom prst="line">
            <a:avLst/>
          </a:prstGeom>
          <a:ln w="2159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Text 47"/>
          <p:cNvSpPr/>
          <p:nvPr/>
        </p:nvSpPr>
        <p:spPr>
          <a:xfrm>
            <a:off x="4160520" y="4142160"/>
            <a:ext cx="1096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area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Text 48"/>
          <p:cNvSpPr/>
          <p:nvPr/>
        </p:nvSpPr>
        <p:spPr>
          <a:xfrm>
            <a:off x="1600200" y="462672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Work out the force exerted by the parcel on the table.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Shape 49"/>
          <p:cNvSpPr/>
          <p:nvPr/>
        </p:nvSpPr>
        <p:spPr>
          <a:xfrm>
            <a:off x="6080760" y="5541120"/>
            <a:ext cx="3200400" cy="360"/>
          </a:xfrm>
          <a:prstGeom prst="line">
            <a:avLst/>
          </a:prstGeom>
          <a:ln w="12700">
            <a:solidFill>
              <a:srgbClr val="5c6b60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Text 50"/>
          <p:cNvSpPr/>
          <p:nvPr/>
        </p:nvSpPr>
        <p:spPr>
          <a:xfrm>
            <a:off x="9372600" y="5340240"/>
            <a:ext cx="13712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newtons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Shape 39"/>
          <p:cNvSpPr/>
          <p:nvPr/>
        </p:nvSpPr>
        <p:spPr>
          <a:xfrm>
            <a:off x="1397160" y="1435680"/>
            <a:ext cx="9397440" cy="539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0" name="Image 0" descr="/tmp/work/msq/q-26.png"/>
          <p:cNvPicPr/>
          <p:nvPr/>
        </p:nvPicPr>
        <p:blipFill>
          <a:blip r:embed="rId1"/>
          <a:stretch/>
        </p:blipFill>
        <p:spPr>
          <a:xfrm>
            <a:off x="1479240" y="1517760"/>
            <a:ext cx="9232560" cy="5230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6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7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8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9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0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1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 compound measure links two quantities — ‘per’ means divided by.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2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3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Speed = distance ÷ time;  density = mass ÷ volume;  pressure = force ÷ area.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4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5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Use the formula triangle: cover what you want, the line means divide.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6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7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Match the units BEFORE calculating (kg → g, minutes → hours, m → cm).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8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9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km/h → m/s: divide by 3.6.   m/s → km/h: multiply by 3.6.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0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1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choose the triangle, fix the units, then divide or multiply — and answer in the unit asked for.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1516</Words>
  <Paragraphs>291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2026-07-23T19:30:54Z</dcterms:created>
  <dc:creator>Zahra Sheikh Ali</dc:creator>
  <dc:description/>
  <dc:language>en-US</dc:language>
  <cp:lastModifiedBy>zahraa sheik ali</cp:lastModifiedBy>
  <dcterms:modified xsi:type="dcterms:W3CDTF">2026-07-23T19:35:20Z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23</vt:r8>
  </property>
  <property fmtid="{D5CDD505-2E9C-101B-9397-08002B2CF9AE}" pid="3" name="PresentationFormat">
    <vt:lpwstr>Custom</vt:lpwstr>
  </property>
  <property fmtid="{D5CDD505-2E9C-101B-9397-08002B2CF9AE}" pid="4" name="Slides">
    <vt:r8>23</vt:r8>
  </property>
</Properties>
</file>