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70A31-0397-441C-9223-6B5885BEB0F8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E4DC6-CFC4-4FA2-944F-12A4D2D4E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9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8320" y="868680"/>
            <a:ext cx="1920240" cy="155448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50374" y="1723644"/>
            <a:ext cx="1056132" cy="0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78440" y="1723644"/>
            <a:ext cx="0" cy="699516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21240" y="11795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804654" y="1925726"/>
            <a:ext cx="5280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0424160" y="1925726"/>
            <a:ext cx="5280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5" name="Text 43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Measures</a:t>
            </a:r>
            <a:endParaRPr lang="en-US" sz="3400" dirty="0"/>
          </a:p>
        </p:txBody>
      </p:sp>
      <p:sp>
        <p:nvSpPr>
          <p:cNvPr id="48" name="Text 46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Speed, Distance &amp; Time · Density, Mass &amp; Volume · Pressure, Force &amp; Area · Unit Conversions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Triangle, Three Formulas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MEASURE links two different quantities — you can hear it in the word ‘per’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(kilometres per hour, grams per cm³). ‘Per’ means DIVIDED BY, and each one has a formula triangle.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‘per’ means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Speed, distance &amp; time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Density, mass &amp; volume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Pressure, force &amp; area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the units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measure · per · formula triangle · density · speed · pressure · units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‘Per’ Means Divided By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measure tells you about a relationship between two quantities.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unit always contains the word ‘per’ when you say it out loud.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 the word ‘per’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868680" y="3108960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1143000" y="301752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kilometres PER hour  →  km ÷ h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68680" y="3675888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6"/>
          <p:cNvSpPr/>
          <p:nvPr/>
        </p:nvSpPr>
        <p:spPr>
          <a:xfrm>
            <a:off x="1143000" y="358444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grams PER cm³  →  g ÷ cm³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68680" y="4242816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1143000" y="41513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newtons PER m²  →  N ÷ m²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868680" y="480974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1143000" y="471830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slash / is just ‘divided by’.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6190488" y="22860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55624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you need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653796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09244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÷ volume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014984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g/cm³, kg/m³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37960" y="373075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092440" y="37307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÷ time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10149840" y="373075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m/s, km/h, mph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37960" y="44439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092440" y="444398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÷ area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10149840" y="444398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N/m², N/cm²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66928" y="56235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41248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compound measure is a DIVISION — and every one has a formula triangle.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TRIANGLE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Up What You Want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measure on top, the other two underneath.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one you are looking for and read off what is left.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737360" y="2286000"/>
            <a:ext cx="3108960" cy="265176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36876" y="3744468"/>
            <a:ext cx="1709928" cy="0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91840" y="3744468"/>
            <a:ext cx="0" cy="1193292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0" y="2816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2391156" y="4089197"/>
            <a:ext cx="85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3337560" y="4089197"/>
            <a:ext cx="85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22960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on top;  speed × time underneath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00800" y="2286000"/>
            <a:ext cx="5230368" cy="301752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766560" y="2523744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triangle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6675120" y="304495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6903720" y="29718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D  →  D = S × T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6675120" y="350215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6903720" y="34290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S  →  S = D ÷ T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675120" y="395935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6903720" y="38862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  →  T = D ÷ S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675120" y="441655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9" name="Text 57"/>
          <p:cNvSpPr/>
          <p:nvPr/>
        </p:nvSpPr>
        <p:spPr>
          <a:xfrm>
            <a:off x="6903720" y="43434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horizontal line means DIVIDE.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6675120" y="487375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6903720" y="48006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units match first.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566928" y="5577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41248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by side (S × T) means multiply;  one above the other means divide.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· DISTANCE · TIME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= Distance ÷ Time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speed = total distance ÷ total time.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68680" y="1965960"/>
            <a:ext cx="2468880" cy="210312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4178" y="3122676"/>
            <a:ext cx="1357884" cy="0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03120" y="3122676"/>
            <a:ext cx="0" cy="946404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0" y="2386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378458" y="3396082"/>
            <a:ext cx="6789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2148840" y="3396082"/>
            <a:ext cx="6789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3794760" y="1965960"/>
            <a:ext cx="3886200" cy="3794760"/>
          </a:xfrm>
          <a:prstGeom prst="roundRect">
            <a:avLst>
              <a:gd name="adj" fmla="val 1446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160520" y="220370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4069080" y="2651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 travels 126 miles in 3 hours. Find its average speed.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11480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4640580" y="34290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640580" y="3794760"/>
            <a:ext cx="86868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40580" y="383133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623560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103620" y="34290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103620" y="3794760"/>
            <a:ext cx="86868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03620" y="383133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069080" y="4434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42 mph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863840" y="1965960"/>
            <a:ext cx="3767328" cy="3794760"/>
          </a:xfrm>
          <a:prstGeom prst="roundRect">
            <a:avLst>
              <a:gd name="adj" fmla="val 1456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229600" y="2203704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· minutes!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8138160" y="26517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 travels 40 miles in 45 minutes. Find its average speed.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138160" y="3429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 = 0.75 hours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813816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8801100" y="37490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8801100" y="4114800"/>
            <a:ext cx="96012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01100" y="41513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138160" y="47548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53.3 mph (1 dp)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66928" y="59436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841248" y="5943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must be in HOURS for km/h or mph.  Minutes ÷ 60 turns them into hours.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TIME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Turning Decimals Back into Minutes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 in the triangle:  time = distance ÷ speed.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0312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3408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2788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train completes a 520 km journey at an average speed of 160 km/h. Find the time taken.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1440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531620" y="3611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531620" y="3977640"/>
            <a:ext cx="86868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31620" y="40142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514600" y="3749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017520" y="36118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520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017520" y="3977640"/>
            <a:ext cx="100584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4014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14400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3.25 hours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6190488" y="210312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556248" y="23408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 hours ↔ minutes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6492240" y="2926080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8" name="Text 56"/>
          <p:cNvSpPr/>
          <p:nvPr/>
        </p:nvSpPr>
        <p:spPr>
          <a:xfrm>
            <a:off x="6720840" y="2834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 h = 15 min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492240" y="3429000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6720840" y="3337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h = 30 min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492240" y="3931920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2" name="Text 60"/>
          <p:cNvSpPr/>
          <p:nvPr/>
        </p:nvSpPr>
        <p:spPr>
          <a:xfrm>
            <a:off x="672084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 h = 45 min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492240" y="4434840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4" name="Text 62"/>
          <p:cNvSpPr/>
          <p:nvPr/>
        </p:nvSpPr>
        <p:spPr>
          <a:xfrm>
            <a:off x="6720840" y="4343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 × 60 gives the minutes: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492240" y="4937760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6" name="Text 64"/>
          <p:cNvSpPr/>
          <p:nvPr/>
        </p:nvSpPr>
        <p:spPr>
          <a:xfrm>
            <a:off x="6720840" y="4846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3.25 h = 3 hours 15 minutes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66928" y="5577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841248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→ hours: ÷ 60.   Hours → minutes: × 60.   Never write 3.25 hours as 3 h 25 min.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· MASS · VOLUME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 = Mass ÷ Volume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on top;  density × volume underneath.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68680" y="1965960"/>
            <a:ext cx="2468880" cy="210312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4178" y="3122676"/>
            <a:ext cx="1357884" cy="0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03120" y="3122676"/>
            <a:ext cx="0" cy="946404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0" y="2386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378458" y="3396082"/>
            <a:ext cx="6789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2148840" y="3396082"/>
            <a:ext cx="6789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3794760" y="1965960"/>
            <a:ext cx="3886200" cy="3794760"/>
          </a:xfrm>
          <a:prstGeom prst="roundRect">
            <a:avLst>
              <a:gd name="adj" fmla="val 1446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160520" y="220370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4069080" y="26517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block has a volume of 600 cm³ and a mass of 204 g. Find its density.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11480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4686300" y="3474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686300" y="3840480"/>
            <a:ext cx="86868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86300" y="3877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66928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126480" y="3474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126480" y="3840480"/>
            <a:ext cx="91440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38770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06908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0.34 g/cm³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7863840" y="1965960"/>
            <a:ext cx="3767328" cy="3794760"/>
          </a:xfrm>
          <a:prstGeom prst="roundRect">
            <a:avLst>
              <a:gd name="adj" fmla="val 1456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229600" y="2203704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· find the volume first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8138160" y="2697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cube of ice of side 2 cm has a mass of 7.36 g. Find the density of ice.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8138160" y="3520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= 2³ = 8 cm³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813816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8846820" y="37947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7.36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8846820" y="4160520"/>
            <a:ext cx="96012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46820" y="419709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138160" y="4800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0.92 g/cm³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66928" y="59436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841248" y="5943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shape is a cube, cuboid or cylinder, work out its VOLUME first.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UNITS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Step Most Marks Are Lost On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divide, make sure the units agree.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density in g/cm³ needs the mass in GRAMS and the volume in cm³.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5852160" cy="310896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5237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2971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tyre made of rubber (density 1.2 g/cm³) has a mass of 3.6 kg. Find its volume.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14400" y="3794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kg = 3600 g   (× 1000)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1440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531620" y="4069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531620" y="4434840"/>
            <a:ext cx="86868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31620" y="44714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514600" y="4206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3040380" y="40690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3600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040380" y="4434840"/>
            <a:ext cx="105156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40380" y="44714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7200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3000 cm³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6583680" y="2286000"/>
            <a:ext cx="5047488" cy="310896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949440" y="2523744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Conversions to know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6858000" y="309067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9" name="Text 57"/>
          <p:cNvSpPr/>
          <p:nvPr/>
        </p:nvSpPr>
        <p:spPr>
          <a:xfrm>
            <a:off x="7086600" y="301752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kg = 1000 g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6858000" y="354787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7086600" y="347472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 = 100 cm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6858000" y="400507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3" name="Text 61"/>
          <p:cNvSpPr/>
          <p:nvPr/>
        </p:nvSpPr>
        <p:spPr>
          <a:xfrm>
            <a:off x="7086600" y="393192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m³ = 1 000 000 cm³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858000" y="446227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7086600" y="438912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litre = 1000 cm³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6858000" y="491947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7" name="Text 65"/>
          <p:cNvSpPr/>
          <p:nvPr/>
        </p:nvSpPr>
        <p:spPr>
          <a:xfrm>
            <a:off x="7086600" y="484632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km = 1000 m,  1 hour = 3600 s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566928" y="5577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841248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FIRST, then use the formula — and give the answer in the unit the question asks for.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· FORCE · AREA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= Force ÷ Area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on top;  pressure × area underneath. Measured in N/m² or N/cm².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371600" y="2103120"/>
            <a:ext cx="2651760" cy="22860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68246" y="3360420"/>
            <a:ext cx="1458468" cy="0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97480" y="3360420"/>
            <a:ext cx="0" cy="1028700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4028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922526" y="3657600"/>
            <a:ext cx="72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2743200" y="3657600"/>
            <a:ext cx="72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4754880" y="2103120"/>
            <a:ext cx="6876288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120640" y="2340864"/>
            <a:ext cx="614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used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5029200" y="286207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2788920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F  →  F = P × A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029200" y="3291840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3218688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P  →  P = F ÷ A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029200" y="3721608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5257800" y="3648456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A  →  A = F ÷ P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5029200" y="4151376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8" name="Text 56"/>
          <p:cNvSpPr/>
          <p:nvPr/>
        </p:nvSpPr>
        <p:spPr>
          <a:xfrm>
            <a:off x="5257800" y="4078224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AREA is the face in contact with the surface.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5029200" y="4581144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5257800" y="450799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cuboid on a table: area = length × width.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5029200" y="5010912"/>
            <a:ext cx="128016" cy="12801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2" name="Text 60"/>
          <p:cNvSpPr/>
          <p:nvPr/>
        </p:nvSpPr>
        <p:spPr>
          <a:xfrm>
            <a:off x="5257800" y="4937760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cube of side 7 cm: area = 7 × 7 = 49 cm².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566928" y="5577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841248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carefully which FACE is touching the table — that face gives the area.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SPEEDS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km/h  ↔  m/s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km = 1000 m and 1 hour = 3600 s.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to change km/h into m/s, multiply by 1000 and divide by 3600 — that is the same as dividing by 3.6.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33172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5694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km/h → m/s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3.6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14400" y="3657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 72 km/h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14400" y="4114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531620" y="39776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× 1000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1531620" y="4343400"/>
            <a:ext cx="123444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31620" y="43799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3600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306324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20 m/s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90488" y="233172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556248" y="25694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m/s → km/h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653796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3.6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653796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 15 m/s  =  15 × 3.6  =  54 km/h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53796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 3600 seconds, ÷ 1000 metres)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66928" y="5577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41248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km/h → m/s:  ÷ 3.6.    m/s → km/h:  × 3.6.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right triangle, match the units, then work one step at a time.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measure is it?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what you want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units first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the unit asked for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143000" y="1600200"/>
            <a:ext cx="99212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600200" y="198424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plane takes 3 hours 36 minutes to fly from the Cayman Islands to New York.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600200" y="2404872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plane flies a distance of 2470 km.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00200" y="3026664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the average speed of the plane in km/h.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600200" y="344728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your answer correct to the nearest whole number.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80760" y="5166360"/>
            <a:ext cx="3200400" cy="0"/>
          </a:xfrm>
          <a:prstGeom prst="line">
            <a:avLst/>
          </a:prstGeom>
          <a:noFill/>
          <a:ln w="12700">
            <a:solidFill>
              <a:srgbClr val="5C6B60"/>
            </a:solidFill>
            <a:prstDash val="dot"/>
          </a:ln>
        </p:spPr>
      </p:sp>
      <p:sp>
        <p:nvSpPr>
          <p:cNvPr id="47" name="Text 45"/>
          <p:cNvSpPr/>
          <p:nvPr/>
        </p:nvSpPr>
        <p:spPr>
          <a:xfrm>
            <a:off x="9372600" y="4965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km/h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600200" y="5742432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marks)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143000" y="1600200"/>
            <a:ext cx="99212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600200" y="198424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a speed of 630 kilometres per hour to a speed in metres per second.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080760" y="5166360"/>
            <a:ext cx="3200400" cy="0"/>
          </a:xfrm>
          <a:prstGeom prst="line">
            <a:avLst/>
          </a:prstGeom>
          <a:noFill/>
          <a:ln w="12700">
            <a:solidFill>
              <a:srgbClr val="5C6B60"/>
            </a:solidFill>
            <a:prstDash val="dot"/>
          </a:ln>
        </p:spPr>
      </p:sp>
      <p:sp>
        <p:nvSpPr>
          <p:cNvPr id="44" name="Text 42"/>
          <p:cNvSpPr/>
          <p:nvPr/>
        </p:nvSpPr>
        <p:spPr>
          <a:xfrm>
            <a:off x="9372600" y="4965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m/s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600200" y="5742432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143000" y="1600200"/>
            <a:ext cx="99212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600200" y="198424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block of wood has a mass of 3.5 kg.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600200" y="2404872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wood has density 0.65 kg/m³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00200" y="3026664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 Work out the volume of the block of wood.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600200" y="344728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Give your answer correct to 3 significant figures.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80760" y="5166360"/>
            <a:ext cx="3200400" cy="0"/>
          </a:xfrm>
          <a:prstGeom prst="line">
            <a:avLst/>
          </a:prstGeom>
          <a:noFill/>
          <a:ln w="12700">
            <a:solidFill>
              <a:srgbClr val="5C6B60"/>
            </a:solidFill>
            <a:prstDash val="dot"/>
          </a:ln>
        </p:spPr>
      </p:sp>
      <p:sp>
        <p:nvSpPr>
          <p:cNvPr id="47" name="Text 45"/>
          <p:cNvSpPr/>
          <p:nvPr/>
        </p:nvSpPr>
        <p:spPr>
          <a:xfrm>
            <a:off x="9372600" y="4965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m³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600200" y="5742432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030072" y="1435608"/>
            <a:ext cx="10131552" cy="4024109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msq/q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8" y="1517904"/>
            <a:ext cx="9966960" cy="38595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962522" y="1435608"/>
            <a:ext cx="826665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msq/q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818" y="1517904"/>
            <a:ext cx="8102058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143000" y="1600200"/>
            <a:ext cx="99212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600200" y="198424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train takes 6 hours 39 minutes to travel from New Delhi to Kanpur.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600200" y="2404872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 travels a distance of 429 km.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00200" y="3026664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the average speed of the train.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600200" y="344728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your answer in km/h correct to one decimal place.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80760" y="5166360"/>
            <a:ext cx="3200400" cy="0"/>
          </a:xfrm>
          <a:prstGeom prst="line">
            <a:avLst/>
          </a:prstGeom>
          <a:noFill/>
          <a:ln w="12700">
            <a:solidFill>
              <a:srgbClr val="5C6B60"/>
            </a:solidFill>
            <a:prstDash val="dot"/>
          </a:ln>
        </p:spPr>
      </p:sp>
      <p:sp>
        <p:nvSpPr>
          <p:cNvPr id="47" name="Text 45"/>
          <p:cNvSpPr/>
          <p:nvPr/>
        </p:nvSpPr>
        <p:spPr>
          <a:xfrm>
            <a:off x="9372600" y="4965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km/h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143000" y="1600200"/>
            <a:ext cx="99212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600200" y="198424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a speed of 81 kilometres per hour to a speed in metres per second.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080760" y="5166360"/>
            <a:ext cx="3200400" cy="0"/>
          </a:xfrm>
          <a:prstGeom prst="line">
            <a:avLst/>
          </a:prstGeom>
          <a:noFill/>
          <a:ln w="12700">
            <a:solidFill>
              <a:srgbClr val="5C6B60"/>
            </a:solidFill>
            <a:prstDash val="dot"/>
          </a:ln>
        </p:spPr>
      </p:sp>
      <p:sp>
        <p:nvSpPr>
          <p:cNvPr id="44" name="Text 42"/>
          <p:cNvSpPr/>
          <p:nvPr/>
        </p:nvSpPr>
        <p:spPr>
          <a:xfrm>
            <a:off x="9372600" y="4965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m/s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030072" y="1435608"/>
            <a:ext cx="10131552" cy="487448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msq/q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8" y="1517904"/>
            <a:ext cx="9966960" cy="47098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030072" y="1435608"/>
            <a:ext cx="10131552" cy="482217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msq/q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8" y="1517904"/>
            <a:ext cx="9966960" cy="46575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10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143000" y="1600200"/>
            <a:ext cx="99212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600200" y="198424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 in the shape of a cube is placed on a table so that the whole of one face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600200" y="2404872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parcel is in contact with the table.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00200" y="2825496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parcel has sides of length 7 cm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600200" y="3246120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pressure on the table due to the parcel is 62 newtons/cm²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2377440" y="38313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 =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160520" y="3739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160520" y="4105656"/>
            <a:ext cx="1097280" cy="0"/>
          </a:xfrm>
          <a:prstGeom prst="line">
            <a:avLst/>
          </a:prstGeom>
          <a:noFill/>
          <a:ln w="21590">
            <a:solidFill>
              <a:srgbClr val="1C2A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0520" y="41422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600200" y="462686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the force exerted by the parcel on the table.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080760" y="5541264"/>
            <a:ext cx="3200400" cy="0"/>
          </a:xfrm>
          <a:prstGeom prst="line">
            <a:avLst/>
          </a:prstGeom>
          <a:noFill/>
          <a:ln w="12700">
            <a:solidFill>
              <a:srgbClr val="5C6B60"/>
            </a:solidFill>
            <a:prstDash val="dot"/>
          </a:ln>
        </p:spPr>
      </p:sp>
      <p:sp>
        <p:nvSpPr>
          <p:cNvPr id="52" name="Text 50"/>
          <p:cNvSpPr/>
          <p:nvPr/>
        </p:nvSpPr>
        <p:spPr>
          <a:xfrm>
            <a:off x="9372600" y="5340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newtons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397017" y="1435608"/>
            <a:ext cx="939766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msq/q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313" y="1517904"/>
            <a:ext cx="923307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measure links two quantities — ‘per’ means divided by.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= distance ÷ time;  density = mass ÷ volume;  pressure = force ÷ area.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formula triangle: cover what you want, the line means divide.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units BEFORE calculating (kg → g, minutes → hours, m → cm).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km/h → m/s: divide by 3.6.   m/s → km/h: multiply by 3.6.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triangle, fix the units, then divide or multiply — and answer in the unit asked for.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1516</Words>
  <Application>Microsoft Office PowerPoint</Application>
  <PresentationFormat>Custom</PresentationFormat>
  <Paragraphs>291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1</cp:revision>
  <dcterms:created xsi:type="dcterms:W3CDTF">2026-07-23T19:30:54Z</dcterms:created>
  <dcterms:modified xsi:type="dcterms:W3CDTF">2026-07-23T19:35:20Z</dcterms:modified>
</cp:coreProperties>
</file>