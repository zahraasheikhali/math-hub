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025AAAE-A20A-4C70-8E96-002E9E4D876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7ABE01-7D79-498C-AB07-8752F7DA03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CF32CE-F01F-4B97-A724-E15B5D0031B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900D91-1C07-4C3F-B61B-58FC5F7A335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59D64C-3AF9-41F9-BEE9-59A7C6D565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8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34273B-18D3-4AC4-86BA-AC8AD45CA1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8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5DA5EF-D2D1-43F3-8270-3C1A32C5C2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8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D01799-21C9-41B1-BB58-11E3C7A591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9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D61764-DB11-4E28-92AF-80C079D5DA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9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3483B0-3BCD-4F27-AAF1-959F27FEF0E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9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45C4ED-ED94-48DD-A32F-5584380441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0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AD53C5-EB7B-4631-98F2-B8DB9F1383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0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2A88E7-DC23-4ED8-92CE-AA5C218064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0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939930-6BEB-464C-BA9A-20B9BE96BC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0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B0A6AE-C6F6-439B-956E-9C1A685F9C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1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3003F-9918-4C01-A66A-C895A31FB9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1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397C41-C72C-4BD0-B66F-6478585F820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1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FAD39C-F37E-4301-B723-61E9F3404D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2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E0CFA6-D217-48D9-B424-663DA972FE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2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793EF6-8E46-45E8-89CD-64D7D353F6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2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9C8826-3067-4853-8D64-2681D65BF7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412480" y="960120"/>
            <a:ext cx="3291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6000" spc="-1" strike="noStrike">
                <a:solidFill>
                  <a:srgbClr val="33463a"/>
                </a:solidFill>
                <a:latin typeface="Cambria"/>
                <a:ea typeface="Cambria"/>
              </a:rPr>
              <a:t>3 : 5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0ac2b"/>
                </a:solidFill>
                <a:latin typeface="Cambria"/>
                <a:ea typeface="Cambria"/>
              </a:rPr>
              <a:t>Ratio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Reading a Ratio · Simplifying · Finding a Quantity · Sharing · Difference &amp; Combining Ratios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Reading, Sharing &amp; Combining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ratio splits an amount into equal PARTS.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Read it as parts of a total, find the value of one part, then scale up — and know when to use the difference or combine two ratios.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Reading a ratio (3 out of 8)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Simplifying ratios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Find a missing quantity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Sharing a total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Difference &amp; sum ratios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Combining two ratios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parts · share · simplify · total · difference · combine · one part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Reading a Ratio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The ratio of girls to boys is 3 : 5.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Add the parts: 3 + 5 = 8. So the group is split into 8 equal parts.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1463040" y="2468880"/>
            <a:ext cx="1154160" cy="822600"/>
          </a:xfrm>
          <a:prstGeom prst="rect">
            <a:avLst/>
          </a:prstGeom>
          <a:solidFill>
            <a:srgbClr val="e0ac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146304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3"/>
          <p:cNvSpPr/>
          <p:nvPr/>
        </p:nvSpPr>
        <p:spPr>
          <a:xfrm>
            <a:off x="2617560" y="2468880"/>
            <a:ext cx="1154160" cy="822600"/>
          </a:xfrm>
          <a:prstGeom prst="rect">
            <a:avLst/>
          </a:prstGeom>
          <a:solidFill>
            <a:srgbClr val="e0ac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4"/>
          <p:cNvSpPr/>
          <p:nvPr/>
        </p:nvSpPr>
        <p:spPr>
          <a:xfrm>
            <a:off x="261756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5"/>
          <p:cNvSpPr/>
          <p:nvPr/>
        </p:nvSpPr>
        <p:spPr>
          <a:xfrm>
            <a:off x="3772080" y="2468880"/>
            <a:ext cx="1154160" cy="822600"/>
          </a:xfrm>
          <a:prstGeom prst="rect">
            <a:avLst/>
          </a:prstGeom>
          <a:solidFill>
            <a:srgbClr val="e0ac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377208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4926240" y="2468880"/>
            <a:ext cx="1154160" cy="822600"/>
          </a:xfrm>
          <a:prstGeom prst="rect">
            <a:avLst/>
          </a:prstGeom>
          <a:solidFill>
            <a:srgbClr val="c84f2f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492624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9"/>
          <p:cNvSpPr/>
          <p:nvPr/>
        </p:nvSpPr>
        <p:spPr>
          <a:xfrm>
            <a:off x="6080760" y="2468880"/>
            <a:ext cx="1154160" cy="822600"/>
          </a:xfrm>
          <a:prstGeom prst="rect">
            <a:avLst/>
          </a:prstGeom>
          <a:solidFill>
            <a:srgbClr val="c84f2f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50"/>
          <p:cNvSpPr/>
          <p:nvPr/>
        </p:nvSpPr>
        <p:spPr>
          <a:xfrm>
            <a:off x="608076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1"/>
          <p:cNvSpPr/>
          <p:nvPr/>
        </p:nvSpPr>
        <p:spPr>
          <a:xfrm>
            <a:off x="7235280" y="2468880"/>
            <a:ext cx="1154160" cy="822600"/>
          </a:xfrm>
          <a:prstGeom prst="rect">
            <a:avLst/>
          </a:prstGeom>
          <a:solidFill>
            <a:srgbClr val="c84f2f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52"/>
          <p:cNvSpPr/>
          <p:nvPr/>
        </p:nvSpPr>
        <p:spPr>
          <a:xfrm>
            <a:off x="723528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3"/>
          <p:cNvSpPr/>
          <p:nvPr/>
        </p:nvSpPr>
        <p:spPr>
          <a:xfrm>
            <a:off x="8389800" y="2468880"/>
            <a:ext cx="1154160" cy="822600"/>
          </a:xfrm>
          <a:prstGeom prst="rect">
            <a:avLst/>
          </a:prstGeom>
          <a:solidFill>
            <a:srgbClr val="c84f2f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54"/>
          <p:cNvSpPr/>
          <p:nvPr/>
        </p:nvSpPr>
        <p:spPr>
          <a:xfrm>
            <a:off x="838980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5"/>
          <p:cNvSpPr/>
          <p:nvPr/>
        </p:nvSpPr>
        <p:spPr>
          <a:xfrm>
            <a:off x="9543960" y="2468880"/>
            <a:ext cx="1154160" cy="822600"/>
          </a:xfrm>
          <a:prstGeom prst="rect">
            <a:avLst/>
          </a:prstGeom>
          <a:solidFill>
            <a:srgbClr val="c84f2f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56"/>
          <p:cNvSpPr/>
          <p:nvPr/>
        </p:nvSpPr>
        <p:spPr>
          <a:xfrm>
            <a:off x="9543960" y="2468880"/>
            <a:ext cx="1154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7"/>
          <p:cNvSpPr/>
          <p:nvPr/>
        </p:nvSpPr>
        <p:spPr>
          <a:xfrm>
            <a:off x="1463040" y="3337560"/>
            <a:ext cx="346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3 girls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8"/>
          <p:cNvSpPr/>
          <p:nvPr/>
        </p:nvSpPr>
        <p:spPr>
          <a:xfrm>
            <a:off x="4926240" y="3337560"/>
            <a:ext cx="5771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5 boys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9"/>
          <p:cNvSpPr/>
          <p:nvPr/>
        </p:nvSpPr>
        <p:spPr>
          <a:xfrm>
            <a:off x="1463040" y="3794760"/>
            <a:ext cx="457164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0"/>
          <p:cNvSpPr/>
          <p:nvPr/>
        </p:nvSpPr>
        <p:spPr>
          <a:xfrm>
            <a:off x="1737360" y="3794760"/>
            <a:ext cx="4114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700" spc="-1" strike="noStrike">
                <a:solidFill>
                  <a:srgbClr val="000000"/>
                </a:solidFill>
                <a:latin typeface="Cambria"/>
                <a:ea typeface="Cambria"/>
              </a:rPr>
              <a:t>3 out of 8 are girls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5c6b60"/>
                </a:solidFill>
                <a:latin typeface="Cambria"/>
                <a:ea typeface="Cambria"/>
              </a:rPr>
              <a:t>= 3/8 of the group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61"/>
          <p:cNvSpPr/>
          <p:nvPr/>
        </p:nvSpPr>
        <p:spPr>
          <a:xfrm>
            <a:off x="6144840" y="3794760"/>
            <a:ext cx="4571640" cy="1371240"/>
          </a:xfrm>
          <a:prstGeom prst="roundRect">
            <a:avLst>
              <a:gd name="adj" fmla="val 400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2"/>
          <p:cNvSpPr/>
          <p:nvPr/>
        </p:nvSpPr>
        <p:spPr>
          <a:xfrm>
            <a:off x="6419160" y="3794760"/>
            <a:ext cx="4114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700" spc="-1" strike="noStrike">
                <a:solidFill>
                  <a:srgbClr val="000000"/>
                </a:solidFill>
                <a:latin typeface="Cambria"/>
                <a:ea typeface="Cambria"/>
              </a:rPr>
              <a:t>5 out of 8 are boys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5c6b60"/>
                </a:solidFill>
                <a:latin typeface="Cambria"/>
                <a:ea typeface="Cambria"/>
              </a:rPr>
              <a:t>= 5/8 of the group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63"/>
          <p:cNvSpPr/>
          <p:nvPr/>
        </p:nvSpPr>
        <p:spPr>
          <a:xfrm>
            <a:off x="567000" y="53949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In a class of 32:  girls = 3/8 × 32 = 12,   boys = 5/8 × 32 = 20.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SIMPLIFYING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Simplify Like a Fraction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Watch out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Divide ALL parts by the SAME number.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Put both parts in the same units before simplifying.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£1 = 100p, 1 m = 100 cm, 1 kg = 1000 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 ratio in its simplest form has no common factor left.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Divide every part by the highest common factor.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21 : 35   (÷ 7)   =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3 :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6 : 12 : 9   (÷ 3)   =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2 : 4 : 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Different units first:  90p : £3 = 90 : 300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3 : 10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21 : 35 = 3 : 5     90p : £3 = 3 : 10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FINDING A QUANTITY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the Ratio and One Amount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Match the given amount to its number of parts.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Find the value of ONE part (divide).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Multiply to get the part you want.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Find one part first — it unlocks every other quantity.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Boys : girls = 6 : 7.  There are 72 boys.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One part:  72 ÷ 6 = 12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Girls = 7 parts = 7 × 12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84 girls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There are 84 girls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Sharing in a Given Ratio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Add the parts to get the total, find one part, then scale each share.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Add the parts to get the total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One part = amount ÷ total parts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Multiply for each person’s share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Check the shares add back to the amount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SHARING · WORKED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Simon &amp; Jenny Share £72 in 3 :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Total parts first, then the value of ONE part.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Multiply each ratio number by one part.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Check: £27 + £45 = £72.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The shares must add back to the original amount — a quick check.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Total parts = 3 + 5 = 8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One part = £72 ÷ 8 = £9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Simon = 3 × £9 = £27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Jenny = 5 × £9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£45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Simon £27,  Jenny £45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SHARING · THREE-WAY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Jack : Karim : Aisha = 3 : 5 :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Same 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Add all three parts for the total (17).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One part = $200 ÷ 17 ≈ $11.76.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Karim has 5 of those parts.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Jack = $35.29, Aisha = $105.88 — the three add back to $200.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They share $200 in the ratio 3 : 5 : 9.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Total parts = 3 + 5 + 9 = 17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One part = $200 ÷ 17 = $11.76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Karim = 5 parts = 5 × $11.76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$58.82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Karim receives $58.82  (to the nearest cent)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SHARING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Share in the Given Ratio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Add the parts, find one part, then scale each share.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41"/>
          <p:cNvSpPr/>
          <p:nvPr/>
        </p:nvSpPr>
        <p:spPr>
          <a:xfrm>
            <a:off x="567000" y="210312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42"/>
          <p:cNvSpPr/>
          <p:nvPr/>
        </p:nvSpPr>
        <p:spPr>
          <a:xfrm>
            <a:off x="749880" y="2240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43"/>
          <p:cNvSpPr/>
          <p:nvPr/>
        </p:nvSpPr>
        <p:spPr>
          <a:xfrm>
            <a:off x="749880" y="2240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44"/>
          <p:cNvSpPr/>
          <p:nvPr/>
        </p:nvSpPr>
        <p:spPr>
          <a:xfrm>
            <a:off x="1225440" y="210312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56 discs in 5 : 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45"/>
          <p:cNvSpPr/>
          <p:nvPr/>
        </p:nvSpPr>
        <p:spPr>
          <a:xfrm>
            <a:off x="4681800" y="210312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40 &amp; 16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46"/>
          <p:cNvSpPr/>
          <p:nvPr/>
        </p:nvSpPr>
        <p:spPr>
          <a:xfrm>
            <a:off x="567000" y="285300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47"/>
          <p:cNvSpPr/>
          <p:nvPr/>
        </p:nvSpPr>
        <p:spPr>
          <a:xfrm>
            <a:off x="749880" y="299016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48"/>
          <p:cNvSpPr/>
          <p:nvPr/>
        </p:nvSpPr>
        <p:spPr>
          <a:xfrm>
            <a:off x="749880" y="2990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49"/>
          <p:cNvSpPr/>
          <p:nvPr/>
        </p:nvSpPr>
        <p:spPr>
          <a:xfrm>
            <a:off x="1225440" y="285300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£40 in 2 : 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 50"/>
          <p:cNvSpPr/>
          <p:nvPr/>
        </p:nvSpPr>
        <p:spPr>
          <a:xfrm>
            <a:off x="4681800" y="285300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£16 &amp; £24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51"/>
          <p:cNvSpPr/>
          <p:nvPr/>
        </p:nvSpPr>
        <p:spPr>
          <a:xfrm>
            <a:off x="567000" y="360288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52"/>
          <p:cNvSpPr/>
          <p:nvPr/>
        </p:nvSpPr>
        <p:spPr>
          <a:xfrm>
            <a:off x="749880" y="37400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53"/>
          <p:cNvSpPr/>
          <p:nvPr/>
        </p:nvSpPr>
        <p:spPr>
          <a:xfrm>
            <a:off x="749880" y="3740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54"/>
          <p:cNvSpPr/>
          <p:nvPr/>
        </p:nvSpPr>
        <p:spPr>
          <a:xfrm>
            <a:off x="1225440" y="360288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750 ml juice 6 : 3 : 1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 55"/>
          <p:cNvSpPr/>
          <p:nvPr/>
        </p:nvSpPr>
        <p:spPr>
          <a:xfrm>
            <a:off x="4681800" y="360288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450:225:75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56"/>
          <p:cNvSpPr/>
          <p:nvPr/>
        </p:nvSpPr>
        <p:spPr>
          <a:xfrm>
            <a:off x="6217920" y="210312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57"/>
          <p:cNvSpPr/>
          <p:nvPr/>
        </p:nvSpPr>
        <p:spPr>
          <a:xfrm>
            <a:off x="6400800" y="2240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58"/>
          <p:cNvSpPr/>
          <p:nvPr/>
        </p:nvSpPr>
        <p:spPr>
          <a:xfrm>
            <a:off x="6400800" y="2240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59"/>
          <p:cNvSpPr/>
          <p:nvPr/>
        </p:nvSpPr>
        <p:spPr>
          <a:xfrm>
            <a:off x="6876360" y="210312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£150 in 2 : 3 : 5 (largest)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 60"/>
          <p:cNvSpPr/>
          <p:nvPr/>
        </p:nvSpPr>
        <p:spPr>
          <a:xfrm>
            <a:off x="10332720" y="210312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£75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61"/>
          <p:cNvSpPr/>
          <p:nvPr/>
        </p:nvSpPr>
        <p:spPr>
          <a:xfrm>
            <a:off x="6217920" y="285300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62"/>
          <p:cNvSpPr/>
          <p:nvPr/>
        </p:nvSpPr>
        <p:spPr>
          <a:xfrm>
            <a:off x="6400800" y="299016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63"/>
          <p:cNvSpPr/>
          <p:nvPr/>
        </p:nvSpPr>
        <p:spPr>
          <a:xfrm>
            <a:off x="6400800" y="2990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64"/>
          <p:cNvSpPr/>
          <p:nvPr/>
        </p:nvSpPr>
        <p:spPr>
          <a:xfrm>
            <a:off x="6876360" y="285300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£90 in 4 : 5 (smaller)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65"/>
          <p:cNvSpPr/>
          <p:nvPr/>
        </p:nvSpPr>
        <p:spPr>
          <a:xfrm>
            <a:off x="10332720" y="285300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£40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66"/>
          <p:cNvSpPr/>
          <p:nvPr/>
        </p:nvSpPr>
        <p:spPr>
          <a:xfrm>
            <a:off x="6217920" y="360288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67"/>
          <p:cNvSpPr/>
          <p:nvPr/>
        </p:nvSpPr>
        <p:spPr>
          <a:xfrm>
            <a:off x="6400800" y="37400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 68"/>
          <p:cNvSpPr/>
          <p:nvPr/>
        </p:nvSpPr>
        <p:spPr>
          <a:xfrm>
            <a:off x="6400800" y="3740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69"/>
          <p:cNvSpPr/>
          <p:nvPr/>
        </p:nvSpPr>
        <p:spPr>
          <a:xfrm>
            <a:off x="6876360" y="360288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120 in 1 : 2 : 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 70"/>
          <p:cNvSpPr/>
          <p:nvPr/>
        </p:nvSpPr>
        <p:spPr>
          <a:xfrm>
            <a:off x="10332720" y="360288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20 : 40 : 60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 71"/>
          <p:cNvSpPr/>
          <p:nvPr/>
        </p:nvSpPr>
        <p:spPr>
          <a:xfrm>
            <a:off x="567000" y="59893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Q3 cocktail: orange : lemon : lime = 6 : 3 : 1 in 750 ml (10 parts, 75 ml each).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3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Difference &amp; Combining Ratios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More than’ uses the DIFFERENCE in parts; two linked ratios can be joined into one.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difference’ / ‘more than’ → subtract the parts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One part = amount ÷ (difference in parts)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Two ratios: make the shared letter match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Then read off the combined three-part ratio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DIFFERENCE / MORE THAN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When the Question Says ‘More Than’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more than’ or ‘difference’ → use the DIFFERENCE in parts, not the total.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Here the difference is 4 parts = $40.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For a ‘sum’ or ‘total’ question, add the parts instead.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Match the given amount to the right number of parts — difference, sum or a single share.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Ann : Ben = 3 : 7.  Ben gets $40 MORE than Ann.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Difference in parts = 7 − 3 = 4 parts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4 parts = $40   →   one part = $10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Ann = 3 × $10 = $30,   Ben = 7 × $10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$70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Ann $30,  Ben $70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COMBINING TWO RATIOS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Make the Shared Quantity Match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Find the letter in BOTH ratios (women).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Scale so its number is the same in each.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Join into one ratio, then share as usual.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Source past-paper question — combine, then share 250 in 8 : 10 : 7.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men : women = 4 : 5,   women : children = 10 : 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Make WOMEN match:  4 : 5 = 8 : 10  (×2)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men : women : children = 8 : 10 : 7   (25 parts)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250 ÷ 25 = 10 per part  →  men = 8 × 10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80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There are 80 men on the train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COMBINING TWO RATIOS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Villas : Apartments : Shops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Scale the shared letter to a common value.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Here the known amount (shops) is just one part.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One part = 40, so villas = 10 parts.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When one quantity equals a single part, one part is simply that amount.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villas : apartments = 5 : 3,   apartments : shops = 6 :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Make APARTMENTS match (LCM 3, 6 = 6):  5 : 3 = 10 : 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villas : apartments : shops = 10 : 6 :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Shops = 1 part = 40  →  villas = 10 × 40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400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There are 400 villas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DIFFERENCE &amp; COMBINE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Mixed Practice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Decide: total, difference, or combine two ratios?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41"/>
          <p:cNvSpPr/>
          <p:nvPr/>
        </p:nvSpPr>
        <p:spPr>
          <a:xfrm>
            <a:off x="567000" y="210312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42"/>
          <p:cNvSpPr/>
          <p:nvPr/>
        </p:nvSpPr>
        <p:spPr>
          <a:xfrm>
            <a:off x="749880" y="2240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43"/>
          <p:cNvSpPr/>
          <p:nvPr/>
        </p:nvSpPr>
        <p:spPr>
          <a:xfrm>
            <a:off x="749880" y="2240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 44"/>
          <p:cNvSpPr/>
          <p:nvPr/>
        </p:nvSpPr>
        <p:spPr>
          <a:xfrm>
            <a:off x="1225440" y="210312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Red : blue = 5 : 2, 24 more 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 45"/>
          <p:cNvSpPr/>
          <p:nvPr/>
        </p:nvSpPr>
        <p:spPr>
          <a:xfrm>
            <a:off x="4681800" y="210312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40 &amp; 16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46"/>
          <p:cNvSpPr/>
          <p:nvPr/>
        </p:nvSpPr>
        <p:spPr>
          <a:xfrm>
            <a:off x="567000" y="285300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47"/>
          <p:cNvSpPr/>
          <p:nvPr/>
        </p:nvSpPr>
        <p:spPr>
          <a:xfrm>
            <a:off x="749880" y="299016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48"/>
          <p:cNvSpPr/>
          <p:nvPr/>
        </p:nvSpPr>
        <p:spPr>
          <a:xfrm>
            <a:off x="749880" y="2990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 49"/>
          <p:cNvSpPr/>
          <p:nvPr/>
        </p:nvSpPr>
        <p:spPr>
          <a:xfrm>
            <a:off x="1225440" y="285300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3 : 7, one gets £40 more — total?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 50"/>
          <p:cNvSpPr/>
          <p:nvPr/>
        </p:nvSpPr>
        <p:spPr>
          <a:xfrm>
            <a:off x="4681800" y="285300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£100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51"/>
          <p:cNvSpPr/>
          <p:nvPr/>
        </p:nvSpPr>
        <p:spPr>
          <a:xfrm>
            <a:off x="567000" y="360288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52"/>
          <p:cNvSpPr/>
          <p:nvPr/>
        </p:nvSpPr>
        <p:spPr>
          <a:xfrm>
            <a:off x="749880" y="37400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 53"/>
          <p:cNvSpPr/>
          <p:nvPr/>
        </p:nvSpPr>
        <p:spPr>
          <a:xfrm>
            <a:off x="749880" y="3740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Text 54"/>
          <p:cNvSpPr/>
          <p:nvPr/>
        </p:nvSpPr>
        <p:spPr>
          <a:xfrm>
            <a:off x="1225440" y="360288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A:B = 2:3, B:C = 4:5. A:B:C?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 55"/>
          <p:cNvSpPr/>
          <p:nvPr/>
        </p:nvSpPr>
        <p:spPr>
          <a:xfrm>
            <a:off x="4681800" y="360288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8 : 12 : 15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56"/>
          <p:cNvSpPr/>
          <p:nvPr/>
        </p:nvSpPr>
        <p:spPr>
          <a:xfrm>
            <a:off x="6217920" y="210312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57"/>
          <p:cNvSpPr/>
          <p:nvPr/>
        </p:nvSpPr>
        <p:spPr>
          <a:xfrm>
            <a:off x="6400800" y="2240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58"/>
          <p:cNvSpPr/>
          <p:nvPr/>
        </p:nvSpPr>
        <p:spPr>
          <a:xfrm>
            <a:off x="6400800" y="2240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 59"/>
          <p:cNvSpPr/>
          <p:nvPr/>
        </p:nvSpPr>
        <p:spPr>
          <a:xfrm>
            <a:off x="6876360" y="210312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p:q = 3:4, q:r = 8:5. p:q:r?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 60"/>
          <p:cNvSpPr/>
          <p:nvPr/>
        </p:nvSpPr>
        <p:spPr>
          <a:xfrm>
            <a:off x="10332720" y="210312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6 : 8 : 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61"/>
          <p:cNvSpPr/>
          <p:nvPr/>
        </p:nvSpPr>
        <p:spPr>
          <a:xfrm>
            <a:off x="6217920" y="285300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62"/>
          <p:cNvSpPr/>
          <p:nvPr/>
        </p:nvSpPr>
        <p:spPr>
          <a:xfrm>
            <a:off x="6400800" y="299016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63"/>
          <p:cNvSpPr/>
          <p:nvPr/>
        </p:nvSpPr>
        <p:spPr>
          <a:xfrm>
            <a:off x="6400800" y="2990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Text 64"/>
          <p:cNvSpPr/>
          <p:nvPr/>
        </p:nvSpPr>
        <p:spPr>
          <a:xfrm>
            <a:off x="6876360" y="285300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x:y = 2:1, y:z = 3:4. x:y:z?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 65"/>
          <p:cNvSpPr/>
          <p:nvPr/>
        </p:nvSpPr>
        <p:spPr>
          <a:xfrm>
            <a:off x="10332720" y="285300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6 : 3 : 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66"/>
          <p:cNvSpPr/>
          <p:nvPr/>
        </p:nvSpPr>
        <p:spPr>
          <a:xfrm>
            <a:off x="6217920" y="3602880"/>
            <a:ext cx="5394600" cy="639720"/>
          </a:xfrm>
          <a:prstGeom prst="roundRect">
            <a:avLst>
              <a:gd name="adj" fmla="val 85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67"/>
          <p:cNvSpPr/>
          <p:nvPr/>
        </p:nvSpPr>
        <p:spPr>
          <a:xfrm>
            <a:off x="6400800" y="37400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 68"/>
          <p:cNvSpPr/>
          <p:nvPr/>
        </p:nvSpPr>
        <p:spPr>
          <a:xfrm>
            <a:off x="6400800" y="3740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 69"/>
          <p:cNvSpPr/>
          <p:nvPr/>
        </p:nvSpPr>
        <p:spPr>
          <a:xfrm>
            <a:off x="6876360" y="360288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Share £200 in 3:5:9 (Karim)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ext 70"/>
          <p:cNvSpPr/>
          <p:nvPr/>
        </p:nvSpPr>
        <p:spPr>
          <a:xfrm>
            <a:off x="10332720" y="3602880"/>
            <a:ext cx="123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£58.82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Text 71"/>
          <p:cNvSpPr/>
          <p:nvPr/>
        </p:nvSpPr>
        <p:spPr>
          <a:xfrm>
            <a:off x="567000" y="59893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Q3–Q5: make the shared letter equal in both ratios, then combine into 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4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Original past-paper questions — read carefully, then use the one-part method.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Simplify or share?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the value of ONE part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Difference / total / combine?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Show clear working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 of 4)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Sharing &amp; Difference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Brendon, Asha and Julie share money in the ratio 3 : 2 : 6. The total that Asha and Julie receive is $36. Work out how much Brendon receives.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$13.50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3450 yen is divided in the ratio 2 : 6 : 7. Work out the difference between the largest share and the smallest share.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1150 yen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Anna and Lionel share $675 in the ratio 4 : 5. Lionel gives 1/3 of his share to his mother. How much money does Lionel give her?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$125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9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(2 of 4)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Difference &amp; ‘More Than’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3 years ago the ratio of Tom’s age to Clemmie’s age was 2 : 7. Tom is now 15 and Clemmie is now x years old. Find the value of x.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x = 45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Andreas, Isla and Paulo share money in the ratio 3 : 2 : 5. Isla and Paulo together receive £76 more than Andreas. Andreas buys a game for £48.50. How much of his share is left?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7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£8.50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Penny, Amjit and James share money in the ratio 3 : 6 : 4. Amjit gets $28 more than James. Work out the amount of money that Penny gets.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$42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" dur="indefinite" restart="never" nodeType="tmRoot">
          <p:childTnLst>
            <p:seq>
              <p:cTn id="19" dur="indefinite" nodeType="mainSeq">
                <p:childTnLst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" dur="5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" dur="500"/>
                                        <p:tgtEl>
                                          <p:spTgt spid="9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" dur="500"/>
                                        <p:tgtEl>
                                          <p:spTgt spid="1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(3 of 4)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Sharing, Difference &amp; Fractions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Aiko, Max and Pau share 5400 yen in the ratio 5 : 3 : 4. How much money does each of them get?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2250 : 1350 : 1800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Danil, Gabriel and Hadley share money in the ratio 3 : 5 : 9. The difference between Gabriel’s and Hadley’s amounts is 196 euros. Work out how much Danil receives.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147 euros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9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120 children go on a holiday. girls : boys = 3 : 5. All go sailing or climbing. 2/5 of the boys go climbing. Twice as many girls go sailing as go climbing. How many children go sailing?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75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5" dur="indefinite" restart="never" nodeType="tmRoot">
          <p:childTnLst>
            <p:seq>
              <p:cTn id="36" dur="indefinite" nodeType="mainSeq">
                <p:childTnLst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" dur="5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" dur="500"/>
                                        <p:tgtEl>
                                          <p:spTgt spid="1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" dur="500"/>
                                        <p:tgtEl>
                                          <p:spTgt spid="1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(4 of 4)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Fractions &amp; Combining Ratios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Behnaz makes 300 cards, birthday : anniversary : congratulations = 7 : 5 : 3. 5/7 of the birthday cards have numbers, 36% of the anniversary cards have numbers, none of the congratulations cards do. What fraction of the 300 cards have numbers? (simplest form)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34/75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8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In a company Team A : Team B = 3 : 4. 4/5 of Team A work full time and 24% of Team B work full time. What fraction of all the workers work full time? (simplest form)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12/25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box has only green, orange and yellow sweets, 280 in total. green : orange = 2 : 3 and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orange : yellow = 1 : 5. Work out how many green sweets there are.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mbria"/>
                <a:ea typeface="Cambria"/>
              </a:rPr>
              <a:t>28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2" dur="indefinite" restart="never" nodeType="tmRoot">
          <p:childTnLst>
            <p:seq>
              <p:cTn id="53" dur="indefinite" nodeType="mainSeq">
                <p:childTnLst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" dur="500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" dur="500"/>
                                        <p:tgtEl>
                                          <p:spTgt spid="1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" dur="500"/>
                                        <p:tgtEl>
                                          <p:spTgt spid="1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Read a ratio as parts of a total: 3 : 5 means 3 out of 8 and 5 out of 8.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Simplify by dividing every part by the HCF (same units first).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Find the value of ONE part, then multiply for any share.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More than’ / ‘difference’ → use the DIFFERENCE in parts, not the total.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Combine two ratios by making the shared quantity match, then share as one.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find the value of ONE part — it unlocks the whole question.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2152</Words>
  <Paragraphs>336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2026-07-11T10:37:40Z</dcterms:created>
  <dc:creator>Zahra Sheikh Ali</dc:creator>
  <dc:description/>
  <dc:language>en-US</dc:language>
  <cp:lastModifiedBy>zahraa sheik ali</cp:lastModifiedBy>
  <dcterms:modified xsi:type="dcterms:W3CDTF">2026-07-20T12:04:52Z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20</vt:r8>
  </property>
  <property fmtid="{D5CDD505-2E9C-101B-9397-08002B2CF9AE}" pid="3" name="PresentationFormat">
    <vt:lpwstr>Custom</vt:lpwstr>
  </property>
  <property fmtid="{D5CDD505-2E9C-101B-9397-08002B2CF9AE}" pid="4" name="Slides">
    <vt:r8>20</vt:r8>
  </property>
</Properties>
</file>