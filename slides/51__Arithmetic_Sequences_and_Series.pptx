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73D43D1-2847-4DC4-A2B0-FB1FA01CB74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C0D017-EE35-4DCB-8DD5-D1BD3EF1C26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0007B5-E1B0-4C1B-A13E-4BC0F661EC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966E99-9B99-4AAF-9491-5572A924366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A0B886-8CFD-4877-96DE-7B6331ED94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64FA44-63CE-436E-A703-2268D75F39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E4A547-3788-4C1C-928C-1E03F3A0DB3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382E9C-4B2C-4F64-822A-C8E1B77536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E95231-3802-4E63-A439-47F31E3BA6D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089A49-8568-4DF4-807D-0234518B425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28AF19-7A69-414E-A33C-E927D5D59D6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CA8008-1DA0-4070-9D3D-E39F2E066D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1EBD39-690B-448A-B90C-8E7C48A91DF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A3C894-011B-411C-8112-BA78043421E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111C37-9C5E-4FD3-9DE6-ABE35532EA6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B2E26B-E742-4C03-BF0B-EC7734EF387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88AA8B-6CBB-4F95-B254-89E47CC4B22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D3DD3F-079F-44D9-A4A7-E2EC72D3DF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F1E029-6987-4D6C-836F-504AB11B2B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96F29B-8B0F-47C5-832D-10E87DEF5AA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F605D9-352D-454E-BDA2-A41D2D927E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538010-DEB0-479A-B867-835F69EF46C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9326880" y="868680"/>
            <a:ext cx="20113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0" spc="-1" strike="noStrike">
                <a:solidFill>
                  <a:srgbClr val="33463a"/>
                </a:solidFill>
                <a:latin typeface="Cambria"/>
                <a:ea typeface="Cambria"/>
              </a:rPr>
              <a:t>Σ</a:t>
            </a:r>
            <a:endParaRPr b="0" lang="en-US" sz="7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e0ac2b"/>
                </a:solidFill>
                <a:latin typeface="Cambria"/>
                <a:ea typeface="Cambria"/>
              </a:rPr>
              <a:t>Arithmetic Series: Sum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The Sum Formula · nth Term · Number of Terms · Finding a and d · Summation Notation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Adding Up an Arithmetic Sequence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 SERIES is what you get when you ADD the terms of a sequence.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For an arithmetic sequence there is a neat formula, so you never add hundreds of terms by hand.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The two key formulas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nth term = a + (n−1)d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Sum of n terms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Number of terms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Finding a and 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series · sum · first term a · common difference d · Sn · nth term · summation Σ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FORMULAS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Learn These Two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9"/>
          <p:cNvSpPr/>
          <p:nvPr/>
        </p:nvSpPr>
        <p:spPr>
          <a:xfrm>
            <a:off x="567000" y="1298520"/>
            <a:ext cx="11063880" cy="621360"/>
          </a:xfrm>
          <a:prstGeom prst="roundRect">
            <a:avLst>
              <a:gd name="adj" fmla="val 8824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40"/>
          <p:cNvSpPr/>
          <p:nvPr/>
        </p:nvSpPr>
        <p:spPr>
          <a:xfrm>
            <a:off x="887040" y="1298520"/>
            <a:ext cx="10423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a = first term,  d = common difference,  n = number of terms,  l = last term.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41"/>
          <p:cNvSpPr/>
          <p:nvPr/>
        </p:nvSpPr>
        <p:spPr>
          <a:xfrm>
            <a:off x="567000" y="2148840"/>
            <a:ext cx="5440320" cy="3291480"/>
          </a:xfrm>
          <a:prstGeom prst="roundRect">
            <a:avLst>
              <a:gd name="adj" fmla="val 166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42"/>
          <p:cNvSpPr/>
          <p:nvPr/>
        </p:nvSpPr>
        <p:spPr>
          <a:xfrm>
            <a:off x="932760" y="23864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nth term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43"/>
          <p:cNvSpPr/>
          <p:nvPr/>
        </p:nvSpPr>
        <p:spPr>
          <a:xfrm>
            <a:off x="914400" y="306324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a</a:t>
            </a:r>
            <a:r>
              <a:rPr b="1" lang="en-US" sz="2100" spc="-1" strike="noStrike" baseline="-40000">
                <a:solidFill>
                  <a:srgbClr val="c84f2f"/>
                </a:solidFill>
                <a:latin typeface="Cambria"/>
                <a:ea typeface="Cambria"/>
              </a:rPr>
              <a:t>n</a:t>
            </a: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  =  a + (n − 1) d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44"/>
          <p:cNvSpPr/>
          <p:nvPr/>
        </p:nvSpPr>
        <p:spPr>
          <a:xfrm>
            <a:off x="914400" y="393192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The value of the term in position 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45"/>
          <p:cNvSpPr/>
          <p:nvPr/>
        </p:nvSpPr>
        <p:spPr>
          <a:xfrm>
            <a:off x="914400" y="4480560"/>
            <a:ext cx="4937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e.g. a = 7, d = 3:  a</a:t>
            </a:r>
            <a:r>
              <a:rPr b="0" lang="en-US" sz="1350" spc="-1" strike="noStrike" baseline="-40000">
                <a:solidFill>
                  <a:srgbClr val="1c2a22"/>
                </a:solidFill>
                <a:latin typeface="Cambria"/>
                <a:ea typeface="Cambria"/>
              </a:rPr>
              <a:t>10</a:t>
            </a:r>
            <a:r>
              <a:rPr b="0" lang="en-US" sz="1350" spc="-1" strike="noStrike">
                <a:solidFill>
                  <a:srgbClr val="1c2a22"/>
                </a:solidFill>
                <a:latin typeface="Cambria"/>
                <a:ea typeface="Cambria"/>
              </a:rPr>
              <a:t> = 7 + 9×3 = 34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46"/>
          <p:cNvSpPr/>
          <p:nvPr/>
        </p:nvSpPr>
        <p:spPr>
          <a:xfrm>
            <a:off x="6190560" y="2148840"/>
            <a:ext cx="5440320" cy="3291480"/>
          </a:xfrm>
          <a:prstGeom prst="roundRect">
            <a:avLst>
              <a:gd name="adj" fmla="val 166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47"/>
          <p:cNvSpPr/>
          <p:nvPr/>
        </p:nvSpPr>
        <p:spPr>
          <a:xfrm>
            <a:off x="6556320" y="23864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Sum of the first n terms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48"/>
          <p:cNvSpPr/>
          <p:nvPr/>
        </p:nvSpPr>
        <p:spPr>
          <a:xfrm>
            <a:off x="6537960" y="3063240"/>
            <a:ext cx="456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49"/>
          <p:cNvSpPr/>
          <p:nvPr/>
        </p:nvSpPr>
        <p:spPr>
          <a:xfrm>
            <a:off x="6858000" y="3291840"/>
            <a:ext cx="273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50"/>
          <p:cNvSpPr/>
          <p:nvPr/>
        </p:nvSpPr>
        <p:spPr>
          <a:xfrm>
            <a:off x="7178040" y="3063240"/>
            <a:ext cx="365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c84f2f"/>
                </a:solidFill>
                <a:latin typeface="Cambria"/>
                <a:ea typeface="Cambria"/>
              </a:rPr>
              <a:t>=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51"/>
          <p:cNvSpPr/>
          <p:nvPr/>
        </p:nvSpPr>
        <p:spPr>
          <a:xfrm>
            <a:off x="7680960" y="30906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52"/>
          <p:cNvSpPr/>
          <p:nvPr/>
        </p:nvSpPr>
        <p:spPr>
          <a:xfrm>
            <a:off x="7680960" y="3383280"/>
            <a:ext cx="548640" cy="360"/>
          </a:xfrm>
          <a:prstGeom prst="line">
            <a:avLst/>
          </a:prstGeom>
          <a:ln w="20320">
            <a:solidFill>
              <a:srgbClr val="c84f2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53"/>
          <p:cNvSpPr/>
          <p:nvPr/>
        </p:nvSpPr>
        <p:spPr>
          <a:xfrm>
            <a:off x="7680960" y="34200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c84f2f"/>
                </a:solidFill>
                <a:latin typeface="Cambria"/>
                <a:ea typeface="Cambria"/>
              </a:rPr>
              <a:t>2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54"/>
          <p:cNvSpPr/>
          <p:nvPr/>
        </p:nvSpPr>
        <p:spPr>
          <a:xfrm>
            <a:off x="8321040" y="306324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c84f2f"/>
                </a:solidFill>
                <a:latin typeface="Cambria"/>
                <a:ea typeface="Cambria"/>
              </a:rPr>
              <a:t>[ 2a + (n − 1) d ]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55"/>
          <p:cNvSpPr/>
          <p:nvPr/>
        </p:nvSpPr>
        <p:spPr>
          <a:xfrm>
            <a:off x="6537960" y="4160520"/>
            <a:ext cx="137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or   S</a:t>
            </a:r>
            <a:r>
              <a:rPr b="0" lang="en-US" sz="1500" spc="-1" strike="noStrike" baseline="-40000">
                <a:solidFill>
                  <a:srgbClr val="1c2a22"/>
                </a:solidFill>
                <a:latin typeface="Cambria"/>
                <a:ea typeface="Cambria"/>
              </a:rPr>
              <a:t>n</a:t>
            </a:r>
            <a:r>
              <a:rPr b="0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 = 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56"/>
          <p:cNvSpPr/>
          <p:nvPr/>
        </p:nvSpPr>
        <p:spPr>
          <a:xfrm>
            <a:off x="7543800" y="41421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57"/>
          <p:cNvSpPr/>
          <p:nvPr/>
        </p:nvSpPr>
        <p:spPr>
          <a:xfrm>
            <a:off x="7543800" y="4434840"/>
            <a:ext cx="548640" cy="360"/>
          </a:xfrm>
          <a:prstGeom prst="line">
            <a:avLst/>
          </a:prstGeom>
          <a:ln w="2032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58"/>
          <p:cNvSpPr/>
          <p:nvPr/>
        </p:nvSpPr>
        <p:spPr>
          <a:xfrm>
            <a:off x="7543800" y="44715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59"/>
          <p:cNvSpPr/>
          <p:nvPr/>
        </p:nvSpPr>
        <p:spPr>
          <a:xfrm>
            <a:off x="8138160" y="416052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c2a22"/>
                </a:solidFill>
                <a:latin typeface="Cambria"/>
                <a:ea typeface="Cambria"/>
              </a:rPr>
              <a:t>( a + l )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60"/>
          <p:cNvSpPr/>
          <p:nvPr/>
        </p:nvSpPr>
        <p:spPr>
          <a:xfrm>
            <a:off x="6537960" y="489204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(use a + l when you know the LAST term l)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61"/>
          <p:cNvSpPr/>
          <p:nvPr/>
        </p:nvSpPr>
        <p:spPr>
          <a:xfrm>
            <a:off x="567000" y="5577840"/>
            <a:ext cx="11063880" cy="77688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62"/>
          <p:cNvSpPr/>
          <p:nvPr/>
        </p:nvSpPr>
        <p:spPr>
          <a:xfrm>
            <a:off x="841320" y="557784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nth term: a + (n−1)d.   Sum: n/2 [2a + (n−1)d]  =  n/2 (first + last).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WORKED EXAMPLE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Sum of the First 100 Terms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Write down a, d and 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Substitute into Sn = n/2[2a + (n−1)d].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Work out the bracket first, then multiply.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Double-check n is the number of terms.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If you know the last term, n/2 (first + last) is quicker.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Series 7, 10, 13, 16, 19, …   so a = 7, d = 3, n = 100.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S₁₀₀ = (100/2) [ 2(7) + (100 − 1)(3) ]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= 50 [ 14 + 297 ] = 50 × 311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= </a:t>
            </a:r>
            <a:r>
              <a:rPr b="1" lang="en-US" sz="1400" spc="-1" strike="noStrike">
                <a:solidFill>
                  <a:srgbClr val="c84f2f"/>
                </a:solidFill>
                <a:latin typeface="Calibri"/>
                <a:ea typeface="Calibri"/>
              </a:rPr>
              <a:t>15 550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S₁₀₀ = 15 550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NUMBER OF TERMS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How Many Terms Are There?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Before summing, you often need n.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Use the last term with aₙ = a + (n − 1)d and solve for n.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41"/>
          <p:cNvSpPr/>
          <p:nvPr/>
        </p:nvSpPr>
        <p:spPr>
          <a:xfrm>
            <a:off x="567000" y="2286000"/>
            <a:ext cx="5440320" cy="3108600"/>
          </a:xfrm>
          <a:prstGeom prst="roundRect">
            <a:avLst>
              <a:gd name="adj" fmla="val 1765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42"/>
          <p:cNvSpPr/>
          <p:nvPr/>
        </p:nvSpPr>
        <p:spPr>
          <a:xfrm>
            <a:off x="93276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Example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43"/>
          <p:cNvSpPr/>
          <p:nvPr/>
        </p:nvSpPr>
        <p:spPr>
          <a:xfrm>
            <a:off x="914400" y="3017520"/>
            <a:ext cx="47545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How many terms in 5, 8, 11, …, 92?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a = 5, d = 3, last term = 92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92 = 5 + (n − 1)(3)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87 = 3(n − 1)  →  n − 1 = 29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n = </a:t>
            </a: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30 terms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44"/>
          <p:cNvSpPr/>
          <p:nvPr/>
        </p:nvSpPr>
        <p:spPr>
          <a:xfrm>
            <a:off x="6190560" y="2286000"/>
            <a:ext cx="5440320" cy="3108600"/>
          </a:xfrm>
          <a:prstGeom prst="roundRect">
            <a:avLst>
              <a:gd name="adj" fmla="val 1765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45"/>
          <p:cNvSpPr/>
          <p:nvPr/>
        </p:nvSpPr>
        <p:spPr>
          <a:xfrm>
            <a:off x="6556320" y="252360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Then find the sum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46"/>
          <p:cNvSpPr/>
          <p:nvPr/>
        </p:nvSpPr>
        <p:spPr>
          <a:xfrm>
            <a:off x="6537960" y="3017520"/>
            <a:ext cx="475452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Now use n = 30: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S₃₀ = (30/2)(5 + 92)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= 15 × 97 = </a:t>
            </a: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1455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mbria"/>
                <a:ea typeface="Cambria"/>
              </a:rPr>
              <a:t>(using n/2 (first + last), since we know both ends)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Shape 47"/>
          <p:cNvSpPr/>
          <p:nvPr/>
        </p:nvSpPr>
        <p:spPr>
          <a:xfrm>
            <a:off x="567000" y="5532120"/>
            <a:ext cx="11063880" cy="77688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48"/>
          <p:cNvSpPr/>
          <p:nvPr/>
        </p:nvSpPr>
        <p:spPr>
          <a:xfrm>
            <a:off x="841320" y="553212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Find n from the last term, THEN put it into the sum formula.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FINDING a AND 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Two Facts → Two Equations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39"/>
          <p:cNvSpPr/>
          <p:nvPr/>
        </p:nvSpPr>
        <p:spPr>
          <a:xfrm>
            <a:off x="567000" y="1554480"/>
            <a:ext cx="6126120" cy="324576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40"/>
          <p:cNvSpPr/>
          <p:nvPr/>
        </p:nvSpPr>
        <p:spPr>
          <a:xfrm>
            <a:off x="6903720" y="1554480"/>
            <a:ext cx="4727160" cy="324576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41"/>
          <p:cNvSpPr/>
          <p:nvPr/>
        </p:nvSpPr>
        <p:spPr>
          <a:xfrm>
            <a:off x="7178040" y="175572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Method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42"/>
          <p:cNvSpPr/>
          <p:nvPr/>
        </p:nvSpPr>
        <p:spPr>
          <a:xfrm>
            <a:off x="7223760" y="2240280"/>
            <a:ext cx="4205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Turn each fact into an equation in a and 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Use aₙ = a + (n−1)d for a term.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Use Sn = n/2[2a + (n−1)d] for a sum.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1c2a22"/>
                </a:solidFill>
                <a:latin typeface="Calibri"/>
                <a:ea typeface="Calibri"/>
              </a:rPr>
              <a:t>Solve the two equations together.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43"/>
          <p:cNvSpPr/>
          <p:nvPr/>
        </p:nvSpPr>
        <p:spPr>
          <a:xfrm>
            <a:off x="567000" y="632772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This is the most common harder exam question — always form two equations.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44"/>
          <p:cNvSpPr/>
          <p:nvPr/>
        </p:nvSpPr>
        <p:spPr>
          <a:xfrm>
            <a:off x="868680" y="184716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45"/>
          <p:cNvSpPr/>
          <p:nvPr/>
        </p:nvSpPr>
        <p:spPr>
          <a:xfrm>
            <a:off x="868680" y="18471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46"/>
          <p:cNvSpPr/>
          <p:nvPr/>
        </p:nvSpPr>
        <p:spPr>
          <a:xfrm>
            <a:off x="1362600" y="181044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Given: the 25th term is 44.5 and S₃₀ = 765.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47"/>
          <p:cNvSpPr/>
          <p:nvPr/>
        </p:nvSpPr>
        <p:spPr>
          <a:xfrm>
            <a:off x="868680" y="257868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48"/>
          <p:cNvSpPr/>
          <p:nvPr/>
        </p:nvSpPr>
        <p:spPr>
          <a:xfrm>
            <a:off x="868680" y="25786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49"/>
          <p:cNvSpPr/>
          <p:nvPr/>
        </p:nvSpPr>
        <p:spPr>
          <a:xfrm>
            <a:off x="1362600" y="254196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a₂₅:  a + 24d = 44.5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50"/>
          <p:cNvSpPr/>
          <p:nvPr/>
        </p:nvSpPr>
        <p:spPr>
          <a:xfrm>
            <a:off x="868680" y="331020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51"/>
          <p:cNvSpPr/>
          <p:nvPr/>
        </p:nvSpPr>
        <p:spPr>
          <a:xfrm>
            <a:off x="868680" y="33102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52"/>
          <p:cNvSpPr/>
          <p:nvPr/>
        </p:nvSpPr>
        <p:spPr>
          <a:xfrm>
            <a:off x="1362600" y="327348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S₃₀:  (30/2)[2a + 29d] = 765  →  2a + 29d = 51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53"/>
          <p:cNvSpPr/>
          <p:nvPr/>
        </p:nvSpPr>
        <p:spPr>
          <a:xfrm>
            <a:off x="868680" y="4041720"/>
            <a:ext cx="328680" cy="32868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54"/>
          <p:cNvSpPr/>
          <p:nvPr/>
        </p:nvSpPr>
        <p:spPr>
          <a:xfrm>
            <a:off x="868680" y="40417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55"/>
          <p:cNvSpPr/>
          <p:nvPr/>
        </p:nvSpPr>
        <p:spPr>
          <a:xfrm>
            <a:off x="1362600" y="4005000"/>
            <a:ext cx="54860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libri"/>
                <a:ea typeface="Calibri"/>
              </a:rPr>
              <a:t>Solve the pair simultaneously to find a and 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56"/>
          <p:cNvSpPr/>
          <p:nvPr/>
        </p:nvSpPr>
        <p:spPr>
          <a:xfrm>
            <a:off x="567000" y="5074920"/>
            <a:ext cx="11063880" cy="114264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57"/>
          <p:cNvSpPr/>
          <p:nvPr/>
        </p:nvSpPr>
        <p:spPr>
          <a:xfrm>
            <a:off x="841320" y="5074920"/>
            <a:ext cx="10515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A term gives one equation; a sum gives another — solve simultaneously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SUMMATION NOTATION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Σ Symbol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39"/>
          <p:cNvSpPr/>
          <p:nvPr/>
        </p:nvSpPr>
        <p:spPr>
          <a:xfrm>
            <a:off x="567000" y="1325880"/>
            <a:ext cx="1106388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Σ (sigma) means ‘add up’.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 numbers below and above tell you where to start and stop.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41"/>
          <p:cNvSpPr/>
          <p:nvPr/>
        </p:nvSpPr>
        <p:spPr>
          <a:xfrm>
            <a:off x="1097280" y="2651760"/>
            <a:ext cx="11883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400" spc="-1" strike="noStrike">
                <a:solidFill>
                  <a:srgbClr val="c84f2f"/>
                </a:solidFill>
                <a:latin typeface="Cambria"/>
                <a:ea typeface="Cambria"/>
              </a:rPr>
              <a:t>Σ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42"/>
          <p:cNvSpPr/>
          <p:nvPr/>
        </p:nvSpPr>
        <p:spPr>
          <a:xfrm>
            <a:off x="1005840" y="406908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n = 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43"/>
          <p:cNvSpPr/>
          <p:nvPr/>
        </p:nvSpPr>
        <p:spPr>
          <a:xfrm>
            <a:off x="1234440" y="23774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10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44"/>
          <p:cNvSpPr/>
          <p:nvPr/>
        </p:nvSpPr>
        <p:spPr>
          <a:xfrm>
            <a:off x="2377440" y="310896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c2a22"/>
                </a:solidFill>
                <a:latin typeface="Cambria"/>
                <a:ea typeface="Cambria"/>
              </a:rPr>
              <a:t>(3n + 1)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45"/>
          <p:cNvSpPr/>
          <p:nvPr/>
        </p:nvSpPr>
        <p:spPr>
          <a:xfrm>
            <a:off x="5120640" y="2377440"/>
            <a:ext cx="6510240" cy="320004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46"/>
          <p:cNvSpPr/>
          <p:nvPr/>
        </p:nvSpPr>
        <p:spPr>
          <a:xfrm>
            <a:off x="5486400" y="2615040"/>
            <a:ext cx="5778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How to read it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47"/>
          <p:cNvSpPr/>
          <p:nvPr/>
        </p:nvSpPr>
        <p:spPr>
          <a:xfrm>
            <a:off x="5440680" y="3108960"/>
            <a:ext cx="59432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‘</a:t>
            </a:r>
            <a:r>
              <a:rPr b="1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Add up 3n + 1 for n = 1 up to n = 10.’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• </a:t>
            </a: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Bottom (n = 1): where to start.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• </a:t>
            </a: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Top (10): where to stop.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• </a:t>
            </a:r>
            <a:r>
              <a:rPr b="0" lang="en-US" sz="1400" spc="-1" strike="noStrike">
                <a:solidFill>
                  <a:srgbClr val="1c2a22"/>
                </a:solidFill>
                <a:latin typeface="Cambria"/>
                <a:ea typeface="Cambria"/>
              </a:rPr>
              <a:t>The expression: the term rule.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mbria"/>
                <a:ea typeface="Cambria"/>
              </a:rPr>
              <a:t>It is an arithmetic series (a = 4, d = 3, n = 10) — use the sum formula.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48"/>
          <p:cNvSpPr/>
          <p:nvPr/>
        </p:nvSpPr>
        <p:spPr>
          <a:xfrm>
            <a:off x="567000" y="580644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Work out the first term and common difference, then apply Sn = n/2 [2a + (n − 1)d].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Turn each fact into an equation, then use the sum and nth-term formulas.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aₙ = a + (n − 1)d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Sn = n/2 [2a + (n − 1)d]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Two facts → two equations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Solve for a, d or 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39"/>
          <p:cNvSpPr/>
          <p:nvPr/>
        </p:nvSpPr>
        <p:spPr>
          <a:xfrm>
            <a:off x="1496520" y="1408320"/>
            <a:ext cx="9198360" cy="23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9" name="Image 0" descr="/tmp/work/sqq/q-18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218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39"/>
          <p:cNvSpPr/>
          <p:nvPr/>
        </p:nvSpPr>
        <p:spPr>
          <a:xfrm>
            <a:off x="1496520" y="1408320"/>
            <a:ext cx="9198360" cy="227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0" name="Image 0" descr="/tmp/work/sqq/q-25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2133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39"/>
          <p:cNvSpPr/>
          <p:nvPr/>
        </p:nvSpPr>
        <p:spPr>
          <a:xfrm>
            <a:off x="1496520" y="1408320"/>
            <a:ext cx="9198360" cy="290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1" name="Image 0" descr="/tmp/work/sqq/q-26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275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39"/>
          <p:cNvSpPr/>
          <p:nvPr/>
        </p:nvSpPr>
        <p:spPr>
          <a:xfrm>
            <a:off x="1496520" y="1408320"/>
            <a:ext cx="9198360" cy="97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2" name="Image 0" descr="/tmp/work/sqq/q-27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82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39"/>
          <p:cNvSpPr/>
          <p:nvPr/>
        </p:nvSpPr>
        <p:spPr>
          <a:xfrm>
            <a:off x="1496520" y="1408320"/>
            <a:ext cx="9198360" cy="143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3" name="Image 0" descr="/tmp/work/sqq/q-28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12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39"/>
          <p:cNvSpPr/>
          <p:nvPr/>
        </p:nvSpPr>
        <p:spPr>
          <a:xfrm>
            <a:off x="1496520" y="1408320"/>
            <a:ext cx="9198360" cy="208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4" name="Image 0" descr="/tmp/work/sqq/q-29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193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39"/>
          <p:cNvSpPr/>
          <p:nvPr/>
        </p:nvSpPr>
        <p:spPr>
          <a:xfrm>
            <a:off x="1496520" y="1408320"/>
            <a:ext cx="9198360" cy="214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5" name="Image 0" descr="/tmp/work/sqq/q-30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1997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8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39"/>
          <p:cNvSpPr/>
          <p:nvPr/>
        </p:nvSpPr>
        <p:spPr>
          <a:xfrm>
            <a:off x="1496520" y="1408320"/>
            <a:ext cx="9198360" cy="264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6" name="Image 0" descr="/tmp/work/sqq/q-31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249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9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39"/>
          <p:cNvSpPr/>
          <p:nvPr/>
        </p:nvSpPr>
        <p:spPr>
          <a:xfrm>
            <a:off x="1496520" y="1408320"/>
            <a:ext cx="9198360" cy="3396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7" name="Image 0" descr="/tmp/work/sqq/q-32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325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10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39"/>
          <p:cNvSpPr/>
          <p:nvPr/>
        </p:nvSpPr>
        <p:spPr>
          <a:xfrm>
            <a:off x="1496520" y="1408320"/>
            <a:ext cx="9198360" cy="361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8" name="Image 0" descr="/tmp/work/sqq/q-33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346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39"/>
          <p:cNvSpPr/>
          <p:nvPr/>
        </p:nvSpPr>
        <p:spPr>
          <a:xfrm>
            <a:off x="1496520" y="1408320"/>
            <a:ext cx="9198360" cy="2694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9" name="Image 0" descr="/tmp/work/sqq/q-34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2547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9" name="Shape 39"/>
          <p:cNvSpPr/>
          <p:nvPr/>
        </p:nvSpPr>
        <p:spPr>
          <a:xfrm>
            <a:off x="1496520" y="1408320"/>
            <a:ext cx="9198360" cy="365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kx="0" ky="0" rotWithShape="0" sx="100000" sy="10000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0" name="Image 0" descr="/tmp/work/sqq/q-35.png"/>
          <p:cNvPicPr/>
          <p:nvPr/>
        </p:nvPicPr>
        <p:blipFill>
          <a:blip r:embed="rId1"/>
          <a:stretch/>
        </p:blipFill>
        <p:spPr>
          <a:xfrm>
            <a:off x="1569600" y="1481400"/>
            <a:ext cx="9052200" cy="350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6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8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9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0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1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A series is the SUM of the terms of a sequence.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2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3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nth term:  aₙ = a + (n − 1)d.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5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Sum of n terms:  Sn = n/2 [2a + (n − 1)d] = n/2 (first + last).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6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7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Find the number of terms from the last term before summing.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8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9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Given a term and a sum, form two equations in a and d and solve simultaneously.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0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1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every fact becomes an equation in a and d — then solve.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2026-07-17T10:12:43Z</dcterms:created>
  <dc:creator>Zahra Sheikh Ali</dc:creator>
  <dc:description/>
  <dc:language>en-US</dc:language>
  <cp:lastModifiedBy>Zahra Sheikh Ali</cp:lastModifiedBy>
  <dcterms:modified xsi:type="dcterms:W3CDTF">2026-07-17T10:12:43Z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21</vt:r8>
  </property>
  <property fmtid="{D5CDD505-2E9C-101B-9397-08002B2CF9AE}" pid="3" name="PresentationFormat">
    <vt:lpwstr>On-screen Show (16:9)</vt:lpwstr>
  </property>
  <property fmtid="{D5CDD505-2E9C-101B-9397-08002B2CF9AE}" pid="4" name="Slides">
    <vt:r8>21</vt:r8>
  </property>
</Properties>
</file>