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83367" y="585216"/>
            <a:ext cx="1330269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38" name="Shape 36"/>
          <p:cNvSpPr/>
          <p:nvPr/>
        </p:nvSpPr>
        <p:spPr>
          <a:xfrm>
            <a:off x="8397667" y="1600200"/>
            <a:ext cx="1101669" cy="0"/>
          </a:xfrm>
          <a:prstGeom prst="line">
            <a:avLst/>
          </a:prstGeom>
          <a:noFill/>
          <a:ln w="19050">
            <a:solidFill>
              <a:srgbClr val="3346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83367" y="1636776"/>
            <a:ext cx="1330269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0" name="Text 38"/>
          <p:cNvSpPr/>
          <p:nvPr/>
        </p:nvSpPr>
        <p:spPr>
          <a:xfrm>
            <a:off x="9499336" y="1280160"/>
            <a:ext cx="569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41" name="Text 39"/>
          <p:cNvSpPr/>
          <p:nvPr/>
        </p:nvSpPr>
        <p:spPr>
          <a:xfrm>
            <a:off x="9954524" y="585216"/>
            <a:ext cx="1330269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2" name="Shape 40"/>
          <p:cNvSpPr/>
          <p:nvPr/>
        </p:nvSpPr>
        <p:spPr>
          <a:xfrm>
            <a:off x="10068824" y="1600200"/>
            <a:ext cx="1101669" cy="0"/>
          </a:xfrm>
          <a:prstGeom prst="line">
            <a:avLst/>
          </a:prstGeom>
          <a:noFill/>
          <a:ln w="19050">
            <a:solidFill>
              <a:srgbClr val="3346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954524" y="1636776"/>
            <a:ext cx="1330269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34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4" name="Shape 42"/>
          <p:cNvSpPr/>
          <p:nvPr/>
        </p:nvSpPr>
        <p:spPr>
          <a:xfrm>
            <a:off x="777240" y="640080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/>
        </p:spPr>
      </p:sp>
      <p:sp>
        <p:nvSpPr>
          <p:cNvPr id="45" name="Text 43"/>
          <p:cNvSpPr/>
          <p:nvPr/>
        </p:nvSpPr>
        <p:spPr>
          <a:xfrm>
            <a:off x="777240" y="640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2160" dirty="0"/>
          </a:p>
        </p:txBody>
      </p:sp>
      <p:sp>
        <p:nvSpPr>
          <p:cNvPr id="46" name="Text 44"/>
          <p:cNvSpPr/>
          <p:nvPr/>
        </p:nvSpPr>
        <p:spPr>
          <a:xfrm>
            <a:off x="1600200" y="6035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 MATHS HUB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160020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Number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77240" y="228600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Fractions</a:t>
            </a:r>
            <a:endParaRPr lang="en-US" sz="5800" dirty="0"/>
          </a:p>
        </p:txBody>
      </p:sp>
      <p:sp>
        <p:nvSpPr>
          <p:cNvPr id="49" name="Text 47"/>
          <p:cNvSpPr/>
          <p:nvPr/>
        </p:nvSpPr>
        <p:spPr>
          <a:xfrm>
            <a:off x="804672" y="3337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· Subtracting · Multiplying &amp; Dividing  —  Proper Fractions &amp; Mixed Numbers</a:t>
            </a:r>
            <a:endParaRPr lang="en-US" sz="1700" dirty="0"/>
          </a:p>
        </p:txBody>
      </p:sp>
      <p:sp>
        <p:nvSpPr>
          <p:cNvPr id="50" name="Shape 48"/>
          <p:cNvSpPr/>
          <p:nvPr/>
        </p:nvSpPr>
        <p:spPr>
          <a:xfrm>
            <a:off x="777240" y="4297680"/>
            <a:ext cx="6583680" cy="169164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1097280" y="449884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1097280" y="4956048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2C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IGCSE Mathematics Teacher  ·  M.Sc. Differential Geometry &amp; Geometric Control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1097280" y="539496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</a:t>
            </a:r>
            <a:pPr indent="0" marL="0">
              <a:buNone/>
            </a:pPr>
            <a:r>
              <a:rPr lang="en-US" sz="1250" b="1" dirty="0">
                <a:solidFill>
                  <a:srgbClr val="E862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✉  zahraa.sheikhali@outlook.com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OVERVIEW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Operations with Fractions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you can:  </a:t>
            </a:r>
            <a:pPr algn="l" indent="0" marL="0">
              <a:buNone/>
            </a:pPr>
            <a:r>
              <a:rPr lang="en-US" sz="14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 subtract fractions using a common denominator, multiply and divide fractions, and carry out all four operations with mixed numbers — all without a calculator.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66928" y="269748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22960" y="299466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2994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6" name="Text 44"/>
          <p:cNvSpPr/>
          <p:nvPr/>
        </p:nvSpPr>
        <p:spPr>
          <a:xfrm>
            <a:off x="1435608" y="269748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fractions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4343400" y="269748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4599432" y="299466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4599432" y="2994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0" name="Text 48"/>
          <p:cNvSpPr/>
          <p:nvPr/>
        </p:nvSpPr>
        <p:spPr>
          <a:xfrm>
            <a:off x="5212080" y="269748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fractions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119872" y="2697480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375904" y="2994660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375904" y="2994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4" name="Text 52"/>
          <p:cNvSpPr/>
          <p:nvPr/>
        </p:nvSpPr>
        <p:spPr>
          <a:xfrm>
            <a:off x="8988552" y="2697480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fractions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566928" y="404164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22960" y="433882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22960" y="43388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8" name="Text 56"/>
          <p:cNvSpPr/>
          <p:nvPr/>
        </p:nvSpPr>
        <p:spPr>
          <a:xfrm>
            <a:off x="1435608" y="404164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Dividing fractions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343400" y="404164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4599432" y="433882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4599432" y="43388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5212080" y="404164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numbers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8119872" y="4041648"/>
            <a:ext cx="3502152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8375904" y="4338828"/>
            <a:ext cx="457200" cy="457200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5" name="Text 63"/>
          <p:cNvSpPr/>
          <p:nvPr/>
        </p:nvSpPr>
        <p:spPr>
          <a:xfrm>
            <a:off x="8375904" y="43388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8988552" y="4041648"/>
            <a:ext cx="25420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practice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words:  </a:t>
            </a:r>
            <a:pPr algn="ctr" indent="0" marL="0">
              <a:buNone/>
            </a:pPr>
            <a:r>
              <a:rPr lang="en-US" sz="1300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numerator  ·  denominator  ·  common denominator  ·  improper fraction  ·  mixed number  ·  reciprocal  ·  simplest form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ADD &amp; SUBTRACT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Denominator First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444752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4475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or subtract:  </a:t>
            </a:r>
            <a:pPr algn="l" indent="0" marL="0">
              <a:buNone/>
            </a:pPr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common denominator, rewrite each fraction over it, then add or subtract the numerators.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566928" y="233172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14400" y="233172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a)</a:t>
            </a:r>
            <a:endParaRPr lang="en-US" sz="2000" dirty="0"/>
          </a:p>
        </p:txBody>
      </p:sp>
      <p:sp>
        <p:nvSpPr>
          <p:cNvPr id="45" name="Text 43"/>
          <p:cNvSpPr/>
          <p:nvPr/>
        </p:nvSpPr>
        <p:spPr>
          <a:xfrm>
            <a:off x="4405396" y="2441448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4519696" y="2852928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05396" y="2889504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4981651" y="253288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5189403" y="2441448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5303703" y="2852928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189403" y="2889504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100" dirty="0"/>
          </a:p>
        </p:txBody>
      </p:sp>
      <p:sp>
        <p:nvSpPr>
          <p:cNvPr id="52" name="Text 50"/>
          <p:cNvSpPr/>
          <p:nvPr/>
        </p:nvSpPr>
        <p:spPr>
          <a:xfrm>
            <a:off x="5765658" y="253288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5973409" y="2441448"/>
            <a:ext cx="8672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6087709" y="2852928"/>
            <a:ext cx="638617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973409" y="2889504"/>
            <a:ext cx="8672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6726326" y="253288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100" dirty="0"/>
          </a:p>
        </p:txBody>
      </p:sp>
      <p:sp>
        <p:nvSpPr>
          <p:cNvPr id="57" name="Text 55"/>
          <p:cNvSpPr/>
          <p:nvPr/>
        </p:nvSpPr>
        <p:spPr>
          <a:xfrm>
            <a:off x="6934078" y="2441448"/>
            <a:ext cx="8672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100" dirty="0"/>
          </a:p>
        </p:txBody>
      </p:sp>
      <p:sp>
        <p:nvSpPr>
          <p:cNvPr id="58" name="Shape 56"/>
          <p:cNvSpPr/>
          <p:nvPr/>
        </p:nvSpPr>
        <p:spPr>
          <a:xfrm>
            <a:off x="7048378" y="2852928"/>
            <a:ext cx="638617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34078" y="2889504"/>
            <a:ext cx="8672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2100" dirty="0"/>
          </a:p>
        </p:txBody>
      </p:sp>
      <p:sp>
        <p:nvSpPr>
          <p:cNvPr id="60" name="Text 58"/>
          <p:cNvSpPr/>
          <p:nvPr/>
        </p:nvSpPr>
        <p:spPr>
          <a:xfrm>
            <a:off x="7686995" y="253288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61" name="Text 59"/>
          <p:cNvSpPr/>
          <p:nvPr/>
        </p:nvSpPr>
        <p:spPr>
          <a:xfrm>
            <a:off x="7894747" y="2441448"/>
            <a:ext cx="8672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8009047" y="2852928"/>
            <a:ext cx="638617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4747" y="2889504"/>
            <a:ext cx="8672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2100" dirty="0"/>
          </a:p>
        </p:txBody>
      </p:sp>
      <p:sp>
        <p:nvSpPr>
          <p:cNvPr id="64" name="Shape 62"/>
          <p:cNvSpPr/>
          <p:nvPr/>
        </p:nvSpPr>
        <p:spPr>
          <a:xfrm>
            <a:off x="566928" y="35204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914400" y="352044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b)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4067160" y="3630168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67" name="Shape 65"/>
          <p:cNvSpPr/>
          <p:nvPr/>
        </p:nvSpPr>
        <p:spPr>
          <a:xfrm>
            <a:off x="4181460" y="4041648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67160" y="4078224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69" name="Text 67"/>
          <p:cNvSpPr/>
          <p:nvPr/>
        </p:nvSpPr>
        <p:spPr>
          <a:xfrm>
            <a:off x="4643415" y="372160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100" dirty="0"/>
          </a:p>
        </p:txBody>
      </p:sp>
      <p:sp>
        <p:nvSpPr>
          <p:cNvPr id="70" name="Text 68"/>
          <p:cNvSpPr/>
          <p:nvPr/>
        </p:nvSpPr>
        <p:spPr>
          <a:xfrm>
            <a:off x="4851166" y="363016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1" name="Shape 69"/>
          <p:cNvSpPr/>
          <p:nvPr/>
        </p:nvSpPr>
        <p:spPr>
          <a:xfrm>
            <a:off x="4965466" y="404164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51166" y="407822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73" name="Text 71"/>
          <p:cNvSpPr/>
          <p:nvPr/>
        </p:nvSpPr>
        <p:spPr>
          <a:xfrm>
            <a:off x="5533034" y="372160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74" name="Text 72"/>
          <p:cNvSpPr/>
          <p:nvPr/>
        </p:nvSpPr>
        <p:spPr>
          <a:xfrm>
            <a:off x="5740786" y="363016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75" name="Shape 73"/>
          <p:cNvSpPr/>
          <p:nvPr/>
        </p:nvSpPr>
        <p:spPr>
          <a:xfrm>
            <a:off x="5855086" y="404164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740786" y="407822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77" name="Text 75"/>
          <p:cNvSpPr/>
          <p:nvPr/>
        </p:nvSpPr>
        <p:spPr>
          <a:xfrm>
            <a:off x="6422654" y="372160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100" dirty="0"/>
          </a:p>
        </p:txBody>
      </p:sp>
      <p:sp>
        <p:nvSpPr>
          <p:cNvPr id="78" name="Text 76"/>
          <p:cNvSpPr/>
          <p:nvPr/>
        </p:nvSpPr>
        <p:spPr>
          <a:xfrm>
            <a:off x="6630406" y="363016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100" dirty="0"/>
          </a:p>
        </p:txBody>
      </p:sp>
      <p:sp>
        <p:nvSpPr>
          <p:cNvPr id="79" name="Shape 77"/>
          <p:cNvSpPr/>
          <p:nvPr/>
        </p:nvSpPr>
        <p:spPr>
          <a:xfrm>
            <a:off x="6744706" y="404164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630406" y="407822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81" name="Text 79"/>
          <p:cNvSpPr/>
          <p:nvPr/>
        </p:nvSpPr>
        <p:spPr>
          <a:xfrm>
            <a:off x="7312274" y="372160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82" name="Text 80"/>
          <p:cNvSpPr/>
          <p:nvPr/>
        </p:nvSpPr>
        <p:spPr>
          <a:xfrm>
            <a:off x="7520026" y="363016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7634326" y="404164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520026" y="407822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85" name="Text 83"/>
          <p:cNvSpPr/>
          <p:nvPr/>
        </p:nvSpPr>
        <p:spPr>
          <a:xfrm>
            <a:off x="8201894" y="372160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86" name="Text 84"/>
          <p:cNvSpPr/>
          <p:nvPr/>
        </p:nvSpPr>
        <p:spPr>
          <a:xfrm>
            <a:off x="8409645" y="3630168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87" name="Shape 85"/>
          <p:cNvSpPr/>
          <p:nvPr/>
        </p:nvSpPr>
        <p:spPr>
          <a:xfrm>
            <a:off x="8523945" y="4041648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409645" y="4078224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89" name="Shape 87"/>
          <p:cNvSpPr/>
          <p:nvPr/>
        </p:nvSpPr>
        <p:spPr>
          <a:xfrm>
            <a:off x="566928" y="470916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90" name="Text 88"/>
          <p:cNvSpPr/>
          <p:nvPr/>
        </p:nvSpPr>
        <p:spPr>
          <a:xfrm>
            <a:off x="914400" y="4709160"/>
            <a:ext cx="640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c)</a:t>
            </a:r>
            <a:endParaRPr lang="en-US" sz="2000" dirty="0"/>
          </a:p>
        </p:txBody>
      </p:sp>
      <p:sp>
        <p:nvSpPr>
          <p:cNvPr id="91" name="Text 89"/>
          <p:cNvSpPr/>
          <p:nvPr/>
        </p:nvSpPr>
        <p:spPr>
          <a:xfrm>
            <a:off x="4511970" y="4818888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92" name="Shape 90"/>
          <p:cNvSpPr/>
          <p:nvPr/>
        </p:nvSpPr>
        <p:spPr>
          <a:xfrm>
            <a:off x="4626270" y="5230368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11970" y="5266944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100" dirty="0"/>
          </a:p>
        </p:txBody>
      </p:sp>
      <p:sp>
        <p:nvSpPr>
          <p:cNvPr id="94" name="Text 92"/>
          <p:cNvSpPr/>
          <p:nvPr/>
        </p:nvSpPr>
        <p:spPr>
          <a:xfrm>
            <a:off x="5088225" y="491032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2100" dirty="0"/>
          </a:p>
        </p:txBody>
      </p:sp>
      <p:sp>
        <p:nvSpPr>
          <p:cNvPr id="95" name="Text 93"/>
          <p:cNvSpPr/>
          <p:nvPr/>
        </p:nvSpPr>
        <p:spPr>
          <a:xfrm>
            <a:off x="5295976" y="4818888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100" dirty="0"/>
          </a:p>
        </p:txBody>
      </p:sp>
      <p:sp>
        <p:nvSpPr>
          <p:cNvPr id="96" name="Shape 94"/>
          <p:cNvSpPr/>
          <p:nvPr/>
        </p:nvSpPr>
        <p:spPr>
          <a:xfrm>
            <a:off x="5410276" y="5230368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295976" y="5266944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100" dirty="0"/>
          </a:p>
        </p:txBody>
      </p:sp>
      <p:sp>
        <p:nvSpPr>
          <p:cNvPr id="98" name="Text 96"/>
          <p:cNvSpPr/>
          <p:nvPr/>
        </p:nvSpPr>
        <p:spPr>
          <a:xfrm>
            <a:off x="5872231" y="491032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99" name="Text 97"/>
          <p:cNvSpPr/>
          <p:nvPr/>
        </p:nvSpPr>
        <p:spPr>
          <a:xfrm>
            <a:off x="6079983" y="481888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100" dirty="0"/>
          </a:p>
        </p:txBody>
      </p:sp>
      <p:sp>
        <p:nvSpPr>
          <p:cNvPr id="100" name="Shape 98"/>
          <p:cNvSpPr/>
          <p:nvPr/>
        </p:nvSpPr>
        <p:spPr>
          <a:xfrm>
            <a:off x="6194283" y="523036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079983" y="526694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102" name="Text 100"/>
          <p:cNvSpPr/>
          <p:nvPr/>
        </p:nvSpPr>
        <p:spPr>
          <a:xfrm>
            <a:off x="6761851" y="491032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2100" dirty="0"/>
          </a:p>
        </p:txBody>
      </p:sp>
      <p:sp>
        <p:nvSpPr>
          <p:cNvPr id="103" name="Text 101"/>
          <p:cNvSpPr/>
          <p:nvPr/>
        </p:nvSpPr>
        <p:spPr>
          <a:xfrm>
            <a:off x="6969603" y="481888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100" dirty="0"/>
          </a:p>
        </p:txBody>
      </p:sp>
      <p:sp>
        <p:nvSpPr>
          <p:cNvPr id="104" name="Shape 102"/>
          <p:cNvSpPr/>
          <p:nvPr/>
        </p:nvSpPr>
        <p:spPr>
          <a:xfrm>
            <a:off x="7083903" y="523036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969603" y="526694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106" name="Text 104"/>
          <p:cNvSpPr/>
          <p:nvPr/>
        </p:nvSpPr>
        <p:spPr>
          <a:xfrm>
            <a:off x="7651471" y="4910328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107" name="Text 105"/>
          <p:cNvSpPr/>
          <p:nvPr/>
        </p:nvSpPr>
        <p:spPr>
          <a:xfrm>
            <a:off x="7859222" y="4818888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100" dirty="0"/>
          </a:p>
        </p:txBody>
      </p:sp>
      <p:sp>
        <p:nvSpPr>
          <p:cNvPr id="108" name="Shape 106"/>
          <p:cNvSpPr/>
          <p:nvPr/>
        </p:nvSpPr>
        <p:spPr>
          <a:xfrm>
            <a:off x="7973522" y="5230368"/>
            <a:ext cx="567568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7859222" y="5266944"/>
            <a:ext cx="796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100" dirty="0"/>
          </a:p>
        </p:txBody>
      </p:sp>
      <p:sp>
        <p:nvSpPr>
          <p:cNvPr id="110" name="Text 108"/>
          <p:cNvSpPr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denominator is the lowest common multiple of the denominators. Always cancel the answer to its simplest form.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TO REMEMBER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Common Mistakes to Avoid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11064240" cy="1417320"/>
          </a:xfrm>
          <a:prstGeom prst="roundRect">
            <a:avLst>
              <a:gd name="adj" fmla="val 3871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932688" y="179222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tops and bottoms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3106948" y="2084832"/>
            <a:ext cx="7099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3221248" y="2514600"/>
            <a:ext cx="4813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06948" y="2551176"/>
            <a:ext cx="7099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3702588" y="2194560"/>
            <a:ext cx="329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3917838" y="2084832"/>
            <a:ext cx="7099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48" name="Shape 46"/>
          <p:cNvSpPr/>
          <p:nvPr/>
        </p:nvSpPr>
        <p:spPr>
          <a:xfrm>
            <a:off x="4032138" y="2514600"/>
            <a:ext cx="4813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7838" y="2551176"/>
            <a:ext cx="7099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4513478" y="2194560"/>
            <a:ext cx="329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≠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4728728" y="2084832"/>
            <a:ext cx="1228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+ 1</a:t>
            </a:r>
            <a:endParaRPr lang="en-US" sz="2200" dirty="0"/>
          </a:p>
        </p:txBody>
      </p:sp>
      <p:sp>
        <p:nvSpPr>
          <p:cNvPr id="52" name="Shape 50"/>
          <p:cNvSpPr/>
          <p:nvPr/>
        </p:nvSpPr>
        <p:spPr>
          <a:xfrm>
            <a:off x="4843028" y="2514600"/>
            <a:ext cx="1000354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28728" y="2551176"/>
            <a:ext cx="12289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+ 3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5843382" y="2194560"/>
            <a:ext cx="32955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55" name="Text 53"/>
          <p:cNvSpPr/>
          <p:nvPr/>
        </p:nvSpPr>
        <p:spPr>
          <a:xfrm>
            <a:off x="6058632" y="2084832"/>
            <a:ext cx="7099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56" name="Shape 54"/>
          <p:cNvSpPr/>
          <p:nvPr/>
        </p:nvSpPr>
        <p:spPr>
          <a:xfrm>
            <a:off x="6172932" y="2514600"/>
            <a:ext cx="481340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58632" y="2551176"/>
            <a:ext cx="7099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58" name="Text 56"/>
          <p:cNvSpPr/>
          <p:nvPr/>
        </p:nvSpPr>
        <p:spPr>
          <a:xfrm>
            <a:off x="996696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3200" dirty="0"/>
          </a:p>
        </p:txBody>
      </p:sp>
      <p:sp>
        <p:nvSpPr>
          <p:cNvPr id="59" name="Shape 57"/>
          <p:cNvSpPr/>
          <p:nvPr/>
        </p:nvSpPr>
        <p:spPr>
          <a:xfrm>
            <a:off x="566928" y="315468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932688" y="339242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sum on top CAN split</a:t>
            </a:r>
            <a:endParaRPr lang="en-US" sz="1800" dirty="0"/>
          </a:p>
        </p:txBody>
      </p:sp>
      <p:sp>
        <p:nvSpPr>
          <p:cNvPr id="61" name="Text 59"/>
          <p:cNvSpPr/>
          <p:nvPr/>
        </p:nvSpPr>
        <p:spPr>
          <a:xfrm>
            <a:off x="1869125" y="3794760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+ b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983425" y="4206240"/>
            <a:ext cx="957377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869125" y="4242816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100" dirty="0"/>
          </a:p>
        </p:txBody>
      </p:sp>
      <p:sp>
        <p:nvSpPr>
          <p:cNvPr id="64" name="Text 62"/>
          <p:cNvSpPr/>
          <p:nvPr/>
        </p:nvSpPr>
        <p:spPr>
          <a:xfrm>
            <a:off x="2940802" y="3886200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100" dirty="0"/>
          </a:p>
        </p:txBody>
      </p:sp>
      <p:sp>
        <p:nvSpPr>
          <p:cNvPr id="65" name="Text 63"/>
          <p:cNvSpPr/>
          <p:nvPr/>
        </p:nvSpPr>
        <p:spPr>
          <a:xfrm>
            <a:off x="3148554" y="3794760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100" dirty="0"/>
          </a:p>
        </p:txBody>
      </p:sp>
      <p:sp>
        <p:nvSpPr>
          <p:cNvPr id="66" name="Shape 64"/>
          <p:cNvSpPr/>
          <p:nvPr/>
        </p:nvSpPr>
        <p:spPr>
          <a:xfrm>
            <a:off x="3262854" y="4206240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148554" y="4242816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100" dirty="0"/>
          </a:p>
        </p:txBody>
      </p:sp>
      <p:sp>
        <p:nvSpPr>
          <p:cNvPr id="68" name="Text 66"/>
          <p:cNvSpPr/>
          <p:nvPr/>
        </p:nvSpPr>
        <p:spPr>
          <a:xfrm>
            <a:off x="3724808" y="3886200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100" dirty="0"/>
          </a:p>
        </p:txBody>
      </p:sp>
      <p:sp>
        <p:nvSpPr>
          <p:cNvPr id="69" name="Text 67"/>
          <p:cNvSpPr/>
          <p:nvPr/>
        </p:nvSpPr>
        <p:spPr>
          <a:xfrm>
            <a:off x="3932560" y="3794760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100" dirty="0"/>
          </a:p>
        </p:txBody>
      </p:sp>
      <p:sp>
        <p:nvSpPr>
          <p:cNvPr id="70" name="Shape 68"/>
          <p:cNvSpPr/>
          <p:nvPr/>
        </p:nvSpPr>
        <p:spPr>
          <a:xfrm>
            <a:off x="4046860" y="4206240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932560" y="4242816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91440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C7A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200" dirty="0"/>
          </a:p>
        </p:txBody>
      </p:sp>
      <p:sp>
        <p:nvSpPr>
          <p:cNvPr id="73" name="Shape 71"/>
          <p:cNvSpPr/>
          <p:nvPr/>
        </p:nvSpPr>
        <p:spPr>
          <a:xfrm>
            <a:off x="6236208" y="315468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6601968" y="339242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sum on the bottom CANNOT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7556693" y="3794760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100" dirty="0"/>
          </a:p>
        </p:txBody>
      </p:sp>
      <p:sp>
        <p:nvSpPr>
          <p:cNvPr id="76" name="Shape 74"/>
          <p:cNvSpPr/>
          <p:nvPr/>
        </p:nvSpPr>
        <p:spPr>
          <a:xfrm>
            <a:off x="7670993" y="4206240"/>
            <a:ext cx="957377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556693" y="4242816"/>
            <a:ext cx="11859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+ b</a:t>
            </a:r>
            <a:endParaRPr lang="en-US" sz="2100" dirty="0"/>
          </a:p>
        </p:txBody>
      </p:sp>
      <p:sp>
        <p:nvSpPr>
          <p:cNvPr id="78" name="Text 76"/>
          <p:cNvSpPr/>
          <p:nvPr/>
        </p:nvSpPr>
        <p:spPr>
          <a:xfrm>
            <a:off x="8628370" y="3886200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≠</a:t>
            </a:r>
            <a:endParaRPr lang="en-US" sz="2100" dirty="0"/>
          </a:p>
        </p:txBody>
      </p:sp>
      <p:sp>
        <p:nvSpPr>
          <p:cNvPr id="79" name="Text 77"/>
          <p:cNvSpPr/>
          <p:nvPr/>
        </p:nvSpPr>
        <p:spPr>
          <a:xfrm>
            <a:off x="8836122" y="3794760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100" dirty="0"/>
          </a:p>
        </p:txBody>
      </p:sp>
      <p:sp>
        <p:nvSpPr>
          <p:cNvPr id="80" name="Shape 78"/>
          <p:cNvSpPr/>
          <p:nvPr/>
        </p:nvSpPr>
        <p:spPr>
          <a:xfrm>
            <a:off x="8950422" y="4206240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36122" y="4242816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100" dirty="0"/>
          </a:p>
        </p:txBody>
      </p:sp>
      <p:sp>
        <p:nvSpPr>
          <p:cNvPr id="82" name="Text 80"/>
          <p:cNvSpPr/>
          <p:nvPr/>
        </p:nvSpPr>
        <p:spPr>
          <a:xfrm>
            <a:off x="9412376" y="3886200"/>
            <a:ext cx="3220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2100" dirty="0"/>
          </a:p>
        </p:txBody>
      </p:sp>
      <p:sp>
        <p:nvSpPr>
          <p:cNvPr id="83" name="Text 81"/>
          <p:cNvSpPr/>
          <p:nvPr/>
        </p:nvSpPr>
        <p:spPr>
          <a:xfrm>
            <a:off x="9620128" y="3794760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100" dirty="0"/>
          </a:p>
        </p:txBody>
      </p:sp>
      <p:sp>
        <p:nvSpPr>
          <p:cNvPr id="84" name="Shape 82"/>
          <p:cNvSpPr/>
          <p:nvPr/>
        </p:nvSpPr>
        <p:spPr>
          <a:xfrm>
            <a:off x="9734428" y="4206240"/>
            <a:ext cx="461955" cy="0"/>
          </a:xfrm>
          <a:prstGeom prst="line">
            <a:avLst/>
          </a:prstGeom>
          <a:noFill/>
          <a:ln w="19050">
            <a:solidFill>
              <a:srgbClr val="1C2A2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620128" y="4242816"/>
            <a:ext cx="6905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100" dirty="0"/>
          </a:p>
        </p:txBody>
      </p:sp>
      <p:sp>
        <p:nvSpPr>
          <p:cNvPr id="86" name="Text 84"/>
          <p:cNvSpPr/>
          <p:nvPr/>
        </p:nvSpPr>
        <p:spPr>
          <a:xfrm>
            <a:off x="6583680" y="47548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✗</a:t>
            </a:r>
            <a:endParaRPr lang="en-US" sz="2200" dirty="0"/>
          </a:p>
        </p:txBody>
      </p:sp>
      <p:sp>
        <p:nvSpPr>
          <p:cNvPr id="87" name="Shape 85"/>
          <p:cNvSpPr/>
          <p:nvPr/>
        </p:nvSpPr>
        <p:spPr>
          <a:xfrm>
            <a:off x="566928" y="54864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886968" y="548640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with numbers:  </a:t>
            </a:r>
            <a:pPr algn="l"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 + 2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EDEBDD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=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EDEBDD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+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 + 2/3 = 1/3 + 2/3</a:t>
                </a:r>
              </mc:Fallback>
            </mc:AlternateContent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1  ✓      but   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 + 2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3/1 + 2</a:t>
                </a:r>
              </mc:Fallback>
            </mc:AlternateContent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1,  while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EDEBDD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+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3/1 + 3/2</a:t>
                </a:r>
              </mc:Fallback>
            </mc:AlternateContent>
            <a:r>
              <a:rPr lang="en-US" sz="14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4½  ✗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STEP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645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Mixed Numbers</a:t>
            </a:r>
            <a:endParaRPr lang="en-US" sz="5000" dirty="0"/>
          </a:p>
        </p:txBody>
      </p:sp>
      <p:sp>
        <p:nvSpPr>
          <p:cNvPr id="41" name="Text 39"/>
          <p:cNvSpPr/>
          <p:nvPr/>
        </p:nvSpPr>
        <p:spPr>
          <a:xfrm>
            <a:off x="804672" y="2606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calculate, turn every mixed number into an improper (top-heavy) fraction.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804672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2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× denominator + numerator,  all over the denominator: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2035454" y="4160520"/>
            <a:ext cx="117409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2400" b="1" dirty="0">
                        <a:solidFill>
                          <a:srgbClr val="EDEBDD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2400" b="1" dirty="0">
                            <a:solidFill>
                              <a:srgbClr val="EDEBDD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400" b="1" dirty="0">
                            <a:solidFill>
                              <a:srgbClr val="EDEBDD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400" b="1" dirty="0">
                            <a:solidFill>
                              <a:srgbClr val="EDEBDD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</m:oMath>
                </a14:m>
              </mc:Choice>
              <mc:Fallback>
                <a:r>
                  <a:rPr lang="en-US" sz="2400" b="1" dirty="0">
                    <a:solidFill>
                      <a:srgbClr val="EDEBDD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1 2/3</a:t>
                </a:r>
              </mc:Fallback>
            </mc:AlternateContent>
            <a:r>
              <a:rPr lang="en-US" sz="24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=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3095244" y="4014216"/>
            <a:ext cx="17999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3 + 2</a:t>
            </a:r>
            <a:endParaRPr lang="en-US" sz="2400" dirty="0"/>
          </a:p>
        </p:txBody>
      </p:sp>
      <p:sp>
        <p:nvSpPr>
          <p:cNvPr id="45" name="Shape 43"/>
          <p:cNvSpPr/>
          <p:nvPr/>
        </p:nvSpPr>
        <p:spPr>
          <a:xfrm>
            <a:off x="3209544" y="4480560"/>
            <a:ext cx="1571305" cy="0"/>
          </a:xfrm>
          <a:prstGeom prst="line">
            <a:avLst/>
          </a:prstGeom>
          <a:noFill/>
          <a:ln w="19050">
            <a:solidFill>
              <a:srgbClr val="EDEB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95244" y="4517136"/>
            <a:ext cx="179990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4780849" y="4160520"/>
            <a:ext cx="34454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400" dirty="0"/>
          </a:p>
        </p:txBody>
      </p:sp>
      <p:sp>
        <p:nvSpPr>
          <p:cNvPr id="48" name="Text 46"/>
          <p:cNvSpPr/>
          <p:nvPr/>
        </p:nvSpPr>
        <p:spPr>
          <a:xfrm>
            <a:off x="5011095" y="4014216"/>
            <a:ext cx="7487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49" name="Shape 47"/>
          <p:cNvSpPr/>
          <p:nvPr/>
        </p:nvSpPr>
        <p:spPr>
          <a:xfrm>
            <a:off x="5125395" y="4480560"/>
            <a:ext cx="520111" cy="0"/>
          </a:xfrm>
          <a:prstGeom prst="line">
            <a:avLst/>
          </a:prstGeom>
          <a:noFill/>
          <a:ln w="19050">
            <a:solidFill>
              <a:srgbClr val="EDEB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11095" y="4517136"/>
            <a:ext cx="7487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51" name="Text 49"/>
          <p:cNvSpPr/>
          <p:nvPr/>
        </p:nvSpPr>
        <p:spPr>
          <a:xfrm>
            <a:off x="804672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by converting the answer back to a mixed number (divide top by bottom).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ADD MIXED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Mixed Numbers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182880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62456" y="179222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+ </m:t>
                    </m:r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 2/3 + 2 3/4</a:t>
                </a:r>
              </mc:Fallback>
            </mc:AlternateContent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68680" y="256032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2560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62456" y="252374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improper: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+ 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5/3 + 11/4</a:t>
                </a:r>
              </mc:Fallback>
            </mc:AlternateContent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68680" y="329184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325526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Common denominator 12: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+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20/12 + 33/12</a:t>
                </a:r>
              </mc:Fallback>
            </mc:AlternateContent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4023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9867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Add: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53/12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=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and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5/12</a:t>
                </a:r>
              </mc:Fallback>
            </mc:AlternateContent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each mixed number to an improper fraction first.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of 3 and 4 is 12.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53 ÷ 12 = 4 remainder 5, so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53/12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4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5/12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499091" y="5074920"/>
            <a:ext cx="1943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+ </m:t>
                    </m:r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1 2/3 + 2 3/4</a:t>
                </a:r>
              </mc:Fallback>
            </mc:AlternateContent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6423903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881469" y="5280660"/>
            <a:ext cx="2307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7089404" y="5289072"/>
            <a:ext cx="723901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4" dirty="0"/>
          </a:p>
        </p:txBody>
      </p:sp>
      <p:sp>
        <p:nvSpPr>
          <p:cNvPr id="62" name="Shape 60"/>
          <p:cNvSpPr/>
          <p:nvPr/>
        </p:nvSpPr>
        <p:spPr>
          <a:xfrm>
            <a:off x="7203704" y="5646420"/>
            <a:ext cx="495301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89404" y="5682996"/>
            <a:ext cx="723901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4" dirty="0"/>
          </a:p>
        </p:txBody>
      </p:sp>
      <p:sp>
        <p:nvSpPr>
          <p:cNvPr id="64" name="Text 62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may add the whole-number parts separately, but converting first avoids slips.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SUBTRACT MIXED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Subtracting Mixed Numbers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182880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62456" y="179222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3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7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− </m:t>
                    </m:r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3 4/7 − 1 5/8</a:t>
                </a:r>
              </mc:Fallback>
            </mc:AlternateContent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68680" y="256032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2560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62456" y="252374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improper: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7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− 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25/7 − 13/8</a:t>
                </a:r>
              </mc:Fallback>
            </mc:AlternateContent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68680" y="329184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325526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Common denominator 56: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200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56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−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91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56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200/56 − 91/56</a:t>
                </a:r>
              </mc:Fallback>
            </mc:AlternateContent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4023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9867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Subtract: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109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56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109/56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=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 and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56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53/56</a:t>
                </a:r>
              </mc:Fallback>
            </mc:AlternateContent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out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first avoids ‘borrowing’ from the whole number.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LCM of 7 and 8 is 56.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109 ÷ 56 = 1 remainder 53, so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109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56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109/56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1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56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53/56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505790" y="5074920"/>
            <a:ext cx="19431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3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7</m:t>
                        </m:r>
                      </m:den>
                    </m:f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− </m:t>
                    </m:r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3 4/7 − 1 5/8</a:t>
                </a:r>
              </mc:Fallback>
            </mc:AlternateContent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6430602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888168" y="5280660"/>
            <a:ext cx="15636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7021670" y="5289072"/>
            <a:ext cx="784936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804" dirty="0"/>
          </a:p>
        </p:txBody>
      </p:sp>
      <p:sp>
        <p:nvSpPr>
          <p:cNvPr id="62" name="Shape 60"/>
          <p:cNvSpPr/>
          <p:nvPr/>
        </p:nvSpPr>
        <p:spPr>
          <a:xfrm>
            <a:off x="7135970" y="5646420"/>
            <a:ext cx="556336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21670" y="5682996"/>
            <a:ext cx="784936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804" dirty="0"/>
          </a:p>
        </p:txBody>
      </p:sp>
      <p:sp>
        <p:nvSpPr>
          <p:cNvPr id="64" name="Text 62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Top-heavy fractions make subtraction safe — no negative fraction parts.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MULTIPLY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Multiplying Fractions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182880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62456" y="179222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× </m:t>
                    </m:r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15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 2/3 × 2 1/15</a:t>
                </a:r>
              </mc:Fallback>
            </mc:AlternateContent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68680" y="256032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2560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62456" y="252374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improper: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× 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15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5/3 × 31/15</a:t>
                </a:r>
              </mc:Fallback>
            </mc:AlternateContent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68680" y="329184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325526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Multiply tops and bottoms: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155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45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155/45</a:t>
                </a:r>
              </mc:Fallback>
            </mc:AlternateContent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4023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9867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Simplify ÷ 5: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9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31/9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= 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 and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9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4/9</a:t>
                </a:r>
              </mc:Fallback>
            </mc:AlternateContent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idea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common denominator needed for ×.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numerators, multiply denominators, then cancel.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Quick check: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×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=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6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=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2/3 × 3/4 = 6/12 = 1/2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526349" y="5074920"/>
            <a:ext cx="197931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× </m:t>
                    </m:r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15</m:t>
                        </m:r>
                      </m:den>
                    </m:f>
                  </m:oMath>
                </a14:m>
              </mc:Choice>
              <mc:Fallback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1 2/3 × 2 1/15</a:t>
                </a:r>
              </mc:Fallback>
            </mc:AlternateContent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6487372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944937" y="5280660"/>
            <a:ext cx="2307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7152872" y="5289072"/>
            <a:ext cx="633174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4" dirty="0"/>
          </a:p>
        </p:txBody>
      </p:sp>
      <p:sp>
        <p:nvSpPr>
          <p:cNvPr id="62" name="Shape 60"/>
          <p:cNvSpPr/>
          <p:nvPr/>
        </p:nvSpPr>
        <p:spPr>
          <a:xfrm>
            <a:off x="7267172" y="5646420"/>
            <a:ext cx="404574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52872" y="5682996"/>
            <a:ext cx="633174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804" dirty="0"/>
          </a:p>
        </p:txBody>
      </p:sp>
      <p:sp>
        <p:nvSpPr>
          <p:cNvPr id="64" name="Text 62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Cancelling common factors before multiplying keeps the numbers small.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DIVIDE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Dividing Fractions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554480"/>
            <a:ext cx="6126480" cy="324612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68680" y="182880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68680" y="1828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362456" y="179222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out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4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÷ </m:t>
                    </m:r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9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4 2/3 ÷ 1 1/9</a:t>
                </a:r>
              </mc:Fallback>
            </mc:AlternateContent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868680" y="256032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6" name="Text 44"/>
          <p:cNvSpPr/>
          <p:nvPr/>
        </p:nvSpPr>
        <p:spPr>
          <a:xfrm>
            <a:off x="868680" y="2560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62456" y="252374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improper:  </a:t>
            </a:r>
            <a:pPr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b="1" dirty="0">
                        <a:solidFill>
                          <a:srgbClr val="C84F2F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÷ </m:t>
                    </m:r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9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14/3 ÷ 10/9</a:t>
                </a:r>
              </mc:Fallback>
            </mc:AlternateContent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68680" y="329184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68680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1362456" y="325526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Keep, flip, multiply: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×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9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10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14/3 × 9/10</a:t>
                </a:r>
              </mc:Fallback>
            </mc:AlternateContent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68680" y="4023360"/>
            <a:ext cx="329184" cy="32918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2" name="Text 50"/>
          <p:cNvSpPr/>
          <p:nvPr/>
        </p:nvSpPr>
        <p:spPr>
          <a:xfrm>
            <a:off x="86868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362456" y="39867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=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126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30</m:t>
                        </m:r>
                      </m:den>
                    </m:f>
                    <m:r>
                      <m:rPr>
                        <m:sty m:val="p"/>
                      </m:rPr>
                      <a:rPr lang="en-US" sz="1400" dirty="0">
                        <a:solidFill>
                          <a:srgbClr val="1C2A22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 = </m:t>
                    </m:r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126/30 = 21/5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</a:t>
            </a:r>
            <a:pPr indent="0" marL="0">
              <a:buNone/>
            </a:pPr>
            <a:r>
              <a:rPr lang="en-US" sz="14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 and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b="1" dirty="0">
                            <a:solidFill>
                              <a:srgbClr val="C84F2F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400" b="1" dirty="0">
                    <a:solidFill>
                      <a:srgbClr val="C84F2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1/5</a:t>
                </a:r>
              </mc:Fallback>
            </mc:AlternateContent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6903720" y="1554480"/>
            <a:ext cx="4727448" cy="324612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7178040" y="175564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– Flip – Multiply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223760" y="224028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Dividing by a fraction = multiplying by its reciprocal (turn it upside down).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mixed numbers first.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126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30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126/30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then ÷ 6 =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21/5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= 4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400" dirty="0">
                            <a:solidFill>
                              <a:srgbClr val="1C2A22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400" dirty="0">
                    <a:solidFill>
                      <a:srgbClr val="1C2A22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1/5</a:t>
                </a:r>
              </mc:Fallback>
            </mc:AlternateContent>
            <a:r>
              <a:rPr lang="en-US" sz="1400" dirty="0">
                <a:solidFill>
                  <a:srgbClr val="1C2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566928" y="5074920"/>
            <a:ext cx="11064240" cy="1143000"/>
          </a:xfrm>
          <a:prstGeom prst="roundRect">
            <a:avLst>
              <a:gd name="adj" fmla="val 56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4581671" y="5074920"/>
            <a:ext cx="1868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4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÷ </m:t>
                    </m:r>
                    <m:r>
                      <m:rPr>
                        <m:sty m:val="p"/>
                      </m:rPr>
                      <a:rPr lang="en-US" sz="2200" b="1" dirty="0">
                        <a:solidFill>
                          <a:srgbClr val="FFFFFF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2200" b="1" dirty="0">
                            <a:solidFill>
                              <a:srgbClr val="FFFFFF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9</m:t>
                        </m:r>
                      </m:den>
                    </m:f>
                  </m:oMath>
                </a14:m>
              </mc:Choice>
              <mc:Fallback>
                <a:r>
                  <a:rPr lang="en-US" sz="22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4 2/3 ÷ 1 1/9</a:t>
                </a:r>
              </mc:Fallback>
            </mc:AlternateContent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6432051" y="5074920"/>
            <a:ext cx="29297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889616" y="5280660"/>
            <a:ext cx="2307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7097551" y="5289072"/>
            <a:ext cx="633174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4" dirty="0"/>
          </a:p>
        </p:txBody>
      </p:sp>
      <p:sp>
        <p:nvSpPr>
          <p:cNvPr id="62" name="Shape 60"/>
          <p:cNvSpPr/>
          <p:nvPr/>
        </p:nvSpPr>
        <p:spPr>
          <a:xfrm>
            <a:off x="7211851" y="5646420"/>
            <a:ext cx="404574" cy="0"/>
          </a:xfrm>
          <a:prstGeom prst="line">
            <a:avLst/>
          </a:prstGeom>
          <a:noFill/>
          <a:ln w="19050">
            <a:solidFill>
              <a:srgbClr val="E0AC2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97551" y="5682996"/>
            <a:ext cx="633174" cy="329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4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4" dirty="0"/>
          </a:p>
        </p:txBody>
      </p:sp>
      <p:sp>
        <p:nvSpPr>
          <p:cNvPr id="64" name="Text 62"/>
          <p:cNvSpPr/>
          <p:nvPr/>
        </p:nvSpPr>
        <p:spPr>
          <a:xfrm>
            <a:off x="566928" y="63276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second fraction is flipped — never the first.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‘Show That’ — Your Turn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481328"/>
            <a:ext cx="11064240" cy="731520"/>
          </a:xfrm>
          <a:prstGeom prst="roundRect">
            <a:avLst>
              <a:gd name="adj" fmla="val 7500"/>
            </a:avLst>
          </a:prstGeom>
          <a:solidFill>
            <a:srgbClr val="16261F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86968" y="1481328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each mixed number to an improper fraction, then show every line of working.</a:t>
            </a:r>
            <a:endParaRPr lang="en-US" sz="1450" dirty="0"/>
          </a:p>
        </p:txBody>
      </p:sp>
      <p:sp>
        <p:nvSpPr>
          <p:cNvPr id="43" name="Shape 41"/>
          <p:cNvSpPr/>
          <p:nvPr/>
        </p:nvSpPr>
        <p:spPr>
          <a:xfrm>
            <a:off x="566928" y="2468880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841248" y="2596896"/>
            <a:ext cx="402336" cy="40233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5" name="Text 43"/>
          <p:cNvSpPr/>
          <p:nvPr/>
        </p:nvSpPr>
        <p:spPr>
          <a:xfrm>
            <a:off x="841248" y="25968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1463040" y="246888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Show that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+  </m:t>
                    </m:r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3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 2/3  +  3 3/4</a:t>
                </a:r>
              </mc:Fallback>
            </mc:AlternateContent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  =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6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12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6 5/12</a:t>
                </a:r>
              </mc:Fallback>
            </mc:AlternateContent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566928" y="3255264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841248" y="3383280"/>
            <a:ext cx="402336" cy="40233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9" name="Text 47"/>
          <p:cNvSpPr/>
          <p:nvPr/>
        </p:nvSpPr>
        <p:spPr>
          <a:xfrm>
            <a:off x="841248" y="3383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50" name="Text 48"/>
          <p:cNvSpPr/>
          <p:nvPr/>
        </p:nvSpPr>
        <p:spPr>
          <a:xfrm>
            <a:off x="1463040" y="3255264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Show that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5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−  </m:t>
                    </m:r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6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7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5 1/3  −  2 6/7</a:t>
                </a:r>
              </mc:Fallback>
            </mc:AlternateContent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  =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10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21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 10/21</a:t>
                </a:r>
              </mc:Fallback>
            </mc:AlternateContent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566928" y="4041648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41248" y="4169664"/>
            <a:ext cx="402336" cy="40233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41248" y="4169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1463040" y="4041648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Show that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3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den>
                    </m:f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×  </m:t>
                    </m:r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6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3 1/5  ×  1 5/6</a:t>
                </a:r>
              </mc:Fallback>
            </mc:AlternateContent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  =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5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15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5 13/15</a:t>
                </a:r>
              </mc:Fallback>
            </mc:AlternateContent>
            <a:endParaRPr lang="en-US" sz="1700" dirty="0"/>
          </a:p>
        </p:txBody>
      </p:sp>
      <p:sp>
        <p:nvSpPr>
          <p:cNvPr id="55" name="Shape 53"/>
          <p:cNvSpPr/>
          <p:nvPr/>
        </p:nvSpPr>
        <p:spPr>
          <a:xfrm>
            <a:off x="566928" y="4828032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41248" y="4956048"/>
            <a:ext cx="402336" cy="40233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7" name="Text 55"/>
          <p:cNvSpPr/>
          <p:nvPr/>
        </p:nvSpPr>
        <p:spPr>
          <a:xfrm>
            <a:off x="841248" y="4956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1463040" y="4828032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Show that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3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7</m:t>
                        </m:r>
                      </m:den>
                    </m:f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÷  </m:t>
                    </m:r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3 5/7  ÷  1 5/8</a:t>
                </a:r>
              </mc:Fallback>
            </mc:AlternateContent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  =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7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 2/7</a:t>
                </a:r>
              </mc:Fallback>
            </mc:AlternateContent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566928" y="5614416"/>
            <a:ext cx="11064240" cy="658368"/>
          </a:xfrm>
          <a:prstGeom prst="roundRect">
            <a:avLst>
              <a:gd name="adj" fmla="val 8333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841248" y="5742432"/>
            <a:ext cx="402336" cy="402336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1" name="Text 59"/>
          <p:cNvSpPr/>
          <p:nvPr/>
        </p:nvSpPr>
        <p:spPr>
          <a:xfrm>
            <a:off x="841248" y="57424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62" name="Text 60"/>
          <p:cNvSpPr/>
          <p:nvPr/>
        </p:nvSpPr>
        <p:spPr>
          <a:xfrm>
            <a:off x="1463040" y="5614416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Show that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6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den>
                    </m:f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÷  </m:t>
                    </m:r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7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6 3/4  ÷  2 4/7</a:t>
                </a:r>
              </mc:Fallback>
            </mc:AlternateContent>
            <a:r>
              <a:rPr lang="en-US" sz="170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  =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70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170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 5/8</a:t>
                </a:r>
              </mc:Fallback>
            </mc:AlternateContent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E4E2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2062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566928" y="4206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325880" y="402336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50" kern="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PRACTICE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325880" y="676656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Exam-Style Questions (Non-Calculator)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566928" y="1572768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841248" y="1719072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463040" y="1572768"/>
            <a:ext cx="9144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Work out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den>
                    </m:f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+ 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16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2/5 + 1/4</a:t>
                </a:r>
              </mc:Fallback>
            </mc:AlternateContent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0607040" y="1572768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66928" y="2432304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841248" y="2578608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48" name="Text 46"/>
          <p:cNvSpPr/>
          <p:nvPr/>
        </p:nvSpPr>
        <p:spPr>
          <a:xfrm>
            <a:off x="841248" y="2578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1463040" y="2432304"/>
            <a:ext cx="9144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Work out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6</m:t>
                        </m:r>
                      </m:den>
                    </m:f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− 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16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5/6 − 3/8</a:t>
                </a:r>
              </mc:Fallback>
            </mc:AlternateContent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0607040" y="2432304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66928" y="3291840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41248" y="3438144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3" name="Text 51"/>
          <p:cNvSpPr/>
          <p:nvPr/>
        </p:nvSpPr>
        <p:spPr>
          <a:xfrm>
            <a:off x="841248" y="3438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463040" y="3291840"/>
            <a:ext cx="9144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Work out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den>
                    </m:f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×  </m:t>
                    </m:r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6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 1/3  ×  1 4/5</a:t>
                </a:r>
              </mc:Fallback>
            </mc:AlternateContent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607040" y="3291840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66928" y="4151376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FBF3DD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41248" y="4297680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58" name="Text 56"/>
          <p:cNvSpPr/>
          <p:nvPr/>
        </p:nvSpPr>
        <p:spPr>
          <a:xfrm>
            <a:off x="841248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1463040" y="4151376"/>
            <a:ext cx="9144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Work out 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3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den>
                    </m:f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  ÷  </m:t>
                    </m:r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16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3 1/2  ÷  1 1/4</a:t>
                </a:r>
              </mc:Fallback>
            </mc:AlternateContent>
            <a:endParaRPr lang="en-US" sz="1650" dirty="0"/>
          </a:p>
        </p:txBody>
      </p:sp>
      <p:sp>
        <p:nvSpPr>
          <p:cNvPr id="60" name="Text 58"/>
          <p:cNvSpPr/>
          <p:nvPr/>
        </p:nvSpPr>
        <p:spPr>
          <a:xfrm>
            <a:off x="10607040" y="4151376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66928" y="5010912"/>
            <a:ext cx="11064240" cy="713232"/>
          </a:xfrm>
          <a:prstGeom prst="roundRect">
            <a:avLst>
              <a:gd name="adj" fmla="val 7692"/>
            </a:avLst>
          </a:prstGeom>
          <a:solidFill>
            <a:srgbClr val="EEF1E8"/>
          </a:solidFill>
          <a:ln/>
          <a:effectLst>
            <a:outerShdw sx="100000" sy="100000" kx="0" ky="0" algn="bl" rotWithShape="0" blurRad="88900" dist="38100" dir="5400000">
              <a:srgbClr val="000000">
                <a:alpha val="18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841248" y="5157216"/>
            <a:ext cx="420624" cy="420624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63" name="Text 61"/>
          <p:cNvSpPr/>
          <p:nvPr/>
        </p:nvSpPr>
        <p:spPr>
          <a:xfrm>
            <a:off x="84124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64" name="Text 62"/>
          <p:cNvSpPr/>
          <p:nvPr/>
        </p:nvSpPr>
        <p:spPr>
          <a:xfrm>
            <a:off x="1463040" y="5010912"/>
            <a:ext cx="9144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A recipe needs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4</m:t>
                        </m:r>
                      </m:den>
                    </m:f>
                  </m:oMath>
                </a14:m>
              </mc:Choice>
              <mc:Fallback>
                <a:r>
                  <a:rPr lang="en-US" sz="16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3/4</a:t>
                </a:r>
              </mc:Fallback>
            </mc:AlternateContent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cup of sugar. Mariam makes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650" dirty="0">
                        <a:solidFill>
                          <a:srgbClr val="1C2A22"/>
                        </a:solidFill>
                        <a:latin typeface="Cambria" pitchFamily="34" charset="0"/>
                        <a:ea typeface="Cambria" pitchFamily="34" charset="-122"/>
                        <a:cs typeface="Cambria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650" dirty="0">
                            <a:solidFill>
                              <a:srgbClr val="1C2A22"/>
                            </a:solidFill>
                            <a:latin typeface="Cambria" pitchFamily="34" charset="0"/>
                            <a:ea typeface="Cambria" pitchFamily="34" charset="-122"/>
                            <a:cs typeface="Cambria" pitchFamily="34" charset="-120"/>
                          </a:rPr>
                          <m:t xml:space="preserve">2</m:t>
                        </m:r>
                      </m:den>
                    </m:f>
                  </m:oMath>
                </a14:m>
              </mc:Choice>
              <mc:Fallback>
                <a:r>
                  <a:rPr lang="en-US" sz="1650" dirty="0">
                    <a:solidFill>
                      <a:srgbClr val="1C2A22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 xml:space="preserve">2 1/2</a:t>
                </a:r>
              </mc:Fallback>
            </mc:AlternateContent>
            <a:r>
              <a:rPr lang="en-US" sz="1650" dirty="0">
                <a:solidFill>
                  <a:srgbClr val="1C2A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 xml:space="preserve"> batches. How much sugar?</a:t>
            </a:r>
            <a:endParaRPr lang="en-US" sz="1650" dirty="0"/>
          </a:p>
        </p:txBody>
      </p:sp>
      <p:sp>
        <p:nvSpPr>
          <p:cNvPr id="65" name="Text 63"/>
          <p:cNvSpPr/>
          <p:nvPr/>
        </p:nvSpPr>
        <p:spPr>
          <a:xfrm>
            <a:off x="10607040" y="5010912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C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566928" y="6199632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/>
        </p:spPr>
      </p:sp>
      <p:sp>
        <p:nvSpPr>
          <p:cNvPr id="67" name="Text 65"/>
          <p:cNvSpPr/>
          <p:nvPr/>
        </p:nvSpPr>
        <p:spPr>
          <a:xfrm>
            <a:off x="822960" y="619963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 </a:t>
            </a:r>
            <a:pPr indent="0" marL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1)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13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20</m:t>
                        </m:r>
                      </m:den>
                    </m:f>
                  </m:oMath>
                </a14:m>
              </mc:Choice>
              <mc:Fallback>
                <a:r>
                  <a:rPr lang="en-US" sz="13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13/20</a:t>
                </a:r>
              </mc:Fallback>
            </mc:AlternateContent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2)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f>
                      <m:fPr>
                        <m:type m:val="bar"/>
                        <m:ctrl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24</m:t>
                        </m:r>
                      </m:den>
                    </m:f>
                  </m:oMath>
                </a14:m>
              </mc:Choice>
              <mc:Fallback>
                <a:r>
                  <a:rPr lang="en-US" sz="13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11/24</a:t>
                </a:r>
              </mc:Fallback>
            </mc:AlternateContent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3)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300" dirty="0">
                        <a:solidFill>
                          <a:srgbClr val="EDEBDD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4</m:t>
                    </m:r>
                    <m:f>
                      <m:fPr>
                        <m:type m:val="bar"/>
                        <m:ctrl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3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4 1/5</a:t>
                </a:r>
              </mc:Fallback>
            </mc:AlternateContent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4)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300" dirty="0">
                        <a:solidFill>
                          <a:srgbClr val="EDEBDD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2</m:t>
                    </m:r>
                    <m:f>
                      <m:fPr>
                        <m:type m:val="bar"/>
                        <m:ctrl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4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5</m:t>
                        </m:r>
                      </m:den>
                    </m:f>
                  </m:oMath>
                </a14:m>
              </mc:Choice>
              <mc:Fallback>
                <a:r>
                  <a:rPr lang="en-US" sz="13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2 4/5</a:t>
                </a:r>
              </mc:Fallback>
            </mc:AlternateContent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   5)  </a:t>
            </a: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>
                    <m:r>
                      <m:rPr>
                        <m:sty m:val="p"/>
                      </m:rPr>
                      <a:rPr lang="en-US" sz="1300" dirty="0">
                        <a:solidFill>
                          <a:srgbClr val="EDEBDD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rPr>
                      <m:t xml:space="preserve">1</m:t>
                    </m:r>
                    <m:f>
                      <m:fPr>
                        <m:type m:val="bar"/>
                        <m:ctrl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7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300" dirty="0">
                            <a:solidFill>
                              <a:srgbClr val="EDEBDD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 xml:space="preserve">8</m:t>
                        </m:r>
                      </m:den>
                    </m:f>
                  </m:oMath>
                </a14:m>
              </mc:Choice>
              <mc:Fallback>
                <a:r>
                  <a:rPr lang="en-US" sz="1300" dirty="0">
                    <a:solidFill>
                      <a:srgbClr val="EDEBDD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 xml:space="preserve">1 7/8</a:t>
                </a:r>
              </mc:Fallback>
            </mc:AlternateContent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cups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3385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078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6771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3464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0156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6849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3542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0235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3620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0313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3699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084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7776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04704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71632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338560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905488" y="0"/>
            <a:ext cx="0" cy="685800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0" y="56692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0" y="113385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0" y="170078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0" y="226771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283464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340156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396849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4535424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5669280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6236208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6803136"/>
            <a:ext cx="12191695" cy="0"/>
          </a:xfrm>
          <a:prstGeom prst="line">
            <a:avLst/>
          </a:prstGeom>
          <a:noFill/>
          <a:ln w="6350">
            <a:solidFill>
              <a:srgbClr val="26342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4008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/>
        </p:spPr>
      </p:sp>
      <p:sp>
        <p:nvSpPr>
          <p:cNvPr id="38" name="Text 36"/>
          <p:cNvSpPr/>
          <p:nvPr/>
        </p:nvSpPr>
        <p:spPr>
          <a:xfrm>
            <a:off x="777240" y="6400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pPr algn="ctr" indent="0" marL="0">
              <a:buNone/>
            </a:pPr>
            <a:r>
              <a:rPr lang="en-US" sz="19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980" dirty="0"/>
          </a:p>
        </p:txBody>
      </p:sp>
      <p:sp>
        <p:nvSpPr>
          <p:cNvPr id="39" name="Text 37"/>
          <p:cNvSpPr/>
          <p:nvPr/>
        </p:nvSpPr>
        <p:spPr>
          <a:xfrm>
            <a:off x="1554480" y="67665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41" name="Shape 39"/>
          <p:cNvSpPr/>
          <p:nvPr/>
        </p:nvSpPr>
        <p:spPr>
          <a:xfrm>
            <a:off x="868680" y="2414016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2" name="Text 40"/>
          <p:cNvSpPr/>
          <p:nvPr/>
        </p:nvSpPr>
        <p:spPr>
          <a:xfrm>
            <a:off x="1234440" y="237744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subtract: use a common denominator, then combine the numerators.</a:t>
            </a:r>
            <a:endParaRPr lang="en-US" sz="1550" dirty="0"/>
          </a:p>
        </p:txBody>
      </p:sp>
      <p:sp>
        <p:nvSpPr>
          <p:cNvPr id="43" name="Shape 41"/>
          <p:cNvSpPr/>
          <p:nvPr/>
        </p:nvSpPr>
        <p:spPr>
          <a:xfrm>
            <a:off x="868680" y="2980944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4" name="Text 42"/>
          <p:cNvSpPr/>
          <p:nvPr/>
        </p:nvSpPr>
        <p:spPr>
          <a:xfrm>
            <a:off x="1234440" y="29443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Multiply: multiply the tops and the bottoms — cancel to keep numbers small.</a:t>
            </a:r>
            <a:endParaRPr lang="en-US" sz="1550" dirty="0"/>
          </a:p>
        </p:txBody>
      </p:sp>
      <p:sp>
        <p:nvSpPr>
          <p:cNvPr id="45" name="Shape 43"/>
          <p:cNvSpPr/>
          <p:nvPr/>
        </p:nvSpPr>
        <p:spPr>
          <a:xfrm>
            <a:off x="868680" y="3547872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6" name="Text 44"/>
          <p:cNvSpPr/>
          <p:nvPr/>
        </p:nvSpPr>
        <p:spPr>
          <a:xfrm>
            <a:off x="1234440" y="351129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Divide: keep the first fraction, flip the second, then multiply.</a:t>
            </a:r>
            <a:endParaRPr lang="en-US" sz="1550" dirty="0"/>
          </a:p>
        </p:txBody>
      </p:sp>
      <p:sp>
        <p:nvSpPr>
          <p:cNvPr id="47" name="Shape 45"/>
          <p:cNvSpPr/>
          <p:nvPr/>
        </p:nvSpPr>
        <p:spPr>
          <a:xfrm>
            <a:off x="868680" y="4114800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48" name="Text 46"/>
          <p:cNvSpPr/>
          <p:nvPr/>
        </p:nvSpPr>
        <p:spPr>
          <a:xfrm>
            <a:off x="1234440" y="407822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numbers: change to improper fractions first, then convert the answer back.</a:t>
            </a:r>
            <a:endParaRPr lang="en-US" sz="1550" dirty="0"/>
          </a:p>
        </p:txBody>
      </p:sp>
      <p:sp>
        <p:nvSpPr>
          <p:cNvPr id="49" name="Shape 47"/>
          <p:cNvSpPr/>
          <p:nvPr/>
        </p:nvSpPr>
        <p:spPr>
          <a:xfrm>
            <a:off x="868680" y="4681728"/>
            <a:ext cx="182880" cy="182880"/>
          </a:xfrm>
          <a:prstGeom prst="ellipse">
            <a:avLst/>
          </a:prstGeom>
          <a:solidFill>
            <a:srgbClr val="E8623D"/>
          </a:solidFill>
          <a:ln/>
        </p:spPr>
      </p:sp>
      <p:sp>
        <p:nvSpPr>
          <p:cNvPr id="50" name="Text 48"/>
          <p:cNvSpPr/>
          <p:nvPr/>
        </p:nvSpPr>
        <p:spPr>
          <a:xfrm>
            <a:off x="1234440" y="464515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give your answer in its simplest form.</a:t>
            </a:r>
            <a:endParaRPr lang="en-US" sz="1550" dirty="0"/>
          </a:p>
        </p:txBody>
      </p:sp>
      <p:sp>
        <p:nvSpPr>
          <p:cNvPr id="51" name="Shape 49"/>
          <p:cNvSpPr/>
          <p:nvPr/>
        </p:nvSpPr>
        <p:spPr>
          <a:xfrm>
            <a:off x="777240" y="5440680"/>
            <a:ext cx="10607040" cy="86868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/>
        </p:spPr>
      </p:sp>
      <p:sp>
        <p:nvSpPr>
          <p:cNvPr id="52" name="Text 50"/>
          <p:cNvSpPr/>
          <p:nvPr/>
        </p:nvSpPr>
        <p:spPr>
          <a:xfrm>
            <a:off x="1097280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777240" y="5440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and ÷ </a:t>
            </a:r>
            <a:pPr algn="ctr" indent="0" marL="0">
              <a:buNone/>
            </a:pPr>
            <a:r>
              <a:rPr lang="en-US" sz="16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 no common denominator;   </a:t>
            </a:r>
            <a:pPr algn="ctr" indent="0" marL="0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and − </a:t>
            </a:r>
            <a:pPr algn="ctr" indent="0" marL="0">
              <a:buNone/>
            </a:pPr>
            <a:r>
              <a:rPr lang="en-US" sz="1600" dirty="0">
                <a:solidFill>
                  <a:srgbClr val="EDEB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do.   Change mixed numbers to improper fractions first.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Fractions — Add, Subtract, Multiply &amp; Divide</dc:title>
  <dc:subject>PptxGenJS Presentation</dc:subject>
  <dc:creator>Zahra Sheikh Ali</dc:creator>
  <cp:lastModifiedBy>Zahra Sheikh Ali</cp:lastModifiedBy>
  <cp:revision>1</cp:revision>
  <dcterms:created xsi:type="dcterms:W3CDTF">2026-06-28T18:00:32Z</dcterms:created>
  <dcterms:modified xsi:type="dcterms:W3CDTF">2026-06-28T18:00:32Z</dcterms:modified>
</cp:coreProperties>
</file>