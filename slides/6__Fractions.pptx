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D6297E4-39D3-4E19-822D-053E7551DFB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6F49C1-AB11-45F0-8BBB-BBFE113678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FCA0AA-7385-4898-8353-4B8AAB3BB6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04A8AA-7786-43C3-9CE0-FADC57DAFD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BEAF2-99A1-477D-9B35-797D826EEE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CBD659-E51C-40CD-AA9F-9291E3A8D7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F54F9-EFFB-4752-95BE-6AE98E60D4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257073-E9AA-47B3-80CD-DF45B24743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C45873-8735-48ED-85AF-AE39DA1580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EB7052-28F9-4998-A6C2-3F7017A153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276000-D1BF-4251-A69E-5D0B74C4BF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3480C6-BAD1-47BD-AEFB-40E78DEDD0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057BD4-30A9-4FAC-AB3C-13AA4BD1B5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8283240" y="585360"/>
            <a:ext cx="132984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33463a"/>
                </a:solidFill>
                <a:latin typeface="Cambria"/>
                <a:ea typeface="Cambria"/>
              </a:rPr>
              <a:t>2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397360" y="1600200"/>
            <a:ext cx="1101960" cy="360"/>
          </a:xfrm>
          <a:prstGeom prst="line">
            <a:avLst/>
          </a:prstGeom>
          <a:ln w="1905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8283240" y="1636920"/>
            <a:ext cx="132984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33463a"/>
                </a:solidFill>
                <a:latin typeface="Cambria"/>
                <a:ea typeface="Cambria"/>
              </a:rPr>
              <a:t>3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9499320" y="1280160"/>
            <a:ext cx="569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33463a"/>
                </a:solidFill>
                <a:latin typeface="Cambria"/>
                <a:ea typeface="Cambria"/>
              </a:rPr>
              <a:t>+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9954360" y="585360"/>
            <a:ext cx="132984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33463a"/>
                </a:solidFill>
                <a:latin typeface="Cambria"/>
                <a:ea typeface="Cambria"/>
              </a:rPr>
              <a:t>3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10068480" y="1600200"/>
            <a:ext cx="1101960" cy="360"/>
          </a:xfrm>
          <a:prstGeom prst="line">
            <a:avLst/>
          </a:prstGeom>
          <a:ln w="1905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9954360" y="1636920"/>
            <a:ext cx="132984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33463a"/>
                </a:solidFill>
                <a:latin typeface="Cambria"/>
                <a:ea typeface="Cambria"/>
              </a:rPr>
              <a:t>4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Number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777240" y="228600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e0ac2b"/>
                </a:solidFill>
                <a:latin typeface="Cambria"/>
                <a:ea typeface="Cambria"/>
              </a:rPr>
              <a:t>Fractions</a:t>
            </a:r>
            <a:endParaRPr b="0" lang="en-US" sz="5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804600" y="33375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Adding · Subtracting · Multiplying &amp; Dividing  —  Proper Fractions &amp; Mixed Numbers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777240" y="4297680"/>
            <a:ext cx="658332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1097280" y="449892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1097280" y="4956120"/>
            <a:ext cx="603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51"/>
          <p:cNvSpPr/>
          <p:nvPr/>
        </p:nvSpPr>
        <p:spPr>
          <a:xfrm>
            <a:off x="1097280" y="5394960"/>
            <a:ext cx="603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The Four Operations with Fractions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9"/>
          <p:cNvSpPr/>
          <p:nvPr/>
        </p:nvSpPr>
        <p:spPr>
          <a:xfrm>
            <a:off x="567000" y="14814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0"/>
          <p:cNvSpPr/>
          <p:nvPr/>
        </p:nvSpPr>
        <p:spPr>
          <a:xfrm>
            <a:off x="887040" y="148140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0ac2b"/>
                </a:solidFill>
                <a:latin typeface="Calibri"/>
                <a:ea typeface="Calibri"/>
              </a:rPr>
              <a:t>By the end you can:  </a:t>
            </a:r>
            <a:r>
              <a:rPr b="0" lang="en-US" sz="1450" spc="-1" strike="noStrike">
                <a:solidFill>
                  <a:srgbClr val="edebdd"/>
                </a:solidFill>
                <a:latin typeface="Calibri"/>
                <a:ea typeface="Calibri"/>
              </a:rPr>
              <a:t>add and subtract fractions using a common denominator, multiply and divide fractions, and carry out all four operations with mixed numbers — all without a calculator.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1"/>
          <p:cNvSpPr/>
          <p:nvPr/>
        </p:nvSpPr>
        <p:spPr>
          <a:xfrm>
            <a:off x="567000" y="269748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2"/>
          <p:cNvSpPr/>
          <p:nvPr/>
        </p:nvSpPr>
        <p:spPr>
          <a:xfrm>
            <a:off x="822960" y="2994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3"/>
          <p:cNvSpPr/>
          <p:nvPr/>
        </p:nvSpPr>
        <p:spPr>
          <a:xfrm>
            <a:off x="822960" y="299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4"/>
          <p:cNvSpPr/>
          <p:nvPr/>
        </p:nvSpPr>
        <p:spPr>
          <a:xfrm>
            <a:off x="1435680" y="269748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Adding fractions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5"/>
          <p:cNvSpPr/>
          <p:nvPr/>
        </p:nvSpPr>
        <p:spPr>
          <a:xfrm>
            <a:off x="4343400" y="269748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46"/>
          <p:cNvSpPr/>
          <p:nvPr/>
        </p:nvSpPr>
        <p:spPr>
          <a:xfrm>
            <a:off x="4599360" y="2994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47"/>
          <p:cNvSpPr/>
          <p:nvPr/>
        </p:nvSpPr>
        <p:spPr>
          <a:xfrm>
            <a:off x="4599360" y="299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8"/>
          <p:cNvSpPr/>
          <p:nvPr/>
        </p:nvSpPr>
        <p:spPr>
          <a:xfrm>
            <a:off x="5212080" y="269748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Subtracting fractions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49"/>
          <p:cNvSpPr/>
          <p:nvPr/>
        </p:nvSpPr>
        <p:spPr>
          <a:xfrm>
            <a:off x="8119800" y="269748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0"/>
          <p:cNvSpPr/>
          <p:nvPr/>
        </p:nvSpPr>
        <p:spPr>
          <a:xfrm>
            <a:off x="8375760" y="2994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1"/>
          <p:cNvSpPr/>
          <p:nvPr/>
        </p:nvSpPr>
        <p:spPr>
          <a:xfrm>
            <a:off x="8375760" y="299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2"/>
          <p:cNvSpPr/>
          <p:nvPr/>
        </p:nvSpPr>
        <p:spPr>
          <a:xfrm>
            <a:off x="8988480" y="269748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Multiplying fractions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3"/>
          <p:cNvSpPr/>
          <p:nvPr/>
        </p:nvSpPr>
        <p:spPr>
          <a:xfrm>
            <a:off x="567000" y="404172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4"/>
          <p:cNvSpPr/>
          <p:nvPr/>
        </p:nvSpPr>
        <p:spPr>
          <a:xfrm>
            <a:off x="822960" y="43387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5"/>
          <p:cNvSpPr/>
          <p:nvPr/>
        </p:nvSpPr>
        <p:spPr>
          <a:xfrm>
            <a:off x="822960" y="4338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56"/>
          <p:cNvSpPr/>
          <p:nvPr/>
        </p:nvSpPr>
        <p:spPr>
          <a:xfrm>
            <a:off x="1435680" y="404172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Dividing fractions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57"/>
          <p:cNvSpPr/>
          <p:nvPr/>
        </p:nvSpPr>
        <p:spPr>
          <a:xfrm>
            <a:off x="4343400" y="404172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58"/>
          <p:cNvSpPr/>
          <p:nvPr/>
        </p:nvSpPr>
        <p:spPr>
          <a:xfrm>
            <a:off x="4599360" y="43387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59"/>
          <p:cNvSpPr/>
          <p:nvPr/>
        </p:nvSpPr>
        <p:spPr>
          <a:xfrm>
            <a:off x="4599360" y="4338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0"/>
          <p:cNvSpPr/>
          <p:nvPr/>
        </p:nvSpPr>
        <p:spPr>
          <a:xfrm>
            <a:off x="5212080" y="404172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Mixed numbers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1"/>
          <p:cNvSpPr/>
          <p:nvPr/>
        </p:nvSpPr>
        <p:spPr>
          <a:xfrm>
            <a:off x="8119800" y="404172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62"/>
          <p:cNvSpPr/>
          <p:nvPr/>
        </p:nvSpPr>
        <p:spPr>
          <a:xfrm>
            <a:off x="8375760" y="43387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63"/>
          <p:cNvSpPr/>
          <p:nvPr/>
        </p:nvSpPr>
        <p:spPr>
          <a:xfrm>
            <a:off x="8375760" y="4338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4"/>
          <p:cNvSpPr/>
          <p:nvPr/>
        </p:nvSpPr>
        <p:spPr>
          <a:xfrm>
            <a:off x="8988480" y="404172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Exam practice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numerator  ·  denominator  ·  common denominator  ·  improper fraction  ·  mixed number  ·  reciprocal  ·  simplest form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1 · ADD &amp; SUBTRACT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Same Denominator First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39"/>
          <p:cNvSpPr/>
          <p:nvPr/>
        </p:nvSpPr>
        <p:spPr>
          <a:xfrm>
            <a:off x="567000" y="144468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40"/>
          <p:cNvSpPr/>
          <p:nvPr/>
        </p:nvSpPr>
        <p:spPr>
          <a:xfrm>
            <a:off x="887040" y="144468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To add or subtract: 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find a common denominator, rewrite each fraction over it, then add or subtract the numerators.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1"/>
          <p:cNvSpPr/>
          <p:nvPr/>
        </p:nvSpPr>
        <p:spPr>
          <a:xfrm>
            <a:off x="567000" y="2331720"/>
            <a:ext cx="1106388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2"/>
          <p:cNvSpPr/>
          <p:nvPr/>
        </p:nvSpPr>
        <p:spPr>
          <a:xfrm>
            <a:off x="914400" y="2331720"/>
            <a:ext cx="6397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a)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3"/>
          <p:cNvSpPr/>
          <p:nvPr/>
        </p:nvSpPr>
        <p:spPr>
          <a:xfrm>
            <a:off x="4405320" y="244152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44"/>
          <p:cNvSpPr/>
          <p:nvPr/>
        </p:nvSpPr>
        <p:spPr>
          <a:xfrm>
            <a:off x="4519440" y="285264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45"/>
          <p:cNvSpPr/>
          <p:nvPr/>
        </p:nvSpPr>
        <p:spPr>
          <a:xfrm>
            <a:off x="4405320" y="28893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6"/>
          <p:cNvSpPr/>
          <p:nvPr/>
        </p:nvSpPr>
        <p:spPr>
          <a:xfrm>
            <a:off x="4981680" y="253296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7"/>
          <p:cNvSpPr/>
          <p:nvPr/>
        </p:nvSpPr>
        <p:spPr>
          <a:xfrm>
            <a:off x="5189400" y="244152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48"/>
          <p:cNvSpPr/>
          <p:nvPr/>
        </p:nvSpPr>
        <p:spPr>
          <a:xfrm>
            <a:off x="5303520" y="285264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49"/>
          <p:cNvSpPr/>
          <p:nvPr/>
        </p:nvSpPr>
        <p:spPr>
          <a:xfrm>
            <a:off x="5189400" y="28893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7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0"/>
          <p:cNvSpPr/>
          <p:nvPr/>
        </p:nvSpPr>
        <p:spPr>
          <a:xfrm>
            <a:off x="5765760" y="253296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51"/>
          <p:cNvSpPr/>
          <p:nvPr/>
        </p:nvSpPr>
        <p:spPr>
          <a:xfrm>
            <a:off x="5973480" y="2441520"/>
            <a:ext cx="86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52"/>
          <p:cNvSpPr/>
          <p:nvPr/>
        </p:nvSpPr>
        <p:spPr>
          <a:xfrm>
            <a:off x="6087600" y="2852640"/>
            <a:ext cx="6386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53"/>
          <p:cNvSpPr/>
          <p:nvPr/>
        </p:nvSpPr>
        <p:spPr>
          <a:xfrm>
            <a:off x="5973480" y="2889360"/>
            <a:ext cx="86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4"/>
          <p:cNvSpPr/>
          <p:nvPr/>
        </p:nvSpPr>
        <p:spPr>
          <a:xfrm>
            <a:off x="6726240" y="253296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55"/>
          <p:cNvSpPr/>
          <p:nvPr/>
        </p:nvSpPr>
        <p:spPr>
          <a:xfrm>
            <a:off x="6933960" y="2441520"/>
            <a:ext cx="86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56"/>
          <p:cNvSpPr/>
          <p:nvPr/>
        </p:nvSpPr>
        <p:spPr>
          <a:xfrm>
            <a:off x="7048080" y="2852640"/>
            <a:ext cx="6386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57"/>
          <p:cNvSpPr/>
          <p:nvPr/>
        </p:nvSpPr>
        <p:spPr>
          <a:xfrm>
            <a:off x="6933960" y="2889360"/>
            <a:ext cx="86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58"/>
          <p:cNvSpPr/>
          <p:nvPr/>
        </p:nvSpPr>
        <p:spPr>
          <a:xfrm>
            <a:off x="7687080" y="253296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59"/>
          <p:cNvSpPr/>
          <p:nvPr/>
        </p:nvSpPr>
        <p:spPr>
          <a:xfrm>
            <a:off x="7894800" y="2441520"/>
            <a:ext cx="86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29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60"/>
          <p:cNvSpPr/>
          <p:nvPr/>
        </p:nvSpPr>
        <p:spPr>
          <a:xfrm>
            <a:off x="8008920" y="2852640"/>
            <a:ext cx="6386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1"/>
          <p:cNvSpPr/>
          <p:nvPr/>
        </p:nvSpPr>
        <p:spPr>
          <a:xfrm>
            <a:off x="7894800" y="2889360"/>
            <a:ext cx="866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62"/>
          <p:cNvSpPr/>
          <p:nvPr/>
        </p:nvSpPr>
        <p:spPr>
          <a:xfrm>
            <a:off x="567000" y="3520440"/>
            <a:ext cx="1106388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63"/>
          <p:cNvSpPr/>
          <p:nvPr/>
        </p:nvSpPr>
        <p:spPr>
          <a:xfrm>
            <a:off x="914400" y="3520440"/>
            <a:ext cx="6397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b)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64"/>
          <p:cNvSpPr/>
          <p:nvPr/>
        </p:nvSpPr>
        <p:spPr>
          <a:xfrm>
            <a:off x="4067280" y="363024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65"/>
          <p:cNvSpPr/>
          <p:nvPr/>
        </p:nvSpPr>
        <p:spPr>
          <a:xfrm>
            <a:off x="4181400" y="404136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66"/>
          <p:cNvSpPr/>
          <p:nvPr/>
        </p:nvSpPr>
        <p:spPr>
          <a:xfrm>
            <a:off x="4067280" y="407808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67"/>
          <p:cNvSpPr/>
          <p:nvPr/>
        </p:nvSpPr>
        <p:spPr>
          <a:xfrm>
            <a:off x="4643280" y="372168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68"/>
          <p:cNvSpPr/>
          <p:nvPr/>
        </p:nvSpPr>
        <p:spPr>
          <a:xfrm>
            <a:off x="4851000" y="363024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69"/>
          <p:cNvSpPr/>
          <p:nvPr/>
        </p:nvSpPr>
        <p:spPr>
          <a:xfrm>
            <a:off x="4965120" y="4041360"/>
            <a:ext cx="5677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0"/>
          <p:cNvSpPr/>
          <p:nvPr/>
        </p:nvSpPr>
        <p:spPr>
          <a:xfrm>
            <a:off x="4851000" y="407808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71"/>
          <p:cNvSpPr/>
          <p:nvPr/>
        </p:nvSpPr>
        <p:spPr>
          <a:xfrm>
            <a:off x="5533200" y="372168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72"/>
          <p:cNvSpPr/>
          <p:nvPr/>
        </p:nvSpPr>
        <p:spPr>
          <a:xfrm>
            <a:off x="5740920" y="363024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73"/>
          <p:cNvSpPr/>
          <p:nvPr/>
        </p:nvSpPr>
        <p:spPr>
          <a:xfrm>
            <a:off x="5855040" y="4041360"/>
            <a:ext cx="56736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74"/>
          <p:cNvSpPr/>
          <p:nvPr/>
        </p:nvSpPr>
        <p:spPr>
          <a:xfrm>
            <a:off x="5740920" y="407808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75"/>
          <p:cNvSpPr/>
          <p:nvPr/>
        </p:nvSpPr>
        <p:spPr>
          <a:xfrm>
            <a:off x="6422760" y="372168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76"/>
          <p:cNvSpPr/>
          <p:nvPr/>
        </p:nvSpPr>
        <p:spPr>
          <a:xfrm>
            <a:off x="6630480" y="363024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77"/>
          <p:cNvSpPr/>
          <p:nvPr/>
        </p:nvSpPr>
        <p:spPr>
          <a:xfrm>
            <a:off x="6744600" y="4041360"/>
            <a:ext cx="56736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78"/>
          <p:cNvSpPr/>
          <p:nvPr/>
        </p:nvSpPr>
        <p:spPr>
          <a:xfrm>
            <a:off x="6630480" y="407808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79"/>
          <p:cNvSpPr/>
          <p:nvPr/>
        </p:nvSpPr>
        <p:spPr>
          <a:xfrm>
            <a:off x="7312320" y="372168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80"/>
          <p:cNvSpPr/>
          <p:nvPr/>
        </p:nvSpPr>
        <p:spPr>
          <a:xfrm>
            <a:off x="7520040" y="363024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9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81"/>
          <p:cNvSpPr/>
          <p:nvPr/>
        </p:nvSpPr>
        <p:spPr>
          <a:xfrm>
            <a:off x="7634160" y="4041360"/>
            <a:ext cx="5677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82"/>
          <p:cNvSpPr/>
          <p:nvPr/>
        </p:nvSpPr>
        <p:spPr>
          <a:xfrm>
            <a:off x="7520040" y="407808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83"/>
          <p:cNvSpPr/>
          <p:nvPr/>
        </p:nvSpPr>
        <p:spPr>
          <a:xfrm>
            <a:off x="8201880" y="372168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84"/>
          <p:cNvSpPr/>
          <p:nvPr/>
        </p:nvSpPr>
        <p:spPr>
          <a:xfrm>
            <a:off x="8409600" y="363024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85"/>
          <p:cNvSpPr/>
          <p:nvPr/>
        </p:nvSpPr>
        <p:spPr>
          <a:xfrm>
            <a:off x="8523720" y="404136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86"/>
          <p:cNvSpPr/>
          <p:nvPr/>
        </p:nvSpPr>
        <p:spPr>
          <a:xfrm>
            <a:off x="8409600" y="407808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87"/>
          <p:cNvSpPr/>
          <p:nvPr/>
        </p:nvSpPr>
        <p:spPr>
          <a:xfrm>
            <a:off x="567000" y="4709160"/>
            <a:ext cx="1106388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88"/>
          <p:cNvSpPr/>
          <p:nvPr/>
        </p:nvSpPr>
        <p:spPr>
          <a:xfrm>
            <a:off x="914400" y="4709160"/>
            <a:ext cx="6397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f2f"/>
                </a:solidFill>
                <a:latin typeface="Cambria"/>
                <a:ea typeface="Cambria"/>
              </a:rPr>
              <a:t>c)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89"/>
          <p:cNvSpPr/>
          <p:nvPr/>
        </p:nvSpPr>
        <p:spPr>
          <a:xfrm>
            <a:off x="4511880" y="48189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90"/>
          <p:cNvSpPr/>
          <p:nvPr/>
        </p:nvSpPr>
        <p:spPr>
          <a:xfrm>
            <a:off x="4626000" y="523008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91"/>
          <p:cNvSpPr/>
          <p:nvPr/>
        </p:nvSpPr>
        <p:spPr>
          <a:xfrm>
            <a:off x="4511880" y="526680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92"/>
          <p:cNvSpPr/>
          <p:nvPr/>
        </p:nvSpPr>
        <p:spPr>
          <a:xfrm>
            <a:off x="5088240" y="49104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93"/>
          <p:cNvSpPr/>
          <p:nvPr/>
        </p:nvSpPr>
        <p:spPr>
          <a:xfrm>
            <a:off x="5295960" y="48189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94"/>
          <p:cNvSpPr/>
          <p:nvPr/>
        </p:nvSpPr>
        <p:spPr>
          <a:xfrm>
            <a:off x="5410080" y="523008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95"/>
          <p:cNvSpPr/>
          <p:nvPr/>
        </p:nvSpPr>
        <p:spPr>
          <a:xfrm>
            <a:off x="5295960" y="526680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96"/>
          <p:cNvSpPr/>
          <p:nvPr/>
        </p:nvSpPr>
        <p:spPr>
          <a:xfrm>
            <a:off x="5872320" y="49104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97"/>
          <p:cNvSpPr/>
          <p:nvPr/>
        </p:nvSpPr>
        <p:spPr>
          <a:xfrm>
            <a:off x="6080040" y="481896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9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98"/>
          <p:cNvSpPr/>
          <p:nvPr/>
        </p:nvSpPr>
        <p:spPr>
          <a:xfrm>
            <a:off x="6194160" y="5230080"/>
            <a:ext cx="56736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99"/>
          <p:cNvSpPr/>
          <p:nvPr/>
        </p:nvSpPr>
        <p:spPr>
          <a:xfrm>
            <a:off x="6080040" y="526680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00"/>
          <p:cNvSpPr/>
          <p:nvPr/>
        </p:nvSpPr>
        <p:spPr>
          <a:xfrm>
            <a:off x="6761880" y="49104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01"/>
          <p:cNvSpPr/>
          <p:nvPr/>
        </p:nvSpPr>
        <p:spPr>
          <a:xfrm>
            <a:off x="6969600" y="481896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02"/>
          <p:cNvSpPr/>
          <p:nvPr/>
        </p:nvSpPr>
        <p:spPr>
          <a:xfrm>
            <a:off x="7083720" y="5230080"/>
            <a:ext cx="5677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03"/>
          <p:cNvSpPr/>
          <p:nvPr/>
        </p:nvSpPr>
        <p:spPr>
          <a:xfrm>
            <a:off x="6969600" y="526680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04"/>
          <p:cNvSpPr/>
          <p:nvPr/>
        </p:nvSpPr>
        <p:spPr>
          <a:xfrm>
            <a:off x="7651440" y="49104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05"/>
          <p:cNvSpPr/>
          <p:nvPr/>
        </p:nvSpPr>
        <p:spPr>
          <a:xfrm>
            <a:off x="7859160" y="481896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06"/>
          <p:cNvSpPr/>
          <p:nvPr/>
        </p:nvSpPr>
        <p:spPr>
          <a:xfrm>
            <a:off x="7973280" y="5230080"/>
            <a:ext cx="5677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07"/>
          <p:cNvSpPr/>
          <p:nvPr/>
        </p:nvSpPr>
        <p:spPr>
          <a:xfrm>
            <a:off x="7859160" y="5266800"/>
            <a:ext cx="795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08"/>
          <p:cNvSpPr/>
          <p:nvPr/>
        </p:nvSpPr>
        <p:spPr>
          <a:xfrm>
            <a:off x="567000" y="589788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The common denominator is the lowest common multiple of the denominators. Always cancel the answer to its simplest form.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KEY POINT TO REMEMBER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Two Common Mistakes to Avoid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9"/>
          <p:cNvSpPr/>
          <p:nvPr/>
        </p:nvSpPr>
        <p:spPr>
          <a:xfrm>
            <a:off x="567000" y="1554480"/>
            <a:ext cx="11063880" cy="141696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0"/>
          <p:cNvSpPr/>
          <p:nvPr/>
        </p:nvSpPr>
        <p:spPr>
          <a:xfrm>
            <a:off x="932760" y="179208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Never add tops and bottoms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41"/>
          <p:cNvSpPr/>
          <p:nvPr/>
        </p:nvSpPr>
        <p:spPr>
          <a:xfrm>
            <a:off x="3106800" y="2084760"/>
            <a:ext cx="709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42"/>
          <p:cNvSpPr/>
          <p:nvPr/>
        </p:nvSpPr>
        <p:spPr>
          <a:xfrm>
            <a:off x="3220920" y="2514600"/>
            <a:ext cx="4813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43"/>
          <p:cNvSpPr/>
          <p:nvPr/>
        </p:nvSpPr>
        <p:spPr>
          <a:xfrm>
            <a:off x="3106800" y="2551320"/>
            <a:ext cx="709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44"/>
          <p:cNvSpPr/>
          <p:nvPr/>
        </p:nvSpPr>
        <p:spPr>
          <a:xfrm>
            <a:off x="3702600" y="2194560"/>
            <a:ext cx="329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45"/>
          <p:cNvSpPr/>
          <p:nvPr/>
        </p:nvSpPr>
        <p:spPr>
          <a:xfrm>
            <a:off x="3917880" y="2084760"/>
            <a:ext cx="709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46"/>
          <p:cNvSpPr/>
          <p:nvPr/>
        </p:nvSpPr>
        <p:spPr>
          <a:xfrm>
            <a:off x="4032000" y="2514600"/>
            <a:ext cx="4813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47"/>
          <p:cNvSpPr/>
          <p:nvPr/>
        </p:nvSpPr>
        <p:spPr>
          <a:xfrm>
            <a:off x="3917880" y="2551320"/>
            <a:ext cx="709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8"/>
          <p:cNvSpPr/>
          <p:nvPr/>
        </p:nvSpPr>
        <p:spPr>
          <a:xfrm>
            <a:off x="4513320" y="2194560"/>
            <a:ext cx="329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≠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49"/>
          <p:cNvSpPr/>
          <p:nvPr/>
        </p:nvSpPr>
        <p:spPr>
          <a:xfrm>
            <a:off x="4728600" y="2084760"/>
            <a:ext cx="1228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1 + 1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50"/>
          <p:cNvSpPr/>
          <p:nvPr/>
        </p:nvSpPr>
        <p:spPr>
          <a:xfrm>
            <a:off x="4842720" y="2514600"/>
            <a:ext cx="10004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51"/>
          <p:cNvSpPr/>
          <p:nvPr/>
        </p:nvSpPr>
        <p:spPr>
          <a:xfrm>
            <a:off x="4728600" y="2551320"/>
            <a:ext cx="1228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2 + 3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52"/>
          <p:cNvSpPr/>
          <p:nvPr/>
        </p:nvSpPr>
        <p:spPr>
          <a:xfrm>
            <a:off x="5843520" y="2194560"/>
            <a:ext cx="329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53"/>
          <p:cNvSpPr/>
          <p:nvPr/>
        </p:nvSpPr>
        <p:spPr>
          <a:xfrm>
            <a:off x="6058800" y="2084760"/>
            <a:ext cx="709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54"/>
          <p:cNvSpPr/>
          <p:nvPr/>
        </p:nvSpPr>
        <p:spPr>
          <a:xfrm>
            <a:off x="6172920" y="2514600"/>
            <a:ext cx="4813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55"/>
          <p:cNvSpPr/>
          <p:nvPr/>
        </p:nvSpPr>
        <p:spPr>
          <a:xfrm>
            <a:off x="6058800" y="2551320"/>
            <a:ext cx="709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6"/>
          <p:cNvSpPr/>
          <p:nvPr/>
        </p:nvSpPr>
        <p:spPr>
          <a:xfrm>
            <a:off x="9966960" y="2148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c84f2f"/>
                </a:solidFill>
                <a:latin typeface="Cambria"/>
                <a:ea typeface="Cambria"/>
              </a:rPr>
              <a:t>✗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57"/>
          <p:cNvSpPr/>
          <p:nvPr/>
        </p:nvSpPr>
        <p:spPr>
          <a:xfrm>
            <a:off x="567000" y="3154680"/>
            <a:ext cx="5394600" cy="2148480"/>
          </a:xfrm>
          <a:prstGeom prst="roundRect">
            <a:avLst>
              <a:gd name="adj" fmla="val 255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58"/>
          <p:cNvSpPr/>
          <p:nvPr/>
        </p:nvSpPr>
        <p:spPr>
          <a:xfrm>
            <a:off x="932760" y="33922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 sum on top CAN split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59"/>
          <p:cNvSpPr/>
          <p:nvPr/>
        </p:nvSpPr>
        <p:spPr>
          <a:xfrm>
            <a:off x="1869120" y="379476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a + b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60"/>
          <p:cNvSpPr/>
          <p:nvPr/>
        </p:nvSpPr>
        <p:spPr>
          <a:xfrm>
            <a:off x="1983240" y="4206240"/>
            <a:ext cx="95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61"/>
          <p:cNvSpPr/>
          <p:nvPr/>
        </p:nvSpPr>
        <p:spPr>
          <a:xfrm>
            <a:off x="1869120" y="424296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62"/>
          <p:cNvSpPr/>
          <p:nvPr/>
        </p:nvSpPr>
        <p:spPr>
          <a:xfrm>
            <a:off x="2940840" y="38862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63"/>
          <p:cNvSpPr/>
          <p:nvPr/>
        </p:nvSpPr>
        <p:spPr>
          <a:xfrm>
            <a:off x="3148560" y="37947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64"/>
          <p:cNvSpPr/>
          <p:nvPr/>
        </p:nvSpPr>
        <p:spPr>
          <a:xfrm>
            <a:off x="3262680" y="420624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65"/>
          <p:cNvSpPr/>
          <p:nvPr/>
        </p:nvSpPr>
        <p:spPr>
          <a:xfrm>
            <a:off x="3148560" y="42429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66"/>
          <p:cNvSpPr/>
          <p:nvPr/>
        </p:nvSpPr>
        <p:spPr>
          <a:xfrm>
            <a:off x="3724920" y="38862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67"/>
          <p:cNvSpPr/>
          <p:nvPr/>
        </p:nvSpPr>
        <p:spPr>
          <a:xfrm>
            <a:off x="3932640" y="37947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68"/>
          <p:cNvSpPr/>
          <p:nvPr/>
        </p:nvSpPr>
        <p:spPr>
          <a:xfrm>
            <a:off x="4046760" y="420624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69"/>
          <p:cNvSpPr/>
          <p:nvPr/>
        </p:nvSpPr>
        <p:spPr>
          <a:xfrm>
            <a:off x="3932640" y="42429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70"/>
          <p:cNvSpPr/>
          <p:nvPr/>
        </p:nvSpPr>
        <p:spPr>
          <a:xfrm>
            <a:off x="914400" y="4754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3c7a4b"/>
                </a:solidFill>
                <a:latin typeface="Cambria"/>
                <a:ea typeface="Cambria"/>
              </a:rPr>
              <a:t>✓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71"/>
          <p:cNvSpPr/>
          <p:nvPr/>
        </p:nvSpPr>
        <p:spPr>
          <a:xfrm>
            <a:off x="6236280" y="3154680"/>
            <a:ext cx="5394600" cy="2148480"/>
          </a:xfrm>
          <a:prstGeom prst="roundRect">
            <a:avLst>
              <a:gd name="adj" fmla="val 255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72"/>
          <p:cNvSpPr/>
          <p:nvPr/>
        </p:nvSpPr>
        <p:spPr>
          <a:xfrm>
            <a:off x="6602040" y="33922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 sum on the bottom CANNOT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73"/>
          <p:cNvSpPr/>
          <p:nvPr/>
        </p:nvSpPr>
        <p:spPr>
          <a:xfrm>
            <a:off x="7556760" y="379476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74"/>
          <p:cNvSpPr/>
          <p:nvPr/>
        </p:nvSpPr>
        <p:spPr>
          <a:xfrm>
            <a:off x="7670880" y="4206240"/>
            <a:ext cx="95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75"/>
          <p:cNvSpPr/>
          <p:nvPr/>
        </p:nvSpPr>
        <p:spPr>
          <a:xfrm>
            <a:off x="7556760" y="424296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a + b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76"/>
          <p:cNvSpPr/>
          <p:nvPr/>
        </p:nvSpPr>
        <p:spPr>
          <a:xfrm>
            <a:off x="8628480" y="38862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≠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77"/>
          <p:cNvSpPr/>
          <p:nvPr/>
        </p:nvSpPr>
        <p:spPr>
          <a:xfrm>
            <a:off x="8836200" y="37947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78"/>
          <p:cNvSpPr/>
          <p:nvPr/>
        </p:nvSpPr>
        <p:spPr>
          <a:xfrm>
            <a:off x="8950320" y="420624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79"/>
          <p:cNvSpPr/>
          <p:nvPr/>
        </p:nvSpPr>
        <p:spPr>
          <a:xfrm>
            <a:off x="8836200" y="42429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80"/>
          <p:cNvSpPr/>
          <p:nvPr/>
        </p:nvSpPr>
        <p:spPr>
          <a:xfrm>
            <a:off x="9412200" y="3886200"/>
            <a:ext cx="321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81"/>
          <p:cNvSpPr/>
          <p:nvPr/>
        </p:nvSpPr>
        <p:spPr>
          <a:xfrm>
            <a:off x="9620280" y="37947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82"/>
          <p:cNvSpPr/>
          <p:nvPr/>
        </p:nvSpPr>
        <p:spPr>
          <a:xfrm>
            <a:off x="9734400" y="4206240"/>
            <a:ext cx="461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83"/>
          <p:cNvSpPr/>
          <p:nvPr/>
        </p:nvSpPr>
        <p:spPr>
          <a:xfrm>
            <a:off x="9620280" y="4242960"/>
            <a:ext cx="69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84"/>
          <p:cNvSpPr/>
          <p:nvPr/>
        </p:nvSpPr>
        <p:spPr>
          <a:xfrm>
            <a:off x="6583680" y="47548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84f2f"/>
                </a:solidFill>
                <a:latin typeface="Cambria"/>
                <a:ea typeface="Cambria"/>
              </a:rPr>
              <a:t>✗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85"/>
          <p:cNvSpPr/>
          <p:nvPr/>
        </p:nvSpPr>
        <p:spPr>
          <a:xfrm>
            <a:off x="567000" y="54864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86"/>
          <p:cNvSpPr/>
          <p:nvPr/>
        </p:nvSpPr>
        <p:spPr>
          <a:xfrm>
            <a:off x="887040" y="548640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Check with numbers: 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1 + 2/3 = 1/3 + 2/3 = 1  ✓      but      3/1 + 2 = 1,  while  3/1 + 3/2 = 4½  ✗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THE KEY STEP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38"/>
          <p:cNvSpPr/>
          <p:nvPr/>
        </p:nvSpPr>
        <p:spPr>
          <a:xfrm>
            <a:off x="777240" y="164592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e0ac2b"/>
                </a:solidFill>
                <a:latin typeface="Cambria"/>
                <a:ea typeface="Cambria"/>
              </a:rPr>
              <a:t>Mixed Numbers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39"/>
          <p:cNvSpPr/>
          <p:nvPr/>
        </p:nvSpPr>
        <p:spPr>
          <a:xfrm>
            <a:off x="804600" y="26060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Before you calculate, turn every mixed number into an improper (top-heavy) fraction.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40"/>
          <p:cNvSpPr/>
          <p:nvPr/>
        </p:nvSpPr>
        <p:spPr>
          <a:xfrm>
            <a:off x="804600" y="33832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9d2c5"/>
                </a:solidFill>
                <a:latin typeface="Calibri"/>
                <a:ea typeface="Calibri"/>
              </a:rPr>
              <a:t>whole × denominator + numerator,  all over the denominator: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41"/>
          <p:cNvSpPr/>
          <p:nvPr/>
        </p:nvSpPr>
        <p:spPr>
          <a:xfrm>
            <a:off x="2035440" y="4160520"/>
            <a:ext cx="1173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debdd"/>
                </a:solidFill>
                <a:latin typeface="Cambria"/>
                <a:ea typeface="Cambria"/>
              </a:rPr>
              <a:t>1 2/3 =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42"/>
          <p:cNvSpPr/>
          <p:nvPr/>
        </p:nvSpPr>
        <p:spPr>
          <a:xfrm>
            <a:off x="3095280" y="4014360"/>
            <a:ext cx="1799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debdd"/>
                </a:solidFill>
                <a:latin typeface="Cambria"/>
                <a:ea typeface="Cambria"/>
              </a:rPr>
              <a:t>1 × 3 + 2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43"/>
          <p:cNvSpPr/>
          <p:nvPr/>
        </p:nvSpPr>
        <p:spPr>
          <a:xfrm>
            <a:off x="3209400" y="4480560"/>
            <a:ext cx="1571400" cy="360"/>
          </a:xfrm>
          <a:prstGeom prst="line">
            <a:avLst/>
          </a:prstGeom>
          <a:ln w="19050">
            <a:solidFill>
              <a:srgbClr val="ede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44"/>
          <p:cNvSpPr/>
          <p:nvPr/>
        </p:nvSpPr>
        <p:spPr>
          <a:xfrm>
            <a:off x="3095280" y="4517280"/>
            <a:ext cx="1799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debdd"/>
                </a:solidFill>
                <a:latin typeface="Cambria"/>
                <a:ea typeface="Cambria"/>
              </a:rPr>
              <a:t>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5"/>
          <p:cNvSpPr/>
          <p:nvPr/>
        </p:nvSpPr>
        <p:spPr>
          <a:xfrm>
            <a:off x="4780800" y="4160520"/>
            <a:ext cx="344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debdd"/>
                </a:solidFill>
                <a:latin typeface="Cambria"/>
                <a:ea typeface="Cambria"/>
              </a:rPr>
              <a:t>=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46"/>
          <p:cNvSpPr/>
          <p:nvPr/>
        </p:nvSpPr>
        <p:spPr>
          <a:xfrm>
            <a:off x="5011200" y="4014360"/>
            <a:ext cx="74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debdd"/>
                </a:solidFill>
                <a:latin typeface="Cambria"/>
                <a:ea typeface="Cambria"/>
              </a:rPr>
              <a:t>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47"/>
          <p:cNvSpPr/>
          <p:nvPr/>
        </p:nvSpPr>
        <p:spPr>
          <a:xfrm>
            <a:off x="5125320" y="4480560"/>
            <a:ext cx="519840" cy="360"/>
          </a:xfrm>
          <a:prstGeom prst="line">
            <a:avLst/>
          </a:prstGeom>
          <a:ln w="19050">
            <a:solidFill>
              <a:srgbClr val="ede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48"/>
          <p:cNvSpPr/>
          <p:nvPr/>
        </p:nvSpPr>
        <p:spPr>
          <a:xfrm>
            <a:off x="5011200" y="4517280"/>
            <a:ext cx="74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debdd"/>
                </a:solidFill>
                <a:latin typeface="Cambria"/>
                <a:ea typeface="Cambria"/>
              </a:rPr>
              <a:t>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49"/>
          <p:cNvSpPr/>
          <p:nvPr/>
        </p:nvSpPr>
        <p:spPr>
          <a:xfrm>
            <a:off x="804600" y="54406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e0ac2b"/>
                </a:solidFill>
                <a:latin typeface="Calibri"/>
                <a:ea typeface="Calibri"/>
              </a:rPr>
              <a:t>Finish by converting the answer back to a mixed number (divide top by bottom).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2 · ADD MIXED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Adding Mixed Numbers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40"/>
          <p:cNvSpPr/>
          <p:nvPr/>
        </p:nvSpPr>
        <p:spPr>
          <a:xfrm>
            <a:off x="868680" y="18288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41"/>
          <p:cNvSpPr/>
          <p:nvPr/>
        </p:nvSpPr>
        <p:spPr>
          <a:xfrm>
            <a:off x="868680" y="18288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2"/>
          <p:cNvSpPr/>
          <p:nvPr/>
        </p:nvSpPr>
        <p:spPr>
          <a:xfrm>
            <a:off x="1362600" y="17920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Work out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 2/3 + 2 3/4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43"/>
          <p:cNvSpPr/>
          <p:nvPr/>
        </p:nvSpPr>
        <p:spPr>
          <a:xfrm>
            <a:off x="868680" y="2560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44"/>
          <p:cNvSpPr/>
          <p:nvPr/>
        </p:nvSpPr>
        <p:spPr>
          <a:xfrm>
            <a:off x="868680" y="2560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45"/>
          <p:cNvSpPr/>
          <p:nvPr/>
        </p:nvSpPr>
        <p:spPr>
          <a:xfrm>
            <a:off x="1362600" y="25236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Make improper: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5/3 + 11/4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46"/>
          <p:cNvSpPr/>
          <p:nvPr/>
        </p:nvSpPr>
        <p:spPr>
          <a:xfrm>
            <a:off x="868680" y="32918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47"/>
          <p:cNvSpPr/>
          <p:nvPr/>
        </p:nvSpPr>
        <p:spPr>
          <a:xfrm>
            <a:off x="868680" y="3291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48"/>
          <p:cNvSpPr/>
          <p:nvPr/>
        </p:nvSpPr>
        <p:spPr>
          <a:xfrm>
            <a:off x="1362600" y="325512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12:  20/12 + 33/12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49"/>
          <p:cNvSpPr/>
          <p:nvPr/>
        </p:nvSpPr>
        <p:spPr>
          <a:xfrm>
            <a:off x="868680" y="4023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50"/>
          <p:cNvSpPr/>
          <p:nvPr/>
        </p:nvSpPr>
        <p:spPr>
          <a:xfrm>
            <a:off x="868680" y="4023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51"/>
          <p:cNvSpPr/>
          <p:nvPr/>
        </p:nvSpPr>
        <p:spPr>
          <a:xfrm>
            <a:off x="1362600" y="39866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Add:  53/12  =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4 and 5/12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52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53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54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Convert each mixed number to an improper fraction first.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LCM of 3 and 4 is 12.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53 ÷ 12 = 4 remainder 5, so 53/12 = 4 5/12.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56"/>
          <p:cNvSpPr/>
          <p:nvPr/>
        </p:nvSpPr>
        <p:spPr>
          <a:xfrm>
            <a:off x="4498920" y="5074920"/>
            <a:ext cx="1942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 2/3 + 2 3/4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57"/>
          <p:cNvSpPr/>
          <p:nvPr/>
        </p:nvSpPr>
        <p:spPr>
          <a:xfrm>
            <a:off x="642384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58"/>
          <p:cNvSpPr/>
          <p:nvPr/>
        </p:nvSpPr>
        <p:spPr>
          <a:xfrm>
            <a:off x="6881400" y="5280840"/>
            <a:ext cx="230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59"/>
          <p:cNvSpPr/>
          <p:nvPr/>
        </p:nvSpPr>
        <p:spPr>
          <a:xfrm>
            <a:off x="7089480" y="5289120"/>
            <a:ext cx="7236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5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60"/>
          <p:cNvSpPr/>
          <p:nvPr/>
        </p:nvSpPr>
        <p:spPr>
          <a:xfrm>
            <a:off x="7203600" y="5646240"/>
            <a:ext cx="49536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61"/>
          <p:cNvSpPr/>
          <p:nvPr/>
        </p:nvSpPr>
        <p:spPr>
          <a:xfrm>
            <a:off x="7089480" y="5682960"/>
            <a:ext cx="7236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12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62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You may add the whole-number parts separately, but converting first avoids slips.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3 · SUBTRACT MIXED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Subtracting Mixed Numbers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40"/>
          <p:cNvSpPr/>
          <p:nvPr/>
        </p:nvSpPr>
        <p:spPr>
          <a:xfrm>
            <a:off x="868680" y="18288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41"/>
          <p:cNvSpPr/>
          <p:nvPr/>
        </p:nvSpPr>
        <p:spPr>
          <a:xfrm>
            <a:off x="868680" y="18288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42"/>
          <p:cNvSpPr/>
          <p:nvPr/>
        </p:nvSpPr>
        <p:spPr>
          <a:xfrm>
            <a:off x="1362600" y="17920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Work out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3 4/7 − 1 5/8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43"/>
          <p:cNvSpPr/>
          <p:nvPr/>
        </p:nvSpPr>
        <p:spPr>
          <a:xfrm>
            <a:off x="868680" y="2560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44"/>
          <p:cNvSpPr/>
          <p:nvPr/>
        </p:nvSpPr>
        <p:spPr>
          <a:xfrm>
            <a:off x="868680" y="2560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45"/>
          <p:cNvSpPr/>
          <p:nvPr/>
        </p:nvSpPr>
        <p:spPr>
          <a:xfrm>
            <a:off x="1362600" y="25236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Make improper: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25/7 − 13/8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46"/>
          <p:cNvSpPr/>
          <p:nvPr/>
        </p:nvSpPr>
        <p:spPr>
          <a:xfrm>
            <a:off x="868680" y="32918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47"/>
          <p:cNvSpPr/>
          <p:nvPr/>
        </p:nvSpPr>
        <p:spPr>
          <a:xfrm>
            <a:off x="868680" y="3291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48"/>
          <p:cNvSpPr/>
          <p:nvPr/>
        </p:nvSpPr>
        <p:spPr>
          <a:xfrm>
            <a:off x="1362600" y="325512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56:  200/56 − 91/56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49"/>
          <p:cNvSpPr/>
          <p:nvPr/>
        </p:nvSpPr>
        <p:spPr>
          <a:xfrm>
            <a:off x="868680" y="4023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50"/>
          <p:cNvSpPr/>
          <p:nvPr/>
        </p:nvSpPr>
        <p:spPr>
          <a:xfrm>
            <a:off x="868680" y="4023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51"/>
          <p:cNvSpPr/>
          <p:nvPr/>
        </p:nvSpPr>
        <p:spPr>
          <a:xfrm>
            <a:off x="1362600" y="39866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Subtract:  109/56  =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1 and 53/56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52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53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out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54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Converting first avoids ‘borrowing’ from the whole number.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LCM of 7 and 8 is 56.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109 ÷ 56 = 1 remainder 53, so 109/56 = 1 53/56.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56"/>
          <p:cNvSpPr/>
          <p:nvPr/>
        </p:nvSpPr>
        <p:spPr>
          <a:xfrm>
            <a:off x="4505760" y="5074920"/>
            <a:ext cx="1942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 4/7 − 1 5/8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57"/>
          <p:cNvSpPr/>
          <p:nvPr/>
        </p:nvSpPr>
        <p:spPr>
          <a:xfrm>
            <a:off x="643068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58"/>
          <p:cNvSpPr/>
          <p:nvPr/>
        </p:nvSpPr>
        <p:spPr>
          <a:xfrm>
            <a:off x="6888240" y="5280840"/>
            <a:ext cx="155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59"/>
          <p:cNvSpPr/>
          <p:nvPr/>
        </p:nvSpPr>
        <p:spPr>
          <a:xfrm>
            <a:off x="7021800" y="5289120"/>
            <a:ext cx="7844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53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60"/>
          <p:cNvSpPr/>
          <p:nvPr/>
        </p:nvSpPr>
        <p:spPr>
          <a:xfrm>
            <a:off x="7135920" y="5646240"/>
            <a:ext cx="55620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61"/>
          <p:cNvSpPr/>
          <p:nvPr/>
        </p:nvSpPr>
        <p:spPr>
          <a:xfrm>
            <a:off x="7021800" y="5682960"/>
            <a:ext cx="7844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56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62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Top-heavy fractions make subtraction safe — no negative fraction parts.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4 · MULTIPLY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Multiplying Fractions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40"/>
          <p:cNvSpPr/>
          <p:nvPr/>
        </p:nvSpPr>
        <p:spPr>
          <a:xfrm>
            <a:off x="868680" y="18288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41"/>
          <p:cNvSpPr/>
          <p:nvPr/>
        </p:nvSpPr>
        <p:spPr>
          <a:xfrm>
            <a:off x="868680" y="18288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42"/>
          <p:cNvSpPr/>
          <p:nvPr/>
        </p:nvSpPr>
        <p:spPr>
          <a:xfrm>
            <a:off x="1362600" y="17920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Work out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 2/3 × 2 1/15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43"/>
          <p:cNvSpPr/>
          <p:nvPr/>
        </p:nvSpPr>
        <p:spPr>
          <a:xfrm>
            <a:off x="868680" y="2560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44"/>
          <p:cNvSpPr/>
          <p:nvPr/>
        </p:nvSpPr>
        <p:spPr>
          <a:xfrm>
            <a:off x="868680" y="2560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45"/>
          <p:cNvSpPr/>
          <p:nvPr/>
        </p:nvSpPr>
        <p:spPr>
          <a:xfrm>
            <a:off x="1362600" y="25236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Make improper: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5/3 × 31/15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46"/>
          <p:cNvSpPr/>
          <p:nvPr/>
        </p:nvSpPr>
        <p:spPr>
          <a:xfrm>
            <a:off x="868680" y="32918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47"/>
          <p:cNvSpPr/>
          <p:nvPr/>
        </p:nvSpPr>
        <p:spPr>
          <a:xfrm>
            <a:off x="868680" y="3291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48"/>
          <p:cNvSpPr/>
          <p:nvPr/>
        </p:nvSpPr>
        <p:spPr>
          <a:xfrm>
            <a:off x="1362600" y="325512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Multiply tops and bottoms:  155/45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49"/>
          <p:cNvSpPr/>
          <p:nvPr/>
        </p:nvSpPr>
        <p:spPr>
          <a:xfrm>
            <a:off x="868680" y="4023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50"/>
          <p:cNvSpPr/>
          <p:nvPr/>
        </p:nvSpPr>
        <p:spPr>
          <a:xfrm>
            <a:off x="868680" y="4023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51"/>
          <p:cNvSpPr/>
          <p:nvPr/>
        </p:nvSpPr>
        <p:spPr>
          <a:xfrm>
            <a:off x="1362600" y="39866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Simplify ÷ 5:  31/9  =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3 and 4/9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52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53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54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No common denominator needed for ×.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Multiply numerators, multiply denominators, then cancel.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Quick check: 2/3 × 3/4 = 6/12 = 1/2.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56"/>
          <p:cNvSpPr/>
          <p:nvPr/>
        </p:nvSpPr>
        <p:spPr>
          <a:xfrm>
            <a:off x="4526280" y="5074920"/>
            <a:ext cx="1978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 2/3 × 2 1/15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57"/>
          <p:cNvSpPr/>
          <p:nvPr/>
        </p:nvSpPr>
        <p:spPr>
          <a:xfrm>
            <a:off x="648720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58"/>
          <p:cNvSpPr/>
          <p:nvPr/>
        </p:nvSpPr>
        <p:spPr>
          <a:xfrm>
            <a:off x="6944760" y="5280840"/>
            <a:ext cx="230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59"/>
          <p:cNvSpPr/>
          <p:nvPr/>
        </p:nvSpPr>
        <p:spPr>
          <a:xfrm>
            <a:off x="7152840" y="5289120"/>
            <a:ext cx="6328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4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60"/>
          <p:cNvSpPr/>
          <p:nvPr/>
        </p:nvSpPr>
        <p:spPr>
          <a:xfrm>
            <a:off x="7266960" y="5646240"/>
            <a:ext cx="40464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61"/>
          <p:cNvSpPr/>
          <p:nvPr/>
        </p:nvSpPr>
        <p:spPr>
          <a:xfrm>
            <a:off x="7152840" y="5682960"/>
            <a:ext cx="6328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9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62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Cancelling common factors before multiplying keeps the numbers small.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PART 5 · DIVIDE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Dividing Fractions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40"/>
          <p:cNvSpPr/>
          <p:nvPr/>
        </p:nvSpPr>
        <p:spPr>
          <a:xfrm>
            <a:off x="868680" y="18288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41"/>
          <p:cNvSpPr/>
          <p:nvPr/>
        </p:nvSpPr>
        <p:spPr>
          <a:xfrm>
            <a:off x="868680" y="18288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42"/>
          <p:cNvSpPr/>
          <p:nvPr/>
        </p:nvSpPr>
        <p:spPr>
          <a:xfrm>
            <a:off x="1362600" y="17920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Work out  </a:t>
            </a:r>
            <a:r>
              <a:rPr b="1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4 2/3 ÷ 1 1/9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43"/>
          <p:cNvSpPr/>
          <p:nvPr/>
        </p:nvSpPr>
        <p:spPr>
          <a:xfrm>
            <a:off x="868680" y="25603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44"/>
          <p:cNvSpPr/>
          <p:nvPr/>
        </p:nvSpPr>
        <p:spPr>
          <a:xfrm>
            <a:off x="868680" y="25603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45"/>
          <p:cNvSpPr/>
          <p:nvPr/>
        </p:nvSpPr>
        <p:spPr>
          <a:xfrm>
            <a:off x="1362600" y="25236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Make improper: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14/3 ÷ 10/9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46"/>
          <p:cNvSpPr/>
          <p:nvPr/>
        </p:nvSpPr>
        <p:spPr>
          <a:xfrm>
            <a:off x="868680" y="32918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47"/>
          <p:cNvSpPr/>
          <p:nvPr/>
        </p:nvSpPr>
        <p:spPr>
          <a:xfrm>
            <a:off x="868680" y="32918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48"/>
          <p:cNvSpPr/>
          <p:nvPr/>
        </p:nvSpPr>
        <p:spPr>
          <a:xfrm>
            <a:off x="1362600" y="325512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Keep, flip, multiply:  14/3 × 9/10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49"/>
          <p:cNvSpPr/>
          <p:nvPr/>
        </p:nvSpPr>
        <p:spPr>
          <a:xfrm>
            <a:off x="868680" y="40233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50"/>
          <p:cNvSpPr/>
          <p:nvPr/>
        </p:nvSpPr>
        <p:spPr>
          <a:xfrm>
            <a:off x="868680" y="40233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51"/>
          <p:cNvSpPr/>
          <p:nvPr/>
        </p:nvSpPr>
        <p:spPr>
          <a:xfrm>
            <a:off x="1362600" y="39866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126/30 = 21/5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4 and 1/5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52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53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Keep – Flip – Multiply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54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Dividing by a fraction = multiplying by its reciprocal (turn it upside down).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Convert mixed numbers first.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126/30, then ÷ 6 = 21/5 = 4 1/5.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56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56"/>
          <p:cNvSpPr/>
          <p:nvPr/>
        </p:nvSpPr>
        <p:spPr>
          <a:xfrm>
            <a:off x="4581720" y="5074920"/>
            <a:ext cx="18684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 2/3 ÷ 1 1/9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57"/>
          <p:cNvSpPr/>
          <p:nvPr/>
        </p:nvSpPr>
        <p:spPr>
          <a:xfrm>
            <a:off x="643212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58"/>
          <p:cNvSpPr/>
          <p:nvPr/>
        </p:nvSpPr>
        <p:spPr>
          <a:xfrm>
            <a:off x="6889680" y="5280840"/>
            <a:ext cx="230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59"/>
          <p:cNvSpPr/>
          <p:nvPr/>
        </p:nvSpPr>
        <p:spPr>
          <a:xfrm>
            <a:off x="7097400" y="5289120"/>
            <a:ext cx="6328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1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60"/>
          <p:cNvSpPr/>
          <p:nvPr/>
        </p:nvSpPr>
        <p:spPr>
          <a:xfrm>
            <a:off x="7211520" y="5646240"/>
            <a:ext cx="40464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61"/>
          <p:cNvSpPr/>
          <p:nvPr/>
        </p:nvSpPr>
        <p:spPr>
          <a:xfrm>
            <a:off x="7097400" y="5682960"/>
            <a:ext cx="6328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10" spc="-1" strike="noStrike">
                <a:solidFill>
                  <a:srgbClr val="e0ac2b"/>
                </a:solidFill>
                <a:latin typeface="Cambria"/>
                <a:ea typeface="Cambria"/>
              </a:rPr>
              <a:t>5</a:t>
            </a:r>
            <a:endParaRPr b="0" lang="en-US" sz="1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62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Only the second fraction is flipped — never the first.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SKILLS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‘</a:t>
            </a: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Show That’ — Your Turn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39"/>
          <p:cNvSpPr/>
          <p:nvPr/>
        </p:nvSpPr>
        <p:spPr>
          <a:xfrm>
            <a:off x="567000" y="148140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40"/>
          <p:cNvSpPr/>
          <p:nvPr/>
        </p:nvSpPr>
        <p:spPr>
          <a:xfrm>
            <a:off x="887040" y="148140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debdd"/>
                </a:solidFill>
                <a:latin typeface="Calibri"/>
                <a:ea typeface="Calibri"/>
              </a:rPr>
              <a:t>Convert each mixed number to an improper fraction, then show every line of working.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41"/>
          <p:cNvSpPr/>
          <p:nvPr/>
        </p:nvSpPr>
        <p:spPr>
          <a:xfrm>
            <a:off x="567000" y="2468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42"/>
          <p:cNvSpPr/>
          <p:nvPr/>
        </p:nvSpPr>
        <p:spPr>
          <a:xfrm>
            <a:off x="841320" y="2597040"/>
            <a:ext cx="402120" cy="402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43"/>
          <p:cNvSpPr/>
          <p:nvPr/>
        </p:nvSpPr>
        <p:spPr>
          <a:xfrm>
            <a:off x="841320" y="25970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 44"/>
          <p:cNvSpPr/>
          <p:nvPr/>
        </p:nvSpPr>
        <p:spPr>
          <a:xfrm>
            <a:off x="1463040" y="2468880"/>
            <a:ext cx="9875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Show that   2 2/3  +  3 3/4   =   6 5/12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45"/>
          <p:cNvSpPr/>
          <p:nvPr/>
        </p:nvSpPr>
        <p:spPr>
          <a:xfrm>
            <a:off x="567000" y="32551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46"/>
          <p:cNvSpPr/>
          <p:nvPr/>
        </p:nvSpPr>
        <p:spPr>
          <a:xfrm>
            <a:off x="841320" y="3383280"/>
            <a:ext cx="402120" cy="402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47"/>
          <p:cNvSpPr/>
          <p:nvPr/>
        </p:nvSpPr>
        <p:spPr>
          <a:xfrm>
            <a:off x="841320" y="33832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48"/>
          <p:cNvSpPr/>
          <p:nvPr/>
        </p:nvSpPr>
        <p:spPr>
          <a:xfrm>
            <a:off x="1463040" y="3255120"/>
            <a:ext cx="9875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Show that   5 1/3  −  2 6/7   =   2 10/21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49"/>
          <p:cNvSpPr/>
          <p:nvPr/>
        </p:nvSpPr>
        <p:spPr>
          <a:xfrm>
            <a:off x="567000" y="40417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50"/>
          <p:cNvSpPr/>
          <p:nvPr/>
        </p:nvSpPr>
        <p:spPr>
          <a:xfrm>
            <a:off x="841320" y="4169520"/>
            <a:ext cx="402120" cy="402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Text 51"/>
          <p:cNvSpPr/>
          <p:nvPr/>
        </p:nvSpPr>
        <p:spPr>
          <a:xfrm>
            <a:off x="841320" y="41695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52"/>
          <p:cNvSpPr/>
          <p:nvPr/>
        </p:nvSpPr>
        <p:spPr>
          <a:xfrm>
            <a:off x="1463040" y="4041720"/>
            <a:ext cx="9875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Show that   3 1/5  ×  1 5/6   =   5 13/15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53"/>
          <p:cNvSpPr/>
          <p:nvPr/>
        </p:nvSpPr>
        <p:spPr>
          <a:xfrm>
            <a:off x="567000" y="482796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54"/>
          <p:cNvSpPr/>
          <p:nvPr/>
        </p:nvSpPr>
        <p:spPr>
          <a:xfrm>
            <a:off x="841320" y="4956120"/>
            <a:ext cx="402120" cy="402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 55"/>
          <p:cNvSpPr/>
          <p:nvPr/>
        </p:nvSpPr>
        <p:spPr>
          <a:xfrm>
            <a:off x="841320" y="49561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56"/>
          <p:cNvSpPr/>
          <p:nvPr/>
        </p:nvSpPr>
        <p:spPr>
          <a:xfrm>
            <a:off x="1463040" y="4827960"/>
            <a:ext cx="9875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Show that   3 5/7  ÷  1 5/8   =   2 2/7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57"/>
          <p:cNvSpPr/>
          <p:nvPr/>
        </p:nvSpPr>
        <p:spPr>
          <a:xfrm>
            <a:off x="567000" y="561456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58"/>
          <p:cNvSpPr/>
          <p:nvPr/>
        </p:nvSpPr>
        <p:spPr>
          <a:xfrm>
            <a:off x="841320" y="5742360"/>
            <a:ext cx="402120" cy="402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 59"/>
          <p:cNvSpPr/>
          <p:nvPr/>
        </p:nvSpPr>
        <p:spPr>
          <a:xfrm>
            <a:off x="841320" y="574236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60"/>
          <p:cNvSpPr/>
          <p:nvPr/>
        </p:nvSpPr>
        <p:spPr>
          <a:xfrm>
            <a:off x="1463040" y="5614560"/>
            <a:ext cx="9875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Show that   6 3/4  ÷  2 4/7   =   2 5/8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Exam-Style Questions (Non-Calculator)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39"/>
          <p:cNvSpPr/>
          <p:nvPr/>
        </p:nvSpPr>
        <p:spPr>
          <a:xfrm>
            <a:off x="567000" y="157284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40"/>
          <p:cNvSpPr/>
          <p:nvPr/>
        </p:nvSpPr>
        <p:spPr>
          <a:xfrm>
            <a:off x="841320" y="171900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41"/>
          <p:cNvSpPr/>
          <p:nvPr/>
        </p:nvSpPr>
        <p:spPr>
          <a:xfrm>
            <a:off x="841320" y="17190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42"/>
          <p:cNvSpPr/>
          <p:nvPr/>
        </p:nvSpPr>
        <p:spPr>
          <a:xfrm>
            <a:off x="1463040" y="1572840"/>
            <a:ext cx="9143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Work out   2/5 + 1/4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 43"/>
          <p:cNvSpPr/>
          <p:nvPr/>
        </p:nvSpPr>
        <p:spPr>
          <a:xfrm>
            <a:off x="10607040" y="1572840"/>
            <a:ext cx="8226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44"/>
          <p:cNvSpPr/>
          <p:nvPr/>
        </p:nvSpPr>
        <p:spPr>
          <a:xfrm>
            <a:off x="567000" y="243216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45"/>
          <p:cNvSpPr/>
          <p:nvPr/>
        </p:nvSpPr>
        <p:spPr>
          <a:xfrm>
            <a:off x="841320" y="257868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Text 46"/>
          <p:cNvSpPr/>
          <p:nvPr/>
        </p:nvSpPr>
        <p:spPr>
          <a:xfrm>
            <a:off x="841320" y="25786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47"/>
          <p:cNvSpPr/>
          <p:nvPr/>
        </p:nvSpPr>
        <p:spPr>
          <a:xfrm>
            <a:off x="1463040" y="2432160"/>
            <a:ext cx="9143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Work out   5/6 − 3/8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48"/>
          <p:cNvSpPr/>
          <p:nvPr/>
        </p:nvSpPr>
        <p:spPr>
          <a:xfrm>
            <a:off x="10607040" y="2432160"/>
            <a:ext cx="8226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49"/>
          <p:cNvSpPr/>
          <p:nvPr/>
        </p:nvSpPr>
        <p:spPr>
          <a:xfrm>
            <a:off x="567000" y="329184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50"/>
          <p:cNvSpPr/>
          <p:nvPr/>
        </p:nvSpPr>
        <p:spPr>
          <a:xfrm>
            <a:off x="841320" y="343800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51"/>
          <p:cNvSpPr/>
          <p:nvPr/>
        </p:nvSpPr>
        <p:spPr>
          <a:xfrm>
            <a:off x="841320" y="34380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52"/>
          <p:cNvSpPr/>
          <p:nvPr/>
        </p:nvSpPr>
        <p:spPr>
          <a:xfrm>
            <a:off x="1463040" y="3291840"/>
            <a:ext cx="9143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Work out   2 1/3  ×  1 4/5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53"/>
          <p:cNvSpPr/>
          <p:nvPr/>
        </p:nvSpPr>
        <p:spPr>
          <a:xfrm>
            <a:off x="10607040" y="3291840"/>
            <a:ext cx="8226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54"/>
          <p:cNvSpPr/>
          <p:nvPr/>
        </p:nvSpPr>
        <p:spPr>
          <a:xfrm>
            <a:off x="567000" y="415152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55"/>
          <p:cNvSpPr/>
          <p:nvPr/>
        </p:nvSpPr>
        <p:spPr>
          <a:xfrm>
            <a:off x="841320" y="429768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56"/>
          <p:cNvSpPr/>
          <p:nvPr/>
        </p:nvSpPr>
        <p:spPr>
          <a:xfrm>
            <a:off x="841320" y="42976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57"/>
          <p:cNvSpPr/>
          <p:nvPr/>
        </p:nvSpPr>
        <p:spPr>
          <a:xfrm>
            <a:off x="1463040" y="4151520"/>
            <a:ext cx="9143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Work out   3 1/2  ÷  1 1/4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58"/>
          <p:cNvSpPr/>
          <p:nvPr/>
        </p:nvSpPr>
        <p:spPr>
          <a:xfrm>
            <a:off x="10607040" y="4151520"/>
            <a:ext cx="8226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59"/>
          <p:cNvSpPr/>
          <p:nvPr/>
        </p:nvSpPr>
        <p:spPr>
          <a:xfrm>
            <a:off x="567000" y="501084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60"/>
          <p:cNvSpPr/>
          <p:nvPr/>
        </p:nvSpPr>
        <p:spPr>
          <a:xfrm>
            <a:off x="841320" y="515736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61"/>
          <p:cNvSpPr/>
          <p:nvPr/>
        </p:nvSpPr>
        <p:spPr>
          <a:xfrm>
            <a:off x="841320" y="5157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62"/>
          <p:cNvSpPr/>
          <p:nvPr/>
        </p:nvSpPr>
        <p:spPr>
          <a:xfrm>
            <a:off x="1463040" y="5010840"/>
            <a:ext cx="9143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c2a22"/>
                </a:solidFill>
                <a:latin typeface="Cambria"/>
                <a:ea typeface="Cambria"/>
              </a:rPr>
              <a:t>A recipe needs 3/4 cup of sugar. Mariam makes 2 1/2 batches. How much sugar?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63"/>
          <p:cNvSpPr/>
          <p:nvPr/>
        </p:nvSpPr>
        <p:spPr>
          <a:xfrm>
            <a:off x="10607040" y="5010840"/>
            <a:ext cx="8226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64"/>
          <p:cNvSpPr/>
          <p:nvPr/>
        </p:nvSpPr>
        <p:spPr>
          <a:xfrm>
            <a:off x="567000" y="6199560"/>
            <a:ext cx="11063880" cy="4568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65"/>
          <p:cNvSpPr/>
          <p:nvPr/>
        </p:nvSpPr>
        <p:spPr>
          <a:xfrm>
            <a:off x="822960" y="619956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1)  13/20      2)  11/24      3)  4 1/5      4)  2 4/5      5)  1 7/8 cups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38"/>
          <p:cNvSpPr/>
          <p:nvPr/>
        </p:nvSpPr>
        <p:spPr>
          <a:xfrm>
            <a:off x="777240" y="141732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39"/>
          <p:cNvSpPr/>
          <p:nvPr/>
        </p:nvSpPr>
        <p:spPr>
          <a:xfrm>
            <a:off x="868680" y="241416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Text 40"/>
          <p:cNvSpPr/>
          <p:nvPr/>
        </p:nvSpPr>
        <p:spPr>
          <a:xfrm>
            <a:off x="1234440" y="237744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debdd"/>
                </a:solidFill>
                <a:latin typeface="Calibri"/>
                <a:ea typeface="Calibri"/>
              </a:rPr>
              <a:t>Add / subtract: use a common denominator, then combine the numerators.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Shape 41"/>
          <p:cNvSpPr/>
          <p:nvPr/>
        </p:nvSpPr>
        <p:spPr>
          <a:xfrm>
            <a:off x="868680" y="298080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42"/>
          <p:cNvSpPr/>
          <p:nvPr/>
        </p:nvSpPr>
        <p:spPr>
          <a:xfrm>
            <a:off x="1234440" y="294444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debdd"/>
                </a:solidFill>
                <a:latin typeface="Calibri"/>
                <a:ea typeface="Calibri"/>
              </a:rPr>
              <a:t>Multiply: multiply the tops and the bottoms — cancel to keep numbers small.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43"/>
          <p:cNvSpPr/>
          <p:nvPr/>
        </p:nvSpPr>
        <p:spPr>
          <a:xfrm>
            <a:off x="868680" y="354780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44"/>
          <p:cNvSpPr/>
          <p:nvPr/>
        </p:nvSpPr>
        <p:spPr>
          <a:xfrm>
            <a:off x="1234440" y="351144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debdd"/>
                </a:solidFill>
                <a:latin typeface="Calibri"/>
                <a:ea typeface="Calibri"/>
              </a:rPr>
              <a:t>Divide: keep the first fraction, flip the second, then multiply.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Shape 45"/>
          <p:cNvSpPr/>
          <p:nvPr/>
        </p:nvSpPr>
        <p:spPr>
          <a:xfrm>
            <a:off x="868680" y="411480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46"/>
          <p:cNvSpPr/>
          <p:nvPr/>
        </p:nvSpPr>
        <p:spPr>
          <a:xfrm>
            <a:off x="1234440" y="407808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debdd"/>
                </a:solidFill>
                <a:latin typeface="Calibri"/>
                <a:ea typeface="Calibri"/>
              </a:rPr>
              <a:t>Mixed numbers: change to improper fractions first, then convert the answer back.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47"/>
          <p:cNvSpPr/>
          <p:nvPr/>
        </p:nvSpPr>
        <p:spPr>
          <a:xfrm>
            <a:off x="868680" y="468180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48"/>
          <p:cNvSpPr/>
          <p:nvPr/>
        </p:nvSpPr>
        <p:spPr>
          <a:xfrm>
            <a:off x="1234440" y="464508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debdd"/>
                </a:solidFill>
                <a:latin typeface="Calibri"/>
                <a:ea typeface="Calibri"/>
              </a:rPr>
              <a:t>Always give your answer in its simplest form.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50"/>
          <p:cNvSpPr/>
          <p:nvPr/>
        </p:nvSpPr>
        <p:spPr>
          <a:xfrm>
            <a:off x="1097280" y="5532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8" strike="noStrike">
                <a:solidFill>
                  <a:srgbClr val="e0ac2b"/>
                </a:solidFill>
                <a:latin typeface="Calibri"/>
                <a:ea typeface="Calibri"/>
              </a:rPr>
              <a:t>Remember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51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× and ÷ </a:t>
            </a:r>
            <a:r>
              <a:rPr b="0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need no common denominator;   </a:t>
            </a: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+ and − </a:t>
            </a:r>
            <a:r>
              <a:rPr b="0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always do.   Change mixed numbers to improper fractions first.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2026-06-28T18:00:32Z</dcterms:created>
  <dc:creator>Zahra Sheikh Ali</dc:creator>
  <dc:description/>
  <dc:language>en-US</dc:language>
  <cp:lastModifiedBy>Zahra Sheikh Ali</cp:lastModifiedBy>
  <dcterms:modified xsi:type="dcterms:W3CDTF">2026-06-28T18:00:32Z</dcterms:modified>
  <cp:revision>1</cp:revision>
  <dc:subject>PptxGenJS Presentation</dc:subject>
  <dc:title>Fractions — Add, Subtract, Multiply &amp; Divide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