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audio1.wav" ContentType="audio/x-wav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F5C6FD2-AE19-47C0-A02D-E62EB7EFF1E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0E42719-B760-4CEE-95D2-5BCCA6BB56F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D4975F2-D7C3-461B-BB04-B47AA015612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476BB60-2075-46D2-8EFB-85FE45C4B63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A29D290-3836-4A68-9752-7A48845A5C1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2E5D95-1FAA-4CA0-B9BE-FB8A6B792E2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121ED21-9886-4EBF-9B75-F635ADBEB18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C27E130-78F0-4D12-A308-E0155A87114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F871C83-448F-47A6-8DFC-90D537E2407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6EB0DA-1582-4731-9BD4-864991F2B6C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E28E8E-25D5-4639-909E-AA7BBC51A88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86453F5-018A-4F48-92D5-90E1B004855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51BDEFC-8C00-4234-9C37-7A2E2656F25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C06CFC-BBE8-4818-B462-44CF5BE624A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EB98BB4-B2E8-45A5-B798-03614A74E4C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BEFE3C3-3D16-4765-B510-11EC62E31F2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oleObject" Target="../embeddings/oleObject3.bin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5.bin"/><Relationship Id="rId6" Type="http://schemas.openxmlformats.org/officeDocument/2006/relationships/oleObject" Target="../embeddings/oleObject6.bin"/><Relationship Id="rId7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2.bin"/><Relationship Id="rId3" Type="http://schemas.openxmlformats.org/officeDocument/2006/relationships/oleObject" Target="../embeddings/oleObject3.bin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5.bin"/><Relationship Id="rId6" Type="http://schemas.openxmlformats.org/officeDocument/2006/relationships/oleObject" Target="../embeddings/oleObject6.bin"/><Relationship Id="rId7" Type="http://schemas.openxmlformats.org/officeDocument/2006/relationships/oleObject" Target="../embeddings/oleObject7.bin"/><Relationship Id="rId8" Type="http://schemas.openxmlformats.org/officeDocument/2006/relationships/oleObject" Target="../embeddings/oleObject8.bin"/><Relationship Id="rId9" Type="http://schemas.openxmlformats.org/officeDocument/2006/relationships/oleObject" Target="../embeddings/oleObject9.bin"/><Relationship Id="rId10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audio" Target="../media/audio1.wav"/><Relationship Id="rId3" Type="http://schemas.openxmlformats.org/officeDocument/2006/relationships/audio" Target="../media/audio1.wav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audio" Target="../media/audio1.wav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audio" Target="../media/audio1.wav"/><Relationship Id="rId3" Type="http://schemas.openxmlformats.org/officeDocument/2006/relationships/audio" Target="../media/audio1.wav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778240" y="2377440"/>
            <a:ext cx="2194560" cy="360"/>
          </a:xfrm>
          <a:prstGeom prst="line">
            <a:avLst/>
          </a:prstGeom>
          <a:ln w="38100">
            <a:solidFill>
              <a:srgbClr val="33463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ac2b"/>
                </a:solidFill>
                <a:latin typeface="Cambria"/>
                <a:ea typeface="Cambria"/>
              </a:rPr>
              <a:t>Vectors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Column Vectors · Magnitude · Adding &amp; Subtracting · Scalar Multiples · Vector Geometry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Quantities with Size AND Direction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vector has both a MAGNITUDE (size) and a DIRECTION.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We write it as a column, or with an arrow. This lesson builds up to full vector-geometry proofs.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Column vectors &amp; notation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Magnitude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Adding &amp; subtracting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Scalar multiples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Parallel vectors &amp; paths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vector · column vector · magnitude · scalar · parallel · resultant · position · ratio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ounded Rectangle 2"/>
          <p:cNvSpPr/>
          <p:nvPr/>
        </p:nvSpPr>
        <p:spPr>
          <a:xfrm>
            <a:off x="465840" y="6480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1225080" y="8784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BEFORE WE START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1225080" y="379800"/>
            <a:ext cx="98751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</a:rPr>
              <a:t>Speed vs Velocity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1225080" y="90612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Vectors exist because some quantities need a direction as well as a size. Compare these two ideas.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6"/>
          <p:cNvSpPr/>
          <p:nvPr/>
        </p:nvSpPr>
        <p:spPr>
          <a:xfrm>
            <a:off x="402120" y="1147680"/>
            <a:ext cx="5528520" cy="230364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533880" y="1193400"/>
            <a:ext cx="47088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</a:rPr>
              <a:t>Speed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497160" y="1668240"/>
            <a:ext cx="4781880" cy="10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How fast something moves.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Has magnitude only — just a number.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“</a:t>
            </a: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I moved 5 steps.”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This tells us HOW MUCH, but not which way.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ounded Rectangle 9"/>
          <p:cNvSpPr/>
          <p:nvPr/>
        </p:nvSpPr>
        <p:spPr>
          <a:xfrm>
            <a:off x="497160" y="2849400"/>
            <a:ext cx="2377080" cy="456840"/>
          </a:xfrm>
          <a:prstGeom prst="roundRect">
            <a:avLst>
              <a:gd name="adj" fmla="val 30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</a:rPr>
              <a:t>magnitude only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10"/>
          <p:cNvSpPr/>
          <p:nvPr/>
        </p:nvSpPr>
        <p:spPr>
          <a:xfrm>
            <a:off x="6117120" y="1147680"/>
            <a:ext cx="5348880" cy="230364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6199560" y="1211040"/>
            <a:ext cx="47088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</a:rPr>
              <a:t>Velocity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6199560" y="1650600"/>
            <a:ext cx="4708800" cy="10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How fast AND in which direction.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Has magnitude + direction — a vector.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“</a:t>
            </a: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I moved 5 steps to the right.”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5 steps = magnitude.  Right = direction.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ounded Rectangle 13"/>
          <p:cNvSpPr/>
          <p:nvPr/>
        </p:nvSpPr>
        <p:spPr>
          <a:xfrm>
            <a:off x="6235560" y="2849400"/>
            <a:ext cx="2834280" cy="456840"/>
          </a:xfrm>
          <a:prstGeom prst="roundRect">
            <a:avLst>
              <a:gd name="adj" fmla="val 30000"/>
            </a:avLst>
          </a:prstGeom>
          <a:solidFill>
            <a:srgbClr val="c84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mbria"/>
              </a:rPr>
              <a:t>magnitude + direction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Oval 14"/>
          <p:cNvSpPr/>
          <p:nvPr/>
        </p:nvSpPr>
        <p:spPr>
          <a:xfrm>
            <a:off x="7593840" y="1378800"/>
            <a:ext cx="35640" cy="3564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34" name="Connector 15"/>
          <p:cNvCxnSpPr/>
          <p:nvPr/>
        </p:nvCxnSpPr>
        <p:spPr>
          <a:xfrm>
            <a:off x="7611480" y="1396440"/>
            <a:ext cx="1463400" cy="360"/>
          </a:xfrm>
          <a:prstGeom prst="straightConnector1">
            <a:avLst/>
          </a:prstGeom>
          <a:ln w="33020">
            <a:solidFill>
              <a:srgbClr val="c84f2f"/>
            </a:solidFill>
            <a:tailEnd len="med" type="triangle" w="med"/>
          </a:ln>
        </p:spPr>
      </p:cxnSp>
      <p:sp>
        <p:nvSpPr>
          <p:cNvPr id="135" name="Rounded Rectangle 16"/>
          <p:cNvSpPr/>
          <p:nvPr/>
        </p:nvSpPr>
        <p:spPr>
          <a:xfrm>
            <a:off x="223920" y="3596040"/>
            <a:ext cx="11057400" cy="39528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</a:rPr>
              <a:t>A vector is a quantity with both magnitude and direction — velocity is a vector, speed is not.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ounded Rectangle 17"/>
          <p:cNvSpPr/>
          <p:nvPr/>
        </p:nvSpPr>
        <p:spPr>
          <a:xfrm>
            <a:off x="36360" y="4150080"/>
            <a:ext cx="5348880" cy="20376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18"/>
          <p:cNvSpPr/>
          <p:nvPr/>
        </p:nvSpPr>
        <p:spPr>
          <a:xfrm>
            <a:off x="356400" y="4424400"/>
            <a:ext cx="4708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</a:rPr>
              <a:t>Coordinates (x, 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9"/>
          <p:cNvSpPr/>
          <p:nvPr/>
        </p:nvSpPr>
        <p:spPr>
          <a:xfrm>
            <a:off x="356400" y="5018760"/>
            <a:ext cx="47088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Represent a POSITION.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“</a:t>
            </a: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The point is at (3, 5).”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Fixed — tied to the origin.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Written with a comma: (3, 5).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20"/>
          <p:cNvSpPr/>
          <p:nvPr/>
        </p:nvSpPr>
        <p:spPr>
          <a:xfrm>
            <a:off x="5751360" y="4150080"/>
            <a:ext cx="5348880" cy="20376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1"/>
          <p:cNvSpPr/>
          <p:nvPr/>
        </p:nvSpPr>
        <p:spPr>
          <a:xfrm>
            <a:off x="6071400" y="4424400"/>
            <a:ext cx="4708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</a:rPr>
              <a:t>Vectors (right, up)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2"/>
          <p:cNvSpPr/>
          <p:nvPr/>
        </p:nvSpPr>
        <p:spPr>
          <a:xfrm>
            <a:off x="5961600" y="4772520"/>
            <a:ext cx="47088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Represent a MOVEMENT.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“</a:t>
            </a: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Move 3 right and 5 up.”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Free — can start anywhere.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Written stacked, no comma: (3 over 5).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23"/>
          <p:cNvSpPr/>
          <p:nvPr/>
        </p:nvSpPr>
        <p:spPr>
          <a:xfrm>
            <a:off x="42480" y="6311160"/>
            <a:ext cx="11057400" cy="47268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Coordinates fix a position; vectors describe a movement between positions.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Writing a Vector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vector takes you FROM one point TO another.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top number is across (right +), the bottom is up (up +).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47"/>
          <p:cNvSpPr/>
          <p:nvPr/>
        </p:nvSpPr>
        <p:spPr>
          <a:xfrm>
            <a:off x="5760720" y="2286000"/>
            <a:ext cx="5870160" cy="320004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8"/>
          <p:cNvSpPr/>
          <p:nvPr/>
        </p:nvSpPr>
        <p:spPr>
          <a:xfrm>
            <a:off x="6126480" y="2523600"/>
            <a:ext cx="513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Three ways to write 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49"/>
          <p:cNvSpPr/>
          <p:nvPr/>
        </p:nvSpPr>
        <p:spPr>
          <a:xfrm>
            <a:off x="6126480" y="2926080"/>
            <a:ext cx="51202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• </a:t>
            </a: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with the endpoints:  AB (with an arrow on top)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• </a:t>
            </a: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with a bold/underlined letter:  a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• </a:t>
            </a: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as a COLUMN vector: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50"/>
          <p:cNvSpPr/>
          <p:nvPr/>
        </p:nvSpPr>
        <p:spPr>
          <a:xfrm>
            <a:off x="7040880" y="44164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51"/>
          <p:cNvSpPr/>
          <p:nvPr/>
        </p:nvSpPr>
        <p:spPr>
          <a:xfrm>
            <a:off x="7040880" y="481896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−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52"/>
          <p:cNvSpPr/>
          <p:nvPr/>
        </p:nvSpPr>
        <p:spPr>
          <a:xfrm>
            <a:off x="6995160" y="439812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53"/>
          <p:cNvSpPr/>
          <p:nvPr/>
        </p:nvSpPr>
        <p:spPr>
          <a:xfrm>
            <a:off x="6995160" y="4398120"/>
            <a:ext cx="109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54"/>
          <p:cNvSpPr/>
          <p:nvPr/>
        </p:nvSpPr>
        <p:spPr>
          <a:xfrm>
            <a:off x="6995160" y="5221080"/>
            <a:ext cx="109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55"/>
          <p:cNvSpPr/>
          <p:nvPr/>
        </p:nvSpPr>
        <p:spPr>
          <a:xfrm>
            <a:off x="8001000" y="439812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56"/>
          <p:cNvSpPr/>
          <p:nvPr/>
        </p:nvSpPr>
        <p:spPr>
          <a:xfrm>
            <a:off x="7891200" y="439812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57"/>
          <p:cNvSpPr/>
          <p:nvPr/>
        </p:nvSpPr>
        <p:spPr>
          <a:xfrm>
            <a:off x="7891200" y="522108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8"/>
          <p:cNvSpPr/>
          <p:nvPr/>
        </p:nvSpPr>
        <p:spPr>
          <a:xfrm>
            <a:off x="8229600" y="46177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4 right, 2 down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9"/>
          <p:cNvSpPr/>
          <p:nvPr/>
        </p:nvSpPr>
        <p:spPr>
          <a:xfrm>
            <a:off x="567000" y="58064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BA is the reverse of AB — same length, opposite direction (negate both numbers).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7" name="Group 280"/>
          <p:cNvGrpSpPr/>
          <p:nvPr/>
        </p:nvGrpSpPr>
        <p:grpSpPr>
          <a:xfrm>
            <a:off x="975600" y="2163960"/>
            <a:ext cx="3345120" cy="3499920"/>
            <a:chOff x="975600" y="2163960"/>
            <a:chExt cx="3345120" cy="3499920"/>
          </a:xfrm>
        </p:grpSpPr>
        <p:sp>
          <p:nvSpPr>
            <p:cNvPr id="198" name="Rectangle 62"/>
            <p:cNvSpPr/>
            <p:nvPr/>
          </p:nvSpPr>
          <p:spPr>
            <a:xfrm>
              <a:off x="975960" y="2257560"/>
              <a:ext cx="3300120" cy="3406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grpSp>
          <p:nvGrpSpPr>
            <p:cNvPr id="199" name="Group 304"/>
            <p:cNvGrpSpPr/>
            <p:nvPr/>
          </p:nvGrpSpPr>
          <p:grpSpPr>
            <a:xfrm>
              <a:off x="975600" y="2163960"/>
              <a:ext cx="3345120" cy="3465000"/>
              <a:chOff x="975600" y="2163960"/>
              <a:chExt cx="3345120" cy="3465000"/>
            </a:xfrm>
          </p:grpSpPr>
          <p:grpSp>
            <p:nvGrpSpPr>
              <p:cNvPr id="200" name="Group 5"/>
              <p:cNvGrpSpPr/>
              <p:nvPr/>
            </p:nvGrpSpPr>
            <p:grpSpPr>
              <a:xfrm>
                <a:off x="982440" y="2257560"/>
                <a:ext cx="3250440" cy="3371400"/>
                <a:chOff x="982440" y="2257560"/>
                <a:chExt cx="3250440" cy="3371400"/>
              </a:xfrm>
            </p:grpSpPr>
            <p:sp>
              <p:nvSpPr>
                <p:cNvPr id="201" name="Rectangle 6"/>
                <p:cNvSpPr/>
                <p:nvPr/>
              </p:nvSpPr>
              <p:spPr>
                <a:xfrm>
                  <a:off x="98244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02" name="Rectangle 7"/>
                <p:cNvSpPr/>
                <p:nvPr/>
              </p:nvSpPr>
              <p:spPr>
                <a:xfrm>
                  <a:off x="118584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03" name="Rectangle 8"/>
                <p:cNvSpPr/>
                <p:nvPr/>
              </p:nvSpPr>
              <p:spPr>
                <a:xfrm>
                  <a:off x="98244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04" name="Rectangle 9"/>
                <p:cNvSpPr/>
                <p:nvPr/>
              </p:nvSpPr>
              <p:spPr>
                <a:xfrm>
                  <a:off x="118584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05" name="Rectangle 10"/>
                <p:cNvSpPr/>
                <p:nvPr/>
              </p:nvSpPr>
              <p:spPr>
                <a:xfrm>
                  <a:off x="138888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06" name="Rectangle 11"/>
                <p:cNvSpPr/>
                <p:nvPr/>
              </p:nvSpPr>
              <p:spPr>
                <a:xfrm>
                  <a:off x="159228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07" name="Rectangle 12"/>
                <p:cNvSpPr/>
                <p:nvPr/>
              </p:nvSpPr>
              <p:spPr>
                <a:xfrm>
                  <a:off x="138888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08" name="Rectangle 13"/>
                <p:cNvSpPr/>
                <p:nvPr/>
              </p:nvSpPr>
              <p:spPr>
                <a:xfrm>
                  <a:off x="159228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09" name="Rectangle 14"/>
                <p:cNvSpPr/>
                <p:nvPr/>
              </p:nvSpPr>
              <p:spPr>
                <a:xfrm>
                  <a:off x="98244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0" name="Rectangle 15"/>
                <p:cNvSpPr/>
                <p:nvPr/>
              </p:nvSpPr>
              <p:spPr>
                <a:xfrm>
                  <a:off x="118584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1" name="Rectangle 16"/>
                <p:cNvSpPr/>
                <p:nvPr/>
              </p:nvSpPr>
              <p:spPr>
                <a:xfrm>
                  <a:off x="98244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2" name="Rectangle 17"/>
                <p:cNvSpPr/>
                <p:nvPr/>
              </p:nvSpPr>
              <p:spPr>
                <a:xfrm>
                  <a:off x="118584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3" name="Rectangle 18"/>
                <p:cNvSpPr/>
                <p:nvPr/>
              </p:nvSpPr>
              <p:spPr>
                <a:xfrm>
                  <a:off x="138888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4" name="Rectangle 19"/>
                <p:cNvSpPr/>
                <p:nvPr/>
              </p:nvSpPr>
              <p:spPr>
                <a:xfrm>
                  <a:off x="159228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5" name="Rectangle 20"/>
                <p:cNvSpPr/>
                <p:nvPr/>
              </p:nvSpPr>
              <p:spPr>
                <a:xfrm>
                  <a:off x="138888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6" name="Rectangle 21"/>
                <p:cNvSpPr/>
                <p:nvPr/>
              </p:nvSpPr>
              <p:spPr>
                <a:xfrm>
                  <a:off x="159228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7" name="Rectangle 22"/>
                <p:cNvSpPr/>
                <p:nvPr/>
              </p:nvSpPr>
              <p:spPr>
                <a:xfrm>
                  <a:off x="179532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8" name="Rectangle 23"/>
                <p:cNvSpPr/>
                <p:nvPr/>
              </p:nvSpPr>
              <p:spPr>
                <a:xfrm>
                  <a:off x="199836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19" name="Rectangle 24"/>
                <p:cNvSpPr/>
                <p:nvPr/>
              </p:nvSpPr>
              <p:spPr>
                <a:xfrm>
                  <a:off x="179532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0" name="Rectangle 25"/>
                <p:cNvSpPr/>
                <p:nvPr/>
              </p:nvSpPr>
              <p:spPr>
                <a:xfrm>
                  <a:off x="199836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1" name="Rectangle 26"/>
                <p:cNvSpPr/>
                <p:nvPr/>
              </p:nvSpPr>
              <p:spPr>
                <a:xfrm>
                  <a:off x="220176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2" name="Rectangle 27"/>
                <p:cNvSpPr/>
                <p:nvPr/>
              </p:nvSpPr>
              <p:spPr>
                <a:xfrm>
                  <a:off x="240480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3" name="Rectangle 28"/>
                <p:cNvSpPr/>
                <p:nvPr/>
              </p:nvSpPr>
              <p:spPr>
                <a:xfrm>
                  <a:off x="220176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4" name="Rectangle 29"/>
                <p:cNvSpPr/>
                <p:nvPr/>
              </p:nvSpPr>
              <p:spPr>
                <a:xfrm>
                  <a:off x="240480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5" name="Rectangle 30"/>
                <p:cNvSpPr/>
                <p:nvPr/>
              </p:nvSpPr>
              <p:spPr>
                <a:xfrm>
                  <a:off x="179532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6" name="Rectangle 31"/>
                <p:cNvSpPr/>
                <p:nvPr/>
              </p:nvSpPr>
              <p:spPr>
                <a:xfrm>
                  <a:off x="199836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7" name="Rectangle 32"/>
                <p:cNvSpPr/>
                <p:nvPr/>
              </p:nvSpPr>
              <p:spPr>
                <a:xfrm>
                  <a:off x="179532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8" name="Rectangle 33"/>
                <p:cNvSpPr/>
                <p:nvPr/>
              </p:nvSpPr>
              <p:spPr>
                <a:xfrm>
                  <a:off x="199836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29" name="Rectangle 34"/>
                <p:cNvSpPr/>
                <p:nvPr/>
              </p:nvSpPr>
              <p:spPr>
                <a:xfrm>
                  <a:off x="220176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0" name="Rectangle 35"/>
                <p:cNvSpPr/>
                <p:nvPr/>
              </p:nvSpPr>
              <p:spPr>
                <a:xfrm>
                  <a:off x="240480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1" name="Rectangle 36"/>
                <p:cNvSpPr/>
                <p:nvPr/>
              </p:nvSpPr>
              <p:spPr>
                <a:xfrm>
                  <a:off x="220176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2" name="Rectangle 37"/>
                <p:cNvSpPr/>
                <p:nvPr/>
              </p:nvSpPr>
              <p:spPr>
                <a:xfrm>
                  <a:off x="240480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3" name="Rectangle 38"/>
                <p:cNvSpPr/>
                <p:nvPr/>
              </p:nvSpPr>
              <p:spPr>
                <a:xfrm>
                  <a:off x="98244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4" name="Rectangle 39"/>
                <p:cNvSpPr/>
                <p:nvPr/>
              </p:nvSpPr>
              <p:spPr>
                <a:xfrm>
                  <a:off x="118584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5" name="Rectangle 40"/>
                <p:cNvSpPr/>
                <p:nvPr/>
              </p:nvSpPr>
              <p:spPr>
                <a:xfrm>
                  <a:off x="98244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6" name="Rectangle 41"/>
                <p:cNvSpPr/>
                <p:nvPr/>
              </p:nvSpPr>
              <p:spPr>
                <a:xfrm>
                  <a:off x="118584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7" name="Rectangle 42"/>
                <p:cNvSpPr/>
                <p:nvPr/>
              </p:nvSpPr>
              <p:spPr>
                <a:xfrm>
                  <a:off x="138888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8" name="Rectangle 43"/>
                <p:cNvSpPr/>
                <p:nvPr/>
              </p:nvSpPr>
              <p:spPr>
                <a:xfrm>
                  <a:off x="159228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39" name="Rectangle 44"/>
                <p:cNvSpPr/>
                <p:nvPr/>
              </p:nvSpPr>
              <p:spPr>
                <a:xfrm>
                  <a:off x="138888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0" name="Rectangle 45"/>
                <p:cNvSpPr/>
                <p:nvPr/>
              </p:nvSpPr>
              <p:spPr>
                <a:xfrm>
                  <a:off x="159228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1" name="Rectangle 46"/>
                <p:cNvSpPr/>
                <p:nvPr/>
              </p:nvSpPr>
              <p:spPr>
                <a:xfrm>
                  <a:off x="98244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2" name="Rectangle 47"/>
                <p:cNvSpPr/>
                <p:nvPr/>
              </p:nvSpPr>
              <p:spPr>
                <a:xfrm>
                  <a:off x="118584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3" name="Rectangle 48"/>
                <p:cNvSpPr/>
                <p:nvPr/>
              </p:nvSpPr>
              <p:spPr>
                <a:xfrm>
                  <a:off x="98244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4" name="Rectangle 49"/>
                <p:cNvSpPr/>
                <p:nvPr/>
              </p:nvSpPr>
              <p:spPr>
                <a:xfrm>
                  <a:off x="118584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5" name="Rectangle 50"/>
                <p:cNvSpPr/>
                <p:nvPr/>
              </p:nvSpPr>
              <p:spPr>
                <a:xfrm>
                  <a:off x="138888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6" name="Rectangle 51"/>
                <p:cNvSpPr/>
                <p:nvPr/>
              </p:nvSpPr>
              <p:spPr>
                <a:xfrm>
                  <a:off x="159228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7" name="Rectangle 52"/>
                <p:cNvSpPr/>
                <p:nvPr/>
              </p:nvSpPr>
              <p:spPr>
                <a:xfrm>
                  <a:off x="138888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8" name="Rectangle 53"/>
                <p:cNvSpPr/>
                <p:nvPr/>
              </p:nvSpPr>
              <p:spPr>
                <a:xfrm>
                  <a:off x="159228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49" name="Rectangle 54"/>
                <p:cNvSpPr/>
                <p:nvPr/>
              </p:nvSpPr>
              <p:spPr>
                <a:xfrm>
                  <a:off x="179532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0" name="Rectangle 55"/>
                <p:cNvSpPr/>
                <p:nvPr/>
              </p:nvSpPr>
              <p:spPr>
                <a:xfrm>
                  <a:off x="199836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1" name="Rectangle 56"/>
                <p:cNvSpPr/>
                <p:nvPr/>
              </p:nvSpPr>
              <p:spPr>
                <a:xfrm>
                  <a:off x="179532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2" name="Rectangle 57"/>
                <p:cNvSpPr/>
                <p:nvPr/>
              </p:nvSpPr>
              <p:spPr>
                <a:xfrm>
                  <a:off x="199836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3" name="Rectangle 58"/>
                <p:cNvSpPr/>
                <p:nvPr/>
              </p:nvSpPr>
              <p:spPr>
                <a:xfrm>
                  <a:off x="220176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4" name="Rectangle 59"/>
                <p:cNvSpPr/>
                <p:nvPr/>
              </p:nvSpPr>
              <p:spPr>
                <a:xfrm>
                  <a:off x="240480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5" name="Rectangle 60"/>
                <p:cNvSpPr/>
                <p:nvPr/>
              </p:nvSpPr>
              <p:spPr>
                <a:xfrm>
                  <a:off x="220176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6" name="Rectangle 61"/>
                <p:cNvSpPr/>
                <p:nvPr/>
              </p:nvSpPr>
              <p:spPr>
                <a:xfrm>
                  <a:off x="240480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7" name="Rectangle 62"/>
                <p:cNvSpPr/>
                <p:nvPr/>
              </p:nvSpPr>
              <p:spPr>
                <a:xfrm>
                  <a:off x="179532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8" name="Rectangle 63"/>
                <p:cNvSpPr/>
                <p:nvPr/>
              </p:nvSpPr>
              <p:spPr>
                <a:xfrm>
                  <a:off x="199836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59" name="Rectangle 64"/>
                <p:cNvSpPr/>
                <p:nvPr/>
              </p:nvSpPr>
              <p:spPr>
                <a:xfrm>
                  <a:off x="179532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0" name="Rectangle 65"/>
                <p:cNvSpPr/>
                <p:nvPr/>
              </p:nvSpPr>
              <p:spPr>
                <a:xfrm>
                  <a:off x="199836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1" name="Rectangle 66"/>
                <p:cNvSpPr/>
                <p:nvPr/>
              </p:nvSpPr>
              <p:spPr>
                <a:xfrm>
                  <a:off x="220176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2" name="Rectangle 67"/>
                <p:cNvSpPr/>
                <p:nvPr/>
              </p:nvSpPr>
              <p:spPr>
                <a:xfrm>
                  <a:off x="240480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3" name="Rectangle 68"/>
                <p:cNvSpPr/>
                <p:nvPr/>
              </p:nvSpPr>
              <p:spPr>
                <a:xfrm>
                  <a:off x="220176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4" name="Rectangle 69"/>
                <p:cNvSpPr/>
                <p:nvPr/>
              </p:nvSpPr>
              <p:spPr>
                <a:xfrm>
                  <a:off x="240480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5" name="Rectangle 70"/>
                <p:cNvSpPr/>
                <p:nvPr/>
              </p:nvSpPr>
              <p:spPr>
                <a:xfrm>
                  <a:off x="260784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6" name="Rectangle 71"/>
                <p:cNvSpPr/>
                <p:nvPr/>
              </p:nvSpPr>
              <p:spPr>
                <a:xfrm>
                  <a:off x="281124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7" name="Rectangle 72"/>
                <p:cNvSpPr/>
                <p:nvPr/>
              </p:nvSpPr>
              <p:spPr>
                <a:xfrm>
                  <a:off x="260784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8" name="Rectangle 73"/>
                <p:cNvSpPr/>
                <p:nvPr/>
              </p:nvSpPr>
              <p:spPr>
                <a:xfrm>
                  <a:off x="281124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69" name="Rectangle 74"/>
                <p:cNvSpPr/>
                <p:nvPr/>
              </p:nvSpPr>
              <p:spPr>
                <a:xfrm>
                  <a:off x="301428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0" name="Rectangle 75"/>
                <p:cNvSpPr/>
                <p:nvPr/>
              </p:nvSpPr>
              <p:spPr>
                <a:xfrm>
                  <a:off x="321732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1" name="Rectangle 76"/>
                <p:cNvSpPr/>
                <p:nvPr/>
              </p:nvSpPr>
              <p:spPr>
                <a:xfrm>
                  <a:off x="301428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2" name="Rectangle 77"/>
                <p:cNvSpPr/>
                <p:nvPr/>
              </p:nvSpPr>
              <p:spPr>
                <a:xfrm>
                  <a:off x="321732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3" name="Rectangle 78"/>
                <p:cNvSpPr/>
                <p:nvPr/>
              </p:nvSpPr>
              <p:spPr>
                <a:xfrm>
                  <a:off x="260784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4" name="Rectangle 79"/>
                <p:cNvSpPr/>
                <p:nvPr/>
              </p:nvSpPr>
              <p:spPr>
                <a:xfrm>
                  <a:off x="281124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5" name="Rectangle 80"/>
                <p:cNvSpPr/>
                <p:nvPr/>
              </p:nvSpPr>
              <p:spPr>
                <a:xfrm>
                  <a:off x="260784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6" name="Rectangle 81"/>
                <p:cNvSpPr/>
                <p:nvPr/>
              </p:nvSpPr>
              <p:spPr>
                <a:xfrm>
                  <a:off x="281124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7" name="Rectangle 82"/>
                <p:cNvSpPr/>
                <p:nvPr/>
              </p:nvSpPr>
              <p:spPr>
                <a:xfrm>
                  <a:off x="301428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8" name="Rectangle 83"/>
                <p:cNvSpPr/>
                <p:nvPr/>
              </p:nvSpPr>
              <p:spPr>
                <a:xfrm>
                  <a:off x="321732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9" name="Rectangle 84"/>
                <p:cNvSpPr/>
                <p:nvPr/>
              </p:nvSpPr>
              <p:spPr>
                <a:xfrm>
                  <a:off x="301428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0" name="Rectangle 85"/>
                <p:cNvSpPr/>
                <p:nvPr/>
              </p:nvSpPr>
              <p:spPr>
                <a:xfrm>
                  <a:off x="321732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1" name="Rectangle 86"/>
                <p:cNvSpPr/>
                <p:nvPr/>
              </p:nvSpPr>
              <p:spPr>
                <a:xfrm>
                  <a:off x="342072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2" name="Rectangle 87"/>
                <p:cNvSpPr/>
                <p:nvPr/>
              </p:nvSpPr>
              <p:spPr>
                <a:xfrm>
                  <a:off x="362376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3" name="Rectangle 88"/>
                <p:cNvSpPr/>
                <p:nvPr/>
              </p:nvSpPr>
              <p:spPr>
                <a:xfrm>
                  <a:off x="342072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4" name="Rectangle 89"/>
                <p:cNvSpPr/>
                <p:nvPr/>
              </p:nvSpPr>
              <p:spPr>
                <a:xfrm>
                  <a:off x="362376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5" name="Rectangle 90"/>
                <p:cNvSpPr/>
                <p:nvPr/>
              </p:nvSpPr>
              <p:spPr>
                <a:xfrm>
                  <a:off x="382716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6" name="Rectangle 91"/>
                <p:cNvSpPr/>
                <p:nvPr/>
              </p:nvSpPr>
              <p:spPr>
                <a:xfrm>
                  <a:off x="4030200" y="22575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7" name="Rectangle 92"/>
                <p:cNvSpPr/>
                <p:nvPr/>
              </p:nvSpPr>
              <p:spPr>
                <a:xfrm>
                  <a:off x="382716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8" name="Rectangle 93"/>
                <p:cNvSpPr/>
                <p:nvPr/>
              </p:nvSpPr>
              <p:spPr>
                <a:xfrm>
                  <a:off x="4030200" y="2468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9" name="Rectangle 94"/>
                <p:cNvSpPr/>
                <p:nvPr/>
              </p:nvSpPr>
              <p:spPr>
                <a:xfrm>
                  <a:off x="342072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0" name="Rectangle 95"/>
                <p:cNvSpPr/>
                <p:nvPr/>
              </p:nvSpPr>
              <p:spPr>
                <a:xfrm>
                  <a:off x="362376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1" name="Rectangle 96"/>
                <p:cNvSpPr/>
                <p:nvPr/>
              </p:nvSpPr>
              <p:spPr>
                <a:xfrm>
                  <a:off x="342072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2" name="Rectangle 97"/>
                <p:cNvSpPr/>
                <p:nvPr/>
              </p:nvSpPr>
              <p:spPr>
                <a:xfrm>
                  <a:off x="362376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3" name="Rectangle 98"/>
                <p:cNvSpPr/>
                <p:nvPr/>
              </p:nvSpPr>
              <p:spPr>
                <a:xfrm>
                  <a:off x="382716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4" name="Rectangle 99"/>
                <p:cNvSpPr/>
                <p:nvPr/>
              </p:nvSpPr>
              <p:spPr>
                <a:xfrm>
                  <a:off x="4030200" y="26791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5" name="Rectangle 100"/>
                <p:cNvSpPr/>
                <p:nvPr/>
              </p:nvSpPr>
              <p:spPr>
                <a:xfrm>
                  <a:off x="382716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6" name="Rectangle 101"/>
                <p:cNvSpPr/>
                <p:nvPr/>
              </p:nvSpPr>
              <p:spPr>
                <a:xfrm>
                  <a:off x="4030200" y="2889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7" name="Rectangle 102"/>
                <p:cNvSpPr/>
                <p:nvPr/>
              </p:nvSpPr>
              <p:spPr>
                <a:xfrm>
                  <a:off x="260784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8" name="Rectangle 103"/>
                <p:cNvSpPr/>
                <p:nvPr/>
              </p:nvSpPr>
              <p:spPr>
                <a:xfrm>
                  <a:off x="281124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9" name="Rectangle 104"/>
                <p:cNvSpPr/>
                <p:nvPr/>
              </p:nvSpPr>
              <p:spPr>
                <a:xfrm>
                  <a:off x="260784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0" name="Rectangle 105"/>
                <p:cNvSpPr/>
                <p:nvPr/>
              </p:nvSpPr>
              <p:spPr>
                <a:xfrm>
                  <a:off x="281124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1" name="Rectangle 106"/>
                <p:cNvSpPr/>
                <p:nvPr/>
              </p:nvSpPr>
              <p:spPr>
                <a:xfrm>
                  <a:off x="301428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2" name="Rectangle 107"/>
                <p:cNvSpPr/>
                <p:nvPr/>
              </p:nvSpPr>
              <p:spPr>
                <a:xfrm>
                  <a:off x="321732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3" name="Rectangle 108"/>
                <p:cNvSpPr/>
                <p:nvPr/>
              </p:nvSpPr>
              <p:spPr>
                <a:xfrm>
                  <a:off x="301428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4" name="Rectangle 109"/>
                <p:cNvSpPr/>
                <p:nvPr/>
              </p:nvSpPr>
              <p:spPr>
                <a:xfrm>
                  <a:off x="321732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5" name="Rectangle 110"/>
                <p:cNvSpPr/>
                <p:nvPr/>
              </p:nvSpPr>
              <p:spPr>
                <a:xfrm>
                  <a:off x="260784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6" name="Rectangle 111"/>
                <p:cNvSpPr/>
                <p:nvPr/>
              </p:nvSpPr>
              <p:spPr>
                <a:xfrm>
                  <a:off x="281124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7" name="Rectangle 112"/>
                <p:cNvSpPr/>
                <p:nvPr/>
              </p:nvSpPr>
              <p:spPr>
                <a:xfrm>
                  <a:off x="260784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8" name="Rectangle 113"/>
                <p:cNvSpPr/>
                <p:nvPr/>
              </p:nvSpPr>
              <p:spPr>
                <a:xfrm>
                  <a:off x="281124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9" name="Rectangle 114"/>
                <p:cNvSpPr/>
                <p:nvPr/>
              </p:nvSpPr>
              <p:spPr>
                <a:xfrm>
                  <a:off x="301428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0" name="Rectangle 115"/>
                <p:cNvSpPr/>
                <p:nvPr/>
              </p:nvSpPr>
              <p:spPr>
                <a:xfrm>
                  <a:off x="321732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1" name="Rectangle 116"/>
                <p:cNvSpPr/>
                <p:nvPr/>
              </p:nvSpPr>
              <p:spPr>
                <a:xfrm>
                  <a:off x="301428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2" name="Rectangle 117"/>
                <p:cNvSpPr/>
                <p:nvPr/>
              </p:nvSpPr>
              <p:spPr>
                <a:xfrm>
                  <a:off x="321732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3" name="Rectangle 118"/>
                <p:cNvSpPr/>
                <p:nvPr/>
              </p:nvSpPr>
              <p:spPr>
                <a:xfrm>
                  <a:off x="342072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4" name="Rectangle 119"/>
                <p:cNvSpPr/>
                <p:nvPr/>
              </p:nvSpPr>
              <p:spPr>
                <a:xfrm>
                  <a:off x="362376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5" name="Rectangle 120"/>
                <p:cNvSpPr/>
                <p:nvPr/>
              </p:nvSpPr>
              <p:spPr>
                <a:xfrm>
                  <a:off x="342072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6" name="Rectangle 121"/>
                <p:cNvSpPr/>
                <p:nvPr/>
              </p:nvSpPr>
              <p:spPr>
                <a:xfrm>
                  <a:off x="362376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7" name="Rectangle 122"/>
                <p:cNvSpPr/>
                <p:nvPr/>
              </p:nvSpPr>
              <p:spPr>
                <a:xfrm>
                  <a:off x="382716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8" name="Rectangle 123"/>
                <p:cNvSpPr/>
                <p:nvPr/>
              </p:nvSpPr>
              <p:spPr>
                <a:xfrm>
                  <a:off x="4030200" y="31003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9" name="Rectangle 124"/>
                <p:cNvSpPr/>
                <p:nvPr/>
              </p:nvSpPr>
              <p:spPr>
                <a:xfrm>
                  <a:off x="382716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0" name="Rectangle 125"/>
                <p:cNvSpPr/>
                <p:nvPr/>
              </p:nvSpPr>
              <p:spPr>
                <a:xfrm>
                  <a:off x="4030200" y="33112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1" name="Rectangle 126"/>
                <p:cNvSpPr/>
                <p:nvPr/>
              </p:nvSpPr>
              <p:spPr>
                <a:xfrm>
                  <a:off x="342072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2" name="Rectangle 127"/>
                <p:cNvSpPr/>
                <p:nvPr/>
              </p:nvSpPr>
              <p:spPr>
                <a:xfrm>
                  <a:off x="362376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3" name="Rectangle 128"/>
                <p:cNvSpPr/>
                <p:nvPr/>
              </p:nvSpPr>
              <p:spPr>
                <a:xfrm>
                  <a:off x="342072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4" name="Rectangle 129"/>
                <p:cNvSpPr/>
                <p:nvPr/>
              </p:nvSpPr>
              <p:spPr>
                <a:xfrm>
                  <a:off x="362376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5" name="Rectangle 130"/>
                <p:cNvSpPr/>
                <p:nvPr/>
              </p:nvSpPr>
              <p:spPr>
                <a:xfrm>
                  <a:off x="382716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6" name="Rectangle 131"/>
                <p:cNvSpPr/>
                <p:nvPr/>
              </p:nvSpPr>
              <p:spPr>
                <a:xfrm>
                  <a:off x="4030200" y="35218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7" name="Rectangle 132"/>
                <p:cNvSpPr/>
                <p:nvPr/>
              </p:nvSpPr>
              <p:spPr>
                <a:xfrm>
                  <a:off x="382716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8" name="Rectangle 133"/>
                <p:cNvSpPr/>
                <p:nvPr/>
              </p:nvSpPr>
              <p:spPr>
                <a:xfrm>
                  <a:off x="4030200" y="373248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9" name="Rectangle 134"/>
                <p:cNvSpPr/>
                <p:nvPr/>
              </p:nvSpPr>
              <p:spPr>
                <a:xfrm>
                  <a:off x="98244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0" name="Rectangle 135"/>
                <p:cNvSpPr/>
                <p:nvPr/>
              </p:nvSpPr>
              <p:spPr>
                <a:xfrm>
                  <a:off x="118584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1" name="Rectangle 136"/>
                <p:cNvSpPr/>
                <p:nvPr/>
              </p:nvSpPr>
              <p:spPr>
                <a:xfrm>
                  <a:off x="98244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2" name="Rectangle 137"/>
                <p:cNvSpPr/>
                <p:nvPr/>
              </p:nvSpPr>
              <p:spPr>
                <a:xfrm>
                  <a:off x="118584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3" name="Rectangle 138"/>
                <p:cNvSpPr/>
                <p:nvPr/>
              </p:nvSpPr>
              <p:spPr>
                <a:xfrm>
                  <a:off x="138888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4" name="Rectangle 139"/>
                <p:cNvSpPr/>
                <p:nvPr/>
              </p:nvSpPr>
              <p:spPr>
                <a:xfrm>
                  <a:off x="159228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5" name="Rectangle 140"/>
                <p:cNvSpPr/>
                <p:nvPr/>
              </p:nvSpPr>
              <p:spPr>
                <a:xfrm>
                  <a:off x="138888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6" name="Rectangle 141"/>
                <p:cNvSpPr/>
                <p:nvPr/>
              </p:nvSpPr>
              <p:spPr>
                <a:xfrm>
                  <a:off x="159228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7" name="Rectangle 142"/>
                <p:cNvSpPr/>
                <p:nvPr/>
              </p:nvSpPr>
              <p:spPr>
                <a:xfrm>
                  <a:off x="98244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8" name="Rectangle 143"/>
                <p:cNvSpPr/>
                <p:nvPr/>
              </p:nvSpPr>
              <p:spPr>
                <a:xfrm>
                  <a:off x="118584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39" name="Rectangle 144"/>
                <p:cNvSpPr/>
                <p:nvPr/>
              </p:nvSpPr>
              <p:spPr>
                <a:xfrm>
                  <a:off x="98244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0" name="Rectangle 145"/>
                <p:cNvSpPr/>
                <p:nvPr/>
              </p:nvSpPr>
              <p:spPr>
                <a:xfrm>
                  <a:off x="118584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1" name="Rectangle 146"/>
                <p:cNvSpPr/>
                <p:nvPr/>
              </p:nvSpPr>
              <p:spPr>
                <a:xfrm>
                  <a:off x="138888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2" name="Rectangle 147"/>
                <p:cNvSpPr/>
                <p:nvPr/>
              </p:nvSpPr>
              <p:spPr>
                <a:xfrm>
                  <a:off x="159228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3" name="Rectangle 148"/>
                <p:cNvSpPr/>
                <p:nvPr/>
              </p:nvSpPr>
              <p:spPr>
                <a:xfrm>
                  <a:off x="138888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4" name="Rectangle 149"/>
                <p:cNvSpPr/>
                <p:nvPr/>
              </p:nvSpPr>
              <p:spPr>
                <a:xfrm>
                  <a:off x="159228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5" name="Rectangle 150"/>
                <p:cNvSpPr/>
                <p:nvPr/>
              </p:nvSpPr>
              <p:spPr>
                <a:xfrm>
                  <a:off x="179532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6" name="Rectangle 151"/>
                <p:cNvSpPr/>
                <p:nvPr/>
              </p:nvSpPr>
              <p:spPr>
                <a:xfrm>
                  <a:off x="199836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7" name="Rectangle 152"/>
                <p:cNvSpPr/>
                <p:nvPr/>
              </p:nvSpPr>
              <p:spPr>
                <a:xfrm>
                  <a:off x="179532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8" name="Rectangle 153"/>
                <p:cNvSpPr/>
                <p:nvPr/>
              </p:nvSpPr>
              <p:spPr>
                <a:xfrm>
                  <a:off x="199836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49" name="Rectangle 154"/>
                <p:cNvSpPr/>
                <p:nvPr/>
              </p:nvSpPr>
              <p:spPr>
                <a:xfrm>
                  <a:off x="220176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0" name="Rectangle 155"/>
                <p:cNvSpPr/>
                <p:nvPr/>
              </p:nvSpPr>
              <p:spPr>
                <a:xfrm>
                  <a:off x="240480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1" name="Rectangle 156"/>
                <p:cNvSpPr/>
                <p:nvPr/>
              </p:nvSpPr>
              <p:spPr>
                <a:xfrm>
                  <a:off x="220176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2" name="Rectangle 157"/>
                <p:cNvSpPr/>
                <p:nvPr/>
              </p:nvSpPr>
              <p:spPr>
                <a:xfrm>
                  <a:off x="240480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3" name="Rectangle 158"/>
                <p:cNvSpPr/>
                <p:nvPr/>
              </p:nvSpPr>
              <p:spPr>
                <a:xfrm>
                  <a:off x="179532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4" name="Rectangle 159"/>
                <p:cNvSpPr/>
                <p:nvPr/>
              </p:nvSpPr>
              <p:spPr>
                <a:xfrm>
                  <a:off x="199836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5" name="Rectangle 160"/>
                <p:cNvSpPr/>
                <p:nvPr/>
              </p:nvSpPr>
              <p:spPr>
                <a:xfrm>
                  <a:off x="179532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6" name="Rectangle 161"/>
                <p:cNvSpPr/>
                <p:nvPr/>
              </p:nvSpPr>
              <p:spPr>
                <a:xfrm>
                  <a:off x="199836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7" name="Rectangle 162"/>
                <p:cNvSpPr/>
                <p:nvPr/>
              </p:nvSpPr>
              <p:spPr>
                <a:xfrm>
                  <a:off x="220176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8" name="Rectangle 163"/>
                <p:cNvSpPr/>
                <p:nvPr/>
              </p:nvSpPr>
              <p:spPr>
                <a:xfrm>
                  <a:off x="240480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59" name="Rectangle 164"/>
                <p:cNvSpPr/>
                <p:nvPr/>
              </p:nvSpPr>
              <p:spPr>
                <a:xfrm>
                  <a:off x="220176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0" name="Rectangle 165"/>
                <p:cNvSpPr/>
                <p:nvPr/>
              </p:nvSpPr>
              <p:spPr>
                <a:xfrm>
                  <a:off x="240480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1" name="Rectangle 166"/>
                <p:cNvSpPr/>
                <p:nvPr/>
              </p:nvSpPr>
              <p:spPr>
                <a:xfrm>
                  <a:off x="98244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2" name="Rectangle 167"/>
                <p:cNvSpPr/>
                <p:nvPr/>
              </p:nvSpPr>
              <p:spPr>
                <a:xfrm>
                  <a:off x="118584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3" name="Rectangle 168"/>
                <p:cNvSpPr/>
                <p:nvPr/>
              </p:nvSpPr>
              <p:spPr>
                <a:xfrm>
                  <a:off x="98244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4" name="Rectangle 169"/>
                <p:cNvSpPr/>
                <p:nvPr/>
              </p:nvSpPr>
              <p:spPr>
                <a:xfrm>
                  <a:off x="118584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5" name="Rectangle 170"/>
                <p:cNvSpPr/>
                <p:nvPr/>
              </p:nvSpPr>
              <p:spPr>
                <a:xfrm>
                  <a:off x="138888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6" name="Rectangle 171"/>
                <p:cNvSpPr/>
                <p:nvPr/>
              </p:nvSpPr>
              <p:spPr>
                <a:xfrm>
                  <a:off x="159228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7" name="Rectangle 172"/>
                <p:cNvSpPr/>
                <p:nvPr/>
              </p:nvSpPr>
              <p:spPr>
                <a:xfrm>
                  <a:off x="138888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8" name="Rectangle 173"/>
                <p:cNvSpPr/>
                <p:nvPr/>
              </p:nvSpPr>
              <p:spPr>
                <a:xfrm>
                  <a:off x="159228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69" name="Rectangle 174"/>
                <p:cNvSpPr/>
                <p:nvPr/>
              </p:nvSpPr>
              <p:spPr>
                <a:xfrm>
                  <a:off x="98244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0" name="Rectangle 175"/>
                <p:cNvSpPr/>
                <p:nvPr/>
              </p:nvSpPr>
              <p:spPr>
                <a:xfrm>
                  <a:off x="118584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1" name="Rectangle 176"/>
                <p:cNvSpPr/>
                <p:nvPr/>
              </p:nvSpPr>
              <p:spPr>
                <a:xfrm>
                  <a:off x="98244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2" name="Rectangle 177"/>
                <p:cNvSpPr/>
                <p:nvPr/>
              </p:nvSpPr>
              <p:spPr>
                <a:xfrm>
                  <a:off x="118584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3" name="Rectangle 178"/>
                <p:cNvSpPr/>
                <p:nvPr/>
              </p:nvSpPr>
              <p:spPr>
                <a:xfrm>
                  <a:off x="138888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4" name="Rectangle 179"/>
                <p:cNvSpPr/>
                <p:nvPr/>
              </p:nvSpPr>
              <p:spPr>
                <a:xfrm>
                  <a:off x="159228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5" name="Rectangle 180"/>
                <p:cNvSpPr/>
                <p:nvPr/>
              </p:nvSpPr>
              <p:spPr>
                <a:xfrm>
                  <a:off x="138888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6" name="Rectangle 181"/>
                <p:cNvSpPr/>
                <p:nvPr/>
              </p:nvSpPr>
              <p:spPr>
                <a:xfrm>
                  <a:off x="159228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7" name="Rectangle 182"/>
                <p:cNvSpPr/>
                <p:nvPr/>
              </p:nvSpPr>
              <p:spPr>
                <a:xfrm>
                  <a:off x="179532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8" name="Rectangle 183"/>
                <p:cNvSpPr/>
                <p:nvPr/>
              </p:nvSpPr>
              <p:spPr>
                <a:xfrm>
                  <a:off x="199836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79" name="Rectangle 184"/>
                <p:cNvSpPr/>
                <p:nvPr/>
              </p:nvSpPr>
              <p:spPr>
                <a:xfrm>
                  <a:off x="179532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0" name="Rectangle 185"/>
                <p:cNvSpPr/>
                <p:nvPr/>
              </p:nvSpPr>
              <p:spPr>
                <a:xfrm>
                  <a:off x="199836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1" name="Rectangle 186"/>
                <p:cNvSpPr/>
                <p:nvPr/>
              </p:nvSpPr>
              <p:spPr>
                <a:xfrm>
                  <a:off x="220176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2" name="Rectangle 187"/>
                <p:cNvSpPr/>
                <p:nvPr/>
              </p:nvSpPr>
              <p:spPr>
                <a:xfrm>
                  <a:off x="240480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3" name="Rectangle 188"/>
                <p:cNvSpPr/>
                <p:nvPr/>
              </p:nvSpPr>
              <p:spPr>
                <a:xfrm>
                  <a:off x="220176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4" name="Rectangle 189"/>
                <p:cNvSpPr/>
                <p:nvPr/>
              </p:nvSpPr>
              <p:spPr>
                <a:xfrm>
                  <a:off x="240480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5" name="Rectangle 190"/>
                <p:cNvSpPr/>
                <p:nvPr/>
              </p:nvSpPr>
              <p:spPr>
                <a:xfrm>
                  <a:off x="179532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6" name="Rectangle 191"/>
                <p:cNvSpPr/>
                <p:nvPr/>
              </p:nvSpPr>
              <p:spPr>
                <a:xfrm>
                  <a:off x="199836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7" name="Rectangle 192"/>
                <p:cNvSpPr/>
                <p:nvPr/>
              </p:nvSpPr>
              <p:spPr>
                <a:xfrm>
                  <a:off x="179532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8" name="Rectangle 193"/>
                <p:cNvSpPr/>
                <p:nvPr/>
              </p:nvSpPr>
              <p:spPr>
                <a:xfrm>
                  <a:off x="199836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89" name="Rectangle 194"/>
                <p:cNvSpPr/>
                <p:nvPr/>
              </p:nvSpPr>
              <p:spPr>
                <a:xfrm>
                  <a:off x="220176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0" name="Rectangle 195"/>
                <p:cNvSpPr/>
                <p:nvPr/>
              </p:nvSpPr>
              <p:spPr>
                <a:xfrm>
                  <a:off x="240480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1" name="Rectangle 196"/>
                <p:cNvSpPr/>
                <p:nvPr/>
              </p:nvSpPr>
              <p:spPr>
                <a:xfrm>
                  <a:off x="220176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2" name="Rectangle 197"/>
                <p:cNvSpPr/>
                <p:nvPr/>
              </p:nvSpPr>
              <p:spPr>
                <a:xfrm>
                  <a:off x="240480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3" name="Rectangle 198"/>
                <p:cNvSpPr/>
                <p:nvPr/>
              </p:nvSpPr>
              <p:spPr>
                <a:xfrm>
                  <a:off x="260784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4" name="Rectangle 199"/>
                <p:cNvSpPr/>
                <p:nvPr/>
              </p:nvSpPr>
              <p:spPr>
                <a:xfrm>
                  <a:off x="281124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5" name="Rectangle 200"/>
                <p:cNvSpPr/>
                <p:nvPr/>
              </p:nvSpPr>
              <p:spPr>
                <a:xfrm>
                  <a:off x="260784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6" name="Rectangle 201"/>
                <p:cNvSpPr/>
                <p:nvPr/>
              </p:nvSpPr>
              <p:spPr>
                <a:xfrm>
                  <a:off x="281124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7" name="Rectangle 202"/>
                <p:cNvSpPr/>
                <p:nvPr/>
              </p:nvSpPr>
              <p:spPr>
                <a:xfrm>
                  <a:off x="301428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8" name="Rectangle 203"/>
                <p:cNvSpPr/>
                <p:nvPr/>
              </p:nvSpPr>
              <p:spPr>
                <a:xfrm>
                  <a:off x="321732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99" name="Rectangle 204"/>
                <p:cNvSpPr/>
                <p:nvPr/>
              </p:nvSpPr>
              <p:spPr>
                <a:xfrm>
                  <a:off x="301428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0" name="Rectangle 205"/>
                <p:cNvSpPr/>
                <p:nvPr/>
              </p:nvSpPr>
              <p:spPr>
                <a:xfrm>
                  <a:off x="321732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1" name="Rectangle 206"/>
                <p:cNvSpPr/>
                <p:nvPr/>
              </p:nvSpPr>
              <p:spPr>
                <a:xfrm>
                  <a:off x="260784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2" name="Rectangle 207"/>
                <p:cNvSpPr/>
                <p:nvPr/>
              </p:nvSpPr>
              <p:spPr>
                <a:xfrm>
                  <a:off x="281124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3" name="Rectangle 208"/>
                <p:cNvSpPr/>
                <p:nvPr/>
              </p:nvSpPr>
              <p:spPr>
                <a:xfrm>
                  <a:off x="260784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4" name="Rectangle 209"/>
                <p:cNvSpPr/>
                <p:nvPr/>
              </p:nvSpPr>
              <p:spPr>
                <a:xfrm>
                  <a:off x="281124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5" name="Rectangle 210"/>
                <p:cNvSpPr/>
                <p:nvPr/>
              </p:nvSpPr>
              <p:spPr>
                <a:xfrm>
                  <a:off x="301428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6" name="Rectangle 211"/>
                <p:cNvSpPr/>
                <p:nvPr/>
              </p:nvSpPr>
              <p:spPr>
                <a:xfrm>
                  <a:off x="321732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7" name="Rectangle 212"/>
                <p:cNvSpPr/>
                <p:nvPr/>
              </p:nvSpPr>
              <p:spPr>
                <a:xfrm>
                  <a:off x="301428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8" name="Rectangle 213"/>
                <p:cNvSpPr/>
                <p:nvPr/>
              </p:nvSpPr>
              <p:spPr>
                <a:xfrm>
                  <a:off x="321732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09" name="Rectangle 215"/>
                <p:cNvSpPr/>
                <p:nvPr/>
              </p:nvSpPr>
              <p:spPr>
                <a:xfrm>
                  <a:off x="362376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0" name="Rectangle 216"/>
                <p:cNvSpPr/>
                <p:nvPr/>
              </p:nvSpPr>
              <p:spPr>
                <a:xfrm>
                  <a:off x="342072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1" name="Rectangle 217"/>
                <p:cNvSpPr/>
                <p:nvPr/>
              </p:nvSpPr>
              <p:spPr>
                <a:xfrm>
                  <a:off x="362376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2" name="Rectangle 218"/>
                <p:cNvSpPr/>
                <p:nvPr/>
              </p:nvSpPr>
              <p:spPr>
                <a:xfrm>
                  <a:off x="382716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3" name="Rectangle 219"/>
                <p:cNvSpPr/>
                <p:nvPr/>
              </p:nvSpPr>
              <p:spPr>
                <a:xfrm>
                  <a:off x="4030200" y="39434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4" name="Rectangle 220"/>
                <p:cNvSpPr/>
                <p:nvPr/>
              </p:nvSpPr>
              <p:spPr>
                <a:xfrm>
                  <a:off x="382716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5" name="Rectangle 221"/>
                <p:cNvSpPr/>
                <p:nvPr/>
              </p:nvSpPr>
              <p:spPr>
                <a:xfrm>
                  <a:off x="4030200" y="415404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6" name="Rectangle 222"/>
                <p:cNvSpPr/>
                <p:nvPr/>
              </p:nvSpPr>
              <p:spPr>
                <a:xfrm>
                  <a:off x="342072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7" name="Rectangle 223"/>
                <p:cNvSpPr/>
                <p:nvPr/>
              </p:nvSpPr>
              <p:spPr>
                <a:xfrm>
                  <a:off x="362376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8" name="Rectangle 224"/>
                <p:cNvSpPr/>
                <p:nvPr/>
              </p:nvSpPr>
              <p:spPr>
                <a:xfrm>
                  <a:off x="342072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19" name="Rectangle 225"/>
                <p:cNvSpPr/>
                <p:nvPr/>
              </p:nvSpPr>
              <p:spPr>
                <a:xfrm>
                  <a:off x="362376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0" name="Rectangle 226"/>
                <p:cNvSpPr/>
                <p:nvPr/>
              </p:nvSpPr>
              <p:spPr>
                <a:xfrm>
                  <a:off x="382716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1" name="Rectangle 227"/>
                <p:cNvSpPr/>
                <p:nvPr/>
              </p:nvSpPr>
              <p:spPr>
                <a:xfrm>
                  <a:off x="4030200" y="43650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2" name="Rectangle 228"/>
                <p:cNvSpPr/>
                <p:nvPr/>
              </p:nvSpPr>
              <p:spPr>
                <a:xfrm>
                  <a:off x="382716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3" name="Rectangle 229"/>
                <p:cNvSpPr/>
                <p:nvPr/>
              </p:nvSpPr>
              <p:spPr>
                <a:xfrm>
                  <a:off x="4030200" y="45756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4" name="Rectangle 230"/>
                <p:cNvSpPr/>
                <p:nvPr/>
              </p:nvSpPr>
              <p:spPr>
                <a:xfrm>
                  <a:off x="260784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5" name="Rectangle 231"/>
                <p:cNvSpPr/>
                <p:nvPr/>
              </p:nvSpPr>
              <p:spPr>
                <a:xfrm>
                  <a:off x="281124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6" name="Rectangle 232"/>
                <p:cNvSpPr/>
                <p:nvPr/>
              </p:nvSpPr>
              <p:spPr>
                <a:xfrm>
                  <a:off x="260784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7" name="Rectangle 233"/>
                <p:cNvSpPr/>
                <p:nvPr/>
              </p:nvSpPr>
              <p:spPr>
                <a:xfrm>
                  <a:off x="281124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8" name="Rectangle 234"/>
                <p:cNvSpPr/>
                <p:nvPr/>
              </p:nvSpPr>
              <p:spPr>
                <a:xfrm>
                  <a:off x="301428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29" name="Rectangle 235"/>
                <p:cNvSpPr/>
                <p:nvPr/>
              </p:nvSpPr>
              <p:spPr>
                <a:xfrm>
                  <a:off x="321732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0" name="Rectangle 236"/>
                <p:cNvSpPr/>
                <p:nvPr/>
              </p:nvSpPr>
              <p:spPr>
                <a:xfrm>
                  <a:off x="301428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1" name="Rectangle 237"/>
                <p:cNvSpPr/>
                <p:nvPr/>
              </p:nvSpPr>
              <p:spPr>
                <a:xfrm>
                  <a:off x="321732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2" name="Rectangle 238"/>
                <p:cNvSpPr/>
                <p:nvPr/>
              </p:nvSpPr>
              <p:spPr>
                <a:xfrm>
                  <a:off x="260784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3" name="Rectangle 239"/>
                <p:cNvSpPr/>
                <p:nvPr/>
              </p:nvSpPr>
              <p:spPr>
                <a:xfrm>
                  <a:off x="281124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4" name="Rectangle 240"/>
                <p:cNvSpPr/>
                <p:nvPr/>
              </p:nvSpPr>
              <p:spPr>
                <a:xfrm>
                  <a:off x="260784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5" name="Rectangle 241"/>
                <p:cNvSpPr/>
                <p:nvPr/>
              </p:nvSpPr>
              <p:spPr>
                <a:xfrm>
                  <a:off x="281124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6" name="Rectangle 242"/>
                <p:cNvSpPr/>
                <p:nvPr/>
              </p:nvSpPr>
              <p:spPr>
                <a:xfrm>
                  <a:off x="301428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7" name="Rectangle 243"/>
                <p:cNvSpPr/>
                <p:nvPr/>
              </p:nvSpPr>
              <p:spPr>
                <a:xfrm>
                  <a:off x="321732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8" name="Rectangle 244"/>
                <p:cNvSpPr/>
                <p:nvPr/>
              </p:nvSpPr>
              <p:spPr>
                <a:xfrm>
                  <a:off x="301428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39" name="Rectangle 245"/>
                <p:cNvSpPr/>
                <p:nvPr/>
              </p:nvSpPr>
              <p:spPr>
                <a:xfrm>
                  <a:off x="321732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0" name="Rectangle 246"/>
                <p:cNvSpPr/>
                <p:nvPr/>
              </p:nvSpPr>
              <p:spPr>
                <a:xfrm>
                  <a:off x="342072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1" name="Rectangle 247"/>
                <p:cNvSpPr/>
                <p:nvPr/>
              </p:nvSpPr>
              <p:spPr>
                <a:xfrm>
                  <a:off x="362376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2" name="Rectangle 248"/>
                <p:cNvSpPr/>
                <p:nvPr/>
              </p:nvSpPr>
              <p:spPr>
                <a:xfrm>
                  <a:off x="342072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3" name="Rectangle 249"/>
                <p:cNvSpPr/>
                <p:nvPr/>
              </p:nvSpPr>
              <p:spPr>
                <a:xfrm>
                  <a:off x="362376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4" name="Rectangle 250"/>
                <p:cNvSpPr/>
                <p:nvPr/>
              </p:nvSpPr>
              <p:spPr>
                <a:xfrm>
                  <a:off x="382716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5" name="Rectangle 251"/>
                <p:cNvSpPr/>
                <p:nvPr/>
              </p:nvSpPr>
              <p:spPr>
                <a:xfrm>
                  <a:off x="4030200" y="478620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6" name="Rectangle 252"/>
                <p:cNvSpPr/>
                <p:nvPr/>
              </p:nvSpPr>
              <p:spPr>
                <a:xfrm>
                  <a:off x="382716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7" name="Rectangle 253"/>
                <p:cNvSpPr/>
                <p:nvPr/>
              </p:nvSpPr>
              <p:spPr>
                <a:xfrm>
                  <a:off x="4030200" y="49971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8" name="Rectangle 254"/>
                <p:cNvSpPr/>
                <p:nvPr/>
              </p:nvSpPr>
              <p:spPr>
                <a:xfrm>
                  <a:off x="342072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49" name="Rectangle 255"/>
                <p:cNvSpPr/>
                <p:nvPr/>
              </p:nvSpPr>
              <p:spPr>
                <a:xfrm>
                  <a:off x="362376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50" name="Rectangle 256"/>
                <p:cNvSpPr/>
                <p:nvPr/>
              </p:nvSpPr>
              <p:spPr>
                <a:xfrm>
                  <a:off x="342072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51" name="Rectangle 257"/>
                <p:cNvSpPr/>
                <p:nvPr/>
              </p:nvSpPr>
              <p:spPr>
                <a:xfrm>
                  <a:off x="362376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52" name="Rectangle 258"/>
                <p:cNvSpPr/>
                <p:nvPr/>
              </p:nvSpPr>
              <p:spPr>
                <a:xfrm>
                  <a:off x="382716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53" name="Rectangle 259"/>
                <p:cNvSpPr/>
                <p:nvPr/>
              </p:nvSpPr>
              <p:spPr>
                <a:xfrm>
                  <a:off x="4030200" y="520776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54" name="Rectangle 260"/>
                <p:cNvSpPr/>
                <p:nvPr/>
              </p:nvSpPr>
              <p:spPr>
                <a:xfrm>
                  <a:off x="382716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455" name="Rectangle 261"/>
                <p:cNvSpPr/>
                <p:nvPr/>
              </p:nvSpPr>
              <p:spPr>
                <a:xfrm>
                  <a:off x="4030200" y="5418720"/>
                  <a:ext cx="202680" cy="210240"/>
                </a:xfrm>
                <a:prstGeom prst="rect">
                  <a:avLst/>
                </a:prstGeom>
                <a:noFill/>
                <a:ln w="9525">
                  <a:solidFill>
                    <a:srgbClr val="ed7d31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456" name="Line 266"/>
              <p:cNvSpPr/>
              <p:nvPr/>
            </p:nvSpPr>
            <p:spPr>
              <a:xfrm>
                <a:off x="975600" y="3935160"/>
                <a:ext cx="3276720" cy="360"/>
              </a:xfrm>
              <a:prstGeom prst="line">
                <a:avLst/>
              </a:prstGeom>
              <a:ln w="28575">
                <a:solidFill>
                  <a:srgbClr val="000000"/>
                </a:solidFill>
                <a:round/>
                <a:headEnd len="med" type="arrow" w="med"/>
                <a:tailEnd len="med" type="arrow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57" name="Text Box 267"/>
              <p:cNvSpPr/>
              <p:nvPr/>
            </p:nvSpPr>
            <p:spPr>
              <a:xfrm>
                <a:off x="2344680" y="3882600"/>
                <a:ext cx="3060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0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8" name="Text Box 269"/>
              <p:cNvSpPr/>
              <p:nvPr/>
            </p:nvSpPr>
            <p:spPr>
              <a:xfrm>
                <a:off x="2844720" y="3882600"/>
                <a:ext cx="3060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2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9" name="Text Box 271"/>
              <p:cNvSpPr/>
              <p:nvPr/>
            </p:nvSpPr>
            <p:spPr>
              <a:xfrm>
                <a:off x="3273840" y="3891960"/>
                <a:ext cx="3060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4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0" name="Text Box 273"/>
              <p:cNvSpPr/>
              <p:nvPr/>
            </p:nvSpPr>
            <p:spPr>
              <a:xfrm>
                <a:off x="3686760" y="3882600"/>
                <a:ext cx="3060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6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1" name="Text Box 276"/>
              <p:cNvSpPr/>
              <p:nvPr/>
            </p:nvSpPr>
            <p:spPr>
              <a:xfrm>
                <a:off x="1982880" y="3882600"/>
                <a:ext cx="4323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–</a:t>
                </a: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2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2" name="Text Box 278"/>
              <p:cNvSpPr/>
              <p:nvPr/>
            </p:nvSpPr>
            <p:spPr>
              <a:xfrm>
                <a:off x="1554120" y="3882600"/>
                <a:ext cx="4323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–</a:t>
                </a: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4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3" name="Text Box 280"/>
              <p:cNvSpPr/>
              <p:nvPr/>
            </p:nvSpPr>
            <p:spPr>
              <a:xfrm>
                <a:off x="1125000" y="3882600"/>
                <a:ext cx="4323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–</a:t>
                </a: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6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4" name="Text Box 283"/>
              <p:cNvSpPr/>
              <p:nvPr/>
            </p:nvSpPr>
            <p:spPr>
              <a:xfrm>
                <a:off x="2344680" y="3349800"/>
                <a:ext cx="3060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2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5" name="Text Box 285"/>
              <p:cNvSpPr/>
              <p:nvPr/>
            </p:nvSpPr>
            <p:spPr>
              <a:xfrm>
                <a:off x="2353680" y="2921400"/>
                <a:ext cx="3060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4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6" name="Text Box 287"/>
              <p:cNvSpPr/>
              <p:nvPr/>
            </p:nvSpPr>
            <p:spPr>
              <a:xfrm>
                <a:off x="2353680" y="2535120"/>
                <a:ext cx="30600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6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7" name="Text Box 288"/>
              <p:cNvSpPr/>
              <p:nvPr/>
            </p:nvSpPr>
            <p:spPr>
              <a:xfrm>
                <a:off x="2437560" y="2325240"/>
                <a:ext cx="184680" cy="33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endParaRPr b="0" lang="en-GB" sz="1600" spc="-1" strike="noStrike">
                  <a:solidFill>
                    <a:srgbClr val="010066"/>
                  </a:solidFill>
                  <a:latin typeface="Arial"/>
                </a:endParaRPr>
              </a:p>
            </p:txBody>
          </p:sp>
          <p:sp>
            <p:nvSpPr>
              <p:cNvPr id="468" name="Text Box 289"/>
              <p:cNvSpPr/>
              <p:nvPr/>
            </p:nvSpPr>
            <p:spPr>
              <a:xfrm>
                <a:off x="2208600" y="4194000"/>
                <a:ext cx="4323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–</a:t>
                </a: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2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9" name="Text Box 290"/>
              <p:cNvSpPr/>
              <p:nvPr/>
            </p:nvSpPr>
            <p:spPr>
              <a:xfrm>
                <a:off x="2197440" y="4635360"/>
                <a:ext cx="4323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–</a:t>
                </a: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4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0" name="Text Box 291"/>
              <p:cNvSpPr/>
              <p:nvPr/>
            </p:nvSpPr>
            <p:spPr>
              <a:xfrm>
                <a:off x="2197440" y="5063760"/>
                <a:ext cx="4323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–</a:t>
                </a:r>
                <a:r>
                  <a:rPr b="0" lang="en-US" sz="1800" spc="-1" strike="noStrike">
                    <a:solidFill>
                      <a:srgbClr val="010066"/>
                    </a:solidFill>
                    <a:latin typeface="Arial"/>
                  </a:rPr>
                  <a:t>6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1" name="Line 295"/>
              <p:cNvSpPr/>
              <p:nvPr/>
            </p:nvSpPr>
            <p:spPr>
              <a:xfrm flipV="1">
                <a:off x="2612880" y="2297880"/>
                <a:ext cx="360" cy="3276720"/>
              </a:xfrm>
              <a:prstGeom prst="line">
                <a:avLst/>
              </a:prstGeom>
              <a:ln w="28575">
                <a:solidFill>
                  <a:srgbClr val="000000"/>
                </a:solidFill>
                <a:round/>
                <a:headEnd len="med" type="arrow" w="med"/>
                <a:tailEnd len="med" type="arrow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472" name="Text Box 302"/>
              <p:cNvSpPr/>
              <p:nvPr/>
            </p:nvSpPr>
            <p:spPr>
              <a:xfrm>
                <a:off x="4026600" y="3906000"/>
                <a:ext cx="29412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i="1" lang="en-GB" sz="1800" spc="-1" strike="noStrike">
                    <a:solidFill>
                      <a:srgbClr val="010066"/>
                    </a:solidFill>
                    <a:latin typeface="Times New Roman"/>
                  </a:rPr>
                  <a:t>x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73" name="Text Box 303"/>
              <p:cNvSpPr/>
              <p:nvPr/>
            </p:nvSpPr>
            <p:spPr>
              <a:xfrm>
                <a:off x="2295720" y="2163960"/>
                <a:ext cx="2800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i="1" lang="en-GB" sz="1800" spc="-1" strike="noStrike">
                    <a:solidFill>
                      <a:srgbClr val="010066"/>
                    </a:solidFill>
                    <a:latin typeface="Times New Roman"/>
                  </a:rPr>
                  <a:t>y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474" name="Oval 338"/>
          <p:cNvSpPr/>
          <p:nvPr/>
        </p:nvSpPr>
        <p:spPr>
          <a:xfrm>
            <a:off x="2914200" y="3289320"/>
            <a:ext cx="101160" cy="60120"/>
          </a:xfrm>
          <a:prstGeom prst="ellipse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160" bIns="-21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5" name="TextBox 339"/>
          <p:cNvSpPr/>
          <p:nvPr/>
        </p:nvSpPr>
        <p:spPr>
          <a:xfrm>
            <a:off x="2916000" y="3086280"/>
            <a:ext cx="27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</a:rPr>
              <a:t>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Oval 340"/>
          <p:cNvSpPr/>
          <p:nvPr/>
        </p:nvSpPr>
        <p:spPr>
          <a:xfrm>
            <a:off x="3750840" y="4156200"/>
            <a:ext cx="101160" cy="58320"/>
          </a:xfrm>
          <a:prstGeom prst="ellipse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240" bIns="-3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TextBox 341"/>
          <p:cNvSpPr/>
          <p:nvPr/>
        </p:nvSpPr>
        <p:spPr>
          <a:xfrm>
            <a:off x="3846960" y="4178520"/>
            <a:ext cx="2739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Arial"/>
              </a:rPr>
              <a:t>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8" name="Straight Arrow Connector 346"/>
          <p:cNvCxnSpPr>
            <a:stCxn id="475" idx="2"/>
            <a:endCxn id="476" idx="7"/>
          </p:cNvCxnSpPr>
          <p:nvPr/>
        </p:nvCxnSpPr>
        <p:spPr>
          <a:xfrm>
            <a:off x="3053520" y="3348000"/>
            <a:ext cx="783000" cy="816120"/>
          </a:xfrm>
          <a:prstGeom prst="straightConnector1">
            <a:avLst/>
          </a:prstGeom>
          <a:ln w="38100">
            <a:solidFill>
              <a:srgbClr val="ff0000"/>
            </a:solidFill>
            <a:tailEnd len="med" type="arrow" w="med"/>
          </a:ln>
        </p:spPr>
      </p:cxnSp>
      <p:cxnSp>
        <p:nvCxnSpPr>
          <p:cNvPr id="479" name="Straight Arrow Connector 347"/>
          <p:cNvCxnSpPr>
            <a:stCxn id="300" idx="3"/>
          </p:cNvCxnSpPr>
          <p:nvPr/>
        </p:nvCxnSpPr>
        <p:spPr>
          <a:xfrm>
            <a:off x="3015720" y="3416040"/>
            <a:ext cx="360" cy="738720"/>
          </a:xfrm>
          <a:prstGeom prst="straightConnector1">
            <a:avLst/>
          </a:prstGeom>
          <a:ln>
            <a:solidFill>
              <a:srgbClr val="ff0000"/>
            </a:solidFill>
            <a:tailEnd len="med" type="arrow" w="med"/>
          </a:ln>
        </p:spPr>
      </p:cxnSp>
      <p:cxnSp>
        <p:nvCxnSpPr>
          <p:cNvPr id="480" name="Straight Arrow Connector 348"/>
          <p:cNvCxnSpPr/>
          <p:nvPr/>
        </p:nvCxnSpPr>
        <p:spPr>
          <a:xfrm>
            <a:off x="2998080" y="4146480"/>
            <a:ext cx="829080" cy="8280"/>
          </a:xfrm>
          <a:prstGeom prst="straightConnector1">
            <a:avLst/>
          </a:prstGeom>
          <a:ln>
            <a:solidFill>
              <a:srgbClr val="ff0000"/>
            </a:solidFill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0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5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8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3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8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THE OPPOSITE VECTOR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4"/>
          <p:cNvSpPr/>
          <p:nvPr/>
        </p:nvSpPr>
        <p:spPr>
          <a:xfrm>
            <a:off x="1325880" y="735480"/>
            <a:ext cx="98751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</a:rPr>
              <a:t>BA is the Reverse of AB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AB = (5, 2). If the arrow points the other way, every number flips sign: BA = −AB = (−5, −2).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ounded Rectangle 6"/>
          <p:cNvSpPr/>
          <p:nvPr/>
        </p:nvSpPr>
        <p:spPr>
          <a:xfrm>
            <a:off x="567000" y="1874520"/>
            <a:ext cx="5943240" cy="26056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87" name="Connector 7"/>
          <p:cNvCxnSpPr/>
          <p:nvPr/>
        </p:nvCxnSpPr>
        <p:spPr>
          <a:xfrm>
            <a:off x="932400" y="2194200"/>
            <a:ext cx="360" cy="178344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88" name="Connector 8"/>
          <p:cNvCxnSpPr/>
          <p:nvPr/>
        </p:nvCxnSpPr>
        <p:spPr>
          <a:xfrm>
            <a:off x="1677240" y="2194200"/>
            <a:ext cx="360" cy="178344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89" name="Connector 9"/>
          <p:cNvCxnSpPr/>
          <p:nvPr/>
        </p:nvCxnSpPr>
        <p:spPr>
          <a:xfrm>
            <a:off x="2421720" y="2194200"/>
            <a:ext cx="360" cy="178344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0" name="Connector 10"/>
          <p:cNvCxnSpPr/>
          <p:nvPr/>
        </p:nvCxnSpPr>
        <p:spPr>
          <a:xfrm>
            <a:off x="3166200" y="2194200"/>
            <a:ext cx="360" cy="178344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1" name="Connector 11"/>
          <p:cNvCxnSpPr/>
          <p:nvPr/>
        </p:nvCxnSpPr>
        <p:spPr>
          <a:xfrm>
            <a:off x="3910680" y="2194200"/>
            <a:ext cx="360" cy="178344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2" name="Connector 12"/>
          <p:cNvCxnSpPr/>
          <p:nvPr/>
        </p:nvCxnSpPr>
        <p:spPr>
          <a:xfrm>
            <a:off x="4655520" y="2194200"/>
            <a:ext cx="360" cy="178344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3" name="Connector 13"/>
          <p:cNvCxnSpPr/>
          <p:nvPr/>
        </p:nvCxnSpPr>
        <p:spPr>
          <a:xfrm>
            <a:off x="5400000" y="2194200"/>
            <a:ext cx="360" cy="178344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4" name="Connector 14"/>
          <p:cNvCxnSpPr/>
          <p:nvPr/>
        </p:nvCxnSpPr>
        <p:spPr>
          <a:xfrm>
            <a:off x="6144480" y="2194200"/>
            <a:ext cx="360" cy="178344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5" name="Connector 15"/>
          <p:cNvCxnSpPr/>
          <p:nvPr/>
        </p:nvCxnSpPr>
        <p:spPr>
          <a:xfrm>
            <a:off x="932400" y="3977280"/>
            <a:ext cx="521244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6" name="Connector 16"/>
          <p:cNvCxnSpPr/>
          <p:nvPr/>
        </p:nvCxnSpPr>
        <p:spPr>
          <a:xfrm>
            <a:off x="932400" y="3620880"/>
            <a:ext cx="521244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7" name="Connector 17"/>
          <p:cNvCxnSpPr/>
          <p:nvPr/>
        </p:nvCxnSpPr>
        <p:spPr>
          <a:xfrm>
            <a:off x="932400" y="3264120"/>
            <a:ext cx="521244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8" name="Connector 18"/>
          <p:cNvCxnSpPr/>
          <p:nvPr/>
        </p:nvCxnSpPr>
        <p:spPr>
          <a:xfrm>
            <a:off x="932400" y="2907720"/>
            <a:ext cx="521244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99" name="Connector 19"/>
          <p:cNvCxnSpPr/>
          <p:nvPr/>
        </p:nvCxnSpPr>
        <p:spPr>
          <a:xfrm>
            <a:off x="932400" y="2550960"/>
            <a:ext cx="521244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00" name="Connector 20"/>
          <p:cNvCxnSpPr/>
          <p:nvPr/>
        </p:nvCxnSpPr>
        <p:spPr>
          <a:xfrm>
            <a:off x="932400" y="2194200"/>
            <a:ext cx="521244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sp>
        <p:nvSpPr>
          <p:cNvPr id="501" name="Oval 21"/>
          <p:cNvSpPr/>
          <p:nvPr/>
        </p:nvSpPr>
        <p:spPr>
          <a:xfrm>
            <a:off x="1649160" y="3593160"/>
            <a:ext cx="55800" cy="5580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5040" bIns="-5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2" name="Oval 22"/>
          <p:cNvSpPr/>
          <p:nvPr/>
        </p:nvSpPr>
        <p:spPr>
          <a:xfrm>
            <a:off x="5372280" y="2879640"/>
            <a:ext cx="55800" cy="5580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5040" bIns="-50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03" name="Connector 23"/>
          <p:cNvCxnSpPr/>
          <p:nvPr/>
        </p:nvCxnSpPr>
        <p:spPr>
          <a:xfrm flipV="1">
            <a:off x="1677240" y="2907720"/>
            <a:ext cx="3723120" cy="713520"/>
          </a:xfrm>
          <a:prstGeom prst="straightConnector1">
            <a:avLst/>
          </a:prstGeom>
          <a:ln w="40640">
            <a:solidFill>
              <a:srgbClr val="c84f2f"/>
            </a:solidFill>
            <a:tailEnd len="med" type="triangle" w="med"/>
          </a:ln>
        </p:spPr>
      </p:cxnSp>
      <p:cxnSp>
        <p:nvCxnSpPr>
          <p:cNvPr id="504" name="Connector 24"/>
          <p:cNvCxnSpPr/>
          <p:nvPr/>
        </p:nvCxnSpPr>
        <p:spPr>
          <a:xfrm flipH="1">
            <a:off x="1695240" y="2925720"/>
            <a:ext cx="3723120" cy="713520"/>
          </a:xfrm>
          <a:prstGeom prst="straightConnector1">
            <a:avLst/>
          </a:prstGeom>
          <a:ln w="30480">
            <a:solidFill>
              <a:srgbClr val="1c2a22"/>
            </a:solidFill>
            <a:tailEnd len="med" type="triangle" w="med"/>
          </a:ln>
        </p:spPr>
      </p:cxnSp>
      <p:sp>
        <p:nvSpPr>
          <p:cNvPr id="505" name="TextBox 25"/>
          <p:cNvSpPr/>
          <p:nvPr/>
        </p:nvSpPr>
        <p:spPr>
          <a:xfrm>
            <a:off x="1384560" y="3694320"/>
            <a:ext cx="365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</a:rPr>
              <a:t>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Box 26"/>
          <p:cNvSpPr/>
          <p:nvPr/>
        </p:nvSpPr>
        <p:spPr>
          <a:xfrm>
            <a:off x="5491800" y="2560320"/>
            <a:ext cx="365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</a:rPr>
              <a:t>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Box 27"/>
          <p:cNvSpPr/>
          <p:nvPr/>
        </p:nvSpPr>
        <p:spPr>
          <a:xfrm>
            <a:off x="2638440" y="2801520"/>
            <a:ext cx="449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84f2f"/>
                </a:solidFill>
                <a:latin typeface="Cambria"/>
              </a:rPr>
              <a:t>AB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28"/>
          <p:cNvSpPr/>
          <p:nvPr/>
        </p:nvSpPr>
        <p:spPr>
          <a:xfrm>
            <a:off x="4287960" y="3458880"/>
            <a:ext cx="49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1c2a22"/>
                </a:solidFill>
                <a:latin typeface="Cambria"/>
              </a:rPr>
              <a:t>BA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Rounded Rectangle 29"/>
          <p:cNvSpPr/>
          <p:nvPr/>
        </p:nvSpPr>
        <p:spPr>
          <a:xfrm>
            <a:off x="6830640" y="1874520"/>
            <a:ext cx="4793760" cy="26056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0" name="TextBox 30"/>
          <p:cNvSpPr/>
          <p:nvPr/>
        </p:nvSpPr>
        <p:spPr>
          <a:xfrm>
            <a:off x="7150680" y="2148840"/>
            <a:ext cx="4153680" cy="19440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Rounded Rectangle 31"/>
          <p:cNvSpPr/>
          <p:nvPr/>
        </p:nvSpPr>
        <p:spPr>
          <a:xfrm>
            <a:off x="567000" y="4663440"/>
            <a:ext cx="11057400" cy="731160"/>
          </a:xfrm>
          <a:prstGeom prst="roundRect">
            <a:avLst>
              <a:gd name="adj" fmla="val 15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2" name="TextBox 32"/>
          <p:cNvSpPr/>
          <p:nvPr/>
        </p:nvSpPr>
        <p:spPr>
          <a:xfrm>
            <a:off x="567000" y="4850280"/>
            <a:ext cx="3685680" cy="357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33"/>
          <p:cNvSpPr/>
          <p:nvPr/>
        </p:nvSpPr>
        <p:spPr>
          <a:xfrm>
            <a:off x="4253040" y="4850280"/>
            <a:ext cx="3685680" cy="357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Box 34"/>
          <p:cNvSpPr/>
          <p:nvPr/>
        </p:nvSpPr>
        <p:spPr>
          <a:xfrm>
            <a:off x="7938720" y="4850280"/>
            <a:ext cx="3685680" cy="3574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Rounded Rectangle 35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To reverse a vector, negate every number inside it: BA = −AB.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7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COORDINATES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Reading a Vector from a Grid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Plot the points, then read the vector straight off the grid: across then up.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Rounded Rectangle 6"/>
          <p:cNvSpPr/>
          <p:nvPr/>
        </p:nvSpPr>
        <p:spPr>
          <a:xfrm>
            <a:off x="567000" y="1874520"/>
            <a:ext cx="60346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22" name="Connector 7"/>
          <p:cNvCxnSpPr/>
          <p:nvPr/>
        </p:nvCxnSpPr>
        <p:spPr>
          <a:xfrm>
            <a:off x="88668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3" name="Connector 8"/>
          <p:cNvCxnSpPr/>
          <p:nvPr/>
        </p:nvCxnSpPr>
        <p:spPr>
          <a:xfrm>
            <a:off x="130176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4" name="Connector 9"/>
          <p:cNvCxnSpPr/>
          <p:nvPr/>
        </p:nvCxnSpPr>
        <p:spPr>
          <a:xfrm>
            <a:off x="171684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5" name="Connector 10"/>
          <p:cNvCxnSpPr/>
          <p:nvPr/>
        </p:nvCxnSpPr>
        <p:spPr>
          <a:xfrm>
            <a:off x="213192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6" name="Connector 11"/>
          <p:cNvCxnSpPr/>
          <p:nvPr/>
        </p:nvCxnSpPr>
        <p:spPr>
          <a:xfrm>
            <a:off x="254664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7" name="Connector 12"/>
          <p:cNvCxnSpPr/>
          <p:nvPr/>
        </p:nvCxnSpPr>
        <p:spPr>
          <a:xfrm>
            <a:off x="296172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8" name="Connector 13"/>
          <p:cNvCxnSpPr/>
          <p:nvPr/>
        </p:nvCxnSpPr>
        <p:spPr>
          <a:xfrm>
            <a:off x="337680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9" name="Connector 14"/>
          <p:cNvCxnSpPr/>
          <p:nvPr/>
        </p:nvCxnSpPr>
        <p:spPr>
          <a:xfrm>
            <a:off x="379188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0" name="Connector 15"/>
          <p:cNvCxnSpPr/>
          <p:nvPr/>
        </p:nvCxnSpPr>
        <p:spPr>
          <a:xfrm>
            <a:off x="420660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1" name="Connector 16"/>
          <p:cNvCxnSpPr/>
          <p:nvPr/>
        </p:nvCxnSpPr>
        <p:spPr>
          <a:xfrm>
            <a:off x="462168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2" name="Connector 17"/>
          <p:cNvCxnSpPr/>
          <p:nvPr/>
        </p:nvCxnSpPr>
        <p:spPr>
          <a:xfrm>
            <a:off x="503676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3" name="Connector 18"/>
          <p:cNvCxnSpPr/>
          <p:nvPr/>
        </p:nvCxnSpPr>
        <p:spPr>
          <a:xfrm>
            <a:off x="545184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4" name="Connector 19"/>
          <p:cNvCxnSpPr/>
          <p:nvPr/>
        </p:nvCxnSpPr>
        <p:spPr>
          <a:xfrm>
            <a:off x="586692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5" name="Connector 20"/>
          <p:cNvCxnSpPr/>
          <p:nvPr/>
        </p:nvCxnSpPr>
        <p:spPr>
          <a:xfrm>
            <a:off x="6281640" y="2148840"/>
            <a:ext cx="360" cy="29721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6" name="Connector 21"/>
          <p:cNvCxnSpPr/>
          <p:nvPr/>
        </p:nvCxnSpPr>
        <p:spPr>
          <a:xfrm>
            <a:off x="886680" y="5120640"/>
            <a:ext cx="5395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7" name="Connector 22"/>
          <p:cNvCxnSpPr/>
          <p:nvPr/>
        </p:nvCxnSpPr>
        <p:spPr>
          <a:xfrm>
            <a:off x="886680" y="4625280"/>
            <a:ext cx="5395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8" name="Connector 23"/>
          <p:cNvCxnSpPr/>
          <p:nvPr/>
        </p:nvCxnSpPr>
        <p:spPr>
          <a:xfrm>
            <a:off x="886680" y="4129920"/>
            <a:ext cx="5395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9" name="Connector 24"/>
          <p:cNvCxnSpPr/>
          <p:nvPr/>
        </p:nvCxnSpPr>
        <p:spPr>
          <a:xfrm>
            <a:off x="886680" y="3634560"/>
            <a:ext cx="5395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40" name="Connector 25"/>
          <p:cNvCxnSpPr/>
          <p:nvPr/>
        </p:nvCxnSpPr>
        <p:spPr>
          <a:xfrm>
            <a:off x="886680" y="3139200"/>
            <a:ext cx="5395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41" name="Connector 26"/>
          <p:cNvCxnSpPr/>
          <p:nvPr/>
        </p:nvCxnSpPr>
        <p:spPr>
          <a:xfrm>
            <a:off x="886680" y="2643840"/>
            <a:ext cx="5395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42" name="Connector 27"/>
          <p:cNvCxnSpPr/>
          <p:nvPr/>
        </p:nvCxnSpPr>
        <p:spPr>
          <a:xfrm>
            <a:off x="886680" y="2148840"/>
            <a:ext cx="5395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43" name="Connector 28"/>
          <p:cNvCxnSpPr/>
          <p:nvPr/>
        </p:nvCxnSpPr>
        <p:spPr>
          <a:xfrm>
            <a:off x="886680" y="4129920"/>
            <a:ext cx="5395320" cy="3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cxnSp>
        <p:nvCxnSpPr>
          <p:cNvPr id="544" name="Connector 29"/>
          <p:cNvCxnSpPr/>
          <p:nvPr/>
        </p:nvCxnSpPr>
        <p:spPr>
          <a:xfrm>
            <a:off x="3376800" y="2148840"/>
            <a:ext cx="360" cy="29721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sp>
        <p:nvSpPr>
          <p:cNvPr id="545" name="Oval 30"/>
          <p:cNvSpPr/>
          <p:nvPr/>
        </p:nvSpPr>
        <p:spPr>
          <a:xfrm>
            <a:off x="4177080" y="2614320"/>
            <a:ext cx="59760" cy="5976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6" name="Oval 31"/>
          <p:cNvSpPr/>
          <p:nvPr/>
        </p:nvSpPr>
        <p:spPr>
          <a:xfrm>
            <a:off x="5837040" y="4595400"/>
            <a:ext cx="59760" cy="59760"/>
          </a:xfrm>
          <a:prstGeom prst="ellipse">
            <a:avLst/>
          </a:prstGeom>
          <a:solidFill>
            <a:srgbClr val="c84f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7" name="Oval 32"/>
          <p:cNvSpPr/>
          <p:nvPr/>
        </p:nvSpPr>
        <p:spPr>
          <a:xfrm>
            <a:off x="1686960" y="4100040"/>
            <a:ext cx="59760" cy="5976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8" name="Oval 33"/>
          <p:cNvSpPr/>
          <p:nvPr/>
        </p:nvSpPr>
        <p:spPr>
          <a:xfrm>
            <a:off x="1271880" y="2614320"/>
            <a:ext cx="59760" cy="5976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49" name="Connector 34"/>
          <p:cNvCxnSpPr/>
          <p:nvPr/>
        </p:nvCxnSpPr>
        <p:spPr>
          <a:xfrm>
            <a:off x="4206600" y="2643840"/>
            <a:ext cx="1660680" cy="1981800"/>
          </a:xfrm>
          <a:prstGeom prst="straightConnector1">
            <a:avLst/>
          </a:prstGeom>
          <a:ln w="38100">
            <a:solidFill>
              <a:srgbClr val="c84f2f"/>
            </a:solidFill>
            <a:tailEnd len="med" type="triangle" w="med"/>
          </a:ln>
        </p:spPr>
      </p:cxnSp>
      <p:sp>
        <p:nvSpPr>
          <p:cNvPr id="550" name="TextBox 35"/>
          <p:cNvSpPr/>
          <p:nvPr/>
        </p:nvSpPr>
        <p:spPr>
          <a:xfrm>
            <a:off x="4115520" y="2324160"/>
            <a:ext cx="4568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</a:rPr>
              <a:t>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Box 36"/>
          <p:cNvSpPr/>
          <p:nvPr/>
        </p:nvSpPr>
        <p:spPr>
          <a:xfrm>
            <a:off x="5940000" y="4671000"/>
            <a:ext cx="4568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</a:rPr>
              <a:t>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Box 37"/>
          <p:cNvSpPr/>
          <p:nvPr/>
        </p:nvSpPr>
        <p:spPr>
          <a:xfrm>
            <a:off x="1351080" y="4175640"/>
            <a:ext cx="4568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</a:rPr>
              <a:t>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Box 38"/>
          <p:cNvSpPr/>
          <p:nvPr/>
        </p:nvSpPr>
        <p:spPr>
          <a:xfrm>
            <a:off x="936360" y="2324160"/>
            <a:ext cx="4568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</a:rPr>
              <a:t>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Rounded Rectangle 39"/>
          <p:cNvSpPr/>
          <p:nvPr/>
        </p:nvSpPr>
        <p:spPr>
          <a:xfrm>
            <a:off x="6876360" y="1874520"/>
            <a:ext cx="452592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TextBox 40"/>
          <p:cNvSpPr/>
          <p:nvPr/>
        </p:nvSpPr>
        <p:spPr>
          <a:xfrm>
            <a:off x="7173360" y="2148840"/>
            <a:ext cx="3931560" cy="3099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Rounded Rectangle 41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A vector = (end − start) for each coordinate: (x2−x1, y2−y1).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50"/>
          <p:cNvSpPr/>
          <p:nvPr/>
        </p:nvSpPr>
        <p:spPr>
          <a:xfrm>
            <a:off x="7692840" y="277380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6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 − 2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51"/>
          <p:cNvSpPr/>
          <p:nvPr/>
        </p:nvSpPr>
        <p:spPr>
          <a:xfrm>
            <a:off x="7692840" y="31759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−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1 − 3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52"/>
          <p:cNvSpPr/>
          <p:nvPr/>
        </p:nvSpPr>
        <p:spPr>
          <a:xfrm>
            <a:off x="7647120" y="275508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53"/>
          <p:cNvSpPr/>
          <p:nvPr/>
        </p:nvSpPr>
        <p:spPr>
          <a:xfrm>
            <a:off x="7647120" y="2755080"/>
            <a:ext cx="109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54"/>
          <p:cNvSpPr/>
          <p:nvPr/>
        </p:nvSpPr>
        <p:spPr>
          <a:xfrm>
            <a:off x="7647120" y="3578040"/>
            <a:ext cx="109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55"/>
          <p:cNvSpPr/>
          <p:nvPr/>
        </p:nvSpPr>
        <p:spPr>
          <a:xfrm>
            <a:off x="8652960" y="275508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56"/>
          <p:cNvSpPr/>
          <p:nvPr/>
        </p:nvSpPr>
        <p:spPr>
          <a:xfrm>
            <a:off x="8543160" y="275508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57"/>
          <p:cNvSpPr/>
          <p:nvPr/>
        </p:nvSpPr>
        <p:spPr>
          <a:xfrm>
            <a:off x="8543160" y="357804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50"/>
          <p:cNvSpPr/>
          <p:nvPr/>
        </p:nvSpPr>
        <p:spPr>
          <a:xfrm>
            <a:off x="9134640" y="27554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51"/>
          <p:cNvSpPr/>
          <p:nvPr/>
        </p:nvSpPr>
        <p:spPr>
          <a:xfrm>
            <a:off x="9134640" y="315756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−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4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52"/>
          <p:cNvSpPr/>
          <p:nvPr/>
        </p:nvSpPr>
        <p:spPr>
          <a:xfrm>
            <a:off x="9088920" y="273708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53"/>
          <p:cNvSpPr/>
          <p:nvPr/>
        </p:nvSpPr>
        <p:spPr>
          <a:xfrm>
            <a:off x="9088920" y="273708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54"/>
          <p:cNvSpPr/>
          <p:nvPr/>
        </p:nvSpPr>
        <p:spPr>
          <a:xfrm>
            <a:off x="9088920" y="356004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55"/>
          <p:cNvSpPr/>
          <p:nvPr/>
        </p:nvSpPr>
        <p:spPr>
          <a:xfrm>
            <a:off x="10094760" y="273708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56"/>
          <p:cNvSpPr/>
          <p:nvPr/>
        </p:nvSpPr>
        <p:spPr>
          <a:xfrm>
            <a:off x="9984960" y="273708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57"/>
          <p:cNvSpPr/>
          <p:nvPr/>
        </p:nvSpPr>
        <p:spPr>
          <a:xfrm>
            <a:off x="9984960" y="356004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4" name="Rounded Rectangle 2"/>
          <p:cNvSpPr/>
          <p:nvPr/>
        </p:nvSpPr>
        <p:spPr>
          <a:xfrm>
            <a:off x="82440" y="1836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Box 3"/>
          <p:cNvSpPr/>
          <p:nvPr/>
        </p:nvSpPr>
        <p:spPr>
          <a:xfrm>
            <a:off x="841320" y="4140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PRACTICE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Box 4"/>
          <p:cNvSpPr/>
          <p:nvPr/>
        </p:nvSpPr>
        <p:spPr>
          <a:xfrm>
            <a:off x="841320" y="34092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Draw These Column Vectors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Box 5"/>
          <p:cNvSpPr/>
          <p:nvPr/>
        </p:nvSpPr>
        <p:spPr>
          <a:xfrm>
            <a:off x="720720" y="78444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On squared paper, draw each vector starting from any point you like.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Rounded Rectangle 6"/>
          <p:cNvSpPr/>
          <p:nvPr/>
        </p:nvSpPr>
        <p:spPr>
          <a:xfrm>
            <a:off x="326520" y="1013040"/>
            <a:ext cx="8621280" cy="53416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9" name="Rounded Rectangle 13"/>
          <p:cNvSpPr/>
          <p:nvPr/>
        </p:nvSpPr>
        <p:spPr>
          <a:xfrm>
            <a:off x="429840" y="6403680"/>
            <a:ext cx="11057400" cy="41112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Top number = across (right if positive). Bottom number = up (up if positive).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580" name="Table 249"/>
          <p:cNvGraphicFramePr/>
          <p:nvPr/>
        </p:nvGraphicFramePr>
        <p:xfrm>
          <a:off x="326520" y="1013040"/>
          <a:ext cx="8621280" cy="5341680"/>
        </p:xfrm>
        <a:graphic>
          <a:graphicData uri="http://schemas.openxmlformats.org/drawingml/2006/table">
            <a:tbl>
              <a:tblPr/>
              <a:tblGrid>
                <a:gridCol w="2873880"/>
                <a:gridCol w="2873880"/>
                <a:gridCol w="2873880"/>
              </a:tblGrid>
              <a:tr h="2670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a)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bcbcbc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bcbcbc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b)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bcbcbc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bcbcbc"/>
                      </a:solidFill>
                      <a:prstDash val="solid"/>
                    </a:lnR>
                    <a:lnT w="12240">
                      <a:solidFill>
                        <a:srgbClr val="bcbcbc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70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bcbcbc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bcbc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e)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bcbc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bcbcbc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bcbcb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81" name="Group 44"/>
          <p:cNvGrpSpPr/>
          <p:nvPr/>
        </p:nvGrpSpPr>
        <p:grpSpPr>
          <a:xfrm>
            <a:off x="983880" y="1933920"/>
            <a:ext cx="1510920" cy="1512360"/>
            <a:chOff x="983880" y="1933920"/>
            <a:chExt cx="1510920" cy="1512360"/>
          </a:xfrm>
        </p:grpSpPr>
        <p:sp>
          <p:nvSpPr>
            <p:cNvPr id="582" name="Rectangle 251"/>
            <p:cNvSpPr/>
            <p:nvPr/>
          </p:nvSpPr>
          <p:spPr>
            <a:xfrm>
              <a:off x="1236240" y="1933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83" name="Rectangle 2"/>
            <p:cNvSpPr/>
            <p:nvPr/>
          </p:nvSpPr>
          <p:spPr>
            <a:xfrm>
              <a:off x="148716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84" name="Rectangle 3"/>
            <p:cNvSpPr/>
            <p:nvPr/>
          </p:nvSpPr>
          <p:spPr>
            <a:xfrm>
              <a:off x="173952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85" name="Rectangle 4"/>
            <p:cNvSpPr/>
            <p:nvPr/>
          </p:nvSpPr>
          <p:spPr>
            <a:xfrm>
              <a:off x="1991880" y="1933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86" name="Rectangle 5"/>
            <p:cNvSpPr/>
            <p:nvPr/>
          </p:nvSpPr>
          <p:spPr>
            <a:xfrm>
              <a:off x="98388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87" name="Rectangle 6"/>
            <p:cNvSpPr/>
            <p:nvPr/>
          </p:nvSpPr>
          <p:spPr>
            <a:xfrm>
              <a:off x="224280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88" name="Rectangle 10"/>
            <p:cNvSpPr/>
            <p:nvPr/>
          </p:nvSpPr>
          <p:spPr>
            <a:xfrm>
              <a:off x="1236240" y="2186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89" name="Rectangle 11"/>
            <p:cNvSpPr/>
            <p:nvPr/>
          </p:nvSpPr>
          <p:spPr>
            <a:xfrm>
              <a:off x="148716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0" name="Rectangle 12"/>
            <p:cNvSpPr/>
            <p:nvPr/>
          </p:nvSpPr>
          <p:spPr>
            <a:xfrm>
              <a:off x="173952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1" name="Rectangle 13"/>
            <p:cNvSpPr/>
            <p:nvPr/>
          </p:nvSpPr>
          <p:spPr>
            <a:xfrm>
              <a:off x="1991880" y="2186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2" name="Rectangle 14"/>
            <p:cNvSpPr/>
            <p:nvPr/>
          </p:nvSpPr>
          <p:spPr>
            <a:xfrm>
              <a:off x="98388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3" name="Rectangle 15"/>
            <p:cNvSpPr/>
            <p:nvPr/>
          </p:nvSpPr>
          <p:spPr>
            <a:xfrm>
              <a:off x="224280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4" name="Rectangle 263"/>
            <p:cNvSpPr/>
            <p:nvPr/>
          </p:nvSpPr>
          <p:spPr>
            <a:xfrm>
              <a:off x="1236240" y="243864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5" name="Rectangle 264"/>
            <p:cNvSpPr/>
            <p:nvPr/>
          </p:nvSpPr>
          <p:spPr>
            <a:xfrm>
              <a:off x="148716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6" name="Rectangle 265"/>
            <p:cNvSpPr/>
            <p:nvPr/>
          </p:nvSpPr>
          <p:spPr>
            <a:xfrm>
              <a:off x="173952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7" name="Rectangle 266"/>
            <p:cNvSpPr/>
            <p:nvPr/>
          </p:nvSpPr>
          <p:spPr>
            <a:xfrm>
              <a:off x="1991880" y="243864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8" name="Rectangle 267"/>
            <p:cNvSpPr/>
            <p:nvPr/>
          </p:nvSpPr>
          <p:spPr>
            <a:xfrm>
              <a:off x="98388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599" name="Rectangle 268"/>
            <p:cNvSpPr/>
            <p:nvPr/>
          </p:nvSpPr>
          <p:spPr>
            <a:xfrm>
              <a:off x="224280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0" name="Rectangle 269"/>
            <p:cNvSpPr/>
            <p:nvPr/>
          </p:nvSpPr>
          <p:spPr>
            <a:xfrm>
              <a:off x="1236240" y="269100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1" name="Rectangle 270"/>
            <p:cNvSpPr/>
            <p:nvPr/>
          </p:nvSpPr>
          <p:spPr>
            <a:xfrm>
              <a:off x="148716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2" name="Rectangle 271"/>
            <p:cNvSpPr/>
            <p:nvPr/>
          </p:nvSpPr>
          <p:spPr>
            <a:xfrm>
              <a:off x="173952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3" name="Rectangle 272"/>
            <p:cNvSpPr/>
            <p:nvPr/>
          </p:nvSpPr>
          <p:spPr>
            <a:xfrm>
              <a:off x="1991880" y="269100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4" name="Rectangle 273"/>
            <p:cNvSpPr/>
            <p:nvPr/>
          </p:nvSpPr>
          <p:spPr>
            <a:xfrm>
              <a:off x="98388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5" name="Rectangle 274"/>
            <p:cNvSpPr/>
            <p:nvPr/>
          </p:nvSpPr>
          <p:spPr>
            <a:xfrm>
              <a:off x="224280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6" name="Rectangle 275"/>
            <p:cNvSpPr/>
            <p:nvPr/>
          </p:nvSpPr>
          <p:spPr>
            <a:xfrm>
              <a:off x="1236240" y="2941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7" name="Rectangle 276"/>
            <p:cNvSpPr/>
            <p:nvPr/>
          </p:nvSpPr>
          <p:spPr>
            <a:xfrm>
              <a:off x="148716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8" name="Rectangle 277"/>
            <p:cNvSpPr/>
            <p:nvPr/>
          </p:nvSpPr>
          <p:spPr>
            <a:xfrm>
              <a:off x="173952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09" name="Rectangle 278"/>
            <p:cNvSpPr/>
            <p:nvPr/>
          </p:nvSpPr>
          <p:spPr>
            <a:xfrm>
              <a:off x="1991880" y="2941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0" name="Rectangle 279"/>
            <p:cNvSpPr/>
            <p:nvPr/>
          </p:nvSpPr>
          <p:spPr>
            <a:xfrm>
              <a:off x="98388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1" name="Rectangle 280"/>
            <p:cNvSpPr/>
            <p:nvPr/>
          </p:nvSpPr>
          <p:spPr>
            <a:xfrm>
              <a:off x="224280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2" name="Rectangle 281"/>
            <p:cNvSpPr/>
            <p:nvPr/>
          </p:nvSpPr>
          <p:spPr>
            <a:xfrm>
              <a:off x="1236240" y="3194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3" name="Rectangle 282"/>
            <p:cNvSpPr/>
            <p:nvPr/>
          </p:nvSpPr>
          <p:spPr>
            <a:xfrm>
              <a:off x="148716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4" name="Rectangle 283"/>
            <p:cNvSpPr/>
            <p:nvPr/>
          </p:nvSpPr>
          <p:spPr>
            <a:xfrm>
              <a:off x="173952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5" name="Rectangle 284"/>
            <p:cNvSpPr/>
            <p:nvPr/>
          </p:nvSpPr>
          <p:spPr>
            <a:xfrm>
              <a:off x="1991880" y="3194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6" name="Rectangle 285"/>
            <p:cNvSpPr/>
            <p:nvPr/>
          </p:nvSpPr>
          <p:spPr>
            <a:xfrm>
              <a:off x="98388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17" name="Rectangle 286"/>
            <p:cNvSpPr/>
            <p:nvPr/>
          </p:nvSpPr>
          <p:spPr>
            <a:xfrm>
              <a:off x="224280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618" name="Group 44"/>
          <p:cNvGrpSpPr/>
          <p:nvPr/>
        </p:nvGrpSpPr>
        <p:grpSpPr>
          <a:xfrm>
            <a:off x="3871440" y="1933920"/>
            <a:ext cx="1510920" cy="1512360"/>
            <a:chOff x="3871440" y="1933920"/>
            <a:chExt cx="1510920" cy="1512360"/>
          </a:xfrm>
        </p:grpSpPr>
        <p:sp>
          <p:nvSpPr>
            <p:cNvPr id="619" name="Rectangle 288"/>
            <p:cNvSpPr/>
            <p:nvPr/>
          </p:nvSpPr>
          <p:spPr>
            <a:xfrm>
              <a:off x="4123800" y="1933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0" name="Rectangle 2"/>
            <p:cNvSpPr/>
            <p:nvPr/>
          </p:nvSpPr>
          <p:spPr>
            <a:xfrm>
              <a:off x="437472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1" name="Rectangle 3"/>
            <p:cNvSpPr/>
            <p:nvPr/>
          </p:nvSpPr>
          <p:spPr>
            <a:xfrm>
              <a:off x="462708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2" name="Rectangle 4"/>
            <p:cNvSpPr/>
            <p:nvPr/>
          </p:nvSpPr>
          <p:spPr>
            <a:xfrm>
              <a:off x="4879440" y="1933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3" name="Rectangle 5"/>
            <p:cNvSpPr/>
            <p:nvPr/>
          </p:nvSpPr>
          <p:spPr>
            <a:xfrm>
              <a:off x="387144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4" name="Rectangle 6"/>
            <p:cNvSpPr/>
            <p:nvPr/>
          </p:nvSpPr>
          <p:spPr>
            <a:xfrm>
              <a:off x="513036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5" name="Rectangle 10"/>
            <p:cNvSpPr/>
            <p:nvPr/>
          </p:nvSpPr>
          <p:spPr>
            <a:xfrm>
              <a:off x="4123800" y="2186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6" name="Rectangle 11"/>
            <p:cNvSpPr/>
            <p:nvPr/>
          </p:nvSpPr>
          <p:spPr>
            <a:xfrm>
              <a:off x="437472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7" name="Rectangle 12"/>
            <p:cNvSpPr/>
            <p:nvPr/>
          </p:nvSpPr>
          <p:spPr>
            <a:xfrm>
              <a:off x="462708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8" name="Rectangle 13"/>
            <p:cNvSpPr/>
            <p:nvPr/>
          </p:nvSpPr>
          <p:spPr>
            <a:xfrm>
              <a:off x="4879440" y="2186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29" name="Rectangle 14"/>
            <p:cNvSpPr/>
            <p:nvPr/>
          </p:nvSpPr>
          <p:spPr>
            <a:xfrm>
              <a:off x="387144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0" name="Rectangle 15"/>
            <p:cNvSpPr/>
            <p:nvPr/>
          </p:nvSpPr>
          <p:spPr>
            <a:xfrm>
              <a:off x="513036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1" name="Rectangle 300"/>
            <p:cNvSpPr/>
            <p:nvPr/>
          </p:nvSpPr>
          <p:spPr>
            <a:xfrm>
              <a:off x="4123800" y="243864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2" name="Rectangle 301"/>
            <p:cNvSpPr/>
            <p:nvPr/>
          </p:nvSpPr>
          <p:spPr>
            <a:xfrm>
              <a:off x="437472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3" name="Rectangle 302"/>
            <p:cNvSpPr/>
            <p:nvPr/>
          </p:nvSpPr>
          <p:spPr>
            <a:xfrm>
              <a:off x="462708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4" name="Rectangle 303"/>
            <p:cNvSpPr/>
            <p:nvPr/>
          </p:nvSpPr>
          <p:spPr>
            <a:xfrm>
              <a:off x="4879440" y="243864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5" name="Rectangle 304"/>
            <p:cNvSpPr/>
            <p:nvPr/>
          </p:nvSpPr>
          <p:spPr>
            <a:xfrm>
              <a:off x="387144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6" name="Rectangle 305"/>
            <p:cNvSpPr/>
            <p:nvPr/>
          </p:nvSpPr>
          <p:spPr>
            <a:xfrm>
              <a:off x="513036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7" name="Rectangle 306"/>
            <p:cNvSpPr/>
            <p:nvPr/>
          </p:nvSpPr>
          <p:spPr>
            <a:xfrm>
              <a:off x="4123800" y="269100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8" name="Rectangle 307"/>
            <p:cNvSpPr/>
            <p:nvPr/>
          </p:nvSpPr>
          <p:spPr>
            <a:xfrm>
              <a:off x="437472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39" name="Rectangle 308"/>
            <p:cNvSpPr/>
            <p:nvPr/>
          </p:nvSpPr>
          <p:spPr>
            <a:xfrm>
              <a:off x="462708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0" name="Rectangle 309"/>
            <p:cNvSpPr/>
            <p:nvPr/>
          </p:nvSpPr>
          <p:spPr>
            <a:xfrm>
              <a:off x="4879440" y="269100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1" name="Rectangle 310"/>
            <p:cNvSpPr/>
            <p:nvPr/>
          </p:nvSpPr>
          <p:spPr>
            <a:xfrm>
              <a:off x="387144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2" name="Rectangle 311"/>
            <p:cNvSpPr/>
            <p:nvPr/>
          </p:nvSpPr>
          <p:spPr>
            <a:xfrm>
              <a:off x="513036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3" name="Rectangle 312"/>
            <p:cNvSpPr/>
            <p:nvPr/>
          </p:nvSpPr>
          <p:spPr>
            <a:xfrm>
              <a:off x="4123800" y="2941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4" name="Rectangle 313"/>
            <p:cNvSpPr/>
            <p:nvPr/>
          </p:nvSpPr>
          <p:spPr>
            <a:xfrm>
              <a:off x="437472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5" name="Rectangle 314"/>
            <p:cNvSpPr/>
            <p:nvPr/>
          </p:nvSpPr>
          <p:spPr>
            <a:xfrm>
              <a:off x="462708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6" name="Rectangle 315"/>
            <p:cNvSpPr/>
            <p:nvPr/>
          </p:nvSpPr>
          <p:spPr>
            <a:xfrm>
              <a:off x="4879440" y="2941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7" name="Rectangle 316"/>
            <p:cNvSpPr/>
            <p:nvPr/>
          </p:nvSpPr>
          <p:spPr>
            <a:xfrm>
              <a:off x="387144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8" name="Rectangle 317"/>
            <p:cNvSpPr/>
            <p:nvPr/>
          </p:nvSpPr>
          <p:spPr>
            <a:xfrm>
              <a:off x="513036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49" name="Rectangle 318"/>
            <p:cNvSpPr/>
            <p:nvPr/>
          </p:nvSpPr>
          <p:spPr>
            <a:xfrm>
              <a:off x="4123800" y="3194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0" name="Rectangle 319"/>
            <p:cNvSpPr/>
            <p:nvPr/>
          </p:nvSpPr>
          <p:spPr>
            <a:xfrm>
              <a:off x="437472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1" name="Rectangle 320"/>
            <p:cNvSpPr/>
            <p:nvPr/>
          </p:nvSpPr>
          <p:spPr>
            <a:xfrm>
              <a:off x="462708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2" name="Rectangle 321"/>
            <p:cNvSpPr/>
            <p:nvPr/>
          </p:nvSpPr>
          <p:spPr>
            <a:xfrm>
              <a:off x="4879440" y="3194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3" name="Rectangle 322"/>
            <p:cNvSpPr/>
            <p:nvPr/>
          </p:nvSpPr>
          <p:spPr>
            <a:xfrm>
              <a:off x="387144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4" name="Rectangle 323"/>
            <p:cNvSpPr/>
            <p:nvPr/>
          </p:nvSpPr>
          <p:spPr>
            <a:xfrm>
              <a:off x="513036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655" name="Group 44"/>
          <p:cNvGrpSpPr/>
          <p:nvPr/>
        </p:nvGrpSpPr>
        <p:grpSpPr>
          <a:xfrm>
            <a:off x="6759360" y="1933920"/>
            <a:ext cx="1512360" cy="1512360"/>
            <a:chOff x="6759360" y="1933920"/>
            <a:chExt cx="1512360" cy="1512360"/>
          </a:xfrm>
        </p:grpSpPr>
        <p:sp>
          <p:nvSpPr>
            <p:cNvPr id="656" name="Rectangle 325"/>
            <p:cNvSpPr/>
            <p:nvPr/>
          </p:nvSpPr>
          <p:spPr>
            <a:xfrm>
              <a:off x="701172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7" name="Rectangle 2"/>
            <p:cNvSpPr/>
            <p:nvPr/>
          </p:nvSpPr>
          <p:spPr>
            <a:xfrm>
              <a:off x="726408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8" name="Rectangle 3"/>
            <p:cNvSpPr/>
            <p:nvPr/>
          </p:nvSpPr>
          <p:spPr>
            <a:xfrm>
              <a:off x="7516440" y="1933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59" name="Rectangle 4"/>
            <p:cNvSpPr/>
            <p:nvPr/>
          </p:nvSpPr>
          <p:spPr>
            <a:xfrm>
              <a:off x="776736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0" name="Rectangle 5"/>
            <p:cNvSpPr/>
            <p:nvPr/>
          </p:nvSpPr>
          <p:spPr>
            <a:xfrm>
              <a:off x="675936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1" name="Rectangle 6"/>
            <p:cNvSpPr/>
            <p:nvPr/>
          </p:nvSpPr>
          <p:spPr>
            <a:xfrm>
              <a:off x="8019720" y="1933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2" name="Rectangle 10"/>
            <p:cNvSpPr/>
            <p:nvPr/>
          </p:nvSpPr>
          <p:spPr>
            <a:xfrm>
              <a:off x="701172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3" name="Rectangle 11"/>
            <p:cNvSpPr/>
            <p:nvPr/>
          </p:nvSpPr>
          <p:spPr>
            <a:xfrm>
              <a:off x="726408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4" name="Rectangle 12"/>
            <p:cNvSpPr/>
            <p:nvPr/>
          </p:nvSpPr>
          <p:spPr>
            <a:xfrm>
              <a:off x="7516440" y="2186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5" name="Rectangle 13"/>
            <p:cNvSpPr/>
            <p:nvPr/>
          </p:nvSpPr>
          <p:spPr>
            <a:xfrm>
              <a:off x="776736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6" name="Rectangle 14"/>
            <p:cNvSpPr/>
            <p:nvPr/>
          </p:nvSpPr>
          <p:spPr>
            <a:xfrm>
              <a:off x="675936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7" name="Rectangle 15"/>
            <p:cNvSpPr/>
            <p:nvPr/>
          </p:nvSpPr>
          <p:spPr>
            <a:xfrm>
              <a:off x="8019720" y="2186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8" name="Rectangle 337"/>
            <p:cNvSpPr/>
            <p:nvPr/>
          </p:nvSpPr>
          <p:spPr>
            <a:xfrm>
              <a:off x="701172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69" name="Rectangle 338"/>
            <p:cNvSpPr/>
            <p:nvPr/>
          </p:nvSpPr>
          <p:spPr>
            <a:xfrm>
              <a:off x="726408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0" name="Rectangle 339"/>
            <p:cNvSpPr/>
            <p:nvPr/>
          </p:nvSpPr>
          <p:spPr>
            <a:xfrm>
              <a:off x="7516440" y="243864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1" name="Rectangle 340"/>
            <p:cNvSpPr/>
            <p:nvPr/>
          </p:nvSpPr>
          <p:spPr>
            <a:xfrm>
              <a:off x="776736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2" name="Rectangle 341"/>
            <p:cNvSpPr/>
            <p:nvPr/>
          </p:nvSpPr>
          <p:spPr>
            <a:xfrm>
              <a:off x="675936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3" name="Rectangle 342"/>
            <p:cNvSpPr/>
            <p:nvPr/>
          </p:nvSpPr>
          <p:spPr>
            <a:xfrm>
              <a:off x="8019720" y="243864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4" name="Rectangle 343"/>
            <p:cNvSpPr/>
            <p:nvPr/>
          </p:nvSpPr>
          <p:spPr>
            <a:xfrm>
              <a:off x="701172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5" name="Rectangle 344"/>
            <p:cNvSpPr/>
            <p:nvPr/>
          </p:nvSpPr>
          <p:spPr>
            <a:xfrm>
              <a:off x="726408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6" name="Rectangle 345"/>
            <p:cNvSpPr/>
            <p:nvPr/>
          </p:nvSpPr>
          <p:spPr>
            <a:xfrm>
              <a:off x="7516440" y="269100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7" name="Rectangle 346"/>
            <p:cNvSpPr/>
            <p:nvPr/>
          </p:nvSpPr>
          <p:spPr>
            <a:xfrm>
              <a:off x="776736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8" name="Rectangle 347"/>
            <p:cNvSpPr/>
            <p:nvPr/>
          </p:nvSpPr>
          <p:spPr>
            <a:xfrm>
              <a:off x="675936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79" name="Rectangle 348"/>
            <p:cNvSpPr/>
            <p:nvPr/>
          </p:nvSpPr>
          <p:spPr>
            <a:xfrm>
              <a:off x="8019720" y="269100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0" name="Rectangle 349"/>
            <p:cNvSpPr/>
            <p:nvPr/>
          </p:nvSpPr>
          <p:spPr>
            <a:xfrm>
              <a:off x="701172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1" name="Rectangle 350"/>
            <p:cNvSpPr/>
            <p:nvPr/>
          </p:nvSpPr>
          <p:spPr>
            <a:xfrm>
              <a:off x="726408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2" name="Rectangle 351"/>
            <p:cNvSpPr/>
            <p:nvPr/>
          </p:nvSpPr>
          <p:spPr>
            <a:xfrm>
              <a:off x="7516440" y="29419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3" name="Rectangle 352"/>
            <p:cNvSpPr/>
            <p:nvPr/>
          </p:nvSpPr>
          <p:spPr>
            <a:xfrm>
              <a:off x="776736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4" name="Rectangle 353"/>
            <p:cNvSpPr/>
            <p:nvPr/>
          </p:nvSpPr>
          <p:spPr>
            <a:xfrm>
              <a:off x="675936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5" name="Rectangle 354"/>
            <p:cNvSpPr/>
            <p:nvPr/>
          </p:nvSpPr>
          <p:spPr>
            <a:xfrm>
              <a:off x="8019720" y="29419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6" name="Rectangle 355"/>
            <p:cNvSpPr/>
            <p:nvPr/>
          </p:nvSpPr>
          <p:spPr>
            <a:xfrm>
              <a:off x="701172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7" name="Rectangle 356"/>
            <p:cNvSpPr/>
            <p:nvPr/>
          </p:nvSpPr>
          <p:spPr>
            <a:xfrm>
              <a:off x="726408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8" name="Rectangle 357"/>
            <p:cNvSpPr/>
            <p:nvPr/>
          </p:nvSpPr>
          <p:spPr>
            <a:xfrm>
              <a:off x="7516440" y="31942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89" name="Rectangle 358"/>
            <p:cNvSpPr/>
            <p:nvPr/>
          </p:nvSpPr>
          <p:spPr>
            <a:xfrm>
              <a:off x="776736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90" name="Rectangle 359"/>
            <p:cNvSpPr/>
            <p:nvPr/>
          </p:nvSpPr>
          <p:spPr>
            <a:xfrm>
              <a:off x="675936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91" name="Rectangle 360"/>
            <p:cNvSpPr/>
            <p:nvPr/>
          </p:nvSpPr>
          <p:spPr>
            <a:xfrm>
              <a:off x="8019720" y="31942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692" name="Group 44"/>
          <p:cNvGrpSpPr/>
          <p:nvPr/>
        </p:nvGrpSpPr>
        <p:grpSpPr>
          <a:xfrm>
            <a:off x="983880" y="4626360"/>
            <a:ext cx="1510920" cy="1512360"/>
            <a:chOff x="983880" y="4626360"/>
            <a:chExt cx="1510920" cy="1512360"/>
          </a:xfrm>
        </p:grpSpPr>
        <p:sp>
          <p:nvSpPr>
            <p:cNvPr id="693" name="Rectangle 362"/>
            <p:cNvSpPr/>
            <p:nvPr/>
          </p:nvSpPr>
          <p:spPr>
            <a:xfrm>
              <a:off x="1236240" y="4626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94" name="Rectangle 2"/>
            <p:cNvSpPr/>
            <p:nvPr/>
          </p:nvSpPr>
          <p:spPr>
            <a:xfrm>
              <a:off x="148716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95" name="Rectangle 3"/>
            <p:cNvSpPr/>
            <p:nvPr/>
          </p:nvSpPr>
          <p:spPr>
            <a:xfrm>
              <a:off x="173952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96" name="Rectangle 4"/>
            <p:cNvSpPr/>
            <p:nvPr/>
          </p:nvSpPr>
          <p:spPr>
            <a:xfrm>
              <a:off x="1991880" y="4626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97" name="Rectangle 5"/>
            <p:cNvSpPr/>
            <p:nvPr/>
          </p:nvSpPr>
          <p:spPr>
            <a:xfrm>
              <a:off x="98388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98" name="Rectangle 6"/>
            <p:cNvSpPr/>
            <p:nvPr/>
          </p:nvSpPr>
          <p:spPr>
            <a:xfrm>
              <a:off x="224280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699" name="Rectangle 10"/>
            <p:cNvSpPr/>
            <p:nvPr/>
          </p:nvSpPr>
          <p:spPr>
            <a:xfrm>
              <a:off x="1236240" y="4878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0" name="Rectangle 11"/>
            <p:cNvSpPr/>
            <p:nvPr/>
          </p:nvSpPr>
          <p:spPr>
            <a:xfrm>
              <a:off x="148716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1" name="Rectangle 12"/>
            <p:cNvSpPr/>
            <p:nvPr/>
          </p:nvSpPr>
          <p:spPr>
            <a:xfrm>
              <a:off x="173952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2" name="Rectangle 13"/>
            <p:cNvSpPr/>
            <p:nvPr/>
          </p:nvSpPr>
          <p:spPr>
            <a:xfrm>
              <a:off x="1991880" y="4878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3" name="Rectangle 14"/>
            <p:cNvSpPr/>
            <p:nvPr/>
          </p:nvSpPr>
          <p:spPr>
            <a:xfrm>
              <a:off x="98388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4" name="Rectangle 15"/>
            <p:cNvSpPr/>
            <p:nvPr/>
          </p:nvSpPr>
          <p:spPr>
            <a:xfrm>
              <a:off x="224280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5" name="Rectangle 374"/>
            <p:cNvSpPr/>
            <p:nvPr/>
          </p:nvSpPr>
          <p:spPr>
            <a:xfrm>
              <a:off x="1236240" y="51310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6" name="Rectangle 375"/>
            <p:cNvSpPr/>
            <p:nvPr/>
          </p:nvSpPr>
          <p:spPr>
            <a:xfrm>
              <a:off x="148716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7" name="Rectangle 376"/>
            <p:cNvSpPr/>
            <p:nvPr/>
          </p:nvSpPr>
          <p:spPr>
            <a:xfrm>
              <a:off x="173952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8" name="Rectangle 377"/>
            <p:cNvSpPr/>
            <p:nvPr/>
          </p:nvSpPr>
          <p:spPr>
            <a:xfrm>
              <a:off x="1991880" y="51310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09" name="Rectangle 378"/>
            <p:cNvSpPr/>
            <p:nvPr/>
          </p:nvSpPr>
          <p:spPr>
            <a:xfrm>
              <a:off x="98388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0" name="Rectangle 379"/>
            <p:cNvSpPr/>
            <p:nvPr/>
          </p:nvSpPr>
          <p:spPr>
            <a:xfrm>
              <a:off x="224280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1" name="Rectangle 380"/>
            <p:cNvSpPr/>
            <p:nvPr/>
          </p:nvSpPr>
          <p:spPr>
            <a:xfrm>
              <a:off x="1236240" y="538344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2" name="Rectangle 381"/>
            <p:cNvSpPr/>
            <p:nvPr/>
          </p:nvSpPr>
          <p:spPr>
            <a:xfrm>
              <a:off x="148716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3" name="Rectangle 382"/>
            <p:cNvSpPr/>
            <p:nvPr/>
          </p:nvSpPr>
          <p:spPr>
            <a:xfrm>
              <a:off x="173952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4" name="Rectangle 383"/>
            <p:cNvSpPr/>
            <p:nvPr/>
          </p:nvSpPr>
          <p:spPr>
            <a:xfrm>
              <a:off x="1991880" y="538344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5" name="Rectangle 384"/>
            <p:cNvSpPr/>
            <p:nvPr/>
          </p:nvSpPr>
          <p:spPr>
            <a:xfrm>
              <a:off x="98388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6" name="Rectangle 385"/>
            <p:cNvSpPr/>
            <p:nvPr/>
          </p:nvSpPr>
          <p:spPr>
            <a:xfrm>
              <a:off x="224280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7" name="Rectangle 386"/>
            <p:cNvSpPr/>
            <p:nvPr/>
          </p:nvSpPr>
          <p:spPr>
            <a:xfrm>
              <a:off x="1236240" y="5634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8" name="Rectangle 387"/>
            <p:cNvSpPr/>
            <p:nvPr/>
          </p:nvSpPr>
          <p:spPr>
            <a:xfrm>
              <a:off x="148716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19" name="Rectangle 388"/>
            <p:cNvSpPr/>
            <p:nvPr/>
          </p:nvSpPr>
          <p:spPr>
            <a:xfrm>
              <a:off x="173952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0" name="Rectangle 389"/>
            <p:cNvSpPr/>
            <p:nvPr/>
          </p:nvSpPr>
          <p:spPr>
            <a:xfrm>
              <a:off x="1991880" y="5634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1" name="Rectangle 390"/>
            <p:cNvSpPr/>
            <p:nvPr/>
          </p:nvSpPr>
          <p:spPr>
            <a:xfrm>
              <a:off x="98388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2" name="Rectangle 391"/>
            <p:cNvSpPr/>
            <p:nvPr/>
          </p:nvSpPr>
          <p:spPr>
            <a:xfrm>
              <a:off x="224280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3" name="Rectangle 392"/>
            <p:cNvSpPr/>
            <p:nvPr/>
          </p:nvSpPr>
          <p:spPr>
            <a:xfrm>
              <a:off x="1236240" y="5886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4" name="Rectangle 393"/>
            <p:cNvSpPr/>
            <p:nvPr/>
          </p:nvSpPr>
          <p:spPr>
            <a:xfrm>
              <a:off x="148716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5" name="Rectangle 394"/>
            <p:cNvSpPr/>
            <p:nvPr/>
          </p:nvSpPr>
          <p:spPr>
            <a:xfrm>
              <a:off x="173952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6" name="Rectangle 395"/>
            <p:cNvSpPr/>
            <p:nvPr/>
          </p:nvSpPr>
          <p:spPr>
            <a:xfrm>
              <a:off x="1991880" y="5886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7" name="Rectangle 396"/>
            <p:cNvSpPr/>
            <p:nvPr/>
          </p:nvSpPr>
          <p:spPr>
            <a:xfrm>
              <a:off x="98388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28" name="Rectangle 397"/>
            <p:cNvSpPr/>
            <p:nvPr/>
          </p:nvSpPr>
          <p:spPr>
            <a:xfrm>
              <a:off x="224280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729" name="Group 44"/>
          <p:cNvGrpSpPr/>
          <p:nvPr/>
        </p:nvGrpSpPr>
        <p:grpSpPr>
          <a:xfrm>
            <a:off x="3871440" y="4626360"/>
            <a:ext cx="1510920" cy="1512360"/>
            <a:chOff x="3871440" y="4626360"/>
            <a:chExt cx="1510920" cy="1512360"/>
          </a:xfrm>
        </p:grpSpPr>
        <p:sp>
          <p:nvSpPr>
            <p:cNvPr id="730" name="Rectangle 399"/>
            <p:cNvSpPr/>
            <p:nvPr/>
          </p:nvSpPr>
          <p:spPr>
            <a:xfrm>
              <a:off x="4123800" y="4626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1" name="Rectangle 2"/>
            <p:cNvSpPr/>
            <p:nvPr/>
          </p:nvSpPr>
          <p:spPr>
            <a:xfrm>
              <a:off x="437472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2" name="Rectangle 3"/>
            <p:cNvSpPr/>
            <p:nvPr/>
          </p:nvSpPr>
          <p:spPr>
            <a:xfrm>
              <a:off x="462708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3" name="Rectangle 4"/>
            <p:cNvSpPr/>
            <p:nvPr/>
          </p:nvSpPr>
          <p:spPr>
            <a:xfrm>
              <a:off x="4879440" y="4626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4" name="Rectangle 5"/>
            <p:cNvSpPr/>
            <p:nvPr/>
          </p:nvSpPr>
          <p:spPr>
            <a:xfrm>
              <a:off x="387144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5" name="Rectangle 6"/>
            <p:cNvSpPr/>
            <p:nvPr/>
          </p:nvSpPr>
          <p:spPr>
            <a:xfrm>
              <a:off x="513036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6" name="Rectangle 10"/>
            <p:cNvSpPr/>
            <p:nvPr/>
          </p:nvSpPr>
          <p:spPr>
            <a:xfrm>
              <a:off x="4123800" y="4878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7" name="Rectangle 11"/>
            <p:cNvSpPr/>
            <p:nvPr/>
          </p:nvSpPr>
          <p:spPr>
            <a:xfrm>
              <a:off x="437472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8" name="Rectangle 12"/>
            <p:cNvSpPr/>
            <p:nvPr/>
          </p:nvSpPr>
          <p:spPr>
            <a:xfrm>
              <a:off x="462708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39" name="Rectangle 13"/>
            <p:cNvSpPr/>
            <p:nvPr/>
          </p:nvSpPr>
          <p:spPr>
            <a:xfrm>
              <a:off x="4879440" y="4878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0" name="Rectangle 14"/>
            <p:cNvSpPr/>
            <p:nvPr/>
          </p:nvSpPr>
          <p:spPr>
            <a:xfrm>
              <a:off x="387144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1" name="Rectangle 15"/>
            <p:cNvSpPr/>
            <p:nvPr/>
          </p:nvSpPr>
          <p:spPr>
            <a:xfrm>
              <a:off x="513036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2" name="Rectangle 411"/>
            <p:cNvSpPr/>
            <p:nvPr/>
          </p:nvSpPr>
          <p:spPr>
            <a:xfrm>
              <a:off x="4123800" y="51310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3" name="Rectangle 412"/>
            <p:cNvSpPr/>
            <p:nvPr/>
          </p:nvSpPr>
          <p:spPr>
            <a:xfrm>
              <a:off x="437472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4" name="Rectangle 413"/>
            <p:cNvSpPr/>
            <p:nvPr/>
          </p:nvSpPr>
          <p:spPr>
            <a:xfrm>
              <a:off x="462708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5" name="Rectangle 414"/>
            <p:cNvSpPr/>
            <p:nvPr/>
          </p:nvSpPr>
          <p:spPr>
            <a:xfrm>
              <a:off x="4879440" y="51310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6" name="Rectangle 415"/>
            <p:cNvSpPr/>
            <p:nvPr/>
          </p:nvSpPr>
          <p:spPr>
            <a:xfrm>
              <a:off x="387144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7" name="Rectangle 416"/>
            <p:cNvSpPr/>
            <p:nvPr/>
          </p:nvSpPr>
          <p:spPr>
            <a:xfrm>
              <a:off x="513036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8" name="Rectangle 417"/>
            <p:cNvSpPr/>
            <p:nvPr/>
          </p:nvSpPr>
          <p:spPr>
            <a:xfrm>
              <a:off x="4123800" y="538344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49" name="Rectangle 418"/>
            <p:cNvSpPr/>
            <p:nvPr/>
          </p:nvSpPr>
          <p:spPr>
            <a:xfrm>
              <a:off x="437472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0" name="Rectangle 419"/>
            <p:cNvSpPr/>
            <p:nvPr/>
          </p:nvSpPr>
          <p:spPr>
            <a:xfrm>
              <a:off x="462708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1" name="Rectangle 420"/>
            <p:cNvSpPr/>
            <p:nvPr/>
          </p:nvSpPr>
          <p:spPr>
            <a:xfrm>
              <a:off x="4879440" y="538344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2" name="Rectangle 421"/>
            <p:cNvSpPr/>
            <p:nvPr/>
          </p:nvSpPr>
          <p:spPr>
            <a:xfrm>
              <a:off x="387144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3" name="Rectangle 422"/>
            <p:cNvSpPr/>
            <p:nvPr/>
          </p:nvSpPr>
          <p:spPr>
            <a:xfrm>
              <a:off x="513036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4" name="Rectangle 423"/>
            <p:cNvSpPr/>
            <p:nvPr/>
          </p:nvSpPr>
          <p:spPr>
            <a:xfrm>
              <a:off x="4123800" y="5634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5" name="Rectangle 424"/>
            <p:cNvSpPr/>
            <p:nvPr/>
          </p:nvSpPr>
          <p:spPr>
            <a:xfrm>
              <a:off x="437472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6" name="Rectangle 425"/>
            <p:cNvSpPr/>
            <p:nvPr/>
          </p:nvSpPr>
          <p:spPr>
            <a:xfrm>
              <a:off x="462708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7" name="Rectangle 426"/>
            <p:cNvSpPr/>
            <p:nvPr/>
          </p:nvSpPr>
          <p:spPr>
            <a:xfrm>
              <a:off x="4879440" y="5634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8" name="Rectangle 427"/>
            <p:cNvSpPr/>
            <p:nvPr/>
          </p:nvSpPr>
          <p:spPr>
            <a:xfrm>
              <a:off x="387144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59" name="Rectangle 428"/>
            <p:cNvSpPr/>
            <p:nvPr/>
          </p:nvSpPr>
          <p:spPr>
            <a:xfrm>
              <a:off x="513036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0" name="Rectangle 429"/>
            <p:cNvSpPr/>
            <p:nvPr/>
          </p:nvSpPr>
          <p:spPr>
            <a:xfrm>
              <a:off x="4123800" y="5886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1" name="Rectangle 430"/>
            <p:cNvSpPr/>
            <p:nvPr/>
          </p:nvSpPr>
          <p:spPr>
            <a:xfrm>
              <a:off x="437472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2" name="Rectangle 431"/>
            <p:cNvSpPr/>
            <p:nvPr/>
          </p:nvSpPr>
          <p:spPr>
            <a:xfrm>
              <a:off x="462708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3" name="Rectangle 432"/>
            <p:cNvSpPr/>
            <p:nvPr/>
          </p:nvSpPr>
          <p:spPr>
            <a:xfrm>
              <a:off x="4879440" y="5886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4" name="Rectangle 433"/>
            <p:cNvSpPr/>
            <p:nvPr/>
          </p:nvSpPr>
          <p:spPr>
            <a:xfrm>
              <a:off x="387144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5" name="Rectangle 434"/>
            <p:cNvSpPr/>
            <p:nvPr/>
          </p:nvSpPr>
          <p:spPr>
            <a:xfrm>
              <a:off x="513036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grpSp>
        <p:nvGrpSpPr>
          <p:cNvPr id="766" name="Group 44"/>
          <p:cNvGrpSpPr/>
          <p:nvPr/>
        </p:nvGrpSpPr>
        <p:grpSpPr>
          <a:xfrm>
            <a:off x="6759360" y="4626360"/>
            <a:ext cx="1512360" cy="1512360"/>
            <a:chOff x="6759360" y="4626360"/>
            <a:chExt cx="1512360" cy="1512360"/>
          </a:xfrm>
        </p:grpSpPr>
        <p:sp>
          <p:nvSpPr>
            <p:cNvPr id="767" name="Rectangle 436"/>
            <p:cNvSpPr/>
            <p:nvPr/>
          </p:nvSpPr>
          <p:spPr>
            <a:xfrm>
              <a:off x="701172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8" name="Rectangle 2"/>
            <p:cNvSpPr/>
            <p:nvPr/>
          </p:nvSpPr>
          <p:spPr>
            <a:xfrm>
              <a:off x="726408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69" name="Rectangle 3"/>
            <p:cNvSpPr/>
            <p:nvPr/>
          </p:nvSpPr>
          <p:spPr>
            <a:xfrm>
              <a:off x="7516440" y="4626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0" name="Rectangle 4"/>
            <p:cNvSpPr/>
            <p:nvPr/>
          </p:nvSpPr>
          <p:spPr>
            <a:xfrm>
              <a:off x="776736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1" name="Rectangle 5"/>
            <p:cNvSpPr/>
            <p:nvPr/>
          </p:nvSpPr>
          <p:spPr>
            <a:xfrm>
              <a:off x="675936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2" name="Rectangle 6"/>
            <p:cNvSpPr/>
            <p:nvPr/>
          </p:nvSpPr>
          <p:spPr>
            <a:xfrm>
              <a:off x="8019720" y="4626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3" name="Rectangle 10"/>
            <p:cNvSpPr/>
            <p:nvPr/>
          </p:nvSpPr>
          <p:spPr>
            <a:xfrm>
              <a:off x="701172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4" name="Rectangle 11"/>
            <p:cNvSpPr/>
            <p:nvPr/>
          </p:nvSpPr>
          <p:spPr>
            <a:xfrm>
              <a:off x="726408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5" name="Rectangle 12"/>
            <p:cNvSpPr/>
            <p:nvPr/>
          </p:nvSpPr>
          <p:spPr>
            <a:xfrm>
              <a:off x="7516440" y="4878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6" name="Rectangle 13"/>
            <p:cNvSpPr/>
            <p:nvPr/>
          </p:nvSpPr>
          <p:spPr>
            <a:xfrm>
              <a:off x="776736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7" name="Rectangle 14"/>
            <p:cNvSpPr/>
            <p:nvPr/>
          </p:nvSpPr>
          <p:spPr>
            <a:xfrm>
              <a:off x="675936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8" name="Rectangle 15"/>
            <p:cNvSpPr/>
            <p:nvPr/>
          </p:nvSpPr>
          <p:spPr>
            <a:xfrm>
              <a:off x="8019720" y="4878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79" name="Rectangle 448"/>
            <p:cNvSpPr/>
            <p:nvPr/>
          </p:nvSpPr>
          <p:spPr>
            <a:xfrm>
              <a:off x="701172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0" name="Rectangle 449"/>
            <p:cNvSpPr/>
            <p:nvPr/>
          </p:nvSpPr>
          <p:spPr>
            <a:xfrm>
              <a:off x="726408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1" name="Rectangle 450"/>
            <p:cNvSpPr/>
            <p:nvPr/>
          </p:nvSpPr>
          <p:spPr>
            <a:xfrm>
              <a:off x="7516440" y="513108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2" name="Rectangle 451"/>
            <p:cNvSpPr/>
            <p:nvPr/>
          </p:nvSpPr>
          <p:spPr>
            <a:xfrm>
              <a:off x="776736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3" name="Rectangle 452"/>
            <p:cNvSpPr/>
            <p:nvPr/>
          </p:nvSpPr>
          <p:spPr>
            <a:xfrm>
              <a:off x="675936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4" name="Rectangle 453"/>
            <p:cNvSpPr/>
            <p:nvPr/>
          </p:nvSpPr>
          <p:spPr>
            <a:xfrm>
              <a:off x="8019720" y="513108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5" name="Rectangle 454"/>
            <p:cNvSpPr/>
            <p:nvPr/>
          </p:nvSpPr>
          <p:spPr>
            <a:xfrm>
              <a:off x="701172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6" name="Rectangle 455"/>
            <p:cNvSpPr/>
            <p:nvPr/>
          </p:nvSpPr>
          <p:spPr>
            <a:xfrm>
              <a:off x="726408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7" name="Rectangle 456"/>
            <p:cNvSpPr/>
            <p:nvPr/>
          </p:nvSpPr>
          <p:spPr>
            <a:xfrm>
              <a:off x="7516440" y="5383440"/>
              <a:ext cx="25056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8" name="Rectangle 457"/>
            <p:cNvSpPr/>
            <p:nvPr/>
          </p:nvSpPr>
          <p:spPr>
            <a:xfrm>
              <a:off x="776736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89" name="Rectangle 458"/>
            <p:cNvSpPr/>
            <p:nvPr/>
          </p:nvSpPr>
          <p:spPr>
            <a:xfrm>
              <a:off x="675936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0" name="Rectangle 459"/>
            <p:cNvSpPr/>
            <p:nvPr/>
          </p:nvSpPr>
          <p:spPr>
            <a:xfrm>
              <a:off x="8019720" y="5383440"/>
              <a:ext cx="252000" cy="25056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1" name="Rectangle 460"/>
            <p:cNvSpPr/>
            <p:nvPr/>
          </p:nvSpPr>
          <p:spPr>
            <a:xfrm>
              <a:off x="701172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2" name="Rectangle 461"/>
            <p:cNvSpPr/>
            <p:nvPr/>
          </p:nvSpPr>
          <p:spPr>
            <a:xfrm>
              <a:off x="726408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3" name="Rectangle 462"/>
            <p:cNvSpPr/>
            <p:nvPr/>
          </p:nvSpPr>
          <p:spPr>
            <a:xfrm>
              <a:off x="7516440" y="563436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4" name="Rectangle 463"/>
            <p:cNvSpPr/>
            <p:nvPr/>
          </p:nvSpPr>
          <p:spPr>
            <a:xfrm>
              <a:off x="776736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5" name="Rectangle 464"/>
            <p:cNvSpPr/>
            <p:nvPr/>
          </p:nvSpPr>
          <p:spPr>
            <a:xfrm>
              <a:off x="675936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6" name="Rectangle 465"/>
            <p:cNvSpPr/>
            <p:nvPr/>
          </p:nvSpPr>
          <p:spPr>
            <a:xfrm>
              <a:off x="8019720" y="563436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7" name="Rectangle 466"/>
            <p:cNvSpPr/>
            <p:nvPr/>
          </p:nvSpPr>
          <p:spPr>
            <a:xfrm>
              <a:off x="701172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8" name="Rectangle 467"/>
            <p:cNvSpPr/>
            <p:nvPr/>
          </p:nvSpPr>
          <p:spPr>
            <a:xfrm>
              <a:off x="726408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799" name="Rectangle 468"/>
            <p:cNvSpPr/>
            <p:nvPr/>
          </p:nvSpPr>
          <p:spPr>
            <a:xfrm>
              <a:off x="7516440" y="5886720"/>
              <a:ext cx="25056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00" name="Rectangle 469"/>
            <p:cNvSpPr/>
            <p:nvPr/>
          </p:nvSpPr>
          <p:spPr>
            <a:xfrm>
              <a:off x="776736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01" name="Rectangle 470"/>
            <p:cNvSpPr/>
            <p:nvPr/>
          </p:nvSpPr>
          <p:spPr>
            <a:xfrm>
              <a:off x="675936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802" name="Rectangle 471"/>
            <p:cNvSpPr/>
            <p:nvPr/>
          </p:nvSpPr>
          <p:spPr>
            <a:xfrm>
              <a:off x="8019720" y="5886720"/>
              <a:ext cx="252000" cy="252000"/>
            </a:xfrm>
            <a:prstGeom prst="rect">
              <a:avLst/>
            </a:prstGeom>
            <a:noFill/>
            <a:ln>
              <a:solidFill>
                <a:srgbClr val="ffffff">
                  <a:lumMod val="6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</p:grpSp>
      <p:cxnSp>
        <p:nvCxnSpPr>
          <p:cNvPr id="803" name="Straight Arrow Connector 472"/>
          <p:cNvCxnSpPr/>
          <p:nvPr/>
        </p:nvCxnSpPr>
        <p:spPr>
          <a:xfrm flipV="1">
            <a:off x="1234440" y="2686320"/>
            <a:ext cx="1018080" cy="252720"/>
          </a:xfrm>
          <a:prstGeom prst="straightConnector1">
            <a:avLst/>
          </a:prstGeom>
          <a:ln w="50800">
            <a:solidFill>
              <a:srgbClr val="000000"/>
            </a:solidFill>
            <a:tailEnd len="med" type="triangle" w="med"/>
          </a:ln>
        </p:spPr>
      </p:cxnSp>
      <p:graphicFrame>
        <p:nvGraphicFramePr>
          <p:cNvPr id="804" name="Object 24"/>
          <p:cNvGraphicFramePr/>
          <p:nvPr/>
        </p:nvGraphicFramePr>
        <p:xfrm>
          <a:off x="723600" y="1013040"/>
          <a:ext cx="460080" cy="790200"/>
        </p:xfrm>
        <a:graphic>
          <a:graphicData uri="http://schemas.openxmlformats.org/presentationml/2006/ole">
            <p:oleObj progId="Equation.3" r:id="rId1" spid="">
              <p:embed/>
            </p:oleObj>
          </a:graphicData>
        </a:graphic>
      </p:graphicFrame>
      <p:graphicFrame>
        <p:nvGraphicFramePr>
          <p:cNvPr id="805" name="Object 25"/>
          <p:cNvGraphicFramePr/>
          <p:nvPr/>
        </p:nvGraphicFramePr>
        <p:xfrm>
          <a:off x="3560400" y="1013040"/>
          <a:ext cx="460080" cy="790200"/>
        </p:xfrm>
        <a:graphic>
          <a:graphicData uri="http://schemas.openxmlformats.org/presentationml/2006/ole">
            <p:oleObj progId="Equation.3" r:id="rId2" spid="">
              <p:embed/>
            </p:oleObj>
          </a:graphicData>
        </a:graphic>
      </p:graphicFrame>
      <p:graphicFrame>
        <p:nvGraphicFramePr>
          <p:cNvPr id="806" name="Object 26"/>
          <p:cNvGraphicFramePr/>
          <p:nvPr/>
        </p:nvGraphicFramePr>
        <p:xfrm>
          <a:off x="6498720" y="1013040"/>
          <a:ext cx="460080" cy="790200"/>
        </p:xfrm>
        <a:graphic>
          <a:graphicData uri="http://schemas.openxmlformats.org/presentationml/2006/ole">
            <p:oleObj progId="Equation.3" r:id="rId3" spid="">
              <p:embed/>
            </p:oleObj>
          </a:graphicData>
        </a:graphic>
      </p:graphicFrame>
      <p:graphicFrame>
        <p:nvGraphicFramePr>
          <p:cNvPr id="807" name="Object 27"/>
          <p:cNvGraphicFramePr/>
          <p:nvPr/>
        </p:nvGraphicFramePr>
        <p:xfrm>
          <a:off x="744120" y="3691080"/>
          <a:ext cx="636120" cy="790200"/>
        </p:xfrm>
        <a:graphic>
          <a:graphicData uri="http://schemas.openxmlformats.org/presentationml/2006/ole">
            <p:oleObj progId="Equation.3" r:id="rId4" spid="">
              <p:embed/>
            </p:oleObj>
          </a:graphicData>
        </a:graphic>
      </p:graphicFrame>
      <p:graphicFrame>
        <p:nvGraphicFramePr>
          <p:cNvPr id="808" name="Object 28"/>
          <p:cNvGraphicFramePr/>
          <p:nvPr/>
        </p:nvGraphicFramePr>
        <p:xfrm>
          <a:off x="3566880" y="3691080"/>
          <a:ext cx="636120" cy="790200"/>
        </p:xfrm>
        <a:graphic>
          <a:graphicData uri="http://schemas.openxmlformats.org/presentationml/2006/ole">
            <p:oleObj progId="Equation.3" r:id="rId5" spid="">
              <p:embed/>
            </p:oleObj>
          </a:graphicData>
        </a:graphic>
      </p:graphicFrame>
      <p:graphicFrame>
        <p:nvGraphicFramePr>
          <p:cNvPr id="809" name="Object 29"/>
          <p:cNvGraphicFramePr/>
          <p:nvPr/>
        </p:nvGraphicFramePr>
        <p:xfrm>
          <a:off x="6392520" y="3691080"/>
          <a:ext cx="658440" cy="790200"/>
        </p:xfrm>
        <a:graphic>
          <a:graphicData uri="http://schemas.openxmlformats.org/presentationml/2006/ole">
            <p:oleObj progId="Equation.3" r:id="rId6" spid="">
              <p:embed/>
            </p:oleObj>
          </a:graphicData>
        </a:graphic>
      </p:graphicFrame>
      <p:cxnSp>
        <p:nvCxnSpPr>
          <p:cNvPr id="810" name="Straight Arrow Connector 479"/>
          <p:cNvCxnSpPr/>
          <p:nvPr/>
        </p:nvCxnSpPr>
        <p:spPr>
          <a:xfrm flipV="1">
            <a:off x="4630320" y="2430720"/>
            <a:ext cx="360" cy="754200"/>
          </a:xfrm>
          <a:prstGeom prst="straightConnector1">
            <a:avLst/>
          </a:prstGeom>
          <a:ln w="50800">
            <a:solidFill>
              <a:srgbClr val="000000"/>
            </a:solidFill>
            <a:tailEnd len="med" type="triangle" w="med"/>
          </a:ln>
        </p:spPr>
      </p:cxnSp>
      <p:cxnSp>
        <p:nvCxnSpPr>
          <p:cNvPr id="811" name="Straight Arrow Connector 480"/>
          <p:cNvCxnSpPr/>
          <p:nvPr/>
        </p:nvCxnSpPr>
        <p:spPr>
          <a:xfrm>
            <a:off x="6781320" y="2676600"/>
            <a:ext cx="1244880" cy="360"/>
          </a:xfrm>
          <a:prstGeom prst="straightConnector1">
            <a:avLst/>
          </a:prstGeom>
          <a:ln w="50800">
            <a:solidFill>
              <a:srgbClr val="000000"/>
            </a:solidFill>
            <a:tailEnd len="med" type="triangle" w="med"/>
          </a:ln>
        </p:spPr>
      </p:cxnSp>
      <p:cxnSp>
        <p:nvCxnSpPr>
          <p:cNvPr id="812" name="Straight Arrow Connector 481"/>
          <p:cNvCxnSpPr/>
          <p:nvPr/>
        </p:nvCxnSpPr>
        <p:spPr>
          <a:xfrm flipH="1">
            <a:off x="1507680" y="4881600"/>
            <a:ext cx="474840" cy="1242000"/>
          </a:xfrm>
          <a:prstGeom prst="straightConnector1">
            <a:avLst/>
          </a:prstGeom>
          <a:ln w="50800">
            <a:solidFill>
              <a:srgbClr val="000000"/>
            </a:solidFill>
            <a:tailEnd len="med" type="triangle" w="med"/>
          </a:ln>
        </p:spPr>
      </p:cxnSp>
      <p:cxnSp>
        <p:nvCxnSpPr>
          <p:cNvPr id="813" name="Straight Arrow Connector 482"/>
          <p:cNvCxnSpPr/>
          <p:nvPr/>
        </p:nvCxnSpPr>
        <p:spPr>
          <a:xfrm>
            <a:off x="4382640" y="4873680"/>
            <a:ext cx="740160" cy="508320"/>
          </a:xfrm>
          <a:prstGeom prst="straightConnector1">
            <a:avLst/>
          </a:prstGeom>
          <a:ln w="50800">
            <a:solidFill>
              <a:srgbClr val="000000"/>
            </a:solidFill>
            <a:tailEnd len="med" type="triangle" w="med"/>
          </a:ln>
        </p:spPr>
      </p:cxnSp>
      <p:cxnSp>
        <p:nvCxnSpPr>
          <p:cNvPr id="814" name="Straight Arrow Connector 483"/>
          <p:cNvCxnSpPr/>
          <p:nvPr/>
        </p:nvCxnSpPr>
        <p:spPr>
          <a:xfrm flipH="1" flipV="1">
            <a:off x="7027200" y="4629240"/>
            <a:ext cx="991080" cy="1505520"/>
          </a:xfrm>
          <a:prstGeom prst="straightConnector1">
            <a:avLst/>
          </a:prstGeom>
          <a:ln w="5080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MAGNITUDE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Length of a Vector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5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6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Magnitude is always positive — it is a length.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9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Magnitude = the length. Use Pythagoras on the two numbers.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2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|a| = √(x² + y²)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5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8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= √(9 + 25) = √34 ≈ 5.83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1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|a| = √(x² + y²)  —  Pythagoras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2" name="Connector 61"/>
          <p:cNvCxnSpPr/>
          <p:nvPr/>
        </p:nvCxnSpPr>
        <p:spPr>
          <a:xfrm>
            <a:off x="7603560" y="4054320"/>
            <a:ext cx="2200320" cy="360"/>
          </a:xfrm>
          <a:prstGeom prst="straightConnector1">
            <a:avLst/>
          </a:prstGeom>
          <a:ln w="25400">
            <a:solidFill>
              <a:srgbClr val="5c6b60"/>
            </a:solidFill>
            <a:tailEnd len="med" type="triangle" w="med"/>
          </a:ln>
        </p:spPr>
      </p:cxnSp>
      <p:cxnSp>
        <p:nvCxnSpPr>
          <p:cNvPr id="873" name="Connector 62"/>
          <p:cNvCxnSpPr/>
          <p:nvPr/>
        </p:nvCxnSpPr>
        <p:spPr>
          <a:xfrm flipV="1">
            <a:off x="9803520" y="1554480"/>
            <a:ext cx="360" cy="2500200"/>
          </a:xfrm>
          <a:prstGeom prst="straightConnector1">
            <a:avLst/>
          </a:prstGeom>
          <a:ln w="25400">
            <a:solidFill>
              <a:srgbClr val="5c6b60"/>
            </a:solidFill>
            <a:tailEnd len="med" type="triangle" w="med"/>
          </a:ln>
        </p:spPr>
      </p:cxnSp>
      <p:cxnSp>
        <p:nvCxnSpPr>
          <p:cNvPr id="874" name="Connector 63"/>
          <p:cNvCxnSpPr/>
          <p:nvPr/>
        </p:nvCxnSpPr>
        <p:spPr>
          <a:xfrm flipV="1">
            <a:off x="7603560" y="1554480"/>
            <a:ext cx="2200320" cy="2500200"/>
          </a:xfrm>
          <a:prstGeom prst="straightConnector1">
            <a:avLst/>
          </a:prstGeom>
          <a:ln w="40640">
            <a:solidFill>
              <a:srgbClr val="c84f2f"/>
            </a:solidFill>
            <a:tailEnd len="med" type="triangle" w="med"/>
          </a:ln>
        </p:spPr>
      </p:cxnSp>
      <p:sp>
        <p:nvSpPr>
          <p:cNvPr id="875" name="Oval 64"/>
          <p:cNvSpPr/>
          <p:nvPr/>
        </p:nvSpPr>
        <p:spPr>
          <a:xfrm>
            <a:off x="7573680" y="4024440"/>
            <a:ext cx="59760" cy="5976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6" name="Oval 65"/>
          <p:cNvSpPr/>
          <p:nvPr/>
        </p:nvSpPr>
        <p:spPr>
          <a:xfrm>
            <a:off x="9773640" y="1524600"/>
            <a:ext cx="59760" cy="59760"/>
          </a:xfrm>
          <a:prstGeom prst="ellipse">
            <a:avLst/>
          </a:prstGeom>
          <a:solidFill>
            <a:srgbClr val="c84f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7" name="TextBox 66"/>
          <p:cNvSpPr/>
          <p:nvPr/>
        </p:nvSpPr>
        <p:spPr>
          <a:xfrm>
            <a:off x="7553880" y="3875040"/>
            <a:ext cx="229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5c6b60"/>
                </a:solidFill>
                <a:latin typeface="Cambria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TextBox 67"/>
          <p:cNvSpPr/>
          <p:nvPr/>
        </p:nvSpPr>
        <p:spPr>
          <a:xfrm>
            <a:off x="9603720" y="2694600"/>
            <a:ext cx="399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5c6b60"/>
                </a:solidFill>
                <a:latin typeface="Cambria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TextBox 68"/>
          <p:cNvSpPr/>
          <p:nvPr/>
        </p:nvSpPr>
        <p:spPr>
          <a:xfrm>
            <a:off x="8103600" y="2804400"/>
            <a:ext cx="5497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i="1" lang="en-US" sz="1500" spc="-1" strike="noStrike">
                <a:solidFill>
                  <a:srgbClr val="c84f2f"/>
                </a:solidFill>
                <a:latin typeface="Cambria"/>
              </a:rPr>
              <a:t>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TextBox 69"/>
          <p:cNvSpPr/>
          <p:nvPr/>
        </p:nvSpPr>
        <p:spPr>
          <a:xfrm>
            <a:off x="7178040" y="4264560"/>
            <a:ext cx="4127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</a:rPr>
              <a:t>|a| = √(3² + 5²) = √34 ≈ 5.83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2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WORKED EXAMPLE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TextBox 4"/>
          <p:cNvSpPr/>
          <p:nvPr/>
        </p:nvSpPr>
        <p:spPr>
          <a:xfrm>
            <a:off x="1325880" y="735480"/>
            <a:ext cx="98751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</a:rPr>
              <a:t>Finding |a|, |b| and |a + b|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Notice that |a| + |b| is NOT the same as |a + b| — magnitudes don't simply add.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Rounded Rectangle 6"/>
          <p:cNvSpPr/>
          <p:nvPr/>
        </p:nvSpPr>
        <p:spPr>
          <a:xfrm>
            <a:off x="567000" y="1874520"/>
            <a:ext cx="108352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7" name="TextBox 7"/>
          <p:cNvSpPr/>
          <p:nvPr/>
        </p:nvSpPr>
        <p:spPr>
          <a:xfrm>
            <a:off x="841320" y="2130480"/>
            <a:ext cx="324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</a:rPr>
              <a:t>Given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TextBox 8"/>
          <p:cNvSpPr/>
          <p:nvPr/>
        </p:nvSpPr>
        <p:spPr>
          <a:xfrm>
            <a:off x="4270320" y="2130480"/>
            <a:ext cx="324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</a:rPr>
              <a:t>Add the vectors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TextBox 9"/>
          <p:cNvSpPr/>
          <p:nvPr/>
        </p:nvSpPr>
        <p:spPr>
          <a:xfrm>
            <a:off x="7699320" y="2130480"/>
            <a:ext cx="324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</a:rPr>
              <a:t>Compare the magnitudes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TextBox 10"/>
          <p:cNvSpPr/>
          <p:nvPr/>
        </p:nvSpPr>
        <p:spPr>
          <a:xfrm>
            <a:off x="841320" y="2651760"/>
            <a:ext cx="3245760" cy="2020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TextBox 11"/>
          <p:cNvSpPr/>
          <p:nvPr/>
        </p:nvSpPr>
        <p:spPr>
          <a:xfrm>
            <a:off x="4270320" y="2651760"/>
            <a:ext cx="3245760" cy="115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Rounded Rectangle 12"/>
          <p:cNvSpPr/>
          <p:nvPr/>
        </p:nvSpPr>
        <p:spPr>
          <a:xfrm>
            <a:off x="7699320" y="2651760"/>
            <a:ext cx="3154320" cy="1188360"/>
          </a:xfrm>
          <a:prstGeom prst="roundRect">
            <a:avLst>
              <a:gd name="adj" fmla="val 8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37160" bIns="1371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</a:rPr>
              <a:t>13.45 ≠ 6.32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1c2a22"/>
                </a:solidFill>
                <a:latin typeface="Calibri"/>
              </a:rPr>
              <a:t>|a| + |b|  ≠  |a + b|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TextBox 13"/>
          <p:cNvSpPr/>
          <p:nvPr/>
        </p:nvSpPr>
        <p:spPr>
          <a:xfrm>
            <a:off x="7699320" y="4023360"/>
            <a:ext cx="324576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5000"/>
              </a:lnSpc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</a:rPr>
              <a:t>You must add the vectors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</a:rPr>
              <a:t>FIRST, then find the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</a:rPr>
              <a:t>magnitude of the result.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Rounded Rectangle 14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</a:rPr>
              <a:t>Add components first, then take the magnitude — never add the magnitudes directly.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SCALAR MULTIPLICATION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Stretching a Vector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5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Multiplying a vector by a number (a scalar) multiplies BOTH components.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It changes the length, not the direction.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41"/>
          <p:cNvSpPr/>
          <p:nvPr/>
        </p:nvSpPr>
        <p:spPr>
          <a:xfrm>
            <a:off x="567000" y="2286000"/>
            <a:ext cx="5440320" cy="338292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7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Multiply each part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 43"/>
          <p:cNvSpPr/>
          <p:nvPr/>
        </p:nvSpPr>
        <p:spPr>
          <a:xfrm>
            <a:off x="109728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Text 44"/>
          <p:cNvSpPr/>
          <p:nvPr/>
        </p:nvSpPr>
        <p:spPr>
          <a:xfrm>
            <a:off x="1737360" y="31820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 45"/>
          <p:cNvSpPr/>
          <p:nvPr/>
        </p:nvSpPr>
        <p:spPr>
          <a:xfrm>
            <a:off x="1737360" y="35845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46"/>
          <p:cNvSpPr/>
          <p:nvPr/>
        </p:nvSpPr>
        <p:spPr>
          <a:xfrm>
            <a:off x="1691640" y="3163680"/>
            <a:ext cx="360" cy="8229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2" name="Shape 47"/>
          <p:cNvSpPr/>
          <p:nvPr/>
        </p:nvSpPr>
        <p:spPr>
          <a:xfrm>
            <a:off x="1691640" y="3163680"/>
            <a:ext cx="10944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3" name="Shape 48"/>
          <p:cNvSpPr/>
          <p:nvPr/>
        </p:nvSpPr>
        <p:spPr>
          <a:xfrm>
            <a:off x="1691640" y="3986640"/>
            <a:ext cx="10944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4" name="Shape 49"/>
          <p:cNvSpPr/>
          <p:nvPr/>
        </p:nvSpPr>
        <p:spPr>
          <a:xfrm>
            <a:off x="2697480" y="3163680"/>
            <a:ext cx="360" cy="8229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5" name="Shape 50"/>
          <p:cNvSpPr/>
          <p:nvPr/>
        </p:nvSpPr>
        <p:spPr>
          <a:xfrm>
            <a:off x="2587680" y="3163680"/>
            <a:ext cx="10980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6" name="Shape 51"/>
          <p:cNvSpPr/>
          <p:nvPr/>
        </p:nvSpPr>
        <p:spPr>
          <a:xfrm>
            <a:off x="2587680" y="3986640"/>
            <a:ext cx="10980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7" name="Text 52"/>
          <p:cNvSpPr/>
          <p:nvPr/>
        </p:nvSpPr>
        <p:spPr>
          <a:xfrm>
            <a:off x="292608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Text 53"/>
          <p:cNvSpPr/>
          <p:nvPr/>
        </p:nvSpPr>
        <p:spPr>
          <a:xfrm>
            <a:off x="3657600" y="31820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Text 54"/>
          <p:cNvSpPr/>
          <p:nvPr/>
        </p:nvSpPr>
        <p:spPr>
          <a:xfrm>
            <a:off x="3657600" y="35845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55"/>
          <p:cNvSpPr/>
          <p:nvPr/>
        </p:nvSpPr>
        <p:spPr>
          <a:xfrm>
            <a:off x="3611880" y="316368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1" name="Shape 56"/>
          <p:cNvSpPr/>
          <p:nvPr/>
        </p:nvSpPr>
        <p:spPr>
          <a:xfrm>
            <a:off x="3611880" y="3163680"/>
            <a:ext cx="109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2" name="Shape 57"/>
          <p:cNvSpPr/>
          <p:nvPr/>
        </p:nvSpPr>
        <p:spPr>
          <a:xfrm>
            <a:off x="3611880" y="3986640"/>
            <a:ext cx="109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3" name="Shape 58"/>
          <p:cNvSpPr/>
          <p:nvPr/>
        </p:nvSpPr>
        <p:spPr>
          <a:xfrm>
            <a:off x="4617720" y="316368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4" name="Shape 59"/>
          <p:cNvSpPr/>
          <p:nvPr/>
        </p:nvSpPr>
        <p:spPr>
          <a:xfrm>
            <a:off x="4507920" y="316368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5" name="Shape 60"/>
          <p:cNvSpPr/>
          <p:nvPr/>
        </p:nvSpPr>
        <p:spPr>
          <a:xfrm>
            <a:off x="4507920" y="398664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6" name="Text 61"/>
          <p:cNvSpPr/>
          <p:nvPr/>
        </p:nvSpPr>
        <p:spPr>
          <a:xfrm>
            <a:off x="914400" y="45720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Every number inside is multiplied by 2.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62"/>
          <p:cNvSpPr/>
          <p:nvPr/>
        </p:nvSpPr>
        <p:spPr>
          <a:xfrm>
            <a:off x="6190560" y="2286000"/>
            <a:ext cx="5440320" cy="338292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8" name="Text 63"/>
          <p:cNvSpPr/>
          <p:nvPr/>
        </p:nvSpPr>
        <p:spPr>
          <a:xfrm>
            <a:off x="6236280" y="23130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What the scalar does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64"/>
          <p:cNvSpPr/>
          <p:nvPr/>
        </p:nvSpPr>
        <p:spPr>
          <a:xfrm>
            <a:off x="6392520" y="43099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0" name="Text 65"/>
          <p:cNvSpPr/>
          <p:nvPr/>
        </p:nvSpPr>
        <p:spPr>
          <a:xfrm>
            <a:off x="6226920" y="270108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2a is twice as long, same direction.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66"/>
          <p:cNvSpPr/>
          <p:nvPr/>
        </p:nvSpPr>
        <p:spPr>
          <a:xfrm>
            <a:off x="6392520" y="47066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2" name="Text 67"/>
          <p:cNvSpPr/>
          <p:nvPr/>
        </p:nvSpPr>
        <p:spPr>
          <a:xfrm>
            <a:off x="6190560" y="311364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 is the same length, OPPOSITE direction.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3" name="Connector 69"/>
          <p:cNvCxnSpPr/>
          <p:nvPr/>
        </p:nvCxnSpPr>
        <p:spPr>
          <a:xfrm>
            <a:off x="6538680" y="4383000"/>
            <a:ext cx="1000080" cy="360"/>
          </a:xfrm>
          <a:prstGeom prst="straightConnector1">
            <a:avLst/>
          </a:prstGeom>
          <a:ln w="30480">
            <a:solidFill>
              <a:srgbClr val="5c6b60"/>
            </a:solidFill>
            <a:tailEnd len="med" type="triangle" w="med"/>
          </a:ln>
        </p:spPr>
      </p:cxnSp>
      <p:sp>
        <p:nvSpPr>
          <p:cNvPr id="964" name="TextBox 70"/>
          <p:cNvSpPr/>
          <p:nvPr/>
        </p:nvSpPr>
        <p:spPr>
          <a:xfrm>
            <a:off x="7587360" y="4262040"/>
            <a:ext cx="4996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400" spc="-1" strike="noStrike">
                <a:solidFill>
                  <a:srgbClr val="5c6b60"/>
                </a:solidFill>
                <a:latin typeface="Cambria"/>
              </a:rPr>
              <a:t>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5" name="Connector 71"/>
          <p:cNvCxnSpPr/>
          <p:nvPr/>
        </p:nvCxnSpPr>
        <p:spPr>
          <a:xfrm>
            <a:off x="6540480" y="4800600"/>
            <a:ext cx="2000520" cy="360"/>
          </a:xfrm>
          <a:prstGeom prst="straightConnector1">
            <a:avLst/>
          </a:prstGeom>
          <a:ln w="38100">
            <a:solidFill>
              <a:srgbClr val="c84f2f"/>
            </a:solidFill>
            <a:tailEnd len="med" type="triangle" w="med"/>
          </a:ln>
        </p:spPr>
      </p:cxnSp>
      <p:sp>
        <p:nvSpPr>
          <p:cNvPr id="966" name="TextBox 72"/>
          <p:cNvSpPr/>
          <p:nvPr/>
        </p:nvSpPr>
        <p:spPr>
          <a:xfrm>
            <a:off x="8690760" y="4693320"/>
            <a:ext cx="5997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</a:rPr>
              <a:t>2a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7" name="Connector 73"/>
          <p:cNvCxnSpPr/>
          <p:nvPr/>
        </p:nvCxnSpPr>
        <p:spPr>
          <a:xfrm flipH="1">
            <a:off x="6494040" y="5121000"/>
            <a:ext cx="1000440" cy="360"/>
          </a:xfrm>
          <a:prstGeom prst="straightConnector1">
            <a:avLst/>
          </a:prstGeom>
          <a:ln w="30480">
            <a:solidFill>
              <a:srgbClr val="1c2a22"/>
            </a:solidFill>
            <a:tailEnd len="med" type="triangle" w="med"/>
          </a:ln>
        </p:spPr>
      </p:cxnSp>
      <p:sp>
        <p:nvSpPr>
          <p:cNvPr id="968" name="TextBox 74"/>
          <p:cNvSpPr/>
          <p:nvPr/>
        </p:nvSpPr>
        <p:spPr>
          <a:xfrm>
            <a:off x="7644240" y="5013720"/>
            <a:ext cx="6994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400" spc="-1" strike="noStrike">
                <a:solidFill>
                  <a:srgbClr val="1c2a22"/>
                </a:solidFill>
                <a:latin typeface="Cambria"/>
              </a:rPr>
              <a:t>−</a:t>
            </a:r>
            <a:r>
              <a:rPr b="1" i="1" lang="en-US" sz="1400" spc="-1" strike="noStrike">
                <a:solidFill>
                  <a:srgbClr val="1c2a22"/>
                </a:solidFill>
                <a:latin typeface="Cambria"/>
              </a:rPr>
              <a:t>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TextBox 75"/>
          <p:cNvSpPr/>
          <p:nvPr/>
        </p:nvSpPr>
        <p:spPr>
          <a:xfrm>
            <a:off x="6956280" y="5313960"/>
            <a:ext cx="48402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</a:rPr>
              <a:t>Same line, different length — that's a scalar multiple.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Rectangle 76"/>
          <p:cNvSpPr/>
          <p:nvPr/>
        </p:nvSpPr>
        <p:spPr>
          <a:xfrm>
            <a:off x="6166080" y="3547800"/>
            <a:ext cx="5464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Multiply a scalar by a vector and you get a PARALLEL vector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2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TASK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TextBox 4"/>
          <p:cNvSpPr/>
          <p:nvPr/>
        </p:nvSpPr>
        <p:spPr>
          <a:xfrm>
            <a:off x="1325880" y="74304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Find 2a, −3b and 4c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For the vectors below, find its new column form.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Rounded Rectangle 6"/>
          <p:cNvSpPr/>
          <p:nvPr/>
        </p:nvSpPr>
        <p:spPr>
          <a:xfrm>
            <a:off x="567000" y="1874520"/>
            <a:ext cx="1105740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7" name="Rounded Rectangle 7"/>
          <p:cNvSpPr/>
          <p:nvPr/>
        </p:nvSpPr>
        <p:spPr>
          <a:xfrm>
            <a:off x="1024200" y="2148840"/>
            <a:ext cx="3291480" cy="685440"/>
          </a:xfrm>
          <a:prstGeom prst="roundRect">
            <a:avLst>
              <a:gd name="adj" fmla="val 15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-1" strike="noStrike">
              <a:solidFill>
                <a:srgbClr val="c84f2f"/>
              </a:solidFill>
              <a:latin typeface="Cambria"/>
            </a:endParaRPr>
          </a:p>
        </p:txBody>
      </p:sp>
      <p:sp>
        <p:nvSpPr>
          <p:cNvPr id="978" name="Rounded Rectangle 8"/>
          <p:cNvSpPr/>
          <p:nvPr/>
        </p:nvSpPr>
        <p:spPr>
          <a:xfrm>
            <a:off x="4636080" y="2148840"/>
            <a:ext cx="3291480" cy="685440"/>
          </a:xfrm>
          <a:prstGeom prst="roundRect">
            <a:avLst>
              <a:gd name="adj" fmla="val 15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-1" strike="noStrike">
              <a:solidFill>
                <a:srgbClr val="c84f2f"/>
              </a:solidFill>
              <a:latin typeface="Cambria"/>
            </a:endParaRPr>
          </a:p>
        </p:txBody>
      </p:sp>
      <p:sp>
        <p:nvSpPr>
          <p:cNvPr id="979" name="Rounded Rectangle 9"/>
          <p:cNvSpPr/>
          <p:nvPr/>
        </p:nvSpPr>
        <p:spPr>
          <a:xfrm>
            <a:off x="8247960" y="2148840"/>
            <a:ext cx="3291480" cy="685440"/>
          </a:xfrm>
          <a:prstGeom prst="roundRect">
            <a:avLst>
              <a:gd name="adj" fmla="val 15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pc="-1" strike="noStrike">
              <a:solidFill>
                <a:srgbClr val="c84f2f"/>
              </a:solidFill>
              <a:latin typeface="Cambria"/>
            </a:endParaRPr>
          </a:p>
        </p:txBody>
      </p:sp>
      <p:sp>
        <p:nvSpPr>
          <p:cNvPr id="980" name="TextBox 13"/>
          <p:cNvSpPr/>
          <p:nvPr/>
        </p:nvSpPr>
        <p:spPr>
          <a:xfrm>
            <a:off x="1115640" y="4114800"/>
            <a:ext cx="99666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Multiply every number inside the vector by the scalar — including the sign.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Rounded Rectangle 14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A negative scalar reverses the direction as well as changing the length.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82" name="Group 192"/>
          <p:cNvGrpSpPr/>
          <p:nvPr/>
        </p:nvGrpSpPr>
        <p:grpSpPr>
          <a:xfrm>
            <a:off x="1467360" y="3227400"/>
            <a:ext cx="2723760" cy="583920"/>
            <a:chOff x="1467360" y="3227400"/>
            <a:chExt cx="2723760" cy="583920"/>
          </a:xfrm>
        </p:grpSpPr>
        <p:sp>
          <p:nvSpPr>
            <p:cNvPr id="983" name="Text Box 146"/>
            <p:cNvSpPr/>
            <p:nvPr/>
          </p:nvSpPr>
          <p:spPr>
            <a:xfrm>
              <a:off x="1467360" y="3322800"/>
              <a:ext cx="27237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2</a:t>
              </a:r>
              <a:r>
                <a:rPr b="1" lang="en-GB" sz="1800" spc="-1" strike="noStrike">
                  <a:solidFill>
                    <a:schemeClr val="dk1"/>
                  </a:solidFill>
                  <a:latin typeface="Arial"/>
                </a:rPr>
                <a:t>a</a:t>
              </a: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 =2         =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984" name="Object 147"/>
            <p:cNvGraphicFramePr/>
            <p:nvPr/>
          </p:nvGraphicFramePr>
          <p:xfrm>
            <a:off x="2145240" y="3227400"/>
            <a:ext cx="495000" cy="583920"/>
          </p:xfrm>
          <a:graphic>
            <a:graphicData uri="http://schemas.openxmlformats.org/presentationml/2006/ole">
              <p:oleObj progId="Equation.3" r:id="rId1" spid="">
                <p:embed/>
              </p:oleObj>
            </a:graphicData>
          </a:graphic>
        </p:graphicFrame>
        <p:graphicFrame>
          <p:nvGraphicFramePr>
            <p:cNvPr id="985" name="Object 148"/>
            <p:cNvGraphicFramePr/>
            <p:nvPr/>
          </p:nvGraphicFramePr>
          <p:xfrm>
            <a:off x="2937240" y="3227400"/>
            <a:ext cx="507600" cy="583920"/>
          </p:xfrm>
          <a:graphic>
            <a:graphicData uri="http://schemas.openxmlformats.org/presentationml/2006/ole">
              <p:oleObj progId="Equation.3" r:id="rId2" spid="">
                <p:embed/>
              </p:oleObj>
            </a:graphicData>
          </a:graphic>
        </p:graphicFrame>
      </p:grpSp>
      <p:grpSp>
        <p:nvGrpSpPr>
          <p:cNvPr id="986" name="Group 186"/>
          <p:cNvGrpSpPr/>
          <p:nvPr/>
        </p:nvGrpSpPr>
        <p:grpSpPr>
          <a:xfrm>
            <a:off x="4992840" y="3180960"/>
            <a:ext cx="2723760" cy="626760"/>
            <a:chOff x="4992840" y="3180960"/>
            <a:chExt cx="2723760" cy="626760"/>
          </a:xfrm>
        </p:grpSpPr>
        <p:sp>
          <p:nvSpPr>
            <p:cNvPr id="987" name="Text Box 150"/>
            <p:cNvSpPr/>
            <p:nvPr/>
          </p:nvSpPr>
          <p:spPr>
            <a:xfrm>
              <a:off x="4992840" y="3276360"/>
              <a:ext cx="27237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chemeClr val="dk1"/>
                  </a:solidFill>
                  <a:latin typeface="Arial"/>
                </a:rPr>
                <a:t>-</a:t>
              </a: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3</a:t>
              </a:r>
              <a:r>
                <a:rPr b="1" lang="en-GB" sz="1800" spc="-1" strike="noStrike">
                  <a:solidFill>
                    <a:schemeClr val="dk1"/>
                  </a:solidFill>
                  <a:latin typeface="Arial"/>
                </a:rPr>
                <a:t>b</a:t>
              </a: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 =-3       =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988" name="Object 151"/>
            <p:cNvGraphicFramePr/>
            <p:nvPr/>
          </p:nvGraphicFramePr>
          <p:xfrm>
            <a:off x="5842080" y="3244680"/>
            <a:ext cx="360000" cy="563040"/>
          </p:xfrm>
          <a:graphic>
            <a:graphicData uri="http://schemas.openxmlformats.org/presentationml/2006/ole">
              <p:oleObj progId="Equation.3" r:id="rId3" spid="">
                <p:embed/>
              </p:oleObj>
            </a:graphicData>
          </a:graphic>
        </p:graphicFrame>
        <p:graphicFrame>
          <p:nvGraphicFramePr>
            <p:cNvPr id="989" name="Object 152"/>
            <p:cNvGraphicFramePr/>
            <p:nvPr/>
          </p:nvGraphicFramePr>
          <p:xfrm>
            <a:off x="6448680" y="3180960"/>
            <a:ext cx="545760" cy="583920"/>
          </p:xfrm>
          <a:graphic>
            <a:graphicData uri="http://schemas.openxmlformats.org/presentationml/2006/ole">
              <p:oleObj progId="Equation.3" r:id="rId4" spid="">
                <p:embed/>
              </p:oleObj>
            </a:graphicData>
          </a:graphic>
        </p:graphicFrame>
      </p:grpSp>
      <p:grpSp>
        <p:nvGrpSpPr>
          <p:cNvPr id="990" name="Group 189"/>
          <p:cNvGrpSpPr/>
          <p:nvPr/>
        </p:nvGrpSpPr>
        <p:grpSpPr>
          <a:xfrm>
            <a:off x="8650440" y="3195720"/>
            <a:ext cx="2723760" cy="590400"/>
            <a:chOff x="8650440" y="3195720"/>
            <a:chExt cx="2723760" cy="590400"/>
          </a:xfrm>
        </p:grpSpPr>
        <p:sp>
          <p:nvSpPr>
            <p:cNvPr id="991" name="Text Box 154"/>
            <p:cNvSpPr/>
            <p:nvPr/>
          </p:nvSpPr>
          <p:spPr>
            <a:xfrm>
              <a:off x="8650440" y="3291120"/>
              <a:ext cx="27237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4</a:t>
              </a:r>
              <a:r>
                <a:rPr b="1" lang="en-GB" sz="1800" spc="-1" strike="noStrike">
                  <a:solidFill>
                    <a:schemeClr val="dk1"/>
                  </a:solidFill>
                  <a:latin typeface="Arial"/>
                </a:rPr>
                <a:t>c</a:t>
              </a: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 =4         =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992" name="Object 155"/>
            <p:cNvGraphicFramePr/>
            <p:nvPr/>
          </p:nvGraphicFramePr>
          <p:xfrm>
            <a:off x="9318960" y="3195720"/>
            <a:ext cx="482400" cy="583920"/>
          </p:xfrm>
          <a:graphic>
            <a:graphicData uri="http://schemas.openxmlformats.org/presentationml/2006/ole">
              <p:oleObj progId="Equation.3" r:id="rId5" spid="">
                <p:embed/>
              </p:oleObj>
            </a:graphicData>
          </a:graphic>
        </p:graphicFrame>
        <p:graphicFrame>
          <p:nvGraphicFramePr>
            <p:cNvPr id="993" name="Object 187"/>
            <p:cNvGraphicFramePr/>
            <p:nvPr/>
          </p:nvGraphicFramePr>
          <p:xfrm>
            <a:off x="10038240" y="3202200"/>
            <a:ext cx="495000" cy="583920"/>
          </p:xfrm>
          <a:graphic>
            <a:graphicData uri="http://schemas.openxmlformats.org/presentationml/2006/ole">
              <p:oleObj progId="Equation.3" r:id="rId6" spid="">
                <p:embed/>
              </p:oleObj>
            </a:graphicData>
          </a:graphic>
        </p:graphicFrame>
      </p:grpSp>
      <p:grpSp>
        <p:nvGrpSpPr>
          <p:cNvPr id="994" name="Group 192"/>
          <p:cNvGrpSpPr/>
          <p:nvPr/>
        </p:nvGrpSpPr>
        <p:grpSpPr>
          <a:xfrm>
            <a:off x="1325880" y="2199600"/>
            <a:ext cx="2723760" cy="583920"/>
            <a:chOff x="1325880" y="2199600"/>
            <a:chExt cx="2723760" cy="583920"/>
          </a:xfrm>
        </p:grpSpPr>
        <p:sp>
          <p:nvSpPr>
            <p:cNvPr id="995" name="Text Box 146"/>
            <p:cNvSpPr/>
            <p:nvPr/>
          </p:nvSpPr>
          <p:spPr>
            <a:xfrm>
              <a:off x="1325880" y="2295000"/>
              <a:ext cx="27237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chemeClr val="dk1"/>
                  </a:solidFill>
                  <a:latin typeface="Arial"/>
                </a:rPr>
                <a:t>a</a:t>
              </a: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 =        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996" name="Object 147"/>
            <p:cNvGraphicFramePr/>
            <p:nvPr/>
          </p:nvGraphicFramePr>
          <p:xfrm>
            <a:off x="1756080" y="2199600"/>
            <a:ext cx="495000" cy="583920"/>
          </p:xfrm>
          <a:graphic>
            <a:graphicData uri="http://schemas.openxmlformats.org/presentationml/2006/ole">
              <p:oleObj progId="Equation.3" r:id="rId7" spid="">
                <p:embed/>
              </p:oleObj>
            </a:graphicData>
          </a:graphic>
        </p:graphicFrame>
      </p:grpSp>
      <p:grpSp>
        <p:nvGrpSpPr>
          <p:cNvPr id="997" name="Group 186"/>
          <p:cNvGrpSpPr/>
          <p:nvPr/>
        </p:nvGrpSpPr>
        <p:grpSpPr>
          <a:xfrm>
            <a:off x="4919760" y="2194200"/>
            <a:ext cx="2723760" cy="563040"/>
            <a:chOff x="4919760" y="2194200"/>
            <a:chExt cx="2723760" cy="563040"/>
          </a:xfrm>
        </p:grpSpPr>
        <p:sp>
          <p:nvSpPr>
            <p:cNvPr id="998" name="Text Box 150"/>
            <p:cNvSpPr/>
            <p:nvPr/>
          </p:nvSpPr>
          <p:spPr>
            <a:xfrm>
              <a:off x="4919760" y="2273400"/>
              <a:ext cx="27237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chemeClr val="dk1"/>
                  </a:solidFill>
                  <a:latin typeface="Arial"/>
                </a:rPr>
                <a:t>b</a:t>
              </a: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 =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999" name="Object 151"/>
            <p:cNvGraphicFramePr/>
            <p:nvPr/>
          </p:nvGraphicFramePr>
          <p:xfrm>
            <a:off x="5489640" y="2194200"/>
            <a:ext cx="360000" cy="563040"/>
          </p:xfrm>
          <a:graphic>
            <a:graphicData uri="http://schemas.openxmlformats.org/presentationml/2006/ole">
              <p:oleObj progId="Equation.3" r:id="rId8" spid="">
                <p:embed/>
              </p:oleObj>
            </a:graphicData>
          </a:graphic>
        </p:graphicFrame>
      </p:grpSp>
      <p:grpSp>
        <p:nvGrpSpPr>
          <p:cNvPr id="1000" name="Group 189"/>
          <p:cNvGrpSpPr/>
          <p:nvPr/>
        </p:nvGrpSpPr>
        <p:grpSpPr>
          <a:xfrm>
            <a:off x="8619480" y="2183040"/>
            <a:ext cx="2723760" cy="583920"/>
            <a:chOff x="8619480" y="2183040"/>
            <a:chExt cx="2723760" cy="583920"/>
          </a:xfrm>
        </p:grpSpPr>
        <p:sp>
          <p:nvSpPr>
            <p:cNvPr id="1001" name="Text Box 154"/>
            <p:cNvSpPr/>
            <p:nvPr/>
          </p:nvSpPr>
          <p:spPr>
            <a:xfrm>
              <a:off x="8619480" y="2278080"/>
              <a:ext cx="27237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chemeClr val="dk1"/>
                  </a:solidFill>
                  <a:latin typeface="Arial"/>
                </a:rPr>
                <a:t>c</a:t>
              </a:r>
              <a:r>
                <a:rPr b="0" lang="en-GB" sz="1800" spc="-1" strike="noStrike">
                  <a:solidFill>
                    <a:schemeClr val="dk1"/>
                  </a:solidFill>
                  <a:latin typeface="Arial"/>
                </a:rPr>
                <a:t> =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1002" name="Object 155"/>
            <p:cNvGraphicFramePr/>
            <p:nvPr/>
          </p:nvGraphicFramePr>
          <p:xfrm>
            <a:off x="9288000" y="2183040"/>
            <a:ext cx="482400" cy="583920"/>
          </p:xfrm>
          <a:graphic>
            <a:graphicData uri="http://schemas.openxmlformats.org/presentationml/2006/ole">
              <p:oleObj progId="Equation.3" r:id="rId9" spid="">
                <p:embed/>
              </p:oleObj>
            </a:graphicData>
          </a:graphic>
        </p:graphicFrame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7" dur="30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2" dur="3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7" dur="30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2" dur="30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7" dur="30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2" dur="30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4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PARALLEL VECTORS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Spotting Parallel Vectors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AB = a. Every arrow below is a scalar multiple of a — so every arrow is parallel to AB.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Rounded Rectangle 6"/>
          <p:cNvSpPr/>
          <p:nvPr/>
        </p:nvSpPr>
        <p:spPr>
          <a:xfrm>
            <a:off x="567000" y="1874520"/>
            <a:ext cx="1105740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009" name="Connector 7"/>
          <p:cNvCxnSpPr/>
          <p:nvPr/>
        </p:nvCxnSpPr>
        <p:spPr>
          <a:xfrm>
            <a:off x="1115280" y="2286000"/>
            <a:ext cx="1097640" cy="360"/>
          </a:xfrm>
          <a:prstGeom prst="straightConnector1">
            <a:avLst/>
          </a:prstGeom>
          <a:ln w="38100">
            <a:solidFill>
              <a:srgbClr val="c84f2f"/>
            </a:solidFill>
            <a:tailEnd len="med" type="triangle" w="med"/>
          </a:ln>
        </p:spPr>
      </p:cxnSp>
      <p:sp>
        <p:nvSpPr>
          <p:cNvPr id="1010" name="TextBox 8"/>
          <p:cNvSpPr/>
          <p:nvPr/>
        </p:nvSpPr>
        <p:spPr>
          <a:xfrm>
            <a:off x="4956120" y="2197080"/>
            <a:ext cx="59432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</a:rPr>
              <a:t>AB = 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1" name="Connector 9"/>
          <p:cNvCxnSpPr/>
          <p:nvPr/>
        </p:nvCxnSpPr>
        <p:spPr>
          <a:xfrm>
            <a:off x="1115280" y="3063240"/>
            <a:ext cx="2194920" cy="360"/>
          </a:xfrm>
          <a:prstGeom prst="straightConnector1">
            <a:avLst/>
          </a:prstGeom>
          <a:ln w="38100">
            <a:solidFill>
              <a:srgbClr val="c84f2f"/>
            </a:solidFill>
            <a:tailEnd len="med" type="triangle" w="med"/>
          </a:ln>
        </p:spPr>
      </p:cxnSp>
      <p:sp>
        <p:nvSpPr>
          <p:cNvPr id="1012" name="TextBox 10"/>
          <p:cNvSpPr/>
          <p:nvPr/>
        </p:nvSpPr>
        <p:spPr>
          <a:xfrm>
            <a:off x="4956120" y="2974320"/>
            <a:ext cx="59432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</a:rPr>
              <a:t>CD = 2a   (CD = 2 AB)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3" name="Connector 11"/>
          <p:cNvCxnSpPr/>
          <p:nvPr/>
        </p:nvCxnSpPr>
        <p:spPr>
          <a:xfrm>
            <a:off x="1115280" y="3840480"/>
            <a:ext cx="549000" cy="360"/>
          </a:xfrm>
          <a:prstGeom prst="straightConnector1">
            <a:avLst/>
          </a:prstGeom>
          <a:ln w="38100">
            <a:solidFill>
              <a:srgbClr val="5c6b60"/>
            </a:solidFill>
            <a:tailEnd len="med" type="triangle" w="med"/>
          </a:ln>
        </p:spPr>
      </p:cxnSp>
      <p:sp>
        <p:nvSpPr>
          <p:cNvPr id="1014" name="TextBox 12"/>
          <p:cNvSpPr/>
          <p:nvPr/>
        </p:nvSpPr>
        <p:spPr>
          <a:xfrm>
            <a:off x="4956120" y="3751560"/>
            <a:ext cx="59432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</a:rPr>
              <a:t>EF = ½a   (EF = ½ AB)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5" name="Connector 13"/>
          <p:cNvCxnSpPr/>
          <p:nvPr/>
        </p:nvCxnSpPr>
        <p:spPr>
          <a:xfrm flipH="1">
            <a:off x="1115280" y="4617720"/>
            <a:ext cx="2194920" cy="360"/>
          </a:xfrm>
          <a:prstGeom prst="straightConnector1">
            <a:avLst/>
          </a:prstGeom>
          <a:ln w="38100">
            <a:solidFill>
              <a:srgbClr val="1c2a22"/>
            </a:solidFill>
            <a:tailEnd len="med" type="triangle" w="med"/>
          </a:ln>
        </p:spPr>
      </p:cxnSp>
      <p:sp>
        <p:nvSpPr>
          <p:cNvPr id="1016" name="TextBox 14"/>
          <p:cNvSpPr/>
          <p:nvPr/>
        </p:nvSpPr>
        <p:spPr>
          <a:xfrm>
            <a:off x="4956120" y="4528800"/>
            <a:ext cx="59432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</a:rPr>
              <a:t>HG = −2a   (HG = −2 AB)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Rounded Rectangle 15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If one vector is a number times another, the two are parallel — whatever that number is.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9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PARALLEL VECTORS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TextBox 4"/>
          <p:cNvSpPr/>
          <p:nvPr/>
        </p:nvSpPr>
        <p:spPr>
          <a:xfrm>
            <a:off x="1325880" y="735480"/>
            <a:ext cx="98751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</a:rPr>
              <a:t>Proving Two Vectors Are Parallel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ka is parallel to a for any number k. ABCD is a parallelogram: AB and DC are equal and parallel.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Rounded Rectangle 6"/>
          <p:cNvSpPr/>
          <p:nvPr/>
        </p:nvSpPr>
        <p:spPr>
          <a:xfrm>
            <a:off x="567000" y="1874520"/>
            <a:ext cx="53488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024" name="Connector 7"/>
          <p:cNvCxnSpPr/>
          <p:nvPr/>
        </p:nvCxnSpPr>
        <p:spPr>
          <a:xfrm flipV="1">
            <a:off x="1389600" y="2514240"/>
            <a:ext cx="549000" cy="2194920"/>
          </a:xfrm>
          <a:prstGeom prst="straightConnector1">
            <a:avLst/>
          </a:prstGeom>
          <a:ln w="38100">
            <a:solidFill>
              <a:srgbClr val="c84f2f"/>
            </a:solidFill>
            <a:tailEnd len="med" type="triangle" w="med"/>
          </a:ln>
        </p:spPr>
      </p:cxnSp>
      <p:cxnSp>
        <p:nvCxnSpPr>
          <p:cNvPr id="1025" name="Connector 8"/>
          <p:cNvCxnSpPr/>
          <p:nvPr/>
        </p:nvCxnSpPr>
        <p:spPr>
          <a:xfrm flipV="1">
            <a:off x="4772880" y="2514240"/>
            <a:ext cx="549000" cy="2194920"/>
          </a:xfrm>
          <a:prstGeom prst="straightConnector1">
            <a:avLst/>
          </a:prstGeom>
          <a:ln w="38100">
            <a:solidFill>
              <a:srgbClr val="c84f2f"/>
            </a:solidFill>
            <a:tailEnd len="med" type="triangle" w="med"/>
          </a:ln>
        </p:spPr>
      </p:cxnSp>
      <p:cxnSp>
        <p:nvCxnSpPr>
          <p:cNvPr id="1026" name="Connector 9"/>
          <p:cNvCxnSpPr/>
          <p:nvPr/>
        </p:nvCxnSpPr>
        <p:spPr>
          <a:xfrm>
            <a:off x="1389600" y="4708800"/>
            <a:ext cx="3383640" cy="360"/>
          </a:xfrm>
          <a:prstGeom prst="straightConnector1">
            <a:avLst/>
          </a:prstGeom>
          <a:ln w="33020">
            <a:solidFill>
              <a:srgbClr val="5c6b60"/>
            </a:solidFill>
            <a:tailEnd len="med" type="triangle" w="med"/>
          </a:ln>
        </p:spPr>
      </p:cxnSp>
      <p:cxnSp>
        <p:nvCxnSpPr>
          <p:cNvPr id="1027" name="Connector 10"/>
          <p:cNvCxnSpPr/>
          <p:nvPr/>
        </p:nvCxnSpPr>
        <p:spPr>
          <a:xfrm>
            <a:off x="1938240" y="2514240"/>
            <a:ext cx="3383640" cy="360"/>
          </a:xfrm>
          <a:prstGeom prst="straightConnector1">
            <a:avLst/>
          </a:prstGeom>
          <a:ln w="33020">
            <a:solidFill>
              <a:srgbClr val="5c6b60"/>
            </a:solidFill>
            <a:tailEnd len="med" type="triangle" w="med"/>
          </a:ln>
        </p:spPr>
      </p:cxnSp>
      <p:sp>
        <p:nvSpPr>
          <p:cNvPr id="1028" name="Oval 11"/>
          <p:cNvSpPr/>
          <p:nvPr/>
        </p:nvSpPr>
        <p:spPr>
          <a:xfrm>
            <a:off x="1357920" y="4677120"/>
            <a:ext cx="63720" cy="6372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9" name="Oval 12"/>
          <p:cNvSpPr/>
          <p:nvPr/>
        </p:nvSpPr>
        <p:spPr>
          <a:xfrm>
            <a:off x="1906560" y="2482560"/>
            <a:ext cx="63720" cy="6372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0" name="Oval 13"/>
          <p:cNvSpPr/>
          <p:nvPr/>
        </p:nvSpPr>
        <p:spPr>
          <a:xfrm>
            <a:off x="5289840" y="2482560"/>
            <a:ext cx="63720" cy="6372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1" name="Oval 14"/>
          <p:cNvSpPr/>
          <p:nvPr/>
        </p:nvSpPr>
        <p:spPr>
          <a:xfrm>
            <a:off x="4741200" y="4677120"/>
            <a:ext cx="63720" cy="6372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2" name="TextBox 15"/>
          <p:cNvSpPr/>
          <p:nvPr/>
        </p:nvSpPr>
        <p:spPr>
          <a:xfrm>
            <a:off x="1069920" y="4754880"/>
            <a:ext cx="31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</a:rPr>
              <a:t>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TextBox 16"/>
          <p:cNvSpPr/>
          <p:nvPr/>
        </p:nvSpPr>
        <p:spPr>
          <a:xfrm>
            <a:off x="1892880" y="2167200"/>
            <a:ext cx="31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</a:rPr>
              <a:t>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TextBox 17"/>
          <p:cNvSpPr/>
          <p:nvPr/>
        </p:nvSpPr>
        <p:spPr>
          <a:xfrm>
            <a:off x="5394960" y="2167200"/>
            <a:ext cx="31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</a:rPr>
              <a:t>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TextBox 18"/>
          <p:cNvSpPr/>
          <p:nvPr/>
        </p:nvSpPr>
        <p:spPr>
          <a:xfrm>
            <a:off x="4846320" y="4754880"/>
            <a:ext cx="3196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</a:rPr>
              <a:t>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TextBox 19"/>
          <p:cNvSpPr/>
          <p:nvPr/>
        </p:nvSpPr>
        <p:spPr>
          <a:xfrm>
            <a:off x="1161360" y="3566160"/>
            <a:ext cx="456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84f2f"/>
                </a:solidFill>
                <a:latin typeface="Cambria"/>
              </a:rPr>
              <a:t>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TextBox 20"/>
          <p:cNvSpPr/>
          <p:nvPr/>
        </p:nvSpPr>
        <p:spPr>
          <a:xfrm>
            <a:off x="5157360" y="3566160"/>
            <a:ext cx="456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84f2f"/>
                </a:solidFill>
                <a:latin typeface="Cambria"/>
              </a:rPr>
              <a:t>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TextBox 21"/>
          <p:cNvSpPr/>
          <p:nvPr/>
        </p:nvSpPr>
        <p:spPr>
          <a:xfrm>
            <a:off x="2944440" y="4782240"/>
            <a:ext cx="456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5c6b60"/>
                </a:solidFill>
                <a:latin typeface="Cambria"/>
              </a:rPr>
              <a:t>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TextBox 22"/>
          <p:cNvSpPr/>
          <p:nvPr/>
        </p:nvSpPr>
        <p:spPr>
          <a:xfrm>
            <a:off x="3493080" y="2130480"/>
            <a:ext cx="456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5c6b60"/>
                </a:solidFill>
                <a:latin typeface="Cambria"/>
              </a:rPr>
              <a:t>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Rounded Rectangle 23"/>
          <p:cNvSpPr/>
          <p:nvPr/>
        </p:nvSpPr>
        <p:spPr>
          <a:xfrm>
            <a:off x="6282000" y="1874520"/>
            <a:ext cx="534240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1" name="TextBox 24"/>
          <p:cNvSpPr/>
          <p:nvPr/>
        </p:nvSpPr>
        <p:spPr>
          <a:xfrm>
            <a:off x="6602040" y="2130480"/>
            <a:ext cx="47023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</a:rPr>
              <a:t>Why AB is parallel to DC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TextBox 25"/>
          <p:cNvSpPr/>
          <p:nvPr/>
        </p:nvSpPr>
        <p:spPr>
          <a:xfrm>
            <a:off x="6602040" y="2651760"/>
            <a:ext cx="4702320" cy="22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8000"/>
              </a:lnSpc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</a:rPr>
              <a:t>In parallelogram ABCD: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</a:rPr>
              <a:t>AB = a  and  DC = a  → parallel, equal length.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</a:rPr>
              <a:t>AD = b  and  BC = b  → parallel, equal length.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</a:rPr>
              <a:t>The diagonals combine both: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</a:rPr>
              <a:t>BD = b − a          AC = a +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</a:rPr>
              <a:t>General rule: if PQ = k × RS for any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</a:rPr>
              <a:t>number k, then PQ is parallel to 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Rounded Rectangle 26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</a:rPr>
              <a:t>If one vector is a scalar multiple of another (PQ = k × RS), the two lines are parallel — and if they share a point, all three points are collinear.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ADDING &amp; SUBTRACTING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 Top and Bottom Separately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Add (or subtract) the top numbers, then the bottom numbers.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Geometrically, add vectors nose-to-tail.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41"/>
          <p:cNvSpPr/>
          <p:nvPr/>
        </p:nvSpPr>
        <p:spPr>
          <a:xfrm>
            <a:off x="567000" y="2286000"/>
            <a:ext cx="5440320" cy="320004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In columns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Text 43"/>
          <p:cNvSpPr/>
          <p:nvPr/>
        </p:nvSpPr>
        <p:spPr>
          <a:xfrm>
            <a:off x="1097280" y="31820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Text 44"/>
          <p:cNvSpPr/>
          <p:nvPr/>
        </p:nvSpPr>
        <p:spPr>
          <a:xfrm>
            <a:off x="1097280" y="35845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45"/>
          <p:cNvSpPr/>
          <p:nvPr/>
        </p:nvSpPr>
        <p:spPr>
          <a:xfrm>
            <a:off x="1051560" y="3163680"/>
            <a:ext cx="360" cy="8229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46"/>
          <p:cNvSpPr/>
          <p:nvPr/>
        </p:nvSpPr>
        <p:spPr>
          <a:xfrm>
            <a:off x="1051560" y="3163680"/>
            <a:ext cx="10944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47"/>
          <p:cNvSpPr/>
          <p:nvPr/>
        </p:nvSpPr>
        <p:spPr>
          <a:xfrm>
            <a:off x="1051560" y="3986640"/>
            <a:ext cx="10944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48"/>
          <p:cNvSpPr/>
          <p:nvPr/>
        </p:nvSpPr>
        <p:spPr>
          <a:xfrm>
            <a:off x="2057400" y="3163680"/>
            <a:ext cx="360" cy="8229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49"/>
          <p:cNvSpPr/>
          <p:nvPr/>
        </p:nvSpPr>
        <p:spPr>
          <a:xfrm>
            <a:off x="1947600" y="3163680"/>
            <a:ext cx="10980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50"/>
          <p:cNvSpPr/>
          <p:nvPr/>
        </p:nvSpPr>
        <p:spPr>
          <a:xfrm>
            <a:off x="1947600" y="3986640"/>
            <a:ext cx="10980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Text 51"/>
          <p:cNvSpPr/>
          <p:nvPr/>
        </p:nvSpPr>
        <p:spPr>
          <a:xfrm>
            <a:off x="219456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Text 52"/>
          <p:cNvSpPr/>
          <p:nvPr/>
        </p:nvSpPr>
        <p:spPr>
          <a:xfrm>
            <a:off x="2743200" y="31820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Text 53"/>
          <p:cNvSpPr/>
          <p:nvPr/>
        </p:nvSpPr>
        <p:spPr>
          <a:xfrm>
            <a:off x="2743200" y="35845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54"/>
          <p:cNvSpPr/>
          <p:nvPr/>
        </p:nvSpPr>
        <p:spPr>
          <a:xfrm>
            <a:off x="2697480" y="3163680"/>
            <a:ext cx="360" cy="8229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55"/>
          <p:cNvSpPr/>
          <p:nvPr/>
        </p:nvSpPr>
        <p:spPr>
          <a:xfrm>
            <a:off x="2697480" y="3163680"/>
            <a:ext cx="10944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56"/>
          <p:cNvSpPr/>
          <p:nvPr/>
        </p:nvSpPr>
        <p:spPr>
          <a:xfrm>
            <a:off x="2697480" y="3986640"/>
            <a:ext cx="10944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57"/>
          <p:cNvSpPr/>
          <p:nvPr/>
        </p:nvSpPr>
        <p:spPr>
          <a:xfrm>
            <a:off x="3703320" y="3163680"/>
            <a:ext cx="360" cy="8229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58"/>
          <p:cNvSpPr/>
          <p:nvPr/>
        </p:nvSpPr>
        <p:spPr>
          <a:xfrm>
            <a:off x="3593520" y="3163680"/>
            <a:ext cx="10980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59"/>
          <p:cNvSpPr/>
          <p:nvPr/>
        </p:nvSpPr>
        <p:spPr>
          <a:xfrm>
            <a:off x="3593520" y="3986640"/>
            <a:ext cx="10980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Text 60"/>
          <p:cNvSpPr/>
          <p:nvPr/>
        </p:nvSpPr>
        <p:spPr>
          <a:xfrm>
            <a:off x="384048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Text 61"/>
          <p:cNvSpPr/>
          <p:nvPr/>
        </p:nvSpPr>
        <p:spPr>
          <a:xfrm>
            <a:off x="4389120" y="31820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Text 62"/>
          <p:cNvSpPr/>
          <p:nvPr/>
        </p:nvSpPr>
        <p:spPr>
          <a:xfrm>
            <a:off x="4389120" y="35845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63"/>
          <p:cNvSpPr/>
          <p:nvPr/>
        </p:nvSpPr>
        <p:spPr>
          <a:xfrm>
            <a:off x="4343400" y="316368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64"/>
          <p:cNvSpPr/>
          <p:nvPr/>
        </p:nvSpPr>
        <p:spPr>
          <a:xfrm>
            <a:off x="4343400" y="3163680"/>
            <a:ext cx="109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65"/>
          <p:cNvSpPr/>
          <p:nvPr/>
        </p:nvSpPr>
        <p:spPr>
          <a:xfrm>
            <a:off x="4343400" y="3986640"/>
            <a:ext cx="109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66"/>
          <p:cNvSpPr/>
          <p:nvPr/>
        </p:nvSpPr>
        <p:spPr>
          <a:xfrm>
            <a:off x="5349240" y="3163680"/>
            <a:ext cx="360" cy="8229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67"/>
          <p:cNvSpPr/>
          <p:nvPr/>
        </p:nvSpPr>
        <p:spPr>
          <a:xfrm>
            <a:off x="5239440" y="316368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68"/>
          <p:cNvSpPr/>
          <p:nvPr/>
        </p:nvSpPr>
        <p:spPr>
          <a:xfrm>
            <a:off x="5239440" y="3986640"/>
            <a:ext cx="10980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Text 69"/>
          <p:cNvSpPr/>
          <p:nvPr/>
        </p:nvSpPr>
        <p:spPr>
          <a:xfrm>
            <a:off x="914400" y="4572000"/>
            <a:ext cx="4845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Add the tops (5+2=7), add the bottoms (3−1=2).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70"/>
          <p:cNvSpPr/>
          <p:nvPr/>
        </p:nvSpPr>
        <p:spPr>
          <a:xfrm>
            <a:off x="6190560" y="2286000"/>
            <a:ext cx="5440320" cy="320004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Text 71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Nose-to-tail (triangle law)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Text 78"/>
          <p:cNvSpPr/>
          <p:nvPr/>
        </p:nvSpPr>
        <p:spPr>
          <a:xfrm>
            <a:off x="6537960" y="5074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a + b goes straight from start to finish.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79"/>
          <p:cNvSpPr/>
          <p:nvPr/>
        </p:nvSpPr>
        <p:spPr>
          <a:xfrm>
            <a:off x="567000" y="562356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Text 80"/>
          <p:cNvSpPr/>
          <p:nvPr/>
        </p:nvSpPr>
        <p:spPr>
          <a:xfrm>
            <a:off x="841320" y="56235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a − b = a + (−b).   Subtracting reverses the second vector.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9" name="Group 87"/>
          <p:cNvGrpSpPr/>
          <p:nvPr/>
        </p:nvGrpSpPr>
        <p:grpSpPr>
          <a:xfrm>
            <a:off x="7005960" y="3016080"/>
            <a:ext cx="3809520" cy="1904400"/>
            <a:chOff x="7005960" y="3016080"/>
            <a:chExt cx="3809520" cy="1904400"/>
          </a:xfrm>
        </p:grpSpPr>
        <p:grpSp>
          <p:nvGrpSpPr>
            <p:cNvPr id="1120" name="Group 23"/>
            <p:cNvGrpSpPr/>
            <p:nvPr/>
          </p:nvGrpSpPr>
          <p:grpSpPr>
            <a:xfrm>
              <a:off x="7005960" y="3016080"/>
              <a:ext cx="3809520" cy="1904400"/>
              <a:chOff x="7005960" y="3016080"/>
              <a:chExt cx="3809520" cy="1904400"/>
            </a:xfrm>
          </p:grpSpPr>
          <p:sp>
            <p:nvSpPr>
              <p:cNvPr id="1121" name="Rectangle 24"/>
              <p:cNvSpPr/>
              <p:nvPr/>
            </p:nvSpPr>
            <p:spPr>
              <a:xfrm>
                <a:off x="700596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22" name="Rectangle 25"/>
              <p:cNvSpPr/>
              <p:nvPr/>
            </p:nvSpPr>
            <p:spPr>
              <a:xfrm>
                <a:off x="738684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23" name="Rectangle 26"/>
              <p:cNvSpPr/>
              <p:nvPr/>
            </p:nvSpPr>
            <p:spPr>
              <a:xfrm>
                <a:off x="776772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24" name="Rectangle 27"/>
              <p:cNvSpPr/>
              <p:nvPr/>
            </p:nvSpPr>
            <p:spPr>
              <a:xfrm>
                <a:off x="814896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25" name="Rectangle 28"/>
              <p:cNvSpPr/>
              <p:nvPr/>
            </p:nvSpPr>
            <p:spPr>
              <a:xfrm>
                <a:off x="700596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26" name="Rectangle 29"/>
              <p:cNvSpPr/>
              <p:nvPr/>
            </p:nvSpPr>
            <p:spPr>
              <a:xfrm>
                <a:off x="738684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27" name="Rectangle 30"/>
              <p:cNvSpPr/>
              <p:nvPr/>
            </p:nvSpPr>
            <p:spPr>
              <a:xfrm>
                <a:off x="700596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28" name="Rectangle 31"/>
              <p:cNvSpPr/>
              <p:nvPr/>
            </p:nvSpPr>
            <p:spPr>
              <a:xfrm>
                <a:off x="738684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29" name="Rectangle 32"/>
              <p:cNvSpPr/>
              <p:nvPr/>
            </p:nvSpPr>
            <p:spPr>
              <a:xfrm>
                <a:off x="776772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0" name="Rectangle 33"/>
              <p:cNvSpPr/>
              <p:nvPr/>
            </p:nvSpPr>
            <p:spPr>
              <a:xfrm>
                <a:off x="814896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1" name="Rectangle 34"/>
              <p:cNvSpPr/>
              <p:nvPr/>
            </p:nvSpPr>
            <p:spPr>
              <a:xfrm>
                <a:off x="776772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2" name="Rectangle 35"/>
              <p:cNvSpPr/>
              <p:nvPr/>
            </p:nvSpPr>
            <p:spPr>
              <a:xfrm>
                <a:off x="814896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3" name="Rectangle 36"/>
              <p:cNvSpPr/>
              <p:nvPr/>
            </p:nvSpPr>
            <p:spPr>
              <a:xfrm>
                <a:off x="852984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4" name="Rectangle 37"/>
              <p:cNvSpPr/>
              <p:nvPr/>
            </p:nvSpPr>
            <p:spPr>
              <a:xfrm>
                <a:off x="891072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5" name="Rectangle 38"/>
              <p:cNvSpPr/>
              <p:nvPr/>
            </p:nvSpPr>
            <p:spPr>
              <a:xfrm>
                <a:off x="929196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6" name="Rectangle 39"/>
              <p:cNvSpPr/>
              <p:nvPr/>
            </p:nvSpPr>
            <p:spPr>
              <a:xfrm>
                <a:off x="967284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7" name="Rectangle 40"/>
              <p:cNvSpPr/>
              <p:nvPr/>
            </p:nvSpPr>
            <p:spPr>
              <a:xfrm>
                <a:off x="852984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8" name="Rectangle 41"/>
              <p:cNvSpPr/>
              <p:nvPr/>
            </p:nvSpPr>
            <p:spPr>
              <a:xfrm>
                <a:off x="891072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39" name="Rectangle 42"/>
              <p:cNvSpPr/>
              <p:nvPr/>
            </p:nvSpPr>
            <p:spPr>
              <a:xfrm>
                <a:off x="852984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0" name="Rectangle 43"/>
              <p:cNvSpPr/>
              <p:nvPr/>
            </p:nvSpPr>
            <p:spPr>
              <a:xfrm>
                <a:off x="891072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1" name="Rectangle 44"/>
              <p:cNvSpPr/>
              <p:nvPr/>
            </p:nvSpPr>
            <p:spPr>
              <a:xfrm>
                <a:off x="929196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2" name="Rectangle 45"/>
              <p:cNvSpPr/>
              <p:nvPr/>
            </p:nvSpPr>
            <p:spPr>
              <a:xfrm>
                <a:off x="967284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3" name="Rectangle 46"/>
              <p:cNvSpPr/>
              <p:nvPr/>
            </p:nvSpPr>
            <p:spPr>
              <a:xfrm>
                <a:off x="929196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4" name="Rectangle 47"/>
              <p:cNvSpPr/>
              <p:nvPr/>
            </p:nvSpPr>
            <p:spPr>
              <a:xfrm>
                <a:off x="967284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5" name="Rectangle 48"/>
              <p:cNvSpPr/>
              <p:nvPr/>
            </p:nvSpPr>
            <p:spPr>
              <a:xfrm>
                <a:off x="700596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6" name="Rectangle 49"/>
              <p:cNvSpPr/>
              <p:nvPr/>
            </p:nvSpPr>
            <p:spPr>
              <a:xfrm>
                <a:off x="738684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7" name="Rectangle 50"/>
              <p:cNvSpPr/>
              <p:nvPr/>
            </p:nvSpPr>
            <p:spPr>
              <a:xfrm>
                <a:off x="776772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8" name="Rectangle 51"/>
              <p:cNvSpPr/>
              <p:nvPr/>
            </p:nvSpPr>
            <p:spPr>
              <a:xfrm>
                <a:off x="814896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49" name="Rectangle 52"/>
              <p:cNvSpPr/>
              <p:nvPr/>
            </p:nvSpPr>
            <p:spPr>
              <a:xfrm>
                <a:off x="852984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0" name="Rectangle 53"/>
              <p:cNvSpPr/>
              <p:nvPr/>
            </p:nvSpPr>
            <p:spPr>
              <a:xfrm>
                <a:off x="891072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1" name="Rectangle 54"/>
              <p:cNvSpPr/>
              <p:nvPr/>
            </p:nvSpPr>
            <p:spPr>
              <a:xfrm>
                <a:off x="929196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2" name="Rectangle 55"/>
              <p:cNvSpPr/>
              <p:nvPr/>
            </p:nvSpPr>
            <p:spPr>
              <a:xfrm>
                <a:off x="967284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3" name="Rectangle 56"/>
              <p:cNvSpPr/>
              <p:nvPr/>
            </p:nvSpPr>
            <p:spPr>
              <a:xfrm>
                <a:off x="700596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4" name="Rectangle 57"/>
              <p:cNvSpPr/>
              <p:nvPr/>
            </p:nvSpPr>
            <p:spPr>
              <a:xfrm>
                <a:off x="738684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5" name="Rectangle 58"/>
              <p:cNvSpPr/>
              <p:nvPr/>
            </p:nvSpPr>
            <p:spPr>
              <a:xfrm>
                <a:off x="776772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6" name="Rectangle 59"/>
              <p:cNvSpPr/>
              <p:nvPr/>
            </p:nvSpPr>
            <p:spPr>
              <a:xfrm>
                <a:off x="814896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7" name="Rectangle 60"/>
              <p:cNvSpPr/>
              <p:nvPr/>
            </p:nvSpPr>
            <p:spPr>
              <a:xfrm>
                <a:off x="852984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8" name="Rectangle 61"/>
              <p:cNvSpPr/>
              <p:nvPr/>
            </p:nvSpPr>
            <p:spPr>
              <a:xfrm>
                <a:off x="891072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59" name="Rectangle 62"/>
              <p:cNvSpPr/>
              <p:nvPr/>
            </p:nvSpPr>
            <p:spPr>
              <a:xfrm>
                <a:off x="929196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0" name="Rectangle 63"/>
              <p:cNvSpPr/>
              <p:nvPr/>
            </p:nvSpPr>
            <p:spPr>
              <a:xfrm>
                <a:off x="967284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1" name="Rectangle 64"/>
              <p:cNvSpPr/>
              <p:nvPr/>
            </p:nvSpPr>
            <p:spPr>
              <a:xfrm>
                <a:off x="1005372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2" name="Rectangle 65"/>
              <p:cNvSpPr/>
              <p:nvPr/>
            </p:nvSpPr>
            <p:spPr>
              <a:xfrm>
                <a:off x="10434960" y="3016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3" name="Rectangle 66"/>
              <p:cNvSpPr/>
              <p:nvPr/>
            </p:nvSpPr>
            <p:spPr>
              <a:xfrm>
                <a:off x="1005372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4" name="Rectangle 67"/>
              <p:cNvSpPr/>
              <p:nvPr/>
            </p:nvSpPr>
            <p:spPr>
              <a:xfrm>
                <a:off x="10434960" y="3396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5" name="Rectangle 68"/>
              <p:cNvSpPr/>
              <p:nvPr/>
            </p:nvSpPr>
            <p:spPr>
              <a:xfrm>
                <a:off x="1005372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6" name="Rectangle 69"/>
              <p:cNvSpPr/>
              <p:nvPr/>
            </p:nvSpPr>
            <p:spPr>
              <a:xfrm>
                <a:off x="10434960" y="377784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7" name="Rectangle 70"/>
              <p:cNvSpPr/>
              <p:nvPr/>
            </p:nvSpPr>
            <p:spPr>
              <a:xfrm>
                <a:off x="1005372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8" name="Rectangle 71"/>
              <p:cNvSpPr/>
              <p:nvPr/>
            </p:nvSpPr>
            <p:spPr>
              <a:xfrm>
                <a:off x="10434960" y="415908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69" name="Rectangle 72"/>
              <p:cNvSpPr/>
              <p:nvPr/>
            </p:nvSpPr>
            <p:spPr>
              <a:xfrm>
                <a:off x="1005372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70" name="Rectangle 73"/>
              <p:cNvSpPr/>
              <p:nvPr/>
            </p:nvSpPr>
            <p:spPr>
              <a:xfrm>
                <a:off x="10434960" y="4539960"/>
                <a:ext cx="380520" cy="3805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9c4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grpSp>
          <p:nvGrpSpPr>
            <p:cNvPr id="1171" name="Group 91"/>
            <p:cNvGrpSpPr/>
            <p:nvPr/>
          </p:nvGrpSpPr>
          <p:grpSpPr>
            <a:xfrm>
              <a:off x="7386480" y="3396960"/>
              <a:ext cx="1905120" cy="1143000"/>
              <a:chOff x="7386480" y="3396960"/>
              <a:chExt cx="1905120" cy="1143000"/>
            </a:xfrm>
          </p:grpSpPr>
          <p:grpSp>
            <p:nvGrpSpPr>
              <p:cNvPr id="1172" name="Group 74"/>
              <p:cNvGrpSpPr/>
              <p:nvPr/>
            </p:nvGrpSpPr>
            <p:grpSpPr>
              <a:xfrm>
                <a:off x="7386480" y="3396960"/>
                <a:ext cx="1905120" cy="1143000"/>
                <a:chOff x="7386480" y="3396960"/>
                <a:chExt cx="1905120" cy="1143000"/>
              </a:xfrm>
            </p:grpSpPr>
            <p:sp>
              <p:nvSpPr>
                <p:cNvPr id="1173" name="Line 75"/>
                <p:cNvSpPr/>
                <p:nvPr/>
              </p:nvSpPr>
              <p:spPr>
                <a:xfrm flipV="1">
                  <a:off x="7386480" y="3396960"/>
                  <a:ext cx="1905120" cy="11430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en-US" sz="18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174" name="Line 76"/>
                <p:cNvSpPr/>
                <p:nvPr/>
              </p:nvSpPr>
              <p:spPr>
                <a:xfrm flipV="1">
                  <a:off x="8263080" y="3922200"/>
                  <a:ext cx="152280" cy="921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  <a:tailEnd len="med" type="arrow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en-US" sz="18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175" name="Text Box 77"/>
              <p:cNvSpPr/>
              <p:nvPr/>
            </p:nvSpPr>
            <p:spPr>
              <a:xfrm>
                <a:off x="7990200" y="3473280"/>
                <a:ext cx="3488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GB" sz="2400" spc="-1" strike="noStrike">
                    <a:solidFill>
                      <a:schemeClr val="dk1"/>
                    </a:solidFill>
                    <a:latin typeface="Arial"/>
                  </a:rPr>
                  <a:t>a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76" name="Group 92"/>
            <p:cNvGrpSpPr/>
            <p:nvPr/>
          </p:nvGrpSpPr>
          <p:grpSpPr>
            <a:xfrm>
              <a:off x="9291600" y="3320640"/>
              <a:ext cx="1143000" cy="838080"/>
              <a:chOff x="9291600" y="3320640"/>
              <a:chExt cx="1143000" cy="838080"/>
            </a:xfrm>
          </p:grpSpPr>
          <p:grpSp>
            <p:nvGrpSpPr>
              <p:cNvPr id="1177" name="Group 78"/>
              <p:cNvGrpSpPr/>
              <p:nvPr/>
            </p:nvGrpSpPr>
            <p:grpSpPr>
              <a:xfrm>
                <a:off x="9291600" y="3396960"/>
                <a:ext cx="1143000" cy="761760"/>
                <a:chOff x="9291600" y="3396960"/>
                <a:chExt cx="1143000" cy="761760"/>
              </a:xfrm>
            </p:grpSpPr>
            <p:sp>
              <p:nvSpPr>
                <p:cNvPr id="1178" name="Line 79"/>
                <p:cNvSpPr/>
                <p:nvPr/>
              </p:nvSpPr>
              <p:spPr>
                <a:xfrm>
                  <a:off x="9291600" y="3396960"/>
                  <a:ext cx="1143000" cy="76176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en-US" sz="18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179" name="Line 80"/>
                <p:cNvSpPr/>
                <p:nvPr/>
              </p:nvSpPr>
              <p:spPr>
                <a:xfrm>
                  <a:off x="9817560" y="3747240"/>
                  <a:ext cx="91440" cy="61200"/>
                </a:xfrm>
                <a:prstGeom prst="line">
                  <a:avLst/>
                </a:prstGeom>
                <a:ln w="28575">
                  <a:solidFill>
                    <a:srgbClr val="000000"/>
                  </a:solidFill>
                  <a:round/>
                  <a:tailEnd len="med" type="arrow" w="med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16200" bIns="16200" anchor="t">
                  <a:noAutofit/>
                </a:bodyPr>
                <a:p>
                  <a:endParaRPr b="0" lang="en-US" sz="18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180" name="Text Box 81"/>
              <p:cNvSpPr/>
              <p:nvPr/>
            </p:nvSpPr>
            <p:spPr>
              <a:xfrm>
                <a:off x="9893160" y="3320640"/>
                <a:ext cx="36540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GB" sz="2400" spc="-1" strike="noStrike">
                    <a:solidFill>
                      <a:schemeClr val="dk1"/>
                    </a:solidFill>
                    <a:latin typeface="Arial"/>
                  </a:rPr>
                  <a:t>b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81" name="Group 94"/>
            <p:cNvGrpSpPr/>
            <p:nvPr/>
          </p:nvGrpSpPr>
          <p:grpSpPr>
            <a:xfrm>
              <a:off x="7386480" y="4158720"/>
              <a:ext cx="3048120" cy="684360"/>
              <a:chOff x="7386480" y="4158720"/>
              <a:chExt cx="3048120" cy="684360"/>
            </a:xfrm>
          </p:grpSpPr>
          <p:sp>
            <p:nvSpPr>
              <p:cNvPr id="1182" name="Line 83"/>
              <p:cNvSpPr/>
              <p:nvPr/>
            </p:nvSpPr>
            <p:spPr>
              <a:xfrm flipV="1">
                <a:off x="8788320" y="4333320"/>
                <a:ext cx="244440" cy="32040"/>
              </a:xfrm>
              <a:prstGeom prst="line">
                <a:avLst/>
              </a:prstGeom>
              <a:ln w="28575">
                <a:solidFill>
                  <a:srgbClr val="ff6600"/>
                </a:solidFill>
                <a:round/>
                <a:tailEnd len="med" type="arrow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83" name="Line 82"/>
              <p:cNvSpPr/>
              <p:nvPr/>
            </p:nvSpPr>
            <p:spPr>
              <a:xfrm flipV="1">
                <a:off x="7386480" y="4158720"/>
                <a:ext cx="3048120" cy="381240"/>
              </a:xfrm>
              <a:prstGeom prst="line">
                <a:avLst/>
              </a:prstGeom>
              <a:ln w="28575">
                <a:solidFill>
                  <a:srgbClr val="ff66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84" name="Text Box 84"/>
              <p:cNvSpPr/>
              <p:nvPr/>
            </p:nvSpPr>
            <p:spPr>
              <a:xfrm>
                <a:off x="8639280" y="4387680"/>
                <a:ext cx="87912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GB" sz="2400" spc="-1" strike="noStrike">
                    <a:solidFill>
                      <a:schemeClr val="dk1"/>
                    </a:solidFill>
                    <a:latin typeface="Arial"/>
                  </a:rPr>
                  <a:t>a </a:t>
                </a:r>
                <a:r>
                  <a:rPr b="0" lang="en-GB" sz="2400" spc="-1" strike="noStrike">
                    <a:solidFill>
                      <a:schemeClr val="dk1"/>
                    </a:solidFill>
                    <a:latin typeface="Arial"/>
                  </a:rPr>
                  <a:t>+</a:t>
                </a:r>
                <a:r>
                  <a:rPr b="1" lang="en-GB" sz="2400" spc="-1" strike="noStrike">
                    <a:solidFill>
                      <a:schemeClr val="dk1"/>
                    </a:solidFill>
                    <a:latin typeface="Arial"/>
                  </a:rPr>
                  <a:t> b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6" name="Rounded Rectangle 2"/>
          <p:cNvSpPr/>
          <p:nvPr/>
        </p:nvSpPr>
        <p:spPr>
          <a:xfrm>
            <a:off x="124920" y="6696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TextBox 3"/>
          <p:cNvSpPr/>
          <p:nvPr/>
        </p:nvSpPr>
        <p:spPr>
          <a:xfrm>
            <a:off x="883800" y="9000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WORKED EXAMPLE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TextBox 4"/>
          <p:cNvSpPr/>
          <p:nvPr/>
        </p:nvSpPr>
        <p:spPr>
          <a:xfrm>
            <a:off x="883800" y="38952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a + c,  3b  and  2c − b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TextBox 5"/>
          <p:cNvSpPr/>
          <p:nvPr/>
        </p:nvSpPr>
        <p:spPr>
          <a:xfrm>
            <a:off x="1462680" y="1657440"/>
            <a:ext cx="102409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Work through each combination separately.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Rounded Rectangle 6"/>
          <p:cNvSpPr/>
          <p:nvPr/>
        </p:nvSpPr>
        <p:spPr>
          <a:xfrm>
            <a:off x="567000" y="1874520"/>
            <a:ext cx="1105740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1" name="TextBox 7"/>
          <p:cNvSpPr/>
          <p:nvPr/>
        </p:nvSpPr>
        <p:spPr>
          <a:xfrm>
            <a:off x="841320" y="2148840"/>
            <a:ext cx="3319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1) a + 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TextBox 9"/>
          <p:cNvSpPr/>
          <p:nvPr/>
        </p:nvSpPr>
        <p:spPr>
          <a:xfrm>
            <a:off x="4344480" y="2148840"/>
            <a:ext cx="3319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2) 3b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TextBox 11"/>
          <p:cNvSpPr/>
          <p:nvPr/>
        </p:nvSpPr>
        <p:spPr>
          <a:xfrm>
            <a:off x="7847280" y="2148840"/>
            <a:ext cx="3319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3) 2c − 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Rounded Rectangle 13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Work inside the brackets first (the scalar multiple), then add or subtract component by component.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95" name="Group 101"/>
          <p:cNvGrpSpPr/>
          <p:nvPr/>
        </p:nvGrpSpPr>
        <p:grpSpPr>
          <a:xfrm>
            <a:off x="3875400" y="823320"/>
            <a:ext cx="5568480" cy="837720"/>
            <a:chOff x="3875400" y="823320"/>
            <a:chExt cx="5568480" cy="837720"/>
          </a:xfrm>
        </p:grpSpPr>
        <p:sp>
          <p:nvSpPr>
            <p:cNvPr id="1196" name="Text Box 7"/>
            <p:cNvSpPr/>
            <p:nvPr/>
          </p:nvSpPr>
          <p:spPr>
            <a:xfrm>
              <a:off x="3875400" y="1013760"/>
              <a:ext cx="610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Arial"/>
                </a:rPr>
                <a:t>a</a:t>
              </a:r>
              <a:r>
                <a:rPr b="0" lang="en-US" sz="2400" spc="-1" strike="noStrike">
                  <a:solidFill>
                    <a:schemeClr val="dk1"/>
                  </a:solidFill>
                  <a:latin typeface="Arial"/>
                </a:rPr>
                <a:t> =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197" name="Group 28"/>
            <p:cNvGrpSpPr/>
            <p:nvPr/>
          </p:nvGrpSpPr>
          <p:grpSpPr>
            <a:xfrm>
              <a:off x="4525920" y="823320"/>
              <a:ext cx="533160" cy="837720"/>
              <a:chOff x="4525920" y="823320"/>
              <a:chExt cx="533160" cy="837720"/>
            </a:xfrm>
          </p:grpSpPr>
          <p:sp>
            <p:nvSpPr>
              <p:cNvPr id="1198" name="AutoShape 8"/>
              <p:cNvSpPr/>
              <p:nvPr/>
            </p:nvSpPr>
            <p:spPr>
              <a:xfrm>
                <a:off x="4525920" y="823320"/>
                <a:ext cx="53316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99" name="Text Box 9"/>
              <p:cNvSpPr/>
              <p:nvPr/>
            </p:nvSpPr>
            <p:spPr>
              <a:xfrm>
                <a:off x="4610160" y="823320"/>
                <a:ext cx="3488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5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0" name="Text Box 10"/>
              <p:cNvSpPr/>
              <p:nvPr/>
            </p:nvSpPr>
            <p:spPr>
              <a:xfrm>
                <a:off x="4610160" y="1204200"/>
                <a:ext cx="3488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3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01" name="Text Box 12"/>
            <p:cNvSpPr/>
            <p:nvPr/>
          </p:nvSpPr>
          <p:spPr>
            <a:xfrm>
              <a:off x="8207280" y="1013760"/>
              <a:ext cx="610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Arial"/>
                </a:rPr>
                <a:t>c</a:t>
              </a:r>
              <a:r>
                <a:rPr b="0" lang="en-US" sz="2400" spc="-1" strike="noStrike">
                  <a:solidFill>
                    <a:schemeClr val="dk1"/>
                  </a:solidFill>
                  <a:latin typeface="Arial"/>
                </a:rPr>
                <a:t> =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02" name="Group 13"/>
            <p:cNvGrpSpPr/>
            <p:nvPr/>
          </p:nvGrpSpPr>
          <p:grpSpPr>
            <a:xfrm>
              <a:off x="8903160" y="823320"/>
              <a:ext cx="540720" cy="837720"/>
              <a:chOff x="8903160" y="823320"/>
              <a:chExt cx="540720" cy="837720"/>
            </a:xfrm>
          </p:grpSpPr>
          <p:sp>
            <p:nvSpPr>
              <p:cNvPr id="1203" name="AutoShape 14"/>
              <p:cNvSpPr/>
              <p:nvPr/>
            </p:nvSpPr>
            <p:spPr>
              <a:xfrm>
                <a:off x="8910720" y="823320"/>
                <a:ext cx="53316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04" name="Text Box 15"/>
              <p:cNvSpPr/>
              <p:nvPr/>
            </p:nvSpPr>
            <p:spPr>
              <a:xfrm>
                <a:off x="8903160" y="823320"/>
                <a:ext cx="5180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–</a:t>
                </a: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1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5" name="Text Box 16"/>
              <p:cNvSpPr/>
              <p:nvPr/>
            </p:nvSpPr>
            <p:spPr>
              <a:xfrm>
                <a:off x="8994960" y="1204200"/>
                <a:ext cx="3488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4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06" name="Text Box 17"/>
            <p:cNvSpPr/>
            <p:nvPr/>
          </p:nvSpPr>
          <p:spPr>
            <a:xfrm>
              <a:off x="7104240" y="1013760"/>
              <a:ext cx="687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Arial"/>
                </a:rPr>
                <a:t>and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7" name="Text Box 19"/>
            <p:cNvSpPr/>
            <p:nvPr/>
          </p:nvSpPr>
          <p:spPr>
            <a:xfrm>
              <a:off x="5462280" y="1013760"/>
              <a:ext cx="627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Arial"/>
                </a:rPr>
                <a:t>b</a:t>
              </a:r>
              <a:r>
                <a:rPr b="0" lang="en-US" sz="2400" spc="-1" strike="noStrike">
                  <a:solidFill>
                    <a:schemeClr val="dk1"/>
                  </a:solidFill>
                  <a:latin typeface="Arial"/>
                </a:rPr>
                <a:t> =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08" name="Group 20"/>
            <p:cNvGrpSpPr/>
            <p:nvPr/>
          </p:nvGrpSpPr>
          <p:grpSpPr>
            <a:xfrm>
              <a:off x="6147360" y="823320"/>
              <a:ext cx="540720" cy="837720"/>
              <a:chOff x="6147360" y="823320"/>
              <a:chExt cx="540720" cy="837720"/>
            </a:xfrm>
          </p:grpSpPr>
          <p:sp>
            <p:nvSpPr>
              <p:cNvPr id="1209" name="AutoShape 21"/>
              <p:cNvSpPr/>
              <p:nvPr/>
            </p:nvSpPr>
            <p:spPr>
              <a:xfrm>
                <a:off x="6154920" y="823320"/>
                <a:ext cx="53316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10" name="Text Box 22"/>
              <p:cNvSpPr/>
              <p:nvPr/>
            </p:nvSpPr>
            <p:spPr>
              <a:xfrm>
                <a:off x="6147360" y="823320"/>
                <a:ext cx="5180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–</a:t>
                </a: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2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1" name="Text Box 23"/>
              <p:cNvSpPr/>
              <p:nvPr/>
            </p:nvSpPr>
            <p:spPr>
              <a:xfrm>
                <a:off x="6238800" y="1204200"/>
                <a:ext cx="3488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6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212" name="Group 50"/>
          <p:cNvGrpSpPr/>
          <p:nvPr/>
        </p:nvGrpSpPr>
        <p:grpSpPr>
          <a:xfrm>
            <a:off x="658440" y="2606040"/>
            <a:ext cx="2720520" cy="1855440"/>
            <a:chOff x="658440" y="2606040"/>
            <a:chExt cx="2720520" cy="1855440"/>
          </a:xfrm>
        </p:grpSpPr>
        <p:sp>
          <p:nvSpPr>
            <p:cNvPr id="1213" name="Rectangle 27"/>
            <p:cNvSpPr/>
            <p:nvPr/>
          </p:nvSpPr>
          <p:spPr>
            <a:xfrm>
              <a:off x="658440" y="2796480"/>
              <a:ext cx="9658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2400" spc="-1" strike="noStrike">
                  <a:solidFill>
                    <a:schemeClr val="dk1"/>
                  </a:solidFill>
                  <a:latin typeface="Calibri"/>
                </a:rPr>
                <a:t>a</a:t>
              </a: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 + </a:t>
              </a:r>
              <a:r>
                <a:rPr b="1" lang="en-GB" sz="2400" spc="-1" strike="noStrike">
                  <a:solidFill>
                    <a:schemeClr val="dk1"/>
                  </a:solidFill>
                  <a:latin typeface="Calibri"/>
                </a:rPr>
                <a:t>c </a:t>
              </a: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=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14" name="Group 29"/>
            <p:cNvGrpSpPr/>
            <p:nvPr/>
          </p:nvGrpSpPr>
          <p:grpSpPr>
            <a:xfrm>
              <a:off x="1839240" y="2606040"/>
              <a:ext cx="533160" cy="837720"/>
              <a:chOff x="1839240" y="2606040"/>
              <a:chExt cx="533160" cy="837720"/>
            </a:xfrm>
          </p:grpSpPr>
          <p:sp>
            <p:nvSpPr>
              <p:cNvPr id="1215" name="AutoShape 30"/>
              <p:cNvSpPr/>
              <p:nvPr/>
            </p:nvSpPr>
            <p:spPr>
              <a:xfrm>
                <a:off x="1839240" y="2606040"/>
                <a:ext cx="53316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16" name="Text Box 31"/>
              <p:cNvSpPr/>
              <p:nvPr/>
            </p:nvSpPr>
            <p:spPr>
              <a:xfrm>
                <a:off x="1930320" y="2606040"/>
                <a:ext cx="33516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Calibri"/>
                  </a:rPr>
                  <a:t>5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7" name="Text Box 32"/>
              <p:cNvSpPr/>
              <p:nvPr/>
            </p:nvSpPr>
            <p:spPr>
              <a:xfrm>
                <a:off x="1930320" y="2986920"/>
                <a:ext cx="33516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Calibri"/>
                  </a:rPr>
                  <a:t>3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18" name="Text Box 33"/>
            <p:cNvSpPr/>
            <p:nvPr/>
          </p:nvSpPr>
          <p:spPr>
            <a:xfrm>
              <a:off x="2431080" y="2796480"/>
              <a:ext cx="331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+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19" name="Group 34"/>
            <p:cNvGrpSpPr/>
            <p:nvPr/>
          </p:nvGrpSpPr>
          <p:grpSpPr>
            <a:xfrm>
              <a:off x="2845800" y="2606040"/>
              <a:ext cx="533160" cy="837720"/>
              <a:chOff x="2845800" y="2606040"/>
              <a:chExt cx="533160" cy="837720"/>
            </a:xfrm>
          </p:grpSpPr>
          <p:sp>
            <p:nvSpPr>
              <p:cNvPr id="1220" name="AutoShape 35"/>
              <p:cNvSpPr/>
              <p:nvPr/>
            </p:nvSpPr>
            <p:spPr>
              <a:xfrm>
                <a:off x="2845800" y="2606040"/>
                <a:ext cx="53316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21" name="Text Box 36"/>
              <p:cNvSpPr/>
              <p:nvPr/>
            </p:nvSpPr>
            <p:spPr>
              <a:xfrm>
                <a:off x="2854080" y="2606040"/>
                <a:ext cx="48600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Calibri"/>
                  </a:rPr>
                  <a:t>–</a:t>
                </a:r>
                <a:r>
                  <a:rPr b="0" lang="en-US" sz="2400" spc="-1" strike="noStrike">
                    <a:solidFill>
                      <a:schemeClr val="dk1"/>
                    </a:solidFill>
                    <a:latin typeface="Calibri"/>
                  </a:rPr>
                  <a:t>1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22" name="Text Box 37"/>
              <p:cNvSpPr/>
              <p:nvPr/>
            </p:nvSpPr>
            <p:spPr>
              <a:xfrm>
                <a:off x="2936880" y="2986920"/>
                <a:ext cx="33516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Calibri"/>
                  </a:rPr>
                  <a:t>4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23" name="Text Box 38"/>
            <p:cNvSpPr/>
            <p:nvPr/>
          </p:nvSpPr>
          <p:spPr>
            <a:xfrm>
              <a:off x="1465920" y="4006080"/>
              <a:ext cx="331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=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4" name="Group 49"/>
          <p:cNvGrpSpPr/>
          <p:nvPr/>
        </p:nvGrpSpPr>
        <p:grpSpPr>
          <a:xfrm>
            <a:off x="1854720" y="3743640"/>
            <a:ext cx="1064880" cy="837720"/>
            <a:chOff x="1854720" y="3743640"/>
            <a:chExt cx="1064880" cy="837720"/>
          </a:xfrm>
        </p:grpSpPr>
        <p:sp>
          <p:nvSpPr>
            <p:cNvPr id="1225" name="AutoShape 40"/>
            <p:cNvSpPr/>
            <p:nvPr/>
          </p:nvSpPr>
          <p:spPr>
            <a:xfrm>
              <a:off x="1854720" y="3743640"/>
              <a:ext cx="1064880" cy="83772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26" name="Text Box 41"/>
            <p:cNvSpPr/>
            <p:nvPr/>
          </p:nvSpPr>
          <p:spPr>
            <a:xfrm>
              <a:off x="1872360" y="3743640"/>
              <a:ext cx="930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Calibri"/>
                </a:rPr>
                <a:t>5 + –1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7" name="Text Box 42"/>
            <p:cNvSpPr/>
            <p:nvPr/>
          </p:nvSpPr>
          <p:spPr>
            <a:xfrm>
              <a:off x="1957320" y="4124880"/>
              <a:ext cx="7783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Calibri"/>
                </a:rPr>
                <a:t>3 + 4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28" name="Group 48"/>
          <p:cNvGrpSpPr/>
          <p:nvPr/>
        </p:nvGrpSpPr>
        <p:grpSpPr>
          <a:xfrm>
            <a:off x="2116800" y="4582080"/>
            <a:ext cx="533160" cy="837720"/>
            <a:chOff x="2116800" y="4582080"/>
            <a:chExt cx="533160" cy="837720"/>
          </a:xfrm>
        </p:grpSpPr>
        <p:sp>
          <p:nvSpPr>
            <p:cNvPr id="1229" name="AutoShape 45"/>
            <p:cNvSpPr/>
            <p:nvPr/>
          </p:nvSpPr>
          <p:spPr>
            <a:xfrm>
              <a:off x="2116800" y="4582080"/>
              <a:ext cx="533160" cy="83772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ff66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1" lang="en-US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30" name="Text Box 46"/>
            <p:cNvSpPr/>
            <p:nvPr/>
          </p:nvSpPr>
          <p:spPr>
            <a:xfrm>
              <a:off x="2207880" y="458208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4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1" name="Text Box 47"/>
            <p:cNvSpPr/>
            <p:nvPr/>
          </p:nvSpPr>
          <p:spPr>
            <a:xfrm>
              <a:off x="2207880" y="496296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7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32" name="Group 111"/>
          <p:cNvGrpSpPr/>
          <p:nvPr/>
        </p:nvGrpSpPr>
        <p:grpSpPr>
          <a:xfrm>
            <a:off x="4462920" y="2514600"/>
            <a:ext cx="2299680" cy="837720"/>
            <a:chOff x="4462920" y="2514600"/>
            <a:chExt cx="2299680" cy="837720"/>
          </a:xfrm>
        </p:grpSpPr>
        <p:grpSp>
          <p:nvGrpSpPr>
            <p:cNvPr id="1233" name="Group 104"/>
            <p:cNvGrpSpPr/>
            <p:nvPr/>
          </p:nvGrpSpPr>
          <p:grpSpPr>
            <a:xfrm>
              <a:off x="4462920" y="2514600"/>
              <a:ext cx="1918800" cy="837720"/>
              <a:chOff x="4462920" y="2514600"/>
              <a:chExt cx="1918800" cy="837720"/>
            </a:xfrm>
          </p:grpSpPr>
          <p:sp>
            <p:nvSpPr>
              <p:cNvPr id="1234" name="Rectangle 54"/>
              <p:cNvSpPr/>
              <p:nvPr/>
            </p:nvSpPr>
            <p:spPr>
              <a:xfrm>
                <a:off x="4462920" y="2705040"/>
                <a:ext cx="116100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GB" sz="2400" spc="-1" strike="noStrike">
                    <a:solidFill>
                      <a:schemeClr val="dk1"/>
                    </a:solidFill>
                    <a:latin typeface="Calibri"/>
                  </a:rPr>
                  <a:t>3</a:t>
                </a:r>
                <a:r>
                  <a:rPr b="1" lang="en-GB" sz="2400" spc="-1" strike="noStrike">
                    <a:solidFill>
                      <a:schemeClr val="dk1"/>
                    </a:solidFill>
                    <a:latin typeface="Calibri"/>
                  </a:rPr>
                  <a:t>b</a:t>
                </a:r>
                <a:r>
                  <a:rPr b="0" lang="en-GB" sz="2400" spc="-1" strike="noStrike">
                    <a:solidFill>
                      <a:schemeClr val="dk1"/>
                    </a:solidFill>
                    <a:latin typeface="Calibri"/>
                  </a:rPr>
                  <a:t> = 3 </a:t>
                </a:r>
                <a:r>
                  <a:rPr b="0" lang="en-US" sz="2400" spc="-1" strike="noStrike">
                    <a:solidFill>
                      <a:schemeClr val="dk1"/>
                    </a:solidFill>
                    <a:latin typeface="Calibri"/>
                  </a:rPr>
                  <a:t>×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35" name="Group 102"/>
              <p:cNvGrpSpPr/>
              <p:nvPr/>
            </p:nvGrpSpPr>
            <p:grpSpPr>
              <a:xfrm>
                <a:off x="5841000" y="2514600"/>
                <a:ext cx="540720" cy="837720"/>
                <a:chOff x="5841000" y="2514600"/>
                <a:chExt cx="540720" cy="837720"/>
              </a:xfrm>
            </p:grpSpPr>
            <p:sp>
              <p:nvSpPr>
                <p:cNvPr id="1236" name="AutoShape 56"/>
                <p:cNvSpPr/>
                <p:nvPr/>
              </p:nvSpPr>
              <p:spPr>
                <a:xfrm>
                  <a:off x="5848560" y="2514600"/>
                  <a:ext cx="533160" cy="837720"/>
                </a:xfrm>
                <a:prstGeom prst="bracketPair">
                  <a:avLst>
                    <a:gd name="adj" fmla="val 16667"/>
                  </a:avLst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24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237" name="Text Box 57"/>
                <p:cNvSpPr/>
                <p:nvPr/>
              </p:nvSpPr>
              <p:spPr>
                <a:xfrm>
                  <a:off x="5841000" y="2514600"/>
                  <a:ext cx="51804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b="0" lang="en-US" sz="2400" spc="-1" strike="noStrike">
                      <a:solidFill>
                        <a:schemeClr val="dk1"/>
                      </a:solidFill>
                      <a:latin typeface="Arial"/>
                    </a:rPr>
                    <a:t>–</a:t>
                  </a:r>
                  <a:r>
                    <a:rPr b="0" lang="en-US" sz="2400" spc="-1" strike="noStrike">
                      <a:solidFill>
                        <a:schemeClr val="dk1"/>
                      </a:solidFill>
                      <a:latin typeface="Arial"/>
                    </a:rPr>
                    <a:t>2</a:t>
                  </a:r>
                  <a:endParaRPr b="0" lang="en-US" sz="2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238" name="Text Box 58"/>
                <p:cNvSpPr/>
                <p:nvPr/>
              </p:nvSpPr>
              <p:spPr>
                <a:xfrm>
                  <a:off x="5932800" y="2895480"/>
                  <a:ext cx="348840" cy="455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</a:pPr>
                  <a:r>
                    <a:rPr b="0" lang="en-US" sz="2400" spc="-1" strike="noStrike">
                      <a:solidFill>
                        <a:schemeClr val="dk1"/>
                      </a:solidFill>
                      <a:latin typeface="Arial"/>
                    </a:rPr>
                    <a:t>6</a:t>
                  </a:r>
                  <a:endParaRPr b="0" lang="en-US" sz="24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sp>
          <p:nvSpPr>
            <p:cNvPr id="1239" name="Text Box 64"/>
            <p:cNvSpPr/>
            <p:nvPr/>
          </p:nvSpPr>
          <p:spPr>
            <a:xfrm>
              <a:off x="6406200" y="2705040"/>
              <a:ext cx="356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Arial"/>
                </a:rPr>
                <a:t>=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0" name="Group 65"/>
          <p:cNvGrpSpPr/>
          <p:nvPr/>
        </p:nvGrpSpPr>
        <p:grpSpPr>
          <a:xfrm>
            <a:off x="5085000" y="3393360"/>
            <a:ext cx="1501920" cy="837720"/>
            <a:chOff x="5085000" y="3393360"/>
            <a:chExt cx="1501920" cy="837720"/>
          </a:xfrm>
        </p:grpSpPr>
        <p:grpSp>
          <p:nvGrpSpPr>
            <p:cNvPr id="1241" name="Group 66"/>
            <p:cNvGrpSpPr/>
            <p:nvPr/>
          </p:nvGrpSpPr>
          <p:grpSpPr>
            <a:xfrm>
              <a:off x="5085000" y="3393360"/>
              <a:ext cx="1099080" cy="837720"/>
              <a:chOff x="5085000" y="3393360"/>
              <a:chExt cx="1099080" cy="837720"/>
            </a:xfrm>
          </p:grpSpPr>
          <p:sp>
            <p:nvSpPr>
              <p:cNvPr id="1242" name="AutoShape 67"/>
              <p:cNvSpPr/>
              <p:nvPr/>
            </p:nvSpPr>
            <p:spPr>
              <a:xfrm>
                <a:off x="5119200" y="3393360"/>
                <a:ext cx="106488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43" name="Text Box 68"/>
              <p:cNvSpPr/>
              <p:nvPr/>
            </p:nvSpPr>
            <p:spPr>
              <a:xfrm>
                <a:off x="5085000" y="3393360"/>
                <a:ext cx="10346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3 × –2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4" name="Text Box 69"/>
              <p:cNvSpPr/>
              <p:nvPr/>
            </p:nvSpPr>
            <p:spPr>
              <a:xfrm>
                <a:off x="5178240" y="3774600"/>
                <a:ext cx="8654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3 × 6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45" name="Text Box 70"/>
            <p:cNvSpPr/>
            <p:nvPr/>
          </p:nvSpPr>
          <p:spPr>
            <a:xfrm>
              <a:off x="6230520" y="3583800"/>
              <a:ext cx="356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Arial"/>
                </a:rPr>
                <a:t>=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6" name="Group 118"/>
          <p:cNvGrpSpPr/>
          <p:nvPr/>
        </p:nvGrpSpPr>
        <p:grpSpPr>
          <a:xfrm>
            <a:off x="6637320" y="3384720"/>
            <a:ext cx="540720" cy="837720"/>
            <a:chOff x="6637320" y="3384720"/>
            <a:chExt cx="540720" cy="837720"/>
          </a:xfrm>
        </p:grpSpPr>
        <p:sp>
          <p:nvSpPr>
            <p:cNvPr id="1247" name="AutoShape 72"/>
            <p:cNvSpPr/>
            <p:nvPr/>
          </p:nvSpPr>
          <p:spPr>
            <a:xfrm>
              <a:off x="6644880" y="3384720"/>
              <a:ext cx="533160" cy="83772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ff66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1" lang="en-US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48" name="Text Box 73"/>
            <p:cNvSpPr/>
            <p:nvPr/>
          </p:nvSpPr>
          <p:spPr>
            <a:xfrm>
              <a:off x="6637320" y="3384720"/>
              <a:ext cx="518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Arial"/>
                </a:rPr>
                <a:t>–</a:t>
              </a:r>
              <a:r>
                <a:rPr b="1" lang="en-US" sz="2400" spc="-1" strike="noStrike">
                  <a:solidFill>
                    <a:schemeClr val="dk1"/>
                  </a:solidFill>
                  <a:latin typeface="Arial"/>
                </a:rPr>
                <a:t>6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9" name="Text Box 74"/>
            <p:cNvSpPr/>
            <p:nvPr/>
          </p:nvSpPr>
          <p:spPr>
            <a:xfrm>
              <a:off x="6638040" y="3765600"/>
              <a:ext cx="518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Arial"/>
                </a:rPr>
                <a:t>18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50" name="Text Box 43"/>
          <p:cNvSpPr/>
          <p:nvPr/>
        </p:nvSpPr>
        <p:spPr>
          <a:xfrm>
            <a:off x="1465200" y="4752000"/>
            <a:ext cx="33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51" name="Group 115"/>
          <p:cNvGrpSpPr/>
          <p:nvPr/>
        </p:nvGrpSpPr>
        <p:grpSpPr>
          <a:xfrm>
            <a:off x="7904520" y="2469240"/>
            <a:ext cx="3428640" cy="837720"/>
            <a:chOff x="7904520" y="2469240"/>
            <a:chExt cx="3428640" cy="837720"/>
          </a:xfrm>
        </p:grpSpPr>
        <p:sp>
          <p:nvSpPr>
            <p:cNvPr id="1252" name="Rectangle 77"/>
            <p:cNvSpPr/>
            <p:nvPr/>
          </p:nvSpPr>
          <p:spPr>
            <a:xfrm>
              <a:off x="7904520" y="2659680"/>
              <a:ext cx="15753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2</a:t>
              </a:r>
              <a:r>
                <a:rPr b="1" lang="en-GB" sz="2400" spc="-1" strike="noStrike">
                  <a:solidFill>
                    <a:schemeClr val="dk1"/>
                  </a:solidFill>
                  <a:latin typeface="Calibri"/>
                </a:rPr>
                <a:t>c </a:t>
              </a: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–</a:t>
              </a:r>
              <a:r>
                <a:rPr b="1" lang="en-GB" sz="2400" spc="-1" strike="noStrike">
                  <a:solidFill>
                    <a:schemeClr val="dk1"/>
                  </a:solidFill>
                  <a:latin typeface="Calibri"/>
                </a:rPr>
                <a:t> b</a:t>
              </a: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 = 2 </a:t>
              </a:r>
              <a:r>
                <a:rPr b="0" lang="en-US" sz="2400" spc="-1" strike="noStrike">
                  <a:solidFill>
                    <a:schemeClr val="dk1"/>
                  </a:solidFill>
                  <a:latin typeface="Calibri"/>
                </a:rPr>
                <a:t>×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53" name="Group 105"/>
            <p:cNvGrpSpPr/>
            <p:nvPr/>
          </p:nvGrpSpPr>
          <p:grpSpPr>
            <a:xfrm>
              <a:off x="9744840" y="2469240"/>
              <a:ext cx="540720" cy="837720"/>
              <a:chOff x="9744840" y="2469240"/>
              <a:chExt cx="540720" cy="837720"/>
            </a:xfrm>
          </p:grpSpPr>
          <p:sp>
            <p:nvSpPr>
              <p:cNvPr id="1254" name="AutoShape 79"/>
              <p:cNvSpPr/>
              <p:nvPr/>
            </p:nvSpPr>
            <p:spPr>
              <a:xfrm>
                <a:off x="9752400" y="2469240"/>
                <a:ext cx="53316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55" name="Text Box 80"/>
              <p:cNvSpPr/>
              <p:nvPr/>
            </p:nvSpPr>
            <p:spPr>
              <a:xfrm>
                <a:off x="9744840" y="2469240"/>
                <a:ext cx="5180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–</a:t>
                </a: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1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6" name="Text Box 81"/>
              <p:cNvSpPr/>
              <p:nvPr/>
            </p:nvSpPr>
            <p:spPr>
              <a:xfrm>
                <a:off x="9836640" y="2850480"/>
                <a:ext cx="3488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4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57" name="Text Box 82"/>
            <p:cNvSpPr/>
            <p:nvPr/>
          </p:nvSpPr>
          <p:spPr>
            <a:xfrm>
              <a:off x="10351800" y="2659680"/>
              <a:ext cx="348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Arial"/>
                </a:rPr>
                <a:t>–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258" name="Group 112"/>
            <p:cNvGrpSpPr/>
            <p:nvPr/>
          </p:nvGrpSpPr>
          <p:grpSpPr>
            <a:xfrm>
              <a:off x="10792440" y="2469240"/>
              <a:ext cx="540720" cy="837720"/>
              <a:chOff x="10792440" y="2469240"/>
              <a:chExt cx="540720" cy="837720"/>
            </a:xfrm>
          </p:grpSpPr>
          <p:sp>
            <p:nvSpPr>
              <p:cNvPr id="1259" name="AutoShape 84"/>
              <p:cNvSpPr/>
              <p:nvPr/>
            </p:nvSpPr>
            <p:spPr>
              <a:xfrm>
                <a:off x="10800000" y="2469240"/>
                <a:ext cx="53316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60" name="Text Box 85"/>
              <p:cNvSpPr/>
              <p:nvPr/>
            </p:nvSpPr>
            <p:spPr>
              <a:xfrm>
                <a:off x="10792440" y="2469240"/>
                <a:ext cx="5180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–</a:t>
                </a: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2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1" name="Text Box 86"/>
              <p:cNvSpPr/>
              <p:nvPr/>
            </p:nvSpPr>
            <p:spPr>
              <a:xfrm>
                <a:off x="10884240" y="2850480"/>
                <a:ext cx="3488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6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262" name="Group 116"/>
          <p:cNvGrpSpPr/>
          <p:nvPr/>
        </p:nvGrpSpPr>
        <p:grpSpPr>
          <a:xfrm>
            <a:off x="8876160" y="3399120"/>
            <a:ext cx="1665720" cy="837720"/>
            <a:chOff x="8876160" y="3399120"/>
            <a:chExt cx="1665720" cy="837720"/>
          </a:xfrm>
        </p:grpSpPr>
        <p:grpSp>
          <p:nvGrpSpPr>
            <p:cNvPr id="1263" name="Group 113"/>
            <p:cNvGrpSpPr/>
            <p:nvPr/>
          </p:nvGrpSpPr>
          <p:grpSpPr>
            <a:xfrm>
              <a:off x="8876160" y="3399120"/>
              <a:ext cx="1262880" cy="837720"/>
              <a:chOff x="8876160" y="3399120"/>
              <a:chExt cx="1262880" cy="837720"/>
            </a:xfrm>
          </p:grpSpPr>
          <p:sp>
            <p:nvSpPr>
              <p:cNvPr id="1264" name="AutoShape 90"/>
              <p:cNvSpPr/>
              <p:nvPr/>
            </p:nvSpPr>
            <p:spPr>
              <a:xfrm>
                <a:off x="8915400" y="3399120"/>
                <a:ext cx="1223640" cy="837720"/>
              </a:xfrm>
              <a:prstGeom prst="bracketPair">
                <a:avLst>
                  <a:gd name="adj" fmla="val 16667"/>
                </a:avLst>
              </a:prstGeom>
              <a:noFill/>
              <a:ln w="2857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65" name="Text Box 91"/>
              <p:cNvSpPr/>
              <p:nvPr/>
            </p:nvSpPr>
            <p:spPr>
              <a:xfrm>
                <a:off x="8876160" y="3399120"/>
                <a:ext cx="119628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–</a:t>
                </a: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2 – –2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6" name="Text Box 92"/>
              <p:cNvSpPr/>
              <p:nvPr/>
            </p:nvSpPr>
            <p:spPr>
              <a:xfrm>
                <a:off x="9061920" y="3780360"/>
                <a:ext cx="856440" cy="455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0" lang="en-US" sz="2400" spc="-1" strike="noStrike">
                    <a:solidFill>
                      <a:schemeClr val="dk1"/>
                    </a:solidFill>
                    <a:latin typeface="Arial"/>
                  </a:rPr>
                  <a:t>8 – 6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1267" name="Text Box 93"/>
            <p:cNvSpPr/>
            <p:nvPr/>
          </p:nvSpPr>
          <p:spPr>
            <a:xfrm>
              <a:off x="10185480" y="3589560"/>
              <a:ext cx="356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Arial"/>
                </a:rPr>
                <a:t>=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8" name="Group 117"/>
          <p:cNvGrpSpPr/>
          <p:nvPr/>
        </p:nvGrpSpPr>
        <p:grpSpPr>
          <a:xfrm>
            <a:off x="10724040" y="3439800"/>
            <a:ext cx="504360" cy="837720"/>
            <a:chOff x="10724040" y="3439800"/>
            <a:chExt cx="504360" cy="837720"/>
          </a:xfrm>
        </p:grpSpPr>
        <p:sp>
          <p:nvSpPr>
            <p:cNvPr id="1269" name="AutoShape 95"/>
            <p:cNvSpPr/>
            <p:nvPr/>
          </p:nvSpPr>
          <p:spPr>
            <a:xfrm>
              <a:off x="10724040" y="3439800"/>
              <a:ext cx="504360" cy="83772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ff66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1" lang="en-US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70" name="Text Box 96"/>
            <p:cNvSpPr/>
            <p:nvPr/>
          </p:nvSpPr>
          <p:spPr>
            <a:xfrm>
              <a:off x="10793880" y="3439800"/>
              <a:ext cx="348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Arial"/>
                </a:rPr>
                <a:t>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1" name="Text Box 97"/>
            <p:cNvSpPr/>
            <p:nvPr/>
          </p:nvSpPr>
          <p:spPr>
            <a:xfrm>
              <a:off x="10795320" y="3820680"/>
              <a:ext cx="348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Arial"/>
                </a:rPr>
                <a:t>2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72" name="Text Box 87"/>
          <p:cNvSpPr/>
          <p:nvPr/>
        </p:nvSpPr>
        <p:spPr>
          <a:xfrm>
            <a:off x="8433000" y="3599280"/>
            <a:ext cx="356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dk1"/>
                </a:solidFill>
                <a:latin typeface="Arial"/>
              </a:rPr>
              <a:t>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3" dur="indefinite" restart="never" nodeType="tmRoot">
          <p:childTnLst>
            <p:seq>
              <p:cTn id="94" dur="indefinite" nodeType="mainSeq">
                <p:childTnLst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4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5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WORKED EXAMPLE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Using a Ratio: RS = a, PQ = 2a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RS = a,  PQ = 2a,  SQ = b. Diagrams not accurately drawn. Find RP in terms of a and b.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Rounded Rectangle 6"/>
          <p:cNvSpPr/>
          <p:nvPr/>
        </p:nvSpPr>
        <p:spPr>
          <a:xfrm>
            <a:off x="567000" y="1874520"/>
            <a:ext cx="51202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1279" name="Connector 7"/>
          <p:cNvCxnSpPr/>
          <p:nvPr/>
        </p:nvCxnSpPr>
        <p:spPr>
          <a:xfrm>
            <a:off x="1481040" y="4525920"/>
            <a:ext cx="2377800" cy="360"/>
          </a:xfrm>
          <a:prstGeom prst="straightConnector1">
            <a:avLst/>
          </a:prstGeom>
          <a:ln w="35560">
            <a:solidFill>
              <a:srgbClr val="5c6b60"/>
            </a:solidFill>
            <a:tailEnd len="med" type="triangle" w="med"/>
          </a:ln>
        </p:spPr>
      </p:cxnSp>
      <p:cxnSp>
        <p:nvCxnSpPr>
          <p:cNvPr id="1280" name="Connector 8"/>
          <p:cNvCxnSpPr/>
          <p:nvPr/>
        </p:nvCxnSpPr>
        <p:spPr>
          <a:xfrm>
            <a:off x="1938240" y="2514240"/>
            <a:ext cx="2743560" cy="360"/>
          </a:xfrm>
          <a:prstGeom prst="straightConnector1">
            <a:avLst/>
          </a:prstGeom>
          <a:ln w="38100">
            <a:solidFill>
              <a:srgbClr val="c84f2f"/>
            </a:solidFill>
            <a:tailEnd len="med" type="triangle" w="med"/>
          </a:ln>
        </p:spPr>
      </p:cxnSp>
      <p:cxnSp>
        <p:nvCxnSpPr>
          <p:cNvPr id="1281" name="Connector 9"/>
          <p:cNvCxnSpPr/>
          <p:nvPr/>
        </p:nvCxnSpPr>
        <p:spPr>
          <a:xfrm flipH="1" flipV="1">
            <a:off x="1938240" y="2514240"/>
            <a:ext cx="1920600" cy="2012040"/>
          </a:xfrm>
          <a:prstGeom prst="straightConnector1">
            <a:avLst/>
          </a:prstGeom>
          <a:ln w="33020">
            <a:solidFill>
              <a:srgbClr val="1c2a22"/>
            </a:solidFill>
            <a:tailEnd len="med" type="triangle" w="med"/>
          </a:ln>
        </p:spPr>
      </p:cxnSp>
      <p:sp>
        <p:nvSpPr>
          <p:cNvPr id="1282" name="Oval 10"/>
          <p:cNvSpPr/>
          <p:nvPr/>
        </p:nvSpPr>
        <p:spPr>
          <a:xfrm>
            <a:off x="1451160" y="4496400"/>
            <a:ext cx="59760" cy="5976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3" name="Oval 11"/>
          <p:cNvSpPr/>
          <p:nvPr/>
        </p:nvSpPr>
        <p:spPr>
          <a:xfrm>
            <a:off x="3828600" y="4496400"/>
            <a:ext cx="59760" cy="5976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4" name="Oval 12"/>
          <p:cNvSpPr/>
          <p:nvPr/>
        </p:nvSpPr>
        <p:spPr>
          <a:xfrm>
            <a:off x="1908360" y="2484720"/>
            <a:ext cx="59760" cy="5976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5" name="Oval 13"/>
          <p:cNvSpPr/>
          <p:nvPr/>
        </p:nvSpPr>
        <p:spPr>
          <a:xfrm>
            <a:off x="4651560" y="2484720"/>
            <a:ext cx="59760" cy="59760"/>
          </a:xfrm>
          <a:prstGeom prst="ellipse">
            <a:avLst/>
          </a:prstGeom>
          <a:solidFill>
            <a:srgbClr val="1c2a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6" name="TextBox 14"/>
          <p:cNvSpPr/>
          <p:nvPr/>
        </p:nvSpPr>
        <p:spPr>
          <a:xfrm>
            <a:off x="1161360" y="4572000"/>
            <a:ext cx="319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</a:rPr>
              <a:t>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TextBox 15"/>
          <p:cNvSpPr/>
          <p:nvPr/>
        </p:nvSpPr>
        <p:spPr>
          <a:xfrm>
            <a:off x="3931920" y="4572000"/>
            <a:ext cx="319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</a:rPr>
              <a:t>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TextBox 16"/>
          <p:cNvSpPr/>
          <p:nvPr/>
        </p:nvSpPr>
        <p:spPr>
          <a:xfrm>
            <a:off x="1618560" y="2194560"/>
            <a:ext cx="319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</a:rPr>
              <a:t>Q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TextBox 17"/>
          <p:cNvSpPr/>
          <p:nvPr/>
        </p:nvSpPr>
        <p:spPr>
          <a:xfrm>
            <a:off x="4754880" y="2194560"/>
            <a:ext cx="319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2a22"/>
                </a:solidFill>
                <a:latin typeface="Cambria"/>
              </a:rPr>
              <a:t>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TextBox 18"/>
          <p:cNvSpPr/>
          <p:nvPr/>
        </p:nvSpPr>
        <p:spPr>
          <a:xfrm>
            <a:off x="2532960" y="4599360"/>
            <a:ext cx="365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5c6b60"/>
                </a:solidFill>
                <a:latin typeface="Cambria"/>
              </a:rPr>
              <a:t>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TextBox 19"/>
          <p:cNvSpPr/>
          <p:nvPr/>
        </p:nvSpPr>
        <p:spPr>
          <a:xfrm>
            <a:off x="3173040" y="2130480"/>
            <a:ext cx="456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c84f2f"/>
                </a:solidFill>
                <a:latin typeface="Cambria"/>
              </a:rPr>
              <a:t>2a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TextBox 20"/>
          <p:cNvSpPr/>
          <p:nvPr/>
        </p:nvSpPr>
        <p:spPr>
          <a:xfrm>
            <a:off x="3018240" y="3093480"/>
            <a:ext cx="365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300" spc="-1" strike="noStrike">
                <a:solidFill>
                  <a:srgbClr val="1c2a22"/>
                </a:solidFill>
                <a:latin typeface="Cambria"/>
              </a:rPr>
              <a:t>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Rounded Rectangle 21"/>
          <p:cNvSpPr/>
          <p:nvPr/>
        </p:nvSpPr>
        <p:spPr>
          <a:xfrm>
            <a:off x="6053400" y="1874520"/>
            <a:ext cx="542196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4" name="TextBox 22"/>
          <p:cNvSpPr/>
          <p:nvPr/>
        </p:nvSpPr>
        <p:spPr>
          <a:xfrm>
            <a:off x="6373440" y="2148840"/>
            <a:ext cx="4845960" cy="21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Go anti-clockwise from R to P: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RP = RS + SQ + QP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   </a:t>
            </a: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= a + b + (−2a)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   </a:t>
            </a: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= b − 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Since PQ = 2 × RS, PQ is parallel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to RS and twice as long —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equivalently, RS = ½ PQ.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Rounded Rectangle 23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Build the vector you want (RP) from a route of known vectors — here, R → S → Q → P.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7" name="Rounded Rectangle 2"/>
          <p:cNvSpPr/>
          <p:nvPr/>
        </p:nvSpPr>
        <p:spPr>
          <a:xfrm>
            <a:off x="473400" y="820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TextBox 3"/>
          <p:cNvSpPr/>
          <p:nvPr/>
        </p:nvSpPr>
        <p:spPr>
          <a:xfrm>
            <a:off x="1410480" y="1681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PRACTICE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TextBox 4"/>
          <p:cNvSpPr/>
          <p:nvPr/>
        </p:nvSpPr>
        <p:spPr>
          <a:xfrm>
            <a:off x="1251720" y="4860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Name the Vectors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TextBox 5"/>
          <p:cNvSpPr/>
          <p:nvPr/>
        </p:nvSpPr>
        <p:spPr>
          <a:xfrm>
            <a:off x="1022040" y="9360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OABC is a parallelogram with OA = a and OC = c. Write each vector in terms of a and c.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Rounded Rectangle 6"/>
          <p:cNvSpPr/>
          <p:nvPr/>
        </p:nvSpPr>
        <p:spPr>
          <a:xfrm>
            <a:off x="567000" y="1874520"/>
            <a:ext cx="5120280" cy="3520080"/>
          </a:xfrm>
          <a:prstGeom prst="roundRect">
            <a:avLst>
              <a:gd name="adj" fmla="val 350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Rounded Rectangle 21"/>
          <p:cNvSpPr/>
          <p:nvPr/>
        </p:nvSpPr>
        <p:spPr>
          <a:xfrm>
            <a:off x="6053400" y="1134360"/>
            <a:ext cx="5421960" cy="426024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3" name="Rounded Rectangle 23"/>
          <p:cNvSpPr/>
          <p:nvPr/>
        </p:nvSpPr>
        <p:spPr>
          <a:xfrm>
            <a:off x="329400" y="6249240"/>
            <a:ext cx="7335720" cy="58356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Opposite sides of a parallelogram are equal and parallel — reuse vectors you already know.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04" name="Group 5"/>
          <p:cNvGrpSpPr/>
          <p:nvPr/>
        </p:nvGrpSpPr>
        <p:grpSpPr>
          <a:xfrm>
            <a:off x="6664680" y="1561320"/>
            <a:ext cx="4462200" cy="1756080"/>
            <a:chOff x="6664680" y="1561320"/>
            <a:chExt cx="4462200" cy="1756080"/>
          </a:xfrm>
        </p:grpSpPr>
        <p:sp>
          <p:nvSpPr>
            <p:cNvPr id="1305" name="Line 6"/>
            <p:cNvSpPr/>
            <p:nvPr/>
          </p:nvSpPr>
          <p:spPr>
            <a:xfrm>
              <a:off x="6664680" y="3317040"/>
              <a:ext cx="132336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06" name="Line 7"/>
            <p:cNvSpPr/>
            <p:nvPr/>
          </p:nvSpPr>
          <p:spPr>
            <a:xfrm>
              <a:off x="7988040" y="3317040"/>
              <a:ext cx="132336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07" name="Line 8"/>
            <p:cNvSpPr/>
            <p:nvPr/>
          </p:nvSpPr>
          <p:spPr>
            <a:xfrm flipH="1">
              <a:off x="6664680" y="2439000"/>
              <a:ext cx="908280" cy="87804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08" name="Line 9"/>
            <p:cNvSpPr/>
            <p:nvPr/>
          </p:nvSpPr>
          <p:spPr>
            <a:xfrm flipH="1">
              <a:off x="7572960" y="1561320"/>
              <a:ext cx="906840" cy="87768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09" name="Line 10"/>
            <p:cNvSpPr/>
            <p:nvPr/>
          </p:nvSpPr>
          <p:spPr>
            <a:xfrm flipH="1">
              <a:off x="9311400" y="2439000"/>
              <a:ext cx="907200" cy="87804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10" name="Line 11"/>
            <p:cNvSpPr/>
            <p:nvPr/>
          </p:nvSpPr>
          <p:spPr>
            <a:xfrm flipH="1">
              <a:off x="10218600" y="1561320"/>
              <a:ext cx="908280" cy="87768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11" name="Line 12"/>
            <p:cNvSpPr/>
            <p:nvPr/>
          </p:nvSpPr>
          <p:spPr>
            <a:xfrm>
              <a:off x="8479800" y="1561320"/>
              <a:ext cx="132372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12" name="Line 13"/>
            <p:cNvSpPr/>
            <p:nvPr/>
          </p:nvSpPr>
          <p:spPr>
            <a:xfrm>
              <a:off x="9803520" y="1561320"/>
              <a:ext cx="132336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13" name="Group 14"/>
          <p:cNvGrpSpPr/>
          <p:nvPr/>
        </p:nvGrpSpPr>
        <p:grpSpPr>
          <a:xfrm>
            <a:off x="9331560" y="1572480"/>
            <a:ext cx="1776240" cy="1736640"/>
            <a:chOff x="9331560" y="1572480"/>
            <a:chExt cx="1776240" cy="1736640"/>
          </a:xfrm>
        </p:grpSpPr>
        <p:sp>
          <p:nvSpPr>
            <p:cNvPr id="1314" name="Line 15"/>
            <p:cNvSpPr/>
            <p:nvPr/>
          </p:nvSpPr>
          <p:spPr>
            <a:xfrm flipH="1">
              <a:off x="9331560" y="2355120"/>
              <a:ext cx="974520" cy="95400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15" name="Line 16"/>
            <p:cNvSpPr/>
            <p:nvPr/>
          </p:nvSpPr>
          <p:spPr>
            <a:xfrm flipH="1">
              <a:off x="10131480" y="1572480"/>
              <a:ext cx="976320" cy="95400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16" name="Group 17"/>
          <p:cNvGrpSpPr/>
          <p:nvPr/>
        </p:nvGrpSpPr>
        <p:grpSpPr>
          <a:xfrm>
            <a:off x="8434440" y="1562760"/>
            <a:ext cx="2705400" cy="360"/>
            <a:chOff x="8434440" y="1562760"/>
            <a:chExt cx="2705400" cy="360"/>
          </a:xfrm>
        </p:grpSpPr>
        <p:sp>
          <p:nvSpPr>
            <p:cNvPr id="1317" name="Line 18"/>
            <p:cNvSpPr/>
            <p:nvPr/>
          </p:nvSpPr>
          <p:spPr>
            <a:xfrm>
              <a:off x="8434440" y="1562760"/>
              <a:ext cx="1422360" cy="360"/>
            </a:xfrm>
            <a:prstGeom prst="line">
              <a:avLst/>
            </a:prstGeom>
            <a:ln w="38100">
              <a:solidFill>
                <a:srgbClr val="3333ff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18" name="Line 19"/>
            <p:cNvSpPr/>
            <p:nvPr/>
          </p:nvSpPr>
          <p:spPr>
            <a:xfrm>
              <a:off x="9717120" y="1562760"/>
              <a:ext cx="1422720" cy="360"/>
            </a:xfrm>
            <a:prstGeom prst="line">
              <a:avLst/>
            </a:prstGeom>
            <a:ln w="38100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19" name="Text Box 20"/>
          <p:cNvSpPr/>
          <p:nvPr/>
        </p:nvSpPr>
        <p:spPr>
          <a:xfrm flipH="1">
            <a:off x="6296400" y="301860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i="1" lang="en-GB" sz="2400" spc="-1" strike="noStrike">
                <a:solidFill>
                  <a:schemeClr val="dk1"/>
                </a:solidFill>
                <a:latin typeface="Tahoma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Text Box 21"/>
          <p:cNvSpPr/>
          <p:nvPr/>
        </p:nvSpPr>
        <p:spPr>
          <a:xfrm flipH="1">
            <a:off x="8195040" y="113436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i="1" lang="en-GB" sz="2400" spc="-1" strike="noStrike">
                <a:solidFill>
                  <a:schemeClr val="dk1"/>
                </a:solidFill>
                <a:latin typeface="Tahoma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Text Box 22"/>
          <p:cNvSpPr/>
          <p:nvPr/>
        </p:nvSpPr>
        <p:spPr>
          <a:xfrm flipH="1">
            <a:off x="11114280" y="116460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i="1" lang="en-GB" sz="2400" spc="-1" strike="noStrike">
                <a:solidFill>
                  <a:schemeClr val="dk1"/>
                </a:solidFill>
                <a:latin typeface="Tahoma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Text Box 23"/>
          <p:cNvSpPr/>
          <p:nvPr/>
        </p:nvSpPr>
        <p:spPr>
          <a:xfrm flipH="1">
            <a:off x="9411120" y="301068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i="1" lang="en-GB" sz="2400" spc="-1" strike="noStrike">
                <a:solidFill>
                  <a:schemeClr val="dk1"/>
                </a:solidFill>
                <a:latin typeface="Tahoma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Text Box 26"/>
          <p:cNvSpPr/>
          <p:nvPr/>
        </p:nvSpPr>
        <p:spPr>
          <a:xfrm flipH="1">
            <a:off x="7129800" y="208224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1" lang="en-GB" sz="2400" spc="-1" strike="noStrike">
                <a:solidFill>
                  <a:srgbClr val="ff0000"/>
                </a:solidFill>
                <a:latin typeface="Arial Black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Text Box 27"/>
          <p:cNvSpPr/>
          <p:nvPr/>
        </p:nvSpPr>
        <p:spPr>
          <a:xfrm flipH="1">
            <a:off x="10292040" y="222012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1" lang="en-GB" sz="2400" spc="-1" strike="noStrike">
                <a:solidFill>
                  <a:srgbClr val="ff0000"/>
                </a:solidFill>
                <a:latin typeface="Arial Black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Text Box 28"/>
          <p:cNvSpPr/>
          <p:nvPr/>
        </p:nvSpPr>
        <p:spPr>
          <a:xfrm flipH="1">
            <a:off x="7764840" y="333936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1" lang="en-GB" sz="2400" spc="-1" strike="noStrike">
                <a:solidFill>
                  <a:srgbClr val="3333ff"/>
                </a:solidFill>
                <a:latin typeface="Arial Black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Text Box 29"/>
          <p:cNvSpPr/>
          <p:nvPr/>
        </p:nvSpPr>
        <p:spPr>
          <a:xfrm flipH="1">
            <a:off x="9530280" y="107568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1" lang="en-GB" sz="2400" spc="-1" strike="noStrike">
                <a:solidFill>
                  <a:srgbClr val="3333ff"/>
                </a:solidFill>
                <a:latin typeface="Arial Black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27" name="Group 31"/>
          <p:cNvGrpSpPr/>
          <p:nvPr/>
        </p:nvGrpSpPr>
        <p:grpSpPr>
          <a:xfrm>
            <a:off x="6661440" y="3309120"/>
            <a:ext cx="2705040" cy="360"/>
            <a:chOff x="6661440" y="3309120"/>
            <a:chExt cx="2705040" cy="360"/>
          </a:xfrm>
        </p:grpSpPr>
        <p:sp>
          <p:nvSpPr>
            <p:cNvPr id="1328" name="Line 32"/>
            <p:cNvSpPr/>
            <p:nvPr/>
          </p:nvSpPr>
          <p:spPr>
            <a:xfrm>
              <a:off x="6661440" y="3309120"/>
              <a:ext cx="1422360" cy="360"/>
            </a:xfrm>
            <a:prstGeom prst="line">
              <a:avLst/>
            </a:prstGeom>
            <a:ln w="38100">
              <a:solidFill>
                <a:srgbClr val="3333ff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29" name="Line 33"/>
            <p:cNvSpPr/>
            <p:nvPr/>
          </p:nvSpPr>
          <p:spPr>
            <a:xfrm>
              <a:off x="7944120" y="3309120"/>
              <a:ext cx="1422360" cy="360"/>
            </a:xfrm>
            <a:prstGeom prst="line">
              <a:avLst/>
            </a:prstGeom>
            <a:ln w="38100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30" name="Group 34"/>
          <p:cNvGrpSpPr/>
          <p:nvPr/>
        </p:nvGrpSpPr>
        <p:grpSpPr>
          <a:xfrm>
            <a:off x="6686640" y="1572480"/>
            <a:ext cx="1776600" cy="1736640"/>
            <a:chOff x="6686640" y="1572480"/>
            <a:chExt cx="1776600" cy="1736640"/>
          </a:xfrm>
        </p:grpSpPr>
        <p:sp>
          <p:nvSpPr>
            <p:cNvPr id="1331" name="Line 35"/>
            <p:cNvSpPr/>
            <p:nvPr/>
          </p:nvSpPr>
          <p:spPr>
            <a:xfrm flipH="1">
              <a:off x="6686640" y="2355120"/>
              <a:ext cx="976320" cy="95400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32" name="Line 36"/>
            <p:cNvSpPr/>
            <p:nvPr/>
          </p:nvSpPr>
          <p:spPr>
            <a:xfrm flipH="1">
              <a:off x="7488360" y="1572480"/>
              <a:ext cx="974880" cy="95400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33" name="Group 14"/>
          <p:cNvGrpSpPr/>
          <p:nvPr/>
        </p:nvGrpSpPr>
        <p:grpSpPr>
          <a:xfrm>
            <a:off x="9307800" y="1570680"/>
            <a:ext cx="1776240" cy="1736640"/>
            <a:chOff x="9307800" y="1570680"/>
            <a:chExt cx="1776240" cy="1736640"/>
          </a:xfrm>
        </p:grpSpPr>
        <p:sp>
          <p:nvSpPr>
            <p:cNvPr id="1334" name="Line 15"/>
            <p:cNvSpPr/>
            <p:nvPr/>
          </p:nvSpPr>
          <p:spPr>
            <a:xfrm flipV="1">
              <a:off x="10109520" y="1570680"/>
              <a:ext cx="974520" cy="95400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35" name="Line 16"/>
            <p:cNvSpPr/>
            <p:nvPr/>
          </p:nvSpPr>
          <p:spPr>
            <a:xfrm flipV="1">
              <a:off x="9307800" y="2353320"/>
              <a:ext cx="976320" cy="95400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36" name="Text Box 27"/>
          <p:cNvSpPr/>
          <p:nvPr/>
        </p:nvSpPr>
        <p:spPr>
          <a:xfrm flipH="1">
            <a:off x="10268280" y="2218680"/>
            <a:ext cx="707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1" lang="en-GB" sz="2400" spc="-1" strike="noStrike">
                <a:solidFill>
                  <a:srgbClr val="ff0000"/>
                </a:solidFill>
                <a:latin typeface="Arial Black"/>
              </a:rPr>
              <a:t>-a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37" name="Group 5"/>
          <p:cNvGrpSpPr/>
          <p:nvPr/>
        </p:nvGrpSpPr>
        <p:grpSpPr>
          <a:xfrm>
            <a:off x="7155000" y="4501440"/>
            <a:ext cx="4462560" cy="1756080"/>
            <a:chOff x="7155000" y="4501440"/>
            <a:chExt cx="4462560" cy="1756080"/>
          </a:xfrm>
        </p:grpSpPr>
        <p:sp>
          <p:nvSpPr>
            <p:cNvPr id="1338" name="Line 6"/>
            <p:cNvSpPr/>
            <p:nvPr/>
          </p:nvSpPr>
          <p:spPr>
            <a:xfrm>
              <a:off x="7155000" y="6257160"/>
              <a:ext cx="132372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39" name="Line 7"/>
            <p:cNvSpPr/>
            <p:nvPr/>
          </p:nvSpPr>
          <p:spPr>
            <a:xfrm>
              <a:off x="8478720" y="6257160"/>
              <a:ext cx="132336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40" name="Line 8"/>
            <p:cNvSpPr/>
            <p:nvPr/>
          </p:nvSpPr>
          <p:spPr>
            <a:xfrm flipH="1">
              <a:off x="7155000" y="5379120"/>
              <a:ext cx="908640" cy="87804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41" name="Line 9"/>
            <p:cNvSpPr/>
            <p:nvPr/>
          </p:nvSpPr>
          <p:spPr>
            <a:xfrm flipH="1">
              <a:off x="8063640" y="4501440"/>
              <a:ext cx="906840" cy="87768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42" name="Line 10"/>
            <p:cNvSpPr/>
            <p:nvPr/>
          </p:nvSpPr>
          <p:spPr>
            <a:xfrm flipH="1">
              <a:off x="9802080" y="5379120"/>
              <a:ext cx="906840" cy="87804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43" name="Line 11"/>
            <p:cNvSpPr/>
            <p:nvPr/>
          </p:nvSpPr>
          <p:spPr>
            <a:xfrm flipH="1">
              <a:off x="10708920" y="4501440"/>
              <a:ext cx="908640" cy="87768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44" name="Line 12"/>
            <p:cNvSpPr/>
            <p:nvPr/>
          </p:nvSpPr>
          <p:spPr>
            <a:xfrm>
              <a:off x="8970480" y="4501440"/>
              <a:ext cx="132336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45" name="Line 13"/>
            <p:cNvSpPr/>
            <p:nvPr/>
          </p:nvSpPr>
          <p:spPr>
            <a:xfrm>
              <a:off x="10293840" y="4501440"/>
              <a:ext cx="132372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46" name="Text Box 20"/>
          <p:cNvSpPr/>
          <p:nvPr/>
        </p:nvSpPr>
        <p:spPr>
          <a:xfrm flipH="1">
            <a:off x="6787080" y="595872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i="1" lang="en-GB" sz="2400" spc="-1" strike="noStrike">
                <a:solidFill>
                  <a:schemeClr val="dk1"/>
                </a:solidFill>
                <a:latin typeface="Tahoma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Text Box 21"/>
          <p:cNvSpPr/>
          <p:nvPr/>
        </p:nvSpPr>
        <p:spPr>
          <a:xfrm flipH="1">
            <a:off x="8685720" y="407448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i="1" lang="en-GB" sz="2400" spc="-1" strike="noStrike">
                <a:solidFill>
                  <a:schemeClr val="dk1"/>
                </a:solidFill>
                <a:latin typeface="Tahoma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Text Box 22"/>
          <p:cNvSpPr/>
          <p:nvPr/>
        </p:nvSpPr>
        <p:spPr>
          <a:xfrm flipH="1">
            <a:off x="11604960" y="410472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i="1" lang="en-GB" sz="2400" spc="-1" strike="noStrike">
                <a:solidFill>
                  <a:schemeClr val="dk1"/>
                </a:solidFill>
                <a:latin typeface="Tahoma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Text Box 23"/>
          <p:cNvSpPr/>
          <p:nvPr/>
        </p:nvSpPr>
        <p:spPr>
          <a:xfrm flipH="1">
            <a:off x="9901440" y="595080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i="1" lang="en-GB" sz="2400" spc="-1" strike="noStrike">
                <a:solidFill>
                  <a:schemeClr val="dk1"/>
                </a:solidFill>
                <a:latin typeface="Tahoma"/>
              </a:rPr>
              <a:t>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Text Box 26"/>
          <p:cNvSpPr/>
          <p:nvPr/>
        </p:nvSpPr>
        <p:spPr>
          <a:xfrm flipH="1">
            <a:off x="7620480" y="502200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1" lang="en-GB" sz="2400" spc="-1" strike="noStrike">
                <a:solidFill>
                  <a:srgbClr val="ff0000"/>
                </a:solidFill>
                <a:latin typeface="Arial Black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Text Box 28"/>
          <p:cNvSpPr/>
          <p:nvPr/>
        </p:nvSpPr>
        <p:spPr>
          <a:xfrm flipH="1">
            <a:off x="8255520" y="6279480"/>
            <a:ext cx="41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1" lang="en-GB" sz="2400" spc="-1" strike="noStrike">
                <a:solidFill>
                  <a:srgbClr val="3333ff"/>
                </a:solidFill>
                <a:latin typeface="Arial Black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52" name="Group 31"/>
          <p:cNvGrpSpPr/>
          <p:nvPr/>
        </p:nvGrpSpPr>
        <p:grpSpPr>
          <a:xfrm>
            <a:off x="7151760" y="6249240"/>
            <a:ext cx="2705040" cy="360"/>
            <a:chOff x="7151760" y="6249240"/>
            <a:chExt cx="2705040" cy="360"/>
          </a:xfrm>
        </p:grpSpPr>
        <p:sp>
          <p:nvSpPr>
            <p:cNvPr id="1353" name="Line 32"/>
            <p:cNvSpPr/>
            <p:nvPr/>
          </p:nvSpPr>
          <p:spPr>
            <a:xfrm>
              <a:off x="7151760" y="6249240"/>
              <a:ext cx="1422360" cy="360"/>
            </a:xfrm>
            <a:prstGeom prst="line">
              <a:avLst/>
            </a:prstGeom>
            <a:ln w="38100">
              <a:solidFill>
                <a:srgbClr val="3333ff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54" name="Line 33"/>
            <p:cNvSpPr/>
            <p:nvPr/>
          </p:nvSpPr>
          <p:spPr>
            <a:xfrm>
              <a:off x="8434440" y="6249240"/>
              <a:ext cx="1422360" cy="360"/>
            </a:xfrm>
            <a:prstGeom prst="line">
              <a:avLst/>
            </a:prstGeom>
            <a:ln w="38100">
              <a:solidFill>
                <a:srgbClr val="3333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355" name="Group 34"/>
          <p:cNvGrpSpPr/>
          <p:nvPr/>
        </p:nvGrpSpPr>
        <p:grpSpPr>
          <a:xfrm>
            <a:off x="7177320" y="4512240"/>
            <a:ext cx="1776240" cy="1737000"/>
            <a:chOff x="7177320" y="4512240"/>
            <a:chExt cx="1776240" cy="1737000"/>
          </a:xfrm>
        </p:grpSpPr>
        <p:sp>
          <p:nvSpPr>
            <p:cNvPr id="1356" name="Line 35"/>
            <p:cNvSpPr/>
            <p:nvPr/>
          </p:nvSpPr>
          <p:spPr>
            <a:xfrm flipH="1">
              <a:off x="7177320" y="5294880"/>
              <a:ext cx="976320" cy="95436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57" name="Line 36"/>
            <p:cNvSpPr/>
            <p:nvPr/>
          </p:nvSpPr>
          <p:spPr>
            <a:xfrm flipH="1">
              <a:off x="7979040" y="4512240"/>
              <a:ext cx="974520" cy="95436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3" dur="10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7" dur="500" fill="hold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8" dur="500" fill="hold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2" dur="500" fill="hold"/>
                                        <p:tgtEl>
                                          <p:spTgt spid="1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3" dur="500" fill="hold"/>
                                        <p:tgtEl>
                                          <p:spTgt spid="1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5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7" dur="50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" dur="50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500"/>
                            </p:stCondLst>
                            <p:childTnLst>
                              <p:par>
                                <p:cTn id="150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2" dur="50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" dur="50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58" dur="10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2" dur="5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" dur="5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68" dur="10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2" dur="5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3" dur="5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78" dur="10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3" dur="500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4" dur="500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9" dur="10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4" dur="5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5" dur="5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xit" presetID="22" presetSubtype="4">
                                  <p:stCondLst>
                                    <p:cond delay="0"/>
                                  </p:stCondLst>
                                  <p:childTnLst>
                                    <p:animEffect filter="wipe(down)" transition="out">
                                      <p:cBhvr additive="repl">
                                        <p:cTn id="199"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nodeType="withEffect" fill="hold" presetClass="exit" presetID="22" presetSubtype="4">
                                  <p:stCondLst>
                                    <p:cond delay="0"/>
                                  </p:stCondLst>
                                  <p:childTnLst>
                                    <p:animEffect filter="wipe(down)" transition="out">
                                      <p:cBhvr additive="repl">
                                        <p:cTn id="202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08" dur="500"/>
                                        <p:tgtEl>
                                          <p:spTgt spid="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13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7" dur="10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500"/>
                            </p:stCondLst>
                            <p:childTnLst>
                              <p:par>
                                <p:cTn id="219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1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" dur="5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24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6" dur="500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7" dur="500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29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1" dur="5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2" dur="5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3000"/>
                            </p:stCondLst>
                            <p:childTnLst>
                              <p:par>
                                <p:cTn id="234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6" dur="5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7" dur="5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42" dur="1000"/>
                                        <p:tgtEl>
                                          <p:spTgt spid="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4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6" dur="5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7" dur="5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2" dur="1000"/>
                                        <p:tgtEl>
                                          <p:spTgt spid="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000"/>
                            </p:stCondLst>
                            <p:childTnLst>
                              <p:par>
                                <p:cTn id="254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6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9" name="Rounded Rectangle 2"/>
          <p:cNvSpPr/>
          <p:nvPr/>
        </p:nvSpPr>
        <p:spPr>
          <a:xfrm>
            <a:off x="49320" y="8784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0" name="TextBox 3"/>
          <p:cNvSpPr/>
          <p:nvPr/>
        </p:nvSpPr>
        <p:spPr>
          <a:xfrm>
            <a:off x="780840" y="1270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QUICK FIRE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TextBox 4"/>
          <p:cNvSpPr/>
          <p:nvPr/>
        </p:nvSpPr>
        <p:spPr>
          <a:xfrm>
            <a:off x="675360" y="43164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Splitting a Vector by Ratio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TextBox 5"/>
          <p:cNvSpPr/>
          <p:nvPr/>
        </p:nvSpPr>
        <p:spPr>
          <a:xfrm>
            <a:off x="492480" y="9144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The vector z = AB. P lies on AB. Find AP and BP for each ratio AP:PB.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Rounded Rectangle 6"/>
          <p:cNvSpPr/>
          <p:nvPr/>
        </p:nvSpPr>
        <p:spPr>
          <a:xfrm>
            <a:off x="567000" y="1590840"/>
            <a:ext cx="11530800" cy="517032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4" name="TextBox 47"/>
          <p:cNvSpPr/>
          <p:nvPr/>
        </p:nvSpPr>
        <p:spPr>
          <a:xfrm>
            <a:off x="323640" y="2061000"/>
            <a:ext cx="7056360" cy="909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65" name="Straight Connector 48"/>
          <p:cNvCxnSpPr/>
          <p:nvPr/>
        </p:nvCxnSpPr>
        <p:spPr>
          <a:xfrm>
            <a:off x="6372360" y="2392200"/>
            <a:ext cx="518508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66" name="TextBox 7"/>
          <p:cNvSpPr/>
          <p:nvPr/>
        </p:nvSpPr>
        <p:spPr>
          <a:xfrm>
            <a:off x="6136560" y="1747440"/>
            <a:ext cx="502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Arial"/>
              </a:rPr>
              <a:t>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TextBox 8"/>
          <p:cNvSpPr/>
          <p:nvPr/>
        </p:nvSpPr>
        <p:spPr>
          <a:xfrm>
            <a:off x="11233440" y="1590840"/>
            <a:ext cx="504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Arial"/>
              </a:rPr>
              <a:t>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TextBox 9"/>
          <p:cNvSpPr/>
          <p:nvPr/>
        </p:nvSpPr>
        <p:spPr>
          <a:xfrm>
            <a:off x="7957440" y="1706400"/>
            <a:ext cx="504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Arial"/>
              </a:rPr>
              <a:t>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Oval 52"/>
          <p:cNvSpPr/>
          <p:nvPr/>
        </p:nvSpPr>
        <p:spPr>
          <a:xfrm>
            <a:off x="8137800" y="2319480"/>
            <a:ext cx="14256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0" name="Oval 53"/>
          <p:cNvSpPr/>
          <p:nvPr/>
        </p:nvSpPr>
        <p:spPr>
          <a:xfrm>
            <a:off x="6301080" y="231948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1" name="Oval 54"/>
          <p:cNvSpPr/>
          <p:nvPr/>
        </p:nvSpPr>
        <p:spPr>
          <a:xfrm>
            <a:off x="11485800" y="2319480"/>
            <a:ext cx="14256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2" name="TextBox 55"/>
          <p:cNvSpPr/>
          <p:nvPr/>
        </p:nvSpPr>
        <p:spPr>
          <a:xfrm>
            <a:off x="851400" y="4005000"/>
            <a:ext cx="2232000" cy="461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TextBox 14"/>
          <p:cNvSpPr/>
          <p:nvPr/>
        </p:nvSpPr>
        <p:spPr>
          <a:xfrm>
            <a:off x="8338680" y="2468160"/>
            <a:ext cx="504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Arial"/>
              </a:rPr>
              <a:t>z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TextBox 57"/>
          <p:cNvSpPr/>
          <p:nvPr/>
        </p:nvSpPr>
        <p:spPr>
          <a:xfrm>
            <a:off x="845640" y="4887360"/>
            <a:ext cx="2232000" cy="461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TextBox 58"/>
          <p:cNvSpPr/>
          <p:nvPr/>
        </p:nvSpPr>
        <p:spPr>
          <a:xfrm>
            <a:off x="845640" y="5918760"/>
            <a:ext cx="2232000" cy="461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TextBox 59"/>
          <p:cNvSpPr/>
          <p:nvPr/>
        </p:nvSpPr>
        <p:spPr>
          <a:xfrm>
            <a:off x="3785400" y="3285000"/>
            <a:ext cx="1026000" cy="5083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TextBox 60"/>
          <p:cNvSpPr/>
          <p:nvPr/>
        </p:nvSpPr>
        <p:spPr>
          <a:xfrm>
            <a:off x="5748120" y="3285000"/>
            <a:ext cx="1026000" cy="5083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78" name="Straight Connector 61"/>
          <p:cNvCxnSpPr/>
          <p:nvPr/>
        </p:nvCxnSpPr>
        <p:spPr>
          <a:xfrm>
            <a:off x="8728200" y="2176560"/>
            <a:ext cx="236880" cy="2160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379" name="Straight Connector 62"/>
          <p:cNvCxnSpPr/>
          <p:nvPr/>
        </p:nvCxnSpPr>
        <p:spPr>
          <a:xfrm flipV="1">
            <a:off x="8744040" y="2392200"/>
            <a:ext cx="221040" cy="2116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80" name="TextBox 63"/>
          <p:cNvSpPr/>
          <p:nvPr/>
        </p:nvSpPr>
        <p:spPr>
          <a:xfrm>
            <a:off x="3914280" y="3784680"/>
            <a:ext cx="786600" cy="78336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TextBox 64"/>
          <p:cNvSpPr/>
          <p:nvPr/>
        </p:nvSpPr>
        <p:spPr>
          <a:xfrm>
            <a:off x="5867640" y="3811320"/>
            <a:ext cx="906480" cy="78336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TextBox 65"/>
          <p:cNvSpPr/>
          <p:nvPr/>
        </p:nvSpPr>
        <p:spPr>
          <a:xfrm>
            <a:off x="3905280" y="4640400"/>
            <a:ext cx="786600" cy="78336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TextBox 66"/>
          <p:cNvSpPr/>
          <p:nvPr/>
        </p:nvSpPr>
        <p:spPr>
          <a:xfrm>
            <a:off x="5927400" y="4748400"/>
            <a:ext cx="786600" cy="78588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TextBox 67"/>
          <p:cNvSpPr/>
          <p:nvPr/>
        </p:nvSpPr>
        <p:spPr>
          <a:xfrm>
            <a:off x="3910680" y="5757840"/>
            <a:ext cx="786600" cy="78336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85" name="Straight Connector 68"/>
          <p:cNvCxnSpPr/>
          <p:nvPr/>
        </p:nvCxnSpPr>
        <p:spPr>
          <a:xfrm>
            <a:off x="923760" y="3784320"/>
            <a:ext cx="705672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1386" name="Straight Connector 69"/>
          <p:cNvCxnSpPr/>
          <p:nvPr/>
        </p:nvCxnSpPr>
        <p:spPr>
          <a:xfrm flipV="1">
            <a:off x="3516120" y="3284280"/>
            <a:ext cx="360" cy="325800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1387" name="Rectangle 70"/>
          <p:cNvSpPr/>
          <p:nvPr/>
        </p:nvSpPr>
        <p:spPr>
          <a:xfrm>
            <a:off x="3851280" y="3833640"/>
            <a:ext cx="1680840" cy="7347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Rectangle 71"/>
          <p:cNvSpPr/>
          <p:nvPr/>
        </p:nvSpPr>
        <p:spPr>
          <a:xfrm>
            <a:off x="3860640" y="4664160"/>
            <a:ext cx="1680840" cy="8697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Rectangle 72"/>
          <p:cNvSpPr/>
          <p:nvPr/>
        </p:nvSpPr>
        <p:spPr>
          <a:xfrm>
            <a:off x="3851280" y="5756400"/>
            <a:ext cx="1680840" cy="7347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Rectangle 73"/>
          <p:cNvSpPr/>
          <p:nvPr/>
        </p:nvSpPr>
        <p:spPr>
          <a:xfrm>
            <a:off x="5884920" y="3833640"/>
            <a:ext cx="1679040" cy="7347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Rectangle 74"/>
          <p:cNvSpPr/>
          <p:nvPr/>
        </p:nvSpPr>
        <p:spPr>
          <a:xfrm>
            <a:off x="5892840" y="4738680"/>
            <a:ext cx="1679040" cy="8697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TextBox 75"/>
          <p:cNvSpPr/>
          <p:nvPr/>
        </p:nvSpPr>
        <p:spPr>
          <a:xfrm>
            <a:off x="6360840" y="5857200"/>
            <a:ext cx="743040" cy="61056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Rectangle 76"/>
          <p:cNvSpPr/>
          <p:nvPr/>
        </p:nvSpPr>
        <p:spPr>
          <a:xfrm>
            <a:off x="5962680" y="5781600"/>
            <a:ext cx="1680840" cy="7347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8" dur="indefinite" restart="never" nodeType="tmRoot">
          <p:childTnLst>
            <p:seq>
              <p:cTn id="259" restart="whenNotActive" nodeType="interactiveSeq" fill="hold">
                <p:stCondLst>
                  <p:cond delay="0" evt="onClick">
                    <p:tgtEl>
                      <p:spTgt spid="1387"/>
                    </p:tgtEl>
                  </p:cond>
                </p:stCondLst>
                <p:childTnLst>
                  <p:par>
                    <p:cTn id="260" fill="hold">
                      <p:stCondLst>
                        <p:cond delay="0" evt="onClick">
                          <p:tgtEl>
                            <p:spTgt spid="1387"/>
                          </p:tgtEl>
                        </p:cond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63" dur="5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65" restart="whenNotActive" nodeType="interactiveSeq" fill="hold">
                <p:stCondLst>
                  <p:cond delay="0" evt="onClick">
                    <p:tgtEl>
                      <p:spTgt spid="1388"/>
                    </p:tgtEl>
                  </p:cond>
                </p:stCondLst>
                <p:childTnLst>
                  <p:par>
                    <p:cTn id="266" fill="hold">
                      <p:stCondLst>
                        <p:cond delay="0" evt="onClick">
                          <p:tgtEl>
                            <p:spTgt spid="1388"/>
                          </p:tgtEl>
                        </p:cond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69" dur="5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71" restart="whenNotActive" nodeType="interactiveSeq" fill="hold">
                <p:stCondLst>
                  <p:cond delay="0" evt="onClick">
                    <p:tgtEl>
                      <p:spTgt spid="1389"/>
                    </p:tgtEl>
                  </p:cond>
                </p:stCondLst>
                <p:childTnLst>
                  <p:par>
                    <p:cTn id="272" fill="hold">
                      <p:stCondLst>
                        <p:cond delay="0" evt="onClick">
                          <p:tgtEl>
                            <p:spTgt spid="1389"/>
                          </p:tgtEl>
                        </p:cond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75"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77" restart="whenNotActive" nodeType="interactiveSeq" fill="hold">
                <p:stCondLst>
                  <p:cond delay="0" evt="onClick">
                    <p:tgtEl>
                      <p:spTgt spid="1390"/>
                    </p:tgtEl>
                  </p:cond>
                </p:stCondLst>
                <p:childTnLst>
                  <p:par>
                    <p:cTn id="278" fill="hold">
                      <p:stCondLst>
                        <p:cond delay="0" evt="onClick">
                          <p:tgtEl>
                            <p:spTgt spid="1390"/>
                          </p:tgtEl>
                        </p:cond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81"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83" restart="whenNotActive" nodeType="interactiveSeq" fill="hold">
                <p:stCondLst>
                  <p:cond delay="0" evt="onClick">
                    <p:tgtEl>
                      <p:spTgt spid="1391"/>
                    </p:tgtEl>
                  </p:cond>
                </p:stCondLst>
                <p:childTnLst>
                  <p:par>
                    <p:cTn id="284" fill="hold">
                      <p:stCondLst>
                        <p:cond delay="0" evt="onClick">
                          <p:tgtEl>
                            <p:spTgt spid="1391"/>
                          </p:tgtEl>
                        </p:cond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87"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89" restart="whenNotActive" nodeType="interactiveSeq" fill="hold">
                <p:stCondLst>
                  <p:cond delay="0" evt="onClick">
                    <p:tgtEl>
                      <p:spTgt spid="1393"/>
                    </p:tgtEl>
                  </p:cond>
                </p:stCondLst>
                <p:childTnLst>
                  <p:par>
                    <p:cTn id="290" fill="hold">
                      <p:stCondLst>
                        <p:cond delay="0" evt="onClick">
                          <p:tgtEl>
                            <p:spTgt spid="1393"/>
                          </p:tgtEl>
                        </p:cond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93" dur="500"/>
                                        <p:tgtEl>
                                          <p:spTgt spid="1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5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6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PUTTING IT TOGETHER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Combining Portions of Vectors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Rounded Rectangle 6"/>
          <p:cNvSpPr/>
          <p:nvPr/>
        </p:nvSpPr>
        <p:spPr>
          <a:xfrm>
            <a:off x="567000" y="1874520"/>
            <a:ext cx="1105740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9" name="Rounded Rectangle 13"/>
          <p:cNvSpPr/>
          <p:nvPr/>
        </p:nvSpPr>
        <p:spPr>
          <a:xfrm>
            <a:off x="4572000" y="6445800"/>
            <a:ext cx="7052400" cy="49284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50" spc="-1" strike="noStrike">
                <a:solidFill>
                  <a:srgbClr val="e0ac2b"/>
                </a:solidFill>
                <a:latin typeface="Cambria"/>
              </a:rPr>
              <a:t>Break the journey into stages you know, using the given ratios as fractions of each side.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00" name="Straight Connector 41"/>
          <p:cNvCxnSpPr/>
          <p:nvPr/>
        </p:nvCxnSpPr>
        <p:spPr>
          <a:xfrm>
            <a:off x="1258560" y="3092400"/>
            <a:ext cx="360108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grpSp>
        <p:nvGrpSpPr>
          <p:cNvPr id="1401" name="Group 8"/>
          <p:cNvGrpSpPr/>
          <p:nvPr/>
        </p:nvGrpSpPr>
        <p:grpSpPr>
          <a:xfrm>
            <a:off x="2931840" y="2994840"/>
            <a:ext cx="116280" cy="198360"/>
            <a:chOff x="2931840" y="2994840"/>
            <a:chExt cx="116280" cy="198360"/>
          </a:xfrm>
        </p:grpSpPr>
        <p:cxnSp>
          <p:nvCxnSpPr>
            <p:cNvPr id="1402" name="Straight Connector 43"/>
            <p:cNvCxnSpPr/>
            <p:nvPr/>
          </p:nvCxnSpPr>
          <p:spPr>
            <a:xfrm flipV="1">
              <a:off x="2931840" y="3072240"/>
              <a:ext cx="116640" cy="12132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1403" name="Straight Connector 44"/>
            <p:cNvCxnSpPr/>
            <p:nvPr/>
          </p:nvCxnSpPr>
          <p:spPr>
            <a:xfrm>
              <a:off x="2933640" y="2994840"/>
              <a:ext cx="114480" cy="950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  <p:cxnSp>
        <p:nvCxnSpPr>
          <p:cNvPr id="1404" name="Straight Connector 45"/>
          <p:cNvCxnSpPr/>
          <p:nvPr/>
        </p:nvCxnSpPr>
        <p:spPr>
          <a:xfrm flipV="1">
            <a:off x="4859280" y="1268280"/>
            <a:ext cx="2016360" cy="18244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grpSp>
        <p:nvGrpSpPr>
          <p:cNvPr id="1405" name="Group 13"/>
          <p:cNvGrpSpPr/>
          <p:nvPr/>
        </p:nvGrpSpPr>
        <p:grpSpPr>
          <a:xfrm>
            <a:off x="5715720" y="2144520"/>
            <a:ext cx="147600" cy="166680"/>
            <a:chOff x="5715720" y="2144520"/>
            <a:chExt cx="147600" cy="166680"/>
          </a:xfrm>
        </p:grpSpPr>
        <p:cxnSp>
          <p:nvCxnSpPr>
            <p:cNvPr id="1406" name="Straight Connector 47"/>
            <p:cNvCxnSpPr/>
            <p:nvPr/>
          </p:nvCxnSpPr>
          <p:spPr>
            <a:xfrm flipH="1" flipV="1">
              <a:off x="5847120" y="2144520"/>
              <a:ext cx="16560" cy="16704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1407" name="Straight Connector 48"/>
            <p:cNvCxnSpPr/>
            <p:nvPr/>
          </p:nvCxnSpPr>
          <p:spPr>
            <a:xfrm flipV="1">
              <a:off x="5715720" y="2165400"/>
              <a:ext cx="146520" cy="255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</p:grpSp>
      <p:cxnSp>
        <p:nvCxnSpPr>
          <p:cNvPr id="1408" name="Straight Connector 49"/>
          <p:cNvCxnSpPr/>
          <p:nvPr/>
        </p:nvCxnSpPr>
        <p:spPr>
          <a:xfrm flipV="1">
            <a:off x="1258560" y="1253880"/>
            <a:ext cx="5617080" cy="18608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09" name="Oval 50"/>
          <p:cNvSpPr/>
          <p:nvPr/>
        </p:nvSpPr>
        <p:spPr>
          <a:xfrm>
            <a:off x="4749840" y="1878120"/>
            <a:ext cx="14256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0" name="TextBox 51"/>
          <p:cNvSpPr/>
          <p:nvPr/>
        </p:nvSpPr>
        <p:spPr>
          <a:xfrm>
            <a:off x="4572000" y="1416240"/>
            <a:ext cx="320760" cy="461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TextBox 52"/>
          <p:cNvSpPr/>
          <p:nvPr/>
        </p:nvSpPr>
        <p:spPr>
          <a:xfrm>
            <a:off x="1038600" y="2610000"/>
            <a:ext cx="320760" cy="461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TextBox 53"/>
          <p:cNvSpPr/>
          <p:nvPr/>
        </p:nvSpPr>
        <p:spPr>
          <a:xfrm>
            <a:off x="4732560" y="3120120"/>
            <a:ext cx="320760" cy="461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TextBox 54"/>
          <p:cNvSpPr/>
          <p:nvPr/>
        </p:nvSpPr>
        <p:spPr>
          <a:xfrm>
            <a:off x="467640" y="3756600"/>
            <a:ext cx="8424720" cy="12355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Oval 55"/>
          <p:cNvSpPr/>
          <p:nvPr/>
        </p:nvSpPr>
        <p:spPr>
          <a:xfrm>
            <a:off x="3147840" y="302112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5" name="Oval 56"/>
          <p:cNvSpPr/>
          <p:nvPr/>
        </p:nvSpPr>
        <p:spPr>
          <a:xfrm>
            <a:off x="5148360" y="270036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6" name="TextBox 57"/>
          <p:cNvSpPr/>
          <p:nvPr/>
        </p:nvSpPr>
        <p:spPr>
          <a:xfrm>
            <a:off x="2996280" y="3214080"/>
            <a:ext cx="320760" cy="4611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TextBox 58"/>
          <p:cNvSpPr/>
          <p:nvPr/>
        </p:nvSpPr>
        <p:spPr>
          <a:xfrm>
            <a:off x="5292000" y="2727360"/>
            <a:ext cx="320760" cy="46116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TextBox 59"/>
          <p:cNvSpPr/>
          <p:nvPr/>
        </p:nvSpPr>
        <p:spPr>
          <a:xfrm>
            <a:off x="2788560" y="2607120"/>
            <a:ext cx="320760" cy="46116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TextBox 60"/>
          <p:cNvSpPr/>
          <p:nvPr/>
        </p:nvSpPr>
        <p:spPr>
          <a:xfrm>
            <a:off x="5367960" y="1950120"/>
            <a:ext cx="320760" cy="46116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TextBox 61"/>
          <p:cNvSpPr/>
          <p:nvPr/>
        </p:nvSpPr>
        <p:spPr>
          <a:xfrm>
            <a:off x="1619640" y="4835160"/>
            <a:ext cx="2147400" cy="18205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TextBox 62"/>
          <p:cNvSpPr/>
          <p:nvPr/>
        </p:nvSpPr>
        <p:spPr>
          <a:xfrm>
            <a:off x="4650480" y="4857840"/>
            <a:ext cx="3665520" cy="101736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Rectangle 63"/>
          <p:cNvSpPr/>
          <p:nvPr/>
        </p:nvSpPr>
        <p:spPr>
          <a:xfrm>
            <a:off x="2584440" y="4857840"/>
            <a:ext cx="1339560" cy="5806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Rectangle 64"/>
          <p:cNvSpPr/>
          <p:nvPr/>
        </p:nvSpPr>
        <p:spPr>
          <a:xfrm>
            <a:off x="2584440" y="5438880"/>
            <a:ext cx="1339560" cy="5806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Rectangle 65"/>
          <p:cNvSpPr/>
          <p:nvPr/>
        </p:nvSpPr>
        <p:spPr>
          <a:xfrm>
            <a:off x="2584440" y="6019920"/>
            <a:ext cx="1339560" cy="5806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Rectangle 66"/>
          <p:cNvSpPr/>
          <p:nvPr/>
        </p:nvSpPr>
        <p:spPr>
          <a:xfrm>
            <a:off x="5894280" y="4659480"/>
            <a:ext cx="1339560" cy="5792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Rectangle 67"/>
          <p:cNvSpPr/>
          <p:nvPr/>
        </p:nvSpPr>
        <p:spPr>
          <a:xfrm>
            <a:off x="5894280" y="5267160"/>
            <a:ext cx="2061720" cy="5806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5" dur="indefinite" restart="never" nodeType="tmRoot">
          <p:childTnLst>
            <p:seq>
              <p:cTn id="296" restart="whenNotActive" nodeType="interactiveSeq" fill="hold">
                <p:stCondLst>
                  <p:cond delay="0" evt="onClick">
                    <p:tgtEl>
                      <p:spTgt spid="1422"/>
                    </p:tgtEl>
                  </p:cond>
                </p:stCondLst>
                <p:childTnLst>
                  <p:par>
                    <p:cTn id="297" fill="hold">
                      <p:stCondLst>
                        <p:cond delay="0" evt="onClick">
                          <p:tgtEl>
                            <p:spTgt spid="1422"/>
                          </p:tgtEl>
                        </p:cond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00" dur="500"/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02" restart="whenNotActive" nodeType="interactiveSeq" fill="hold">
                <p:stCondLst>
                  <p:cond delay="0" evt="onClick">
                    <p:tgtEl>
                      <p:spTgt spid="1423"/>
                    </p:tgtEl>
                  </p:cond>
                </p:stCondLst>
                <p:childTnLst>
                  <p:par>
                    <p:cTn id="303" fill="hold">
                      <p:stCondLst>
                        <p:cond delay="0" evt="onClick">
                          <p:tgtEl>
                            <p:spTgt spid="1423"/>
                          </p:tgtEl>
                        </p:cond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06" dur="500"/>
                                        <p:tgtEl>
                                          <p:spTgt spid="1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08" restart="whenNotActive" nodeType="interactiveSeq" fill="hold">
                <p:stCondLst>
                  <p:cond delay="0" evt="onClick">
                    <p:tgtEl>
                      <p:spTgt spid="1424"/>
                    </p:tgtEl>
                  </p:cond>
                </p:stCondLst>
                <p:childTnLst>
                  <p:par>
                    <p:cTn id="309" fill="hold">
                      <p:stCondLst>
                        <p:cond delay="0" evt="onClick">
                          <p:tgtEl>
                            <p:spTgt spid="1424"/>
                          </p:tgtEl>
                        </p:cond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12" dur="500"/>
                                        <p:tgtEl>
                                          <p:spTgt spid="1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14" restart="whenNotActive" nodeType="interactiveSeq" fill="hold">
                <p:stCondLst>
                  <p:cond delay="0" evt="onClick">
                    <p:tgtEl>
                      <p:spTgt spid="1425"/>
                    </p:tgtEl>
                  </p:cond>
                </p:stCondLst>
                <p:childTnLst>
                  <p:par>
                    <p:cTn id="315" fill="hold">
                      <p:stCondLst>
                        <p:cond delay="0" evt="onClick">
                          <p:tgtEl>
                            <p:spTgt spid="1425"/>
                          </p:tgtEl>
                        </p:cond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18" dur="500"/>
                                        <p:tgtEl>
                                          <p:spTgt spid="1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20" restart="whenNotActive" nodeType="interactiveSeq" fill="hold">
                <p:stCondLst>
                  <p:cond delay="0" evt="onClick">
                    <p:tgtEl>
                      <p:spTgt spid="1426"/>
                    </p:tgtEl>
                  </p:cond>
                </p:stCondLst>
                <p:childTnLst>
                  <p:par>
                    <p:cTn id="321" fill="hold">
                      <p:stCondLst>
                        <p:cond delay="0" evt="onClick">
                          <p:tgtEl>
                            <p:spTgt spid="1426"/>
                          </p:tgtEl>
                        </p:cond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24" dur="500"/>
                                        <p:tgtEl>
                                          <p:spTgt spid="1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 TECHNIQUE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How to Answer a Vector-Geometry Question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Shape 39"/>
          <p:cNvSpPr/>
          <p:nvPr/>
        </p:nvSpPr>
        <p:spPr>
          <a:xfrm>
            <a:off x="567000" y="132588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7" name="Text 40"/>
          <p:cNvSpPr/>
          <p:nvPr/>
        </p:nvSpPr>
        <p:spPr>
          <a:xfrm>
            <a:off x="887040" y="132588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These questions look hard but follow the same routine.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hape 41"/>
          <p:cNvSpPr/>
          <p:nvPr/>
        </p:nvSpPr>
        <p:spPr>
          <a:xfrm>
            <a:off x="567000" y="21945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Shape 42"/>
          <p:cNvSpPr/>
          <p:nvPr/>
        </p:nvSpPr>
        <p:spPr>
          <a:xfrm>
            <a:off x="868680" y="23684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0" name="Text 43"/>
          <p:cNvSpPr/>
          <p:nvPr/>
        </p:nvSpPr>
        <p:spPr>
          <a:xfrm>
            <a:off x="868680" y="2368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Text 44"/>
          <p:cNvSpPr/>
          <p:nvPr/>
        </p:nvSpPr>
        <p:spPr>
          <a:xfrm>
            <a:off x="1508760" y="21945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Write down the vectors you are GIVEN (e.g. OA = a, OB = b).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Shape 45"/>
          <p:cNvSpPr/>
          <p:nvPr/>
        </p:nvSpPr>
        <p:spPr>
          <a:xfrm>
            <a:off x="567000" y="31089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Shape 46"/>
          <p:cNvSpPr/>
          <p:nvPr/>
        </p:nvSpPr>
        <p:spPr>
          <a:xfrm>
            <a:off x="868680" y="3282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4" name="Text 47"/>
          <p:cNvSpPr/>
          <p:nvPr/>
        </p:nvSpPr>
        <p:spPr>
          <a:xfrm>
            <a:off x="868680" y="3282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Text 48"/>
          <p:cNvSpPr/>
          <p:nvPr/>
        </p:nvSpPr>
        <p:spPr>
          <a:xfrm>
            <a:off x="1508760" y="31089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Find the vector you want by travelling along known vectors.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Shape 49"/>
          <p:cNvSpPr/>
          <p:nvPr/>
        </p:nvSpPr>
        <p:spPr>
          <a:xfrm>
            <a:off x="567000" y="40233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Shape 50"/>
          <p:cNvSpPr/>
          <p:nvPr/>
        </p:nvSpPr>
        <p:spPr>
          <a:xfrm>
            <a:off x="868680" y="41972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8" name="Text 51"/>
          <p:cNvSpPr/>
          <p:nvPr/>
        </p:nvSpPr>
        <p:spPr>
          <a:xfrm>
            <a:off x="868680" y="419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Text 52"/>
          <p:cNvSpPr/>
          <p:nvPr/>
        </p:nvSpPr>
        <p:spPr>
          <a:xfrm>
            <a:off x="1508760" y="40233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Use ratios to find fractions of a line (AP:PB = 2:3 → ⅗).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Shape 53"/>
          <p:cNvSpPr/>
          <p:nvPr/>
        </p:nvSpPr>
        <p:spPr>
          <a:xfrm>
            <a:off x="567000" y="49377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Shape 54"/>
          <p:cNvSpPr/>
          <p:nvPr/>
        </p:nvSpPr>
        <p:spPr>
          <a:xfrm>
            <a:off x="868680" y="51116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2" name="Text 55"/>
          <p:cNvSpPr/>
          <p:nvPr/>
        </p:nvSpPr>
        <p:spPr>
          <a:xfrm>
            <a:off x="868680" y="511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Text 56"/>
          <p:cNvSpPr/>
          <p:nvPr/>
        </p:nvSpPr>
        <p:spPr>
          <a:xfrm>
            <a:off x="1508760" y="49377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To prove PARALLEL or a straight line: show one vector = k × another.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Text 57"/>
          <p:cNvSpPr/>
          <p:nvPr/>
        </p:nvSpPr>
        <p:spPr>
          <a:xfrm>
            <a:off x="567000" y="6080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If two vectors are multiples of each other AND share a point, the three points are in a straight line.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6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7" name="TextBox 3"/>
          <p:cNvSpPr/>
          <p:nvPr/>
        </p:nvSpPr>
        <p:spPr>
          <a:xfrm>
            <a:off x="1325880" y="4435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 </a:t>
            </a: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QUESTION 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TextBox 4"/>
          <p:cNvSpPr/>
          <p:nvPr/>
        </p:nvSpPr>
        <p:spPr>
          <a:xfrm>
            <a:off x="1325880" y="718920"/>
            <a:ext cx="987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</a:rPr>
              <a:t>ABCD is a Parallelogram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Rounded Rectangle 5"/>
          <p:cNvSpPr/>
          <p:nvPr/>
        </p:nvSpPr>
        <p:spPr>
          <a:xfrm>
            <a:off x="567000" y="1417320"/>
            <a:ext cx="11057400" cy="566640"/>
          </a:xfrm>
          <a:prstGeom prst="roundRect">
            <a:avLst>
              <a:gd name="adj" fmla="val 18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libri"/>
              </a:rPr>
              <a:t>ABCD is a parallelogram with AB = DC = p and DA = CB = q.  Find:  (i) DA   (ii) CD   (iii) DB   (iv) AC   (v) CA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Rounded Rectangle 6"/>
          <p:cNvSpPr/>
          <p:nvPr/>
        </p:nvSpPr>
        <p:spPr>
          <a:xfrm>
            <a:off x="567000" y="2148840"/>
            <a:ext cx="507456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1" name="Rounded Rectangle 25"/>
          <p:cNvSpPr/>
          <p:nvPr/>
        </p:nvSpPr>
        <p:spPr>
          <a:xfrm>
            <a:off x="5961960" y="2148840"/>
            <a:ext cx="566244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2" name="TextBox 26"/>
          <p:cNvSpPr/>
          <p:nvPr/>
        </p:nvSpPr>
        <p:spPr>
          <a:xfrm>
            <a:off x="6236280" y="2377440"/>
            <a:ext cx="5113800" cy="27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(i)  DA = q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(opposite sides parallel, equal length)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(ii)  CD = −p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(opposite sides parallel, opposite dir.)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(iii)  DB = q + p   (via A)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p + q   (via C)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(iv)  AC = p − q   (via B)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(v)  CA = −AC = −(p−q) = q − 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Rounded Rectangle 27"/>
          <p:cNvSpPr/>
          <p:nvPr/>
        </p:nvSpPr>
        <p:spPr>
          <a:xfrm>
            <a:off x="567000" y="5623560"/>
            <a:ext cx="11057400" cy="73116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</a:rPr>
              <a:t>Opposite sides of a parallelogram are equal and parallel — reuse p and q to build every vector you need.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94" name="Group 92"/>
          <p:cNvGrpSpPr/>
          <p:nvPr/>
        </p:nvGrpSpPr>
        <p:grpSpPr>
          <a:xfrm>
            <a:off x="1984320" y="2847600"/>
            <a:ext cx="1981080" cy="1276200"/>
            <a:chOff x="1984320" y="2847600"/>
            <a:chExt cx="1981080" cy="1276200"/>
          </a:xfrm>
        </p:grpSpPr>
        <p:sp>
          <p:nvSpPr>
            <p:cNvPr id="1495" name="Line 90"/>
            <p:cNvSpPr/>
            <p:nvPr/>
          </p:nvSpPr>
          <p:spPr>
            <a:xfrm>
              <a:off x="1984320" y="2847600"/>
              <a:ext cx="1981080" cy="1276200"/>
            </a:xfrm>
            <a:prstGeom prst="line">
              <a:avLst/>
            </a:prstGeom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96" name="AutoShape 91"/>
            <p:cNvSpPr/>
            <p:nvPr/>
          </p:nvSpPr>
          <p:spPr>
            <a:xfrm rot="7607400">
              <a:off x="2873520" y="3346200"/>
              <a:ext cx="180720" cy="24732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497" name="Group 106"/>
          <p:cNvGrpSpPr/>
          <p:nvPr/>
        </p:nvGrpSpPr>
        <p:grpSpPr>
          <a:xfrm>
            <a:off x="1966680" y="2835000"/>
            <a:ext cx="1981080" cy="1276200"/>
            <a:chOff x="1966680" y="2835000"/>
            <a:chExt cx="1981080" cy="1276200"/>
          </a:xfrm>
        </p:grpSpPr>
        <p:sp>
          <p:nvSpPr>
            <p:cNvPr id="1498" name="Line 94"/>
            <p:cNvSpPr/>
            <p:nvPr/>
          </p:nvSpPr>
          <p:spPr>
            <a:xfrm flipH="1" flipV="1">
              <a:off x="1966680" y="2835000"/>
              <a:ext cx="1981080" cy="1276200"/>
            </a:xfrm>
            <a:prstGeom prst="line">
              <a:avLst/>
            </a:prstGeom>
            <a:ln w="952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99" name="AutoShape 95"/>
            <p:cNvSpPr/>
            <p:nvPr/>
          </p:nvSpPr>
          <p:spPr>
            <a:xfrm rot="18407400">
              <a:off x="3119040" y="3517920"/>
              <a:ext cx="180720" cy="24732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500" name="Text Box 18"/>
          <p:cNvSpPr/>
          <p:nvPr/>
        </p:nvSpPr>
        <p:spPr>
          <a:xfrm>
            <a:off x="2933640" y="2454120"/>
            <a:ext cx="590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Text Box 25"/>
          <p:cNvSpPr/>
          <p:nvPr/>
        </p:nvSpPr>
        <p:spPr>
          <a:xfrm>
            <a:off x="1555920" y="24858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Text Box 26"/>
          <p:cNvSpPr/>
          <p:nvPr/>
        </p:nvSpPr>
        <p:spPr>
          <a:xfrm>
            <a:off x="4896000" y="258732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Text Box 27"/>
          <p:cNvSpPr/>
          <p:nvPr/>
        </p:nvSpPr>
        <p:spPr>
          <a:xfrm>
            <a:off x="4102200" y="400032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Text Box 28"/>
          <p:cNvSpPr/>
          <p:nvPr/>
        </p:nvSpPr>
        <p:spPr>
          <a:xfrm>
            <a:off x="539640" y="3965400"/>
            <a:ext cx="64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Text Box 30"/>
          <p:cNvSpPr/>
          <p:nvPr/>
        </p:nvSpPr>
        <p:spPr>
          <a:xfrm>
            <a:off x="4489560" y="3342960"/>
            <a:ext cx="590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" name="AutoShape 31"/>
          <p:cNvSpPr/>
          <p:nvPr/>
        </p:nvSpPr>
        <p:spPr>
          <a:xfrm rot="5400000">
            <a:off x="3299040" y="2698200"/>
            <a:ext cx="171000" cy="30456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7" name="AutoShape 33"/>
          <p:cNvSpPr/>
          <p:nvPr/>
        </p:nvSpPr>
        <p:spPr>
          <a:xfrm rot="2328000">
            <a:off x="4368600" y="3331800"/>
            <a:ext cx="174240" cy="30456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8" name="AutoShape 35"/>
          <p:cNvSpPr/>
          <p:nvPr/>
        </p:nvSpPr>
        <p:spPr>
          <a:xfrm>
            <a:off x="1003320" y="2847600"/>
            <a:ext cx="3962160" cy="1275840"/>
          </a:xfrm>
          <a:prstGeom prst="parallelogram">
            <a:avLst>
              <a:gd name="adj" fmla="val 77612"/>
            </a:avLst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509" name="Group 105"/>
          <p:cNvGrpSpPr/>
          <p:nvPr/>
        </p:nvGrpSpPr>
        <p:grpSpPr>
          <a:xfrm>
            <a:off x="1022040" y="2854080"/>
            <a:ext cx="3911760" cy="1257120"/>
            <a:chOff x="1022040" y="2854080"/>
            <a:chExt cx="3911760" cy="1257120"/>
          </a:xfrm>
        </p:grpSpPr>
        <p:sp>
          <p:nvSpPr>
            <p:cNvPr id="1510" name="Line 103"/>
            <p:cNvSpPr/>
            <p:nvPr/>
          </p:nvSpPr>
          <p:spPr>
            <a:xfrm flipV="1">
              <a:off x="1022040" y="2854080"/>
              <a:ext cx="3911760" cy="1257120"/>
            </a:xfrm>
            <a:prstGeom prst="line">
              <a:avLst/>
            </a:prstGeom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11" name="AutoShape 104"/>
            <p:cNvSpPr/>
            <p:nvPr/>
          </p:nvSpPr>
          <p:spPr>
            <a:xfrm rot="4008000">
              <a:off x="2641680" y="3450960"/>
              <a:ext cx="209160" cy="24084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6" dur="indefinite" restart="never" nodeType="tmRoot">
          <p:childTnLst>
            <p:seq>
              <p:cTn id="327" dur="indefinite" nodeType="mainSeq">
                <p:childTnLst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32" dur="10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3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37"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35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2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42"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4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3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47"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3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4" name="TextBox 3"/>
          <p:cNvSpPr/>
          <p:nvPr/>
        </p:nvSpPr>
        <p:spPr>
          <a:xfrm>
            <a:off x="1325880" y="4435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 </a:t>
            </a: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QUESTION 2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TextBox 4"/>
          <p:cNvSpPr/>
          <p:nvPr/>
        </p:nvSpPr>
        <p:spPr>
          <a:xfrm>
            <a:off x="1325880" y="718920"/>
            <a:ext cx="987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</a:rPr>
              <a:t>AB = a, BC = b, FC = 4a, DE = 3a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Rounded Rectangle 5"/>
          <p:cNvSpPr/>
          <p:nvPr/>
        </p:nvSpPr>
        <p:spPr>
          <a:xfrm>
            <a:off x="567000" y="1417320"/>
            <a:ext cx="11057400" cy="566640"/>
          </a:xfrm>
          <a:prstGeom prst="roundRect">
            <a:avLst>
              <a:gd name="adj" fmla="val 18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libri"/>
              </a:rPr>
              <a:t>Find:  (i) AC   (ii) FA   (iii) FD   (iv) DC   (v) AE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Rounded Rectangle 6"/>
          <p:cNvSpPr/>
          <p:nvPr/>
        </p:nvSpPr>
        <p:spPr>
          <a:xfrm>
            <a:off x="567000" y="2148840"/>
            <a:ext cx="5394600" cy="36136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8" name="Rounded Rectangle 27"/>
          <p:cNvSpPr/>
          <p:nvPr/>
        </p:nvSpPr>
        <p:spPr>
          <a:xfrm>
            <a:off x="6282000" y="2148840"/>
            <a:ext cx="5342400" cy="36136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9" name="TextBox 28"/>
          <p:cNvSpPr/>
          <p:nvPr/>
        </p:nvSpPr>
        <p:spPr>
          <a:xfrm>
            <a:off x="6556320" y="2377440"/>
            <a:ext cx="4793760" cy="23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(i)  AC = a + 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(ii)  FA = 4a − b − a = 3a − 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(iii)  FD = b + 3a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(iv)  DC = −3a − b + 4a = a − 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(v)  AE = AF + b = −FA + 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−(3a−b) + b = 2b − 3a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Rounded Rectangle 29"/>
          <p:cNvSpPr/>
          <p:nvPr/>
        </p:nvSpPr>
        <p:spPr>
          <a:xfrm>
            <a:off x="567000" y="5860800"/>
            <a:ext cx="11057400" cy="73116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</a:rPr>
              <a:t>Build each unknown vector from a route of edges you already know — direction matters, so watch every sign.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21" name="Group 70"/>
          <p:cNvGrpSpPr/>
          <p:nvPr/>
        </p:nvGrpSpPr>
        <p:grpSpPr>
          <a:xfrm>
            <a:off x="643320" y="2024280"/>
            <a:ext cx="5034960" cy="3735720"/>
            <a:chOff x="643320" y="2024280"/>
            <a:chExt cx="5034960" cy="3735720"/>
          </a:xfrm>
        </p:grpSpPr>
        <p:sp>
          <p:nvSpPr>
            <p:cNvPr id="1522" name="Text Box 23"/>
            <p:cNvSpPr/>
            <p:nvPr/>
          </p:nvSpPr>
          <p:spPr>
            <a:xfrm>
              <a:off x="2522880" y="2195640"/>
              <a:ext cx="647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3" name="Text Box 24"/>
            <p:cNvSpPr/>
            <p:nvPr/>
          </p:nvSpPr>
          <p:spPr>
            <a:xfrm>
              <a:off x="3729240" y="2125800"/>
              <a:ext cx="647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4" name="Text Box 25"/>
            <p:cNvSpPr/>
            <p:nvPr/>
          </p:nvSpPr>
          <p:spPr>
            <a:xfrm>
              <a:off x="5031000" y="3329280"/>
              <a:ext cx="647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C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5" name="Text Box 26"/>
            <p:cNvSpPr/>
            <p:nvPr/>
          </p:nvSpPr>
          <p:spPr>
            <a:xfrm>
              <a:off x="5011920" y="5218200"/>
              <a:ext cx="647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D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6" name="Text Box 27"/>
            <p:cNvSpPr/>
            <p:nvPr/>
          </p:nvSpPr>
          <p:spPr>
            <a:xfrm>
              <a:off x="3189600" y="2024280"/>
              <a:ext cx="590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7" name="AutoShape 28"/>
            <p:cNvSpPr/>
            <p:nvPr/>
          </p:nvSpPr>
          <p:spPr>
            <a:xfrm rot="5400000">
              <a:off x="2994480" y="3431880"/>
              <a:ext cx="171000" cy="30456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28" name="Freeform 56"/>
            <p:cNvSpPr/>
            <p:nvPr/>
          </p:nvSpPr>
          <p:spPr>
            <a:xfrm>
              <a:off x="1074960" y="2487600"/>
              <a:ext cx="3990600" cy="2869920"/>
            </a:xfrm>
            <a:custGeom>
              <a:avLst/>
              <a:gdLst>
                <a:gd name="textAreaLeft" fmla="*/ 0 w 3990600"/>
                <a:gd name="textAreaRight" fmla="*/ 3990960 w 3990600"/>
                <a:gd name="textAreaTop" fmla="*/ 0 h 2869920"/>
                <a:gd name="textAreaBottom" fmla="*/ 2870280 h 2869920"/>
              </a:gdLst>
              <a:ahLst/>
              <a:rect l="textAreaLeft" t="textAreaTop" r="textAreaRight" b="textAreaBottom"/>
              <a:pathLst>
                <a:path w="2514" h="1808">
                  <a:moveTo>
                    <a:pt x="996" y="1808"/>
                  </a:moveTo>
                  <a:lnTo>
                    <a:pt x="2514" y="1805"/>
                  </a:lnTo>
                  <a:lnTo>
                    <a:pt x="2514" y="689"/>
                  </a:lnTo>
                  <a:lnTo>
                    <a:pt x="1725" y="0"/>
                  </a:lnTo>
                  <a:lnTo>
                    <a:pt x="1180" y="0"/>
                  </a:lnTo>
                  <a:lnTo>
                    <a:pt x="0" y="692"/>
                  </a:lnTo>
                  <a:lnTo>
                    <a:pt x="996" y="1808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29" name="Line 57"/>
            <p:cNvSpPr/>
            <p:nvPr/>
          </p:nvSpPr>
          <p:spPr>
            <a:xfrm>
              <a:off x="1071720" y="3581280"/>
              <a:ext cx="3979800" cy="360"/>
            </a:xfrm>
            <a:prstGeom prst="line">
              <a:avLst/>
            </a:prstGeom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30" name="Text Box 59"/>
            <p:cNvSpPr/>
            <p:nvPr/>
          </p:nvSpPr>
          <p:spPr>
            <a:xfrm>
              <a:off x="2084760" y="5262840"/>
              <a:ext cx="647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1" name="Text Box 60"/>
            <p:cNvSpPr/>
            <p:nvPr/>
          </p:nvSpPr>
          <p:spPr>
            <a:xfrm>
              <a:off x="643320" y="3402000"/>
              <a:ext cx="647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F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2" name="AutoShape 61"/>
            <p:cNvSpPr/>
            <p:nvPr/>
          </p:nvSpPr>
          <p:spPr>
            <a:xfrm rot="5400000">
              <a:off x="3605760" y="5176800"/>
              <a:ext cx="171000" cy="30456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33" name="AutoShape 62"/>
            <p:cNvSpPr/>
            <p:nvPr/>
          </p:nvSpPr>
          <p:spPr>
            <a:xfrm rot="5400000">
              <a:off x="3319920" y="2338200"/>
              <a:ext cx="171000" cy="30456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34" name="AutoShape 63"/>
            <p:cNvSpPr/>
            <p:nvPr/>
          </p:nvSpPr>
          <p:spPr>
            <a:xfrm rot="8328600">
              <a:off x="4317120" y="2816280"/>
              <a:ext cx="171000" cy="30456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35" name="AutoShape 64"/>
            <p:cNvSpPr/>
            <p:nvPr/>
          </p:nvSpPr>
          <p:spPr>
            <a:xfrm rot="8637600">
              <a:off x="1942200" y="4489560"/>
              <a:ext cx="171000" cy="30456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36" name="Text Box 65"/>
            <p:cNvSpPr/>
            <p:nvPr/>
          </p:nvSpPr>
          <p:spPr>
            <a:xfrm>
              <a:off x="4443840" y="2664000"/>
              <a:ext cx="590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7" name="Text Box 66"/>
            <p:cNvSpPr/>
            <p:nvPr/>
          </p:nvSpPr>
          <p:spPr>
            <a:xfrm>
              <a:off x="3016440" y="3141720"/>
              <a:ext cx="590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4a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8" name="Text Box 67"/>
            <p:cNvSpPr/>
            <p:nvPr/>
          </p:nvSpPr>
          <p:spPr>
            <a:xfrm>
              <a:off x="3360960" y="5396040"/>
              <a:ext cx="590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3a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9" name="Text Box 68"/>
            <p:cNvSpPr/>
            <p:nvPr/>
          </p:nvSpPr>
          <p:spPr>
            <a:xfrm>
              <a:off x="1545120" y="4437360"/>
              <a:ext cx="5900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8" dur="indefinite" restart="never" nodeType="tmRoot">
          <p:childTnLst>
            <p:seq>
              <p:cTn id="349" dur="indefinite" nodeType="mainSeq">
                <p:childTnLst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54" dur="5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1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" name="TextBox 3"/>
          <p:cNvSpPr/>
          <p:nvPr/>
        </p:nvSpPr>
        <p:spPr>
          <a:xfrm>
            <a:off x="1325880" y="4435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QUESTION 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TextBox 4"/>
          <p:cNvSpPr/>
          <p:nvPr/>
        </p:nvSpPr>
        <p:spPr>
          <a:xfrm>
            <a:off x="1325880" y="718920"/>
            <a:ext cx="987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</a:rPr>
              <a:t>OABCDEF is a Regular Hexagon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4" name="Rounded Rectangle 5"/>
          <p:cNvSpPr/>
          <p:nvPr/>
        </p:nvSpPr>
        <p:spPr>
          <a:xfrm>
            <a:off x="567000" y="1417320"/>
            <a:ext cx="11057400" cy="566640"/>
          </a:xfrm>
          <a:prstGeom prst="roundRect">
            <a:avLst>
              <a:gd name="adj" fmla="val 18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libri"/>
              </a:rPr>
              <a:t>O is the centre. Given the usual vectors a and b, and remembering opposite sides of a regular hexagon are parallel, find:  (i) FC  (ii) DA  (iii) EB  (iv) EA  (v) FD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Rounded Rectangle 6"/>
          <p:cNvSpPr/>
          <p:nvPr/>
        </p:nvSpPr>
        <p:spPr>
          <a:xfrm>
            <a:off x="567000" y="2148840"/>
            <a:ext cx="4754520" cy="36828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6" name="Rounded Rectangle 31"/>
          <p:cNvSpPr/>
          <p:nvPr/>
        </p:nvSpPr>
        <p:spPr>
          <a:xfrm>
            <a:off x="5641920" y="2148840"/>
            <a:ext cx="5982480" cy="36828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7" name="TextBox 32"/>
          <p:cNvSpPr/>
          <p:nvPr/>
        </p:nvSpPr>
        <p:spPr>
          <a:xfrm>
            <a:off x="5916240" y="2377440"/>
            <a:ext cx="5433840" cy="25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(i)  FC = 2a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(ii)  DA = −2b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(iii)  EB = EF+FO+OA+AB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−b + a − b + 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2a − 2b = 2(a−b)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(iv)  EA = EB − a = a − 2b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(v)  FD = b + 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8" name="Rounded Rectangle 33"/>
          <p:cNvSpPr/>
          <p:nvPr/>
        </p:nvSpPr>
        <p:spPr>
          <a:xfrm>
            <a:off x="567000" y="6086880"/>
            <a:ext cx="11057400" cy="73116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</a:rPr>
              <a:t>Remember: opposite sides of a regular hexagon are parallel — use that to shortcut long routes.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49" name="Group 92"/>
          <p:cNvGrpSpPr/>
          <p:nvPr/>
        </p:nvGrpSpPr>
        <p:grpSpPr>
          <a:xfrm>
            <a:off x="790560" y="1283760"/>
            <a:ext cx="6179760" cy="4545720"/>
            <a:chOff x="790560" y="1283760"/>
            <a:chExt cx="6179760" cy="4545720"/>
          </a:xfrm>
        </p:grpSpPr>
        <p:grpSp>
          <p:nvGrpSpPr>
            <p:cNvPr id="1550" name="Group 4"/>
            <p:cNvGrpSpPr/>
            <p:nvPr/>
          </p:nvGrpSpPr>
          <p:grpSpPr>
            <a:xfrm>
              <a:off x="790560" y="1283760"/>
              <a:ext cx="6179760" cy="392760"/>
              <a:chOff x="790560" y="1283760"/>
              <a:chExt cx="6179760" cy="392760"/>
            </a:xfrm>
          </p:grpSpPr>
          <p:sp>
            <p:nvSpPr>
              <p:cNvPr id="1551" name="Text Box 6"/>
              <p:cNvSpPr/>
              <p:nvPr/>
            </p:nvSpPr>
            <p:spPr>
              <a:xfrm>
                <a:off x="790560" y="1301400"/>
                <a:ext cx="5331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rgbClr val="000000"/>
                    </a:solidFill>
                    <a:latin typeface="Symbol"/>
                  </a:rPr>
                  <a:t>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2" name="Text Box 7"/>
              <p:cNvSpPr/>
              <p:nvPr/>
            </p:nvSpPr>
            <p:spPr>
              <a:xfrm>
                <a:off x="2206800" y="1312560"/>
                <a:ext cx="5331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rgbClr val="000000"/>
                    </a:solidFill>
                    <a:latin typeface="Symbol"/>
                  </a:rPr>
                  <a:t>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3" name="Text Box 8"/>
              <p:cNvSpPr/>
              <p:nvPr/>
            </p:nvSpPr>
            <p:spPr>
              <a:xfrm>
                <a:off x="3413160" y="1283760"/>
                <a:ext cx="5331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rgbClr val="000000"/>
                    </a:solidFill>
                    <a:latin typeface="Symbol"/>
                  </a:rPr>
                  <a:t>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4" name="Text Box 9"/>
              <p:cNvSpPr/>
              <p:nvPr/>
            </p:nvSpPr>
            <p:spPr>
              <a:xfrm>
                <a:off x="4925880" y="1294920"/>
                <a:ext cx="5331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rgbClr val="000000"/>
                    </a:solidFill>
                    <a:latin typeface="Symbol"/>
                  </a:rPr>
                  <a:t>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5" name="Text Box 10"/>
              <p:cNvSpPr/>
              <p:nvPr/>
            </p:nvSpPr>
            <p:spPr>
              <a:xfrm>
                <a:off x="6437160" y="1290240"/>
                <a:ext cx="53316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rgbClr val="000000"/>
                    </a:solidFill>
                    <a:latin typeface="Symbol"/>
                  </a:rPr>
                  <a:t>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556" name="Group 91"/>
            <p:cNvGrpSpPr/>
            <p:nvPr/>
          </p:nvGrpSpPr>
          <p:grpSpPr>
            <a:xfrm>
              <a:off x="1149480" y="2319120"/>
              <a:ext cx="4149000" cy="3510360"/>
              <a:chOff x="1149480" y="2319120"/>
              <a:chExt cx="4149000" cy="3510360"/>
            </a:xfrm>
          </p:grpSpPr>
          <p:sp>
            <p:nvSpPr>
              <p:cNvPr id="1557" name="Text Box 20"/>
              <p:cNvSpPr/>
              <p:nvPr/>
            </p:nvSpPr>
            <p:spPr>
              <a:xfrm>
                <a:off x="4651200" y="4100040"/>
                <a:ext cx="647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en-GB" sz="1800" spc="-1" strike="noStrike">
                    <a:solidFill>
                      <a:srgbClr val="000000"/>
                    </a:solidFill>
                    <a:latin typeface="Arial"/>
                  </a:rPr>
                  <a:t>C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8" name="Text Box 22"/>
              <p:cNvSpPr/>
              <p:nvPr/>
            </p:nvSpPr>
            <p:spPr>
              <a:xfrm>
                <a:off x="2990880" y="2319120"/>
                <a:ext cx="5900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1" lang="en-GB" sz="1800" spc="-1" strike="noStrike">
                    <a:solidFill>
                      <a:srgbClr val="000000"/>
                    </a:solidFill>
                    <a:latin typeface="Arial"/>
                  </a:rPr>
                  <a:t>a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559" name="Group 63"/>
              <p:cNvGrpSpPr/>
              <p:nvPr/>
            </p:nvGrpSpPr>
            <p:grpSpPr>
              <a:xfrm>
                <a:off x="1149480" y="2534760"/>
                <a:ext cx="3828240" cy="3294720"/>
                <a:chOff x="1149480" y="2534760"/>
                <a:chExt cx="3828240" cy="3294720"/>
              </a:xfrm>
            </p:grpSpPr>
            <p:sp>
              <p:nvSpPr>
                <p:cNvPr id="1560" name="Text Box 18"/>
                <p:cNvSpPr/>
                <p:nvPr/>
              </p:nvSpPr>
              <p:spPr>
                <a:xfrm>
                  <a:off x="1924200" y="2585520"/>
                  <a:ext cx="64728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0" lang="en-GB" sz="1800" spc="-1" strike="noStrike">
                      <a:solidFill>
                        <a:srgbClr val="000000"/>
                      </a:solidFill>
                      <a:latin typeface="Arial"/>
                    </a:rPr>
                    <a:t>A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61" name="Text Box 19"/>
                <p:cNvSpPr/>
                <p:nvPr/>
              </p:nvSpPr>
              <p:spPr>
                <a:xfrm>
                  <a:off x="3807000" y="2534760"/>
                  <a:ext cx="64728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0" lang="en-GB" sz="1800" spc="-1" strike="noStrike">
                      <a:solidFill>
                        <a:srgbClr val="000000"/>
                      </a:solidFill>
                      <a:latin typeface="Arial"/>
                    </a:rPr>
                    <a:t>B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62" name="Text Box 21"/>
                <p:cNvSpPr/>
                <p:nvPr/>
              </p:nvSpPr>
              <p:spPr>
                <a:xfrm>
                  <a:off x="3794040" y="5465520"/>
                  <a:ext cx="64728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0" lang="en-GB" sz="1800" spc="-1" strike="noStrike">
                      <a:solidFill>
                        <a:srgbClr val="000000"/>
                      </a:solidFill>
                      <a:latin typeface="Arial"/>
                    </a:rPr>
                    <a:t>D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63" name="Text Box 26"/>
                <p:cNvSpPr/>
                <p:nvPr/>
              </p:nvSpPr>
              <p:spPr>
                <a:xfrm>
                  <a:off x="1905120" y="5433480"/>
                  <a:ext cx="64728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0" lang="en-GB" sz="1800" spc="-1" strike="noStrike">
                      <a:solidFill>
                        <a:srgbClr val="000000"/>
                      </a:solidFill>
                      <a:latin typeface="Arial"/>
                    </a:rPr>
                    <a:t>E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64" name="AutoShape 28"/>
                <p:cNvSpPr/>
                <p:nvPr/>
              </p:nvSpPr>
              <p:spPr>
                <a:xfrm rot="5400000">
                  <a:off x="3044880" y="2690280"/>
                  <a:ext cx="171000" cy="30456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1565" name="AutoShape 30"/>
                <p:cNvSpPr/>
                <p:nvPr/>
              </p:nvSpPr>
              <p:spPr>
                <a:xfrm rot="9084000">
                  <a:off x="4194360" y="3406320"/>
                  <a:ext cx="171000" cy="30456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1566" name="Text Box 32"/>
                <p:cNvSpPr/>
                <p:nvPr/>
              </p:nvSpPr>
              <p:spPr>
                <a:xfrm>
                  <a:off x="4387680" y="3368160"/>
                  <a:ext cx="59004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1" lang="en-GB" sz="1800" spc="-1" strike="noStrike">
                      <a:solidFill>
                        <a:srgbClr val="000000"/>
                      </a:solidFill>
                      <a:latin typeface="Arial"/>
                    </a:rPr>
                    <a:t>b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67" name="AutoShape 54"/>
                <p:cNvSpPr/>
                <p:nvPr/>
              </p:nvSpPr>
              <p:spPr>
                <a:xfrm>
                  <a:off x="1523880" y="2852280"/>
                  <a:ext cx="3126960" cy="2704680"/>
                </a:xfrm>
                <a:prstGeom prst="hexagon">
                  <a:avLst>
                    <a:gd name="adj" fmla="val 28903"/>
                    <a:gd name="vf" fmla="val 115470"/>
                  </a:avLst>
                </a:prstGeom>
                <a:noFill/>
                <a:ln w="635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GB" sz="1800" spc="-1" strike="noStrike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1568" name="Line 55"/>
                <p:cNvSpPr/>
                <p:nvPr/>
              </p:nvSpPr>
              <p:spPr>
                <a:xfrm>
                  <a:off x="2314440" y="2842560"/>
                  <a:ext cx="1542960" cy="2705040"/>
                </a:xfrm>
                <a:prstGeom prst="line">
                  <a:avLst/>
                </a:prstGeom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en-US" sz="18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569" name="Line 57"/>
                <p:cNvSpPr/>
                <p:nvPr/>
              </p:nvSpPr>
              <p:spPr>
                <a:xfrm>
                  <a:off x="1523880" y="4204800"/>
                  <a:ext cx="3124080" cy="360"/>
                </a:xfrm>
                <a:prstGeom prst="line">
                  <a:avLst/>
                </a:prstGeom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640" bIns="-44640" anchor="t">
                  <a:noAutofit/>
                </a:bodyPr>
                <a:p>
                  <a:endParaRPr b="0" lang="en-US" sz="18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570" name="Line 58"/>
                <p:cNvSpPr/>
                <p:nvPr/>
              </p:nvSpPr>
              <p:spPr>
                <a:xfrm flipV="1">
                  <a:off x="2304720" y="2842560"/>
                  <a:ext cx="1562400" cy="2705040"/>
                </a:xfrm>
                <a:prstGeom prst="line">
                  <a:avLst/>
                </a:prstGeom>
                <a:ln w="9525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en-US" sz="18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sp>
              <p:nvSpPr>
                <p:cNvPr id="1571" name="Text Box 59"/>
                <p:cNvSpPr/>
                <p:nvPr/>
              </p:nvSpPr>
              <p:spPr>
                <a:xfrm>
                  <a:off x="2622600" y="3893760"/>
                  <a:ext cx="55224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0" lang="en-GB" sz="1800" spc="-1" strike="noStrike">
                      <a:solidFill>
                        <a:srgbClr val="000000"/>
                      </a:solidFill>
                      <a:latin typeface="Arial"/>
                    </a:rPr>
                    <a:t>O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572" name="Text Box 60"/>
                <p:cNvSpPr/>
                <p:nvPr/>
              </p:nvSpPr>
              <p:spPr>
                <a:xfrm>
                  <a:off x="1149480" y="3992040"/>
                  <a:ext cx="647280" cy="363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spAutoFit/>
                </a:bodyPr>
                <a:p>
                  <a:pPr defTabSz="914400">
                    <a:lnSpc>
                      <a:spcPct val="100000"/>
                    </a:lnSpc>
                    <a:spcBef>
                      <a:spcPts val="901"/>
                    </a:spcBef>
                  </a:pPr>
                  <a:r>
                    <a:rPr b="0" lang="en-GB" sz="1800" spc="-1" strike="noStrike">
                      <a:solidFill>
                        <a:srgbClr val="000000"/>
                      </a:solidFill>
                      <a:latin typeface="Arial"/>
                    </a:rPr>
                    <a:t>F</a:t>
                  </a:r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grpSp>
        <p:nvGrpSpPr>
          <p:cNvPr id="1573" name="Group 97"/>
          <p:cNvGrpSpPr/>
          <p:nvPr/>
        </p:nvGrpSpPr>
        <p:grpSpPr>
          <a:xfrm>
            <a:off x="2232000" y="2818080"/>
            <a:ext cx="163080" cy="2695680"/>
            <a:chOff x="2232000" y="2818080"/>
            <a:chExt cx="163080" cy="2695680"/>
          </a:xfrm>
        </p:grpSpPr>
        <p:sp>
          <p:nvSpPr>
            <p:cNvPr id="1574" name="Line 95"/>
            <p:cNvSpPr/>
            <p:nvPr/>
          </p:nvSpPr>
          <p:spPr>
            <a:xfrm flipV="1">
              <a:off x="2309760" y="2818080"/>
              <a:ext cx="360" cy="2695680"/>
            </a:xfrm>
            <a:prstGeom prst="line">
              <a:avLst/>
            </a:prstGeom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75" name="AutoShape 96"/>
            <p:cNvSpPr/>
            <p:nvPr/>
          </p:nvSpPr>
          <p:spPr>
            <a:xfrm>
              <a:off x="2232000" y="4189680"/>
              <a:ext cx="163080" cy="18072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576" name="Group 100"/>
          <p:cNvGrpSpPr/>
          <p:nvPr/>
        </p:nvGrpSpPr>
        <p:grpSpPr>
          <a:xfrm>
            <a:off x="1523880" y="4175640"/>
            <a:ext cx="2333160" cy="1350720"/>
            <a:chOff x="1523880" y="4175640"/>
            <a:chExt cx="2333160" cy="1350720"/>
          </a:xfrm>
        </p:grpSpPr>
        <p:sp>
          <p:nvSpPr>
            <p:cNvPr id="1577" name="Freeform 98"/>
            <p:cNvSpPr/>
            <p:nvPr/>
          </p:nvSpPr>
          <p:spPr>
            <a:xfrm>
              <a:off x="1523880" y="4175640"/>
              <a:ext cx="2333160" cy="1350720"/>
            </a:xfrm>
            <a:custGeom>
              <a:avLst/>
              <a:gdLst>
                <a:gd name="textAreaLeft" fmla="*/ 0 w 2333160"/>
                <a:gd name="textAreaRight" fmla="*/ 2333520 w 2333160"/>
                <a:gd name="textAreaTop" fmla="*/ 0 h 1350720"/>
                <a:gd name="textAreaBottom" fmla="*/ 1351080 h 1350720"/>
              </a:gdLst>
              <a:ahLst/>
              <a:rect l="textAreaLeft" t="textAreaTop" r="textAreaRight" b="textAreaBottom"/>
              <a:pathLst>
                <a:path w="1470" h="851">
                  <a:moveTo>
                    <a:pt x="0" y="0"/>
                  </a:moveTo>
                  <a:lnTo>
                    <a:pt x="1470" y="851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78" name="AutoShape 99"/>
            <p:cNvSpPr/>
            <p:nvPr/>
          </p:nvSpPr>
          <p:spPr>
            <a:xfrm rot="7378200">
              <a:off x="2683080" y="4790160"/>
              <a:ext cx="112320" cy="17100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0680" bIns="406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5" dur="indefinite" restart="never" nodeType="tmRoot">
          <p:childTnLst>
            <p:seq>
              <p:cTn id="356" dur="indefinite" nodeType="mainSeq">
                <p:childTnLst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61" dur="500"/>
                                        <p:tgtEl>
                                          <p:spTgt spid="1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59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66" dur="500"/>
                                        <p:tgtEl>
                                          <p:spTgt spid="1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64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2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71" dur="500"/>
                                        <p:tgtEl>
                                          <p:spTgt spid="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0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1" name="TextBox 3"/>
          <p:cNvSpPr/>
          <p:nvPr/>
        </p:nvSpPr>
        <p:spPr>
          <a:xfrm>
            <a:off x="1325880" y="4435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QUESTION 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TextBox 4"/>
          <p:cNvSpPr/>
          <p:nvPr/>
        </p:nvSpPr>
        <p:spPr>
          <a:xfrm>
            <a:off x="1325880" y="718920"/>
            <a:ext cx="987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</a:rPr>
              <a:t>AB = 4p, DC = p, CB = q, M is the Midpoint of AB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Rounded Rectangle 5"/>
          <p:cNvSpPr/>
          <p:nvPr/>
        </p:nvSpPr>
        <p:spPr>
          <a:xfrm>
            <a:off x="567000" y="1417320"/>
            <a:ext cx="11057400" cy="566640"/>
          </a:xfrm>
          <a:prstGeom prst="roundRect">
            <a:avLst>
              <a:gd name="adj" fmla="val 18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libri"/>
              </a:rPr>
              <a:t>Find:  (i) AD   (ii) CA   (iii) DB   (iv) CM   (v) MD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" name="Rounded Rectangle 6"/>
          <p:cNvSpPr/>
          <p:nvPr/>
        </p:nvSpPr>
        <p:spPr>
          <a:xfrm>
            <a:off x="567000" y="2148840"/>
            <a:ext cx="539460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5" name="Rounded Rectangle 23"/>
          <p:cNvSpPr/>
          <p:nvPr/>
        </p:nvSpPr>
        <p:spPr>
          <a:xfrm>
            <a:off x="6282000" y="2148840"/>
            <a:ext cx="534240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6" name="TextBox 24"/>
          <p:cNvSpPr/>
          <p:nvPr/>
        </p:nvSpPr>
        <p:spPr>
          <a:xfrm>
            <a:off x="6556320" y="2377440"/>
            <a:ext cx="4793760" cy="23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(i)  AD = 4p − q − p = 3p − q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(ii)  CA = q − 4p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(iii)  DB = p + q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(iv)  CM = q − 2p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(v)  MD = −2p + AD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−2p + 3p − q = p − q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7" name="Rounded Rectangle 25"/>
          <p:cNvSpPr/>
          <p:nvPr/>
        </p:nvSpPr>
        <p:spPr>
          <a:xfrm>
            <a:off x="567000" y="5623560"/>
            <a:ext cx="11057400" cy="73116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</a:rPr>
              <a:t>M splits AB exactly in half, so AM = MB = 2p — use that to shortcut CM and MD.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88" name="Group 75"/>
          <p:cNvGrpSpPr/>
          <p:nvPr/>
        </p:nvGrpSpPr>
        <p:grpSpPr>
          <a:xfrm>
            <a:off x="516600" y="2243160"/>
            <a:ext cx="5733720" cy="2843280"/>
            <a:chOff x="516600" y="2243160"/>
            <a:chExt cx="5733720" cy="2843280"/>
          </a:xfrm>
        </p:grpSpPr>
        <p:sp>
          <p:nvSpPr>
            <p:cNvPr id="1589" name="Text Box 28"/>
            <p:cNvSpPr/>
            <p:nvPr/>
          </p:nvSpPr>
          <p:spPr>
            <a:xfrm>
              <a:off x="5603040" y="2371680"/>
              <a:ext cx="647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0" name="Text Box 24"/>
            <p:cNvSpPr/>
            <p:nvPr/>
          </p:nvSpPr>
          <p:spPr>
            <a:xfrm>
              <a:off x="1975680" y="4662360"/>
              <a:ext cx="718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C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1" name="Text Box 25"/>
            <p:cNvSpPr/>
            <p:nvPr/>
          </p:nvSpPr>
          <p:spPr>
            <a:xfrm>
              <a:off x="2478960" y="2243160"/>
              <a:ext cx="65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4p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2" name="Text Box 27"/>
            <p:cNvSpPr/>
            <p:nvPr/>
          </p:nvSpPr>
          <p:spPr>
            <a:xfrm>
              <a:off x="577080" y="2412720"/>
              <a:ext cx="718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3" name="Text Box 29"/>
            <p:cNvSpPr/>
            <p:nvPr/>
          </p:nvSpPr>
          <p:spPr>
            <a:xfrm>
              <a:off x="516600" y="4613040"/>
              <a:ext cx="718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D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4" name="AutoShape 31"/>
            <p:cNvSpPr/>
            <p:nvPr/>
          </p:nvSpPr>
          <p:spPr>
            <a:xfrm rot="5400000">
              <a:off x="2582640" y="2590560"/>
              <a:ext cx="190080" cy="33768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95" name="AutoShape 32"/>
            <p:cNvSpPr/>
            <p:nvPr/>
          </p:nvSpPr>
          <p:spPr>
            <a:xfrm rot="3685200">
              <a:off x="3867840" y="3528720"/>
              <a:ext cx="188640" cy="33768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96" name="Text Box 33"/>
            <p:cNvSpPr/>
            <p:nvPr/>
          </p:nvSpPr>
          <p:spPr>
            <a:xfrm>
              <a:off x="4050360" y="3576600"/>
              <a:ext cx="65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q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97" name="Group 67"/>
            <p:cNvGrpSpPr/>
            <p:nvPr/>
          </p:nvGrpSpPr>
          <p:grpSpPr>
            <a:xfrm>
              <a:off x="892800" y="2750760"/>
              <a:ext cx="4903920" cy="1902240"/>
              <a:chOff x="892800" y="2750760"/>
              <a:chExt cx="4903920" cy="1902240"/>
            </a:xfrm>
          </p:grpSpPr>
          <p:sp>
            <p:nvSpPr>
              <p:cNvPr id="1598" name="Line 57"/>
              <p:cNvSpPr/>
              <p:nvPr/>
            </p:nvSpPr>
            <p:spPr>
              <a:xfrm>
                <a:off x="892800" y="2750760"/>
                <a:ext cx="360" cy="190188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599" name="Line 58"/>
              <p:cNvSpPr/>
              <p:nvPr/>
            </p:nvSpPr>
            <p:spPr>
              <a:xfrm>
                <a:off x="892800" y="4652640"/>
                <a:ext cx="1221480" cy="36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00" name="Freeform 59"/>
              <p:cNvSpPr/>
              <p:nvPr/>
            </p:nvSpPr>
            <p:spPr>
              <a:xfrm>
                <a:off x="898920" y="2756880"/>
                <a:ext cx="1215360" cy="1889640"/>
              </a:xfrm>
              <a:custGeom>
                <a:avLst/>
                <a:gdLst>
                  <a:gd name="textAreaLeft" fmla="*/ 0 w 1215360"/>
                  <a:gd name="textAreaRight" fmla="*/ 1215720 w 1215360"/>
                  <a:gd name="textAreaTop" fmla="*/ 0 h 1889640"/>
                  <a:gd name="textAreaBottom" fmla="*/ 1890000 h 1889640"/>
                </a:gdLst>
                <a:ahLst/>
                <a:rect l="textAreaLeft" t="textAreaTop" r="textAreaRight" b="textAreaBottom"/>
                <a:pathLst>
                  <a:path w="621" h="966">
                    <a:moveTo>
                      <a:pt x="0" y="0"/>
                    </a:moveTo>
                    <a:lnTo>
                      <a:pt x="621" y="96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01" name="Line 65"/>
              <p:cNvSpPr/>
              <p:nvPr/>
            </p:nvSpPr>
            <p:spPr>
              <a:xfrm>
                <a:off x="910440" y="2754720"/>
                <a:ext cx="4886280" cy="36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602" name="Line 66"/>
              <p:cNvSpPr/>
              <p:nvPr/>
            </p:nvSpPr>
            <p:spPr>
              <a:xfrm flipV="1">
                <a:off x="2108520" y="2754720"/>
                <a:ext cx="3688200" cy="189612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1603" name="AutoShape 68"/>
            <p:cNvSpPr/>
            <p:nvPr/>
          </p:nvSpPr>
          <p:spPr>
            <a:xfrm rot="5400000">
              <a:off x="1390320" y="4481280"/>
              <a:ext cx="190080" cy="33768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04" name="Text Box 69"/>
            <p:cNvSpPr/>
            <p:nvPr/>
          </p:nvSpPr>
          <p:spPr>
            <a:xfrm>
              <a:off x="1218240" y="4722480"/>
              <a:ext cx="65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p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5" name="Line 71"/>
            <p:cNvSpPr/>
            <p:nvPr/>
          </p:nvSpPr>
          <p:spPr>
            <a:xfrm>
              <a:off x="3324960" y="2644560"/>
              <a:ext cx="360" cy="210960"/>
            </a:xfrm>
            <a:prstGeom prst="line">
              <a:avLst/>
            </a:prstGeom>
            <a:ln w="3810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06" name="Text Box 72"/>
            <p:cNvSpPr/>
            <p:nvPr/>
          </p:nvSpPr>
          <p:spPr>
            <a:xfrm>
              <a:off x="2993400" y="2292120"/>
              <a:ext cx="65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ff"/>
                  </a:solidFill>
                  <a:latin typeface="Arial"/>
                </a:rPr>
                <a:t>M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7" name="Group 91"/>
          <p:cNvGrpSpPr/>
          <p:nvPr/>
        </p:nvGrpSpPr>
        <p:grpSpPr>
          <a:xfrm>
            <a:off x="891360" y="2738160"/>
            <a:ext cx="4905360" cy="1895400"/>
            <a:chOff x="891360" y="2738160"/>
            <a:chExt cx="4905360" cy="1895400"/>
          </a:xfrm>
        </p:grpSpPr>
        <p:sp>
          <p:nvSpPr>
            <p:cNvPr id="1608" name="Line 89"/>
            <p:cNvSpPr/>
            <p:nvPr/>
          </p:nvSpPr>
          <p:spPr>
            <a:xfrm flipV="1">
              <a:off x="891360" y="2738160"/>
              <a:ext cx="4905360" cy="1895400"/>
            </a:xfrm>
            <a:prstGeom prst="line">
              <a:avLst/>
            </a:prstGeom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09" name="AutoShape 90"/>
            <p:cNvSpPr/>
            <p:nvPr/>
          </p:nvSpPr>
          <p:spPr>
            <a:xfrm rot="4085400">
              <a:off x="3263040" y="3528360"/>
              <a:ext cx="161640" cy="31392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610" name="Group 94"/>
          <p:cNvGrpSpPr/>
          <p:nvPr/>
        </p:nvGrpSpPr>
        <p:grpSpPr>
          <a:xfrm>
            <a:off x="2100960" y="2719080"/>
            <a:ext cx="1238040" cy="1924200"/>
            <a:chOff x="2100960" y="2719080"/>
            <a:chExt cx="1238040" cy="1924200"/>
          </a:xfrm>
        </p:grpSpPr>
        <p:sp>
          <p:nvSpPr>
            <p:cNvPr id="1611" name="Line 92"/>
            <p:cNvSpPr/>
            <p:nvPr/>
          </p:nvSpPr>
          <p:spPr>
            <a:xfrm flipV="1">
              <a:off x="2100960" y="2719080"/>
              <a:ext cx="1238040" cy="1924200"/>
            </a:xfrm>
            <a:prstGeom prst="line">
              <a:avLst/>
            </a:prstGeom>
            <a:ln w="952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12" name="AutoShape 93"/>
            <p:cNvSpPr/>
            <p:nvPr/>
          </p:nvSpPr>
          <p:spPr>
            <a:xfrm rot="1857600">
              <a:off x="2809080" y="3281040"/>
              <a:ext cx="171000" cy="27576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613" name="Group 97"/>
          <p:cNvGrpSpPr/>
          <p:nvPr/>
        </p:nvGrpSpPr>
        <p:grpSpPr>
          <a:xfrm>
            <a:off x="891360" y="2757240"/>
            <a:ext cx="2438280" cy="1886040"/>
            <a:chOff x="891360" y="2757240"/>
            <a:chExt cx="2438280" cy="1886040"/>
          </a:xfrm>
        </p:grpSpPr>
        <p:sp>
          <p:nvSpPr>
            <p:cNvPr id="1614" name="Line 95"/>
            <p:cNvSpPr/>
            <p:nvPr/>
          </p:nvSpPr>
          <p:spPr>
            <a:xfrm flipH="1">
              <a:off x="891360" y="2757240"/>
              <a:ext cx="2438280" cy="1886040"/>
            </a:xfrm>
            <a:prstGeom prst="line">
              <a:avLst/>
            </a:prstGeom>
            <a:ln w="9525">
              <a:solidFill>
                <a:srgbClr val="0563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15" name="AutoShape 96"/>
            <p:cNvSpPr/>
            <p:nvPr/>
          </p:nvSpPr>
          <p:spPr>
            <a:xfrm rot="13794600">
              <a:off x="2186640" y="3446640"/>
              <a:ext cx="164880" cy="247320"/>
            </a:xfrm>
            <a:prstGeom prst="triangle">
              <a:avLst>
                <a:gd name="adj" fmla="val 50000"/>
              </a:avLst>
            </a:prstGeom>
            <a:solidFill>
              <a:schemeClr val="hlink"/>
            </a:solidFill>
            <a:ln w="9525">
              <a:solidFill>
                <a:srgbClr val="0563c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2" dur="indefinite" restart="never" nodeType="tmRoot">
          <p:childTnLst>
            <p:seq>
              <p:cTn id="373" dur="indefinite" nodeType="mainSeq">
                <p:childTnLst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78" dur="500"/>
                                        <p:tgtEl>
                                          <p:spTgt spid="1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76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83" dur="500"/>
                                        <p:tgtEl>
                                          <p:spTgt spid="1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81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2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88" dur="500"/>
                                        <p:tgtEl>
                                          <p:spTgt spid="16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86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3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393" dur="500"/>
                                        <p:tgtEl>
                                          <p:spTgt spid="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7" name="TextBox 3"/>
          <p:cNvSpPr/>
          <p:nvPr/>
        </p:nvSpPr>
        <p:spPr>
          <a:xfrm>
            <a:off x="1325880" y="4435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QUESTION 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TextBox 4"/>
          <p:cNvSpPr/>
          <p:nvPr/>
        </p:nvSpPr>
        <p:spPr>
          <a:xfrm>
            <a:off x="1325880" y="718920"/>
            <a:ext cx="987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</a:rPr>
              <a:t>Triangle ABC, P on AC with CP:PA = 3 : 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" name="Rounded Rectangle 5"/>
          <p:cNvSpPr/>
          <p:nvPr/>
        </p:nvSpPr>
        <p:spPr>
          <a:xfrm>
            <a:off x="567000" y="1417320"/>
            <a:ext cx="11057400" cy="566640"/>
          </a:xfrm>
          <a:prstGeom prst="roundRect">
            <a:avLst>
              <a:gd name="adj" fmla="val 18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libri"/>
              </a:rPr>
              <a:t>BA = m, CB = n. P lies on AC such that CP:PA = 3 : 1. Find BP in terms of m and 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0" name="Rounded Rectangle 6"/>
          <p:cNvSpPr/>
          <p:nvPr/>
        </p:nvSpPr>
        <p:spPr>
          <a:xfrm>
            <a:off x="567000" y="2148840"/>
            <a:ext cx="493740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1" name="Rounded Rectangle 20"/>
          <p:cNvSpPr/>
          <p:nvPr/>
        </p:nvSpPr>
        <p:spPr>
          <a:xfrm>
            <a:off x="5824800" y="2148840"/>
            <a:ext cx="579960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2" name="TextBox 21"/>
          <p:cNvSpPr/>
          <p:nvPr/>
        </p:nvSpPr>
        <p:spPr>
          <a:xfrm>
            <a:off x="6099120" y="2377440"/>
            <a:ext cx="5250960" cy="13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CA = n + 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CP = ¾ CA = ¾ (n + m)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BP = −n + ¾ (n + m)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¾ m − ¼ n   or   ¼(3m − n)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3" name="Rounded Rectangle 22"/>
          <p:cNvSpPr/>
          <p:nvPr/>
        </p:nvSpPr>
        <p:spPr>
          <a:xfrm>
            <a:off x="567000" y="5623560"/>
            <a:ext cx="11057400" cy="73116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</a:rPr>
              <a:t>Write CP as a fraction of CA first, then travel B → C → P to reach BP.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24" name="Group 18"/>
          <p:cNvGrpSpPr/>
          <p:nvPr/>
        </p:nvGrpSpPr>
        <p:grpSpPr>
          <a:xfrm>
            <a:off x="841320" y="2176560"/>
            <a:ext cx="4352400" cy="3403800"/>
            <a:chOff x="841320" y="2176560"/>
            <a:chExt cx="4352400" cy="3403800"/>
          </a:xfrm>
        </p:grpSpPr>
        <p:sp>
          <p:nvSpPr>
            <p:cNvPr id="1625" name="Freeform 8"/>
            <p:cNvSpPr/>
            <p:nvPr/>
          </p:nvSpPr>
          <p:spPr>
            <a:xfrm>
              <a:off x="1225440" y="2562120"/>
              <a:ext cx="3646080" cy="2685600"/>
            </a:xfrm>
            <a:custGeom>
              <a:avLst/>
              <a:gdLst>
                <a:gd name="textAreaLeft" fmla="*/ 0 w 3646080"/>
                <a:gd name="textAreaRight" fmla="*/ 3646440 w 3646080"/>
                <a:gd name="textAreaTop" fmla="*/ 0 h 2685600"/>
                <a:gd name="textAreaBottom" fmla="*/ 2685960 h 2685600"/>
              </a:gdLst>
              <a:ahLst/>
              <a:rect l="textAreaLeft" t="textAreaTop" r="textAreaRight" b="textAreaBottom"/>
              <a:pathLst>
                <a:path w="1629" h="1200">
                  <a:moveTo>
                    <a:pt x="0" y="1200"/>
                  </a:moveTo>
                  <a:lnTo>
                    <a:pt x="1214" y="1062"/>
                  </a:lnTo>
                  <a:lnTo>
                    <a:pt x="1629" y="0"/>
                  </a:lnTo>
                  <a:lnTo>
                    <a:pt x="0" y="12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26" name="Text Box 9"/>
            <p:cNvSpPr/>
            <p:nvPr/>
          </p:nvSpPr>
          <p:spPr>
            <a:xfrm>
              <a:off x="841320" y="521640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C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7" name="Text Box 10"/>
            <p:cNvSpPr/>
            <p:nvPr/>
          </p:nvSpPr>
          <p:spPr>
            <a:xfrm>
              <a:off x="4825800" y="217656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8" name="Text Box 11"/>
            <p:cNvSpPr/>
            <p:nvPr/>
          </p:nvSpPr>
          <p:spPr>
            <a:xfrm>
              <a:off x="3930480" y="500544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9" name="Oval 12"/>
            <p:cNvSpPr/>
            <p:nvPr/>
          </p:nvSpPr>
          <p:spPr>
            <a:xfrm>
              <a:off x="3951000" y="3174840"/>
              <a:ext cx="88560" cy="8856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7640" bIns="17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30" name="Text Box 13"/>
            <p:cNvSpPr/>
            <p:nvPr/>
          </p:nvSpPr>
          <p:spPr>
            <a:xfrm>
              <a:off x="4432320" y="381168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m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1" name="Text Box 14"/>
            <p:cNvSpPr/>
            <p:nvPr/>
          </p:nvSpPr>
          <p:spPr>
            <a:xfrm>
              <a:off x="2533680" y="511344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n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2" name="Text Box 15"/>
            <p:cNvSpPr/>
            <p:nvPr/>
          </p:nvSpPr>
          <p:spPr>
            <a:xfrm>
              <a:off x="3608280" y="290196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P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3" name="AutoShape 16"/>
            <p:cNvSpPr/>
            <p:nvPr/>
          </p:nvSpPr>
          <p:spPr>
            <a:xfrm rot="1302000">
              <a:off x="4217760" y="3822480"/>
              <a:ext cx="174240" cy="333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34" name="AutoShape 17"/>
            <p:cNvSpPr/>
            <p:nvPr/>
          </p:nvSpPr>
          <p:spPr>
            <a:xfrm rot="5070600">
              <a:off x="2616120" y="4912920"/>
              <a:ext cx="174240" cy="333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635" name="Group 43"/>
          <p:cNvGrpSpPr/>
          <p:nvPr/>
        </p:nvGrpSpPr>
        <p:grpSpPr>
          <a:xfrm>
            <a:off x="3895560" y="3219120"/>
            <a:ext cx="151920" cy="1714680"/>
            <a:chOff x="3895560" y="3219120"/>
            <a:chExt cx="151920" cy="1714680"/>
          </a:xfrm>
        </p:grpSpPr>
        <p:sp>
          <p:nvSpPr>
            <p:cNvPr id="1636" name="Line 41"/>
            <p:cNvSpPr/>
            <p:nvPr/>
          </p:nvSpPr>
          <p:spPr>
            <a:xfrm flipV="1">
              <a:off x="3943080" y="3219120"/>
              <a:ext cx="57240" cy="1714680"/>
            </a:xfrm>
            <a:prstGeom prst="line">
              <a:avLst/>
            </a:prstGeom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37" name="AutoShape 42"/>
            <p:cNvSpPr/>
            <p:nvPr/>
          </p:nvSpPr>
          <p:spPr>
            <a:xfrm>
              <a:off x="3895560" y="3867120"/>
              <a:ext cx="151920" cy="30456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4" dur="indefinite" restart="never" nodeType="tmRoot">
          <p:childTnLst>
            <p:seq>
              <p:cTn id="395" dur="indefinite" nodeType="mainSeq">
                <p:childTnLst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00" dur="500"/>
                                        <p:tgtEl>
                                          <p:spTgt spid="16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398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05" dur="500"/>
                                        <p:tgtEl>
                                          <p:spTgt spid="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9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0" name="TextBox 3"/>
          <p:cNvSpPr/>
          <p:nvPr/>
        </p:nvSpPr>
        <p:spPr>
          <a:xfrm>
            <a:off x="1325880" y="4435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QUESTION 6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1" name="TextBox 4"/>
          <p:cNvSpPr/>
          <p:nvPr/>
        </p:nvSpPr>
        <p:spPr>
          <a:xfrm>
            <a:off x="1325880" y="718920"/>
            <a:ext cx="987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</a:rPr>
              <a:t>Triangle ABC, P on AC with CP:PA = 2 : 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2" name="Rounded Rectangle 5"/>
          <p:cNvSpPr/>
          <p:nvPr/>
        </p:nvSpPr>
        <p:spPr>
          <a:xfrm>
            <a:off x="567000" y="1417320"/>
            <a:ext cx="11057400" cy="566640"/>
          </a:xfrm>
          <a:prstGeom prst="roundRect">
            <a:avLst>
              <a:gd name="adj" fmla="val 18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libri"/>
              </a:rPr>
              <a:t>BA = m, CB = n. P lies on AC such that CP:PA = 2 : 1. Find BP in terms of m and 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" name="Rounded Rectangle 6"/>
          <p:cNvSpPr/>
          <p:nvPr/>
        </p:nvSpPr>
        <p:spPr>
          <a:xfrm>
            <a:off x="567000" y="2148840"/>
            <a:ext cx="493740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4" name="Rounded Rectangle 20"/>
          <p:cNvSpPr/>
          <p:nvPr/>
        </p:nvSpPr>
        <p:spPr>
          <a:xfrm>
            <a:off x="5824800" y="2148840"/>
            <a:ext cx="579960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5" name="TextBox 21"/>
          <p:cNvSpPr/>
          <p:nvPr/>
        </p:nvSpPr>
        <p:spPr>
          <a:xfrm>
            <a:off x="6099120" y="2377440"/>
            <a:ext cx="5250960" cy="13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CA = n + 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CP = ⅔ CA = ⅔ (n + m)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BP = −n + ⅔ (n + m)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⅔ m − ⅓ 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Rounded Rectangle 22"/>
          <p:cNvSpPr/>
          <p:nvPr/>
        </p:nvSpPr>
        <p:spPr>
          <a:xfrm>
            <a:off x="567000" y="5623560"/>
            <a:ext cx="11057400" cy="73116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</a:rPr>
              <a:t>Write CP as a fraction of CA first, then travel B → C → P to reach BP.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47" name="Group 28"/>
          <p:cNvGrpSpPr/>
          <p:nvPr/>
        </p:nvGrpSpPr>
        <p:grpSpPr>
          <a:xfrm>
            <a:off x="949320" y="2149560"/>
            <a:ext cx="4352400" cy="3403800"/>
            <a:chOff x="949320" y="2149560"/>
            <a:chExt cx="4352400" cy="3403800"/>
          </a:xfrm>
        </p:grpSpPr>
        <p:sp>
          <p:nvSpPr>
            <p:cNvPr id="1648" name="Freeform 6"/>
            <p:cNvSpPr/>
            <p:nvPr/>
          </p:nvSpPr>
          <p:spPr>
            <a:xfrm>
              <a:off x="1333440" y="2535120"/>
              <a:ext cx="3646080" cy="2685600"/>
            </a:xfrm>
            <a:custGeom>
              <a:avLst/>
              <a:gdLst>
                <a:gd name="textAreaLeft" fmla="*/ 0 w 3646080"/>
                <a:gd name="textAreaRight" fmla="*/ 3646440 w 3646080"/>
                <a:gd name="textAreaTop" fmla="*/ 0 h 2685600"/>
                <a:gd name="textAreaBottom" fmla="*/ 2685960 h 2685600"/>
              </a:gdLst>
              <a:ahLst/>
              <a:rect l="textAreaLeft" t="textAreaTop" r="textAreaRight" b="textAreaBottom"/>
              <a:pathLst>
                <a:path w="1629" h="1200">
                  <a:moveTo>
                    <a:pt x="0" y="1200"/>
                  </a:moveTo>
                  <a:lnTo>
                    <a:pt x="1214" y="1062"/>
                  </a:lnTo>
                  <a:lnTo>
                    <a:pt x="1629" y="0"/>
                  </a:lnTo>
                  <a:lnTo>
                    <a:pt x="0" y="12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49" name="Text Box 7"/>
            <p:cNvSpPr/>
            <p:nvPr/>
          </p:nvSpPr>
          <p:spPr>
            <a:xfrm>
              <a:off x="949320" y="518940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C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0" name="Text Box 8"/>
            <p:cNvSpPr/>
            <p:nvPr/>
          </p:nvSpPr>
          <p:spPr>
            <a:xfrm>
              <a:off x="4933800" y="214956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1" name="Text Box 9"/>
            <p:cNvSpPr/>
            <p:nvPr/>
          </p:nvSpPr>
          <p:spPr>
            <a:xfrm>
              <a:off x="4038480" y="497844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2" name="Oval 10"/>
            <p:cNvSpPr/>
            <p:nvPr/>
          </p:nvSpPr>
          <p:spPr>
            <a:xfrm>
              <a:off x="3678120" y="3414600"/>
              <a:ext cx="88560" cy="8856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7640" bIns="17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53" name="Text Box 11"/>
            <p:cNvSpPr/>
            <p:nvPr/>
          </p:nvSpPr>
          <p:spPr>
            <a:xfrm>
              <a:off x="4539960" y="378468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m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4" name="Text Box 12"/>
            <p:cNvSpPr/>
            <p:nvPr/>
          </p:nvSpPr>
          <p:spPr>
            <a:xfrm>
              <a:off x="2641320" y="508644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n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5" name="Text Box 13"/>
            <p:cNvSpPr/>
            <p:nvPr/>
          </p:nvSpPr>
          <p:spPr>
            <a:xfrm>
              <a:off x="3416040" y="309420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P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6" name="AutoShape 14"/>
            <p:cNvSpPr/>
            <p:nvPr/>
          </p:nvSpPr>
          <p:spPr>
            <a:xfrm rot="1302000">
              <a:off x="4325760" y="3795480"/>
              <a:ext cx="174240" cy="333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57" name="AutoShape 15"/>
            <p:cNvSpPr/>
            <p:nvPr/>
          </p:nvSpPr>
          <p:spPr>
            <a:xfrm rot="5070600">
              <a:off x="2724120" y="4885920"/>
              <a:ext cx="174240" cy="333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658" name="Group 38"/>
          <p:cNvGrpSpPr/>
          <p:nvPr/>
        </p:nvGrpSpPr>
        <p:grpSpPr>
          <a:xfrm>
            <a:off x="3722400" y="3492720"/>
            <a:ext cx="333360" cy="1447920"/>
            <a:chOff x="3722400" y="3492720"/>
            <a:chExt cx="333360" cy="1447920"/>
          </a:xfrm>
        </p:grpSpPr>
        <p:sp>
          <p:nvSpPr>
            <p:cNvPr id="1659" name="Line 36"/>
            <p:cNvSpPr/>
            <p:nvPr/>
          </p:nvSpPr>
          <p:spPr>
            <a:xfrm flipH="1" flipV="1">
              <a:off x="3722400" y="3492720"/>
              <a:ext cx="333360" cy="1447920"/>
            </a:xfrm>
            <a:prstGeom prst="line">
              <a:avLst/>
            </a:prstGeom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60" name="AutoShape 37"/>
            <p:cNvSpPr/>
            <p:nvPr/>
          </p:nvSpPr>
          <p:spPr>
            <a:xfrm rot="20673000">
              <a:off x="3811320" y="4080240"/>
              <a:ext cx="164880" cy="24732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6" dur="indefinite" restart="never" nodeType="tmRoot">
          <p:childTnLst>
            <p:seq>
              <p:cTn id="407" dur="indefinite" nodeType="mainSeq">
                <p:childTnLst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12" dur="500"/>
                                        <p:tgtEl>
                                          <p:spTgt spid="1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410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17" dur="500"/>
                                        <p:tgtEl>
                                          <p:spTgt spid="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2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3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SOLUTIONS · QUESTION 7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" name="TextBox 4"/>
          <p:cNvSpPr/>
          <p:nvPr/>
        </p:nvSpPr>
        <p:spPr>
          <a:xfrm>
            <a:off x="1325880" y="718920"/>
            <a:ext cx="98751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</a:rPr>
              <a:t>Triangle XYZ: XS = 2SZSZ, YT = 2SZTZ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Rounded Rectangle 5"/>
          <p:cNvSpPr/>
          <p:nvPr/>
        </p:nvSpPr>
        <p:spPr>
          <a:xfrm>
            <a:off x="567000" y="1417320"/>
            <a:ext cx="11057400" cy="566640"/>
          </a:xfrm>
          <a:prstGeom prst="roundRect">
            <a:avLst>
              <a:gd name="adj" fmla="val 18000"/>
            </a:avLst>
          </a:prstGeom>
          <a:solidFill>
            <a:srgbClr val="fb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1c2a22"/>
                </a:solidFill>
                <a:latin typeface="Calibri"/>
              </a:rPr>
              <a:t>S is on XZ with XS = 2SZ. T is on ZY with YT = 2SZ. Prove ST is parallel to XY.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Rounded Rectangle 6"/>
          <p:cNvSpPr/>
          <p:nvPr/>
        </p:nvSpPr>
        <p:spPr>
          <a:xfrm>
            <a:off x="567000" y="2148840"/>
            <a:ext cx="493740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7" name="Rounded Rectangle 22"/>
          <p:cNvSpPr/>
          <p:nvPr/>
        </p:nvSpPr>
        <p:spPr>
          <a:xfrm>
            <a:off x="5824800" y="2148840"/>
            <a:ext cx="5799600" cy="333720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8" name="TextBox 23"/>
          <p:cNvSpPr/>
          <p:nvPr/>
        </p:nvSpPr>
        <p:spPr>
          <a:xfrm>
            <a:off x="6099120" y="2377440"/>
            <a:ext cx="5250960" cy="23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XZ = a + 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XS = ⅔ (a + b)   (since XS = 2SZSZ)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Going clockwise from S to T: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ST = −⅔(a+b) + a + ⅔b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−⅔a − ⅔b + a + ⅔b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  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= ⅓a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2000"/>
              </a:lnSpc>
            </a:pP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∴ </a:t>
            </a:r>
            <a:r>
              <a:rPr b="0" lang="en-US" sz="1250" spc="-1" strike="noStrike">
                <a:solidFill>
                  <a:srgbClr val="1c2a22"/>
                </a:solidFill>
                <a:latin typeface="Calibri"/>
              </a:rPr>
              <a:t>ST ∥ XY, and ⅓a means it's that fraction of XY's length.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Rounded Rectangle 24"/>
          <p:cNvSpPr/>
          <p:nvPr/>
        </p:nvSpPr>
        <p:spPr>
          <a:xfrm>
            <a:off x="567000" y="5623560"/>
            <a:ext cx="11057400" cy="73116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450" spc="-1" strike="noStrike">
                <a:solidFill>
                  <a:srgbClr val="e0ac2b"/>
                </a:solidFill>
                <a:latin typeface="Cambria"/>
              </a:rPr>
              <a:t>Travel S → X → Y → T (clockwise) and simplify — if only 'a' terms survive, ST is parallel to XY.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70" name="Group 94"/>
          <p:cNvGrpSpPr/>
          <p:nvPr/>
        </p:nvGrpSpPr>
        <p:grpSpPr>
          <a:xfrm>
            <a:off x="596880" y="2979720"/>
            <a:ext cx="5014440" cy="2518200"/>
            <a:chOff x="596880" y="2979720"/>
            <a:chExt cx="5014440" cy="2518200"/>
          </a:xfrm>
        </p:grpSpPr>
        <p:sp>
          <p:nvSpPr>
            <p:cNvPr id="1671" name="Text Box 38"/>
            <p:cNvSpPr/>
            <p:nvPr/>
          </p:nvSpPr>
          <p:spPr>
            <a:xfrm>
              <a:off x="2139840" y="509580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T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2" name="Text Box 39"/>
            <p:cNvSpPr/>
            <p:nvPr/>
          </p:nvSpPr>
          <p:spPr>
            <a:xfrm>
              <a:off x="2533680" y="297972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X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3" name="Text Box 40"/>
            <p:cNvSpPr/>
            <p:nvPr/>
          </p:nvSpPr>
          <p:spPr>
            <a:xfrm>
              <a:off x="5243400" y="513396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Y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4" name="Oval 41"/>
            <p:cNvSpPr/>
            <p:nvPr/>
          </p:nvSpPr>
          <p:spPr>
            <a:xfrm>
              <a:off x="1373040" y="4506840"/>
              <a:ext cx="88560" cy="8856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7640" bIns="17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75" name="Text Box 42"/>
            <p:cNvSpPr/>
            <p:nvPr/>
          </p:nvSpPr>
          <p:spPr>
            <a:xfrm>
              <a:off x="3301920" y="507672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6" name="Text Box 43"/>
            <p:cNvSpPr/>
            <p:nvPr/>
          </p:nvSpPr>
          <p:spPr>
            <a:xfrm>
              <a:off x="4032360" y="380196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1" lang="en-GB" sz="1800" spc="-1" strike="noStrike">
                  <a:solidFill>
                    <a:srgbClr val="000000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7" name="Text Box 44"/>
            <p:cNvSpPr/>
            <p:nvPr/>
          </p:nvSpPr>
          <p:spPr>
            <a:xfrm>
              <a:off x="596880" y="508644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Z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8" name="AutoShape 45"/>
            <p:cNvSpPr/>
            <p:nvPr/>
          </p:nvSpPr>
          <p:spPr>
            <a:xfrm rot="16200000">
              <a:off x="2935080" y="4932720"/>
              <a:ext cx="174240" cy="333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79" name="AutoShape 46"/>
            <p:cNvSpPr/>
            <p:nvPr/>
          </p:nvSpPr>
          <p:spPr>
            <a:xfrm rot="7770600">
              <a:off x="3824640" y="3935160"/>
              <a:ext cx="174240" cy="333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680" name="Freeform 54"/>
            <p:cNvSpPr/>
            <p:nvPr/>
          </p:nvSpPr>
          <p:spPr>
            <a:xfrm>
              <a:off x="860400" y="3355920"/>
              <a:ext cx="4624200" cy="1740960"/>
            </a:xfrm>
            <a:custGeom>
              <a:avLst/>
              <a:gdLst>
                <a:gd name="textAreaLeft" fmla="*/ 0 w 4624200"/>
                <a:gd name="textAreaRight" fmla="*/ 4624560 w 4624200"/>
                <a:gd name="textAreaTop" fmla="*/ 0 h 1740960"/>
                <a:gd name="textAreaBottom" fmla="*/ 1741320 h 1740960"/>
              </a:gdLst>
              <a:ahLst/>
              <a:rect l="textAreaLeft" t="textAreaTop" r="textAreaRight" b="textAreaBottom"/>
              <a:pathLst>
                <a:path w="2352" h="972">
                  <a:moveTo>
                    <a:pt x="2352" y="972"/>
                  </a:moveTo>
                  <a:lnTo>
                    <a:pt x="0" y="972"/>
                  </a:lnTo>
                  <a:lnTo>
                    <a:pt x="924" y="0"/>
                  </a:lnTo>
                  <a:lnTo>
                    <a:pt x="2352" y="972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81" name="Text Box 55"/>
            <p:cNvSpPr/>
            <p:nvPr/>
          </p:nvSpPr>
          <p:spPr>
            <a:xfrm>
              <a:off x="1082520" y="4167360"/>
              <a:ext cx="367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2" name="Oval 56"/>
            <p:cNvSpPr/>
            <p:nvPr/>
          </p:nvSpPr>
          <p:spPr>
            <a:xfrm>
              <a:off x="2246400" y="5041800"/>
              <a:ext cx="88560" cy="8856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17640" bIns="17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683" name="Group 100"/>
          <p:cNvGrpSpPr/>
          <p:nvPr/>
        </p:nvGrpSpPr>
        <p:grpSpPr>
          <a:xfrm>
            <a:off x="1428480" y="4564800"/>
            <a:ext cx="885960" cy="561960"/>
            <a:chOff x="1428480" y="4564800"/>
            <a:chExt cx="885960" cy="561960"/>
          </a:xfrm>
        </p:grpSpPr>
        <p:sp>
          <p:nvSpPr>
            <p:cNvPr id="1684" name="Line 98"/>
            <p:cNvSpPr/>
            <p:nvPr/>
          </p:nvSpPr>
          <p:spPr>
            <a:xfrm flipH="1" flipV="1">
              <a:off x="1428480" y="4564800"/>
              <a:ext cx="885960" cy="561960"/>
            </a:xfrm>
            <a:prstGeom prst="line">
              <a:avLst/>
            </a:prstGeom>
            <a:ln w="9525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85" name="AutoShape 99"/>
            <p:cNvSpPr/>
            <p:nvPr/>
          </p:nvSpPr>
          <p:spPr>
            <a:xfrm rot="7470000">
              <a:off x="1787760" y="4709160"/>
              <a:ext cx="151920" cy="253800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686" name="Group 107"/>
          <p:cNvGrpSpPr/>
          <p:nvPr/>
        </p:nvGrpSpPr>
        <p:grpSpPr>
          <a:xfrm>
            <a:off x="1895400" y="3793320"/>
            <a:ext cx="2152440" cy="1114560"/>
            <a:chOff x="1895400" y="3793320"/>
            <a:chExt cx="2152440" cy="1114560"/>
          </a:xfrm>
        </p:grpSpPr>
        <p:sp>
          <p:nvSpPr>
            <p:cNvPr id="1687" name="Text Box 103"/>
            <p:cNvSpPr/>
            <p:nvPr/>
          </p:nvSpPr>
          <p:spPr>
            <a:xfrm>
              <a:off x="1895400" y="4212360"/>
              <a:ext cx="20286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rgbClr val="ff0000"/>
                  </a:solidFill>
                  <a:latin typeface="Arial"/>
                </a:rPr>
                <a:t>Going clockwise from S to T</a:t>
              </a:r>
              <a:r>
                <a:rPr b="0" lang="en-GB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8" name="Line 104"/>
            <p:cNvSpPr/>
            <p:nvPr/>
          </p:nvSpPr>
          <p:spPr>
            <a:xfrm flipV="1">
              <a:off x="2009520" y="3793320"/>
              <a:ext cx="533520" cy="53316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89" name="Line 105"/>
            <p:cNvSpPr/>
            <p:nvPr/>
          </p:nvSpPr>
          <p:spPr>
            <a:xfrm>
              <a:off x="3314520" y="4002840"/>
              <a:ext cx="733320" cy="46656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90" name="Line 106"/>
            <p:cNvSpPr/>
            <p:nvPr/>
          </p:nvSpPr>
          <p:spPr>
            <a:xfrm flipH="1">
              <a:off x="2923920" y="4907520"/>
              <a:ext cx="952560" cy="360"/>
            </a:xfrm>
            <a:prstGeom prst="line">
              <a:avLst/>
            </a:prstGeom>
            <a:ln w="38100">
              <a:solidFill>
                <a:srgbClr val="ff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8" dur="indefinite" restart="never" nodeType="tmRoot">
          <p:childTnLst>
            <p:seq>
              <p:cTn id="419" dur="indefinite" nodeType="mainSeq">
                <p:childTnLst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24" dur="500"/>
                                        <p:tgtEl>
                                          <p:spTgt spid="16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 isNarration="0">
                                      <p:cMediaNode showWhenStopped="1">
                                        <p:cTn>
                                          <p:stCondLst>
                                            <p:cond delay="0" evt="begin">
                                              <p:tn val="422"/>
                                            </p:cond>
                                          </p:stCondLst>
                                          <p:endCondLst>
                                            <p:cond delay="0" evt="onStopAudio"/>
                                          </p:endCondLst>
                                        </p:cTn>
                                        <p:tgtEl>
                                          <p:sndTgt r:embed="rId1" name="audio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9"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434"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8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9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0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Write the known vectors, build a path, use ratios, then prove parallel or collinear.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1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2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3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Label OA = a, OB = b…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4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5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6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AB = b − 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7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8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9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Use the given ratio as a fraction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0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1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2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k × vector → parallel / straight line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2" name="Shape 39"/>
          <p:cNvSpPr/>
          <p:nvPr/>
        </p:nvSpPr>
        <p:spPr>
          <a:xfrm>
            <a:off x="2604600" y="1408320"/>
            <a:ext cx="69818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3" name="Image 0" descr="/tmp/work/vecq/q-39.png"/>
          <p:cNvPicPr/>
          <p:nvPr/>
        </p:nvPicPr>
        <p:blipFill>
          <a:blip r:embed="rId1"/>
          <a:stretch/>
        </p:blipFill>
        <p:spPr>
          <a:xfrm>
            <a:off x="2677680" y="1481400"/>
            <a:ext cx="683568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3" name="Shape 39"/>
          <p:cNvSpPr/>
          <p:nvPr/>
        </p:nvSpPr>
        <p:spPr>
          <a:xfrm>
            <a:off x="3487680" y="1408320"/>
            <a:ext cx="52160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4" name="Image 0" descr="/tmp/work/vecq/q-40.png"/>
          <p:cNvPicPr/>
          <p:nvPr/>
        </p:nvPicPr>
        <p:blipFill>
          <a:blip r:embed="rId1"/>
          <a:stretch/>
        </p:blipFill>
        <p:spPr>
          <a:xfrm>
            <a:off x="3560760" y="1481400"/>
            <a:ext cx="506988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4" name="Shape 39"/>
          <p:cNvSpPr/>
          <p:nvPr/>
        </p:nvSpPr>
        <p:spPr>
          <a:xfrm>
            <a:off x="2192760" y="1408320"/>
            <a:ext cx="78058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5" name="Image 0" descr="/tmp/work/vecq/q-41.png"/>
          <p:cNvPicPr/>
          <p:nvPr/>
        </p:nvPicPr>
        <p:blipFill>
          <a:blip r:embed="rId1"/>
          <a:stretch/>
        </p:blipFill>
        <p:spPr>
          <a:xfrm>
            <a:off x="2265840" y="1481400"/>
            <a:ext cx="76593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5" name="Shape 39"/>
          <p:cNvSpPr/>
          <p:nvPr/>
        </p:nvSpPr>
        <p:spPr>
          <a:xfrm>
            <a:off x="1496520" y="1408320"/>
            <a:ext cx="9198360" cy="429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6" name="Image 0" descr="/tmp/work/vecq/q-42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415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6" name="Shape 39"/>
          <p:cNvSpPr/>
          <p:nvPr/>
        </p:nvSpPr>
        <p:spPr>
          <a:xfrm>
            <a:off x="1496520" y="1408320"/>
            <a:ext cx="9198360" cy="50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7" name="Image 0" descr="/tmp/work/vecq/q-43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486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7" name="Shape 39"/>
          <p:cNvSpPr/>
          <p:nvPr/>
        </p:nvSpPr>
        <p:spPr>
          <a:xfrm>
            <a:off x="1496520" y="1408320"/>
            <a:ext cx="9198360" cy="274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8" name="Image 0" descr="/tmp/work/vecq/q-44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260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4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5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6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7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8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9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vector has magnitude and direction; a column vector is (across, up).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0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1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Magnitude = √(x² + y²) by Pythagoras.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2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3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Add/subtract vectors component by component, or nose-to-tail.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4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5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k a is parallel to a — this proves lines parallel or points collinear.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6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7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Vector geometry: AB = b − a; build the point you need from known vectors and ratios.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8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9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travel along vectors you know;  a scalar multiple means parallel.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LibreOffice/24.2.7.2$Linux_X86_64 LibreOffice_project/420$Build-2</Application>
  <AppVersion>15.0000</AppVersion>
  <Words>3185</Words>
  <Paragraphs>629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2026-07-17T09:55:33Z</dcterms:created>
  <dc:creator>Zahra Sheikh Ali</dc:creator>
  <dc:description/>
  <dc:language>en-US</dc:language>
  <cp:lastModifiedBy>zahraa sheik ali</cp:lastModifiedBy>
  <dcterms:modified xsi:type="dcterms:W3CDTF">2026-08-04T18:41:43Z</dcterms:modified>
  <cp:revision>16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Custom</vt:lpwstr>
  </property>
  <property fmtid="{D5CDD505-2E9C-101B-9397-08002B2CF9AE}" pid="4" name="Slides">
    <vt:r8>35</vt:r8>
  </property>
</Properties>
</file>