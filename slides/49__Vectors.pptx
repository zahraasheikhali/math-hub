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rels" ContentType="application/vnd.openxmlformats-package.relationships+xml"/>
  <Default Extension="xml" ContentType="application/xml"/>
  <Default Extension="wav" ContentType="audio/wav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72" r:id="rId4"/>
    <p:sldId id="258" r:id="rId5"/>
    <p:sldId id="296" r:id="rId6"/>
    <p:sldId id="275" r:id="rId7"/>
    <p:sldId id="277" r:id="rId8"/>
    <p:sldId id="259" r:id="rId9"/>
    <p:sldId id="273" r:id="rId10"/>
    <p:sldId id="261" r:id="rId11"/>
    <p:sldId id="279" r:id="rId12"/>
    <p:sldId id="280" r:id="rId13"/>
    <p:sldId id="295" r:id="rId14"/>
    <p:sldId id="260" r:id="rId15"/>
    <p:sldId id="281" r:id="rId16"/>
    <p:sldId id="283" r:id="rId17"/>
    <p:sldId id="284" r:id="rId18"/>
    <p:sldId id="285" r:id="rId19"/>
    <p:sldId id="286" r:id="rId20"/>
    <p:sldId id="263" r:id="rId21"/>
    <p:sldId id="287" r:id="rId22"/>
    <p:sldId id="288" r:id="rId23"/>
    <p:sldId id="289" r:id="rId24"/>
    <p:sldId id="290" r:id="rId25"/>
    <p:sldId id="291" r:id="rId26"/>
    <p:sldId id="292" r:id="rId27"/>
    <p:sldId id="293" r:id="rId28"/>
    <p:sldId id="264" r:id="rId29"/>
    <p:sldId id="265" r:id="rId30"/>
    <p:sldId id="266" r:id="rId31"/>
    <p:sldId id="267" r:id="rId32"/>
    <p:sldId id="268" r:id="rId33"/>
    <p:sldId id="269" r:id="rId34"/>
    <p:sldId id="270" r:id="rId35"/>
    <p:sldId id="271" r:id="rId3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-499" y="-8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image" Target="../media/image7.wmf"/><Relationship Id="rId1" Type="http://schemas.openxmlformats.org/officeDocument/2006/relationships/image" Target="../media/image6.wmf"/><Relationship Id="rId6" Type="http://schemas.openxmlformats.org/officeDocument/2006/relationships/image" Target="../media/image11.wmf"/><Relationship Id="rId5" Type="http://schemas.openxmlformats.org/officeDocument/2006/relationships/image" Target="../media/image10.wmf"/><Relationship Id="rId4" Type="http://schemas.openxmlformats.org/officeDocument/2006/relationships/image" Target="../media/image9.wmf"/></Relationships>
</file>

<file path=ppt/drawings/_rels/vmlDrawing2.v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wmf"/><Relationship Id="rId1" Type="http://schemas.openxmlformats.org/officeDocument/2006/relationships/image" Target="../media/image12.wmf"/><Relationship Id="rId6" Type="http://schemas.openxmlformats.org/officeDocument/2006/relationships/image" Target="../media/image17.wmf"/><Relationship Id="rId5" Type="http://schemas.openxmlformats.org/officeDocument/2006/relationships/image" Target="../media/image16.wmf"/><Relationship Id="rId4" Type="http://schemas.openxmlformats.org/officeDocument/2006/relationships/image" Target="../media/image15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337004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wmf"/><Relationship Id="rId13" Type="http://schemas.openxmlformats.org/officeDocument/2006/relationships/oleObject" Target="../embeddings/oleObject6.bin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12" Type="http://schemas.openxmlformats.org/officeDocument/2006/relationships/image" Target="../media/image10.wmf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7.wmf"/><Relationship Id="rId11" Type="http://schemas.openxmlformats.org/officeDocument/2006/relationships/oleObject" Target="../embeddings/oleObject5.bin"/><Relationship Id="rId5" Type="http://schemas.openxmlformats.org/officeDocument/2006/relationships/oleObject" Target="../embeddings/oleObject2.bin"/><Relationship Id="rId10" Type="http://schemas.openxmlformats.org/officeDocument/2006/relationships/image" Target="../media/image9.wmf"/><Relationship Id="rId4" Type="http://schemas.openxmlformats.org/officeDocument/2006/relationships/image" Target="../media/image6.wmf"/><Relationship Id="rId9" Type="http://schemas.openxmlformats.org/officeDocument/2006/relationships/oleObject" Target="../embeddings/oleObject4.bin"/><Relationship Id="rId14" Type="http://schemas.openxmlformats.org/officeDocument/2006/relationships/image" Target="../media/image11.w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13" Type="http://schemas.openxmlformats.org/officeDocument/2006/relationships/oleObject" Target="../embeddings/oleObject12.bin"/><Relationship Id="rId3" Type="http://schemas.openxmlformats.org/officeDocument/2006/relationships/oleObject" Target="../embeddings/oleObject7.bin"/><Relationship Id="rId7" Type="http://schemas.openxmlformats.org/officeDocument/2006/relationships/oleObject" Target="../embeddings/oleObject9.bin"/><Relationship Id="rId12" Type="http://schemas.openxmlformats.org/officeDocument/2006/relationships/image" Target="../media/image16.wmf"/><Relationship Id="rId17" Type="http://schemas.openxmlformats.org/officeDocument/2006/relationships/oleObject" Target="../embeddings/oleObject15.bin"/><Relationship Id="rId2" Type="http://schemas.openxmlformats.org/officeDocument/2006/relationships/slideLayout" Target="../slideLayouts/slideLayout1.xml"/><Relationship Id="rId16" Type="http://schemas.openxmlformats.org/officeDocument/2006/relationships/oleObject" Target="../embeddings/oleObject14.bin"/><Relationship Id="rId1" Type="http://schemas.openxmlformats.org/officeDocument/2006/relationships/vmlDrawing" Target="../drawings/vmlDrawing2.vml"/><Relationship Id="rId6" Type="http://schemas.openxmlformats.org/officeDocument/2006/relationships/image" Target="../media/image13.wmf"/><Relationship Id="rId11" Type="http://schemas.openxmlformats.org/officeDocument/2006/relationships/oleObject" Target="../embeddings/oleObject11.bin"/><Relationship Id="rId5" Type="http://schemas.openxmlformats.org/officeDocument/2006/relationships/oleObject" Target="../embeddings/oleObject8.bin"/><Relationship Id="rId15" Type="http://schemas.openxmlformats.org/officeDocument/2006/relationships/oleObject" Target="../embeddings/oleObject13.bin"/><Relationship Id="rId10" Type="http://schemas.openxmlformats.org/officeDocument/2006/relationships/image" Target="../media/image15.wmf"/><Relationship Id="rId4" Type="http://schemas.openxmlformats.org/officeDocument/2006/relationships/image" Target="../media/image12.wmf"/><Relationship Id="rId9" Type="http://schemas.openxmlformats.org/officeDocument/2006/relationships/oleObject" Target="../embeddings/oleObject10.bin"/><Relationship Id="rId14" Type="http://schemas.openxmlformats.org/officeDocument/2006/relationships/image" Target="../media/image17.wmf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778240" y="2377440"/>
            <a:ext cx="2194560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77240" y="6400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/>
        </p:spPr>
      </p:sp>
      <p:sp>
        <p:nvSpPr>
          <p:cNvPr id="39" name="Text 37"/>
          <p:cNvSpPr/>
          <p:nvPr/>
        </p:nvSpPr>
        <p:spPr>
          <a:xfrm>
            <a:off x="777240" y="640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2160" dirty="0"/>
          </a:p>
        </p:txBody>
      </p:sp>
      <p:sp>
        <p:nvSpPr>
          <p:cNvPr id="40" name="Text 38"/>
          <p:cNvSpPr/>
          <p:nvPr/>
        </p:nvSpPr>
        <p:spPr>
          <a:xfrm>
            <a:off x="160020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 MATHS HUB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6002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77240" y="22402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Vectors</a:t>
            </a:r>
            <a:endParaRPr lang="en-US" sz="4000" dirty="0"/>
          </a:p>
        </p:txBody>
      </p:sp>
      <p:sp>
        <p:nvSpPr>
          <p:cNvPr id="43" name="Text 41"/>
          <p:cNvSpPr/>
          <p:nvPr/>
        </p:nvSpPr>
        <p:spPr>
          <a:xfrm>
            <a:off x="804672" y="33101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Column Vectors · Magnitude · Adding &amp; Subtracting · Scalar Multiples · Vector Geometry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77240" y="4297680"/>
            <a:ext cx="6766560" cy="169164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097280" y="44988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1097280" y="495604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9D2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IGCSE Mathematics Teacher  ·  M.Sc. Differential Geometry &amp; Geometric Control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097280" y="539496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      ✉  zahraa.sheikhali@outlook.com</a:t>
            </a:r>
            <a:endParaRPr lang="en-US" sz="12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OVERVIEW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Quantities with Size AND Direction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vector has both a MAGNITUDE (size) and a DIRECTION.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write it as a column, or with an arrow. This lesson builds up to full vector-geometry proofs.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435608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Column vectors &amp; notation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4343400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599432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4599432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212080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Magnitude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8119872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75904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375904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988552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&amp; subtracting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566928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2960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22960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435608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Scalar multiples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4343400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99432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4599432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5212080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vectors &amp; paths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119872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375904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375904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8988552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words:  </a:t>
            </a: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· column vector · magnitude · scalar · parallel · resultant · position · ratio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65992" y="64857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4944" y="46569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50">
                <a:solidFill>
                  <a:srgbClr val="C84F2F"/>
                </a:solidFill>
                <a:latin typeface="Calibri"/>
              </a:rPr>
              <a:t>BEFORE WE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24944" y="302601"/>
            <a:ext cx="98755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>
                <a:solidFill>
                  <a:srgbClr val="1C2A22"/>
                </a:solidFill>
                <a:latin typeface="Cambria"/>
              </a:rPr>
              <a:t>Speed vs Velocity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4944" y="906105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C6B60"/>
                </a:solidFill>
                <a:latin typeface="Calibri"/>
              </a:rPr>
              <a:t>Vectors exist because some quantities need a direction as well as a size. Compare these two ideas.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1983" y="1147801"/>
            <a:ext cx="5528919" cy="230400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33868" y="1193521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C2A22"/>
                </a:solidFill>
                <a:latin typeface="Cambria"/>
              </a:rPr>
              <a:t>Speed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7292" y="1668305"/>
            <a:ext cx="4782312" cy="10802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350" b="0" dirty="0">
                <a:solidFill>
                  <a:srgbClr val="5C6B60"/>
                </a:solidFill>
                <a:latin typeface="Calibri"/>
              </a:rPr>
              <a:t>How fast something moves.</a:t>
            </a:r>
          </a:p>
          <a:p>
            <a:pPr>
              <a:lnSpc>
                <a:spcPct val="130000"/>
              </a:lnSpc>
            </a:pPr>
            <a:r>
              <a:rPr sz="1350" b="0" dirty="0">
                <a:solidFill>
                  <a:srgbClr val="5C6B60"/>
                </a:solidFill>
                <a:latin typeface="Calibri"/>
              </a:rPr>
              <a:t>Has magnitude only — just a number.</a:t>
            </a:r>
          </a:p>
          <a:p>
            <a:pPr>
              <a:lnSpc>
                <a:spcPct val="130000"/>
              </a:lnSpc>
            </a:pPr>
            <a:r>
              <a:rPr sz="1350" b="0" dirty="0">
                <a:solidFill>
                  <a:srgbClr val="5C6B60"/>
                </a:solidFill>
                <a:latin typeface="Calibri"/>
              </a:rPr>
              <a:t>“I moved 5 steps.”</a:t>
            </a:r>
          </a:p>
          <a:p>
            <a:pPr>
              <a:lnSpc>
                <a:spcPct val="130000"/>
              </a:lnSpc>
            </a:pPr>
            <a:r>
              <a:rPr sz="1350" b="0" dirty="0">
                <a:solidFill>
                  <a:srgbClr val="5C6B60"/>
                </a:solidFill>
                <a:latin typeface="Calibri"/>
              </a:rPr>
              <a:t>This tells us HOW MUCH, but not which 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7292" y="2849434"/>
            <a:ext cx="2377440" cy="457200"/>
          </a:xfrm>
          <a:prstGeom prst="roundRect">
            <a:avLst>
              <a:gd name="adj" fmla="val 30000"/>
            </a:avLst>
          </a:prstGeom>
          <a:solidFill>
            <a:srgbClr val="FB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F2F"/>
                </a:solidFill>
                <a:latin typeface="Cambria"/>
              </a:rPr>
              <a:t>magnitude 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16984" y="1147802"/>
            <a:ext cx="5349240" cy="230400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99632" y="1211105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1C2A22"/>
                </a:solidFill>
                <a:latin typeface="Cambria"/>
              </a:rPr>
              <a:t>Velocity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2" y="1650721"/>
            <a:ext cx="47091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350" b="0" dirty="0">
                <a:solidFill>
                  <a:srgbClr val="5C6B60"/>
                </a:solidFill>
                <a:latin typeface="Calibri"/>
              </a:rPr>
              <a:t>How fast AND in which direction.</a:t>
            </a:r>
          </a:p>
          <a:p>
            <a:pPr>
              <a:lnSpc>
                <a:spcPct val="130000"/>
              </a:lnSpc>
            </a:pPr>
            <a:r>
              <a:rPr sz="1350" b="0" dirty="0">
                <a:solidFill>
                  <a:srgbClr val="5C6B60"/>
                </a:solidFill>
                <a:latin typeface="Calibri"/>
              </a:rPr>
              <a:t>Has magnitude + direction — a vector.</a:t>
            </a:r>
          </a:p>
          <a:p>
            <a:pPr>
              <a:lnSpc>
                <a:spcPct val="130000"/>
              </a:lnSpc>
            </a:pPr>
            <a:r>
              <a:rPr sz="1350" b="0" dirty="0">
                <a:solidFill>
                  <a:srgbClr val="5C6B60"/>
                </a:solidFill>
                <a:latin typeface="Calibri"/>
              </a:rPr>
              <a:t>“I moved 5 steps to the right.”</a:t>
            </a:r>
          </a:p>
          <a:p>
            <a:pPr>
              <a:lnSpc>
                <a:spcPct val="130000"/>
              </a:lnSpc>
            </a:pPr>
            <a:r>
              <a:rPr sz="1350" b="0" dirty="0">
                <a:solidFill>
                  <a:srgbClr val="5C6B60"/>
                </a:solidFill>
                <a:latin typeface="Calibri"/>
              </a:rPr>
              <a:t>5 steps = magnitude.  Right = direction.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5505" y="2849434"/>
            <a:ext cx="2834640" cy="457200"/>
          </a:xfrm>
          <a:prstGeom prst="roundRect">
            <a:avLst>
              <a:gd name="adj" fmla="val 30000"/>
            </a:avLst>
          </a:prstGeom>
          <a:solidFill>
            <a:srgbClr val="C84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magnitude + direction</a:t>
            </a:r>
          </a:p>
        </p:txBody>
      </p:sp>
      <p:sp>
        <p:nvSpPr>
          <p:cNvPr id="15" name="Oval 14"/>
          <p:cNvSpPr/>
          <p:nvPr/>
        </p:nvSpPr>
        <p:spPr>
          <a:xfrm>
            <a:off x="7593677" y="1378671"/>
            <a:ext cx="36000" cy="36000"/>
          </a:xfrm>
          <a:prstGeom prst="ellipse">
            <a:avLst/>
          </a:prstGeom>
          <a:solidFill>
            <a:srgbClr val="1C2A2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7611677" y="1396671"/>
            <a:ext cx="1463040" cy="0"/>
          </a:xfrm>
          <a:prstGeom prst="line">
            <a:avLst/>
          </a:prstGeom>
          <a:ln w="33020">
            <a:solidFill>
              <a:srgbClr val="C84F2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24028" y="3596055"/>
            <a:ext cx="11057839" cy="395654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600" b="1">
                <a:solidFill>
                  <a:srgbClr val="E0AC2B"/>
                </a:solidFill>
                <a:latin typeface="Cambria"/>
              </a:rPr>
              <a:t>A vector is a quantity with both magnitude and direction — velocity is a vector, speed is not.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224" y="4149970"/>
            <a:ext cx="5349240" cy="2038058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6264" y="4424289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C2A22"/>
                </a:solidFill>
                <a:latin typeface="Cambria"/>
              </a:rPr>
              <a:t>Coordinates (x, 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264" y="5018649"/>
            <a:ext cx="47091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350" b="0">
                <a:solidFill>
                  <a:srgbClr val="5C6B60"/>
                </a:solidFill>
                <a:latin typeface="Calibri"/>
              </a:rPr>
              <a:t>Represent a POSITION.</a:t>
            </a:r>
          </a:p>
          <a:p>
            <a:pPr>
              <a:lnSpc>
                <a:spcPct val="135000"/>
              </a:lnSpc>
            </a:pPr>
            <a:r>
              <a:rPr sz="1350" b="0">
                <a:solidFill>
                  <a:srgbClr val="5C6B60"/>
                </a:solidFill>
                <a:latin typeface="Calibri"/>
              </a:rPr>
              <a:t>“The point is at (3, 5).”</a:t>
            </a:r>
          </a:p>
          <a:p>
            <a:pPr>
              <a:lnSpc>
                <a:spcPct val="135000"/>
              </a:lnSpc>
            </a:pPr>
            <a:r>
              <a:rPr sz="1350" b="0">
                <a:solidFill>
                  <a:srgbClr val="5C6B60"/>
                </a:solidFill>
                <a:latin typeface="Calibri"/>
              </a:rPr>
              <a:t>Fixed — tied to the origin.</a:t>
            </a:r>
          </a:p>
          <a:p>
            <a:pPr>
              <a:lnSpc>
                <a:spcPct val="135000"/>
              </a:lnSpc>
            </a:pPr>
            <a:r>
              <a:rPr sz="1350" b="0">
                <a:solidFill>
                  <a:srgbClr val="5C6B60"/>
                </a:solidFill>
                <a:latin typeface="Calibri"/>
              </a:rPr>
              <a:t>Written with a comma: (3, 5).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51224" y="4149969"/>
            <a:ext cx="5349240" cy="2038059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71264" y="4424289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C2A22"/>
                </a:solidFill>
                <a:latin typeface="Cambria"/>
              </a:rPr>
              <a:t>Vectors (right, up)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1536" y="4772465"/>
            <a:ext cx="47091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350" b="0" dirty="0">
                <a:solidFill>
                  <a:srgbClr val="5C6B60"/>
                </a:solidFill>
                <a:latin typeface="Calibri"/>
              </a:rPr>
              <a:t>Represent a MOVEMENT.</a:t>
            </a:r>
          </a:p>
          <a:p>
            <a:pPr>
              <a:lnSpc>
                <a:spcPct val="135000"/>
              </a:lnSpc>
            </a:pPr>
            <a:r>
              <a:rPr sz="1350" b="0" dirty="0">
                <a:solidFill>
                  <a:srgbClr val="5C6B60"/>
                </a:solidFill>
                <a:latin typeface="Calibri"/>
              </a:rPr>
              <a:t>“Move 3 right and 5 up.”</a:t>
            </a:r>
          </a:p>
          <a:p>
            <a:pPr>
              <a:lnSpc>
                <a:spcPct val="135000"/>
              </a:lnSpc>
            </a:pPr>
            <a:r>
              <a:rPr sz="1350" b="0" dirty="0">
                <a:solidFill>
                  <a:srgbClr val="5C6B60"/>
                </a:solidFill>
                <a:latin typeface="Calibri"/>
              </a:rPr>
              <a:t>Free — can start anywhere.</a:t>
            </a:r>
          </a:p>
          <a:p>
            <a:pPr>
              <a:lnSpc>
                <a:spcPct val="135000"/>
              </a:lnSpc>
            </a:pPr>
            <a:r>
              <a:rPr sz="1350" b="0" dirty="0">
                <a:solidFill>
                  <a:srgbClr val="5C6B60"/>
                </a:solidFill>
                <a:latin typeface="Calibri"/>
              </a:rPr>
              <a:t>Written stacked, no comma: (3 over 5).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625" y="6311119"/>
            <a:ext cx="11057839" cy="473026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550" b="1">
                <a:solidFill>
                  <a:srgbClr val="E0AC2B"/>
                </a:solidFill>
                <a:latin typeface="Cambria"/>
              </a:rPr>
              <a:t>Coordinates fix a position; vectors describe a movement between positions.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IDEA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Writing a Vector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98448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9844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vector takes you FROM one point TO another.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number is across (right +), the bottom is up (up +).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5760720" y="2286000"/>
            <a:ext cx="5870448" cy="3200400"/>
          </a:xfrm>
          <a:prstGeom prst="roundRect">
            <a:avLst>
              <a:gd name="adj" fmla="val 1714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6126480" y="2523744"/>
            <a:ext cx="5138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write it</a:t>
            </a:r>
            <a:endParaRPr lang="en-US" sz="1700" dirty="0"/>
          </a:p>
        </p:txBody>
      </p:sp>
      <p:sp>
        <p:nvSpPr>
          <p:cNvPr id="51" name="Text 49"/>
          <p:cNvSpPr/>
          <p:nvPr/>
        </p:nvSpPr>
        <p:spPr>
          <a:xfrm>
            <a:off x="6126480" y="292608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4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 with the endpoints:  AB (with an arrow on top)</a:t>
            </a:r>
            <a:endParaRPr lang="en-US" sz="14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 with a bold/underlined letter:  a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 as a COLUMN vector:</a:t>
            </a:r>
            <a:endParaRPr lang="en-US" sz="1450" dirty="0"/>
          </a:p>
        </p:txBody>
      </p:sp>
      <p:sp>
        <p:nvSpPr>
          <p:cNvPr id="52" name="Text 50"/>
          <p:cNvSpPr/>
          <p:nvPr/>
        </p:nvSpPr>
        <p:spPr>
          <a:xfrm>
            <a:off x="7040880" y="4416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53" name="Text 51"/>
          <p:cNvSpPr/>
          <p:nvPr/>
        </p:nvSpPr>
        <p:spPr>
          <a:xfrm>
            <a:off x="7040880" y="48188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 smtClean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</a:t>
            </a:r>
            <a:endParaRPr lang="en-US" sz="1700" dirty="0"/>
          </a:p>
        </p:txBody>
      </p:sp>
      <p:sp>
        <p:nvSpPr>
          <p:cNvPr id="54" name="Shape 52"/>
          <p:cNvSpPr/>
          <p:nvPr/>
        </p:nvSpPr>
        <p:spPr>
          <a:xfrm>
            <a:off x="6995160" y="4398264"/>
            <a:ext cx="0" cy="82296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995160" y="4398264"/>
            <a:ext cx="109728" cy="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995160" y="5221224"/>
            <a:ext cx="109728" cy="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001000" y="4398264"/>
            <a:ext cx="0" cy="82296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891272" y="4398264"/>
            <a:ext cx="109728" cy="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91272" y="5221224"/>
            <a:ext cx="109728" cy="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229600" y="4617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right, 2 down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is the reverse of AB — same length, opposite direction (negate both numbers).</a:t>
            </a:r>
            <a:endParaRPr lang="en-US" sz="1250" dirty="0"/>
          </a:p>
        </p:txBody>
      </p:sp>
      <p:grpSp>
        <p:nvGrpSpPr>
          <p:cNvPr id="62" name="Group 280"/>
          <p:cNvGrpSpPr>
            <a:grpSpLocks/>
          </p:cNvGrpSpPr>
          <p:nvPr/>
        </p:nvGrpSpPr>
        <p:grpSpPr bwMode="auto">
          <a:xfrm>
            <a:off x="975825" y="2163835"/>
            <a:ext cx="3300412" cy="3500438"/>
            <a:chOff x="5736078" y="3356992"/>
            <a:chExt cx="3300418" cy="3501008"/>
          </a:xfrm>
        </p:grpSpPr>
        <p:sp>
          <p:nvSpPr>
            <p:cNvPr id="63" name="Rectangle 62"/>
            <p:cNvSpPr/>
            <p:nvPr/>
          </p:nvSpPr>
          <p:spPr>
            <a:xfrm>
              <a:off x="5736078" y="3450670"/>
              <a:ext cx="3300418" cy="340733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 dirty="0"/>
            </a:p>
          </p:txBody>
        </p:sp>
        <p:grpSp>
          <p:nvGrpSpPr>
            <p:cNvPr id="64" name="Group 304"/>
            <p:cNvGrpSpPr>
              <a:grpSpLocks/>
            </p:cNvGrpSpPr>
            <p:nvPr/>
          </p:nvGrpSpPr>
          <p:grpSpPr bwMode="auto">
            <a:xfrm>
              <a:off x="5736078" y="3356992"/>
              <a:ext cx="3300418" cy="3471866"/>
              <a:chOff x="1338" y="1008"/>
              <a:chExt cx="2924" cy="2965"/>
            </a:xfrm>
          </p:grpSpPr>
          <p:grpSp>
            <p:nvGrpSpPr>
              <p:cNvPr id="65" name="Group 5"/>
              <p:cNvGrpSpPr>
                <a:grpSpLocks/>
              </p:cNvGrpSpPr>
              <p:nvPr/>
            </p:nvGrpSpPr>
            <p:grpSpPr bwMode="auto">
              <a:xfrm>
                <a:off x="1344" y="1088"/>
                <a:ext cx="2880" cy="2880"/>
                <a:chOff x="576" y="720"/>
                <a:chExt cx="3072" cy="3072"/>
              </a:xfrm>
            </p:grpSpPr>
            <p:sp>
              <p:nvSpPr>
                <p:cNvPr id="84" name="Rectangle 6"/>
                <p:cNvSpPr>
                  <a:spLocks noChangeArrowheads="1"/>
                </p:cNvSpPr>
                <p:nvPr/>
              </p:nvSpPr>
              <p:spPr bwMode="auto">
                <a:xfrm>
                  <a:off x="576" y="72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85" name="Rectangle 7"/>
                <p:cNvSpPr>
                  <a:spLocks noChangeArrowheads="1"/>
                </p:cNvSpPr>
                <p:nvPr/>
              </p:nvSpPr>
              <p:spPr bwMode="auto">
                <a:xfrm>
                  <a:off x="768" y="72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86" name="Rectangle 8"/>
                <p:cNvSpPr>
                  <a:spLocks noChangeArrowheads="1"/>
                </p:cNvSpPr>
                <p:nvPr/>
              </p:nvSpPr>
              <p:spPr bwMode="auto">
                <a:xfrm>
                  <a:off x="576" y="91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87" name="Rectangle 9"/>
                <p:cNvSpPr>
                  <a:spLocks noChangeArrowheads="1"/>
                </p:cNvSpPr>
                <p:nvPr/>
              </p:nvSpPr>
              <p:spPr bwMode="auto">
                <a:xfrm>
                  <a:off x="768" y="91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88" name="Rectangle 10"/>
                <p:cNvSpPr>
                  <a:spLocks noChangeArrowheads="1"/>
                </p:cNvSpPr>
                <p:nvPr/>
              </p:nvSpPr>
              <p:spPr bwMode="auto">
                <a:xfrm>
                  <a:off x="960" y="72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89" name="Rectangle 11"/>
                <p:cNvSpPr>
                  <a:spLocks noChangeArrowheads="1"/>
                </p:cNvSpPr>
                <p:nvPr/>
              </p:nvSpPr>
              <p:spPr bwMode="auto">
                <a:xfrm>
                  <a:off x="1152" y="72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90" name="Rectangle 12"/>
                <p:cNvSpPr>
                  <a:spLocks noChangeArrowheads="1"/>
                </p:cNvSpPr>
                <p:nvPr/>
              </p:nvSpPr>
              <p:spPr bwMode="auto">
                <a:xfrm>
                  <a:off x="960" y="91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91" name="Rectangle 13"/>
                <p:cNvSpPr>
                  <a:spLocks noChangeArrowheads="1"/>
                </p:cNvSpPr>
                <p:nvPr/>
              </p:nvSpPr>
              <p:spPr bwMode="auto">
                <a:xfrm>
                  <a:off x="1152" y="91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92" name="Rectangle 14"/>
                <p:cNvSpPr>
                  <a:spLocks noChangeArrowheads="1"/>
                </p:cNvSpPr>
                <p:nvPr/>
              </p:nvSpPr>
              <p:spPr bwMode="auto">
                <a:xfrm>
                  <a:off x="576" y="110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93" name="Rectangle 15"/>
                <p:cNvSpPr>
                  <a:spLocks noChangeArrowheads="1"/>
                </p:cNvSpPr>
                <p:nvPr/>
              </p:nvSpPr>
              <p:spPr bwMode="auto">
                <a:xfrm>
                  <a:off x="768" y="110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94" name="Rectangle 16"/>
                <p:cNvSpPr>
                  <a:spLocks noChangeArrowheads="1"/>
                </p:cNvSpPr>
                <p:nvPr/>
              </p:nvSpPr>
              <p:spPr bwMode="auto">
                <a:xfrm>
                  <a:off x="576" y="129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95" name="Rectangle 17"/>
                <p:cNvSpPr>
                  <a:spLocks noChangeArrowheads="1"/>
                </p:cNvSpPr>
                <p:nvPr/>
              </p:nvSpPr>
              <p:spPr bwMode="auto">
                <a:xfrm>
                  <a:off x="768" y="129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96" name="Rectangle 18"/>
                <p:cNvSpPr>
                  <a:spLocks noChangeArrowheads="1"/>
                </p:cNvSpPr>
                <p:nvPr/>
              </p:nvSpPr>
              <p:spPr bwMode="auto">
                <a:xfrm>
                  <a:off x="960" y="110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97" name="Rectangle 19"/>
                <p:cNvSpPr>
                  <a:spLocks noChangeArrowheads="1"/>
                </p:cNvSpPr>
                <p:nvPr/>
              </p:nvSpPr>
              <p:spPr bwMode="auto">
                <a:xfrm>
                  <a:off x="1152" y="110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98" name="Rectangle 20"/>
                <p:cNvSpPr>
                  <a:spLocks noChangeArrowheads="1"/>
                </p:cNvSpPr>
                <p:nvPr/>
              </p:nvSpPr>
              <p:spPr bwMode="auto">
                <a:xfrm>
                  <a:off x="960" y="129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99" name="Rectangle 21"/>
                <p:cNvSpPr>
                  <a:spLocks noChangeArrowheads="1"/>
                </p:cNvSpPr>
                <p:nvPr/>
              </p:nvSpPr>
              <p:spPr bwMode="auto">
                <a:xfrm>
                  <a:off x="1152" y="129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00" name="Rectangle 22"/>
                <p:cNvSpPr>
                  <a:spLocks noChangeArrowheads="1"/>
                </p:cNvSpPr>
                <p:nvPr/>
              </p:nvSpPr>
              <p:spPr bwMode="auto">
                <a:xfrm>
                  <a:off x="1344" y="72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01" name="Rectangle 23"/>
                <p:cNvSpPr>
                  <a:spLocks noChangeArrowheads="1"/>
                </p:cNvSpPr>
                <p:nvPr/>
              </p:nvSpPr>
              <p:spPr bwMode="auto">
                <a:xfrm>
                  <a:off x="1536" y="72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02" name="Rectangle 24"/>
                <p:cNvSpPr>
                  <a:spLocks noChangeArrowheads="1"/>
                </p:cNvSpPr>
                <p:nvPr/>
              </p:nvSpPr>
              <p:spPr bwMode="auto">
                <a:xfrm>
                  <a:off x="1344" y="91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03" name="Rectangle 25"/>
                <p:cNvSpPr>
                  <a:spLocks noChangeArrowheads="1"/>
                </p:cNvSpPr>
                <p:nvPr/>
              </p:nvSpPr>
              <p:spPr bwMode="auto">
                <a:xfrm>
                  <a:off x="1536" y="91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04" name="Rectangle 26"/>
                <p:cNvSpPr>
                  <a:spLocks noChangeArrowheads="1"/>
                </p:cNvSpPr>
                <p:nvPr/>
              </p:nvSpPr>
              <p:spPr bwMode="auto">
                <a:xfrm>
                  <a:off x="1728" y="72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05" name="Rectangle 27"/>
                <p:cNvSpPr>
                  <a:spLocks noChangeArrowheads="1"/>
                </p:cNvSpPr>
                <p:nvPr/>
              </p:nvSpPr>
              <p:spPr bwMode="auto">
                <a:xfrm>
                  <a:off x="1920" y="72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06" name="Rectangle 28"/>
                <p:cNvSpPr>
                  <a:spLocks noChangeArrowheads="1"/>
                </p:cNvSpPr>
                <p:nvPr/>
              </p:nvSpPr>
              <p:spPr bwMode="auto">
                <a:xfrm>
                  <a:off x="1728" y="91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07" name="Rectangle 29"/>
                <p:cNvSpPr>
                  <a:spLocks noChangeArrowheads="1"/>
                </p:cNvSpPr>
                <p:nvPr/>
              </p:nvSpPr>
              <p:spPr bwMode="auto">
                <a:xfrm>
                  <a:off x="1920" y="91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08" name="Rectangle 30"/>
                <p:cNvSpPr>
                  <a:spLocks noChangeArrowheads="1"/>
                </p:cNvSpPr>
                <p:nvPr/>
              </p:nvSpPr>
              <p:spPr bwMode="auto">
                <a:xfrm>
                  <a:off x="1344" y="110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09" name="Rectangle 31"/>
                <p:cNvSpPr>
                  <a:spLocks noChangeArrowheads="1"/>
                </p:cNvSpPr>
                <p:nvPr/>
              </p:nvSpPr>
              <p:spPr bwMode="auto">
                <a:xfrm>
                  <a:off x="1536" y="110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10" name="Rectangle 32"/>
                <p:cNvSpPr>
                  <a:spLocks noChangeArrowheads="1"/>
                </p:cNvSpPr>
                <p:nvPr/>
              </p:nvSpPr>
              <p:spPr bwMode="auto">
                <a:xfrm>
                  <a:off x="1344" y="129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11" name="Rectangle 33"/>
                <p:cNvSpPr>
                  <a:spLocks noChangeArrowheads="1"/>
                </p:cNvSpPr>
                <p:nvPr/>
              </p:nvSpPr>
              <p:spPr bwMode="auto">
                <a:xfrm>
                  <a:off x="1536" y="129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12" name="Rectangle 34"/>
                <p:cNvSpPr>
                  <a:spLocks noChangeArrowheads="1"/>
                </p:cNvSpPr>
                <p:nvPr/>
              </p:nvSpPr>
              <p:spPr bwMode="auto">
                <a:xfrm>
                  <a:off x="1728" y="110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13" name="Rectangle 35"/>
                <p:cNvSpPr>
                  <a:spLocks noChangeArrowheads="1"/>
                </p:cNvSpPr>
                <p:nvPr/>
              </p:nvSpPr>
              <p:spPr bwMode="auto">
                <a:xfrm>
                  <a:off x="1920" y="110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14" name="Rectangle 36"/>
                <p:cNvSpPr>
                  <a:spLocks noChangeArrowheads="1"/>
                </p:cNvSpPr>
                <p:nvPr/>
              </p:nvSpPr>
              <p:spPr bwMode="auto">
                <a:xfrm>
                  <a:off x="1728" y="129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15" name="Rectangle 37"/>
                <p:cNvSpPr>
                  <a:spLocks noChangeArrowheads="1"/>
                </p:cNvSpPr>
                <p:nvPr/>
              </p:nvSpPr>
              <p:spPr bwMode="auto">
                <a:xfrm>
                  <a:off x="1920" y="129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16" name="Rectangle 38"/>
                <p:cNvSpPr>
                  <a:spLocks noChangeArrowheads="1"/>
                </p:cNvSpPr>
                <p:nvPr/>
              </p:nvSpPr>
              <p:spPr bwMode="auto">
                <a:xfrm>
                  <a:off x="576" y="148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17" name="Rectangle 39"/>
                <p:cNvSpPr>
                  <a:spLocks noChangeArrowheads="1"/>
                </p:cNvSpPr>
                <p:nvPr/>
              </p:nvSpPr>
              <p:spPr bwMode="auto">
                <a:xfrm>
                  <a:off x="768" y="148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18" name="Rectangle 40"/>
                <p:cNvSpPr>
                  <a:spLocks noChangeArrowheads="1"/>
                </p:cNvSpPr>
                <p:nvPr/>
              </p:nvSpPr>
              <p:spPr bwMode="auto">
                <a:xfrm>
                  <a:off x="576" y="168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19" name="Rectangle 41"/>
                <p:cNvSpPr>
                  <a:spLocks noChangeArrowheads="1"/>
                </p:cNvSpPr>
                <p:nvPr/>
              </p:nvSpPr>
              <p:spPr bwMode="auto">
                <a:xfrm>
                  <a:off x="768" y="168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20" name="Rectangle 42"/>
                <p:cNvSpPr>
                  <a:spLocks noChangeArrowheads="1"/>
                </p:cNvSpPr>
                <p:nvPr/>
              </p:nvSpPr>
              <p:spPr bwMode="auto">
                <a:xfrm>
                  <a:off x="960" y="148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21" name="Rectangle 43"/>
                <p:cNvSpPr>
                  <a:spLocks noChangeArrowheads="1"/>
                </p:cNvSpPr>
                <p:nvPr/>
              </p:nvSpPr>
              <p:spPr bwMode="auto">
                <a:xfrm>
                  <a:off x="1152" y="148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22" name="Rectangle 44"/>
                <p:cNvSpPr>
                  <a:spLocks noChangeArrowheads="1"/>
                </p:cNvSpPr>
                <p:nvPr/>
              </p:nvSpPr>
              <p:spPr bwMode="auto">
                <a:xfrm>
                  <a:off x="960" y="168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23" name="Rectangle 45"/>
                <p:cNvSpPr>
                  <a:spLocks noChangeArrowheads="1"/>
                </p:cNvSpPr>
                <p:nvPr/>
              </p:nvSpPr>
              <p:spPr bwMode="auto">
                <a:xfrm>
                  <a:off x="1152" y="168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24" name="Rectangle 46"/>
                <p:cNvSpPr>
                  <a:spLocks noChangeArrowheads="1"/>
                </p:cNvSpPr>
                <p:nvPr/>
              </p:nvSpPr>
              <p:spPr bwMode="auto">
                <a:xfrm>
                  <a:off x="576" y="187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25" name="Rectangle 47"/>
                <p:cNvSpPr>
                  <a:spLocks noChangeArrowheads="1"/>
                </p:cNvSpPr>
                <p:nvPr/>
              </p:nvSpPr>
              <p:spPr bwMode="auto">
                <a:xfrm>
                  <a:off x="768" y="187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26" name="Rectangle 48"/>
                <p:cNvSpPr>
                  <a:spLocks noChangeArrowheads="1"/>
                </p:cNvSpPr>
                <p:nvPr/>
              </p:nvSpPr>
              <p:spPr bwMode="auto">
                <a:xfrm>
                  <a:off x="576" y="206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27" name="Rectangle 49"/>
                <p:cNvSpPr>
                  <a:spLocks noChangeArrowheads="1"/>
                </p:cNvSpPr>
                <p:nvPr/>
              </p:nvSpPr>
              <p:spPr bwMode="auto">
                <a:xfrm>
                  <a:off x="768" y="206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28" name="Rectangle 50"/>
                <p:cNvSpPr>
                  <a:spLocks noChangeArrowheads="1"/>
                </p:cNvSpPr>
                <p:nvPr/>
              </p:nvSpPr>
              <p:spPr bwMode="auto">
                <a:xfrm>
                  <a:off x="960" y="187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29" name="Rectangle 51"/>
                <p:cNvSpPr>
                  <a:spLocks noChangeArrowheads="1"/>
                </p:cNvSpPr>
                <p:nvPr/>
              </p:nvSpPr>
              <p:spPr bwMode="auto">
                <a:xfrm>
                  <a:off x="1152" y="187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30" name="Rectangle 52"/>
                <p:cNvSpPr>
                  <a:spLocks noChangeArrowheads="1"/>
                </p:cNvSpPr>
                <p:nvPr/>
              </p:nvSpPr>
              <p:spPr bwMode="auto">
                <a:xfrm>
                  <a:off x="960" y="206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31" name="Rectangle 53"/>
                <p:cNvSpPr>
                  <a:spLocks noChangeArrowheads="1"/>
                </p:cNvSpPr>
                <p:nvPr/>
              </p:nvSpPr>
              <p:spPr bwMode="auto">
                <a:xfrm>
                  <a:off x="1152" y="206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32" name="Rectangle 54"/>
                <p:cNvSpPr>
                  <a:spLocks noChangeArrowheads="1"/>
                </p:cNvSpPr>
                <p:nvPr/>
              </p:nvSpPr>
              <p:spPr bwMode="auto">
                <a:xfrm>
                  <a:off x="1344" y="148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33" name="Rectangle 55"/>
                <p:cNvSpPr>
                  <a:spLocks noChangeArrowheads="1"/>
                </p:cNvSpPr>
                <p:nvPr/>
              </p:nvSpPr>
              <p:spPr bwMode="auto">
                <a:xfrm>
                  <a:off x="1536" y="148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34" name="Rectangle 56"/>
                <p:cNvSpPr>
                  <a:spLocks noChangeArrowheads="1"/>
                </p:cNvSpPr>
                <p:nvPr/>
              </p:nvSpPr>
              <p:spPr bwMode="auto">
                <a:xfrm>
                  <a:off x="1344" y="168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35" name="Rectangle 57"/>
                <p:cNvSpPr>
                  <a:spLocks noChangeArrowheads="1"/>
                </p:cNvSpPr>
                <p:nvPr/>
              </p:nvSpPr>
              <p:spPr bwMode="auto">
                <a:xfrm>
                  <a:off x="1536" y="168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36" name="Rectangle 58"/>
                <p:cNvSpPr>
                  <a:spLocks noChangeArrowheads="1"/>
                </p:cNvSpPr>
                <p:nvPr/>
              </p:nvSpPr>
              <p:spPr bwMode="auto">
                <a:xfrm>
                  <a:off x="1728" y="148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37" name="Rectangle 59"/>
                <p:cNvSpPr>
                  <a:spLocks noChangeArrowheads="1"/>
                </p:cNvSpPr>
                <p:nvPr/>
              </p:nvSpPr>
              <p:spPr bwMode="auto">
                <a:xfrm>
                  <a:off x="1920" y="148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38" name="Rectangle 60"/>
                <p:cNvSpPr>
                  <a:spLocks noChangeArrowheads="1"/>
                </p:cNvSpPr>
                <p:nvPr/>
              </p:nvSpPr>
              <p:spPr bwMode="auto">
                <a:xfrm>
                  <a:off x="1728" y="168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39" name="Rectangle 61"/>
                <p:cNvSpPr>
                  <a:spLocks noChangeArrowheads="1"/>
                </p:cNvSpPr>
                <p:nvPr/>
              </p:nvSpPr>
              <p:spPr bwMode="auto">
                <a:xfrm>
                  <a:off x="1920" y="168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40" name="Rectangle 62"/>
                <p:cNvSpPr>
                  <a:spLocks noChangeArrowheads="1"/>
                </p:cNvSpPr>
                <p:nvPr/>
              </p:nvSpPr>
              <p:spPr bwMode="auto">
                <a:xfrm>
                  <a:off x="1344" y="187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41" name="Rectangle 63"/>
                <p:cNvSpPr>
                  <a:spLocks noChangeArrowheads="1"/>
                </p:cNvSpPr>
                <p:nvPr/>
              </p:nvSpPr>
              <p:spPr bwMode="auto">
                <a:xfrm>
                  <a:off x="1536" y="187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42" name="Rectangle 64"/>
                <p:cNvSpPr>
                  <a:spLocks noChangeArrowheads="1"/>
                </p:cNvSpPr>
                <p:nvPr/>
              </p:nvSpPr>
              <p:spPr bwMode="auto">
                <a:xfrm>
                  <a:off x="1344" y="206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43" name="Rectangle 65"/>
                <p:cNvSpPr>
                  <a:spLocks noChangeArrowheads="1"/>
                </p:cNvSpPr>
                <p:nvPr/>
              </p:nvSpPr>
              <p:spPr bwMode="auto">
                <a:xfrm>
                  <a:off x="1536" y="206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44" name="Rectangle 66"/>
                <p:cNvSpPr>
                  <a:spLocks noChangeArrowheads="1"/>
                </p:cNvSpPr>
                <p:nvPr/>
              </p:nvSpPr>
              <p:spPr bwMode="auto">
                <a:xfrm>
                  <a:off x="1728" y="187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45" name="Rectangle 67"/>
                <p:cNvSpPr>
                  <a:spLocks noChangeArrowheads="1"/>
                </p:cNvSpPr>
                <p:nvPr/>
              </p:nvSpPr>
              <p:spPr bwMode="auto">
                <a:xfrm>
                  <a:off x="1920" y="187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46" name="Rectangle 68"/>
                <p:cNvSpPr>
                  <a:spLocks noChangeArrowheads="1"/>
                </p:cNvSpPr>
                <p:nvPr/>
              </p:nvSpPr>
              <p:spPr bwMode="auto">
                <a:xfrm>
                  <a:off x="1728" y="206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47" name="Rectangle 69"/>
                <p:cNvSpPr>
                  <a:spLocks noChangeArrowheads="1"/>
                </p:cNvSpPr>
                <p:nvPr/>
              </p:nvSpPr>
              <p:spPr bwMode="auto">
                <a:xfrm>
                  <a:off x="1920" y="206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48" name="Rectangle 70"/>
                <p:cNvSpPr>
                  <a:spLocks noChangeArrowheads="1"/>
                </p:cNvSpPr>
                <p:nvPr/>
              </p:nvSpPr>
              <p:spPr bwMode="auto">
                <a:xfrm>
                  <a:off x="2112" y="72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49" name="Rectangle 71"/>
                <p:cNvSpPr>
                  <a:spLocks noChangeArrowheads="1"/>
                </p:cNvSpPr>
                <p:nvPr/>
              </p:nvSpPr>
              <p:spPr bwMode="auto">
                <a:xfrm>
                  <a:off x="2304" y="72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50" name="Rectangle 72"/>
                <p:cNvSpPr>
                  <a:spLocks noChangeArrowheads="1"/>
                </p:cNvSpPr>
                <p:nvPr/>
              </p:nvSpPr>
              <p:spPr bwMode="auto">
                <a:xfrm>
                  <a:off x="2112" y="91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51" name="Rectangle 73"/>
                <p:cNvSpPr>
                  <a:spLocks noChangeArrowheads="1"/>
                </p:cNvSpPr>
                <p:nvPr/>
              </p:nvSpPr>
              <p:spPr bwMode="auto">
                <a:xfrm>
                  <a:off x="2304" y="91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52" name="Rectangle 74"/>
                <p:cNvSpPr>
                  <a:spLocks noChangeArrowheads="1"/>
                </p:cNvSpPr>
                <p:nvPr/>
              </p:nvSpPr>
              <p:spPr bwMode="auto">
                <a:xfrm>
                  <a:off x="2496" y="72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53" name="Rectangle 75"/>
                <p:cNvSpPr>
                  <a:spLocks noChangeArrowheads="1"/>
                </p:cNvSpPr>
                <p:nvPr/>
              </p:nvSpPr>
              <p:spPr bwMode="auto">
                <a:xfrm>
                  <a:off x="2688" y="72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54" name="Rectangle 76"/>
                <p:cNvSpPr>
                  <a:spLocks noChangeArrowheads="1"/>
                </p:cNvSpPr>
                <p:nvPr/>
              </p:nvSpPr>
              <p:spPr bwMode="auto">
                <a:xfrm>
                  <a:off x="2496" y="91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55" name="Rectangle 77"/>
                <p:cNvSpPr>
                  <a:spLocks noChangeArrowheads="1"/>
                </p:cNvSpPr>
                <p:nvPr/>
              </p:nvSpPr>
              <p:spPr bwMode="auto">
                <a:xfrm>
                  <a:off x="2688" y="91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56" name="Rectangle 78"/>
                <p:cNvSpPr>
                  <a:spLocks noChangeArrowheads="1"/>
                </p:cNvSpPr>
                <p:nvPr/>
              </p:nvSpPr>
              <p:spPr bwMode="auto">
                <a:xfrm>
                  <a:off x="2112" y="110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57" name="Rectangle 79"/>
                <p:cNvSpPr>
                  <a:spLocks noChangeArrowheads="1"/>
                </p:cNvSpPr>
                <p:nvPr/>
              </p:nvSpPr>
              <p:spPr bwMode="auto">
                <a:xfrm>
                  <a:off x="2304" y="110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58" name="Rectangle 80"/>
                <p:cNvSpPr>
                  <a:spLocks noChangeArrowheads="1"/>
                </p:cNvSpPr>
                <p:nvPr/>
              </p:nvSpPr>
              <p:spPr bwMode="auto">
                <a:xfrm>
                  <a:off x="2112" y="129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59" name="Rectangle 81"/>
                <p:cNvSpPr>
                  <a:spLocks noChangeArrowheads="1"/>
                </p:cNvSpPr>
                <p:nvPr/>
              </p:nvSpPr>
              <p:spPr bwMode="auto">
                <a:xfrm>
                  <a:off x="2304" y="129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60" name="Rectangle 82"/>
                <p:cNvSpPr>
                  <a:spLocks noChangeArrowheads="1"/>
                </p:cNvSpPr>
                <p:nvPr/>
              </p:nvSpPr>
              <p:spPr bwMode="auto">
                <a:xfrm>
                  <a:off x="2496" y="110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61" name="Rectangle 83"/>
                <p:cNvSpPr>
                  <a:spLocks noChangeArrowheads="1"/>
                </p:cNvSpPr>
                <p:nvPr/>
              </p:nvSpPr>
              <p:spPr bwMode="auto">
                <a:xfrm>
                  <a:off x="2688" y="110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62" name="Rectangle 84"/>
                <p:cNvSpPr>
                  <a:spLocks noChangeArrowheads="1"/>
                </p:cNvSpPr>
                <p:nvPr/>
              </p:nvSpPr>
              <p:spPr bwMode="auto">
                <a:xfrm>
                  <a:off x="2496" y="129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63" name="Rectangle 85"/>
                <p:cNvSpPr>
                  <a:spLocks noChangeArrowheads="1"/>
                </p:cNvSpPr>
                <p:nvPr/>
              </p:nvSpPr>
              <p:spPr bwMode="auto">
                <a:xfrm>
                  <a:off x="2688" y="129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64" name="Rectangle 86"/>
                <p:cNvSpPr>
                  <a:spLocks noChangeArrowheads="1"/>
                </p:cNvSpPr>
                <p:nvPr/>
              </p:nvSpPr>
              <p:spPr bwMode="auto">
                <a:xfrm>
                  <a:off x="2880" y="72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65" name="Rectangle 87"/>
                <p:cNvSpPr>
                  <a:spLocks noChangeArrowheads="1"/>
                </p:cNvSpPr>
                <p:nvPr/>
              </p:nvSpPr>
              <p:spPr bwMode="auto">
                <a:xfrm>
                  <a:off x="3072" y="72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66" name="Rectangle 88"/>
                <p:cNvSpPr>
                  <a:spLocks noChangeArrowheads="1"/>
                </p:cNvSpPr>
                <p:nvPr/>
              </p:nvSpPr>
              <p:spPr bwMode="auto">
                <a:xfrm>
                  <a:off x="2880" y="91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67" name="Rectangle 89"/>
                <p:cNvSpPr>
                  <a:spLocks noChangeArrowheads="1"/>
                </p:cNvSpPr>
                <p:nvPr/>
              </p:nvSpPr>
              <p:spPr bwMode="auto">
                <a:xfrm>
                  <a:off x="3072" y="91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68" name="Rectangle 90"/>
                <p:cNvSpPr>
                  <a:spLocks noChangeArrowheads="1"/>
                </p:cNvSpPr>
                <p:nvPr/>
              </p:nvSpPr>
              <p:spPr bwMode="auto">
                <a:xfrm>
                  <a:off x="3264" y="72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69" name="Rectangle 91"/>
                <p:cNvSpPr>
                  <a:spLocks noChangeArrowheads="1"/>
                </p:cNvSpPr>
                <p:nvPr/>
              </p:nvSpPr>
              <p:spPr bwMode="auto">
                <a:xfrm>
                  <a:off x="3456" y="72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70" name="Rectangle 92"/>
                <p:cNvSpPr>
                  <a:spLocks noChangeArrowheads="1"/>
                </p:cNvSpPr>
                <p:nvPr/>
              </p:nvSpPr>
              <p:spPr bwMode="auto">
                <a:xfrm>
                  <a:off x="3264" y="91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71" name="Rectangle 93"/>
                <p:cNvSpPr>
                  <a:spLocks noChangeArrowheads="1"/>
                </p:cNvSpPr>
                <p:nvPr/>
              </p:nvSpPr>
              <p:spPr bwMode="auto">
                <a:xfrm>
                  <a:off x="3456" y="91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72" name="Rectangle 94"/>
                <p:cNvSpPr>
                  <a:spLocks noChangeArrowheads="1"/>
                </p:cNvSpPr>
                <p:nvPr/>
              </p:nvSpPr>
              <p:spPr bwMode="auto">
                <a:xfrm>
                  <a:off x="2880" y="110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73" name="Rectangle 95"/>
                <p:cNvSpPr>
                  <a:spLocks noChangeArrowheads="1"/>
                </p:cNvSpPr>
                <p:nvPr/>
              </p:nvSpPr>
              <p:spPr bwMode="auto">
                <a:xfrm>
                  <a:off x="3072" y="110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74" name="Rectangle 96"/>
                <p:cNvSpPr>
                  <a:spLocks noChangeArrowheads="1"/>
                </p:cNvSpPr>
                <p:nvPr/>
              </p:nvSpPr>
              <p:spPr bwMode="auto">
                <a:xfrm>
                  <a:off x="2880" y="129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75" name="Rectangle 97"/>
                <p:cNvSpPr>
                  <a:spLocks noChangeArrowheads="1"/>
                </p:cNvSpPr>
                <p:nvPr/>
              </p:nvSpPr>
              <p:spPr bwMode="auto">
                <a:xfrm>
                  <a:off x="3072" y="129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76" name="Rectangle 98"/>
                <p:cNvSpPr>
                  <a:spLocks noChangeArrowheads="1"/>
                </p:cNvSpPr>
                <p:nvPr/>
              </p:nvSpPr>
              <p:spPr bwMode="auto">
                <a:xfrm>
                  <a:off x="3264" y="110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77" name="Rectangle 99"/>
                <p:cNvSpPr>
                  <a:spLocks noChangeArrowheads="1"/>
                </p:cNvSpPr>
                <p:nvPr/>
              </p:nvSpPr>
              <p:spPr bwMode="auto">
                <a:xfrm>
                  <a:off x="3456" y="110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78" name="Rectangle 100"/>
                <p:cNvSpPr>
                  <a:spLocks noChangeArrowheads="1"/>
                </p:cNvSpPr>
                <p:nvPr/>
              </p:nvSpPr>
              <p:spPr bwMode="auto">
                <a:xfrm>
                  <a:off x="3264" y="129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79" name="Rectangle 101"/>
                <p:cNvSpPr>
                  <a:spLocks noChangeArrowheads="1"/>
                </p:cNvSpPr>
                <p:nvPr/>
              </p:nvSpPr>
              <p:spPr bwMode="auto">
                <a:xfrm>
                  <a:off x="3456" y="129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80" name="Rectangle 102"/>
                <p:cNvSpPr>
                  <a:spLocks noChangeArrowheads="1"/>
                </p:cNvSpPr>
                <p:nvPr/>
              </p:nvSpPr>
              <p:spPr bwMode="auto">
                <a:xfrm>
                  <a:off x="2112" y="148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81" name="Rectangle 103"/>
                <p:cNvSpPr>
                  <a:spLocks noChangeArrowheads="1"/>
                </p:cNvSpPr>
                <p:nvPr/>
              </p:nvSpPr>
              <p:spPr bwMode="auto">
                <a:xfrm>
                  <a:off x="2304" y="148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82" name="Rectangle 104"/>
                <p:cNvSpPr>
                  <a:spLocks noChangeArrowheads="1"/>
                </p:cNvSpPr>
                <p:nvPr/>
              </p:nvSpPr>
              <p:spPr bwMode="auto">
                <a:xfrm>
                  <a:off x="2112" y="168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83" name="Rectangle 105"/>
                <p:cNvSpPr>
                  <a:spLocks noChangeArrowheads="1"/>
                </p:cNvSpPr>
                <p:nvPr/>
              </p:nvSpPr>
              <p:spPr bwMode="auto">
                <a:xfrm>
                  <a:off x="2304" y="168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84" name="Rectangle 106"/>
                <p:cNvSpPr>
                  <a:spLocks noChangeArrowheads="1"/>
                </p:cNvSpPr>
                <p:nvPr/>
              </p:nvSpPr>
              <p:spPr bwMode="auto">
                <a:xfrm>
                  <a:off x="2496" y="148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85" name="Rectangle 107"/>
                <p:cNvSpPr>
                  <a:spLocks noChangeArrowheads="1"/>
                </p:cNvSpPr>
                <p:nvPr/>
              </p:nvSpPr>
              <p:spPr bwMode="auto">
                <a:xfrm>
                  <a:off x="2688" y="148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86" name="Rectangle 108"/>
                <p:cNvSpPr>
                  <a:spLocks noChangeArrowheads="1"/>
                </p:cNvSpPr>
                <p:nvPr/>
              </p:nvSpPr>
              <p:spPr bwMode="auto">
                <a:xfrm>
                  <a:off x="2496" y="168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87" name="Rectangle 109"/>
                <p:cNvSpPr>
                  <a:spLocks noChangeArrowheads="1"/>
                </p:cNvSpPr>
                <p:nvPr/>
              </p:nvSpPr>
              <p:spPr bwMode="auto">
                <a:xfrm>
                  <a:off x="2688" y="168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88" name="Rectangle 110"/>
                <p:cNvSpPr>
                  <a:spLocks noChangeArrowheads="1"/>
                </p:cNvSpPr>
                <p:nvPr/>
              </p:nvSpPr>
              <p:spPr bwMode="auto">
                <a:xfrm>
                  <a:off x="2112" y="187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89" name="Rectangle 111"/>
                <p:cNvSpPr>
                  <a:spLocks noChangeArrowheads="1"/>
                </p:cNvSpPr>
                <p:nvPr/>
              </p:nvSpPr>
              <p:spPr bwMode="auto">
                <a:xfrm>
                  <a:off x="2304" y="187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90" name="Rectangle 112"/>
                <p:cNvSpPr>
                  <a:spLocks noChangeArrowheads="1"/>
                </p:cNvSpPr>
                <p:nvPr/>
              </p:nvSpPr>
              <p:spPr bwMode="auto">
                <a:xfrm>
                  <a:off x="2112" y="206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91" name="Rectangle 113"/>
                <p:cNvSpPr>
                  <a:spLocks noChangeArrowheads="1"/>
                </p:cNvSpPr>
                <p:nvPr/>
              </p:nvSpPr>
              <p:spPr bwMode="auto">
                <a:xfrm>
                  <a:off x="2304" y="206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92" name="Rectangle 114"/>
                <p:cNvSpPr>
                  <a:spLocks noChangeArrowheads="1"/>
                </p:cNvSpPr>
                <p:nvPr/>
              </p:nvSpPr>
              <p:spPr bwMode="auto">
                <a:xfrm>
                  <a:off x="2496" y="187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93" name="Rectangle 115"/>
                <p:cNvSpPr>
                  <a:spLocks noChangeArrowheads="1"/>
                </p:cNvSpPr>
                <p:nvPr/>
              </p:nvSpPr>
              <p:spPr bwMode="auto">
                <a:xfrm>
                  <a:off x="2688" y="187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94" name="Rectangle 116"/>
                <p:cNvSpPr>
                  <a:spLocks noChangeArrowheads="1"/>
                </p:cNvSpPr>
                <p:nvPr/>
              </p:nvSpPr>
              <p:spPr bwMode="auto">
                <a:xfrm>
                  <a:off x="2496" y="206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95" name="Rectangle 117"/>
                <p:cNvSpPr>
                  <a:spLocks noChangeArrowheads="1"/>
                </p:cNvSpPr>
                <p:nvPr/>
              </p:nvSpPr>
              <p:spPr bwMode="auto">
                <a:xfrm>
                  <a:off x="2688" y="206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96" name="Rectangle 118"/>
                <p:cNvSpPr>
                  <a:spLocks noChangeArrowheads="1"/>
                </p:cNvSpPr>
                <p:nvPr/>
              </p:nvSpPr>
              <p:spPr bwMode="auto">
                <a:xfrm>
                  <a:off x="2880" y="148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97" name="Rectangle 119"/>
                <p:cNvSpPr>
                  <a:spLocks noChangeArrowheads="1"/>
                </p:cNvSpPr>
                <p:nvPr/>
              </p:nvSpPr>
              <p:spPr bwMode="auto">
                <a:xfrm>
                  <a:off x="3072" y="148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98" name="Rectangle 120"/>
                <p:cNvSpPr>
                  <a:spLocks noChangeArrowheads="1"/>
                </p:cNvSpPr>
                <p:nvPr/>
              </p:nvSpPr>
              <p:spPr bwMode="auto">
                <a:xfrm>
                  <a:off x="2880" y="168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199" name="Rectangle 121"/>
                <p:cNvSpPr>
                  <a:spLocks noChangeArrowheads="1"/>
                </p:cNvSpPr>
                <p:nvPr/>
              </p:nvSpPr>
              <p:spPr bwMode="auto">
                <a:xfrm>
                  <a:off x="3072" y="168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00" name="Rectangle 122"/>
                <p:cNvSpPr>
                  <a:spLocks noChangeArrowheads="1"/>
                </p:cNvSpPr>
                <p:nvPr/>
              </p:nvSpPr>
              <p:spPr bwMode="auto">
                <a:xfrm>
                  <a:off x="3264" y="148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01" name="Rectangle 123"/>
                <p:cNvSpPr>
                  <a:spLocks noChangeArrowheads="1"/>
                </p:cNvSpPr>
                <p:nvPr/>
              </p:nvSpPr>
              <p:spPr bwMode="auto">
                <a:xfrm>
                  <a:off x="3456" y="148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02" name="Rectangle 124"/>
                <p:cNvSpPr>
                  <a:spLocks noChangeArrowheads="1"/>
                </p:cNvSpPr>
                <p:nvPr/>
              </p:nvSpPr>
              <p:spPr bwMode="auto">
                <a:xfrm>
                  <a:off x="3264" y="168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03" name="Rectangle 125"/>
                <p:cNvSpPr>
                  <a:spLocks noChangeArrowheads="1"/>
                </p:cNvSpPr>
                <p:nvPr/>
              </p:nvSpPr>
              <p:spPr bwMode="auto">
                <a:xfrm>
                  <a:off x="3456" y="168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04" name="Rectangle 126"/>
                <p:cNvSpPr>
                  <a:spLocks noChangeArrowheads="1"/>
                </p:cNvSpPr>
                <p:nvPr/>
              </p:nvSpPr>
              <p:spPr bwMode="auto">
                <a:xfrm>
                  <a:off x="2880" y="187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05" name="Rectangle 127"/>
                <p:cNvSpPr>
                  <a:spLocks noChangeArrowheads="1"/>
                </p:cNvSpPr>
                <p:nvPr/>
              </p:nvSpPr>
              <p:spPr bwMode="auto">
                <a:xfrm>
                  <a:off x="3072" y="187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06" name="Rectangle 128"/>
                <p:cNvSpPr>
                  <a:spLocks noChangeArrowheads="1"/>
                </p:cNvSpPr>
                <p:nvPr/>
              </p:nvSpPr>
              <p:spPr bwMode="auto">
                <a:xfrm>
                  <a:off x="2880" y="206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07" name="Rectangle 129"/>
                <p:cNvSpPr>
                  <a:spLocks noChangeArrowheads="1"/>
                </p:cNvSpPr>
                <p:nvPr/>
              </p:nvSpPr>
              <p:spPr bwMode="auto">
                <a:xfrm>
                  <a:off x="3072" y="206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08" name="Rectangle 130"/>
                <p:cNvSpPr>
                  <a:spLocks noChangeArrowheads="1"/>
                </p:cNvSpPr>
                <p:nvPr/>
              </p:nvSpPr>
              <p:spPr bwMode="auto">
                <a:xfrm>
                  <a:off x="3264" y="187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09" name="Rectangle 131"/>
                <p:cNvSpPr>
                  <a:spLocks noChangeArrowheads="1"/>
                </p:cNvSpPr>
                <p:nvPr/>
              </p:nvSpPr>
              <p:spPr bwMode="auto">
                <a:xfrm>
                  <a:off x="3456" y="187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10" name="Rectangle 132"/>
                <p:cNvSpPr>
                  <a:spLocks noChangeArrowheads="1"/>
                </p:cNvSpPr>
                <p:nvPr/>
              </p:nvSpPr>
              <p:spPr bwMode="auto">
                <a:xfrm>
                  <a:off x="3264" y="206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11" name="Rectangle 133"/>
                <p:cNvSpPr>
                  <a:spLocks noChangeArrowheads="1"/>
                </p:cNvSpPr>
                <p:nvPr/>
              </p:nvSpPr>
              <p:spPr bwMode="auto">
                <a:xfrm>
                  <a:off x="3456" y="206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12" name="Rectangle 134"/>
                <p:cNvSpPr>
                  <a:spLocks noChangeArrowheads="1"/>
                </p:cNvSpPr>
                <p:nvPr/>
              </p:nvSpPr>
              <p:spPr bwMode="auto">
                <a:xfrm>
                  <a:off x="576" y="225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13" name="Rectangle 135"/>
                <p:cNvSpPr>
                  <a:spLocks noChangeArrowheads="1"/>
                </p:cNvSpPr>
                <p:nvPr/>
              </p:nvSpPr>
              <p:spPr bwMode="auto">
                <a:xfrm>
                  <a:off x="768" y="225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14" name="Rectangle 136"/>
                <p:cNvSpPr>
                  <a:spLocks noChangeArrowheads="1"/>
                </p:cNvSpPr>
                <p:nvPr/>
              </p:nvSpPr>
              <p:spPr bwMode="auto">
                <a:xfrm>
                  <a:off x="576" y="244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15" name="Rectangle 137"/>
                <p:cNvSpPr>
                  <a:spLocks noChangeArrowheads="1"/>
                </p:cNvSpPr>
                <p:nvPr/>
              </p:nvSpPr>
              <p:spPr bwMode="auto">
                <a:xfrm>
                  <a:off x="768" y="244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16" name="Rectangle 138"/>
                <p:cNvSpPr>
                  <a:spLocks noChangeArrowheads="1"/>
                </p:cNvSpPr>
                <p:nvPr/>
              </p:nvSpPr>
              <p:spPr bwMode="auto">
                <a:xfrm>
                  <a:off x="960" y="225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17" name="Rectangle 139"/>
                <p:cNvSpPr>
                  <a:spLocks noChangeArrowheads="1"/>
                </p:cNvSpPr>
                <p:nvPr/>
              </p:nvSpPr>
              <p:spPr bwMode="auto">
                <a:xfrm>
                  <a:off x="1152" y="225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18" name="Rectangle 140"/>
                <p:cNvSpPr>
                  <a:spLocks noChangeArrowheads="1"/>
                </p:cNvSpPr>
                <p:nvPr/>
              </p:nvSpPr>
              <p:spPr bwMode="auto">
                <a:xfrm>
                  <a:off x="960" y="244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19" name="Rectangle 141"/>
                <p:cNvSpPr>
                  <a:spLocks noChangeArrowheads="1"/>
                </p:cNvSpPr>
                <p:nvPr/>
              </p:nvSpPr>
              <p:spPr bwMode="auto">
                <a:xfrm>
                  <a:off x="1152" y="244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20" name="Rectangle 142"/>
                <p:cNvSpPr>
                  <a:spLocks noChangeArrowheads="1"/>
                </p:cNvSpPr>
                <p:nvPr/>
              </p:nvSpPr>
              <p:spPr bwMode="auto">
                <a:xfrm>
                  <a:off x="576" y="264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21" name="Rectangle 143"/>
                <p:cNvSpPr>
                  <a:spLocks noChangeArrowheads="1"/>
                </p:cNvSpPr>
                <p:nvPr/>
              </p:nvSpPr>
              <p:spPr bwMode="auto">
                <a:xfrm>
                  <a:off x="768" y="264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22" name="Rectangle 144"/>
                <p:cNvSpPr>
                  <a:spLocks noChangeArrowheads="1"/>
                </p:cNvSpPr>
                <p:nvPr/>
              </p:nvSpPr>
              <p:spPr bwMode="auto">
                <a:xfrm>
                  <a:off x="576" y="283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23" name="Rectangle 145"/>
                <p:cNvSpPr>
                  <a:spLocks noChangeArrowheads="1"/>
                </p:cNvSpPr>
                <p:nvPr/>
              </p:nvSpPr>
              <p:spPr bwMode="auto">
                <a:xfrm>
                  <a:off x="768" y="283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24" name="Rectangle 146"/>
                <p:cNvSpPr>
                  <a:spLocks noChangeArrowheads="1"/>
                </p:cNvSpPr>
                <p:nvPr/>
              </p:nvSpPr>
              <p:spPr bwMode="auto">
                <a:xfrm>
                  <a:off x="960" y="264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25" name="Rectangle 147"/>
                <p:cNvSpPr>
                  <a:spLocks noChangeArrowheads="1"/>
                </p:cNvSpPr>
                <p:nvPr/>
              </p:nvSpPr>
              <p:spPr bwMode="auto">
                <a:xfrm>
                  <a:off x="1152" y="264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26" name="Rectangle 148"/>
                <p:cNvSpPr>
                  <a:spLocks noChangeArrowheads="1"/>
                </p:cNvSpPr>
                <p:nvPr/>
              </p:nvSpPr>
              <p:spPr bwMode="auto">
                <a:xfrm>
                  <a:off x="960" y="283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27" name="Rectangle 149"/>
                <p:cNvSpPr>
                  <a:spLocks noChangeArrowheads="1"/>
                </p:cNvSpPr>
                <p:nvPr/>
              </p:nvSpPr>
              <p:spPr bwMode="auto">
                <a:xfrm>
                  <a:off x="1152" y="283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28" name="Rectangle 150"/>
                <p:cNvSpPr>
                  <a:spLocks noChangeArrowheads="1"/>
                </p:cNvSpPr>
                <p:nvPr/>
              </p:nvSpPr>
              <p:spPr bwMode="auto">
                <a:xfrm>
                  <a:off x="1344" y="225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29" name="Rectangle 151"/>
                <p:cNvSpPr>
                  <a:spLocks noChangeArrowheads="1"/>
                </p:cNvSpPr>
                <p:nvPr/>
              </p:nvSpPr>
              <p:spPr bwMode="auto">
                <a:xfrm>
                  <a:off x="1536" y="225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30" name="Rectangle 152"/>
                <p:cNvSpPr>
                  <a:spLocks noChangeArrowheads="1"/>
                </p:cNvSpPr>
                <p:nvPr/>
              </p:nvSpPr>
              <p:spPr bwMode="auto">
                <a:xfrm>
                  <a:off x="1344" y="244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31" name="Rectangle 153"/>
                <p:cNvSpPr>
                  <a:spLocks noChangeArrowheads="1"/>
                </p:cNvSpPr>
                <p:nvPr/>
              </p:nvSpPr>
              <p:spPr bwMode="auto">
                <a:xfrm>
                  <a:off x="1536" y="244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32" name="Rectangle 154"/>
                <p:cNvSpPr>
                  <a:spLocks noChangeArrowheads="1"/>
                </p:cNvSpPr>
                <p:nvPr/>
              </p:nvSpPr>
              <p:spPr bwMode="auto">
                <a:xfrm>
                  <a:off x="1728" y="225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33" name="Rectangle 155"/>
                <p:cNvSpPr>
                  <a:spLocks noChangeArrowheads="1"/>
                </p:cNvSpPr>
                <p:nvPr/>
              </p:nvSpPr>
              <p:spPr bwMode="auto">
                <a:xfrm>
                  <a:off x="1920" y="225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34" name="Rectangle 156"/>
                <p:cNvSpPr>
                  <a:spLocks noChangeArrowheads="1"/>
                </p:cNvSpPr>
                <p:nvPr/>
              </p:nvSpPr>
              <p:spPr bwMode="auto">
                <a:xfrm>
                  <a:off x="1728" y="244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35" name="Rectangle 157"/>
                <p:cNvSpPr>
                  <a:spLocks noChangeArrowheads="1"/>
                </p:cNvSpPr>
                <p:nvPr/>
              </p:nvSpPr>
              <p:spPr bwMode="auto">
                <a:xfrm>
                  <a:off x="1920" y="244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36" name="Rectangle 158"/>
                <p:cNvSpPr>
                  <a:spLocks noChangeArrowheads="1"/>
                </p:cNvSpPr>
                <p:nvPr/>
              </p:nvSpPr>
              <p:spPr bwMode="auto">
                <a:xfrm>
                  <a:off x="1344" y="264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37" name="Rectangle 159"/>
                <p:cNvSpPr>
                  <a:spLocks noChangeArrowheads="1"/>
                </p:cNvSpPr>
                <p:nvPr/>
              </p:nvSpPr>
              <p:spPr bwMode="auto">
                <a:xfrm>
                  <a:off x="1536" y="264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38" name="Rectangle 160"/>
                <p:cNvSpPr>
                  <a:spLocks noChangeArrowheads="1"/>
                </p:cNvSpPr>
                <p:nvPr/>
              </p:nvSpPr>
              <p:spPr bwMode="auto">
                <a:xfrm>
                  <a:off x="1344" y="283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39" name="Rectangle 161"/>
                <p:cNvSpPr>
                  <a:spLocks noChangeArrowheads="1"/>
                </p:cNvSpPr>
                <p:nvPr/>
              </p:nvSpPr>
              <p:spPr bwMode="auto">
                <a:xfrm>
                  <a:off x="1536" y="283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40" name="Rectangle 162"/>
                <p:cNvSpPr>
                  <a:spLocks noChangeArrowheads="1"/>
                </p:cNvSpPr>
                <p:nvPr/>
              </p:nvSpPr>
              <p:spPr bwMode="auto">
                <a:xfrm>
                  <a:off x="1728" y="264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41" name="Rectangle 163"/>
                <p:cNvSpPr>
                  <a:spLocks noChangeArrowheads="1"/>
                </p:cNvSpPr>
                <p:nvPr/>
              </p:nvSpPr>
              <p:spPr bwMode="auto">
                <a:xfrm>
                  <a:off x="1920" y="264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42" name="Rectangle 164"/>
                <p:cNvSpPr>
                  <a:spLocks noChangeArrowheads="1"/>
                </p:cNvSpPr>
                <p:nvPr/>
              </p:nvSpPr>
              <p:spPr bwMode="auto">
                <a:xfrm>
                  <a:off x="1728" y="283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43" name="Rectangle 165"/>
                <p:cNvSpPr>
                  <a:spLocks noChangeArrowheads="1"/>
                </p:cNvSpPr>
                <p:nvPr/>
              </p:nvSpPr>
              <p:spPr bwMode="auto">
                <a:xfrm>
                  <a:off x="1920" y="283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44" name="Rectangle 166"/>
                <p:cNvSpPr>
                  <a:spLocks noChangeArrowheads="1"/>
                </p:cNvSpPr>
                <p:nvPr/>
              </p:nvSpPr>
              <p:spPr bwMode="auto">
                <a:xfrm>
                  <a:off x="576" y="302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45" name="Rectangle 167"/>
                <p:cNvSpPr>
                  <a:spLocks noChangeArrowheads="1"/>
                </p:cNvSpPr>
                <p:nvPr/>
              </p:nvSpPr>
              <p:spPr bwMode="auto">
                <a:xfrm>
                  <a:off x="768" y="302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46" name="Rectangle 168"/>
                <p:cNvSpPr>
                  <a:spLocks noChangeArrowheads="1"/>
                </p:cNvSpPr>
                <p:nvPr/>
              </p:nvSpPr>
              <p:spPr bwMode="auto">
                <a:xfrm>
                  <a:off x="576" y="321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47" name="Rectangle 169"/>
                <p:cNvSpPr>
                  <a:spLocks noChangeArrowheads="1"/>
                </p:cNvSpPr>
                <p:nvPr/>
              </p:nvSpPr>
              <p:spPr bwMode="auto">
                <a:xfrm>
                  <a:off x="768" y="321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48" name="Rectangle 170"/>
                <p:cNvSpPr>
                  <a:spLocks noChangeArrowheads="1"/>
                </p:cNvSpPr>
                <p:nvPr/>
              </p:nvSpPr>
              <p:spPr bwMode="auto">
                <a:xfrm>
                  <a:off x="960" y="302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49" name="Rectangle 171"/>
                <p:cNvSpPr>
                  <a:spLocks noChangeArrowheads="1"/>
                </p:cNvSpPr>
                <p:nvPr/>
              </p:nvSpPr>
              <p:spPr bwMode="auto">
                <a:xfrm>
                  <a:off x="1152" y="302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50" name="Rectangle 172"/>
                <p:cNvSpPr>
                  <a:spLocks noChangeArrowheads="1"/>
                </p:cNvSpPr>
                <p:nvPr/>
              </p:nvSpPr>
              <p:spPr bwMode="auto">
                <a:xfrm>
                  <a:off x="960" y="321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51" name="Rectangle 173"/>
                <p:cNvSpPr>
                  <a:spLocks noChangeArrowheads="1"/>
                </p:cNvSpPr>
                <p:nvPr/>
              </p:nvSpPr>
              <p:spPr bwMode="auto">
                <a:xfrm>
                  <a:off x="1152" y="321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52" name="Rectangle 174"/>
                <p:cNvSpPr>
                  <a:spLocks noChangeArrowheads="1"/>
                </p:cNvSpPr>
                <p:nvPr/>
              </p:nvSpPr>
              <p:spPr bwMode="auto">
                <a:xfrm>
                  <a:off x="576" y="340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53" name="Rectangle 175"/>
                <p:cNvSpPr>
                  <a:spLocks noChangeArrowheads="1"/>
                </p:cNvSpPr>
                <p:nvPr/>
              </p:nvSpPr>
              <p:spPr bwMode="auto">
                <a:xfrm>
                  <a:off x="768" y="340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54" name="Rectangle 176"/>
                <p:cNvSpPr>
                  <a:spLocks noChangeArrowheads="1"/>
                </p:cNvSpPr>
                <p:nvPr/>
              </p:nvSpPr>
              <p:spPr bwMode="auto">
                <a:xfrm>
                  <a:off x="576" y="360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55" name="Rectangle 177"/>
                <p:cNvSpPr>
                  <a:spLocks noChangeArrowheads="1"/>
                </p:cNvSpPr>
                <p:nvPr/>
              </p:nvSpPr>
              <p:spPr bwMode="auto">
                <a:xfrm>
                  <a:off x="768" y="360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56" name="Rectangle 178"/>
                <p:cNvSpPr>
                  <a:spLocks noChangeArrowheads="1"/>
                </p:cNvSpPr>
                <p:nvPr/>
              </p:nvSpPr>
              <p:spPr bwMode="auto">
                <a:xfrm>
                  <a:off x="960" y="340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57" name="Rectangle 179"/>
                <p:cNvSpPr>
                  <a:spLocks noChangeArrowheads="1"/>
                </p:cNvSpPr>
                <p:nvPr/>
              </p:nvSpPr>
              <p:spPr bwMode="auto">
                <a:xfrm>
                  <a:off x="1152" y="340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58" name="Rectangle 180"/>
                <p:cNvSpPr>
                  <a:spLocks noChangeArrowheads="1"/>
                </p:cNvSpPr>
                <p:nvPr/>
              </p:nvSpPr>
              <p:spPr bwMode="auto">
                <a:xfrm>
                  <a:off x="960" y="360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59" name="Rectangle 181"/>
                <p:cNvSpPr>
                  <a:spLocks noChangeArrowheads="1"/>
                </p:cNvSpPr>
                <p:nvPr/>
              </p:nvSpPr>
              <p:spPr bwMode="auto">
                <a:xfrm>
                  <a:off x="1152" y="360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60" name="Rectangle 182"/>
                <p:cNvSpPr>
                  <a:spLocks noChangeArrowheads="1"/>
                </p:cNvSpPr>
                <p:nvPr/>
              </p:nvSpPr>
              <p:spPr bwMode="auto">
                <a:xfrm>
                  <a:off x="1344" y="302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61" name="Rectangle 183"/>
                <p:cNvSpPr>
                  <a:spLocks noChangeArrowheads="1"/>
                </p:cNvSpPr>
                <p:nvPr/>
              </p:nvSpPr>
              <p:spPr bwMode="auto">
                <a:xfrm>
                  <a:off x="1536" y="302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62" name="Rectangle 184"/>
                <p:cNvSpPr>
                  <a:spLocks noChangeArrowheads="1"/>
                </p:cNvSpPr>
                <p:nvPr/>
              </p:nvSpPr>
              <p:spPr bwMode="auto">
                <a:xfrm>
                  <a:off x="1344" y="321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63" name="Rectangle 185"/>
                <p:cNvSpPr>
                  <a:spLocks noChangeArrowheads="1"/>
                </p:cNvSpPr>
                <p:nvPr/>
              </p:nvSpPr>
              <p:spPr bwMode="auto">
                <a:xfrm>
                  <a:off x="1536" y="321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64" name="Rectangle 186"/>
                <p:cNvSpPr>
                  <a:spLocks noChangeArrowheads="1"/>
                </p:cNvSpPr>
                <p:nvPr/>
              </p:nvSpPr>
              <p:spPr bwMode="auto">
                <a:xfrm>
                  <a:off x="1728" y="302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65" name="Rectangle 187"/>
                <p:cNvSpPr>
                  <a:spLocks noChangeArrowheads="1"/>
                </p:cNvSpPr>
                <p:nvPr/>
              </p:nvSpPr>
              <p:spPr bwMode="auto">
                <a:xfrm>
                  <a:off x="1920" y="302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66" name="Rectangle 188"/>
                <p:cNvSpPr>
                  <a:spLocks noChangeArrowheads="1"/>
                </p:cNvSpPr>
                <p:nvPr/>
              </p:nvSpPr>
              <p:spPr bwMode="auto">
                <a:xfrm>
                  <a:off x="1728" y="321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67" name="Rectangle 189"/>
                <p:cNvSpPr>
                  <a:spLocks noChangeArrowheads="1"/>
                </p:cNvSpPr>
                <p:nvPr/>
              </p:nvSpPr>
              <p:spPr bwMode="auto">
                <a:xfrm>
                  <a:off x="1920" y="321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68" name="Rectangle 190"/>
                <p:cNvSpPr>
                  <a:spLocks noChangeArrowheads="1"/>
                </p:cNvSpPr>
                <p:nvPr/>
              </p:nvSpPr>
              <p:spPr bwMode="auto">
                <a:xfrm>
                  <a:off x="1344" y="340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69" name="Rectangle 191"/>
                <p:cNvSpPr>
                  <a:spLocks noChangeArrowheads="1"/>
                </p:cNvSpPr>
                <p:nvPr/>
              </p:nvSpPr>
              <p:spPr bwMode="auto">
                <a:xfrm>
                  <a:off x="1536" y="340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70" name="Rectangle 192"/>
                <p:cNvSpPr>
                  <a:spLocks noChangeArrowheads="1"/>
                </p:cNvSpPr>
                <p:nvPr/>
              </p:nvSpPr>
              <p:spPr bwMode="auto">
                <a:xfrm>
                  <a:off x="1344" y="360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71" name="Rectangle 193"/>
                <p:cNvSpPr>
                  <a:spLocks noChangeArrowheads="1"/>
                </p:cNvSpPr>
                <p:nvPr/>
              </p:nvSpPr>
              <p:spPr bwMode="auto">
                <a:xfrm>
                  <a:off x="1536" y="360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72" name="Rectangle 194"/>
                <p:cNvSpPr>
                  <a:spLocks noChangeArrowheads="1"/>
                </p:cNvSpPr>
                <p:nvPr/>
              </p:nvSpPr>
              <p:spPr bwMode="auto">
                <a:xfrm>
                  <a:off x="1728" y="340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73" name="Rectangle 195"/>
                <p:cNvSpPr>
                  <a:spLocks noChangeArrowheads="1"/>
                </p:cNvSpPr>
                <p:nvPr/>
              </p:nvSpPr>
              <p:spPr bwMode="auto">
                <a:xfrm>
                  <a:off x="1920" y="340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74" name="Rectangle 196"/>
                <p:cNvSpPr>
                  <a:spLocks noChangeArrowheads="1"/>
                </p:cNvSpPr>
                <p:nvPr/>
              </p:nvSpPr>
              <p:spPr bwMode="auto">
                <a:xfrm>
                  <a:off x="1728" y="360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75" name="Rectangle 197"/>
                <p:cNvSpPr>
                  <a:spLocks noChangeArrowheads="1"/>
                </p:cNvSpPr>
                <p:nvPr/>
              </p:nvSpPr>
              <p:spPr bwMode="auto">
                <a:xfrm>
                  <a:off x="1920" y="360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76" name="Rectangle 198"/>
                <p:cNvSpPr>
                  <a:spLocks noChangeArrowheads="1"/>
                </p:cNvSpPr>
                <p:nvPr/>
              </p:nvSpPr>
              <p:spPr bwMode="auto">
                <a:xfrm>
                  <a:off x="2112" y="225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77" name="Rectangle 199"/>
                <p:cNvSpPr>
                  <a:spLocks noChangeArrowheads="1"/>
                </p:cNvSpPr>
                <p:nvPr/>
              </p:nvSpPr>
              <p:spPr bwMode="auto">
                <a:xfrm>
                  <a:off x="2304" y="225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78" name="Rectangle 200"/>
                <p:cNvSpPr>
                  <a:spLocks noChangeArrowheads="1"/>
                </p:cNvSpPr>
                <p:nvPr/>
              </p:nvSpPr>
              <p:spPr bwMode="auto">
                <a:xfrm>
                  <a:off x="2112" y="244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79" name="Rectangle 201"/>
                <p:cNvSpPr>
                  <a:spLocks noChangeArrowheads="1"/>
                </p:cNvSpPr>
                <p:nvPr/>
              </p:nvSpPr>
              <p:spPr bwMode="auto">
                <a:xfrm>
                  <a:off x="2304" y="244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80" name="Rectangle 202"/>
                <p:cNvSpPr>
                  <a:spLocks noChangeArrowheads="1"/>
                </p:cNvSpPr>
                <p:nvPr/>
              </p:nvSpPr>
              <p:spPr bwMode="auto">
                <a:xfrm>
                  <a:off x="2496" y="225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81" name="Rectangle 203"/>
                <p:cNvSpPr>
                  <a:spLocks noChangeArrowheads="1"/>
                </p:cNvSpPr>
                <p:nvPr/>
              </p:nvSpPr>
              <p:spPr bwMode="auto">
                <a:xfrm>
                  <a:off x="2688" y="225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82" name="Rectangle 204"/>
                <p:cNvSpPr>
                  <a:spLocks noChangeArrowheads="1"/>
                </p:cNvSpPr>
                <p:nvPr/>
              </p:nvSpPr>
              <p:spPr bwMode="auto">
                <a:xfrm>
                  <a:off x="2496" y="244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83" name="Rectangle 205"/>
                <p:cNvSpPr>
                  <a:spLocks noChangeArrowheads="1"/>
                </p:cNvSpPr>
                <p:nvPr/>
              </p:nvSpPr>
              <p:spPr bwMode="auto">
                <a:xfrm>
                  <a:off x="2688" y="244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84" name="Rectangle 206"/>
                <p:cNvSpPr>
                  <a:spLocks noChangeArrowheads="1"/>
                </p:cNvSpPr>
                <p:nvPr/>
              </p:nvSpPr>
              <p:spPr bwMode="auto">
                <a:xfrm>
                  <a:off x="2112" y="264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85" name="Rectangle 207"/>
                <p:cNvSpPr>
                  <a:spLocks noChangeArrowheads="1"/>
                </p:cNvSpPr>
                <p:nvPr/>
              </p:nvSpPr>
              <p:spPr bwMode="auto">
                <a:xfrm>
                  <a:off x="2304" y="264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86" name="Rectangle 208"/>
                <p:cNvSpPr>
                  <a:spLocks noChangeArrowheads="1"/>
                </p:cNvSpPr>
                <p:nvPr/>
              </p:nvSpPr>
              <p:spPr bwMode="auto">
                <a:xfrm>
                  <a:off x="2112" y="283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87" name="Rectangle 209"/>
                <p:cNvSpPr>
                  <a:spLocks noChangeArrowheads="1"/>
                </p:cNvSpPr>
                <p:nvPr/>
              </p:nvSpPr>
              <p:spPr bwMode="auto">
                <a:xfrm>
                  <a:off x="2304" y="283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88" name="Rectangle 210"/>
                <p:cNvSpPr>
                  <a:spLocks noChangeArrowheads="1"/>
                </p:cNvSpPr>
                <p:nvPr/>
              </p:nvSpPr>
              <p:spPr bwMode="auto">
                <a:xfrm>
                  <a:off x="2496" y="264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89" name="Rectangle 211"/>
                <p:cNvSpPr>
                  <a:spLocks noChangeArrowheads="1"/>
                </p:cNvSpPr>
                <p:nvPr/>
              </p:nvSpPr>
              <p:spPr bwMode="auto">
                <a:xfrm>
                  <a:off x="2688" y="264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90" name="Rectangle 212"/>
                <p:cNvSpPr>
                  <a:spLocks noChangeArrowheads="1"/>
                </p:cNvSpPr>
                <p:nvPr/>
              </p:nvSpPr>
              <p:spPr bwMode="auto">
                <a:xfrm>
                  <a:off x="2496" y="283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91" name="Rectangle 213"/>
                <p:cNvSpPr>
                  <a:spLocks noChangeArrowheads="1"/>
                </p:cNvSpPr>
                <p:nvPr/>
              </p:nvSpPr>
              <p:spPr bwMode="auto">
                <a:xfrm>
                  <a:off x="2688" y="283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92" name="Rectangle 215"/>
                <p:cNvSpPr>
                  <a:spLocks noChangeArrowheads="1"/>
                </p:cNvSpPr>
                <p:nvPr/>
              </p:nvSpPr>
              <p:spPr bwMode="auto">
                <a:xfrm>
                  <a:off x="3072" y="225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93" name="Rectangle 216"/>
                <p:cNvSpPr>
                  <a:spLocks noChangeArrowheads="1"/>
                </p:cNvSpPr>
                <p:nvPr/>
              </p:nvSpPr>
              <p:spPr bwMode="auto">
                <a:xfrm>
                  <a:off x="2880" y="244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94" name="Rectangle 217"/>
                <p:cNvSpPr>
                  <a:spLocks noChangeArrowheads="1"/>
                </p:cNvSpPr>
                <p:nvPr/>
              </p:nvSpPr>
              <p:spPr bwMode="auto">
                <a:xfrm>
                  <a:off x="3072" y="244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95" name="Rectangle 218"/>
                <p:cNvSpPr>
                  <a:spLocks noChangeArrowheads="1"/>
                </p:cNvSpPr>
                <p:nvPr/>
              </p:nvSpPr>
              <p:spPr bwMode="auto">
                <a:xfrm>
                  <a:off x="3264" y="225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96" name="Rectangle 219"/>
                <p:cNvSpPr>
                  <a:spLocks noChangeArrowheads="1"/>
                </p:cNvSpPr>
                <p:nvPr/>
              </p:nvSpPr>
              <p:spPr bwMode="auto">
                <a:xfrm>
                  <a:off x="3456" y="225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97" name="Rectangle 220"/>
                <p:cNvSpPr>
                  <a:spLocks noChangeArrowheads="1"/>
                </p:cNvSpPr>
                <p:nvPr/>
              </p:nvSpPr>
              <p:spPr bwMode="auto">
                <a:xfrm>
                  <a:off x="3264" y="244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98" name="Rectangle 221"/>
                <p:cNvSpPr>
                  <a:spLocks noChangeArrowheads="1"/>
                </p:cNvSpPr>
                <p:nvPr/>
              </p:nvSpPr>
              <p:spPr bwMode="auto">
                <a:xfrm>
                  <a:off x="3456" y="244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99" name="Rectangle 222"/>
                <p:cNvSpPr>
                  <a:spLocks noChangeArrowheads="1"/>
                </p:cNvSpPr>
                <p:nvPr/>
              </p:nvSpPr>
              <p:spPr bwMode="auto">
                <a:xfrm>
                  <a:off x="2880" y="264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00" name="Rectangle 223"/>
                <p:cNvSpPr>
                  <a:spLocks noChangeArrowheads="1"/>
                </p:cNvSpPr>
                <p:nvPr/>
              </p:nvSpPr>
              <p:spPr bwMode="auto">
                <a:xfrm>
                  <a:off x="3072" y="264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01" name="Rectangle 224"/>
                <p:cNvSpPr>
                  <a:spLocks noChangeArrowheads="1"/>
                </p:cNvSpPr>
                <p:nvPr/>
              </p:nvSpPr>
              <p:spPr bwMode="auto">
                <a:xfrm>
                  <a:off x="2880" y="283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02" name="Rectangle 225"/>
                <p:cNvSpPr>
                  <a:spLocks noChangeArrowheads="1"/>
                </p:cNvSpPr>
                <p:nvPr/>
              </p:nvSpPr>
              <p:spPr bwMode="auto">
                <a:xfrm>
                  <a:off x="3072" y="283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03" name="Rectangle 226"/>
                <p:cNvSpPr>
                  <a:spLocks noChangeArrowheads="1"/>
                </p:cNvSpPr>
                <p:nvPr/>
              </p:nvSpPr>
              <p:spPr bwMode="auto">
                <a:xfrm>
                  <a:off x="3264" y="264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04" name="Rectangle 227"/>
                <p:cNvSpPr>
                  <a:spLocks noChangeArrowheads="1"/>
                </p:cNvSpPr>
                <p:nvPr/>
              </p:nvSpPr>
              <p:spPr bwMode="auto">
                <a:xfrm>
                  <a:off x="3456" y="264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05" name="Rectangle 228"/>
                <p:cNvSpPr>
                  <a:spLocks noChangeArrowheads="1"/>
                </p:cNvSpPr>
                <p:nvPr/>
              </p:nvSpPr>
              <p:spPr bwMode="auto">
                <a:xfrm>
                  <a:off x="3264" y="283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06" name="Rectangle 229"/>
                <p:cNvSpPr>
                  <a:spLocks noChangeArrowheads="1"/>
                </p:cNvSpPr>
                <p:nvPr/>
              </p:nvSpPr>
              <p:spPr bwMode="auto">
                <a:xfrm>
                  <a:off x="3456" y="2832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07" name="Rectangle 230"/>
                <p:cNvSpPr>
                  <a:spLocks noChangeArrowheads="1"/>
                </p:cNvSpPr>
                <p:nvPr/>
              </p:nvSpPr>
              <p:spPr bwMode="auto">
                <a:xfrm>
                  <a:off x="2112" y="302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08" name="Rectangle 231"/>
                <p:cNvSpPr>
                  <a:spLocks noChangeArrowheads="1"/>
                </p:cNvSpPr>
                <p:nvPr/>
              </p:nvSpPr>
              <p:spPr bwMode="auto">
                <a:xfrm>
                  <a:off x="2304" y="302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09" name="Rectangle 232"/>
                <p:cNvSpPr>
                  <a:spLocks noChangeArrowheads="1"/>
                </p:cNvSpPr>
                <p:nvPr/>
              </p:nvSpPr>
              <p:spPr bwMode="auto">
                <a:xfrm>
                  <a:off x="2112" y="321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10" name="Rectangle 233"/>
                <p:cNvSpPr>
                  <a:spLocks noChangeArrowheads="1"/>
                </p:cNvSpPr>
                <p:nvPr/>
              </p:nvSpPr>
              <p:spPr bwMode="auto">
                <a:xfrm>
                  <a:off x="2304" y="321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11" name="Rectangle 234"/>
                <p:cNvSpPr>
                  <a:spLocks noChangeArrowheads="1"/>
                </p:cNvSpPr>
                <p:nvPr/>
              </p:nvSpPr>
              <p:spPr bwMode="auto">
                <a:xfrm>
                  <a:off x="2496" y="302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12" name="Rectangle 235"/>
                <p:cNvSpPr>
                  <a:spLocks noChangeArrowheads="1"/>
                </p:cNvSpPr>
                <p:nvPr/>
              </p:nvSpPr>
              <p:spPr bwMode="auto">
                <a:xfrm>
                  <a:off x="2688" y="302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13" name="Rectangle 236"/>
                <p:cNvSpPr>
                  <a:spLocks noChangeArrowheads="1"/>
                </p:cNvSpPr>
                <p:nvPr/>
              </p:nvSpPr>
              <p:spPr bwMode="auto">
                <a:xfrm>
                  <a:off x="2496" y="321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14" name="Rectangle 237"/>
                <p:cNvSpPr>
                  <a:spLocks noChangeArrowheads="1"/>
                </p:cNvSpPr>
                <p:nvPr/>
              </p:nvSpPr>
              <p:spPr bwMode="auto">
                <a:xfrm>
                  <a:off x="2688" y="321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15" name="Rectangle 238"/>
                <p:cNvSpPr>
                  <a:spLocks noChangeArrowheads="1"/>
                </p:cNvSpPr>
                <p:nvPr/>
              </p:nvSpPr>
              <p:spPr bwMode="auto">
                <a:xfrm>
                  <a:off x="2112" y="340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16" name="Rectangle 239"/>
                <p:cNvSpPr>
                  <a:spLocks noChangeArrowheads="1"/>
                </p:cNvSpPr>
                <p:nvPr/>
              </p:nvSpPr>
              <p:spPr bwMode="auto">
                <a:xfrm>
                  <a:off x="2304" y="340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17" name="Rectangle 240"/>
                <p:cNvSpPr>
                  <a:spLocks noChangeArrowheads="1"/>
                </p:cNvSpPr>
                <p:nvPr/>
              </p:nvSpPr>
              <p:spPr bwMode="auto">
                <a:xfrm>
                  <a:off x="2112" y="360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18" name="Rectangle 241"/>
                <p:cNvSpPr>
                  <a:spLocks noChangeArrowheads="1"/>
                </p:cNvSpPr>
                <p:nvPr/>
              </p:nvSpPr>
              <p:spPr bwMode="auto">
                <a:xfrm>
                  <a:off x="2304" y="360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19" name="Rectangle 242"/>
                <p:cNvSpPr>
                  <a:spLocks noChangeArrowheads="1"/>
                </p:cNvSpPr>
                <p:nvPr/>
              </p:nvSpPr>
              <p:spPr bwMode="auto">
                <a:xfrm>
                  <a:off x="2496" y="340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20" name="Rectangle 243"/>
                <p:cNvSpPr>
                  <a:spLocks noChangeArrowheads="1"/>
                </p:cNvSpPr>
                <p:nvPr/>
              </p:nvSpPr>
              <p:spPr bwMode="auto">
                <a:xfrm>
                  <a:off x="2688" y="340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21" name="Rectangle 244"/>
                <p:cNvSpPr>
                  <a:spLocks noChangeArrowheads="1"/>
                </p:cNvSpPr>
                <p:nvPr/>
              </p:nvSpPr>
              <p:spPr bwMode="auto">
                <a:xfrm>
                  <a:off x="2496" y="360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22" name="Rectangle 245"/>
                <p:cNvSpPr>
                  <a:spLocks noChangeArrowheads="1"/>
                </p:cNvSpPr>
                <p:nvPr/>
              </p:nvSpPr>
              <p:spPr bwMode="auto">
                <a:xfrm>
                  <a:off x="2688" y="360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23" name="Rectangle 246"/>
                <p:cNvSpPr>
                  <a:spLocks noChangeArrowheads="1"/>
                </p:cNvSpPr>
                <p:nvPr/>
              </p:nvSpPr>
              <p:spPr bwMode="auto">
                <a:xfrm>
                  <a:off x="2880" y="302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24" name="Rectangle 247"/>
                <p:cNvSpPr>
                  <a:spLocks noChangeArrowheads="1"/>
                </p:cNvSpPr>
                <p:nvPr/>
              </p:nvSpPr>
              <p:spPr bwMode="auto">
                <a:xfrm>
                  <a:off x="3072" y="302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25" name="Rectangle 248"/>
                <p:cNvSpPr>
                  <a:spLocks noChangeArrowheads="1"/>
                </p:cNvSpPr>
                <p:nvPr/>
              </p:nvSpPr>
              <p:spPr bwMode="auto">
                <a:xfrm>
                  <a:off x="2880" y="321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26" name="Rectangle 249"/>
                <p:cNvSpPr>
                  <a:spLocks noChangeArrowheads="1"/>
                </p:cNvSpPr>
                <p:nvPr/>
              </p:nvSpPr>
              <p:spPr bwMode="auto">
                <a:xfrm>
                  <a:off x="3072" y="321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27" name="Rectangle 250"/>
                <p:cNvSpPr>
                  <a:spLocks noChangeArrowheads="1"/>
                </p:cNvSpPr>
                <p:nvPr/>
              </p:nvSpPr>
              <p:spPr bwMode="auto">
                <a:xfrm>
                  <a:off x="3264" y="302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28" name="Rectangle 251"/>
                <p:cNvSpPr>
                  <a:spLocks noChangeArrowheads="1"/>
                </p:cNvSpPr>
                <p:nvPr/>
              </p:nvSpPr>
              <p:spPr bwMode="auto">
                <a:xfrm>
                  <a:off x="3456" y="3024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29" name="Rectangle 252"/>
                <p:cNvSpPr>
                  <a:spLocks noChangeArrowheads="1"/>
                </p:cNvSpPr>
                <p:nvPr/>
              </p:nvSpPr>
              <p:spPr bwMode="auto">
                <a:xfrm>
                  <a:off x="3264" y="321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30" name="Rectangle 253"/>
                <p:cNvSpPr>
                  <a:spLocks noChangeArrowheads="1"/>
                </p:cNvSpPr>
                <p:nvPr/>
              </p:nvSpPr>
              <p:spPr bwMode="auto">
                <a:xfrm>
                  <a:off x="3456" y="3216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31" name="Rectangle 254"/>
                <p:cNvSpPr>
                  <a:spLocks noChangeArrowheads="1"/>
                </p:cNvSpPr>
                <p:nvPr/>
              </p:nvSpPr>
              <p:spPr bwMode="auto">
                <a:xfrm>
                  <a:off x="2880" y="340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32" name="Rectangle 255"/>
                <p:cNvSpPr>
                  <a:spLocks noChangeArrowheads="1"/>
                </p:cNvSpPr>
                <p:nvPr/>
              </p:nvSpPr>
              <p:spPr bwMode="auto">
                <a:xfrm>
                  <a:off x="3072" y="340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33" name="Rectangle 256"/>
                <p:cNvSpPr>
                  <a:spLocks noChangeArrowheads="1"/>
                </p:cNvSpPr>
                <p:nvPr/>
              </p:nvSpPr>
              <p:spPr bwMode="auto">
                <a:xfrm>
                  <a:off x="2880" y="360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34" name="Rectangle 257"/>
                <p:cNvSpPr>
                  <a:spLocks noChangeArrowheads="1"/>
                </p:cNvSpPr>
                <p:nvPr/>
              </p:nvSpPr>
              <p:spPr bwMode="auto">
                <a:xfrm>
                  <a:off x="3072" y="360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35" name="Rectangle 258"/>
                <p:cNvSpPr>
                  <a:spLocks noChangeArrowheads="1"/>
                </p:cNvSpPr>
                <p:nvPr/>
              </p:nvSpPr>
              <p:spPr bwMode="auto">
                <a:xfrm>
                  <a:off x="3264" y="340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36" name="Rectangle 259"/>
                <p:cNvSpPr>
                  <a:spLocks noChangeArrowheads="1"/>
                </p:cNvSpPr>
                <p:nvPr/>
              </p:nvSpPr>
              <p:spPr bwMode="auto">
                <a:xfrm>
                  <a:off x="3456" y="3408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37" name="Rectangle 260"/>
                <p:cNvSpPr>
                  <a:spLocks noChangeArrowheads="1"/>
                </p:cNvSpPr>
                <p:nvPr/>
              </p:nvSpPr>
              <p:spPr bwMode="auto">
                <a:xfrm>
                  <a:off x="3264" y="360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338" name="Rectangle 261"/>
                <p:cNvSpPr>
                  <a:spLocks noChangeArrowheads="1"/>
                </p:cNvSpPr>
                <p:nvPr/>
              </p:nvSpPr>
              <p:spPr bwMode="auto">
                <a:xfrm>
                  <a:off x="3456" y="3600"/>
                  <a:ext cx="192" cy="19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>
                    <a:solidFill>
                      <a:srgbClr val="000000"/>
                    </a:solidFill>
                  </a:endParaRPr>
                </a:p>
              </p:txBody>
            </p:sp>
          </p:grpSp>
          <p:sp>
            <p:nvSpPr>
              <p:cNvPr id="66" name="Line 266"/>
              <p:cNvSpPr>
                <a:spLocks noChangeShapeType="1"/>
              </p:cNvSpPr>
              <p:nvPr/>
            </p:nvSpPr>
            <p:spPr bwMode="auto">
              <a:xfrm>
                <a:off x="1338" y="2521"/>
                <a:ext cx="2903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 type="arrow" w="med" len="med"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" name="Text Box 267"/>
              <p:cNvSpPr txBox="1">
                <a:spLocks noChangeArrowheads="1"/>
              </p:cNvSpPr>
              <p:nvPr/>
            </p:nvSpPr>
            <p:spPr bwMode="auto">
              <a:xfrm>
                <a:off x="2553" y="2476"/>
                <a:ext cx="267" cy="3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>
                    <a:solidFill>
                      <a:srgbClr val="010066"/>
                    </a:solidFill>
                  </a:rPr>
                  <a:t>0</a:t>
                </a:r>
                <a:endParaRPr lang="en-GB">
                  <a:solidFill>
                    <a:srgbClr val="010066"/>
                  </a:solidFill>
                </a:endParaRPr>
              </a:p>
            </p:txBody>
          </p:sp>
          <p:sp>
            <p:nvSpPr>
              <p:cNvPr id="68" name="Text Box 269"/>
              <p:cNvSpPr txBox="1">
                <a:spLocks noChangeArrowheads="1"/>
              </p:cNvSpPr>
              <p:nvPr/>
            </p:nvSpPr>
            <p:spPr bwMode="auto">
              <a:xfrm>
                <a:off x="2996" y="2476"/>
                <a:ext cx="267" cy="3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>
                    <a:solidFill>
                      <a:srgbClr val="010066"/>
                    </a:solidFill>
                  </a:rPr>
                  <a:t>2</a:t>
                </a:r>
                <a:endParaRPr lang="en-GB">
                  <a:solidFill>
                    <a:srgbClr val="010066"/>
                  </a:solidFill>
                </a:endParaRPr>
              </a:p>
            </p:txBody>
          </p:sp>
          <p:sp>
            <p:nvSpPr>
              <p:cNvPr id="69" name="Text Box 271"/>
              <p:cNvSpPr txBox="1">
                <a:spLocks noChangeArrowheads="1"/>
              </p:cNvSpPr>
              <p:nvPr/>
            </p:nvSpPr>
            <p:spPr bwMode="auto">
              <a:xfrm>
                <a:off x="3376" y="2484"/>
                <a:ext cx="267" cy="3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>
                    <a:solidFill>
                      <a:srgbClr val="010066"/>
                    </a:solidFill>
                  </a:rPr>
                  <a:t>4</a:t>
                </a:r>
                <a:endParaRPr lang="en-GB">
                  <a:solidFill>
                    <a:srgbClr val="010066"/>
                  </a:solidFill>
                </a:endParaRPr>
              </a:p>
            </p:txBody>
          </p:sp>
          <p:sp>
            <p:nvSpPr>
              <p:cNvPr id="70" name="Text Box 273"/>
              <p:cNvSpPr txBox="1">
                <a:spLocks noChangeArrowheads="1"/>
              </p:cNvSpPr>
              <p:nvPr/>
            </p:nvSpPr>
            <p:spPr bwMode="auto">
              <a:xfrm>
                <a:off x="3742" y="2476"/>
                <a:ext cx="267" cy="3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>
                    <a:solidFill>
                      <a:srgbClr val="010066"/>
                    </a:solidFill>
                  </a:rPr>
                  <a:t>6</a:t>
                </a:r>
                <a:endParaRPr lang="en-GB">
                  <a:solidFill>
                    <a:srgbClr val="010066"/>
                  </a:solidFill>
                </a:endParaRPr>
              </a:p>
            </p:txBody>
          </p:sp>
          <p:sp>
            <p:nvSpPr>
              <p:cNvPr id="71" name="Text Box 276"/>
              <p:cNvSpPr txBox="1">
                <a:spLocks noChangeArrowheads="1"/>
              </p:cNvSpPr>
              <p:nvPr/>
            </p:nvSpPr>
            <p:spPr bwMode="auto">
              <a:xfrm>
                <a:off x="2237" y="2476"/>
                <a:ext cx="370" cy="3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>
                    <a:solidFill>
                      <a:srgbClr val="010066"/>
                    </a:solidFill>
                  </a:rPr>
                  <a:t>–2</a:t>
                </a:r>
                <a:endParaRPr lang="en-GB">
                  <a:solidFill>
                    <a:srgbClr val="010066"/>
                  </a:solidFill>
                </a:endParaRPr>
              </a:p>
            </p:txBody>
          </p:sp>
          <p:sp>
            <p:nvSpPr>
              <p:cNvPr id="72" name="Text Box 278"/>
              <p:cNvSpPr txBox="1">
                <a:spLocks noChangeArrowheads="1"/>
              </p:cNvSpPr>
              <p:nvPr/>
            </p:nvSpPr>
            <p:spPr bwMode="auto">
              <a:xfrm>
                <a:off x="1857" y="2476"/>
                <a:ext cx="370" cy="3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>
                    <a:solidFill>
                      <a:srgbClr val="010066"/>
                    </a:solidFill>
                  </a:rPr>
                  <a:t>–4</a:t>
                </a:r>
                <a:endParaRPr lang="en-GB">
                  <a:solidFill>
                    <a:srgbClr val="010066"/>
                  </a:solidFill>
                </a:endParaRPr>
              </a:p>
            </p:txBody>
          </p:sp>
          <p:sp>
            <p:nvSpPr>
              <p:cNvPr id="73" name="Text Box 280"/>
              <p:cNvSpPr txBox="1">
                <a:spLocks noChangeArrowheads="1"/>
              </p:cNvSpPr>
              <p:nvPr/>
            </p:nvSpPr>
            <p:spPr bwMode="auto">
              <a:xfrm>
                <a:off x="1477" y="2476"/>
                <a:ext cx="370" cy="3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>
                    <a:solidFill>
                      <a:srgbClr val="010066"/>
                    </a:solidFill>
                  </a:rPr>
                  <a:t>–6</a:t>
                </a:r>
                <a:endParaRPr lang="en-GB">
                  <a:solidFill>
                    <a:srgbClr val="010066"/>
                  </a:solidFill>
                </a:endParaRPr>
              </a:p>
            </p:txBody>
          </p:sp>
          <p:sp>
            <p:nvSpPr>
              <p:cNvPr id="74" name="Text Box 283"/>
              <p:cNvSpPr txBox="1">
                <a:spLocks noChangeArrowheads="1"/>
              </p:cNvSpPr>
              <p:nvPr/>
            </p:nvSpPr>
            <p:spPr bwMode="auto">
              <a:xfrm>
                <a:off x="2553" y="2021"/>
                <a:ext cx="267" cy="3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>
                    <a:solidFill>
                      <a:srgbClr val="010066"/>
                    </a:solidFill>
                  </a:rPr>
                  <a:t>2</a:t>
                </a:r>
                <a:endParaRPr lang="en-GB">
                  <a:solidFill>
                    <a:srgbClr val="010066"/>
                  </a:solidFill>
                </a:endParaRPr>
              </a:p>
            </p:txBody>
          </p:sp>
          <p:sp>
            <p:nvSpPr>
              <p:cNvPr id="75" name="Text Box 285"/>
              <p:cNvSpPr txBox="1">
                <a:spLocks noChangeArrowheads="1"/>
              </p:cNvSpPr>
              <p:nvPr/>
            </p:nvSpPr>
            <p:spPr bwMode="auto">
              <a:xfrm>
                <a:off x="2561" y="1655"/>
                <a:ext cx="267" cy="3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>
                    <a:solidFill>
                      <a:srgbClr val="010066"/>
                    </a:solidFill>
                  </a:rPr>
                  <a:t>4</a:t>
                </a:r>
                <a:endParaRPr lang="en-GB">
                  <a:solidFill>
                    <a:srgbClr val="010066"/>
                  </a:solidFill>
                </a:endParaRPr>
              </a:p>
            </p:txBody>
          </p:sp>
          <p:sp>
            <p:nvSpPr>
              <p:cNvPr id="76" name="Text Box 287"/>
              <p:cNvSpPr txBox="1">
                <a:spLocks noChangeArrowheads="1"/>
              </p:cNvSpPr>
              <p:nvPr/>
            </p:nvSpPr>
            <p:spPr bwMode="auto">
              <a:xfrm>
                <a:off x="2561" y="1325"/>
                <a:ext cx="267" cy="3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>
                    <a:solidFill>
                      <a:srgbClr val="010066"/>
                    </a:solidFill>
                  </a:rPr>
                  <a:t>6</a:t>
                </a:r>
                <a:endParaRPr lang="en-GB">
                  <a:solidFill>
                    <a:srgbClr val="010066"/>
                  </a:solidFill>
                </a:endParaRPr>
              </a:p>
            </p:txBody>
          </p:sp>
          <p:sp>
            <p:nvSpPr>
              <p:cNvPr id="77" name="Text Box 288"/>
              <p:cNvSpPr txBox="1">
                <a:spLocks noChangeArrowheads="1"/>
              </p:cNvSpPr>
              <p:nvPr/>
            </p:nvSpPr>
            <p:spPr bwMode="auto">
              <a:xfrm>
                <a:off x="2633" y="1146"/>
                <a:ext cx="164" cy="28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endParaRPr lang="en-GB" sz="1600">
                  <a:solidFill>
                    <a:srgbClr val="010066"/>
                  </a:solidFill>
                </a:endParaRPr>
              </a:p>
            </p:txBody>
          </p:sp>
          <p:sp>
            <p:nvSpPr>
              <p:cNvPr id="78" name="Text Box 289"/>
              <p:cNvSpPr txBox="1">
                <a:spLocks noChangeArrowheads="1"/>
              </p:cNvSpPr>
              <p:nvPr/>
            </p:nvSpPr>
            <p:spPr bwMode="auto">
              <a:xfrm>
                <a:off x="2437" y="2742"/>
                <a:ext cx="370" cy="3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>
                    <a:solidFill>
                      <a:srgbClr val="010066"/>
                    </a:solidFill>
                  </a:rPr>
                  <a:t>–2</a:t>
                </a:r>
                <a:endParaRPr lang="en-GB">
                  <a:solidFill>
                    <a:srgbClr val="010066"/>
                  </a:solidFill>
                </a:endParaRPr>
              </a:p>
            </p:txBody>
          </p:sp>
          <p:sp>
            <p:nvSpPr>
              <p:cNvPr id="79" name="Text Box 290"/>
              <p:cNvSpPr txBox="1">
                <a:spLocks noChangeArrowheads="1"/>
              </p:cNvSpPr>
              <p:nvPr/>
            </p:nvSpPr>
            <p:spPr bwMode="auto">
              <a:xfrm>
                <a:off x="2427" y="3119"/>
                <a:ext cx="370" cy="3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>
                    <a:solidFill>
                      <a:srgbClr val="010066"/>
                    </a:solidFill>
                  </a:rPr>
                  <a:t>–4</a:t>
                </a:r>
                <a:endParaRPr lang="en-GB">
                  <a:solidFill>
                    <a:srgbClr val="010066"/>
                  </a:solidFill>
                </a:endParaRPr>
              </a:p>
            </p:txBody>
          </p:sp>
          <p:sp>
            <p:nvSpPr>
              <p:cNvPr id="80" name="Text Box 291"/>
              <p:cNvSpPr txBox="1">
                <a:spLocks noChangeArrowheads="1"/>
              </p:cNvSpPr>
              <p:nvPr/>
            </p:nvSpPr>
            <p:spPr bwMode="auto">
              <a:xfrm>
                <a:off x="2427" y="3485"/>
                <a:ext cx="370" cy="3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>
                    <a:solidFill>
                      <a:srgbClr val="010066"/>
                    </a:solidFill>
                  </a:rPr>
                  <a:t>–6</a:t>
                </a:r>
                <a:endParaRPr lang="en-GB">
                  <a:solidFill>
                    <a:srgbClr val="010066"/>
                  </a:solidFill>
                </a:endParaRPr>
              </a:p>
            </p:txBody>
          </p:sp>
          <p:sp>
            <p:nvSpPr>
              <p:cNvPr id="81" name="Line 295"/>
              <p:cNvSpPr>
                <a:spLocks noChangeShapeType="1"/>
              </p:cNvSpPr>
              <p:nvPr/>
            </p:nvSpPr>
            <p:spPr bwMode="auto">
              <a:xfrm rot="-5400000">
                <a:off x="1337" y="2522"/>
                <a:ext cx="2903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 type="arrow" w="med" len="med"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Text Box 302"/>
              <p:cNvSpPr txBox="1">
                <a:spLocks noChangeArrowheads="1"/>
              </p:cNvSpPr>
              <p:nvPr/>
            </p:nvSpPr>
            <p:spPr bwMode="auto">
              <a:xfrm>
                <a:off x="4080" y="2496"/>
                <a:ext cx="182" cy="2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GB" b="1" i="1">
                    <a:solidFill>
                      <a:srgbClr val="010066"/>
                    </a:solidFill>
                    <a:latin typeface="Times New Roman" pitchFamily="18" charset="0"/>
                  </a:rPr>
                  <a:t>x</a:t>
                </a:r>
              </a:p>
            </p:txBody>
          </p:sp>
          <p:sp>
            <p:nvSpPr>
              <p:cNvPr id="83" name="Text Box 303"/>
              <p:cNvSpPr txBox="1">
                <a:spLocks noChangeArrowheads="1"/>
              </p:cNvSpPr>
              <p:nvPr/>
            </p:nvSpPr>
            <p:spPr bwMode="auto">
              <a:xfrm>
                <a:off x="2544" y="1008"/>
                <a:ext cx="175" cy="22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GB" b="1" i="1">
                    <a:solidFill>
                      <a:srgbClr val="010066"/>
                    </a:solidFill>
                    <a:latin typeface="Times New Roman" pitchFamily="18" charset="0"/>
                  </a:rPr>
                  <a:t>y</a:t>
                </a:r>
              </a:p>
            </p:txBody>
          </p:sp>
        </p:grpSp>
      </p:grpSp>
      <p:sp>
        <p:nvSpPr>
          <p:cNvPr id="339" name="Oval 338"/>
          <p:cNvSpPr/>
          <p:nvPr/>
        </p:nvSpPr>
        <p:spPr>
          <a:xfrm>
            <a:off x="2914162" y="3289373"/>
            <a:ext cx="101600" cy="6032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340" name="TextBox 339"/>
          <p:cNvSpPr txBox="1">
            <a:spLocks noChangeArrowheads="1"/>
          </p:cNvSpPr>
          <p:nvPr/>
        </p:nvSpPr>
        <p:spPr bwMode="auto">
          <a:xfrm>
            <a:off x="2914162" y="3086173"/>
            <a:ext cx="277813" cy="261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sz="1100"/>
              <a:t>A</a:t>
            </a:r>
          </a:p>
        </p:txBody>
      </p:sp>
      <p:sp>
        <p:nvSpPr>
          <p:cNvPr id="341" name="Oval 340"/>
          <p:cNvSpPr/>
          <p:nvPr/>
        </p:nvSpPr>
        <p:spPr>
          <a:xfrm>
            <a:off x="3750775" y="4156148"/>
            <a:ext cx="101600" cy="5873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342" name="TextBox 341"/>
          <p:cNvSpPr txBox="1">
            <a:spLocks noChangeArrowheads="1"/>
          </p:cNvSpPr>
          <p:nvPr/>
        </p:nvSpPr>
        <p:spPr bwMode="auto">
          <a:xfrm>
            <a:off x="3844437" y="4178373"/>
            <a:ext cx="279400" cy="261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sz="1100"/>
              <a:t>B</a:t>
            </a:r>
          </a:p>
        </p:txBody>
      </p:sp>
      <p:cxnSp>
        <p:nvCxnSpPr>
          <p:cNvPr id="347" name="Straight Arrow Connector 346"/>
          <p:cNvCxnSpPr>
            <a:stCxn id="340" idx="2"/>
            <a:endCxn id="341" idx="7"/>
          </p:cNvCxnSpPr>
          <p:nvPr/>
        </p:nvCxnSpPr>
        <p:spPr>
          <a:xfrm>
            <a:off x="3053862" y="3348110"/>
            <a:ext cx="782638" cy="815975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Straight Arrow Connector 347"/>
          <p:cNvCxnSpPr>
            <a:stCxn id="183" idx="3"/>
          </p:cNvCxnSpPr>
          <p:nvPr/>
        </p:nvCxnSpPr>
        <p:spPr>
          <a:xfrm>
            <a:off x="3015762" y="3416373"/>
            <a:ext cx="0" cy="738187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Arrow Connector 348"/>
          <p:cNvCxnSpPr/>
          <p:nvPr/>
        </p:nvCxnSpPr>
        <p:spPr>
          <a:xfrm>
            <a:off x="2998300" y="4146623"/>
            <a:ext cx="828675" cy="7937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3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3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3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9" grpId="0" animBg="1"/>
      <p:bldP spid="340" grpId="0"/>
      <p:bldP spid="341" grpId="0" animBg="1"/>
      <p:bldP spid="34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023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50">
                <a:solidFill>
                  <a:srgbClr val="C84F2F"/>
                </a:solidFill>
                <a:latin typeface="Calibri"/>
              </a:rPr>
              <a:t>THE OPPOSITE VECTOR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658368"/>
            <a:ext cx="98755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>
                <a:solidFill>
                  <a:srgbClr val="1C2A22"/>
                </a:solidFill>
                <a:latin typeface="Cambria"/>
              </a:rPr>
              <a:t>BA is the Reverse of 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261872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 dirty="0">
                <a:solidFill>
                  <a:srgbClr val="5C6B60"/>
                </a:solidFill>
                <a:latin typeface="Calibri"/>
              </a:rPr>
              <a:t>AB = (5, 2). If the arrow points the other way, every number flips sign: BA = −AB = (−5, −2).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5943600" cy="260604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" name="Connector 7"/>
          <p:cNvCxnSpPr/>
          <p:nvPr/>
        </p:nvCxnSpPr>
        <p:spPr>
          <a:xfrm>
            <a:off x="932688" y="2194559"/>
            <a:ext cx="0" cy="178308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677270" y="2194559"/>
            <a:ext cx="0" cy="178308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1853" y="2194559"/>
            <a:ext cx="0" cy="178308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166436" y="2194559"/>
            <a:ext cx="0" cy="178308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911019" y="2194559"/>
            <a:ext cx="0" cy="178308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655602" y="2194559"/>
            <a:ext cx="0" cy="178308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400185" y="2194559"/>
            <a:ext cx="0" cy="178308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144768" y="2194559"/>
            <a:ext cx="0" cy="178308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32688" y="3977639"/>
            <a:ext cx="5212080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32688" y="3621023"/>
            <a:ext cx="5212080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32688" y="3264407"/>
            <a:ext cx="5212080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32688" y="2907791"/>
            <a:ext cx="5212080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32688" y="2551175"/>
            <a:ext cx="5212080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32688" y="2194559"/>
            <a:ext cx="5212080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649270" y="3593023"/>
            <a:ext cx="56000" cy="56000"/>
          </a:xfrm>
          <a:prstGeom prst="ellipse">
            <a:avLst/>
          </a:prstGeom>
          <a:solidFill>
            <a:srgbClr val="1C2A2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5372185" y="2879791"/>
            <a:ext cx="56000" cy="56000"/>
          </a:xfrm>
          <a:prstGeom prst="ellipse">
            <a:avLst/>
          </a:prstGeom>
          <a:solidFill>
            <a:srgbClr val="1C2A2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" name="Connector 23"/>
          <p:cNvCxnSpPr/>
          <p:nvPr/>
        </p:nvCxnSpPr>
        <p:spPr>
          <a:xfrm flipV="1">
            <a:off x="1677270" y="2907791"/>
            <a:ext cx="3722915" cy="713232"/>
          </a:xfrm>
          <a:prstGeom prst="line">
            <a:avLst/>
          </a:prstGeom>
          <a:ln w="40640">
            <a:solidFill>
              <a:srgbClr val="C84F2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695270" y="2925791"/>
            <a:ext cx="3722915" cy="713232"/>
          </a:xfrm>
          <a:prstGeom prst="line">
            <a:avLst/>
          </a:prstGeom>
          <a:ln w="30480">
            <a:solidFill>
              <a:srgbClr val="1C2A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384662" y="3694175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C2A22"/>
                </a:solidFill>
                <a:latin typeface="Cambria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91625" y="2560319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C2A22"/>
                </a:solidFill>
                <a:latin typeface="Cambria"/>
              </a:rPr>
              <a:t>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38287" y="2801362"/>
            <a:ext cx="45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1">
                <a:solidFill>
                  <a:srgbClr val="C84F2F"/>
                </a:solidFill>
                <a:latin typeface="Cambria"/>
              </a:rPr>
              <a:t>AB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88084" y="3458922"/>
            <a:ext cx="5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1">
                <a:solidFill>
                  <a:srgbClr val="1C2A22"/>
                </a:solidFill>
                <a:latin typeface="Cambria"/>
              </a:rPr>
              <a:t>BA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30568" y="1874519"/>
            <a:ext cx="4794199" cy="260604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/>
              <p:cNvSpPr txBox="1"/>
              <p:nvPr/>
            </p:nvSpPr>
            <p:spPr>
              <a:xfrm>
                <a:off x="7150608" y="2148839"/>
                <a:ext cx="4154119" cy="19442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>
                  <a:lnSpc>
                    <a:spcPct val="125000"/>
                  </a:lnSpc>
                </a:pPr>
                <a:r>
                  <a:rPr lang="en-US" sz="1350" b="0" dirty="0" smtClean="0">
                    <a:solidFill>
                      <a:srgbClr val="5C6B60"/>
                    </a:solidFill>
                    <a:latin typeface="Calibri"/>
                  </a:rPr>
                  <a:t>AB =</a:t>
                </a:r>
                <a:r>
                  <a:rPr lang="en-US" sz="1400" dirty="0">
                    <a:solidFill>
                      <a:srgbClr val="1C2A22"/>
                    </a:solidFill>
                    <a:ea typeface="Calibri" pitchFamily="34" charset="-122"/>
                    <a:cs typeface="Calibri" pitchFamily="34" charset="-12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1400" i="1" smtClean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ar-AE" sz="1400" i="1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ar-AE" sz="14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5</m:t>
                              </m:r>
                            </m:e>
                          </m:mr>
                          <m:mr>
                            <m:e>
                              <m:r>
                                <a:rPr lang="en-US" sz="14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ar-AE" sz="1350" b="0" dirty="0">
                    <a:solidFill>
                      <a:srgbClr val="5C6B60"/>
                    </a:solidFill>
                    <a:latin typeface="Calibri"/>
                  </a:rPr>
                  <a:t>, </a:t>
                </a:r>
                <a:endParaRPr lang="en-US" sz="1350" b="0" dirty="0" smtClean="0">
                  <a:solidFill>
                    <a:srgbClr val="5C6B60"/>
                  </a:solidFill>
                  <a:latin typeface="Calibri"/>
                </a:endParaRPr>
              </a:p>
              <a:p>
                <a:pPr>
                  <a:lnSpc>
                    <a:spcPct val="125000"/>
                  </a:lnSpc>
                </a:pPr>
                <a:r>
                  <a:rPr lang="en-US" sz="1350" b="0" dirty="0" smtClean="0">
                    <a:solidFill>
                      <a:srgbClr val="5C6B60"/>
                    </a:solidFill>
                    <a:latin typeface="Calibri"/>
                  </a:rPr>
                  <a:t>BA </a:t>
                </a:r>
                <a:r>
                  <a:rPr lang="en-US" sz="1350" b="0" dirty="0">
                    <a:solidFill>
                      <a:srgbClr val="5C6B60"/>
                    </a:solidFill>
                    <a:latin typeface="Calibri"/>
                  </a:rPr>
                  <a:t>= −AB = −</a:t>
                </a:r>
                <a:r>
                  <a:rPr lang="en-US" sz="1350" b="0" dirty="0" smtClean="0">
                    <a:solidFill>
                      <a:srgbClr val="5C6B60"/>
                    </a:solidFill>
                    <a:latin typeface="Calibri"/>
                  </a:rPr>
                  <a:t>a =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1400" i="1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ar-AE" sz="1400" i="1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14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−</m:t>
                              </m:r>
                              <m:r>
                                <m:rPr>
                                  <m:brk m:alnAt="7"/>
                                </m:rPr>
                                <a:rPr lang="en-US" sz="14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5</m:t>
                              </m:r>
                            </m:e>
                          </m:mr>
                          <m:mr>
                            <m:e>
                              <m:r>
                                <a:rPr lang="en-US" sz="1400" i="1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−</m:t>
                              </m:r>
                              <m:r>
                                <a:rPr lang="en-US" sz="14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1350" b="0" dirty="0">
                  <a:solidFill>
                    <a:srgbClr val="5C6B60"/>
                  </a:solidFill>
                  <a:latin typeface="Calibri"/>
                </a:endParaRPr>
              </a:p>
              <a:p>
                <a:pPr>
                  <a:lnSpc>
                    <a:spcPct val="125000"/>
                  </a:lnSpc>
                </a:pPr>
                <a:endParaRPr lang="en-US" sz="1350" b="0" dirty="0">
                  <a:solidFill>
                    <a:srgbClr val="5C6B60"/>
                  </a:solidFill>
                  <a:latin typeface="Calibri"/>
                </a:endParaRPr>
              </a:p>
              <a:p>
                <a:pPr>
                  <a:lnSpc>
                    <a:spcPct val="125000"/>
                  </a:lnSpc>
                </a:pPr>
                <a:r>
                  <a:rPr lang="en-US" sz="1350" b="0" dirty="0">
                    <a:solidFill>
                      <a:srgbClr val="5C6B60"/>
                    </a:solidFill>
                    <a:latin typeface="Calibri"/>
                  </a:rPr>
                  <a:t>AB and BA have the same</a:t>
                </a:r>
              </a:p>
              <a:p>
                <a:pPr>
                  <a:lnSpc>
                    <a:spcPct val="125000"/>
                  </a:lnSpc>
                </a:pPr>
                <a:r>
                  <a:rPr lang="en-US" sz="1350" b="0" dirty="0">
                    <a:solidFill>
                      <a:srgbClr val="5C6B60"/>
                    </a:solidFill>
                    <a:latin typeface="Calibri"/>
                  </a:rPr>
                  <a:t>length, but point in</a:t>
                </a:r>
              </a:p>
              <a:p>
                <a:pPr>
                  <a:lnSpc>
                    <a:spcPct val="125000"/>
                  </a:lnSpc>
                </a:pPr>
                <a:r>
                  <a:rPr lang="en-US" sz="1350" b="0" dirty="0">
                    <a:solidFill>
                      <a:srgbClr val="5C6B60"/>
                    </a:solidFill>
                    <a:latin typeface="Calibri"/>
                  </a:rPr>
                  <a:t>opposite directions.</a:t>
                </a:r>
                <a:endParaRPr sz="1350" b="0" dirty="0">
                  <a:solidFill>
                    <a:srgbClr val="5C6B60"/>
                  </a:solidFill>
                  <a:latin typeface="Calibri"/>
                </a:endParaRPr>
              </a:p>
            </p:txBody>
          </p:sp>
        </mc:Choice>
        <mc:Fallback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0608" y="2148839"/>
                <a:ext cx="4154119" cy="1944250"/>
              </a:xfrm>
              <a:prstGeom prst="rect">
                <a:avLst/>
              </a:prstGeom>
              <a:blipFill rotWithShape="1">
                <a:blip r:embed="rId2"/>
                <a:stretch>
                  <a:fillRect l="-2496" b="-3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ounded Rectangle 31"/>
          <p:cNvSpPr/>
          <p:nvPr/>
        </p:nvSpPr>
        <p:spPr>
          <a:xfrm>
            <a:off x="566928" y="4663439"/>
            <a:ext cx="11057839" cy="731521"/>
          </a:xfrm>
          <a:prstGeom prst="roundRect">
            <a:avLst>
              <a:gd name="adj" fmla="val 15000"/>
            </a:avLst>
          </a:prstGeom>
          <a:solidFill>
            <a:srgbClr val="FB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/>
              <p:cNvSpPr txBox="1"/>
              <p:nvPr/>
            </p:nvSpPr>
            <p:spPr>
              <a:xfrm>
                <a:off x="566928" y="4850272"/>
                <a:ext cx="3685946" cy="357855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/>
                <a:r>
                  <a:rPr lang="en-US" sz="1400" b="1" i="0" dirty="0" smtClean="0">
                    <a:solidFill>
                      <a:srgbClr val="1C2A22"/>
                    </a:solidFill>
                    <a:latin typeface="Cambria"/>
                  </a:rPr>
                  <a:t>CD =</a:t>
                </a:r>
                <a:r>
                  <a:rPr lang="en-US" sz="1400" dirty="0">
                    <a:solidFill>
                      <a:srgbClr val="1C2A22"/>
                    </a:solidFill>
                    <a:ea typeface="Calibri" pitchFamily="34" charset="-122"/>
                    <a:cs typeface="Calibri" pitchFamily="34" charset="-12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1400" i="1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ar-AE" sz="1400" i="1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ar-AE" sz="14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−</m:t>
                              </m:r>
                              <m:r>
                                <m:rPr>
                                  <m:brk m:alnAt="7"/>
                                </m:rPr>
                                <a:rPr lang="en-US" sz="14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3</m:t>
                              </m:r>
                            </m:e>
                          </m:mr>
                          <m:mr>
                            <m:e>
                              <m:r>
                                <a:rPr lang="en-US" sz="14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5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sz="1400" b="1" i="0" dirty="0" smtClean="0">
                    <a:solidFill>
                      <a:srgbClr val="1C2A22"/>
                    </a:solidFill>
                    <a:latin typeface="Cambria"/>
                  </a:rPr>
                  <a:t>Find </a:t>
                </a:r>
                <a:r>
                  <a:rPr lang="en-US" sz="1400" b="1" i="0" dirty="0">
                    <a:solidFill>
                      <a:srgbClr val="1C2A22"/>
                    </a:solidFill>
                    <a:latin typeface="Cambria"/>
                  </a:rPr>
                  <a:t>DC.</a:t>
                </a:r>
                <a:endParaRPr sz="1400" b="1" i="0" dirty="0">
                  <a:solidFill>
                    <a:srgbClr val="1C2A22"/>
                  </a:solidFill>
                  <a:latin typeface="Cambria"/>
                </a:endParaRPr>
              </a:p>
            </p:txBody>
          </p:sp>
        </mc:Choice>
        <mc:Fallback>
          <p:sp>
            <p:nvSpPr>
              <p:cNvPr id="33" name="TextBox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928" y="4850272"/>
                <a:ext cx="3685946" cy="357855"/>
              </a:xfrm>
              <a:prstGeom prst="rect">
                <a:avLst/>
              </a:prstGeom>
              <a:blipFill rotWithShape="1">
                <a:blip r:embed="rId3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/>
              <p:cNvSpPr txBox="1"/>
              <p:nvPr/>
            </p:nvSpPr>
            <p:spPr>
              <a:xfrm>
                <a:off x="4252874" y="4850272"/>
                <a:ext cx="3685946" cy="357855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/>
                <a:r>
                  <a:rPr lang="en-US" sz="1400" b="1" i="0" dirty="0" smtClean="0">
                    <a:solidFill>
                      <a:srgbClr val="1C2A22"/>
                    </a:solidFill>
                    <a:latin typeface="Cambria"/>
                  </a:rPr>
                  <a:t>EF =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1400" i="1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ar-AE" sz="1400" i="1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ar-AE" sz="14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−</m:t>
                              </m:r>
                              <m:r>
                                <m:rPr>
                                  <m:brk m:alnAt="7"/>
                                </m:rPr>
                                <a:rPr lang="ar-AE" sz="1400" i="1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6</m:t>
                              </m:r>
                            </m:e>
                          </m:mr>
                          <m:mr>
                            <m:e>
                              <m:r>
                                <a:rPr lang="ar-AE" sz="1400" i="1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−</m:t>
                              </m:r>
                              <m:r>
                                <a:rPr lang="en-US" sz="14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3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ar-AE" sz="1400" b="1" i="0" dirty="0" smtClean="0">
                    <a:solidFill>
                      <a:srgbClr val="1C2A22"/>
                    </a:solidFill>
                    <a:latin typeface="Cambria"/>
                  </a:rPr>
                  <a:t>   </a:t>
                </a:r>
                <a:r>
                  <a:rPr lang="en-US" sz="1400" b="1" i="0" dirty="0">
                    <a:solidFill>
                      <a:srgbClr val="1C2A22"/>
                    </a:solidFill>
                    <a:latin typeface="Cambria"/>
                  </a:rPr>
                  <a:t>Find FE.</a:t>
                </a:r>
                <a:endParaRPr sz="1400" b="1" i="0" dirty="0">
                  <a:solidFill>
                    <a:srgbClr val="1C2A22"/>
                  </a:solidFill>
                  <a:latin typeface="Cambria"/>
                </a:endParaRPr>
              </a:p>
            </p:txBody>
          </p:sp>
        </mc:Choice>
        <mc:Fallback>
          <p:sp>
            <p:nvSpPr>
              <p:cNvPr id="34" name="Text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2874" y="4850272"/>
                <a:ext cx="3685946" cy="357855"/>
              </a:xfrm>
              <a:prstGeom prst="rect">
                <a:avLst/>
              </a:prstGeom>
              <a:blipFill rotWithShape="1">
                <a:blip r:embed="rId4"/>
                <a:stretch>
                  <a:fillRect b="-1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/>
              <p:cNvSpPr txBox="1"/>
              <p:nvPr/>
            </p:nvSpPr>
            <p:spPr>
              <a:xfrm>
                <a:off x="7938820" y="4850272"/>
                <a:ext cx="3685946" cy="357855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/>
                <a:r>
                  <a:rPr lang="en-US" sz="1400" b="1" i="0" dirty="0" smtClean="0">
                    <a:solidFill>
                      <a:srgbClr val="1C2A22"/>
                    </a:solidFill>
                    <a:latin typeface="Cambria"/>
                  </a:rPr>
                  <a:t>AB =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1400" i="1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ar-AE" sz="1400" i="1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ar-AE" sz="14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3</m:t>
                              </m:r>
                            </m:e>
                          </m:mr>
                          <m:mr>
                            <m:e>
                              <m:r>
                                <a:rPr lang="en-US" sz="14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7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ar-AE" sz="1400" b="1" i="0" dirty="0" smtClean="0">
                    <a:solidFill>
                      <a:srgbClr val="1C2A22"/>
                    </a:solidFill>
                    <a:latin typeface="Cambria"/>
                  </a:rPr>
                  <a:t>   </a:t>
                </a:r>
                <a:r>
                  <a:rPr lang="en-US" sz="1400" b="1" i="0" dirty="0">
                    <a:solidFill>
                      <a:srgbClr val="1C2A22"/>
                    </a:solidFill>
                    <a:latin typeface="Cambria"/>
                  </a:rPr>
                  <a:t>Find BA.</a:t>
                </a:r>
                <a:endParaRPr sz="1400" b="1" i="0" dirty="0">
                  <a:solidFill>
                    <a:srgbClr val="1C2A22"/>
                  </a:solidFill>
                  <a:latin typeface="Cambria"/>
                </a:endParaRPr>
              </a:p>
            </p:txBody>
          </p:sp>
        </mc:Choice>
        <mc:Fallback>
          <p:sp>
            <p:nvSpPr>
              <p:cNvPr id="35" name="TextBox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8820" y="4850272"/>
                <a:ext cx="3685946" cy="357855"/>
              </a:xfrm>
              <a:prstGeom prst="rect">
                <a:avLst/>
              </a:prstGeom>
              <a:blipFill rotWithShape="1">
                <a:blip r:embed="rId5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ounded Rectangle 35"/>
          <p:cNvSpPr/>
          <p:nvPr/>
        </p:nvSpPr>
        <p:spPr>
          <a:xfrm>
            <a:off x="566928" y="5532120"/>
            <a:ext cx="11057839" cy="822960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550" b="1">
                <a:solidFill>
                  <a:srgbClr val="E0AC2B"/>
                </a:solidFill>
                <a:latin typeface="Cambria"/>
              </a:rPr>
              <a:t>To reverse a vector, negate every number inside it: BA = −AB.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023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50">
                <a:solidFill>
                  <a:srgbClr val="C84F2F"/>
                </a:solidFill>
                <a:latin typeface="Calibri"/>
              </a:rPr>
              <a:t>COORDINATES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658368"/>
            <a:ext cx="98755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rgbClr val="1C2A22"/>
                </a:solidFill>
                <a:latin typeface="Cambria"/>
              </a:rPr>
              <a:t>Reading a Vector from a Grid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261872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C6B60"/>
                </a:solidFill>
                <a:latin typeface="Calibri"/>
              </a:rPr>
              <a:t>Plot the points, then read the vector straight off the grid: across then up.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6035040" cy="352044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" name="Connector 7"/>
          <p:cNvCxnSpPr/>
          <p:nvPr/>
        </p:nvCxnSpPr>
        <p:spPr>
          <a:xfrm>
            <a:off x="886968" y="2148840"/>
            <a:ext cx="0" cy="297180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301964" y="2148840"/>
            <a:ext cx="0" cy="297180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716961" y="2148840"/>
            <a:ext cx="0" cy="297180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131958" y="2148840"/>
            <a:ext cx="0" cy="297180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6955" y="2148840"/>
            <a:ext cx="0" cy="297180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961952" y="2148840"/>
            <a:ext cx="0" cy="297180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76949" y="2148840"/>
            <a:ext cx="0" cy="297180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91946" y="2148840"/>
            <a:ext cx="0" cy="297180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206943" y="2148840"/>
            <a:ext cx="0" cy="297180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21940" y="2148840"/>
            <a:ext cx="0" cy="297180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036937" y="2148840"/>
            <a:ext cx="0" cy="297180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451934" y="2148840"/>
            <a:ext cx="0" cy="297180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866931" y="2148840"/>
            <a:ext cx="0" cy="297180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281928" y="2148840"/>
            <a:ext cx="0" cy="297180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86968" y="5120640"/>
            <a:ext cx="5394960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86968" y="4625340"/>
            <a:ext cx="5394960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86968" y="4130040"/>
            <a:ext cx="5394960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86968" y="3634740"/>
            <a:ext cx="5394960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86968" y="3139440"/>
            <a:ext cx="5394960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86968" y="2644140"/>
            <a:ext cx="5394960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86968" y="2148840"/>
            <a:ext cx="5394960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86968" y="4130040"/>
            <a:ext cx="5394960" cy="0"/>
          </a:xfrm>
          <a:prstGeom prst="line">
            <a:avLst/>
          </a:prstGeom>
          <a:ln w="17780">
            <a:solidFill>
              <a:srgbClr val="1C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3376949" y="2148840"/>
            <a:ext cx="0" cy="2971800"/>
          </a:xfrm>
          <a:prstGeom prst="line">
            <a:avLst/>
          </a:prstGeom>
          <a:ln w="17780">
            <a:solidFill>
              <a:srgbClr val="1C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176943" y="2614140"/>
            <a:ext cx="60000" cy="60000"/>
          </a:xfrm>
          <a:prstGeom prst="ellipse">
            <a:avLst/>
          </a:prstGeom>
          <a:solidFill>
            <a:srgbClr val="1C2A2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5836931" y="4595340"/>
            <a:ext cx="60000" cy="60000"/>
          </a:xfrm>
          <a:prstGeom prst="ellipse">
            <a:avLst/>
          </a:prstGeom>
          <a:solidFill>
            <a:srgbClr val="C84F2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686961" y="4100040"/>
            <a:ext cx="60000" cy="60000"/>
          </a:xfrm>
          <a:prstGeom prst="ellipse">
            <a:avLst/>
          </a:prstGeom>
          <a:solidFill>
            <a:srgbClr val="1C2A2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271964" y="2614140"/>
            <a:ext cx="60000" cy="60000"/>
          </a:xfrm>
          <a:prstGeom prst="ellipse">
            <a:avLst/>
          </a:prstGeom>
          <a:solidFill>
            <a:srgbClr val="1C2A2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" name="Connector 34"/>
          <p:cNvCxnSpPr/>
          <p:nvPr/>
        </p:nvCxnSpPr>
        <p:spPr>
          <a:xfrm>
            <a:off x="4206943" y="2644140"/>
            <a:ext cx="1659988" cy="1981200"/>
          </a:xfrm>
          <a:prstGeom prst="line">
            <a:avLst/>
          </a:prstGeom>
          <a:ln w="38100">
            <a:solidFill>
              <a:srgbClr val="C84F2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115503" y="23241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C2A22"/>
                </a:solidFill>
                <a:latin typeface="Cambria"/>
              </a:rPr>
              <a:t>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0083" y="467106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C2A22"/>
                </a:solidFill>
                <a:latin typeface="Cambria"/>
              </a:rPr>
              <a:t>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51201" y="417576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C2A22"/>
                </a:solidFill>
                <a:latin typeface="Cambria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6204" y="23241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C2A22"/>
                </a:solidFill>
                <a:latin typeface="Cambria"/>
              </a:rPr>
              <a:t>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76288" y="1874519"/>
            <a:ext cx="4526280" cy="352044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/>
              <p:cNvSpPr txBox="1"/>
              <p:nvPr/>
            </p:nvSpPr>
            <p:spPr>
              <a:xfrm>
                <a:off x="7173468" y="2148840"/>
                <a:ext cx="3931920" cy="3099503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en-US" sz="1350" b="0" dirty="0" smtClean="0">
                    <a:solidFill>
                      <a:srgbClr val="5C6B60"/>
                    </a:solidFill>
                    <a:latin typeface="Calibri"/>
                  </a:rPr>
                  <a:t>A(2, 3)   B(6, −1)</a:t>
                </a:r>
              </a:p>
              <a:p>
                <a:pPr>
                  <a:lnSpc>
                    <a:spcPct val="130000"/>
                  </a:lnSpc>
                </a:pPr>
                <a:r>
                  <a:rPr lang="en-US" sz="1350" b="0" dirty="0">
                    <a:solidFill>
                      <a:srgbClr val="5C6B60"/>
                    </a:solidFill>
                    <a:latin typeface="Calibri"/>
                  </a:rPr>
                  <a:t>C(−4, 0)   D(−5, 3)</a:t>
                </a:r>
              </a:p>
              <a:p>
                <a:pPr>
                  <a:lnSpc>
                    <a:spcPct val="130000"/>
                  </a:lnSpc>
                </a:pPr>
                <a:endParaRPr lang="en-US" sz="1350" b="0" dirty="0">
                  <a:solidFill>
                    <a:srgbClr val="5C6B60"/>
                  </a:solidFill>
                  <a:latin typeface="Calibri"/>
                </a:endParaRPr>
              </a:p>
              <a:p>
                <a:pPr>
                  <a:lnSpc>
                    <a:spcPct val="130000"/>
                  </a:lnSpc>
                </a:pPr>
                <a:r>
                  <a:rPr lang="en-US" sz="1350" b="0" dirty="0">
                    <a:solidFill>
                      <a:srgbClr val="5C6B60"/>
                    </a:solidFill>
                    <a:latin typeface="Calibri"/>
                  </a:rPr>
                  <a:t>AB = </a:t>
                </a:r>
                <a:r>
                  <a:rPr lang="en-US" sz="1350" b="0" dirty="0" smtClean="0">
                    <a:solidFill>
                      <a:srgbClr val="5C6B60"/>
                    </a:solidFill>
                    <a:latin typeface="Calibri"/>
                  </a:rPr>
                  <a:t>                                   </a:t>
                </a:r>
                <a:r>
                  <a:rPr lang="en-US" sz="1350" dirty="0" smtClean="0">
                    <a:solidFill>
                      <a:srgbClr val="5C6B60"/>
                    </a:solidFill>
                  </a:rPr>
                  <a:t>=         </a:t>
                </a:r>
                <a:endParaRPr lang="en-US" sz="1350" b="0" dirty="0">
                  <a:solidFill>
                    <a:srgbClr val="5C6B60"/>
                  </a:solidFill>
                  <a:latin typeface="Calibri"/>
                </a:endParaRPr>
              </a:p>
              <a:p>
                <a:pPr>
                  <a:lnSpc>
                    <a:spcPct val="130000"/>
                  </a:lnSpc>
                </a:pPr>
                <a:endParaRPr lang="en-US" sz="1350" b="0" dirty="0">
                  <a:solidFill>
                    <a:srgbClr val="5C6B60"/>
                  </a:solidFill>
                  <a:latin typeface="Calibri"/>
                </a:endParaRPr>
              </a:p>
              <a:p>
                <a:pPr>
                  <a:lnSpc>
                    <a:spcPct val="130000"/>
                  </a:lnSpc>
                </a:pPr>
                <a:endParaRPr lang="en-US" sz="1350" b="0" dirty="0" smtClean="0">
                  <a:solidFill>
                    <a:srgbClr val="5C6B60"/>
                  </a:solidFill>
                  <a:latin typeface="Calibri"/>
                </a:endParaRPr>
              </a:p>
              <a:p>
                <a:pPr>
                  <a:lnSpc>
                    <a:spcPct val="130000"/>
                  </a:lnSpc>
                </a:pPr>
                <a:r>
                  <a:rPr lang="en-US" sz="1350" b="0" dirty="0" smtClean="0">
                    <a:solidFill>
                      <a:srgbClr val="5C6B60"/>
                    </a:solidFill>
                    <a:latin typeface="Calibri"/>
                  </a:rPr>
                  <a:t>OB </a:t>
                </a:r>
                <a:r>
                  <a:rPr lang="en-US" sz="1350" b="0" dirty="0">
                    <a:solidFill>
                      <a:srgbClr val="5C6B60"/>
                    </a:solidFill>
                    <a:latin typeface="Calibri"/>
                  </a:rPr>
                  <a:t>is the position vector</a:t>
                </a:r>
              </a:p>
              <a:p>
                <a:pPr>
                  <a:lnSpc>
                    <a:spcPct val="130000"/>
                  </a:lnSpc>
                </a:pPr>
                <a:r>
                  <a:rPr lang="en-US" sz="1350" b="0" dirty="0">
                    <a:solidFill>
                      <a:srgbClr val="5C6B60"/>
                    </a:solidFill>
                    <a:latin typeface="Calibri"/>
                  </a:rPr>
                  <a:t>of B (from the origin O):</a:t>
                </a:r>
              </a:p>
              <a:p>
                <a:pPr>
                  <a:lnSpc>
                    <a:spcPct val="130000"/>
                  </a:lnSpc>
                </a:pPr>
                <a:r>
                  <a:rPr lang="en-US" sz="1350" b="0" dirty="0">
                    <a:solidFill>
                      <a:srgbClr val="5C6B60"/>
                    </a:solidFill>
                    <a:latin typeface="Calibri"/>
                  </a:rPr>
                  <a:t>OB =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1200" i="1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ar-AE" sz="1200" i="1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ar-AE" sz="12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6</m:t>
                              </m:r>
                            </m:e>
                          </m:mr>
                          <m:mr>
                            <m:e>
                              <m:r>
                                <a:rPr lang="en-US" sz="12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−</m:t>
                              </m:r>
                              <m:r>
                                <a:rPr lang="en-US" sz="12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ar-AE" sz="1350" b="0" dirty="0">
                  <a:solidFill>
                    <a:srgbClr val="5C6B60"/>
                  </a:solidFill>
                  <a:latin typeface="Calibri"/>
                </a:endParaRPr>
              </a:p>
              <a:p>
                <a:pPr>
                  <a:lnSpc>
                    <a:spcPct val="130000"/>
                  </a:lnSpc>
                </a:pPr>
                <a:r>
                  <a:rPr lang="en-US" sz="1350" b="0" dirty="0">
                    <a:solidFill>
                      <a:srgbClr val="5C6B60"/>
                    </a:solidFill>
                    <a:latin typeface="Calibri"/>
                  </a:rPr>
                  <a:t>Your turn: find DA and CD</a:t>
                </a:r>
              </a:p>
              <a:p>
                <a:pPr>
                  <a:lnSpc>
                    <a:spcPct val="130000"/>
                  </a:lnSpc>
                </a:pPr>
                <a:r>
                  <a:rPr lang="en-US" sz="1350" b="0" dirty="0">
                    <a:solidFill>
                      <a:srgbClr val="5C6B60"/>
                    </a:solidFill>
                    <a:latin typeface="Calibri"/>
                  </a:rPr>
                  <a:t>using the same method.</a:t>
                </a:r>
                <a:endParaRPr sz="1350" b="0" dirty="0">
                  <a:solidFill>
                    <a:srgbClr val="5C6B60"/>
                  </a:solidFill>
                  <a:latin typeface="Calibri"/>
                </a:endParaRPr>
              </a:p>
            </p:txBody>
          </p:sp>
        </mc:Choice>
        <mc:Fallback>
          <p:sp>
            <p:nvSpPr>
              <p:cNvPr id="41" name="TextBox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3468" y="2148840"/>
                <a:ext cx="3931920" cy="3099503"/>
              </a:xfrm>
              <a:prstGeom prst="rect">
                <a:avLst/>
              </a:prstGeom>
              <a:blipFill rotWithShape="1">
                <a:blip r:embed="rId2"/>
                <a:stretch>
                  <a:fillRect l="-2791" t="-394" b="-1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ounded Rectangle 41"/>
          <p:cNvSpPr/>
          <p:nvPr/>
        </p:nvSpPr>
        <p:spPr>
          <a:xfrm>
            <a:off x="566928" y="5532120"/>
            <a:ext cx="11057839" cy="822960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550" b="1">
                <a:solidFill>
                  <a:srgbClr val="E0AC2B"/>
                </a:solidFill>
                <a:latin typeface="Cambria"/>
              </a:rPr>
              <a:t>A vector = (end − start) for each coordinate: (x2−x1, y2−y1).</a:t>
            </a:r>
          </a:p>
        </p:txBody>
      </p:sp>
      <p:sp>
        <p:nvSpPr>
          <p:cNvPr id="43" name="Text 50"/>
          <p:cNvSpPr/>
          <p:nvPr/>
        </p:nvSpPr>
        <p:spPr>
          <a:xfrm>
            <a:off x="7692847" y="2773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00" b="1" dirty="0" smtClean="0">
                <a:solidFill>
                  <a:srgbClr val="C84F2F"/>
                </a:solidFill>
                <a:latin typeface="Cambria" pitchFamily="34" charset="0"/>
                <a:ea typeface="Cambria" pitchFamily="34" charset="-122"/>
              </a:rPr>
              <a:t>6</a:t>
            </a:r>
            <a:r>
              <a:rPr lang="en-US" sz="17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r>
              <a:rPr lang="en-US" sz="1700" b="1" dirty="0" smtClean="0">
                <a:solidFill>
                  <a:srgbClr val="C84F2F"/>
                </a:solidFill>
                <a:latin typeface="Cambria" pitchFamily="34" charset="0"/>
                <a:ea typeface="Cambria" pitchFamily="34" charset="-122"/>
              </a:rPr>
              <a:t>2</a:t>
            </a:r>
            <a:endParaRPr lang="en-US" sz="1700" dirty="0"/>
          </a:p>
        </p:txBody>
      </p:sp>
      <p:sp>
        <p:nvSpPr>
          <p:cNvPr id="44" name="Text 51"/>
          <p:cNvSpPr/>
          <p:nvPr/>
        </p:nvSpPr>
        <p:spPr>
          <a:xfrm>
            <a:off x="7692847" y="31760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−1 − 3</a:t>
            </a:r>
            <a:endParaRPr lang="en-US" sz="1700" dirty="0"/>
          </a:p>
        </p:txBody>
      </p:sp>
      <p:sp>
        <p:nvSpPr>
          <p:cNvPr id="45" name="Shape 52"/>
          <p:cNvSpPr/>
          <p:nvPr/>
        </p:nvSpPr>
        <p:spPr>
          <a:xfrm>
            <a:off x="7647127" y="2755392"/>
            <a:ext cx="0" cy="82296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46" name="Shape 53"/>
          <p:cNvSpPr/>
          <p:nvPr/>
        </p:nvSpPr>
        <p:spPr>
          <a:xfrm>
            <a:off x="7647127" y="2755392"/>
            <a:ext cx="109728" cy="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47" name="Shape 54"/>
          <p:cNvSpPr/>
          <p:nvPr/>
        </p:nvSpPr>
        <p:spPr>
          <a:xfrm>
            <a:off x="7647127" y="3578352"/>
            <a:ext cx="109728" cy="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48" name="Shape 55"/>
          <p:cNvSpPr/>
          <p:nvPr/>
        </p:nvSpPr>
        <p:spPr>
          <a:xfrm>
            <a:off x="8652967" y="2755392"/>
            <a:ext cx="0" cy="82296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49" name="Shape 56"/>
          <p:cNvSpPr/>
          <p:nvPr/>
        </p:nvSpPr>
        <p:spPr>
          <a:xfrm>
            <a:off x="8543239" y="2755392"/>
            <a:ext cx="109728" cy="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50" name="Shape 57"/>
          <p:cNvSpPr/>
          <p:nvPr/>
        </p:nvSpPr>
        <p:spPr>
          <a:xfrm>
            <a:off x="8543239" y="3578352"/>
            <a:ext cx="109728" cy="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60" name="Text 50"/>
          <p:cNvSpPr/>
          <p:nvPr/>
        </p:nvSpPr>
        <p:spPr>
          <a:xfrm>
            <a:off x="9134785" y="27553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00" b="1" dirty="0" smtClean="0">
                <a:solidFill>
                  <a:srgbClr val="C84F2F"/>
                </a:solidFill>
                <a:latin typeface="Cambria" pitchFamily="34" charset="0"/>
                <a:ea typeface="Cambria" pitchFamily="34" charset="-122"/>
              </a:rPr>
              <a:t>4</a:t>
            </a:r>
            <a:endParaRPr lang="en-US" sz="1700" dirty="0"/>
          </a:p>
        </p:txBody>
      </p:sp>
      <p:sp>
        <p:nvSpPr>
          <p:cNvPr id="61" name="Text 51"/>
          <p:cNvSpPr/>
          <p:nvPr/>
        </p:nvSpPr>
        <p:spPr>
          <a:xfrm>
            <a:off x="9134785" y="3157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00" b="1" dirty="0" smtClean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 </a:t>
            </a:r>
            <a:endParaRPr lang="en-US" sz="1700" dirty="0"/>
          </a:p>
        </p:txBody>
      </p:sp>
      <p:sp>
        <p:nvSpPr>
          <p:cNvPr id="62" name="Shape 52"/>
          <p:cNvSpPr/>
          <p:nvPr/>
        </p:nvSpPr>
        <p:spPr>
          <a:xfrm>
            <a:off x="9089065" y="2737104"/>
            <a:ext cx="0" cy="82296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63" name="Shape 53"/>
          <p:cNvSpPr/>
          <p:nvPr/>
        </p:nvSpPr>
        <p:spPr>
          <a:xfrm>
            <a:off x="9089065" y="2737104"/>
            <a:ext cx="109728" cy="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64" name="Shape 54"/>
          <p:cNvSpPr/>
          <p:nvPr/>
        </p:nvSpPr>
        <p:spPr>
          <a:xfrm>
            <a:off x="9089065" y="3560064"/>
            <a:ext cx="109728" cy="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65" name="Shape 55"/>
          <p:cNvSpPr/>
          <p:nvPr/>
        </p:nvSpPr>
        <p:spPr>
          <a:xfrm>
            <a:off x="10094905" y="2737104"/>
            <a:ext cx="0" cy="82296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66" name="Shape 56"/>
          <p:cNvSpPr/>
          <p:nvPr/>
        </p:nvSpPr>
        <p:spPr>
          <a:xfrm>
            <a:off x="9985177" y="2737104"/>
            <a:ext cx="109728" cy="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67" name="Shape 57"/>
          <p:cNvSpPr/>
          <p:nvPr/>
        </p:nvSpPr>
        <p:spPr>
          <a:xfrm>
            <a:off x="9985177" y="3560064"/>
            <a:ext cx="109728" cy="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" y="18288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50">
                <a:solidFill>
                  <a:srgbClr val="C84F2F"/>
                </a:solidFill>
                <a:latin typeface="Calibri"/>
              </a:rPr>
              <a:t>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56032"/>
            <a:ext cx="98755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rgbClr val="1C2A22"/>
                </a:solidFill>
                <a:latin typeface="Cambria"/>
              </a:rPr>
              <a:t>Draw These Column Vectors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720" y="784542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C6B60"/>
                </a:solidFill>
                <a:latin typeface="Calibri"/>
              </a:rPr>
              <a:t>On squared paper, draw each vector starting from any point you like.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6660" y="1013142"/>
            <a:ext cx="8621712" cy="5341938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29978" y="6403755"/>
            <a:ext cx="11057839" cy="411480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550" b="1">
                <a:solidFill>
                  <a:srgbClr val="E0AC2B"/>
                </a:solidFill>
                <a:latin typeface="Cambria"/>
              </a:rPr>
              <a:t>Top number = across (right if positive). Bottom number = up (up if positive).</a:t>
            </a:r>
          </a:p>
        </p:txBody>
      </p:sp>
      <p:graphicFrame>
        <p:nvGraphicFramePr>
          <p:cNvPr id="250" name="Table 2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3958193"/>
              </p:ext>
            </p:extLst>
          </p:nvPr>
        </p:nvGraphicFramePr>
        <p:xfrm>
          <a:off x="326659" y="1013142"/>
          <a:ext cx="8621712" cy="534193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73904"/>
                <a:gridCol w="2873904"/>
                <a:gridCol w="2873904"/>
              </a:tblGrid>
              <a:tr h="2670969">
                <a:tc>
                  <a:txBody>
                    <a:bodyPr/>
                    <a:lstStyle/>
                    <a:p>
                      <a:r>
                        <a:rPr lang="en-GB" sz="1800" dirty="0" smtClean="0"/>
                        <a:t>a) </a:t>
                      </a:r>
                      <a:endParaRPr lang="en-GB" sz="1800" dirty="0"/>
                    </a:p>
                  </a:txBody>
                  <a:tcPr marL="91442" marR="91442" marT="45726" marB="45726"/>
                </a:tc>
                <a:tc>
                  <a:txBody>
                    <a:bodyPr/>
                    <a:lstStyle/>
                    <a:p>
                      <a:r>
                        <a:rPr lang="en-GB" sz="1800" dirty="0" smtClean="0"/>
                        <a:t>b)</a:t>
                      </a:r>
                      <a:endParaRPr lang="en-GB" sz="1800" dirty="0"/>
                    </a:p>
                  </a:txBody>
                  <a:tcPr marL="91442" marR="91442" marT="45726" marB="45726"/>
                </a:tc>
                <a:tc>
                  <a:txBody>
                    <a:bodyPr/>
                    <a:lstStyle/>
                    <a:p>
                      <a:r>
                        <a:rPr lang="en-GB" sz="1800" dirty="0" smtClean="0"/>
                        <a:t>c)</a:t>
                      </a:r>
                      <a:endParaRPr lang="en-GB" sz="1800" dirty="0"/>
                    </a:p>
                  </a:txBody>
                  <a:tcPr marL="91442" marR="91442" marT="45726" marB="45726"/>
                </a:tc>
              </a:tr>
              <a:tr h="2670969">
                <a:tc>
                  <a:txBody>
                    <a:bodyPr/>
                    <a:lstStyle/>
                    <a:p>
                      <a:r>
                        <a:rPr lang="en-GB" sz="1800" dirty="0" smtClean="0"/>
                        <a:t>d)</a:t>
                      </a:r>
                      <a:endParaRPr lang="en-GB" sz="1800" dirty="0"/>
                    </a:p>
                  </a:txBody>
                  <a:tcPr marL="91442" marR="91442" marT="45726" marB="45726"/>
                </a:tc>
                <a:tc>
                  <a:txBody>
                    <a:bodyPr/>
                    <a:lstStyle/>
                    <a:p>
                      <a:r>
                        <a:rPr lang="en-GB" sz="1800" dirty="0" smtClean="0"/>
                        <a:t>e)</a:t>
                      </a:r>
                      <a:endParaRPr lang="en-GB" sz="1800" dirty="0"/>
                    </a:p>
                  </a:txBody>
                  <a:tcPr marL="91442" marR="91442" marT="45726" marB="45726"/>
                </a:tc>
                <a:tc>
                  <a:txBody>
                    <a:bodyPr/>
                    <a:lstStyle/>
                    <a:p>
                      <a:r>
                        <a:rPr lang="en-GB" sz="1800" dirty="0" smtClean="0"/>
                        <a:t>f)</a:t>
                      </a:r>
                      <a:endParaRPr lang="en-GB" sz="1800" dirty="0"/>
                    </a:p>
                  </a:txBody>
                  <a:tcPr marL="91442" marR="91442" marT="45726" marB="45726"/>
                </a:tc>
              </a:tr>
            </a:tbl>
          </a:graphicData>
        </a:graphic>
      </p:graphicFrame>
      <p:grpSp>
        <p:nvGrpSpPr>
          <p:cNvPr id="251" name="Group 44"/>
          <p:cNvGrpSpPr>
            <a:grpSpLocks/>
          </p:cNvGrpSpPr>
          <p:nvPr/>
        </p:nvGrpSpPr>
        <p:grpSpPr bwMode="auto">
          <a:xfrm>
            <a:off x="983884" y="1933892"/>
            <a:ext cx="1511300" cy="1512888"/>
            <a:chOff x="4394351" y="1080625"/>
            <a:chExt cx="1512000" cy="1512000"/>
          </a:xfrm>
        </p:grpSpPr>
        <p:sp>
          <p:nvSpPr>
            <p:cNvPr id="252" name="Rectangle 251"/>
            <p:cNvSpPr/>
            <p:nvPr/>
          </p:nvSpPr>
          <p:spPr>
            <a:xfrm>
              <a:off x="4646881" y="1080625"/>
              <a:ext cx="250941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53" name="Rectangle 2"/>
            <p:cNvSpPr/>
            <p:nvPr/>
          </p:nvSpPr>
          <p:spPr>
            <a:xfrm>
              <a:off x="4897822" y="1080625"/>
              <a:ext cx="252529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54" name="Rectangle 3"/>
            <p:cNvSpPr/>
            <p:nvPr/>
          </p:nvSpPr>
          <p:spPr>
            <a:xfrm>
              <a:off x="5150351" y="1080625"/>
              <a:ext cx="252530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55" name="Rectangle 4"/>
            <p:cNvSpPr/>
            <p:nvPr/>
          </p:nvSpPr>
          <p:spPr>
            <a:xfrm>
              <a:off x="5402881" y="1080625"/>
              <a:ext cx="250941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56" name="Rectangle 5"/>
            <p:cNvSpPr/>
            <p:nvPr/>
          </p:nvSpPr>
          <p:spPr>
            <a:xfrm>
              <a:off x="4394351" y="1080625"/>
              <a:ext cx="252530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57" name="Rectangle 6"/>
            <p:cNvSpPr/>
            <p:nvPr/>
          </p:nvSpPr>
          <p:spPr>
            <a:xfrm>
              <a:off x="5653822" y="1080625"/>
              <a:ext cx="252529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58" name="Rectangle 10"/>
            <p:cNvSpPr/>
            <p:nvPr/>
          </p:nvSpPr>
          <p:spPr>
            <a:xfrm>
              <a:off x="4646881" y="1332890"/>
              <a:ext cx="250941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59" name="Rectangle 11"/>
            <p:cNvSpPr/>
            <p:nvPr/>
          </p:nvSpPr>
          <p:spPr>
            <a:xfrm>
              <a:off x="4897822" y="1332890"/>
              <a:ext cx="252529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60" name="Rectangle 12"/>
            <p:cNvSpPr/>
            <p:nvPr/>
          </p:nvSpPr>
          <p:spPr>
            <a:xfrm>
              <a:off x="5150351" y="1332890"/>
              <a:ext cx="252530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61" name="Rectangle 13"/>
            <p:cNvSpPr/>
            <p:nvPr/>
          </p:nvSpPr>
          <p:spPr>
            <a:xfrm>
              <a:off x="5402881" y="1332890"/>
              <a:ext cx="250941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62" name="Rectangle 14"/>
            <p:cNvSpPr/>
            <p:nvPr/>
          </p:nvSpPr>
          <p:spPr>
            <a:xfrm>
              <a:off x="4394351" y="1332890"/>
              <a:ext cx="252530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63" name="Rectangle 15"/>
            <p:cNvSpPr/>
            <p:nvPr/>
          </p:nvSpPr>
          <p:spPr>
            <a:xfrm>
              <a:off x="5653822" y="1332890"/>
              <a:ext cx="252529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64" name="Rectangle 263"/>
            <p:cNvSpPr/>
            <p:nvPr/>
          </p:nvSpPr>
          <p:spPr>
            <a:xfrm>
              <a:off x="4646881" y="1585154"/>
              <a:ext cx="250941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65" name="Rectangle 264"/>
            <p:cNvSpPr/>
            <p:nvPr/>
          </p:nvSpPr>
          <p:spPr>
            <a:xfrm>
              <a:off x="4897822" y="1585154"/>
              <a:ext cx="252529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66" name="Rectangle 265"/>
            <p:cNvSpPr/>
            <p:nvPr/>
          </p:nvSpPr>
          <p:spPr>
            <a:xfrm>
              <a:off x="5150351" y="1585154"/>
              <a:ext cx="252530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67" name="Rectangle 266"/>
            <p:cNvSpPr/>
            <p:nvPr/>
          </p:nvSpPr>
          <p:spPr>
            <a:xfrm>
              <a:off x="5402881" y="1585154"/>
              <a:ext cx="250941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68" name="Rectangle 267"/>
            <p:cNvSpPr/>
            <p:nvPr/>
          </p:nvSpPr>
          <p:spPr>
            <a:xfrm>
              <a:off x="4394351" y="1585154"/>
              <a:ext cx="252530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69" name="Rectangle 268"/>
            <p:cNvSpPr/>
            <p:nvPr/>
          </p:nvSpPr>
          <p:spPr>
            <a:xfrm>
              <a:off x="5653822" y="1585154"/>
              <a:ext cx="252529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70" name="Rectangle 269"/>
            <p:cNvSpPr/>
            <p:nvPr/>
          </p:nvSpPr>
          <p:spPr>
            <a:xfrm>
              <a:off x="4646881" y="1837419"/>
              <a:ext cx="250941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71" name="Rectangle 270"/>
            <p:cNvSpPr/>
            <p:nvPr/>
          </p:nvSpPr>
          <p:spPr>
            <a:xfrm>
              <a:off x="4897822" y="1837419"/>
              <a:ext cx="252529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72" name="Rectangle 271"/>
            <p:cNvSpPr/>
            <p:nvPr/>
          </p:nvSpPr>
          <p:spPr>
            <a:xfrm>
              <a:off x="5150351" y="1837419"/>
              <a:ext cx="252530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73" name="Rectangle 272"/>
            <p:cNvSpPr/>
            <p:nvPr/>
          </p:nvSpPr>
          <p:spPr>
            <a:xfrm>
              <a:off x="5402881" y="1837419"/>
              <a:ext cx="250941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74" name="Rectangle 273"/>
            <p:cNvSpPr/>
            <p:nvPr/>
          </p:nvSpPr>
          <p:spPr>
            <a:xfrm>
              <a:off x="4394351" y="1837419"/>
              <a:ext cx="252530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75" name="Rectangle 274"/>
            <p:cNvSpPr/>
            <p:nvPr/>
          </p:nvSpPr>
          <p:spPr>
            <a:xfrm>
              <a:off x="5653822" y="1837419"/>
              <a:ext cx="252529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76" name="Rectangle 275"/>
            <p:cNvSpPr/>
            <p:nvPr/>
          </p:nvSpPr>
          <p:spPr>
            <a:xfrm>
              <a:off x="4646881" y="2088096"/>
              <a:ext cx="250941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77" name="Rectangle 276"/>
            <p:cNvSpPr/>
            <p:nvPr/>
          </p:nvSpPr>
          <p:spPr>
            <a:xfrm>
              <a:off x="4897822" y="2088096"/>
              <a:ext cx="252529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78" name="Rectangle 277"/>
            <p:cNvSpPr/>
            <p:nvPr/>
          </p:nvSpPr>
          <p:spPr>
            <a:xfrm>
              <a:off x="5150351" y="2088096"/>
              <a:ext cx="252530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79" name="Rectangle 278"/>
            <p:cNvSpPr/>
            <p:nvPr/>
          </p:nvSpPr>
          <p:spPr>
            <a:xfrm>
              <a:off x="5402881" y="2088096"/>
              <a:ext cx="250941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80" name="Rectangle 279"/>
            <p:cNvSpPr/>
            <p:nvPr/>
          </p:nvSpPr>
          <p:spPr>
            <a:xfrm>
              <a:off x="4394351" y="2088096"/>
              <a:ext cx="252530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81" name="Rectangle 280"/>
            <p:cNvSpPr/>
            <p:nvPr/>
          </p:nvSpPr>
          <p:spPr>
            <a:xfrm>
              <a:off x="5653822" y="2088096"/>
              <a:ext cx="252529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82" name="Rectangle 281"/>
            <p:cNvSpPr/>
            <p:nvPr/>
          </p:nvSpPr>
          <p:spPr>
            <a:xfrm>
              <a:off x="4646881" y="2340360"/>
              <a:ext cx="250941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83" name="Rectangle 282"/>
            <p:cNvSpPr/>
            <p:nvPr/>
          </p:nvSpPr>
          <p:spPr>
            <a:xfrm>
              <a:off x="4897822" y="2340360"/>
              <a:ext cx="252529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84" name="Rectangle 283"/>
            <p:cNvSpPr/>
            <p:nvPr/>
          </p:nvSpPr>
          <p:spPr>
            <a:xfrm>
              <a:off x="5150351" y="2340360"/>
              <a:ext cx="252530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85" name="Rectangle 284"/>
            <p:cNvSpPr/>
            <p:nvPr/>
          </p:nvSpPr>
          <p:spPr>
            <a:xfrm>
              <a:off x="5402881" y="2340360"/>
              <a:ext cx="250941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86" name="Rectangle 285"/>
            <p:cNvSpPr/>
            <p:nvPr/>
          </p:nvSpPr>
          <p:spPr>
            <a:xfrm>
              <a:off x="4394351" y="2340360"/>
              <a:ext cx="252530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87" name="Rectangle 286"/>
            <p:cNvSpPr/>
            <p:nvPr/>
          </p:nvSpPr>
          <p:spPr>
            <a:xfrm>
              <a:off x="5653822" y="2340360"/>
              <a:ext cx="252529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</p:grpSp>
      <p:grpSp>
        <p:nvGrpSpPr>
          <p:cNvPr id="288" name="Group 44"/>
          <p:cNvGrpSpPr>
            <a:grpSpLocks/>
          </p:cNvGrpSpPr>
          <p:nvPr/>
        </p:nvGrpSpPr>
        <p:grpSpPr bwMode="auto">
          <a:xfrm>
            <a:off x="3871547" y="1933892"/>
            <a:ext cx="1511300" cy="1512888"/>
            <a:chOff x="4394351" y="1080625"/>
            <a:chExt cx="1512000" cy="1512000"/>
          </a:xfrm>
        </p:grpSpPr>
        <p:sp>
          <p:nvSpPr>
            <p:cNvPr id="289" name="Rectangle 288"/>
            <p:cNvSpPr/>
            <p:nvPr/>
          </p:nvSpPr>
          <p:spPr>
            <a:xfrm>
              <a:off x="4646880" y="1080625"/>
              <a:ext cx="250941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90" name="Rectangle 2"/>
            <p:cNvSpPr/>
            <p:nvPr/>
          </p:nvSpPr>
          <p:spPr>
            <a:xfrm>
              <a:off x="4897821" y="1080625"/>
              <a:ext cx="252530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91" name="Rectangle 3"/>
            <p:cNvSpPr/>
            <p:nvPr/>
          </p:nvSpPr>
          <p:spPr>
            <a:xfrm>
              <a:off x="5150351" y="1080625"/>
              <a:ext cx="252529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92" name="Rectangle 4"/>
            <p:cNvSpPr/>
            <p:nvPr/>
          </p:nvSpPr>
          <p:spPr>
            <a:xfrm>
              <a:off x="5402880" y="1080625"/>
              <a:ext cx="250941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93" name="Rectangle 5"/>
            <p:cNvSpPr/>
            <p:nvPr/>
          </p:nvSpPr>
          <p:spPr>
            <a:xfrm>
              <a:off x="4394351" y="1080625"/>
              <a:ext cx="252529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94" name="Rectangle 6"/>
            <p:cNvSpPr/>
            <p:nvPr/>
          </p:nvSpPr>
          <p:spPr>
            <a:xfrm>
              <a:off x="5653821" y="1080625"/>
              <a:ext cx="252530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95" name="Rectangle 10"/>
            <p:cNvSpPr/>
            <p:nvPr/>
          </p:nvSpPr>
          <p:spPr>
            <a:xfrm>
              <a:off x="4646880" y="1332890"/>
              <a:ext cx="250941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96" name="Rectangle 11"/>
            <p:cNvSpPr/>
            <p:nvPr/>
          </p:nvSpPr>
          <p:spPr>
            <a:xfrm>
              <a:off x="4897821" y="1332890"/>
              <a:ext cx="252530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97" name="Rectangle 12"/>
            <p:cNvSpPr/>
            <p:nvPr/>
          </p:nvSpPr>
          <p:spPr>
            <a:xfrm>
              <a:off x="5150351" y="1332890"/>
              <a:ext cx="252529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98" name="Rectangle 13"/>
            <p:cNvSpPr/>
            <p:nvPr/>
          </p:nvSpPr>
          <p:spPr>
            <a:xfrm>
              <a:off x="5402880" y="1332890"/>
              <a:ext cx="250941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299" name="Rectangle 14"/>
            <p:cNvSpPr/>
            <p:nvPr/>
          </p:nvSpPr>
          <p:spPr>
            <a:xfrm>
              <a:off x="4394351" y="1332890"/>
              <a:ext cx="252529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00" name="Rectangle 15"/>
            <p:cNvSpPr/>
            <p:nvPr/>
          </p:nvSpPr>
          <p:spPr>
            <a:xfrm>
              <a:off x="5653821" y="1332890"/>
              <a:ext cx="252530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01" name="Rectangle 300"/>
            <p:cNvSpPr/>
            <p:nvPr/>
          </p:nvSpPr>
          <p:spPr>
            <a:xfrm>
              <a:off x="4646880" y="1585154"/>
              <a:ext cx="250941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02" name="Rectangle 301"/>
            <p:cNvSpPr/>
            <p:nvPr/>
          </p:nvSpPr>
          <p:spPr>
            <a:xfrm>
              <a:off x="4897821" y="1585154"/>
              <a:ext cx="252530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03" name="Rectangle 302"/>
            <p:cNvSpPr/>
            <p:nvPr/>
          </p:nvSpPr>
          <p:spPr>
            <a:xfrm>
              <a:off x="5150351" y="1585154"/>
              <a:ext cx="252529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04" name="Rectangle 303"/>
            <p:cNvSpPr/>
            <p:nvPr/>
          </p:nvSpPr>
          <p:spPr>
            <a:xfrm>
              <a:off x="5402880" y="1585154"/>
              <a:ext cx="250941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05" name="Rectangle 304"/>
            <p:cNvSpPr/>
            <p:nvPr/>
          </p:nvSpPr>
          <p:spPr>
            <a:xfrm>
              <a:off x="4394351" y="1585154"/>
              <a:ext cx="252529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06" name="Rectangle 305"/>
            <p:cNvSpPr/>
            <p:nvPr/>
          </p:nvSpPr>
          <p:spPr>
            <a:xfrm>
              <a:off x="5653821" y="1585154"/>
              <a:ext cx="252530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07" name="Rectangle 306"/>
            <p:cNvSpPr/>
            <p:nvPr/>
          </p:nvSpPr>
          <p:spPr>
            <a:xfrm>
              <a:off x="4646880" y="1837419"/>
              <a:ext cx="250941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08" name="Rectangle 307"/>
            <p:cNvSpPr/>
            <p:nvPr/>
          </p:nvSpPr>
          <p:spPr>
            <a:xfrm>
              <a:off x="4897821" y="1837419"/>
              <a:ext cx="252530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09" name="Rectangle 308"/>
            <p:cNvSpPr/>
            <p:nvPr/>
          </p:nvSpPr>
          <p:spPr>
            <a:xfrm>
              <a:off x="5150351" y="1837419"/>
              <a:ext cx="252529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10" name="Rectangle 309"/>
            <p:cNvSpPr/>
            <p:nvPr/>
          </p:nvSpPr>
          <p:spPr>
            <a:xfrm>
              <a:off x="5402880" y="1837419"/>
              <a:ext cx="250941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11" name="Rectangle 310"/>
            <p:cNvSpPr/>
            <p:nvPr/>
          </p:nvSpPr>
          <p:spPr>
            <a:xfrm>
              <a:off x="4394351" y="1837419"/>
              <a:ext cx="252529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12" name="Rectangle 311"/>
            <p:cNvSpPr/>
            <p:nvPr/>
          </p:nvSpPr>
          <p:spPr>
            <a:xfrm>
              <a:off x="5653821" y="1837419"/>
              <a:ext cx="252530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13" name="Rectangle 312"/>
            <p:cNvSpPr/>
            <p:nvPr/>
          </p:nvSpPr>
          <p:spPr>
            <a:xfrm>
              <a:off x="4646880" y="2088096"/>
              <a:ext cx="250941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14" name="Rectangle 313"/>
            <p:cNvSpPr/>
            <p:nvPr/>
          </p:nvSpPr>
          <p:spPr>
            <a:xfrm>
              <a:off x="4897821" y="2088096"/>
              <a:ext cx="252530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15" name="Rectangle 314"/>
            <p:cNvSpPr/>
            <p:nvPr/>
          </p:nvSpPr>
          <p:spPr>
            <a:xfrm>
              <a:off x="5150351" y="2088096"/>
              <a:ext cx="252529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16" name="Rectangle 315"/>
            <p:cNvSpPr/>
            <p:nvPr/>
          </p:nvSpPr>
          <p:spPr>
            <a:xfrm>
              <a:off x="5402880" y="2088096"/>
              <a:ext cx="250941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17" name="Rectangle 316"/>
            <p:cNvSpPr/>
            <p:nvPr/>
          </p:nvSpPr>
          <p:spPr>
            <a:xfrm>
              <a:off x="4394351" y="2088096"/>
              <a:ext cx="252529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18" name="Rectangle 317"/>
            <p:cNvSpPr/>
            <p:nvPr/>
          </p:nvSpPr>
          <p:spPr>
            <a:xfrm>
              <a:off x="5653821" y="2088096"/>
              <a:ext cx="252530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19" name="Rectangle 318"/>
            <p:cNvSpPr/>
            <p:nvPr/>
          </p:nvSpPr>
          <p:spPr>
            <a:xfrm>
              <a:off x="4646880" y="2340360"/>
              <a:ext cx="250941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20" name="Rectangle 319"/>
            <p:cNvSpPr/>
            <p:nvPr/>
          </p:nvSpPr>
          <p:spPr>
            <a:xfrm>
              <a:off x="4897821" y="2340360"/>
              <a:ext cx="252530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21" name="Rectangle 320"/>
            <p:cNvSpPr/>
            <p:nvPr/>
          </p:nvSpPr>
          <p:spPr>
            <a:xfrm>
              <a:off x="5150351" y="2340360"/>
              <a:ext cx="252529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22" name="Rectangle 321"/>
            <p:cNvSpPr/>
            <p:nvPr/>
          </p:nvSpPr>
          <p:spPr>
            <a:xfrm>
              <a:off x="5402880" y="2340360"/>
              <a:ext cx="250941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23" name="Rectangle 322"/>
            <p:cNvSpPr/>
            <p:nvPr/>
          </p:nvSpPr>
          <p:spPr>
            <a:xfrm>
              <a:off x="4394351" y="2340360"/>
              <a:ext cx="252529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24" name="Rectangle 323"/>
            <p:cNvSpPr/>
            <p:nvPr/>
          </p:nvSpPr>
          <p:spPr>
            <a:xfrm>
              <a:off x="5653821" y="2340360"/>
              <a:ext cx="252530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</p:grpSp>
      <p:grpSp>
        <p:nvGrpSpPr>
          <p:cNvPr id="325" name="Group 44"/>
          <p:cNvGrpSpPr>
            <a:grpSpLocks/>
          </p:cNvGrpSpPr>
          <p:nvPr/>
        </p:nvGrpSpPr>
        <p:grpSpPr bwMode="auto">
          <a:xfrm>
            <a:off x="6759209" y="1933892"/>
            <a:ext cx="1512888" cy="1512888"/>
            <a:chOff x="4394351" y="1080625"/>
            <a:chExt cx="1512000" cy="1512000"/>
          </a:xfrm>
        </p:grpSpPr>
        <p:sp>
          <p:nvSpPr>
            <p:cNvPr id="326" name="Rectangle 325"/>
            <p:cNvSpPr/>
            <p:nvPr/>
          </p:nvSpPr>
          <p:spPr>
            <a:xfrm>
              <a:off x="4646616" y="1080625"/>
              <a:ext cx="252264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27" name="Rectangle 2"/>
            <p:cNvSpPr/>
            <p:nvPr/>
          </p:nvSpPr>
          <p:spPr>
            <a:xfrm>
              <a:off x="4898880" y="1080625"/>
              <a:ext cx="252265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28" name="Rectangle 3"/>
            <p:cNvSpPr/>
            <p:nvPr/>
          </p:nvSpPr>
          <p:spPr>
            <a:xfrm>
              <a:off x="5151145" y="1080625"/>
              <a:ext cx="250678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29" name="Rectangle 4"/>
            <p:cNvSpPr/>
            <p:nvPr/>
          </p:nvSpPr>
          <p:spPr>
            <a:xfrm>
              <a:off x="5401822" y="1080625"/>
              <a:ext cx="252264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30" name="Rectangle 5"/>
            <p:cNvSpPr/>
            <p:nvPr/>
          </p:nvSpPr>
          <p:spPr>
            <a:xfrm>
              <a:off x="4394351" y="1080625"/>
              <a:ext cx="252265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31" name="Rectangle 6"/>
            <p:cNvSpPr/>
            <p:nvPr/>
          </p:nvSpPr>
          <p:spPr>
            <a:xfrm>
              <a:off x="5654086" y="1080625"/>
              <a:ext cx="252265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32" name="Rectangle 10"/>
            <p:cNvSpPr/>
            <p:nvPr/>
          </p:nvSpPr>
          <p:spPr>
            <a:xfrm>
              <a:off x="4646616" y="1332890"/>
              <a:ext cx="252264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33" name="Rectangle 11"/>
            <p:cNvSpPr/>
            <p:nvPr/>
          </p:nvSpPr>
          <p:spPr>
            <a:xfrm>
              <a:off x="4898880" y="1332890"/>
              <a:ext cx="252265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34" name="Rectangle 12"/>
            <p:cNvSpPr/>
            <p:nvPr/>
          </p:nvSpPr>
          <p:spPr>
            <a:xfrm>
              <a:off x="5151145" y="1332890"/>
              <a:ext cx="250678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35" name="Rectangle 13"/>
            <p:cNvSpPr/>
            <p:nvPr/>
          </p:nvSpPr>
          <p:spPr>
            <a:xfrm>
              <a:off x="5401822" y="1332890"/>
              <a:ext cx="252264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36" name="Rectangle 14"/>
            <p:cNvSpPr/>
            <p:nvPr/>
          </p:nvSpPr>
          <p:spPr>
            <a:xfrm>
              <a:off x="4394351" y="1332890"/>
              <a:ext cx="252265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37" name="Rectangle 15"/>
            <p:cNvSpPr/>
            <p:nvPr/>
          </p:nvSpPr>
          <p:spPr>
            <a:xfrm>
              <a:off x="5654086" y="1332890"/>
              <a:ext cx="252265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38" name="Rectangle 337"/>
            <p:cNvSpPr/>
            <p:nvPr/>
          </p:nvSpPr>
          <p:spPr>
            <a:xfrm>
              <a:off x="4646616" y="1585154"/>
              <a:ext cx="252264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39" name="Rectangle 338"/>
            <p:cNvSpPr/>
            <p:nvPr/>
          </p:nvSpPr>
          <p:spPr>
            <a:xfrm>
              <a:off x="4898880" y="1585154"/>
              <a:ext cx="252265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40" name="Rectangle 339"/>
            <p:cNvSpPr/>
            <p:nvPr/>
          </p:nvSpPr>
          <p:spPr>
            <a:xfrm>
              <a:off x="5151145" y="1585154"/>
              <a:ext cx="250678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41" name="Rectangle 340"/>
            <p:cNvSpPr/>
            <p:nvPr/>
          </p:nvSpPr>
          <p:spPr>
            <a:xfrm>
              <a:off x="5401822" y="1585154"/>
              <a:ext cx="252264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42" name="Rectangle 341"/>
            <p:cNvSpPr/>
            <p:nvPr/>
          </p:nvSpPr>
          <p:spPr>
            <a:xfrm>
              <a:off x="4394351" y="1585154"/>
              <a:ext cx="252265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43" name="Rectangle 342"/>
            <p:cNvSpPr/>
            <p:nvPr/>
          </p:nvSpPr>
          <p:spPr>
            <a:xfrm>
              <a:off x="5654086" y="1585154"/>
              <a:ext cx="252265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44" name="Rectangle 343"/>
            <p:cNvSpPr/>
            <p:nvPr/>
          </p:nvSpPr>
          <p:spPr>
            <a:xfrm>
              <a:off x="4646616" y="1837419"/>
              <a:ext cx="252264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45" name="Rectangle 344"/>
            <p:cNvSpPr/>
            <p:nvPr/>
          </p:nvSpPr>
          <p:spPr>
            <a:xfrm>
              <a:off x="4898880" y="1837419"/>
              <a:ext cx="252265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46" name="Rectangle 345"/>
            <p:cNvSpPr/>
            <p:nvPr/>
          </p:nvSpPr>
          <p:spPr>
            <a:xfrm>
              <a:off x="5151145" y="1837419"/>
              <a:ext cx="250678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47" name="Rectangle 346"/>
            <p:cNvSpPr/>
            <p:nvPr/>
          </p:nvSpPr>
          <p:spPr>
            <a:xfrm>
              <a:off x="5401822" y="1837419"/>
              <a:ext cx="252264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48" name="Rectangle 347"/>
            <p:cNvSpPr/>
            <p:nvPr/>
          </p:nvSpPr>
          <p:spPr>
            <a:xfrm>
              <a:off x="4394351" y="1837419"/>
              <a:ext cx="252265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49" name="Rectangle 348"/>
            <p:cNvSpPr/>
            <p:nvPr/>
          </p:nvSpPr>
          <p:spPr>
            <a:xfrm>
              <a:off x="5654086" y="1837419"/>
              <a:ext cx="252265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50" name="Rectangle 349"/>
            <p:cNvSpPr/>
            <p:nvPr/>
          </p:nvSpPr>
          <p:spPr>
            <a:xfrm>
              <a:off x="4646616" y="2088096"/>
              <a:ext cx="252264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51" name="Rectangle 350"/>
            <p:cNvSpPr/>
            <p:nvPr/>
          </p:nvSpPr>
          <p:spPr>
            <a:xfrm>
              <a:off x="4898880" y="2088096"/>
              <a:ext cx="252265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52" name="Rectangle 351"/>
            <p:cNvSpPr/>
            <p:nvPr/>
          </p:nvSpPr>
          <p:spPr>
            <a:xfrm>
              <a:off x="5151145" y="2088096"/>
              <a:ext cx="250678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53" name="Rectangle 352"/>
            <p:cNvSpPr/>
            <p:nvPr/>
          </p:nvSpPr>
          <p:spPr>
            <a:xfrm>
              <a:off x="5401822" y="2088096"/>
              <a:ext cx="252264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54" name="Rectangle 353"/>
            <p:cNvSpPr/>
            <p:nvPr/>
          </p:nvSpPr>
          <p:spPr>
            <a:xfrm>
              <a:off x="4394351" y="2088096"/>
              <a:ext cx="252265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55" name="Rectangle 354"/>
            <p:cNvSpPr/>
            <p:nvPr/>
          </p:nvSpPr>
          <p:spPr>
            <a:xfrm>
              <a:off x="5654086" y="2088096"/>
              <a:ext cx="252265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56" name="Rectangle 355"/>
            <p:cNvSpPr/>
            <p:nvPr/>
          </p:nvSpPr>
          <p:spPr>
            <a:xfrm>
              <a:off x="4646616" y="2340360"/>
              <a:ext cx="252264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57" name="Rectangle 356"/>
            <p:cNvSpPr/>
            <p:nvPr/>
          </p:nvSpPr>
          <p:spPr>
            <a:xfrm>
              <a:off x="4898880" y="2340360"/>
              <a:ext cx="252265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58" name="Rectangle 357"/>
            <p:cNvSpPr/>
            <p:nvPr/>
          </p:nvSpPr>
          <p:spPr>
            <a:xfrm>
              <a:off x="5151145" y="2340360"/>
              <a:ext cx="250678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59" name="Rectangle 358"/>
            <p:cNvSpPr/>
            <p:nvPr/>
          </p:nvSpPr>
          <p:spPr>
            <a:xfrm>
              <a:off x="5401822" y="2340360"/>
              <a:ext cx="252264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60" name="Rectangle 359"/>
            <p:cNvSpPr/>
            <p:nvPr/>
          </p:nvSpPr>
          <p:spPr>
            <a:xfrm>
              <a:off x="4394351" y="2340360"/>
              <a:ext cx="252265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61" name="Rectangle 360"/>
            <p:cNvSpPr/>
            <p:nvPr/>
          </p:nvSpPr>
          <p:spPr>
            <a:xfrm>
              <a:off x="5654086" y="2340360"/>
              <a:ext cx="252265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</p:grpSp>
      <p:grpSp>
        <p:nvGrpSpPr>
          <p:cNvPr id="362" name="Group 44"/>
          <p:cNvGrpSpPr>
            <a:grpSpLocks/>
          </p:cNvGrpSpPr>
          <p:nvPr/>
        </p:nvGrpSpPr>
        <p:grpSpPr bwMode="auto">
          <a:xfrm>
            <a:off x="983884" y="4626292"/>
            <a:ext cx="1511300" cy="1512888"/>
            <a:chOff x="4394351" y="1080625"/>
            <a:chExt cx="1512000" cy="1512000"/>
          </a:xfrm>
        </p:grpSpPr>
        <p:sp>
          <p:nvSpPr>
            <p:cNvPr id="363" name="Rectangle 362"/>
            <p:cNvSpPr/>
            <p:nvPr/>
          </p:nvSpPr>
          <p:spPr>
            <a:xfrm>
              <a:off x="4646881" y="1080625"/>
              <a:ext cx="250941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64" name="Rectangle 2"/>
            <p:cNvSpPr/>
            <p:nvPr/>
          </p:nvSpPr>
          <p:spPr>
            <a:xfrm>
              <a:off x="4897822" y="1080625"/>
              <a:ext cx="252529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65" name="Rectangle 3"/>
            <p:cNvSpPr/>
            <p:nvPr/>
          </p:nvSpPr>
          <p:spPr>
            <a:xfrm>
              <a:off x="5150351" y="1080625"/>
              <a:ext cx="252530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66" name="Rectangle 4"/>
            <p:cNvSpPr/>
            <p:nvPr/>
          </p:nvSpPr>
          <p:spPr>
            <a:xfrm>
              <a:off x="5402881" y="1080625"/>
              <a:ext cx="250941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67" name="Rectangle 5"/>
            <p:cNvSpPr/>
            <p:nvPr/>
          </p:nvSpPr>
          <p:spPr>
            <a:xfrm>
              <a:off x="4394351" y="1080625"/>
              <a:ext cx="252530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68" name="Rectangle 6"/>
            <p:cNvSpPr/>
            <p:nvPr/>
          </p:nvSpPr>
          <p:spPr>
            <a:xfrm>
              <a:off x="5653822" y="1080625"/>
              <a:ext cx="252529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69" name="Rectangle 10"/>
            <p:cNvSpPr/>
            <p:nvPr/>
          </p:nvSpPr>
          <p:spPr>
            <a:xfrm>
              <a:off x="4646881" y="1332890"/>
              <a:ext cx="250941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70" name="Rectangle 11"/>
            <p:cNvSpPr/>
            <p:nvPr/>
          </p:nvSpPr>
          <p:spPr>
            <a:xfrm>
              <a:off x="4897822" y="1332890"/>
              <a:ext cx="252529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71" name="Rectangle 12"/>
            <p:cNvSpPr/>
            <p:nvPr/>
          </p:nvSpPr>
          <p:spPr>
            <a:xfrm>
              <a:off x="5150351" y="1332890"/>
              <a:ext cx="252530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72" name="Rectangle 13"/>
            <p:cNvSpPr/>
            <p:nvPr/>
          </p:nvSpPr>
          <p:spPr>
            <a:xfrm>
              <a:off x="5402881" y="1332890"/>
              <a:ext cx="250941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73" name="Rectangle 14"/>
            <p:cNvSpPr/>
            <p:nvPr/>
          </p:nvSpPr>
          <p:spPr>
            <a:xfrm>
              <a:off x="4394351" y="1332890"/>
              <a:ext cx="252530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74" name="Rectangle 15"/>
            <p:cNvSpPr/>
            <p:nvPr/>
          </p:nvSpPr>
          <p:spPr>
            <a:xfrm>
              <a:off x="5653822" y="1332890"/>
              <a:ext cx="252529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75" name="Rectangle 374"/>
            <p:cNvSpPr/>
            <p:nvPr/>
          </p:nvSpPr>
          <p:spPr>
            <a:xfrm>
              <a:off x="4646881" y="1585154"/>
              <a:ext cx="250941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76" name="Rectangle 375"/>
            <p:cNvSpPr/>
            <p:nvPr/>
          </p:nvSpPr>
          <p:spPr>
            <a:xfrm>
              <a:off x="4897822" y="1585154"/>
              <a:ext cx="252529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77" name="Rectangle 376"/>
            <p:cNvSpPr/>
            <p:nvPr/>
          </p:nvSpPr>
          <p:spPr>
            <a:xfrm>
              <a:off x="5150351" y="1585154"/>
              <a:ext cx="252530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78" name="Rectangle 377"/>
            <p:cNvSpPr/>
            <p:nvPr/>
          </p:nvSpPr>
          <p:spPr>
            <a:xfrm>
              <a:off x="5402881" y="1585154"/>
              <a:ext cx="250941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79" name="Rectangle 378"/>
            <p:cNvSpPr/>
            <p:nvPr/>
          </p:nvSpPr>
          <p:spPr>
            <a:xfrm>
              <a:off x="4394351" y="1585154"/>
              <a:ext cx="252530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80" name="Rectangle 379"/>
            <p:cNvSpPr/>
            <p:nvPr/>
          </p:nvSpPr>
          <p:spPr>
            <a:xfrm>
              <a:off x="5653822" y="1585154"/>
              <a:ext cx="252529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81" name="Rectangle 380"/>
            <p:cNvSpPr/>
            <p:nvPr/>
          </p:nvSpPr>
          <p:spPr>
            <a:xfrm>
              <a:off x="4646881" y="1837419"/>
              <a:ext cx="250941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82" name="Rectangle 381"/>
            <p:cNvSpPr/>
            <p:nvPr/>
          </p:nvSpPr>
          <p:spPr>
            <a:xfrm>
              <a:off x="4897822" y="1837419"/>
              <a:ext cx="252529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83" name="Rectangle 382"/>
            <p:cNvSpPr/>
            <p:nvPr/>
          </p:nvSpPr>
          <p:spPr>
            <a:xfrm>
              <a:off x="5150351" y="1837419"/>
              <a:ext cx="252530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84" name="Rectangle 383"/>
            <p:cNvSpPr/>
            <p:nvPr/>
          </p:nvSpPr>
          <p:spPr>
            <a:xfrm>
              <a:off x="5402881" y="1837419"/>
              <a:ext cx="250941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85" name="Rectangle 384"/>
            <p:cNvSpPr/>
            <p:nvPr/>
          </p:nvSpPr>
          <p:spPr>
            <a:xfrm>
              <a:off x="4394351" y="1837419"/>
              <a:ext cx="252530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86" name="Rectangle 385"/>
            <p:cNvSpPr/>
            <p:nvPr/>
          </p:nvSpPr>
          <p:spPr>
            <a:xfrm>
              <a:off x="5653822" y="1837419"/>
              <a:ext cx="252529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87" name="Rectangle 386"/>
            <p:cNvSpPr/>
            <p:nvPr/>
          </p:nvSpPr>
          <p:spPr>
            <a:xfrm>
              <a:off x="4646881" y="2088096"/>
              <a:ext cx="250941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88" name="Rectangle 387"/>
            <p:cNvSpPr/>
            <p:nvPr/>
          </p:nvSpPr>
          <p:spPr>
            <a:xfrm>
              <a:off x="4897822" y="2088096"/>
              <a:ext cx="252529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89" name="Rectangle 388"/>
            <p:cNvSpPr/>
            <p:nvPr/>
          </p:nvSpPr>
          <p:spPr>
            <a:xfrm>
              <a:off x="5150351" y="2088096"/>
              <a:ext cx="252530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90" name="Rectangle 389"/>
            <p:cNvSpPr/>
            <p:nvPr/>
          </p:nvSpPr>
          <p:spPr>
            <a:xfrm>
              <a:off x="5402881" y="2088096"/>
              <a:ext cx="250941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91" name="Rectangle 390"/>
            <p:cNvSpPr/>
            <p:nvPr/>
          </p:nvSpPr>
          <p:spPr>
            <a:xfrm>
              <a:off x="4394351" y="2088096"/>
              <a:ext cx="252530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92" name="Rectangle 391"/>
            <p:cNvSpPr/>
            <p:nvPr/>
          </p:nvSpPr>
          <p:spPr>
            <a:xfrm>
              <a:off x="5653822" y="2088096"/>
              <a:ext cx="252529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93" name="Rectangle 392"/>
            <p:cNvSpPr/>
            <p:nvPr/>
          </p:nvSpPr>
          <p:spPr>
            <a:xfrm>
              <a:off x="4646881" y="2340360"/>
              <a:ext cx="250941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94" name="Rectangle 393"/>
            <p:cNvSpPr/>
            <p:nvPr/>
          </p:nvSpPr>
          <p:spPr>
            <a:xfrm>
              <a:off x="4897822" y="2340360"/>
              <a:ext cx="252529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95" name="Rectangle 394"/>
            <p:cNvSpPr/>
            <p:nvPr/>
          </p:nvSpPr>
          <p:spPr>
            <a:xfrm>
              <a:off x="5150351" y="2340360"/>
              <a:ext cx="252530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96" name="Rectangle 395"/>
            <p:cNvSpPr/>
            <p:nvPr/>
          </p:nvSpPr>
          <p:spPr>
            <a:xfrm>
              <a:off x="5402881" y="2340360"/>
              <a:ext cx="250941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97" name="Rectangle 396"/>
            <p:cNvSpPr/>
            <p:nvPr/>
          </p:nvSpPr>
          <p:spPr>
            <a:xfrm>
              <a:off x="4394351" y="2340360"/>
              <a:ext cx="252530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398" name="Rectangle 397"/>
            <p:cNvSpPr/>
            <p:nvPr/>
          </p:nvSpPr>
          <p:spPr>
            <a:xfrm>
              <a:off x="5653822" y="2340360"/>
              <a:ext cx="252529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</p:grpSp>
      <p:grpSp>
        <p:nvGrpSpPr>
          <p:cNvPr id="399" name="Group 44"/>
          <p:cNvGrpSpPr>
            <a:grpSpLocks/>
          </p:cNvGrpSpPr>
          <p:nvPr/>
        </p:nvGrpSpPr>
        <p:grpSpPr bwMode="auto">
          <a:xfrm>
            <a:off x="3871547" y="4626292"/>
            <a:ext cx="1511300" cy="1512888"/>
            <a:chOff x="4394351" y="1080625"/>
            <a:chExt cx="1512000" cy="1512000"/>
          </a:xfrm>
        </p:grpSpPr>
        <p:sp>
          <p:nvSpPr>
            <p:cNvPr id="400" name="Rectangle 399"/>
            <p:cNvSpPr/>
            <p:nvPr/>
          </p:nvSpPr>
          <p:spPr>
            <a:xfrm>
              <a:off x="4646880" y="1080625"/>
              <a:ext cx="250941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01" name="Rectangle 2"/>
            <p:cNvSpPr/>
            <p:nvPr/>
          </p:nvSpPr>
          <p:spPr>
            <a:xfrm>
              <a:off x="4897821" y="1080625"/>
              <a:ext cx="252530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02" name="Rectangle 3"/>
            <p:cNvSpPr/>
            <p:nvPr/>
          </p:nvSpPr>
          <p:spPr>
            <a:xfrm>
              <a:off x="5150351" y="1080625"/>
              <a:ext cx="252529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03" name="Rectangle 4"/>
            <p:cNvSpPr/>
            <p:nvPr/>
          </p:nvSpPr>
          <p:spPr>
            <a:xfrm>
              <a:off x="5402880" y="1080625"/>
              <a:ext cx="250941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04" name="Rectangle 5"/>
            <p:cNvSpPr/>
            <p:nvPr/>
          </p:nvSpPr>
          <p:spPr>
            <a:xfrm>
              <a:off x="4394351" y="1080625"/>
              <a:ext cx="252529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05" name="Rectangle 6"/>
            <p:cNvSpPr/>
            <p:nvPr/>
          </p:nvSpPr>
          <p:spPr>
            <a:xfrm>
              <a:off x="5653821" y="1080625"/>
              <a:ext cx="252530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06" name="Rectangle 10"/>
            <p:cNvSpPr/>
            <p:nvPr/>
          </p:nvSpPr>
          <p:spPr>
            <a:xfrm>
              <a:off x="4646880" y="1332890"/>
              <a:ext cx="250941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07" name="Rectangle 11"/>
            <p:cNvSpPr/>
            <p:nvPr/>
          </p:nvSpPr>
          <p:spPr>
            <a:xfrm>
              <a:off x="4897821" y="1332890"/>
              <a:ext cx="252530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08" name="Rectangle 12"/>
            <p:cNvSpPr/>
            <p:nvPr/>
          </p:nvSpPr>
          <p:spPr>
            <a:xfrm>
              <a:off x="5150351" y="1332890"/>
              <a:ext cx="252529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09" name="Rectangle 13"/>
            <p:cNvSpPr/>
            <p:nvPr/>
          </p:nvSpPr>
          <p:spPr>
            <a:xfrm>
              <a:off x="5402880" y="1332890"/>
              <a:ext cx="250941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10" name="Rectangle 14"/>
            <p:cNvSpPr/>
            <p:nvPr/>
          </p:nvSpPr>
          <p:spPr>
            <a:xfrm>
              <a:off x="4394351" y="1332890"/>
              <a:ext cx="252529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11" name="Rectangle 15"/>
            <p:cNvSpPr/>
            <p:nvPr/>
          </p:nvSpPr>
          <p:spPr>
            <a:xfrm>
              <a:off x="5653821" y="1332890"/>
              <a:ext cx="252530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12" name="Rectangle 411"/>
            <p:cNvSpPr/>
            <p:nvPr/>
          </p:nvSpPr>
          <p:spPr>
            <a:xfrm>
              <a:off x="4646880" y="1585154"/>
              <a:ext cx="250941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13" name="Rectangle 412"/>
            <p:cNvSpPr/>
            <p:nvPr/>
          </p:nvSpPr>
          <p:spPr>
            <a:xfrm>
              <a:off x="4897821" y="1585154"/>
              <a:ext cx="252530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14" name="Rectangle 413"/>
            <p:cNvSpPr/>
            <p:nvPr/>
          </p:nvSpPr>
          <p:spPr>
            <a:xfrm>
              <a:off x="5150351" y="1585154"/>
              <a:ext cx="252529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15" name="Rectangle 414"/>
            <p:cNvSpPr/>
            <p:nvPr/>
          </p:nvSpPr>
          <p:spPr>
            <a:xfrm>
              <a:off x="5402880" y="1585154"/>
              <a:ext cx="250941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16" name="Rectangle 415"/>
            <p:cNvSpPr/>
            <p:nvPr/>
          </p:nvSpPr>
          <p:spPr>
            <a:xfrm>
              <a:off x="4394351" y="1585154"/>
              <a:ext cx="252529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17" name="Rectangle 416"/>
            <p:cNvSpPr/>
            <p:nvPr/>
          </p:nvSpPr>
          <p:spPr>
            <a:xfrm>
              <a:off x="5653821" y="1585154"/>
              <a:ext cx="252530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18" name="Rectangle 417"/>
            <p:cNvSpPr/>
            <p:nvPr/>
          </p:nvSpPr>
          <p:spPr>
            <a:xfrm>
              <a:off x="4646880" y="1837419"/>
              <a:ext cx="250941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19" name="Rectangle 418"/>
            <p:cNvSpPr/>
            <p:nvPr/>
          </p:nvSpPr>
          <p:spPr>
            <a:xfrm>
              <a:off x="4897821" y="1837419"/>
              <a:ext cx="252530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20" name="Rectangle 419"/>
            <p:cNvSpPr/>
            <p:nvPr/>
          </p:nvSpPr>
          <p:spPr>
            <a:xfrm>
              <a:off x="5150351" y="1837419"/>
              <a:ext cx="252529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21" name="Rectangle 420"/>
            <p:cNvSpPr/>
            <p:nvPr/>
          </p:nvSpPr>
          <p:spPr>
            <a:xfrm>
              <a:off x="5402880" y="1837419"/>
              <a:ext cx="250941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22" name="Rectangle 421"/>
            <p:cNvSpPr/>
            <p:nvPr/>
          </p:nvSpPr>
          <p:spPr>
            <a:xfrm>
              <a:off x="4394351" y="1837419"/>
              <a:ext cx="252529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23" name="Rectangle 422"/>
            <p:cNvSpPr/>
            <p:nvPr/>
          </p:nvSpPr>
          <p:spPr>
            <a:xfrm>
              <a:off x="5653821" y="1837419"/>
              <a:ext cx="252530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24" name="Rectangle 423"/>
            <p:cNvSpPr/>
            <p:nvPr/>
          </p:nvSpPr>
          <p:spPr>
            <a:xfrm>
              <a:off x="4646880" y="2088096"/>
              <a:ext cx="250941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25" name="Rectangle 424"/>
            <p:cNvSpPr/>
            <p:nvPr/>
          </p:nvSpPr>
          <p:spPr>
            <a:xfrm>
              <a:off x="4897821" y="2088096"/>
              <a:ext cx="252530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26" name="Rectangle 425"/>
            <p:cNvSpPr/>
            <p:nvPr/>
          </p:nvSpPr>
          <p:spPr>
            <a:xfrm>
              <a:off x="5150351" y="2088096"/>
              <a:ext cx="252529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27" name="Rectangle 426"/>
            <p:cNvSpPr/>
            <p:nvPr/>
          </p:nvSpPr>
          <p:spPr>
            <a:xfrm>
              <a:off x="5402880" y="2088096"/>
              <a:ext cx="250941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28" name="Rectangle 427"/>
            <p:cNvSpPr/>
            <p:nvPr/>
          </p:nvSpPr>
          <p:spPr>
            <a:xfrm>
              <a:off x="4394351" y="2088096"/>
              <a:ext cx="252529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29" name="Rectangle 428"/>
            <p:cNvSpPr/>
            <p:nvPr/>
          </p:nvSpPr>
          <p:spPr>
            <a:xfrm>
              <a:off x="5653821" y="2088096"/>
              <a:ext cx="252530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30" name="Rectangle 429"/>
            <p:cNvSpPr/>
            <p:nvPr/>
          </p:nvSpPr>
          <p:spPr>
            <a:xfrm>
              <a:off x="4646880" y="2340360"/>
              <a:ext cx="250941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31" name="Rectangle 430"/>
            <p:cNvSpPr/>
            <p:nvPr/>
          </p:nvSpPr>
          <p:spPr>
            <a:xfrm>
              <a:off x="4897821" y="2340360"/>
              <a:ext cx="252530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32" name="Rectangle 431"/>
            <p:cNvSpPr/>
            <p:nvPr/>
          </p:nvSpPr>
          <p:spPr>
            <a:xfrm>
              <a:off x="5150351" y="2340360"/>
              <a:ext cx="252529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33" name="Rectangle 432"/>
            <p:cNvSpPr/>
            <p:nvPr/>
          </p:nvSpPr>
          <p:spPr>
            <a:xfrm>
              <a:off x="5402880" y="2340360"/>
              <a:ext cx="250941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34" name="Rectangle 433"/>
            <p:cNvSpPr/>
            <p:nvPr/>
          </p:nvSpPr>
          <p:spPr>
            <a:xfrm>
              <a:off x="4394351" y="2340360"/>
              <a:ext cx="252529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35" name="Rectangle 434"/>
            <p:cNvSpPr/>
            <p:nvPr/>
          </p:nvSpPr>
          <p:spPr>
            <a:xfrm>
              <a:off x="5653821" y="2340360"/>
              <a:ext cx="252530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</p:grpSp>
      <p:grpSp>
        <p:nvGrpSpPr>
          <p:cNvPr id="436" name="Group 44"/>
          <p:cNvGrpSpPr>
            <a:grpSpLocks/>
          </p:cNvGrpSpPr>
          <p:nvPr/>
        </p:nvGrpSpPr>
        <p:grpSpPr bwMode="auto">
          <a:xfrm>
            <a:off x="6759209" y="4626292"/>
            <a:ext cx="1512888" cy="1512888"/>
            <a:chOff x="4394351" y="1080625"/>
            <a:chExt cx="1512000" cy="1512000"/>
          </a:xfrm>
        </p:grpSpPr>
        <p:sp>
          <p:nvSpPr>
            <p:cNvPr id="437" name="Rectangle 436"/>
            <p:cNvSpPr/>
            <p:nvPr/>
          </p:nvSpPr>
          <p:spPr>
            <a:xfrm>
              <a:off x="4646616" y="1080625"/>
              <a:ext cx="252264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38" name="Rectangle 2"/>
            <p:cNvSpPr/>
            <p:nvPr/>
          </p:nvSpPr>
          <p:spPr>
            <a:xfrm>
              <a:off x="4898880" y="1080625"/>
              <a:ext cx="252265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39" name="Rectangle 3"/>
            <p:cNvSpPr/>
            <p:nvPr/>
          </p:nvSpPr>
          <p:spPr>
            <a:xfrm>
              <a:off x="5151145" y="1080625"/>
              <a:ext cx="250678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40" name="Rectangle 4"/>
            <p:cNvSpPr/>
            <p:nvPr/>
          </p:nvSpPr>
          <p:spPr>
            <a:xfrm>
              <a:off x="5401822" y="1080625"/>
              <a:ext cx="252264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41" name="Rectangle 5"/>
            <p:cNvSpPr/>
            <p:nvPr/>
          </p:nvSpPr>
          <p:spPr>
            <a:xfrm>
              <a:off x="4394351" y="1080625"/>
              <a:ext cx="252265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42" name="Rectangle 6"/>
            <p:cNvSpPr/>
            <p:nvPr/>
          </p:nvSpPr>
          <p:spPr>
            <a:xfrm>
              <a:off x="5654086" y="1080625"/>
              <a:ext cx="252265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43" name="Rectangle 10"/>
            <p:cNvSpPr/>
            <p:nvPr/>
          </p:nvSpPr>
          <p:spPr>
            <a:xfrm>
              <a:off x="4646616" y="1332890"/>
              <a:ext cx="252264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44" name="Rectangle 11"/>
            <p:cNvSpPr/>
            <p:nvPr/>
          </p:nvSpPr>
          <p:spPr>
            <a:xfrm>
              <a:off x="4898880" y="1332890"/>
              <a:ext cx="252265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45" name="Rectangle 12"/>
            <p:cNvSpPr/>
            <p:nvPr/>
          </p:nvSpPr>
          <p:spPr>
            <a:xfrm>
              <a:off x="5151145" y="1332890"/>
              <a:ext cx="250678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46" name="Rectangle 13"/>
            <p:cNvSpPr/>
            <p:nvPr/>
          </p:nvSpPr>
          <p:spPr>
            <a:xfrm>
              <a:off x="5401822" y="1332890"/>
              <a:ext cx="252264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47" name="Rectangle 14"/>
            <p:cNvSpPr/>
            <p:nvPr/>
          </p:nvSpPr>
          <p:spPr>
            <a:xfrm>
              <a:off x="4394351" y="1332890"/>
              <a:ext cx="252265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48" name="Rectangle 15"/>
            <p:cNvSpPr/>
            <p:nvPr/>
          </p:nvSpPr>
          <p:spPr>
            <a:xfrm>
              <a:off x="5654086" y="1332890"/>
              <a:ext cx="252265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49" name="Rectangle 448"/>
            <p:cNvSpPr/>
            <p:nvPr/>
          </p:nvSpPr>
          <p:spPr>
            <a:xfrm>
              <a:off x="4646616" y="1585154"/>
              <a:ext cx="252264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50" name="Rectangle 449"/>
            <p:cNvSpPr/>
            <p:nvPr/>
          </p:nvSpPr>
          <p:spPr>
            <a:xfrm>
              <a:off x="4898880" y="1585154"/>
              <a:ext cx="252265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51" name="Rectangle 450"/>
            <p:cNvSpPr/>
            <p:nvPr/>
          </p:nvSpPr>
          <p:spPr>
            <a:xfrm>
              <a:off x="5151145" y="1585154"/>
              <a:ext cx="250678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52" name="Rectangle 451"/>
            <p:cNvSpPr/>
            <p:nvPr/>
          </p:nvSpPr>
          <p:spPr>
            <a:xfrm>
              <a:off x="5401822" y="1585154"/>
              <a:ext cx="252264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53" name="Rectangle 452"/>
            <p:cNvSpPr/>
            <p:nvPr/>
          </p:nvSpPr>
          <p:spPr>
            <a:xfrm>
              <a:off x="4394351" y="1585154"/>
              <a:ext cx="252265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54" name="Rectangle 453"/>
            <p:cNvSpPr/>
            <p:nvPr/>
          </p:nvSpPr>
          <p:spPr>
            <a:xfrm>
              <a:off x="5654086" y="1585154"/>
              <a:ext cx="252265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55" name="Rectangle 454"/>
            <p:cNvSpPr/>
            <p:nvPr/>
          </p:nvSpPr>
          <p:spPr>
            <a:xfrm>
              <a:off x="4646616" y="1837419"/>
              <a:ext cx="252264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56" name="Rectangle 455"/>
            <p:cNvSpPr/>
            <p:nvPr/>
          </p:nvSpPr>
          <p:spPr>
            <a:xfrm>
              <a:off x="4898880" y="1837419"/>
              <a:ext cx="252265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57" name="Rectangle 456"/>
            <p:cNvSpPr/>
            <p:nvPr/>
          </p:nvSpPr>
          <p:spPr>
            <a:xfrm>
              <a:off x="5151145" y="1837419"/>
              <a:ext cx="250678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58" name="Rectangle 457"/>
            <p:cNvSpPr/>
            <p:nvPr/>
          </p:nvSpPr>
          <p:spPr>
            <a:xfrm>
              <a:off x="5401822" y="1837419"/>
              <a:ext cx="252264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59" name="Rectangle 458"/>
            <p:cNvSpPr/>
            <p:nvPr/>
          </p:nvSpPr>
          <p:spPr>
            <a:xfrm>
              <a:off x="4394351" y="1837419"/>
              <a:ext cx="252265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60" name="Rectangle 459"/>
            <p:cNvSpPr/>
            <p:nvPr/>
          </p:nvSpPr>
          <p:spPr>
            <a:xfrm>
              <a:off x="5654086" y="1837419"/>
              <a:ext cx="252265" cy="250678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61" name="Rectangle 460"/>
            <p:cNvSpPr/>
            <p:nvPr/>
          </p:nvSpPr>
          <p:spPr>
            <a:xfrm>
              <a:off x="4646616" y="2088096"/>
              <a:ext cx="252264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62" name="Rectangle 461"/>
            <p:cNvSpPr/>
            <p:nvPr/>
          </p:nvSpPr>
          <p:spPr>
            <a:xfrm>
              <a:off x="4898880" y="2088096"/>
              <a:ext cx="252265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63" name="Rectangle 462"/>
            <p:cNvSpPr/>
            <p:nvPr/>
          </p:nvSpPr>
          <p:spPr>
            <a:xfrm>
              <a:off x="5151145" y="2088096"/>
              <a:ext cx="250678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64" name="Rectangle 463"/>
            <p:cNvSpPr/>
            <p:nvPr/>
          </p:nvSpPr>
          <p:spPr>
            <a:xfrm>
              <a:off x="5401822" y="2088096"/>
              <a:ext cx="252264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65" name="Rectangle 464"/>
            <p:cNvSpPr/>
            <p:nvPr/>
          </p:nvSpPr>
          <p:spPr>
            <a:xfrm>
              <a:off x="4394351" y="2088096"/>
              <a:ext cx="252265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66" name="Rectangle 465"/>
            <p:cNvSpPr/>
            <p:nvPr/>
          </p:nvSpPr>
          <p:spPr>
            <a:xfrm>
              <a:off x="5654086" y="2088096"/>
              <a:ext cx="252265" cy="25226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67" name="Rectangle 466"/>
            <p:cNvSpPr/>
            <p:nvPr/>
          </p:nvSpPr>
          <p:spPr>
            <a:xfrm>
              <a:off x="4646616" y="2340360"/>
              <a:ext cx="252264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68" name="Rectangle 467"/>
            <p:cNvSpPr/>
            <p:nvPr/>
          </p:nvSpPr>
          <p:spPr>
            <a:xfrm>
              <a:off x="4898880" y="2340360"/>
              <a:ext cx="252265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69" name="Rectangle 468"/>
            <p:cNvSpPr/>
            <p:nvPr/>
          </p:nvSpPr>
          <p:spPr>
            <a:xfrm>
              <a:off x="5151145" y="2340360"/>
              <a:ext cx="250678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70" name="Rectangle 469"/>
            <p:cNvSpPr/>
            <p:nvPr/>
          </p:nvSpPr>
          <p:spPr>
            <a:xfrm>
              <a:off x="5401822" y="2340360"/>
              <a:ext cx="252264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71" name="Rectangle 470"/>
            <p:cNvSpPr/>
            <p:nvPr/>
          </p:nvSpPr>
          <p:spPr>
            <a:xfrm>
              <a:off x="4394351" y="2340360"/>
              <a:ext cx="252265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  <p:sp>
          <p:nvSpPr>
            <p:cNvPr id="472" name="Rectangle 471"/>
            <p:cNvSpPr/>
            <p:nvPr/>
          </p:nvSpPr>
          <p:spPr>
            <a:xfrm>
              <a:off x="5654086" y="2340360"/>
              <a:ext cx="252265" cy="252265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GB"/>
            </a:p>
          </p:txBody>
        </p:sp>
      </p:grpSp>
      <p:cxnSp>
        <p:nvCxnSpPr>
          <p:cNvPr id="473" name="Straight Arrow Connector 472"/>
          <p:cNvCxnSpPr/>
          <p:nvPr/>
        </p:nvCxnSpPr>
        <p:spPr>
          <a:xfrm flipV="1">
            <a:off x="1234709" y="2686367"/>
            <a:ext cx="1017588" cy="25241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74" name="Object 2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58322949"/>
              </p:ext>
            </p:extLst>
          </p:nvPr>
        </p:nvGraphicFramePr>
        <p:xfrm>
          <a:off x="723534" y="1013142"/>
          <a:ext cx="460375" cy="790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16" name="Equation" r:id="rId3" imgW="266584" imgH="457002" progId="Equation.3">
                  <p:embed/>
                </p:oleObj>
              </mc:Choice>
              <mc:Fallback>
                <p:oleObj name="Equation" r:id="rId3" imgW="266584" imgH="457002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3534" y="1013142"/>
                        <a:ext cx="460375" cy="790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75" name="Object 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56169368"/>
              </p:ext>
            </p:extLst>
          </p:nvPr>
        </p:nvGraphicFramePr>
        <p:xfrm>
          <a:off x="3560397" y="1013142"/>
          <a:ext cx="460375" cy="790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17" name="Equation" r:id="rId5" imgW="266584" imgH="457002" progId="Equation.3">
                  <p:embed/>
                </p:oleObj>
              </mc:Choice>
              <mc:Fallback>
                <p:oleObj name="Equation" r:id="rId5" imgW="266584" imgH="457002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60397" y="1013142"/>
                        <a:ext cx="460375" cy="790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76" name="Object 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01436671"/>
              </p:ext>
            </p:extLst>
          </p:nvPr>
        </p:nvGraphicFramePr>
        <p:xfrm>
          <a:off x="6498859" y="1013142"/>
          <a:ext cx="460375" cy="790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18" name="Equation" r:id="rId7" imgW="266584" imgH="457002" progId="Equation.3">
                  <p:embed/>
                </p:oleObj>
              </mc:Choice>
              <mc:Fallback>
                <p:oleObj name="Equation" r:id="rId7" imgW="266584" imgH="457002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98859" y="1013142"/>
                        <a:ext cx="460375" cy="790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77" name="Object 2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82617083"/>
              </p:ext>
            </p:extLst>
          </p:nvPr>
        </p:nvGraphicFramePr>
        <p:xfrm>
          <a:off x="744172" y="3691255"/>
          <a:ext cx="636587" cy="790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19" name="Equation" r:id="rId9" imgW="368300" imgH="457200" progId="Equation.3">
                  <p:embed/>
                </p:oleObj>
              </mc:Choice>
              <mc:Fallback>
                <p:oleObj name="Equation" r:id="rId9" imgW="368300" imgH="4572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4172" y="3691255"/>
                        <a:ext cx="636587" cy="790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78" name="Object 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568922"/>
              </p:ext>
            </p:extLst>
          </p:nvPr>
        </p:nvGraphicFramePr>
        <p:xfrm>
          <a:off x="3566747" y="3691255"/>
          <a:ext cx="636587" cy="790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0" name="Equation" r:id="rId11" imgW="368300" imgH="457200" progId="Equation.3">
                  <p:embed/>
                </p:oleObj>
              </mc:Choice>
              <mc:Fallback>
                <p:oleObj name="Equation" r:id="rId11" imgW="368300" imgH="4572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66747" y="3691255"/>
                        <a:ext cx="636587" cy="790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79" name="Object 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30701576"/>
              </p:ext>
            </p:extLst>
          </p:nvPr>
        </p:nvGraphicFramePr>
        <p:xfrm>
          <a:off x="6392497" y="3691255"/>
          <a:ext cx="658812" cy="790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1" name="Equation" r:id="rId13" imgW="381000" imgH="457200" progId="Equation.3">
                  <p:embed/>
                </p:oleObj>
              </mc:Choice>
              <mc:Fallback>
                <p:oleObj name="Equation" r:id="rId13" imgW="381000" imgH="4572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92497" y="3691255"/>
                        <a:ext cx="658812" cy="790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80" name="Straight Arrow Connector 479"/>
          <p:cNvCxnSpPr/>
          <p:nvPr/>
        </p:nvCxnSpPr>
        <p:spPr>
          <a:xfrm flipH="1" flipV="1">
            <a:off x="4630372" y="2430780"/>
            <a:ext cx="0" cy="754062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Arrow Connector 480"/>
          <p:cNvCxnSpPr/>
          <p:nvPr/>
        </p:nvCxnSpPr>
        <p:spPr>
          <a:xfrm>
            <a:off x="6781434" y="2676842"/>
            <a:ext cx="1244600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Straight Arrow Connector 481"/>
          <p:cNvCxnSpPr/>
          <p:nvPr/>
        </p:nvCxnSpPr>
        <p:spPr>
          <a:xfrm flipH="1">
            <a:off x="1507759" y="4881880"/>
            <a:ext cx="474663" cy="1241425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Straight Arrow Connector 482"/>
          <p:cNvCxnSpPr/>
          <p:nvPr/>
        </p:nvCxnSpPr>
        <p:spPr>
          <a:xfrm>
            <a:off x="4382722" y="4873942"/>
            <a:ext cx="739775" cy="50800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4" name="Straight Arrow Connector 483"/>
          <p:cNvCxnSpPr/>
          <p:nvPr/>
        </p:nvCxnSpPr>
        <p:spPr>
          <a:xfrm flipH="1" flipV="1">
            <a:off x="7027497" y="4629467"/>
            <a:ext cx="990600" cy="150495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Length of a Vector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is always positive — it is a length.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= the length. Use Pythagoras on the two numbers.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|a| = √(x² + y²)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 52"/>
              <p:cNvSpPr/>
              <p:nvPr/>
            </p:nvSpPr>
            <p:spPr>
              <a:xfrm>
                <a:off x="1362456" y="3273552"/>
                <a:ext cx="5486400" cy="40233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 smtClean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For a =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1400" i="1" smtClean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400" i="1" smtClean="0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14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3</m:t>
                              </m:r>
                            </m:e>
                          </m:mr>
                          <m:mr>
                            <m:e>
                              <m:r>
                                <a:rPr lang="en-US" sz="14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5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sz="1400" dirty="0" smtClean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 </a:t>
                </a:r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|a| = √(3² + 5²)</a:t>
                </a:r>
                <a:endParaRPr lang="en-US" sz="1400" dirty="0"/>
              </a:p>
            </p:txBody>
          </p:sp>
        </mc:Choice>
        <mc:Fallback xmlns="">
          <p:sp>
            <p:nvSpPr>
              <p:cNvPr id="54" name="Text 5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456" y="3273552"/>
                <a:ext cx="5486400" cy="402336"/>
              </a:xfrm>
              <a:prstGeom prst="rect">
                <a:avLst/>
              </a:prstGeom>
              <a:blipFill rotWithShape="1">
                <a:blip r:embed="rId3"/>
                <a:stretch>
                  <a:fillRect l="-2000" b="-9091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√(9 + 25) = √34 ≈ 5.83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|a| = √(x² + y²)  —  Pythagoras</a:t>
            </a:r>
            <a:endParaRPr lang="en-US" sz="2300" dirty="0"/>
          </a:p>
        </p:txBody>
      </p:sp>
      <p:cxnSp>
        <p:nvCxnSpPr>
          <p:cNvPr id="62" name="Connector 61"/>
          <p:cNvCxnSpPr/>
          <p:nvPr/>
        </p:nvCxnSpPr>
        <p:spPr>
          <a:xfrm>
            <a:off x="7603720" y="4054480"/>
            <a:ext cx="2200000" cy="0"/>
          </a:xfrm>
          <a:prstGeom prst="line">
            <a:avLst/>
          </a:prstGeom>
          <a:ln w="25400">
            <a:solidFill>
              <a:srgbClr val="5C6B6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9803720" y="1554480"/>
            <a:ext cx="0" cy="2500000"/>
          </a:xfrm>
          <a:prstGeom prst="line">
            <a:avLst/>
          </a:prstGeom>
          <a:ln w="25400">
            <a:solidFill>
              <a:srgbClr val="5C6B6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7603720" y="1554480"/>
            <a:ext cx="2200000" cy="2500000"/>
          </a:xfrm>
          <a:prstGeom prst="line">
            <a:avLst/>
          </a:prstGeom>
          <a:ln w="40640">
            <a:solidFill>
              <a:srgbClr val="C84F2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7573720" y="4024480"/>
            <a:ext cx="60000" cy="60000"/>
          </a:xfrm>
          <a:prstGeom prst="ellipse">
            <a:avLst/>
          </a:prstGeom>
          <a:solidFill>
            <a:srgbClr val="1C2A2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9773720" y="1524480"/>
            <a:ext cx="60000" cy="60000"/>
          </a:xfrm>
          <a:prstGeom prst="ellipse">
            <a:avLst/>
          </a:prstGeom>
          <a:solidFill>
            <a:srgbClr val="C84F2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553720" y="3875072"/>
            <a:ext cx="23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 dirty="0">
                <a:solidFill>
                  <a:srgbClr val="5C6B60"/>
                </a:solidFill>
                <a:latin typeface="Cambria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03720" y="2694480"/>
            <a:ext cx="4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dirty="0">
                <a:solidFill>
                  <a:srgbClr val="5C6B60"/>
                </a:solidFill>
                <a:latin typeface="Cambria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03720" y="2804480"/>
            <a:ext cx="55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1">
                <a:solidFill>
                  <a:srgbClr val="C84F2F"/>
                </a:solidFill>
                <a:latin typeface="Cambria"/>
              </a:rPr>
              <a:t>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78040" y="4264480"/>
            <a:ext cx="4127448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dirty="0">
                <a:solidFill>
                  <a:srgbClr val="1C2A22"/>
                </a:solidFill>
                <a:latin typeface="Cambria"/>
              </a:rPr>
              <a:t>|a| = √(3² + 5²) = √34 ≈ 5.83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023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50">
                <a:solidFill>
                  <a:srgbClr val="C84F2F"/>
                </a:solidFill>
                <a:latin typeface="Calibri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658368"/>
            <a:ext cx="98755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>
                <a:solidFill>
                  <a:srgbClr val="1C2A22"/>
                </a:solidFill>
                <a:latin typeface="Cambria"/>
              </a:rPr>
              <a:t>Finding |a|, |b| and |a + b|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261872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C6B60"/>
                </a:solidFill>
                <a:latin typeface="Calibri"/>
              </a:rPr>
              <a:t>Notice that |a| + |b| is NOT the same as |a + b| — magnitudes don't simply add.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10835640" cy="352044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2130551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84F2F"/>
                </a:solidFill>
                <a:latin typeface="Cambria"/>
              </a:rPr>
              <a:t>Given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70248" y="2130551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84F2F"/>
                </a:solidFill>
                <a:latin typeface="Cambria"/>
              </a:rPr>
              <a:t>Add the vectors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9248" y="2130551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84F2F"/>
                </a:solidFill>
                <a:latin typeface="Cambria"/>
              </a:rPr>
              <a:t>Compare the magnitudes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841248" y="2651759"/>
                <a:ext cx="3246120" cy="2020553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>
                  <a:lnSpc>
                    <a:spcPct val="125000"/>
                  </a:lnSpc>
                </a:pPr>
                <a:r>
                  <a:rPr lang="en-US" sz="1300" b="0" dirty="0" smtClean="0">
                    <a:solidFill>
                      <a:srgbClr val="1C2A22"/>
                    </a:solidFill>
                    <a:latin typeface="Calibri"/>
                  </a:rPr>
                  <a:t>a =</a:t>
                </a:r>
                <a:r>
                  <a:rPr lang="en-US" sz="1200" dirty="0" smtClean="0">
                    <a:solidFill>
                      <a:srgbClr val="1C2A22"/>
                    </a:solidFill>
                    <a:ea typeface="Calibri" pitchFamily="34" charset="-122"/>
                    <a:cs typeface="Calibri" pitchFamily="34" charset="-12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1200" i="1" smtClean="0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ar-AE" sz="1200" i="1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12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 </m:t>
                              </m:r>
                              <m:r>
                                <m:rPr>
                                  <m:brk m:alnAt="7"/>
                                </m:rPr>
                                <a:rPr lang="ar-AE" sz="12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7</m:t>
                              </m:r>
                              <m:r>
                                <m:rPr>
                                  <m:brk m:alnAt="7"/>
                                </m:rPr>
                                <a:rPr lang="en-US" sz="12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 </m:t>
                              </m:r>
                            </m:e>
                          </m:mr>
                          <m:mr>
                            <m:e>
                              <m:r>
                                <a:rPr lang="en-US" sz="12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 </m:t>
                              </m:r>
                              <m:r>
                                <a:rPr lang="en-US" sz="12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4</m:t>
                              </m:r>
                              <m:r>
                                <a:rPr lang="en-US" sz="12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 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1300" dirty="0">
                  <a:solidFill>
                    <a:srgbClr val="1C2A22"/>
                  </a:solidFill>
                  <a:latin typeface="Calibri"/>
                </a:endParaRPr>
              </a:p>
              <a:p>
                <a:pPr>
                  <a:lnSpc>
                    <a:spcPct val="125000"/>
                  </a:lnSpc>
                </a:pPr>
                <a:r>
                  <a:rPr lang="en-US" sz="1300" b="0" dirty="0" smtClean="0">
                    <a:solidFill>
                      <a:srgbClr val="1C2A22"/>
                    </a:solidFill>
                    <a:latin typeface="Calibri"/>
                  </a:rPr>
                  <a:t>b </a:t>
                </a:r>
                <a:r>
                  <a:rPr lang="en-US" sz="1300" b="0" dirty="0">
                    <a:solidFill>
                      <a:srgbClr val="1C2A22"/>
                    </a:solidFill>
                    <a:latin typeface="Calibri"/>
                  </a:rPr>
                  <a:t>=</a:t>
                </a:r>
                <a:r>
                  <a:rPr lang="en-US" sz="1200" dirty="0">
                    <a:solidFill>
                      <a:srgbClr val="1C2A22"/>
                    </a:solidFill>
                    <a:ea typeface="Calibri" pitchFamily="34" charset="-122"/>
                    <a:cs typeface="Calibri" pitchFamily="34" charset="-12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1200" i="1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200" i="1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12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−</m:t>
                              </m:r>
                              <m:r>
                                <m:rPr>
                                  <m:brk m:alnAt="7"/>
                                </m:rPr>
                                <a:rPr lang="en-US" sz="12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5</m:t>
                              </m:r>
                            </m:e>
                          </m:mr>
                          <m:mr>
                            <m:e>
                              <m:r>
                                <a:rPr lang="en-US" sz="12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1300" b="0" dirty="0">
                  <a:solidFill>
                    <a:srgbClr val="1C2A22"/>
                  </a:solidFill>
                  <a:latin typeface="Calibri"/>
                </a:endParaRPr>
              </a:p>
              <a:p>
                <a:pPr>
                  <a:lnSpc>
                    <a:spcPct val="125000"/>
                  </a:lnSpc>
                </a:pPr>
                <a:endParaRPr lang="en-US" sz="1300" b="0" dirty="0">
                  <a:solidFill>
                    <a:srgbClr val="1C2A22"/>
                  </a:solidFill>
                  <a:latin typeface="Calibri"/>
                </a:endParaRPr>
              </a:p>
              <a:p>
                <a:pPr>
                  <a:lnSpc>
                    <a:spcPct val="125000"/>
                  </a:lnSpc>
                </a:pPr>
                <a:r>
                  <a:rPr lang="en-US" sz="1300" b="0" dirty="0">
                    <a:solidFill>
                      <a:srgbClr val="1C2A22"/>
                    </a:solidFill>
                    <a:latin typeface="Calibri"/>
                  </a:rPr>
                  <a:t>|a| = √(7²+4²) = √65 ≈ 8.06</a:t>
                </a:r>
              </a:p>
              <a:p>
                <a:pPr>
                  <a:lnSpc>
                    <a:spcPct val="125000"/>
                  </a:lnSpc>
                </a:pPr>
                <a:r>
                  <a:rPr lang="en-US" sz="1300" b="0" dirty="0">
                    <a:solidFill>
                      <a:srgbClr val="1C2A22"/>
                    </a:solidFill>
                    <a:latin typeface="Calibri"/>
                  </a:rPr>
                  <a:t>|b| = √(5²+2²) = √29 ≈ 5.39</a:t>
                </a:r>
              </a:p>
              <a:p>
                <a:pPr>
                  <a:lnSpc>
                    <a:spcPct val="125000"/>
                  </a:lnSpc>
                </a:pPr>
                <a:endParaRPr lang="en-US" sz="1300" b="0" dirty="0">
                  <a:solidFill>
                    <a:srgbClr val="1C2A22"/>
                  </a:solidFill>
                  <a:latin typeface="Calibri"/>
                </a:endParaRPr>
              </a:p>
              <a:p>
                <a:pPr>
                  <a:lnSpc>
                    <a:spcPct val="125000"/>
                  </a:lnSpc>
                </a:pPr>
                <a:r>
                  <a:rPr lang="en-US" sz="1300" b="0" dirty="0">
                    <a:solidFill>
                      <a:srgbClr val="1C2A22"/>
                    </a:solidFill>
                    <a:latin typeface="Calibri"/>
                  </a:rPr>
                  <a:t>|a| + |b| ≈ 13.45</a:t>
                </a:r>
                <a:endParaRPr sz="1300" b="0" dirty="0">
                  <a:solidFill>
                    <a:srgbClr val="1C2A22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248" y="2651759"/>
                <a:ext cx="3246120" cy="2020553"/>
              </a:xfrm>
              <a:prstGeom prst="rect">
                <a:avLst/>
              </a:prstGeom>
              <a:blipFill rotWithShape="1">
                <a:blip r:embed="rId2"/>
                <a:stretch>
                  <a:fillRect l="-3002" b="-30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4270248" y="2651759"/>
                <a:ext cx="3246120" cy="115865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>
                  <a:lnSpc>
                    <a:spcPct val="125000"/>
                  </a:lnSpc>
                </a:pPr>
                <a:r>
                  <a:rPr lang="en-US" sz="1300" b="0" dirty="0" smtClean="0">
                    <a:solidFill>
                      <a:srgbClr val="1C2A22"/>
                    </a:solidFill>
                    <a:latin typeface="Calibri"/>
                  </a:rPr>
                  <a:t>a + b =</a:t>
                </a:r>
                <a:r>
                  <a:rPr lang="en-US" sz="1200" dirty="0">
                    <a:solidFill>
                      <a:srgbClr val="1C2A22"/>
                    </a:solidFill>
                    <a:ea typeface="Calibri" pitchFamily="34" charset="-122"/>
                    <a:cs typeface="Calibri" pitchFamily="34" charset="-12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1100" i="1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ar-AE" sz="1100" i="1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11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7</m:t>
                              </m:r>
                              <m:r>
                                <m:rPr>
                                  <m:brk m:alnAt="7"/>
                                </m:rPr>
                                <a:rPr lang="en-US" sz="11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−</m:t>
                              </m:r>
                              <m:r>
                                <m:rPr>
                                  <m:brk m:alnAt="7"/>
                                </m:rPr>
                                <a:rPr lang="en-US" sz="11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5</m:t>
                              </m:r>
                            </m:e>
                          </m:mr>
                          <m:mr>
                            <m:e>
                              <m:r>
                                <a:rPr lang="en-US" sz="11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4</m:t>
                              </m:r>
                              <m:r>
                                <a:rPr lang="en-US" sz="11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+</m:t>
                              </m:r>
                              <m:r>
                                <a:rPr lang="en-US" sz="11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  <m:r>
                      <a:rPr lang="en-US" sz="1100" b="0" i="1" smtClean="0">
                        <a:solidFill>
                          <a:srgbClr val="1C2A22"/>
                        </a:solidFill>
                        <a:latin typeface="Cambria Math"/>
                        <a:ea typeface="Calibri" pitchFamily="34" charset="-122"/>
                        <a:cs typeface="Calibri" pitchFamily="34" charset="-12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solidFill>
                              <a:srgbClr val="1C2A22"/>
                            </a:solidFill>
                            <a:latin typeface="Cambria Math"/>
                            <a:ea typeface="Calibri" pitchFamily="34" charset="-122"/>
                            <a:cs typeface="Calibri" pitchFamily="34" charset="-12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200" i="1">
                                <a:solidFill>
                                  <a:srgbClr val="1C2A22"/>
                                </a:solidFill>
                                <a:latin typeface="Cambria Math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12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sz="1200" b="0" i="1" smtClean="0">
                                  <a:solidFill>
                                    <a:srgbClr val="1C2A22"/>
                                  </a:solidFill>
                                  <a:latin typeface="Cambria Math"/>
                                  <a:ea typeface="Calibri" pitchFamily="34" charset="-122"/>
                                  <a:cs typeface="Calibri" pitchFamily="34" charset="-120"/>
                                </a:rPr>
                                <m:t>6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ar-AE" sz="1300" b="0" dirty="0">
                  <a:solidFill>
                    <a:srgbClr val="1C2A22"/>
                  </a:solidFill>
                  <a:latin typeface="Calibri"/>
                </a:endParaRPr>
              </a:p>
              <a:p>
                <a:pPr>
                  <a:lnSpc>
                    <a:spcPct val="125000"/>
                  </a:lnSpc>
                </a:pPr>
                <a:r>
                  <a:rPr lang="ar-AE" sz="1300" b="0" dirty="0">
                    <a:solidFill>
                      <a:srgbClr val="1C2A22"/>
                    </a:solidFill>
                    <a:latin typeface="Calibri"/>
                  </a:rPr>
                  <a:t>|</a:t>
                </a:r>
                <a:r>
                  <a:rPr lang="en-US" sz="1300" b="0" dirty="0">
                    <a:solidFill>
                      <a:srgbClr val="1C2A22"/>
                    </a:solidFill>
                    <a:latin typeface="Calibri"/>
                  </a:rPr>
                  <a:t>a + b| = √(2²+6²)</a:t>
                </a:r>
              </a:p>
              <a:p>
                <a:pPr>
                  <a:lnSpc>
                    <a:spcPct val="125000"/>
                  </a:lnSpc>
                </a:pPr>
                <a:r>
                  <a:rPr lang="en-US" sz="1300" b="0" dirty="0">
                    <a:solidFill>
                      <a:srgbClr val="1C2A22"/>
                    </a:solidFill>
                    <a:latin typeface="Calibri"/>
                  </a:rPr>
                  <a:t>        = √40</a:t>
                </a:r>
              </a:p>
              <a:p>
                <a:pPr>
                  <a:lnSpc>
                    <a:spcPct val="125000"/>
                  </a:lnSpc>
                </a:pPr>
                <a:r>
                  <a:rPr lang="en-US" sz="1300" b="0" dirty="0">
                    <a:solidFill>
                      <a:srgbClr val="1C2A22"/>
                    </a:solidFill>
                    <a:latin typeface="Calibri"/>
                  </a:rPr>
                  <a:t>        ≈ 6.32</a:t>
                </a:r>
                <a:endParaRPr sz="1300" b="0" dirty="0">
                  <a:solidFill>
                    <a:srgbClr val="1C2A22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0248" y="2651759"/>
                <a:ext cx="3246120" cy="1158651"/>
              </a:xfrm>
              <a:prstGeom prst="rect">
                <a:avLst/>
              </a:prstGeom>
              <a:blipFill rotWithShape="1">
                <a:blip r:embed="rId3"/>
                <a:stretch>
                  <a:fillRect l="-3383" b="-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ounded Rectangle 12"/>
          <p:cNvSpPr/>
          <p:nvPr/>
        </p:nvSpPr>
        <p:spPr>
          <a:xfrm>
            <a:off x="7699248" y="2651759"/>
            <a:ext cx="3154680" cy="1188720"/>
          </a:xfrm>
          <a:prstGeom prst="roundRect">
            <a:avLst>
              <a:gd name="adj" fmla="val 8000"/>
            </a:avLst>
          </a:prstGeom>
          <a:solidFill>
            <a:srgbClr val="FB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/>
            <a:r>
              <a:rPr sz="1800" b="1">
                <a:solidFill>
                  <a:srgbClr val="C84F2F"/>
                </a:solidFill>
                <a:latin typeface="Cambria"/>
              </a:rPr>
              <a:t>13.45 ≠ 6.32</a:t>
            </a:r>
          </a:p>
          <a:p>
            <a:pPr algn="ctr"/>
            <a:r>
              <a:rPr sz="1200">
                <a:solidFill>
                  <a:srgbClr val="1C2A22"/>
                </a:solidFill>
                <a:latin typeface="Calibri"/>
              </a:rPr>
              <a:t>|a| + |b|  ≠  |a + b|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4023359"/>
            <a:ext cx="32461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5C6B60"/>
                </a:solidFill>
                <a:latin typeface="Calibri"/>
              </a:rPr>
              <a:t>You must add the vectors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5C6B60"/>
                </a:solidFill>
                <a:latin typeface="Calibri"/>
              </a:rPr>
              <a:t>FIRST, then find the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5C6B60"/>
                </a:solidFill>
                <a:latin typeface="Calibri"/>
              </a:rPr>
              <a:t>magnitude of the result.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32120"/>
            <a:ext cx="11057839" cy="822960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600" b="1">
                <a:solidFill>
                  <a:srgbClr val="E0AC2B"/>
                </a:solidFill>
                <a:latin typeface="Cambria"/>
              </a:rPr>
              <a:t>Add components first, then take the magnitude — never add the magnitudes directly.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SCALAR MULTIPLICATION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Stretching a Vector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98448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886968" y="129844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Multiplying a vector by a number (a scalar) multiplies BOTH components.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changes the length, not the direction.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286000"/>
            <a:ext cx="5440680" cy="3383280"/>
          </a:xfrm>
          <a:prstGeom prst="roundRect">
            <a:avLst>
              <a:gd name="adj" fmla="val 1765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932688" y="252374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 each part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1097280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73736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1737360" y="35844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1691640" y="3163824"/>
            <a:ext cx="0" cy="822960"/>
          </a:xfrm>
          <a:prstGeom prst="line">
            <a:avLst/>
          </a:prstGeom>
          <a:noFill/>
          <a:ln w="20320">
            <a:solidFill>
              <a:srgbClr val="1C2A2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1691640" y="3163824"/>
            <a:ext cx="109728" cy="0"/>
          </a:xfrm>
          <a:prstGeom prst="line">
            <a:avLst/>
          </a:prstGeom>
          <a:noFill/>
          <a:ln w="20320">
            <a:solidFill>
              <a:srgbClr val="1C2A2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1691640" y="3986784"/>
            <a:ext cx="109728" cy="0"/>
          </a:xfrm>
          <a:prstGeom prst="line">
            <a:avLst/>
          </a:prstGeom>
          <a:noFill/>
          <a:ln w="20320">
            <a:solidFill>
              <a:srgbClr val="1C2A2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2697480" y="3163824"/>
            <a:ext cx="0" cy="822960"/>
          </a:xfrm>
          <a:prstGeom prst="line">
            <a:avLst/>
          </a:prstGeom>
          <a:noFill/>
          <a:ln w="20320">
            <a:solidFill>
              <a:srgbClr val="1C2A2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2587752" y="3163824"/>
            <a:ext cx="109728" cy="0"/>
          </a:xfrm>
          <a:prstGeom prst="line">
            <a:avLst/>
          </a:prstGeom>
          <a:noFill/>
          <a:ln w="20320">
            <a:solidFill>
              <a:srgbClr val="1C2A2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>
            <a:off x="2587752" y="3986784"/>
            <a:ext cx="109728" cy="0"/>
          </a:xfrm>
          <a:prstGeom prst="line">
            <a:avLst/>
          </a:prstGeom>
          <a:noFill/>
          <a:ln w="20320">
            <a:solidFill>
              <a:srgbClr val="1C2A2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2926080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800" dirty="0"/>
          </a:p>
        </p:txBody>
      </p:sp>
      <p:sp>
        <p:nvSpPr>
          <p:cNvPr id="55" name="Text 53"/>
          <p:cNvSpPr/>
          <p:nvPr/>
        </p:nvSpPr>
        <p:spPr>
          <a:xfrm>
            <a:off x="36576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3657600" y="35844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57" name="Shape 55"/>
          <p:cNvSpPr/>
          <p:nvPr/>
        </p:nvSpPr>
        <p:spPr>
          <a:xfrm>
            <a:off x="3611880" y="3163824"/>
            <a:ext cx="0" cy="82296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3611880" y="3163824"/>
            <a:ext cx="109728" cy="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3611880" y="3986784"/>
            <a:ext cx="109728" cy="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>
            <a:off x="4617720" y="3163824"/>
            <a:ext cx="0" cy="82296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4507992" y="3163824"/>
            <a:ext cx="109728" cy="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Shape 60"/>
          <p:cNvSpPr/>
          <p:nvPr/>
        </p:nvSpPr>
        <p:spPr>
          <a:xfrm>
            <a:off x="4507992" y="3986784"/>
            <a:ext cx="109728" cy="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914400" y="45720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inside is multiplied by 2.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190488" y="2286000"/>
            <a:ext cx="5440680" cy="3383280"/>
          </a:xfrm>
          <a:prstGeom prst="roundRect">
            <a:avLst>
              <a:gd name="adj" fmla="val 1765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6236208" y="23130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scalar does</a:t>
            </a:r>
            <a:endParaRPr lang="en-US" sz="1700" dirty="0"/>
          </a:p>
        </p:txBody>
      </p:sp>
      <p:sp>
        <p:nvSpPr>
          <p:cNvPr id="66" name="Shape 64"/>
          <p:cNvSpPr/>
          <p:nvPr/>
        </p:nvSpPr>
        <p:spPr>
          <a:xfrm>
            <a:off x="6392440" y="4310083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7" name="Text 65"/>
          <p:cNvSpPr/>
          <p:nvPr/>
        </p:nvSpPr>
        <p:spPr>
          <a:xfrm>
            <a:off x="6227064" y="2700997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2a is twice as long, same direction.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6392440" y="4706480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9" name="Text 67"/>
          <p:cNvSpPr/>
          <p:nvPr/>
        </p:nvSpPr>
        <p:spPr>
          <a:xfrm>
            <a:off x="6190488" y="3113532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−a is the same length, OPPOSITE direction.</a:t>
            </a:r>
            <a:endParaRPr lang="en-US" sz="1300" dirty="0"/>
          </a:p>
        </p:txBody>
      </p:sp>
      <p:cxnSp>
        <p:nvCxnSpPr>
          <p:cNvPr id="70" name="Connector 69"/>
          <p:cNvCxnSpPr/>
          <p:nvPr/>
        </p:nvCxnSpPr>
        <p:spPr>
          <a:xfrm>
            <a:off x="6538744" y="4383235"/>
            <a:ext cx="1000000" cy="0"/>
          </a:xfrm>
          <a:prstGeom prst="line">
            <a:avLst/>
          </a:prstGeom>
          <a:ln w="30480">
            <a:solidFill>
              <a:srgbClr val="5C6B6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7587192" y="4209425"/>
            <a:ext cx="500000" cy="3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1">
                <a:solidFill>
                  <a:srgbClr val="5C6B60"/>
                </a:solidFill>
                <a:latin typeface="Cambria"/>
              </a:rPr>
              <a:t>a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540688" y="4800600"/>
            <a:ext cx="2000000" cy="0"/>
          </a:xfrm>
          <a:prstGeom prst="line">
            <a:avLst/>
          </a:prstGeom>
          <a:ln w="38100">
            <a:solidFill>
              <a:srgbClr val="C84F2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8690688" y="4640600"/>
            <a:ext cx="600000" cy="3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1">
                <a:solidFill>
                  <a:srgbClr val="C84F2F"/>
                </a:solidFill>
                <a:latin typeface="Cambria"/>
              </a:rPr>
              <a:t>2a</a:t>
            </a:r>
          </a:p>
        </p:txBody>
      </p:sp>
      <p:cxnSp>
        <p:nvCxnSpPr>
          <p:cNvPr id="74" name="Connector 73"/>
          <p:cNvCxnSpPr/>
          <p:nvPr/>
        </p:nvCxnSpPr>
        <p:spPr>
          <a:xfrm flipH="1">
            <a:off x="6494184" y="5121204"/>
            <a:ext cx="1000000" cy="0"/>
          </a:xfrm>
          <a:prstGeom prst="line">
            <a:avLst/>
          </a:prstGeom>
          <a:ln w="30480">
            <a:solidFill>
              <a:srgbClr val="1C2A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7644184" y="4961204"/>
            <a:ext cx="700000" cy="3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1">
                <a:solidFill>
                  <a:srgbClr val="1C2A22"/>
                </a:solidFill>
                <a:latin typeface="Cambria"/>
              </a:rPr>
              <a:t>−a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956201" y="5313958"/>
            <a:ext cx="484068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1" dirty="0">
                <a:solidFill>
                  <a:srgbClr val="5C6B60"/>
                </a:solidFill>
                <a:latin typeface="Calibri"/>
              </a:rPr>
              <a:t>Same line, different length — that's a scalar multiple.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66221" y="3547872"/>
            <a:ext cx="546494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GB" dirty="0"/>
              <a:t>Multiply a scalar by a vector and you get a PARALLEL vector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023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50">
                <a:solidFill>
                  <a:srgbClr val="C84F2F"/>
                </a:solidFill>
                <a:latin typeface="Calibri"/>
              </a:rPr>
              <a:t>TASK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741777"/>
            <a:ext cx="9875520" cy="4001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600" b="1" dirty="0" smtClean="0">
                <a:solidFill>
                  <a:srgbClr val="1C2A22"/>
                </a:solidFill>
                <a:latin typeface="Cambria"/>
              </a:rPr>
              <a:t>Find</a:t>
            </a:r>
            <a:r>
              <a:rPr sz="2600" b="1" i="0" dirty="0" smtClean="0">
                <a:solidFill>
                  <a:srgbClr val="1C2A22"/>
                </a:solidFill>
                <a:latin typeface="Cambria"/>
              </a:rPr>
              <a:t> </a:t>
            </a:r>
            <a:r>
              <a:rPr sz="2600" b="1" i="0" dirty="0">
                <a:solidFill>
                  <a:srgbClr val="1C2A22"/>
                </a:solidFill>
                <a:latin typeface="Cambria"/>
              </a:rPr>
              <a:t>2a, −3b and 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261872"/>
            <a:ext cx="10241280" cy="2285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 dirty="0">
                <a:solidFill>
                  <a:srgbClr val="5C6B60"/>
                </a:solidFill>
                <a:latin typeface="Calibri"/>
              </a:rPr>
              <a:t>For the vectors below, </a:t>
            </a:r>
            <a:r>
              <a:rPr sz="1350" b="0" i="0" dirty="0" smtClean="0">
                <a:solidFill>
                  <a:srgbClr val="5C6B60"/>
                </a:solidFill>
                <a:latin typeface="Calibri"/>
              </a:rPr>
              <a:t>find </a:t>
            </a:r>
            <a:r>
              <a:rPr sz="1350" b="0" i="0" dirty="0">
                <a:solidFill>
                  <a:srgbClr val="5C6B60"/>
                </a:solidFill>
                <a:latin typeface="Calibri"/>
              </a:rPr>
              <a:t>its new column form.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11057839" cy="352044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24128" y="2148840"/>
            <a:ext cx="3291840" cy="685800"/>
          </a:xfrm>
          <a:prstGeom prst="roundRect">
            <a:avLst>
              <a:gd name="adj" fmla="val 15000"/>
            </a:avLst>
          </a:prstGeom>
          <a:solidFill>
            <a:srgbClr val="FB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rgbClr val="C84F2F"/>
              </a:solidFill>
              <a:latin typeface="Cambria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636008" y="2148840"/>
            <a:ext cx="3291840" cy="685800"/>
          </a:xfrm>
          <a:prstGeom prst="roundRect">
            <a:avLst>
              <a:gd name="adj" fmla="val 15000"/>
            </a:avLst>
          </a:prstGeom>
          <a:solidFill>
            <a:srgbClr val="FB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rgbClr val="C84F2F"/>
              </a:solidFill>
              <a:latin typeface="Cambria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47888" y="2148840"/>
            <a:ext cx="3291840" cy="685800"/>
          </a:xfrm>
          <a:prstGeom prst="roundRect">
            <a:avLst>
              <a:gd name="adj" fmla="val 15000"/>
            </a:avLst>
          </a:prstGeom>
          <a:solidFill>
            <a:srgbClr val="FB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rgbClr val="C84F2F"/>
              </a:solidFill>
              <a:latin typeface="Cambria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115568" y="4114800"/>
            <a:ext cx="9966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350" b="0">
                <a:solidFill>
                  <a:srgbClr val="5C6B60"/>
                </a:solidFill>
                <a:latin typeface="Calibri"/>
              </a:rPr>
              <a:t>Multiply every number inside the vector by the scalar — including the sign.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32120"/>
            <a:ext cx="11057839" cy="822960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550" b="1">
                <a:solidFill>
                  <a:srgbClr val="E0AC2B"/>
                </a:solidFill>
                <a:latin typeface="Cambria"/>
              </a:rPr>
              <a:t>A negative scalar reverses the direction as well as changing the length.</a:t>
            </a:r>
          </a:p>
        </p:txBody>
      </p:sp>
      <p:grpSp>
        <p:nvGrpSpPr>
          <p:cNvPr id="16" name="Group 192"/>
          <p:cNvGrpSpPr>
            <a:grpSpLocks/>
          </p:cNvGrpSpPr>
          <p:nvPr/>
        </p:nvGrpSpPr>
        <p:grpSpPr bwMode="auto">
          <a:xfrm>
            <a:off x="1467217" y="3227388"/>
            <a:ext cx="2724150" cy="584200"/>
            <a:chOff x="3456" y="2004"/>
            <a:chExt cx="1716" cy="368"/>
          </a:xfrm>
        </p:grpSpPr>
        <p:sp>
          <p:nvSpPr>
            <p:cNvPr id="17" name="Text Box 146"/>
            <p:cNvSpPr txBox="1">
              <a:spLocks noChangeArrowheads="1"/>
            </p:cNvSpPr>
            <p:nvPr/>
          </p:nvSpPr>
          <p:spPr bwMode="auto">
            <a:xfrm>
              <a:off x="3456" y="2064"/>
              <a:ext cx="171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 dirty="0"/>
                <a:t>2</a:t>
              </a:r>
              <a:r>
                <a:rPr lang="en-GB" altLang="en-US" b="1" dirty="0"/>
                <a:t>a</a:t>
              </a:r>
              <a:r>
                <a:rPr lang="en-GB" altLang="en-US" dirty="0"/>
                <a:t> =2         =   </a:t>
              </a:r>
            </a:p>
          </p:txBody>
        </p:sp>
        <p:graphicFrame>
          <p:nvGraphicFramePr>
            <p:cNvPr id="18" name="Object 147"/>
            <p:cNvGraphicFramePr>
              <a:graphicFrameLocks noChangeAspect="1"/>
            </p:cNvGraphicFramePr>
            <p:nvPr/>
          </p:nvGraphicFramePr>
          <p:xfrm>
            <a:off x="3883" y="2004"/>
            <a:ext cx="312" cy="36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131" name="Equation" r:id="rId3" imgW="495085" imgH="583947" progId="Equation.3">
                    <p:embed/>
                  </p:oleObj>
                </mc:Choice>
                <mc:Fallback>
                  <p:oleObj name="Equation" r:id="rId3" imgW="495085" imgH="583947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883" y="2004"/>
                          <a:ext cx="312" cy="36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9" name="Object 148"/>
            <p:cNvGraphicFramePr>
              <a:graphicFrameLocks noChangeAspect="1"/>
            </p:cNvGraphicFramePr>
            <p:nvPr/>
          </p:nvGraphicFramePr>
          <p:xfrm>
            <a:off x="4382" y="2004"/>
            <a:ext cx="320" cy="36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132" name="Equation" r:id="rId5" imgW="507780" imgH="583947" progId="Equation.3">
                    <p:embed/>
                  </p:oleObj>
                </mc:Choice>
                <mc:Fallback>
                  <p:oleObj name="Equation" r:id="rId5" imgW="507780" imgH="583947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82" y="2004"/>
                          <a:ext cx="320" cy="36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20" name="Group 186"/>
          <p:cNvGrpSpPr>
            <a:grpSpLocks/>
          </p:cNvGrpSpPr>
          <p:nvPr/>
        </p:nvGrpSpPr>
        <p:grpSpPr bwMode="auto">
          <a:xfrm>
            <a:off x="4992932" y="3181108"/>
            <a:ext cx="2724150" cy="627062"/>
            <a:chOff x="3364" y="2416"/>
            <a:chExt cx="1716" cy="395"/>
          </a:xfrm>
        </p:grpSpPr>
        <p:sp>
          <p:nvSpPr>
            <p:cNvPr id="21" name="Text Box 150"/>
            <p:cNvSpPr txBox="1">
              <a:spLocks noChangeArrowheads="1"/>
            </p:cNvSpPr>
            <p:nvPr/>
          </p:nvSpPr>
          <p:spPr bwMode="auto">
            <a:xfrm>
              <a:off x="3364" y="2476"/>
              <a:ext cx="171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 b="1"/>
                <a:t>-</a:t>
              </a:r>
              <a:r>
                <a:rPr lang="en-GB" altLang="en-US"/>
                <a:t>3</a:t>
              </a:r>
              <a:r>
                <a:rPr lang="en-GB" altLang="en-US" b="1"/>
                <a:t>b</a:t>
              </a:r>
              <a:r>
                <a:rPr lang="en-GB" altLang="en-US"/>
                <a:t> =-3       =   </a:t>
              </a:r>
            </a:p>
          </p:txBody>
        </p:sp>
        <p:graphicFrame>
          <p:nvGraphicFramePr>
            <p:cNvPr id="22" name="Object 151"/>
            <p:cNvGraphicFramePr>
              <a:graphicFrameLocks noChangeAspect="1"/>
            </p:cNvGraphicFramePr>
            <p:nvPr/>
          </p:nvGraphicFramePr>
          <p:xfrm>
            <a:off x="3899" y="2456"/>
            <a:ext cx="227" cy="35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133" name="Equation" r:id="rId7" imgW="292100" imgH="457200" progId="Equation.3">
                    <p:embed/>
                  </p:oleObj>
                </mc:Choice>
                <mc:Fallback>
                  <p:oleObj name="Equation" r:id="rId7" imgW="292100" imgH="457200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899" y="2456"/>
                          <a:ext cx="227" cy="35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3" name="Object 152"/>
            <p:cNvGraphicFramePr>
              <a:graphicFrameLocks noChangeAspect="1"/>
            </p:cNvGraphicFramePr>
            <p:nvPr/>
          </p:nvGraphicFramePr>
          <p:xfrm>
            <a:off x="4281" y="2416"/>
            <a:ext cx="344" cy="36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134" name="Equation" r:id="rId9" imgW="545863" imgH="583947" progId="Equation.3">
                    <p:embed/>
                  </p:oleObj>
                </mc:Choice>
                <mc:Fallback>
                  <p:oleObj name="Equation" r:id="rId9" imgW="545863" imgH="583947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81" y="2416"/>
                          <a:ext cx="344" cy="36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24" name="Group 189"/>
          <p:cNvGrpSpPr>
            <a:grpSpLocks/>
          </p:cNvGrpSpPr>
          <p:nvPr/>
        </p:nvGrpSpPr>
        <p:grpSpPr bwMode="auto">
          <a:xfrm>
            <a:off x="8650605" y="3195860"/>
            <a:ext cx="2724150" cy="590550"/>
            <a:chOff x="3388" y="3192"/>
            <a:chExt cx="1716" cy="372"/>
          </a:xfrm>
        </p:grpSpPr>
        <p:sp>
          <p:nvSpPr>
            <p:cNvPr id="25" name="Text Box 154"/>
            <p:cNvSpPr txBox="1">
              <a:spLocks noChangeArrowheads="1"/>
            </p:cNvSpPr>
            <p:nvPr/>
          </p:nvSpPr>
          <p:spPr bwMode="auto">
            <a:xfrm>
              <a:off x="3388" y="3252"/>
              <a:ext cx="171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/>
                <a:t>4</a:t>
              </a:r>
              <a:r>
                <a:rPr lang="en-GB" altLang="en-US" b="1"/>
                <a:t>c</a:t>
              </a:r>
              <a:r>
                <a:rPr lang="en-GB" altLang="en-US"/>
                <a:t> =4         =   </a:t>
              </a:r>
            </a:p>
          </p:txBody>
        </p:sp>
        <p:graphicFrame>
          <p:nvGraphicFramePr>
            <p:cNvPr id="26" name="Object 155"/>
            <p:cNvGraphicFramePr>
              <a:graphicFrameLocks noChangeAspect="1"/>
            </p:cNvGraphicFramePr>
            <p:nvPr/>
          </p:nvGraphicFramePr>
          <p:xfrm>
            <a:off x="3809" y="3192"/>
            <a:ext cx="304" cy="36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135" name="Equation" r:id="rId11" imgW="482391" imgH="583947" progId="Equation.3">
                    <p:embed/>
                  </p:oleObj>
                </mc:Choice>
                <mc:Fallback>
                  <p:oleObj name="Equation" r:id="rId11" imgW="482391" imgH="583947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809" y="3192"/>
                          <a:ext cx="304" cy="36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7" name="Object 187"/>
            <p:cNvGraphicFramePr>
              <a:graphicFrameLocks noChangeAspect="1"/>
            </p:cNvGraphicFramePr>
            <p:nvPr/>
          </p:nvGraphicFramePr>
          <p:xfrm>
            <a:off x="4262" y="3196"/>
            <a:ext cx="312" cy="36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136" name="Equation" r:id="rId13" imgW="495085" imgH="583947" progId="Equation.3">
                    <p:embed/>
                  </p:oleObj>
                </mc:Choice>
                <mc:Fallback>
                  <p:oleObj name="Equation" r:id="rId13" imgW="495085" imgH="583947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62" y="3196"/>
                          <a:ext cx="312" cy="36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28" name="Group 192"/>
          <p:cNvGrpSpPr>
            <a:grpSpLocks/>
          </p:cNvGrpSpPr>
          <p:nvPr/>
        </p:nvGrpSpPr>
        <p:grpSpPr bwMode="auto">
          <a:xfrm>
            <a:off x="1325880" y="2199640"/>
            <a:ext cx="2724150" cy="584200"/>
            <a:chOff x="3456" y="2004"/>
            <a:chExt cx="1716" cy="368"/>
          </a:xfrm>
        </p:grpSpPr>
        <p:sp>
          <p:nvSpPr>
            <p:cNvPr id="29" name="Text Box 146"/>
            <p:cNvSpPr txBox="1">
              <a:spLocks noChangeArrowheads="1"/>
            </p:cNvSpPr>
            <p:nvPr/>
          </p:nvSpPr>
          <p:spPr bwMode="auto">
            <a:xfrm>
              <a:off x="3456" y="2064"/>
              <a:ext cx="171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 b="1" dirty="0" smtClean="0"/>
                <a:t>a</a:t>
              </a:r>
              <a:r>
                <a:rPr lang="en-GB" altLang="en-US" dirty="0" smtClean="0"/>
                <a:t> =           </a:t>
              </a:r>
              <a:endParaRPr lang="en-GB" altLang="en-US" dirty="0"/>
            </a:p>
          </p:txBody>
        </p:sp>
        <p:graphicFrame>
          <p:nvGraphicFramePr>
            <p:cNvPr id="30" name="Object 147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87094892"/>
                </p:ext>
              </p:extLst>
            </p:nvPr>
          </p:nvGraphicFramePr>
          <p:xfrm>
            <a:off x="3727" y="2004"/>
            <a:ext cx="312" cy="36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137" name="Equation" r:id="rId15" imgW="495085" imgH="583947" progId="Equation.3">
                    <p:embed/>
                  </p:oleObj>
                </mc:Choice>
                <mc:Fallback>
                  <p:oleObj name="Equation" r:id="rId15" imgW="495085" imgH="583947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727" y="2004"/>
                          <a:ext cx="312" cy="36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32" name="Group 186"/>
          <p:cNvGrpSpPr>
            <a:grpSpLocks/>
          </p:cNvGrpSpPr>
          <p:nvPr/>
        </p:nvGrpSpPr>
        <p:grpSpPr bwMode="auto">
          <a:xfrm>
            <a:off x="4919853" y="2194084"/>
            <a:ext cx="2724150" cy="563562"/>
            <a:chOff x="3364" y="2426"/>
            <a:chExt cx="1716" cy="355"/>
          </a:xfrm>
        </p:grpSpPr>
        <p:sp>
          <p:nvSpPr>
            <p:cNvPr id="33" name="Text Box 150"/>
            <p:cNvSpPr txBox="1">
              <a:spLocks noChangeArrowheads="1"/>
            </p:cNvSpPr>
            <p:nvPr/>
          </p:nvSpPr>
          <p:spPr bwMode="auto">
            <a:xfrm>
              <a:off x="3364" y="2476"/>
              <a:ext cx="171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 b="1" dirty="0" smtClean="0"/>
                <a:t>b</a:t>
              </a:r>
              <a:r>
                <a:rPr lang="en-GB" altLang="en-US" dirty="0" smtClean="0"/>
                <a:t> =   </a:t>
              </a:r>
              <a:endParaRPr lang="en-GB" altLang="en-US" dirty="0"/>
            </a:p>
          </p:txBody>
        </p:sp>
        <p:graphicFrame>
          <p:nvGraphicFramePr>
            <p:cNvPr id="34" name="Object 151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244491909"/>
                </p:ext>
              </p:extLst>
            </p:nvPr>
          </p:nvGraphicFramePr>
          <p:xfrm>
            <a:off x="3723" y="2426"/>
            <a:ext cx="227" cy="35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138" name="Equation" r:id="rId16" imgW="292100" imgH="457200" progId="Equation.3">
                    <p:embed/>
                  </p:oleObj>
                </mc:Choice>
                <mc:Fallback>
                  <p:oleObj name="Equation" r:id="rId16" imgW="292100" imgH="457200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723" y="2426"/>
                          <a:ext cx="227" cy="35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36" name="Group 189"/>
          <p:cNvGrpSpPr>
            <a:grpSpLocks/>
          </p:cNvGrpSpPr>
          <p:nvPr/>
        </p:nvGrpSpPr>
        <p:grpSpPr bwMode="auto">
          <a:xfrm>
            <a:off x="8619656" y="2182971"/>
            <a:ext cx="2724150" cy="584200"/>
            <a:chOff x="3388" y="3192"/>
            <a:chExt cx="1716" cy="368"/>
          </a:xfrm>
        </p:grpSpPr>
        <p:sp>
          <p:nvSpPr>
            <p:cNvPr id="37" name="Text Box 154"/>
            <p:cNvSpPr txBox="1">
              <a:spLocks noChangeArrowheads="1"/>
            </p:cNvSpPr>
            <p:nvPr/>
          </p:nvSpPr>
          <p:spPr bwMode="auto">
            <a:xfrm>
              <a:off x="3388" y="3252"/>
              <a:ext cx="171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 b="1" dirty="0" smtClean="0"/>
                <a:t>c</a:t>
              </a:r>
              <a:r>
                <a:rPr lang="en-GB" altLang="en-US" dirty="0" smtClean="0"/>
                <a:t> =   </a:t>
              </a:r>
              <a:endParaRPr lang="en-GB" altLang="en-US" dirty="0"/>
            </a:p>
          </p:txBody>
        </p:sp>
        <p:graphicFrame>
          <p:nvGraphicFramePr>
            <p:cNvPr id="38" name="Object 155"/>
            <p:cNvGraphicFramePr>
              <a:graphicFrameLocks noChangeAspect="1"/>
            </p:cNvGraphicFramePr>
            <p:nvPr/>
          </p:nvGraphicFramePr>
          <p:xfrm>
            <a:off x="3809" y="3192"/>
            <a:ext cx="304" cy="36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139" name="Equation" r:id="rId17" imgW="482391" imgH="583947" progId="Equation.3">
                    <p:embed/>
                  </p:oleObj>
                </mc:Choice>
                <mc:Fallback>
                  <p:oleObj name="Equation" r:id="rId17" imgW="482391" imgH="583947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809" y="3192"/>
                          <a:ext cx="304" cy="36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3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3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3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023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50">
                <a:solidFill>
                  <a:srgbClr val="C84F2F"/>
                </a:solidFill>
                <a:latin typeface="Calibri"/>
              </a:rPr>
              <a:t>PARALLEL VECTORS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658368"/>
            <a:ext cx="98755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rgbClr val="1C2A22"/>
                </a:solidFill>
                <a:latin typeface="Cambria"/>
              </a:rPr>
              <a:t>Spotting Parallel Vectors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261872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C6B60"/>
                </a:solidFill>
                <a:latin typeface="Calibri"/>
              </a:rPr>
              <a:t>AB = a. Every arrow below is a scalar multiple of a — so every arrow is parallel to AB.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11057839" cy="352044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" name="Connector 7"/>
          <p:cNvCxnSpPr/>
          <p:nvPr/>
        </p:nvCxnSpPr>
        <p:spPr>
          <a:xfrm>
            <a:off x="1115568" y="2286000"/>
            <a:ext cx="1097280" cy="0"/>
          </a:xfrm>
          <a:prstGeom prst="line">
            <a:avLst/>
          </a:prstGeom>
          <a:ln w="38100">
            <a:solidFill>
              <a:srgbClr val="C84F2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956048" y="2121408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1C2A22"/>
                </a:solidFill>
                <a:latin typeface="Cambria"/>
              </a:rPr>
              <a:t>AB = 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5568" y="3063240"/>
            <a:ext cx="2194560" cy="0"/>
          </a:xfrm>
          <a:prstGeom prst="line">
            <a:avLst/>
          </a:prstGeom>
          <a:ln w="38100">
            <a:solidFill>
              <a:srgbClr val="C84F2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956048" y="2898648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1C2A22"/>
                </a:solidFill>
                <a:latin typeface="Cambria"/>
              </a:rPr>
              <a:t>CD = 2a   (CD = 2 AB)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15568" y="3840480"/>
            <a:ext cx="548640" cy="0"/>
          </a:xfrm>
          <a:prstGeom prst="line">
            <a:avLst/>
          </a:prstGeom>
          <a:ln w="38100">
            <a:solidFill>
              <a:srgbClr val="5C6B6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956048" y="3675888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1C2A22"/>
                </a:solidFill>
                <a:latin typeface="Cambria"/>
              </a:rPr>
              <a:t>EF = ½a   (EF = ½ AB)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115568" y="4617720"/>
            <a:ext cx="2194560" cy="0"/>
          </a:xfrm>
          <a:prstGeom prst="line">
            <a:avLst/>
          </a:prstGeom>
          <a:ln w="38100">
            <a:solidFill>
              <a:srgbClr val="1C2A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956048" y="4453128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1C2A22"/>
                </a:solidFill>
                <a:latin typeface="Cambria"/>
              </a:rPr>
              <a:t>HG = −2a   (HG = −2 AB)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532120"/>
            <a:ext cx="11057839" cy="822960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550" b="1">
                <a:solidFill>
                  <a:srgbClr val="E0AC2B"/>
                </a:solidFill>
                <a:latin typeface="Cambria"/>
              </a:rPr>
              <a:t>If one vector is a number times another, the two are parallel — whatever that number is.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023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50">
                <a:solidFill>
                  <a:srgbClr val="C84F2F"/>
                </a:solidFill>
                <a:latin typeface="Calibri"/>
              </a:rPr>
              <a:t>PARALLEL VECTORS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658368"/>
            <a:ext cx="98755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>
                <a:solidFill>
                  <a:srgbClr val="1C2A22"/>
                </a:solidFill>
                <a:latin typeface="Cambria"/>
              </a:rPr>
              <a:t>Proving Two Vectors Are Parallel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261872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C6B60"/>
                </a:solidFill>
                <a:latin typeface="Calibri"/>
              </a:rPr>
              <a:t>ka is parallel to a for any number k. ABCD is a parallelogram: AB and DC are equal and parallel.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5349240" cy="352044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" name="Connector 7"/>
          <p:cNvCxnSpPr/>
          <p:nvPr/>
        </p:nvCxnSpPr>
        <p:spPr>
          <a:xfrm flipV="1">
            <a:off x="1389888" y="2514599"/>
            <a:ext cx="548640" cy="2194560"/>
          </a:xfrm>
          <a:prstGeom prst="line">
            <a:avLst/>
          </a:prstGeom>
          <a:ln w="38100">
            <a:solidFill>
              <a:srgbClr val="C84F2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773168" y="2514599"/>
            <a:ext cx="548640" cy="2194560"/>
          </a:xfrm>
          <a:prstGeom prst="line">
            <a:avLst/>
          </a:prstGeom>
          <a:ln w="38100">
            <a:solidFill>
              <a:srgbClr val="C84F2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89888" y="4709159"/>
            <a:ext cx="3383280" cy="0"/>
          </a:xfrm>
          <a:prstGeom prst="line">
            <a:avLst/>
          </a:prstGeom>
          <a:ln w="33020">
            <a:solidFill>
              <a:srgbClr val="5C6B6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938528" y="2514599"/>
            <a:ext cx="3383280" cy="0"/>
          </a:xfrm>
          <a:prstGeom prst="line">
            <a:avLst/>
          </a:prstGeom>
          <a:ln w="33020">
            <a:solidFill>
              <a:srgbClr val="5C6B6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57888" y="4677159"/>
            <a:ext cx="64000" cy="64000"/>
          </a:xfrm>
          <a:prstGeom prst="ellipse">
            <a:avLst/>
          </a:prstGeom>
          <a:solidFill>
            <a:srgbClr val="1C2A2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906528" y="2482599"/>
            <a:ext cx="64000" cy="64000"/>
          </a:xfrm>
          <a:prstGeom prst="ellipse">
            <a:avLst/>
          </a:prstGeom>
          <a:solidFill>
            <a:srgbClr val="1C2A2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289808" y="2482599"/>
            <a:ext cx="64000" cy="64000"/>
          </a:xfrm>
          <a:prstGeom prst="ellipse">
            <a:avLst/>
          </a:prstGeom>
          <a:solidFill>
            <a:srgbClr val="1C2A2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741168" y="4677159"/>
            <a:ext cx="64000" cy="64000"/>
          </a:xfrm>
          <a:prstGeom prst="ellipse">
            <a:avLst/>
          </a:prstGeom>
          <a:solidFill>
            <a:srgbClr val="1C2A2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69848" y="4754879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C2A22"/>
                </a:solidFill>
                <a:latin typeface="Cambria"/>
              </a:rPr>
              <a:t>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92808" y="2167127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C2A22"/>
                </a:solidFill>
                <a:latin typeface="Cambria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2167127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C2A22"/>
                </a:solidFill>
                <a:latin typeface="Cambria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4754879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C2A22"/>
                </a:solidFill>
                <a:latin typeface="Cambria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1288" y="3566159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1">
                <a:solidFill>
                  <a:srgbClr val="C84F2F"/>
                </a:solidFill>
                <a:latin typeface="Cambria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216" y="3566159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1">
                <a:solidFill>
                  <a:srgbClr val="C84F2F"/>
                </a:solidFill>
                <a:latin typeface="Cambria"/>
              </a:rPr>
              <a:t>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4368" y="4782311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1">
                <a:solidFill>
                  <a:srgbClr val="5C6B60"/>
                </a:solidFill>
                <a:latin typeface="Cambria"/>
              </a:rPr>
              <a:t>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8" y="2130551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1">
                <a:solidFill>
                  <a:srgbClr val="5C6B60"/>
                </a:solidFill>
                <a:latin typeface="Cambria"/>
              </a:rPr>
              <a:t>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81928" y="1874519"/>
            <a:ext cx="5342839" cy="352044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01968" y="2130551"/>
            <a:ext cx="470275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C2A22"/>
                </a:solidFill>
                <a:latin typeface="Cambria"/>
              </a:rPr>
              <a:t>Why AB is parallel to DC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01968" y="2651759"/>
            <a:ext cx="4702759" cy="23048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</a:pPr>
            <a:r>
              <a:rPr sz="1300" dirty="0">
                <a:solidFill>
                  <a:srgbClr val="5C6B60"/>
                </a:solidFill>
                <a:latin typeface="Calibri"/>
              </a:rPr>
              <a:t>In parallelogram ABCD:</a:t>
            </a:r>
          </a:p>
          <a:p>
            <a:pPr>
              <a:lnSpc>
                <a:spcPct val="128000"/>
              </a:lnSpc>
            </a:pPr>
            <a:r>
              <a:rPr sz="1300" dirty="0" smtClean="0">
                <a:solidFill>
                  <a:srgbClr val="5C6B60"/>
                </a:solidFill>
                <a:latin typeface="Calibri"/>
              </a:rPr>
              <a:t>AB </a:t>
            </a:r>
            <a:r>
              <a:rPr sz="1300" dirty="0">
                <a:solidFill>
                  <a:srgbClr val="5C6B60"/>
                </a:solidFill>
                <a:latin typeface="Calibri"/>
              </a:rPr>
              <a:t>= a  and  DC = a  → parallel, equal length.</a:t>
            </a:r>
          </a:p>
          <a:p>
            <a:pPr>
              <a:lnSpc>
                <a:spcPct val="128000"/>
              </a:lnSpc>
            </a:pPr>
            <a:r>
              <a:rPr sz="1300" dirty="0">
                <a:solidFill>
                  <a:srgbClr val="5C6B60"/>
                </a:solidFill>
                <a:latin typeface="Calibri"/>
              </a:rPr>
              <a:t>AD = b  and  BC = b  → parallel, equal length.</a:t>
            </a:r>
          </a:p>
          <a:p>
            <a:pPr>
              <a:lnSpc>
                <a:spcPct val="128000"/>
              </a:lnSpc>
            </a:pPr>
            <a:endParaRPr sz="1300" dirty="0">
              <a:solidFill>
                <a:srgbClr val="5C6B60"/>
              </a:solidFill>
              <a:latin typeface="Calibri"/>
            </a:endParaRPr>
          </a:p>
          <a:p>
            <a:pPr>
              <a:lnSpc>
                <a:spcPct val="128000"/>
              </a:lnSpc>
            </a:pPr>
            <a:r>
              <a:rPr sz="1300" dirty="0">
                <a:solidFill>
                  <a:srgbClr val="5C6B60"/>
                </a:solidFill>
                <a:latin typeface="Calibri"/>
              </a:rPr>
              <a:t>The diagonals combine both:</a:t>
            </a:r>
          </a:p>
          <a:p>
            <a:pPr>
              <a:lnSpc>
                <a:spcPct val="128000"/>
              </a:lnSpc>
            </a:pPr>
            <a:r>
              <a:rPr sz="1300" dirty="0">
                <a:solidFill>
                  <a:srgbClr val="5C6B60"/>
                </a:solidFill>
                <a:latin typeface="Calibri"/>
              </a:rPr>
              <a:t>BD = b − a          AC = a + b</a:t>
            </a:r>
          </a:p>
          <a:p>
            <a:pPr>
              <a:lnSpc>
                <a:spcPct val="128000"/>
              </a:lnSpc>
            </a:pPr>
            <a:endParaRPr sz="1300" dirty="0">
              <a:solidFill>
                <a:srgbClr val="5C6B60"/>
              </a:solidFill>
              <a:latin typeface="Calibri"/>
            </a:endParaRPr>
          </a:p>
          <a:p>
            <a:pPr>
              <a:lnSpc>
                <a:spcPct val="128000"/>
              </a:lnSpc>
            </a:pPr>
            <a:r>
              <a:rPr sz="1300" dirty="0">
                <a:solidFill>
                  <a:srgbClr val="5C6B60"/>
                </a:solidFill>
                <a:latin typeface="Calibri"/>
              </a:rPr>
              <a:t>General rule: if PQ = k × RS for any</a:t>
            </a:r>
          </a:p>
          <a:p>
            <a:pPr>
              <a:lnSpc>
                <a:spcPct val="128000"/>
              </a:lnSpc>
            </a:pPr>
            <a:r>
              <a:rPr sz="1300" dirty="0">
                <a:solidFill>
                  <a:srgbClr val="5C6B60"/>
                </a:solidFill>
                <a:latin typeface="Calibri"/>
              </a:rPr>
              <a:t>number k, then PQ is parallel to 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532120"/>
            <a:ext cx="11057839" cy="822960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600" b="1">
                <a:solidFill>
                  <a:srgbClr val="E0AC2B"/>
                </a:solidFill>
                <a:latin typeface="Cambria"/>
              </a:rPr>
              <a:t>If one vector is a scalar multiple of another (PQ = k × RS), the two lines are parallel — and if they share a point, all three points are collinear.</a:t>
            </a:r>
          </a:p>
        </p:txBody>
      </p:sp>
    </p:spTree>
    <p:extLst>
      <p:ext uri="{BB962C8B-B14F-4D97-AF65-F5344CB8AC3E}">
        <p14:creationId xmlns:p14="http://schemas.microsoft.com/office/powerpoint/2010/main" val="17822607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&amp; SUBTRACTING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Top and Bottom Separately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98448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9844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(or subtract) the top numbers, then the bottom numbers.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Geometrically, add vectors nose-to-tail.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286000"/>
            <a:ext cx="5440680" cy="3200400"/>
          </a:xfrm>
          <a:prstGeom prst="roundRect">
            <a:avLst>
              <a:gd name="adj" fmla="val 1714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52374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columns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109728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1097280" y="35844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1051560" y="3163824"/>
            <a:ext cx="0" cy="822960"/>
          </a:xfrm>
          <a:prstGeom prst="line">
            <a:avLst/>
          </a:prstGeom>
          <a:noFill/>
          <a:ln w="20320">
            <a:solidFill>
              <a:srgbClr val="1C2A2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51560" y="3163824"/>
            <a:ext cx="109728" cy="0"/>
          </a:xfrm>
          <a:prstGeom prst="line">
            <a:avLst/>
          </a:prstGeom>
          <a:noFill/>
          <a:ln w="20320">
            <a:solidFill>
              <a:srgbClr val="1C2A2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51560" y="3986784"/>
            <a:ext cx="109728" cy="0"/>
          </a:xfrm>
          <a:prstGeom prst="line">
            <a:avLst/>
          </a:prstGeom>
          <a:noFill/>
          <a:ln w="20320">
            <a:solidFill>
              <a:srgbClr val="1C2A2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057400" y="3163824"/>
            <a:ext cx="0" cy="822960"/>
          </a:xfrm>
          <a:prstGeom prst="line">
            <a:avLst/>
          </a:prstGeom>
          <a:noFill/>
          <a:ln w="20320">
            <a:solidFill>
              <a:srgbClr val="1C2A2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947672" y="3163824"/>
            <a:ext cx="109728" cy="0"/>
          </a:xfrm>
          <a:prstGeom prst="line">
            <a:avLst/>
          </a:prstGeom>
          <a:noFill/>
          <a:ln w="20320">
            <a:solidFill>
              <a:srgbClr val="1C2A2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947672" y="3986784"/>
            <a:ext cx="109728" cy="0"/>
          </a:xfrm>
          <a:prstGeom prst="line">
            <a:avLst/>
          </a:prstGeom>
          <a:noFill/>
          <a:ln w="20320">
            <a:solidFill>
              <a:srgbClr val="1C2A2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194560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1800" dirty="0"/>
          </a:p>
        </p:txBody>
      </p:sp>
      <p:sp>
        <p:nvSpPr>
          <p:cNvPr id="54" name="Text 52"/>
          <p:cNvSpPr/>
          <p:nvPr/>
        </p:nvSpPr>
        <p:spPr>
          <a:xfrm>
            <a:off x="27432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2743200" y="35844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</a:t>
            </a:r>
            <a:endParaRPr lang="en-US" sz="1500" dirty="0"/>
          </a:p>
        </p:txBody>
      </p:sp>
      <p:sp>
        <p:nvSpPr>
          <p:cNvPr id="56" name="Shape 54"/>
          <p:cNvSpPr/>
          <p:nvPr/>
        </p:nvSpPr>
        <p:spPr>
          <a:xfrm>
            <a:off x="2697480" y="3163824"/>
            <a:ext cx="0" cy="822960"/>
          </a:xfrm>
          <a:prstGeom prst="line">
            <a:avLst/>
          </a:prstGeom>
          <a:noFill/>
          <a:ln w="20320">
            <a:solidFill>
              <a:srgbClr val="1C2A2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697480" y="3163824"/>
            <a:ext cx="109728" cy="0"/>
          </a:xfrm>
          <a:prstGeom prst="line">
            <a:avLst/>
          </a:prstGeom>
          <a:noFill/>
          <a:ln w="20320">
            <a:solidFill>
              <a:srgbClr val="1C2A2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697480" y="3986784"/>
            <a:ext cx="109728" cy="0"/>
          </a:xfrm>
          <a:prstGeom prst="line">
            <a:avLst/>
          </a:prstGeom>
          <a:noFill/>
          <a:ln w="20320">
            <a:solidFill>
              <a:srgbClr val="1C2A2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703320" y="3163824"/>
            <a:ext cx="0" cy="822960"/>
          </a:xfrm>
          <a:prstGeom prst="line">
            <a:avLst/>
          </a:prstGeom>
          <a:noFill/>
          <a:ln w="20320">
            <a:solidFill>
              <a:srgbClr val="1C2A2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593592" y="3163824"/>
            <a:ext cx="109728" cy="0"/>
          </a:xfrm>
          <a:prstGeom prst="line">
            <a:avLst/>
          </a:prstGeom>
          <a:noFill/>
          <a:ln w="20320">
            <a:solidFill>
              <a:srgbClr val="1C2A2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593592" y="3986784"/>
            <a:ext cx="109728" cy="0"/>
          </a:xfrm>
          <a:prstGeom prst="line">
            <a:avLst/>
          </a:prstGeom>
          <a:noFill/>
          <a:ln w="20320">
            <a:solidFill>
              <a:srgbClr val="1C2A22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840480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800" dirty="0"/>
          </a:p>
        </p:txBody>
      </p:sp>
      <p:sp>
        <p:nvSpPr>
          <p:cNvPr id="63" name="Text 61"/>
          <p:cNvSpPr/>
          <p:nvPr/>
        </p:nvSpPr>
        <p:spPr>
          <a:xfrm>
            <a:off x="43891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64" name="Text 62"/>
          <p:cNvSpPr/>
          <p:nvPr/>
        </p:nvSpPr>
        <p:spPr>
          <a:xfrm>
            <a:off x="4389120" y="35844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65" name="Shape 63"/>
          <p:cNvSpPr/>
          <p:nvPr/>
        </p:nvSpPr>
        <p:spPr>
          <a:xfrm>
            <a:off x="4343400" y="3163824"/>
            <a:ext cx="0" cy="82296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343400" y="3163824"/>
            <a:ext cx="109728" cy="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343400" y="3986784"/>
            <a:ext cx="109728" cy="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349240" y="3163824"/>
            <a:ext cx="0" cy="82296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239512" y="3163824"/>
            <a:ext cx="109728" cy="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239512" y="3986784"/>
            <a:ext cx="109728" cy="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14400" y="4572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tops (5+2=7), add the bottoms (3−1=2).</a:t>
            </a:r>
            <a:endParaRPr lang="en-US" sz="1250" dirty="0"/>
          </a:p>
        </p:txBody>
      </p:sp>
      <p:sp>
        <p:nvSpPr>
          <p:cNvPr id="72" name="Shape 70"/>
          <p:cNvSpPr/>
          <p:nvPr/>
        </p:nvSpPr>
        <p:spPr>
          <a:xfrm>
            <a:off x="6190488" y="2286000"/>
            <a:ext cx="5440680" cy="3200400"/>
          </a:xfrm>
          <a:prstGeom prst="roundRect">
            <a:avLst>
              <a:gd name="adj" fmla="val 1714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6556248" y="252374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Nose-to-tail (triangle law)</a:t>
            </a:r>
            <a:endParaRPr lang="en-US" sz="1700" dirty="0"/>
          </a:p>
        </p:txBody>
      </p:sp>
      <p:sp>
        <p:nvSpPr>
          <p:cNvPr id="80" name="Text 78"/>
          <p:cNvSpPr/>
          <p:nvPr/>
        </p:nvSpPr>
        <p:spPr>
          <a:xfrm>
            <a:off x="6537960" y="5074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+ b goes straight from start to finish.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66928" y="562356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2" name="Text 80"/>
          <p:cNvSpPr/>
          <p:nvPr/>
        </p:nvSpPr>
        <p:spPr>
          <a:xfrm>
            <a:off x="841248" y="562356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− b = a + (−b).   Subtracting reverses the second vector.</a:t>
            </a:r>
            <a:endParaRPr lang="en-US" sz="2300" dirty="0"/>
          </a:p>
        </p:txBody>
      </p:sp>
      <p:grpSp>
        <p:nvGrpSpPr>
          <p:cNvPr id="83" name="Group 87"/>
          <p:cNvGrpSpPr>
            <a:grpSpLocks/>
          </p:cNvGrpSpPr>
          <p:nvPr/>
        </p:nvGrpSpPr>
        <p:grpSpPr bwMode="auto">
          <a:xfrm>
            <a:off x="7005828" y="3015996"/>
            <a:ext cx="3810000" cy="1905000"/>
            <a:chOff x="952985" y="4120860"/>
            <a:chExt cx="3810000" cy="1905000"/>
          </a:xfrm>
        </p:grpSpPr>
        <p:grpSp>
          <p:nvGrpSpPr>
            <p:cNvPr id="84" name="Group 23"/>
            <p:cNvGrpSpPr>
              <a:grpSpLocks/>
            </p:cNvGrpSpPr>
            <p:nvPr/>
          </p:nvGrpSpPr>
          <p:grpSpPr bwMode="auto">
            <a:xfrm>
              <a:off x="952985" y="4120860"/>
              <a:ext cx="3810000" cy="1905000"/>
              <a:chOff x="864" y="2832"/>
              <a:chExt cx="2400" cy="1200"/>
            </a:xfrm>
          </p:grpSpPr>
          <p:sp>
            <p:nvSpPr>
              <p:cNvPr id="99" name="Rectangle 24"/>
              <p:cNvSpPr>
                <a:spLocks noChangeArrowheads="1"/>
              </p:cNvSpPr>
              <p:nvPr/>
            </p:nvSpPr>
            <p:spPr bwMode="auto">
              <a:xfrm>
                <a:off x="864" y="283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00" name="Rectangle 25"/>
              <p:cNvSpPr>
                <a:spLocks noChangeArrowheads="1"/>
              </p:cNvSpPr>
              <p:nvPr/>
            </p:nvSpPr>
            <p:spPr bwMode="auto">
              <a:xfrm>
                <a:off x="1104" y="283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01" name="Rectangle 26"/>
              <p:cNvSpPr>
                <a:spLocks noChangeArrowheads="1"/>
              </p:cNvSpPr>
              <p:nvPr/>
            </p:nvSpPr>
            <p:spPr bwMode="auto">
              <a:xfrm>
                <a:off x="1344" y="283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02" name="Rectangle 27"/>
              <p:cNvSpPr>
                <a:spLocks noChangeArrowheads="1"/>
              </p:cNvSpPr>
              <p:nvPr/>
            </p:nvSpPr>
            <p:spPr bwMode="auto">
              <a:xfrm>
                <a:off x="1584" y="283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03" name="Rectangle 28"/>
              <p:cNvSpPr>
                <a:spLocks noChangeArrowheads="1"/>
              </p:cNvSpPr>
              <p:nvPr/>
            </p:nvSpPr>
            <p:spPr bwMode="auto">
              <a:xfrm>
                <a:off x="864" y="307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04" name="Rectangle 29"/>
              <p:cNvSpPr>
                <a:spLocks noChangeArrowheads="1"/>
              </p:cNvSpPr>
              <p:nvPr/>
            </p:nvSpPr>
            <p:spPr bwMode="auto">
              <a:xfrm>
                <a:off x="1104" y="307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05" name="Rectangle 30"/>
              <p:cNvSpPr>
                <a:spLocks noChangeArrowheads="1"/>
              </p:cNvSpPr>
              <p:nvPr/>
            </p:nvSpPr>
            <p:spPr bwMode="auto">
              <a:xfrm>
                <a:off x="864" y="331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06" name="Rectangle 31"/>
              <p:cNvSpPr>
                <a:spLocks noChangeArrowheads="1"/>
              </p:cNvSpPr>
              <p:nvPr/>
            </p:nvSpPr>
            <p:spPr bwMode="auto">
              <a:xfrm>
                <a:off x="1104" y="331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07" name="Rectangle 32"/>
              <p:cNvSpPr>
                <a:spLocks noChangeArrowheads="1"/>
              </p:cNvSpPr>
              <p:nvPr/>
            </p:nvSpPr>
            <p:spPr bwMode="auto">
              <a:xfrm>
                <a:off x="1344" y="307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08" name="Rectangle 33"/>
              <p:cNvSpPr>
                <a:spLocks noChangeArrowheads="1"/>
              </p:cNvSpPr>
              <p:nvPr/>
            </p:nvSpPr>
            <p:spPr bwMode="auto">
              <a:xfrm>
                <a:off x="1584" y="307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09" name="Rectangle 34"/>
              <p:cNvSpPr>
                <a:spLocks noChangeArrowheads="1"/>
              </p:cNvSpPr>
              <p:nvPr/>
            </p:nvSpPr>
            <p:spPr bwMode="auto">
              <a:xfrm>
                <a:off x="1344" y="331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10" name="Rectangle 35"/>
              <p:cNvSpPr>
                <a:spLocks noChangeArrowheads="1"/>
              </p:cNvSpPr>
              <p:nvPr/>
            </p:nvSpPr>
            <p:spPr bwMode="auto">
              <a:xfrm>
                <a:off x="1584" y="331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11" name="Rectangle 36"/>
              <p:cNvSpPr>
                <a:spLocks noChangeArrowheads="1"/>
              </p:cNvSpPr>
              <p:nvPr/>
            </p:nvSpPr>
            <p:spPr bwMode="auto">
              <a:xfrm>
                <a:off x="1824" y="283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12" name="Rectangle 37"/>
              <p:cNvSpPr>
                <a:spLocks noChangeArrowheads="1"/>
              </p:cNvSpPr>
              <p:nvPr/>
            </p:nvSpPr>
            <p:spPr bwMode="auto">
              <a:xfrm>
                <a:off x="2064" y="283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13" name="Rectangle 38"/>
              <p:cNvSpPr>
                <a:spLocks noChangeArrowheads="1"/>
              </p:cNvSpPr>
              <p:nvPr/>
            </p:nvSpPr>
            <p:spPr bwMode="auto">
              <a:xfrm>
                <a:off x="2304" y="283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14" name="Rectangle 39"/>
              <p:cNvSpPr>
                <a:spLocks noChangeArrowheads="1"/>
              </p:cNvSpPr>
              <p:nvPr/>
            </p:nvSpPr>
            <p:spPr bwMode="auto">
              <a:xfrm>
                <a:off x="2544" y="283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15" name="Rectangle 40"/>
              <p:cNvSpPr>
                <a:spLocks noChangeArrowheads="1"/>
              </p:cNvSpPr>
              <p:nvPr/>
            </p:nvSpPr>
            <p:spPr bwMode="auto">
              <a:xfrm>
                <a:off x="1824" y="307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16" name="Rectangle 41"/>
              <p:cNvSpPr>
                <a:spLocks noChangeArrowheads="1"/>
              </p:cNvSpPr>
              <p:nvPr/>
            </p:nvSpPr>
            <p:spPr bwMode="auto">
              <a:xfrm>
                <a:off x="2064" y="307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17" name="Rectangle 42"/>
              <p:cNvSpPr>
                <a:spLocks noChangeArrowheads="1"/>
              </p:cNvSpPr>
              <p:nvPr/>
            </p:nvSpPr>
            <p:spPr bwMode="auto">
              <a:xfrm>
                <a:off x="1824" y="331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18" name="Rectangle 43"/>
              <p:cNvSpPr>
                <a:spLocks noChangeArrowheads="1"/>
              </p:cNvSpPr>
              <p:nvPr/>
            </p:nvSpPr>
            <p:spPr bwMode="auto">
              <a:xfrm>
                <a:off x="2064" y="331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19" name="Rectangle 44"/>
              <p:cNvSpPr>
                <a:spLocks noChangeArrowheads="1"/>
              </p:cNvSpPr>
              <p:nvPr/>
            </p:nvSpPr>
            <p:spPr bwMode="auto">
              <a:xfrm>
                <a:off x="2304" y="307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20" name="Rectangle 45"/>
              <p:cNvSpPr>
                <a:spLocks noChangeArrowheads="1"/>
              </p:cNvSpPr>
              <p:nvPr/>
            </p:nvSpPr>
            <p:spPr bwMode="auto">
              <a:xfrm>
                <a:off x="2544" y="307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21" name="Rectangle 46"/>
              <p:cNvSpPr>
                <a:spLocks noChangeArrowheads="1"/>
              </p:cNvSpPr>
              <p:nvPr/>
            </p:nvSpPr>
            <p:spPr bwMode="auto">
              <a:xfrm>
                <a:off x="2304" y="331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22" name="Rectangle 47"/>
              <p:cNvSpPr>
                <a:spLocks noChangeArrowheads="1"/>
              </p:cNvSpPr>
              <p:nvPr/>
            </p:nvSpPr>
            <p:spPr bwMode="auto">
              <a:xfrm>
                <a:off x="2544" y="331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23" name="Rectangle 48"/>
              <p:cNvSpPr>
                <a:spLocks noChangeArrowheads="1"/>
              </p:cNvSpPr>
              <p:nvPr/>
            </p:nvSpPr>
            <p:spPr bwMode="auto">
              <a:xfrm>
                <a:off x="864" y="355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24" name="Rectangle 49"/>
              <p:cNvSpPr>
                <a:spLocks noChangeArrowheads="1"/>
              </p:cNvSpPr>
              <p:nvPr/>
            </p:nvSpPr>
            <p:spPr bwMode="auto">
              <a:xfrm>
                <a:off x="1104" y="355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25" name="Rectangle 50"/>
              <p:cNvSpPr>
                <a:spLocks noChangeArrowheads="1"/>
              </p:cNvSpPr>
              <p:nvPr/>
            </p:nvSpPr>
            <p:spPr bwMode="auto">
              <a:xfrm>
                <a:off x="1344" y="355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26" name="Rectangle 51"/>
              <p:cNvSpPr>
                <a:spLocks noChangeArrowheads="1"/>
              </p:cNvSpPr>
              <p:nvPr/>
            </p:nvSpPr>
            <p:spPr bwMode="auto">
              <a:xfrm>
                <a:off x="1584" y="355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27" name="Rectangle 52"/>
              <p:cNvSpPr>
                <a:spLocks noChangeArrowheads="1"/>
              </p:cNvSpPr>
              <p:nvPr/>
            </p:nvSpPr>
            <p:spPr bwMode="auto">
              <a:xfrm>
                <a:off x="1824" y="355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28" name="Rectangle 53"/>
              <p:cNvSpPr>
                <a:spLocks noChangeArrowheads="1"/>
              </p:cNvSpPr>
              <p:nvPr/>
            </p:nvSpPr>
            <p:spPr bwMode="auto">
              <a:xfrm>
                <a:off x="2064" y="355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29" name="Rectangle 54"/>
              <p:cNvSpPr>
                <a:spLocks noChangeArrowheads="1"/>
              </p:cNvSpPr>
              <p:nvPr/>
            </p:nvSpPr>
            <p:spPr bwMode="auto">
              <a:xfrm>
                <a:off x="2304" y="355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30" name="Rectangle 55"/>
              <p:cNvSpPr>
                <a:spLocks noChangeArrowheads="1"/>
              </p:cNvSpPr>
              <p:nvPr/>
            </p:nvSpPr>
            <p:spPr bwMode="auto">
              <a:xfrm>
                <a:off x="2544" y="355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31" name="Rectangle 56"/>
              <p:cNvSpPr>
                <a:spLocks noChangeArrowheads="1"/>
              </p:cNvSpPr>
              <p:nvPr/>
            </p:nvSpPr>
            <p:spPr bwMode="auto">
              <a:xfrm>
                <a:off x="864" y="379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32" name="Rectangle 57"/>
              <p:cNvSpPr>
                <a:spLocks noChangeArrowheads="1"/>
              </p:cNvSpPr>
              <p:nvPr/>
            </p:nvSpPr>
            <p:spPr bwMode="auto">
              <a:xfrm>
                <a:off x="1104" y="379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33" name="Rectangle 58"/>
              <p:cNvSpPr>
                <a:spLocks noChangeArrowheads="1"/>
              </p:cNvSpPr>
              <p:nvPr/>
            </p:nvSpPr>
            <p:spPr bwMode="auto">
              <a:xfrm>
                <a:off x="1344" y="379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34" name="Rectangle 59"/>
              <p:cNvSpPr>
                <a:spLocks noChangeArrowheads="1"/>
              </p:cNvSpPr>
              <p:nvPr/>
            </p:nvSpPr>
            <p:spPr bwMode="auto">
              <a:xfrm>
                <a:off x="1584" y="379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35" name="Rectangle 60"/>
              <p:cNvSpPr>
                <a:spLocks noChangeArrowheads="1"/>
              </p:cNvSpPr>
              <p:nvPr/>
            </p:nvSpPr>
            <p:spPr bwMode="auto">
              <a:xfrm>
                <a:off x="1824" y="379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36" name="Rectangle 61"/>
              <p:cNvSpPr>
                <a:spLocks noChangeArrowheads="1"/>
              </p:cNvSpPr>
              <p:nvPr/>
            </p:nvSpPr>
            <p:spPr bwMode="auto">
              <a:xfrm>
                <a:off x="2064" y="379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37" name="Rectangle 62"/>
              <p:cNvSpPr>
                <a:spLocks noChangeArrowheads="1"/>
              </p:cNvSpPr>
              <p:nvPr/>
            </p:nvSpPr>
            <p:spPr bwMode="auto">
              <a:xfrm>
                <a:off x="2304" y="379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38" name="Rectangle 63"/>
              <p:cNvSpPr>
                <a:spLocks noChangeArrowheads="1"/>
              </p:cNvSpPr>
              <p:nvPr/>
            </p:nvSpPr>
            <p:spPr bwMode="auto">
              <a:xfrm>
                <a:off x="2544" y="379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39" name="Rectangle 64"/>
              <p:cNvSpPr>
                <a:spLocks noChangeArrowheads="1"/>
              </p:cNvSpPr>
              <p:nvPr/>
            </p:nvSpPr>
            <p:spPr bwMode="auto">
              <a:xfrm>
                <a:off x="2784" y="283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40" name="Rectangle 65"/>
              <p:cNvSpPr>
                <a:spLocks noChangeArrowheads="1"/>
              </p:cNvSpPr>
              <p:nvPr/>
            </p:nvSpPr>
            <p:spPr bwMode="auto">
              <a:xfrm>
                <a:off x="3024" y="283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41" name="Rectangle 66"/>
              <p:cNvSpPr>
                <a:spLocks noChangeArrowheads="1"/>
              </p:cNvSpPr>
              <p:nvPr/>
            </p:nvSpPr>
            <p:spPr bwMode="auto">
              <a:xfrm>
                <a:off x="2784" y="307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42" name="Rectangle 67"/>
              <p:cNvSpPr>
                <a:spLocks noChangeArrowheads="1"/>
              </p:cNvSpPr>
              <p:nvPr/>
            </p:nvSpPr>
            <p:spPr bwMode="auto">
              <a:xfrm>
                <a:off x="3024" y="307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43" name="Rectangle 68"/>
              <p:cNvSpPr>
                <a:spLocks noChangeArrowheads="1"/>
              </p:cNvSpPr>
              <p:nvPr/>
            </p:nvSpPr>
            <p:spPr bwMode="auto">
              <a:xfrm>
                <a:off x="2784" y="331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44" name="Rectangle 69"/>
              <p:cNvSpPr>
                <a:spLocks noChangeArrowheads="1"/>
              </p:cNvSpPr>
              <p:nvPr/>
            </p:nvSpPr>
            <p:spPr bwMode="auto">
              <a:xfrm>
                <a:off x="3024" y="331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45" name="Rectangle 70"/>
              <p:cNvSpPr>
                <a:spLocks noChangeArrowheads="1"/>
              </p:cNvSpPr>
              <p:nvPr/>
            </p:nvSpPr>
            <p:spPr bwMode="auto">
              <a:xfrm>
                <a:off x="2784" y="355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46" name="Rectangle 71"/>
              <p:cNvSpPr>
                <a:spLocks noChangeArrowheads="1"/>
              </p:cNvSpPr>
              <p:nvPr/>
            </p:nvSpPr>
            <p:spPr bwMode="auto">
              <a:xfrm>
                <a:off x="3024" y="355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47" name="Rectangle 72"/>
              <p:cNvSpPr>
                <a:spLocks noChangeArrowheads="1"/>
              </p:cNvSpPr>
              <p:nvPr/>
            </p:nvSpPr>
            <p:spPr bwMode="auto">
              <a:xfrm>
                <a:off x="2784" y="379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148" name="Rectangle 73"/>
              <p:cNvSpPr>
                <a:spLocks noChangeArrowheads="1"/>
              </p:cNvSpPr>
              <p:nvPr/>
            </p:nvSpPr>
            <p:spPr bwMode="auto">
              <a:xfrm>
                <a:off x="3024" y="3792"/>
                <a:ext cx="240" cy="24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89C4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</p:grpSp>
        <p:grpSp>
          <p:nvGrpSpPr>
            <p:cNvPr id="85" name="Group 91"/>
            <p:cNvGrpSpPr>
              <a:grpSpLocks/>
            </p:cNvGrpSpPr>
            <p:nvPr/>
          </p:nvGrpSpPr>
          <p:grpSpPr bwMode="auto">
            <a:xfrm>
              <a:off x="1333985" y="4501860"/>
              <a:ext cx="1905000" cy="1143000"/>
              <a:chOff x="1056" y="3072"/>
              <a:chExt cx="1200" cy="720"/>
            </a:xfrm>
          </p:grpSpPr>
          <p:grpSp>
            <p:nvGrpSpPr>
              <p:cNvPr id="95" name="Group 74"/>
              <p:cNvGrpSpPr>
                <a:grpSpLocks/>
              </p:cNvGrpSpPr>
              <p:nvPr/>
            </p:nvGrpSpPr>
            <p:grpSpPr bwMode="auto">
              <a:xfrm>
                <a:off x="1056" y="3072"/>
                <a:ext cx="1200" cy="720"/>
                <a:chOff x="1056" y="3072"/>
                <a:chExt cx="1200" cy="720"/>
              </a:xfrm>
            </p:grpSpPr>
            <p:sp>
              <p:nvSpPr>
                <p:cNvPr id="97" name="Line 75"/>
                <p:cNvSpPr>
                  <a:spLocks noChangeShapeType="1"/>
                </p:cNvSpPr>
                <p:nvPr/>
              </p:nvSpPr>
              <p:spPr bwMode="auto">
                <a:xfrm flipV="1">
                  <a:off x="1056" y="3072"/>
                  <a:ext cx="1200" cy="72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98" name="Line 76"/>
                <p:cNvSpPr>
                  <a:spLocks noChangeShapeType="1"/>
                </p:cNvSpPr>
                <p:nvPr/>
              </p:nvSpPr>
              <p:spPr bwMode="auto">
                <a:xfrm flipV="1">
                  <a:off x="1608" y="3403"/>
                  <a:ext cx="96" cy="58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 type="arrow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96" name="Text Box 77"/>
              <p:cNvSpPr txBox="1">
                <a:spLocks noChangeArrowheads="1"/>
              </p:cNvSpPr>
              <p:nvPr/>
            </p:nvSpPr>
            <p:spPr bwMode="auto">
              <a:xfrm>
                <a:off x="1440" y="3120"/>
                <a:ext cx="212" cy="29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GB" altLang="en-US" sz="2400" b="1"/>
                  <a:t>a</a:t>
                </a:r>
              </a:p>
            </p:txBody>
          </p:sp>
        </p:grpSp>
        <p:grpSp>
          <p:nvGrpSpPr>
            <p:cNvPr id="86" name="Group 92"/>
            <p:cNvGrpSpPr>
              <a:grpSpLocks/>
            </p:cNvGrpSpPr>
            <p:nvPr/>
          </p:nvGrpSpPr>
          <p:grpSpPr bwMode="auto">
            <a:xfrm>
              <a:off x="3238985" y="4425660"/>
              <a:ext cx="1143000" cy="838200"/>
              <a:chOff x="2256" y="3024"/>
              <a:chExt cx="720" cy="528"/>
            </a:xfrm>
          </p:grpSpPr>
          <p:grpSp>
            <p:nvGrpSpPr>
              <p:cNvPr id="91" name="Group 78"/>
              <p:cNvGrpSpPr>
                <a:grpSpLocks/>
              </p:cNvGrpSpPr>
              <p:nvPr/>
            </p:nvGrpSpPr>
            <p:grpSpPr bwMode="auto">
              <a:xfrm flipV="1">
                <a:off x="2256" y="3072"/>
                <a:ext cx="720" cy="480"/>
                <a:chOff x="1056" y="3072"/>
                <a:chExt cx="1200" cy="720"/>
              </a:xfrm>
            </p:grpSpPr>
            <p:sp>
              <p:nvSpPr>
                <p:cNvPr id="93" name="Line 79"/>
                <p:cNvSpPr>
                  <a:spLocks noChangeShapeType="1"/>
                </p:cNvSpPr>
                <p:nvPr/>
              </p:nvSpPr>
              <p:spPr bwMode="auto">
                <a:xfrm flipV="1">
                  <a:off x="1056" y="3072"/>
                  <a:ext cx="1200" cy="72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94" name="Line 80"/>
                <p:cNvSpPr>
                  <a:spLocks noChangeShapeType="1"/>
                </p:cNvSpPr>
                <p:nvPr/>
              </p:nvSpPr>
              <p:spPr bwMode="auto">
                <a:xfrm flipV="1">
                  <a:off x="1608" y="3403"/>
                  <a:ext cx="96" cy="58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 type="arrow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92" name="Text Box 81"/>
              <p:cNvSpPr txBox="1">
                <a:spLocks noChangeArrowheads="1"/>
              </p:cNvSpPr>
              <p:nvPr/>
            </p:nvSpPr>
            <p:spPr bwMode="auto">
              <a:xfrm>
                <a:off x="2640" y="3024"/>
                <a:ext cx="220" cy="29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GB" altLang="en-US" sz="2400" b="1"/>
                  <a:t>b</a:t>
                </a:r>
              </a:p>
            </p:txBody>
          </p:sp>
        </p:grpSp>
        <p:grpSp>
          <p:nvGrpSpPr>
            <p:cNvPr id="87" name="Group 94"/>
            <p:cNvGrpSpPr>
              <a:grpSpLocks/>
            </p:cNvGrpSpPr>
            <p:nvPr/>
          </p:nvGrpSpPr>
          <p:grpSpPr bwMode="auto">
            <a:xfrm>
              <a:off x="1333985" y="5263864"/>
              <a:ext cx="3048000" cy="690563"/>
              <a:chOff x="1056" y="3552"/>
              <a:chExt cx="1920" cy="435"/>
            </a:xfrm>
          </p:grpSpPr>
          <p:sp>
            <p:nvSpPr>
              <p:cNvPr id="88" name="Line 83"/>
              <p:cNvSpPr>
                <a:spLocks noChangeShapeType="1"/>
              </p:cNvSpPr>
              <p:nvPr/>
            </p:nvSpPr>
            <p:spPr bwMode="auto">
              <a:xfrm flipV="1">
                <a:off x="1939" y="3662"/>
                <a:ext cx="154" cy="20"/>
              </a:xfrm>
              <a:prstGeom prst="line">
                <a:avLst/>
              </a:prstGeom>
              <a:noFill/>
              <a:ln w="28575">
                <a:solidFill>
                  <a:srgbClr val="FF6600"/>
                </a:solidFill>
                <a:round/>
                <a:headEnd/>
                <a:tailEnd type="arrow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" name="Line 82"/>
              <p:cNvSpPr>
                <a:spLocks noChangeShapeType="1"/>
              </p:cNvSpPr>
              <p:nvPr/>
            </p:nvSpPr>
            <p:spPr bwMode="auto">
              <a:xfrm flipV="1">
                <a:off x="1056" y="3552"/>
                <a:ext cx="1920" cy="240"/>
              </a:xfrm>
              <a:prstGeom prst="line">
                <a:avLst/>
              </a:prstGeom>
              <a:noFill/>
              <a:ln w="28575">
                <a:solidFill>
                  <a:srgbClr val="FF66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" name="Text Box 84"/>
              <p:cNvSpPr txBox="1">
                <a:spLocks noChangeArrowheads="1"/>
              </p:cNvSpPr>
              <p:nvPr/>
            </p:nvSpPr>
            <p:spPr bwMode="auto">
              <a:xfrm>
                <a:off x="1872" y="3696"/>
                <a:ext cx="500" cy="29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GB" altLang="en-US" sz="2400" b="1"/>
                  <a:t>a </a:t>
                </a:r>
                <a:r>
                  <a:rPr lang="en-GB" altLang="en-US" sz="2400"/>
                  <a:t>+</a:t>
                </a:r>
                <a:r>
                  <a:rPr lang="en-GB" altLang="en-US" sz="2400" b="1"/>
                  <a:t> b</a:t>
                </a:r>
              </a:p>
            </p:txBody>
          </p:sp>
        </p:grp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24815" y="66802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3767" y="48514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50">
                <a:solidFill>
                  <a:srgbClr val="C84F2F"/>
                </a:solidFill>
                <a:latin typeface="Calibri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3767" y="304546"/>
            <a:ext cx="98755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rgbClr val="1C2A22"/>
                </a:solidFill>
                <a:latin typeface="Cambria"/>
              </a:rPr>
              <a:t>a + c,  3b  and  2c −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2729" y="1657408"/>
            <a:ext cx="1024128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 dirty="0" smtClean="0">
                <a:solidFill>
                  <a:srgbClr val="5C6B60"/>
                </a:solidFill>
                <a:latin typeface="Calibri"/>
              </a:rPr>
              <a:t>Work </a:t>
            </a:r>
            <a:r>
              <a:rPr sz="1350" b="0" i="0" dirty="0">
                <a:solidFill>
                  <a:srgbClr val="5C6B60"/>
                </a:solidFill>
                <a:latin typeface="Calibri"/>
              </a:rPr>
              <a:t>through each combination separately.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11057839" cy="352044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2148840"/>
            <a:ext cx="332018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C84F2F"/>
                </a:solidFill>
                <a:latin typeface="Cambria"/>
              </a:rPr>
              <a:t>1) a + 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4314" y="2148840"/>
            <a:ext cx="332018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C84F2F"/>
                </a:solidFill>
                <a:latin typeface="Cambria"/>
              </a:rPr>
              <a:t>2) 3b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7380" y="2148840"/>
            <a:ext cx="332018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C84F2F"/>
                </a:solidFill>
                <a:latin typeface="Cambria"/>
              </a:rPr>
              <a:t>3) 2c − 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532120"/>
            <a:ext cx="11057839" cy="822960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550" b="1">
                <a:solidFill>
                  <a:srgbClr val="E0AC2B"/>
                </a:solidFill>
                <a:latin typeface="Cambria"/>
              </a:rPr>
              <a:t>Work inside the brackets first (the scalar multiple), then add or subtract component by component.</a:t>
            </a:r>
          </a:p>
        </p:txBody>
      </p:sp>
      <p:grpSp>
        <p:nvGrpSpPr>
          <p:cNvPr id="15" name="Group 101"/>
          <p:cNvGrpSpPr>
            <a:grpSpLocks/>
          </p:cNvGrpSpPr>
          <p:nvPr/>
        </p:nvGrpSpPr>
        <p:grpSpPr bwMode="auto">
          <a:xfrm>
            <a:off x="3900494" y="823309"/>
            <a:ext cx="5543550" cy="842963"/>
            <a:chOff x="1134" y="1017"/>
            <a:chExt cx="3492" cy="531"/>
          </a:xfrm>
        </p:grpSpPr>
        <p:sp>
          <p:nvSpPr>
            <p:cNvPr id="16" name="Text Box 7"/>
            <p:cNvSpPr txBox="1">
              <a:spLocks noChangeArrowheads="1"/>
            </p:cNvSpPr>
            <p:nvPr/>
          </p:nvSpPr>
          <p:spPr bwMode="auto">
            <a:xfrm>
              <a:off x="1134" y="1137"/>
              <a:ext cx="353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r>
                <a:rPr lang="en-US" altLang="en-US" sz="2400" b="1"/>
                <a:t>a</a:t>
              </a:r>
              <a:r>
                <a:rPr lang="en-US" altLang="en-US" sz="2400"/>
                <a:t> =</a:t>
              </a:r>
              <a:endParaRPr lang="en-GB" altLang="en-US" sz="2400"/>
            </a:p>
          </p:txBody>
        </p:sp>
        <p:grpSp>
          <p:nvGrpSpPr>
            <p:cNvPr id="17" name="Group 28"/>
            <p:cNvGrpSpPr>
              <a:grpSpLocks/>
            </p:cNvGrpSpPr>
            <p:nvPr/>
          </p:nvGrpSpPr>
          <p:grpSpPr bwMode="auto">
            <a:xfrm>
              <a:off x="1528" y="1017"/>
              <a:ext cx="336" cy="531"/>
              <a:chOff x="1528" y="1017"/>
              <a:chExt cx="336" cy="531"/>
            </a:xfrm>
          </p:grpSpPr>
          <p:sp>
            <p:nvSpPr>
              <p:cNvPr id="29" name="AutoShape 8"/>
              <p:cNvSpPr>
                <a:spLocks noChangeArrowheads="1"/>
              </p:cNvSpPr>
              <p:nvPr/>
            </p:nvSpPr>
            <p:spPr bwMode="auto">
              <a:xfrm>
                <a:off x="1528" y="1017"/>
                <a:ext cx="336" cy="528"/>
              </a:xfrm>
              <a:prstGeom prst="bracketPair">
                <a:avLst>
                  <a:gd name="adj" fmla="val 16667"/>
                </a:avLst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30" name="Text Box 9"/>
              <p:cNvSpPr txBox="1">
                <a:spLocks noChangeArrowheads="1"/>
              </p:cNvSpPr>
              <p:nvPr/>
            </p:nvSpPr>
            <p:spPr bwMode="auto">
              <a:xfrm>
                <a:off x="1584" y="1017"/>
                <a:ext cx="214" cy="29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 altLang="en-US" sz="2400"/>
                  <a:t>5</a:t>
                </a:r>
                <a:endParaRPr lang="en-GB" altLang="en-US" sz="2400"/>
              </a:p>
            </p:txBody>
          </p:sp>
          <p:sp>
            <p:nvSpPr>
              <p:cNvPr id="31" name="Text Box 10"/>
              <p:cNvSpPr txBox="1">
                <a:spLocks noChangeArrowheads="1"/>
              </p:cNvSpPr>
              <p:nvPr/>
            </p:nvSpPr>
            <p:spPr bwMode="auto">
              <a:xfrm>
                <a:off x="1584" y="1257"/>
                <a:ext cx="214" cy="29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 altLang="en-US" sz="2400"/>
                  <a:t>3</a:t>
                </a:r>
                <a:endParaRPr lang="en-GB" altLang="en-US" sz="2400"/>
              </a:p>
            </p:txBody>
          </p:sp>
        </p:grpSp>
        <p:sp>
          <p:nvSpPr>
            <p:cNvPr id="18" name="Text Box 12"/>
            <p:cNvSpPr txBox="1">
              <a:spLocks noChangeArrowheads="1"/>
            </p:cNvSpPr>
            <p:nvPr/>
          </p:nvSpPr>
          <p:spPr bwMode="auto">
            <a:xfrm>
              <a:off x="3871" y="1137"/>
              <a:ext cx="337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r>
                <a:rPr lang="en-US" altLang="en-US" sz="2400" b="1"/>
                <a:t>c</a:t>
              </a:r>
              <a:r>
                <a:rPr lang="en-US" altLang="en-US" sz="2400"/>
                <a:t> =</a:t>
              </a:r>
              <a:endParaRPr lang="en-GB" altLang="en-US" sz="2400"/>
            </a:p>
          </p:txBody>
        </p:sp>
        <p:grpSp>
          <p:nvGrpSpPr>
            <p:cNvPr id="19" name="Group 13"/>
            <p:cNvGrpSpPr>
              <a:grpSpLocks/>
            </p:cNvGrpSpPr>
            <p:nvPr/>
          </p:nvGrpSpPr>
          <p:grpSpPr bwMode="auto">
            <a:xfrm>
              <a:off x="4290" y="1017"/>
              <a:ext cx="336" cy="531"/>
              <a:chOff x="2723" y="1008"/>
              <a:chExt cx="336" cy="531"/>
            </a:xfrm>
          </p:grpSpPr>
          <p:sp>
            <p:nvSpPr>
              <p:cNvPr id="26" name="AutoShape 14"/>
              <p:cNvSpPr>
                <a:spLocks noChangeArrowheads="1"/>
              </p:cNvSpPr>
              <p:nvPr/>
            </p:nvSpPr>
            <p:spPr bwMode="auto">
              <a:xfrm>
                <a:off x="2723" y="1008"/>
                <a:ext cx="336" cy="528"/>
              </a:xfrm>
              <a:prstGeom prst="bracketPair">
                <a:avLst>
                  <a:gd name="adj" fmla="val 16667"/>
                </a:avLst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27" name="Text Box 15"/>
              <p:cNvSpPr txBox="1">
                <a:spLocks noChangeArrowheads="1"/>
              </p:cNvSpPr>
              <p:nvPr/>
            </p:nvSpPr>
            <p:spPr bwMode="auto">
              <a:xfrm>
                <a:off x="2726" y="1008"/>
                <a:ext cx="311" cy="29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 altLang="en-US" sz="2400"/>
                  <a:t>–1</a:t>
                </a:r>
                <a:endParaRPr lang="en-GB" altLang="en-US" sz="2400"/>
              </a:p>
            </p:txBody>
          </p:sp>
          <p:sp>
            <p:nvSpPr>
              <p:cNvPr id="28" name="Text Box 16"/>
              <p:cNvSpPr txBox="1">
                <a:spLocks noChangeArrowheads="1"/>
              </p:cNvSpPr>
              <p:nvPr/>
            </p:nvSpPr>
            <p:spPr bwMode="auto">
              <a:xfrm>
                <a:off x="2779" y="1248"/>
                <a:ext cx="214" cy="29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 altLang="en-US" sz="2400" dirty="0"/>
                  <a:t>4</a:t>
                </a:r>
                <a:endParaRPr lang="en-GB" altLang="en-US" sz="2400" dirty="0"/>
              </a:p>
            </p:txBody>
          </p:sp>
        </p:grpSp>
        <p:sp>
          <p:nvSpPr>
            <p:cNvPr id="20" name="Text Box 17"/>
            <p:cNvSpPr txBox="1">
              <a:spLocks noChangeArrowheads="1"/>
            </p:cNvSpPr>
            <p:nvPr/>
          </p:nvSpPr>
          <p:spPr bwMode="auto">
            <a:xfrm>
              <a:off x="3162" y="1137"/>
              <a:ext cx="413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r>
                <a:rPr lang="en-GB" altLang="en-US" sz="2400"/>
                <a:t>and</a:t>
              </a:r>
            </a:p>
          </p:txBody>
        </p:sp>
        <p:sp>
          <p:nvSpPr>
            <p:cNvPr id="21" name="Text Box 19"/>
            <p:cNvSpPr txBox="1">
              <a:spLocks noChangeArrowheads="1"/>
            </p:cNvSpPr>
            <p:nvPr/>
          </p:nvSpPr>
          <p:spPr bwMode="auto">
            <a:xfrm>
              <a:off x="2135" y="1137"/>
              <a:ext cx="361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r>
                <a:rPr lang="en-US" altLang="en-US" sz="2400" b="1" dirty="0"/>
                <a:t>b</a:t>
              </a:r>
              <a:r>
                <a:rPr lang="en-US" altLang="en-US" sz="2400" dirty="0"/>
                <a:t> =</a:t>
              </a:r>
              <a:endParaRPr lang="en-GB" altLang="en-US" sz="2400" dirty="0"/>
            </a:p>
          </p:txBody>
        </p:sp>
        <p:grpSp>
          <p:nvGrpSpPr>
            <p:cNvPr id="22" name="Group 20"/>
            <p:cNvGrpSpPr>
              <a:grpSpLocks/>
            </p:cNvGrpSpPr>
            <p:nvPr/>
          </p:nvGrpSpPr>
          <p:grpSpPr bwMode="auto">
            <a:xfrm>
              <a:off x="2554" y="1017"/>
              <a:ext cx="336" cy="531"/>
              <a:chOff x="2723" y="1008"/>
              <a:chExt cx="336" cy="531"/>
            </a:xfrm>
          </p:grpSpPr>
          <p:sp>
            <p:nvSpPr>
              <p:cNvPr id="23" name="AutoShape 21"/>
              <p:cNvSpPr>
                <a:spLocks noChangeArrowheads="1"/>
              </p:cNvSpPr>
              <p:nvPr/>
            </p:nvSpPr>
            <p:spPr bwMode="auto">
              <a:xfrm>
                <a:off x="2723" y="1008"/>
                <a:ext cx="336" cy="528"/>
              </a:xfrm>
              <a:prstGeom prst="bracketPair">
                <a:avLst>
                  <a:gd name="adj" fmla="val 16667"/>
                </a:avLst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24" name="Text Box 22"/>
              <p:cNvSpPr txBox="1">
                <a:spLocks noChangeArrowheads="1"/>
              </p:cNvSpPr>
              <p:nvPr/>
            </p:nvSpPr>
            <p:spPr bwMode="auto">
              <a:xfrm>
                <a:off x="2726" y="1008"/>
                <a:ext cx="311" cy="29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 altLang="en-US" sz="2400"/>
                  <a:t>–2</a:t>
                </a:r>
                <a:endParaRPr lang="en-GB" altLang="en-US" sz="2400"/>
              </a:p>
            </p:txBody>
          </p:sp>
          <p:sp>
            <p:nvSpPr>
              <p:cNvPr id="25" name="Text Box 23"/>
              <p:cNvSpPr txBox="1">
                <a:spLocks noChangeArrowheads="1"/>
              </p:cNvSpPr>
              <p:nvPr/>
            </p:nvSpPr>
            <p:spPr bwMode="auto">
              <a:xfrm>
                <a:off x="2779" y="1248"/>
                <a:ext cx="214" cy="29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 altLang="en-US" sz="2400"/>
                  <a:t>6</a:t>
                </a:r>
                <a:endParaRPr lang="en-GB" altLang="en-US" sz="2400"/>
              </a:p>
            </p:txBody>
          </p:sp>
        </p:grpSp>
      </p:grpSp>
      <p:grpSp>
        <p:nvGrpSpPr>
          <p:cNvPr id="32" name="Group 50"/>
          <p:cNvGrpSpPr>
            <a:grpSpLocks/>
          </p:cNvGrpSpPr>
          <p:nvPr/>
        </p:nvGrpSpPr>
        <p:grpSpPr bwMode="auto">
          <a:xfrm>
            <a:off x="651956" y="2606040"/>
            <a:ext cx="2727325" cy="1862139"/>
            <a:chOff x="1429" y="2205"/>
            <a:chExt cx="1718" cy="1173"/>
          </a:xfrm>
          <a:noFill/>
        </p:grpSpPr>
        <p:sp>
          <p:nvSpPr>
            <p:cNvPr id="33" name="Rectangle 27"/>
            <p:cNvSpPr>
              <a:spLocks noChangeArrowheads="1"/>
            </p:cNvSpPr>
            <p:nvPr/>
          </p:nvSpPr>
          <p:spPr bwMode="auto">
            <a:xfrm>
              <a:off x="1429" y="2325"/>
              <a:ext cx="617" cy="291"/>
            </a:xfrm>
            <a:prstGeom prst="rect">
              <a:avLst/>
            </a:prstGeom>
            <a:grp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eaLnBrk="0" hangingPunct="0">
                <a:defRPr/>
              </a:pPr>
              <a:r>
                <a:rPr lang="en-GB" altLang="en-US" sz="2400" b="1" dirty="0"/>
                <a:t>a</a:t>
              </a:r>
              <a:r>
                <a:rPr lang="en-GB" altLang="en-US" sz="2400" dirty="0"/>
                <a:t> + </a:t>
              </a:r>
              <a:r>
                <a:rPr lang="en-GB" altLang="en-US" sz="2400" b="1" dirty="0"/>
                <a:t>c </a:t>
              </a:r>
              <a:r>
                <a:rPr lang="en-GB" altLang="en-US" sz="2400" dirty="0"/>
                <a:t>=</a:t>
              </a:r>
            </a:p>
          </p:txBody>
        </p:sp>
        <p:grpSp>
          <p:nvGrpSpPr>
            <p:cNvPr id="34" name="Group 29"/>
            <p:cNvGrpSpPr>
              <a:grpSpLocks/>
            </p:cNvGrpSpPr>
            <p:nvPr/>
          </p:nvGrpSpPr>
          <p:grpSpPr bwMode="auto">
            <a:xfrm>
              <a:off x="2177" y="2205"/>
              <a:ext cx="336" cy="531"/>
              <a:chOff x="1528" y="1017"/>
              <a:chExt cx="336" cy="531"/>
            </a:xfrm>
            <a:grpFill/>
          </p:grpSpPr>
          <p:sp>
            <p:nvSpPr>
              <p:cNvPr id="41" name="AutoShape 30"/>
              <p:cNvSpPr>
                <a:spLocks noChangeArrowheads="1"/>
              </p:cNvSpPr>
              <p:nvPr/>
            </p:nvSpPr>
            <p:spPr bwMode="auto">
              <a:xfrm>
                <a:off x="1528" y="1017"/>
                <a:ext cx="336" cy="528"/>
              </a:xfrm>
              <a:prstGeom prst="bracketPair">
                <a:avLst>
                  <a:gd name="adj" fmla="val 16667"/>
                </a:avLst>
              </a:prstGeom>
              <a:grp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GB" sz="2400"/>
              </a:p>
            </p:txBody>
          </p:sp>
          <p:sp>
            <p:nvSpPr>
              <p:cNvPr id="42" name="Text Box 31"/>
              <p:cNvSpPr txBox="1">
                <a:spLocks noChangeArrowheads="1"/>
              </p:cNvSpPr>
              <p:nvPr/>
            </p:nvSpPr>
            <p:spPr bwMode="auto">
              <a:xfrm>
                <a:off x="1584" y="1017"/>
                <a:ext cx="214" cy="291"/>
              </a:xfrm>
              <a:prstGeom prst="rect">
                <a:avLst/>
              </a:prstGeom>
              <a:grp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eaLnBrk="0" hangingPunct="0">
                  <a:defRPr/>
                </a:pPr>
                <a:r>
                  <a:rPr lang="en-US" altLang="en-US" sz="2400"/>
                  <a:t>5</a:t>
                </a:r>
                <a:endParaRPr lang="en-GB" altLang="en-US" sz="2400"/>
              </a:p>
            </p:txBody>
          </p:sp>
          <p:sp>
            <p:nvSpPr>
              <p:cNvPr id="43" name="Text Box 32"/>
              <p:cNvSpPr txBox="1">
                <a:spLocks noChangeArrowheads="1"/>
              </p:cNvSpPr>
              <p:nvPr/>
            </p:nvSpPr>
            <p:spPr bwMode="auto">
              <a:xfrm>
                <a:off x="1584" y="1257"/>
                <a:ext cx="214" cy="291"/>
              </a:xfrm>
              <a:prstGeom prst="rect">
                <a:avLst/>
              </a:prstGeom>
              <a:grp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eaLnBrk="0" hangingPunct="0">
                  <a:defRPr/>
                </a:pPr>
                <a:r>
                  <a:rPr lang="en-US" altLang="en-US" sz="2400"/>
                  <a:t>3</a:t>
                </a:r>
                <a:endParaRPr lang="en-GB" altLang="en-US" sz="2400"/>
              </a:p>
            </p:txBody>
          </p:sp>
        </p:grpSp>
        <p:sp>
          <p:nvSpPr>
            <p:cNvPr id="35" name="Text Box 33"/>
            <p:cNvSpPr txBox="1">
              <a:spLocks noChangeArrowheads="1"/>
            </p:cNvSpPr>
            <p:nvPr/>
          </p:nvSpPr>
          <p:spPr bwMode="auto">
            <a:xfrm>
              <a:off x="2548" y="2325"/>
              <a:ext cx="213" cy="291"/>
            </a:xfrm>
            <a:prstGeom prst="rect">
              <a:avLst/>
            </a:prstGeom>
            <a:grp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eaLnBrk="0" hangingPunct="0">
                <a:defRPr/>
              </a:pPr>
              <a:r>
                <a:rPr lang="en-GB" altLang="en-US" sz="2400"/>
                <a:t>+</a:t>
              </a:r>
            </a:p>
          </p:txBody>
        </p:sp>
        <p:grpSp>
          <p:nvGrpSpPr>
            <p:cNvPr id="36" name="Group 34"/>
            <p:cNvGrpSpPr>
              <a:grpSpLocks/>
            </p:cNvGrpSpPr>
            <p:nvPr/>
          </p:nvGrpSpPr>
          <p:grpSpPr bwMode="auto">
            <a:xfrm>
              <a:off x="2811" y="2205"/>
              <a:ext cx="336" cy="531"/>
              <a:chOff x="2723" y="1008"/>
              <a:chExt cx="336" cy="531"/>
            </a:xfrm>
            <a:grpFill/>
          </p:grpSpPr>
          <p:sp>
            <p:nvSpPr>
              <p:cNvPr id="38" name="AutoShape 35"/>
              <p:cNvSpPr>
                <a:spLocks noChangeArrowheads="1"/>
              </p:cNvSpPr>
              <p:nvPr/>
            </p:nvSpPr>
            <p:spPr bwMode="auto">
              <a:xfrm>
                <a:off x="2723" y="1008"/>
                <a:ext cx="336" cy="528"/>
              </a:xfrm>
              <a:prstGeom prst="bracketPair">
                <a:avLst>
                  <a:gd name="adj" fmla="val 16667"/>
                </a:avLst>
              </a:prstGeom>
              <a:grp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GB" sz="2400"/>
              </a:p>
            </p:txBody>
          </p:sp>
          <p:sp>
            <p:nvSpPr>
              <p:cNvPr id="39" name="Text Box 36"/>
              <p:cNvSpPr txBox="1">
                <a:spLocks noChangeArrowheads="1"/>
              </p:cNvSpPr>
              <p:nvPr/>
            </p:nvSpPr>
            <p:spPr bwMode="auto">
              <a:xfrm>
                <a:off x="2726" y="1008"/>
                <a:ext cx="311" cy="291"/>
              </a:xfrm>
              <a:prstGeom prst="rect">
                <a:avLst/>
              </a:prstGeom>
              <a:grp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eaLnBrk="0" hangingPunct="0">
                  <a:defRPr/>
                </a:pPr>
                <a:r>
                  <a:rPr lang="en-US" altLang="en-US" sz="2400"/>
                  <a:t>–1</a:t>
                </a:r>
                <a:endParaRPr lang="en-GB" altLang="en-US" sz="2400"/>
              </a:p>
            </p:txBody>
          </p:sp>
          <p:sp>
            <p:nvSpPr>
              <p:cNvPr id="40" name="Text Box 37"/>
              <p:cNvSpPr txBox="1">
                <a:spLocks noChangeArrowheads="1"/>
              </p:cNvSpPr>
              <p:nvPr/>
            </p:nvSpPr>
            <p:spPr bwMode="auto">
              <a:xfrm>
                <a:off x="2779" y="1248"/>
                <a:ext cx="214" cy="291"/>
              </a:xfrm>
              <a:prstGeom prst="rect">
                <a:avLst/>
              </a:prstGeom>
              <a:grp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eaLnBrk="0" hangingPunct="0">
                  <a:defRPr/>
                </a:pPr>
                <a:r>
                  <a:rPr lang="en-US" altLang="en-US" sz="2400" dirty="0"/>
                  <a:t>4</a:t>
                </a:r>
                <a:endParaRPr lang="en-GB" altLang="en-US" sz="2400" dirty="0"/>
              </a:p>
            </p:txBody>
          </p:sp>
        </p:grpSp>
        <p:sp>
          <p:nvSpPr>
            <p:cNvPr id="37" name="Text Box 38"/>
            <p:cNvSpPr txBox="1">
              <a:spLocks noChangeArrowheads="1"/>
            </p:cNvSpPr>
            <p:nvPr/>
          </p:nvSpPr>
          <p:spPr bwMode="auto">
            <a:xfrm>
              <a:off x="1940" y="3087"/>
              <a:ext cx="213" cy="291"/>
            </a:xfrm>
            <a:prstGeom prst="rect">
              <a:avLst/>
            </a:prstGeom>
            <a:grp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eaLnBrk="0" hangingPunct="0">
                <a:defRPr/>
              </a:pPr>
              <a:r>
                <a:rPr lang="en-GB" altLang="en-US" sz="2400" dirty="0"/>
                <a:t>=</a:t>
              </a:r>
            </a:p>
          </p:txBody>
        </p:sp>
      </p:grpSp>
      <p:grpSp>
        <p:nvGrpSpPr>
          <p:cNvPr id="45" name="Group 49"/>
          <p:cNvGrpSpPr>
            <a:grpSpLocks/>
          </p:cNvGrpSpPr>
          <p:nvPr/>
        </p:nvGrpSpPr>
        <p:grpSpPr bwMode="auto">
          <a:xfrm>
            <a:off x="1854599" y="3743719"/>
            <a:ext cx="1065213" cy="842963"/>
            <a:chOff x="3590" y="2205"/>
            <a:chExt cx="671" cy="531"/>
          </a:xfrm>
          <a:noFill/>
        </p:grpSpPr>
        <p:sp>
          <p:nvSpPr>
            <p:cNvPr id="47" name="AutoShape 40"/>
            <p:cNvSpPr>
              <a:spLocks noChangeArrowheads="1"/>
            </p:cNvSpPr>
            <p:nvPr/>
          </p:nvSpPr>
          <p:spPr bwMode="auto">
            <a:xfrm>
              <a:off x="3590" y="2205"/>
              <a:ext cx="671" cy="528"/>
            </a:xfrm>
            <a:prstGeom prst="bracketPair">
              <a:avLst>
                <a:gd name="adj" fmla="val 16667"/>
              </a:avLst>
            </a:prstGeom>
            <a:grp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GB" sz="2400"/>
            </a:p>
          </p:txBody>
        </p:sp>
        <p:sp>
          <p:nvSpPr>
            <p:cNvPr id="48" name="Text Box 41"/>
            <p:cNvSpPr txBox="1">
              <a:spLocks noChangeArrowheads="1"/>
            </p:cNvSpPr>
            <p:nvPr/>
          </p:nvSpPr>
          <p:spPr bwMode="auto">
            <a:xfrm>
              <a:off x="3598" y="2205"/>
              <a:ext cx="593" cy="291"/>
            </a:xfrm>
            <a:prstGeom prst="rect">
              <a:avLst/>
            </a:prstGeom>
            <a:grp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eaLnBrk="0" hangingPunct="0">
                <a:defRPr/>
              </a:pPr>
              <a:r>
                <a:rPr lang="en-US" altLang="en-US" sz="2400" dirty="0"/>
                <a:t>5 + –1</a:t>
              </a:r>
              <a:endParaRPr lang="en-GB" altLang="en-US" sz="2400" dirty="0"/>
            </a:p>
          </p:txBody>
        </p:sp>
        <p:sp>
          <p:nvSpPr>
            <p:cNvPr id="49" name="Text Box 42"/>
            <p:cNvSpPr txBox="1">
              <a:spLocks noChangeArrowheads="1"/>
            </p:cNvSpPr>
            <p:nvPr/>
          </p:nvSpPr>
          <p:spPr bwMode="auto">
            <a:xfrm>
              <a:off x="3652" y="2445"/>
              <a:ext cx="496" cy="291"/>
            </a:xfrm>
            <a:prstGeom prst="rect">
              <a:avLst/>
            </a:prstGeom>
            <a:grp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eaLnBrk="0" hangingPunct="0">
                <a:defRPr/>
              </a:pPr>
              <a:r>
                <a:rPr lang="en-US" altLang="en-US" sz="2400" dirty="0"/>
                <a:t>3 + 4</a:t>
              </a:r>
              <a:endParaRPr lang="en-GB" altLang="en-US" sz="2400" dirty="0"/>
            </a:p>
          </p:txBody>
        </p:sp>
      </p:grpSp>
      <p:grpSp>
        <p:nvGrpSpPr>
          <p:cNvPr id="50" name="Group 48"/>
          <p:cNvGrpSpPr>
            <a:grpSpLocks/>
          </p:cNvGrpSpPr>
          <p:nvPr/>
        </p:nvGrpSpPr>
        <p:grpSpPr bwMode="auto">
          <a:xfrm>
            <a:off x="2116787" y="4581919"/>
            <a:ext cx="533400" cy="842963"/>
            <a:chOff x="4540" y="2205"/>
            <a:chExt cx="336" cy="531"/>
          </a:xfrm>
          <a:noFill/>
        </p:grpSpPr>
        <p:sp>
          <p:nvSpPr>
            <p:cNvPr id="51" name="AutoShape 45"/>
            <p:cNvSpPr>
              <a:spLocks noChangeArrowheads="1"/>
            </p:cNvSpPr>
            <p:nvPr/>
          </p:nvSpPr>
          <p:spPr bwMode="auto">
            <a:xfrm>
              <a:off x="4540" y="2205"/>
              <a:ext cx="336" cy="528"/>
            </a:xfrm>
            <a:prstGeom prst="bracketPair">
              <a:avLst>
                <a:gd name="adj" fmla="val 16667"/>
              </a:avLst>
            </a:prstGeom>
            <a:grpFill/>
            <a:ln w="28575">
              <a:solidFill>
                <a:srgbClr val="FF66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>
                <a:defRPr/>
              </a:pPr>
              <a:endParaRPr lang="en-US" altLang="en-US" sz="2400" b="1"/>
            </a:p>
          </p:txBody>
        </p:sp>
        <p:sp>
          <p:nvSpPr>
            <p:cNvPr id="52" name="Text Box 46"/>
            <p:cNvSpPr txBox="1">
              <a:spLocks noChangeArrowheads="1"/>
            </p:cNvSpPr>
            <p:nvPr/>
          </p:nvSpPr>
          <p:spPr bwMode="auto">
            <a:xfrm>
              <a:off x="4596" y="2205"/>
              <a:ext cx="214" cy="291"/>
            </a:xfrm>
            <a:prstGeom prst="rect">
              <a:avLst/>
            </a:prstGeom>
            <a:grp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FF66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eaLnBrk="0" hangingPunct="0">
                <a:defRPr/>
              </a:pPr>
              <a:r>
                <a:rPr lang="en-US" altLang="en-US" sz="2400" b="1"/>
                <a:t>4</a:t>
              </a:r>
              <a:endParaRPr lang="en-GB" altLang="en-US" sz="2400" b="1"/>
            </a:p>
          </p:txBody>
        </p:sp>
        <p:sp>
          <p:nvSpPr>
            <p:cNvPr id="53" name="Text Box 47"/>
            <p:cNvSpPr txBox="1">
              <a:spLocks noChangeArrowheads="1"/>
            </p:cNvSpPr>
            <p:nvPr/>
          </p:nvSpPr>
          <p:spPr bwMode="auto">
            <a:xfrm>
              <a:off x="4596" y="2445"/>
              <a:ext cx="214" cy="291"/>
            </a:xfrm>
            <a:prstGeom prst="rect">
              <a:avLst/>
            </a:prstGeom>
            <a:grp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FF66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eaLnBrk="0" hangingPunct="0">
                <a:defRPr/>
              </a:pPr>
              <a:r>
                <a:rPr lang="en-US" altLang="en-US" sz="2400" b="1"/>
                <a:t>7</a:t>
              </a:r>
              <a:endParaRPr lang="en-GB" altLang="en-US" sz="2400" b="1"/>
            </a:p>
          </p:txBody>
        </p:sp>
      </p:grpSp>
      <p:grpSp>
        <p:nvGrpSpPr>
          <p:cNvPr id="54" name="Group 111"/>
          <p:cNvGrpSpPr>
            <a:grpSpLocks/>
          </p:cNvGrpSpPr>
          <p:nvPr/>
        </p:nvGrpSpPr>
        <p:grpSpPr bwMode="auto">
          <a:xfrm>
            <a:off x="4456415" y="2514600"/>
            <a:ext cx="2297112" cy="842963"/>
            <a:chOff x="1374" y="2584"/>
            <a:chExt cx="1447" cy="531"/>
          </a:xfrm>
        </p:grpSpPr>
        <p:grpSp>
          <p:nvGrpSpPr>
            <p:cNvPr id="55" name="Group 104"/>
            <p:cNvGrpSpPr>
              <a:grpSpLocks/>
            </p:cNvGrpSpPr>
            <p:nvPr/>
          </p:nvGrpSpPr>
          <p:grpSpPr bwMode="auto">
            <a:xfrm>
              <a:off x="1374" y="2584"/>
              <a:ext cx="1213" cy="531"/>
              <a:chOff x="1374" y="2584"/>
              <a:chExt cx="1213" cy="531"/>
            </a:xfrm>
          </p:grpSpPr>
          <p:sp>
            <p:nvSpPr>
              <p:cNvPr id="57" name="Rectangle 54"/>
              <p:cNvSpPr>
                <a:spLocks noChangeArrowheads="1"/>
              </p:cNvSpPr>
              <p:nvPr/>
            </p:nvSpPr>
            <p:spPr bwMode="auto">
              <a:xfrm>
                <a:off x="1374" y="2704"/>
                <a:ext cx="740" cy="29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eaLnBrk="0" hangingPunct="0"/>
                <a:r>
                  <a:rPr lang="en-GB" altLang="en-US" sz="2400"/>
                  <a:t>3</a:t>
                </a:r>
                <a:r>
                  <a:rPr lang="en-GB" altLang="en-US" sz="2400" b="1"/>
                  <a:t>b</a:t>
                </a:r>
                <a:r>
                  <a:rPr lang="en-GB" altLang="en-US" sz="2400"/>
                  <a:t> = 3 </a:t>
                </a:r>
                <a:r>
                  <a:rPr lang="en-US" altLang="en-US" sz="2400"/>
                  <a:t>×</a:t>
                </a:r>
              </a:p>
            </p:txBody>
          </p:sp>
          <p:grpSp>
            <p:nvGrpSpPr>
              <p:cNvPr id="58" name="Group 102"/>
              <p:cNvGrpSpPr>
                <a:grpSpLocks/>
              </p:cNvGrpSpPr>
              <p:nvPr/>
            </p:nvGrpSpPr>
            <p:grpSpPr bwMode="auto">
              <a:xfrm>
                <a:off x="2251" y="2584"/>
                <a:ext cx="336" cy="531"/>
                <a:chOff x="2251" y="2584"/>
                <a:chExt cx="336" cy="531"/>
              </a:xfrm>
            </p:grpSpPr>
            <p:sp>
              <p:nvSpPr>
                <p:cNvPr id="59" name="AutoShape 56"/>
                <p:cNvSpPr>
                  <a:spLocks noChangeArrowheads="1"/>
                </p:cNvSpPr>
                <p:nvPr/>
              </p:nvSpPr>
              <p:spPr bwMode="auto">
                <a:xfrm>
                  <a:off x="2251" y="2584"/>
                  <a:ext cx="336" cy="528"/>
                </a:xfrm>
                <a:prstGeom prst="bracketPair">
                  <a:avLst>
                    <a:gd name="adj" fmla="val 16667"/>
                  </a:avLst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GB" sz="2400"/>
                </a:p>
              </p:txBody>
            </p:sp>
            <p:sp>
              <p:nvSpPr>
                <p:cNvPr id="60" name="Text Box 57"/>
                <p:cNvSpPr txBox="1">
                  <a:spLocks noChangeArrowheads="1"/>
                </p:cNvSpPr>
                <p:nvPr/>
              </p:nvSpPr>
              <p:spPr bwMode="auto">
                <a:xfrm>
                  <a:off x="2254" y="2584"/>
                  <a:ext cx="311" cy="29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9pPr>
                </a:lstStyle>
                <a:p>
                  <a:r>
                    <a:rPr lang="en-US" altLang="en-US" sz="2400"/>
                    <a:t>–2</a:t>
                  </a:r>
                  <a:endParaRPr lang="en-GB" altLang="en-US" sz="2400"/>
                </a:p>
              </p:txBody>
            </p:sp>
            <p:sp>
              <p:nvSpPr>
                <p:cNvPr id="61" name="Text Box 58"/>
                <p:cNvSpPr txBox="1">
                  <a:spLocks noChangeArrowheads="1"/>
                </p:cNvSpPr>
                <p:nvPr/>
              </p:nvSpPr>
              <p:spPr bwMode="auto">
                <a:xfrm>
                  <a:off x="2307" y="2824"/>
                  <a:ext cx="214" cy="29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9pPr>
                </a:lstStyle>
                <a:p>
                  <a:r>
                    <a:rPr lang="en-US" altLang="en-US" sz="2400"/>
                    <a:t>6</a:t>
                  </a:r>
                  <a:endParaRPr lang="en-GB" altLang="en-US" sz="2400"/>
                </a:p>
              </p:txBody>
            </p:sp>
          </p:grpSp>
        </p:grpSp>
        <p:sp>
          <p:nvSpPr>
            <p:cNvPr id="56" name="Text Box 64"/>
            <p:cNvSpPr txBox="1">
              <a:spLocks noChangeArrowheads="1"/>
            </p:cNvSpPr>
            <p:nvPr/>
          </p:nvSpPr>
          <p:spPr bwMode="auto">
            <a:xfrm>
              <a:off x="2608" y="2704"/>
              <a:ext cx="213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r>
                <a:rPr lang="en-GB" altLang="en-US" sz="2400"/>
                <a:t>=</a:t>
              </a:r>
            </a:p>
          </p:txBody>
        </p:sp>
      </p:grpSp>
      <p:grpSp>
        <p:nvGrpSpPr>
          <p:cNvPr id="62" name="Group 65"/>
          <p:cNvGrpSpPr>
            <a:grpSpLocks/>
          </p:cNvGrpSpPr>
          <p:nvPr/>
        </p:nvGrpSpPr>
        <p:grpSpPr bwMode="auto">
          <a:xfrm>
            <a:off x="5119195" y="3393478"/>
            <a:ext cx="1458913" cy="842963"/>
            <a:chOff x="3446" y="2205"/>
            <a:chExt cx="919" cy="531"/>
          </a:xfrm>
        </p:grpSpPr>
        <p:grpSp>
          <p:nvGrpSpPr>
            <p:cNvPr id="63" name="Group 66"/>
            <p:cNvGrpSpPr>
              <a:grpSpLocks/>
            </p:cNvGrpSpPr>
            <p:nvPr/>
          </p:nvGrpSpPr>
          <p:grpSpPr bwMode="auto">
            <a:xfrm>
              <a:off x="3446" y="2205"/>
              <a:ext cx="671" cy="531"/>
              <a:chOff x="3590" y="2205"/>
              <a:chExt cx="671" cy="531"/>
            </a:xfrm>
          </p:grpSpPr>
          <p:sp>
            <p:nvSpPr>
              <p:cNvPr id="65" name="AutoShape 67"/>
              <p:cNvSpPr>
                <a:spLocks noChangeArrowheads="1"/>
              </p:cNvSpPr>
              <p:nvPr/>
            </p:nvSpPr>
            <p:spPr bwMode="auto">
              <a:xfrm>
                <a:off x="3590" y="2205"/>
                <a:ext cx="671" cy="528"/>
              </a:xfrm>
              <a:prstGeom prst="bracketPair">
                <a:avLst>
                  <a:gd name="adj" fmla="val 16667"/>
                </a:avLst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66" name="Text Box 68"/>
              <p:cNvSpPr txBox="1">
                <a:spLocks noChangeArrowheads="1"/>
              </p:cNvSpPr>
              <p:nvPr/>
            </p:nvSpPr>
            <p:spPr bwMode="auto">
              <a:xfrm>
                <a:off x="3598" y="2205"/>
                <a:ext cx="593" cy="29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 altLang="en-US" sz="2400" dirty="0"/>
                  <a:t>3 × –2</a:t>
                </a:r>
                <a:endParaRPr lang="en-GB" altLang="en-US" sz="2400" dirty="0"/>
              </a:p>
            </p:txBody>
          </p:sp>
          <p:sp>
            <p:nvSpPr>
              <p:cNvPr id="67" name="Text Box 69"/>
              <p:cNvSpPr txBox="1">
                <a:spLocks noChangeArrowheads="1"/>
              </p:cNvSpPr>
              <p:nvPr/>
            </p:nvSpPr>
            <p:spPr bwMode="auto">
              <a:xfrm>
                <a:off x="3652" y="2445"/>
                <a:ext cx="496" cy="29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 altLang="en-US" sz="2400" dirty="0"/>
                  <a:t>3 × 6</a:t>
                </a:r>
                <a:endParaRPr lang="en-GB" altLang="en-US" sz="2400" dirty="0"/>
              </a:p>
            </p:txBody>
          </p:sp>
        </p:grpSp>
        <p:sp>
          <p:nvSpPr>
            <p:cNvPr id="64" name="Text Box 70"/>
            <p:cNvSpPr txBox="1">
              <a:spLocks noChangeArrowheads="1"/>
            </p:cNvSpPr>
            <p:nvPr/>
          </p:nvSpPr>
          <p:spPr bwMode="auto">
            <a:xfrm>
              <a:off x="4152" y="2325"/>
              <a:ext cx="213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r>
                <a:rPr lang="en-GB" altLang="en-US" sz="2400"/>
                <a:t>=</a:t>
              </a:r>
            </a:p>
          </p:txBody>
        </p:sp>
      </p:grpSp>
      <p:grpSp>
        <p:nvGrpSpPr>
          <p:cNvPr id="68" name="Group 118"/>
          <p:cNvGrpSpPr>
            <a:grpSpLocks/>
          </p:cNvGrpSpPr>
          <p:nvPr/>
        </p:nvGrpSpPr>
        <p:grpSpPr bwMode="auto">
          <a:xfrm>
            <a:off x="6644709" y="3384685"/>
            <a:ext cx="533400" cy="842963"/>
            <a:chOff x="3871" y="2584"/>
            <a:chExt cx="336" cy="531"/>
          </a:xfrm>
        </p:grpSpPr>
        <p:sp>
          <p:nvSpPr>
            <p:cNvPr id="69" name="AutoShape 72"/>
            <p:cNvSpPr>
              <a:spLocks noChangeArrowheads="1"/>
            </p:cNvSpPr>
            <p:nvPr/>
          </p:nvSpPr>
          <p:spPr bwMode="auto">
            <a:xfrm>
              <a:off x="3871" y="2584"/>
              <a:ext cx="336" cy="528"/>
            </a:xfrm>
            <a:prstGeom prst="bracketPair">
              <a:avLst>
                <a:gd name="adj" fmla="val 16667"/>
              </a:avLst>
            </a:prstGeom>
            <a:noFill/>
            <a:ln w="28575">
              <a:solidFill>
                <a:srgbClr val="FF66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endParaRPr lang="en-US" altLang="en-US" sz="2400" b="1"/>
            </a:p>
          </p:txBody>
        </p:sp>
        <p:sp>
          <p:nvSpPr>
            <p:cNvPr id="70" name="Text Box 73"/>
            <p:cNvSpPr txBox="1">
              <a:spLocks noChangeArrowheads="1"/>
            </p:cNvSpPr>
            <p:nvPr/>
          </p:nvSpPr>
          <p:spPr bwMode="auto">
            <a:xfrm>
              <a:off x="3874" y="2584"/>
              <a:ext cx="311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FF66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r>
                <a:rPr lang="en-US" altLang="en-US" sz="2400" b="1" dirty="0"/>
                <a:t>–6</a:t>
              </a:r>
              <a:endParaRPr lang="en-GB" altLang="en-US" sz="2400" b="1" dirty="0"/>
            </a:p>
          </p:txBody>
        </p:sp>
        <p:sp>
          <p:nvSpPr>
            <p:cNvPr id="71" name="Text Box 74"/>
            <p:cNvSpPr txBox="1">
              <a:spLocks noChangeArrowheads="1"/>
            </p:cNvSpPr>
            <p:nvPr/>
          </p:nvSpPr>
          <p:spPr bwMode="auto">
            <a:xfrm>
              <a:off x="3874" y="2824"/>
              <a:ext cx="312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FF66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r>
                <a:rPr lang="en-US" altLang="en-US" sz="2400" b="1"/>
                <a:t>18</a:t>
              </a:r>
              <a:endParaRPr lang="en-GB" altLang="en-US" sz="2400" b="1"/>
            </a:p>
          </p:txBody>
        </p:sp>
      </p:grpSp>
      <p:sp>
        <p:nvSpPr>
          <p:cNvPr id="72" name="Text Box 43"/>
          <p:cNvSpPr txBox="1">
            <a:spLocks noChangeArrowheads="1"/>
          </p:cNvSpPr>
          <p:nvPr/>
        </p:nvSpPr>
        <p:spPr bwMode="auto">
          <a:xfrm>
            <a:off x="1462375" y="4751903"/>
            <a:ext cx="338138" cy="461963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wrap="none">
            <a:spAutoFit/>
          </a:bodyPr>
          <a:lstStyle/>
          <a:p>
            <a:pPr eaLnBrk="0" hangingPunct="0">
              <a:defRPr/>
            </a:pPr>
            <a:r>
              <a:rPr lang="en-GB" altLang="en-US" sz="2400" dirty="0"/>
              <a:t>=</a:t>
            </a:r>
          </a:p>
        </p:txBody>
      </p:sp>
      <p:grpSp>
        <p:nvGrpSpPr>
          <p:cNvPr id="73" name="Group 115"/>
          <p:cNvGrpSpPr>
            <a:grpSpLocks/>
          </p:cNvGrpSpPr>
          <p:nvPr/>
        </p:nvGrpSpPr>
        <p:grpSpPr bwMode="auto">
          <a:xfrm>
            <a:off x="7894935" y="2469355"/>
            <a:ext cx="3438525" cy="842963"/>
            <a:chOff x="1374" y="3310"/>
            <a:chExt cx="2166" cy="531"/>
          </a:xfrm>
        </p:grpSpPr>
        <p:sp>
          <p:nvSpPr>
            <p:cNvPr id="74" name="Rectangle 77"/>
            <p:cNvSpPr>
              <a:spLocks noChangeArrowheads="1"/>
            </p:cNvSpPr>
            <p:nvPr/>
          </p:nvSpPr>
          <p:spPr bwMode="auto">
            <a:xfrm>
              <a:off x="1374" y="3430"/>
              <a:ext cx="1005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eaLnBrk="0" hangingPunct="0"/>
              <a:r>
                <a:rPr lang="en-GB" altLang="en-US" sz="2400"/>
                <a:t>2</a:t>
              </a:r>
              <a:r>
                <a:rPr lang="en-GB" altLang="en-US" sz="2400" b="1"/>
                <a:t>c </a:t>
              </a:r>
              <a:r>
                <a:rPr lang="en-GB" altLang="en-US" sz="2400"/>
                <a:t>–</a:t>
              </a:r>
              <a:r>
                <a:rPr lang="en-GB" altLang="en-US" sz="2400" b="1"/>
                <a:t> b</a:t>
              </a:r>
              <a:r>
                <a:rPr lang="en-GB" altLang="en-US" sz="2400"/>
                <a:t> = 2 </a:t>
              </a:r>
              <a:r>
                <a:rPr lang="en-US" altLang="en-US" sz="2400"/>
                <a:t>×</a:t>
              </a:r>
            </a:p>
          </p:txBody>
        </p:sp>
        <p:grpSp>
          <p:nvGrpSpPr>
            <p:cNvPr id="75" name="Group 105"/>
            <p:cNvGrpSpPr>
              <a:grpSpLocks/>
            </p:cNvGrpSpPr>
            <p:nvPr/>
          </p:nvGrpSpPr>
          <p:grpSpPr bwMode="auto">
            <a:xfrm>
              <a:off x="2544" y="3310"/>
              <a:ext cx="336" cy="531"/>
              <a:chOff x="2643" y="3310"/>
              <a:chExt cx="336" cy="531"/>
            </a:xfrm>
          </p:grpSpPr>
          <p:sp>
            <p:nvSpPr>
              <p:cNvPr id="82" name="AutoShape 79"/>
              <p:cNvSpPr>
                <a:spLocks noChangeArrowheads="1"/>
              </p:cNvSpPr>
              <p:nvPr/>
            </p:nvSpPr>
            <p:spPr bwMode="auto">
              <a:xfrm>
                <a:off x="2643" y="3310"/>
                <a:ext cx="336" cy="528"/>
              </a:xfrm>
              <a:prstGeom prst="bracketPair">
                <a:avLst>
                  <a:gd name="adj" fmla="val 16667"/>
                </a:avLst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83" name="Text Box 80"/>
              <p:cNvSpPr txBox="1">
                <a:spLocks noChangeArrowheads="1"/>
              </p:cNvSpPr>
              <p:nvPr/>
            </p:nvSpPr>
            <p:spPr bwMode="auto">
              <a:xfrm>
                <a:off x="2646" y="3310"/>
                <a:ext cx="311" cy="29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 altLang="en-US" sz="2400"/>
                  <a:t>–1</a:t>
                </a:r>
                <a:endParaRPr lang="en-GB" altLang="en-US" sz="2400"/>
              </a:p>
            </p:txBody>
          </p:sp>
          <p:sp>
            <p:nvSpPr>
              <p:cNvPr id="84" name="Text Box 81"/>
              <p:cNvSpPr txBox="1">
                <a:spLocks noChangeArrowheads="1"/>
              </p:cNvSpPr>
              <p:nvPr/>
            </p:nvSpPr>
            <p:spPr bwMode="auto">
              <a:xfrm>
                <a:off x="2699" y="3550"/>
                <a:ext cx="214" cy="29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 altLang="en-US" sz="2400"/>
                  <a:t>4</a:t>
                </a:r>
                <a:endParaRPr lang="en-GB" altLang="en-US" sz="2400"/>
              </a:p>
            </p:txBody>
          </p:sp>
        </p:grpSp>
        <p:sp>
          <p:nvSpPr>
            <p:cNvPr id="76" name="Text Box 82"/>
            <p:cNvSpPr txBox="1">
              <a:spLocks noChangeArrowheads="1"/>
            </p:cNvSpPr>
            <p:nvPr/>
          </p:nvSpPr>
          <p:spPr bwMode="auto">
            <a:xfrm>
              <a:off x="2925" y="3430"/>
              <a:ext cx="213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r>
                <a:rPr lang="en-GB" altLang="en-US" sz="2400"/>
                <a:t>–</a:t>
              </a:r>
            </a:p>
          </p:txBody>
        </p:sp>
        <p:grpSp>
          <p:nvGrpSpPr>
            <p:cNvPr id="77" name="Group 112"/>
            <p:cNvGrpSpPr>
              <a:grpSpLocks/>
            </p:cNvGrpSpPr>
            <p:nvPr/>
          </p:nvGrpSpPr>
          <p:grpSpPr bwMode="auto">
            <a:xfrm>
              <a:off x="3204" y="3310"/>
              <a:ext cx="336" cy="531"/>
              <a:chOff x="3204" y="3310"/>
              <a:chExt cx="336" cy="531"/>
            </a:xfrm>
          </p:grpSpPr>
          <p:sp>
            <p:nvSpPr>
              <p:cNvPr id="79" name="AutoShape 84"/>
              <p:cNvSpPr>
                <a:spLocks noChangeArrowheads="1"/>
              </p:cNvSpPr>
              <p:nvPr/>
            </p:nvSpPr>
            <p:spPr bwMode="auto">
              <a:xfrm>
                <a:off x="3204" y="3310"/>
                <a:ext cx="336" cy="528"/>
              </a:xfrm>
              <a:prstGeom prst="bracketPair">
                <a:avLst>
                  <a:gd name="adj" fmla="val 16667"/>
                </a:avLst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80" name="Text Box 85"/>
              <p:cNvSpPr txBox="1">
                <a:spLocks noChangeArrowheads="1"/>
              </p:cNvSpPr>
              <p:nvPr/>
            </p:nvSpPr>
            <p:spPr bwMode="auto">
              <a:xfrm>
                <a:off x="3207" y="3310"/>
                <a:ext cx="311" cy="29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 altLang="en-US" sz="2400"/>
                  <a:t>–2</a:t>
                </a:r>
              </a:p>
            </p:txBody>
          </p:sp>
          <p:sp>
            <p:nvSpPr>
              <p:cNvPr id="81" name="Text Box 86"/>
              <p:cNvSpPr txBox="1">
                <a:spLocks noChangeArrowheads="1"/>
              </p:cNvSpPr>
              <p:nvPr/>
            </p:nvSpPr>
            <p:spPr bwMode="auto">
              <a:xfrm>
                <a:off x="3260" y="3550"/>
                <a:ext cx="214" cy="29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 altLang="en-US" sz="2400"/>
                  <a:t>6</a:t>
                </a:r>
                <a:endParaRPr lang="en-GB" altLang="en-US" sz="2400"/>
              </a:p>
            </p:txBody>
          </p:sp>
        </p:grpSp>
      </p:grpSp>
      <p:grpSp>
        <p:nvGrpSpPr>
          <p:cNvPr id="85" name="Group 116"/>
          <p:cNvGrpSpPr>
            <a:grpSpLocks/>
          </p:cNvGrpSpPr>
          <p:nvPr/>
        </p:nvGrpSpPr>
        <p:grpSpPr bwMode="auto">
          <a:xfrm>
            <a:off x="8915407" y="3399225"/>
            <a:ext cx="1617663" cy="842963"/>
            <a:chOff x="3787" y="3310"/>
            <a:chExt cx="1019" cy="531"/>
          </a:xfrm>
        </p:grpSpPr>
        <p:grpSp>
          <p:nvGrpSpPr>
            <p:cNvPr id="86" name="Group 113"/>
            <p:cNvGrpSpPr>
              <a:grpSpLocks/>
            </p:cNvGrpSpPr>
            <p:nvPr/>
          </p:nvGrpSpPr>
          <p:grpSpPr bwMode="auto">
            <a:xfrm>
              <a:off x="3787" y="3310"/>
              <a:ext cx="771" cy="531"/>
              <a:chOff x="3787" y="3310"/>
              <a:chExt cx="771" cy="531"/>
            </a:xfrm>
          </p:grpSpPr>
          <p:sp>
            <p:nvSpPr>
              <p:cNvPr id="88" name="AutoShape 90"/>
              <p:cNvSpPr>
                <a:spLocks noChangeArrowheads="1"/>
              </p:cNvSpPr>
              <p:nvPr/>
            </p:nvSpPr>
            <p:spPr bwMode="auto">
              <a:xfrm>
                <a:off x="3787" y="3310"/>
                <a:ext cx="771" cy="528"/>
              </a:xfrm>
              <a:prstGeom prst="bracketPair">
                <a:avLst>
                  <a:gd name="adj" fmla="val 16667"/>
                </a:avLst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GB" sz="2400"/>
              </a:p>
            </p:txBody>
          </p:sp>
          <p:sp>
            <p:nvSpPr>
              <p:cNvPr id="89" name="Text Box 91"/>
              <p:cNvSpPr txBox="1">
                <a:spLocks noChangeArrowheads="1"/>
              </p:cNvSpPr>
              <p:nvPr/>
            </p:nvSpPr>
            <p:spPr bwMode="auto">
              <a:xfrm>
                <a:off x="3794" y="3310"/>
                <a:ext cx="690" cy="29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 altLang="en-US" sz="2400"/>
                  <a:t>–2 – –2</a:t>
                </a:r>
                <a:endParaRPr lang="en-GB" altLang="en-US" sz="2400"/>
              </a:p>
            </p:txBody>
          </p:sp>
          <p:sp>
            <p:nvSpPr>
              <p:cNvPr id="90" name="Text Box 92"/>
              <p:cNvSpPr txBox="1">
                <a:spLocks noChangeArrowheads="1"/>
              </p:cNvSpPr>
              <p:nvPr/>
            </p:nvSpPr>
            <p:spPr bwMode="auto">
              <a:xfrm>
                <a:off x="3901" y="3550"/>
                <a:ext cx="496" cy="29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r>
                  <a:rPr lang="en-US" altLang="en-US" sz="2400" dirty="0"/>
                  <a:t>8 – 6</a:t>
                </a:r>
                <a:endParaRPr lang="en-GB" altLang="en-US" sz="2400" dirty="0"/>
              </a:p>
            </p:txBody>
          </p:sp>
        </p:grpSp>
        <p:sp>
          <p:nvSpPr>
            <p:cNvPr id="87" name="Text Box 93"/>
            <p:cNvSpPr txBox="1">
              <a:spLocks noChangeArrowheads="1"/>
            </p:cNvSpPr>
            <p:nvPr/>
          </p:nvSpPr>
          <p:spPr bwMode="auto">
            <a:xfrm>
              <a:off x="4593" y="3430"/>
              <a:ext cx="213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r>
                <a:rPr lang="en-GB" altLang="en-US" sz="2400"/>
                <a:t>=</a:t>
              </a:r>
            </a:p>
          </p:txBody>
        </p:sp>
      </p:grpSp>
      <p:grpSp>
        <p:nvGrpSpPr>
          <p:cNvPr id="91" name="Group 117"/>
          <p:cNvGrpSpPr>
            <a:grpSpLocks/>
          </p:cNvGrpSpPr>
          <p:nvPr/>
        </p:nvGrpSpPr>
        <p:grpSpPr bwMode="auto">
          <a:xfrm>
            <a:off x="10723860" y="3439706"/>
            <a:ext cx="504825" cy="842963"/>
            <a:chOff x="4830" y="3310"/>
            <a:chExt cx="318" cy="531"/>
          </a:xfrm>
        </p:grpSpPr>
        <p:sp>
          <p:nvSpPr>
            <p:cNvPr id="92" name="AutoShape 95"/>
            <p:cNvSpPr>
              <a:spLocks noChangeArrowheads="1"/>
            </p:cNvSpPr>
            <p:nvPr/>
          </p:nvSpPr>
          <p:spPr bwMode="auto">
            <a:xfrm>
              <a:off x="4830" y="3310"/>
              <a:ext cx="318" cy="528"/>
            </a:xfrm>
            <a:prstGeom prst="bracketPair">
              <a:avLst>
                <a:gd name="adj" fmla="val 16667"/>
              </a:avLst>
            </a:prstGeom>
            <a:noFill/>
            <a:ln w="28575">
              <a:solidFill>
                <a:srgbClr val="FF66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endParaRPr lang="en-US" altLang="en-US" sz="2400" b="1"/>
            </a:p>
          </p:txBody>
        </p:sp>
        <p:sp>
          <p:nvSpPr>
            <p:cNvPr id="93" name="Text Box 96"/>
            <p:cNvSpPr txBox="1">
              <a:spLocks noChangeArrowheads="1"/>
            </p:cNvSpPr>
            <p:nvPr/>
          </p:nvSpPr>
          <p:spPr bwMode="auto">
            <a:xfrm>
              <a:off x="4877" y="3310"/>
              <a:ext cx="214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FF66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r>
                <a:rPr lang="en-US" altLang="en-US" sz="2400" b="1"/>
                <a:t>0</a:t>
              </a:r>
              <a:endParaRPr lang="en-GB" altLang="en-US" sz="2400" b="1"/>
            </a:p>
          </p:txBody>
        </p:sp>
        <p:sp>
          <p:nvSpPr>
            <p:cNvPr id="94" name="Text Box 97"/>
            <p:cNvSpPr txBox="1">
              <a:spLocks noChangeArrowheads="1"/>
            </p:cNvSpPr>
            <p:nvPr/>
          </p:nvSpPr>
          <p:spPr bwMode="auto">
            <a:xfrm>
              <a:off x="4878" y="3550"/>
              <a:ext cx="214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FF66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r>
                <a:rPr lang="en-US" altLang="en-US" sz="2400" b="1"/>
                <a:t>2</a:t>
              </a:r>
              <a:endParaRPr lang="en-GB" altLang="en-US" sz="2400" b="1"/>
            </a:p>
          </p:txBody>
        </p:sp>
      </p:grpSp>
      <p:sp>
        <p:nvSpPr>
          <p:cNvPr id="95" name="Text Box 87"/>
          <p:cNvSpPr txBox="1">
            <a:spLocks noChangeArrowheads="1"/>
          </p:cNvSpPr>
          <p:nvPr/>
        </p:nvSpPr>
        <p:spPr bwMode="auto">
          <a:xfrm>
            <a:off x="8442333" y="3599245"/>
            <a:ext cx="338137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GB" altLang="en-US" sz="2400" dirty="0"/>
              <a:t>=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023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50">
                <a:solidFill>
                  <a:srgbClr val="C84F2F"/>
                </a:solidFill>
                <a:latin typeface="Calibri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658368"/>
            <a:ext cx="98755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rgbClr val="1C2A22"/>
                </a:solidFill>
                <a:latin typeface="Cambria"/>
              </a:rPr>
              <a:t>Using a Ratio: RS = a, PQ = 2a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261872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C6B60"/>
                </a:solidFill>
                <a:latin typeface="Calibri"/>
              </a:rPr>
              <a:t>RS = a,  PQ = 2a,  SQ = b. Diagrams not accurately drawn. Find RP in terms of a and 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5120640" cy="352044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" name="Connector 7"/>
          <p:cNvCxnSpPr/>
          <p:nvPr/>
        </p:nvCxnSpPr>
        <p:spPr>
          <a:xfrm>
            <a:off x="1481328" y="4526279"/>
            <a:ext cx="2377440" cy="0"/>
          </a:xfrm>
          <a:prstGeom prst="line">
            <a:avLst/>
          </a:prstGeom>
          <a:ln w="35560">
            <a:solidFill>
              <a:srgbClr val="5C6B6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938528" y="2514599"/>
            <a:ext cx="2743200" cy="0"/>
          </a:xfrm>
          <a:prstGeom prst="line">
            <a:avLst/>
          </a:prstGeom>
          <a:ln w="38100">
            <a:solidFill>
              <a:srgbClr val="C84F2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1938528" y="2514599"/>
            <a:ext cx="1920240" cy="2011680"/>
          </a:xfrm>
          <a:prstGeom prst="line">
            <a:avLst/>
          </a:prstGeom>
          <a:ln w="33020">
            <a:solidFill>
              <a:srgbClr val="1C2A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451328" y="4496279"/>
            <a:ext cx="60000" cy="60000"/>
          </a:xfrm>
          <a:prstGeom prst="ellipse">
            <a:avLst/>
          </a:prstGeom>
          <a:solidFill>
            <a:srgbClr val="1C2A2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828768" y="4496279"/>
            <a:ext cx="60000" cy="60000"/>
          </a:xfrm>
          <a:prstGeom prst="ellipse">
            <a:avLst/>
          </a:prstGeom>
          <a:solidFill>
            <a:srgbClr val="1C2A2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908528" y="2484599"/>
            <a:ext cx="60000" cy="60000"/>
          </a:xfrm>
          <a:prstGeom prst="ellipse">
            <a:avLst/>
          </a:prstGeom>
          <a:solidFill>
            <a:srgbClr val="1C2A2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651728" y="2484599"/>
            <a:ext cx="60000" cy="60000"/>
          </a:xfrm>
          <a:prstGeom prst="ellipse">
            <a:avLst/>
          </a:prstGeom>
          <a:solidFill>
            <a:srgbClr val="1C2A2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61288" y="4571999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C2A22"/>
                </a:solidFill>
                <a:latin typeface="Cambria"/>
              </a:rPr>
              <a:t>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571999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C2A22"/>
                </a:solidFill>
                <a:latin typeface="Cambria"/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18488" y="2194559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C2A22"/>
                </a:solidFill>
                <a:latin typeface="Cambria"/>
              </a:rPr>
              <a:t>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194559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C2A22"/>
                </a:solidFill>
                <a:latin typeface="Cambria"/>
              </a:rPr>
              <a:t>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2888" y="4599431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1">
                <a:solidFill>
                  <a:srgbClr val="5C6B60"/>
                </a:solidFill>
                <a:latin typeface="Cambria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72968" y="2130551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1">
                <a:solidFill>
                  <a:srgbClr val="C84F2F"/>
                </a:solidFill>
                <a:latin typeface="Cambria"/>
              </a:rPr>
              <a:t>2a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8303" y="3093517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1">
                <a:solidFill>
                  <a:srgbClr val="1C2A22"/>
                </a:solidFill>
                <a:latin typeface="Cambria"/>
              </a:rPr>
              <a:t>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53328" y="1874519"/>
            <a:ext cx="5422392" cy="352044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2148840"/>
            <a:ext cx="484632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350" b="0">
                <a:solidFill>
                  <a:srgbClr val="5C6B60"/>
                </a:solidFill>
                <a:latin typeface="Calibri"/>
              </a:rPr>
              <a:t>Go anti-clockwise from R to P:</a:t>
            </a:r>
          </a:p>
          <a:p>
            <a:pPr>
              <a:lnSpc>
                <a:spcPct val="130000"/>
              </a:lnSpc>
            </a:pPr>
            <a:r>
              <a:rPr sz="1350" b="0">
                <a:solidFill>
                  <a:srgbClr val="5C6B60"/>
                </a:solidFill>
                <a:latin typeface="Calibri"/>
              </a:rPr>
              <a:t>RP = RS + SQ + QP</a:t>
            </a:r>
          </a:p>
          <a:p>
            <a:pPr>
              <a:lnSpc>
                <a:spcPct val="130000"/>
              </a:lnSpc>
            </a:pPr>
            <a:r>
              <a:rPr sz="1350" b="0">
                <a:solidFill>
                  <a:srgbClr val="5C6B60"/>
                </a:solidFill>
                <a:latin typeface="Calibri"/>
              </a:rPr>
              <a:t>   = a + b + (−2a)</a:t>
            </a:r>
          </a:p>
          <a:p>
            <a:pPr>
              <a:lnSpc>
                <a:spcPct val="130000"/>
              </a:lnSpc>
            </a:pPr>
            <a:r>
              <a:rPr sz="1350" b="0">
                <a:solidFill>
                  <a:srgbClr val="5C6B60"/>
                </a:solidFill>
                <a:latin typeface="Calibri"/>
              </a:rPr>
              <a:t>   = b − a</a:t>
            </a:r>
          </a:p>
          <a:p>
            <a:pPr>
              <a:lnSpc>
                <a:spcPct val="130000"/>
              </a:lnSpc>
            </a:pPr>
            <a:endParaRPr sz="1350" b="0">
              <a:solidFill>
                <a:srgbClr val="5C6B60"/>
              </a:solidFill>
              <a:latin typeface="Calibri"/>
            </a:endParaRPr>
          </a:p>
          <a:p>
            <a:pPr>
              <a:lnSpc>
                <a:spcPct val="130000"/>
              </a:lnSpc>
            </a:pPr>
            <a:r>
              <a:rPr sz="1350" b="0">
                <a:solidFill>
                  <a:srgbClr val="5C6B60"/>
                </a:solidFill>
                <a:latin typeface="Calibri"/>
              </a:rPr>
              <a:t>Since PQ = 2 × RS, PQ is parallel</a:t>
            </a:r>
          </a:p>
          <a:p>
            <a:pPr>
              <a:lnSpc>
                <a:spcPct val="130000"/>
              </a:lnSpc>
            </a:pPr>
            <a:r>
              <a:rPr sz="1350" b="0">
                <a:solidFill>
                  <a:srgbClr val="5C6B60"/>
                </a:solidFill>
                <a:latin typeface="Calibri"/>
              </a:rPr>
              <a:t>to RS and twice as long —</a:t>
            </a:r>
          </a:p>
          <a:p>
            <a:pPr>
              <a:lnSpc>
                <a:spcPct val="130000"/>
              </a:lnSpc>
            </a:pPr>
            <a:r>
              <a:rPr sz="1350" b="0">
                <a:solidFill>
                  <a:srgbClr val="5C6B60"/>
                </a:solidFill>
                <a:latin typeface="Calibri"/>
              </a:rPr>
              <a:t>equivalently, RS = ½ PQ.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32120"/>
            <a:ext cx="11057839" cy="822960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550" b="1">
                <a:solidFill>
                  <a:srgbClr val="E0AC2B"/>
                </a:solidFill>
                <a:latin typeface="Cambria"/>
              </a:rPr>
              <a:t>Build the vector you want (RP) from a route of known vectors — here, R → S → Q → P.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73314" y="8194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0429" y="126609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50" dirty="0">
                <a:solidFill>
                  <a:srgbClr val="C84F2F"/>
                </a:solidFill>
                <a:latin typeface="Calibri"/>
              </a:rPr>
              <a:t>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1639" y="400929"/>
            <a:ext cx="98755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 dirty="0">
                <a:solidFill>
                  <a:srgbClr val="1C2A22"/>
                </a:solidFill>
                <a:latin typeface="Cambria"/>
              </a:rPr>
              <a:t>Name the Vectors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1954" y="935926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 dirty="0">
                <a:solidFill>
                  <a:srgbClr val="5C6B60"/>
                </a:solidFill>
                <a:latin typeface="Calibri"/>
              </a:rPr>
              <a:t>OABC is a parallelogram with OA = a and OC = c. Write each vector in terms of a and c.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ounded Rectangle 6"/>
              <p:cNvSpPr/>
              <p:nvPr/>
            </p:nvSpPr>
            <p:spPr>
              <a:xfrm>
                <a:off x="566928" y="1874519"/>
                <a:ext cx="5120640" cy="3520440"/>
              </a:xfrm>
              <a:prstGeom prst="roundRect">
                <a:avLst>
                  <a:gd name="adj" fmla="val 3500"/>
                </a:avLst>
              </a:prstGeom>
              <a:solidFill>
                <a:srgbClr val="EEF1E8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 smtClean="0">
                    <a:solidFill>
                      <a:schemeClr val="bg2">
                        <a:lumMod val="50000"/>
                      </a:schemeClr>
                    </a:solidFill>
                  </a:rPr>
                  <a:t>Let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/>
                          </a:rPr>
                          <m:t>𝐴𝐵</m:t>
                        </m:r>
                      </m:e>
                    </m:acc>
                    <m:r>
                      <a:rPr lang="ar-AE" b="0" i="1" smtClean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=</m:t>
                    </m:r>
                    <m:r>
                      <a:rPr lang="en-US" b="0" i="1" smtClean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𝑎</m:t>
                    </m:r>
                  </m:oMath>
                </a14:m>
                <a:r>
                  <a:rPr lang="en-US" dirty="0" smtClean="0">
                    <a:solidFill>
                      <a:schemeClr val="bg2">
                        <a:lumMod val="50000"/>
                      </a:schemeClr>
                    </a:solidFill>
                  </a:rPr>
                  <a:t>,</a:t>
                </a:r>
                <a:r>
                  <a:rPr lang="ar-AE" dirty="0">
                    <a:solidFill>
                      <a:schemeClr val="bg2">
                        <a:lumMod val="5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/>
                          </a:rPr>
                          <m:t>𝐷</m:t>
                        </m:r>
                      </m:e>
                    </m:acc>
                    <m:r>
                      <a:rPr lang="ar-AE" i="1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=</m:t>
                    </m:r>
                    <m:r>
                      <a:rPr lang="en-US" b="0" i="1" smtClean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𝑏</m:t>
                    </m:r>
                    <m:r>
                      <a:rPr lang="en-US" b="0" i="0" smtClean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.</m:t>
                    </m:r>
                  </m:oMath>
                </a14:m>
                <a:endParaRPr lang="en-US" b="0" dirty="0" smtClean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r>
                  <a:rPr lang="en-US" dirty="0" smtClean="0">
                    <a:solidFill>
                      <a:schemeClr val="bg2">
                        <a:lumMod val="5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/>
                          </a:rPr>
                          <m:t>𝐷𝐶</m:t>
                        </m:r>
                      </m:e>
                    </m:acc>
                    <m:r>
                      <a:rPr lang="ar-AE" i="1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𝑎</m:t>
                    </m:r>
                  </m:oMath>
                </a14:m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,</a:t>
                </a:r>
                <a:r>
                  <a:rPr lang="ar-AE" dirty="0">
                    <a:solidFill>
                      <a:schemeClr val="bg2">
                        <a:lumMod val="5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/>
                          </a:rPr>
                          <m:t>𝐵𝐶</m:t>
                        </m:r>
                      </m:e>
                    </m:acc>
                    <m:r>
                      <a:rPr lang="ar-AE" i="1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𝑏</m:t>
                    </m:r>
                    <m:r>
                      <a:rPr lang="en-US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.</m:t>
                    </m:r>
                  </m:oMath>
                </a14:m>
                <a:endParaRPr lang="en-US" dirty="0" smtClean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/>
                          </a:rPr>
                          <m:t>𝐶𝐷</m:t>
                        </m:r>
                      </m:e>
                    </m:acc>
                    <m:r>
                      <a:rPr lang="ar-AE" i="1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=</m:t>
                    </m:r>
                    <m:r>
                      <a:rPr lang="en-US" b="0" i="1" smtClean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−</m:t>
                    </m:r>
                    <m:r>
                      <a:rPr lang="en-US" i="1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𝑎</m:t>
                    </m:r>
                  </m:oMath>
                </a14:m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,</a:t>
                </a:r>
                <a:r>
                  <a:rPr lang="ar-AE" dirty="0">
                    <a:solidFill>
                      <a:schemeClr val="bg2">
                        <a:lumMod val="5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/>
                          </a:rPr>
                          <m:t>𝐶𝐵</m:t>
                        </m:r>
                      </m:e>
                    </m:acc>
                    <m:r>
                      <a:rPr lang="ar-AE" i="1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=</m:t>
                    </m:r>
                    <m:r>
                      <a:rPr lang="en-US" b="0" i="1" smtClean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−</m:t>
                    </m:r>
                    <m:r>
                      <a:rPr lang="en-US" i="1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𝑏</m:t>
                    </m:r>
                    <m:r>
                      <a:rPr lang="en-US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.</m:t>
                    </m:r>
                  </m:oMath>
                </a14:m>
                <a:endParaRPr lang="en-US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/>
                          </a:rPr>
                          <m:t>𝐵𝐷</m:t>
                        </m:r>
                      </m:e>
                    </m:acc>
                    <m:r>
                      <a:rPr lang="ar-AE" i="1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=</m:t>
                    </m:r>
                    <m:r>
                      <a:rPr lang="en-US" b="0" i="1" smtClean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−</m:t>
                    </m:r>
                    <m:r>
                      <a:rPr lang="en-US" b="0" i="1" smtClean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𝑎</m:t>
                    </m:r>
                    <m:r>
                      <a:rPr lang="en-US" b="0" i="1" smtClean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+</m:t>
                    </m:r>
                    <m:r>
                      <a:rPr lang="en-US" b="0" i="1" smtClean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𝑏</m:t>
                    </m:r>
                    <m:r>
                      <a:rPr lang="en-US" b="0" i="0" smtClean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, </m:t>
                    </m:r>
                  </m:oMath>
                </a14:m>
                <a:r>
                  <a:rPr lang="en-US" dirty="0" smtClean="0">
                    <a:solidFill>
                      <a:schemeClr val="bg2">
                        <a:lumMod val="50000"/>
                      </a:schemeClr>
                    </a:solidFill>
                  </a:rPr>
                  <a:t>or </a:t>
                </a:r>
                <a:r>
                  <a:rPr lang="ar-AE" dirty="0" smtClean="0">
                    <a:solidFill>
                      <a:schemeClr val="bg2">
                        <a:lumMod val="5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𝑏</m:t>
                    </m:r>
                    <m:r>
                      <a:rPr lang="en-US" b="0" i="1" smtClean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−</m:t>
                    </m:r>
                    <m:r>
                      <a:rPr lang="en-US" b="0" i="1" smtClean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𝑎</m:t>
                    </m:r>
                    <m:r>
                      <a:rPr lang="en-US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.</m:t>
                    </m:r>
                  </m:oMath>
                </a14:m>
                <a:endParaRPr lang="en-US" dirty="0" smtClean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/>
                          </a:rPr>
                          <m:t>𝐴𝐶</m:t>
                        </m:r>
                      </m:e>
                    </m:acc>
                    <m:r>
                      <a:rPr lang="ar-AE" i="1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𝑎</m:t>
                    </m:r>
                    <m:r>
                      <a:rPr lang="en-US" i="1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+</m:t>
                    </m:r>
                    <m:r>
                      <a:rPr lang="en-US" i="1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𝑏</m:t>
                    </m:r>
                    <m:r>
                      <a:rPr lang="en-US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, </m:t>
                    </m:r>
                  </m:oMath>
                </a14:m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or </a:t>
                </a:r>
                <a:r>
                  <a:rPr lang="ar-AE" dirty="0">
                    <a:solidFill>
                      <a:schemeClr val="bg2">
                        <a:lumMod val="5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𝑏</m:t>
                    </m:r>
                    <m:r>
                      <a:rPr lang="en-US" b="0" i="1" smtClean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+</m:t>
                    </m:r>
                    <m:r>
                      <a:rPr lang="en-US" i="1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𝑎</m:t>
                    </m:r>
                    <m:r>
                      <a:rPr lang="en-US">
                        <a:solidFill>
                          <a:schemeClr val="bg2">
                            <a:lumMod val="50000"/>
                          </a:schemeClr>
                        </a:solidFill>
                        <a:latin typeface="Cambria Math"/>
                      </a:rPr>
                      <m:t>.</m:t>
                    </m:r>
                  </m:oMath>
                </a14:m>
                <a:endParaRPr lang="en-US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endParaRPr lang="en-US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endParaRPr lang="en-US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endParaRPr lang="en-US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Rounded 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928" y="1874519"/>
                <a:ext cx="5120640" cy="3520440"/>
              </a:xfrm>
              <a:prstGeom prst="roundRect">
                <a:avLst>
                  <a:gd name="adj" fmla="val 3500"/>
                </a:avLst>
              </a:prstGeom>
              <a:blipFill rotWithShape="1">
                <a:blip r:embed="rId2"/>
                <a:stretch>
                  <a:fillRect l="-357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ounded Rectangle 21"/>
          <p:cNvSpPr/>
          <p:nvPr/>
        </p:nvSpPr>
        <p:spPr>
          <a:xfrm>
            <a:off x="6053328" y="1134364"/>
            <a:ext cx="5422392" cy="4260595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29536" y="6249289"/>
            <a:ext cx="7336079" cy="583912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550" b="1">
                <a:solidFill>
                  <a:srgbClr val="E0AC2B"/>
                </a:solidFill>
                <a:latin typeface="Cambria"/>
              </a:rPr>
              <a:t>Opposite sides of a parallelogram are equal and parallel — reuse vectors you already know.</a:t>
            </a:r>
          </a:p>
        </p:txBody>
      </p:sp>
      <p:grpSp>
        <p:nvGrpSpPr>
          <p:cNvPr id="26" name="Group 5"/>
          <p:cNvGrpSpPr>
            <a:grpSpLocks/>
          </p:cNvGrpSpPr>
          <p:nvPr/>
        </p:nvGrpSpPr>
        <p:grpSpPr bwMode="auto">
          <a:xfrm>
            <a:off x="6664696" y="1561401"/>
            <a:ext cx="4462463" cy="1755775"/>
            <a:chOff x="957" y="2697"/>
            <a:chExt cx="3021" cy="1202"/>
          </a:xfrm>
        </p:grpSpPr>
        <p:sp>
          <p:nvSpPr>
            <p:cNvPr id="27" name="Line 6"/>
            <p:cNvSpPr>
              <a:spLocks noChangeShapeType="1"/>
            </p:cNvSpPr>
            <p:nvPr/>
          </p:nvSpPr>
          <p:spPr bwMode="auto">
            <a:xfrm>
              <a:off x="957" y="3899"/>
              <a:ext cx="896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Line 7"/>
            <p:cNvSpPr>
              <a:spLocks noChangeShapeType="1"/>
            </p:cNvSpPr>
            <p:nvPr/>
          </p:nvSpPr>
          <p:spPr bwMode="auto">
            <a:xfrm>
              <a:off x="1853" y="3899"/>
              <a:ext cx="896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Line 8"/>
            <p:cNvSpPr>
              <a:spLocks noChangeShapeType="1"/>
            </p:cNvSpPr>
            <p:nvPr/>
          </p:nvSpPr>
          <p:spPr bwMode="auto">
            <a:xfrm flipH="1">
              <a:off x="957" y="3298"/>
              <a:ext cx="615" cy="60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Line 9"/>
            <p:cNvSpPr>
              <a:spLocks noChangeShapeType="1"/>
            </p:cNvSpPr>
            <p:nvPr/>
          </p:nvSpPr>
          <p:spPr bwMode="auto">
            <a:xfrm flipH="1">
              <a:off x="1572" y="2697"/>
              <a:ext cx="614" cy="60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Line 10"/>
            <p:cNvSpPr>
              <a:spLocks noChangeShapeType="1"/>
            </p:cNvSpPr>
            <p:nvPr/>
          </p:nvSpPr>
          <p:spPr bwMode="auto">
            <a:xfrm flipH="1">
              <a:off x="2749" y="3298"/>
              <a:ext cx="614" cy="60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Line 11"/>
            <p:cNvSpPr>
              <a:spLocks noChangeShapeType="1"/>
            </p:cNvSpPr>
            <p:nvPr/>
          </p:nvSpPr>
          <p:spPr bwMode="auto">
            <a:xfrm flipH="1">
              <a:off x="3363" y="2697"/>
              <a:ext cx="615" cy="60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Line 12"/>
            <p:cNvSpPr>
              <a:spLocks noChangeShapeType="1"/>
            </p:cNvSpPr>
            <p:nvPr/>
          </p:nvSpPr>
          <p:spPr bwMode="auto">
            <a:xfrm>
              <a:off x="2186" y="2697"/>
              <a:ext cx="896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Line 13"/>
            <p:cNvSpPr>
              <a:spLocks noChangeShapeType="1"/>
            </p:cNvSpPr>
            <p:nvPr/>
          </p:nvSpPr>
          <p:spPr bwMode="auto">
            <a:xfrm>
              <a:off x="3082" y="2697"/>
              <a:ext cx="896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5" name="Group 14"/>
          <p:cNvGrpSpPr>
            <a:grpSpLocks/>
          </p:cNvGrpSpPr>
          <p:nvPr/>
        </p:nvGrpSpPr>
        <p:grpSpPr bwMode="auto">
          <a:xfrm>
            <a:off x="9331696" y="1572514"/>
            <a:ext cx="1776413" cy="1736725"/>
            <a:chOff x="3092" y="1289"/>
            <a:chExt cx="1119" cy="1094"/>
          </a:xfrm>
        </p:grpSpPr>
        <p:sp>
          <p:nvSpPr>
            <p:cNvPr id="36" name="Line 15"/>
            <p:cNvSpPr>
              <a:spLocks noChangeShapeType="1"/>
            </p:cNvSpPr>
            <p:nvPr/>
          </p:nvSpPr>
          <p:spPr bwMode="auto">
            <a:xfrm flipH="1">
              <a:off x="3092" y="1782"/>
              <a:ext cx="614" cy="60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stealth" w="lg" len="lg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Line 16"/>
            <p:cNvSpPr>
              <a:spLocks noChangeShapeType="1"/>
            </p:cNvSpPr>
            <p:nvPr/>
          </p:nvSpPr>
          <p:spPr bwMode="auto">
            <a:xfrm flipH="1">
              <a:off x="3596" y="1289"/>
              <a:ext cx="615" cy="60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8" name="Group 17"/>
          <p:cNvGrpSpPr>
            <a:grpSpLocks/>
          </p:cNvGrpSpPr>
          <p:nvPr/>
        </p:nvGrpSpPr>
        <p:grpSpPr bwMode="auto">
          <a:xfrm>
            <a:off x="8434759" y="1562989"/>
            <a:ext cx="2705100" cy="0"/>
            <a:chOff x="2529" y="1181"/>
            <a:chExt cx="1704" cy="0"/>
          </a:xfrm>
        </p:grpSpPr>
        <p:sp>
          <p:nvSpPr>
            <p:cNvPr id="39" name="Line 18"/>
            <p:cNvSpPr>
              <a:spLocks noChangeShapeType="1"/>
            </p:cNvSpPr>
            <p:nvPr/>
          </p:nvSpPr>
          <p:spPr bwMode="auto">
            <a:xfrm>
              <a:off x="2529" y="1181"/>
              <a:ext cx="896" cy="0"/>
            </a:xfrm>
            <a:prstGeom prst="line">
              <a:avLst/>
            </a:prstGeom>
            <a:noFill/>
            <a:ln w="38100">
              <a:solidFill>
                <a:srgbClr val="3333FF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Line 19"/>
            <p:cNvSpPr>
              <a:spLocks noChangeShapeType="1"/>
            </p:cNvSpPr>
            <p:nvPr/>
          </p:nvSpPr>
          <p:spPr bwMode="auto">
            <a:xfrm>
              <a:off x="3337" y="1181"/>
              <a:ext cx="896" cy="0"/>
            </a:xfrm>
            <a:prstGeom prst="line">
              <a:avLst/>
            </a:prstGeom>
            <a:noFill/>
            <a:ln w="38100">
              <a:solidFill>
                <a:srgbClr val="3333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" name="Text Box 20"/>
          <p:cNvSpPr txBox="1">
            <a:spLocks noChangeArrowheads="1"/>
          </p:cNvSpPr>
          <p:nvPr/>
        </p:nvSpPr>
        <p:spPr bwMode="auto">
          <a:xfrm flipH="1">
            <a:off x="6296396" y="3018726"/>
            <a:ext cx="412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2400" i="1">
                <a:latin typeface="Tahoma" pitchFamily="34" charset="0"/>
              </a:rPr>
              <a:t>A</a:t>
            </a:r>
            <a:endParaRPr lang="en-US" sz="2400" i="1">
              <a:latin typeface="Tahoma" pitchFamily="34" charset="0"/>
            </a:endParaRPr>
          </a:p>
        </p:txBody>
      </p:sp>
      <p:sp>
        <p:nvSpPr>
          <p:cNvPr id="42" name="Text Box 21"/>
          <p:cNvSpPr txBox="1">
            <a:spLocks noChangeArrowheads="1"/>
          </p:cNvSpPr>
          <p:nvPr/>
        </p:nvSpPr>
        <p:spPr bwMode="auto">
          <a:xfrm flipH="1">
            <a:off x="8195046" y="1134364"/>
            <a:ext cx="412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2400" i="1">
                <a:latin typeface="Tahoma" pitchFamily="34" charset="0"/>
              </a:rPr>
              <a:t>B</a:t>
            </a:r>
            <a:endParaRPr lang="en-US" sz="2400" i="1">
              <a:latin typeface="Tahoma" pitchFamily="34" charset="0"/>
            </a:endParaRPr>
          </a:p>
        </p:txBody>
      </p:sp>
      <p:sp>
        <p:nvSpPr>
          <p:cNvPr id="43" name="Text Box 22"/>
          <p:cNvSpPr txBox="1">
            <a:spLocks noChangeArrowheads="1"/>
          </p:cNvSpPr>
          <p:nvPr/>
        </p:nvSpPr>
        <p:spPr bwMode="auto">
          <a:xfrm flipH="1">
            <a:off x="11114459" y="1164526"/>
            <a:ext cx="412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2400" i="1">
                <a:latin typeface="Tahoma" pitchFamily="34" charset="0"/>
              </a:rPr>
              <a:t>C</a:t>
            </a:r>
            <a:endParaRPr lang="en-US" sz="2400" i="1">
              <a:latin typeface="Tahoma" pitchFamily="34" charset="0"/>
            </a:endParaRPr>
          </a:p>
        </p:txBody>
      </p:sp>
      <p:sp>
        <p:nvSpPr>
          <p:cNvPr id="44" name="Text Box 23"/>
          <p:cNvSpPr txBox="1">
            <a:spLocks noChangeArrowheads="1"/>
          </p:cNvSpPr>
          <p:nvPr/>
        </p:nvSpPr>
        <p:spPr bwMode="auto">
          <a:xfrm flipH="1">
            <a:off x="9411071" y="3010789"/>
            <a:ext cx="412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2400" i="1">
                <a:latin typeface="Tahoma" pitchFamily="34" charset="0"/>
              </a:rPr>
              <a:t>D</a:t>
            </a:r>
            <a:endParaRPr lang="en-US" sz="2400" i="1">
              <a:latin typeface="Tahoma" pitchFamily="34" charset="0"/>
            </a:endParaRPr>
          </a:p>
        </p:txBody>
      </p:sp>
      <p:sp>
        <p:nvSpPr>
          <p:cNvPr id="45" name="Text Box 26"/>
          <p:cNvSpPr txBox="1">
            <a:spLocks noChangeArrowheads="1"/>
          </p:cNvSpPr>
          <p:nvPr/>
        </p:nvSpPr>
        <p:spPr bwMode="auto">
          <a:xfrm flipH="1">
            <a:off x="7129834" y="2082101"/>
            <a:ext cx="412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2400" b="1">
                <a:solidFill>
                  <a:srgbClr val="FF0000"/>
                </a:solidFill>
                <a:latin typeface="Arial Black" pitchFamily="34" charset="0"/>
              </a:rPr>
              <a:t>a</a:t>
            </a:r>
            <a:endParaRPr lang="en-US" sz="2400" b="1">
              <a:solidFill>
                <a:srgbClr val="FF0000"/>
              </a:solidFill>
              <a:latin typeface="Arial Black" pitchFamily="34" charset="0"/>
            </a:endParaRPr>
          </a:p>
        </p:txBody>
      </p:sp>
      <p:sp>
        <p:nvSpPr>
          <p:cNvPr id="46" name="Text Box 27"/>
          <p:cNvSpPr txBox="1">
            <a:spLocks noChangeArrowheads="1"/>
          </p:cNvSpPr>
          <p:nvPr/>
        </p:nvSpPr>
        <p:spPr bwMode="auto">
          <a:xfrm flipH="1">
            <a:off x="10292134" y="2220214"/>
            <a:ext cx="412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2400" b="1">
                <a:solidFill>
                  <a:srgbClr val="FF0000"/>
                </a:solidFill>
                <a:latin typeface="Arial Black" pitchFamily="34" charset="0"/>
              </a:rPr>
              <a:t>a</a:t>
            </a:r>
            <a:endParaRPr lang="en-US" sz="2400" b="1">
              <a:solidFill>
                <a:srgbClr val="FF0000"/>
              </a:solidFill>
              <a:latin typeface="Arial Black" pitchFamily="34" charset="0"/>
            </a:endParaRPr>
          </a:p>
        </p:txBody>
      </p:sp>
      <p:sp>
        <p:nvSpPr>
          <p:cNvPr id="47" name="Text Box 28"/>
          <p:cNvSpPr txBox="1">
            <a:spLocks noChangeArrowheads="1"/>
          </p:cNvSpPr>
          <p:nvPr/>
        </p:nvSpPr>
        <p:spPr bwMode="auto">
          <a:xfrm flipH="1">
            <a:off x="7764834" y="3339401"/>
            <a:ext cx="412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2400" b="1">
                <a:solidFill>
                  <a:srgbClr val="3333FF"/>
                </a:solidFill>
                <a:latin typeface="Arial Black" pitchFamily="34" charset="0"/>
              </a:rPr>
              <a:t>b</a:t>
            </a:r>
            <a:endParaRPr lang="en-US" sz="2400" b="1">
              <a:solidFill>
                <a:srgbClr val="3333FF"/>
              </a:solidFill>
              <a:latin typeface="Arial Black" pitchFamily="34" charset="0"/>
            </a:endParaRPr>
          </a:p>
        </p:txBody>
      </p:sp>
      <p:sp>
        <p:nvSpPr>
          <p:cNvPr id="48" name="Text Box 29"/>
          <p:cNvSpPr txBox="1">
            <a:spLocks noChangeArrowheads="1"/>
          </p:cNvSpPr>
          <p:nvPr/>
        </p:nvSpPr>
        <p:spPr bwMode="auto">
          <a:xfrm flipH="1">
            <a:off x="9530134" y="1075626"/>
            <a:ext cx="412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2400" b="1">
                <a:solidFill>
                  <a:srgbClr val="3333FF"/>
                </a:solidFill>
                <a:latin typeface="Arial Black" pitchFamily="34" charset="0"/>
              </a:rPr>
              <a:t>b</a:t>
            </a:r>
            <a:endParaRPr lang="en-US" sz="2400" b="1">
              <a:solidFill>
                <a:srgbClr val="3333FF"/>
              </a:solidFill>
              <a:latin typeface="Arial Black" pitchFamily="34" charset="0"/>
            </a:endParaRPr>
          </a:p>
        </p:txBody>
      </p:sp>
      <p:grpSp>
        <p:nvGrpSpPr>
          <p:cNvPr id="49" name="Group 31"/>
          <p:cNvGrpSpPr>
            <a:grpSpLocks/>
          </p:cNvGrpSpPr>
          <p:nvPr/>
        </p:nvGrpSpPr>
        <p:grpSpPr bwMode="auto">
          <a:xfrm>
            <a:off x="6661521" y="3309239"/>
            <a:ext cx="2705100" cy="0"/>
            <a:chOff x="1300" y="2383"/>
            <a:chExt cx="1704" cy="0"/>
          </a:xfrm>
        </p:grpSpPr>
        <p:sp>
          <p:nvSpPr>
            <p:cNvPr id="50" name="Line 32"/>
            <p:cNvSpPr>
              <a:spLocks noChangeShapeType="1"/>
            </p:cNvSpPr>
            <p:nvPr/>
          </p:nvSpPr>
          <p:spPr bwMode="auto">
            <a:xfrm>
              <a:off x="1300" y="2383"/>
              <a:ext cx="896" cy="0"/>
            </a:xfrm>
            <a:prstGeom prst="line">
              <a:avLst/>
            </a:prstGeom>
            <a:noFill/>
            <a:ln w="38100">
              <a:solidFill>
                <a:srgbClr val="3333FF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Line 33"/>
            <p:cNvSpPr>
              <a:spLocks noChangeShapeType="1"/>
            </p:cNvSpPr>
            <p:nvPr/>
          </p:nvSpPr>
          <p:spPr bwMode="auto">
            <a:xfrm>
              <a:off x="2108" y="2383"/>
              <a:ext cx="896" cy="0"/>
            </a:xfrm>
            <a:prstGeom prst="line">
              <a:avLst/>
            </a:prstGeom>
            <a:noFill/>
            <a:ln w="38100">
              <a:solidFill>
                <a:srgbClr val="3333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2" name="Group 34"/>
          <p:cNvGrpSpPr>
            <a:grpSpLocks/>
          </p:cNvGrpSpPr>
          <p:nvPr/>
        </p:nvGrpSpPr>
        <p:grpSpPr bwMode="auto">
          <a:xfrm>
            <a:off x="6686921" y="1572514"/>
            <a:ext cx="1776413" cy="1736725"/>
            <a:chOff x="1300" y="1289"/>
            <a:chExt cx="1119" cy="1094"/>
          </a:xfrm>
        </p:grpSpPr>
        <p:sp>
          <p:nvSpPr>
            <p:cNvPr id="53" name="Line 35"/>
            <p:cNvSpPr>
              <a:spLocks noChangeShapeType="1"/>
            </p:cNvSpPr>
            <p:nvPr/>
          </p:nvSpPr>
          <p:spPr bwMode="auto">
            <a:xfrm flipH="1">
              <a:off x="1300" y="1782"/>
              <a:ext cx="615" cy="60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stealth" w="lg" len="lg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Line 36"/>
            <p:cNvSpPr>
              <a:spLocks noChangeShapeType="1"/>
            </p:cNvSpPr>
            <p:nvPr/>
          </p:nvSpPr>
          <p:spPr bwMode="auto">
            <a:xfrm flipH="1">
              <a:off x="1805" y="1289"/>
              <a:ext cx="614" cy="60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2" name="Group 14"/>
          <p:cNvGrpSpPr>
            <a:grpSpLocks/>
          </p:cNvGrpSpPr>
          <p:nvPr/>
        </p:nvGrpSpPr>
        <p:grpSpPr bwMode="auto">
          <a:xfrm rot="10800000">
            <a:off x="9307884" y="1570926"/>
            <a:ext cx="1776412" cy="1736725"/>
            <a:chOff x="3092" y="1289"/>
            <a:chExt cx="1119" cy="1094"/>
          </a:xfrm>
        </p:grpSpPr>
        <p:sp>
          <p:nvSpPr>
            <p:cNvPr id="63" name="Line 15"/>
            <p:cNvSpPr>
              <a:spLocks noChangeShapeType="1"/>
            </p:cNvSpPr>
            <p:nvPr/>
          </p:nvSpPr>
          <p:spPr bwMode="auto">
            <a:xfrm flipH="1">
              <a:off x="3092" y="1782"/>
              <a:ext cx="614" cy="60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stealth" w="lg" len="lg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Line 16"/>
            <p:cNvSpPr>
              <a:spLocks noChangeShapeType="1"/>
            </p:cNvSpPr>
            <p:nvPr/>
          </p:nvSpPr>
          <p:spPr bwMode="auto">
            <a:xfrm flipH="1">
              <a:off x="3596" y="1289"/>
              <a:ext cx="615" cy="60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5" name="Text Box 27"/>
          <p:cNvSpPr txBox="1">
            <a:spLocks noChangeArrowheads="1"/>
          </p:cNvSpPr>
          <p:nvPr/>
        </p:nvSpPr>
        <p:spPr bwMode="auto">
          <a:xfrm flipH="1">
            <a:off x="10268321" y="2218626"/>
            <a:ext cx="708025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2400" b="1">
                <a:solidFill>
                  <a:srgbClr val="FF0000"/>
                </a:solidFill>
                <a:latin typeface="Arial Black" pitchFamily="34" charset="0"/>
              </a:rPr>
              <a:t>-a</a:t>
            </a:r>
            <a:endParaRPr lang="en-US" sz="2400" b="1">
              <a:solidFill>
                <a:srgbClr val="FF0000"/>
              </a:solidFill>
              <a:latin typeface="Arial Black" pitchFamily="34" charset="0"/>
            </a:endParaRPr>
          </a:p>
        </p:txBody>
      </p:sp>
      <p:grpSp>
        <p:nvGrpSpPr>
          <p:cNvPr id="67" name="Group 5"/>
          <p:cNvGrpSpPr>
            <a:grpSpLocks/>
          </p:cNvGrpSpPr>
          <p:nvPr/>
        </p:nvGrpSpPr>
        <p:grpSpPr bwMode="auto">
          <a:xfrm>
            <a:off x="7155234" y="4501451"/>
            <a:ext cx="4462462" cy="1755775"/>
            <a:chOff x="957" y="2697"/>
            <a:chExt cx="3021" cy="1202"/>
          </a:xfrm>
        </p:grpSpPr>
        <p:sp>
          <p:nvSpPr>
            <p:cNvPr id="68" name="Line 6"/>
            <p:cNvSpPr>
              <a:spLocks noChangeShapeType="1"/>
            </p:cNvSpPr>
            <p:nvPr/>
          </p:nvSpPr>
          <p:spPr bwMode="auto">
            <a:xfrm>
              <a:off x="957" y="3899"/>
              <a:ext cx="896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Line 7"/>
            <p:cNvSpPr>
              <a:spLocks noChangeShapeType="1"/>
            </p:cNvSpPr>
            <p:nvPr/>
          </p:nvSpPr>
          <p:spPr bwMode="auto">
            <a:xfrm>
              <a:off x="1853" y="3899"/>
              <a:ext cx="896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Line 8"/>
            <p:cNvSpPr>
              <a:spLocks noChangeShapeType="1"/>
            </p:cNvSpPr>
            <p:nvPr/>
          </p:nvSpPr>
          <p:spPr bwMode="auto">
            <a:xfrm flipH="1">
              <a:off x="957" y="3298"/>
              <a:ext cx="615" cy="60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Line 9"/>
            <p:cNvSpPr>
              <a:spLocks noChangeShapeType="1"/>
            </p:cNvSpPr>
            <p:nvPr/>
          </p:nvSpPr>
          <p:spPr bwMode="auto">
            <a:xfrm flipH="1">
              <a:off x="1572" y="2697"/>
              <a:ext cx="614" cy="60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Line 10"/>
            <p:cNvSpPr>
              <a:spLocks noChangeShapeType="1"/>
            </p:cNvSpPr>
            <p:nvPr/>
          </p:nvSpPr>
          <p:spPr bwMode="auto">
            <a:xfrm flipH="1">
              <a:off x="2749" y="3298"/>
              <a:ext cx="614" cy="60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Line 11"/>
            <p:cNvSpPr>
              <a:spLocks noChangeShapeType="1"/>
            </p:cNvSpPr>
            <p:nvPr/>
          </p:nvSpPr>
          <p:spPr bwMode="auto">
            <a:xfrm flipH="1">
              <a:off x="3363" y="2697"/>
              <a:ext cx="615" cy="60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Line 12"/>
            <p:cNvSpPr>
              <a:spLocks noChangeShapeType="1"/>
            </p:cNvSpPr>
            <p:nvPr/>
          </p:nvSpPr>
          <p:spPr bwMode="auto">
            <a:xfrm>
              <a:off x="2186" y="2697"/>
              <a:ext cx="896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Line 13"/>
            <p:cNvSpPr>
              <a:spLocks noChangeShapeType="1"/>
            </p:cNvSpPr>
            <p:nvPr/>
          </p:nvSpPr>
          <p:spPr bwMode="auto">
            <a:xfrm>
              <a:off x="3082" y="2697"/>
              <a:ext cx="896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6" name="Text Box 20"/>
          <p:cNvSpPr txBox="1">
            <a:spLocks noChangeArrowheads="1"/>
          </p:cNvSpPr>
          <p:nvPr/>
        </p:nvSpPr>
        <p:spPr bwMode="auto">
          <a:xfrm flipH="1">
            <a:off x="6786934" y="5958776"/>
            <a:ext cx="412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2400" i="1">
                <a:latin typeface="Tahoma" pitchFamily="34" charset="0"/>
              </a:rPr>
              <a:t>A</a:t>
            </a:r>
            <a:endParaRPr lang="en-US" sz="2400" i="1">
              <a:latin typeface="Tahoma" pitchFamily="34" charset="0"/>
            </a:endParaRPr>
          </a:p>
        </p:txBody>
      </p:sp>
      <p:sp>
        <p:nvSpPr>
          <p:cNvPr id="77" name="Text Box 21"/>
          <p:cNvSpPr txBox="1">
            <a:spLocks noChangeArrowheads="1"/>
          </p:cNvSpPr>
          <p:nvPr/>
        </p:nvSpPr>
        <p:spPr bwMode="auto">
          <a:xfrm flipH="1">
            <a:off x="8685584" y="4074414"/>
            <a:ext cx="412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2400" i="1">
                <a:latin typeface="Tahoma" pitchFamily="34" charset="0"/>
              </a:rPr>
              <a:t>B</a:t>
            </a:r>
            <a:endParaRPr lang="en-US" sz="2400" i="1">
              <a:latin typeface="Tahoma" pitchFamily="34" charset="0"/>
            </a:endParaRPr>
          </a:p>
        </p:txBody>
      </p:sp>
      <p:sp>
        <p:nvSpPr>
          <p:cNvPr id="78" name="Text Box 22"/>
          <p:cNvSpPr txBox="1">
            <a:spLocks noChangeArrowheads="1"/>
          </p:cNvSpPr>
          <p:nvPr/>
        </p:nvSpPr>
        <p:spPr bwMode="auto">
          <a:xfrm flipH="1">
            <a:off x="11604996" y="4104576"/>
            <a:ext cx="412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2400" i="1">
                <a:latin typeface="Tahoma" pitchFamily="34" charset="0"/>
              </a:rPr>
              <a:t>C</a:t>
            </a:r>
            <a:endParaRPr lang="en-US" sz="2400" i="1">
              <a:latin typeface="Tahoma" pitchFamily="34" charset="0"/>
            </a:endParaRPr>
          </a:p>
        </p:txBody>
      </p:sp>
      <p:sp>
        <p:nvSpPr>
          <p:cNvPr id="79" name="Text Box 23"/>
          <p:cNvSpPr txBox="1">
            <a:spLocks noChangeArrowheads="1"/>
          </p:cNvSpPr>
          <p:nvPr/>
        </p:nvSpPr>
        <p:spPr bwMode="auto">
          <a:xfrm flipH="1">
            <a:off x="9901609" y="5950839"/>
            <a:ext cx="412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2400" i="1">
                <a:latin typeface="Tahoma" pitchFamily="34" charset="0"/>
              </a:rPr>
              <a:t>D</a:t>
            </a:r>
            <a:endParaRPr lang="en-US" sz="2400" i="1">
              <a:latin typeface="Tahoma" pitchFamily="34" charset="0"/>
            </a:endParaRPr>
          </a:p>
        </p:txBody>
      </p:sp>
      <p:sp>
        <p:nvSpPr>
          <p:cNvPr id="80" name="Text Box 26"/>
          <p:cNvSpPr txBox="1">
            <a:spLocks noChangeArrowheads="1"/>
          </p:cNvSpPr>
          <p:nvPr/>
        </p:nvSpPr>
        <p:spPr bwMode="auto">
          <a:xfrm flipH="1">
            <a:off x="7620371" y="5022151"/>
            <a:ext cx="412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2400" b="1" dirty="0">
                <a:solidFill>
                  <a:srgbClr val="FF0000"/>
                </a:solidFill>
                <a:latin typeface="Arial Black" pitchFamily="34" charset="0"/>
              </a:rPr>
              <a:t>a</a:t>
            </a:r>
            <a:endParaRPr lang="en-US" sz="2400" b="1" dirty="0">
              <a:solidFill>
                <a:srgbClr val="FF0000"/>
              </a:solidFill>
              <a:latin typeface="Arial Black" pitchFamily="34" charset="0"/>
            </a:endParaRPr>
          </a:p>
        </p:txBody>
      </p:sp>
      <p:sp>
        <p:nvSpPr>
          <p:cNvPr id="81" name="Text Box 28"/>
          <p:cNvSpPr txBox="1">
            <a:spLocks noChangeArrowheads="1"/>
          </p:cNvSpPr>
          <p:nvPr/>
        </p:nvSpPr>
        <p:spPr bwMode="auto">
          <a:xfrm flipH="1">
            <a:off x="8255371" y="6279451"/>
            <a:ext cx="412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2400" b="1">
                <a:solidFill>
                  <a:srgbClr val="3333FF"/>
                </a:solidFill>
                <a:latin typeface="Arial Black" pitchFamily="34" charset="0"/>
              </a:rPr>
              <a:t>b</a:t>
            </a:r>
            <a:endParaRPr lang="en-US" sz="2400" b="1">
              <a:solidFill>
                <a:srgbClr val="3333FF"/>
              </a:solidFill>
              <a:latin typeface="Arial Black" pitchFamily="34" charset="0"/>
            </a:endParaRPr>
          </a:p>
        </p:txBody>
      </p:sp>
      <p:grpSp>
        <p:nvGrpSpPr>
          <p:cNvPr id="82" name="Group 31"/>
          <p:cNvGrpSpPr>
            <a:grpSpLocks/>
          </p:cNvGrpSpPr>
          <p:nvPr/>
        </p:nvGrpSpPr>
        <p:grpSpPr bwMode="auto">
          <a:xfrm>
            <a:off x="7152059" y="6249289"/>
            <a:ext cx="2705100" cy="0"/>
            <a:chOff x="1300" y="2383"/>
            <a:chExt cx="1704" cy="0"/>
          </a:xfrm>
        </p:grpSpPr>
        <p:sp>
          <p:nvSpPr>
            <p:cNvPr id="83" name="Line 32"/>
            <p:cNvSpPr>
              <a:spLocks noChangeShapeType="1"/>
            </p:cNvSpPr>
            <p:nvPr/>
          </p:nvSpPr>
          <p:spPr bwMode="auto">
            <a:xfrm>
              <a:off x="1300" y="2383"/>
              <a:ext cx="896" cy="0"/>
            </a:xfrm>
            <a:prstGeom prst="line">
              <a:avLst/>
            </a:prstGeom>
            <a:noFill/>
            <a:ln w="38100">
              <a:solidFill>
                <a:srgbClr val="3333FF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Line 33"/>
            <p:cNvSpPr>
              <a:spLocks noChangeShapeType="1"/>
            </p:cNvSpPr>
            <p:nvPr/>
          </p:nvSpPr>
          <p:spPr bwMode="auto">
            <a:xfrm>
              <a:off x="2108" y="2383"/>
              <a:ext cx="896" cy="0"/>
            </a:xfrm>
            <a:prstGeom prst="line">
              <a:avLst/>
            </a:prstGeom>
            <a:noFill/>
            <a:ln w="38100">
              <a:solidFill>
                <a:srgbClr val="3333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5" name="Group 34"/>
          <p:cNvGrpSpPr>
            <a:grpSpLocks/>
          </p:cNvGrpSpPr>
          <p:nvPr/>
        </p:nvGrpSpPr>
        <p:grpSpPr bwMode="auto">
          <a:xfrm>
            <a:off x="7177459" y="4512564"/>
            <a:ext cx="1776412" cy="1736725"/>
            <a:chOff x="1300" y="1289"/>
            <a:chExt cx="1119" cy="1094"/>
          </a:xfrm>
        </p:grpSpPr>
        <p:sp>
          <p:nvSpPr>
            <p:cNvPr id="86" name="Line 35"/>
            <p:cNvSpPr>
              <a:spLocks noChangeShapeType="1"/>
            </p:cNvSpPr>
            <p:nvPr/>
          </p:nvSpPr>
          <p:spPr bwMode="auto">
            <a:xfrm flipH="1">
              <a:off x="1300" y="1782"/>
              <a:ext cx="615" cy="60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stealth" w="lg" len="lg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Line 36"/>
            <p:cNvSpPr>
              <a:spLocks noChangeShapeType="1"/>
            </p:cNvSpPr>
            <p:nvPr/>
          </p:nvSpPr>
          <p:spPr bwMode="auto">
            <a:xfrm flipH="1">
              <a:off x="1805" y="1289"/>
              <a:ext cx="614" cy="60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0"/>
                            </p:stCondLst>
                            <p:childTnLst>
                              <p:par>
                                <p:cTn id="24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7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7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500"/>
                            </p:stCondLst>
                            <p:childTnLst>
                              <p:par>
                                <p:cTn id="8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500"/>
                            </p:stCondLst>
                            <p:childTnLst>
                              <p:par>
                                <p:cTn id="93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5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2000"/>
                            </p:stCondLst>
                            <p:childTnLst>
                              <p:par>
                                <p:cTn id="98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500"/>
                            </p:stCondLst>
                            <p:childTnLst>
                              <p:par>
                                <p:cTn id="103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5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3000"/>
                            </p:stCondLst>
                            <p:childTnLst>
                              <p:par>
                                <p:cTn id="108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6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18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0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6" dur="10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1000"/>
                            </p:stCondLst>
                            <p:childTnLst>
                              <p:par>
                                <p:cTn id="128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2" grpId="0"/>
      <p:bldP spid="43" grpId="0"/>
      <p:bldP spid="44" grpId="0"/>
      <p:bldP spid="45" grpId="0"/>
      <p:bldP spid="46" grpId="0"/>
      <p:bldP spid="46" grpId="1"/>
      <p:bldP spid="47" grpId="0"/>
      <p:bldP spid="48" grpId="0"/>
      <p:bldP spid="65" grpId="0"/>
      <p:bldP spid="76" grpId="0"/>
      <p:bldP spid="77" grpId="0"/>
      <p:bldP spid="78" grpId="0"/>
      <p:bldP spid="79" grpId="0"/>
      <p:bldP spid="80" grpId="0"/>
      <p:bldP spid="8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9208" y="87923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756" y="85813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50" dirty="0">
                <a:solidFill>
                  <a:srgbClr val="C84F2F"/>
                </a:solidFill>
                <a:latin typeface="Calibri"/>
              </a:rPr>
              <a:t>QUICK FIRE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5249" y="346699"/>
            <a:ext cx="98755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 dirty="0">
                <a:solidFill>
                  <a:srgbClr val="1C2A22"/>
                </a:solidFill>
                <a:latin typeface="Cambria"/>
              </a:rPr>
              <a:t>Splitting a Vector by Ratio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2369" y="914393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 dirty="0">
                <a:solidFill>
                  <a:srgbClr val="5C6B60"/>
                </a:solidFill>
                <a:latin typeface="Calibri"/>
              </a:rPr>
              <a:t>The vector z = AB. P lies on AB. Find AP and BP for each ratio AP:PB.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90784"/>
            <a:ext cx="11531287" cy="5170501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323528" y="2060848"/>
            <a:ext cx="7056784" cy="910057"/>
          </a:xfrm>
          <a:prstGeom prst="rect">
            <a:avLst/>
          </a:prstGeom>
          <a:blipFill rotWithShape="1">
            <a:blip r:embed="rId2"/>
            <a:stretch>
              <a:fillRect l="-1295" b="-51678"/>
            </a:stretch>
          </a:blipFill>
        </p:spPr>
        <p:txBody>
          <a:bodyPr/>
          <a:lstStyle/>
          <a:p>
            <a:pPr>
              <a:defRPr/>
            </a:pPr>
            <a:r>
              <a:rPr lang="en-US">
                <a:noFill/>
              </a:rPr>
              <a:t> </a:t>
            </a:r>
          </a:p>
        </p:txBody>
      </p:sp>
      <p:cxnSp>
        <p:nvCxnSpPr>
          <p:cNvPr id="49" name="Straight Connector 48"/>
          <p:cNvCxnSpPr/>
          <p:nvPr/>
        </p:nvCxnSpPr>
        <p:spPr>
          <a:xfrm>
            <a:off x="6372454" y="2392472"/>
            <a:ext cx="5184775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0" name="TextBox 7"/>
          <p:cNvSpPr txBox="1">
            <a:spLocks noChangeArrowheads="1"/>
          </p:cNvSpPr>
          <p:nvPr/>
        </p:nvSpPr>
        <p:spPr bwMode="auto">
          <a:xfrm>
            <a:off x="6136729" y="1747459"/>
            <a:ext cx="503238" cy="585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GB" sz="3200"/>
              <a:t>A</a:t>
            </a:r>
          </a:p>
        </p:txBody>
      </p:sp>
      <p:sp>
        <p:nvSpPr>
          <p:cNvPr id="51" name="TextBox 8"/>
          <p:cNvSpPr txBox="1">
            <a:spLocks noChangeArrowheads="1"/>
          </p:cNvSpPr>
          <p:nvPr/>
        </p:nvSpPr>
        <p:spPr bwMode="auto">
          <a:xfrm>
            <a:off x="11233379" y="1590784"/>
            <a:ext cx="504825" cy="585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GB" sz="3200" dirty="0"/>
              <a:t>B</a:t>
            </a:r>
          </a:p>
        </p:txBody>
      </p:sp>
      <p:sp>
        <p:nvSpPr>
          <p:cNvPr id="52" name="TextBox 9"/>
          <p:cNvSpPr txBox="1">
            <a:spLocks noChangeArrowheads="1"/>
          </p:cNvSpPr>
          <p:nvPr/>
        </p:nvSpPr>
        <p:spPr bwMode="auto">
          <a:xfrm>
            <a:off x="7957302" y="1706366"/>
            <a:ext cx="504825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GB" sz="3200" dirty="0"/>
              <a:t>P</a:t>
            </a:r>
          </a:p>
        </p:txBody>
      </p:sp>
      <p:sp>
        <p:nvSpPr>
          <p:cNvPr id="53" name="Oval 52"/>
          <p:cNvSpPr/>
          <p:nvPr/>
        </p:nvSpPr>
        <p:spPr>
          <a:xfrm>
            <a:off x="8137754" y="2319447"/>
            <a:ext cx="142875" cy="14446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/>
          </a:p>
        </p:txBody>
      </p:sp>
      <p:sp>
        <p:nvSpPr>
          <p:cNvPr id="54" name="Oval 53"/>
          <p:cNvSpPr/>
          <p:nvPr/>
        </p:nvSpPr>
        <p:spPr>
          <a:xfrm>
            <a:off x="6301017" y="2319447"/>
            <a:ext cx="144462" cy="14446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/>
          </a:p>
        </p:txBody>
      </p:sp>
      <p:sp>
        <p:nvSpPr>
          <p:cNvPr id="55" name="Oval 54"/>
          <p:cNvSpPr/>
          <p:nvPr/>
        </p:nvSpPr>
        <p:spPr>
          <a:xfrm>
            <a:off x="11485792" y="2319447"/>
            <a:ext cx="142875" cy="14446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/>
          </a:p>
        </p:txBody>
      </p:sp>
      <p:sp>
        <p:nvSpPr>
          <p:cNvPr id="56" name="TextBox 55"/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851415" y="4005064"/>
            <a:ext cx="2232248" cy="461665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</p:spPr>
        <p:txBody>
          <a:bodyPr/>
          <a:lstStyle/>
          <a:p>
            <a:pPr>
              <a:defRPr/>
            </a:pPr>
            <a:r>
              <a:rPr lang="en-US">
                <a:noFill/>
              </a:rPr>
              <a:t> </a:t>
            </a:r>
          </a:p>
        </p:txBody>
      </p:sp>
      <p:sp>
        <p:nvSpPr>
          <p:cNvPr id="57" name="TextBox 14"/>
          <p:cNvSpPr txBox="1">
            <a:spLocks noChangeArrowheads="1"/>
          </p:cNvSpPr>
          <p:nvPr/>
        </p:nvSpPr>
        <p:spPr bwMode="auto">
          <a:xfrm>
            <a:off x="8338572" y="2468273"/>
            <a:ext cx="50482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GB" sz="3200" dirty="0"/>
              <a:t>z</a:t>
            </a:r>
          </a:p>
        </p:txBody>
      </p:sp>
      <p:sp>
        <p:nvSpPr>
          <p:cNvPr id="58" name="TextBox 57"/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845735" y="4887273"/>
            <a:ext cx="2232248" cy="461665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</p:spPr>
        <p:txBody>
          <a:bodyPr/>
          <a:lstStyle/>
          <a:p>
            <a:pPr>
              <a:defRPr/>
            </a:pPr>
            <a:r>
              <a:rPr lang="en-US">
                <a:noFill/>
              </a:rPr>
              <a:t> </a:t>
            </a:r>
          </a:p>
        </p:txBody>
      </p:sp>
      <p:sp>
        <p:nvSpPr>
          <p:cNvPr id="59" name="TextBox 58"/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845735" y="5918928"/>
            <a:ext cx="2232248" cy="461665"/>
          </a:xfrm>
          <a:prstGeom prst="rect">
            <a:avLst/>
          </a:prstGeom>
          <a:blipFill rotWithShape="1">
            <a:blip r:embed="rId5"/>
            <a:stretch>
              <a:fillRect/>
            </a:stretch>
          </a:blipFill>
        </p:spPr>
        <p:txBody>
          <a:bodyPr/>
          <a:lstStyle/>
          <a:p>
            <a:pPr>
              <a:defRPr/>
            </a:pPr>
            <a:r>
              <a:rPr lang="en-US">
                <a:noFill/>
              </a:rPr>
              <a:t> </a:t>
            </a:r>
          </a:p>
        </p:txBody>
      </p:sp>
      <p:sp>
        <p:nvSpPr>
          <p:cNvPr id="60" name="TextBox 59"/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3785495" y="3284984"/>
            <a:ext cx="1026360" cy="508857"/>
          </a:xfrm>
          <a:prstGeom prst="rect">
            <a:avLst/>
          </a:prstGeom>
          <a:blipFill rotWithShape="1">
            <a:blip r:embed="rId6"/>
            <a:stretch>
              <a:fillRect/>
            </a:stretch>
          </a:blipFill>
        </p:spPr>
        <p:txBody>
          <a:bodyPr/>
          <a:lstStyle/>
          <a:p>
            <a:pPr>
              <a:defRPr/>
            </a:pPr>
            <a:r>
              <a:rPr lang="en-US">
                <a:noFill/>
              </a:rPr>
              <a:t> </a:t>
            </a:r>
          </a:p>
        </p:txBody>
      </p:sp>
      <p:sp>
        <p:nvSpPr>
          <p:cNvPr id="61" name="TextBox 60"/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5747959" y="3284984"/>
            <a:ext cx="1026360" cy="508857"/>
          </a:xfrm>
          <a:prstGeom prst="rect">
            <a:avLst/>
          </a:prstGeom>
          <a:blipFill rotWithShape="1">
            <a:blip r:embed="rId7"/>
            <a:stretch>
              <a:fillRect/>
            </a:stretch>
          </a:blipFill>
        </p:spPr>
        <p:txBody>
          <a:bodyPr/>
          <a:lstStyle/>
          <a:p>
            <a:pPr>
              <a:defRPr/>
            </a:pPr>
            <a:r>
              <a:rPr lang="en-US">
                <a:noFill/>
              </a:rPr>
              <a:t> </a:t>
            </a:r>
          </a:p>
        </p:txBody>
      </p:sp>
      <p:cxnSp>
        <p:nvCxnSpPr>
          <p:cNvPr id="62" name="Straight Connector 61"/>
          <p:cNvCxnSpPr/>
          <p:nvPr/>
        </p:nvCxnSpPr>
        <p:spPr>
          <a:xfrm>
            <a:off x="8728304" y="2176572"/>
            <a:ext cx="236538" cy="2159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8744179" y="2392472"/>
            <a:ext cx="220663" cy="211137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4" name="TextBox 63"/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3914289" y="3784689"/>
            <a:ext cx="787020" cy="783804"/>
          </a:xfrm>
          <a:prstGeom prst="rect">
            <a:avLst/>
          </a:prstGeom>
          <a:blipFill rotWithShape="1">
            <a:blip r:embed="rId8"/>
            <a:stretch>
              <a:fillRect/>
            </a:stretch>
          </a:blipFill>
        </p:spPr>
        <p:txBody>
          <a:bodyPr/>
          <a:lstStyle/>
          <a:p>
            <a:pPr>
              <a:defRPr/>
            </a:pPr>
            <a:r>
              <a:rPr lang="en-US">
                <a:noFill/>
              </a:rPr>
              <a:t> </a:t>
            </a:r>
          </a:p>
        </p:txBody>
      </p:sp>
      <p:sp>
        <p:nvSpPr>
          <p:cNvPr id="65" name="TextBox 64"/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5867629" y="3811202"/>
            <a:ext cx="906690" cy="783804"/>
          </a:xfrm>
          <a:prstGeom prst="rect">
            <a:avLst/>
          </a:prstGeom>
          <a:blipFill rotWithShape="1">
            <a:blip r:embed="rId9"/>
            <a:stretch>
              <a:fillRect/>
            </a:stretch>
          </a:blipFill>
        </p:spPr>
        <p:txBody>
          <a:bodyPr/>
          <a:lstStyle/>
          <a:p>
            <a:pPr>
              <a:defRPr/>
            </a:pPr>
            <a:r>
              <a:rPr lang="en-US">
                <a:noFill/>
              </a:rPr>
              <a:t> </a:t>
            </a:r>
          </a:p>
        </p:txBody>
      </p:sp>
      <p:sp>
        <p:nvSpPr>
          <p:cNvPr id="66" name="TextBox 65"/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3905165" y="4640485"/>
            <a:ext cx="787020" cy="783804"/>
          </a:xfrm>
          <a:prstGeom prst="rect">
            <a:avLst/>
          </a:prstGeom>
          <a:blipFill rotWithShape="1">
            <a:blip r:embed="rId10"/>
            <a:stretch>
              <a:fillRect/>
            </a:stretch>
          </a:blipFill>
        </p:spPr>
        <p:txBody>
          <a:bodyPr/>
          <a:lstStyle/>
          <a:p>
            <a:pPr>
              <a:defRPr/>
            </a:pPr>
            <a:r>
              <a:rPr lang="en-US">
                <a:noFill/>
              </a:rPr>
              <a:t> </a:t>
            </a:r>
          </a:p>
        </p:txBody>
      </p:sp>
      <p:sp>
        <p:nvSpPr>
          <p:cNvPr id="67" name="TextBox 66"/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5927464" y="4748236"/>
            <a:ext cx="787020" cy="786177"/>
          </a:xfrm>
          <a:prstGeom prst="rect">
            <a:avLst/>
          </a:prstGeom>
          <a:blipFill rotWithShape="1">
            <a:blip r:embed="rId11"/>
            <a:stretch>
              <a:fillRect/>
            </a:stretch>
          </a:blipFill>
        </p:spPr>
        <p:txBody>
          <a:bodyPr/>
          <a:lstStyle/>
          <a:p>
            <a:pPr>
              <a:defRPr/>
            </a:pPr>
            <a:r>
              <a:rPr lang="en-US">
                <a:noFill/>
              </a:rPr>
              <a:t> </a:t>
            </a:r>
          </a:p>
        </p:txBody>
      </p:sp>
      <p:sp>
        <p:nvSpPr>
          <p:cNvPr id="68" name="TextBox 67"/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3910841" y="5757859"/>
            <a:ext cx="787020" cy="783804"/>
          </a:xfrm>
          <a:prstGeom prst="rect">
            <a:avLst/>
          </a:prstGeom>
          <a:blipFill rotWithShape="1">
            <a:blip r:embed="rId12"/>
            <a:stretch>
              <a:fillRect/>
            </a:stretch>
          </a:blipFill>
        </p:spPr>
        <p:txBody>
          <a:bodyPr/>
          <a:lstStyle/>
          <a:p>
            <a:pPr>
              <a:defRPr/>
            </a:pPr>
            <a:r>
              <a:rPr lang="en-US">
                <a:noFill/>
              </a:rPr>
              <a:t> </a:t>
            </a:r>
          </a:p>
        </p:txBody>
      </p:sp>
      <p:cxnSp>
        <p:nvCxnSpPr>
          <p:cNvPr id="69" name="Straight Connector 68"/>
          <p:cNvCxnSpPr/>
          <p:nvPr/>
        </p:nvCxnSpPr>
        <p:spPr>
          <a:xfrm>
            <a:off x="923925" y="3784600"/>
            <a:ext cx="705643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 flipV="1">
            <a:off x="3516313" y="3284538"/>
            <a:ext cx="0" cy="32575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3851275" y="3833813"/>
            <a:ext cx="1681163" cy="73501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860800" y="4664075"/>
            <a:ext cx="1681163" cy="86995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851275" y="5756275"/>
            <a:ext cx="1681163" cy="73501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884863" y="3833813"/>
            <a:ext cx="1679575" cy="73501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892800" y="4738688"/>
            <a:ext cx="1679575" cy="86995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76" name="TextBox 75"/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6360947" y="5857353"/>
            <a:ext cx="743280" cy="610745"/>
          </a:xfrm>
          <a:prstGeom prst="rect">
            <a:avLst/>
          </a:prstGeom>
          <a:blipFill rotWithShape="1">
            <a:blip r:embed="rId13"/>
            <a:stretch>
              <a:fillRect/>
            </a:stretch>
          </a:blipFill>
        </p:spPr>
        <p:txBody>
          <a:bodyPr/>
          <a:lstStyle/>
          <a:p>
            <a:pPr>
              <a:defRPr/>
            </a:pPr>
            <a:r>
              <a:rPr lang="en-US">
                <a:noFill/>
              </a:rPr>
              <a:t> 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962650" y="5781675"/>
            <a:ext cx="1681163" cy="73501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1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3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7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4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7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5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7"/>
                  </p:tgtEl>
                </p:cond>
              </p:nextCondLst>
            </p:seq>
          </p:childTnLst>
        </p:cTn>
      </p:par>
    </p:tnLst>
    <p:bldLst>
      <p:bldP spid="71" grpId="0" animBg="1"/>
      <p:bldP spid="72" grpId="0" animBg="1"/>
      <p:bldP spid="73" grpId="0" animBg="1"/>
      <p:bldP spid="74" grpId="0" animBg="1"/>
      <p:bldP spid="75" grpId="0" animBg="1"/>
      <p:bldP spid="7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023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50">
                <a:solidFill>
                  <a:srgbClr val="C84F2F"/>
                </a:solidFill>
                <a:latin typeface="Calibri"/>
              </a:rPr>
              <a:t>PUTTING IT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658368"/>
            <a:ext cx="98755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rgbClr val="1C2A22"/>
                </a:solidFill>
                <a:latin typeface="Cambria"/>
              </a:rPr>
              <a:t>Combining Portions of Vectors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11057839" cy="352044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72000" y="6445624"/>
            <a:ext cx="7052766" cy="493058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550" b="1">
                <a:solidFill>
                  <a:srgbClr val="E0AC2B"/>
                </a:solidFill>
                <a:latin typeface="Cambria"/>
              </a:rPr>
              <a:t>Break the journey into stages you know, using the given ratios as fractions of each side.</a:t>
            </a:r>
          </a:p>
        </p:txBody>
      </p:sp>
      <p:cxnSp>
        <p:nvCxnSpPr>
          <p:cNvPr id="42" name="Straight Connector 41"/>
          <p:cNvCxnSpPr/>
          <p:nvPr/>
        </p:nvCxnSpPr>
        <p:spPr>
          <a:xfrm>
            <a:off x="1258888" y="3092450"/>
            <a:ext cx="360045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43" name="Group 8"/>
          <p:cNvGrpSpPr>
            <a:grpSpLocks/>
          </p:cNvGrpSpPr>
          <p:nvPr/>
        </p:nvGrpSpPr>
        <p:grpSpPr bwMode="auto">
          <a:xfrm>
            <a:off x="2909888" y="2973388"/>
            <a:ext cx="160337" cy="184150"/>
            <a:chOff x="1296876" y="5353995"/>
            <a:chExt cx="160020" cy="183396"/>
          </a:xfrm>
        </p:grpSpPr>
        <p:cxnSp>
          <p:nvCxnSpPr>
            <p:cNvPr id="44" name="Straight Connector 43"/>
            <p:cNvCxnSpPr/>
            <p:nvPr/>
          </p:nvCxnSpPr>
          <p:spPr>
            <a:xfrm rot="3658692" flipH="1" flipV="1">
              <a:off x="1352380" y="5432875"/>
              <a:ext cx="49011" cy="16002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 rot="3658692" flipV="1">
              <a:off x="1308906" y="5395834"/>
              <a:ext cx="137547" cy="53868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46" name="Straight Connector 45"/>
          <p:cNvCxnSpPr/>
          <p:nvPr/>
        </p:nvCxnSpPr>
        <p:spPr>
          <a:xfrm flipV="1">
            <a:off x="4859338" y="1268413"/>
            <a:ext cx="2016125" cy="1824037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47" name="Group 13"/>
          <p:cNvGrpSpPr>
            <a:grpSpLocks/>
          </p:cNvGrpSpPr>
          <p:nvPr/>
        </p:nvGrpSpPr>
        <p:grpSpPr bwMode="auto">
          <a:xfrm rot="-2964799">
            <a:off x="5733256" y="2094707"/>
            <a:ext cx="160337" cy="184150"/>
            <a:chOff x="1296876" y="5353995"/>
            <a:chExt cx="160020" cy="183396"/>
          </a:xfrm>
        </p:grpSpPr>
        <p:cxnSp>
          <p:nvCxnSpPr>
            <p:cNvPr id="48" name="Straight Connector 47"/>
            <p:cNvCxnSpPr/>
            <p:nvPr/>
          </p:nvCxnSpPr>
          <p:spPr>
            <a:xfrm rot="3658692" flipH="1" flipV="1">
              <a:off x="1348414" y="5424244"/>
              <a:ext cx="49011" cy="16002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/>
            <p:nvPr/>
          </p:nvCxnSpPr>
          <p:spPr>
            <a:xfrm rot="3658692" flipV="1">
              <a:off x="1298754" y="5394492"/>
              <a:ext cx="137547" cy="53868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50" name="Straight Connector 49"/>
          <p:cNvCxnSpPr/>
          <p:nvPr/>
        </p:nvCxnSpPr>
        <p:spPr>
          <a:xfrm flipV="1">
            <a:off x="1258888" y="1254125"/>
            <a:ext cx="5616575" cy="18605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749800" y="1878013"/>
            <a:ext cx="142875" cy="14446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/>
          </a:p>
        </p:txBody>
      </p:sp>
      <p:sp>
        <p:nvSpPr>
          <p:cNvPr id="52" name="TextBox 51"/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4572000" y="1416208"/>
            <a:ext cx="321083" cy="461665"/>
          </a:xfrm>
          <a:prstGeom prst="rect">
            <a:avLst/>
          </a:prstGeom>
          <a:blipFill rotWithShape="1">
            <a:blip r:embed="rId2"/>
            <a:stretch>
              <a:fillRect l="-3774" r="-18868"/>
            </a:stretch>
          </a:blipFill>
        </p:spPr>
        <p:txBody>
          <a:bodyPr/>
          <a:lstStyle/>
          <a:p>
            <a:pPr>
              <a:defRPr/>
            </a:pPr>
            <a:r>
              <a:rPr lang="en-US">
                <a:noFill/>
              </a:rPr>
              <a:t> </a:t>
            </a:r>
          </a:p>
        </p:txBody>
      </p:sp>
      <p:sp>
        <p:nvSpPr>
          <p:cNvPr id="53" name="TextBox 52"/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1038498" y="2610147"/>
            <a:ext cx="321083" cy="461665"/>
          </a:xfrm>
          <a:prstGeom prst="rect">
            <a:avLst/>
          </a:prstGeom>
          <a:blipFill rotWithShape="1">
            <a:blip r:embed="rId3"/>
            <a:stretch>
              <a:fillRect l="-3774" r="-22642"/>
            </a:stretch>
          </a:blipFill>
        </p:spPr>
        <p:txBody>
          <a:bodyPr/>
          <a:lstStyle/>
          <a:p>
            <a:pPr>
              <a:defRPr/>
            </a:pPr>
            <a:r>
              <a:rPr lang="en-US">
                <a:noFill/>
              </a:rPr>
              <a:t> </a:t>
            </a:r>
          </a:p>
        </p:txBody>
      </p:sp>
      <p:sp>
        <p:nvSpPr>
          <p:cNvPr id="54" name="TextBox 53"/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4732541" y="3119976"/>
            <a:ext cx="321083" cy="461665"/>
          </a:xfrm>
          <a:prstGeom prst="rect">
            <a:avLst/>
          </a:prstGeom>
          <a:blipFill rotWithShape="1">
            <a:blip r:embed="rId4"/>
            <a:stretch>
              <a:fillRect l="-3774" r="-24528"/>
            </a:stretch>
          </a:blipFill>
        </p:spPr>
        <p:txBody>
          <a:bodyPr/>
          <a:lstStyle/>
          <a:p>
            <a:pPr>
              <a:defRPr/>
            </a:pPr>
            <a:r>
              <a:rPr lang="en-US">
                <a:noFill/>
              </a:rPr>
              <a:t> </a:t>
            </a:r>
          </a:p>
        </p:txBody>
      </p:sp>
      <p:sp>
        <p:nvSpPr>
          <p:cNvPr id="55" name="TextBox 54"/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467544" y="3756762"/>
            <a:ext cx="8424936" cy="1235788"/>
          </a:xfrm>
          <a:prstGeom prst="rect">
            <a:avLst/>
          </a:prstGeom>
          <a:blipFill rotWithShape="1">
            <a:blip r:embed="rId5"/>
            <a:stretch>
              <a:fillRect l="-651" r="-217" b="-6897"/>
            </a:stretch>
          </a:blipFill>
        </p:spPr>
        <p:txBody>
          <a:bodyPr/>
          <a:lstStyle/>
          <a:p>
            <a:pPr>
              <a:defRPr/>
            </a:pPr>
            <a:r>
              <a:rPr lang="en-US">
                <a:noFill/>
              </a:rPr>
              <a:t> </a:t>
            </a:r>
          </a:p>
        </p:txBody>
      </p:sp>
      <p:sp>
        <p:nvSpPr>
          <p:cNvPr id="56" name="Oval 55"/>
          <p:cNvSpPr/>
          <p:nvPr/>
        </p:nvSpPr>
        <p:spPr>
          <a:xfrm>
            <a:off x="3148013" y="3021013"/>
            <a:ext cx="144462" cy="14446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/>
          </a:p>
        </p:txBody>
      </p:sp>
      <p:sp>
        <p:nvSpPr>
          <p:cNvPr id="57" name="Oval 56"/>
          <p:cNvSpPr/>
          <p:nvPr/>
        </p:nvSpPr>
        <p:spPr>
          <a:xfrm>
            <a:off x="5148263" y="2700338"/>
            <a:ext cx="144462" cy="14446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/>
          </a:p>
        </p:txBody>
      </p:sp>
      <p:sp>
        <p:nvSpPr>
          <p:cNvPr id="58" name="TextBox 57"/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2996366" y="3214097"/>
            <a:ext cx="321083" cy="461665"/>
          </a:xfrm>
          <a:prstGeom prst="rect">
            <a:avLst/>
          </a:prstGeom>
          <a:blipFill rotWithShape="1">
            <a:blip r:embed="rId6"/>
            <a:stretch>
              <a:fillRect l="-5769" r="-23077"/>
            </a:stretch>
          </a:blipFill>
        </p:spPr>
        <p:txBody>
          <a:bodyPr/>
          <a:lstStyle/>
          <a:p>
            <a:pPr>
              <a:defRPr/>
            </a:pPr>
            <a:r>
              <a:rPr lang="en-US">
                <a:noFill/>
              </a:rPr>
              <a:t> </a:t>
            </a:r>
          </a:p>
        </p:txBody>
      </p:sp>
      <p:sp>
        <p:nvSpPr>
          <p:cNvPr id="59" name="TextBox 58"/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5292080" y="2727219"/>
            <a:ext cx="321083" cy="461665"/>
          </a:xfrm>
          <a:prstGeom prst="rect">
            <a:avLst/>
          </a:prstGeom>
          <a:blipFill rotWithShape="1">
            <a:blip r:embed="rId7"/>
            <a:stretch>
              <a:fillRect l="-3774" r="-18868"/>
            </a:stretch>
          </a:blipFill>
        </p:spPr>
        <p:txBody>
          <a:bodyPr/>
          <a:lstStyle/>
          <a:p>
            <a:pPr>
              <a:defRPr/>
            </a:pPr>
            <a:r>
              <a:rPr lang="en-US">
                <a:noFill/>
              </a:rPr>
              <a:t> </a:t>
            </a:r>
          </a:p>
        </p:txBody>
      </p:sp>
      <p:sp>
        <p:nvSpPr>
          <p:cNvPr id="60" name="TextBox 59"/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2788723" y="2607020"/>
            <a:ext cx="321083" cy="461665"/>
          </a:xfrm>
          <a:prstGeom prst="rect">
            <a:avLst/>
          </a:prstGeom>
          <a:blipFill rotWithShape="1">
            <a:blip r:embed="rId8"/>
            <a:stretch>
              <a:fillRect r="-5660"/>
            </a:stretch>
          </a:blipFill>
        </p:spPr>
        <p:txBody>
          <a:bodyPr/>
          <a:lstStyle/>
          <a:p>
            <a:pPr>
              <a:defRPr/>
            </a:pPr>
            <a:r>
              <a:rPr lang="en-US">
                <a:noFill/>
              </a:rPr>
              <a:t> </a:t>
            </a:r>
          </a:p>
        </p:txBody>
      </p:sp>
      <p:sp>
        <p:nvSpPr>
          <p:cNvPr id="61" name="TextBox 60"/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5367885" y="1950123"/>
            <a:ext cx="321083" cy="461665"/>
          </a:xfrm>
          <a:prstGeom prst="rect">
            <a:avLst/>
          </a:prstGeom>
          <a:blipFill rotWithShape="1">
            <a:blip r:embed="rId9"/>
            <a:stretch>
              <a:fillRect l="-5769" r="-15385"/>
            </a:stretch>
          </a:blipFill>
        </p:spPr>
        <p:txBody>
          <a:bodyPr/>
          <a:lstStyle/>
          <a:p>
            <a:pPr>
              <a:defRPr/>
            </a:pPr>
            <a:r>
              <a:rPr lang="en-US">
                <a:noFill/>
              </a:rPr>
              <a:t> </a:t>
            </a:r>
          </a:p>
        </p:txBody>
      </p:sp>
      <p:sp>
        <p:nvSpPr>
          <p:cNvPr id="62" name="TextBox 61"/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1619672" y="4834980"/>
            <a:ext cx="2147606" cy="1820883"/>
          </a:xfrm>
          <a:prstGeom prst="rect">
            <a:avLst/>
          </a:prstGeom>
          <a:blipFill rotWithShape="1">
            <a:blip r:embed="rId10"/>
            <a:stretch>
              <a:fillRect/>
            </a:stretch>
          </a:blipFill>
        </p:spPr>
        <p:txBody>
          <a:bodyPr/>
          <a:lstStyle/>
          <a:p>
            <a:pPr>
              <a:defRPr/>
            </a:pPr>
            <a:r>
              <a:rPr lang="en-US">
                <a:noFill/>
              </a:rPr>
              <a:t> </a:t>
            </a:r>
          </a:p>
        </p:txBody>
      </p:sp>
      <p:sp>
        <p:nvSpPr>
          <p:cNvPr id="63" name="TextBox 62"/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4650410" y="4857977"/>
            <a:ext cx="3666005" cy="1017779"/>
          </a:xfrm>
          <a:prstGeom prst="rect">
            <a:avLst/>
          </a:prstGeom>
          <a:blipFill rotWithShape="1">
            <a:blip r:embed="rId11"/>
            <a:stretch>
              <a:fillRect/>
            </a:stretch>
          </a:blipFill>
        </p:spPr>
        <p:txBody>
          <a:bodyPr/>
          <a:lstStyle/>
          <a:p>
            <a:pPr>
              <a:defRPr/>
            </a:pPr>
            <a:r>
              <a:rPr lang="en-US">
                <a:noFill/>
              </a:rPr>
              <a:t> 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584450" y="4857750"/>
            <a:ext cx="1339850" cy="58102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584450" y="5438775"/>
            <a:ext cx="1339850" cy="58102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584450" y="6019800"/>
            <a:ext cx="1339850" cy="58102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894388" y="4659313"/>
            <a:ext cx="1339850" cy="579437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894388" y="5267325"/>
            <a:ext cx="2062162" cy="58102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4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5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6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6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7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6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8"/>
                  </p:tgtEl>
                </p:cond>
              </p:nextCondLst>
            </p:seq>
          </p:childTnLst>
        </p:cTn>
      </p:par>
    </p:tnLst>
    <p:bldLst>
      <p:bldP spid="64" grpId="0" animBg="1"/>
      <p:bldP spid="65" grpId="0" animBg="1"/>
      <p:bldP spid="66" grpId="0" animBg="1"/>
      <p:bldP spid="67" grpId="0" animBg="1"/>
      <p:bldP spid="6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TECHNIQUE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Answer a Vector-Geometry Question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questions look hard but follow the same routine.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2194560"/>
            <a:ext cx="11064240" cy="804672"/>
          </a:xfrm>
          <a:prstGeom prst="roundRect">
            <a:avLst>
              <a:gd name="adj" fmla="val 6818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68680" y="2368296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68680" y="2368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1508760" y="2194560"/>
            <a:ext cx="9875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down the vectors you are GIVEN (e.g. OA = a, OB = b).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566928" y="3108960"/>
            <a:ext cx="11064240" cy="804672"/>
          </a:xfrm>
          <a:prstGeom prst="roundRect">
            <a:avLst>
              <a:gd name="adj" fmla="val 6818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868680" y="3282696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3282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50" name="Text 48"/>
          <p:cNvSpPr/>
          <p:nvPr/>
        </p:nvSpPr>
        <p:spPr>
          <a:xfrm>
            <a:off x="1508760" y="3108960"/>
            <a:ext cx="9875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vector you want by travelling along known vectors.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566928" y="4023360"/>
            <a:ext cx="11064240" cy="804672"/>
          </a:xfrm>
          <a:prstGeom prst="roundRect">
            <a:avLst>
              <a:gd name="adj" fmla="val 6818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68680" y="4197096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4197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1508760" y="4023360"/>
            <a:ext cx="9875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ratios to find fractions of a line (AP:PB = 2:3 → ⅗).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566928" y="4937760"/>
            <a:ext cx="11064240" cy="804672"/>
          </a:xfrm>
          <a:prstGeom prst="roundRect">
            <a:avLst>
              <a:gd name="adj" fmla="val 6818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68680" y="5111496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68680" y="5111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58" name="Text 56"/>
          <p:cNvSpPr/>
          <p:nvPr/>
        </p:nvSpPr>
        <p:spPr>
          <a:xfrm>
            <a:off x="1508760" y="4937760"/>
            <a:ext cx="9875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prove PARALLEL or a straight line: show one vector = k × another.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566928" y="6080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two vectors are multiples of each other AND share a point, the three points are in a straight line.</a:t>
            </a:r>
            <a:endParaRPr lang="en-US" sz="12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43316"/>
            <a:ext cx="8686800" cy="192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50" dirty="0" smtClean="0">
                <a:solidFill>
                  <a:srgbClr val="C84F2F"/>
                </a:solidFill>
                <a:latin typeface="Calibri"/>
              </a:rPr>
              <a:t> </a:t>
            </a:r>
            <a:r>
              <a:rPr sz="1250" b="1" i="0" spc="250" dirty="0">
                <a:solidFill>
                  <a:srgbClr val="C84F2F"/>
                </a:solidFill>
                <a:latin typeface="Calibri"/>
              </a:rPr>
              <a:t>QUESTION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65836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1C2A22"/>
                </a:solidFill>
                <a:latin typeface="Cambria"/>
              </a:rPr>
              <a:t>ABCD is a Parallelogram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17320"/>
            <a:ext cx="11057839" cy="566928"/>
          </a:xfrm>
          <a:prstGeom prst="roundRect">
            <a:avLst>
              <a:gd name="adj" fmla="val 18000"/>
            </a:avLst>
          </a:prstGeom>
          <a:solidFill>
            <a:srgbClr val="FB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0" rIns="228600" bIns="0" rtlCol="0" anchor="ctr"/>
          <a:lstStyle/>
          <a:p>
            <a:pPr algn="l"/>
            <a:r>
              <a:rPr sz="1300" b="1">
                <a:solidFill>
                  <a:srgbClr val="1C2A22"/>
                </a:solidFill>
                <a:latin typeface="Calibri"/>
              </a:rPr>
              <a:t>ABCD is a parallelogram with AB = DC = p and DA = CB = q.  Find:  (i) DA   (ii) CD   (iii) DB   (iv) AC   (v) 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48840"/>
            <a:ext cx="5074920" cy="333756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5961888" y="2148840"/>
            <a:ext cx="5662879" cy="333756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36208" y="2377440"/>
            <a:ext cx="5114239" cy="2880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(i)  DA = q</a:t>
            </a: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     (opposite sides parallel, equal length)</a:t>
            </a:r>
          </a:p>
          <a:p>
            <a:pPr>
              <a:lnSpc>
                <a:spcPct val="122000"/>
              </a:lnSpc>
            </a:pPr>
            <a:endParaRPr sz="1250" b="0" dirty="0">
              <a:solidFill>
                <a:srgbClr val="1C2A22"/>
              </a:solidFill>
              <a:latin typeface="Calibri"/>
            </a:endParaRP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(ii)  CD = −p</a:t>
            </a: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     (opposite sides parallel, opposite dir.)</a:t>
            </a:r>
          </a:p>
          <a:p>
            <a:pPr>
              <a:lnSpc>
                <a:spcPct val="122000"/>
              </a:lnSpc>
            </a:pPr>
            <a:endParaRPr sz="1250" b="0" dirty="0">
              <a:solidFill>
                <a:srgbClr val="1C2A22"/>
              </a:solidFill>
              <a:latin typeface="Calibri"/>
            </a:endParaRP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(iii)  DB = q + p   (via A)</a:t>
            </a: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      = p + q   (via C)</a:t>
            </a:r>
          </a:p>
          <a:p>
            <a:pPr>
              <a:lnSpc>
                <a:spcPct val="122000"/>
              </a:lnSpc>
            </a:pPr>
            <a:endParaRPr sz="1250" b="0" dirty="0">
              <a:solidFill>
                <a:srgbClr val="1C2A22"/>
              </a:solidFill>
              <a:latin typeface="Calibri"/>
            </a:endParaRP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(iv)  AC = p − q   (via B)</a:t>
            </a:r>
          </a:p>
          <a:p>
            <a:pPr>
              <a:lnSpc>
                <a:spcPct val="122000"/>
              </a:lnSpc>
            </a:pPr>
            <a:endParaRPr sz="1250" b="0" dirty="0">
              <a:solidFill>
                <a:srgbClr val="1C2A22"/>
              </a:solidFill>
              <a:latin typeface="Calibri"/>
            </a:endParaRP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(v)  CA = −AC = −(p−q) = q − 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623560"/>
            <a:ext cx="11057839" cy="731520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450" b="1">
                <a:solidFill>
                  <a:srgbClr val="E0AC2B"/>
                </a:solidFill>
                <a:latin typeface="Cambria"/>
              </a:rPr>
              <a:t>Opposite sides of a parallelogram are equal and parallel — reuse p and q to build every vector you need.</a:t>
            </a:r>
          </a:p>
        </p:txBody>
      </p:sp>
      <p:grpSp>
        <p:nvGrpSpPr>
          <p:cNvPr id="47" name="Group 92"/>
          <p:cNvGrpSpPr>
            <a:grpSpLocks/>
          </p:cNvGrpSpPr>
          <p:nvPr/>
        </p:nvGrpSpPr>
        <p:grpSpPr bwMode="auto">
          <a:xfrm>
            <a:off x="1984375" y="2847731"/>
            <a:ext cx="1981200" cy="1276350"/>
            <a:chOff x="2094" y="1404"/>
            <a:chExt cx="1248" cy="804"/>
          </a:xfrm>
        </p:grpSpPr>
        <p:sp>
          <p:nvSpPr>
            <p:cNvPr id="48" name="Line 90"/>
            <p:cNvSpPr>
              <a:spLocks noChangeShapeType="1"/>
            </p:cNvSpPr>
            <p:nvPr/>
          </p:nvSpPr>
          <p:spPr bwMode="auto">
            <a:xfrm>
              <a:off x="2094" y="1404"/>
              <a:ext cx="1248" cy="804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AutoShape 91"/>
            <p:cNvSpPr>
              <a:spLocks noChangeArrowheads="1"/>
            </p:cNvSpPr>
            <p:nvPr/>
          </p:nvSpPr>
          <p:spPr bwMode="auto">
            <a:xfrm rot="7607574">
              <a:off x="2654" y="1718"/>
              <a:ext cx="114" cy="156"/>
            </a:xfrm>
            <a:prstGeom prst="triangle">
              <a:avLst>
                <a:gd name="adj" fmla="val 50000"/>
              </a:avLst>
            </a:prstGeom>
            <a:solidFill>
              <a:srgbClr val="0000FF"/>
            </a:solidFill>
            <a:ln w="9525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</p:grpSp>
      <p:grpSp>
        <p:nvGrpSpPr>
          <p:cNvPr id="50" name="Group 106"/>
          <p:cNvGrpSpPr>
            <a:grpSpLocks/>
          </p:cNvGrpSpPr>
          <p:nvPr/>
        </p:nvGrpSpPr>
        <p:grpSpPr bwMode="auto">
          <a:xfrm>
            <a:off x="1966913" y="2835031"/>
            <a:ext cx="1981200" cy="1276350"/>
            <a:chOff x="2083" y="1396"/>
            <a:chExt cx="1248" cy="804"/>
          </a:xfrm>
        </p:grpSpPr>
        <p:sp>
          <p:nvSpPr>
            <p:cNvPr id="51" name="Line 94"/>
            <p:cNvSpPr>
              <a:spLocks noChangeShapeType="1"/>
            </p:cNvSpPr>
            <p:nvPr/>
          </p:nvSpPr>
          <p:spPr bwMode="auto">
            <a:xfrm rot="10800000">
              <a:off x="2083" y="1396"/>
              <a:ext cx="1248" cy="8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AutoShape 95"/>
            <p:cNvSpPr>
              <a:spLocks noChangeArrowheads="1"/>
            </p:cNvSpPr>
            <p:nvPr/>
          </p:nvSpPr>
          <p:spPr bwMode="auto">
            <a:xfrm rot="-3192426">
              <a:off x="2809" y="1826"/>
              <a:ext cx="114" cy="156"/>
            </a:xfrm>
            <a:prstGeom prst="triangle">
              <a:avLst>
                <a:gd name="adj" fmla="val 50000"/>
              </a:avLst>
            </a:prstGeom>
            <a:solidFill>
              <a:srgbClr val="FF0000"/>
            </a:solidFill>
            <a:ln w="95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</p:grpSp>
      <p:sp>
        <p:nvSpPr>
          <p:cNvPr id="53" name="Text Box 18"/>
          <p:cNvSpPr txBox="1">
            <a:spLocks noChangeArrowheads="1"/>
          </p:cNvSpPr>
          <p:nvPr/>
        </p:nvSpPr>
        <p:spPr bwMode="auto">
          <a:xfrm>
            <a:off x="2933700" y="2454031"/>
            <a:ext cx="5905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altLang="en-US" b="1">
                <a:solidFill>
                  <a:srgbClr val="000000"/>
                </a:solidFill>
              </a:rPr>
              <a:t>p</a:t>
            </a:r>
          </a:p>
        </p:txBody>
      </p:sp>
      <p:sp>
        <p:nvSpPr>
          <p:cNvPr id="54" name="Text Box 25"/>
          <p:cNvSpPr txBox="1">
            <a:spLocks noChangeArrowheads="1"/>
          </p:cNvSpPr>
          <p:nvPr/>
        </p:nvSpPr>
        <p:spPr bwMode="auto">
          <a:xfrm>
            <a:off x="1555750" y="2485781"/>
            <a:ext cx="6477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altLang="en-US">
                <a:solidFill>
                  <a:srgbClr val="000000"/>
                </a:solidFill>
              </a:rPr>
              <a:t>A</a:t>
            </a:r>
          </a:p>
        </p:txBody>
      </p:sp>
      <p:sp>
        <p:nvSpPr>
          <p:cNvPr id="55" name="Text Box 26"/>
          <p:cNvSpPr txBox="1">
            <a:spLocks noChangeArrowheads="1"/>
          </p:cNvSpPr>
          <p:nvPr/>
        </p:nvSpPr>
        <p:spPr bwMode="auto">
          <a:xfrm>
            <a:off x="4895850" y="2587381"/>
            <a:ext cx="6477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altLang="en-US">
                <a:solidFill>
                  <a:srgbClr val="000000"/>
                </a:solidFill>
              </a:rPr>
              <a:t>B</a:t>
            </a:r>
          </a:p>
        </p:txBody>
      </p:sp>
      <p:sp>
        <p:nvSpPr>
          <p:cNvPr id="56" name="Text Box 27"/>
          <p:cNvSpPr txBox="1">
            <a:spLocks noChangeArrowheads="1"/>
          </p:cNvSpPr>
          <p:nvPr/>
        </p:nvSpPr>
        <p:spPr bwMode="auto">
          <a:xfrm>
            <a:off x="4102100" y="4000256"/>
            <a:ext cx="6477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altLang="en-US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57" name="Text Box 28"/>
          <p:cNvSpPr txBox="1">
            <a:spLocks noChangeArrowheads="1"/>
          </p:cNvSpPr>
          <p:nvPr/>
        </p:nvSpPr>
        <p:spPr bwMode="auto">
          <a:xfrm>
            <a:off x="539750" y="3965331"/>
            <a:ext cx="6477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altLang="en-US">
                <a:solidFill>
                  <a:srgbClr val="000000"/>
                </a:solidFill>
              </a:rPr>
              <a:t>D</a:t>
            </a:r>
          </a:p>
        </p:txBody>
      </p:sp>
      <p:sp>
        <p:nvSpPr>
          <p:cNvPr id="58" name="Text Box 30"/>
          <p:cNvSpPr txBox="1">
            <a:spLocks noChangeArrowheads="1"/>
          </p:cNvSpPr>
          <p:nvPr/>
        </p:nvSpPr>
        <p:spPr bwMode="auto">
          <a:xfrm>
            <a:off x="4489450" y="3343031"/>
            <a:ext cx="5905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altLang="en-US" b="1">
                <a:solidFill>
                  <a:srgbClr val="000000"/>
                </a:solidFill>
              </a:rPr>
              <a:t>q</a:t>
            </a:r>
          </a:p>
        </p:txBody>
      </p:sp>
      <p:sp>
        <p:nvSpPr>
          <p:cNvPr id="59" name="AutoShape 31"/>
          <p:cNvSpPr>
            <a:spLocks noChangeArrowheads="1"/>
          </p:cNvSpPr>
          <p:nvPr/>
        </p:nvSpPr>
        <p:spPr bwMode="auto">
          <a:xfrm rot="5400000">
            <a:off x="3298825" y="2698506"/>
            <a:ext cx="171450" cy="304800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>
              <a:solidFill>
                <a:srgbClr val="000000"/>
              </a:solidFill>
            </a:endParaRPr>
          </a:p>
        </p:txBody>
      </p:sp>
      <p:sp>
        <p:nvSpPr>
          <p:cNvPr id="60" name="AutoShape 33"/>
          <p:cNvSpPr>
            <a:spLocks noChangeArrowheads="1"/>
          </p:cNvSpPr>
          <p:nvPr/>
        </p:nvSpPr>
        <p:spPr bwMode="auto">
          <a:xfrm rot="2327719">
            <a:off x="4368800" y="3331919"/>
            <a:ext cx="174625" cy="304800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>
              <a:solidFill>
                <a:srgbClr val="000000"/>
              </a:solidFill>
            </a:endParaRPr>
          </a:p>
        </p:txBody>
      </p:sp>
      <p:sp>
        <p:nvSpPr>
          <p:cNvPr id="61" name="AutoShape 35"/>
          <p:cNvSpPr>
            <a:spLocks noChangeArrowheads="1"/>
          </p:cNvSpPr>
          <p:nvPr/>
        </p:nvSpPr>
        <p:spPr bwMode="auto">
          <a:xfrm>
            <a:off x="1003300" y="2847731"/>
            <a:ext cx="3962400" cy="1276350"/>
          </a:xfrm>
          <a:prstGeom prst="parallelogram">
            <a:avLst>
              <a:gd name="adj" fmla="val 77612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>
              <a:solidFill>
                <a:srgbClr val="000000"/>
              </a:solidFill>
            </a:endParaRPr>
          </a:p>
        </p:txBody>
      </p:sp>
      <p:grpSp>
        <p:nvGrpSpPr>
          <p:cNvPr id="62" name="Group 105"/>
          <p:cNvGrpSpPr>
            <a:grpSpLocks/>
          </p:cNvGrpSpPr>
          <p:nvPr/>
        </p:nvGrpSpPr>
        <p:grpSpPr bwMode="auto">
          <a:xfrm>
            <a:off x="1022350" y="2854081"/>
            <a:ext cx="3911600" cy="1257300"/>
            <a:chOff x="1488" y="1408"/>
            <a:chExt cx="2464" cy="792"/>
          </a:xfrm>
        </p:grpSpPr>
        <p:sp>
          <p:nvSpPr>
            <p:cNvPr id="63" name="Line 103"/>
            <p:cNvSpPr>
              <a:spLocks noChangeShapeType="1"/>
            </p:cNvSpPr>
            <p:nvPr/>
          </p:nvSpPr>
          <p:spPr bwMode="auto">
            <a:xfrm flipV="1">
              <a:off x="1488" y="1408"/>
              <a:ext cx="2464" cy="792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AutoShape 104"/>
            <p:cNvSpPr>
              <a:spLocks noChangeArrowheads="1"/>
            </p:cNvSpPr>
            <p:nvPr/>
          </p:nvSpPr>
          <p:spPr bwMode="auto">
            <a:xfrm rot="4008084">
              <a:off x="2508" y="1784"/>
              <a:ext cx="132" cy="152"/>
            </a:xfrm>
            <a:prstGeom prst="triangle">
              <a:avLst>
                <a:gd name="adj" fmla="val 50000"/>
              </a:avLst>
            </a:prstGeom>
            <a:solidFill>
              <a:srgbClr val="0000FF"/>
            </a:solidFill>
            <a:ln w="9525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43316"/>
            <a:ext cx="8686800" cy="192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50" dirty="0" smtClean="0">
                <a:solidFill>
                  <a:srgbClr val="C84F2F"/>
                </a:solidFill>
                <a:latin typeface="Calibri"/>
              </a:rPr>
              <a:t> </a:t>
            </a:r>
            <a:r>
              <a:rPr sz="1250" b="1" i="0" spc="250" dirty="0">
                <a:solidFill>
                  <a:srgbClr val="C84F2F"/>
                </a:solidFill>
                <a:latin typeface="Calibri"/>
              </a:rPr>
              <a:t>QUESTION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65836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1C2A22"/>
                </a:solidFill>
                <a:latin typeface="Cambria"/>
              </a:rPr>
              <a:t>AB = a, BC = b, FC = 4a, DE = 3a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17320"/>
            <a:ext cx="11057839" cy="566928"/>
          </a:xfrm>
          <a:prstGeom prst="roundRect">
            <a:avLst>
              <a:gd name="adj" fmla="val 18000"/>
            </a:avLst>
          </a:prstGeom>
          <a:solidFill>
            <a:srgbClr val="FB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0" rIns="228600" bIns="0" rtlCol="0" anchor="ctr"/>
          <a:lstStyle/>
          <a:p>
            <a:pPr algn="l"/>
            <a:r>
              <a:rPr sz="1300" b="1">
                <a:solidFill>
                  <a:srgbClr val="1C2A22"/>
                </a:solidFill>
                <a:latin typeface="Calibri"/>
              </a:rPr>
              <a:t>Find:  (i) AC   (ii) FA   (iii) FD   (iv) DC   (v) AE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48840"/>
            <a:ext cx="5394960" cy="3613944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281928" y="2148840"/>
            <a:ext cx="5342839" cy="3613944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56248" y="2377440"/>
            <a:ext cx="4794199" cy="2880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(i)  AC = a + b</a:t>
            </a:r>
          </a:p>
          <a:p>
            <a:pPr>
              <a:lnSpc>
                <a:spcPct val="122000"/>
              </a:lnSpc>
            </a:pPr>
            <a:endParaRPr sz="1250" b="0" dirty="0">
              <a:solidFill>
                <a:srgbClr val="1C2A22"/>
              </a:solidFill>
              <a:latin typeface="Calibri"/>
            </a:endParaRP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(ii)  FA = 4a − b − a = 3a − b</a:t>
            </a:r>
          </a:p>
          <a:p>
            <a:pPr>
              <a:lnSpc>
                <a:spcPct val="122000"/>
              </a:lnSpc>
            </a:pPr>
            <a:endParaRPr sz="1250" b="0" dirty="0">
              <a:solidFill>
                <a:srgbClr val="1C2A22"/>
              </a:solidFill>
              <a:latin typeface="Calibri"/>
            </a:endParaRP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(iii)  FD = b + 3a</a:t>
            </a:r>
          </a:p>
          <a:p>
            <a:pPr>
              <a:lnSpc>
                <a:spcPct val="122000"/>
              </a:lnSpc>
            </a:pPr>
            <a:endParaRPr sz="1250" b="0" dirty="0">
              <a:solidFill>
                <a:srgbClr val="1C2A22"/>
              </a:solidFill>
              <a:latin typeface="Calibri"/>
            </a:endParaRP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(iv)  DC = −3a − b + 4a = a − b</a:t>
            </a:r>
          </a:p>
          <a:p>
            <a:pPr>
              <a:lnSpc>
                <a:spcPct val="122000"/>
              </a:lnSpc>
            </a:pPr>
            <a:endParaRPr sz="1250" b="0" dirty="0">
              <a:solidFill>
                <a:srgbClr val="1C2A22"/>
              </a:solidFill>
              <a:latin typeface="Calibri"/>
            </a:endParaRP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(v)  AE = AF + b = −FA + b</a:t>
            </a: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        = −(3a−b) + b = 2b − 3a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860952"/>
            <a:ext cx="11057839" cy="731520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450" b="1">
                <a:solidFill>
                  <a:srgbClr val="E0AC2B"/>
                </a:solidFill>
                <a:latin typeface="Cambria"/>
              </a:rPr>
              <a:t>Build each unknown vector from a route of edges you already know — direction matters, so watch every sign.</a:t>
            </a:r>
          </a:p>
        </p:txBody>
      </p:sp>
      <p:grpSp>
        <p:nvGrpSpPr>
          <p:cNvPr id="31" name="Group 70"/>
          <p:cNvGrpSpPr>
            <a:grpSpLocks/>
          </p:cNvGrpSpPr>
          <p:nvPr/>
        </p:nvGrpSpPr>
        <p:grpSpPr bwMode="auto">
          <a:xfrm>
            <a:off x="643255" y="2024221"/>
            <a:ext cx="5035550" cy="3738563"/>
            <a:chOff x="280" y="1404"/>
            <a:chExt cx="3172" cy="2355"/>
          </a:xfrm>
        </p:grpSpPr>
        <p:sp>
          <p:nvSpPr>
            <p:cNvPr id="32" name="Text Box 23"/>
            <p:cNvSpPr txBox="1">
              <a:spLocks noChangeArrowheads="1"/>
            </p:cNvSpPr>
            <p:nvPr/>
          </p:nvSpPr>
          <p:spPr bwMode="auto">
            <a:xfrm>
              <a:off x="1464" y="1512"/>
              <a:ext cx="40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>
                  <a:solidFill>
                    <a:srgbClr val="000000"/>
                  </a:solidFill>
                </a:rPr>
                <a:t>A</a:t>
              </a:r>
            </a:p>
          </p:txBody>
        </p:sp>
        <p:sp>
          <p:nvSpPr>
            <p:cNvPr id="33" name="Text Box 24"/>
            <p:cNvSpPr txBox="1">
              <a:spLocks noChangeArrowheads="1"/>
            </p:cNvSpPr>
            <p:nvPr/>
          </p:nvSpPr>
          <p:spPr bwMode="auto">
            <a:xfrm>
              <a:off x="2224" y="1468"/>
              <a:ext cx="40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>
                  <a:solidFill>
                    <a:srgbClr val="000000"/>
                  </a:solidFill>
                </a:rPr>
                <a:t>B</a:t>
              </a:r>
            </a:p>
          </p:txBody>
        </p:sp>
        <p:sp>
          <p:nvSpPr>
            <p:cNvPr id="34" name="Text Box 25"/>
            <p:cNvSpPr txBox="1">
              <a:spLocks noChangeArrowheads="1"/>
            </p:cNvSpPr>
            <p:nvPr/>
          </p:nvSpPr>
          <p:spPr bwMode="auto">
            <a:xfrm>
              <a:off x="3044" y="2226"/>
              <a:ext cx="40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>
                  <a:solidFill>
                    <a:srgbClr val="000000"/>
                  </a:solidFill>
                </a:rPr>
                <a:t>C</a:t>
              </a:r>
            </a:p>
          </p:txBody>
        </p:sp>
        <p:sp>
          <p:nvSpPr>
            <p:cNvPr id="35" name="Text Box 26"/>
            <p:cNvSpPr txBox="1">
              <a:spLocks noChangeArrowheads="1"/>
            </p:cNvSpPr>
            <p:nvPr/>
          </p:nvSpPr>
          <p:spPr bwMode="auto">
            <a:xfrm>
              <a:off x="3032" y="3416"/>
              <a:ext cx="40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>
                  <a:solidFill>
                    <a:srgbClr val="000000"/>
                  </a:solidFill>
                </a:rPr>
                <a:t>D</a:t>
              </a:r>
            </a:p>
          </p:txBody>
        </p:sp>
        <p:sp>
          <p:nvSpPr>
            <p:cNvPr id="36" name="Text Box 27"/>
            <p:cNvSpPr txBox="1">
              <a:spLocks noChangeArrowheads="1"/>
            </p:cNvSpPr>
            <p:nvPr/>
          </p:nvSpPr>
          <p:spPr bwMode="auto">
            <a:xfrm>
              <a:off x="1884" y="1404"/>
              <a:ext cx="3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 b="1" dirty="0">
                  <a:solidFill>
                    <a:srgbClr val="000000"/>
                  </a:solidFill>
                </a:rPr>
                <a:t>a</a:t>
              </a:r>
            </a:p>
          </p:txBody>
        </p:sp>
        <p:sp>
          <p:nvSpPr>
            <p:cNvPr id="37" name="AutoShape 28"/>
            <p:cNvSpPr>
              <a:spLocks noChangeArrowheads="1"/>
            </p:cNvSpPr>
            <p:nvPr/>
          </p:nvSpPr>
          <p:spPr bwMode="auto">
            <a:xfrm rot="5400000">
              <a:off x="1761" y="2291"/>
              <a:ext cx="108" cy="192"/>
            </a:xfrm>
            <a:prstGeom prst="triangle">
              <a:avLst>
                <a:gd name="adj" fmla="val 50000"/>
              </a:avLst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  <p:sp>
          <p:nvSpPr>
            <p:cNvPr id="38" name="Freeform 56"/>
            <p:cNvSpPr>
              <a:spLocks/>
            </p:cNvSpPr>
            <p:nvPr/>
          </p:nvSpPr>
          <p:spPr bwMode="auto">
            <a:xfrm>
              <a:off x="552" y="1696"/>
              <a:ext cx="2514" cy="1808"/>
            </a:xfrm>
            <a:custGeom>
              <a:avLst/>
              <a:gdLst>
                <a:gd name="T0" fmla="*/ 996 w 2514"/>
                <a:gd name="T1" fmla="*/ 1808 h 1808"/>
                <a:gd name="T2" fmla="*/ 2514 w 2514"/>
                <a:gd name="T3" fmla="*/ 1805 h 1808"/>
                <a:gd name="T4" fmla="*/ 2514 w 2514"/>
                <a:gd name="T5" fmla="*/ 689 h 1808"/>
                <a:gd name="T6" fmla="*/ 1725 w 2514"/>
                <a:gd name="T7" fmla="*/ 0 h 1808"/>
                <a:gd name="T8" fmla="*/ 1180 w 2514"/>
                <a:gd name="T9" fmla="*/ 0 h 1808"/>
                <a:gd name="T10" fmla="*/ 0 w 2514"/>
                <a:gd name="T11" fmla="*/ 692 h 1808"/>
                <a:gd name="T12" fmla="*/ 996 w 2514"/>
                <a:gd name="T13" fmla="*/ 1808 h 18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514" h="1808">
                  <a:moveTo>
                    <a:pt x="996" y="1808"/>
                  </a:moveTo>
                  <a:lnTo>
                    <a:pt x="2514" y="1805"/>
                  </a:lnTo>
                  <a:lnTo>
                    <a:pt x="2514" y="689"/>
                  </a:lnTo>
                  <a:lnTo>
                    <a:pt x="1725" y="0"/>
                  </a:lnTo>
                  <a:lnTo>
                    <a:pt x="1180" y="0"/>
                  </a:lnTo>
                  <a:lnTo>
                    <a:pt x="0" y="692"/>
                  </a:lnTo>
                  <a:lnTo>
                    <a:pt x="996" y="1808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Line 57"/>
            <p:cNvSpPr>
              <a:spLocks noChangeShapeType="1"/>
            </p:cNvSpPr>
            <p:nvPr/>
          </p:nvSpPr>
          <p:spPr bwMode="auto">
            <a:xfrm>
              <a:off x="550" y="2385"/>
              <a:ext cx="250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 Box 59"/>
            <p:cNvSpPr txBox="1">
              <a:spLocks noChangeArrowheads="1"/>
            </p:cNvSpPr>
            <p:nvPr/>
          </p:nvSpPr>
          <p:spPr bwMode="auto">
            <a:xfrm>
              <a:off x="1188" y="3444"/>
              <a:ext cx="40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>
                  <a:solidFill>
                    <a:srgbClr val="000000"/>
                  </a:solidFill>
                </a:rPr>
                <a:t>E</a:t>
              </a:r>
            </a:p>
          </p:txBody>
        </p:sp>
        <p:sp>
          <p:nvSpPr>
            <p:cNvPr id="41" name="Text Box 60"/>
            <p:cNvSpPr txBox="1">
              <a:spLocks noChangeArrowheads="1"/>
            </p:cNvSpPr>
            <p:nvPr/>
          </p:nvSpPr>
          <p:spPr bwMode="auto">
            <a:xfrm>
              <a:off x="280" y="2272"/>
              <a:ext cx="40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>
                  <a:solidFill>
                    <a:srgbClr val="000000"/>
                  </a:solidFill>
                </a:rPr>
                <a:t>F</a:t>
              </a:r>
            </a:p>
          </p:txBody>
        </p:sp>
        <p:sp>
          <p:nvSpPr>
            <p:cNvPr id="42" name="AutoShape 61"/>
            <p:cNvSpPr>
              <a:spLocks noChangeArrowheads="1"/>
            </p:cNvSpPr>
            <p:nvPr/>
          </p:nvSpPr>
          <p:spPr bwMode="auto">
            <a:xfrm rot="5400000">
              <a:off x="2146" y="3390"/>
              <a:ext cx="108" cy="192"/>
            </a:xfrm>
            <a:prstGeom prst="triangle">
              <a:avLst>
                <a:gd name="adj" fmla="val 50000"/>
              </a:avLst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  <p:sp>
          <p:nvSpPr>
            <p:cNvPr id="43" name="AutoShape 62"/>
            <p:cNvSpPr>
              <a:spLocks noChangeArrowheads="1"/>
            </p:cNvSpPr>
            <p:nvPr/>
          </p:nvSpPr>
          <p:spPr bwMode="auto">
            <a:xfrm rot="5400000">
              <a:off x="1966" y="1602"/>
              <a:ext cx="108" cy="192"/>
            </a:xfrm>
            <a:prstGeom prst="triangle">
              <a:avLst>
                <a:gd name="adj" fmla="val 50000"/>
              </a:avLst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  <p:sp>
          <p:nvSpPr>
            <p:cNvPr id="44" name="AutoShape 63"/>
            <p:cNvSpPr>
              <a:spLocks noChangeArrowheads="1"/>
            </p:cNvSpPr>
            <p:nvPr/>
          </p:nvSpPr>
          <p:spPr bwMode="auto">
            <a:xfrm rot="8328844">
              <a:off x="2594" y="1903"/>
              <a:ext cx="108" cy="192"/>
            </a:xfrm>
            <a:prstGeom prst="triangle">
              <a:avLst>
                <a:gd name="adj" fmla="val 50000"/>
              </a:avLst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  <p:sp>
          <p:nvSpPr>
            <p:cNvPr id="45" name="AutoShape 64"/>
            <p:cNvSpPr>
              <a:spLocks noChangeArrowheads="1"/>
            </p:cNvSpPr>
            <p:nvPr/>
          </p:nvSpPr>
          <p:spPr bwMode="auto">
            <a:xfrm rot="8637801">
              <a:off x="1098" y="2957"/>
              <a:ext cx="108" cy="192"/>
            </a:xfrm>
            <a:prstGeom prst="triangle">
              <a:avLst>
                <a:gd name="adj" fmla="val 50000"/>
              </a:avLst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  <p:sp>
          <p:nvSpPr>
            <p:cNvPr id="46" name="Text Box 65"/>
            <p:cNvSpPr txBox="1">
              <a:spLocks noChangeArrowheads="1"/>
            </p:cNvSpPr>
            <p:nvPr/>
          </p:nvSpPr>
          <p:spPr bwMode="auto">
            <a:xfrm>
              <a:off x="2674" y="1807"/>
              <a:ext cx="3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 b="1">
                  <a:solidFill>
                    <a:srgbClr val="000000"/>
                  </a:solidFill>
                </a:rPr>
                <a:t>b</a:t>
              </a:r>
            </a:p>
          </p:txBody>
        </p:sp>
        <p:sp>
          <p:nvSpPr>
            <p:cNvPr id="47" name="Text Box 66"/>
            <p:cNvSpPr txBox="1">
              <a:spLocks noChangeArrowheads="1"/>
            </p:cNvSpPr>
            <p:nvPr/>
          </p:nvSpPr>
          <p:spPr bwMode="auto">
            <a:xfrm>
              <a:off x="1775" y="2108"/>
              <a:ext cx="3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 b="1">
                  <a:solidFill>
                    <a:srgbClr val="000000"/>
                  </a:solidFill>
                </a:rPr>
                <a:t>4a</a:t>
              </a:r>
            </a:p>
          </p:txBody>
        </p:sp>
        <p:sp>
          <p:nvSpPr>
            <p:cNvPr id="48" name="Text Box 67"/>
            <p:cNvSpPr txBox="1">
              <a:spLocks noChangeArrowheads="1"/>
            </p:cNvSpPr>
            <p:nvPr/>
          </p:nvSpPr>
          <p:spPr bwMode="auto">
            <a:xfrm>
              <a:off x="1992" y="3528"/>
              <a:ext cx="3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 b="1">
                  <a:solidFill>
                    <a:srgbClr val="000000"/>
                  </a:solidFill>
                </a:rPr>
                <a:t>3a</a:t>
              </a:r>
            </a:p>
          </p:txBody>
        </p:sp>
        <p:sp>
          <p:nvSpPr>
            <p:cNvPr id="49" name="Text Box 68"/>
            <p:cNvSpPr txBox="1">
              <a:spLocks noChangeArrowheads="1"/>
            </p:cNvSpPr>
            <p:nvPr/>
          </p:nvSpPr>
          <p:spPr bwMode="auto">
            <a:xfrm>
              <a:off x="848" y="2924"/>
              <a:ext cx="3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 b="1">
                  <a:solidFill>
                    <a:srgbClr val="000000"/>
                  </a:solidFill>
                </a:rPr>
                <a:t>b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43316"/>
            <a:ext cx="8686800" cy="192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50" dirty="0" smtClean="0">
                <a:solidFill>
                  <a:srgbClr val="C84F2F"/>
                </a:solidFill>
                <a:latin typeface="Calibri"/>
              </a:rPr>
              <a:t>QUESTION </a:t>
            </a:r>
            <a:r>
              <a:rPr sz="1250" b="1" i="0" spc="250" dirty="0">
                <a:solidFill>
                  <a:srgbClr val="C84F2F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65836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1C2A22"/>
                </a:solidFill>
                <a:latin typeface="Cambria"/>
              </a:rPr>
              <a:t>OABCDEF is a Regular Hexagon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17320"/>
            <a:ext cx="11057839" cy="566928"/>
          </a:xfrm>
          <a:prstGeom prst="roundRect">
            <a:avLst>
              <a:gd name="adj" fmla="val 18000"/>
            </a:avLst>
          </a:prstGeom>
          <a:solidFill>
            <a:srgbClr val="FB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0" rIns="228600" bIns="0" rtlCol="0" anchor="ctr"/>
          <a:lstStyle/>
          <a:p>
            <a:pPr algn="l"/>
            <a:r>
              <a:rPr sz="1300" b="1">
                <a:solidFill>
                  <a:srgbClr val="1C2A22"/>
                </a:solidFill>
                <a:latin typeface="Calibri"/>
              </a:rPr>
              <a:t>O is the centre. Given the usual vectors a and b, and remembering opposite sides of a regular hexagon are parallel, find:  (i) FC  (ii) DA  (iii) EB  (iv) EA  (v) FD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48839"/>
            <a:ext cx="4754880" cy="3683269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641848" y="2148839"/>
            <a:ext cx="5982919" cy="3683269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916168" y="2377440"/>
            <a:ext cx="5434279" cy="2880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(i)  FC = 2a</a:t>
            </a:r>
          </a:p>
          <a:p>
            <a:pPr>
              <a:lnSpc>
                <a:spcPct val="122000"/>
              </a:lnSpc>
            </a:pPr>
            <a:endParaRPr sz="1250" b="0" dirty="0">
              <a:solidFill>
                <a:srgbClr val="1C2A22"/>
              </a:solidFill>
              <a:latin typeface="Calibri"/>
            </a:endParaRP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(ii)  DA = −2b</a:t>
            </a:r>
          </a:p>
          <a:p>
            <a:pPr>
              <a:lnSpc>
                <a:spcPct val="122000"/>
              </a:lnSpc>
            </a:pPr>
            <a:endParaRPr sz="1250" b="0" dirty="0">
              <a:solidFill>
                <a:srgbClr val="1C2A22"/>
              </a:solidFill>
              <a:latin typeface="Calibri"/>
            </a:endParaRP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(iii)  EB = EF+FO+OA+AB</a:t>
            </a: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        = −b + a − b + a</a:t>
            </a: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        = 2a − 2b = 2(a−b)</a:t>
            </a:r>
          </a:p>
          <a:p>
            <a:pPr>
              <a:lnSpc>
                <a:spcPct val="122000"/>
              </a:lnSpc>
            </a:pPr>
            <a:endParaRPr sz="1250" b="0" dirty="0">
              <a:solidFill>
                <a:srgbClr val="1C2A22"/>
              </a:solidFill>
              <a:latin typeface="Calibri"/>
            </a:endParaRP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(iv)  EA = EB − a = a − 2b</a:t>
            </a:r>
          </a:p>
          <a:p>
            <a:pPr>
              <a:lnSpc>
                <a:spcPct val="122000"/>
              </a:lnSpc>
            </a:pPr>
            <a:endParaRPr sz="1250" b="0" dirty="0">
              <a:solidFill>
                <a:srgbClr val="1C2A22"/>
              </a:solidFill>
              <a:latin typeface="Calibri"/>
            </a:endParaRP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(v)  FD = b + 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6086975"/>
            <a:ext cx="11057839" cy="731520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450" b="1">
                <a:solidFill>
                  <a:srgbClr val="E0AC2B"/>
                </a:solidFill>
                <a:latin typeface="Cambria"/>
              </a:rPr>
              <a:t>Remember: opposite sides of a regular hexagon are parallel — use that to shortcut long routes.</a:t>
            </a:r>
          </a:p>
        </p:txBody>
      </p:sp>
      <p:grpSp>
        <p:nvGrpSpPr>
          <p:cNvPr id="35" name="Group 92"/>
          <p:cNvGrpSpPr>
            <a:grpSpLocks/>
          </p:cNvGrpSpPr>
          <p:nvPr/>
        </p:nvGrpSpPr>
        <p:grpSpPr bwMode="auto">
          <a:xfrm>
            <a:off x="790575" y="1283921"/>
            <a:ext cx="6180138" cy="4548188"/>
            <a:chOff x="774" y="764"/>
            <a:chExt cx="3893" cy="2865"/>
          </a:xfrm>
        </p:grpSpPr>
        <p:grpSp>
          <p:nvGrpSpPr>
            <p:cNvPr id="36" name="Group 4"/>
            <p:cNvGrpSpPr>
              <a:grpSpLocks/>
            </p:cNvGrpSpPr>
            <p:nvPr/>
          </p:nvGrpSpPr>
          <p:grpSpPr bwMode="auto">
            <a:xfrm>
              <a:off x="774" y="764"/>
              <a:ext cx="3893" cy="249"/>
              <a:chOff x="690" y="752"/>
              <a:chExt cx="3893" cy="249"/>
            </a:xfrm>
          </p:grpSpPr>
          <p:sp>
            <p:nvSpPr>
              <p:cNvPr id="56" name="Text Box 6"/>
              <p:cNvSpPr txBox="1">
                <a:spLocks noChangeArrowheads="1"/>
              </p:cNvSpPr>
              <p:nvPr/>
            </p:nvSpPr>
            <p:spPr bwMode="auto">
              <a:xfrm>
                <a:off x="690" y="763"/>
                <a:ext cx="336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GB" altLang="en-US">
                    <a:solidFill>
                      <a:srgbClr val="000000"/>
                    </a:solidFill>
                    <a:sym typeface="Symbol" pitchFamily="18" charset="2"/>
                  </a:rPr>
                  <a:t></a:t>
                </a:r>
              </a:p>
            </p:txBody>
          </p:sp>
          <p:sp>
            <p:nvSpPr>
              <p:cNvPr id="57" name="Text Box 7"/>
              <p:cNvSpPr txBox="1">
                <a:spLocks noChangeArrowheads="1"/>
              </p:cNvSpPr>
              <p:nvPr/>
            </p:nvSpPr>
            <p:spPr bwMode="auto">
              <a:xfrm>
                <a:off x="1582" y="770"/>
                <a:ext cx="336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GB" altLang="en-US">
                    <a:solidFill>
                      <a:srgbClr val="000000"/>
                    </a:solidFill>
                    <a:sym typeface="Symbol" pitchFamily="18" charset="2"/>
                  </a:rPr>
                  <a:t></a:t>
                </a:r>
              </a:p>
            </p:txBody>
          </p:sp>
          <p:sp>
            <p:nvSpPr>
              <p:cNvPr id="58" name="Text Box 8"/>
              <p:cNvSpPr txBox="1">
                <a:spLocks noChangeArrowheads="1"/>
              </p:cNvSpPr>
              <p:nvPr/>
            </p:nvSpPr>
            <p:spPr bwMode="auto">
              <a:xfrm>
                <a:off x="2342" y="752"/>
                <a:ext cx="336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GB" altLang="en-US">
                    <a:solidFill>
                      <a:srgbClr val="000000"/>
                    </a:solidFill>
                    <a:sym typeface="Symbol" pitchFamily="18" charset="2"/>
                  </a:rPr>
                  <a:t></a:t>
                </a:r>
              </a:p>
            </p:txBody>
          </p:sp>
          <p:sp>
            <p:nvSpPr>
              <p:cNvPr id="59" name="Text Box 9"/>
              <p:cNvSpPr txBox="1">
                <a:spLocks noChangeArrowheads="1"/>
              </p:cNvSpPr>
              <p:nvPr/>
            </p:nvSpPr>
            <p:spPr bwMode="auto">
              <a:xfrm>
                <a:off x="3295" y="759"/>
                <a:ext cx="336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GB" altLang="en-US">
                    <a:solidFill>
                      <a:srgbClr val="000000"/>
                    </a:solidFill>
                    <a:sym typeface="Symbol" pitchFamily="18" charset="2"/>
                  </a:rPr>
                  <a:t></a:t>
                </a:r>
              </a:p>
            </p:txBody>
          </p:sp>
          <p:sp>
            <p:nvSpPr>
              <p:cNvPr id="60" name="Text Box 10"/>
              <p:cNvSpPr txBox="1">
                <a:spLocks noChangeArrowheads="1"/>
              </p:cNvSpPr>
              <p:nvPr/>
            </p:nvSpPr>
            <p:spPr bwMode="auto">
              <a:xfrm>
                <a:off x="4247" y="756"/>
                <a:ext cx="336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GB" altLang="en-US">
                    <a:solidFill>
                      <a:srgbClr val="000000"/>
                    </a:solidFill>
                    <a:sym typeface="Symbol" pitchFamily="18" charset="2"/>
                  </a:rPr>
                  <a:t></a:t>
                </a:r>
              </a:p>
            </p:txBody>
          </p:sp>
        </p:grpSp>
        <p:grpSp>
          <p:nvGrpSpPr>
            <p:cNvPr id="37" name="Group 91"/>
            <p:cNvGrpSpPr>
              <a:grpSpLocks/>
            </p:cNvGrpSpPr>
            <p:nvPr/>
          </p:nvGrpSpPr>
          <p:grpSpPr bwMode="auto">
            <a:xfrm>
              <a:off x="1000" y="1416"/>
              <a:ext cx="2614" cy="2213"/>
              <a:chOff x="580" y="1776"/>
              <a:chExt cx="2614" cy="2213"/>
            </a:xfrm>
          </p:grpSpPr>
          <p:sp>
            <p:nvSpPr>
              <p:cNvPr id="38" name="Text Box 20"/>
              <p:cNvSpPr txBox="1">
                <a:spLocks noChangeArrowheads="1"/>
              </p:cNvSpPr>
              <p:nvPr/>
            </p:nvSpPr>
            <p:spPr bwMode="auto">
              <a:xfrm>
                <a:off x="2786" y="2898"/>
                <a:ext cx="408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GB" altLang="en-US">
                    <a:solidFill>
                      <a:srgbClr val="000000"/>
                    </a:solidFill>
                  </a:rPr>
                  <a:t>C</a:t>
                </a:r>
              </a:p>
            </p:txBody>
          </p:sp>
          <p:sp>
            <p:nvSpPr>
              <p:cNvPr id="39" name="Text Box 22"/>
              <p:cNvSpPr txBox="1">
                <a:spLocks noChangeArrowheads="1"/>
              </p:cNvSpPr>
              <p:nvPr/>
            </p:nvSpPr>
            <p:spPr bwMode="auto">
              <a:xfrm>
                <a:off x="1740" y="1776"/>
                <a:ext cx="372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GB" altLang="en-US" b="1">
                    <a:solidFill>
                      <a:srgbClr val="000000"/>
                    </a:solidFill>
                  </a:rPr>
                  <a:t>a</a:t>
                </a:r>
              </a:p>
            </p:txBody>
          </p:sp>
          <p:grpSp>
            <p:nvGrpSpPr>
              <p:cNvPr id="40" name="Group 63"/>
              <p:cNvGrpSpPr>
                <a:grpSpLocks/>
              </p:cNvGrpSpPr>
              <p:nvPr/>
            </p:nvGrpSpPr>
            <p:grpSpPr bwMode="auto">
              <a:xfrm>
                <a:off x="580" y="1912"/>
                <a:ext cx="2412" cy="2077"/>
                <a:chOff x="616" y="1852"/>
                <a:chExt cx="2412" cy="2077"/>
              </a:xfrm>
            </p:grpSpPr>
            <p:sp>
              <p:nvSpPr>
                <p:cNvPr id="41" name="Text Box 18"/>
                <p:cNvSpPr txBox="1">
                  <a:spLocks noChangeArrowheads="1"/>
                </p:cNvSpPr>
                <p:nvPr/>
              </p:nvSpPr>
              <p:spPr bwMode="auto">
                <a:xfrm>
                  <a:off x="1104" y="1884"/>
                  <a:ext cx="408" cy="23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9pPr>
                </a:lstStyle>
                <a:p>
                  <a:pPr eaLnBrk="1" hangingPunct="1">
                    <a:spcBef>
                      <a:spcPct val="50000"/>
                    </a:spcBef>
                  </a:pPr>
                  <a:r>
                    <a:rPr lang="en-GB" altLang="en-US">
                      <a:solidFill>
                        <a:srgbClr val="000000"/>
                      </a:solidFill>
                    </a:rPr>
                    <a:t>A</a:t>
                  </a:r>
                </a:p>
              </p:txBody>
            </p:sp>
            <p:sp>
              <p:nvSpPr>
                <p:cNvPr id="42" name="Text Box 19"/>
                <p:cNvSpPr txBox="1">
                  <a:spLocks noChangeArrowheads="1"/>
                </p:cNvSpPr>
                <p:nvPr/>
              </p:nvSpPr>
              <p:spPr bwMode="auto">
                <a:xfrm>
                  <a:off x="2290" y="1852"/>
                  <a:ext cx="408" cy="23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9pPr>
                </a:lstStyle>
                <a:p>
                  <a:pPr eaLnBrk="1" hangingPunct="1">
                    <a:spcBef>
                      <a:spcPct val="50000"/>
                    </a:spcBef>
                  </a:pPr>
                  <a:r>
                    <a:rPr lang="en-GB" altLang="en-US">
                      <a:solidFill>
                        <a:srgbClr val="000000"/>
                      </a:solidFill>
                    </a:rPr>
                    <a:t>B</a:t>
                  </a:r>
                </a:p>
              </p:txBody>
            </p:sp>
            <p:sp>
              <p:nvSpPr>
                <p:cNvPr id="43" name="Text Box 21"/>
                <p:cNvSpPr txBox="1">
                  <a:spLocks noChangeArrowheads="1"/>
                </p:cNvSpPr>
                <p:nvPr/>
              </p:nvSpPr>
              <p:spPr bwMode="auto">
                <a:xfrm>
                  <a:off x="2282" y="3698"/>
                  <a:ext cx="408" cy="23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9pPr>
                </a:lstStyle>
                <a:p>
                  <a:pPr eaLnBrk="1" hangingPunct="1">
                    <a:spcBef>
                      <a:spcPct val="50000"/>
                    </a:spcBef>
                  </a:pPr>
                  <a:r>
                    <a:rPr lang="en-GB" altLang="en-US">
                      <a:solidFill>
                        <a:srgbClr val="000000"/>
                      </a:solidFill>
                    </a:rPr>
                    <a:t>D</a:t>
                  </a:r>
                </a:p>
              </p:txBody>
            </p:sp>
            <p:sp>
              <p:nvSpPr>
                <p:cNvPr id="44" name="Text Box 26"/>
                <p:cNvSpPr txBox="1">
                  <a:spLocks noChangeArrowheads="1"/>
                </p:cNvSpPr>
                <p:nvPr/>
              </p:nvSpPr>
              <p:spPr bwMode="auto">
                <a:xfrm>
                  <a:off x="1092" y="3678"/>
                  <a:ext cx="408" cy="23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9pPr>
                </a:lstStyle>
                <a:p>
                  <a:pPr eaLnBrk="1" hangingPunct="1">
                    <a:spcBef>
                      <a:spcPct val="50000"/>
                    </a:spcBef>
                  </a:pPr>
                  <a:r>
                    <a:rPr lang="en-GB" altLang="en-US">
                      <a:solidFill>
                        <a:srgbClr val="000000"/>
                      </a:solidFill>
                    </a:rPr>
                    <a:t>E</a:t>
                  </a:r>
                </a:p>
              </p:txBody>
            </p:sp>
            <p:sp>
              <p:nvSpPr>
                <p:cNvPr id="45" name="AutoShape 28"/>
                <p:cNvSpPr>
                  <a:spLocks noChangeArrowheads="1"/>
                </p:cNvSpPr>
                <p:nvPr/>
              </p:nvSpPr>
              <p:spPr bwMode="auto">
                <a:xfrm rot="5400000">
                  <a:off x="1810" y="1950"/>
                  <a:ext cx="108" cy="19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GB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46" name="AutoShape 30"/>
                <p:cNvSpPr>
                  <a:spLocks noChangeArrowheads="1"/>
                </p:cNvSpPr>
                <p:nvPr/>
              </p:nvSpPr>
              <p:spPr bwMode="auto">
                <a:xfrm rot="9083969">
                  <a:off x="2534" y="2401"/>
                  <a:ext cx="108" cy="19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GB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47" name="Text Box 32"/>
                <p:cNvSpPr txBox="1">
                  <a:spLocks noChangeArrowheads="1"/>
                </p:cNvSpPr>
                <p:nvPr/>
              </p:nvSpPr>
              <p:spPr bwMode="auto">
                <a:xfrm>
                  <a:off x="2656" y="2377"/>
                  <a:ext cx="372" cy="23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9pPr>
                </a:lstStyle>
                <a:p>
                  <a:pPr eaLnBrk="1" hangingPunct="1">
                    <a:spcBef>
                      <a:spcPct val="50000"/>
                    </a:spcBef>
                  </a:pPr>
                  <a:r>
                    <a:rPr lang="en-GB" altLang="en-US" b="1">
                      <a:solidFill>
                        <a:srgbClr val="000000"/>
                      </a:solidFill>
                    </a:rPr>
                    <a:t>b</a:t>
                  </a:r>
                </a:p>
              </p:txBody>
            </p:sp>
            <p:sp>
              <p:nvSpPr>
                <p:cNvPr id="48" name="AutoShape 54"/>
                <p:cNvSpPr>
                  <a:spLocks noChangeArrowheads="1"/>
                </p:cNvSpPr>
                <p:nvPr/>
              </p:nvSpPr>
              <p:spPr bwMode="auto">
                <a:xfrm>
                  <a:off x="852" y="2052"/>
                  <a:ext cx="1970" cy="1704"/>
                </a:xfrm>
                <a:prstGeom prst="hexagon">
                  <a:avLst>
                    <a:gd name="adj" fmla="val 28903"/>
                    <a:gd name="vf" fmla="val 115470"/>
                  </a:avLst>
                </a:prstGeom>
                <a:noFill/>
                <a:ln w="63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GB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49" name="Line 55"/>
                <p:cNvSpPr>
                  <a:spLocks noChangeShapeType="1"/>
                </p:cNvSpPr>
                <p:nvPr/>
              </p:nvSpPr>
              <p:spPr bwMode="auto">
                <a:xfrm>
                  <a:off x="1350" y="2046"/>
                  <a:ext cx="972" cy="1704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50" name="Line 57"/>
                <p:cNvSpPr>
                  <a:spLocks noChangeShapeType="1"/>
                </p:cNvSpPr>
                <p:nvPr/>
              </p:nvSpPr>
              <p:spPr bwMode="auto">
                <a:xfrm>
                  <a:off x="852" y="2904"/>
                  <a:ext cx="196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51" name="Line 58"/>
                <p:cNvSpPr>
                  <a:spLocks noChangeShapeType="1"/>
                </p:cNvSpPr>
                <p:nvPr/>
              </p:nvSpPr>
              <p:spPr bwMode="auto">
                <a:xfrm flipV="1">
                  <a:off x="1344" y="2046"/>
                  <a:ext cx="984" cy="1704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52" name="Text Box 59"/>
                <p:cNvSpPr txBox="1">
                  <a:spLocks noChangeArrowheads="1"/>
                </p:cNvSpPr>
                <p:nvPr/>
              </p:nvSpPr>
              <p:spPr bwMode="auto">
                <a:xfrm>
                  <a:off x="1544" y="2708"/>
                  <a:ext cx="348" cy="23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9pPr>
                </a:lstStyle>
                <a:p>
                  <a:pPr eaLnBrk="1" hangingPunct="1">
                    <a:spcBef>
                      <a:spcPct val="50000"/>
                    </a:spcBef>
                  </a:pPr>
                  <a:r>
                    <a:rPr lang="en-GB" altLang="en-US">
                      <a:solidFill>
                        <a:srgbClr val="000000"/>
                      </a:solidFill>
                    </a:rPr>
                    <a:t>O</a:t>
                  </a:r>
                </a:p>
              </p:txBody>
            </p:sp>
            <p:sp>
              <p:nvSpPr>
                <p:cNvPr id="53" name="Text Box 60"/>
                <p:cNvSpPr txBox="1">
                  <a:spLocks noChangeArrowheads="1"/>
                </p:cNvSpPr>
                <p:nvPr/>
              </p:nvSpPr>
              <p:spPr bwMode="auto">
                <a:xfrm>
                  <a:off x="616" y="2770"/>
                  <a:ext cx="408" cy="23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charset="0"/>
                    </a:defRPr>
                  </a:lvl9pPr>
                </a:lstStyle>
                <a:p>
                  <a:pPr eaLnBrk="1" hangingPunct="1">
                    <a:spcBef>
                      <a:spcPct val="50000"/>
                    </a:spcBef>
                  </a:pPr>
                  <a:r>
                    <a:rPr lang="en-GB" altLang="en-US">
                      <a:solidFill>
                        <a:srgbClr val="000000"/>
                      </a:solidFill>
                    </a:rPr>
                    <a:t>F</a:t>
                  </a:r>
                </a:p>
              </p:txBody>
            </p:sp>
          </p:grpSp>
        </p:grpSp>
      </p:grpSp>
      <p:grpSp>
        <p:nvGrpSpPr>
          <p:cNvPr id="62" name="Group 97"/>
          <p:cNvGrpSpPr>
            <a:grpSpLocks/>
          </p:cNvGrpSpPr>
          <p:nvPr/>
        </p:nvGrpSpPr>
        <p:grpSpPr bwMode="auto">
          <a:xfrm>
            <a:off x="2232025" y="2818239"/>
            <a:ext cx="163512" cy="2695575"/>
            <a:chOff x="1685" y="1746"/>
            <a:chExt cx="103" cy="1698"/>
          </a:xfrm>
        </p:grpSpPr>
        <p:sp>
          <p:nvSpPr>
            <p:cNvPr id="63" name="Line 95"/>
            <p:cNvSpPr>
              <a:spLocks noChangeShapeType="1"/>
            </p:cNvSpPr>
            <p:nvPr/>
          </p:nvSpPr>
          <p:spPr bwMode="auto">
            <a:xfrm flipV="1">
              <a:off x="1734" y="1746"/>
              <a:ext cx="0" cy="1698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AutoShape 96"/>
            <p:cNvSpPr>
              <a:spLocks noChangeArrowheads="1"/>
            </p:cNvSpPr>
            <p:nvPr/>
          </p:nvSpPr>
          <p:spPr bwMode="auto">
            <a:xfrm>
              <a:off x="1685" y="2610"/>
              <a:ext cx="103" cy="114"/>
            </a:xfrm>
            <a:prstGeom prst="triangle">
              <a:avLst>
                <a:gd name="adj" fmla="val 50000"/>
              </a:avLst>
            </a:prstGeom>
            <a:solidFill>
              <a:srgbClr val="0000FF"/>
            </a:solidFill>
            <a:ln w="9525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</p:grpSp>
      <p:grpSp>
        <p:nvGrpSpPr>
          <p:cNvPr id="65" name="Group 100"/>
          <p:cNvGrpSpPr>
            <a:grpSpLocks/>
          </p:cNvGrpSpPr>
          <p:nvPr/>
        </p:nvGrpSpPr>
        <p:grpSpPr bwMode="auto">
          <a:xfrm>
            <a:off x="1524000" y="4175552"/>
            <a:ext cx="2333625" cy="1350962"/>
            <a:chOff x="1239" y="2601"/>
            <a:chExt cx="1470" cy="851"/>
          </a:xfrm>
        </p:grpSpPr>
        <p:sp>
          <p:nvSpPr>
            <p:cNvPr id="66" name="Freeform 98"/>
            <p:cNvSpPr>
              <a:spLocks/>
            </p:cNvSpPr>
            <p:nvPr/>
          </p:nvSpPr>
          <p:spPr bwMode="auto">
            <a:xfrm>
              <a:off x="1239" y="2601"/>
              <a:ext cx="1470" cy="851"/>
            </a:xfrm>
            <a:custGeom>
              <a:avLst/>
              <a:gdLst>
                <a:gd name="T0" fmla="*/ 0 w 1470"/>
                <a:gd name="T1" fmla="*/ 0 h 851"/>
                <a:gd name="T2" fmla="*/ 1470 w 1470"/>
                <a:gd name="T3" fmla="*/ 851 h 851"/>
                <a:gd name="T4" fmla="*/ 0 60000 65536"/>
                <a:gd name="T5" fmla="*/ 0 60000 6553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0" t="0" r="r" b="b"/>
              <a:pathLst>
                <a:path w="1470" h="851">
                  <a:moveTo>
                    <a:pt x="0" y="0"/>
                  </a:moveTo>
                  <a:lnTo>
                    <a:pt x="1470" y="851"/>
                  </a:lnTo>
                </a:path>
              </a:pathLst>
            </a:custGeom>
            <a:noFill/>
            <a:ln w="9525">
              <a:solidFill>
                <a:srgbClr val="0000FF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AutoShape 99"/>
            <p:cNvSpPr>
              <a:spLocks noChangeArrowheads="1"/>
            </p:cNvSpPr>
            <p:nvPr/>
          </p:nvSpPr>
          <p:spPr bwMode="auto">
            <a:xfrm rot="7378335">
              <a:off x="1969" y="2988"/>
              <a:ext cx="71" cy="108"/>
            </a:xfrm>
            <a:prstGeom prst="triangle">
              <a:avLst>
                <a:gd name="adj" fmla="val 50000"/>
              </a:avLst>
            </a:prstGeom>
            <a:solidFill>
              <a:srgbClr val="0000FF"/>
            </a:solidFill>
            <a:ln w="9525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43316"/>
            <a:ext cx="8686800" cy="192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50" dirty="0" smtClean="0">
                <a:solidFill>
                  <a:srgbClr val="C84F2F"/>
                </a:solidFill>
                <a:latin typeface="Calibri"/>
              </a:rPr>
              <a:t>QUESTION </a:t>
            </a:r>
            <a:r>
              <a:rPr sz="1250" b="1" i="0" spc="250" dirty="0">
                <a:solidFill>
                  <a:srgbClr val="C84F2F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65836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1C2A22"/>
                </a:solidFill>
                <a:latin typeface="Cambria"/>
              </a:rPr>
              <a:t>AB = 4p, DC = p, CB = q, M is the Midpoint of AB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17320"/>
            <a:ext cx="11057839" cy="566928"/>
          </a:xfrm>
          <a:prstGeom prst="roundRect">
            <a:avLst>
              <a:gd name="adj" fmla="val 18000"/>
            </a:avLst>
          </a:prstGeom>
          <a:solidFill>
            <a:srgbClr val="FB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0" rIns="228600" bIns="0" rtlCol="0" anchor="ctr"/>
          <a:lstStyle/>
          <a:p>
            <a:pPr algn="l"/>
            <a:r>
              <a:rPr sz="1300" b="1">
                <a:solidFill>
                  <a:srgbClr val="1C2A22"/>
                </a:solidFill>
                <a:latin typeface="Calibri"/>
              </a:rPr>
              <a:t>Find:  (i) AD   (ii) CA   (iii) DB   (iv) CM   (v) MD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48840"/>
            <a:ext cx="5394960" cy="333756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281928" y="2148840"/>
            <a:ext cx="5342839" cy="333756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56248" y="2377440"/>
            <a:ext cx="4794199" cy="2880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(i)  AD = 4p − q − p = 3p − q</a:t>
            </a:r>
          </a:p>
          <a:p>
            <a:pPr>
              <a:lnSpc>
                <a:spcPct val="122000"/>
              </a:lnSpc>
            </a:pPr>
            <a:endParaRPr sz="1250" b="0" dirty="0">
              <a:solidFill>
                <a:srgbClr val="1C2A22"/>
              </a:solidFill>
              <a:latin typeface="Calibri"/>
            </a:endParaRP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(ii)  CA = q − 4p</a:t>
            </a:r>
          </a:p>
          <a:p>
            <a:pPr>
              <a:lnSpc>
                <a:spcPct val="122000"/>
              </a:lnSpc>
            </a:pPr>
            <a:endParaRPr sz="1250" b="0" dirty="0">
              <a:solidFill>
                <a:srgbClr val="1C2A22"/>
              </a:solidFill>
              <a:latin typeface="Calibri"/>
            </a:endParaRP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(iii)  DB = p + q</a:t>
            </a:r>
          </a:p>
          <a:p>
            <a:pPr>
              <a:lnSpc>
                <a:spcPct val="122000"/>
              </a:lnSpc>
            </a:pPr>
            <a:endParaRPr sz="1250" b="0" dirty="0">
              <a:solidFill>
                <a:srgbClr val="1C2A22"/>
              </a:solidFill>
              <a:latin typeface="Calibri"/>
            </a:endParaRP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(iv)  CM = q − 2p</a:t>
            </a:r>
          </a:p>
          <a:p>
            <a:pPr>
              <a:lnSpc>
                <a:spcPct val="122000"/>
              </a:lnSpc>
            </a:pPr>
            <a:endParaRPr sz="1250" b="0" dirty="0">
              <a:solidFill>
                <a:srgbClr val="1C2A22"/>
              </a:solidFill>
              <a:latin typeface="Calibri"/>
            </a:endParaRP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(v)  MD = −2p + AD</a:t>
            </a: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        = −2p + 3p − q = p − q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623560"/>
            <a:ext cx="11057839" cy="731520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450" b="1">
                <a:solidFill>
                  <a:srgbClr val="E0AC2B"/>
                </a:solidFill>
                <a:latin typeface="Cambria"/>
              </a:rPr>
              <a:t>M splits AB exactly in half, so AM = MB = 2p — use that to shortcut CM and MD.</a:t>
            </a:r>
          </a:p>
        </p:txBody>
      </p:sp>
      <p:grpSp>
        <p:nvGrpSpPr>
          <p:cNvPr id="29" name="Group 75"/>
          <p:cNvGrpSpPr>
            <a:grpSpLocks/>
          </p:cNvGrpSpPr>
          <p:nvPr/>
        </p:nvGrpSpPr>
        <p:grpSpPr bwMode="auto">
          <a:xfrm>
            <a:off x="516732" y="2242980"/>
            <a:ext cx="5734050" cy="2846388"/>
            <a:chOff x="218" y="1404"/>
            <a:chExt cx="3612" cy="1793"/>
          </a:xfrm>
        </p:grpSpPr>
        <p:sp>
          <p:nvSpPr>
            <p:cNvPr id="30" name="Text Box 28"/>
            <p:cNvSpPr txBox="1">
              <a:spLocks noChangeArrowheads="1"/>
            </p:cNvSpPr>
            <p:nvPr/>
          </p:nvSpPr>
          <p:spPr bwMode="auto">
            <a:xfrm>
              <a:off x="3422" y="1485"/>
              <a:ext cx="40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>
                  <a:solidFill>
                    <a:srgbClr val="000000"/>
                  </a:solidFill>
                </a:rPr>
                <a:t>B</a:t>
              </a:r>
            </a:p>
          </p:txBody>
        </p:sp>
        <p:sp>
          <p:nvSpPr>
            <p:cNvPr id="31" name="Text Box 24"/>
            <p:cNvSpPr txBox="1">
              <a:spLocks noChangeArrowheads="1"/>
            </p:cNvSpPr>
            <p:nvPr/>
          </p:nvSpPr>
          <p:spPr bwMode="auto">
            <a:xfrm>
              <a:off x="1137" y="2928"/>
              <a:ext cx="453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>
                  <a:solidFill>
                    <a:srgbClr val="000000"/>
                  </a:solidFill>
                </a:rPr>
                <a:t>C</a:t>
              </a:r>
            </a:p>
          </p:txBody>
        </p:sp>
        <p:sp>
          <p:nvSpPr>
            <p:cNvPr id="32" name="Text Box 25"/>
            <p:cNvSpPr txBox="1">
              <a:spLocks noChangeArrowheads="1"/>
            </p:cNvSpPr>
            <p:nvPr/>
          </p:nvSpPr>
          <p:spPr bwMode="auto">
            <a:xfrm>
              <a:off x="1454" y="1404"/>
              <a:ext cx="413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 b="1" dirty="0">
                  <a:solidFill>
                    <a:srgbClr val="000000"/>
                  </a:solidFill>
                </a:rPr>
                <a:t>4p</a:t>
              </a:r>
            </a:p>
          </p:txBody>
        </p:sp>
        <p:sp>
          <p:nvSpPr>
            <p:cNvPr id="33" name="Text Box 27"/>
            <p:cNvSpPr txBox="1">
              <a:spLocks noChangeArrowheads="1"/>
            </p:cNvSpPr>
            <p:nvPr/>
          </p:nvSpPr>
          <p:spPr bwMode="auto">
            <a:xfrm>
              <a:off x="256" y="1511"/>
              <a:ext cx="453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>
                  <a:solidFill>
                    <a:srgbClr val="000000"/>
                  </a:solidFill>
                </a:rPr>
                <a:t>A</a:t>
              </a:r>
            </a:p>
          </p:txBody>
        </p:sp>
        <p:sp>
          <p:nvSpPr>
            <p:cNvPr id="34" name="Text Box 29"/>
            <p:cNvSpPr txBox="1">
              <a:spLocks noChangeArrowheads="1"/>
            </p:cNvSpPr>
            <p:nvPr/>
          </p:nvSpPr>
          <p:spPr bwMode="auto">
            <a:xfrm>
              <a:off x="218" y="2897"/>
              <a:ext cx="453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>
                  <a:solidFill>
                    <a:srgbClr val="000000"/>
                  </a:solidFill>
                </a:rPr>
                <a:t>D</a:t>
              </a:r>
            </a:p>
          </p:txBody>
        </p:sp>
        <p:sp>
          <p:nvSpPr>
            <p:cNvPr id="35" name="AutoShape 31"/>
            <p:cNvSpPr>
              <a:spLocks noChangeArrowheads="1"/>
            </p:cNvSpPr>
            <p:nvPr/>
          </p:nvSpPr>
          <p:spPr bwMode="auto">
            <a:xfrm rot="5400000">
              <a:off x="1519" y="1623"/>
              <a:ext cx="120" cy="213"/>
            </a:xfrm>
            <a:prstGeom prst="triangle">
              <a:avLst>
                <a:gd name="adj" fmla="val 50000"/>
              </a:avLst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  <p:sp>
          <p:nvSpPr>
            <p:cNvPr id="36" name="AutoShape 32"/>
            <p:cNvSpPr>
              <a:spLocks noChangeArrowheads="1"/>
            </p:cNvSpPr>
            <p:nvPr/>
          </p:nvSpPr>
          <p:spPr bwMode="auto">
            <a:xfrm rot="3684448">
              <a:off x="2329" y="2214"/>
              <a:ext cx="119" cy="213"/>
            </a:xfrm>
            <a:prstGeom prst="triangle">
              <a:avLst>
                <a:gd name="adj" fmla="val 50000"/>
              </a:avLst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  <p:sp>
          <p:nvSpPr>
            <p:cNvPr id="37" name="Text Box 33"/>
            <p:cNvSpPr txBox="1">
              <a:spLocks noChangeArrowheads="1"/>
            </p:cNvSpPr>
            <p:nvPr/>
          </p:nvSpPr>
          <p:spPr bwMode="auto">
            <a:xfrm>
              <a:off x="2444" y="2244"/>
              <a:ext cx="413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 b="1">
                  <a:solidFill>
                    <a:srgbClr val="000000"/>
                  </a:solidFill>
                </a:rPr>
                <a:t>q</a:t>
              </a:r>
            </a:p>
          </p:txBody>
        </p:sp>
        <p:grpSp>
          <p:nvGrpSpPr>
            <p:cNvPr id="38" name="Group 67"/>
            <p:cNvGrpSpPr>
              <a:grpSpLocks/>
            </p:cNvGrpSpPr>
            <p:nvPr/>
          </p:nvGrpSpPr>
          <p:grpSpPr bwMode="auto">
            <a:xfrm>
              <a:off x="455" y="1724"/>
              <a:ext cx="3089" cy="1198"/>
              <a:chOff x="612" y="2592"/>
              <a:chExt cx="2505" cy="972"/>
            </a:xfrm>
          </p:grpSpPr>
          <p:sp>
            <p:nvSpPr>
              <p:cNvPr id="43" name="Line 57"/>
              <p:cNvSpPr>
                <a:spLocks noChangeShapeType="1"/>
              </p:cNvSpPr>
              <p:nvPr/>
            </p:nvSpPr>
            <p:spPr bwMode="auto">
              <a:xfrm>
                <a:off x="612" y="2592"/>
                <a:ext cx="0" cy="97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Line 58"/>
              <p:cNvSpPr>
                <a:spLocks noChangeShapeType="1"/>
              </p:cNvSpPr>
              <p:nvPr/>
            </p:nvSpPr>
            <p:spPr bwMode="auto">
              <a:xfrm>
                <a:off x="612" y="3564"/>
                <a:ext cx="62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59"/>
              <p:cNvSpPr>
                <a:spLocks/>
              </p:cNvSpPr>
              <p:nvPr/>
            </p:nvSpPr>
            <p:spPr bwMode="auto">
              <a:xfrm>
                <a:off x="615" y="2595"/>
                <a:ext cx="621" cy="966"/>
              </a:xfrm>
              <a:custGeom>
                <a:avLst/>
                <a:gdLst>
                  <a:gd name="T0" fmla="*/ 0 w 621"/>
                  <a:gd name="T1" fmla="*/ 0 h 966"/>
                  <a:gd name="T2" fmla="*/ 621 w 621"/>
                  <a:gd name="T3" fmla="*/ 966 h 966"/>
                  <a:gd name="T4" fmla="*/ 0 60000 65536"/>
                  <a:gd name="T5" fmla="*/ 0 60000 65536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0" t="0" r="r" b="b"/>
                <a:pathLst>
                  <a:path w="621" h="966">
                    <a:moveTo>
                      <a:pt x="0" y="0"/>
                    </a:moveTo>
                    <a:lnTo>
                      <a:pt x="621" y="966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auto">
              <a:xfrm>
                <a:off x="621" y="2594"/>
                <a:ext cx="249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auto">
              <a:xfrm flipV="1">
                <a:off x="1233" y="2594"/>
                <a:ext cx="1884" cy="96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9" name="AutoShape 68"/>
            <p:cNvSpPr>
              <a:spLocks noChangeArrowheads="1"/>
            </p:cNvSpPr>
            <p:nvPr/>
          </p:nvSpPr>
          <p:spPr bwMode="auto">
            <a:xfrm rot="5400000">
              <a:off x="768" y="2814"/>
              <a:ext cx="120" cy="213"/>
            </a:xfrm>
            <a:prstGeom prst="triangle">
              <a:avLst>
                <a:gd name="adj" fmla="val 50000"/>
              </a:avLst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  <p:sp>
          <p:nvSpPr>
            <p:cNvPr id="40" name="Text Box 69"/>
            <p:cNvSpPr txBox="1">
              <a:spLocks noChangeArrowheads="1"/>
            </p:cNvSpPr>
            <p:nvPr/>
          </p:nvSpPr>
          <p:spPr bwMode="auto">
            <a:xfrm>
              <a:off x="660" y="2966"/>
              <a:ext cx="413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 b="1">
                  <a:solidFill>
                    <a:srgbClr val="000000"/>
                  </a:solidFill>
                </a:rPr>
                <a:t>p</a:t>
              </a:r>
            </a:p>
          </p:txBody>
        </p:sp>
        <p:sp>
          <p:nvSpPr>
            <p:cNvPr id="41" name="Line 71"/>
            <p:cNvSpPr>
              <a:spLocks noChangeShapeType="1"/>
            </p:cNvSpPr>
            <p:nvPr/>
          </p:nvSpPr>
          <p:spPr bwMode="auto">
            <a:xfrm>
              <a:off x="1987" y="1657"/>
              <a:ext cx="0" cy="133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 Box 72"/>
            <p:cNvSpPr txBox="1">
              <a:spLocks noChangeArrowheads="1"/>
            </p:cNvSpPr>
            <p:nvPr/>
          </p:nvSpPr>
          <p:spPr bwMode="auto">
            <a:xfrm>
              <a:off x="1778" y="1435"/>
              <a:ext cx="413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GB" altLang="en-US">
                  <a:solidFill>
                    <a:srgbClr val="0000FF"/>
                  </a:solidFill>
                </a:rPr>
                <a:t>M</a:t>
              </a:r>
            </a:p>
          </p:txBody>
        </p:sp>
      </p:grpSp>
      <p:grpSp>
        <p:nvGrpSpPr>
          <p:cNvPr id="64" name="Group 91"/>
          <p:cNvGrpSpPr>
            <a:grpSpLocks/>
          </p:cNvGrpSpPr>
          <p:nvPr/>
        </p:nvGrpSpPr>
        <p:grpSpPr bwMode="auto">
          <a:xfrm>
            <a:off x="891383" y="2738281"/>
            <a:ext cx="4905375" cy="1895475"/>
            <a:chOff x="456" y="1722"/>
            <a:chExt cx="3090" cy="1194"/>
          </a:xfrm>
        </p:grpSpPr>
        <p:sp>
          <p:nvSpPr>
            <p:cNvPr id="65" name="Line 89"/>
            <p:cNvSpPr>
              <a:spLocks noChangeShapeType="1"/>
            </p:cNvSpPr>
            <p:nvPr/>
          </p:nvSpPr>
          <p:spPr bwMode="auto">
            <a:xfrm flipV="1">
              <a:off x="456" y="1722"/>
              <a:ext cx="3090" cy="1194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AutoShape 90"/>
            <p:cNvSpPr>
              <a:spLocks noChangeArrowheads="1"/>
            </p:cNvSpPr>
            <p:nvPr/>
          </p:nvSpPr>
          <p:spPr bwMode="auto">
            <a:xfrm rot="4085478">
              <a:off x="1950" y="2220"/>
              <a:ext cx="102" cy="198"/>
            </a:xfrm>
            <a:prstGeom prst="triangle">
              <a:avLst>
                <a:gd name="adj" fmla="val 50000"/>
              </a:avLst>
            </a:prstGeom>
            <a:solidFill>
              <a:srgbClr val="0000FF"/>
            </a:solidFill>
            <a:ln w="9525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</p:grpSp>
      <p:grpSp>
        <p:nvGrpSpPr>
          <p:cNvPr id="67" name="Group 94"/>
          <p:cNvGrpSpPr>
            <a:grpSpLocks/>
          </p:cNvGrpSpPr>
          <p:nvPr/>
        </p:nvGrpSpPr>
        <p:grpSpPr bwMode="auto">
          <a:xfrm>
            <a:off x="2101058" y="2719231"/>
            <a:ext cx="1238250" cy="1924050"/>
            <a:chOff x="1218" y="1710"/>
            <a:chExt cx="780" cy="1212"/>
          </a:xfrm>
        </p:grpSpPr>
        <p:sp>
          <p:nvSpPr>
            <p:cNvPr id="68" name="Line 92"/>
            <p:cNvSpPr>
              <a:spLocks noChangeShapeType="1"/>
            </p:cNvSpPr>
            <p:nvPr/>
          </p:nvSpPr>
          <p:spPr bwMode="auto">
            <a:xfrm flipV="1">
              <a:off x="1218" y="1710"/>
              <a:ext cx="780" cy="1212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AutoShape 93"/>
            <p:cNvSpPr>
              <a:spLocks noChangeArrowheads="1"/>
            </p:cNvSpPr>
            <p:nvPr/>
          </p:nvSpPr>
          <p:spPr bwMode="auto">
            <a:xfrm rot="1857826">
              <a:off x="1664" y="2064"/>
              <a:ext cx="108" cy="174"/>
            </a:xfrm>
            <a:prstGeom prst="triangle">
              <a:avLst>
                <a:gd name="adj" fmla="val 50000"/>
              </a:avLst>
            </a:prstGeom>
            <a:solidFill>
              <a:srgbClr val="FF0000"/>
            </a:solidFill>
            <a:ln w="95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</p:grpSp>
      <p:grpSp>
        <p:nvGrpSpPr>
          <p:cNvPr id="70" name="Group 97"/>
          <p:cNvGrpSpPr>
            <a:grpSpLocks/>
          </p:cNvGrpSpPr>
          <p:nvPr/>
        </p:nvGrpSpPr>
        <p:grpSpPr bwMode="auto">
          <a:xfrm>
            <a:off x="891383" y="2757331"/>
            <a:ext cx="2438400" cy="1885950"/>
            <a:chOff x="456" y="1734"/>
            <a:chExt cx="1536" cy="1188"/>
          </a:xfrm>
        </p:grpSpPr>
        <p:sp>
          <p:nvSpPr>
            <p:cNvPr id="71" name="Line 95"/>
            <p:cNvSpPr>
              <a:spLocks noChangeShapeType="1"/>
            </p:cNvSpPr>
            <p:nvPr/>
          </p:nvSpPr>
          <p:spPr bwMode="auto">
            <a:xfrm flipH="1">
              <a:off x="456" y="1734"/>
              <a:ext cx="1536" cy="1188"/>
            </a:xfrm>
            <a:prstGeom prst="line">
              <a:avLst/>
            </a:prstGeom>
            <a:noFill/>
            <a:ln w="9525">
              <a:solidFill>
                <a:schemeClr val="hlink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AutoShape 96"/>
            <p:cNvSpPr>
              <a:spLocks noChangeArrowheads="1"/>
            </p:cNvSpPr>
            <p:nvPr/>
          </p:nvSpPr>
          <p:spPr bwMode="auto">
            <a:xfrm rot="-7805108">
              <a:off x="1272" y="2168"/>
              <a:ext cx="104" cy="156"/>
            </a:xfrm>
            <a:prstGeom prst="triangle">
              <a:avLst>
                <a:gd name="adj" fmla="val 50000"/>
              </a:avLst>
            </a:prstGeom>
            <a:solidFill>
              <a:schemeClr val="hlink"/>
            </a:solidFill>
            <a:ln w="9525">
              <a:solidFill>
                <a:schemeClr val="hlink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43316"/>
            <a:ext cx="8686800" cy="192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50" dirty="0" smtClean="0">
                <a:solidFill>
                  <a:srgbClr val="C84F2F"/>
                </a:solidFill>
                <a:latin typeface="Calibri"/>
              </a:rPr>
              <a:t>QUESTION </a:t>
            </a:r>
            <a:r>
              <a:rPr sz="1250" b="1" i="0" spc="250" dirty="0">
                <a:solidFill>
                  <a:srgbClr val="C84F2F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65836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1C2A22"/>
                </a:solidFill>
                <a:latin typeface="Cambria"/>
              </a:rPr>
              <a:t>Triangle ABC, P on AC with CP:PA = 3 :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17320"/>
            <a:ext cx="11057839" cy="566928"/>
          </a:xfrm>
          <a:prstGeom prst="roundRect">
            <a:avLst>
              <a:gd name="adj" fmla="val 18000"/>
            </a:avLst>
          </a:prstGeom>
          <a:solidFill>
            <a:srgbClr val="FB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0" rIns="228600" bIns="0" rtlCol="0" anchor="ctr"/>
          <a:lstStyle/>
          <a:p>
            <a:pPr algn="l"/>
            <a:r>
              <a:rPr sz="1300" b="1">
                <a:solidFill>
                  <a:srgbClr val="1C2A22"/>
                </a:solidFill>
                <a:latin typeface="Calibri"/>
              </a:rPr>
              <a:t>BA = m, CB = n. P lies on AC such that CP:PA = 3 : 1. Find BP in terms of m and 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48840"/>
            <a:ext cx="4937760" cy="333756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824728" y="2148840"/>
            <a:ext cx="5800039" cy="333756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99048" y="2377440"/>
            <a:ext cx="5251399" cy="2880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CA = n + m</a:t>
            </a:r>
          </a:p>
          <a:p>
            <a:pPr>
              <a:lnSpc>
                <a:spcPct val="122000"/>
              </a:lnSpc>
            </a:pPr>
            <a:endParaRPr sz="1250" b="0" dirty="0">
              <a:solidFill>
                <a:srgbClr val="1C2A22"/>
              </a:solidFill>
              <a:latin typeface="Calibri"/>
            </a:endParaRP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CP = ¾ CA = ¾ (n + m)</a:t>
            </a:r>
          </a:p>
          <a:p>
            <a:pPr>
              <a:lnSpc>
                <a:spcPct val="122000"/>
              </a:lnSpc>
            </a:pPr>
            <a:endParaRPr sz="1250" b="0" dirty="0">
              <a:solidFill>
                <a:srgbClr val="1C2A22"/>
              </a:solidFill>
              <a:latin typeface="Calibri"/>
            </a:endParaRP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BP = −n + ¾ (n + m)</a:t>
            </a: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    = ¾ m − ¼ n   or   ¼(3m − n)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623560"/>
            <a:ext cx="11057839" cy="731520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450" b="1">
                <a:solidFill>
                  <a:srgbClr val="E0AC2B"/>
                </a:solidFill>
                <a:latin typeface="Cambria"/>
              </a:rPr>
              <a:t>Write CP as a fraction of CA first, then travel B → C → P to reach BP.</a:t>
            </a:r>
          </a:p>
        </p:txBody>
      </p:sp>
      <p:grpSp>
        <p:nvGrpSpPr>
          <p:cNvPr id="25" name="Group 18"/>
          <p:cNvGrpSpPr>
            <a:grpSpLocks/>
          </p:cNvGrpSpPr>
          <p:nvPr/>
        </p:nvGrpSpPr>
        <p:grpSpPr bwMode="auto">
          <a:xfrm>
            <a:off x="841248" y="2176463"/>
            <a:ext cx="4352925" cy="3406775"/>
            <a:chOff x="680" y="1359"/>
            <a:chExt cx="2742" cy="2146"/>
          </a:xfrm>
        </p:grpSpPr>
        <p:sp>
          <p:nvSpPr>
            <p:cNvPr id="26" name="Freeform 8"/>
            <p:cNvSpPr>
              <a:spLocks/>
            </p:cNvSpPr>
            <p:nvPr/>
          </p:nvSpPr>
          <p:spPr bwMode="auto">
            <a:xfrm>
              <a:off x="922" y="1602"/>
              <a:ext cx="2297" cy="1692"/>
            </a:xfrm>
            <a:custGeom>
              <a:avLst/>
              <a:gdLst>
                <a:gd name="T0" fmla="*/ 0 w 1629"/>
                <a:gd name="T1" fmla="*/ 9430 h 1200"/>
                <a:gd name="T2" fmla="*/ 9543 w 1629"/>
                <a:gd name="T3" fmla="*/ 8346 h 1200"/>
                <a:gd name="T4" fmla="*/ 12805 w 1629"/>
                <a:gd name="T5" fmla="*/ 0 h 1200"/>
                <a:gd name="T6" fmla="*/ 0 w 1629"/>
                <a:gd name="T7" fmla="*/ 9430 h 120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29" h="1200">
                  <a:moveTo>
                    <a:pt x="0" y="1200"/>
                  </a:moveTo>
                  <a:lnTo>
                    <a:pt x="1214" y="1062"/>
                  </a:lnTo>
                  <a:lnTo>
                    <a:pt x="1629" y="0"/>
                  </a:lnTo>
                  <a:lnTo>
                    <a:pt x="0" y="120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 Box 9"/>
            <p:cNvSpPr txBox="1">
              <a:spLocks noChangeArrowheads="1"/>
            </p:cNvSpPr>
            <p:nvPr/>
          </p:nvSpPr>
          <p:spPr bwMode="auto">
            <a:xfrm>
              <a:off x="680" y="3274"/>
              <a:ext cx="2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>
                  <a:solidFill>
                    <a:srgbClr val="000000"/>
                  </a:solidFill>
                </a:rPr>
                <a:t>C</a:t>
              </a:r>
            </a:p>
          </p:txBody>
        </p:sp>
        <p:sp>
          <p:nvSpPr>
            <p:cNvPr id="28" name="Text Box 10"/>
            <p:cNvSpPr txBox="1">
              <a:spLocks noChangeArrowheads="1"/>
            </p:cNvSpPr>
            <p:nvPr/>
          </p:nvSpPr>
          <p:spPr bwMode="auto">
            <a:xfrm>
              <a:off x="3190" y="1359"/>
              <a:ext cx="2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>
                  <a:solidFill>
                    <a:srgbClr val="000000"/>
                  </a:solidFill>
                </a:rPr>
                <a:t>A</a:t>
              </a:r>
            </a:p>
          </p:txBody>
        </p:sp>
        <p:sp>
          <p:nvSpPr>
            <p:cNvPr id="29" name="Text Box 11"/>
            <p:cNvSpPr txBox="1">
              <a:spLocks noChangeArrowheads="1"/>
            </p:cNvSpPr>
            <p:nvPr/>
          </p:nvSpPr>
          <p:spPr bwMode="auto">
            <a:xfrm>
              <a:off x="2626" y="3141"/>
              <a:ext cx="2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>
                  <a:solidFill>
                    <a:srgbClr val="000000"/>
                  </a:solidFill>
                </a:rPr>
                <a:t>B</a:t>
              </a:r>
            </a:p>
          </p:txBody>
        </p:sp>
        <p:sp>
          <p:nvSpPr>
            <p:cNvPr id="30" name="Oval 12"/>
            <p:cNvSpPr>
              <a:spLocks noChangeArrowheads="1"/>
            </p:cNvSpPr>
            <p:nvPr/>
          </p:nvSpPr>
          <p:spPr bwMode="auto">
            <a:xfrm>
              <a:off x="2639" y="1988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  <p:sp>
          <p:nvSpPr>
            <p:cNvPr id="31" name="Text Box 13"/>
            <p:cNvSpPr txBox="1">
              <a:spLocks noChangeArrowheads="1"/>
            </p:cNvSpPr>
            <p:nvPr/>
          </p:nvSpPr>
          <p:spPr bwMode="auto">
            <a:xfrm>
              <a:off x="2942" y="2389"/>
              <a:ext cx="2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 b="1">
                  <a:solidFill>
                    <a:srgbClr val="000000"/>
                  </a:solidFill>
                </a:rPr>
                <a:t>m</a:t>
              </a:r>
            </a:p>
          </p:txBody>
        </p:sp>
        <p:sp>
          <p:nvSpPr>
            <p:cNvPr id="32" name="Text Box 14"/>
            <p:cNvSpPr txBox="1">
              <a:spLocks noChangeArrowheads="1"/>
            </p:cNvSpPr>
            <p:nvPr/>
          </p:nvSpPr>
          <p:spPr bwMode="auto">
            <a:xfrm>
              <a:off x="1746" y="3209"/>
              <a:ext cx="2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 b="1">
                  <a:solidFill>
                    <a:srgbClr val="000000"/>
                  </a:solidFill>
                </a:rPr>
                <a:t>n</a:t>
              </a:r>
            </a:p>
          </p:txBody>
        </p:sp>
        <p:sp>
          <p:nvSpPr>
            <p:cNvPr id="33" name="Text Box 15"/>
            <p:cNvSpPr txBox="1">
              <a:spLocks noChangeArrowheads="1"/>
            </p:cNvSpPr>
            <p:nvPr/>
          </p:nvSpPr>
          <p:spPr bwMode="auto">
            <a:xfrm>
              <a:off x="2423" y="1816"/>
              <a:ext cx="2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>
                  <a:solidFill>
                    <a:srgbClr val="000000"/>
                  </a:solidFill>
                </a:rPr>
                <a:t>P</a:t>
              </a:r>
            </a:p>
          </p:txBody>
        </p:sp>
        <p:sp>
          <p:nvSpPr>
            <p:cNvPr id="34" name="AutoShape 16"/>
            <p:cNvSpPr>
              <a:spLocks noChangeArrowheads="1"/>
            </p:cNvSpPr>
            <p:nvPr/>
          </p:nvSpPr>
          <p:spPr bwMode="auto">
            <a:xfrm rot="1302032">
              <a:off x="2807" y="2396"/>
              <a:ext cx="110" cy="210"/>
            </a:xfrm>
            <a:prstGeom prst="triangle">
              <a:avLst>
                <a:gd name="adj" fmla="val 50000"/>
              </a:avLst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  <p:sp>
          <p:nvSpPr>
            <p:cNvPr id="35" name="AutoShape 17"/>
            <p:cNvSpPr>
              <a:spLocks noChangeArrowheads="1"/>
            </p:cNvSpPr>
            <p:nvPr/>
          </p:nvSpPr>
          <p:spPr bwMode="auto">
            <a:xfrm rot="5070461">
              <a:off x="1798" y="3083"/>
              <a:ext cx="110" cy="210"/>
            </a:xfrm>
            <a:prstGeom prst="triangle">
              <a:avLst>
                <a:gd name="adj" fmla="val 50000"/>
              </a:avLst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</p:grpSp>
      <p:grpSp>
        <p:nvGrpSpPr>
          <p:cNvPr id="36" name="Group 43"/>
          <p:cNvGrpSpPr>
            <a:grpSpLocks/>
          </p:cNvGrpSpPr>
          <p:nvPr/>
        </p:nvGrpSpPr>
        <p:grpSpPr bwMode="auto">
          <a:xfrm>
            <a:off x="3895598" y="3219451"/>
            <a:ext cx="152400" cy="1714500"/>
            <a:chOff x="2520" y="1908"/>
            <a:chExt cx="96" cy="1080"/>
          </a:xfrm>
        </p:grpSpPr>
        <p:sp>
          <p:nvSpPr>
            <p:cNvPr id="37" name="Line 41"/>
            <p:cNvSpPr>
              <a:spLocks noChangeShapeType="1"/>
            </p:cNvSpPr>
            <p:nvPr/>
          </p:nvSpPr>
          <p:spPr bwMode="auto">
            <a:xfrm flipV="1">
              <a:off x="2550" y="1908"/>
              <a:ext cx="36" cy="1080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AutoShape 42"/>
            <p:cNvSpPr>
              <a:spLocks noChangeArrowheads="1"/>
            </p:cNvSpPr>
            <p:nvPr/>
          </p:nvSpPr>
          <p:spPr bwMode="auto">
            <a:xfrm>
              <a:off x="2520" y="2316"/>
              <a:ext cx="96" cy="192"/>
            </a:xfrm>
            <a:prstGeom prst="triangle">
              <a:avLst>
                <a:gd name="adj" fmla="val 50000"/>
              </a:avLst>
            </a:prstGeom>
            <a:solidFill>
              <a:srgbClr val="0000FF"/>
            </a:solidFill>
            <a:ln w="9525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43316"/>
            <a:ext cx="8686800" cy="192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50" dirty="0" smtClean="0">
                <a:solidFill>
                  <a:srgbClr val="C84F2F"/>
                </a:solidFill>
                <a:latin typeface="Calibri"/>
              </a:rPr>
              <a:t>QUESTION </a:t>
            </a:r>
            <a:r>
              <a:rPr sz="1250" b="1" i="0" spc="250" dirty="0">
                <a:solidFill>
                  <a:srgbClr val="C84F2F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65836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1C2A22"/>
                </a:solidFill>
                <a:latin typeface="Cambria"/>
              </a:rPr>
              <a:t>Triangle ABC, P on AC with CP:PA = 2 :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17320"/>
            <a:ext cx="11057839" cy="566928"/>
          </a:xfrm>
          <a:prstGeom prst="roundRect">
            <a:avLst>
              <a:gd name="adj" fmla="val 18000"/>
            </a:avLst>
          </a:prstGeom>
          <a:solidFill>
            <a:srgbClr val="FB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0" rIns="228600" bIns="0" rtlCol="0" anchor="ctr"/>
          <a:lstStyle/>
          <a:p>
            <a:pPr algn="l"/>
            <a:r>
              <a:rPr sz="1300" b="1">
                <a:solidFill>
                  <a:srgbClr val="1C2A22"/>
                </a:solidFill>
                <a:latin typeface="Calibri"/>
              </a:rPr>
              <a:t>BA = m, CB = n. P lies on AC such that CP:PA = 2 : 1. Find BP in terms of m and 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48840"/>
            <a:ext cx="4937760" cy="333756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824728" y="2148840"/>
            <a:ext cx="5800039" cy="333756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99048" y="2377440"/>
            <a:ext cx="5251399" cy="2880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CA = n + m</a:t>
            </a:r>
          </a:p>
          <a:p>
            <a:pPr>
              <a:lnSpc>
                <a:spcPct val="122000"/>
              </a:lnSpc>
            </a:pPr>
            <a:endParaRPr sz="1250" b="0" dirty="0">
              <a:solidFill>
                <a:srgbClr val="1C2A22"/>
              </a:solidFill>
              <a:latin typeface="Calibri"/>
            </a:endParaRP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CP = ⅔ CA = ⅔ (n + m)</a:t>
            </a:r>
          </a:p>
          <a:p>
            <a:pPr>
              <a:lnSpc>
                <a:spcPct val="122000"/>
              </a:lnSpc>
            </a:pPr>
            <a:endParaRPr sz="1250" b="0" dirty="0">
              <a:solidFill>
                <a:srgbClr val="1C2A22"/>
              </a:solidFill>
              <a:latin typeface="Calibri"/>
            </a:endParaRP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BP = −n + ⅔ (n + m)</a:t>
            </a: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    = ⅔ m − ⅓ 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623560"/>
            <a:ext cx="11057839" cy="731520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450" b="1">
                <a:solidFill>
                  <a:srgbClr val="E0AC2B"/>
                </a:solidFill>
                <a:latin typeface="Cambria"/>
              </a:rPr>
              <a:t>Write CP as a fraction of CA first, then travel B → C → P to reach BP.</a:t>
            </a:r>
          </a:p>
        </p:txBody>
      </p:sp>
      <p:grpSp>
        <p:nvGrpSpPr>
          <p:cNvPr id="25" name="Group 28"/>
          <p:cNvGrpSpPr>
            <a:grpSpLocks/>
          </p:cNvGrpSpPr>
          <p:nvPr/>
        </p:nvGrpSpPr>
        <p:grpSpPr bwMode="auto">
          <a:xfrm>
            <a:off x="949198" y="2149476"/>
            <a:ext cx="4352925" cy="3406775"/>
            <a:chOff x="596" y="1251"/>
            <a:chExt cx="2742" cy="2146"/>
          </a:xfrm>
        </p:grpSpPr>
        <p:sp>
          <p:nvSpPr>
            <p:cNvPr id="27" name="Freeform 6"/>
            <p:cNvSpPr>
              <a:spLocks/>
            </p:cNvSpPr>
            <p:nvPr/>
          </p:nvSpPr>
          <p:spPr bwMode="auto">
            <a:xfrm>
              <a:off x="838" y="1494"/>
              <a:ext cx="2297" cy="1692"/>
            </a:xfrm>
            <a:custGeom>
              <a:avLst/>
              <a:gdLst>
                <a:gd name="T0" fmla="*/ 0 w 1629"/>
                <a:gd name="T1" fmla="*/ 9430 h 1200"/>
                <a:gd name="T2" fmla="*/ 9543 w 1629"/>
                <a:gd name="T3" fmla="*/ 8346 h 1200"/>
                <a:gd name="T4" fmla="*/ 12805 w 1629"/>
                <a:gd name="T5" fmla="*/ 0 h 1200"/>
                <a:gd name="T6" fmla="*/ 0 w 1629"/>
                <a:gd name="T7" fmla="*/ 9430 h 120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29" h="1200">
                  <a:moveTo>
                    <a:pt x="0" y="1200"/>
                  </a:moveTo>
                  <a:lnTo>
                    <a:pt x="1214" y="1062"/>
                  </a:lnTo>
                  <a:lnTo>
                    <a:pt x="1629" y="0"/>
                  </a:lnTo>
                  <a:lnTo>
                    <a:pt x="0" y="120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 Box 7"/>
            <p:cNvSpPr txBox="1">
              <a:spLocks noChangeArrowheads="1"/>
            </p:cNvSpPr>
            <p:nvPr/>
          </p:nvSpPr>
          <p:spPr bwMode="auto">
            <a:xfrm>
              <a:off x="596" y="3166"/>
              <a:ext cx="2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>
                  <a:solidFill>
                    <a:srgbClr val="000000"/>
                  </a:solidFill>
                </a:rPr>
                <a:t>C</a:t>
              </a:r>
            </a:p>
          </p:txBody>
        </p:sp>
        <p:sp>
          <p:nvSpPr>
            <p:cNvPr id="29" name="Text Box 8"/>
            <p:cNvSpPr txBox="1">
              <a:spLocks noChangeArrowheads="1"/>
            </p:cNvSpPr>
            <p:nvPr/>
          </p:nvSpPr>
          <p:spPr bwMode="auto">
            <a:xfrm>
              <a:off x="3106" y="1251"/>
              <a:ext cx="2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>
                  <a:solidFill>
                    <a:srgbClr val="000000"/>
                  </a:solidFill>
                </a:rPr>
                <a:t>A</a:t>
              </a:r>
            </a:p>
          </p:txBody>
        </p:sp>
        <p:sp>
          <p:nvSpPr>
            <p:cNvPr id="30" name="Text Box 9"/>
            <p:cNvSpPr txBox="1">
              <a:spLocks noChangeArrowheads="1"/>
            </p:cNvSpPr>
            <p:nvPr/>
          </p:nvSpPr>
          <p:spPr bwMode="auto">
            <a:xfrm>
              <a:off x="2542" y="3033"/>
              <a:ext cx="2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>
                  <a:solidFill>
                    <a:srgbClr val="000000"/>
                  </a:solidFill>
                </a:rPr>
                <a:t>B</a:t>
              </a:r>
            </a:p>
          </p:txBody>
        </p:sp>
        <p:sp>
          <p:nvSpPr>
            <p:cNvPr id="31" name="Oval 10"/>
            <p:cNvSpPr>
              <a:spLocks noChangeArrowheads="1"/>
            </p:cNvSpPr>
            <p:nvPr/>
          </p:nvSpPr>
          <p:spPr bwMode="auto">
            <a:xfrm>
              <a:off x="2315" y="2048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  <p:sp>
          <p:nvSpPr>
            <p:cNvPr id="32" name="Text Box 11"/>
            <p:cNvSpPr txBox="1">
              <a:spLocks noChangeArrowheads="1"/>
            </p:cNvSpPr>
            <p:nvPr/>
          </p:nvSpPr>
          <p:spPr bwMode="auto">
            <a:xfrm>
              <a:off x="2858" y="2281"/>
              <a:ext cx="2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 b="1">
                  <a:solidFill>
                    <a:srgbClr val="000000"/>
                  </a:solidFill>
                </a:rPr>
                <a:t>m</a:t>
              </a:r>
            </a:p>
          </p:txBody>
        </p:sp>
        <p:sp>
          <p:nvSpPr>
            <p:cNvPr id="33" name="Text Box 12"/>
            <p:cNvSpPr txBox="1">
              <a:spLocks noChangeArrowheads="1"/>
            </p:cNvSpPr>
            <p:nvPr/>
          </p:nvSpPr>
          <p:spPr bwMode="auto">
            <a:xfrm>
              <a:off x="1662" y="3101"/>
              <a:ext cx="2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 b="1">
                  <a:solidFill>
                    <a:srgbClr val="000000"/>
                  </a:solidFill>
                </a:rPr>
                <a:t>n</a:t>
              </a:r>
            </a:p>
          </p:txBody>
        </p:sp>
        <p:sp>
          <p:nvSpPr>
            <p:cNvPr id="34" name="Text Box 13"/>
            <p:cNvSpPr txBox="1">
              <a:spLocks noChangeArrowheads="1"/>
            </p:cNvSpPr>
            <p:nvPr/>
          </p:nvSpPr>
          <p:spPr bwMode="auto">
            <a:xfrm>
              <a:off x="2150" y="1846"/>
              <a:ext cx="2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>
                  <a:solidFill>
                    <a:srgbClr val="000000"/>
                  </a:solidFill>
                </a:rPr>
                <a:t>P</a:t>
              </a:r>
            </a:p>
          </p:txBody>
        </p:sp>
        <p:sp>
          <p:nvSpPr>
            <p:cNvPr id="35" name="AutoShape 14"/>
            <p:cNvSpPr>
              <a:spLocks noChangeArrowheads="1"/>
            </p:cNvSpPr>
            <p:nvPr/>
          </p:nvSpPr>
          <p:spPr bwMode="auto">
            <a:xfrm rot="1302032">
              <a:off x="2723" y="2288"/>
              <a:ext cx="110" cy="210"/>
            </a:xfrm>
            <a:prstGeom prst="triangle">
              <a:avLst>
                <a:gd name="adj" fmla="val 50000"/>
              </a:avLst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  <p:sp>
          <p:nvSpPr>
            <p:cNvPr id="36" name="AutoShape 15"/>
            <p:cNvSpPr>
              <a:spLocks noChangeArrowheads="1"/>
            </p:cNvSpPr>
            <p:nvPr/>
          </p:nvSpPr>
          <p:spPr bwMode="auto">
            <a:xfrm rot="5070461">
              <a:off x="1714" y="2975"/>
              <a:ext cx="110" cy="210"/>
            </a:xfrm>
            <a:prstGeom prst="triangle">
              <a:avLst>
                <a:gd name="adj" fmla="val 50000"/>
              </a:avLst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</p:grpSp>
      <p:grpSp>
        <p:nvGrpSpPr>
          <p:cNvPr id="37" name="Group 38"/>
          <p:cNvGrpSpPr>
            <a:grpSpLocks/>
          </p:cNvGrpSpPr>
          <p:nvPr/>
        </p:nvGrpSpPr>
        <p:grpSpPr bwMode="auto">
          <a:xfrm>
            <a:off x="3722561" y="3492991"/>
            <a:ext cx="333375" cy="1447800"/>
            <a:chOff x="2340" y="2076"/>
            <a:chExt cx="210" cy="912"/>
          </a:xfrm>
        </p:grpSpPr>
        <p:sp>
          <p:nvSpPr>
            <p:cNvPr id="38" name="Line 36"/>
            <p:cNvSpPr>
              <a:spLocks noChangeShapeType="1"/>
            </p:cNvSpPr>
            <p:nvPr/>
          </p:nvSpPr>
          <p:spPr bwMode="auto">
            <a:xfrm flipH="1" flipV="1">
              <a:off x="2340" y="2076"/>
              <a:ext cx="210" cy="912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AutoShape 37"/>
            <p:cNvSpPr>
              <a:spLocks noChangeArrowheads="1"/>
            </p:cNvSpPr>
            <p:nvPr/>
          </p:nvSpPr>
          <p:spPr bwMode="auto">
            <a:xfrm rot="-926779">
              <a:off x="2396" y="2446"/>
              <a:ext cx="104" cy="156"/>
            </a:xfrm>
            <a:prstGeom prst="triangle">
              <a:avLst>
                <a:gd name="adj" fmla="val 50000"/>
              </a:avLst>
            </a:prstGeom>
            <a:solidFill>
              <a:srgbClr val="0000FF"/>
            </a:solidFill>
            <a:ln w="9525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023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50">
                <a:solidFill>
                  <a:srgbClr val="C84F2F"/>
                </a:solidFill>
                <a:latin typeface="Calibri"/>
              </a:rPr>
              <a:t>SOLUTIONS · QUESTION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65836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1C2A22"/>
                </a:solidFill>
                <a:latin typeface="Cambria"/>
              </a:rPr>
              <a:t>Triangle XYZ: XS = 2SZSZ, YT = 2SZTZ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17320"/>
            <a:ext cx="11057839" cy="566928"/>
          </a:xfrm>
          <a:prstGeom prst="roundRect">
            <a:avLst>
              <a:gd name="adj" fmla="val 18000"/>
            </a:avLst>
          </a:prstGeom>
          <a:solidFill>
            <a:srgbClr val="FB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0" rIns="228600" bIns="0" rtlCol="0" anchor="ctr"/>
          <a:lstStyle/>
          <a:p>
            <a:pPr algn="l"/>
            <a:r>
              <a:rPr sz="1300" b="1">
                <a:solidFill>
                  <a:srgbClr val="1C2A22"/>
                </a:solidFill>
                <a:latin typeface="Calibri"/>
              </a:rPr>
              <a:t>S is on XZ with XS = 2SZ. T is on ZY with YT = 2SZ. Prove ST is parallel to XY.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48840"/>
            <a:ext cx="4937760" cy="333756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824728" y="2148840"/>
            <a:ext cx="5800039" cy="333756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099048" y="2377440"/>
            <a:ext cx="5251399" cy="2880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XZ = a + b</a:t>
            </a:r>
          </a:p>
          <a:p>
            <a:pPr>
              <a:lnSpc>
                <a:spcPct val="122000"/>
              </a:lnSpc>
            </a:pPr>
            <a:endParaRPr sz="1250" b="0" dirty="0">
              <a:solidFill>
                <a:srgbClr val="1C2A22"/>
              </a:solidFill>
              <a:latin typeface="Calibri"/>
            </a:endParaRP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XS = ⅔ (a + b)   (since XS = 2SZSZ)</a:t>
            </a:r>
          </a:p>
          <a:p>
            <a:pPr>
              <a:lnSpc>
                <a:spcPct val="122000"/>
              </a:lnSpc>
            </a:pPr>
            <a:endParaRPr sz="1250" b="0" dirty="0">
              <a:solidFill>
                <a:srgbClr val="1C2A22"/>
              </a:solidFill>
              <a:latin typeface="Calibri"/>
            </a:endParaRP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Going clockwise from S to T:</a:t>
            </a: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ST = −⅔(</a:t>
            </a:r>
            <a:r>
              <a:rPr sz="1250" b="0" dirty="0" err="1">
                <a:solidFill>
                  <a:srgbClr val="1C2A22"/>
                </a:solidFill>
                <a:latin typeface="Calibri"/>
              </a:rPr>
              <a:t>a+b</a:t>
            </a:r>
            <a:r>
              <a:rPr sz="1250" b="0" dirty="0">
                <a:solidFill>
                  <a:srgbClr val="1C2A22"/>
                </a:solidFill>
                <a:latin typeface="Calibri"/>
              </a:rPr>
              <a:t>) + a + ⅔b</a:t>
            </a: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   = −⅔a − ⅔b + a + ⅔b</a:t>
            </a: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   = ⅓a</a:t>
            </a:r>
          </a:p>
          <a:p>
            <a:pPr>
              <a:lnSpc>
                <a:spcPct val="122000"/>
              </a:lnSpc>
            </a:pPr>
            <a:endParaRPr sz="1250" b="0" dirty="0">
              <a:solidFill>
                <a:srgbClr val="1C2A22"/>
              </a:solidFill>
              <a:latin typeface="Calibri"/>
            </a:endParaRPr>
          </a:p>
          <a:p>
            <a:pPr>
              <a:lnSpc>
                <a:spcPct val="122000"/>
              </a:lnSpc>
            </a:pPr>
            <a:r>
              <a:rPr sz="1250" b="0" dirty="0">
                <a:solidFill>
                  <a:srgbClr val="1C2A22"/>
                </a:solidFill>
                <a:latin typeface="Calibri"/>
              </a:rPr>
              <a:t>∴ ST ∥ XY, and ⅓a means it's that fraction of XY's length.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623560"/>
            <a:ext cx="11057839" cy="731520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450" b="1">
                <a:solidFill>
                  <a:srgbClr val="E0AC2B"/>
                </a:solidFill>
                <a:latin typeface="Cambria"/>
              </a:rPr>
              <a:t>Travel S → X → Y → T (clockwise) and simplify — if only 'a' terms survive, ST is parallel to XY.</a:t>
            </a:r>
          </a:p>
        </p:txBody>
      </p:sp>
      <p:grpSp>
        <p:nvGrpSpPr>
          <p:cNvPr id="33" name="Group 94"/>
          <p:cNvGrpSpPr>
            <a:grpSpLocks/>
          </p:cNvGrpSpPr>
          <p:nvPr/>
        </p:nvGrpSpPr>
        <p:grpSpPr bwMode="auto">
          <a:xfrm>
            <a:off x="596900" y="2979738"/>
            <a:ext cx="5014913" cy="2520950"/>
            <a:chOff x="0" y="1347"/>
            <a:chExt cx="3159" cy="1588"/>
          </a:xfrm>
        </p:grpSpPr>
        <p:sp>
          <p:nvSpPr>
            <p:cNvPr id="35" name="Text Box 38"/>
            <p:cNvSpPr txBox="1">
              <a:spLocks noChangeArrowheads="1"/>
            </p:cNvSpPr>
            <p:nvPr/>
          </p:nvSpPr>
          <p:spPr bwMode="auto">
            <a:xfrm>
              <a:off x="972" y="2680"/>
              <a:ext cx="2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>
                  <a:solidFill>
                    <a:srgbClr val="000000"/>
                  </a:solidFill>
                </a:rPr>
                <a:t>T</a:t>
              </a:r>
            </a:p>
          </p:txBody>
        </p:sp>
        <p:sp>
          <p:nvSpPr>
            <p:cNvPr id="36" name="Text Box 39"/>
            <p:cNvSpPr txBox="1">
              <a:spLocks noChangeArrowheads="1"/>
            </p:cNvSpPr>
            <p:nvPr/>
          </p:nvSpPr>
          <p:spPr bwMode="auto">
            <a:xfrm>
              <a:off x="1220" y="1347"/>
              <a:ext cx="2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 dirty="0">
                  <a:solidFill>
                    <a:srgbClr val="000000"/>
                  </a:solidFill>
                </a:rPr>
                <a:t>X</a:t>
              </a:r>
            </a:p>
          </p:txBody>
        </p:sp>
        <p:sp>
          <p:nvSpPr>
            <p:cNvPr id="37" name="Text Box 40"/>
            <p:cNvSpPr txBox="1">
              <a:spLocks noChangeArrowheads="1"/>
            </p:cNvSpPr>
            <p:nvPr/>
          </p:nvSpPr>
          <p:spPr bwMode="auto">
            <a:xfrm>
              <a:off x="2927" y="2704"/>
              <a:ext cx="2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>
                  <a:solidFill>
                    <a:srgbClr val="000000"/>
                  </a:solidFill>
                </a:rPr>
                <a:t>Y</a:t>
              </a:r>
            </a:p>
          </p:txBody>
        </p:sp>
        <p:sp>
          <p:nvSpPr>
            <p:cNvPr id="38" name="Oval 41"/>
            <p:cNvSpPr>
              <a:spLocks noChangeArrowheads="1"/>
            </p:cNvSpPr>
            <p:nvPr/>
          </p:nvSpPr>
          <p:spPr bwMode="auto">
            <a:xfrm>
              <a:off x="489" y="2309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  <p:sp>
          <p:nvSpPr>
            <p:cNvPr id="39" name="Text Box 42"/>
            <p:cNvSpPr txBox="1">
              <a:spLocks noChangeArrowheads="1"/>
            </p:cNvSpPr>
            <p:nvPr/>
          </p:nvSpPr>
          <p:spPr bwMode="auto">
            <a:xfrm>
              <a:off x="1704" y="2668"/>
              <a:ext cx="2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 b="1">
                  <a:solidFill>
                    <a:srgbClr val="000000"/>
                  </a:solidFill>
                </a:rPr>
                <a:t>b</a:t>
              </a:r>
            </a:p>
          </p:txBody>
        </p:sp>
        <p:sp>
          <p:nvSpPr>
            <p:cNvPr id="40" name="Text Box 43"/>
            <p:cNvSpPr txBox="1">
              <a:spLocks noChangeArrowheads="1"/>
            </p:cNvSpPr>
            <p:nvPr/>
          </p:nvSpPr>
          <p:spPr bwMode="auto">
            <a:xfrm>
              <a:off x="2164" y="1865"/>
              <a:ext cx="2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 b="1">
                  <a:solidFill>
                    <a:srgbClr val="000000"/>
                  </a:solidFill>
                </a:rPr>
                <a:t>a</a:t>
              </a:r>
            </a:p>
          </p:txBody>
        </p:sp>
        <p:sp>
          <p:nvSpPr>
            <p:cNvPr id="41" name="Text Box 44"/>
            <p:cNvSpPr txBox="1">
              <a:spLocks noChangeArrowheads="1"/>
            </p:cNvSpPr>
            <p:nvPr/>
          </p:nvSpPr>
          <p:spPr bwMode="auto">
            <a:xfrm>
              <a:off x="0" y="2674"/>
              <a:ext cx="2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>
                  <a:solidFill>
                    <a:srgbClr val="000000"/>
                  </a:solidFill>
                </a:rPr>
                <a:t>Z</a:t>
              </a:r>
            </a:p>
          </p:txBody>
        </p:sp>
        <p:sp>
          <p:nvSpPr>
            <p:cNvPr id="42" name="AutoShape 45"/>
            <p:cNvSpPr>
              <a:spLocks noChangeArrowheads="1"/>
            </p:cNvSpPr>
            <p:nvPr/>
          </p:nvSpPr>
          <p:spPr bwMode="auto">
            <a:xfrm rot="-5400000">
              <a:off x="1473" y="2577"/>
              <a:ext cx="110" cy="210"/>
            </a:xfrm>
            <a:prstGeom prst="triangle">
              <a:avLst>
                <a:gd name="adj" fmla="val 50000"/>
              </a:avLst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  <p:sp>
          <p:nvSpPr>
            <p:cNvPr id="43" name="AutoShape 46"/>
            <p:cNvSpPr>
              <a:spLocks noChangeArrowheads="1"/>
            </p:cNvSpPr>
            <p:nvPr/>
          </p:nvSpPr>
          <p:spPr bwMode="auto">
            <a:xfrm rot="7770461">
              <a:off x="2033" y="1949"/>
              <a:ext cx="110" cy="210"/>
            </a:xfrm>
            <a:prstGeom prst="triangle">
              <a:avLst>
                <a:gd name="adj" fmla="val 50000"/>
              </a:avLst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  <p:sp>
          <p:nvSpPr>
            <p:cNvPr id="44" name="Freeform 54"/>
            <p:cNvSpPr>
              <a:spLocks/>
            </p:cNvSpPr>
            <p:nvPr/>
          </p:nvSpPr>
          <p:spPr bwMode="auto">
            <a:xfrm>
              <a:off x="166" y="1584"/>
              <a:ext cx="2913" cy="1097"/>
            </a:xfrm>
            <a:custGeom>
              <a:avLst/>
              <a:gdLst>
                <a:gd name="T0" fmla="*/ 8490 w 2352"/>
                <a:gd name="T1" fmla="*/ 2009 h 972"/>
                <a:gd name="T2" fmla="*/ 0 w 2352"/>
                <a:gd name="T3" fmla="*/ 2009 h 972"/>
                <a:gd name="T4" fmla="*/ 3335 w 2352"/>
                <a:gd name="T5" fmla="*/ 0 h 972"/>
                <a:gd name="T6" fmla="*/ 8490 w 2352"/>
                <a:gd name="T7" fmla="*/ 2009 h 972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352" h="972">
                  <a:moveTo>
                    <a:pt x="2352" y="972"/>
                  </a:moveTo>
                  <a:lnTo>
                    <a:pt x="0" y="972"/>
                  </a:lnTo>
                  <a:lnTo>
                    <a:pt x="924" y="0"/>
                  </a:lnTo>
                  <a:lnTo>
                    <a:pt x="2352" y="972"/>
                  </a:lnTo>
                  <a:close/>
                </a:path>
              </a:pathLst>
            </a:custGeom>
            <a:noFill/>
            <a:ln w="6350" cmpd="sng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Text Box 55"/>
            <p:cNvSpPr txBox="1">
              <a:spLocks noChangeArrowheads="1"/>
            </p:cNvSpPr>
            <p:nvPr/>
          </p:nvSpPr>
          <p:spPr bwMode="auto">
            <a:xfrm>
              <a:off x="306" y="2095"/>
              <a:ext cx="2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altLang="en-US">
                  <a:solidFill>
                    <a:srgbClr val="000000"/>
                  </a:solidFill>
                </a:rPr>
                <a:t>S</a:t>
              </a:r>
            </a:p>
          </p:txBody>
        </p:sp>
        <p:sp>
          <p:nvSpPr>
            <p:cNvPr id="46" name="Oval 56"/>
            <p:cNvSpPr>
              <a:spLocks noChangeArrowheads="1"/>
            </p:cNvSpPr>
            <p:nvPr/>
          </p:nvSpPr>
          <p:spPr bwMode="auto">
            <a:xfrm>
              <a:off x="1039" y="2646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</p:grpSp>
      <p:grpSp>
        <p:nvGrpSpPr>
          <p:cNvPr id="47" name="Group 100"/>
          <p:cNvGrpSpPr>
            <a:grpSpLocks/>
          </p:cNvGrpSpPr>
          <p:nvPr/>
        </p:nvGrpSpPr>
        <p:grpSpPr bwMode="auto">
          <a:xfrm>
            <a:off x="1428750" y="4564856"/>
            <a:ext cx="885825" cy="561975"/>
            <a:chOff x="660" y="2232"/>
            <a:chExt cx="558" cy="354"/>
          </a:xfrm>
        </p:grpSpPr>
        <p:sp>
          <p:nvSpPr>
            <p:cNvPr id="48" name="Line 98"/>
            <p:cNvSpPr>
              <a:spLocks noChangeShapeType="1"/>
            </p:cNvSpPr>
            <p:nvPr/>
          </p:nvSpPr>
          <p:spPr bwMode="auto">
            <a:xfrm flipH="1" flipV="1">
              <a:off x="660" y="2232"/>
              <a:ext cx="558" cy="354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AutoShape 99"/>
            <p:cNvSpPr>
              <a:spLocks noChangeArrowheads="1"/>
            </p:cNvSpPr>
            <p:nvPr/>
          </p:nvSpPr>
          <p:spPr bwMode="auto">
            <a:xfrm rot="7470044">
              <a:off x="886" y="2323"/>
              <a:ext cx="96" cy="160"/>
            </a:xfrm>
            <a:prstGeom prst="triangle">
              <a:avLst>
                <a:gd name="adj" fmla="val 50000"/>
              </a:avLst>
            </a:prstGeom>
            <a:solidFill>
              <a:srgbClr val="0000FF"/>
            </a:solidFill>
            <a:ln w="9525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>
                <a:solidFill>
                  <a:srgbClr val="000000"/>
                </a:solidFill>
              </a:endParaRPr>
            </a:p>
          </p:txBody>
        </p:sp>
      </p:grpSp>
      <p:grpSp>
        <p:nvGrpSpPr>
          <p:cNvPr id="50" name="Group 107"/>
          <p:cNvGrpSpPr>
            <a:grpSpLocks/>
          </p:cNvGrpSpPr>
          <p:nvPr/>
        </p:nvGrpSpPr>
        <p:grpSpPr bwMode="auto">
          <a:xfrm>
            <a:off x="1895475" y="3793331"/>
            <a:ext cx="2152650" cy="1114425"/>
            <a:chOff x="954" y="1746"/>
            <a:chExt cx="1356" cy="702"/>
          </a:xfrm>
        </p:grpSpPr>
        <p:sp>
          <p:nvSpPr>
            <p:cNvPr id="51" name="Text Box 103"/>
            <p:cNvSpPr txBox="1">
              <a:spLocks noChangeArrowheads="1"/>
            </p:cNvSpPr>
            <p:nvPr/>
          </p:nvSpPr>
          <p:spPr bwMode="auto">
            <a:xfrm>
              <a:off x="954" y="2010"/>
              <a:ext cx="1278" cy="4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GB" altLang="en-US">
                  <a:solidFill>
                    <a:srgbClr val="FF0000"/>
                  </a:solidFill>
                </a:rPr>
                <a:t>Going clockwise from S to T</a:t>
              </a:r>
              <a:r>
                <a:rPr lang="en-GB" altLang="en-US">
                  <a:solidFill>
                    <a:srgbClr val="000000"/>
                  </a:solidFill>
                </a:rPr>
                <a:t> </a:t>
              </a:r>
            </a:p>
          </p:txBody>
        </p:sp>
        <p:sp>
          <p:nvSpPr>
            <p:cNvPr id="52" name="Line 104"/>
            <p:cNvSpPr>
              <a:spLocks noChangeShapeType="1"/>
            </p:cNvSpPr>
            <p:nvPr/>
          </p:nvSpPr>
          <p:spPr bwMode="auto">
            <a:xfrm flipV="1">
              <a:off x="1026" y="1746"/>
              <a:ext cx="336" cy="336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Line 105"/>
            <p:cNvSpPr>
              <a:spLocks noChangeShapeType="1"/>
            </p:cNvSpPr>
            <p:nvPr/>
          </p:nvSpPr>
          <p:spPr bwMode="auto">
            <a:xfrm>
              <a:off x="1848" y="1878"/>
              <a:ext cx="462" cy="294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Line 106"/>
            <p:cNvSpPr>
              <a:spLocks noChangeShapeType="1"/>
            </p:cNvSpPr>
            <p:nvPr/>
          </p:nvSpPr>
          <p:spPr bwMode="auto">
            <a:xfrm flipH="1">
              <a:off x="1602" y="2448"/>
              <a:ext cx="600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the known vectors, build a path, use ratios, then prove parallel or collinear.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 OA = a, OB = b…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 = b − a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the given ratio as a fraction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 × vector → parallel / straight line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604680" y="1408176"/>
            <a:ext cx="6982336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vecq/q-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7832" y="1481328"/>
            <a:ext cx="6836032" cy="50749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487587" y="1408176"/>
            <a:ext cx="5216521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vecq/q-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0739" y="1481328"/>
            <a:ext cx="5070217" cy="50749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3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192766" y="1408176"/>
            <a:ext cx="7806162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vecq/q-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5918" y="1481328"/>
            <a:ext cx="7659858" cy="50749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4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496416" y="1408176"/>
            <a:ext cx="9198864" cy="4297525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vecq/q-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9568" y="1481328"/>
            <a:ext cx="9052560" cy="415122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5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496416" y="1408176"/>
            <a:ext cx="9198864" cy="501166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vecq/q-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9568" y="1481328"/>
            <a:ext cx="9052560" cy="486536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6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496416" y="1408176"/>
            <a:ext cx="9198864" cy="2747523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vecq/q-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9568" y="1481328"/>
            <a:ext cx="9052560" cy="260121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41" name="Shape 39"/>
          <p:cNvSpPr/>
          <p:nvPr/>
        </p:nvSpPr>
        <p:spPr>
          <a:xfrm>
            <a:off x="868680" y="236829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" y="23317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vector has magnitude and direction; a column vector is (across, up).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2935224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" y="2898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= √(x² + y²) by Pythagoras.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68680" y="3502152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440" y="346557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Add/subtract vectors component by component, or nose-to-tail.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868680" y="4069080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234440" y="40325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a is parallel to a — this proves lines parallel or points collinear.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68680" y="4636008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234440" y="4599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geometry: AB = b − a; build the point you need from known vectors and ratios.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rule:  </a:t>
            </a:r>
            <a:r>
              <a:rPr lang="en-US" sz="17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travel along vectors you know;  a scalar multiple means parallel.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3185</Words>
  <Application>Microsoft Office PowerPoint</Application>
  <PresentationFormat>Custom</PresentationFormat>
  <Paragraphs>629</Paragraphs>
  <Slides>35</Slides>
  <Notes>15</Notes>
  <HiddenSlides>0</HiddenSlides>
  <MMClips>0</MMClips>
  <ScaleCrop>false</ScaleCrop>
  <HeadingPairs>
    <vt:vector size="6" baseType="variant"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7" baseType="lpstr"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Zahra Sheikh Ali</dc:creator>
  <cp:lastModifiedBy>zahraa sheik ali</cp:lastModifiedBy>
  <cp:revision>16</cp:revision>
  <dcterms:created xsi:type="dcterms:W3CDTF">2026-07-17T09:55:33Z</dcterms:created>
  <dcterms:modified xsi:type="dcterms:W3CDTF">2026-08-04T18:41:43Z</dcterms:modified>
</cp:coreProperties>
</file>