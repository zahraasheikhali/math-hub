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E7871-456D-4CF1-A83B-CA55A67E2E32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096DB-1B2A-4C9D-89EB-32651992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1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1:(x+2)²–4. 2:(x+5)²–25. 3:(x+6)²–36. 4:(x–1)²–1. 5:(x–8)²–64. 6:(x–1.5)²–2.25.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turn: x²+2x–5=0 → (x+1)²–1–5=0 → (x+1)²=6 → x=–1±√6 → 1.45 or –3.45 (3 s.f.).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(3 s.f.) — 1: x=–0.17 or –5.83. 2: x=7.61 or 0.39. 3: x=5.74 or –1.74. 4: x=–0.38 or –2.62.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x²–6x+10 = (x–3)²+1.  x²–10x+40 = (x–5)²+15.  3x²–12x+7 = 3(x–2)²–5.  7–4x–x² = 11–(x+2)².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3x²–12x+7 = 3(x–2)²–5, so line of symmetry L: x = 2.  y = 3 – 5(x+1)² → maximum at A(–1, 3).  7+12x–3x² = 19 – 3(x–2)² → maximum at A(2, 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11 – (y+5)² = 0 → (y+5)² = 11 → y = –5 ± √11.  Challenge: q+12x–qx² = (q + 36/q) – q(x – 6/q)², so a = q + 36/q, b = q, c = 6/q.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2801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(x+p)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56132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62179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496" dirty="0"/>
          </a:p>
        </p:txBody>
      </p:sp>
      <p:sp>
        <p:nvSpPr>
          <p:cNvPr id="6" name="Text 4"/>
          <p:cNvSpPr/>
          <p:nvPr/>
        </p:nvSpPr>
        <p:spPr>
          <a:xfrm>
            <a:off x="1627632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950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8" name="anim_1_a"/>
          <p:cNvSpPr/>
          <p:nvPr/>
        </p:nvSpPr>
        <p:spPr>
          <a:xfrm>
            <a:off x="731520" y="1828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the Square</a:t>
            </a:r>
            <a:endParaRPr lang="en-US" sz="4600" dirty="0"/>
          </a:p>
        </p:txBody>
      </p:sp>
      <p:sp>
        <p:nvSpPr>
          <p:cNvPr id="9" name="anim_2_a"/>
          <p:cNvSpPr/>
          <p:nvPr/>
        </p:nvSpPr>
        <p:spPr>
          <a:xfrm>
            <a:off x="758952" y="2926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 · Find the Vertex · Min / Max · Solve Quadratics</a:t>
            </a:r>
            <a:endParaRPr lang="en-US" sz="1600" dirty="0"/>
          </a:p>
        </p:txBody>
      </p:sp>
      <p:sp>
        <p:nvSpPr>
          <p:cNvPr id="10" name="anim_3_a"/>
          <p:cNvSpPr/>
          <p:nvPr/>
        </p:nvSpPr>
        <p:spPr>
          <a:xfrm>
            <a:off x="731520" y="4114800"/>
            <a:ext cx="6858000" cy="1627632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/>
          <a:effectLst>
            <a:outerShdw blurRad="152400" dist="508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anim_3_a"/>
          <p:cNvSpPr/>
          <p:nvPr/>
        </p:nvSpPr>
        <p:spPr>
          <a:xfrm>
            <a:off x="1005840" y="42976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100" dirty="0"/>
          </a:p>
        </p:txBody>
      </p:sp>
      <p:sp>
        <p:nvSpPr>
          <p:cNvPr id="12" name="anim_3_a"/>
          <p:cNvSpPr/>
          <p:nvPr/>
        </p:nvSpPr>
        <p:spPr>
          <a:xfrm>
            <a:off x="1005840" y="46908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IGCSE Mathematics Teacher  ·  M.Sc. Differential Geometry &amp; Geometric Control</a:t>
            </a:r>
            <a:endParaRPr lang="en-US" sz="1200" dirty="0"/>
          </a:p>
        </p:txBody>
      </p:sp>
      <p:sp>
        <p:nvSpPr>
          <p:cNvPr id="13" name="anim_3_a"/>
          <p:cNvSpPr/>
          <p:nvPr/>
        </p:nvSpPr>
        <p:spPr>
          <a:xfrm>
            <a:off x="1005840" y="51297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  ✉  zahraa.sheikhali@outlook.com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Completing the Square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572768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anim_1_a"/>
          <p:cNvSpPr/>
          <p:nvPr/>
        </p:nvSpPr>
        <p:spPr>
          <a:xfrm>
            <a:off x="868680" y="201168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 a quadratic as a perfect square — then find its vertex (min/max) and solve it.</a:t>
            </a:r>
            <a:endParaRPr lang="en-US" sz="1800" dirty="0"/>
          </a:p>
        </p:txBody>
      </p:sp>
      <p:sp>
        <p:nvSpPr>
          <p:cNvPr id="9" name="anim_2_c"/>
          <p:cNvSpPr/>
          <p:nvPr/>
        </p:nvSpPr>
        <p:spPr>
          <a:xfrm>
            <a:off x="54864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IN ONE LINE</a:t>
            </a:r>
            <a:endParaRPr lang="en-US" sz="1200" dirty="0"/>
          </a:p>
        </p:txBody>
      </p:sp>
      <p:sp>
        <p:nvSpPr>
          <p:cNvPr id="10" name="anim_2_c"/>
          <p:cNvSpPr/>
          <p:nvPr/>
        </p:nvSpPr>
        <p:spPr>
          <a:xfrm>
            <a:off x="548640" y="3346704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FBF3DD"/>
          </a:solidFill>
          <a:ln/>
        </p:spPr>
      </p:sp>
      <p:sp>
        <p:nvSpPr>
          <p:cNvPr id="11" name="anim_2_c"/>
          <p:cNvSpPr/>
          <p:nvPr/>
        </p:nvSpPr>
        <p:spPr>
          <a:xfrm>
            <a:off x="822960" y="3346704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Halve the x-coefficient, square it, then add and subtract it.</a:t>
            </a:r>
            <a:endParaRPr lang="en-US" sz="1600" dirty="0"/>
          </a:p>
        </p:txBody>
      </p:sp>
      <p:sp>
        <p:nvSpPr>
          <p:cNvPr id="12" name="anim_3_c"/>
          <p:cNvSpPr/>
          <p:nvPr/>
        </p:nvSpPr>
        <p:spPr>
          <a:xfrm>
            <a:off x="75895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3" name="anim_3_c"/>
          <p:cNvSpPr/>
          <p:nvPr/>
        </p:nvSpPr>
        <p:spPr>
          <a:xfrm>
            <a:off x="7589520" y="3346704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4" name="anim_3_c"/>
          <p:cNvSpPr/>
          <p:nvPr/>
        </p:nvSpPr>
        <p:spPr>
          <a:xfrm>
            <a:off x="7818120" y="334670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</a:t>
            </a:r>
            <a:endParaRPr lang="en-US" sz="1350" dirty="0"/>
          </a:p>
        </p:txBody>
      </p:sp>
      <p:sp>
        <p:nvSpPr>
          <p:cNvPr id="15" name="anim_3_c"/>
          <p:cNvSpPr/>
          <p:nvPr/>
        </p:nvSpPr>
        <p:spPr>
          <a:xfrm>
            <a:off x="7589520" y="3950208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6" name="anim_3_c"/>
          <p:cNvSpPr/>
          <p:nvPr/>
        </p:nvSpPr>
        <p:spPr>
          <a:xfrm>
            <a:off x="7818120" y="395020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</a:t>
            </a:r>
            <a:endParaRPr lang="en-US" sz="1350" dirty="0"/>
          </a:p>
        </p:txBody>
      </p:sp>
      <p:sp>
        <p:nvSpPr>
          <p:cNvPr id="17" name="anim_3_c"/>
          <p:cNvSpPr/>
          <p:nvPr/>
        </p:nvSpPr>
        <p:spPr>
          <a:xfrm>
            <a:off x="7589520" y="4553712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8" name="anim_3_c"/>
          <p:cNvSpPr/>
          <p:nvPr/>
        </p:nvSpPr>
        <p:spPr>
          <a:xfrm>
            <a:off x="7818120" y="455371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vertex (turning point)</a:t>
            </a:r>
            <a:endParaRPr lang="en-US" sz="1350" dirty="0"/>
          </a:p>
        </p:txBody>
      </p:sp>
      <p:sp>
        <p:nvSpPr>
          <p:cNvPr id="19" name="anim_3_c"/>
          <p:cNvSpPr/>
          <p:nvPr/>
        </p:nvSpPr>
        <p:spPr>
          <a:xfrm>
            <a:off x="7589520" y="5157216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0" name="anim_3_c"/>
          <p:cNvSpPr/>
          <p:nvPr/>
        </p:nvSpPr>
        <p:spPr>
          <a:xfrm>
            <a:off x="7818120" y="51572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symmetry</a:t>
            </a:r>
            <a:endParaRPr lang="en-US" sz="1350" dirty="0"/>
          </a:p>
        </p:txBody>
      </p:sp>
      <p:sp>
        <p:nvSpPr>
          <p:cNvPr id="21" name="anim_4_c"/>
          <p:cNvSpPr/>
          <p:nvPr/>
        </p:nvSpPr>
        <p:spPr>
          <a:xfrm>
            <a:off x="548640" y="4480560"/>
            <a:ext cx="6766560" cy="1417320"/>
          </a:xfrm>
          <a:prstGeom prst="roundRect">
            <a:avLst>
              <a:gd name="adj" fmla="val 6452"/>
            </a:avLst>
          </a:prstGeom>
          <a:solidFill>
            <a:srgbClr val="EEF1E8"/>
          </a:solidFill>
          <a:ln/>
        </p:spPr>
      </p:sp>
      <p:sp>
        <p:nvSpPr>
          <p:cNvPr id="22" name="anim_4_c"/>
          <p:cNvSpPr/>
          <p:nvPr/>
        </p:nvSpPr>
        <p:spPr>
          <a:xfrm>
            <a:off x="822960" y="45537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 =  x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+ 9 – 9  =  (x + 3)</a:t>
            </a:r>
            <a:r>
              <a:rPr lang="en-US" sz="16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</a:t>
            </a:r>
            <a:endParaRPr lang="en-US" sz="1600" dirty="0"/>
          </a:p>
        </p:txBody>
      </p:sp>
      <p:sp>
        <p:nvSpPr>
          <p:cNvPr id="23" name="anim_4_c"/>
          <p:cNvSpPr/>
          <p:nvPr/>
        </p:nvSpPr>
        <p:spPr>
          <a:xfrm>
            <a:off x="822960" y="5120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9, subtract 9 — the value never changes.  (9 = half of 6, squared.)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Rule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4592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16261F"/>
          </a:solidFill>
          <a:ln/>
          <a:effectLst>
            <a:outerShdw blurRad="127000" dist="508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146304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6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bx  =  ( x +</a:t>
            </a:r>
            <a:endParaRPr lang="en-US" sz="2600" dirty="0"/>
          </a:p>
        </p:txBody>
      </p:sp>
      <p:sp>
        <p:nvSpPr>
          <p:cNvPr id="8" name="anim_1_a"/>
          <p:cNvSpPr/>
          <p:nvPr/>
        </p:nvSpPr>
        <p:spPr>
          <a:xfrm>
            <a:off x="5806440" y="2221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anim_1_a"/>
          <p:cNvSpPr/>
          <p:nvPr/>
        </p:nvSpPr>
        <p:spPr>
          <a:xfrm>
            <a:off x="5833872" y="2606040"/>
            <a:ext cx="448056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10" name="anim_1_a"/>
          <p:cNvSpPr/>
          <p:nvPr/>
        </p:nvSpPr>
        <p:spPr>
          <a:xfrm>
            <a:off x="5806440" y="2642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anim_1_a"/>
          <p:cNvSpPr/>
          <p:nvPr/>
        </p:nvSpPr>
        <p:spPr>
          <a:xfrm>
            <a:off x="635508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r>
              <a:rPr lang="en-US" sz="26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–  (</a:t>
            </a:r>
            <a:endParaRPr lang="en-US" sz="2600" dirty="0"/>
          </a:p>
        </p:txBody>
      </p:sp>
      <p:sp>
        <p:nvSpPr>
          <p:cNvPr id="12" name="anim_1_a"/>
          <p:cNvSpPr/>
          <p:nvPr/>
        </p:nvSpPr>
        <p:spPr>
          <a:xfrm>
            <a:off x="7772400" y="2221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anim_1_a"/>
          <p:cNvSpPr/>
          <p:nvPr/>
        </p:nvSpPr>
        <p:spPr>
          <a:xfrm>
            <a:off x="7799832" y="2606040"/>
            <a:ext cx="448056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14" name="anim_1_a"/>
          <p:cNvSpPr/>
          <p:nvPr/>
        </p:nvSpPr>
        <p:spPr>
          <a:xfrm>
            <a:off x="7772400" y="2642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anim_1_a"/>
          <p:cNvSpPr/>
          <p:nvPr/>
        </p:nvSpPr>
        <p:spPr>
          <a:xfrm>
            <a:off x="83210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r>
              <a:rPr lang="en-US" sz="2600" b="1" baseline="3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anim_2_c"/>
          <p:cNvSpPr/>
          <p:nvPr/>
        </p:nvSpPr>
        <p:spPr>
          <a:xfrm>
            <a:off x="548640" y="3749040"/>
            <a:ext cx="11091672" cy="2194560"/>
          </a:xfrm>
          <a:prstGeom prst="roundRect">
            <a:avLst>
              <a:gd name="adj" fmla="val 4167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anim_2_c"/>
          <p:cNvSpPr/>
          <p:nvPr/>
        </p:nvSpPr>
        <p:spPr>
          <a:xfrm>
            <a:off x="868680" y="3913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</a:t>
            </a:r>
            <a:endParaRPr lang="en-US" sz="1200" dirty="0"/>
          </a:p>
        </p:txBody>
      </p:sp>
      <p:sp>
        <p:nvSpPr>
          <p:cNvPr id="18" name="anim_2_c"/>
          <p:cNvSpPr/>
          <p:nvPr/>
        </p:nvSpPr>
        <p:spPr>
          <a:xfrm>
            <a:off x="868680" y="42702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9" name="anim_2_c"/>
          <p:cNvSpPr/>
          <p:nvPr/>
        </p:nvSpPr>
        <p:spPr>
          <a:xfrm>
            <a:off x="8686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anim_2_c"/>
          <p:cNvSpPr/>
          <p:nvPr/>
        </p:nvSpPr>
        <p:spPr>
          <a:xfrm>
            <a:off x="1417320" y="42062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Halve b  (write x +  half of b  inside the bracket).</a:t>
            </a:r>
            <a:endParaRPr lang="en-US" sz="1550" dirty="0"/>
          </a:p>
        </p:txBody>
      </p:sp>
      <p:sp>
        <p:nvSpPr>
          <p:cNvPr id="21" name="anim_3_c"/>
          <p:cNvSpPr/>
          <p:nvPr/>
        </p:nvSpPr>
        <p:spPr>
          <a:xfrm>
            <a:off x="868680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2" name="anim_3_c"/>
          <p:cNvSpPr/>
          <p:nvPr/>
        </p:nvSpPr>
        <p:spPr>
          <a:xfrm>
            <a:off x="86868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anim_3_c"/>
          <p:cNvSpPr/>
          <p:nvPr/>
        </p:nvSpPr>
        <p:spPr>
          <a:xfrm>
            <a:off x="1417320" y="48006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the bracket, then subtract (half of b) squared.</a:t>
            </a:r>
            <a:endParaRPr lang="en-US" sz="1550" dirty="0"/>
          </a:p>
        </p:txBody>
      </p:sp>
      <p:sp>
        <p:nvSpPr>
          <p:cNvPr id="24" name="anim_4_c"/>
          <p:cNvSpPr/>
          <p:nvPr/>
        </p:nvSpPr>
        <p:spPr>
          <a:xfrm>
            <a:off x="868680" y="54589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5" name="anim_4_c"/>
          <p:cNvSpPr/>
          <p:nvPr/>
        </p:nvSpPr>
        <p:spPr>
          <a:xfrm>
            <a:off x="86868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anim_4_c"/>
          <p:cNvSpPr/>
          <p:nvPr/>
        </p:nvSpPr>
        <p:spPr>
          <a:xfrm>
            <a:off x="1417320" y="53949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on any constant from the original expression.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· a =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68112" cy="3840480"/>
          </a:xfrm>
          <a:prstGeom prst="roundRect">
            <a:avLst>
              <a:gd name="adj" fmla="val 2381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square:   x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10x</a:t>
            </a:r>
            <a:endParaRPr lang="en-US" sz="1800" dirty="0"/>
          </a:p>
        </p:txBody>
      </p:sp>
      <p:sp>
        <p:nvSpPr>
          <p:cNvPr id="8" name="anim_1_a"/>
          <p:cNvSpPr/>
          <p:nvPr/>
        </p:nvSpPr>
        <p:spPr>
          <a:xfrm>
            <a:off x="868680" y="2578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1_a"/>
          <p:cNvSpPr/>
          <p:nvPr/>
        </p:nvSpPr>
        <p:spPr>
          <a:xfrm>
            <a:off x="141732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–10 is –5</a:t>
            </a:r>
            <a:endParaRPr lang="en-US" sz="1500" dirty="0"/>
          </a:p>
        </p:txBody>
      </p:sp>
      <p:sp>
        <p:nvSpPr>
          <p:cNvPr id="11" name="anim_2_c"/>
          <p:cNvSpPr/>
          <p:nvPr/>
        </p:nvSpPr>
        <p:spPr>
          <a:xfrm>
            <a:off x="868680" y="32186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– 5)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anim_3_c"/>
          <p:cNvSpPr/>
          <p:nvPr/>
        </p:nvSpPr>
        <p:spPr>
          <a:xfrm>
            <a:off x="868680" y="388620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105156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(x – 5)</a:t>
            </a:r>
            <a:r>
              <a:rPr lang="en-US" sz="18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25</a:t>
            </a:r>
            <a:endParaRPr lang="en-US" sz="1800" dirty="0"/>
          </a:p>
        </p:txBody>
      </p:sp>
      <p:sp>
        <p:nvSpPr>
          <p:cNvPr id="16" name="anim_3_c"/>
          <p:cNvSpPr/>
          <p:nvPr/>
        </p:nvSpPr>
        <p:spPr>
          <a:xfrm>
            <a:off x="86868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(5, –25) · minimum</a:t>
            </a:r>
            <a:endParaRPr lang="en-US" sz="1300" dirty="0"/>
          </a:p>
        </p:txBody>
      </p:sp>
      <p:sp>
        <p:nvSpPr>
          <p:cNvPr id="17" name="anim_4_c"/>
          <p:cNvSpPr/>
          <p:nvPr/>
        </p:nvSpPr>
        <p:spPr>
          <a:xfrm>
            <a:off x="6172200" y="1783080"/>
            <a:ext cx="5468112" cy="3840480"/>
          </a:xfrm>
          <a:prstGeom prst="roundRect">
            <a:avLst>
              <a:gd name="adj" fmla="val 2381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square:   x</a:t>
            </a:r>
            <a:r>
              <a:rPr lang="en-US" sz="18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3x</a:t>
            </a:r>
            <a:endParaRPr lang="en-US" sz="1800" dirty="0"/>
          </a:p>
        </p:txBody>
      </p:sp>
      <p:sp>
        <p:nvSpPr>
          <p:cNvPr id="19" name="anim_4_c"/>
          <p:cNvSpPr/>
          <p:nvPr/>
        </p:nvSpPr>
        <p:spPr>
          <a:xfrm>
            <a:off x="6492240" y="2578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0" name="anim_4_c"/>
          <p:cNvSpPr/>
          <p:nvPr/>
        </p:nvSpPr>
        <p:spPr>
          <a:xfrm>
            <a:off x="64922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anim_4_c"/>
          <p:cNvSpPr/>
          <p:nvPr/>
        </p:nvSpPr>
        <p:spPr>
          <a:xfrm>
            <a:off x="704088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–3 is –1.5</a:t>
            </a:r>
            <a:endParaRPr lang="en-US" sz="1500" dirty="0"/>
          </a:p>
        </p:txBody>
      </p:sp>
      <p:sp>
        <p:nvSpPr>
          <p:cNvPr id="22" name="anim_5_c"/>
          <p:cNvSpPr/>
          <p:nvPr/>
        </p:nvSpPr>
        <p:spPr>
          <a:xfrm>
            <a:off x="6492240" y="32186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3" name="anim_5_c"/>
          <p:cNvSpPr/>
          <p:nvPr/>
        </p:nvSpPr>
        <p:spPr>
          <a:xfrm>
            <a:off x="64922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anim_5_c"/>
          <p:cNvSpPr/>
          <p:nvPr/>
        </p:nvSpPr>
        <p:spPr>
          <a:xfrm>
            <a:off x="70408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– 1.5)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1.5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anim_6_c"/>
          <p:cNvSpPr/>
          <p:nvPr/>
        </p:nvSpPr>
        <p:spPr>
          <a:xfrm>
            <a:off x="6492240" y="3886200"/>
            <a:ext cx="438912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anim_6_c"/>
          <p:cNvSpPr/>
          <p:nvPr/>
        </p:nvSpPr>
        <p:spPr>
          <a:xfrm>
            <a:off x="6675120" y="3886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(x – 1.5)</a:t>
            </a:r>
            <a:r>
              <a:rPr lang="en-US" sz="18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2.25</a:t>
            </a:r>
            <a:endParaRPr lang="en-US" sz="1800" dirty="0"/>
          </a:p>
        </p:txBody>
      </p:sp>
      <p:sp>
        <p:nvSpPr>
          <p:cNvPr id="27" name="anim_6_c"/>
          <p:cNvSpPr/>
          <p:nvPr/>
        </p:nvSpPr>
        <p:spPr>
          <a:xfrm>
            <a:off x="649224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(1.5, –2.25) · minimum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· a =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Constant Term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783080"/>
            <a:ext cx="5468112" cy="3840480"/>
          </a:xfrm>
          <a:prstGeom prst="roundRect">
            <a:avLst>
              <a:gd name="adj" fmla="val 2381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+ 12x – 5</a:t>
            </a:r>
            <a:endParaRPr lang="en-US" sz="2000" dirty="0"/>
          </a:p>
        </p:txBody>
      </p:sp>
      <p:sp>
        <p:nvSpPr>
          <p:cNvPr id="8" name="anim_1_a"/>
          <p:cNvSpPr/>
          <p:nvPr/>
        </p:nvSpPr>
        <p:spPr>
          <a:xfrm>
            <a:off x="868680" y="2578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9" name="anim_1_a"/>
          <p:cNvSpPr/>
          <p:nvPr/>
        </p:nvSpPr>
        <p:spPr>
          <a:xfrm>
            <a:off x="86868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anim_1_a"/>
          <p:cNvSpPr/>
          <p:nvPr/>
        </p:nvSpPr>
        <p:spPr>
          <a:xfrm>
            <a:off x="141732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+ 6)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36 – 5</a:t>
            </a:r>
            <a:endParaRPr lang="en-US" sz="1500" dirty="0"/>
          </a:p>
        </p:txBody>
      </p:sp>
      <p:sp>
        <p:nvSpPr>
          <p:cNvPr id="11" name="anim_2_c"/>
          <p:cNvSpPr/>
          <p:nvPr/>
        </p:nvSpPr>
        <p:spPr>
          <a:xfrm>
            <a:off x="868680" y="324612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anim_2_c"/>
          <p:cNvSpPr/>
          <p:nvPr/>
        </p:nvSpPr>
        <p:spPr>
          <a:xfrm>
            <a:off x="105156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(x + 6)</a:t>
            </a:r>
            <a:r>
              <a:rPr lang="en-US" sz="18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41</a:t>
            </a:r>
            <a:endParaRPr lang="en-US" sz="1800" dirty="0"/>
          </a:p>
        </p:txBody>
      </p:sp>
      <p:sp>
        <p:nvSpPr>
          <p:cNvPr id="13" name="anim_2_c"/>
          <p:cNvSpPr/>
          <p:nvPr/>
        </p:nvSpPr>
        <p:spPr>
          <a:xfrm>
            <a:off x="86868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(–6, –41) · minimum</a:t>
            </a:r>
            <a:endParaRPr lang="en-US" sz="1300" dirty="0"/>
          </a:p>
        </p:txBody>
      </p:sp>
      <p:sp>
        <p:nvSpPr>
          <p:cNvPr id="14" name="anim_3_c"/>
          <p:cNvSpPr/>
          <p:nvPr/>
        </p:nvSpPr>
        <p:spPr>
          <a:xfrm>
            <a:off x="6172200" y="1783080"/>
            <a:ext cx="5468112" cy="3840480"/>
          </a:xfrm>
          <a:prstGeom prst="roundRect">
            <a:avLst>
              <a:gd name="adj" fmla="val 2381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5x + 16</a:t>
            </a:r>
            <a:endParaRPr lang="en-US" sz="2000" dirty="0"/>
          </a:p>
        </p:txBody>
      </p:sp>
      <p:sp>
        <p:nvSpPr>
          <p:cNvPr id="16" name="anim_3_c"/>
          <p:cNvSpPr/>
          <p:nvPr/>
        </p:nvSpPr>
        <p:spPr>
          <a:xfrm>
            <a:off x="6492240" y="2578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7" name="anim_3_c"/>
          <p:cNvSpPr/>
          <p:nvPr/>
        </p:nvSpPr>
        <p:spPr>
          <a:xfrm>
            <a:off x="64922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anim_3_c"/>
          <p:cNvSpPr/>
          <p:nvPr/>
        </p:nvSpPr>
        <p:spPr>
          <a:xfrm>
            <a:off x="704088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– 2.5)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6.25 + 16</a:t>
            </a:r>
            <a:endParaRPr lang="en-US" sz="1500" dirty="0"/>
          </a:p>
        </p:txBody>
      </p:sp>
      <p:sp>
        <p:nvSpPr>
          <p:cNvPr id="19" name="anim_4_c"/>
          <p:cNvSpPr/>
          <p:nvPr/>
        </p:nvSpPr>
        <p:spPr>
          <a:xfrm>
            <a:off x="6492240" y="3246120"/>
            <a:ext cx="438912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anim_4_c"/>
          <p:cNvSpPr/>
          <p:nvPr/>
        </p:nvSpPr>
        <p:spPr>
          <a:xfrm>
            <a:off x="6675120" y="3246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(x – 2.5)</a:t>
            </a:r>
            <a:r>
              <a:rPr lang="en-US" sz="18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+ 9.75</a:t>
            </a:r>
            <a:endParaRPr lang="en-US" sz="1800" dirty="0"/>
          </a:p>
        </p:txBody>
      </p:sp>
      <p:sp>
        <p:nvSpPr>
          <p:cNvPr id="21" name="anim_4_c"/>
          <p:cNvSpPr/>
          <p:nvPr/>
        </p:nvSpPr>
        <p:spPr>
          <a:xfrm>
            <a:off x="649224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(2.5, 9.75) · minimum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in the Form  (x + p)² + q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x-coefficient — then subtract its square.</a:t>
            </a:r>
            <a:endParaRPr lang="en-US" sz="1350" dirty="0"/>
          </a:p>
        </p:txBody>
      </p:sp>
      <p:sp>
        <p:nvSpPr>
          <p:cNvPr id="7" name="anim_1_a"/>
          <p:cNvSpPr/>
          <p:nvPr/>
        </p:nvSpPr>
        <p:spPr>
          <a:xfrm>
            <a:off x="640080" y="1920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64008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anim_1_a"/>
          <p:cNvSpPr/>
          <p:nvPr/>
        </p:nvSpPr>
        <p:spPr>
          <a:xfrm>
            <a:off x="1243584" y="1810512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0" name="anim_1_a"/>
          <p:cNvSpPr/>
          <p:nvPr/>
        </p:nvSpPr>
        <p:spPr>
          <a:xfrm>
            <a:off x="1463040" y="19202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+ 4x</a:t>
            </a:r>
            <a:endParaRPr lang="en-US" sz="1800" dirty="0"/>
          </a:p>
        </p:txBody>
      </p:sp>
      <p:sp>
        <p:nvSpPr>
          <p:cNvPr id="11" name="anim_1_a"/>
          <p:cNvSpPr/>
          <p:nvPr/>
        </p:nvSpPr>
        <p:spPr>
          <a:xfrm>
            <a:off x="640080" y="3063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64008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anim_1_a"/>
          <p:cNvSpPr/>
          <p:nvPr/>
        </p:nvSpPr>
        <p:spPr>
          <a:xfrm>
            <a:off x="1243584" y="2953512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4" name="anim_1_a"/>
          <p:cNvSpPr/>
          <p:nvPr/>
        </p:nvSpPr>
        <p:spPr>
          <a:xfrm>
            <a:off x="1463040" y="30632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+ 10x</a:t>
            </a:r>
            <a:endParaRPr lang="en-US" sz="1800" dirty="0"/>
          </a:p>
        </p:txBody>
      </p:sp>
      <p:sp>
        <p:nvSpPr>
          <p:cNvPr id="15" name="anim_1_a"/>
          <p:cNvSpPr/>
          <p:nvPr/>
        </p:nvSpPr>
        <p:spPr>
          <a:xfrm>
            <a:off x="640080" y="4206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16" name="anim_1_a"/>
          <p:cNvSpPr/>
          <p:nvPr/>
        </p:nvSpPr>
        <p:spPr>
          <a:xfrm>
            <a:off x="64008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anim_1_a"/>
          <p:cNvSpPr/>
          <p:nvPr/>
        </p:nvSpPr>
        <p:spPr>
          <a:xfrm>
            <a:off x="1243584" y="4096512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8" name="anim_1_a"/>
          <p:cNvSpPr/>
          <p:nvPr/>
        </p:nvSpPr>
        <p:spPr>
          <a:xfrm>
            <a:off x="1463040" y="42062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+ 12x</a:t>
            </a:r>
            <a:endParaRPr lang="en-US" sz="1800" dirty="0"/>
          </a:p>
        </p:txBody>
      </p:sp>
      <p:sp>
        <p:nvSpPr>
          <p:cNvPr id="19" name="anim_2_c"/>
          <p:cNvSpPr/>
          <p:nvPr/>
        </p:nvSpPr>
        <p:spPr>
          <a:xfrm>
            <a:off x="6355080" y="1920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635508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anim_2_c"/>
          <p:cNvSpPr/>
          <p:nvPr/>
        </p:nvSpPr>
        <p:spPr>
          <a:xfrm>
            <a:off x="6958584" y="1810512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2" name="anim_2_c"/>
          <p:cNvSpPr/>
          <p:nvPr/>
        </p:nvSpPr>
        <p:spPr>
          <a:xfrm>
            <a:off x="7178040" y="19202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2x</a:t>
            </a:r>
            <a:endParaRPr lang="en-US" sz="1800" dirty="0"/>
          </a:p>
        </p:txBody>
      </p:sp>
      <p:sp>
        <p:nvSpPr>
          <p:cNvPr id="23" name="anim_2_c"/>
          <p:cNvSpPr/>
          <p:nvPr/>
        </p:nvSpPr>
        <p:spPr>
          <a:xfrm>
            <a:off x="6355080" y="3063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24" name="anim_2_c"/>
          <p:cNvSpPr/>
          <p:nvPr/>
        </p:nvSpPr>
        <p:spPr>
          <a:xfrm>
            <a:off x="635508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anim_2_c"/>
          <p:cNvSpPr/>
          <p:nvPr/>
        </p:nvSpPr>
        <p:spPr>
          <a:xfrm>
            <a:off x="6958584" y="2953512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6" name="anim_2_c"/>
          <p:cNvSpPr/>
          <p:nvPr/>
        </p:nvSpPr>
        <p:spPr>
          <a:xfrm>
            <a:off x="7178040" y="30632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16x</a:t>
            </a:r>
            <a:endParaRPr lang="en-US" sz="1800" dirty="0"/>
          </a:p>
        </p:txBody>
      </p:sp>
      <p:sp>
        <p:nvSpPr>
          <p:cNvPr id="27" name="anim_2_c"/>
          <p:cNvSpPr/>
          <p:nvPr/>
        </p:nvSpPr>
        <p:spPr>
          <a:xfrm>
            <a:off x="6355080" y="4206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/>
        </p:spPr>
      </p:sp>
      <p:sp>
        <p:nvSpPr>
          <p:cNvPr id="28" name="anim_2_c"/>
          <p:cNvSpPr/>
          <p:nvPr/>
        </p:nvSpPr>
        <p:spPr>
          <a:xfrm>
            <a:off x="635508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anim_2_c"/>
          <p:cNvSpPr/>
          <p:nvPr/>
        </p:nvSpPr>
        <p:spPr>
          <a:xfrm>
            <a:off x="6958584" y="4096512"/>
            <a:ext cx="4572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30" name="anim_2_c"/>
          <p:cNvSpPr/>
          <p:nvPr/>
        </p:nvSpPr>
        <p:spPr>
          <a:xfrm>
            <a:off x="7178040" y="42062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3x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VERTEX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Turning Point Straight Off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002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1143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6002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a quadratic is  </a:t>
            </a: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a(x + p)² + q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the vertex (turning point) is  </a:t>
            </a: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(–p , q)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and the line of symmetry is  </a:t>
            </a:r>
            <a:endParaRPr lang="en-US" sz="1800" dirty="0" smtClean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 smtClean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</a:t>
            </a: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–p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anim_2_c"/>
          <p:cNvSpPr/>
          <p:nvPr/>
        </p:nvSpPr>
        <p:spPr>
          <a:xfrm>
            <a:off x="548640" y="3200400"/>
            <a:ext cx="11091672" cy="2743200"/>
          </a:xfrm>
          <a:prstGeom prst="roundRect">
            <a:avLst>
              <a:gd name="adj" fmla="val 3333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3401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 x</a:t>
            </a: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= (x + 3)</a:t>
            </a: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</a:t>
            </a:r>
            <a:endParaRPr lang="en-US" sz="2000" dirty="0"/>
          </a:p>
        </p:txBody>
      </p:sp>
      <p:sp>
        <p:nvSpPr>
          <p:cNvPr id="10" name="anim_2_c"/>
          <p:cNvSpPr/>
          <p:nvPr/>
        </p:nvSpPr>
        <p:spPr>
          <a:xfrm>
            <a:off x="868680" y="40416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1" name="anim_2_c"/>
          <p:cNvSpPr/>
          <p:nvPr/>
        </p:nvSpPr>
        <p:spPr>
          <a:xfrm>
            <a:off x="8686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anim_2_c"/>
          <p:cNvSpPr/>
          <p:nvPr/>
        </p:nvSpPr>
        <p:spPr>
          <a:xfrm>
            <a:off x="1417320" y="39776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 p = 3, q = –9   →   vertex (–p, q) = (–3, –9)</a:t>
            </a:r>
            <a:endParaRPr lang="en-US" sz="1600" dirty="0"/>
          </a:p>
        </p:txBody>
      </p:sp>
      <p:sp>
        <p:nvSpPr>
          <p:cNvPr id="13" name="anim_3_c"/>
          <p:cNvSpPr/>
          <p:nvPr/>
        </p:nvSpPr>
        <p:spPr>
          <a:xfrm>
            <a:off x="868680" y="4727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4" name="anim_3_c"/>
          <p:cNvSpPr/>
          <p:nvPr/>
        </p:nvSpPr>
        <p:spPr>
          <a:xfrm>
            <a:off x="86868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anim_3_c"/>
          <p:cNvSpPr/>
          <p:nvPr/>
        </p:nvSpPr>
        <p:spPr>
          <a:xfrm>
            <a:off x="1417320" y="46634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symmetry:   x = –3</a:t>
            </a:r>
            <a:endParaRPr lang="en-US" sz="1600" dirty="0"/>
          </a:p>
        </p:txBody>
      </p:sp>
      <p:sp>
        <p:nvSpPr>
          <p:cNvPr id="16" name="anim_4_c"/>
          <p:cNvSpPr/>
          <p:nvPr/>
        </p:nvSpPr>
        <p:spPr>
          <a:xfrm>
            <a:off x="868680" y="5349240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anim_4_c"/>
          <p:cNvSpPr/>
          <p:nvPr/>
        </p:nvSpPr>
        <p:spPr>
          <a:xfrm>
            <a:off x="1051560" y="5349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Vertex (–3, –9)</a:t>
            </a:r>
            <a:endParaRPr lang="en-US" sz="1800" dirty="0"/>
          </a:p>
        </p:txBody>
      </p:sp>
      <p:sp>
        <p:nvSpPr>
          <p:cNvPr id="18" name="anim_4_c"/>
          <p:cNvSpPr/>
          <p:nvPr/>
        </p:nvSpPr>
        <p:spPr>
          <a:xfrm>
            <a:off x="6035040" y="53492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squared bracket is smallest (zero) when x = –3 — that's the turning point.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VERTEX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or Maximum?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a decides:  </a:t>
            </a: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0  →  curve opens up  →  vertex is a MINIMUM        a &lt; 0  →  opens down  →  MAXIMUM</a:t>
            </a:r>
            <a:endParaRPr lang="en-US" sz="1500" dirty="0"/>
          </a:p>
        </p:txBody>
      </p:sp>
      <p:sp>
        <p:nvSpPr>
          <p:cNvPr id="8" name="anim_2_c"/>
          <p:cNvSpPr/>
          <p:nvPr/>
        </p:nvSpPr>
        <p:spPr>
          <a:xfrm>
            <a:off x="548640" y="2423160"/>
            <a:ext cx="5468112" cy="3520440"/>
          </a:xfrm>
          <a:prstGeom prst="roundRect">
            <a:avLst>
              <a:gd name="adj" fmla="val 2597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&gt; 0   (e.g. + )   —   MINIMUM</a:t>
            </a:r>
            <a:endParaRPr lang="en-US" sz="1600" dirty="0"/>
          </a:p>
        </p:txBody>
      </p:sp>
      <p:sp>
        <p:nvSpPr>
          <p:cNvPr id="10" name="anim_2_c"/>
          <p:cNvSpPr/>
          <p:nvPr/>
        </p:nvSpPr>
        <p:spPr>
          <a:xfrm>
            <a:off x="1737360" y="3383280"/>
            <a:ext cx="155448" cy="34747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1" name="anim_2_c"/>
          <p:cNvSpPr/>
          <p:nvPr/>
        </p:nvSpPr>
        <p:spPr>
          <a:xfrm>
            <a:off x="1892808" y="3730752"/>
            <a:ext cx="155448" cy="31089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2" name="anim_2_c"/>
          <p:cNvSpPr/>
          <p:nvPr/>
        </p:nvSpPr>
        <p:spPr>
          <a:xfrm>
            <a:off x="2048256" y="4041648"/>
            <a:ext cx="155448" cy="27432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3" name="anim_2_c"/>
          <p:cNvSpPr/>
          <p:nvPr/>
        </p:nvSpPr>
        <p:spPr>
          <a:xfrm>
            <a:off x="2203704" y="4315968"/>
            <a:ext cx="155448" cy="23774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4" name="anim_2_c"/>
          <p:cNvSpPr/>
          <p:nvPr/>
        </p:nvSpPr>
        <p:spPr>
          <a:xfrm>
            <a:off x="2359152" y="4553712"/>
            <a:ext cx="155448" cy="20116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5" name="anim_2_c"/>
          <p:cNvSpPr/>
          <p:nvPr/>
        </p:nvSpPr>
        <p:spPr>
          <a:xfrm>
            <a:off x="2514600" y="4754880"/>
            <a:ext cx="155448" cy="16459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6" name="anim_2_c"/>
          <p:cNvSpPr/>
          <p:nvPr/>
        </p:nvSpPr>
        <p:spPr>
          <a:xfrm>
            <a:off x="2670048" y="4919472"/>
            <a:ext cx="155448" cy="12801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7" name="anim_2_c"/>
          <p:cNvSpPr/>
          <p:nvPr/>
        </p:nvSpPr>
        <p:spPr>
          <a:xfrm>
            <a:off x="2825496" y="5047488"/>
            <a:ext cx="155448" cy="9144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8" name="anim_2_c"/>
          <p:cNvSpPr/>
          <p:nvPr/>
        </p:nvSpPr>
        <p:spPr>
          <a:xfrm>
            <a:off x="2980944" y="5138928"/>
            <a:ext cx="155448" cy="5486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19" name="anim_2_c"/>
          <p:cNvSpPr/>
          <p:nvPr/>
        </p:nvSpPr>
        <p:spPr>
          <a:xfrm>
            <a:off x="3136392" y="5193792"/>
            <a:ext cx="155448" cy="1828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0" name="anim_2_c"/>
          <p:cNvSpPr/>
          <p:nvPr/>
        </p:nvSpPr>
        <p:spPr>
          <a:xfrm flipV="1">
            <a:off x="3291840" y="5193792"/>
            <a:ext cx="155448" cy="1828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1" name="anim_2_c"/>
          <p:cNvSpPr/>
          <p:nvPr/>
        </p:nvSpPr>
        <p:spPr>
          <a:xfrm flipV="1">
            <a:off x="3447288" y="5138928"/>
            <a:ext cx="155448" cy="5486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2" name="anim_2_c"/>
          <p:cNvSpPr/>
          <p:nvPr/>
        </p:nvSpPr>
        <p:spPr>
          <a:xfrm flipV="1">
            <a:off x="3602736" y="5047488"/>
            <a:ext cx="155448" cy="9144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3" name="anim_2_c"/>
          <p:cNvSpPr/>
          <p:nvPr/>
        </p:nvSpPr>
        <p:spPr>
          <a:xfrm flipV="1">
            <a:off x="3758184" y="4919472"/>
            <a:ext cx="155448" cy="12801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4" name="anim_2_c"/>
          <p:cNvSpPr/>
          <p:nvPr/>
        </p:nvSpPr>
        <p:spPr>
          <a:xfrm flipV="1">
            <a:off x="3913632" y="4754880"/>
            <a:ext cx="155448" cy="16459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5" name="anim_2_c"/>
          <p:cNvSpPr/>
          <p:nvPr/>
        </p:nvSpPr>
        <p:spPr>
          <a:xfrm flipV="1">
            <a:off x="4069080" y="4553712"/>
            <a:ext cx="155448" cy="20116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6" name="anim_2_c"/>
          <p:cNvSpPr/>
          <p:nvPr/>
        </p:nvSpPr>
        <p:spPr>
          <a:xfrm flipV="1">
            <a:off x="4224528" y="4315968"/>
            <a:ext cx="155448" cy="23774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7" name="anim_2_c"/>
          <p:cNvSpPr/>
          <p:nvPr/>
        </p:nvSpPr>
        <p:spPr>
          <a:xfrm flipV="1">
            <a:off x="4379976" y="4041648"/>
            <a:ext cx="155448" cy="27432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8" name="anim_2_c"/>
          <p:cNvSpPr/>
          <p:nvPr/>
        </p:nvSpPr>
        <p:spPr>
          <a:xfrm flipV="1">
            <a:off x="4535424" y="3730752"/>
            <a:ext cx="155448" cy="31089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29" name="anim_2_c"/>
          <p:cNvSpPr/>
          <p:nvPr/>
        </p:nvSpPr>
        <p:spPr>
          <a:xfrm flipV="1">
            <a:off x="4690872" y="3383280"/>
            <a:ext cx="155448" cy="34747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30" name="anim_2_c"/>
          <p:cNvSpPr/>
          <p:nvPr/>
        </p:nvSpPr>
        <p:spPr>
          <a:xfrm>
            <a:off x="3182112" y="5102352"/>
            <a:ext cx="219456" cy="219456"/>
          </a:xfrm>
          <a:prstGeom prst="ellipse">
            <a:avLst/>
          </a:prstGeom>
          <a:solidFill>
            <a:srgbClr val="16261F"/>
          </a:solidFill>
          <a:ln/>
        </p:spPr>
      </p:sp>
      <p:sp>
        <p:nvSpPr>
          <p:cNvPr id="31" name="anim_2_c"/>
          <p:cNvSpPr/>
          <p:nvPr/>
        </p:nvSpPr>
        <p:spPr>
          <a:xfrm>
            <a:off x="1371600" y="5440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= lowest point</a:t>
            </a:r>
            <a:endParaRPr lang="en-US" sz="1200" dirty="0"/>
          </a:p>
        </p:txBody>
      </p:sp>
      <p:sp>
        <p:nvSpPr>
          <p:cNvPr id="32" name="anim_3_c"/>
          <p:cNvSpPr/>
          <p:nvPr/>
        </p:nvSpPr>
        <p:spPr>
          <a:xfrm>
            <a:off x="6172200" y="2423160"/>
            <a:ext cx="5468112" cy="3520440"/>
          </a:xfrm>
          <a:prstGeom prst="roundRect">
            <a:avLst>
              <a:gd name="adj" fmla="val 2597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anim_3_c"/>
          <p:cNvSpPr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&lt; 0   (e.g. – )   —   MAXIMUM</a:t>
            </a:r>
            <a:endParaRPr lang="en-US" sz="1600" dirty="0"/>
          </a:p>
        </p:txBody>
      </p:sp>
      <p:sp>
        <p:nvSpPr>
          <p:cNvPr id="34" name="anim_3_c"/>
          <p:cNvSpPr/>
          <p:nvPr/>
        </p:nvSpPr>
        <p:spPr>
          <a:xfrm flipV="1">
            <a:off x="7360920" y="4727448"/>
            <a:ext cx="155448" cy="34747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35" name="anim_3_c"/>
          <p:cNvSpPr/>
          <p:nvPr/>
        </p:nvSpPr>
        <p:spPr>
          <a:xfrm flipV="1">
            <a:off x="7516368" y="4416552"/>
            <a:ext cx="155448" cy="31089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36" name="anim_3_c"/>
          <p:cNvSpPr/>
          <p:nvPr/>
        </p:nvSpPr>
        <p:spPr>
          <a:xfrm flipV="1">
            <a:off x="7671816" y="4142232"/>
            <a:ext cx="155448" cy="27432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37" name="anim_3_c"/>
          <p:cNvSpPr/>
          <p:nvPr/>
        </p:nvSpPr>
        <p:spPr>
          <a:xfrm flipV="1">
            <a:off x="7827264" y="3904488"/>
            <a:ext cx="155448" cy="23774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38" name="anim_3_c"/>
          <p:cNvSpPr/>
          <p:nvPr/>
        </p:nvSpPr>
        <p:spPr>
          <a:xfrm flipV="1">
            <a:off x="7982712" y="3703320"/>
            <a:ext cx="155448" cy="20116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39" name="anim_3_c"/>
          <p:cNvSpPr/>
          <p:nvPr/>
        </p:nvSpPr>
        <p:spPr>
          <a:xfrm flipV="1">
            <a:off x="8138160" y="3538728"/>
            <a:ext cx="155448" cy="16459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0" name="anim_3_c"/>
          <p:cNvSpPr/>
          <p:nvPr/>
        </p:nvSpPr>
        <p:spPr>
          <a:xfrm flipV="1">
            <a:off x="8293608" y="3410712"/>
            <a:ext cx="155448" cy="12801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1" name="anim_3_c"/>
          <p:cNvSpPr/>
          <p:nvPr/>
        </p:nvSpPr>
        <p:spPr>
          <a:xfrm flipV="1">
            <a:off x="8449056" y="3319272"/>
            <a:ext cx="155448" cy="9144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2" name="anim_3_c"/>
          <p:cNvSpPr/>
          <p:nvPr/>
        </p:nvSpPr>
        <p:spPr>
          <a:xfrm flipV="1">
            <a:off x="8604504" y="3264408"/>
            <a:ext cx="155448" cy="5486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3" name="anim_3_c"/>
          <p:cNvSpPr/>
          <p:nvPr/>
        </p:nvSpPr>
        <p:spPr>
          <a:xfrm flipV="1">
            <a:off x="8759952" y="3246120"/>
            <a:ext cx="155448" cy="1828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4" name="anim_3_c"/>
          <p:cNvSpPr/>
          <p:nvPr/>
        </p:nvSpPr>
        <p:spPr>
          <a:xfrm>
            <a:off x="8915400" y="3246120"/>
            <a:ext cx="155448" cy="1828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5" name="anim_3_c"/>
          <p:cNvSpPr/>
          <p:nvPr/>
        </p:nvSpPr>
        <p:spPr>
          <a:xfrm>
            <a:off x="9070848" y="3264408"/>
            <a:ext cx="155448" cy="5486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6" name="anim_3_c"/>
          <p:cNvSpPr/>
          <p:nvPr/>
        </p:nvSpPr>
        <p:spPr>
          <a:xfrm>
            <a:off x="9226296" y="3319272"/>
            <a:ext cx="155448" cy="9144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7" name="anim_3_c"/>
          <p:cNvSpPr/>
          <p:nvPr/>
        </p:nvSpPr>
        <p:spPr>
          <a:xfrm>
            <a:off x="9381744" y="3410712"/>
            <a:ext cx="155448" cy="12801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8" name="anim_3_c"/>
          <p:cNvSpPr/>
          <p:nvPr/>
        </p:nvSpPr>
        <p:spPr>
          <a:xfrm>
            <a:off x="9537192" y="3538728"/>
            <a:ext cx="155448" cy="16459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49" name="anim_3_c"/>
          <p:cNvSpPr/>
          <p:nvPr/>
        </p:nvSpPr>
        <p:spPr>
          <a:xfrm>
            <a:off x="9692640" y="3703320"/>
            <a:ext cx="155448" cy="201168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50" name="anim_3_c"/>
          <p:cNvSpPr/>
          <p:nvPr/>
        </p:nvSpPr>
        <p:spPr>
          <a:xfrm>
            <a:off x="9848088" y="3904488"/>
            <a:ext cx="155448" cy="237744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51" name="anim_3_c"/>
          <p:cNvSpPr/>
          <p:nvPr/>
        </p:nvSpPr>
        <p:spPr>
          <a:xfrm>
            <a:off x="10003536" y="4142232"/>
            <a:ext cx="155448" cy="274320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52" name="anim_3_c"/>
          <p:cNvSpPr/>
          <p:nvPr/>
        </p:nvSpPr>
        <p:spPr>
          <a:xfrm>
            <a:off x="10158984" y="4416552"/>
            <a:ext cx="155448" cy="310896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53" name="anim_3_c"/>
          <p:cNvSpPr/>
          <p:nvPr/>
        </p:nvSpPr>
        <p:spPr>
          <a:xfrm>
            <a:off x="10314432" y="4727448"/>
            <a:ext cx="155448" cy="347472"/>
          </a:xfrm>
          <a:prstGeom prst="line">
            <a:avLst/>
          </a:prstGeom>
          <a:noFill/>
          <a:ln w="31750">
            <a:solidFill>
              <a:srgbClr val="C84F2F"/>
            </a:solidFill>
            <a:prstDash val="solid"/>
          </a:ln>
        </p:spPr>
      </p:sp>
      <p:sp>
        <p:nvSpPr>
          <p:cNvPr id="54" name="anim_3_c"/>
          <p:cNvSpPr/>
          <p:nvPr/>
        </p:nvSpPr>
        <p:spPr>
          <a:xfrm>
            <a:off x="8805672" y="3136392"/>
            <a:ext cx="219456" cy="219456"/>
          </a:xfrm>
          <a:prstGeom prst="ellipse">
            <a:avLst/>
          </a:prstGeom>
          <a:solidFill>
            <a:srgbClr val="16261F"/>
          </a:solidFill>
          <a:ln/>
        </p:spPr>
      </p:sp>
      <p:sp>
        <p:nvSpPr>
          <p:cNvPr id="55" name="anim_3_c"/>
          <p:cNvSpPr/>
          <p:nvPr/>
        </p:nvSpPr>
        <p:spPr>
          <a:xfrm>
            <a:off x="6995160" y="5440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= highest point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by Completing the Square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square, get  </a:t>
            </a:r>
            <a:r>
              <a:rPr lang="en-US" sz="15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+ p)² = number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square-root both sides (±), then solve.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r>
              <a:rPr lang="en-US" sz="23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+ 4x – 6 = 0 ,  to 3 s.f.</a:t>
            </a:r>
            <a:endParaRPr lang="en-US" sz="23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584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square:   (x + 2)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 – 6 = 0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868680" y="42245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160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+ 2)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10    →    x + 2 = ±√10</a:t>
            </a:r>
            <a:endParaRPr lang="en-US" sz="1600" dirty="0"/>
          </a:p>
        </p:txBody>
      </p:sp>
      <p:sp>
        <p:nvSpPr>
          <p:cNvPr id="17" name="anim_4_c"/>
          <p:cNvSpPr/>
          <p:nvPr/>
        </p:nvSpPr>
        <p:spPr>
          <a:xfrm>
            <a:off x="868680" y="486460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8" name="anim_4_c"/>
          <p:cNvSpPr/>
          <p:nvPr/>
        </p:nvSpPr>
        <p:spPr>
          <a:xfrm>
            <a:off x="86868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anim_4_c"/>
          <p:cNvSpPr/>
          <p:nvPr/>
        </p:nvSpPr>
        <p:spPr>
          <a:xfrm>
            <a:off x="1417320" y="4800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–2 ± √10</a:t>
            </a:r>
            <a:endParaRPr lang="en-US" sz="1600" dirty="0"/>
          </a:p>
        </p:txBody>
      </p:sp>
      <p:sp>
        <p:nvSpPr>
          <p:cNvPr id="20" name="anim_5_c"/>
          <p:cNvSpPr/>
          <p:nvPr/>
        </p:nvSpPr>
        <p:spPr>
          <a:xfrm>
            <a:off x="868680" y="544068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anim_5_c"/>
          <p:cNvSpPr/>
          <p:nvPr/>
        </p:nvSpPr>
        <p:spPr>
          <a:xfrm>
            <a:off x="105156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1.16</a:t>
            </a:r>
            <a:endParaRPr lang="en-US" sz="1700" dirty="0"/>
          </a:p>
        </p:txBody>
      </p:sp>
      <p:sp>
        <p:nvSpPr>
          <p:cNvPr id="22" name="anim_5_c"/>
          <p:cNvSpPr/>
          <p:nvPr/>
        </p:nvSpPr>
        <p:spPr>
          <a:xfrm>
            <a:off x="4206240" y="544068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anim_5_c"/>
          <p:cNvSpPr/>
          <p:nvPr/>
        </p:nvSpPr>
        <p:spPr>
          <a:xfrm>
            <a:off x="438912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–5.16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Worked Example + Your Question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68112" cy="4114800"/>
          </a:xfrm>
          <a:prstGeom prst="roundRect">
            <a:avLst>
              <a:gd name="adj" fmla="val 2222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+ 3 = 0</a:t>
            </a:r>
            <a:endParaRPr lang="en-US" sz="2000" dirty="0"/>
          </a:p>
        </p:txBody>
      </p:sp>
      <p:sp>
        <p:nvSpPr>
          <p:cNvPr id="8" name="anim_1_a"/>
          <p:cNvSpPr/>
          <p:nvPr/>
        </p:nvSpPr>
        <p:spPr>
          <a:xfrm>
            <a:off x="868680" y="2331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3 s.f.)</a:t>
            </a:r>
            <a:endParaRPr lang="en-US" sz="1200" dirty="0"/>
          </a:p>
        </p:txBody>
      </p:sp>
      <p:sp>
        <p:nvSpPr>
          <p:cNvPr id="9" name="anim_1_a"/>
          <p:cNvSpPr/>
          <p:nvPr/>
        </p:nvSpPr>
        <p:spPr>
          <a:xfrm>
            <a:off x="868680" y="276148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0" name="anim_1_a"/>
          <p:cNvSpPr/>
          <p:nvPr/>
        </p:nvSpPr>
        <p:spPr>
          <a:xfrm>
            <a:off x="8686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anim_1_a"/>
          <p:cNvSpPr/>
          <p:nvPr/>
        </p:nvSpPr>
        <p:spPr>
          <a:xfrm>
            <a:off x="1417320" y="2697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+ 3)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9 + 3 = 0</a:t>
            </a:r>
            <a:endParaRPr lang="en-US" sz="1500" dirty="0"/>
          </a:p>
        </p:txBody>
      </p:sp>
      <p:sp>
        <p:nvSpPr>
          <p:cNvPr id="12" name="anim_2_c"/>
          <p:cNvSpPr/>
          <p:nvPr/>
        </p:nvSpPr>
        <p:spPr>
          <a:xfrm>
            <a:off x="868680" y="340156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3" name="anim_2_c"/>
          <p:cNvSpPr/>
          <p:nvPr/>
        </p:nvSpPr>
        <p:spPr>
          <a:xfrm>
            <a:off x="86868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anim_2_c"/>
          <p:cNvSpPr/>
          <p:nvPr/>
        </p:nvSpPr>
        <p:spPr>
          <a:xfrm>
            <a:off x="1417320" y="3337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+ 3)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6  →  x = –3 ± √6</a:t>
            </a:r>
            <a:endParaRPr lang="en-US" sz="1500" dirty="0"/>
          </a:p>
        </p:txBody>
      </p:sp>
      <p:sp>
        <p:nvSpPr>
          <p:cNvPr id="15" name="anim_3_c"/>
          <p:cNvSpPr/>
          <p:nvPr/>
        </p:nvSpPr>
        <p:spPr>
          <a:xfrm>
            <a:off x="868680" y="411480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anim_3_c"/>
          <p:cNvSpPr/>
          <p:nvPr/>
        </p:nvSpPr>
        <p:spPr>
          <a:xfrm>
            <a:off x="105156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–0.551  or  –5.45</a:t>
            </a:r>
            <a:endParaRPr lang="en-US" sz="1700" dirty="0"/>
          </a:p>
        </p:txBody>
      </p:sp>
      <p:sp>
        <p:nvSpPr>
          <p:cNvPr id="17" name="anim_4_c"/>
          <p:cNvSpPr/>
          <p:nvPr/>
        </p:nvSpPr>
        <p:spPr>
          <a:xfrm>
            <a:off x="6172200" y="1691640"/>
            <a:ext cx="5468112" cy="4114800"/>
          </a:xfrm>
          <a:prstGeom prst="roundRect">
            <a:avLst>
              <a:gd name="adj" fmla="val 2222"/>
            </a:avLst>
          </a:prstGeom>
          <a:solidFill>
            <a:srgbClr val="FBF3DD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6492240" y="187452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C84F2F"/>
          </a:solidFill>
          <a:ln/>
        </p:spPr>
      </p:sp>
      <p:sp>
        <p:nvSpPr>
          <p:cNvPr id="19" name="anim_4_c"/>
          <p:cNvSpPr/>
          <p:nvPr/>
        </p:nvSpPr>
        <p:spPr>
          <a:xfrm>
            <a:off x="6492240" y="1874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100" dirty="0"/>
          </a:p>
        </p:txBody>
      </p:sp>
      <p:sp>
        <p:nvSpPr>
          <p:cNvPr id="20" name="anim_4_c"/>
          <p:cNvSpPr/>
          <p:nvPr/>
        </p:nvSpPr>
        <p:spPr>
          <a:xfrm>
            <a:off x="6492240" y="2468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 x</a:t>
            </a:r>
            <a:r>
              <a:rPr lang="en-US" sz="20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0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+ 2x – 5 = 0</a:t>
            </a:r>
            <a:endParaRPr lang="en-US" sz="2000" dirty="0"/>
          </a:p>
        </p:txBody>
      </p:sp>
      <p:sp>
        <p:nvSpPr>
          <p:cNvPr id="21" name="anim_4_c"/>
          <p:cNvSpPr/>
          <p:nvPr/>
        </p:nvSpPr>
        <p:spPr>
          <a:xfrm>
            <a:off x="649224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completing the square (to 3 s.f.)</a:t>
            </a:r>
            <a:endParaRPr lang="en-US" sz="1200" dirty="0"/>
          </a:p>
        </p:txBody>
      </p:sp>
      <p:sp>
        <p:nvSpPr>
          <p:cNvPr id="22" name="anim_5_c"/>
          <p:cNvSpPr/>
          <p:nvPr/>
        </p:nvSpPr>
        <p:spPr>
          <a:xfrm>
            <a:off x="6492240" y="33558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23" name="anim_5_c"/>
          <p:cNvSpPr/>
          <p:nvPr/>
        </p:nvSpPr>
        <p:spPr>
          <a:xfrm>
            <a:off x="64922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anim_5_c"/>
          <p:cNvSpPr/>
          <p:nvPr/>
        </p:nvSpPr>
        <p:spPr>
          <a:xfrm>
            <a:off x="7040880" y="3291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 + 1)</a:t>
            </a:r>
            <a:r>
              <a:rPr lang="en-US" sz="14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4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6  →  x = –1 ± √6</a:t>
            </a:r>
            <a:endParaRPr lang="en-US" sz="1450" dirty="0"/>
          </a:p>
        </p:txBody>
      </p:sp>
      <p:sp>
        <p:nvSpPr>
          <p:cNvPr id="25" name="anim_6_c"/>
          <p:cNvSpPr/>
          <p:nvPr/>
        </p:nvSpPr>
        <p:spPr>
          <a:xfrm>
            <a:off x="6492240" y="4023360"/>
            <a:ext cx="4572000" cy="54864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anim_6_c"/>
          <p:cNvSpPr/>
          <p:nvPr/>
        </p:nvSpPr>
        <p:spPr>
          <a:xfrm>
            <a:off x="667512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1.45  or  –3.45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· PRACTICE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by Completing the Square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= 0, complete the square, then square-root both sides.</a:t>
            </a:r>
            <a:endParaRPr lang="en-US" sz="1350" dirty="0"/>
          </a:p>
        </p:txBody>
      </p:sp>
      <p:sp>
        <p:nvSpPr>
          <p:cNvPr id="7" name="anim_1_a"/>
          <p:cNvSpPr/>
          <p:nvPr/>
        </p:nvSpPr>
        <p:spPr>
          <a:xfrm>
            <a:off x="640080" y="2057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640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anim_1_a"/>
          <p:cNvSpPr/>
          <p:nvPr/>
        </p:nvSpPr>
        <p:spPr>
          <a:xfrm>
            <a:off x="1280160" y="20116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0" name="anim_1_a"/>
          <p:cNvSpPr/>
          <p:nvPr/>
        </p:nvSpPr>
        <p:spPr>
          <a:xfrm>
            <a:off x="150876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+ 1 = 0</a:t>
            </a:r>
            <a:endParaRPr lang="en-US" sz="1800" dirty="0"/>
          </a:p>
        </p:txBody>
      </p:sp>
      <p:sp>
        <p:nvSpPr>
          <p:cNvPr id="11" name="anim_1_a"/>
          <p:cNvSpPr/>
          <p:nvPr/>
        </p:nvSpPr>
        <p:spPr>
          <a:xfrm>
            <a:off x="640080" y="3429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84F2F"/>
          </a:solidFill>
          <a:ln/>
        </p:spPr>
      </p:sp>
      <p:sp>
        <p:nvSpPr>
          <p:cNvPr id="12" name="anim_1_a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anim_1_a"/>
          <p:cNvSpPr/>
          <p:nvPr/>
        </p:nvSpPr>
        <p:spPr>
          <a:xfrm>
            <a:off x="1280160" y="33832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4" name="anim_1_a"/>
          <p:cNvSpPr/>
          <p:nvPr/>
        </p:nvSpPr>
        <p:spPr>
          <a:xfrm>
            <a:off x="15087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8x + 3 = 0</a:t>
            </a:r>
            <a:endParaRPr lang="en-US" sz="1800" dirty="0"/>
          </a:p>
        </p:txBody>
      </p:sp>
      <p:sp>
        <p:nvSpPr>
          <p:cNvPr id="15" name="anim_2_c"/>
          <p:cNvSpPr/>
          <p:nvPr/>
        </p:nvSpPr>
        <p:spPr>
          <a:xfrm>
            <a:off x="6355080" y="2057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84F2F"/>
          </a:solidFill>
          <a:ln/>
        </p:spPr>
      </p:sp>
      <p:sp>
        <p:nvSpPr>
          <p:cNvPr id="16" name="anim_2_c"/>
          <p:cNvSpPr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anim_2_c"/>
          <p:cNvSpPr/>
          <p:nvPr/>
        </p:nvSpPr>
        <p:spPr>
          <a:xfrm>
            <a:off x="6995160" y="20116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18" name="anim_2_c"/>
          <p:cNvSpPr/>
          <p:nvPr/>
        </p:nvSpPr>
        <p:spPr>
          <a:xfrm>
            <a:off x="722376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4x – 7 = 3</a:t>
            </a:r>
            <a:endParaRPr lang="en-US" sz="1800" dirty="0"/>
          </a:p>
        </p:txBody>
      </p:sp>
      <p:sp>
        <p:nvSpPr>
          <p:cNvPr id="19" name="anim_2_c"/>
          <p:cNvSpPr/>
          <p:nvPr/>
        </p:nvSpPr>
        <p:spPr>
          <a:xfrm>
            <a:off x="6355080" y="34290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84F2F"/>
          </a:solidFill>
          <a:ln/>
        </p:spPr>
      </p:sp>
      <p:sp>
        <p:nvSpPr>
          <p:cNvPr id="20" name="anim_2_c"/>
          <p:cNvSpPr/>
          <p:nvPr/>
        </p:nvSpPr>
        <p:spPr>
          <a:xfrm>
            <a:off x="6355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anim_2_c"/>
          <p:cNvSpPr/>
          <p:nvPr/>
        </p:nvSpPr>
        <p:spPr>
          <a:xfrm>
            <a:off x="6995160" y="33832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</p:spPr>
      </p:sp>
      <p:sp>
        <p:nvSpPr>
          <p:cNvPr id="22" name="anim_2_c"/>
          <p:cNvSpPr/>
          <p:nvPr/>
        </p:nvSpPr>
        <p:spPr>
          <a:xfrm>
            <a:off x="72237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8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+ 3x + 1 = 0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≠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Out a First  —  a(x + p)² + q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6868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 out of the x-terms, complete the square inside, then multiply back.</a:t>
            </a:r>
            <a:endParaRPr lang="en-US" sz="1500" dirty="0"/>
          </a:p>
        </p:txBody>
      </p:sp>
      <p:sp>
        <p:nvSpPr>
          <p:cNvPr id="8" name="anim_1_a"/>
          <p:cNvSpPr/>
          <p:nvPr/>
        </p:nvSpPr>
        <p:spPr>
          <a:xfrm>
            <a:off x="548640" y="23774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nim_1_a"/>
          <p:cNvSpPr/>
          <p:nvPr/>
        </p:nvSpPr>
        <p:spPr>
          <a:xfrm>
            <a:off x="548640" y="23774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square:   2x</a:t>
            </a:r>
            <a:r>
              <a:rPr lang="en-US" sz="23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+ 8x + 3</a:t>
            </a:r>
            <a:endParaRPr lang="en-US" sz="2300" dirty="0"/>
          </a:p>
        </p:txBody>
      </p:sp>
      <p:sp>
        <p:nvSpPr>
          <p:cNvPr id="10" name="anim_2_c"/>
          <p:cNvSpPr/>
          <p:nvPr/>
        </p:nvSpPr>
        <p:spPr>
          <a:xfrm>
            <a:off x="548640" y="3337560"/>
            <a:ext cx="11091672" cy="260604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68680" y="3584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686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anim_2_c"/>
          <p:cNvSpPr/>
          <p:nvPr/>
        </p:nvSpPr>
        <p:spPr>
          <a:xfrm>
            <a:off x="141732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2 from x-terms:   2(x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+ 4x) + 3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868680" y="422452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5" name="anim_3_c"/>
          <p:cNvSpPr/>
          <p:nvPr/>
        </p:nvSpPr>
        <p:spPr>
          <a:xfrm>
            <a:off x="8686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anim_3_c"/>
          <p:cNvSpPr/>
          <p:nvPr/>
        </p:nvSpPr>
        <p:spPr>
          <a:xfrm>
            <a:off x="1417320" y="4160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Inside:   2[(x + 2)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4] + 3 = 2(x + 2)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8 + 3</a:t>
            </a:r>
            <a:endParaRPr lang="en-US" sz="1550" dirty="0"/>
          </a:p>
        </p:txBody>
      </p:sp>
      <p:sp>
        <p:nvSpPr>
          <p:cNvPr id="17" name="anim_4_c"/>
          <p:cNvSpPr/>
          <p:nvPr/>
        </p:nvSpPr>
        <p:spPr>
          <a:xfrm>
            <a:off x="868680" y="489204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anim_4_c"/>
          <p:cNvSpPr/>
          <p:nvPr/>
        </p:nvSpPr>
        <p:spPr>
          <a:xfrm>
            <a:off x="1051560" y="4892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2(x + 2)</a:t>
            </a:r>
            <a:r>
              <a:rPr lang="en-US" sz="19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5</a:t>
            </a:r>
            <a:endParaRPr lang="en-US" sz="1900" dirty="0"/>
          </a:p>
        </p:txBody>
      </p:sp>
      <p:sp>
        <p:nvSpPr>
          <p:cNvPr id="19" name="anim_4_c"/>
          <p:cNvSpPr/>
          <p:nvPr/>
        </p:nvSpPr>
        <p:spPr>
          <a:xfrm>
            <a:off x="86868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&gt; 0   →   vertex (–2, –5) is a MINIMUM,   line of symmetry x = –2.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&lt; 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Negative a Gives a Maximum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548640" y="1691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square:   5 + 6x – 3x</a:t>
            </a:r>
            <a:r>
              <a:rPr lang="en-US" sz="2300" b="1" baseline="30000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" dirty="0"/>
          </a:p>
        </p:txBody>
      </p:sp>
      <p:sp>
        <p:nvSpPr>
          <p:cNvPr id="8" name="anim_2_c"/>
          <p:cNvSpPr/>
          <p:nvPr/>
        </p:nvSpPr>
        <p:spPr>
          <a:xfrm>
            <a:off x="548640" y="2651760"/>
            <a:ext cx="11091672" cy="2468880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anim_2_c"/>
          <p:cNvSpPr/>
          <p:nvPr/>
        </p:nvSpPr>
        <p:spPr>
          <a:xfrm>
            <a:off x="868680" y="28986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0" name="anim_2_c"/>
          <p:cNvSpPr/>
          <p:nvPr/>
        </p:nvSpPr>
        <p:spPr>
          <a:xfrm>
            <a:off x="86868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anim_2_c"/>
          <p:cNvSpPr/>
          <p:nvPr/>
        </p:nvSpPr>
        <p:spPr>
          <a:xfrm>
            <a:off x="1417320" y="2834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as –3x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+ 5, factor –3:   –3(x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2x) + 5</a:t>
            </a:r>
            <a:endParaRPr lang="en-US" sz="1550" dirty="0"/>
          </a:p>
        </p:txBody>
      </p:sp>
      <p:sp>
        <p:nvSpPr>
          <p:cNvPr id="12" name="anim_3_c"/>
          <p:cNvSpPr/>
          <p:nvPr/>
        </p:nvSpPr>
        <p:spPr>
          <a:xfrm>
            <a:off x="868680" y="3584448"/>
            <a:ext cx="384048" cy="38404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13" name="anim_3_c"/>
          <p:cNvSpPr/>
          <p:nvPr/>
        </p:nvSpPr>
        <p:spPr>
          <a:xfrm>
            <a:off x="8686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anim_3_c"/>
          <p:cNvSpPr/>
          <p:nvPr/>
        </p:nvSpPr>
        <p:spPr>
          <a:xfrm>
            <a:off x="1417320" y="3520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–3[(x – 1)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1] + 5 = –3(x – 1)</a:t>
            </a:r>
            <a:r>
              <a:rPr lang="en-US" sz="155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5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+ 3 + 5</a:t>
            </a:r>
            <a:endParaRPr lang="en-US" sz="1550" dirty="0"/>
          </a:p>
        </p:txBody>
      </p:sp>
      <p:sp>
        <p:nvSpPr>
          <p:cNvPr id="15" name="anim_4_c"/>
          <p:cNvSpPr/>
          <p:nvPr/>
        </p:nvSpPr>
        <p:spPr>
          <a:xfrm>
            <a:off x="868680" y="425196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16261F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anim_4_c"/>
          <p:cNvSpPr/>
          <p:nvPr/>
        </p:nvSpPr>
        <p:spPr>
          <a:xfrm>
            <a:off x="105156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–3(x – 1)</a:t>
            </a:r>
            <a:r>
              <a:rPr lang="en-US" sz="19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9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+ 8</a:t>
            </a:r>
            <a:endParaRPr lang="en-US" sz="1900" dirty="0"/>
          </a:p>
        </p:txBody>
      </p:sp>
      <p:sp>
        <p:nvSpPr>
          <p:cNvPr id="17" name="anim_4_c"/>
          <p:cNvSpPr/>
          <p:nvPr/>
        </p:nvSpPr>
        <p:spPr>
          <a:xfrm>
            <a:off x="548640" y="53035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FBEAE3"/>
          </a:solidFill>
          <a:ln w="15875">
            <a:solidFill>
              <a:srgbClr val="C84F2F"/>
            </a:solidFill>
            <a:prstDash val="solid"/>
          </a:ln>
        </p:spPr>
      </p:sp>
      <p:sp>
        <p:nvSpPr>
          <p:cNvPr id="18" name="anim_4_c"/>
          <p:cNvSpPr/>
          <p:nvPr/>
        </p:nvSpPr>
        <p:spPr>
          <a:xfrm>
            <a:off x="86868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–3 &lt; 0   →   vertex (1, 8) is a MAXIMUM,   line of symmetry x = 1.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in Completed-Square Form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04672" y="191109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804672" y="1911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9" name="anim_1_a"/>
          <p:cNvSpPr/>
          <p:nvPr/>
        </p:nvSpPr>
        <p:spPr>
          <a:xfrm>
            <a:off x="841248" y="23500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6x + 10   in the form (x – a)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</a:t>
            </a:r>
            <a:endParaRPr lang="en-US" sz="1600" dirty="0"/>
          </a:p>
        </p:txBody>
      </p:sp>
      <p:sp>
        <p:nvSpPr>
          <p:cNvPr id="10" name="anim_2_c"/>
          <p:cNvSpPr/>
          <p:nvPr/>
        </p:nvSpPr>
        <p:spPr>
          <a:xfrm>
            <a:off x="6199632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6455664" y="191109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6455664" y="1911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13" name="anim_2_c"/>
          <p:cNvSpPr/>
          <p:nvPr/>
        </p:nvSpPr>
        <p:spPr>
          <a:xfrm>
            <a:off x="6492240" y="23500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  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10x + 40   in the form (x + a)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</a:t>
            </a:r>
            <a:endParaRPr lang="en-US" sz="1600" dirty="0"/>
          </a:p>
        </p:txBody>
      </p:sp>
      <p:sp>
        <p:nvSpPr>
          <p:cNvPr id="14" name="anim_3_c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804672" y="396849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3_c"/>
          <p:cNvSpPr/>
          <p:nvPr/>
        </p:nvSpPr>
        <p:spPr>
          <a:xfrm>
            <a:off x="804672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17" name="anim_3_c"/>
          <p:cNvSpPr/>
          <p:nvPr/>
        </p:nvSpPr>
        <p:spPr>
          <a:xfrm>
            <a:off x="841248" y="44074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  3x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12x + 7   in the form a(x + b)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c</a:t>
            </a:r>
            <a:endParaRPr lang="en-US" sz="1600" dirty="0"/>
          </a:p>
        </p:txBody>
      </p:sp>
      <p:sp>
        <p:nvSpPr>
          <p:cNvPr id="18" name="anim_4_c"/>
          <p:cNvSpPr/>
          <p:nvPr/>
        </p:nvSpPr>
        <p:spPr>
          <a:xfrm>
            <a:off x="6199632" y="37490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anim_4_c"/>
          <p:cNvSpPr/>
          <p:nvPr/>
        </p:nvSpPr>
        <p:spPr>
          <a:xfrm>
            <a:off x="6455664" y="396849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20" name="anim_4_c"/>
          <p:cNvSpPr/>
          <p:nvPr/>
        </p:nvSpPr>
        <p:spPr>
          <a:xfrm>
            <a:off x="6455664" y="3968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21" name="anim_4_c"/>
          <p:cNvSpPr/>
          <p:nvPr/>
        </p:nvSpPr>
        <p:spPr>
          <a:xfrm>
            <a:off x="6492240" y="4407408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  7 – 4x – 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in the form p – (x + q)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of Symmetry &amp; Turning Points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04672" y="191109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804672" y="1911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1000" dirty="0"/>
          </a:p>
        </p:txBody>
      </p:sp>
      <p:sp>
        <p:nvSpPr>
          <p:cNvPr id="9" name="anim_1_a"/>
          <p:cNvSpPr/>
          <p:nvPr/>
        </p:nvSpPr>
        <p:spPr>
          <a:xfrm>
            <a:off x="841248" y="2350008"/>
            <a:ext cx="487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3x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12x + 7.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down the equation of the line of symmetry L.</a:t>
            </a:r>
            <a:endParaRPr lang="en-US" sz="1500" dirty="0"/>
          </a:p>
        </p:txBody>
      </p:sp>
      <p:sp>
        <p:nvSpPr>
          <p:cNvPr id="10" name="anim_2_c"/>
          <p:cNvSpPr/>
          <p:nvPr/>
        </p:nvSpPr>
        <p:spPr>
          <a:xfrm>
            <a:off x="6199632" y="16916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6455664" y="191109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6455664" y="1911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</a:t>
            </a:r>
            <a:endParaRPr lang="en-US" sz="1000" dirty="0"/>
          </a:p>
        </p:txBody>
      </p:sp>
      <p:sp>
        <p:nvSpPr>
          <p:cNvPr id="13" name="anim_2_c"/>
          <p:cNvSpPr/>
          <p:nvPr/>
        </p:nvSpPr>
        <p:spPr>
          <a:xfrm>
            <a:off x="6492240" y="2350008"/>
            <a:ext cx="487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curve  y = 3 – 5(x + 1)</a:t>
            </a:r>
            <a:r>
              <a:rPr lang="en-US" sz="15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down the coordinates of the maximum point A.</a:t>
            </a:r>
            <a:endParaRPr lang="en-US" sz="1500" dirty="0"/>
          </a:p>
        </p:txBody>
      </p:sp>
      <p:sp>
        <p:nvSpPr>
          <p:cNvPr id="14" name="anim_3_c"/>
          <p:cNvSpPr/>
          <p:nvPr/>
        </p:nvSpPr>
        <p:spPr>
          <a:xfrm>
            <a:off x="548640" y="379476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anim_3_c"/>
          <p:cNvSpPr/>
          <p:nvPr/>
        </p:nvSpPr>
        <p:spPr>
          <a:xfrm>
            <a:off x="804672" y="401421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6" name="anim_3_c"/>
          <p:cNvSpPr/>
          <p:nvPr/>
        </p:nvSpPr>
        <p:spPr>
          <a:xfrm>
            <a:off x="804672" y="4014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</a:t>
            </a:r>
            <a:endParaRPr lang="en-US" sz="1000" dirty="0"/>
          </a:p>
        </p:txBody>
      </p:sp>
      <p:sp>
        <p:nvSpPr>
          <p:cNvPr id="17" name="anim_3_c"/>
          <p:cNvSpPr/>
          <p:nvPr/>
        </p:nvSpPr>
        <p:spPr>
          <a:xfrm>
            <a:off x="841248" y="4453128"/>
            <a:ext cx="1052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  7 + 12x – 3x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in the form  a + b(x + c)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.   Hence write down the coordinates of the maximum point of  y = 7 + 12x – 3x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02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20" dirty="0"/>
          </a:p>
        </p:txBody>
      </p:sp>
      <p:sp>
        <p:nvSpPr>
          <p:cNvPr id="4" name="Text 2"/>
          <p:cNvSpPr/>
          <p:nvPr/>
        </p:nvSpPr>
        <p:spPr>
          <a:xfrm>
            <a:off x="1243584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PAPER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225296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Hence Solve &amp; Challenge</a:t>
            </a:r>
            <a:endParaRPr lang="en-US" sz="2800" dirty="0"/>
          </a:p>
        </p:txBody>
      </p:sp>
      <p:sp>
        <p:nvSpPr>
          <p:cNvPr id="6" name="anim_1_a"/>
          <p:cNvSpPr/>
          <p:nvPr/>
        </p:nvSpPr>
        <p:spPr>
          <a:xfrm>
            <a:off x="548640" y="169164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anim_1_a"/>
          <p:cNvSpPr/>
          <p:nvPr/>
        </p:nvSpPr>
        <p:spPr>
          <a:xfrm>
            <a:off x="804672" y="191109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8" name="anim_1_a"/>
          <p:cNvSpPr/>
          <p:nvPr/>
        </p:nvSpPr>
        <p:spPr>
          <a:xfrm>
            <a:off x="804672" y="1911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HENCE SOLVE</a:t>
            </a:r>
            <a:endParaRPr lang="en-US" sz="1000" dirty="0"/>
          </a:p>
        </p:txBody>
      </p:sp>
      <p:sp>
        <p:nvSpPr>
          <p:cNvPr id="9" name="anim_1_a"/>
          <p:cNvSpPr/>
          <p:nvPr/>
        </p:nvSpPr>
        <p:spPr>
          <a:xfrm>
            <a:off x="841248" y="2350008"/>
            <a:ext cx="1052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 7 – 4x – 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11 – (x + 2)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 solve   7 – 4(y + 3) – (y + 3)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0,  giving solutions in the form  e ± √f.</a:t>
            </a:r>
            <a:endParaRPr lang="en-US" sz="1600" dirty="0"/>
          </a:p>
        </p:txBody>
      </p:sp>
      <p:sp>
        <p:nvSpPr>
          <p:cNvPr id="10" name="anim_2_c"/>
          <p:cNvSpPr/>
          <p:nvPr/>
        </p:nvSpPr>
        <p:spPr>
          <a:xfrm>
            <a:off x="548640" y="379476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6C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anim_2_c"/>
          <p:cNvSpPr/>
          <p:nvPr/>
        </p:nvSpPr>
        <p:spPr>
          <a:xfrm>
            <a:off x="804672" y="401421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/>
        </p:spPr>
      </p:sp>
      <p:sp>
        <p:nvSpPr>
          <p:cNvPr id="12" name="anim_2_c"/>
          <p:cNvSpPr/>
          <p:nvPr/>
        </p:nvSpPr>
        <p:spPr>
          <a:xfrm>
            <a:off x="804672" y="4014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MARKS</a:t>
            </a:r>
            <a:endParaRPr lang="en-US" sz="1000" dirty="0"/>
          </a:p>
        </p:txBody>
      </p:sp>
      <p:sp>
        <p:nvSpPr>
          <p:cNvPr id="13" name="anim_2_c"/>
          <p:cNvSpPr/>
          <p:nvPr/>
        </p:nvSpPr>
        <p:spPr>
          <a:xfrm>
            <a:off x="841248" y="4453128"/>
            <a:ext cx="1052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each of a, b and c in terms of q so that   q + 12x – qx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can be written as   a – b(x – c)</a:t>
            </a:r>
            <a:r>
              <a:rPr lang="en-US" sz="1600" b="1" baseline="30000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600" b="1" dirty="0">
                <a:solidFill>
                  <a:srgbClr val="24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3108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i="1" dirty="0">
                <a:solidFill>
                  <a:srgbClr val="283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(x+p)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6400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/>
          <a:effectLst>
            <a:outerShdw blurRad="88900" dist="254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621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240" dirty="0"/>
          </a:p>
        </p:txBody>
      </p:sp>
      <p:sp>
        <p:nvSpPr>
          <p:cNvPr id="5" name="Text 3"/>
          <p:cNvSpPr/>
          <p:nvPr/>
        </p:nvSpPr>
        <p:spPr>
          <a:xfrm>
            <a:off x="1517904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MATHS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Resources</a:t>
            </a:r>
            <a:endParaRPr lang="en-US" sz="3200" dirty="0"/>
          </a:p>
        </p:txBody>
      </p:sp>
      <p:sp>
        <p:nvSpPr>
          <p:cNvPr id="7" name="anim_1_a"/>
          <p:cNvSpPr/>
          <p:nvPr/>
        </p:nvSpPr>
        <p:spPr>
          <a:xfrm>
            <a:off x="73152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anim_1_a"/>
          <p:cNvSpPr/>
          <p:nvPr/>
        </p:nvSpPr>
        <p:spPr>
          <a:xfrm>
            <a:off x="100584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square</a:t>
            </a:r>
            <a:endParaRPr lang="en-US" sz="1500" dirty="0"/>
          </a:p>
        </p:txBody>
      </p:sp>
      <p:sp>
        <p:nvSpPr>
          <p:cNvPr id="9" name="anim_1_a"/>
          <p:cNvSpPr/>
          <p:nvPr/>
        </p:nvSpPr>
        <p:spPr>
          <a:xfrm>
            <a:off x="100584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b, square it, add &amp; subtract</a:t>
            </a:r>
            <a:endParaRPr lang="en-US" sz="1150" dirty="0"/>
          </a:p>
        </p:txBody>
      </p:sp>
      <p:sp>
        <p:nvSpPr>
          <p:cNvPr id="10" name="anim_1_a"/>
          <p:cNvSpPr/>
          <p:nvPr/>
        </p:nvSpPr>
        <p:spPr>
          <a:xfrm>
            <a:off x="6172200" y="205740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anim_1_a"/>
          <p:cNvSpPr/>
          <p:nvPr/>
        </p:nvSpPr>
        <p:spPr>
          <a:xfrm>
            <a:off x="6446520" y="2167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≠ 1</a:t>
            </a:r>
            <a:endParaRPr lang="en-US" sz="1500" dirty="0"/>
          </a:p>
        </p:txBody>
      </p:sp>
      <p:sp>
        <p:nvSpPr>
          <p:cNvPr id="12" name="anim_1_a"/>
          <p:cNvSpPr/>
          <p:nvPr/>
        </p:nvSpPr>
        <p:spPr>
          <a:xfrm>
            <a:off x="6446520" y="2478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 out of the x-terms first</a:t>
            </a:r>
            <a:endParaRPr lang="en-US" sz="1150" dirty="0"/>
          </a:p>
        </p:txBody>
      </p:sp>
      <p:sp>
        <p:nvSpPr>
          <p:cNvPr id="13" name="anim_2_c"/>
          <p:cNvSpPr/>
          <p:nvPr/>
        </p:nvSpPr>
        <p:spPr>
          <a:xfrm>
            <a:off x="73152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anim_2_c"/>
          <p:cNvSpPr/>
          <p:nvPr/>
        </p:nvSpPr>
        <p:spPr>
          <a:xfrm>
            <a:off x="100584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Vertex</a:t>
            </a:r>
            <a:endParaRPr lang="en-US" sz="1500" dirty="0"/>
          </a:p>
        </p:txBody>
      </p:sp>
      <p:sp>
        <p:nvSpPr>
          <p:cNvPr id="15" name="anim_2_c"/>
          <p:cNvSpPr/>
          <p:nvPr/>
        </p:nvSpPr>
        <p:spPr>
          <a:xfrm>
            <a:off x="100584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a(x + p)² + q → vertex (–p, q)</a:t>
            </a:r>
            <a:endParaRPr lang="en-US" sz="1150" dirty="0"/>
          </a:p>
        </p:txBody>
      </p:sp>
      <p:sp>
        <p:nvSpPr>
          <p:cNvPr id="16" name="anim_2_c"/>
          <p:cNvSpPr/>
          <p:nvPr/>
        </p:nvSpPr>
        <p:spPr>
          <a:xfrm>
            <a:off x="6172200" y="301752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anim_2_c"/>
          <p:cNvSpPr/>
          <p:nvPr/>
        </p:nvSpPr>
        <p:spPr>
          <a:xfrm>
            <a:off x="6446520" y="31272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or max</a:t>
            </a:r>
            <a:endParaRPr lang="en-US" sz="1500" dirty="0"/>
          </a:p>
        </p:txBody>
      </p:sp>
      <p:sp>
        <p:nvSpPr>
          <p:cNvPr id="18" name="anim_2_c"/>
          <p:cNvSpPr/>
          <p:nvPr/>
        </p:nvSpPr>
        <p:spPr>
          <a:xfrm>
            <a:off x="6446520" y="34381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0 minimum · a &lt; 0 maximum</a:t>
            </a:r>
            <a:endParaRPr lang="en-US" sz="1150" dirty="0"/>
          </a:p>
        </p:txBody>
      </p:sp>
      <p:sp>
        <p:nvSpPr>
          <p:cNvPr id="19" name="anim_3_c"/>
          <p:cNvSpPr/>
          <p:nvPr/>
        </p:nvSpPr>
        <p:spPr>
          <a:xfrm>
            <a:off x="73152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anim_3_c"/>
          <p:cNvSpPr/>
          <p:nvPr/>
        </p:nvSpPr>
        <p:spPr>
          <a:xfrm>
            <a:off x="100584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</a:t>
            </a:r>
            <a:endParaRPr lang="en-US" sz="1500" dirty="0"/>
          </a:p>
        </p:txBody>
      </p:sp>
      <p:sp>
        <p:nvSpPr>
          <p:cNvPr id="21" name="anim_3_c"/>
          <p:cNvSpPr/>
          <p:nvPr/>
        </p:nvSpPr>
        <p:spPr>
          <a:xfrm>
            <a:off x="100584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+ p)² = number, then ±√ both sides</a:t>
            </a:r>
            <a:endParaRPr lang="en-US" sz="1150" dirty="0"/>
          </a:p>
        </p:txBody>
      </p:sp>
      <p:sp>
        <p:nvSpPr>
          <p:cNvPr id="22" name="anim_3_c"/>
          <p:cNvSpPr/>
          <p:nvPr/>
        </p:nvSpPr>
        <p:spPr>
          <a:xfrm>
            <a:off x="6172200" y="397764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/>
          <a:effectLst>
            <a:outerShdw blurRad="1143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anim_3_c"/>
          <p:cNvSpPr/>
          <p:nvPr/>
        </p:nvSpPr>
        <p:spPr>
          <a:xfrm>
            <a:off x="6446520" y="40873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</a:t>
            </a:r>
            <a:endParaRPr lang="en-US" sz="1500" dirty="0"/>
          </a:p>
        </p:txBody>
      </p:sp>
      <p:sp>
        <p:nvSpPr>
          <p:cNvPr id="24" name="anim_3_c"/>
          <p:cNvSpPr/>
          <p:nvPr/>
        </p:nvSpPr>
        <p:spPr>
          <a:xfrm>
            <a:off x="6446520" y="4398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 s.f.” answers come from ±√</a:t>
            </a:r>
            <a:endParaRPr lang="en-US" sz="1150" dirty="0"/>
          </a:p>
        </p:txBody>
      </p:sp>
      <p:sp>
        <p:nvSpPr>
          <p:cNvPr id="25" name="anim_3_c"/>
          <p:cNvSpPr/>
          <p:nvPr/>
        </p:nvSpPr>
        <p:spPr>
          <a:xfrm>
            <a:off x="731520" y="507492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16261F"/>
          </a:solidFill>
          <a:ln w="15875">
            <a:solidFill>
              <a:srgbClr val="283731"/>
            </a:solidFill>
            <a:prstDash val="solid"/>
          </a:ln>
        </p:spPr>
      </p:sp>
      <p:sp>
        <p:nvSpPr>
          <p:cNvPr id="26" name="anim_3_c"/>
          <p:cNvSpPr/>
          <p:nvPr/>
        </p:nvSpPr>
        <p:spPr>
          <a:xfrm>
            <a:off x="1051560" y="51389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Zahra Sheikh Ali  ·  ✉ zahraa.sheikhali@outlook.com  ·  ☎ 66613748</a:t>
            </a:r>
            <a:endParaRPr lang="en-US" sz="1250" dirty="0"/>
          </a:p>
        </p:txBody>
      </p:sp>
      <p:sp>
        <p:nvSpPr>
          <p:cNvPr id="27" name="anim_3_c"/>
          <p:cNvSpPr/>
          <p:nvPr/>
        </p:nvSpPr>
        <p:spPr>
          <a:xfrm>
            <a:off x="1051560" y="55229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Mathematics A  ·  Higher Tier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1574</Words>
  <Application>Microsoft Office PowerPoint</Application>
  <PresentationFormat>Custom</PresentationFormat>
  <Paragraphs>239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Expanding Brackets — IGCSE Mathematics (Higher Tier)</dc:title>
  <dc:subject>PptxGenJS Presentation</dc:subject>
  <dc:creator>Zahra Sheikh Ali</dc:creator>
  <cp:lastModifiedBy>zahraa sheik ali</cp:lastModifiedBy>
  <cp:revision>2</cp:revision>
  <dcterms:created xsi:type="dcterms:W3CDTF">2026-06-28T09:59:07Z</dcterms:created>
  <dcterms:modified xsi:type="dcterms:W3CDTF">2026-06-29T09:50:59Z</dcterms:modified>
</cp:coreProperties>
</file>