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D3B2091C-E231-4A46-8743-40F9C3BEAAD4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ED7FAE-D8D6-442B-9577-34E245B7C02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B07FD31-12BC-49B9-AE49-3F1DDCE7E39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D9A5E18-7282-42DC-A2E8-D84D34DD6B3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8CBB1AC-7526-4807-A2E9-BAB1A68B640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292A2D9-F914-4558-A72D-BD479DCBAEC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Answers — 1:(x+2)²–4. 2:(x+5)²–25. 3:(x+6)²–36. 4:(x–1)²–1. 5:(x–8)²–64. 6:(x–1.5)²–2.25.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FA7C6B5-C8D9-446C-8341-377D4C2C269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1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764FA30-E8F0-4452-A047-C0A08C7BBA4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41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sldNum" idx="1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6791700-43B0-4773-AC3C-FD8D36B9B84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sldNum" idx="1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4929C6-B914-4EA0-921B-9230B4C9801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Your turn: x²+2x–5=0 → (x+1)²–1–5=0 → (x+1)²=6 → x=–1±√6 → 1.45 or –3.45 (3 s.f.).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1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C462047-A5C2-4979-B122-E4CB64DDE9F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Answers (3 s.f.) — 1: x=–0.17 or –5.83. 2: x=7.61 or 0.39. 3: x=5.74 or –1.74. 4: x=–0.38 or –2.62.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1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C3F1AD-980F-4793-B11F-5CC3893C7F3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1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51E1428-67DD-4549-AA4B-13CC78C44B9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1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144A8E-E979-42F1-A2E7-299C7BBE0C7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Answers — x²–6x+10 = (x–3)²+1.  x²–10x+40 = (x–5)²+15.  3x²–12x+7 = 3(x–2)²–5.  7–4x–x² = 11–(x+2)².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sldNum" idx="1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3F7E14A-E626-410B-A22C-52A4F583021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Answers — 3x²–12x+7 = 3(x–2)²–5, so line of symmetry L: x = 2.  y = 3 – 5(x+1)² → maximum at A(–1, 3).  7+12x–3x² = 19 – 3(x–2)² → maximum at A(2, 19).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sldNum" idx="1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B3E1759-FB14-426A-912E-EAFCDC5806C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Answers — 11 – (y+5)² = 0 → (y+5)² = 11 → y = –5 ± √11.  Challenge: q+12x–qx² = (q + 36/q) – q(x – 6/q)², so a = q + 36/q, b = q, c = 6/q.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1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D5F5CD1-85C4-4A06-8A1B-CA2ACCEBA52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sldNum" idx="2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575A3B8-5CC4-46E8-82BE-1F11BA13BDC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7955280" y="1280160"/>
            <a:ext cx="41144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6000" spc="-1" strike="noStrike">
                <a:solidFill>
                  <a:srgbClr val="283731"/>
                </a:solidFill>
                <a:latin typeface="Cambria"/>
                <a:ea typeface="Cambria"/>
              </a:rPr>
              <a:t>(x+p)</a:t>
            </a:r>
            <a:endParaRPr b="0" lang="en-US" sz="6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10561320" y="123444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283731"/>
                </a:solidFill>
                <a:latin typeface="Cambria"/>
                <a:ea typeface="Cambria"/>
              </a:rPr>
              <a:t>2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731520" y="640080"/>
            <a:ext cx="712800" cy="71280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731520" y="62172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9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49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1627560" y="676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48" strike="noStrike">
                <a:solidFill>
                  <a:srgbClr val="e0ac2b"/>
                </a:solidFill>
                <a:latin typeface="Calibri"/>
                <a:ea typeface="Calibri"/>
              </a:rPr>
              <a:t>Zπ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1627560" y="9511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anim_1_a"/>
          <p:cNvSpPr/>
          <p:nvPr/>
        </p:nvSpPr>
        <p:spPr>
          <a:xfrm>
            <a:off x="731520" y="1828800"/>
            <a:ext cx="8777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600" spc="-1" strike="noStrike">
                <a:solidFill>
                  <a:srgbClr val="e0ac2b"/>
                </a:solidFill>
                <a:latin typeface="Cambria"/>
                <a:ea typeface="Cambria"/>
              </a:rPr>
              <a:t>Completing the Square</a:t>
            </a:r>
            <a:endParaRPr b="0" lang="en-US" sz="4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anim_2_a"/>
          <p:cNvSpPr/>
          <p:nvPr/>
        </p:nvSpPr>
        <p:spPr>
          <a:xfrm>
            <a:off x="758880" y="2926080"/>
            <a:ext cx="10789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Complete the Square · Find the Vertex · Min / Max · Solve Quadratics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anim_3_a"/>
          <p:cNvSpPr/>
          <p:nvPr/>
        </p:nvSpPr>
        <p:spPr>
          <a:xfrm>
            <a:off x="731520" y="4114800"/>
            <a:ext cx="6857640" cy="1627200"/>
          </a:xfrm>
          <a:prstGeom prst="roundRect">
            <a:avLst>
              <a:gd name="adj" fmla="val 6742"/>
            </a:avLst>
          </a:prstGeom>
          <a:solidFill>
            <a:srgbClr val="283731"/>
          </a:solidFill>
          <a:ln w="0">
            <a:noFill/>
          </a:ln>
          <a:effectLst>
            <a:outerShdw algn="bl" blurRad="152280" dir="5400000" dist="50760" rotWithShape="0">
              <a:srgbClr val="000000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anim_3_a"/>
          <p:cNvSpPr/>
          <p:nvPr/>
        </p:nvSpPr>
        <p:spPr>
          <a:xfrm>
            <a:off x="1005840" y="4297680"/>
            <a:ext cx="6400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anim_3_a"/>
          <p:cNvSpPr/>
          <p:nvPr/>
        </p:nvSpPr>
        <p:spPr>
          <a:xfrm>
            <a:off x="1005840" y="4690800"/>
            <a:ext cx="6400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edebdd"/>
                </a:solidFill>
                <a:latin typeface="Calibri"/>
                <a:ea typeface="Calibri"/>
              </a:rPr>
              <a:t>IGCSE Mathematics Teacher  ·  M.Sc. Differential Geometry &amp; Geometric Control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anim_3_a"/>
          <p:cNvSpPr/>
          <p:nvPr/>
        </p:nvSpPr>
        <p:spPr>
          <a:xfrm>
            <a:off x="1005840" y="512964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0ac2b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0ac2b"/>
                </a:solidFill>
                <a:latin typeface="Calibri"/>
                <a:ea typeface="Calibri"/>
              </a:rPr>
              <a:t>66613748  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THE BIG IDEA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Completing the Square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anim_1_a"/>
          <p:cNvSpPr/>
          <p:nvPr/>
        </p:nvSpPr>
        <p:spPr>
          <a:xfrm>
            <a:off x="548640" y="1572840"/>
            <a:ext cx="11091240" cy="1188360"/>
          </a:xfrm>
          <a:prstGeom prst="roundRect">
            <a:avLst>
              <a:gd name="adj" fmla="val 7692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anim_1_a"/>
          <p:cNvSpPr/>
          <p:nvPr/>
        </p:nvSpPr>
        <p:spPr>
          <a:xfrm>
            <a:off x="868680" y="173736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9" strike="noStrike">
                <a:solidFill>
                  <a:srgbClr val="e0ac2b"/>
                </a:solidFill>
                <a:latin typeface="Calibri"/>
                <a:ea typeface="Calibri"/>
              </a:rPr>
              <a:t>OBJECTIVE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anim_1_a"/>
          <p:cNvSpPr/>
          <p:nvPr/>
        </p:nvSpPr>
        <p:spPr>
          <a:xfrm>
            <a:off x="868680" y="2011680"/>
            <a:ext cx="1033236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Rewrite a quadratic as a perfect square — then find its vertex (min/max) and solve it.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anim_2_c"/>
          <p:cNvSpPr/>
          <p:nvPr/>
        </p:nvSpPr>
        <p:spPr>
          <a:xfrm>
            <a:off x="548640" y="3017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9" strike="noStrike">
                <a:solidFill>
                  <a:srgbClr val="c84f2f"/>
                </a:solidFill>
                <a:latin typeface="Calibri"/>
                <a:ea typeface="Calibri"/>
              </a:rPr>
              <a:t>THE METHOD IN ONE LINE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anim_2_c"/>
          <p:cNvSpPr/>
          <p:nvPr/>
        </p:nvSpPr>
        <p:spPr>
          <a:xfrm>
            <a:off x="548640" y="3346560"/>
            <a:ext cx="6766200" cy="914040"/>
          </a:xfrm>
          <a:prstGeom prst="roundRect">
            <a:avLst>
              <a:gd name="adj" fmla="val 10000"/>
            </a:avLst>
          </a:prstGeom>
          <a:solidFill>
            <a:srgbClr val="fbf3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anim_2_c"/>
          <p:cNvSpPr/>
          <p:nvPr/>
        </p:nvSpPr>
        <p:spPr>
          <a:xfrm>
            <a:off x="822960" y="3346560"/>
            <a:ext cx="6309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Halve the x-coefficient, square it, then add and subtract it.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anim_3_c"/>
          <p:cNvSpPr/>
          <p:nvPr/>
        </p:nvSpPr>
        <p:spPr>
          <a:xfrm>
            <a:off x="7589520" y="301752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9" strike="noStrike">
                <a:solidFill>
                  <a:srgbClr val="c84f2f"/>
                </a:solidFill>
                <a:latin typeface="Calibri"/>
                <a:ea typeface="Calibri"/>
              </a:rPr>
              <a:t>KEY WORDS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anim_3_c"/>
          <p:cNvSpPr/>
          <p:nvPr/>
        </p:nvSpPr>
        <p:spPr>
          <a:xfrm>
            <a:off x="7589520" y="3346560"/>
            <a:ext cx="4050360" cy="51156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anim_3_c"/>
          <p:cNvSpPr/>
          <p:nvPr/>
        </p:nvSpPr>
        <p:spPr>
          <a:xfrm>
            <a:off x="7818120" y="3346560"/>
            <a:ext cx="365724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6261f"/>
                </a:solidFill>
                <a:latin typeface="Cambria"/>
                <a:ea typeface="Cambria"/>
              </a:rPr>
              <a:t>quadratic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anim_3_c"/>
          <p:cNvSpPr/>
          <p:nvPr/>
        </p:nvSpPr>
        <p:spPr>
          <a:xfrm>
            <a:off x="7589520" y="3950280"/>
            <a:ext cx="4050360" cy="51156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anim_3_c"/>
          <p:cNvSpPr/>
          <p:nvPr/>
        </p:nvSpPr>
        <p:spPr>
          <a:xfrm>
            <a:off x="7818120" y="3950280"/>
            <a:ext cx="365724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6261f"/>
                </a:solidFill>
                <a:latin typeface="Cambria"/>
                <a:ea typeface="Cambria"/>
              </a:rPr>
              <a:t>coefficient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anim_3_c"/>
          <p:cNvSpPr/>
          <p:nvPr/>
        </p:nvSpPr>
        <p:spPr>
          <a:xfrm>
            <a:off x="7589520" y="4553640"/>
            <a:ext cx="4050360" cy="51156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anim_3_c"/>
          <p:cNvSpPr/>
          <p:nvPr/>
        </p:nvSpPr>
        <p:spPr>
          <a:xfrm>
            <a:off x="7818120" y="4553640"/>
            <a:ext cx="365724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6261f"/>
                </a:solidFill>
                <a:latin typeface="Cambria"/>
                <a:ea typeface="Cambria"/>
              </a:rPr>
              <a:t>vertex (turning point)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anim_3_c"/>
          <p:cNvSpPr/>
          <p:nvPr/>
        </p:nvSpPr>
        <p:spPr>
          <a:xfrm>
            <a:off x="7589520" y="5157360"/>
            <a:ext cx="4050360" cy="51156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anim_3_c"/>
          <p:cNvSpPr/>
          <p:nvPr/>
        </p:nvSpPr>
        <p:spPr>
          <a:xfrm>
            <a:off x="7818120" y="5157360"/>
            <a:ext cx="365724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6261f"/>
                </a:solidFill>
                <a:latin typeface="Cambria"/>
                <a:ea typeface="Cambria"/>
              </a:rPr>
              <a:t>line of symmetry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anim_4_c"/>
          <p:cNvSpPr/>
          <p:nvPr/>
        </p:nvSpPr>
        <p:spPr>
          <a:xfrm>
            <a:off x="548640" y="4480560"/>
            <a:ext cx="6766200" cy="1416960"/>
          </a:xfrm>
          <a:prstGeom prst="roundRect">
            <a:avLst>
              <a:gd name="adj" fmla="val 6452"/>
            </a:avLst>
          </a:prstGeom>
          <a:solidFill>
            <a:srgbClr val="eef1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anim_4_c"/>
          <p:cNvSpPr/>
          <p:nvPr/>
        </p:nvSpPr>
        <p:spPr>
          <a:xfrm>
            <a:off x="822960" y="4553640"/>
            <a:ext cx="6309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x</a:t>
            </a:r>
            <a:r>
              <a:rPr b="1" lang="en-US" sz="16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 + 6x  =  x</a:t>
            </a:r>
            <a:r>
              <a:rPr b="1" lang="en-US" sz="16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 + 6x + 9 – 9  =  (x + 3)</a:t>
            </a:r>
            <a:r>
              <a:rPr b="1" lang="en-US" sz="16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 – 9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anim_4_c"/>
          <p:cNvSpPr/>
          <p:nvPr/>
        </p:nvSpPr>
        <p:spPr>
          <a:xfrm>
            <a:off x="822960" y="5120640"/>
            <a:ext cx="6309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a7269"/>
                </a:solidFill>
                <a:latin typeface="Calibri"/>
                <a:ea typeface="Calibri"/>
              </a:rPr>
              <a:t>Add 9, subtract 9 — the value never changes.  (9 = half of 6, squared.)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7" dur="indefinite" restart="never" nodeType="tmRoot">
          <p:childTnLst>
            <p:seq>
              <p:cTn id="28" dur="indefinite" nodeType="mainSeq"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THE METHOD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The General Rule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anim_1_a"/>
          <p:cNvSpPr/>
          <p:nvPr/>
        </p:nvSpPr>
        <p:spPr>
          <a:xfrm>
            <a:off x="548640" y="1645920"/>
            <a:ext cx="11091240" cy="1828440"/>
          </a:xfrm>
          <a:prstGeom prst="roundRect">
            <a:avLst>
              <a:gd name="adj" fmla="val 5000"/>
            </a:avLst>
          </a:prstGeom>
          <a:solidFill>
            <a:srgbClr val="16261f"/>
          </a:solidFill>
          <a:ln w="0">
            <a:noFill/>
          </a:ln>
          <a:effectLst>
            <a:outerShdw algn="bl" blurRad="127080" dir="5400000" dist="507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anim_1_a"/>
          <p:cNvSpPr/>
          <p:nvPr/>
        </p:nvSpPr>
        <p:spPr>
          <a:xfrm>
            <a:off x="1463040" y="2331720"/>
            <a:ext cx="4205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  <a:ea typeface="Cambria"/>
              </a:rPr>
              <a:t>x</a:t>
            </a:r>
            <a:r>
              <a:rPr b="1" lang="en-US" sz="2600" spc="-1" strike="noStrike" baseline="30000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r>
              <a:rPr b="1" lang="en-US" sz="2600" spc="-1" strike="noStrike">
                <a:solidFill>
                  <a:srgbClr val="ffffff"/>
                </a:solidFill>
                <a:latin typeface="Cambria"/>
                <a:ea typeface="Cambria"/>
              </a:rPr>
              <a:t> + bx  =  ( x +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anim_1_a"/>
          <p:cNvSpPr/>
          <p:nvPr/>
        </p:nvSpPr>
        <p:spPr>
          <a:xfrm>
            <a:off x="5806440" y="2221920"/>
            <a:ext cx="502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b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anim_1_a"/>
          <p:cNvSpPr/>
          <p:nvPr/>
        </p:nvSpPr>
        <p:spPr>
          <a:xfrm>
            <a:off x="5833800" y="2606040"/>
            <a:ext cx="447840" cy="36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anim_1_a"/>
          <p:cNvSpPr/>
          <p:nvPr/>
        </p:nvSpPr>
        <p:spPr>
          <a:xfrm>
            <a:off x="5806440" y="2642760"/>
            <a:ext cx="502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anim_1_a"/>
          <p:cNvSpPr/>
          <p:nvPr/>
        </p:nvSpPr>
        <p:spPr>
          <a:xfrm>
            <a:off x="6355080" y="233172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  <a:ea typeface="Cambria"/>
              </a:rPr>
              <a:t>)</a:t>
            </a:r>
            <a:r>
              <a:rPr b="1" lang="en-US" sz="2600" spc="-1" strike="noStrike" baseline="30000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r>
              <a:rPr b="1" lang="en-US" sz="2600" spc="-1" strike="noStrike">
                <a:solidFill>
                  <a:srgbClr val="ffffff"/>
                </a:solidFill>
                <a:latin typeface="Cambria"/>
                <a:ea typeface="Cambria"/>
              </a:rPr>
              <a:t>  –  (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anim_1_a"/>
          <p:cNvSpPr/>
          <p:nvPr/>
        </p:nvSpPr>
        <p:spPr>
          <a:xfrm>
            <a:off x="7772400" y="2221920"/>
            <a:ext cx="502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b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anim_1_a"/>
          <p:cNvSpPr/>
          <p:nvPr/>
        </p:nvSpPr>
        <p:spPr>
          <a:xfrm>
            <a:off x="7799760" y="2606040"/>
            <a:ext cx="447840" cy="36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anim_1_a"/>
          <p:cNvSpPr/>
          <p:nvPr/>
        </p:nvSpPr>
        <p:spPr>
          <a:xfrm>
            <a:off x="7772400" y="2642760"/>
            <a:ext cx="502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anim_1_a"/>
          <p:cNvSpPr/>
          <p:nvPr/>
        </p:nvSpPr>
        <p:spPr>
          <a:xfrm>
            <a:off x="8321040" y="233172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  <a:ea typeface="Cambria"/>
              </a:rPr>
              <a:t>)</a:t>
            </a:r>
            <a:r>
              <a:rPr b="1" lang="en-US" sz="2600" spc="-1" strike="noStrike" baseline="30000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anim_2_c"/>
          <p:cNvSpPr/>
          <p:nvPr/>
        </p:nvSpPr>
        <p:spPr>
          <a:xfrm>
            <a:off x="548640" y="3749040"/>
            <a:ext cx="11091240" cy="2194200"/>
          </a:xfrm>
          <a:prstGeom prst="roundRect">
            <a:avLst>
              <a:gd name="adj" fmla="val 4167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anim_2_c"/>
          <p:cNvSpPr/>
          <p:nvPr/>
        </p:nvSpPr>
        <p:spPr>
          <a:xfrm>
            <a:off x="868680" y="39135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9" strike="noStrike">
                <a:solidFill>
                  <a:srgbClr val="c84f2f"/>
                </a:solidFill>
                <a:latin typeface="Calibri"/>
                <a:ea typeface="Calibri"/>
              </a:rPr>
              <a:t>THREE STEPS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anim_2_c"/>
          <p:cNvSpPr/>
          <p:nvPr/>
        </p:nvSpPr>
        <p:spPr>
          <a:xfrm>
            <a:off x="868680" y="42703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anim_2_c"/>
          <p:cNvSpPr/>
          <p:nvPr/>
        </p:nvSpPr>
        <p:spPr>
          <a:xfrm>
            <a:off x="868680" y="4270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anim_2_c"/>
          <p:cNvSpPr/>
          <p:nvPr/>
        </p:nvSpPr>
        <p:spPr>
          <a:xfrm>
            <a:off x="1417320" y="4206240"/>
            <a:ext cx="9783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Halve b  (write x +  half of b  inside the bracket).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anim_3_c"/>
          <p:cNvSpPr/>
          <p:nvPr/>
        </p:nvSpPr>
        <p:spPr>
          <a:xfrm>
            <a:off x="868680" y="48646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anim_3_c"/>
          <p:cNvSpPr/>
          <p:nvPr/>
        </p:nvSpPr>
        <p:spPr>
          <a:xfrm>
            <a:off x="868680" y="4864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anim_3_c"/>
          <p:cNvSpPr/>
          <p:nvPr/>
        </p:nvSpPr>
        <p:spPr>
          <a:xfrm>
            <a:off x="1417320" y="4800600"/>
            <a:ext cx="9783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Square the bracket, then subtract (half of b) squared.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anim_4_c"/>
          <p:cNvSpPr/>
          <p:nvPr/>
        </p:nvSpPr>
        <p:spPr>
          <a:xfrm>
            <a:off x="868680" y="54590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anim_4_c"/>
          <p:cNvSpPr/>
          <p:nvPr/>
        </p:nvSpPr>
        <p:spPr>
          <a:xfrm>
            <a:off x="868680" y="54590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anim_4_c"/>
          <p:cNvSpPr/>
          <p:nvPr/>
        </p:nvSpPr>
        <p:spPr>
          <a:xfrm>
            <a:off x="1417320" y="5394960"/>
            <a:ext cx="9783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Add on any constant from the original expression.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91" dur="indefinite" restart="never" nodeType="tmRoot">
          <p:childTnLst>
            <p:seq>
              <p:cTn id="92" dur="indefinite" nodeType="mainSeq"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6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WORKED EXAMPLES · a = 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Complete the Square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anim_1_a"/>
          <p:cNvSpPr/>
          <p:nvPr/>
        </p:nvSpPr>
        <p:spPr>
          <a:xfrm>
            <a:off x="548640" y="1783080"/>
            <a:ext cx="5467680" cy="3840120"/>
          </a:xfrm>
          <a:prstGeom prst="roundRect">
            <a:avLst>
              <a:gd name="adj" fmla="val 2381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anim_1_a"/>
          <p:cNvSpPr/>
          <p:nvPr/>
        </p:nvSpPr>
        <p:spPr>
          <a:xfrm>
            <a:off x="868680" y="196596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Complete the square:   x</a:t>
            </a:r>
            <a:r>
              <a:rPr b="1" lang="en-US" sz="18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 – 10x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anim_1_a"/>
          <p:cNvSpPr/>
          <p:nvPr/>
        </p:nvSpPr>
        <p:spPr>
          <a:xfrm>
            <a:off x="868680" y="25786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anim_1_a"/>
          <p:cNvSpPr/>
          <p:nvPr/>
        </p:nvSpPr>
        <p:spPr>
          <a:xfrm>
            <a:off x="868680" y="2578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anim_1_a"/>
          <p:cNvSpPr/>
          <p:nvPr/>
        </p:nvSpPr>
        <p:spPr>
          <a:xfrm>
            <a:off x="1417320" y="251460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half of –10 is –5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anim_2_c"/>
          <p:cNvSpPr/>
          <p:nvPr/>
        </p:nvSpPr>
        <p:spPr>
          <a:xfrm>
            <a:off x="868680" y="32187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anim_2_c"/>
          <p:cNvSpPr/>
          <p:nvPr/>
        </p:nvSpPr>
        <p:spPr>
          <a:xfrm>
            <a:off x="868680" y="32187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anim_2_c"/>
          <p:cNvSpPr/>
          <p:nvPr/>
        </p:nvSpPr>
        <p:spPr>
          <a:xfrm>
            <a:off x="1417320" y="315468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(x – 5)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 – 5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anim_3_c"/>
          <p:cNvSpPr/>
          <p:nvPr/>
        </p:nvSpPr>
        <p:spPr>
          <a:xfrm>
            <a:off x="868680" y="3886200"/>
            <a:ext cx="4205880" cy="548280"/>
          </a:xfrm>
          <a:prstGeom prst="roundRect">
            <a:avLst>
              <a:gd name="adj" fmla="val 20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anim_3_c"/>
          <p:cNvSpPr/>
          <p:nvPr/>
        </p:nvSpPr>
        <p:spPr>
          <a:xfrm>
            <a:off x="1051560" y="3886200"/>
            <a:ext cx="38401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0ac2b"/>
                </a:solidFill>
                <a:latin typeface="Cambria"/>
                <a:ea typeface="Cambria"/>
              </a:rPr>
              <a:t>= (x – 5)</a:t>
            </a:r>
            <a:r>
              <a:rPr b="1" lang="en-US" sz="18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e0ac2b"/>
                </a:solidFill>
                <a:latin typeface="Cambria"/>
                <a:ea typeface="Cambria"/>
              </a:rPr>
              <a:t> – 25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anim_3_c"/>
          <p:cNvSpPr/>
          <p:nvPr/>
        </p:nvSpPr>
        <p:spPr>
          <a:xfrm>
            <a:off x="868680" y="457200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Vertex (5, –25) · minimum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anim_4_c"/>
          <p:cNvSpPr/>
          <p:nvPr/>
        </p:nvSpPr>
        <p:spPr>
          <a:xfrm>
            <a:off x="6172200" y="1783080"/>
            <a:ext cx="5467680" cy="3840120"/>
          </a:xfrm>
          <a:prstGeom prst="roundRect">
            <a:avLst>
              <a:gd name="adj" fmla="val 2381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anim_4_c"/>
          <p:cNvSpPr/>
          <p:nvPr/>
        </p:nvSpPr>
        <p:spPr>
          <a:xfrm>
            <a:off x="6492240" y="196596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Complete the square:   x</a:t>
            </a:r>
            <a:r>
              <a:rPr b="1" lang="en-US" sz="18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 – 3x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anim_4_c"/>
          <p:cNvSpPr/>
          <p:nvPr/>
        </p:nvSpPr>
        <p:spPr>
          <a:xfrm>
            <a:off x="6492240" y="25786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anim_4_c"/>
          <p:cNvSpPr/>
          <p:nvPr/>
        </p:nvSpPr>
        <p:spPr>
          <a:xfrm>
            <a:off x="6492240" y="2578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anim_4_c"/>
          <p:cNvSpPr/>
          <p:nvPr/>
        </p:nvSpPr>
        <p:spPr>
          <a:xfrm>
            <a:off x="7040880" y="251460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half of –3 is –1.5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anim_5_c"/>
          <p:cNvSpPr/>
          <p:nvPr/>
        </p:nvSpPr>
        <p:spPr>
          <a:xfrm>
            <a:off x="6492240" y="32187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anim_5_c"/>
          <p:cNvSpPr/>
          <p:nvPr/>
        </p:nvSpPr>
        <p:spPr>
          <a:xfrm>
            <a:off x="6492240" y="32187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anim_5_c"/>
          <p:cNvSpPr/>
          <p:nvPr/>
        </p:nvSpPr>
        <p:spPr>
          <a:xfrm>
            <a:off x="7040880" y="315468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(x – 1.5)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 – 1.5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anim_6_c"/>
          <p:cNvSpPr/>
          <p:nvPr/>
        </p:nvSpPr>
        <p:spPr>
          <a:xfrm>
            <a:off x="6492240" y="3886200"/>
            <a:ext cx="4388760" cy="548280"/>
          </a:xfrm>
          <a:prstGeom prst="roundRect">
            <a:avLst>
              <a:gd name="adj" fmla="val 20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anim_6_c"/>
          <p:cNvSpPr/>
          <p:nvPr/>
        </p:nvSpPr>
        <p:spPr>
          <a:xfrm>
            <a:off x="6675120" y="3886200"/>
            <a:ext cx="4023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0ac2b"/>
                </a:solidFill>
                <a:latin typeface="Cambria"/>
                <a:ea typeface="Cambria"/>
              </a:rPr>
              <a:t>= (x – 1.5)</a:t>
            </a:r>
            <a:r>
              <a:rPr b="1" lang="en-US" sz="18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e0ac2b"/>
                </a:solidFill>
                <a:latin typeface="Cambria"/>
                <a:ea typeface="Cambria"/>
              </a:rPr>
              <a:t> – 2.25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anim_6_c"/>
          <p:cNvSpPr/>
          <p:nvPr/>
        </p:nvSpPr>
        <p:spPr>
          <a:xfrm>
            <a:off x="6492240" y="457200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Vertex (1.5, –2.25) · minimum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64" dur="indefinite" restart="never" nodeType="tmRoot">
          <p:childTnLst>
            <p:seq>
              <p:cTn id="165" dur="indefinite" nodeType="mainSeq">
                <p:childTnLst>
                  <p:par>
                    <p:cTn id="166" fill="hold">
                      <p:stCondLst>
                        <p:cond delay="0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82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8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0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3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4" fill="hold">
                      <p:stCondLst>
                        <p:cond delay="indefinite"/>
                      </p:stCondLst>
                      <p:childTnLst>
                        <p:par>
                          <p:cTn id="195" fill="hold">
                            <p:stCondLst>
                              <p:cond delay="0"/>
                            </p:stCondLst>
                            <p:childTnLst>
                              <p:par>
                                <p:cTn id="196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8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0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04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09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12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15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18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21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2" fill="hold">
                      <p:stCondLst>
                        <p:cond delay="indefinite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24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26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29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32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3" fill="hold">
                      <p:stCondLst>
                        <p:cond delay="indefinite"/>
                      </p:stCondLst>
                      <p:childTnLst>
                        <p:par>
                          <p:cTn id="234" fill="hold">
                            <p:stCondLst>
                              <p:cond delay="0"/>
                            </p:stCondLst>
                            <p:childTnLst>
                              <p:par>
                                <p:cTn id="23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3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40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43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WORKED EXAMPLES · a = 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With a Constant Term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anim_1_a"/>
          <p:cNvSpPr/>
          <p:nvPr/>
        </p:nvSpPr>
        <p:spPr>
          <a:xfrm>
            <a:off x="548640" y="1783080"/>
            <a:ext cx="5467680" cy="3840120"/>
          </a:xfrm>
          <a:prstGeom prst="roundRect">
            <a:avLst>
              <a:gd name="adj" fmla="val 2381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anim_1_a"/>
          <p:cNvSpPr/>
          <p:nvPr/>
        </p:nvSpPr>
        <p:spPr>
          <a:xfrm>
            <a:off x="868680" y="196596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6261f"/>
                </a:solidFill>
                <a:latin typeface="Cambria"/>
                <a:ea typeface="Cambria"/>
              </a:rPr>
              <a:t>x</a:t>
            </a:r>
            <a:r>
              <a:rPr b="1" lang="en-US" sz="20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000" spc="-1" strike="noStrike">
                <a:solidFill>
                  <a:srgbClr val="16261f"/>
                </a:solidFill>
                <a:latin typeface="Cambria"/>
                <a:ea typeface="Cambria"/>
              </a:rPr>
              <a:t> + 12x – 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anim_1_a"/>
          <p:cNvSpPr/>
          <p:nvPr/>
        </p:nvSpPr>
        <p:spPr>
          <a:xfrm>
            <a:off x="868680" y="25786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anim_1_a"/>
          <p:cNvSpPr/>
          <p:nvPr/>
        </p:nvSpPr>
        <p:spPr>
          <a:xfrm>
            <a:off x="868680" y="2578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anim_1_a"/>
          <p:cNvSpPr/>
          <p:nvPr/>
        </p:nvSpPr>
        <p:spPr>
          <a:xfrm>
            <a:off x="1417320" y="251460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(x + 6)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 – 36 – 5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anim_2_c"/>
          <p:cNvSpPr/>
          <p:nvPr/>
        </p:nvSpPr>
        <p:spPr>
          <a:xfrm>
            <a:off x="868680" y="3246120"/>
            <a:ext cx="4205880" cy="548280"/>
          </a:xfrm>
          <a:prstGeom prst="roundRect">
            <a:avLst>
              <a:gd name="adj" fmla="val 20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anim_2_c"/>
          <p:cNvSpPr/>
          <p:nvPr/>
        </p:nvSpPr>
        <p:spPr>
          <a:xfrm>
            <a:off x="1051560" y="3246120"/>
            <a:ext cx="38401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0ac2b"/>
                </a:solidFill>
                <a:latin typeface="Cambria"/>
                <a:ea typeface="Cambria"/>
              </a:rPr>
              <a:t>= (x + 6)</a:t>
            </a:r>
            <a:r>
              <a:rPr b="1" lang="en-US" sz="18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e0ac2b"/>
                </a:solidFill>
                <a:latin typeface="Cambria"/>
                <a:ea typeface="Cambria"/>
              </a:rPr>
              <a:t> – 41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anim_2_c"/>
          <p:cNvSpPr/>
          <p:nvPr/>
        </p:nvSpPr>
        <p:spPr>
          <a:xfrm>
            <a:off x="868680" y="393192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Vertex (–6, –41) · minimum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anim_3_c"/>
          <p:cNvSpPr/>
          <p:nvPr/>
        </p:nvSpPr>
        <p:spPr>
          <a:xfrm>
            <a:off x="6172200" y="1783080"/>
            <a:ext cx="5467680" cy="3840120"/>
          </a:xfrm>
          <a:prstGeom prst="roundRect">
            <a:avLst>
              <a:gd name="adj" fmla="val 2381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anim_3_c"/>
          <p:cNvSpPr/>
          <p:nvPr/>
        </p:nvSpPr>
        <p:spPr>
          <a:xfrm>
            <a:off x="6492240" y="196596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6261f"/>
                </a:solidFill>
                <a:latin typeface="Cambria"/>
                <a:ea typeface="Cambria"/>
              </a:rPr>
              <a:t>x</a:t>
            </a:r>
            <a:r>
              <a:rPr b="1" lang="en-US" sz="20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000" spc="-1" strike="noStrike">
                <a:solidFill>
                  <a:srgbClr val="16261f"/>
                </a:solidFill>
                <a:latin typeface="Cambria"/>
                <a:ea typeface="Cambria"/>
              </a:rPr>
              <a:t> – 5x + 16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anim_3_c"/>
          <p:cNvSpPr/>
          <p:nvPr/>
        </p:nvSpPr>
        <p:spPr>
          <a:xfrm>
            <a:off x="6492240" y="25786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anim_3_c"/>
          <p:cNvSpPr/>
          <p:nvPr/>
        </p:nvSpPr>
        <p:spPr>
          <a:xfrm>
            <a:off x="6492240" y="2578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anim_3_c"/>
          <p:cNvSpPr/>
          <p:nvPr/>
        </p:nvSpPr>
        <p:spPr>
          <a:xfrm>
            <a:off x="7040880" y="251460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(x – 2.5)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 – 6.25 + 16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anim_4_c"/>
          <p:cNvSpPr/>
          <p:nvPr/>
        </p:nvSpPr>
        <p:spPr>
          <a:xfrm>
            <a:off x="6492240" y="3246120"/>
            <a:ext cx="4388760" cy="548280"/>
          </a:xfrm>
          <a:prstGeom prst="roundRect">
            <a:avLst>
              <a:gd name="adj" fmla="val 20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anim_4_c"/>
          <p:cNvSpPr/>
          <p:nvPr/>
        </p:nvSpPr>
        <p:spPr>
          <a:xfrm>
            <a:off x="6675120" y="3246120"/>
            <a:ext cx="4023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0ac2b"/>
                </a:solidFill>
                <a:latin typeface="Cambria"/>
                <a:ea typeface="Cambria"/>
              </a:rPr>
              <a:t>= (x – 2.5)</a:t>
            </a:r>
            <a:r>
              <a:rPr b="1" lang="en-US" sz="18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e0ac2b"/>
                </a:solidFill>
                <a:latin typeface="Cambria"/>
                <a:ea typeface="Cambria"/>
              </a:rPr>
              <a:t> + 9.75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anim_4_c"/>
          <p:cNvSpPr/>
          <p:nvPr/>
        </p:nvSpPr>
        <p:spPr>
          <a:xfrm>
            <a:off x="6492240" y="393192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Vertex (2.5, 9.75) · minimum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44" dur="indefinite" restart="never" nodeType="tmRoot">
          <p:childTnLst>
            <p:seq>
              <p:cTn id="245" dur="indefinite" nodeType="mainSeq">
                <p:childTnLst>
                  <p:par>
                    <p:cTn id="246" fill="hold">
                      <p:stCondLst>
                        <p:cond delay="0"/>
                      </p:stCondLst>
                      <p:childTnLst>
                        <p:par>
                          <p:cTn id="247" fill="hold">
                            <p:stCondLst>
                              <p:cond delay="0"/>
                            </p:stCondLst>
                            <p:childTnLst>
                              <p:par>
                                <p:cTn id="248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50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53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56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59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62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3" fill="hold">
                      <p:stCondLst>
                        <p:cond delay="indefinite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67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70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73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4" fill="hold">
                      <p:stCondLst>
                        <p:cond delay="indefinite"/>
                      </p:stCondLst>
                      <p:childTnLst>
                        <p:par>
                          <p:cTn id="275" fill="hold">
                            <p:stCondLst>
                              <p:cond delay="0"/>
                            </p:stCondLst>
                            <p:childTnLst>
                              <p:par>
                                <p:cTn id="276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7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81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84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8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90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1" fill="hold">
                      <p:stCondLst>
                        <p:cond delay="indefinite"/>
                      </p:stCondLst>
                      <p:childTnLst>
                        <p:par>
                          <p:cTn id="292" fill="hold">
                            <p:stCondLst>
                              <p:cond delay="0"/>
                            </p:stCondLst>
                            <p:childTnLst>
                              <p:par>
                                <p:cTn id="293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95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98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01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YOUR TURN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Write in the Form  (x + p)² + q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4"/>
          <p:cNvSpPr/>
          <p:nvPr/>
        </p:nvSpPr>
        <p:spPr>
          <a:xfrm>
            <a:off x="548640" y="141732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50" spc="-1" strike="noStrike">
                <a:solidFill>
                  <a:srgbClr val="6a7269"/>
                </a:solidFill>
                <a:latin typeface="Calibri"/>
                <a:ea typeface="Calibri"/>
              </a:rPr>
              <a:t>Halve the x-coefficient — then subtract its square.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anim_1_a"/>
          <p:cNvSpPr/>
          <p:nvPr/>
        </p:nvSpPr>
        <p:spPr>
          <a:xfrm>
            <a:off x="640080" y="1920240"/>
            <a:ext cx="475200" cy="475200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anim_1_a"/>
          <p:cNvSpPr/>
          <p:nvPr/>
        </p:nvSpPr>
        <p:spPr>
          <a:xfrm>
            <a:off x="640080" y="19202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anim_1_a"/>
          <p:cNvSpPr/>
          <p:nvPr/>
        </p:nvSpPr>
        <p:spPr>
          <a:xfrm>
            <a:off x="1243440" y="1810440"/>
            <a:ext cx="4571640" cy="71280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anim_1_a"/>
          <p:cNvSpPr/>
          <p:nvPr/>
        </p:nvSpPr>
        <p:spPr>
          <a:xfrm>
            <a:off x="1463040" y="1920240"/>
            <a:ext cx="42058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+ 4x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anim_1_a"/>
          <p:cNvSpPr/>
          <p:nvPr/>
        </p:nvSpPr>
        <p:spPr>
          <a:xfrm>
            <a:off x="640080" y="3063240"/>
            <a:ext cx="475200" cy="475200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anim_1_a"/>
          <p:cNvSpPr/>
          <p:nvPr/>
        </p:nvSpPr>
        <p:spPr>
          <a:xfrm>
            <a:off x="640080" y="30632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anim_1_a"/>
          <p:cNvSpPr/>
          <p:nvPr/>
        </p:nvSpPr>
        <p:spPr>
          <a:xfrm>
            <a:off x="1243440" y="2953440"/>
            <a:ext cx="4571640" cy="71280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anim_1_a"/>
          <p:cNvSpPr/>
          <p:nvPr/>
        </p:nvSpPr>
        <p:spPr>
          <a:xfrm>
            <a:off x="1463040" y="3063240"/>
            <a:ext cx="42058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+ 10x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anim_1_a"/>
          <p:cNvSpPr/>
          <p:nvPr/>
        </p:nvSpPr>
        <p:spPr>
          <a:xfrm>
            <a:off x="640080" y="4206240"/>
            <a:ext cx="475200" cy="475200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anim_1_a"/>
          <p:cNvSpPr/>
          <p:nvPr/>
        </p:nvSpPr>
        <p:spPr>
          <a:xfrm>
            <a:off x="640080" y="42062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anim_1_a"/>
          <p:cNvSpPr/>
          <p:nvPr/>
        </p:nvSpPr>
        <p:spPr>
          <a:xfrm>
            <a:off x="1243440" y="4096440"/>
            <a:ext cx="4571640" cy="71280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anim_1_a"/>
          <p:cNvSpPr/>
          <p:nvPr/>
        </p:nvSpPr>
        <p:spPr>
          <a:xfrm>
            <a:off x="1463040" y="4206240"/>
            <a:ext cx="42058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+ 12x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anim_2_c"/>
          <p:cNvSpPr/>
          <p:nvPr/>
        </p:nvSpPr>
        <p:spPr>
          <a:xfrm>
            <a:off x="6355080" y="1920240"/>
            <a:ext cx="475200" cy="475200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anim_2_c"/>
          <p:cNvSpPr/>
          <p:nvPr/>
        </p:nvSpPr>
        <p:spPr>
          <a:xfrm>
            <a:off x="6355080" y="19202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anim_2_c"/>
          <p:cNvSpPr/>
          <p:nvPr/>
        </p:nvSpPr>
        <p:spPr>
          <a:xfrm>
            <a:off x="6958440" y="1810440"/>
            <a:ext cx="4571640" cy="71280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anim_2_c"/>
          <p:cNvSpPr/>
          <p:nvPr/>
        </p:nvSpPr>
        <p:spPr>
          <a:xfrm>
            <a:off x="7178040" y="1920240"/>
            <a:ext cx="42058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2x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anim_2_c"/>
          <p:cNvSpPr/>
          <p:nvPr/>
        </p:nvSpPr>
        <p:spPr>
          <a:xfrm>
            <a:off x="6355080" y="3063240"/>
            <a:ext cx="475200" cy="475200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anim_2_c"/>
          <p:cNvSpPr/>
          <p:nvPr/>
        </p:nvSpPr>
        <p:spPr>
          <a:xfrm>
            <a:off x="6355080" y="30632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5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anim_2_c"/>
          <p:cNvSpPr/>
          <p:nvPr/>
        </p:nvSpPr>
        <p:spPr>
          <a:xfrm>
            <a:off x="6958440" y="2953440"/>
            <a:ext cx="4571640" cy="71280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anim_2_c"/>
          <p:cNvSpPr/>
          <p:nvPr/>
        </p:nvSpPr>
        <p:spPr>
          <a:xfrm>
            <a:off x="7178040" y="3063240"/>
            <a:ext cx="42058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16x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anim_2_c"/>
          <p:cNvSpPr/>
          <p:nvPr/>
        </p:nvSpPr>
        <p:spPr>
          <a:xfrm>
            <a:off x="6355080" y="4206240"/>
            <a:ext cx="475200" cy="475200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anim_2_c"/>
          <p:cNvSpPr/>
          <p:nvPr/>
        </p:nvSpPr>
        <p:spPr>
          <a:xfrm>
            <a:off x="6355080" y="42062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anim_2_c"/>
          <p:cNvSpPr/>
          <p:nvPr/>
        </p:nvSpPr>
        <p:spPr>
          <a:xfrm>
            <a:off x="6958440" y="4096440"/>
            <a:ext cx="4571640" cy="71280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anim_2_c"/>
          <p:cNvSpPr/>
          <p:nvPr/>
        </p:nvSpPr>
        <p:spPr>
          <a:xfrm>
            <a:off x="7178040" y="4206240"/>
            <a:ext cx="42058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3x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02" dur="indefinite" restart="never" nodeType="tmRoot">
          <p:childTnLst>
            <p:seq>
              <p:cTn id="303" dur="indefinite" nodeType="mainSeq">
                <p:childTnLst>
                  <p:par>
                    <p:cTn id="304" fill="hold">
                      <p:stCondLst>
                        <p:cond delay="0"/>
                      </p:stCondLst>
                      <p:childTnLst>
                        <p:par>
                          <p:cTn id="305" fill="hold">
                            <p:stCondLst>
                              <p:cond delay="0"/>
                            </p:stCondLst>
                            <p:childTnLst>
                              <p:par>
                                <p:cTn id="306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08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11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14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17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20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23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26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29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32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35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38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41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2" fill="hold">
                      <p:stCondLst>
                        <p:cond delay="indefinite"/>
                      </p:stCondLst>
                      <p:childTnLst>
                        <p:par>
                          <p:cTn id="343" fill="hold">
                            <p:stCondLst>
                              <p:cond delay="0"/>
                            </p:stCondLst>
                            <p:childTnLst>
                              <p:par>
                                <p:cTn id="344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46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49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52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55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58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61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64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67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70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73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76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79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THE VERTEX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Reading the Turning Point Straight Off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anim_1_a"/>
          <p:cNvSpPr/>
          <p:nvPr/>
        </p:nvSpPr>
        <p:spPr>
          <a:xfrm>
            <a:off x="548640" y="1600200"/>
            <a:ext cx="11091240" cy="137124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anim_1_a"/>
          <p:cNvSpPr/>
          <p:nvPr/>
        </p:nvSpPr>
        <p:spPr>
          <a:xfrm>
            <a:off x="868680" y="1600200"/>
            <a:ext cx="103323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Once a quadratic is  </a:t>
            </a:r>
            <a:r>
              <a:rPr b="1" lang="en-US" sz="1800" spc="-1" strike="noStrike">
                <a:solidFill>
                  <a:srgbClr val="e0ac2b"/>
                </a:solidFill>
                <a:latin typeface="Cambria"/>
                <a:ea typeface="Cambria"/>
              </a:rPr>
              <a:t>a(x + p)² + q</a:t>
            </a:r>
            <a:r>
              <a:rPr b="0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 , the vertex (turning point) is  </a:t>
            </a:r>
            <a:r>
              <a:rPr b="1" lang="en-US" sz="1800" spc="-1" strike="noStrike">
                <a:solidFill>
                  <a:srgbClr val="e0ac2b"/>
                </a:solidFill>
                <a:latin typeface="Cambria"/>
                <a:ea typeface="Cambria"/>
              </a:rPr>
              <a:t>(–p , q)</a:t>
            </a:r>
            <a:r>
              <a:rPr b="0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  and the line of symmetry is 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0ac2b"/>
                </a:solidFill>
                <a:latin typeface="Cambria"/>
                <a:ea typeface="Cambria"/>
              </a:rPr>
              <a:t>x = –p</a:t>
            </a:r>
            <a:r>
              <a:rPr b="0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anim_2_c"/>
          <p:cNvSpPr/>
          <p:nvPr/>
        </p:nvSpPr>
        <p:spPr>
          <a:xfrm>
            <a:off x="548640" y="3200400"/>
            <a:ext cx="11091240" cy="2742840"/>
          </a:xfrm>
          <a:prstGeom prst="roundRect">
            <a:avLst>
              <a:gd name="adj" fmla="val 3333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anim_2_c"/>
          <p:cNvSpPr/>
          <p:nvPr/>
        </p:nvSpPr>
        <p:spPr>
          <a:xfrm>
            <a:off x="868680" y="340164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6261f"/>
                </a:solidFill>
                <a:latin typeface="Cambria"/>
                <a:ea typeface="Cambria"/>
              </a:rPr>
              <a:t>Example:   x</a:t>
            </a:r>
            <a:r>
              <a:rPr b="1" lang="en-US" sz="20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000" spc="-1" strike="noStrike">
                <a:solidFill>
                  <a:srgbClr val="16261f"/>
                </a:solidFill>
                <a:latin typeface="Cambria"/>
                <a:ea typeface="Cambria"/>
              </a:rPr>
              <a:t> + 6x = (x + 3)</a:t>
            </a:r>
            <a:r>
              <a:rPr b="1" lang="en-US" sz="20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000" spc="-1" strike="noStrike">
                <a:solidFill>
                  <a:srgbClr val="16261f"/>
                </a:solidFill>
                <a:latin typeface="Cambria"/>
                <a:ea typeface="Cambria"/>
              </a:rPr>
              <a:t> – 9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anim_2_c"/>
          <p:cNvSpPr/>
          <p:nvPr/>
        </p:nvSpPr>
        <p:spPr>
          <a:xfrm>
            <a:off x="868680" y="40417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anim_2_c"/>
          <p:cNvSpPr/>
          <p:nvPr/>
        </p:nvSpPr>
        <p:spPr>
          <a:xfrm>
            <a:off x="868680" y="40417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anim_2_c"/>
          <p:cNvSpPr/>
          <p:nvPr/>
        </p:nvSpPr>
        <p:spPr>
          <a:xfrm>
            <a:off x="1417320" y="3977640"/>
            <a:ext cx="9783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Here p = 3, q = –9   →   vertex (–p, q) = (–3, –9)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anim_3_c"/>
          <p:cNvSpPr/>
          <p:nvPr/>
        </p:nvSpPr>
        <p:spPr>
          <a:xfrm>
            <a:off x="868680" y="47275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anim_3_c"/>
          <p:cNvSpPr/>
          <p:nvPr/>
        </p:nvSpPr>
        <p:spPr>
          <a:xfrm>
            <a:off x="868680" y="47275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anim_3_c"/>
          <p:cNvSpPr/>
          <p:nvPr/>
        </p:nvSpPr>
        <p:spPr>
          <a:xfrm>
            <a:off x="1417320" y="4663440"/>
            <a:ext cx="9783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Line of symmetry:   x = –3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anim_4_c"/>
          <p:cNvSpPr/>
          <p:nvPr/>
        </p:nvSpPr>
        <p:spPr>
          <a:xfrm>
            <a:off x="868680" y="5349240"/>
            <a:ext cx="4937400" cy="456840"/>
          </a:xfrm>
          <a:prstGeom prst="roundRect">
            <a:avLst>
              <a:gd name="adj" fmla="val 24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anim_4_c"/>
          <p:cNvSpPr/>
          <p:nvPr/>
        </p:nvSpPr>
        <p:spPr>
          <a:xfrm>
            <a:off x="1051560" y="534924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0ac2b"/>
                </a:solidFill>
                <a:latin typeface="Cambria"/>
                <a:ea typeface="Cambria"/>
              </a:rPr>
              <a:t>Vertex (–3, –9)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anim_4_c"/>
          <p:cNvSpPr/>
          <p:nvPr/>
        </p:nvSpPr>
        <p:spPr>
          <a:xfrm>
            <a:off x="6035040" y="5349240"/>
            <a:ext cx="5577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6a7269"/>
                </a:solidFill>
                <a:latin typeface="Calibri"/>
                <a:ea typeface="Calibri"/>
              </a:rPr>
              <a:t>The squared bracket is smallest (zero) when x = –3 — that's the turning point.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80" dur="indefinite" restart="never" nodeType="tmRoot">
          <p:childTnLst>
            <p:seq>
              <p:cTn id="381" dur="indefinite" nodeType="mainSeq">
                <p:childTnLst>
                  <p:par>
                    <p:cTn id="382" fill="hold">
                      <p:stCondLst>
                        <p:cond delay="0"/>
                      </p:stCondLst>
                      <p:childTnLst>
                        <p:par>
                          <p:cTn id="383" fill="hold">
                            <p:stCondLst>
                              <p:cond delay="0"/>
                            </p:stCondLst>
                            <p:childTnLst>
                              <p:par>
                                <p:cTn id="384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86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89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0" fill="hold">
                      <p:stCondLst>
                        <p:cond delay="indefinite"/>
                      </p:stCondLst>
                      <p:childTnLst>
                        <p:par>
                          <p:cTn id="391" fill="hold">
                            <p:stCondLst>
                              <p:cond delay="0"/>
                            </p:stCondLst>
                            <p:childTnLst>
                              <p:par>
                                <p:cTn id="39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94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97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00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03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06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7" fill="hold">
                      <p:stCondLst>
                        <p:cond delay="indefinite"/>
                      </p:stCondLst>
                      <p:childTnLst>
                        <p:par>
                          <p:cTn id="408" fill="hold">
                            <p:stCondLst>
                              <p:cond delay="0"/>
                            </p:stCondLst>
                            <p:childTnLst>
                              <p:par>
                                <p:cTn id="409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11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14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17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8" fill="hold">
                      <p:stCondLst>
                        <p:cond delay="indefinite"/>
                      </p:stCondLst>
                      <p:childTnLst>
                        <p:par>
                          <p:cTn id="419" fill="hold">
                            <p:stCondLst>
                              <p:cond delay="0"/>
                            </p:stCondLst>
                            <p:childTnLst>
                              <p:par>
                                <p:cTn id="42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22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25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28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THE VERTEX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Minimum or Maximum?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The sign of a decides:  </a:t>
            </a:r>
            <a:r>
              <a:rPr b="1" lang="en-US" sz="1500" spc="-1" strike="noStrike">
                <a:solidFill>
                  <a:srgbClr val="e0ac2b"/>
                </a:solidFill>
                <a:latin typeface="Calibri"/>
                <a:ea typeface="Calibri"/>
              </a:rPr>
              <a:t>a &gt; 0  →  curve opens up  →  vertex is a MINIMUM        a &lt; 0  →  opens down  →  MAXIMUM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anim_2_c"/>
          <p:cNvSpPr/>
          <p:nvPr/>
        </p:nvSpPr>
        <p:spPr>
          <a:xfrm>
            <a:off x="548640" y="2423160"/>
            <a:ext cx="5467680" cy="3520080"/>
          </a:xfrm>
          <a:prstGeom prst="roundRect">
            <a:avLst>
              <a:gd name="adj" fmla="val 2597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anim_2_c"/>
          <p:cNvSpPr/>
          <p:nvPr/>
        </p:nvSpPr>
        <p:spPr>
          <a:xfrm>
            <a:off x="868680" y="260604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a &gt; 0   (e.g. + )   —   MINIMUM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anim_2_c"/>
          <p:cNvSpPr/>
          <p:nvPr/>
        </p:nvSpPr>
        <p:spPr>
          <a:xfrm>
            <a:off x="1737360" y="3383280"/>
            <a:ext cx="155160" cy="34740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anim_2_c"/>
          <p:cNvSpPr/>
          <p:nvPr/>
        </p:nvSpPr>
        <p:spPr>
          <a:xfrm>
            <a:off x="1892520" y="3730680"/>
            <a:ext cx="155520" cy="31068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anim_2_c"/>
          <p:cNvSpPr/>
          <p:nvPr/>
        </p:nvSpPr>
        <p:spPr>
          <a:xfrm>
            <a:off x="2048040" y="4041360"/>
            <a:ext cx="155520" cy="27432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anim_2_c"/>
          <p:cNvSpPr/>
          <p:nvPr/>
        </p:nvSpPr>
        <p:spPr>
          <a:xfrm>
            <a:off x="2203560" y="4315680"/>
            <a:ext cx="155520" cy="23796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anim_2_c"/>
          <p:cNvSpPr/>
          <p:nvPr/>
        </p:nvSpPr>
        <p:spPr>
          <a:xfrm>
            <a:off x="2359080" y="4553640"/>
            <a:ext cx="155520" cy="20124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anim_2_c"/>
          <p:cNvSpPr/>
          <p:nvPr/>
        </p:nvSpPr>
        <p:spPr>
          <a:xfrm>
            <a:off x="2514600" y="4754880"/>
            <a:ext cx="155160" cy="16452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anim_2_c"/>
          <p:cNvSpPr/>
          <p:nvPr/>
        </p:nvSpPr>
        <p:spPr>
          <a:xfrm>
            <a:off x="2669760" y="4919400"/>
            <a:ext cx="155520" cy="12780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anim_2_c"/>
          <p:cNvSpPr/>
          <p:nvPr/>
        </p:nvSpPr>
        <p:spPr>
          <a:xfrm>
            <a:off x="2825280" y="5047200"/>
            <a:ext cx="155520" cy="9144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anim_2_c"/>
          <p:cNvSpPr/>
          <p:nvPr/>
        </p:nvSpPr>
        <p:spPr>
          <a:xfrm>
            <a:off x="2980800" y="5138640"/>
            <a:ext cx="155520" cy="5508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anim_2_c"/>
          <p:cNvSpPr/>
          <p:nvPr/>
        </p:nvSpPr>
        <p:spPr>
          <a:xfrm>
            <a:off x="3136320" y="5193720"/>
            <a:ext cx="155520" cy="1836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anim_2_c"/>
          <p:cNvSpPr/>
          <p:nvPr/>
        </p:nvSpPr>
        <p:spPr>
          <a:xfrm flipV="1">
            <a:off x="3291840" y="5193720"/>
            <a:ext cx="155160" cy="1836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anim_2_c"/>
          <p:cNvSpPr/>
          <p:nvPr/>
        </p:nvSpPr>
        <p:spPr>
          <a:xfrm flipV="1">
            <a:off x="3447000" y="5138640"/>
            <a:ext cx="155520" cy="5508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anim_2_c"/>
          <p:cNvSpPr/>
          <p:nvPr/>
        </p:nvSpPr>
        <p:spPr>
          <a:xfrm flipV="1">
            <a:off x="3602520" y="5047200"/>
            <a:ext cx="155520" cy="9144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anim_2_c"/>
          <p:cNvSpPr/>
          <p:nvPr/>
        </p:nvSpPr>
        <p:spPr>
          <a:xfrm flipV="1">
            <a:off x="3758040" y="4919400"/>
            <a:ext cx="155520" cy="12780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anim_2_c"/>
          <p:cNvSpPr/>
          <p:nvPr/>
        </p:nvSpPr>
        <p:spPr>
          <a:xfrm flipV="1">
            <a:off x="3913560" y="4754880"/>
            <a:ext cx="155520" cy="16452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anim_2_c"/>
          <p:cNvSpPr/>
          <p:nvPr/>
        </p:nvSpPr>
        <p:spPr>
          <a:xfrm flipV="1">
            <a:off x="4069080" y="4553640"/>
            <a:ext cx="155160" cy="20124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anim_2_c"/>
          <p:cNvSpPr/>
          <p:nvPr/>
        </p:nvSpPr>
        <p:spPr>
          <a:xfrm flipV="1">
            <a:off x="4224240" y="4315680"/>
            <a:ext cx="155520" cy="23796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anim_2_c"/>
          <p:cNvSpPr/>
          <p:nvPr/>
        </p:nvSpPr>
        <p:spPr>
          <a:xfrm flipV="1">
            <a:off x="4379760" y="4041360"/>
            <a:ext cx="155520" cy="27432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anim_2_c"/>
          <p:cNvSpPr/>
          <p:nvPr/>
        </p:nvSpPr>
        <p:spPr>
          <a:xfrm flipV="1">
            <a:off x="4535280" y="3730680"/>
            <a:ext cx="155520" cy="31068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anim_2_c"/>
          <p:cNvSpPr/>
          <p:nvPr/>
        </p:nvSpPr>
        <p:spPr>
          <a:xfrm flipV="1">
            <a:off x="4690800" y="3383280"/>
            <a:ext cx="155520" cy="34740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anim_2_c"/>
          <p:cNvSpPr/>
          <p:nvPr/>
        </p:nvSpPr>
        <p:spPr>
          <a:xfrm>
            <a:off x="3182040" y="5102280"/>
            <a:ext cx="219240" cy="219240"/>
          </a:xfrm>
          <a:prstGeom prst="ellipse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anim_2_c"/>
          <p:cNvSpPr/>
          <p:nvPr/>
        </p:nvSpPr>
        <p:spPr>
          <a:xfrm>
            <a:off x="1371600" y="544068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6a7269"/>
                </a:solidFill>
                <a:latin typeface="Calibri"/>
                <a:ea typeface="Calibri"/>
              </a:rPr>
              <a:t>vertex = lowest point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anim_3_c"/>
          <p:cNvSpPr/>
          <p:nvPr/>
        </p:nvSpPr>
        <p:spPr>
          <a:xfrm>
            <a:off x="6172200" y="2423160"/>
            <a:ext cx="5467680" cy="3520080"/>
          </a:xfrm>
          <a:prstGeom prst="roundRect">
            <a:avLst>
              <a:gd name="adj" fmla="val 2597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anim_3_c"/>
          <p:cNvSpPr/>
          <p:nvPr/>
        </p:nvSpPr>
        <p:spPr>
          <a:xfrm>
            <a:off x="6492240" y="260604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a &lt; 0   (e.g. – )   —   MAXIMUM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anim_3_c"/>
          <p:cNvSpPr/>
          <p:nvPr/>
        </p:nvSpPr>
        <p:spPr>
          <a:xfrm flipV="1">
            <a:off x="7360920" y="4727160"/>
            <a:ext cx="155160" cy="34776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anim_3_c"/>
          <p:cNvSpPr/>
          <p:nvPr/>
        </p:nvSpPr>
        <p:spPr>
          <a:xfrm flipV="1">
            <a:off x="7516080" y="4416480"/>
            <a:ext cx="155520" cy="31068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anim_3_c"/>
          <p:cNvSpPr/>
          <p:nvPr/>
        </p:nvSpPr>
        <p:spPr>
          <a:xfrm flipV="1">
            <a:off x="7671600" y="4142160"/>
            <a:ext cx="155520" cy="27432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anim_3_c"/>
          <p:cNvSpPr/>
          <p:nvPr/>
        </p:nvSpPr>
        <p:spPr>
          <a:xfrm flipV="1">
            <a:off x="7827120" y="3904200"/>
            <a:ext cx="155520" cy="23796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anim_3_c"/>
          <p:cNvSpPr/>
          <p:nvPr/>
        </p:nvSpPr>
        <p:spPr>
          <a:xfrm flipV="1">
            <a:off x="7982640" y="3703320"/>
            <a:ext cx="155520" cy="20088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anim_3_c"/>
          <p:cNvSpPr/>
          <p:nvPr/>
        </p:nvSpPr>
        <p:spPr>
          <a:xfrm flipV="1">
            <a:off x="8138160" y="3538440"/>
            <a:ext cx="155160" cy="16488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anim_3_c"/>
          <p:cNvSpPr/>
          <p:nvPr/>
        </p:nvSpPr>
        <p:spPr>
          <a:xfrm flipV="1">
            <a:off x="8293320" y="3410640"/>
            <a:ext cx="155520" cy="12780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anim_3_c"/>
          <p:cNvSpPr/>
          <p:nvPr/>
        </p:nvSpPr>
        <p:spPr>
          <a:xfrm flipV="1">
            <a:off x="8448840" y="3319200"/>
            <a:ext cx="155520" cy="9144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anim_3_c"/>
          <p:cNvSpPr/>
          <p:nvPr/>
        </p:nvSpPr>
        <p:spPr>
          <a:xfrm flipV="1">
            <a:off x="8604360" y="3264120"/>
            <a:ext cx="155520" cy="5508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anim_3_c"/>
          <p:cNvSpPr/>
          <p:nvPr/>
        </p:nvSpPr>
        <p:spPr>
          <a:xfrm flipV="1">
            <a:off x="8759880" y="3246120"/>
            <a:ext cx="155520" cy="1800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7000" bIns="-27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anim_3_c"/>
          <p:cNvSpPr/>
          <p:nvPr/>
        </p:nvSpPr>
        <p:spPr>
          <a:xfrm>
            <a:off x="8915400" y="3246120"/>
            <a:ext cx="155160" cy="1800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7000" bIns="-27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anim_3_c"/>
          <p:cNvSpPr/>
          <p:nvPr/>
        </p:nvSpPr>
        <p:spPr>
          <a:xfrm>
            <a:off x="9070560" y="3264120"/>
            <a:ext cx="155520" cy="5508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anim_3_c"/>
          <p:cNvSpPr/>
          <p:nvPr/>
        </p:nvSpPr>
        <p:spPr>
          <a:xfrm>
            <a:off x="9226080" y="3319200"/>
            <a:ext cx="155520" cy="9144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anim_3_c"/>
          <p:cNvSpPr/>
          <p:nvPr/>
        </p:nvSpPr>
        <p:spPr>
          <a:xfrm>
            <a:off x="9381600" y="3410640"/>
            <a:ext cx="155520" cy="12780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anim_3_c"/>
          <p:cNvSpPr/>
          <p:nvPr/>
        </p:nvSpPr>
        <p:spPr>
          <a:xfrm>
            <a:off x="9537120" y="3538440"/>
            <a:ext cx="155520" cy="16488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anim_3_c"/>
          <p:cNvSpPr/>
          <p:nvPr/>
        </p:nvSpPr>
        <p:spPr>
          <a:xfrm>
            <a:off x="9692640" y="3703320"/>
            <a:ext cx="155160" cy="20088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anim_3_c"/>
          <p:cNvSpPr/>
          <p:nvPr/>
        </p:nvSpPr>
        <p:spPr>
          <a:xfrm>
            <a:off x="9847800" y="3904200"/>
            <a:ext cx="155520" cy="23796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anim_3_c"/>
          <p:cNvSpPr/>
          <p:nvPr/>
        </p:nvSpPr>
        <p:spPr>
          <a:xfrm>
            <a:off x="10003320" y="4142160"/>
            <a:ext cx="155520" cy="27432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anim_3_c"/>
          <p:cNvSpPr/>
          <p:nvPr/>
        </p:nvSpPr>
        <p:spPr>
          <a:xfrm>
            <a:off x="10158840" y="4416480"/>
            <a:ext cx="155520" cy="31068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anim_3_c"/>
          <p:cNvSpPr/>
          <p:nvPr/>
        </p:nvSpPr>
        <p:spPr>
          <a:xfrm>
            <a:off x="10314360" y="4727160"/>
            <a:ext cx="155520" cy="347760"/>
          </a:xfrm>
          <a:prstGeom prst="line">
            <a:avLst/>
          </a:prstGeom>
          <a:ln w="317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anim_3_c"/>
          <p:cNvSpPr/>
          <p:nvPr/>
        </p:nvSpPr>
        <p:spPr>
          <a:xfrm>
            <a:off x="8805600" y="3136320"/>
            <a:ext cx="219240" cy="219240"/>
          </a:xfrm>
          <a:prstGeom prst="ellipse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anim_3_c"/>
          <p:cNvSpPr/>
          <p:nvPr/>
        </p:nvSpPr>
        <p:spPr>
          <a:xfrm>
            <a:off x="6995160" y="544068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6a7269"/>
                </a:solidFill>
                <a:latin typeface="Calibri"/>
                <a:ea typeface="Calibri"/>
              </a:rPr>
              <a:t>vertex = highest point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29" dur="indefinite" restart="never" nodeType="tmRoot">
          <p:childTnLst>
            <p:seq>
              <p:cTn id="430" dur="indefinite" nodeType="mainSeq">
                <p:childTnLst>
                  <p:par>
                    <p:cTn id="431" fill="hold">
                      <p:stCondLst>
                        <p:cond delay="0"/>
                      </p:stCondLst>
                      <p:childTnLst>
                        <p:par>
                          <p:cTn id="432" fill="hold">
                            <p:stCondLst>
                              <p:cond delay="0"/>
                            </p:stCondLst>
                            <p:childTnLst>
                              <p:par>
                                <p:cTn id="433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35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38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9" fill="hold">
                      <p:stCondLst>
                        <p:cond delay="indefinite"/>
                      </p:stCondLst>
                      <p:childTnLst>
                        <p:par>
                          <p:cTn id="440" fill="hold">
                            <p:stCondLst>
                              <p:cond delay="0"/>
                            </p:stCondLst>
                            <p:childTnLst>
                              <p:par>
                                <p:cTn id="44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43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46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49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52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55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58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61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64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67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70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73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76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79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82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85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88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91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94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97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00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03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06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09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12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3" fill="hold">
                      <p:stCondLst>
                        <p:cond delay="indefinite"/>
                      </p:stCondLst>
                      <p:childTnLst>
                        <p:par>
                          <p:cTn id="514" fill="hold">
                            <p:stCondLst>
                              <p:cond delay="0"/>
                            </p:stCondLst>
                            <p:childTnLst>
                              <p:par>
                                <p:cTn id="51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17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20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23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26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29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32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35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38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41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44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47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50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53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5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59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62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65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68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71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74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77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80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83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86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SOLVING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Solve by Completing the Square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Complete the square, get  </a:t>
            </a:r>
            <a:r>
              <a:rPr b="1" lang="en-US" sz="1500" spc="-1" strike="noStrike">
                <a:solidFill>
                  <a:srgbClr val="e0ac2b"/>
                </a:solidFill>
                <a:latin typeface="Calibri"/>
                <a:ea typeface="Calibri"/>
              </a:rPr>
              <a:t>(x + p)² = number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 , square-root both sides (±), then solve.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anim_1_a"/>
          <p:cNvSpPr/>
          <p:nvPr/>
        </p:nvSpPr>
        <p:spPr>
          <a:xfrm>
            <a:off x="548640" y="2377440"/>
            <a:ext cx="11091240" cy="8226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anim_1_a"/>
          <p:cNvSpPr/>
          <p:nvPr/>
        </p:nvSpPr>
        <p:spPr>
          <a:xfrm>
            <a:off x="548640" y="2377440"/>
            <a:ext cx="1109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16261f"/>
                </a:solidFill>
                <a:latin typeface="Cambria"/>
                <a:ea typeface="Cambria"/>
              </a:rPr>
              <a:t>Solve   x</a:t>
            </a:r>
            <a:r>
              <a:rPr b="1" lang="en-US" sz="23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300" spc="-1" strike="noStrike">
                <a:solidFill>
                  <a:srgbClr val="16261f"/>
                </a:solidFill>
                <a:latin typeface="Cambria"/>
                <a:ea typeface="Cambria"/>
              </a:rPr>
              <a:t> + 4x – 6 = 0 ,  to 3 s.f.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anim_2_c"/>
          <p:cNvSpPr/>
          <p:nvPr/>
        </p:nvSpPr>
        <p:spPr>
          <a:xfrm>
            <a:off x="548640" y="3337560"/>
            <a:ext cx="11091240" cy="2605680"/>
          </a:xfrm>
          <a:prstGeom prst="roundRect">
            <a:avLst>
              <a:gd name="adj" fmla="val 3509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anim_2_c"/>
          <p:cNvSpPr/>
          <p:nvPr/>
        </p:nvSpPr>
        <p:spPr>
          <a:xfrm>
            <a:off x="868680" y="35845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anim_2_c"/>
          <p:cNvSpPr/>
          <p:nvPr/>
        </p:nvSpPr>
        <p:spPr>
          <a:xfrm>
            <a:off x="868680" y="35845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anim_2_c"/>
          <p:cNvSpPr/>
          <p:nvPr/>
        </p:nvSpPr>
        <p:spPr>
          <a:xfrm>
            <a:off x="1417320" y="352044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Complete the square:   (x + 2)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– 4 – 6 = 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anim_3_c"/>
          <p:cNvSpPr/>
          <p:nvPr/>
        </p:nvSpPr>
        <p:spPr>
          <a:xfrm>
            <a:off x="868680" y="42246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anim_3_c"/>
          <p:cNvSpPr/>
          <p:nvPr/>
        </p:nvSpPr>
        <p:spPr>
          <a:xfrm>
            <a:off x="868680" y="42246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anim_3_c"/>
          <p:cNvSpPr/>
          <p:nvPr/>
        </p:nvSpPr>
        <p:spPr>
          <a:xfrm>
            <a:off x="1417320" y="416052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(x + 2)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= 10    →    x + 2 = ±√10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anim_4_c"/>
          <p:cNvSpPr/>
          <p:nvPr/>
        </p:nvSpPr>
        <p:spPr>
          <a:xfrm>
            <a:off x="868680" y="48646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anim_4_c"/>
          <p:cNvSpPr/>
          <p:nvPr/>
        </p:nvSpPr>
        <p:spPr>
          <a:xfrm>
            <a:off x="868680" y="4864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anim_4_c"/>
          <p:cNvSpPr/>
          <p:nvPr/>
        </p:nvSpPr>
        <p:spPr>
          <a:xfrm>
            <a:off x="1417320" y="480060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x = –2 ± √10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anim_5_c"/>
          <p:cNvSpPr/>
          <p:nvPr/>
        </p:nvSpPr>
        <p:spPr>
          <a:xfrm>
            <a:off x="868680" y="5440680"/>
            <a:ext cx="3108600" cy="456840"/>
          </a:xfrm>
          <a:prstGeom prst="roundRect">
            <a:avLst>
              <a:gd name="adj" fmla="val 24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anim_5_c"/>
          <p:cNvSpPr/>
          <p:nvPr/>
        </p:nvSpPr>
        <p:spPr>
          <a:xfrm>
            <a:off x="1051560" y="544068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x = 1.16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anim_5_c"/>
          <p:cNvSpPr/>
          <p:nvPr/>
        </p:nvSpPr>
        <p:spPr>
          <a:xfrm>
            <a:off x="4206240" y="5440680"/>
            <a:ext cx="3108600" cy="456840"/>
          </a:xfrm>
          <a:prstGeom prst="roundRect">
            <a:avLst>
              <a:gd name="adj" fmla="val 24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anim_5_c"/>
          <p:cNvSpPr/>
          <p:nvPr/>
        </p:nvSpPr>
        <p:spPr>
          <a:xfrm>
            <a:off x="4389120" y="544068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x = –5.16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87" dur="indefinite" restart="never" nodeType="tmRoot">
          <p:childTnLst>
            <p:seq>
              <p:cTn id="588" dur="indefinite" nodeType="mainSeq">
                <p:childTnLst>
                  <p:par>
                    <p:cTn id="589" fill="hold">
                      <p:stCondLst>
                        <p:cond delay="0"/>
                      </p:stCondLst>
                      <p:childTnLst>
                        <p:par>
                          <p:cTn id="590" fill="hold">
                            <p:stCondLst>
                              <p:cond delay="0"/>
                            </p:stCondLst>
                            <p:childTnLst>
                              <p:par>
                                <p:cTn id="591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93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96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99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02"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3" fill="hold">
                      <p:stCondLst>
                        <p:cond delay="indefinite"/>
                      </p:stCondLst>
                      <p:childTnLst>
                        <p:par>
                          <p:cTn id="604" fill="hold">
                            <p:stCondLst>
                              <p:cond delay="0"/>
                            </p:stCondLst>
                            <p:childTnLst>
                              <p:par>
                                <p:cTn id="60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07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10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13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16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7" fill="hold">
                      <p:stCondLst>
                        <p:cond delay="indefinite"/>
                      </p:stCondLst>
                      <p:childTnLst>
                        <p:par>
                          <p:cTn id="618" fill="hold">
                            <p:stCondLst>
                              <p:cond delay="0"/>
                            </p:stCondLst>
                            <p:childTnLst>
                              <p:par>
                                <p:cTn id="619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21" dur="5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24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27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8" fill="hold">
                      <p:stCondLst>
                        <p:cond delay="indefinite"/>
                      </p:stCondLst>
                      <p:childTnLst>
                        <p:par>
                          <p:cTn id="629" fill="hold">
                            <p:stCondLst>
                              <p:cond delay="0"/>
                            </p:stCondLst>
                            <p:childTnLst>
                              <p:par>
                                <p:cTn id="63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32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35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38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9" fill="hold">
                      <p:stCondLst>
                        <p:cond delay="indefinite"/>
                      </p:stCondLst>
                      <p:childTnLst>
                        <p:par>
                          <p:cTn id="640" fill="hold">
                            <p:stCondLst>
                              <p:cond delay="0"/>
                            </p:stCondLst>
                            <p:childTnLst>
                              <p:par>
                                <p:cTn id="64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43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46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49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52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SOLVING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Another Worked Example + Your Question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anim_1_a"/>
          <p:cNvSpPr/>
          <p:nvPr/>
        </p:nvSpPr>
        <p:spPr>
          <a:xfrm>
            <a:off x="548640" y="1691640"/>
            <a:ext cx="5467680" cy="4114440"/>
          </a:xfrm>
          <a:prstGeom prst="roundRect">
            <a:avLst>
              <a:gd name="adj" fmla="val 2222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anim_1_a"/>
          <p:cNvSpPr/>
          <p:nvPr/>
        </p:nvSpPr>
        <p:spPr>
          <a:xfrm>
            <a:off x="868680" y="187452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6261f"/>
                </a:solidFill>
                <a:latin typeface="Cambria"/>
                <a:ea typeface="Cambria"/>
              </a:rPr>
              <a:t>Solve   x</a:t>
            </a:r>
            <a:r>
              <a:rPr b="1" lang="en-US" sz="20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000" spc="-1" strike="noStrike">
                <a:solidFill>
                  <a:srgbClr val="16261f"/>
                </a:solidFill>
                <a:latin typeface="Cambria"/>
                <a:ea typeface="Cambria"/>
              </a:rPr>
              <a:t> + 6x + 3 = 0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anim_1_a"/>
          <p:cNvSpPr/>
          <p:nvPr/>
        </p:nvSpPr>
        <p:spPr>
          <a:xfrm>
            <a:off x="868680" y="233172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c84f2f"/>
                </a:solidFill>
                <a:latin typeface="Calibri"/>
                <a:ea typeface="Calibri"/>
              </a:rPr>
              <a:t>(to 3 s.f.)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anim_1_a"/>
          <p:cNvSpPr/>
          <p:nvPr/>
        </p:nvSpPr>
        <p:spPr>
          <a:xfrm>
            <a:off x="868680" y="27615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anim_1_a"/>
          <p:cNvSpPr/>
          <p:nvPr/>
        </p:nvSpPr>
        <p:spPr>
          <a:xfrm>
            <a:off x="868680" y="27615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anim_1_a"/>
          <p:cNvSpPr/>
          <p:nvPr/>
        </p:nvSpPr>
        <p:spPr>
          <a:xfrm>
            <a:off x="1417320" y="269748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(x + 3)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 – 9 + 3 = 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anim_2_c"/>
          <p:cNvSpPr/>
          <p:nvPr/>
        </p:nvSpPr>
        <p:spPr>
          <a:xfrm>
            <a:off x="868680" y="34016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anim_2_c"/>
          <p:cNvSpPr/>
          <p:nvPr/>
        </p:nvSpPr>
        <p:spPr>
          <a:xfrm>
            <a:off x="868680" y="34016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anim_2_c"/>
          <p:cNvSpPr/>
          <p:nvPr/>
        </p:nvSpPr>
        <p:spPr>
          <a:xfrm>
            <a:off x="1417320" y="33375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(x + 3)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 = 6  →  x = –3 ± √6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anim_3_c"/>
          <p:cNvSpPr/>
          <p:nvPr/>
        </p:nvSpPr>
        <p:spPr>
          <a:xfrm>
            <a:off x="868680" y="4114800"/>
            <a:ext cx="4571640" cy="548280"/>
          </a:xfrm>
          <a:prstGeom prst="roundRect">
            <a:avLst>
              <a:gd name="adj" fmla="val 20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anim_3_c"/>
          <p:cNvSpPr/>
          <p:nvPr/>
        </p:nvSpPr>
        <p:spPr>
          <a:xfrm>
            <a:off x="1051560" y="4114800"/>
            <a:ext cx="4205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x = –0.551  or  –5.45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anim_4_c"/>
          <p:cNvSpPr/>
          <p:nvPr/>
        </p:nvSpPr>
        <p:spPr>
          <a:xfrm>
            <a:off x="6172200" y="1691640"/>
            <a:ext cx="5467680" cy="4114440"/>
          </a:xfrm>
          <a:prstGeom prst="roundRect">
            <a:avLst>
              <a:gd name="adj" fmla="val 2222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anim_4_c"/>
          <p:cNvSpPr/>
          <p:nvPr/>
        </p:nvSpPr>
        <p:spPr>
          <a:xfrm>
            <a:off x="6492240" y="1874520"/>
            <a:ext cx="2194200" cy="383760"/>
          </a:xfrm>
          <a:prstGeom prst="roundRect">
            <a:avLst>
              <a:gd name="adj" fmla="val 47619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anim_4_c"/>
          <p:cNvSpPr/>
          <p:nvPr/>
        </p:nvSpPr>
        <p:spPr>
          <a:xfrm>
            <a:off x="6492240" y="1874520"/>
            <a:ext cx="21942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7" strike="noStrike">
                <a:solidFill>
                  <a:srgbClr val="ffffff"/>
                </a:solidFill>
                <a:latin typeface="Calibri"/>
                <a:ea typeface="Calibri"/>
              </a:rPr>
              <a:t>YOUR TURN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anim_4_c"/>
          <p:cNvSpPr/>
          <p:nvPr/>
        </p:nvSpPr>
        <p:spPr>
          <a:xfrm>
            <a:off x="6492240" y="246888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6261f"/>
                </a:solidFill>
                <a:latin typeface="Cambria"/>
                <a:ea typeface="Cambria"/>
              </a:rPr>
              <a:t>Solve   x</a:t>
            </a:r>
            <a:r>
              <a:rPr b="1" lang="en-US" sz="20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000" spc="-1" strike="noStrike">
                <a:solidFill>
                  <a:srgbClr val="16261f"/>
                </a:solidFill>
                <a:latin typeface="Cambria"/>
                <a:ea typeface="Cambria"/>
              </a:rPr>
              <a:t> + 2x – 5 = 0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anim_4_c"/>
          <p:cNvSpPr/>
          <p:nvPr/>
        </p:nvSpPr>
        <p:spPr>
          <a:xfrm>
            <a:off x="6492240" y="292608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c84f2f"/>
                </a:solidFill>
                <a:latin typeface="Calibri"/>
                <a:ea typeface="Calibri"/>
              </a:rPr>
              <a:t>by completing the square (to 3 s.f.)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anim_5_c"/>
          <p:cNvSpPr/>
          <p:nvPr/>
        </p:nvSpPr>
        <p:spPr>
          <a:xfrm>
            <a:off x="6492240" y="33559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anim_5_c"/>
          <p:cNvSpPr/>
          <p:nvPr/>
        </p:nvSpPr>
        <p:spPr>
          <a:xfrm>
            <a:off x="6492240" y="33559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anim_5_c"/>
          <p:cNvSpPr/>
          <p:nvPr/>
        </p:nvSpPr>
        <p:spPr>
          <a:xfrm>
            <a:off x="7040880" y="329184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24332d"/>
                </a:solidFill>
                <a:latin typeface="Cambria"/>
                <a:ea typeface="Cambria"/>
              </a:rPr>
              <a:t>(x + 1)</a:t>
            </a:r>
            <a:r>
              <a:rPr b="1" lang="en-US" sz="14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450" spc="-1" strike="noStrike">
                <a:solidFill>
                  <a:srgbClr val="24332d"/>
                </a:solidFill>
                <a:latin typeface="Cambria"/>
                <a:ea typeface="Cambria"/>
              </a:rPr>
              <a:t> = 6  →  x = –1 ± √6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anim_6_c"/>
          <p:cNvSpPr/>
          <p:nvPr/>
        </p:nvSpPr>
        <p:spPr>
          <a:xfrm>
            <a:off x="6492240" y="4023360"/>
            <a:ext cx="4571640" cy="548280"/>
          </a:xfrm>
          <a:prstGeom prst="roundRect">
            <a:avLst>
              <a:gd name="adj" fmla="val 20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anim_6_c"/>
          <p:cNvSpPr/>
          <p:nvPr/>
        </p:nvSpPr>
        <p:spPr>
          <a:xfrm>
            <a:off x="6675120" y="4023360"/>
            <a:ext cx="4205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x = 1.45  or  –3.45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53" dur="indefinite" restart="never" nodeType="tmRoot">
          <p:childTnLst>
            <p:seq>
              <p:cTn id="654" dur="indefinite" nodeType="mainSeq">
                <p:childTnLst>
                  <p:par>
                    <p:cTn id="655" fill="hold">
                      <p:stCondLst>
                        <p:cond delay="0"/>
                      </p:stCondLst>
                      <p:childTnLst>
                        <p:par>
                          <p:cTn id="656" fill="hold">
                            <p:stCondLst>
                              <p:cond delay="0"/>
                            </p:stCondLst>
                            <p:childTnLst>
                              <p:par>
                                <p:cTn id="657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59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62" dur="5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65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68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71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74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5" fill="hold">
                      <p:stCondLst>
                        <p:cond delay="indefinite"/>
                      </p:stCondLst>
                      <p:childTnLst>
                        <p:par>
                          <p:cTn id="676" fill="hold">
                            <p:stCondLst>
                              <p:cond delay="0"/>
                            </p:stCondLst>
                            <p:childTnLst>
                              <p:par>
                                <p:cTn id="67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79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82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85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6" fill="hold">
                      <p:stCondLst>
                        <p:cond delay="indefinite"/>
                      </p:stCondLst>
                      <p:childTnLst>
                        <p:par>
                          <p:cTn id="687" fill="hold">
                            <p:stCondLst>
                              <p:cond delay="0"/>
                            </p:stCondLst>
                            <p:childTnLst>
                              <p:par>
                                <p:cTn id="688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90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93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4" fill="hold">
                      <p:stCondLst>
                        <p:cond delay="indefinite"/>
                      </p:stCondLst>
                      <p:childTnLst>
                        <p:par>
                          <p:cTn id="695" fill="hold">
                            <p:stCondLst>
                              <p:cond delay="0"/>
                            </p:stCondLst>
                            <p:childTnLst>
                              <p:par>
                                <p:cTn id="696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98"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01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04"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07"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10" dur="5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1" fill="hold">
                      <p:stCondLst>
                        <p:cond delay="indefinite"/>
                      </p:stCondLst>
                      <p:childTnLst>
                        <p:par>
                          <p:cTn id="712" fill="hold">
                            <p:stCondLst>
                              <p:cond delay="0"/>
                            </p:stCondLst>
                            <p:childTnLst>
                              <p:par>
                                <p:cTn id="713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15"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18" dur="5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21" dur="5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2" fill="hold">
                      <p:stCondLst>
                        <p:cond delay="indefinite"/>
                      </p:stCondLst>
                      <p:childTnLst>
                        <p:par>
                          <p:cTn id="723" fill="hold">
                            <p:stCondLst>
                              <p:cond delay="0"/>
                            </p:stCondLst>
                            <p:childTnLst>
                              <p:par>
                                <p:cTn id="724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26" dur="5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29" dur="5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SOLVING · PRACTICE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Solve by Completing the Square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 4"/>
          <p:cNvSpPr/>
          <p:nvPr/>
        </p:nvSpPr>
        <p:spPr>
          <a:xfrm>
            <a:off x="548640" y="141732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50" spc="-1" strike="noStrike">
                <a:solidFill>
                  <a:srgbClr val="6a7269"/>
                </a:solidFill>
                <a:latin typeface="Calibri"/>
                <a:ea typeface="Calibri"/>
              </a:rPr>
              <a:t>Make it = 0, complete the square, then square-root both sides.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anim_1_a"/>
          <p:cNvSpPr/>
          <p:nvPr/>
        </p:nvSpPr>
        <p:spPr>
          <a:xfrm>
            <a:off x="640080" y="2057400"/>
            <a:ext cx="502560" cy="502560"/>
          </a:xfrm>
          <a:prstGeom prst="roundRect">
            <a:avLst>
              <a:gd name="adj" fmla="val 14545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anim_1_a"/>
          <p:cNvSpPr/>
          <p:nvPr/>
        </p:nvSpPr>
        <p:spPr>
          <a:xfrm>
            <a:off x="640080" y="205740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anim_1_a"/>
          <p:cNvSpPr/>
          <p:nvPr/>
        </p:nvSpPr>
        <p:spPr>
          <a:xfrm>
            <a:off x="1280160" y="2011680"/>
            <a:ext cx="4571640" cy="59400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anim_1_a"/>
          <p:cNvSpPr/>
          <p:nvPr/>
        </p:nvSpPr>
        <p:spPr>
          <a:xfrm>
            <a:off x="1508760" y="2057400"/>
            <a:ext cx="4205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+ 6x + 1 = 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anim_1_a"/>
          <p:cNvSpPr/>
          <p:nvPr/>
        </p:nvSpPr>
        <p:spPr>
          <a:xfrm>
            <a:off x="640080" y="3429000"/>
            <a:ext cx="502560" cy="502560"/>
          </a:xfrm>
          <a:prstGeom prst="roundRect">
            <a:avLst>
              <a:gd name="adj" fmla="val 14545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anim_1_a"/>
          <p:cNvSpPr/>
          <p:nvPr/>
        </p:nvSpPr>
        <p:spPr>
          <a:xfrm>
            <a:off x="640080" y="342900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anim_1_a"/>
          <p:cNvSpPr/>
          <p:nvPr/>
        </p:nvSpPr>
        <p:spPr>
          <a:xfrm>
            <a:off x="1280160" y="3383280"/>
            <a:ext cx="4571640" cy="59400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anim_1_a"/>
          <p:cNvSpPr/>
          <p:nvPr/>
        </p:nvSpPr>
        <p:spPr>
          <a:xfrm>
            <a:off x="1508760" y="3429000"/>
            <a:ext cx="4205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8x + 3 = 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anim_2_c"/>
          <p:cNvSpPr/>
          <p:nvPr/>
        </p:nvSpPr>
        <p:spPr>
          <a:xfrm>
            <a:off x="6355080" y="2057400"/>
            <a:ext cx="502560" cy="502560"/>
          </a:xfrm>
          <a:prstGeom prst="roundRect">
            <a:avLst>
              <a:gd name="adj" fmla="val 14545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anim_2_c"/>
          <p:cNvSpPr/>
          <p:nvPr/>
        </p:nvSpPr>
        <p:spPr>
          <a:xfrm>
            <a:off x="6355080" y="205740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anim_2_c"/>
          <p:cNvSpPr/>
          <p:nvPr/>
        </p:nvSpPr>
        <p:spPr>
          <a:xfrm>
            <a:off x="6995160" y="2011680"/>
            <a:ext cx="4571640" cy="59400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anim_2_c"/>
          <p:cNvSpPr/>
          <p:nvPr/>
        </p:nvSpPr>
        <p:spPr>
          <a:xfrm>
            <a:off x="7223760" y="2057400"/>
            <a:ext cx="4205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4x – 7 = 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anim_2_c"/>
          <p:cNvSpPr/>
          <p:nvPr/>
        </p:nvSpPr>
        <p:spPr>
          <a:xfrm>
            <a:off x="6355080" y="3429000"/>
            <a:ext cx="502560" cy="502560"/>
          </a:xfrm>
          <a:prstGeom prst="roundRect">
            <a:avLst>
              <a:gd name="adj" fmla="val 14545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anim_2_c"/>
          <p:cNvSpPr/>
          <p:nvPr/>
        </p:nvSpPr>
        <p:spPr>
          <a:xfrm>
            <a:off x="6355080" y="342900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anim_2_c"/>
          <p:cNvSpPr/>
          <p:nvPr/>
        </p:nvSpPr>
        <p:spPr>
          <a:xfrm>
            <a:off x="6995160" y="3383280"/>
            <a:ext cx="4571640" cy="59400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anim_2_c"/>
          <p:cNvSpPr/>
          <p:nvPr/>
        </p:nvSpPr>
        <p:spPr>
          <a:xfrm>
            <a:off x="7223760" y="3429000"/>
            <a:ext cx="4205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+ 3x + 1 = 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30" dur="indefinite" restart="never" nodeType="tmRoot">
          <p:childTnLst>
            <p:seq>
              <p:cTn id="731" dur="indefinite" nodeType="mainSeq">
                <p:childTnLst>
                  <p:par>
                    <p:cTn id="732" fill="hold">
                      <p:stCondLst>
                        <p:cond delay="0"/>
                      </p:stCondLst>
                      <p:childTnLst>
                        <p:par>
                          <p:cTn id="733" fill="hold">
                            <p:stCondLst>
                              <p:cond delay="0"/>
                            </p:stCondLst>
                            <p:childTnLst>
                              <p:par>
                                <p:cTn id="734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36" dur="5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39" dur="50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42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45" dur="5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48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51" dur="5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54"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57"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8" fill="hold">
                      <p:stCondLst>
                        <p:cond delay="indefinite"/>
                      </p:stCondLst>
                      <p:childTnLst>
                        <p:par>
                          <p:cTn id="759" fill="hold">
                            <p:stCondLst>
                              <p:cond delay="0"/>
                            </p:stCondLst>
                            <p:childTnLst>
                              <p:par>
                                <p:cTn id="76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62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65" dur="50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68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71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74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77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80" dur="50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83" dur="5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WHEN a ≠ 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Factor Out a First  —  a(x + p)² + q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Factor a out of the x-terms, complete the square inside, then multiply back.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anim_1_a"/>
          <p:cNvSpPr/>
          <p:nvPr/>
        </p:nvSpPr>
        <p:spPr>
          <a:xfrm>
            <a:off x="548640" y="2377440"/>
            <a:ext cx="11091240" cy="8226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anim_1_a"/>
          <p:cNvSpPr/>
          <p:nvPr/>
        </p:nvSpPr>
        <p:spPr>
          <a:xfrm>
            <a:off x="548640" y="2377440"/>
            <a:ext cx="1109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16261f"/>
                </a:solidFill>
                <a:latin typeface="Cambria"/>
                <a:ea typeface="Cambria"/>
              </a:rPr>
              <a:t>Complete the square:   2x</a:t>
            </a:r>
            <a:r>
              <a:rPr b="1" lang="en-US" sz="23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300" spc="-1" strike="noStrike">
                <a:solidFill>
                  <a:srgbClr val="16261f"/>
                </a:solidFill>
                <a:latin typeface="Cambria"/>
                <a:ea typeface="Cambria"/>
              </a:rPr>
              <a:t> + 8x + 3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anim_2_c"/>
          <p:cNvSpPr/>
          <p:nvPr/>
        </p:nvSpPr>
        <p:spPr>
          <a:xfrm>
            <a:off x="548640" y="3337560"/>
            <a:ext cx="11091240" cy="2605680"/>
          </a:xfrm>
          <a:prstGeom prst="roundRect">
            <a:avLst>
              <a:gd name="adj" fmla="val 3509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anim_2_c"/>
          <p:cNvSpPr/>
          <p:nvPr/>
        </p:nvSpPr>
        <p:spPr>
          <a:xfrm>
            <a:off x="868680" y="35845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anim_2_c"/>
          <p:cNvSpPr/>
          <p:nvPr/>
        </p:nvSpPr>
        <p:spPr>
          <a:xfrm>
            <a:off x="868680" y="35845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anim_2_c"/>
          <p:cNvSpPr/>
          <p:nvPr/>
        </p:nvSpPr>
        <p:spPr>
          <a:xfrm>
            <a:off x="1417320" y="352044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Factor 2 from x-terms:   2(x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+ 4x) + 3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anim_3_c"/>
          <p:cNvSpPr/>
          <p:nvPr/>
        </p:nvSpPr>
        <p:spPr>
          <a:xfrm>
            <a:off x="868680" y="42246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anim_3_c"/>
          <p:cNvSpPr/>
          <p:nvPr/>
        </p:nvSpPr>
        <p:spPr>
          <a:xfrm>
            <a:off x="868680" y="42246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anim_3_c"/>
          <p:cNvSpPr/>
          <p:nvPr/>
        </p:nvSpPr>
        <p:spPr>
          <a:xfrm>
            <a:off x="1417320" y="416052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Inside:   2[(x + 2)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– 4] + 3 = 2(x + 2)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– 8 + 3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anim_4_c"/>
          <p:cNvSpPr/>
          <p:nvPr/>
        </p:nvSpPr>
        <p:spPr>
          <a:xfrm>
            <a:off x="868680" y="4892040"/>
            <a:ext cx="5120280" cy="502560"/>
          </a:xfrm>
          <a:prstGeom prst="roundRect">
            <a:avLst>
              <a:gd name="adj" fmla="val 21818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anim_4_c"/>
          <p:cNvSpPr/>
          <p:nvPr/>
        </p:nvSpPr>
        <p:spPr>
          <a:xfrm>
            <a:off x="1051560" y="4892040"/>
            <a:ext cx="4754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0ac2b"/>
                </a:solidFill>
                <a:latin typeface="Cambria"/>
                <a:ea typeface="Cambria"/>
              </a:rPr>
              <a:t>= 2(x + 2)</a:t>
            </a:r>
            <a:r>
              <a:rPr b="1" lang="en-US" sz="19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2</a:t>
            </a:r>
            <a:r>
              <a:rPr b="1" lang="en-US" sz="1900" spc="-1" strike="noStrike">
                <a:solidFill>
                  <a:srgbClr val="e0ac2b"/>
                </a:solidFill>
                <a:latin typeface="Cambria"/>
                <a:ea typeface="Cambria"/>
              </a:rPr>
              <a:t> – 5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anim_4_c"/>
          <p:cNvSpPr/>
          <p:nvPr/>
        </p:nvSpPr>
        <p:spPr>
          <a:xfrm>
            <a:off x="868680" y="5486400"/>
            <a:ext cx="10515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6261f"/>
                </a:solidFill>
                <a:latin typeface="Calibri"/>
                <a:ea typeface="Calibri"/>
              </a:rPr>
              <a:t>a = 2 &gt; 0   →   vertex (–2, –5) is a MINIMUM,   line of symmetry x = –2.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84" dur="indefinite" restart="never" nodeType="tmRoot">
          <p:childTnLst>
            <p:seq>
              <p:cTn id="785" dur="indefinite" nodeType="mainSeq">
                <p:childTnLst>
                  <p:par>
                    <p:cTn id="786" fill="hold">
                      <p:stCondLst>
                        <p:cond delay="0"/>
                      </p:stCondLst>
                      <p:childTnLst>
                        <p:par>
                          <p:cTn id="787" fill="hold">
                            <p:stCondLst>
                              <p:cond delay="0"/>
                            </p:stCondLst>
                            <p:childTnLst>
                              <p:par>
                                <p:cTn id="788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90" dur="5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93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96"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99" dur="50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0" fill="hold">
                      <p:stCondLst>
                        <p:cond delay="indefinite"/>
                      </p:stCondLst>
                      <p:childTnLst>
                        <p:par>
                          <p:cTn id="801" fill="hold">
                            <p:stCondLst>
                              <p:cond delay="0"/>
                            </p:stCondLst>
                            <p:childTnLst>
                              <p:par>
                                <p:cTn id="80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04" dur="500"/>
                                        <p:tgtEl>
                                          <p:spTgt spid="2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07" dur="50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10" dur="500"/>
                                        <p:tgtEl>
                                          <p:spTgt spid="2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13" dur="500"/>
                                        <p:tgtEl>
                                          <p:spTgt spid="2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4" fill="hold">
                      <p:stCondLst>
                        <p:cond delay="indefinite"/>
                      </p:stCondLst>
                      <p:childTnLst>
                        <p:par>
                          <p:cTn id="815" fill="hold">
                            <p:stCondLst>
                              <p:cond delay="0"/>
                            </p:stCondLst>
                            <p:childTnLst>
                              <p:par>
                                <p:cTn id="816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18" dur="500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21" dur="5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24" dur="500"/>
                                        <p:tgtEl>
                                          <p:spTgt spid="2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5" fill="hold">
                      <p:stCondLst>
                        <p:cond delay="indefinite"/>
                      </p:stCondLst>
                      <p:childTnLst>
                        <p:par>
                          <p:cTn id="826" fill="hold">
                            <p:stCondLst>
                              <p:cond delay="0"/>
                            </p:stCondLst>
                            <p:childTnLst>
                              <p:par>
                                <p:cTn id="82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29" dur="500"/>
                                        <p:tgtEl>
                                          <p:spTgt spid="2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32" dur="50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35" dur="500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WHEN a &lt; 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A Negative a Gives a Maximum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anim_1_a"/>
          <p:cNvSpPr/>
          <p:nvPr/>
        </p:nvSpPr>
        <p:spPr>
          <a:xfrm>
            <a:off x="548640" y="1691640"/>
            <a:ext cx="11091240" cy="8226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anim_1_a"/>
          <p:cNvSpPr/>
          <p:nvPr/>
        </p:nvSpPr>
        <p:spPr>
          <a:xfrm>
            <a:off x="548640" y="1691640"/>
            <a:ext cx="1109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16261f"/>
                </a:solidFill>
                <a:latin typeface="Cambria"/>
                <a:ea typeface="Cambria"/>
              </a:rPr>
              <a:t>Complete the square:   5 + 6x – 3x</a:t>
            </a:r>
            <a:r>
              <a:rPr b="1" lang="en-US" sz="23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anim_2_c"/>
          <p:cNvSpPr/>
          <p:nvPr/>
        </p:nvSpPr>
        <p:spPr>
          <a:xfrm>
            <a:off x="548640" y="2651760"/>
            <a:ext cx="11091240" cy="2468520"/>
          </a:xfrm>
          <a:prstGeom prst="roundRect">
            <a:avLst>
              <a:gd name="adj" fmla="val 3704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anim_2_c"/>
          <p:cNvSpPr/>
          <p:nvPr/>
        </p:nvSpPr>
        <p:spPr>
          <a:xfrm>
            <a:off x="868680" y="28987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anim_2_c"/>
          <p:cNvSpPr/>
          <p:nvPr/>
        </p:nvSpPr>
        <p:spPr>
          <a:xfrm>
            <a:off x="868680" y="28987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anim_2_c"/>
          <p:cNvSpPr/>
          <p:nvPr/>
        </p:nvSpPr>
        <p:spPr>
          <a:xfrm>
            <a:off x="1417320" y="283464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Write as –3x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+ 6x + 5, factor –3:   –3(x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– 2x) + 5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anim_3_c"/>
          <p:cNvSpPr/>
          <p:nvPr/>
        </p:nvSpPr>
        <p:spPr>
          <a:xfrm>
            <a:off x="868680" y="35845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anim_3_c"/>
          <p:cNvSpPr/>
          <p:nvPr/>
        </p:nvSpPr>
        <p:spPr>
          <a:xfrm>
            <a:off x="868680" y="35845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anim_3_c"/>
          <p:cNvSpPr/>
          <p:nvPr/>
        </p:nvSpPr>
        <p:spPr>
          <a:xfrm>
            <a:off x="1417320" y="352044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–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3[(x – 1)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– 1] + 5 = –3(x – 1)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+ 3 + 5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anim_4_c"/>
          <p:cNvSpPr/>
          <p:nvPr/>
        </p:nvSpPr>
        <p:spPr>
          <a:xfrm>
            <a:off x="868680" y="4251960"/>
            <a:ext cx="5120280" cy="502560"/>
          </a:xfrm>
          <a:prstGeom prst="roundRect">
            <a:avLst>
              <a:gd name="adj" fmla="val 21818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anim_4_c"/>
          <p:cNvSpPr/>
          <p:nvPr/>
        </p:nvSpPr>
        <p:spPr>
          <a:xfrm>
            <a:off x="1051560" y="4251960"/>
            <a:ext cx="4754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0ac2b"/>
                </a:solidFill>
                <a:latin typeface="Cambria"/>
                <a:ea typeface="Cambria"/>
              </a:rPr>
              <a:t>= –3(x – 1)</a:t>
            </a:r>
            <a:r>
              <a:rPr b="1" lang="en-US" sz="19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2</a:t>
            </a:r>
            <a:r>
              <a:rPr b="1" lang="en-US" sz="1900" spc="-1" strike="noStrike">
                <a:solidFill>
                  <a:srgbClr val="e0ac2b"/>
                </a:solidFill>
                <a:latin typeface="Cambria"/>
                <a:ea typeface="Cambria"/>
              </a:rPr>
              <a:t> + 8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anim_4_c"/>
          <p:cNvSpPr/>
          <p:nvPr/>
        </p:nvSpPr>
        <p:spPr>
          <a:xfrm>
            <a:off x="548640" y="5303520"/>
            <a:ext cx="11091240" cy="639720"/>
          </a:xfrm>
          <a:prstGeom prst="roundRect">
            <a:avLst>
              <a:gd name="adj" fmla="val 14286"/>
            </a:avLst>
          </a:prstGeom>
          <a:solidFill>
            <a:srgbClr val="fbeae3"/>
          </a:solidFill>
          <a:ln w="15875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anim_4_c"/>
          <p:cNvSpPr/>
          <p:nvPr/>
        </p:nvSpPr>
        <p:spPr>
          <a:xfrm>
            <a:off x="868680" y="530352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16261f"/>
                </a:solidFill>
                <a:latin typeface="Calibri"/>
                <a:ea typeface="Calibri"/>
              </a:rPr>
              <a:t>a = –3 &lt; 0   →   vertex (1, 8) is a MAXIMUM,   line of symmetry x = 1.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836" dur="indefinite" restart="never" nodeType="tmRoot">
          <p:childTnLst>
            <p:seq>
              <p:cTn id="837" dur="indefinite" nodeType="mainSeq">
                <p:childTnLst>
                  <p:par>
                    <p:cTn id="838" fill="hold">
                      <p:stCondLst>
                        <p:cond delay="0"/>
                      </p:stCondLst>
                      <p:childTnLst>
                        <p:par>
                          <p:cTn id="839" fill="hold">
                            <p:stCondLst>
                              <p:cond delay="0"/>
                            </p:stCondLst>
                            <p:childTnLst>
                              <p:par>
                                <p:cTn id="840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42" dur="50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45" dur="500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6" fill="hold">
                      <p:stCondLst>
                        <p:cond delay="indefinite"/>
                      </p:stCondLst>
                      <p:childTnLst>
                        <p:par>
                          <p:cTn id="847" fill="hold">
                            <p:stCondLst>
                              <p:cond delay="0"/>
                            </p:stCondLst>
                            <p:childTnLst>
                              <p:par>
                                <p:cTn id="848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50" dur="5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53" dur="5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56" dur="5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59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0" fill="hold">
                      <p:stCondLst>
                        <p:cond delay="indefinite"/>
                      </p:stCondLst>
                      <p:childTnLst>
                        <p:par>
                          <p:cTn id="861" fill="hold">
                            <p:stCondLst>
                              <p:cond delay="0"/>
                            </p:stCondLst>
                            <p:childTnLst>
                              <p:par>
                                <p:cTn id="86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64" dur="5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67" dur="50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70" dur="5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1" fill="hold">
                      <p:stCondLst>
                        <p:cond delay="indefinite"/>
                      </p:stCondLst>
                      <p:childTnLst>
                        <p:par>
                          <p:cTn id="872" fill="hold">
                            <p:stCondLst>
                              <p:cond delay="0"/>
                            </p:stCondLst>
                            <p:childTnLst>
                              <p:par>
                                <p:cTn id="873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75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78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81" dur="5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84"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PAST PAPER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Write in Completed-Square Form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anim_1_a"/>
          <p:cNvSpPr/>
          <p:nvPr/>
        </p:nvSpPr>
        <p:spPr>
          <a:xfrm>
            <a:off x="548640" y="169164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anim_1_a"/>
          <p:cNvSpPr/>
          <p:nvPr/>
        </p:nvSpPr>
        <p:spPr>
          <a:xfrm>
            <a:off x="804600" y="1911240"/>
            <a:ext cx="191988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anim_1_a"/>
          <p:cNvSpPr/>
          <p:nvPr/>
        </p:nvSpPr>
        <p:spPr>
          <a:xfrm>
            <a:off x="804600" y="191124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FORM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anim_1_a"/>
          <p:cNvSpPr/>
          <p:nvPr/>
        </p:nvSpPr>
        <p:spPr>
          <a:xfrm>
            <a:off x="841320" y="2350080"/>
            <a:ext cx="48733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Write   x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– 6x + 10   in the form (x – a)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+ b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anim_2_c"/>
          <p:cNvSpPr/>
          <p:nvPr/>
        </p:nvSpPr>
        <p:spPr>
          <a:xfrm>
            <a:off x="6199560" y="169164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anim_2_c"/>
          <p:cNvSpPr/>
          <p:nvPr/>
        </p:nvSpPr>
        <p:spPr>
          <a:xfrm>
            <a:off x="6455520" y="1911240"/>
            <a:ext cx="191988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anim_2_c"/>
          <p:cNvSpPr/>
          <p:nvPr/>
        </p:nvSpPr>
        <p:spPr>
          <a:xfrm>
            <a:off x="6455520" y="191124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FORM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anim_2_c"/>
          <p:cNvSpPr/>
          <p:nvPr/>
        </p:nvSpPr>
        <p:spPr>
          <a:xfrm>
            <a:off x="6492240" y="2350080"/>
            <a:ext cx="48733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Express   x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– 10x + 40   in the form (x + a)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+ b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anim_3_c"/>
          <p:cNvSpPr/>
          <p:nvPr/>
        </p:nvSpPr>
        <p:spPr>
          <a:xfrm>
            <a:off x="548640" y="374904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anim_3_c"/>
          <p:cNvSpPr/>
          <p:nvPr/>
        </p:nvSpPr>
        <p:spPr>
          <a:xfrm>
            <a:off x="804600" y="3968640"/>
            <a:ext cx="191988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anim_3_c"/>
          <p:cNvSpPr/>
          <p:nvPr/>
        </p:nvSpPr>
        <p:spPr>
          <a:xfrm>
            <a:off x="804600" y="396864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FORM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anim_3_c"/>
          <p:cNvSpPr/>
          <p:nvPr/>
        </p:nvSpPr>
        <p:spPr>
          <a:xfrm>
            <a:off x="841320" y="4407480"/>
            <a:ext cx="48733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Write   3x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– 12x + 7   in the form a(x + b)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+ c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anim_4_c"/>
          <p:cNvSpPr/>
          <p:nvPr/>
        </p:nvSpPr>
        <p:spPr>
          <a:xfrm>
            <a:off x="6199560" y="374904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anim_4_c"/>
          <p:cNvSpPr/>
          <p:nvPr/>
        </p:nvSpPr>
        <p:spPr>
          <a:xfrm>
            <a:off x="6455520" y="3968640"/>
            <a:ext cx="191988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anim_4_c"/>
          <p:cNvSpPr/>
          <p:nvPr/>
        </p:nvSpPr>
        <p:spPr>
          <a:xfrm>
            <a:off x="6455520" y="396864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FORM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anim_4_c"/>
          <p:cNvSpPr/>
          <p:nvPr/>
        </p:nvSpPr>
        <p:spPr>
          <a:xfrm>
            <a:off x="6492240" y="4407480"/>
            <a:ext cx="48733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Express   7 – 4x – x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  in the form p – (x + q)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885" dur="indefinite" restart="never" nodeType="tmRoot">
          <p:childTnLst>
            <p:seq>
              <p:cTn id="886" dur="indefinite" nodeType="mainSeq">
                <p:childTnLst>
                  <p:par>
                    <p:cTn id="887" fill="hold">
                      <p:stCondLst>
                        <p:cond delay="0"/>
                      </p:stCondLst>
                      <p:childTnLst>
                        <p:par>
                          <p:cTn id="888" fill="hold">
                            <p:stCondLst>
                              <p:cond delay="0"/>
                            </p:stCondLst>
                            <p:childTnLst>
                              <p:par>
                                <p:cTn id="889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91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94" dur="5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97" dur="5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00" dur="5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1" fill="hold">
                      <p:stCondLst>
                        <p:cond delay="indefinite"/>
                      </p:stCondLst>
                      <p:childTnLst>
                        <p:par>
                          <p:cTn id="902" fill="hold">
                            <p:stCondLst>
                              <p:cond delay="0"/>
                            </p:stCondLst>
                            <p:childTnLst>
                              <p:par>
                                <p:cTn id="903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05" dur="5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08" dur="500"/>
                                        <p:tgtEl>
                                          <p:spTgt spid="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11" dur="5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14" dur="500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5" fill="hold">
                      <p:stCondLst>
                        <p:cond delay="indefinite"/>
                      </p:stCondLst>
                      <p:childTnLst>
                        <p:par>
                          <p:cTn id="916" fill="hold">
                            <p:stCondLst>
                              <p:cond delay="0"/>
                            </p:stCondLst>
                            <p:childTnLst>
                              <p:par>
                                <p:cTn id="91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19" dur="5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22" dur="5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25" dur="500"/>
                                        <p:tgtEl>
                                          <p:spTgt spid="3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28" dur="50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9" fill="hold">
                      <p:stCondLst>
                        <p:cond delay="indefinite"/>
                      </p:stCondLst>
                      <p:childTnLst>
                        <p:par>
                          <p:cTn id="930" fill="hold">
                            <p:stCondLst>
                              <p:cond delay="0"/>
                            </p:stCondLst>
                            <p:childTnLst>
                              <p:par>
                                <p:cTn id="93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33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36" dur="500"/>
                                        <p:tgtEl>
                                          <p:spTgt spid="3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39" dur="500"/>
                                        <p:tgtEl>
                                          <p:spTgt spid="3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42" dur="500"/>
                                        <p:tgtEl>
                                          <p:spTgt spid="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PAST PAPER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Line of Symmetry &amp; Turning Points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anim_1_a"/>
          <p:cNvSpPr/>
          <p:nvPr/>
        </p:nvSpPr>
        <p:spPr>
          <a:xfrm>
            <a:off x="548640" y="1691640"/>
            <a:ext cx="544032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anim_1_a"/>
          <p:cNvSpPr/>
          <p:nvPr/>
        </p:nvSpPr>
        <p:spPr>
          <a:xfrm>
            <a:off x="804600" y="1911240"/>
            <a:ext cx="191988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anim_1_a"/>
          <p:cNvSpPr/>
          <p:nvPr/>
        </p:nvSpPr>
        <p:spPr>
          <a:xfrm>
            <a:off x="804600" y="191124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SYMMETRY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anim_1_a"/>
          <p:cNvSpPr/>
          <p:nvPr/>
        </p:nvSpPr>
        <p:spPr>
          <a:xfrm>
            <a:off x="841320" y="2350080"/>
            <a:ext cx="487332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y = 3x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 – 12x + 7.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Write down the equation of the line of symmetry L.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anim_2_c"/>
          <p:cNvSpPr/>
          <p:nvPr/>
        </p:nvSpPr>
        <p:spPr>
          <a:xfrm>
            <a:off x="6199560" y="1691640"/>
            <a:ext cx="544032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anim_2_c"/>
          <p:cNvSpPr/>
          <p:nvPr/>
        </p:nvSpPr>
        <p:spPr>
          <a:xfrm>
            <a:off x="6455520" y="1911240"/>
            <a:ext cx="191988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" name="anim_2_c"/>
          <p:cNvSpPr/>
          <p:nvPr/>
        </p:nvSpPr>
        <p:spPr>
          <a:xfrm>
            <a:off x="6455520" y="191124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MAX POINT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anim_2_c"/>
          <p:cNvSpPr/>
          <p:nvPr/>
        </p:nvSpPr>
        <p:spPr>
          <a:xfrm>
            <a:off x="6492240" y="2350080"/>
            <a:ext cx="487332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The curve  y = 3 – 5(x + 1)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Write down the coordinates of the maximum point A.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anim_3_c"/>
          <p:cNvSpPr/>
          <p:nvPr/>
        </p:nvSpPr>
        <p:spPr>
          <a:xfrm>
            <a:off x="548640" y="3794760"/>
            <a:ext cx="1109124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anim_3_c"/>
          <p:cNvSpPr/>
          <p:nvPr/>
        </p:nvSpPr>
        <p:spPr>
          <a:xfrm>
            <a:off x="804600" y="4014360"/>
            <a:ext cx="191988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anim_3_c"/>
          <p:cNvSpPr/>
          <p:nvPr/>
        </p:nvSpPr>
        <p:spPr>
          <a:xfrm>
            <a:off x="804600" y="401436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MAX POINT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anim_3_c"/>
          <p:cNvSpPr/>
          <p:nvPr/>
        </p:nvSpPr>
        <p:spPr>
          <a:xfrm>
            <a:off x="841320" y="4453200"/>
            <a:ext cx="10524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Express   7 + 12x – 3x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  in the form  a + b(x + c)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.   Hence write down the coordinates of the maximum point of  y = 7 + 12x – 3x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943" dur="indefinite" restart="never" nodeType="tmRoot">
          <p:childTnLst>
            <p:seq>
              <p:cTn id="944" dur="indefinite" nodeType="mainSeq">
                <p:childTnLst>
                  <p:par>
                    <p:cTn id="945" fill="hold">
                      <p:stCondLst>
                        <p:cond delay="0"/>
                      </p:stCondLst>
                      <p:childTnLst>
                        <p:par>
                          <p:cTn id="946" fill="hold">
                            <p:stCondLst>
                              <p:cond delay="0"/>
                            </p:stCondLst>
                            <p:childTnLst>
                              <p:par>
                                <p:cTn id="947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49" dur="5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52" dur="500"/>
                                        <p:tgtEl>
                                          <p:spTgt spid="3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55" dur="500"/>
                                        <p:tgtEl>
                                          <p:spTgt spid="3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58" dur="500"/>
                                        <p:tgtEl>
                                          <p:spTgt spid="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9" fill="hold">
                      <p:stCondLst>
                        <p:cond delay="indefinite"/>
                      </p:stCondLst>
                      <p:childTnLst>
                        <p:par>
                          <p:cTn id="960" fill="hold">
                            <p:stCondLst>
                              <p:cond delay="0"/>
                            </p:stCondLst>
                            <p:childTnLst>
                              <p:par>
                                <p:cTn id="96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63" dur="500"/>
                                        <p:tgtEl>
                                          <p:spTgt spid="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66" dur="500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69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72" dur="5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3" fill="hold">
                      <p:stCondLst>
                        <p:cond delay="indefinite"/>
                      </p:stCondLst>
                      <p:childTnLst>
                        <p:par>
                          <p:cTn id="974" fill="hold">
                            <p:stCondLst>
                              <p:cond delay="0"/>
                            </p:stCondLst>
                            <p:childTnLst>
                              <p:par>
                                <p:cTn id="97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77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80" dur="500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83" dur="500"/>
                                        <p:tgtEl>
                                          <p:spTgt spid="3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86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PAST PAPER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Hence Solve &amp; Challenge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anim_1_a"/>
          <p:cNvSpPr/>
          <p:nvPr/>
        </p:nvSpPr>
        <p:spPr>
          <a:xfrm>
            <a:off x="548640" y="1691640"/>
            <a:ext cx="1109124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anim_1_a"/>
          <p:cNvSpPr/>
          <p:nvPr/>
        </p:nvSpPr>
        <p:spPr>
          <a:xfrm>
            <a:off x="804600" y="1911240"/>
            <a:ext cx="191988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anim_1_a"/>
          <p:cNvSpPr/>
          <p:nvPr/>
        </p:nvSpPr>
        <p:spPr>
          <a:xfrm>
            <a:off x="804600" y="191124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HENCE SOLVE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anim_1_a"/>
          <p:cNvSpPr/>
          <p:nvPr/>
        </p:nvSpPr>
        <p:spPr>
          <a:xfrm>
            <a:off x="841320" y="2350080"/>
            <a:ext cx="10524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Given  7 – 4x – x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= 11 – (x + 2)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,  solve   7 – 4(y + 3) – (y + 3)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= 0,  giving solutions in the form  e ± √f.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anim_2_c"/>
          <p:cNvSpPr/>
          <p:nvPr/>
        </p:nvSpPr>
        <p:spPr>
          <a:xfrm>
            <a:off x="548640" y="3794760"/>
            <a:ext cx="1109124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anim_2_c"/>
          <p:cNvSpPr/>
          <p:nvPr/>
        </p:nvSpPr>
        <p:spPr>
          <a:xfrm>
            <a:off x="804600" y="4014360"/>
            <a:ext cx="191988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anim_2_c"/>
          <p:cNvSpPr/>
          <p:nvPr/>
        </p:nvSpPr>
        <p:spPr>
          <a:xfrm>
            <a:off x="804600" y="401436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4 MARKS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anim_2_c"/>
          <p:cNvSpPr/>
          <p:nvPr/>
        </p:nvSpPr>
        <p:spPr>
          <a:xfrm>
            <a:off x="841320" y="4453200"/>
            <a:ext cx="10524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Express each of a, b and c in terms of q so that   q + 12x – qx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  can be written as   a – b(x – c)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987" dur="indefinite" restart="never" nodeType="tmRoot">
          <p:childTnLst>
            <p:seq>
              <p:cTn id="988" dur="indefinite" nodeType="mainSeq">
                <p:childTnLst>
                  <p:par>
                    <p:cTn id="989" fill="hold">
                      <p:stCondLst>
                        <p:cond delay="0"/>
                      </p:stCondLst>
                      <p:childTnLst>
                        <p:par>
                          <p:cTn id="990" fill="hold">
                            <p:stCondLst>
                              <p:cond delay="0"/>
                            </p:stCondLst>
                            <p:childTnLst>
                              <p:par>
                                <p:cTn id="991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93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96" dur="5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99" dur="500"/>
                                        <p:tgtEl>
                                          <p:spTgt spid="3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02" dur="500"/>
                                        <p:tgtEl>
                                          <p:spTgt spid="3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3" fill="hold">
                      <p:stCondLst>
                        <p:cond delay="indefinite"/>
                      </p:stCondLst>
                      <p:childTnLst>
                        <p:par>
                          <p:cTn id="1004" fill="hold">
                            <p:stCondLst>
                              <p:cond delay="0"/>
                            </p:stCondLst>
                            <p:childTnLst>
                              <p:par>
                                <p:cTn id="100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07" dur="500"/>
                                        <p:tgtEl>
                                          <p:spTgt spid="3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10" dur="500"/>
                                        <p:tgtEl>
                                          <p:spTgt spid="3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13" dur="500"/>
                                        <p:tgtEl>
                                          <p:spTgt spid="3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16" dur="500"/>
                                        <p:tgtEl>
                                          <p:spTgt spid="3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Text 0"/>
          <p:cNvSpPr/>
          <p:nvPr/>
        </p:nvSpPr>
        <p:spPr>
          <a:xfrm>
            <a:off x="8412480" y="3108960"/>
            <a:ext cx="32000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4800" spc="-1" strike="noStrike">
                <a:solidFill>
                  <a:srgbClr val="283731"/>
                </a:solidFill>
                <a:latin typeface="Cambria"/>
                <a:ea typeface="Cambria"/>
              </a:rPr>
              <a:t>(x+p)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Shape 1"/>
          <p:cNvSpPr/>
          <p:nvPr/>
        </p:nvSpPr>
        <p:spPr>
          <a:xfrm>
            <a:off x="731520" y="640080"/>
            <a:ext cx="639720" cy="63972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Text 2"/>
          <p:cNvSpPr/>
          <p:nvPr/>
        </p:nvSpPr>
        <p:spPr>
          <a:xfrm>
            <a:off x="731520" y="62172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4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2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 3"/>
          <p:cNvSpPr/>
          <p:nvPr/>
        </p:nvSpPr>
        <p:spPr>
          <a:xfrm>
            <a:off x="1517760" y="676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48" strike="noStrike">
                <a:solidFill>
                  <a:srgbClr val="e0ac2b"/>
                </a:solidFill>
                <a:latin typeface="Calibri"/>
                <a:ea typeface="Calibri"/>
              </a:rPr>
              <a:t>Zπ MATHS HUB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Text 4"/>
          <p:cNvSpPr/>
          <p:nvPr/>
        </p:nvSpPr>
        <p:spPr>
          <a:xfrm>
            <a:off x="731520" y="12801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e0ac2b"/>
                </a:solidFill>
                <a:latin typeface="Cambria"/>
                <a:ea typeface="Cambria"/>
              </a:rPr>
              <a:t>Recap &amp; Resources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anim_1_a"/>
          <p:cNvSpPr/>
          <p:nvPr/>
        </p:nvSpPr>
        <p:spPr>
          <a:xfrm>
            <a:off x="731520" y="205740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anim_1_a"/>
          <p:cNvSpPr/>
          <p:nvPr/>
        </p:nvSpPr>
        <p:spPr>
          <a:xfrm>
            <a:off x="1005840" y="216720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Complete the square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anim_1_a"/>
          <p:cNvSpPr/>
          <p:nvPr/>
        </p:nvSpPr>
        <p:spPr>
          <a:xfrm>
            <a:off x="1005840" y="247788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halve b, square it, add &amp; subtract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" name="anim_1_a"/>
          <p:cNvSpPr/>
          <p:nvPr/>
        </p:nvSpPr>
        <p:spPr>
          <a:xfrm>
            <a:off x="6172200" y="205740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anim_1_a"/>
          <p:cNvSpPr/>
          <p:nvPr/>
        </p:nvSpPr>
        <p:spPr>
          <a:xfrm>
            <a:off x="6446520" y="216720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a ≠ 1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anim_1_a"/>
          <p:cNvSpPr/>
          <p:nvPr/>
        </p:nvSpPr>
        <p:spPr>
          <a:xfrm>
            <a:off x="6446520" y="247788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factor a out of the x-terms first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anim_2_c"/>
          <p:cNvSpPr/>
          <p:nvPr/>
        </p:nvSpPr>
        <p:spPr>
          <a:xfrm>
            <a:off x="731520" y="301752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anim_2_c"/>
          <p:cNvSpPr/>
          <p:nvPr/>
        </p:nvSpPr>
        <p:spPr>
          <a:xfrm>
            <a:off x="1005840" y="312732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Vertex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anim_2_c"/>
          <p:cNvSpPr/>
          <p:nvPr/>
        </p:nvSpPr>
        <p:spPr>
          <a:xfrm>
            <a:off x="1005840" y="343800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a(x + p)² + q → vertex (–p, q)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anim_2_c"/>
          <p:cNvSpPr/>
          <p:nvPr/>
        </p:nvSpPr>
        <p:spPr>
          <a:xfrm>
            <a:off x="6172200" y="301752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anim_2_c"/>
          <p:cNvSpPr/>
          <p:nvPr/>
        </p:nvSpPr>
        <p:spPr>
          <a:xfrm>
            <a:off x="6446520" y="312732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Min or max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" name="anim_2_c"/>
          <p:cNvSpPr/>
          <p:nvPr/>
        </p:nvSpPr>
        <p:spPr>
          <a:xfrm>
            <a:off x="6446520" y="343800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a &gt; 0 minimum · a &lt; 0 maximum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anim_3_c"/>
          <p:cNvSpPr/>
          <p:nvPr/>
        </p:nvSpPr>
        <p:spPr>
          <a:xfrm>
            <a:off x="731520" y="397764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anim_3_c"/>
          <p:cNvSpPr/>
          <p:nvPr/>
        </p:nvSpPr>
        <p:spPr>
          <a:xfrm>
            <a:off x="1005840" y="408744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Solving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anim_3_c"/>
          <p:cNvSpPr/>
          <p:nvPr/>
        </p:nvSpPr>
        <p:spPr>
          <a:xfrm>
            <a:off x="1005840" y="439812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(x + p)² = number, then ±√ both sides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anim_3_c"/>
          <p:cNvSpPr/>
          <p:nvPr/>
        </p:nvSpPr>
        <p:spPr>
          <a:xfrm>
            <a:off x="6172200" y="397764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anim_3_c"/>
          <p:cNvSpPr/>
          <p:nvPr/>
        </p:nvSpPr>
        <p:spPr>
          <a:xfrm>
            <a:off x="6446520" y="408744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Rounding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anim_3_c"/>
          <p:cNvSpPr/>
          <p:nvPr/>
        </p:nvSpPr>
        <p:spPr>
          <a:xfrm>
            <a:off x="6446520" y="439812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“</a:t>
            </a: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3 s.f.” answers come from ±√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" name="anim_3_c"/>
          <p:cNvSpPr/>
          <p:nvPr/>
        </p:nvSpPr>
        <p:spPr>
          <a:xfrm>
            <a:off x="731520" y="5074920"/>
            <a:ext cx="10926720" cy="868320"/>
          </a:xfrm>
          <a:prstGeom prst="roundRect">
            <a:avLst>
              <a:gd name="adj" fmla="val 12632"/>
            </a:avLst>
          </a:prstGeom>
          <a:solidFill>
            <a:srgbClr val="16261f"/>
          </a:solidFill>
          <a:ln w="15875">
            <a:solidFill>
              <a:srgbClr val="28373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anim_3_c"/>
          <p:cNvSpPr/>
          <p:nvPr/>
        </p:nvSpPr>
        <p:spPr>
          <a:xfrm>
            <a:off x="1051560" y="5139000"/>
            <a:ext cx="10423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edebdd"/>
                </a:solidFill>
                <a:latin typeface="Calibri"/>
                <a:ea typeface="Calibri"/>
              </a:rPr>
              <a:t>Ms. Zahra Sheikh Ali  ·  ✉ zahraa.sheikhali@outlook.com  ·  ☎ 66613748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anim_3_c"/>
          <p:cNvSpPr/>
          <p:nvPr/>
        </p:nvSpPr>
        <p:spPr>
          <a:xfrm>
            <a:off x="1051560" y="5523120"/>
            <a:ext cx="100580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a7269"/>
                </a:solidFill>
                <a:latin typeface="Calibri"/>
                <a:ea typeface="Calibri"/>
              </a:rPr>
              <a:t>Pearson Edexcel IGCSE (9–1) Mathematics A  ·  Higher Tier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017" dur="indefinite" restart="never" nodeType="tmRoot">
          <p:childTnLst>
            <p:seq>
              <p:cTn id="1018" dur="indefinite" nodeType="mainSeq">
                <p:childTnLst>
                  <p:par>
                    <p:cTn id="1019" fill="hold">
                      <p:stCondLst>
                        <p:cond delay="0"/>
                      </p:stCondLst>
                      <p:childTnLst>
                        <p:par>
                          <p:cTn id="1020" fill="hold">
                            <p:stCondLst>
                              <p:cond delay="0"/>
                            </p:stCondLst>
                            <p:childTnLst>
                              <p:par>
                                <p:cTn id="1021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23" dur="500"/>
                                        <p:tgtEl>
                                          <p:spTgt spid="3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26" dur="500"/>
                                        <p:tgtEl>
                                          <p:spTgt spid="3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29" dur="500"/>
                                        <p:tgtEl>
                                          <p:spTgt spid="3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32" dur="500"/>
                                        <p:tgtEl>
                                          <p:spTgt spid="3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35" dur="500"/>
                                        <p:tgtEl>
                                          <p:spTgt spid="3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38" dur="500"/>
                                        <p:tgtEl>
                                          <p:spTgt spid="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9" fill="hold">
                      <p:stCondLst>
                        <p:cond delay="indefinite"/>
                      </p:stCondLst>
                      <p:childTnLst>
                        <p:par>
                          <p:cTn id="1040" fill="hold">
                            <p:stCondLst>
                              <p:cond delay="0"/>
                            </p:stCondLst>
                            <p:childTnLst>
                              <p:par>
                                <p:cTn id="104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43" dur="500"/>
                                        <p:tgtEl>
                                          <p:spTgt spid="3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46" dur="500"/>
                                        <p:tgtEl>
                                          <p:spTgt spid="3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49" dur="500"/>
                                        <p:tgtEl>
                                          <p:spTgt spid="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52" dur="500"/>
                                        <p:tgtEl>
                                          <p:spTgt spid="3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55" dur="500"/>
                                        <p:tgtEl>
                                          <p:spTgt spid="3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58" dur="500"/>
                                        <p:tgtEl>
                                          <p:spTgt spid="3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9" fill="hold">
                      <p:stCondLst>
                        <p:cond delay="indefinite"/>
                      </p:stCondLst>
                      <p:childTnLst>
                        <p:par>
                          <p:cTn id="1060" fill="hold">
                            <p:stCondLst>
                              <p:cond delay="0"/>
                            </p:stCondLst>
                            <p:childTnLst>
                              <p:par>
                                <p:cTn id="106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63" dur="500"/>
                                        <p:tgtEl>
                                          <p:spTgt spid="3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66" dur="500"/>
                                        <p:tgtEl>
                                          <p:spTgt spid="3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69" dur="500"/>
                                        <p:tgtEl>
                                          <p:spTgt spid="3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72" dur="500"/>
                                        <p:tgtEl>
                                          <p:spTgt spid="3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75" dur="500"/>
                                        <p:tgtEl>
                                          <p:spTgt spid="3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78" dur="500"/>
                                        <p:tgtEl>
                                          <p:spTgt spid="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81" dur="500"/>
                                        <p:tgtEl>
                                          <p:spTgt spid="3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84" dur="500"/>
                                        <p:tgtEl>
                                          <p:spTgt spid="3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87" dur="500"/>
                                        <p:tgtEl>
                                          <p:spTgt spid="3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LibreOffice/24.2.7.2$Linux_X86_64 LibreOffice_project/420$Build-2</Application>
  <AppVersion>15.0000</AppVersion>
  <Words>1574</Words>
  <Paragraphs>239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2026-06-28T09:59:07Z</dcterms:created>
  <dc:creator>Zahra Sheikh Ali</dc:creator>
  <dc:description/>
  <dc:language>en-US</dc:language>
  <cp:lastModifiedBy>zahraa sheik ali</cp:lastModifiedBy>
  <dcterms:modified xsi:type="dcterms:W3CDTF">2026-06-29T09:50:59Z</dcterms:modified>
  <cp:revision>2</cp:revision>
  <dc:subject>PptxGenJS Presentation</dc:subject>
  <dc:title>Expanding Brackets — IGCSE Mathematics (Higher Tier)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17</vt:r8>
  </property>
  <property fmtid="{D5CDD505-2E9C-101B-9397-08002B2CF9AE}" pid="3" name="PresentationFormat">
    <vt:lpwstr>Custom</vt:lpwstr>
  </property>
  <property fmtid="{D5CDD505-2E9C-101B-9397-08002B2CF9AE}" pid="4" name="Slides">
    <vt:r8>17</vt:r8>
  </property>
</Properties>
</file>