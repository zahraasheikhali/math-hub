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notesSlides/_rels/notesSlide9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6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2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8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5429AA18-6E49-4AE0-86BB-1562C6705950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803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PlaceHolder 3"/>
          <p:cNvSpPr>
            <a:spLocks noGrp="1"/>
          </p:cNvSpPr>
          <p:nvPr>
            <p:ph type="sldNum" idx="4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1FCAB6A-DE33-4EE4-9EC7-3EB1F420C6E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806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PlaceHolder 3"/>
          <p:cNvSpPr>
            <a:spLocks noGrp="1"/>
          </p:cNvSpPr>
          <p:nvPr>
            <p:ph type="sldNum" idx="5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7DF6E15-D3A7-4313-A637-D2FCA342798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809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0" name="PlaceHolder 3"/>
          <p:cNvSpPr>
            <a:spLocks noGrp="1"/>
          </p:cNvSpPr>
          <p:nvPr>
            <p:ph type="sldNum" idx="6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7BE03D4-E852-4A55-AAF1-5E8B9E99ED2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812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3" name="PlaceHolder 3"/>
          <p:cNvSpPr>
            <a:spLocks noGrp="1"/>
          </p:cNvSpPr>
          <p:nvPr>
            <p:ph type="sldNum" idx="7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067674E-11D4-41D3-A0B9-6ACA66C2867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815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6" name="PlaceHolder 3"/>
          <p:cNvSpPr>
            <a:spLocks noGrp="1"/>
          </p:cNvSpPr>
          <p:nvPr>
            <p:ph type="sldNum" idx="8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287DB9A-8179-4FCE-9871-3483726B878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818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9" name="PlaceHolder 3"/>
          <p:cNvSpPr>
            <a:spLocks noGrp="1"/>
          </p:cNvSpPr>
          <p:nvPr>
            <p:ph type="sldNum" idx="9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629C169-C06F-48A8-9B2B-C35CAF2A1C9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821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2" name="PlaceHolder 3"/>
          <p:cNvSpPr>
            <a:spLocks noGrp="1"/>
          </p:cNvSpPr>
          <p:nvPr>
            <p:ph type="sldNum" idx="10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CBBAACD-036D-4BDD-B8EA-FAE3964F6F4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824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PlaceHolder 3"/>
          <p:cNvSpPr>
            <a:spLocks noGrp="1"/>
          </p:cNvSpPr>
          <p:nvPr>
            <p:ph type="sldNum" idx="11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E241B92-C983-41ED-8200-22E31005EE9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827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PlaceHolder 3"/>
          <p:cNvSpPr>
            <a:spLocks noGrp="1"/>
          </p:cNvSpPr>
          <p:nvPr>
            <p:ph type="sldNum" idx="12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8894726-0F0E-424A-A46A-C9F90BB3F08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830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1" name="PlaceHolder 3"/>
          <p:cNvSpPr>
            <a:spLocks noGrp="1"/>
          </p:cNvSpPr>
          <p:nvPr>
            <p:ph type="sldNum" idx="13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D4EAA19-0C8C-4A82-B09C-693E57B76D5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833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4" name="PlaceHolder 3"/>
          <p:cNvSpPr>
            <a:spLocks noGrp="1"/>
          </p:cNvSpPr>
          <p:nvPr>
            <p:ph type="sldNum" idx="14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A4ADFF7-1536-48BA-A60E-AD891F991AA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836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7" name="PlaceHolder 3"/>
          <p:cNvSpPr>
            <a:spLocks noGrp="1"/>
          </p:cNvSpPr>
          <p:nvPr>
            <p:ph type="sldNum" idx="15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9236233-C2BB-4675-B434-88753F0EE5D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839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0" name="PlaceHolder 3"/>
          <p:cNvSpPr>
            <a:spLocks noGrp="1"/>
          </p:cNvSpPr>
          <p:nvPr>
            <p:ph type="sldNum" idx="16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FB3265F-C5EE-41E6-AD31-0E177353BE6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PlaceHolder 1"/>
          <p:cNvSpPr>
            <a:spLocks noGrp="1"/>
          </p:cNvSpPr>
          <p:nvPr>
            <p:ph type="sldImg"/>
          </p:nvPr>
        </p:nvSpPr>
        <p:spPr>
          <a:xfrm>
            <a:off x="-635040" y="914400"/>
            <a:ext cx="8127720" cy="4571640"/>
          </a:xfrm>
          <a:prstGeom prst="rect">
            <a:avLst/>
          </a:prstGeom>
          <a:ln w="0">
            <a:noFill/>
          </a:ln>
        </p:spPr>
      </p:sp>
      <p:sp>
        <p:nvSpPr>
          <p:cNvPr id="842" name="PlaceHolder 2"/>
          <p:cNvSpPr>
            <a:spLocks noGrp="1"/>
          </p:cNvSpPr>
          <p:nvPr>
            <p:ph type="body"/>
          </p:nvPr>
        </p:nvSpPr>
        <p:spPr>
          <a:xfrm>
            <a:off x="685800" y="5791320"/>
            <a:ext cx="5486040" cy="548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3" name="PlaceHolder 3"/>
          <p:cNvSpPr>
            <a:spLocks noGrp="1"/>
          </p:cNvSpPr>
          <p:nvPr>
            <p:ph type="sldNum" idx="17"/>
          </p:nvPr>
        </p:nvSpPr>
        <p:spPr>
          <a:xfrm>
            <a:off x="3884760" y="11580840"/>
            <a:ext cx="2971440" cy="609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196B443-E61A-4553-83B8-724F854CB43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Text 35"/>
          <p:cNvSpPr/>
          <p:nvPr/>
        </p:nvSpPr>
        <p:spPr>
          <a:xfrm>
            <a:off x="8229600" y="868680"/>
            <a:ext cx="3474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4600" spc="-1" strike="noStrike">
                <a:solidFill>
                  <a:srgbClr val="33463a"/>
                </a:solidFill>
                <a:latin typeface="Cambria"/>
                <a:ea typeface="Cambria"/>
              </a:rPr>
              <a:t>y = kx</a:t>
            </a:r>
            <a:endParaRPr b="0" lang="en-US" sz="4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Text 36"/>
          <p:cNvSpPr/>
          <p:nvPr/>
        </p:nvSpPr>
        <p:spPr>
          <a:xfrm>
            <a:off x="8229600" y="1554480"/>
            <a:ext cx="3474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4600" spc="-1" strike="noStrike">
                <a:solidFill>
                  <a:srgbClr val="33463a"/>
                </a:solidFill>
                <a:latin typeface="Cambria"/>
                <a:ea typeface="Cambria"/>
              </a:rPr>
              <a:t>y = k/x</a:t>
            </a:r>
            <a:endParaRPr b="0" lang="en-US" sz="4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Shape 37"/>
          <p:cNvSpPr/>
          <p:nvPr/>
        </p:nvSpPr>
        <p:spPr>
          <a:xfrm>
            <a:off x="777240" y="640080"/>
            <a:ext cx="658080" cy="658080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Text 38"/>
          <p:cNvSpPr/>
          <p:nvPr/>
        </p:nvSpPr>
        <p:spPr>
          <a:xfrm>
            <a:off x="777240" y="64008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6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21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Text 39"/>
          <p:cNvSpPr/>
          <p:nvPr/>
        </p:nvSpPr>
        <p:spPr>
          <a:xfrm>
            <a:off x="1600200" y="603360"/>
            <a:ext cx="7314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299" strike="noStrike">
                <a:solidFill>
                  <a:srgbClr val="e0ac2b"/>
                </a:solidFill>
                <a:latin typeface="Calibri"/>
                <a:ea typeface="Calibri"/>
              </a:rPr>
              <a:t>Zπ  MATHS HUB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Text 40"/>
          <p:cNvSpPr/>
          <p:nvPr/>
        </p:nvSpPr>
        <p:spPr>
          <a:xfrm>
            <a:off x="1600200" y="9144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c9d2c5"/>
                </a:solidFill>
                <a:latin typeface="Calibri"/>
                <a:ea typeface="Calibri"/>
              </a:rPr>
              <a:t>Pearson Edexcel IGCSE (9–1) · Higher Tier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Text 41"/>
          <p:cNvSpPr/>
          <p:nvPr/>
        </p:nvSpPr>
        <p:spPr>
          <a:xfrm>
            <a:off x="777240" y="2240280"/>
            <a:ext cx="107895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000" spc="-1" strike="noStrike">
                <a:solidFill>
                  <a:srgbClr val="e0ac2b"/>
                </a:solidFill>
                <a:latin typeface="Cambria"/>
                <a:ea typeface="Cambria"/>
              </a:rPr>
              <a:t>Direct &amp; Inverse Proportion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Text 42"/>
          <p:cNvSpPr/>
          <p:nvPr/>
        </p:nvSpPr>
        <p:spPr>
          <a:xfrm>
            <a:off x="804600" y="3310200"/>
            <a:ext cx="10789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edebdd"/>
                </a:solidFill>
                <a:latin typeface="Cambria"/>
                <a:ea typeface="Cambria"/>
              </a:rPr>
              <a:t>y = kx  and  y = k/x · The Constant k · Squares, Cubes &amp; Roots · Word Problems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Shape 43"/>
          <p:cNvSpPr/>
          <p:nvPr/>
        </p:nvSpPr>
        <p:spPr>
          <a:xfrm>
            <a:off x="777240" y="4297680"/>
            <a:ext cx="6766200" cy="169128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Text 44"/>
          <p:cNvSpPr/>
          <p:nvPr/>
        </p:nvSpPr>
        <p:spPr>
          <a:xfrm>
            <a:off x="1097280" y="4498920"/>
            <a:ext cx="6126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e0ac2b"/>
                </a:solidFill>
                <a:latin typeface="Cambria"/>
                <a:ea typeface="Cambria"/>
              </a:rPr>
              <a:t>Zahra Sheikh Ali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Text 45"/>
          <p:cNvSpPr/>
          <p:nvPr/>
        </p:nvSpPr>
        <p:spPr>
          <a:xfrm>
            <a:off x="1097280" y="4956120"/>
            <a:ext cx="6217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c9d2c5"/>
                </a:solidFill>
                <a:latin typeface="Cambria"/>
                <a:ea typeface="Cambria"/>
              </a:rPr>
              <a:t>IGCSE Mathematics Teacher  ·  M.Sc. Differential Geometry &amp; Geometric Control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Text 46"/>
          <p:cNvSpPr/>
          <p:nvPr/>
        </p:nvSpPr>
        <p:spPr>
          <a:xfrm>
            <a:off x="1097280" y="5394960"/>
            <a:ext cx="6217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8623d"/>
                </a:solidFill>
                <a:latin typeface="Calibri"/>
                <a:ea typeface="Calibri"/>
              </a:rPr>
              <a:t>☎  </a:t>
            </a:r>
            <a:r>
              <a:rPr b="1" lang="en-US" sz="1250" spc="-1" strike="noStrike">
                <a:solidFill>
                  <a:srgbClr val="e8623d"/>
                </a:solidFill>
                <a:latin typeface="Calibri"/>
                <a:ea typeface="Calibri"/>
              </a:rPr>
              <a:t>66613748      ✉  zahraa.sheikhali@outlook.com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LESSON OVERVIEW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It All Comes Down to k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Shape 39"/>
          <p:cNvSpPr/>
          <p:nvPr/>
        </p:nvSpPr>
        <p:spPr>
          <a:xfrm>
            <a:off x="567000" y="1481400"/>
            <a:ext cx="11063880" cy="82260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Text 40"/>
          <p:cNvSpPr/>
          <p:nvPr/>
        </p:nvSpPr>
        <p:spPr>
          <a:xfrm>
            <a:off x="887040" y="1481400"/>
            <a:ext cx="104238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Proportion links two quantities through a constant k.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Write the equation, use one pair of values to find k, then answer anything — direct, inverse, or a power.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Shape 41"/>
          <p:cNvSpPr/>
          <p:nvPr/>
        </p:nvSpPr>
        <p:spPr>
          <a:xfrm>
            <a:off x="5670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Shape 42"/>
          <p:cNvSpPr/>
          <p:nvPr/>
        </p:nvSpPr>
        <p:spPr>
          <a:xfrm>
            <a:off x="8229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Text 43"/>
          <p:cNvSpPr/>
          <p:nvPr/>
        </p:nvSpPr>
        <p:spPr>
          <a:xfrm>
            <a:off x="8229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Text 44"/>
          <p:cNvSpPr/>
          <p:nvPr/>
        </p:nvSpPr>
        <p:spPr>
          <a:xfrm>
            <a:off x="14356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Direct proportion (y = kx)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Shape 45"/>
          <p:cNvSpPr/>
          <p:nvPr/>
        </p:nvSpPr>
        <p:spPr>
          <a:xfrm>
            <a:off x="43434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Shape 46"/>
          <p:cNvSpPr/>
          <p:nvPr/>
        </p:nvSpPr>
        <p:spPr>
          <a:xfrm>
            <a:off x="45993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Text 47"/>
          <p:cNvSpPr/>
          <p:nvPr/>
        </p:nvSpPr>
        <p:spPr>
          <a:xfrm>
            <a:off x="45993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 48"/>
          <p:cNvSpPr/>
          <p:nvPr/>
        </p:nvSpPr>
        <p:spPr>
          <a:xfrm>
            <a:off x="52120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Inverse proportion (y = k/x)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Shape 49"/>
          <p:cNvSpPr/>
          <p:nvPr/>
        </p:nvSpPr>
        <p:spPr>
          <a:xfrm>
            <a:off x="81198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Shape 50"/>
          <p:cNvSpPr/>
          <p:nvPr/>
        </p:nvSpPr>
        <p:spPr>
          <a:xfrm>
            <a:off x="83757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Text 51"/>
          <p:cNvSpPr/>
          <p:nvPr/>
        </p:nvSpPr>
        <p:spPr>
          <a:xfrm>
            <a:off x="83757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 52"/>
          <p:cNvSpPr/>
          <p:nvPr/>
        </p:nvSpPr>
        <p:spPr>
          <a:xfrm>
            <a:off x="89884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Finding the constant k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Shape 53"/>
          <p:cNvSpPr/>
          <p:nvPr/>
        </p:nvSpPr>
        <p:spPr>
          <a:xfrm>
            <a:off x="5670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Shape 54"/>
          <p:cNvSpPr/>
          <p:nvPr/>
        </p:nvSpPr>
        <p:spPr>
          <a:xfrm>
            <a:off x="8229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 55"/>
          <p:cNvSpPr/>
          <p:nvPr/>
        </p:nvSpPr>
        <p:spPr>
          <a:xfrm>
            <a:off x="8229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 56"/>
          <p:cNvSpPr/>
          <p:nvPr/>
        </p:nvSpPr>
        <p:spPr>
          <a:xfrm>
            <a:off x="14356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Squares, cubes &amp; roots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Shape 57"/>
          <p:cNvSpPr/>
          <p:nvPr/>
        </p:nvSpPr>
        <p:spPr>
          <a:xfrm>
            <a:off x="43434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Shape 58"/>
          <p:cNvSpPr/>
          <p:nvPr/>
        </p:nvSpPr>
        <p:spPr>
          <a:xfrm>
            <a:off x="45993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Text 59"/>
          <p:cNvSpPr/>
          <p:nvPr/>
        </p:nvSpPr>
        <p:spPr>
          <a:xfrm>
            <a:off x="45993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5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 60"/>
          <p:cNvSpPr/>
          <p:nvPr/>
        </p:nvSpPr>
        <p:spPr>
          <a:xfrm>
            <a:off x="52120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Word problems &amp; levels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Shape 61"/>
          <p:cNvSpPr/>
          <p:nvPr/>
        </p:nvSpPr>
        <p:spPr>
          <a:xfrm>
            <a:off x="81198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Shape 62"/>
          <p:cNvSpPr/>
          <p:nvPr/>
        </p:nvSpPr>
        <p:spPr>
          <a:xfrm>
            <a:off x="83757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 63"/>
          <p:cNvSpPr/>
          <p:nvPr/>
        </p:nvSpPr>
        <p:spPr>
          <a:xfrm>
            <a:off x="83757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6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64"/>
          <p:cNvSpPr/>
          <p:nvPr/>
        </p:nvSpPr>
        <p:spPr>
          <a:xfrm>
            <a:off x="89884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Past-paper questions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 65"/>
          <p:cNvSpPr/>
          <p:nvPr/>
        </p:nvSpPr>
        <p:spPr>
          <a:xfrm>
            <a:off x="567000" y="617220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4f2f"/>
                </a:solidFill>
                <a:latin typeface="Calibri"/>
                <a:ea typeface="Calibri"/>
              </a:rPr>
              <a:t>Key words:  </a:t>
            </a:r>
            <a:r>
              <a:rPr b="0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proportional · constant of proportionality · direct · inverse · varies as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THE LANGUAGE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Turn the Words into an Equation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Shape 39"/>
          <p:cNvSpPr/>
          <p:nvPr/>
        </p:nvSpPr>
        <p:spPr>
          <a:xfrm>
            <a:off x="567000" y="1371600"/>
            <a:ext cx="11063880" cy="639720"/>
          </a:xfrm>
          <a:prstGeom prst="roundRect">
            <a:avLst>
              <a:gd name="adj" fmla="val 8571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Text 40"/>
          <p:cNvSpPr/>
          <p:nvPr/>
        </p:nvSpPr>
        <p:spPr>
          <a:xfrm>
            <a:off x="887040" y="137160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Spot the phrase, write the equation with k.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‘proportional to’ = direct;  ‘inversely proportional to’ = divide.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Shape 41"/>
          <p:cNvSpPr/>
          <p:nvPr/>
        </p:nvSpPr>
        <p:spPr>
          <a:xfrm>
            <a:off x="567000" y="2194560"/>
            <a:ext cx="4845960" cy="502560"/>
          </a:xfrm>
          <a:prstGeom prst="rect">
            <a:avLst/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" name="Text 42"/>
          <p:cNvSpPr/>
          <p:nvPr/>
        </p:nvSpPr>
        <p:spPr>
          <a:xfrm>
            <a:off x="704160" y="2194560"/>
            <a:ext cx="45716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e0ac2b"/>
                </a:solidFill>
                <a:latin typeface="Cambria"/>
                <a:ea typeface="Cambria"/>
              </a:rPr>
              <a:t>The question says…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Shape 43"/>
          <p:cNvSpPr/>
          <p:nvPr/>
        </p:nvSpPr>
        <p:spPr>
          <a:xfrm>
            <a:off x="5486400" y="2194560"/>
            <a:ext cx="6144480" cy="502560"/>
          </a:xfrm>
          <a:prstGeom prst="rect">
            <a:avLst/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Text 44"/>
          <p:cNvSpPr/>
          <p:nvPr/>
        </p:nvSpPr>
        <p:spPr>
          <a:xfrm>
            <a:off x="5623560" y="2194560"/>
            <a:ext cx="58701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e0ac2b"/>
                </a:solidFill>
                <a:latin typeface="Cambria"/>
                <a:ea typeface="Cambria"/>
              </a:rPr>
              <a:t>In maths…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Shape 45"/>
          <p:cNvSpPr/>
          <p:nvPr/>
        </p:nvSpPr>
        <p:spPr>
          <a:xfrm>
            <a:off x="567000" y="2724840"/>
            <a:ext cx="4845960" cy="71280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Text 46"/>
          <p:cNvSpPr/>
          <p:nvPr/>
        </p:nvSpPr>
        <p:spPr>
          <a:xfrm>
            <a:off x="749880" y="2724840"/>
            <a:ext cx="44802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y is directly proportional to x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Shape 47"/>
          <p:cNvSpPr/>
          <p:nvPr/>
        </p:nvSpPr>
        <p:spPr>
          <a:xfrm>
            <a:off x="5486400" y="2724840"/>
            <a:ext cx="6144480" cy="71280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Text 48"/>
          <p:cNvSpPr/>
          <p:nvPr/>
        </p:nvSpPr>
        <p:spPr>
          <a:xfrm>
            <a:off x="5669280" y="2724840"/>
            <a:ext cx="577872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y = kx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Shape 49"/>
          <p:cNvSpPr/>
          <p:nvPr/>
        </p:nvSpPr>
        <p:spPr>
          <a:xfrm>
            <a:off x="567000" y="3474720"/>
            <a:ext cx="4845960" cy="71280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Text 50"/>
          <p:cNvSpPr/>
          <p:nvPr/>
        </p:nvSpPr>
        <p:spPr>
          <a:xfrm>
            <a:off x="749880" y="3474720"/>
            <a:ext cx="44802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y is inversely proportional to x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Shape 51"/>
          <p:cNvSpPr/>
          <p:nvPr/>
        </p:nvSpPr>
        <p:spPr>
          <a:xfrm>
            <a:off x="5486400" y="3474720"/>
            <a:ext cx="6144480" cy="71280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Text 52"/>
          <p:cNvSpPr/>
          <p:nvPr/>
        </p:nvSpPr>
        <p:spPr>
          <a:xfrm>
            <a:off x="5669280" y="3474720"/>
            <a:ext cx="577872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y = k / x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Shape 53"/>
          <p:cNvSpPr/>
          <p:nvPr/>
        </p:nvSpPr>
        <p:spPr>
          <a:xfrm>
            <a:off x="567000" y="4224600"/>
            <a:ext cx="4845960" cy="71280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 54"/>
          <p:cNvSpPr/>
          <p:nvPr/>
        </p:nvSpPr>
        <p:spPr>
          <a:xfrm>
            <a:off x="749880" y="4224600"/>
            <a:ext cx="44802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y is proportional to the square of x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Shape 55"/>
          <p:cNvSpPr/>
          <p:nvPr/>
        </p:nvSpPr>
        <p:spPr>
          <a:xfrm>
            <a:off x="5486400" y="4224600"/>
            <a:ext cx="6144480" cy="71280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Text 56"/>
          <p:cNvSpPr/>
          <p:nvPr/>
        </p:nvSpPr>
        <p:spPr>
          <a:xfrm>
            <a:off x="5669280" y="4224600"/>
            <a:ext cx="577872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y = kx²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Shape 57"/>
          <p:cNvSpPr/>
          <p:nvPr/>
        </p:nvSpPr>
        <p:spPr>
          <a:xfrm>
            <a:off x="567000" y="4974480"/>
            <a:ext cx="4845960" cy="71280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Text 58"/>
          <p:cNvSpPr/>
          <p:nvPr/>
        </p:nvSpPr>
        <p:spPr>
          <a:xfrm>
            <a:off x="749880" y="4974480"/>
            <a:ext cx="44802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1c2a22"/>
                </a:solidFill>
                <a:latin typeface="Cambria"/>
                <a:ea typeface="Cambria"/>
              </a:rPr>
              <a:t>y is proportional to the square root of x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Shape 59"/>
          <p:cNvSpPr/>
          <p:nvPr/>
        </p:nvSpPr>
        <p:spPr>
          <a:xfrm>
            <a:off x="5486400" y="4974480"/>
            <a:ext cx="6144480" cy="71280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Text 60"/>
          <p:cNvSpPr/>
          <p:nvPr/>
        </p:nvSpPr>
        <p:spPr>
          <a:xfrm>
            <a:off x="5669280" y="4974480"/>
            <a:ext cx="577872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y = k√x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 61"/>
          <p:cNvSpPr/>
          <p:nvPr/>
        </p:nvSpPr>
        <p:spPr>
          <a:xfrm>
            <a:off x="567000" y="594360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The symbol ∝ means ‘is proportional to’.  Replace it with ‘= k × …’.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Text 37"/>
          <p:cNvSpPr/>
          <p:nvPr/>
        </p:nvSpPr>
        <p:spPr>
          <a:xfrm>
            <a:off x="1554480" y="676800"/>
            <a:ext cx="8229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THE METHOD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Text 38"/>
          <p:cNvSpPr/>
          <p:nvPr/>
        </p:nvSpPr>
        <p:spPr>
          <a:xfrm>
            <a:off x="777240" y="1691640"/>
            <a:ext cx="107895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e0ac2b"/>
                </a:solidFill>
                <a:latin typeface="Cambria"/>
                <a:ea typeface="Cambria"/>
              </a:rPr>
              <a:t>Three Steps Every Time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 39"/>
          <p:cNvSpPr/>
          <p:nvPr/>
        </p:nvSpPr>
        <p:spPr>
          <a:xfrm>
            <a:off x="804600" y="269748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Whatever the type, the recipe is always the same.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" name="Shape 40"/>
          <p:cNvSpPr/>
          <p:nvPr/>
        </p:nvSpPr>
        <p:spPr>
          <a:xfrm>
            <a:off x="868680" y="361188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" name="Text 41"/>
          <p:cNvSpPr/>
          <p:nvPr/>
        </p:nvSpPr>
        <p:spPr>
          <a:xfrm>
            <a:off x="868680" y="361188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" name="Text 42"/>
          <p:cNvSpPr/>
          <p:nvPr/>
        </p:nvSpPr>
        <p:spPr>
          <a:xfrm>
            <a:off x="1554480" y="361188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Write the equation with k  (y = kx,  y = k/x, …)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Shape 43"/>
          <p:cNvSpPr/>
          <p:nvPr/>
        </p:nvSpPr>
        <p:spPr>
          <a:xfrm>
            <a:off x="868680" y="432504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" name="Text 44"/>
          <p:cNvSpPr/>
          <p:nvPr/>
        </p:nvSpPr>
        <p:spPr>
          <a:xfrm>
            <a:off x="868680" y="43250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Text 45"/>
          <p:cNvSpPr/>
          <p:nvPr/>
        </p:nvSpPr>
        <p:spPr>
          <a:xfrm>
            <a:off x="1554480" y="432504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Substitute the given pair to find 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" name="Shape 46"/>
          <p:cNvSpPr/>
          <p:nvPr/>
        </p:nvSpPr>
        <p:spPr>
          <a:xfrm>
            <a:off x="868680" y="503820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Text 47"/>
          <p:cNvSpPr/>
          <p:nvPr/>
        </p:nvSpPr>
        <p:spPr>
          <a:xfrm>
            <a:off x="868680" y="503820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" name="Text 48"/>
          <p:cNvSpPr/>
          <p:nvPr/>
        </p:nvSpPr>
        <p:spPr>
          <a:xfrm>
            <a:off x="1554480" y="503820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Write the full equation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Shape 49"/>
          <p:cNvSpPr/>
          <p:nvPr/>
        </p:nvSpPr>
        <p:spPr>
          <a:xfrm>
            <a:off x="868680" y="575172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" name="Text 50"/>
          <p:cNvSpPr/>
          <p:nvPr/>
        </p:nvSpPr>
        <p:spPr>
          <a:xfrm>
            <a:off x="868680" y="575172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" name="Text 51"/>
          <p:cNvSpPr/>
          <p:nvPr/>
        </p:nvSpPr>
        <p:spPr>
          <a:xfrm>
            <a:off x="1554480" y="575172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Substitute again to answer the question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DIRECT PROPORTION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y is Directly Proportional to x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Shape 39"/>
          <p:cNvSpPr/>
          <p:nvPr/>
        </p:nvSpPr>
        <p:spPr>
          <a:xfrm>
            <a:off x="567000" y="1554480"/>
            <a:ext cx="6126120" cy="324576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Shape 40"/>
          <p:cNvSpPr/>
          <p:nvPr/>
        </p:nvSpPr>
        <p:spPr>
          <a:xfrm>
            <a:off x="6903720" y="1554480"/>
            <a:ext cx="4727160" cy="324576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Text 41"/>
          <p:cNvSpPr/>
          <p:nvPr/>
        </p:nvSpPr>
        <p:spPr>
          <a:xfrm>
            <a:off x="7178040" y="175572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How to spot it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Text 42"/>
          <p:cNvSpPr/>
          <p:nvPr/>
        </p:nvSpPr>
        <p:spPr>
          <a:xfrm>
            <a:off x="7223760" y="2240280"/>
            <a:ext cx="42058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Both grow together; y ÷ x is constant (= k).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Doubling x doubles y.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Table check: b = 2.5a → 2→5, 6→15, 20→50.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Text 43"/>
          <p:cNvSpPr/>
          <p:nvPr/>
        </p:nvSpPr>
        <p:spPr>
          <a:xfrm>
            <a:off x="567000" y="632772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Direct: the graph is a straight line through the origin.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Shape 44"/>
          <p:cNvSpPr/>
          <p:nvPr/>
        </p:nvSpPr>
        <p:spPr>
          <a:xfrm>
            <a:off x="868680" y="184716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" name="Text 45"/>
          <p:cNvSpPr/>
          <p:nvPr/>
        </p:nvSpPr>
        <p:spPr>
          <a:xfrm>
            <a:off x="868680" y="18471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Text 46"/>
          <p:cNvSpPr/>
          <p:nvPr/>
        </p:nvSpPr>
        <p:spPr>
          <a:xfrm>
            <a:off x="1362600" y="181044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y ∝ x   →   </a:t>
            </a:r>
            <a:r>
              <a:rPr b="1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y = kx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Shape 47"/>
          <p:cNvSpPr/>
          <p:nvPr/>
        </p:nvSpPr>
        <p:spPr>
          <a:xfrm>
            <a:off x="868680" y="257868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3" name="Text 48"/>
          <p:cNvSpPr/>
          <p:nvPr/>
        </p:nvSpPr>
        <p:spPr>
          <a:xfrm>
            <a:off x="868680" y="257868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Text 49"/>
          <p:cNvSpPr/>
          <p:nvPr/>
        </p:nvSpPr>
        <p:spPr>
          <a:xfrm>
            <a:off x="1362600" y="254196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When x = 8, y = 20:  20 = k × 8  →  k = 2.5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Shape 50"/>
          <p:cNvSpPr/>
          <p:nvPr/>
        </p:nvSpPr>
        <p:spPr>
          <a:xfrm>
            <a:off x="868680" y="331020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" name="Text 51"/>
          <p:cNvSpPr/>
          <p:nvPr/>
        </p:nvSpPr>
        <p:spPr>
          <a:xfrm>
            <a:off x="868680" y="331020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Text 52"/>
          <p:cNvSpPr/>
          <p:nvPr/>
        </p:nvSpPr>
        <p:spPr>
          <a:xfrm>
            <a:off x="1362600" y="327348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So  y = 2.5x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Shape 53"/>
          <p:cNvSpPr/>
          <p:nvPr/>
        </p:nvSpPr>
        <p:spPr>
          <a:xfrm>
            <a:off x="868680" y="404172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" name="Text 54"/>
          <p:cNvSpPr/>
          <p:nvPr/>
        </p:nvSpPr>
        <p:spPr>
          <a:xfrm>
            <a:off x="868680" y="40417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Text 55"/>
          <p:cNvSpPr/>
          <p:nvPr/>
        </p:nvSpPr>
        <p:spPr>
          <a:xfrm>
            <a:off x="1362600" y="400500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When x = 14:  y = 2.5 × 14 = </a:t>
            </a:r>
            <a:r>
              <a:rPr b="1" lang="en-US" sz="1400" spc="-1" strike="noStrike">
                <a:solidFill>
                  <a:srgbClr val="c84f2f"/>
                </a:solidFill>
                <a:latin typeface="Calibri"/>
                <a:ea typeface="Calibri"/>
              </a:rPr>
              <a:t>35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Shape 56"/>
          <p:cNvSpPr/>
          <p:nvPr/>
        </p:nvSpPr>
        <p:spPr>
          <a:xfrm>
            <a:off x="567000" y="5074920"/>
            <a:ext cx="11063880" cy="114264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 57"/>
          <p:cNvSpPr/>
          <p:nvPr/>
        </p:nvSpPr>
        <p:spPr>
          <a:xfrm>
            <a:off x="841320" y="5074920"/>
            <a:ext cx="10515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y = 2.5x,   so y = 35 when x = 14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9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INVERSE PROPORTION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y is Inversely Proportional to x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Shape 39"/>
          <p:cNvSpPr/>
          <p:nvPr/>
        </p:nvSpPr>
        <p:spPr>
          <a:xfrm>
            <a:off x="567000" y="1554480"/>
            <a:ext cx="6126120" cy="324576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Shape 40"/>
          <p:cNvSpPr/>
          <p:nvPr/>
        </p:nvSpPr>
        <p:spPr>
          <a:xfrm>
            <a:off x="6903720" y="1554480"/>
            <a:ext cx="4727160" cy="324576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Text 41"/>
          <p:cNvSpPr/>
          <p:nvPr/>
        </p:nvSpPr>
        <p:spPr>
          <a:xfrm>
            <a:off x="7178040" y="175572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How to spot it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Text 42"/>
          <p:cNvSpPr/>
          <p:nvPr/>
        </p:nvSpPr>
        <p:spPr>
          <a:xfrm>
            <a:off x="7223760" y="2240280"/>
            <a:ext cx="42058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As x grows, y shrinks; x × y is constant (= k).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Doubling x halves y.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Table check: a × b = 100 → 2→50, 4→25, 5→20.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Text 43"/>
          <p:cNvSpPr/>
          <p:nvPr/>
        </p:nvSpPr>
        <p:spPr>
          <a:xfrm>
            <a:off x="567000" y="632772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Inverse: find k by MULTIPLYING the pair (k = xy), not dividing.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Shape 44"/>
          <p:cNvSpPr/>
          <p:nvPr/>
        </p:nvSpPr>
        <p:spPr>
          <a:xfrm>
            <a:off x="868680" y="184716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" name="Text 45"/>
          <p:cNvSpPr/>
          <p:nvPr/>
        </p:nvSpPr>
        <p:spPr>
          <a:xfrm>
            <a:off x="868680" y="18471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Text 46"/>
          <p:cNvSpPr/>
          <p:nvPr/>
        </p:nvSpPr>
        <p:spPr>
          <a:xfrm>
            <a:off x="1362600" y="181044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y ∝ 1/x   →   </a:t>
            </a:r>
            <a:r>
              <a:rPr b="1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y = k / x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Shape 47"/>
          <p:cNvSpPr/>
          <p:nvPr/>
        </p:nvSpPr>
        <p:spPr>
          <a:xfrm>
            <a:off x="868680" y="257868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" name="Text 48"/>
          <p:cNvSpPr/>
          <p:nvPr/>
        </p:nvSpPr>
        <p:spPr>
          <a:xfrm>
            <a:off x="868680" y="257868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Text 49"/>
          <p:cNvSpPr/>
          <p:nvPr/>
        </p:nvSpPr>
        <p:spPr>
          <a:xfrm>
            <a:off x="1362600" y="254196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When x = 15, y = 3:  3 = k ÷ 15  →  k = 45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Shape 50"/>
          <p:cNvSpPr/>
          <p:nvPr/>
        </p:nvSpPr>
        <p:spPr>
          <a:xfrm>
            <a:off x="868680" y="331020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 51"/>
          <p:cNvSpPr/>
          <p:nvPr/>
        </p:nvSpPr>
        <p:spPr>
          <a:xfrm>
            <a:off x="868680" y="331020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 52"/>
          <p:cNvSpPr/>
          <p:nvPr/>
        </p:nvSpPr>
        <p:spPr>
          <a:xfrm>
            <a:off x="1362600" y="327348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So  </a:t>
            </a:r>
            <a:r>
              <a:rPr b="1" lang="en-US" sz="1400" spc="-1" strike="noStrike">
                <a:solidFill>
                  <a:srgbClr val="c84f2f"/>
                </a:solidFill>
                <a:latin typeface="Calibri"/>
                <a:ea typeface="Calibri"/>
              </a:rPr>
              <a:t>y = 45 / x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Shape 53"/>
          <p:cNvSpPr/>
          <p:nvPr/>
        </p:nvSpPr>
        <p:spPr>
          <a:xfrm>
            <a:off x="868680" y="404172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7" name="Text 54"/>
          <p:cNvSpPr/>
          <p:nvPr/>
        </p:nvSpPr>
        <p:spPr>
          <a:xfrm>
            <a:off x="868680" y="40417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Text 55"/>
          <p:cNvSpPr/>
          <p:nvPr/>
        </p:nvSpPr>
        <p:spPr>
          <a:xfrm>
            <a:off x="1362600" y="400500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e.g. when x = 9:  y = 45 ÷ 9 = 5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Shape 56"/>
          <p:cNvSpPr/>
          <p:nvPr/>
        </p:nvSpPr>
        <p:spPr>
          <a:xfrm>
            <a:off x="567000" y="5074920"/>
            <a:ext cx="11063880" cy="114264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Text 57"/>
          <p:cNvSpPr/>
          <p:nvPr/>
        </p:nvSpPr>
        <p:spPr>
          <a:xfrm>
            <a:off x="841320" y="5074920"/>
            <a:ext cx="10515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y = 45 / x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7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HIGHER TIER · POWERS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Proportional to a Square, Cube or Root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Shape 39"/>
          <p:cNvSpPr/>
          <p:nvPr/>
        </p:nvSpPr>
        <p:spPr>
          <a:xfrm>
            <a:off x="567000" y="1554480"/>
            <a:ext cx="6126120" cy="324576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Shape 40"/>
          <p:cNvSpPr/>
          <p:nvPr/>
        </p:nvSpPr>
        <p:spPr>
          <a:xfrm>
            <a:off x="6903720" y="1554480"/>
            <a:ext cx="4727160" cy="324576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Text 41"/>
          <p:cNvSpPr/>
          <p:nvPr/>
        </p:nvSpPr>
        <p:spPr>
          <a:xfrm>
            <a:off x="7178040" y="175572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Key idea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Text 42"/>
          <p:cNvSpPr/>
          <p:nvPr/>
        </p:nvSpPr>
        <p:spPr>
          <a:xfrm>
            <a:off x="7223760" y="2240280"/>
            <a:ext cx="42058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Put the power INTO the equation: y = kx², y = kx³, y = k√x.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Substitute the FULL power when finding k.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y ∝ 1/x² gives y = k / x².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Text 43"/>
          <p:cNvSpPr/>
          <p:nvPr/>
        </p:nvSpPr>
        <p:spPr>
          <a:xfrm>
            <a:off x="567000" y="632772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Always substitute the whole power — e.g. use x² = 16 when x = 4.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Shape 44"/>
          <p:cNvSpPr/>
          <p:nvPr/>
        </p:nvSpPr>
        <p:spPr>
          <a:xfrm>
            <a:off x="868680" y="184716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Text 45"/>
          <p:cNvSpPr/>
          <p:nvPr/>
        </p:nvSpPr>
        <p:spPr>
          <a:xfrm>
            <a:off x="868680" y="18471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 46"/>
          <p:cNvSpPr/>
          <p:nvPr/>
        </p:nvSpPr>
        <p:spPr>
          <a:xfrm>
            <a:off x="1362600" y="181044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y ∝ x²   →   y = kx²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Shape 47"/>
          <p:cNvSpPr/>
          <p:nvPr/>
        </p:nvSpPr>
        <p:spPr>
          <a:xfrm>
            <a:off x="868680" y="257868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9" name="Text 48"/>
          <p:cNvSpPr/>
          <p:nvPr/>
        </p:nvSpPr>
        <p:spPr>
          <a:xfrm>
            <a:off x="868680" y="257868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Text 49"/>
          <p:cNvSpPr/>
          <p:nvPr/>
        </p:nvSpPr>
        <p:spPr>
          <a:xfrm>
            <a:off x="1362600" y="254196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When x = 6, y = 27:  27 = k × 36  →  k = 0.75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Shape 50"/>
          <p:cNvSpPr/>
          <p:nvPr/>
        </p:nvSpPr>
        <p:spPr>
          <a:xfrm>
            <a:off x="868680" y="331020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" name="Text 51"/>
          <p:cNvSpPr/>
          <p:nvPr/>
        </p:nvSpPr>
        <p:spPr>
          <a:xfrm>
            <a:off x="868680" y="331020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Text 52"/>
          <p:cNvSpPr/>
          <p:nvPr/>
        </p:nvSpPr>
        <p:spPr>
          <a:xfrm>
            <a:off x="1362600" y="327348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y = 0.75x²;  when x = 4:  y = 0.75 × 16 = </a:t>
            </a:r>
            <a:r>
              <a:rPr b="1" lang="en-US" sz="1400" spc="-1" strike="noStrike">
                <a:solidFill>
                  <a:srgbClr val="c84f2f"/>
                </a:solidFill>
                <a:latin typeface="Calibri"/>
                <a:ea typeface="Calibri"/>
              </a:rPr>
              <a:t>12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Shape 53"/>
          <p:cNvSpPr/>
          <p:nvPr/>
        </p:nvSpPr>
        <p:spPr>
          <a:xfrm>
            <a:off x="868680" y="404172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5" name="Text 54"/>
          <p:cNvSpPr/>
          <p:nvPr/>
        </p:nvSpPr>
        <p:spPr>
          <a:xfrm>
            <a:off x="868680" y="40417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Text 55"/>
          <p:cNvSpPr/>
          <p:nvPr/>
        </p:nvSpPr>
        <p:spPr>
          <a:xfrm>
            <a:off x="1362600" y="400500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Cube: y ∝ x³ ;  root: y ∝ √x — same 3 steps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Shape 56"/>
          <p:cNvSpPr/>
          <p:nvPr/>
        </p:nvSpPr>
        <p:spPr>
          <a:xfrm>
            <a:off x="567000" y="5074920"/>
            <a:ext cx="11063880" cy="114264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Text 57"/>
          <p:cNvSpPr/>
          <p:nvPr/>
        </p:nvSpPr>
        <p:spPr>
          <a:xfrm>
            <a:off x="841320" y="5074920"/>
            <a:ext cx="10515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y = 0.75x²,   so y = 12 when x = 4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5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WORD PROBLEMS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Direct &amp; Inverse in Context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Shape 39"/>
          <p:cNvSpPr/>
          <p:nvPr/>
        </p:nvSpPr>
        <p:spPr>
          <a:xfrm>
            <a:off x="567000" y="1463040"/>
            <a:ext cx="5440320" cy="3565800"/>
          </a:xfrm>
          <a:prstGeom prst="roundRect">
            <a:avLst>
              <a:gd name="adj" fmla="val 1538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Text 40"/>
          <p:cNvSpPr/>
          <p:nvPr/>
        </p:nvSpPr>
        <p:spPr>
          <a:xfrm>
            <a:off x="932760" y="170064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Direct — delivery cost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Text 41"/>
          <p:cNvSpPr/>
          <p:nvPr/>
        </p:nvSpPr>
        <p:spPr>
          <a:xfrm>
            <a:off x="914400" y="2148840"/>
            <a:ext cx="475452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5c6b60"/>
                </a:solidFill>
                <a:latin typeface="Cambria"/>
                <a:ea typeface="Cambria"/>
              </a:rPr>
              <a:t>Cost ∝ number of cartons.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Cambria"/>
                <a:ea typeface="Cambria"/>
              </a:rPr>
              <a:t>30 cartons cost QR 450.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Cambria"/>
                <a:ea typeface="Cambria"/>
              </a:rPr>
              <a:t>k = 450 ÷ 30 = QR 15 each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Cambria"/>
                <a:ea typeface="Cambria"/>
              </a:rPr>
              <a:t>50 cartons = 50 × 15 = </a:t>
            </a:r>
            <a:r>
              <a:rPr b="1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QR 750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Shape 42"/>
          <p:cNvSpPr/>
          <p:nvPr/>
        </p:nvSpPr>
        <p:spPr>
          <a:xfrm>
            <a:off x="6190560" y="1463040"/>
            <a:ext cx="5440320" cy="3565800"/>
          </a:xfrm>
          <a:prstGeom prst="roundRect">
            <a:avLst>
              <a:gd name="adj" fmla="val 1538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Text 43"/>
          <p:cNvSpPr/>
          <p:nvPr/>
        </p:nvSpPr>
        <p:spPr>
          <a:xfrm>
            <a:off x="6556320" y="170064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Inverse — unloading time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Text 44"/>
          <p:cNvSpPr/>
          <p:nvPr/>
        </p:nvSpPr>
        <p:spPr>
          <a:xfrm>
            <a:off x="6537960" y="2148840"/>
            <a:ext cx="475452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5c6b60"/>
                </a:solidFill>
                <a:latin typeface="Cambria"/>
                <a:ea typeface="Cambria"/>
              </a:rPr>
              <a:t>Time ∝ 1 / number of workers.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Cambria"/>
                <a:ea typeface="Cambria"/>
              </a:rPr>
              <a:t>4 workers take 60 minutes.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1" lang="en-US" sz="1600" spc="-1" strike="noStrike">
                <a:solidFill>
                  <a:srgbClr val="000000"/>
                </a:solidFill>
                <a:latin typeface="Cambria"/>
                <a:ea typeface="Cambria"/>
              </a:rPr>
              <a:t>k = 4 × 60 = 240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Cambria"/>
                <a:ea typeface="Cambria"/>
              </a:rPr>
              <a:t>6 workers = 240 ÷ 6 = </a:t>
            </a:r>
            <a:r>
              <a:rPr b="1" lang="en-US" sz="1600" spc="-1" strike="noStrike">
                <a:solidFill>
                  <a:srgbClr val="c84f2f"/>
                </a:solidFill>
                <a:latin typeface="Cambria"/>
                <a:ea typeface="Cambria"/>
              </a:rPr>
              <a:t>40 minutes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Shape 45"/>
          <p:cNvSpPr/>
          <p:nvPr/>
        </p:nvSpPr>
        <p:spPr>
          <a:xfrm>
            <a:off x="567000" y="5212080"/>
            <a:ext cx="11063880" cy="86832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5" name="Text 46"/>
          <p:cNvSpPr/>
          <p:nvPr/>
        </p:nvSpPr>
        <p:spPr>
          <a:xfrm>
            <a:off x="887040" y="5212080"/>
            <a:ext cx="1042380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More workers → less time (inverse);  more cartons → more cost (direct).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Find k first, then answer.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2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YOUR TURN · PRACTICE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Direct or Inverse?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Shape 39"/>
          <p:cNvSpPr/>
          <p:nvPr/>
        </p:nvSpPr>
        <p:spPr>
          <a:xfrm>
            <a:off x="567000" y="141732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6" name="Text 40"/>
          <p:cNvSpPr/>
          <p:nvPr/>
        </p:nvSpPr>
        <p:spPr>
          <a:xfrm>
            <a:off x="887040" y="141732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Decide the type, write the equation, find k, then answer.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Shape 41"/>
          <p:cNvSpPr/>
          <p:nvPr/>
        </p:nvSpPr>
        <p:spPr>
          <a:xfrm>
            <a:off x="567000" y="2148840"/>
            <a:ext cx="5394600" cy="658080"/>
          </a:xfrm>
          <a:prstGeom prst="roundRect">
            <a:avLst>
              <a:gd name="adj" fmla="val 8333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Shape 42"/>
          <p:cNvSpPr/>
          <p:nvPr/>
        </p:nvSpPr>
        <p:spPr>
          <a:xfrm>
            <a:off x="749880" y="2295000"/>
            <a:ext cx="365400" cy="3654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9" name="Text 43"/>
          <p:cNvSpPr/>
          <p:nvPr/>
        </p:nvSpPr>
        <p:spPr>
          <a:xfrm>
            <a:off x="749880" y="229500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Text 44"/>
          <p:cNvSpPr/>
          <p:nvPr/>
        </p:nvSpPr>
        <p:spPr>
          <a:xfrm>
            <a:off x="1225440" y="2148840"/>
            <a:ext cx="3520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y ∝ x. y=12 when x=3. Find y when x=7.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Text 45"/>
          <p:cNvSpPr/>
          <p:nvPr/>
        </p:nvSpPr>
        <p:spPr>
          <a:xfrm>
            <a:off x="4681800" y="2148840"/>
            <a:ext cx="1234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y = 28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Shape 46"/>
          <p:cNvSpPr/>
          <p:nvPr/>
        </p:nvSpPr>
        <p:spPr>
          <a:xfrm>
            <a:off x="567000" y="2926080"/>
            <a:ext cx="5394600" cy="658080"/>
          </a:xfrm>
          <a:prstGeom prst="roundRect">
            <a:avLst>
              <a:gd name="adj" fmla="val 8333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Shape 47"/>
          <p:cNvSpPr/>
          <p:nvPr/>
        </p:nvSpPr>
        <p:spPr>
          <a:xfrm>
            <a:off x="749880" y="3072240"/>
            <a:ext cx="365400" cy="3654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" name="Text 48"/>
          <p:cNvSpPr/>
          <p:nvPr/>
        </p:nvSpPr>
        <p:spPr>
          <a:xfrm>
            <a:off x="749880" y="307224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Text 49"/>
          <p:cNvSpPr/>
          <p:nvPr/>
        </p:nvSpPr>
        <p:spPr>
          <a:xfrm>
            <a:off x="1225440" y="2926080"/>
            <a:ext cx="3520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y ∝ 1/x. y=6 when x=4. Find y when x=8.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Text 50"/>
          <p:cNvSpPr/>
          <p:nvPr/>
        </p:nvSpPr>
        <p:spPr>
          <a:xfrm>
            <a:off x="4681800" y="2926080"/>
            <a:ext cx="1234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y = 3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Shape 51"/>
          <p:cNvSpPr/>
          <p:nvPr/>
        </p:nvSpPr>
        <p:spPr>
          <a:xfrm>
            <a:off x="567000" y="3703320"/>
            <a:ext cx="5394600" cy="658080"/>
          </a:xfrm>
          <a:prstGeom prst="roundRect">
            <a:avLst>
              <a:gd name="adj" fmla="val 8333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Shape 52"/>
          <p:cNvSpPr/>
          <p:nvPr/>
        </p:nvSpPr>
        <p:spPr>
          <a:xfrm>
            <a:off x="749880" y="3849480"/>
            <a:ext cx="365400" cy="3654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9" name="Text 53"/>
          <p:cNvSpPr/>
          <p:nvPr/>
        </p:nvSpPr>
        <p:spPr>
          <a:xfrm>
            <a:off x="749880" y="384948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Text 54"/>
          <p:cNvSpPr/>
          <p:nvPr/>
        </p:nvSpPr>
        <p:spPr>
          <a:xfrm>
            <a:off x="1225440" y="3703320"/>
            <a:ext cx="3520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a ∝ b. a=20 when b=8. a when b=14?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Text 55"/>
          <p:cNvSpPr/>
          <p:nvPr/>
        </p:nvSpPr>
        <p:spPr>
          <a:xfrm>
            <a:off x="4681800" y="3703320"/>
            <a:ext cx="1234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a = 35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Shape 56"/>
          <p:cNvSpPr/>
          <p:nvPr/>
        </p:nvSpPr>
        <p:spPr>
          <a:xfrm>
            <a:off x="6217920" y="2148840"/>
            <a:ext cx="5394600" cy="658080"/>
          </a:xfrm>
          <a:prstGeom prst="roundRect">
            <a:avLst>
              <a:gd name="adj" fmla="val 8333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Shape 57"/>
          <p:cNvSpPr/>
          <p:nvPr/>
        </p:nvSpPr>
        <p:spPr>
          <a:xfrm>
            <a:off x="6400800" y="2295000"/>
            <a:ext cx="365400" cy="3654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4" name="Text 58"/>
          <p:cNvSpPr/>
          <p:nvPr/>
        </p:nvSpPr>
        <p:spPr>
          <a:xfrm>
            <a:off x="6400800" y="229500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Text 59"/>
          <p:cNvSpPr/>
          <p:nvPr/>
        </p:nvSpPr>
        <p:spPr>
          <a:xfrm>
            <a:off x="6876360" y="2148840"/>
            <a:ext cx="3520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y ∝ x². y=45 when x=3. y when x=5?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Text 60"/>
          <p:cNvSpPr/>
          <p:nvPr/>
        </p:nvSpPr>
        <p:spPr>
          <a:xfrm>
            <a:off x="10332720" y="2148840"/>
            <a:ext cx="1234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y = 125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Shape 61"/>
          <p:cNvSpPr/>
          <p:nvPr/>
        </p:nvSpPr>
        <p:spPr>
          <a:xfrm>
            <a:off x="6217920" y="2926080"/>
            <a:ext cx="5394600" cy="658080"/>
          </a:xfrm>
          <a:prstGeom prst="roundRect">
            <a:avLst>
              <a:gd name="adj" fmla="val 8333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Shape 62"/>
          <p:cNvSpPr/>
          <p:nvPr/>
        </p:nvSpPr>
        <p:spPr>
          <a:xfrm>
            <a:off x="6400800" y="3072240"/>
            <a:ext cx="365400" cy="3654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9" name="Text 63"/>
          <p:cNvSpPr/>
          <p:nvPr/>
        </p:nvSpPr>
        <p:spPr>
          <a:xfrm>
            <a:off x="6400800" y="307224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mbria"/>
                <a:ea typeface="Cambria"/>
              </a:rPr>
              <a:t>5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Text 64"/>
          <p:cNvSpPr/>
          <p:nvPr/>
        </p:nvSpPr>
        <p:spPr>
          <a:xfrm>
            <a:off x="6876360" y="2926080"/>
            <a:ext cx="3520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p ∝ 1/q. p=10 when q=2. p when q=5?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Text 65"/>
          <p:cNvSpPr/>
          <p:nvPr/>
        </p:nvSpPr>
        <p:spPr>
          <a:xfrm>
            <a:off x="10332720" y="2926080"/>
            <a:ext cx="1234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p = 4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Shape 66"/>
          <p:cNvSpPr/>
          <p:nvPr/>
        </p:nvSpPr>
        <p:spPr>
          <a:xfrm>
            <a:off x="6217920" y="3703320"/>
            <a:ext cx="5394600" cy="658080"/>
          </a:xfrm>
          <a:prstGeom prst="roundRect">
            <a:avLst>
              <a:gd name="adj" fmla="val 8333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Shape 67"/>
          <p:cNvSpPr/>
          <p:nvPr/>
        </p:nvSpPr>
        <p:spPr>
          <a:xfrm>
            <a:off x="6400800" y="3849480"/>
            <a:ext cx="365400" cy="3654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4" name="Text 68"/>
          <p:cNvSpPr/>
          <p:nvPr/>
        </p:nvSpPr>
        <p:spPr>
          <a:xfrm>
            <a:off x="6400800" y="384948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mbria"/>
                <a:ea typeface="Cambria"/>
              </a:rPr>
              <a:t>6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Text 69"/>
          <p:cNvSpPr/>
          <p:nvPr/>
        </p:nvSpPr>
        <p:spPr>
          <a:xfrm>
            <a:off x="6876360" y="3703320"/>
            <a:ext cx="3520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w ∝ √t. w=6 when t=4. w when t=25?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Text 70"/>
          <p:cNvSpPr/>
          <p:nvPr/>
        </p:nvSpPr>
        <p:spPr>
          <a:xfrm>
            <a:off x="10332720" y="3703320"/>
            <a:ext cx="1234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w = 15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Text 71"/>
          <p:cNvSpPr/>
          <p:nvPr/>
        </p:nvSpPr>
        <p:spPr>
          <a:xfrm>
            <a:off x="567000" y="470916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5c6b60"/>
                </a:solidFill>
                <a:latin typeface="Calibri"/>
                <a:ea typeface="Calibri"/>
              </a:rPr>
              <a:t>Q4: y = kx² → 45 = k×9 → k = 5 → y = 5×25 = 125.   Q6: w = k√t → 6 = k×2 → k = 3 → w = 3×5 = 15.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3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4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5" name="Text 37"/>
          <p:cNvSpPr/>
          <p:nvPr/>
        </p:nvSpPr>
        <p:spPr>
          <a:xfrm>
            <a:off x="1554480" y="676800"/>
            <a:ext cx="8229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PART 5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6" name="Text 38"/>
          <p:cNvSpPr/>
          <p:nvPr/>
        </p:nvSpPr>
        <p:spPr>
          <a:xfrm>
            <a:off x="777240" y="1691640"/>
            <a:ext cx="107895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e0ac2b"/>
                </a:solidFill>
                <a:latin typeface="Cambria"/>
                <a:ea typeface="Cambria"/>
              </a:rPr>
              <a:t>Past-Paper Questions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7" name="Text 39"/>
          <p:cNvSpPr/>
          <p:nvPr/>
        </p:nvSpPr>
        <p:spPr>
          <a:xfrm>
            <a:off x="804600" y="269748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Original exam questions — write the equation, find k, then answer.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8" name="Shape 40"/>
          <p:cNvSpPr/>
          <p:nvPr/>
        </p:nvSpPr>
        <p:spPr>
          <a:xfrm>
            <a:off x="868680" y="361188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9" name="Text 41"/>
          <p:cNvSpPr/>
          <p:nvPr/>
        </p:nvSpPr>
        <p:spPr>
          <a:xfrm>
            <a:off x="868680" y="361188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0" name="Text 42"/>
          <p:cNvSpPr/>
          <p:nvPr/>
        </p:nvSpPr>
        <p:spPr>
          <a:xfrm>
            <a:off x="1554480" y="361188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Direct, inverse, or a power?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1" name="Shape 43"/>
          <p:cNvSpPr/>
          <p:nvPr/>
        </p:nvSpPr>
        <p:spPr>
          <a:xfrm>
            <a:off x="868680" y="432504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2" name="Text 44"/>
          <p:cNvSpPr/>
          <p:nvPr/>
        </p:nvSpPr>
        <p:spPr>
          <a:xfrm>
            <a:off x="868680" y="43250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3" name="Text 45"/>
          <p:cNvSpPr/>
          <p:nvPr/>
        </p:nvSpPr>
        <p:spPr>
          <a:xfrm>
            <a:off x="1554480" y="432504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Write y = k… with the right power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4" name="Shape 46"/>
          <p:cNvSpPr/>
          <p:nvPr/>
        </p:nvSpPr>
        <p:spPr>
          <a:xfrm>
            <a:off x="868680" y="503820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5" name="Text 47"/>
          <p:cNvSpPr/>
          <p:nvPr/>
        </p:nvSpPr>
        <p:spPr>
          <a:xfrm>
            <a:off x="868680" y="503820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6" name="Text 48"/>
          <p:cNvSpPr/>
          <p:nvPr/>
        </p:nvSpPr>
        <p:spPr>
          <a:xfrm>
            <a:off x="1554480" y="503820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Substitute to find 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7" name="Shape 49"/>
          <p:cNvSpPr/>
          <p:nvPr/>
        </p:nvSpPr>
        <p:spPr>
          <a:xfrm>
            <a:off x="868680" y="575172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8" name="Text 50"/>
          <p:cNvSpPr/>
          <p:nvPr/>
        </p:nvSpPr>
        <p:spPr>
          <a:xfrm>
            <a:off x="868680" y="575172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9" name="Text 51"/>
          <p:cNvSpPr/>
          <p:nvPr/>
        </p:nvSpPr>
        <p:spPr>
          <a:xfrm>
            <a:off x="1554480" y="575172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Answer the question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QUESTIONS (1 of 3)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Squares &amp; Inverse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9" name="Shape 39"/>
          <p:cNvSpPr/>
          <p:nvPr/>
        </p:nvSpPr>
        <p:spPr>
          <a:xfrm>
            <a:off x="567000" y="1691640"/>
            <a:ext cx="11063880" cy="1416960"/>
          </a:xfrm>
          <a:prstGeom prst="roundRect">
            <a:avLst>
              <a:gd name="adj" fmla="val 3871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Shape 40"/>
          <p:cNvSpPr/>
          <p:nvPr/>
        </p:nvSpPr>
        <p:spPr>
          <a:xfrm>
            <a:off x="868680" y="214884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1" name="Text 41"/>
          <p:cNvSpPr/>
          <p:nvPr/>
        </p:nvSpPr>
        <p:spPr>
          <a:xfrm>
            <a:off x="868680" y="21488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Text 42"/>
          <p:cNvSpPr/>
          <p:nvPr/>
        </p:nvSpPr>
        <p:spPr>
          <a:xfrm>
            <a:off x="1481400" y="1801440"/>
            <a:ext cx="763488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[Edexcel, Nov 2013] y is directly proportional to the square of x. When x = 3, y = 36. Find the value of y when x = 5.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Shape 43"/>
          <p:cNvSpPr/>
          <p:nvPr/>
        </p:nvSpPr>
        <p:spPr>
          <a:xfrm>
            <a:off x="9326880" y="2075760"/>
            <a:ext cx="2121120" cy="658080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4" name="Text 44"/>
          <p:cNvSpPr/>
          <p:nvPr/>
        </p:nvSpPr>
        <p:spPr>
          <a:xfrm>
            <a:off x="9326880" y="2075760"/>
            <a:ext cx="2121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1" lang="en-US" sz="850" spc="97" strike="noStrike">
                <a:solidFill>
                  <a:srgbClr val="e0ac2b"/>
                </a:solidFill>
                <a:latin typeface="Cambria"/>
                <a:ea typeface="Cambria"/>
              </a:rPr>
              <a:t>ANSWER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debdd"/>
                </a:solidFill>
                <a:latin typeface="Cambria"/>
                <a:ea typeface="Cambria"/>
              </a:rPr>
              <a:t>y = 100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Shape 45"/>
          <p:cNvSpPr/>
          <p:nvPr/>
        </p:nvSpPr>
        <p:spPr>
          <a:xfrm>
            <a:off x="567000" y="3246120"/>
            <a:ext cx="11063880" cy="1416960"/>
          </a:xfrm>
          <a:prstGeom prst="roundRect">
            <a:avLst>
              <a:gd name="adj" fmla="val 3871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Shape 46"/>
          <p:cNvSpPr/>
          <p:nvPr/>
        </p:nvSpPr>
        <p:spPr>
          <a:xfrm>
            <a:off x="868680" y="37033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7" name="Text 47"/>
          <p:cNvSpPr/>
          <p:nvPr/>
        </p:nvSpPr>
        <p:spPr>
          <a:xfrm>
            <a:off x="868680" y="37033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Text 48"/>
          <p:cNvSpPr/>
          <p:nvPr/>
        </p:nvSpPr>
        <p:spPr>
          <a:xfrm>
            <a:off x="1481400" y="3355920"/>
            <a:ext cx="763488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[Edexcel, Nov 2010, non-calc] P is inversely proportional to V. When V = 8, P = 5. (a) Find a formula for P in terms of V. (b) Find P when V = 2.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Shape 49"/>
          <p:cNvSpPr/>
          <p:nvPr/>
        </p:nvSpPr>
        <p:spPr>
          <a:xfrm>
            <a:off x="9326880" y="3630240"/>
            <a:ext cx="2121120" cy="658080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0" name="Text 50"/>
          <p:cNvSpPr/>
          <p:nvPr/>
        </p:nvSpPr>
        <p:spPr>
          <a:xfrm>
            <a:off x="9326880" y="3630240"/>
            <a:ext cx="2121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1" lang="en-US" sz="850" spc="97" strike="noStrike">
                <a:solidFill>
                  <a:srgbClr val="e0ac2b"/>
                </a:solidFill>
                <a:latin typeface="Cambria"/>
                <a:ea typeface="Cambria"/>
              </a:rPr>
              <a:t>ANSWER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debdd"/>
                </a:solidFill>
                <a:latin typeface="Cambria"/>
                <a:ea typeface="Cambria"/>
              </a:rPr>
              <a:t>P = 40/V ;  P = 20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Shape 51"/>
          <p:cNvSpPr/>
          <p:nvPr/>
        </p:nvSpPr>
        <p:spPr>
          <a:xfrm>
            <a:off x="567000" y="4800600"/>
            <a:ext cx="11063880" cy="1416960"/>
          </a:xfrm>
          <a:prstGeom prst="roundRect">
            <a:avLst>
              <a:gd name="adj" fmla="val 3871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Shape 52"/>
          <p:cNvSpPr/>
          <p:nvPr/>
        </p:nvSpPr>
        <p:spPr>
          <a:xfrm>
            <a:off x="868680" y="52578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3" name="Text 53"/>
          <p:cNvSpPr/>
          <p:nvPr/>
        </p:nvSpPr>
        <p:spPr>
          <a:xfrm>
            <a:off x="868680" y="52578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Text 54"/>
          <p:cNvSpPr/>
          <p:nvPr/>
        </p:nvSpPr>
        <p:spPr>
          <a:xfrm>
            <a:off x="1481400" y="4910400"/>
            <a:ext cx="763488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y is directly proportional to the square of x. When x = 6, y = 27. Find y when x = 4.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Shape 55"/>
          <p:cNvSpPr/>
          <p:nvPr/>
        </p:nvSpPr>
        <p:spPr>
          <a:xfrm>
            <a:off x="9326880" y="5184720"/>
            <a:ext cx="2121120" cy="658080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6" name="Text 56"/>
          <p:cNvSpPr/>
          <p:nvPr/>
        </p:nvSpPr>
        <p:spPr>
          <a:xfrm>
            <a:off x="9326880" y="5184720"/>
            <a:ext cx="2121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1" lang="en-US" sz="850" spc="97" strike="noStrike">
                <a:solidFill>
                  <a:srgbClr val="e0ac2b"/>
                </a:solidFill>
                <a:latin typeface="Cambria"/>
                <a:ea typeface="Cambria"/>
              </a:rPr>
              <a:t>ANSWER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debdd"/>
                </a:solidFill>
                <a:latin typeface="Cambria"/>
                <a:ea typeface="Cambria"/>
              </a:rPr>
              <a:t>y = 12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clickEffect" fill="hold" presetClass="entr" presetID="16" presetSubtype="2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barn(inVertical)" transition="in">
                                      <p:cBhvr additive="repl">
                                        <p:cTn id="7" dur="500"/>
                                        <p:tgtEl>
                                          <p:spTgt spid="6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nodeType="withEffect" fill="hold" presetClass="entr" presetID="16" presetSubtype="2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barn(inVertical)" transition="in">
                                      <p:cBhvr additive="repl">
                                        <p:cTn id="10" dur="500"/>
                                        <p:tgtEl>
                                          <p:spTgt spid="6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nodeType="clickEffect" fill="hold" presetClass="entr" presetID="16" presetSubtype="2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barn(inVertical)" transition="in">
                                      <p:cBhvr additive="repl">
                                        <p:cTn id="15" dur="500"/>
                                        <p:tgtEl>
                                          <p:spTgt spid="6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nodeType="withEffect" fill="hold" presetClass="entr" presetID="16" presetSubtype="2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barn(inVertical)" transition="in">
                                      <p:cBhvr additive="repl">
                                        <p:cTn id="18" dur="500"/>
                                        <p:tgtEl>
                                          <p:spTgt spid="6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nodeType="clickEffect" fill="hold" presetClass="entr" presetID="16" presetSubtype="2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barn(inVertical)" transition="in">
                                      <p:cBhvr additive="repl">
                                        <p:cTn id="23" dur="500"/>
                                        <p:tgtEl>
                                          <p:spTgt spid="6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nodeType="withEffect" fill="hold" presetClass="entr" presetID="16" presetSubtype="2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barn(inVertical)" transition="in">
                                      <p:cBhvr additive="repl">
                                        <p:cTn id="26" dur="500"/>
                                        <p:tgtEl>
                                          <p:spTgt spid="6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3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QUESTIONS (3 of 3)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In Context &amp; Harder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Shape 39"/>
          <p:cNvSpPr/>
          <p:nvPr/>
        </p:nvSpPr>
        <p:spPr>
          <a:xfrm>
            <a:off x="567000" y="1691640"/>
            <a:ext cx="11063880" cy="1416960"/>
          </a:xfrm>
          <a:prstGeom prst="roundRect">
            <a:avLst>
              <a:gd name="adj" fmla="val 3871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Shape 40"/>
          <p:cNvSpPr/>
          <p:nvPr/>
        </p:nvSpPr>
        <p:spPr>
          <a:xfrm>
            <a:off x="868680" y="214884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8" name="Text 41"/>
          <p:cNvSpPr/>
          <p:nvPr/>
        </p:nvSpPr>
        <p:spPr>
          <a:xfrm>
            <a:off x="868680" y="21488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7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9" name="Text 42"/>
          <p:cNvSpPr/>
          <p:nvPr/>
        </p:nvSpPr>
        <p:spPr>
          <a:xfrm>
            <a:off x="1481400" y="1801440"/>
            <a:ext cx="763488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The cost C of a party is directly proportional to the number of guests n. 20 guests cost £150. Find the cost for 32 guests.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Shape 43"/>
          <p:cNvSpPr/>
          <p:nvPr/>
        </p:nvSpPr>
        <p:spPr>
          <a:xfrm>
            <a:off x="9326880" y="2075760"/>
            <a:ext cx="2121120" cy="658080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1" name="Text 44"/>
          <p:cNvSpPr/>
          <p:nvPr/>
        </p:nvSpPr>
        <p:spPr>
          <a:xfrm>
            <a:off x="9326880" y="2075760"/>
            <a:ext cx="2121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1" lang="en-US" sz="850" spc="97" strike="noStrike">
                <a:solidFill>
                  <a:srgbClr val="e0ac2b"/>
                </a:solidFill>
                <a:latin typeface="Cambria"/>
                <a:ea typeface="Cambria"/>
              </a:rPr>
              <a:t>ANSWER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debdd"/>
                </a:solidFill>
                <a:latin typeface="Cambria"/>
                <a:ea typeface="Cambria"/>
              </a:rPr>
              <a:t>£240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2" name="Shape 45"/>
          <p:cNvSpPr/>
          <p:nvPr/>
        </p:nvSpPr>
        <p:spPr>
          <a:xfrm>
            <a:off x="567000" y="3246120"/>
            <a:ext cx="11063880" cy="1416960"/>
          </a:xfrm>
          <a:prstGeom prst="roundRect">
            <a:avLst>
              <a:gd name="adj" fmla="val 3871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Shape 46"/>
          <p:cNvSpPr/>
          <p:nvPr/>
        </p:nvSpPr>
        <p:spPr>
          <a:xfrm>
            <a:off x="868680" y="37033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4" name="Text 47"/>
          <p:cNvSpPr/>
          <p:nvPr/>
        </p:nvSpPr>
        <p:spPr>
          <a:xfrm>
            <a:off x="868680" y="37033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8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Text 48"/>
          <p:cNvSpPr/>
          <p:nvPr/>
        </p:nvSpPr>
        <p:spPr>
          <a:xfrm>
            <a:off x="1481400" y="3355920"/>
            <a:ext cx="763488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The time t to build a wall is inversely proportional to the number of workers w. 3 workers take 8 hours. How long will 4 workers take?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Shape 49"/>
          <p:cNvSpPr/>
          <p:nvPr/>
        </p:nvSpPr>
        <p:spPr>
          <a:xfrm>
            <a:off x="9326880" y="3630240"/>
            <a:ext cx="2121120" cy="658080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7" name="Text 50"/>
          <p:cNvSpPr/>
          <p:nvPr/>
        </p:nvSpPr>
        <p:spPr>
          <a:xfrm>
            <a:off x="9326880" y="3630240"/>
            <a:ext cx="2121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1" lang="en-US" sz="850" spc="97" strike="noStrike">
                <a:solidFill>
                  <a:srgbClr val="e0ac2b"/>
                </a:solidFill>
                <a:latin typeface="Cambria"/>
                <a:ea typeface="Cambria"/>
              </a:rPr>
              <a:t>ANSWER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debdd"/>
                </a:solidFill>
                <a:latin typeface="Cambria"/>
                <a:ea typeface="Cambria"/>
              </a:rPr>
              <a:t>6 hours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Shape 51"/>
          <p:cNvSpPr/>
          <p:nvPr/>
        </p:nvSpPr>
        <p:spPr>
          <a:xfrm>
            <a:off x="567000" y="4800600"/>
            <a:ext cx="11063880" cy="1416960"/>
          </a:xfrm>
          <a:prstGeom prst="roundRect">
            <a:avLst>
              <a:gd name="adj" fmla="val 3871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9" name="Shape 52"/>
          <p:cNvSpPr/>
          <p:nvPr/>
        </p:nvSpPr>
        <p:spPr>
          <a:xfrm>
            <a:off x="868680" y="52578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0" name="Text 53"/>
          <p:cNvSpPr/>
          <p:nvPr/>
        </p:nvSpPr>
        <p:spPr>
          <a:xfrm>
            <a:off x="868680" y="52578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9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Text 54"/>
          <p:cNvSpPr/>
          <p:nvPr/>
        </p:nvSpPr>
        <p:spPr>
          <a:xfrm>
            <a:off x="1481400" y="4910400"/>
            <a:ext cx="763488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F is inversely proportional to the square of d. When d = 4, F = 3. Find F when d = 2.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Shape 55"/>
          <p:cNvSpPr/>
          <p:nvPr/>
        </p:nvSpPr>
        <p:spPr>
          <a:xfrm>
            <a:off x="9326880" y="5184720"/>
            <a:ext cx="2121120" cy="658080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3" name="Text 56"/>
          <p:cNvSpPr/>
          <p:nvPr/>
        </p:nvSpPr>
        <p:spPr>
          <a:xfrm>
            <a:off x="9326880" y="5184720"/>
            <a:ext cx="2121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1" lang="en-US" sz="850" spc="97" strike="noStrike">
                <a:solidFill>
                  <a:srgbClr val="e0ac2b"/>
                </a:solidFill>
                <a:latin typeface="Cambria"/>
                <a:ea typeface="Cambria"/>
              </a:rPr>
              <a:t>ANSWER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debdd"/>
                </a:solidFill>
                <a:latin typeface="Cambria"/>
                <a:ea typeface="Cambria"/>
              </a:rPr>
              <a:t>F = 12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7" dur="indefinite" restart="never" nodeType="tmRoot">
          <p:childTnLst>
            <p:seq>
              <p:cTn id="28" dur="indefinite" nodeType="mainSeq">
                <p:childTnLst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nodeType="clickEffect" fill="hold" presetClass="entr" presetID="16" presetSubtype="2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barn(inVertical)" transition="in">
                                      <p:cBhvr additive="repl">
                                        <p:cTn id="33" dur="500"/>
                                        <p:tgtEl>
                                          <p:spTgt spid="6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nodeType="clickEffect" fill="hold" presetClass="entr" presetID="16" presetSubtype="2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barn(inVertical)" transition="in">
                                      <p:cBhvr additive="repl">
                                        <p:cTn id="38" dur="500"/>
                                        <p:tgtEl>
                                          <p:spTgt spid="6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nodeType="withEffect" fill="hold" presetClass="entr" presetID="16" presetSubtype="2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barn(inVertical)" transition="in">
                                      <p:cBhvr additive="repl">
                                        <p:cTn id="41" dur="500"/>
                                        <p:tgtEl>
                                          <p:spTgt spid="6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nodeType="clickEffect" fill="hold" presetClass="entr" presetID="16" presetSubtype="2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barn(inVertical)" transition="in">
                                      <p:cBhvr additive="repl">
                                        <p:cTn id="46" dur="500"/>
                                        <p:tgtEl>
                                          <p:spTgt spid="6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nodeType="withEffect" fill="hold" presetClass="entr" presetID="16" presetSubtype="2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barn(inVertical)" transition="in">
                                      <p:cBhvr additive="repl">
                                        <p:cTn id="49" dur="500"/>
                                        <p:tgtEl>
                                          <p:spTgt spid="6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7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3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7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6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7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8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9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0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1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QUESTIONS (2 of 3)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2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Cubes, Inverse &amp; Roots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3" name="Shape 39"/>
          <p:cNvSpPr/>
          <p:nvPr/>
        </p:nvSpPr>
        <p:spPr>
          <a:xfrm>
            <a:off x="567000" y="1691640"/>
            <a:ext cx="11063880" cy="1416960"/>
          </a:xfrm>
          <a:prstGeom prst="roundRect">
            <a:avLst>
              <a:gd name="adj" fmla="val 3871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4" name="Shape 40"/>
          <p:cNvSpPr/>
          <p:nvPr/>
        </p:nvSpPr>
        <p:spPr>
          <a:xfrm>
            <a:off x="868680" y="214884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5" name="Text 41"/>
          <p:cNvSpPr/>
          <p:nvPr/>
        </p:nvSpPr>
        <p:spPr>
          <a:xfrm>
            <a:off x="868680" y="21488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6" name="Text 42"/>
          <p:cNvSpPr/>
          <p:nvPr/>
        </p:nvSpPr>
        <p:spPr>
          <a:xfrm>
            <a:off x="1481400" y="1801440"/>
            <a:ext cx="763488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y is directly proportional to the cube of x. When x = 2, y = 12. Find the value of y when x = 3.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7" name="Shape 43"/>
          <p:cNvSpPr/>
          <p:nvPr/>
        </p:nvSpPr>
        <p:spPr>
          <a:xfrm>
            <a:off x="9326880" y="2075760"/>
            <a:ext cx="2121120" cy="658080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8" name="Text 44"/>
          <p:cNvSpPr/>
          <p:nvPr/>
        </p:nvSpPr>
        <p:spPr>
          <a:xfrm>
            <a:off x="9326880" y="2075760"/>
            <a:ext cx="2121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1" lang="en-US" sz="850" spc="97" strike="noStrike">
                <a:solidFill>
                  <a:srgbClr val="e0ac2b"/>
                </a:solidFill>
                <a:latin typeface="Cambria"/>
                <a:ea typeface="Cambria"/>
              </a:rPr>
              <a:t>ANSWER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debdd"/>
                </a:solidFill>
                <a:latin typeface="Cambria"/>
                <a:ea typeface="Cambria"/>
              </a:rPr>
              <a:t>y = 40.5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9" name="Shape 45"/>
          <p:cNvSpPr/>
          <p:nvPr/>
        </p:nvSpPr>
        <p:spPr>
          <a:xfrm>
            <a:off x="567000" y="3246120"/>
            <a:ext cx="11063880" cy="1416960"/>
          </a:xfrm>
          <a:prstGeom prst="roundRect">
            <a:avLst>
              <a:gd name="adj" fmla="val 3871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0" name="Shape 46"/>
          <p:cNvSpPr/>
          <p:nvPr/>
        </p:nvSpPr>
        <p:spPr>
          <a:xfrm>
            <a:off x="868680" y="37033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1" name="Text 47"/>
          <p:cNvSpPr/>
          <p:nvPr/>
        </p:nvSpPr>
        <p:spPr>
          <a:xfrm>
            <a:off x="868680" y="37033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5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2" name="Text 48"/>
          <p:cNvSpPr/>
          <p:nvPr/>
        </p:nvSpPr>
        <p:spPr>
          <a:xfrm>
            <a:off x="1481400" y="3355920"/>
            <a:ext cx="763488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y is inversely proportional to x. y = 3 when x = 15. Find a formula for y in terms of x.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Shape 49"/>
          <p:cNvSpPr/>
          <p:nvPr/>
        </p:nvSpPr>
        <p:spPr>
          <a:xfrm>
            <a:off x="9326880" y="3630240"/>
            <a:ext cx="2121120" cy="658080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4" name="Text 50"/>
          <p:cNvSpPr/>
          <p:nvPr/>
        </p:nvSpPr>
        <p:spPr>
          <a:xfrm>
            <a:off x="9326880" y="3630240"/>
            <a:ext cx="2121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1" lang="en-US" sz="850" spc="97" strike="noStrike">
                <a:solidFill>
                  <a:srgbClr val="e0ac2b"/>
                </a:solidFill>
                <a:latin typeface="Cambria"/>
                <a:ea typeface="Cambria"/>
              </a:rPr>
              <a:t>ANSWER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debdd"/>
                </a:solidFill>
                <a:latin typeface="Cambria"/>
                <a:ea typeface="Cambria"/>
              </a:rPr>
              <a:t>y = 45/x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5" name="Shape 51"/>
          <p:cNvSpPr/>
          <p:nvPr/>
        </p:nvSpPr>
        <p:spPr>
          <a:xfrm>
            <a:off x="567000" y="4800600"/>
            <a:ext cx="11063880" cy="1416960"/>
          </a:xfrm>
          <a:prstGeom prst="roundRect">
            <a:avLst>
              <a:gd name="adj" fmla="val 3871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6" name="Shape 52"/>
          <p:cNvSpPr/>
          <p:nvPr/>
        </p:nvSpPr>
        <p:spPr>
          <a:xfrm>
            <a:off x="868680" y="52578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7" name="Text 53"/>
          <p:cNvSpPr/>
          <p:nvPr/>
        </p:nvSpPr>
        <p:spPr>
          <a:xfrm>
            <a:off x="868680" y="52578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mbria"/>
                <a:ea typeface="Cambria"/>
              </a:rPr>
              <a:t>6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Text 54"/>
          <p:cNvSpPr/>
          <p:nvPr/>
        </p:nvSpPr>
        <p:spPr>
          <a:xfrm>
            <a:off x="1481400" y="4910400"/>
            <a:ext cx="7634880" cy="11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1c2a22"/>
                </a:solidFill>
                <a:latin typeface="Cambria"/>
                <a:ea typeface="Cambria"/>
              </a:rPr>
              <a:t>d is directly proportional to the square root of t. When t = 16, d = 20. Find d when t = 25.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" name="Shape 55"/>
          <p:cNvSpPr/>
          <p:nvPr/>
        </p:nvSpPr>
        <p:spPr>
          <a:xfrm>
            <a:off x="9326880" y="5184720"/>
            <a:ext cx="2121120" cy="658080"/>
          </a:xfrm>
          <a:prstGeom prst="roundRect">
            <a:avLst>
              <a:gd name="adj" fmla="val 6944"/>
            </a:avLst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0" name="Text 56"/>
          <p:cNvSpPr/>
          <p:nvPr/>
        </p:nvSpPr>
        <p:spPr>
          <a:xfrm>
            <a:off x="9326880" y="5184720"/>
            <a:ext cx="21211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201"/>
              </a:spcAft>
              <a:tabLst>
                <a:tab algn="l" pos="0"/>
              </a:tabLst>
            </a:pPr>
            <a:r>
              <a:rPr b="1" lang="en-US" sz="850" spc="97" strike="noStrike">
                <a:solidFill>
                  <a:srgbClr val="e0ac2b"/>
                </a:solidFill>
                <a:latin typeface="Cambria"/>
                <a:ea typeface="Cambria"/>
              </a:rPr>
              <a:t>ANSWER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debdd"/>
                </a:solidFill>
                <a:latin typeface="Cambria"/>
                <a:ea typeface="Cambria"/>
              </a:rPr>
              <a:t>d = 25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50" dur="indefinite" restart="never" nodeType="tmRoot">
          <p:childTnLst>
            <p:seq>
              <p:cTn id="51" dur="indefinite" nodeType="mainSeq">
                <p:childTnLst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nodeType="clickEffect" fill="hold" presetClass="entr" presetID="16" presetSubtype="2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barn(inVertical)" transition="in">
                                      <p:cBhvr additive="repl">
                                        <p:cTn id="56" dur="500"/>
                                        <p:tgtEl>
                                          <p:spTgt spid="7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nodeType="clickEffect" fill="hold" presetClass="entr" presetID="16" presetSubtype="2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barn(inVertical)" transition="in">
                                      <p:cBhvr additive="repl">
                                        <p:cTn id="61" dur="500"/>
                                        <p:tgtEl>
                                          <p:spTgt spid="7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nodeType="clickEffect" fill="hold" presetClass="entr" presetID="16" presetSubtype="2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barn(inVertical)" transition="in">
                                      <p:cBhvr additive="repl">
                                        <p:cTn id="66" dur="500"/>
                                        <p:tgtEl>
                                          <p:spTgt spid="7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6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7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8" name="Text 37"/>
          <p:cNvSpPr/>
          <p:nvPr/>
        </p:nvSpPr>
        <p:spPr>
          <a:xfrm>
            <a:off x="1554480" y="676800"/>
            <a:ext cx="7314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RECAP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9" name="Text 38"/>
          <p:cNvSpPr/>
          <p:nvPr/>
        </p:nvSpPr>
        <p:spPr>
          <a:xfrm>
            <a:off x="777240" y="1371600"/>
            <a:ext cx="10606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e0ac2b"/>
                </a:solidFill>
                <a:latin typeface="Cambria"/>
                <a:ea typeface="Cambria"/>
              </a:rPr>
              <a:t>Key Takeaways</a:t>
            </a:r>
            <a:endParaRPr b="0" lang="en-US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0" name="Shape 39"/>
          <p:cNvSpPr/>
          <p:nvPr/>
        </p:nvSpPr>
        <p:spPr>
          <a:xfrm>
            <a:off x="868680" y="236844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1" name="Text 40"/>
          <p:cNvSpPr/>
          <p:nvPr/>
        </p:nvSpPr>
        <p:spPr>
          <a:xfrm>
            <a:off x="1234440" y="2331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Write the words as an equation with k: direct y = kx, inverse y = k/x.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2" name="Shape 41"/>
          <p:cNvSpPr/>
          <p:nvPr/>
        </p:nvSpPr>
        <p:spPr>
          <a:xfrm>
            <a:off x="868680" y="2935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3" name="Text 42"/>
          <p:cNvSpPr/>
          <p:nvPr/>
        </p:nvSpPr>
        <p:spPr>
          <a:xfrm>
            <a:off x="1234440" y="2898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Put the power in: y = kx², y = kx³, y = k√x, y = k/x².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4" name="Shape 43"/>
          <p:cNvSpPr/>
          <p:nvPr/>
        </p:nvSpPr>
        <p:spPr>
          <a:xfrm>
            <a:off x="868680" y="3502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5" name="Text 44"/>
          <p:cNvSpPr/>
          <p:nvPr/>
        </p:nvSpPr>
        <p:spPr>
          <a:xfrm>
            <a:off x="1234440" y="3465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Substitute one given pair to find k — direct divides, inverse multiplies.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6" name="Shape 45"/>
          <p:cNvSpPr/>
          <p:nvPr/>
        </p:nvSpPr>
        <p:spPr>
          <a:xfrm>
            <a:off x="868680" y="4069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7" name="Text 46"/>
          <p:cNvSpPr/>
          <p:nvPr/>
        </p:nvSpPr>
        <p:spPr>
          <a:xfrm>
            <a:off x="1234440" y="403236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Write the full equation, then substitute again to answer.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8" name="Shape 47"/>
          <p:cNvSpPr/>
          <p:nvPr/>
        </p:nvSpPr>
        <p:spPr>
          <a:xfrm>
            <a:off x="868680" y="4636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9" name="Text 48"/>
          <p:cNvSpPr/>
          <p:nvPr/>
        </p:nvSpPr>
        <p:spPr>
          <a:xfrm>
            <a:off x="1234440" y="459936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Direct: both grow together; inverse: one grows as the other shrinks.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0" name="Shape 49"/>
          <p:cNvSpPr/>
          <p:nvPr/>
        </p:nvSpPr>
        <p:spPr>
          <a:xfrm>
            <a:off x="777240" y="5440680"/>
            <a:ext cx="10606680" cy="86832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rotWithShape="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1" name="Text 50"/>
          <p:cNvSpPr/>
          <p:nvPr/>
        </p:nvSpPr>
        <p:spPr>
          <a:xfrm>
            <a:off x="777240" y="5440680"/>
            <a:ext cx="1060668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Golden rule:  </a:t>
            </a:r>
            <a:r>
              <a:rPr b="0" lang="en-US" sz="1700" spc="-1" strike="noStrike">
                <a:solidFill>
                  <a:srgbClr val="edebdd"/>
                </a:solidFill>
                <a:latin typeface="Cambria"/>
                <a:ea typeface="Cambria"/>
              </a:rPr>
              <a:t>find k first — it turns the proportion into an equation you can use.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LibreOffice/24.2.7.2$Linux_X86_64 LibreOffice_project/420$Build-2</Application>
  <AppVersion>15.0000</AppVersion>
  <Words>1483</Words>
  <Paragraphs>222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2026-07-11T10:45:03Z</dcterms:created>
  <dc:creator>Zahra Sheikh Ali</dc:creator>
  <dc:description/>
  <dc:language>en-US</dc:language>
  <cp:lastModifiedBy>zahraa sheik ali</cp:lastModifiedBy>
  <dcterms:modified xsi:type="dcterms:W3CDTF">2026-07-20T12:08:29Z</dcterms:modified>
  <cp:revision>2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14</vt:r8>
  </property>
  <property fmtid="{D5CDD505-2E9C-101B-9397-08002B2CF9AE}" pid="3" name="PresentationFormat">
    <vt:lpwstr>Custom</vt:lpwstr>
  </property>
  <property fmtid="{D5CDD505-2E9C-101B-9397-08002B2CF9AE}" pid="4" name="Slides">
    <vt:r8>14</vt:r8>
  </property>
</Properties>
</file>