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69978" y="548640"/>
            <a:ext cx="1794053" cy="1051560"/>
          </a:xfrm>
          <a:custGeom>
            <a:avLst/>
            <a:gdLst/>
            <a:ahLst/>
            <a:cxnLst/>
            <a:rect l="l" t="t" r="r" b="b"/>
            <a:pathLst>
              <a:path w="1794053" h="1051560">
                <a:moveTo>
                  <a:pt x="805586" y="1051560"/>
                </a:moveTo>
                <a:lnTo>
                  <a:pt x="1794053" y="692201"/>
                </a:lnTo>
                <a:lnTo>
                  <a:pt x="1771193" y="635508"/>
                </a:lnTo>
                <a:lnTo>
                  <a:pt x="1745590" y="579730"/>
                </a:lnTo>
                <a:lnTo>
                  <a:pt x="1716329" y="525780"/>
                </a:lnTo>
                <a:lnTo>
                  <a:pt x="1684325" y="473659"/>
                </a:lnTo>
                <a:lnTo>
                  <a:pt x="1648663" y="423367"/>
                </a:lnTo>
                <a:lnTo>
                  <a:pt x="1611173" y="375818"/>
                </a:lnTo>
                <a:lnTo>
                  <a:pt x="1570025" y="330098"/>
                </a:lnTo>
                <a:lnTo>
                  <a:pt x="1527048" y="287122"/>
                </a:lnTo>
                <a:lnTo>
                  <a:pt x="1481328" y="245974"/>
                </a:lnTo>
                <a:lnTo>
                  <a:pt x="1433779" y="208483"/>
                </a:lnTo>
                <a:lnTo>
                  <a:pt x="1383487" y="172822"/>
                </a:lnTo>
                <a:lnTo>
                  <a:pt x="1331366" y="140818"/>
                </a:lnTo>
                <a:lnTo>
                  <a:pt x="1277417" y="111557"/>
                </a:lnTo>
                <a:lnTo>
                  <a:pt x="1221638" y="85954"/>
                </a:lnTo>
                <a:lnTo>
                  <a:pt x="1164946" y="63094"/>
                </a:lnTo>
                <a:lnTo>
                  <a:pt x="1107338" y="43891"/>
                </a:lnTo>
                <a:lnTo>
                  <a:pt x="1047902" y="28346"/>
                </a:lnTo>
                <a:lnTo>
                  <a:pt x="988466" y="15545"/>
                </a:lnTo>
                <a:lnTo>
                  <a:pt x="927202" y="7315"/>
                </a:lnTo>
                <a:lnTo>
                  <a:pt x="866851" y="1829"/>
                </a:lnTo>
                <a:lnTo>
                  <a:pt x="805586" y="0"/>
                </a:lnTo>
                <a:lnTo>
                  <a:pt x="744322" y="1829"/>
                </a:lnTo>
                <a:lnTo>
                  <a:pt x="683057" y="7315"/>
                </a:lnTo>
                <a:lnTo>
                  <a:pt x="622706" y="15545"/>
                </a:lnTo>
                <a:lnTo>
                  <a:pt x="563270" y="28346"/>
                </a:lnTo>
                <a:lnTo>
                  <a:pt x="503834" y="43891"/>
                </a:lnTo>
                <a:lnTo>
                  <a:pt x="446227" y="63094"/>
                </a:lnTo>
                <a:lnTo>
                  <a:pt x="388620" y="85954"/>
                </a:lnTo>
                <a:lnTo>
                  <a:pt x="333756" y="111557"/>
                </a:lnTo>
                <a:lnTo>
                  <a:pt x="279806" y="140818"/>
                </a:lnTo>
                <a:lnTo>
                  <a:pt x="227686" y="172822"/>
                </a:lnTo>
                <a:lnTo>
                  <a:pt x="177394" y="208483"/>
                </a:lnTo>
                <a:lnTo>
                  <a:pt x="129845" y="245974"/>
                </a:lnTo>
                <a:lnTo>
                  <a:pt x="84125" y="287122"/>
                </a:lnTo>
                <a:lnTo>
                  <a:pt x="40234" y="330098"/>
                </a:lnTo>
                <a:lnTo>
                  <a:pt x="0" y="375818"/>
                </a:lnTo>
                <a:close/>
              </a:path>
            </a:pathLst>
          </a:custGeom>
          <a:solidFill>
            <a:srgbClr val="33463A">
              <a:alpha val="7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86712" y="1164341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289869" y="1216515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829800" y="12161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820656" y="1545336"/>
            <a:ext cx="109728" cy="109728"/>
          </a:xfrm>
          <a:prstGeom prst="ellipse">
            <a:avLst/>
          </a:prstGeom>
          <a:solidFill>
            <a:srgbClr val="1C2A22"/>
          </a:solidFill>
          <a:ln/>
        </p:spPr>
      </p:sp>
      <p:sp>
        <p:nvSpPr>
          <p:cNvPr id="42" name="Text 40"/>
          <p:cNvSpPr/>
          <p:nvPr/>
        </p:nvSpPr>
        <p:spPr>
          <a:xfrm>
            <a:off x="9582912" y="1581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5" name="Text 43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Sectors of a Circle</a:t>
            </a:r>
            <a:endParaRPr lang="en-US" sz="4000" dirty="0"/>
          </a:p>
        </p:txBody>
      </p:sp>
      <p:sp>
        <p:nvSpPr>
          <p:cNvPr id="48" name="Text 46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· Sector Area · Sector Perimeter · Finding the Radius or Angle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to Do with a Sector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SECTOR is a ‘slice’ of a circle — two radii and the arc between them.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comes from one idea: a sector is a FRACTION (θ/360) of the whole circle.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of a sector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of a sector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radius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angle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arc · radius · angle θ · fraction of the circle · π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Sector Is a Fraction of the Circle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θ out of 360° tells you the fraction.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WHOLE-circle formula by θ/360.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238602" y="2103120"/>
            <a:ext cx="3183026" cy="1737360"/>
          </a:xfrm>
          <a:custGeom>
            <a:avLst/>
            <a:gdLst/>
            <a:ahLst/>
            <a:cxnLst/>
            <a:rect l="l" t="t" r="r" b="b"/>
            <a:pathLst>
              <a:path w="3183026" h="1737360">
                <a:moveTo>
                  <a:pt x="1504188" y="1737360"/>
                </a:moveTo>
                <a:lnTo>
                  <a:pt x="3183026" y="1287475"/>
                </a:lnTo>
                <a:lnTo>
                  <a:pt x="3150108" y="1178662"/>
                </a:lnTo>
                <a:lnTo>
                  <a:pt x="3109874" y="1072591"/>
                </a:lnTo>
                <a:lnTo>
                  <a:pt x="3063240" y="969264"/>
                </a:lnTo>
                <a:lnTo>
                  <a:pt x="3009290" y="868680"/>
                </a:lnTo>
                <a:lnTo>
                  <a:pt x="2948940" y="771754"/>
                </a:lnTo>
                <a:lnTo>
                  <a:pt x="2883103" y="679399"/>
                </a:lnTo>
                <a:lnTo>
                  <a:pt x="2810866" y="591617"/>
                </a:lnTo>
                <a:lnTo>
                  <a:pt x="2733142" y="508406"/>
                </a:lnTo>
                <a:lnTo>
                  <a:pt x="2649931" y="431597"/>
                </a:lnTo>
                <a:lnTo>
                  <a:pt x="2562149" y="359359"/>
                </a:lnTo>
                <a:lnTo>
                  <a:pt x="2469794" y="292608"/>
                </a:lnTo>
                <a:lnTo>
                  <a:pt x="2372868" y="233172"/>
                </a:lnTo>
                <a:lnTo>
                  <a:pt x="2273198" y="179222"/>
                </a:lnTo>
                <a:lnTo>
                  <a:pt x="2169871" y="132588"/>
                </a:lnTo>
                <a:lnTo>
                  <a:pt x="2062886" y="92354"/>
                </a:lnTo>
                <a:lnTo>
                  <a:pt x="1954073" y="59436"/>
                </a:lnTo>
                <a:lnTo>
                  <a:pt x="1843430" y="33833"/>
                </a:lnTo>
                <a:lnTo>
                  <a:pt x="1730959" y="14630"/>
                </a:lnTo>
                <a:lnTo>
                  <a:pt x="1618488" y="3658"/>
                </a:lnTo>
                <a:lnTo>
                  <a:pt x="1504188" y="0"/>
                </a:lnTo>
                <a:lnTo>
                  <a:pt x="1390802" y="3658"/>
                </a:lnTo>
                <a:lnTo>
                  <a:pt x="1277417" y="14630"/>
                </a:lnTo>
                <a:lnTo>
                  <a:pt x="1165860" y="33833"/>
                </a:lnTo>
                <a:lnTo>
                  <a:pt x="1055218" y="59436"/>
                </a:lnTo>
                <a:lnTo>
                  <a:pt x="946404" y="92354"/>
                </a:lnTo>
                <a:lnTo>
                  <a:pt x="839419" y="132588"/>
                </a:lnTo>
                <a:lnTo>
                  <a:pt x="736092" y="179222"/>
                </a:lnTo>
                <a:lnTo>
                  <a:pt x="635508" y="233172"/>
                </a:lnTo>
                <a:lnTo>
                  <a:pt x="539496" y="292608"/>
                </a:lnTo>
                <a:lnTo>
                  <a:pt x="447142" y="359359"/>
                </a:lnTo>
                <a:lnTo>
                  <a:pt x="359359" y="431597"/>
                </a:lnTo>
                <a:lnTo>
                  <a:pt x="276149" y="508406"/>
                </a:lnTo>
                <a:lnTo>
                  <a:pt x="198425" y="591617"/>
                </a:lnTo>
                <a:lnTo>
                  <a:pt x="126187" y="679399"/>
                </a:lnTo>
                <a:lnTo>
                  <a:pt x="60350" y="771754"/>
                </a:lnTo>
                <a:lnTo>
                  <a:pt x="0" y="868680"/>
                </a:lnTo>
                <a:close/>
              </a:path>
            </a:pathLst>
          </a:custGeom>
          <a:solidFill>
            <a:srgbClr val="FBF3DD">
              <a:alpha val="7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99400" y="3359617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808021" y="33604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269748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688336" y="3785616"/>
            <a:ext cx="109728" cy="109728"/>
          </a:xfrm>
          <a:prstGeom prst="ellipse">
            <a:avLst/>
          </a:prstGeom>
          <a:solidFill>
            <a:srgbClr val="1C2A22"/>
          </a:solidFill>
          <a:ln/>
        </p:spPr>
      </p:sp>
      <p:sp>
        <p:nvSpPr>
          <p:cNvPr id="48" name="Text 46"/>
          <p:cNvSpPr/>
          <p:nvPr/>
        </p:nvSpPr>
        <p:spPr>
          <a:xfrm>
            <a:off x="2450592" y="3822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669280" y="2148840"/>
            <a:ext cx="5961888" cy="1234440"/>
          </a:xfrm>
          <a:prstGeom prst="roundRect">
            <a:avLst>
              <a:gd name="adj" fmla="val 4444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943600" y="214884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Fraction of circle  =  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886968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900" dirty="0"/>
          </a:p>
        </p:txBody>
      </p:sp>
      <p:sp>
        <p:nvSpPr>
          <p:cNvPr id="52" name="Shape 50"/>
          <p:cNvSpPr/>
          <p:nvPr/>
        </p:nvSpPr>
        <p:spPr>
          <a:xfrm>
            <a:off x="8869680" y="2761488"/>
            <a:ext cx="914400" cy="0"/>
          </a:xfrm>
          <a:prstGeom prst="line">
            <a:avLst/>
          </a:prstGeom>
          <a:noFill/>
          <a:ln w="19050">
            <a:solidFill>
              <a:srgbClr val="C84F2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69680" y="2798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1900" dirty="0"/>
          </a:p>
        </p:txBody>
      </p:sp>
      <p:sp>
        <p:nvSpPr>
          <p:cNvPr id="54" name="Shape 52"/>
          <p:cNvSpPr/>
          <p:nvPr/>
        </p:nvSpPr>
        <p:spPr>
          <a:xfrm>
            <a:off x="5669280" y="3520440"/>
            <a:ext cx="5961888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943600" y="352044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 =  </a:t>
            </a:r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/360 × </a:t>
            </a:r>
            <a:pPr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πd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669280" y="4709160"/>
            <a:ext cx="5961888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943600" y="470916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area  =  </a:t>
            </a:r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/360 × </a:t>
            </a:r>
            <a:pPr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πr²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circle: circumference = πd, area = πr².  A sector is just θ/360 of each.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1 · ARC LENGTH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Curved Edge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is the curved part.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θ/360 of the whole circumference.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120640" cy="356616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6868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 =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3200400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3200400" y="3200400"/>
            <a:ext cx="822960" cy="0"/>
          </a:xfrm>
          <a:prstGeom prst="line">
            <a:avLst/>
          </a:prstGeom>
          <a:noFill/>
          <a:ln w="19050">
            <a:solidFill>
              <a:srgbClr val="C84F2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4206240" y="2880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πd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68680" y="39776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θ = 90°, r = 8 cm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90/360 × π ×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¼ × 50.27 = </a:t>
            </a:r>
            <a:pPr indent="0" marL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12.6 cm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8293671" y="2194560"/>
            <a:ext cx="2012594" cy="1737360"/>
          </a:xfrm>
          <a:custGeom>
            <a:avLst/>
            <a:gdLst/>
            <a:ahLst/>
            <a:cxnLst/>
            <a:rect l="l" t="t" r="r" b="b"/>
            <a:pathLst>
              <a:path w="2012594" h="1737360">
                <a:moveTo>
                  <a:pt x="301752" y="1737360"/>
                </a:moveTo>
                <a:lnTo>
                  <a:pt x="2012594" y="1435608"/>
                </a:lnTo>
                <a:lnTo>
                  <a:pt x="1997964" y="1361542"/>
                </a:lnTo>
                <a:lnTo>
                  <a:pt x="1979676" y="1287475"/>
                </a:lnTo>
                <a:lnTo>
                  <a:pt x="1958645" y="1215238"/>
                </a:lnTo>
                <a:lnTo>
                  <a:pt x="1933956" y="1143000"/>
                </a:lnTo>
                <a:lnTo>
                  <a:pt x="1906524" y="1072591"/>
                </a:lnTo>
                <a:lnTo>
                  <a:pt x="1876349" y="1003097"/>
                </a:lnTo>
                <a:lnTo>
                  <a:pt x="1842516" y="935431"/>
                </a:lnTo>
                <a:lnTo>
                  <a:pt x="1805940" y="868680"/>
                </a:lnTo>
                <a:lnTo>
                  <a:pt x="1766621" y="803758"/>
                </a:lnTo>
                <a:lnTo>
                  <a:pt x="1724558" y="740664"/>
                </a:lnTo>
                <a:lnTo>
                  <a:pt x="1679753" y="679399"/>
                </a:lnTo>
                <a:lnTo>
                  <a:pt x="1632204" y="620878"/>
                </a:lnTo>
                <a:lnTo>
                  <a:pt x="1582826" y="563270"/>
                </a:lnTo>
                <a:lnTo>
                  <a:pt x="1529791" y="508406"/>
                </a:lnTo>
                <a:lnTo>
                  <a:pt x="1475842" y="456286"/>
                </a:lnTo>
                <a:lnTo>
                  <a:pt x="1418234" y="406908"/>
                </a:lnTo>
                <a:lnTo>
                  <a:pt x="1359713" y="359359"/>
                </a:lnTo>
                <a:lnTo>
                  <a:pt x="1298448" y="314554"/>
                </a:lnTo>
                <a:lnTo>
                  <a:pt x="1235354" y="272491"/>
                </a:lnTo>
                <a:lnTo>
                  <a:pt x="1170432" y="233172"/>
                </a:lnTo>
                <a:lnTo>
                  <a:pt x="1103681" y="196596"/>
                </a:lnTo>
                <a:lnTo>
                  <a:pt x="1036015" y="162763"/>
                </a:lnTo>
                <a:lnTo>
                  <a:pt x="966521" y="132588"/>
                </a:lnTo>
                <a:lnTo>
                  <a:pt x="896112" y="105156"/>
                </a:lnTo>
                <a:lnTo>
                  <a:pt x="823874" y="80467"/>
                </a:lnTo>
                <a:lnTo>
                  <a:pt x="751637" y="59436"/>
                </a:lnTo>
                <a:lnTo>
                  <a:pt x="677570" y="41148"/>
                </a:lnTo>
                <a:lnTo>
                  <a:pt x="603504" y="26518"/>
                </a:lnTo>
                <a:lnTo>
                  <a:pt x="528523" y="14630"/>
                </a:lnTo>
                <a:lnTo>
                  <a:pt x="453542" y="6401"/>
                </a:lnTo>
                <a:lnTo>
                  <a:pt x="377647" y="1829"/>
                </a:lnTo>
                <a:lnTo>
                  <a:pt x="301752" y="0"/>
                </a:lnTo>
                <a:lnTo>
                  <a:pt x="225857" y="1829"/>
                </a:lnTo>
                <a:lnTo>
                  <a:pt x="149962" y="6401"/>
                </a:lnTo>
                <a:lnTo>
                  <a:pt x="74981" y="14630"/>
                </a:lnTo>
                <a:lnTo>
                  <a:pt x="0" y="26518"/>
                </a:lnTo>
                <a:close/>
              </a:path>
            </a:pathLst>
          </a:custGeom>
          <a:solidFill>
            <a:srgbClr val="FBF3DD">
              <a:alpha val="7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67963" y="3525043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261635" y="3030717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8549640" y="35478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540496" y="3877056"/>
            <a:ext cx="109728" cy="109728"/>
          </a:xfrm>
          <a:prstGeom prst="ellipse">
            <a:avLst/>
          </a:prstGeom>
          <a:solidFill>
            <a:srgbClr val="1C2A22"/>
          </a:solidFill>
          <a:ln/>
        </p:spPr>
      </p:sp>
      <p:sp>
        <p:nvSpPr>
          <p:cNvPr id="56" name="Text 54"/>
          <p:cNvSpPr/>
          <p:nvPr/>
        </p:nvSpPr>
        <p:spPr>
          <a:xfrm>
            <a:off x="830275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8521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841248" y="58521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= θ/360 × πd   (use d = 2r).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2 · AREA OF A SECTOR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Space Inside the Slice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 area is θ/360 of the whole circle’s area.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the radius.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120640" cy="356616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68680" y="2880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 =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2468880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2468880" y="3200400"/>
            <a:ext cx="822960" cy="0"/>
          </a:xfrm>
          <a:prstGeom prst="line">
            <a:avLst/>
          </a:prstGeom>
          <a:noFill/>
          <a:ln w="19050">
            <a:solidFill>
              <a:srgbClr val="C84F2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3474720" y="28803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πr</a:t>
            </a:r>
            <a:pPr indent="0" marL="0">
              <a:buNone/>
            </a:pPr>
            <a:r>
              <a:rPr lang="en-US" sz="18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68680" y="39776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θ = 90°, r = 8 cm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90/360 × π × 8²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¼ × 201.06 = </a:t>
            </a:r>
            <a:pPr indent="0" marL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50.3 cm²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8293671" y="2194560"/>
            <a:ext cx="2012594" cy="1737360"/>
          </a:xfrm>
          <a:custGeom>
            <a:avLst/>
            <a:gdLst/>
            <a:ahLst/>
            <a:cxnLst/>
            <a:rect l="l" t="t" r="r" b="b"/>
            <a:pathLst>
              <a:path w="2012594" h="1737360">
                <a:moveTo>
                  <a:pt x="301752" y="1737360"/>
                </a:moveTo>
                <a:lnTo>
                  <a:pt x="2012594" y="1435608"/>
                </a:lnTo>
                <a:lnTo>
                  <a:pt x="1997964" y="1361542"/>
                </a:lnTo>
                <a:lnTo>
                  <a:pt x="1979676" y="1287475"/>
                </a:lnTo>
                <a:lnTo>
                  <a:pt x="1958645" y="1215238"/>
                </a:lnTo>
                <a:lnTo>
                  <a:pt x="1933956" y="1143000"/>
                </a:lnTo>
                <a:lnTo>
                  <a:pt x="1906524" y="1072591"/>
                </a:lnTo>
                <a:lnTo>
                  <a:pt x="1876349" y="1003097"/>
                </a:lnTo>
                <a:lnTo>
                  <a:pt x="1842516" y="935431"/>
                </a:lnTo>
                <a:lnTo>
                  <a:pt x="1805940" y="868680"/>
                </a:lnTo>
                <a:lnTo>
                  <a:pt x="1766621" y="803758"/>
                </a:lnTo>
                <a:lnTo>
                  <a:pt x="1724558" y="740664"/>
                </a:lnTo>
                <a:lnTo>
                  <a:pt x="1679753" y="679399"/>
                </a:lnTo>
                <a:lnTo>
                  <a:pt x="1632204" y="620878"/>
                </a:lnTo>
                <a:lnTo>
                  <a:pt x="1582826" y="563270"/>
                </a:lnTo>
                <a:lnTo>
                  <a:pt x="1529791" y="508406"/>
                </a:lnTo>
                <a:lnTo>
                  <a:pt x="1475842" y="456286"/>
                </a:lnTo>
                <a:lnTo>
                  <a:pt x="1418234" y="406908"/>
                </a:lnTo>
                <a:lnTo>
                  <a:pt x="1359713" y="359359"/>
                </a:lnTo>
                <a:lnTo>
                  <a:pt x="1298448" y="314554"/>
                </a:lnTo>
                <a:lnTo>
                  <a:pt x="1235354" y="272491"/>
                </a:lnTo>
                <a:lnTo>
                  <a:pt x="1170432" y="233172"/>
                </a:lnTo>
                <a:lnTo>
                  <a:pt x="1103681" y="196596"/>
                </a:lnTo>
                <a:lnTo>
                  <a:pt x="1036015" y="162763"/>
                </a:lnTo>
                <a:lnTo>
                  <a:pt x="966521" y="132588"/>
                </a:lnTo>
                <a:lnTo>
                  <a:pt x="896112" y="105156"/>
                </a:lnTo>
                <a:lnTo>
                  <a:pt x="823874" y="80467"/>
                </a:lnTo>
                <a:lnTo>
                  <a:pt x="751637" y="59436"/>
                </a:lnTo>
                <a:lnTo>
                  <a:pt x="677570" y="41148"/>
                </a:lnTo>
                <a:lnTo>
                  <a:pt x="603504" y="26518"/>
                </a:lnTo>
                <a:lnTo>
                  <a:pt x="528523" y="14630"/>
                </a:lnTo>
                <a:lnTo>
                  <a:pt x="453542" y="6401"/>
                </a:lnTo>
                <a:lnTo>
                  <a:pt x="377647" y="1829"/>
                </a:lnTo>
                <a:lnTo>
                  <a:pt x="301752" y="0"/>
                </a:lnTo>
                <a:lnTo>
                  <a:pt x="225857" y="1829"/>
                </a:lnTo>
                <a:lnTo>
                  <a:pt x="149962" y="6401"/>
                </a:lnTo>
                <a:lnTo>
                  <a:pt x="74981" y="14630"/>
                </a:lnTo>
                <a:lnTo>
                  <a:pt x="0" y="26518"/>
                </a:lnTo>
                <a:close/>
              </a:path>
            </a:pathLst>
          </a:custGeom>
          <a:solidFill>
            <a:srgbClr val="EEF1E8">
              <a:alpha val="7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67963" y="3525043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261635" y="3030717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8549640" y="35478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540496" y="3877056"/>
            <a:ext cx="109728" cy="109728"/>
          </a:xfrm>
          <a:prstGeom prst="ellipse">
            <a:avLst/>
          </a:prstGeom>
          <a:solidFill>
            <a:srgbClr val="1C2A22"/>
          </a:solidFill>
          <a:ln/>
        </p:spPr>
      </p:sp>
      <p:sp>
        <p:nvSpPr>
          <p:cNvPr id="56" name="Text 54"/>
          <p:cNvSpPr/>
          <p:nvPr/>
        </p:nvSpPr>
        <p:spPr>
          <a:xfrm>
            <a:off x="830275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8521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841248" y="58521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area = θ/360 × πr²   (square r first).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3 · PERIMETER OF A SECTOR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+ Two Radii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common mistake: forgetting the two straight edges.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goes all the way round.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120640" cy="356616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68680" y="2834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 =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86868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 +  r  +  r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68680" y="4023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arc 12.6, r = 8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12.6 + 8 + 8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indent="0" marL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28.6 cm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145698" y="2194560"/>
            <a:ext cx="2127809" cy="1737360"/>
          </a:xfrm>
          <a:custGeom>
            <a:avLst/>
            <a:gdLst/>
            <a:ahLst/>
            <a:cxnLst/>
            <a:rect l="l" t="t" r="r" b="b"/>
            <a:pathLst>
              <a:path w="2127809" h="1737360">
                <a:moveTo>
                  <a:pt x="449885" y="1737360"/>
                </a:moveTo>
                <a:lnTo>
                  <a:pt x="2127809" y="1287475"/>
                </a:lnTo>
                <a:lnTo>
                  <a:pt x="2106778" y="1215238"/>
                </a:lnTo>
                <a:lnTo>
                  <a:pt x="2082089" y="1143000"/>
                </a:lnTo>
                <a:lnTo>
                  <a:pt x="2054657" y="1072591"/>
                </a:lnTo>
                <a:lnTo>
                  <a:pt x="2024482" y="1003097"/>
                </a:lnTo>
                <a:lnTo>
                  <a:pt x="1990649" y="935431"/>
                </a:lnTo>
                <a:lnTo>
                  <a:pt x="1954073" y="868680"/>
                </a:lnTo>
                <a:lnTo>
                  <a:pt x="1914754" y="803758"/>
                </a:lnTo>
                <a:lnTo>
                  <a:pt x="1872691" y="740664"/>
                </a:lnTo>
                <a:lnTo>
                  <a:pt x="1827886" y="679399"/>
                </a:lnTo>
                <a:lnTo>
                  <a:pt x="1780337" y="620878"/>
                </a:lnTo>
                <a:lnTo>
                  <a:pt x="1730959" y="563270"/>
                </a:lnTo>
                <a:lnTo>
                  <a:pt x="1677924" y="508406"/>
                </a:lnTo>
                <a:lnTo>
                  <a:pt x="1623060" y="456286"/>
                </a:lnTo>
                <a:lnTo>
                  <a:pt x="1566367" y="406908"/>
                </a:lnTo>
                <a:lnTo>
                  <a:pt x="1506931" y="359359"/>
                </a:lnTo>
                <a:lnTo>
                  <a:pt x="1446581" y="314554"/>
                </a:lnTo>
                <a:lnTo>
                  <a:pt x="1383487" y="272491"/>
                </a:lnTo>
                <a:lnTo>
                  <a:pt x="1318565" y="233172"/>
                </a:lnTo>
                <a:lnTo>
                  <a:pt x="1251814" y="196596"/>
                </a:lnTo>
                <a:lnTo>
                  <a:pt x="1184148" y="162763"/>
                </a:lnTo>
                <a:lnTo>
                  <a:pt x="1114654" y="132588"/>
                </a:lnTo>
                <a:lnTo>
                  <a:pt x="1044245" y="105156"/>
                </a:lnTo>
                <a:lnTo>
                  <a:pt x="972007" y="80467"/>
                </a:lnTo>
                <a:lnTo>
                  <a:pt x="899770" y="59436"/>
                </a:lnTo>
                <a:lnTo>
                  <a:pt x="825703" y="41148"/>
                </a:lnTo>
                <a:lnTo>
                  <a:pt x="751637" y="26518"/>
                </a:lnTo>
                <a:lnTo>
                  <a:pt x="676656" y="14630"/>
                </a:lnTo>
                <a:lnTo>
                  <a:pt x="600761" y="6401"/>
                </a:lnTo>
                <a:lnTo>
                  <a:pt x="525780" y="1829"/>
                </a:lnTo>
                <a:lnTo>
                  <a:pt x="449885" y="0"/>
                </a:lnTo>
                <a:lnTo>
                  <a:pt x="373990" y="1829"/>
                </a:lnTo>
                <a:lnTo>
                  <a:pt x="298094" y="6401"/>
                </a:lnTo>
                <a:lnTo>
                  <a:pt x="223114" y="14630"/>
                </a:lnTo>
                <a:lnTo>
                  <a:pt x="148133" y="26518"/>
                </a:lnTo>
                <a:lnTo>
                  <a:pt x="74066" y="41148"/>
                </a:lnTo>
                <a:lnTo>
                  <a:pt x="0" y="59436"/>
                </a:lnTo>
                <a:close/>
              </a:path>
            </a:pathLst>
          </a:custGeom>
          <a:solidFill>
            <a:srgbClr val="FBF3DD">
              <a:alpha val="7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1560" y="3451057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87649" y="3047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549640" y="35478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540496" y="3877056"/>
            <a:ext cx="109728" cy="109728"/>
          </a:xfrm>
          <a:prstGeom prst="ellipse">
            <a:avLst/>
          </a:prstGeom>
          <a:solidFill>
            <a:srgbClr val="1C2A22"/>
          </a:solidFill>
          <a:ln/>
        </p:spPr>
      </p:sp>
      <p:sp>
        <p:nvSpPr>
          <p:cNvPr id="53" name="Text 51"/>
          <p:cNvSpPr/>
          <p:nvPr/>
        </p:nvSpPr>
        <p:spPr>
          <a:xfrm>
            <a:off x="830275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315200" y="5532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(add the two radii)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58521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41248" y="58521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= arc length + 2r.   Never forget the two radii!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LESSON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of a Sector — the Formula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34534" y="1353312"/>
            <a:ext cx="7322627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6/ap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8542" y="1417320"/>
            <a:ext cx="7194611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sector AOB = θ/360 × πr². </a:t>
            </a:r>
            <a:pPr algn="l" indent="0" marL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is the angle at the centre.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LESSON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— the Formula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32749" y="1353312"/>
            <a:ext cx="7326197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6/ap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6757" y="1417320"/>
            <a:ext cx="7198181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 AB = θ/360 × πd. </a:t>
            </a:r>
            <a:pPr algn="l" indent="0" marL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fraction of the circumference.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4 · WORKING BACKWARDS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the Arc/Area, Find r or θ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numbers you know into the formula,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REARRANGE to find the missing radius or angle.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440680" cy="356616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865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RADIUS (area given)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88036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40 cm², angle 90°:</a:t>
            </a:r>
            <a:endParaRPr lang="en-US" sz="14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= 90/360 × π × r²</a:t>
            </a:r>
            <a:endParaRPr lang="en-US" sz="14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= 0.25 × π × r²</a:t>
            </a:r>
            <a:endParaRPr lang="en-US" sz="14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40 ÷ 0.7854 = 50.9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√50.9 = </a:t>
            </a:r>
            <a:pPr indent="0" marL="0"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7.14 cm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6190488" y="2148840"/>
            <a:ext cx="5440680" cy="356616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3865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ANGLE (arc given)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288036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11 cm, radius 7 cm:</a:t>
            </a:r>
            <a:endParaRPr lang="en-US" sz="14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= θ/360 × π × 14</a:t>
            </a:r>
            <a:endParaRPr lang="en-US" sz="14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= θ/360 × 43.98</a:t>
            </a:r>
            <a:endParaRPr lang="en-US" sz="14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θ/360 = 11 ÷ 43.98 = 0.25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= 0.25 × 360 = </a:t>
            </a:r>
            <a:pPr indent="0" marL="0"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566928" y="58521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8521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what you know, then rearrange for r (take the square root) or θ.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Sector Formulas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θ/360 of the whole circle.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57784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2148840"/>
            <a:ext cx="5358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want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400800" y="2148840"/>
            <a:ext cx="5230368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6510528" y="2148840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66928" y="2642616"/>
            <a:ext cx="5577840" cy="6492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9808" y="2642616"/>
            <a:ext cx="52120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400800" y="2642616"/>
            <a:ext cx="5230368" cy="6492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2642616"/>
            <a:ext cx="48646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θ/360 × πd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566928" y="3328416"/>
            <a:ext cx="5577840" cy="6492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9808" y="3328416"/>
            <a:ext cx="52120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of sector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400800" y="3328416"/>
            <a:ext cx="5230368" cy="6492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0" y="3328416"/>
            <a:ext cx="48646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θ/360 × πr²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66928" y="4014216"/>
            <a:ext cx="5577840" cy="6492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9808" y="4014216"/>
            <a:ext cx="52120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of sector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6400800" y="4014216"/>
            <a:ext cx="5230368" cy="6492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0" y="4014216"/>
            <a:ext cx="48646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 length + 2r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66928" y="4700016"/>
            <a:ext cx="5577840" cy="6492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49808" y="4700016"/>
            <a:ext cx="52120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radius / angle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400800" y="4700016"/>
            <a:ext cx="5230368" cy="6492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83680" y="4700016"/>
            <a:ext cx="48646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substitute, then rearrange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566928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check whether the question wants the ARC only, or the whole PERIMETER (arc + 2r).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which of the four you need, then substitute θ/360.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Arc, area, or perimeter?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= arc + 2r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arc/area → rearrange for r or θ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as asked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61558" y="1408176"/>
            <a:ext cx="946857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710" y="1481328"/>
            <a:ext cx="932227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42896" y="1408176"/>
            <a:ext cx="7305903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6048" y="1481328"/>
            <a:ext cx="7159599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876243" y="1408176"/>
            <a:ext cx="843920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9395" y="1481328"/>
            <a:ext cx="829290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28735" y="1408176"/>
            <a:ext cx="953422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887" y="1481328"/>
            <a:ext cx="938792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69935" y="1408176"/>
            <a:ext cx="6851825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087" y="1481328"/>
            <a:ext cx="6705521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870342" y="1408176"/>
            <a:ext cx="6451011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3494" y="1481328"/>
            <a:ext cx="6304707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850871" y="1408176"/>
            <a:ext cx="648995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4023" y="1481328"/>
            <a:ext cx="634365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31708" y="1408176"/>
            <a:ext cx="732827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4860" y="1481328"/>
            <a:ext cx="718197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37703" y="1408176"/>
            <a:ext cx="711628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0855" y="1481328"/>
            <a:ext cx="696998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201096" y="1408176"/>
            <a:ext cx="7789503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4248" y="1481328"/>
            <a:ext cx="7643199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076708" y="1408176"/>
            <a:ext cx="803827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ppq/q-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860" y="1481328"/>
            <a:ext cx="789197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sector is a fraction θ/360 of the whole circle — that one idea gives every formula.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 = θ/360 × πd  (the curved edge).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a sector = θ/360 × πr²  (square the radius first).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of a sector = arc length + 2r  — never forget the two radii.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arc or area, substitute and rearrange to find the radius (√) or the angle.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pPr algn="ctr" indent="0" marL="0">
              <a:buNone/>
            </a:pP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out the fraction θ/360 first — then it is just circumference or area.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 Sheikh Ali</cp:lastModifiedBy>
  <cp:revision>1</cp:revision>
  <dcterms:created xsi:type="dcterms:W3CDTF">2026-07-15T08:33:25Z</dcterms:created>
  <dcterms:modified xsi:type="dcterms:W3CDTF">2026-07-15T08:33:25Z</dcterms:modified>
</cp:coreProperties>
</file>