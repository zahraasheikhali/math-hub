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1F71E0-D0C2-41CF-845B-E6A5001CB8D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0F3DE-6EF8-4451-A119-BE3BB64FDA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71EB4-C028-4E84-9B6E-98150B89F5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10C4F4-3F8C-4232-B137-684ED3066C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F52CAC-3947-4CA0-BFFB-B1B11EB701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5C84CA-548D-4CCE-8680-82A1FB10F5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2CA35B-39FF-463E-9FAA-0996E0DF87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CDE6C-5D15-4DE7-AE80-669C635440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4AC88A-B9EF-4142-9F90-DB981F3747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BE652-8D7B-495D-AA96-9FB3B5B0C9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4BFAA7-663E-4CA3-A608-3D0D260583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FEC5B4-46C4-432D-A24C-1E264E05C9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8C8E5-09AA-4853-B7BE-F234AFB8C2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DF79E5-1502-49DC-8610-B5CB272D4A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FB52A-3F24-48F1-9851-1ED962A099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427A4-CCFA-4AA6-A792-322728F419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18D951-9A61-4D5D-A02B-F967A0D292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660D9-26E5-4601-84FD-490F0F26AB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23363-5FCC-4B2A-B94C-9FD0B4957C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F7438-3F65-44D1-A3B1-CA75F046A0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A2483-1E76-484A-9553-38C48A8678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D0C75F-6D3B-4B41-941C-24C533A864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C2F3F7-E8E8-440C-A1AB-C3F73C0C03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3890FB-63EE-4F7B-9710-DBC1B4C8C6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9069840" y="548640"/>
            <a:ext cx="1793520" cy="1051200"/>
          </a:xfrm>
          <a:custGeom>
            <a:avLst/>
            <a:gdLst>
              <a:gd name="textAreaLeft" fmla="*/ 0 w 1793520"/>
              <a:gd name="textAreaRight" fmla="*/ 1793880 w 1793520"/>
              <a:gd name="textAreaTop" fmla="*/ 0 h 1051200"/>
              <a:gd name="textAreaBottom" fmla="*/ 1051560 h 1051200"/>
            </a:gdLst>
            <a:ahLst/>
            <a:rect l="textAreaLeft" t="textAreaTop" r="textAreaRight" b="textAreaBottom"/>
            <a:pathLst>
              <a:path w="1794053" h="1051560">
                <a:moveTo>
                  <a:pt x="805586" y="1051560"/>
                </a:moveTo>
                <a:lnTo>
                  <a:pt x="1794053" y="692201"/>
                </a:lnTo>
                <a:lnTo>
                  <a:pt x="1771193" y="635508"/>
                </a:lnTo>
                <a:lnTo>
                  <a:pt x="1745590" y="579730"/>
                </a:lnTo>
                <a:lnTo>
                  <a:pt x="1716329" y="525780"/>
                </a:lnTo>
                <a:lnTo>
                  <a:pt x="1684325" y="473659"/>
                </a:lnTo>
                <a:lnTo>
                  <a:pt x="1648663" y="423367"/>
                </a:lnTo>
                <a:lnTo>
                  <a:pt x="1611173" y="375818"/>
                </a:lnTo>
                <a:lnTo>
                  <a:pt x="1570025" y="330098"/>
                </a:lnTo>
                <a:lnTo>
                  <a:pt x="1527048" y="287122"/>
                </a:lnTo>
                <a:lnTo>
                  <a:pt x="1481328" y="245974"/>
                </a:lnTo>
                <a:lnTo>
                  <a:pt x="1433779" y="208483"/>
                </a:lnTo>
                <a:lnTo>
                  <a:pt x="1383487" y="172822"/>
                </a:lnTo>
                <a:lnTo>
                  <a:pt x="1331366" y="140818"/>
                </a:lnTo>
                <a:lnTo>
                  <a:pt x="1277417" y="111557"/>
                </a:lnTo>
                <a:lnTo>
                  <a:pt x="1221638" y="85954"/>
                </a:lnTo>
                <a:lnTo>
                  <a:pt x="1164946" y="63094"/>
                </a:lnTo>
                <a:lnTo>
                  <a:pt x="1107338" y="43891"/>
                </a:lnTo>
                <a:lnTo>
                  <a:pt x="1047902" y="28346"/>
                </a:lnTo>
                <a:lnTo>
                  <a:pt x="988466" y="15545"/>
                </a:lnTo>
                <a:lnTo>
                  <a:pt x="927202" y="7315"/>
                </a:lnTo>
                <a:lnTo>
                  <a:pt x="866851" y="1829"/>
                </a:lnTo>
                <a:lnTo>
                  <a:pt x="805586" y="0"/>
                </a:lnTo>
                <a:lnTo>
                  <a:pt x="744322" y="1829"/>
                </a:lnTo>
                <a:lnTo>
                  <a:pt x="683057" y="7315"/>
                </a:lnTo>
                <a:lnTo>
                  <a:pt x="622706" y="15545"/>
                </a:lnTo>
                <a:lnTo>
                  <a:pt x="563270" y="28346"/>
                </a:lnTo>
                <a:lnTo>
                  <a:pt x="503834" y="43891"/>
                </a:lnTo>
                <a:lnTo>
                  <a:pt x="446227" y="63094"/>
                </a:lnTo>
                <a:lnTo>
                  <a:pt x="388620" y="85954"/>
                </a:lnTo>
                <a:lnTo>
                  <a:pt x="333756" y="111557"/>
                </a:lnTo>
                <a:lnTo>
                  <a:pt x="279806" y="140818"/>
                </a:lnTo>
                <a:lnTo>
                  <a:pt x="227686" y="172822"/>
                </a:lnTo>
                <a:lnTo>
                  <a:pt x="177394" y="208483"/>
                </a:lnTo>
                <a:lnTo>
                  <a:pt x="129845" y="245974"/>
                </a:lnTo>
                <a:lnTo>
                  <a:pt x="84125" y="287122"/>
                </a:lnTo>
                <a:lnTo>
                  <a:pt x="40234" y="330098"/>
                </a:lnTo>
                <a:lnTo>
                  <a:pt x="0" y="375818"/>
                </a:lnTo>
                <a:close/>
              </a:path>
            </a:pathLst>
          </a:custGeom>
          <a:solidFill>
            <a:srgbClr val="33463a">
              <a:alpha val="7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10186560" y="1164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9289800" y="1216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829800" y="1216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9820800" y="1545480"/>
            <a:ext cx="109440" cy="10944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9582840" y="1581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Sectors of a Circle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Arc Length · Sector Area · Sector Perimeter · Finding the Radius or Angle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Four Things to Do with a Sector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SECTOR is a ‘slice’ of a circle — two radii and the arc between them.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Everything comes from one idea: a sector is a FRACTION (θ/360) of the whole circle.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Arc length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Area of a sector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Perimeter of a sector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radius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angle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sector · arc · radius · angle θ · fraction of the circle · 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 Sector Is a Fraction of the Circle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angle θ out of 360° tells you the fraction.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Multiply the WHOLE-circle formula by θ/360.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1"/>
          <p:cNvSpPr/>
          <p:nvPr/>
        </p:nvSpPr>
        <p:spPr>
          <a:xfrm>
            <a:off x="1238760" y="2103120"/>
            <a:ext cx="3182760" cy="1737000"/>
          </a:xfrm>
          <a:custGeom>
            <a:avLst/>
            <a:gdLst>
              <a:gd name="textAreaLeft" fmla="*/ 0 w 3182760"/>
              <a:gd name="textAreaRight" fmla="*/ 3183120 w 3182760"/>
              <a:gd name="textAreaTop" fmla="*/ 0 h 1737000"/>
              <a:gd name="textAreaBottom" fmla="*/ 1737360 h 1737000"/>
            </a:gdLst>
            <a:ahLst/>
            <a:rect l="textAreaLeft" t="textAreaTop" r="textAreaRight" b="textAreaBottom"/>
            <a:pathLst>
              <a:path w="3183026" h="1737360">
                <a:moveTo>
                  <a:pt x="1504188" y="1737360"/>
                </a:moveTo>
                <a:lnTo>
                  <a:pt x="3183026" y="1287475"/>
                </a:lnTo>
                <a:lnTo>
                  <a:pt x="3150108" y="1178662"/>
                </a:lnTo>
                <a:lnTo>
                  <a:pt x="3109874" y="1072591"/>
                </a:lnTo>
                <a:lnTo>
                  <a:pt x="3063240" y="969264"/>
                </a:lnTo>
                <a:lnTo>
                  <a:pt x="3009290" y="868680"/>
                </a:lnTo>
                <a:lnTo>
                  <a:pt x="2948940" y="771754"/>
                </a:lnTo>
                <a:lnTo>
                  <a:pt x="2883103" y="679399"/>
                </a:lnTo>
                <a:lnTo>
                  <a:pt x="2810866" y="591617"/>
                </a:lnTo>
                <a:lnTo>
                  <a:pt x="2733142" y="508406"/>
                </a:lnTo>
                <a:lnTo>
                  <a:pt x="2649931" y="431597"/>
                </a:lnTo>
                <a:lnTo>
                  <a:pt x="2562149" y="359359"/>
                </a:lnTo>
                <a:lnTo>
                  <a:pt x="2469794" y="292608"/>
                </a:lnTo>
                <a:lnTo>
                  <a:pt x="2372868" y="233172"/>
                </a:lnTo>
                <a:lnTo>
                  <a:pt x="2273198" y="179222"/>
                </a:lnTo>
                <a:lnTo>
                  <a:pt x="2169871" y="132588"/>
                </a:lnTo>
                <a:lnTo>
                  <a:pt x="2062886" y="92354"/>
                </a:lnTo>
                <a:lnTo>
                  <a:pt x="1954073" y="59436"/>
                </a:lnTo>
                <a:lnTo>
                  <a:pt x="1843430" y="33833"/>
                </a:lnTo>
                <a:lnTo>
                  <a:pt x="1730959" y="14630"/>
                </a:lnTo>
                <a:lnTo>
                  <a:pt x="1618488" y="3658"/>
                </a:lnTo>
                <a:lnTo>
                  <a:pt x="1504188" y="0"/>
                </a:lnTo>
                <a:lnTo>
                  <a:pt x="1390802" y="3658"/>
                </a:lnTo>
                <a:lnTo>
                  <a:pt x="1277417" y="14630"/>
                </a:lnTo>
                <a:lnTo>
                  <a:pt x="1165860" y="33833"/>
                </a:lnTo>
                <a:lnTo>
                  <a:pt x="1055218" y="59436"/>
                </a:lnTo>
                <a:lnTo>
                  <a:pt x="946404" y="92354"/>
                </a:lnTo>
                <a:lnTo>
                  <a:pt x="839419" y="132588"/>
                </a:lnTo>
                <a:lnTo>
                  <a:pt x="736092" y="179222"/>
                </a:lnTo>
                <a:lnTo>
                  <a:pt x="635508" y="233172"/>
                </a:lnTo>
                <a:lnTo>
                  <a:pt x="539496" y="292608"/>
                </a:lnTo>
                <a:lnTo>
                  <a:pt x="447142" y="359359"/>
                </a:lnTo>
                <a:lnTo>
                  <a:pt x="359359" y="431597"/>
                </a:lnTo>
                <a:lnTo>
                  <a:pt x="276149" y="508406"/>
                </a:lnTo>
                <a:lnTo>
                  <a:pt x="198425" y="591617"/>
                </a:lnTo>
                <a:lnTo>
                  <a:pt x="126187" y="679399"/>
                </a:lnTo>
                <a:lnTo>
                  <a:pt x="60350" y="771754"/>
                </a:lnTo>
                <a:lnTo>
                  <a:pt x="0" y="868680"/>
                </a:lnTo>
                <a:close/>
              </a:path>
            </a:pathLst>
          </a:custGeom>
          <a:solidFill>
            <a:srgbClr val="fbf3dd">
              <a:alpha val="7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2"/>
          <p:cNvSpPr/>
          <p:nvPr/>
        </p:nvSpPr>
        <p:spPr>
          <a:xfrm>
            <a:off x="3399480" y="3359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3"/>
          <p:cNvSpPr/>
          <p:nvPr/>
        </p:nvSpPr>
        <p:spPr>
          <a:xfrm>
            <a:off x="1807920" y="3360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4"/>
          <p:cNvSpPr/>
          <p:nvPr/>
        </p:nvSpPr>
        <p:spPr>
          <a:xfrm>
            <a:off x="2697480" y="34563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5"/>
          <p:cNvSpPr/>
          <p:nvPr/>
        </p:nvSpPr>
        <p:spPr>
          <a:xfrm>
            <a:off x="2688480" y="3785760"/>
            <a:ext cx="109440" cy="10944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6"/>
          <p:cNvSpPr/>
          <p:nvPr/>
        </p:nvSpPr>
        <p:spPr>
          <a:xfrm>
            <a:off x="2450520" y="38221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47"/>
          <p:cNvSpPr/>
          <p:nvPr/>
        </p:nvSpPr>
        <p:spPr>
          <a:xfrm>
            <a:off x="5669280" y="2148840"/>
            <a:ext cx="5961600" cy="1234080"/>
          </a:xfrm>
          <a:prstGeom prst="roundRect">
            <a:avLst>
              <a:gd name="adj" fmla="val 444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8"/>
          <p:cNvSpPr/>
          <p:nvPr/>
        </p:nvSpPr>
        <p:spPr>
          <a:xfrm>
            <a:off x="5943600" y="2148840"/>
            <a:ext cx="3017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Fraction of circle  = 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9"/>
          <p:cNvSpPr/>
          <p:nvPr/>
        </p:nvSpPr>
        <p:spPr>
          <a:xfrm>
            <a:off x="8869680" y="2468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0"/>
          <p:cNvSpPr/>
          <p:nvPr/>
        </p:nvSpPr>
        <p:spPr>
          <a:xfrm>
            <a:off x="8869680" y="2761200"/>
            <a:ext cx="914400" cy="360"/>
          </a:xfrm>
          <a:prstGeom prst="line">
            <a:avLst/>
          </a:prstGeom>
          <a:ln w="190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1"/>
          <p:cNvSpPr/>
          <p:nvPr/>
        </p:nvSpPr>
        <p:spPr>
          <a:xfrm>
            <a:off x="8869680" y="2797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360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2"/>
          <p:cNvSpPr/>
          <p:nvPr/>
        </p:nvSpPr>
        <p:spPr>
          <a:xfrm>
            <a:off x="5669280" y="3520440"/>
            <a:ext cx="596160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3"/>
          <p:cNvSpPr/>
          <p:nvPr/>
        </p:nvSpPr>
        <p:spPr>
          <a:xfrm>
            <a:off x="5943600" y="3520440"/>
            <a:ext cx="5486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Arc length  =  </a:t>
            </a: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θ</a:t>
            </a: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/360 ×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πd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4"/>
          <p:cNvSpPr/>
          <p:nvPr/>
        </p:nvSpPr>
        <p:spPr>
          <a:xfrm>
            <a:off x="5669280" y="4709160"/>
            <a:ext cx="596160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5"/>
          <p:cNvSpPr/>
          <p:nvPr/>
        </p:nvSpPr>
        <p:spPr>
          <a:xfrm>
            <a:off x="5943600" y="4709160"/>
            <a:ext cx="5486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Sector area  =  </a:t>
            </a: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θ</a:t>
            </a: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/360 ×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πr²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56"/>
          <p:cNvSpPr/>
          <p:nvPr/>
        </p:nvSpPr>
        <p:spPr>
          <a:xfrm>
            <a:off x="567000" y="60350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Whole circle: circumference = πd, area = πr².  A sector is just θ/360 of each.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IDEA 1 · ARC LENGTH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Curved Edge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arc is the curved part.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It is θ/360 of the whole circumference.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1"/>
          <p:cNvSpPr/>
          <p:nvPr/>
        </p:nvSpPr>
        <p:spPr>
          <a:xfrm>
            <a:off x="567000" y="2148840"/>
            <a:ext cx="5120280" cy="356580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2"/>
          <p:cNvSpPr/>
          <p:nvPr/>
        </p:nvSpPr>
        <p:spPr>
          <a:xfrm>
            <a:off x="932760" y="23864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Formula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3"/>
          <p:cNvSpPr/>
          <p:nvPr/>
        </p:nvSpPr>
        <p:spPr>
          <a:xfrm>
            <a:off x="868680" y="288036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Arc length  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4"/>
          <p:cNvSpPr/>
          <p:nvPr/>
        </p:nvSpPr>
        <p:spPr>
          <a:xfrm>
            <a:off x="3200400" y="29077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5"/>
          <p:cNvSpPr/>
          <p:nvPr/>
        </p:nvSpPr>
        <p:spPr>
          <a:xfrm>
            <a:off x="3200400" y="3200400"/>
            <a:ext cx="822960" cy="360"/>
          </a:xfrm>
          <a:prstGeom prst="line">
            <a:avLst/>
          </a:prstGeom>
          <a:ln w="190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46"/>
          <p:cNvSpPr/>
          <p:nvPr/>
        </p:nvSpPr>
        <p:spPr>
          <a:xfrm>
            <a:off x="3200400" y="32371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360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7"/>
          <p:cNvSpPr/>
          <p:nvPr/>
        </p:nvSpPr>
        <p:spPr>
          <a:xfrm>
            <a:off x="4206240" y="2880360"/>
            <a:ext cx="127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× πd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8"/>
          <p:cNvSpPr/>
          <p:nvPr/>
        </p:nvSpPr>
        <p:spPr>
          <a:xfrm>
            <a:off x="868680" y="3977640"/>
            <a:ext cx="457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Example: θ = 90°, r = 8 cm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90/360 × π × 16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¼ × 50.27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12.6 cm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9"/>
          <p:cNvSpPr/>
          <p:nvPr/>
        </p:nvSpPr>
        <p:spPr>
          <a:xfrm>
            <a:off x="8293680" y="2194560"/>
            <a:ext cx="2012400" cy="1737000"/>
          </a:xfrm>
          <a:custGeom>
            <a:avLst/>
            <a:gdLst>
              <a:gd name="textAreaLeft" fmla="*/ 0 w 2012400"/>
              <a:gd name="textAreaRight" fmla="*/ 2012760 w 2012400"/>
              <a:gd name="textAreaTop" fmla="*/ 0 h 1737000"/>
              <a:gd name="textAreaBottom" fmla="*/ 1737360 h 1737000"/>
            </a:gdLst>
            <a:ahLst/>
            <a:rect l="textAreaLeft" t="textAreaTop" r="textAreaRight" b="textAreaBottom"/>
            <a:pathLst>
              <a:path w="2012594" h="1737360">
                <a:moveTo>
                  <a:pt x="301752" y="1737360"/>
                </a:moveTo>
                <a:lnTo>
                  <a:pt x="2012594" y="1435608"/>
                </a:lnTo>
                <a:lnTo>
                  <a:pt x="1997964" y="1361542"/>
                </a:lnTo>
                <a:lnTo>
                  <a:pt x="1979676" y="1287475"/>
                </a:lnTo>
                <a:lnTo>
                  <a:pt x="1958645" y="1215238"/>
                </a:lnTo>
                <a:lnTo>
                  <a:pt x="1933956" y="1143000"/>
                </a:lnTo>
                <a:lnTo>
                  <a:pt x="1906524" y="1072591"/>
                </a:lnTo>
                <a:lnTo>
                  <a:pt x="1876349" y="1003097"/>
                </a:lnTo>
                <a:lnTo>
                  <a:pt x="1842516" y="935431"/>
                </a:lnTo>
                <a:lnTo>
                  <a:pt x="1805940" y="868680"/>
                </a:lnTo>
                <a:lnTo>
                  <a:pt x="1766621" y="803758"/>
                </a:lnTo>
                <a:lnTo>
                  <a:pt x="1724558" y="740664"/>
                </a:lnTo>
                <a:lnTo>
                  <a:pt x="1679753" y="679399"/>
                </a:lnTo>
                <a:lnTo>
                  <a:pt x="1632204" y="620878"/>
                </a:lnTo>
                <a:lnTo>
                  <a:pt x="1582826" y="563270"/>
                </a:lnTo>
                <a:lnTo>
                  <a:pt x="1529791" y="508406"/>
                </a:lnTo>
                <a:lnTo>
                  <a:pt x="1475842" y="456286"/>
                </a:lnTo>
                <a:lnTo>
                  <a:pt x="1418234" y="406908"/>
                </a:lnTo>
                <a:lnTo>
                  <a:pt x="1359713" y="359359"/>
                </a:lnTo>
                <a:lnTo>
                  <a:pt x="1298448" y="314554"/>
                </a:lnTo>
                <a:lnTo>
                  <a:pt x="1235354" y="272491"/>
                </a:lnTo>
                <a:lnTo>
                  <a:pt x="1170432" y="233172"/>
                </a:lnTo>
                <a:lnTo>
                  <a:pt x="1103681" y="196596"/>
                </a:lnTo>
                <a:lnTo>
                  <a:pt x="1036015" y="162763"/>
                </a:lnTo>
                <a:lnTo>
                  <a:pt x="966521" y="132588"/>
                </a:lnTo>
                <a:lnTo>
                  <a:pt x="896112" y="105156"/>
                </a:lnTo>
                <a:lnTo>
                  <a:pt x="823874" y="80467"/>
                </a:lnTo>
                <a:lnTo>
                  <a:pt x="751637" y="59436"/>
                </a:lnTo>
                <a:lnTo>
                  <a:pt x="677570" y="41148"/>
                </a:lnTo>
                <a:lnTo>
                  <a:pt x="603504" y="26518"/>
                </a:lnTo>
                <a:lnTo>
                  <a:pt x="528523" y="14630"/>
                </a:lnTo>
                <a:lnTo>
                  <a:pt x="453542" y="6401"/>
                </a:lnTo>
                <a:lnTo>
                  <a:pt x="377647" y="1829"/>
                </a:lnTo>
                <a:lnTo>
                  <a:pt x="301752" y="0"/>
                </a:lnTo>
                <a:lnTo>
                  <a:pt x="225857" y="1829"/>
                </a:lnTo>
                <a:lnTo>
                  <a:pt x="149962" y="6401"/>
                </a:lnTo>
                <a:lnTo>
                  <a:pt x="74981" y="14630"/>
                </a:lnTo>
                <a:lnTo>
                  <a:pt x="0" y="26518"/>
                </a:lnTo>
                <a:close/>
              </a:path>
            </a:pathLst>
          </a:custGeom>
          <a:solidFill>
            <a:srgbClr val="fbf3dd">
              <a:alpha val="7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50"/>
          <p:cNvSpPr/>
          <p:nvPr/>
        </p:nvSpPr>
        <p:spPr>
          <a:xfrm>
            <a:off x="9267840" y="35251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1"/>
          <p:cNvSpPr/>
          <p:nvPr/>
        </p:nvSpPr>
        <p:spPr>
          <a:xfrm>
            <a:off x="8261640" y="30308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52"/>
          <p:cNvSpPr/>
          <p:nvPr/>
        </p:nvSpPr>
        <p:spPr>
          <a:xfrm>
            <a:off x="8549640" y="3547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53"/>
          <p:cNvSpPr/>
          <p:nvPr/>
        </p:nvSpPr>
        <p:spPr>
          <a:xfrm>
            <a:off x="8540640" y="3877200"/>
            <a:ext cx="109440" cy="10944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54"/>
          <p:cNvSpPr/>
          <p:nvPr/>
        </p:nvSpPr>
        <p:spPr>
          <a:xfrm>
            <a:off x="8302680" y="39135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55"/>
          <p:cNvSpPr/>
          <p:nvPr/>
        </p:nvSpPr>
        <p:spPr>
          <a:xfrm>
            <a:off x="567000" y="585216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56"/>
          <p:cNvSpPr/>
          <p:nvPr/>
        </p:nvSpPr>
        <p:spPr>
          <a:xfrm>
            <a:off x="841320" y="58521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Arc length = θ/360 × πd   (use d = 2r).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IDEA 2 · AREA OF A SECTOR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Space Inside the Slice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sector area is θ/360 of the whole circle’s area.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Square the radius.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1"/>
          <p:cNvSpPr/>
          <p:nvPr/>
        </p:nvSpPr>
        <p:spPr>
          <a:xfrm>
            <a:off x="567000" y="2148840"/>
            <a:ext cx="5120280" cy="356580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2"/>
          <p:cNvSpPr/>
          <p:nvPr/>
        </p:nvSpPr>
        <p:spPr>
          <a:xfrm>
            <a:off x="932760" y="23864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Formula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43"/>
          <p:cNvSpPr/>
          <p:nvPr/>
        </p:nvSpPr>
        <p:spPr>
          <a:xfrm>
            <a:off x="868680" y="288036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Area  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4"/>
          <p:cNvSpPr/>
          <p:nvPr/>
        </p:nvSpPr>
        <p:spPr>
          <a:xfrm>
            <a:off x="2468880" y="29077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5"/>
          <p:cNvSpPr/>
          <p:nvPr/>
        </p:nvSpPr>
        <p:spPr>
          <a:xfrm>
            <a:off x="2468880" y="3200400"/>
            <a:ext cx="822960" cy="360"/>
          </a:xfrm>
          <a:prstGeom prst="line">
            <a:avLst/>
          </a:prstGeom>
          <a:ln w="1905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6"/>
          <p:cNvSpPr/>
          <p:nvPr/>
        </p:nvSpPr>
        <p:spPr>
          <a:xfrm>
            <a:off x="2468880" y="32371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360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7"/>
          <p:cNvSpPr/>
          <p:nvPr/>
        </p:nvSpPr>
        <p:spPr>
          <a:xfrm>
            <a:off x="3474720" y="288036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× πr</a:t>
            </a:r>
            <a:r>
              <a:rPr b="1" lang="en-US" sz="18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8"/>
          <p:cNvSpPr/>
          <p:nvPr/>
        </p:nvSpPr>
        <p:spPr>
          <a:xfrm>
            <a:off x="868680" y="3977640"/>
            <a:ext cx="457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Example: θ = 90°, r = 8 cm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90/360 × π × 8²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¼ × 201.06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50.3 cm²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9"/>
          <p:cNvSpPr/>
          <p:nvPr/>
        </p:nvSpPr>
        <p:spPr>
          <a:xfrm>
            <a:off x="8293680" y="2194560"/>
            <a:ext cx="2012400" cy="1737000"/>
          </a:xfrm>
          <a:custGeom>
            <a:avLst/>
            <a:gdLst>
              <a:gd name="textAreaLeft" fmla="*/ 0 w 2012400"/>
              <a:gd name="textAreaRight" fmla="*/ 2012760 w 2012400"/>
              <a:gd name="textAreaTop" fmla="*/ 0 h 1737000"/>
              <a:gd name="textAreaBottom" fmla="*/ 1737360 h 1737000"/>
            </a:gdLst>
            <a:ahLst/>
            <a:rect l="textAreaLeft" t="textAreaTop" r="textAreaRight" b="textAreaBottom"/>
            <a:pathLst>
              <a:path w="2012594" h="1737360">
                <a:moveTo>
                  <a:pt x="301752" y="1737360"/>
                </a:moveTo>
                <a:lnTo>
                  <a:pt x="2012594" y="1435608"/>
                </a:lnTo>
                <a:lnTo>
                  <a:pt x="1997964" y="1361542"/>
                </a:lnTo>
                <a:lnTo>
                  <a:pt x="1979676" y="1287475"/>
                </a:lnTo>
                <a:lnTo>
                  <a:pt x="1958645" y="1215238"/>
                </a:lnTo>
                <a:lnTo>
                  <a:pt x="1933956" y="1143000"/>
                </a:lnTo>
                <a:lnTo>
                  <a:pt x="1906524" y="1072591"/>
                </a:lnTo>
                <a:lnTo>
                  <a:pt x="1876349" y="1003097"/>
                </a:lnTo>
                <a:lnTo>
                  <a:pt x="1842516" y="935431"/>
                </a:lnTo>
                <a:lnTo>
                  <a:pt x="1805940" y="868680"/>
                </a:lnTo>
                <a:lnTo>
                  <a:pt x="1766621" y="803758"/>
                </a:lnTo>
                <a:lnTo>
                  <a:pt x="1724558" y="740664"/>
                </a:lnTo>
                <a:lnTo>
                  <a:pt x="1679753" y="679399"/>
                </a:lnTo>
                <a:lnTo>
                  <a:pt x="1632204" y="620878"/>
                </a:lnTo>
                <a:lnTo>
                  <a:pt x="1582826" y="563270"/>
                </a:lnTo>
                <a:lnTo>
                  <a:pt x="1529791" y="508406"/>
                </a:lnTo>
                <a:lnTo>
                  <a:pt x="1475842" y="456286"/>
                </a:lnTo>
                <a:lnTo>
                  <a:pt x="1418234" y="406908"/>
                </a:lnTo>
                <a:lnTo>
                  <a:pt x="1359713" y="359359"/>
                </a:lnTo>
                <a:lnTo>
                  <a:pt x="1298448" y="314554"/>
                </a:lnTo>
                <a:lnTo>
                  <a:pt x="1235354" y="272491"/>
                </a:lnTo>
                <a:lnTo>
                  <a:pt x="1170432" y="233172"/>
                </a:lnTo>
                <a:lnTo>
                  <a:pt x="1103681" y="196596"/>
                </a:lnTo>
                <a:lnTo>
                  <a:pt x="1036015" y="162763"/>
                </a:lnTo>
                <a:lnTo>
                  <a:pt x="966521" y="132588"/>
                </a:lnTo>
                <a:lnTo>
                  <a:pt x="896112" y="105156"/>
                </a:lnTo>
                <a:lnTo>
                  <a:pt x="823874" y="80467"/>
                </a:lnTo>
                <a:lnTo>
                  <a:pt x="751637" y="59436"/>
                </a:lnTo>
                <a:lnTo>
                  <a:pt x="677570" y="41148"/>
                </a:lnTo>
                <a:lnTo>
                  <a:pt x="603504" y="26518"/>
                </a:lnTo>
                <a:lnTo>
                  <a:pt x="528523" y="14630"/>
                </a:lnTo>
                <a:lnTo>
                  <a:pt x="453542" y="6401"/>
                </a:lnTo>
                <a:lnTo>
                  <a:pt x="377647" y="1829"/>
                </a:lnTo>
                <a:lnTo>
                  <a:pt x="301752" y="0"/>
                </a:lnTo>
                <a:lnTo>
                  <a:pt x="225857" y="1829"/>
                </a:lnTo>
                <a:lnTo>
                  <a:pt x="149962" y="6401"/>
                </a:lnTo>
                <a:lnTo>
                  <a:pt x="74981" y="14630"/>
                </a:lnTo>
                <a:lnTo>
                  <a:pt x="0" y="26518"/>
                </a:lnTo>
                <a:close/>
              </a:path>
            </a:pathLst>
          </a:custGeom>
          <a:solidFill>
            <a:srgbClr val="eef1e8">
              <a:alpha val="7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50"/>
          <p:cNvSpPr/>
          <p:nvPr/>
        </p:nvSpPr>
        <p:spPr>
          <a:xfrm>
            <a:off x="9267840" y="35251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51"/>
          <p:cNvSpPr/>
          <p:nvPr/>
        </p:nvSpPr>
        <p:spPr>
          <a:xfrm>
            <a:off x="8261640" y="30308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2"/>
          <p:cNvSpPr/>
          <p:nvPr/>
        </p:nvSpPr>
        <p:spPr>
          <a:xfrm>
            <a:off x="8549640" y="3547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3"/>
          <p:cNvSpPr/>
          <p:nvPr/>
        </p:nvSpPr>
        <p:spPr>
          <a:xfrm>
            <a:off x="8540640" y="3877200"/>
            <a:ext cx="109440" cy="10944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54"/>
          <p:cNvSpPr/>
          <p:nvPr/>
        </p:nvSpPr>
        <p:spPr>
          <a:xfrm>
            <a:off x="8302680" y="39135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5"/>
          <p:cNvSpPr/>
          <p:nvPr/>
        </p:nvSpPr>
        <p:spPr>
          <a:xfrm>
            <a:off x="567000" y="585216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56"/>
          <p:cNvSpPr/>
          <p:nvPr/>
        </p:nvSpPr>
        <p:spPr>
          <a:xfrm>
            <a:off x="841320" y="58521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Sector area = θ/360 × πr²   (square r first).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IDEA 3 · PERIMETER OF A SECTOR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Arc + Two Radii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very common mistake: forgetting the two straight edges.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perimeter goes all the way round.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41"/>
          <p:cNvSpPr/>
          <p:nvPr/>
        </p:nvSpPr>
        <p:spPr>
          <a:xfrm>
            <a:off x="567000" y="2148840"/>
            <a:ext cx="5120280" cy="356580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42"/>
          <p:cNvSpPr/>
          <p:nvPr/>
        </p:nvSpPr>
        <p:spPr>
          <a:xfrm>
            <a:off x="932760" y="23864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Formula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43"/>
          <p:cNvSpPr/>
          <p:nvPr/>
        </p:nvSpPr>
        <p:spPr>
          <a:xfrm>
            <a:off x="868680" y="28346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Perimeter 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44"/>
          <p:cNvSpPr/>
          <p:nvPr/>
        </p:nvSpPr>
        <p:spPr>
          <a:xfrm>
            <a:off x="868680" y="329184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arc length  +  r  +  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45"/>
          <p:cNvSpPr/>
          <p:nvPr/>
        </p:nvSpPr>
        <p:spPr>
          <a:xfrm>
            <a:off x="868680" y="4023360"/>
            <a:ext cx="4571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Example: arc 12.6, r = 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P = 12.6 + 8 + 8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28.6 cm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46"/>
          <p:cNvSpPr/>
          <p:nvPr/>
        </p:nvSpPr>
        <p:spPr>
          <a:xfrm>
            <a:off x="8145720" y="2194560"/>
            <a:ext cx="2127600" cy="1737000"/>
          </a:xfrm>
          <a:custGeom>
            <a:avLst/>
            <a:gdLst>
              <a:gd name="textAreaLeft" fmla="*/ 0 w 2127600"/>
              <a:gd name="textAreaRight" fmla="*/ 2127960 w 2127600"/>
              <a:gd name="textAreaTop" fmla="*/ 0 h 1737000"/>
              <a:gd name="textAreaBottom" fmla="*/ 1737360 h 1737000"/>
            </a:gdLst>
            <a:ahLst/>
            <a:rect l="textAreaLeft" t="textAreaTop" r="textAreaRight" b="textAreaBottom"/>
            <a:pathLst>
              <a:path w="2127809" h="1737360">
                <a:moveTo>
                  <a:pt x="449885" y="1737360"/>
                </a:moveTo>
                <a:lnTo>
                  <a:pt x="2127809" y="1287475"/>
                </a:lnTo>
                <a:lnTo>
                  <a:pt x="2106778" y="1215238"/>
                </a:lnTo>
                <a:lnTo>
                  <a:pt x="2082089" y="1143000"/>
                </a:lnTo>
                <a:lnTo>
                  <a:pt x="2054657" y="1072591"/>
                </a:lnTo>
                <a:lnTo>
                  <a:pt x="2024482" y="1003097"/>
                </a:lnTo>
                <a:lnTo>
                  <a:pt x="1990649" y="935431"/>
                </a:lnTo>
                <a:lnTo>
                  <a:pt x="1954073" y="868680"/>
                </a:lnTo>
                <a:lnTo>
                  <a:pt x="1914754" y="803758"/>
                </a:lnTo>
                <a:lnTo>
                  <a:pt x="1872691" y="740664"/>
                </a:lnTo>
                <a:lnTo>
                  <a:pt x="1827886" y="679399"/>
                </a:lnTo>
                <a:lnTo>
                  <a:pt x="1780337" y="620878"/>
                </a:lnTo>
                <a:lnTo>
                  <a:pt x="1730959" y="563270"/>
                </a:lnTo>
                <a:lnTo>
                  <a:pt x="1677924" y="508406"/>
                </a:lnTo>
                <a:lnTo>
                  <a:pt x="1623060" y="456286"/>
                </a:lnTo>
                <a:lnTo>
                  <a:pt x="1566367" y="406908"/>
                </a:lnTo>
                <a:lnTo>
                  <a:pt x="1506931" y="359359"/>
                </a:lnTo>
                <a:lnTo>
                  <a:pt x="1446581" y="314554"/>
                </a:lnTo>
                <a:lnTo>
                  <a:pt x="1383487" y="272491"/>
                </a:lnTo>
                <a:lnTo>
                  <a:pt x="1318565" y="233172"/>
                </a:lnTo>
                <a:lnTo>
                  <a:pt x="1251814" y="196596"/>
                </a:lnTo>
                <a:lnTo>
                  <a:pt x="1184148" y="162763"/>
                </a:lnTo>
                <a:lnTo>
                  <a:pt x="1114654" y="132588"/>
                </a:lnTo>
                <a:lnTo>
                  <a:pt x="1044245" y="105156"/>
                </a:lnTo>
                <a:lnTo>
                  <a:pt x="972007" y="80467"/>
                </a:lnTo>
                <a:lnTo>
                  <a:pt x="899770" y="59436"/>
                </a:lnTo>
                <a:lnTo>
                  <a:pt x="825703" y="41148"/>
                </a:lnTo>
                <a:lnTo>
                  <a:pt x="751637" y="26518"/>
                </a:lnTo>
                <a:lnTo>
                  <a:pt x="676656" y="14630"/>
                </a:lnTo>
                <a:lnTo>
                  <a:pt x="600761" y="6401"/>
                </a:lnTo>
                <a:lnTo>
                  <a:pt x="525780" y="1829"/>
                </a:lnTo>
                <a:lnTo>
                  <a:pt x="449885" y="0"/>
                </a:lnTo>
                <a:lnTo>
                  <a:pt x="373990" y="1829"/>
                </a:lnTo>
                <a:lnTo>
                  <a:pt x="298094" y="6401"/>
                </a:lnTo>
                <a:lnTo>
                  <a:pt x="223114" y="14630"/>
                </a:lnTo>
                <a:lnTo>
                  <a:pt x="148133" y="26518"/>
                </a:lnTo>
                <a:lnTo>
                  <a:pt x="74066" y="41148"/>
                </a:lnTo>
                <a:lnTo>
                  <a:pt x="0" y="59436"/>
                </a:lnTo>
                <a:close/>
              </a:path>
            </a:pathLst>
          </a:custGeom>
          <a:solidFill>
            <a:srgbClr val="fbf3dd">
              <a:alpha val="75000"/>
            </a:srgbClr>
          </a:solidFill>
          <a:ln w="2794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47"/>
          <p:cNvSpPr/>
          <p:nvPr/>
        </p:nvSpPr>
        <p:spPr>
          <a:xfrm>
            <a:off x="9251640" y="3450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48"/>
          <p:cNvSpPr/>
          <p:nvPr/>
        </p:nvSpPr>
        <p:spPr>
          <a:xfrm>
            <a:off x="8187480" y="30470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49"/>
          <p:cNvSpPr/>
          <p:nvPr/>
        </p:nvSpPr>
        <p:spPr>
          <a:xfrm>
            <a:off x="8549640" y="3547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50"/>
          <p:cNvSpPr/>
          <p:nvPr/>
        </p:nvSpPr>
        <p:spPr>
          <a:xfrm>
            <a:off x="8540640" y="3877200"/>
            <a:ext cx="109440" cy="10944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1"/>
          <p:cNvSpPr/>
          <p:nvPr/>
        </p:nvSpPr>
        <p:spPr>
          <a:xfrm>
            <a:off x="8302680" y="39135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52"/>
          <p:cNvSpPr/>
          <p:nvPr/>
        </p:nvSpPr>
        <p:spPr>
          <a:xfrm>
            <a:off x="7315200" y="55321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6b60"/>
                </a:solidFill>
                <a:latin typeface="Calibri"/>
                <a:ea typeface="Calibri"/>
              </a:rPr>
              <a:t>(add the two radii)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53"/>
          <p:cNvSpPr/>
          <p:nvPr/>
        </p:nvSpPr>
        <p:spPr>
          <a:xfrm>
            <a:off x="567000" y="585216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54"/>
          <p:cNvSpPr/>
          <p:nvPr/>
        </p:nvSpPr>
        <p:spPr>
          <a:xfrm>
            <a:off x="841320" y="58521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Perimeter = arc length + 2r.   Never forget the two radii!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FROM THE LESSON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Area of a Sector — the Formula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9"/>
          <p:cNvSpPr/>
          <p:nvPr/>
        </p:nvSpPr>
        <p:spPr>
          <a:xfrm>
            <a:off x="2434680" y="1353240"/>
            <a:ext cx="732240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Image 0" descr="/tmp/work/clean6/ap-22.png"/>
          <p:cNvPicPr/>
          <p:nvPr/>
        </p:nvPicPr>
        <p:blipFill>
          <a:blip r:embed="rId1"/>
          <a:stretch/>
        </p:blipFill>
        <p:spPr>
          <a:xfrm>
            <a:off x="2498400" y="1417320"/>
            <a:ext cx="7194240" cy="4525920"/>
          </a:xfrm>
          <a:prstGeom prst="rect">
            <a:avLst/>
          </a:prstGeom>
          <a:ln w="0">
            <a:noFill/>
          </a:ln>
        </p:spPr>
      </p:pic>
      <p:sp>
        <p:nvSpPr>
          <p:cNvPr id="392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Area of sector AOB = θ/360 × πr².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θ is the angle at the centre.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FROM THE LESSON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Arc Length — the Formula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39"/>
          <p:cNvSpPr/>
          <p:nvPr/>
        </p:nvSpPr>
        <p:spPr>
          <a:xfrm>
            <a:off x="2432880" y="1353240"/>
            <a:ext cx="732600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Image 0" descr="/tmp/work/clean6/ap-24.png"/>
          <p:cNvPicPr/>
          <p:nvPr/>
        </p:nvPicPr>
        <p:blipFill>
          <a:blip r:embed="rId1"/>
          <a:stretch/>
        </p:blipFill>
        <p:spPr>
          <a:xfrm>
            <a:off x="2496600" y="1417320"/>
            <a:ext cx="7197840" cy="4525920"/>
          </a:xfrm>
          <a:prstGeom prst="rect">
            <a:avLst/>
          </a:prstGeom>
          <a:ln w="0">
            <a:noFill/>
          </a:ln>
        </p:spPr>
      </p:pic>
      <p:sp>
        <p:nvSpPr>
          <p:cNvPr id="435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Arc length AB = θ/360 × πd.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It is a fraction of the circumference.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IDEA 4 · WORKING BACKWARDS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Given the Arc/Area, Find r or θ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9"/>
          <p:cNvSpPr/>
          <p:nvPr/>
        </p:nvSpPr>
        <p:spPr>
          <a:xfrm>
            <a:off x="567000" y="129852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0"/>
          <p:cNvSpPr/>
          <p:nvPr/>
        </p:nvSpPr>
        <p:spPr>
          <a:xfrm>
            <a:off x="887040" y="129852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Put the numbers you know into the formula,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then REARRANGE to find the missing radius or angle.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41"/>
          <p:cNvSpPr/>
          <p:nvPr/>
        </p:nvSpPr>
        <p:spPr>
          <a:xfrm>
            <a:off x="567000" y="2148840"/>
            <a:ext cx="5440320" cy="356580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42"/>
          <p:cNvSpPr/>
          <p:nvPr/>
        </p:nvSpPr>
        <p:spPr>
          <a:xfrm>
            <a:off x="932760" y="23864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 the RADIUS (area given)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43"/>
          <p:cNvSpPr/>
          <p:nvPr/>
        </p:nvSpPr>
        <p:spPr>
          <a:xfrm>
            <a:off x="914400" y="2880360"/>
            <a:ext cx="4754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Area 40 cm², angle 90°: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40 = 90/360 × π × r²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40 = 0.25 × π × r²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r² = 40 ÷ 0.7854 = 50.9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r = √50.9 = </a:t>
            </a: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7.14 cm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44"/>
          <p:cNvSpPr/>
          <p:nvPr/>
        </p:nvSpPr>
        <p:spPr>
          <a:xfrm>
            <a:off x="6190560" y="2148840"/>
            <a:ext cx="5440320" cy="356580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45"/>
          <p:cNvSpPr/>
          <p:nvPr/>
        </p:nvSpPr>
        <p:spPr>
          <a:xfrm>
            <a:off x="6556320" y="23864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 the ANGLE (arc given)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46"/>
          <p:cNvSpPr/>
          <p:nvPr/>
        </p:nvSpPr>
        <p:spPr>
          <a:xfrm>
            <a:off x="6537960" y="2880360"/>
            <a:ext cx="4754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Arc 11 cm, radius 7 cm: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11 = θ/360 × π × 14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11 = θ/360 × 43.98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θ/360 = 11 ÷ 43.98 = 0.25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θ = 0.25 × 360 = </a:t>
            </a: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90°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47"/>
          <p:cNvSpPr/>
          <p:nvPr/>
        </p:nvSpPr>
        <p:spPr>
          <a:xfrm>
            <a:off x="567000" y="585216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48"/>
          <p:cNvSpPr/>
          <p:nvPr/>
        </p:nvSpPr>
        <p:spPr>
          <a:xfrm>
            <a:off x="841320" y="58521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Substitute what you know, then rearrange for r (take the square root) or θ.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SUMMARY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Four Sector Formulas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9"/>
          <p:cNvSpPr/>
          <p:nvPr/>
        </p:nvSpPr>
        <p:spPr>
          <a:xfrm>
            <a:off x="567000" y="129852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40"/>
          <p:cNvSpPr/>
          <p:nvPr/>
        </p:nvSpPr>
        <p:spPr>
          <a:xfrm>
            <a:off x="887040" y="129852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Everything is θ/360 of the whole circle.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41"/>
          <p:cNvSpPr/>
          <p:nvPr/>
        </p:nvSpPr>
        <p:spPr>
          <a:xfrm>
            <a:off x="567000" y="2148840"/>
            <a:ext cx="557748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42"/>
          <p:cNvSpPr/>
          <p:nvPr/>
        </p:nvSpPr>
        <p:spPr>
          <a:xfrm>
            <a:off x="676800" y="2148840"/>
            <a:ext cx="535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What you want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43"/>
          <p:cNvSpPr/>
          <p:nvPr/>
        </p:nvSpPr>
        <p:spPr>
          <a:xfrm>
            <a:off x="6400800" y="2148840"/>
            <a:ext cx="523008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44"/>
          <p:cNvSpPr/>
          <p:nvPr/>
        </p:nvSpPr>
        <p:spPr>
          <a:xfrm>
            <a:off x="6510600" y="2148840"/>
            <a:ext cx="5010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mbria"/>
                <a:ea typeface="Cambria"/>
              </a:rPr>
              <a:t>Formula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45"/>
          <p:cNvSpPr/>
          <p:nvPr/>
        </p:nvSpPr>
        <p:spPr>
          <a:xfrm>
            <a:off x="567000" y="2642760"/>
            <a:ext cx="5577480" cy="6487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46"/>
          <p:cNvSpPr/>
          <p:nvPr/>
        </p:nvSpPr>
        <p:spPr>
          <a:xfrm>
            <a:off x="749880" y="2642760"/>
            <a:ext cx="52117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Arc length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47"/>
          <p:cNvSpPr/>
          <p:nvPr/>
        </p:nvSpPr>
        <p:spPr>
          <a:xfrm>
            <a:off x="6400800" y="2642760"/>
            <a:ext cx="5230080" cy="6487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48"/>
          <p:cNvSpPr/>
          <p:nvPr/>
        </p:nvSpPr>
        <p:spPr>
          <a:xfrm>
            <a:off x="6583680" y="2642760"/>
            <a:ext cx="48643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θ/360 × πd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49"/>
          <p:cNvSpPr/>
          <p:nvPr/>
        </p:nvSpPr>
        <p:spPr>
          <a:xfrm>
            <a:off x="567000" y="3328560"/>
            <a:ext cx="5577480" cy="6487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50"/>
          <p:cNvSpPr/>
          <p:nvPr/>
        </p:nvSpPr>
        <p:spPr>
          <a:xfrm>
            <a:off x="749880" y="3328560"/>
            <a:ext cx="52117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Area of sector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51"/>
          <p:cNvSpPr/>
          <p:nvPr/>
        </p:nvSpPr>
        <p:spPr>
          <a:xfrm>
            <a:off x="6400800" y="3328560"/>
            <a:ext cx="5230080" cy="6487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52"/>
          <p:cNvSpPr/>
          <p:nvPr/>
        </p:nvSpPr>
        <p:spPr>
          <a:xfrm>
            <a:off x="6583680" y="3328560"/>
            <a:ext cx="48643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θ/360 × πr²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53"/>
          <p:cNvSpPr/>
          <p:nvPr/>
        </p:nvSpPr>
        <p:spPr>
          <a:xfrm>
            <a:off x="567000" y="4014360"/>
            <a:ext cx="5577480" cy="6487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54"/>
          <p:cNvSpPr/>
          <p:nvPr/>
        </p:nvSpPr>
        <p:spPr>
          <a:xfrm>
            <a:off x="749880" y="4014360"/>
            <a:ext cx="52117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Perimeter of sector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55"/>
          <p:cNvSpPr/>
          <p:nvPr/>
        </p:nvSpPr>
        <p:spPr>
          <a:xfrm>
            <a:off x="6400800" y="4014360"/>
            <a:ext cx="5230080" cy="6487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56"/>
          <p:cNvSpPr/>
          <p:nvPr/>
        </p:nvSpPr>
        <p:spPr>
          <a:xfrm>
            <a:off x="6583680" y="4014360"/>
            <a:ext cx="48643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arc length + 2r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57"/>
          <p:cNvSpPr/>
          <p:nvPr/>
        </p:nvSpPr>
        <p:spPr>
          <a:xfrm>
            <a:off x="567000" y="4700160"/>
            <a:ext cx="5577480" cy="6487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58"/>
          <p:cNvSpPr/>
          <p:nvPr/>
        </p:nvSpPr>
        <p:spPr>
          <a:xfrm>
            <a:off x="749880" y="4700160"/>
            <a:ext cx="52117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Find radius / angle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59"/>
          <p:cNvSpPr/>
          <p:nvPr/>
        </p:nvSpPr>
        <p:spPr>
          <a:xfrm>
            <a:off x="6400800" y="4700160"/>
            <a:ext cx="5230080" cy="6487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60"/>
          <p:cNvSpPr/>
          <p:nvPr/>
        </p:nvSpPr>
        <p:spPr>
          <a:xfrm>
            <a:off x="6583680" y="4700160"/>
            <a:ext cx="48643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substitute, then rearrange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61"/>
          <p:cNvSpPr/>
          <p:nvPr/>
        </p:nvSpPr>
        <p:spPr>
          <a:xfrm>
            <a:off x="567000" y="55778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Always check whether the question wants the ARC only, or the whole PERIMETER (arc + 2r).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Decide which of the four you need, then substitute θ/360.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Arc, area, or perimeter?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Perimeter = arc + 2r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Given arc/area → rearrange for r or 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Round as asked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9"/>
          <p:cNvSpPr/>
          <p:nvPr/>
        </p:nvSpPr>
        <p:spPr>
          <a:xfrm>
            <a:off x="1361520" y="1408320"/>
            <a:ext cx="94683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0" name="Image 0" descr="/tmp/work/ppq/q-39.png"/>
          <p:cNvPicPr/>
          <p:nvPr/>
        </p:nvPicPr>
        <p:blipFill>
          <a:blip r:embed="rId1"/>
          <a:stretch/>
        </p:blipFill>
        <p:spPr>
          <a:xfrm>
            <a:off x="1434600" y="1481400"/>
            <a:ext cx="93218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9"/>
          <p:cNvSpPr/>
          <p:nvPr/>
        </p:nvSpPr>
        <p:spPr>
          <a:xfrm>
            <a:off x="2442960" y="1408320"/>
            <a:ext cx="73054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1" name="Image 0" descr="/tmp/work/ppq/q-40.png"/>
          <p:cNvPicPr/>
          <p:nvPr/>
        </p:nvPicPr>
        <p:blipFill>
          <a:blip r:embed="rId1"/>
          <a:stretch/>
        </p:blipFill>
        <p:spPr>
          <a:xfrm>
            <a:off x="2516040" y="1481400"/>
            <a:ext cx="71593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39"/>
          <p:cNvSpPr/>
          <p:nvPr/>
        </p:nvSpPr>
        <p:spPr>
          <a:xfrm>
            <a:off x="1876320" y="1408320"/>
            <a:ext cx="84387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2" name="Image 0" descr="/tmp/work/ppq/q-41.png"/>
          <p:cNvPicPr/>
          <p:nvPr/>
        </p:nvPicPr>
        <p:blipFill>
          <a:blip r:embed="rId1"/>
          <a:stretch/>
        </p:blipFill>
        <p:spPr>
          <a:xfrm>
            <a:off x="1949400" y="1481400"/>
            <a:ext cx="82926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39"/>
          <p:cNvSpPr/>
          <p:nvPr/>
        </p:nvSpPr>
        <p:spPr>
          <a:xfrm>
            <a:off x="1328760" y="1408320"/>
            <a:ext cx="95338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3" name="Image 0" descr="/tmp/work/ppq/q-42.png"/>
          <p:cNvPicPr/>
          <p:nvPr/>
        </p:nvPicPr>
        <p:blipFill>
          <a:blip r:embed="rId1"/>
          <a:stretch/>
        </p:blipFill>
        <p:spPr>
          <a:xfrm>
            <a:off x="1401840" y="1481400"/>
            <a:ext cx="93877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9"/>
          <p:cNvSpPr/>
          <p:nvPr/>
        </p:nvSpPr>
        <p:spPr>
          <a:xfrm>
            <a:off x="2669760" y="1408320"/>
            <a:ext cx="68515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4" name="Image 0" descr="/tmp/work/ppq/q-43.png"/>
          <p:cNvPicPr/>
          <p:nvPr/>
        </p:nvPicPr>
        <p:blipFill>
          <a:blip r:embed="rId1"/>
          <a:stretch/>
        </p:blipFill>
        <p:spPr>
          <a:xfrm>
            <a:off x="2743200" y="1481400"/>
            <a:ext cx="67050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9"/>
          <p:cNvSpPr/>
          <p:nvPr/>
        </p:nvSpPr>
        <p:spPr>
          <a:xfrm>
            <a:off x="2870280" y="1408320"/>
            <a:ext cx="64504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5" name="Image 0" descr="/tmp/work/ppq/q-44.png"/>
          <p:cNvPicPr/>
          <p:nvPr/>
        </p:nvPicPr>
        <p:blipFill>
          <a:blip r:embed="rId1"/>
          <a:stretch/>
        </p:blipFill>
        <p:spPr>
          <a:xfrm>
            <a:off x="2943360" y="1481400"/>
            <a:ext cx="63043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39"/>
          <p:cNvSpPr/>
          <p:nvPr/>
        </p:nvSpPr>
        <p:spPr>
          <a:xfrm>
            <a:off x="2850840" y="1408320"/>
            <a:ext cx="64897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6" name="Image 0" descr="/tmp/work/ppq/q-45.png"/>
          <p:cNvPicPr/>
          <p:nvPr/>
        </p:nvPicPr>
        <p:blipFill>
          <a:blip r:embed="rId1"/>
          <a:stretch/>
        </p:blipFill>
        <p:spPr>
          <a:xfrm>
            <a:off x="2923920" y="1481400"/>
            <a:ext cx="63432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39"/>
          <p:cNvSpPr/>
          <p:nvPr/>
        </p:nvSpPr>
        <p:spPr>
          <a:xfrm>
            <a:off x="2431800" y="1408320"/>
            <a:ext cx="73278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7" name="Image 0" descr="/tmp/work/ppq/q-46.png"/>
          <p:cNvPicPr/>
          <p:nvPr/>
        </p:nvPicPr>
        <p:blipFill>
          <a:blip r:embed="rId1"/>
          <a:stretch/>
        </p:blipFill>
        <p:spPr>
          <a:xfrm>
            <a:off x="2504880" y="1481400"/>
            <a:ext cx="7181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39"/>
          <p:cNvSpPr/>
          <p:nvPr/>
        </p:nvSpPr>
        <p:spPr>
          <a:xfrm>
            <a:off x="2537640" y="1408320"/>
            <a:ext cx="71157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8" name="Image 0" descr="/tmp/work/ppq/q-47.png"/>
          <p:cNvPicPr/>
          <p:nvPr/>
        </p:nvPicPr>
        <p:blipFill>
          <a:blip r:embed="rId1"/>
          <a:stretch/>
        </p:blipFill>
        <p:spPr>
          <a:xfrm>
            <a:off x="2610720" y="1481400"/>
            <a:ext cx="69696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9"/>
          <p:cNvSpPr/>
          <p:nvPr/>
        </p:nvSpPr>
        <p:spPr>
          <a:xfrm>
            <a:off x="2201040" y="1408320"/>
            <a:ext cx="77893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9" name="Image 0" descr="/tmp/work/ppq/q-48.png"/>
          <p:cNvPicPr/>
          <p:nvPr/>
        </p:nvPicPr>
        <p:blipFill>
          <a:blip r:embed="rId1"/>
          <a:stretch/>
        </p:blipFill>
        <p:spPr>
          <a:xfrm>
            <a:off x="2274120" y="1481400"/>
            <a:ext cx="76428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39"/>
          <p:cNvSpPr/>
          <p:nvPr/>
        </p:nvSpPr>
        <p:spPr>
          <a:xfrm>
            <a:off x="2076840" y="1408320"/>
            <a:ext cx="80380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0" name="Image 0" descr="/tmp/work/ppq/q-49.png"/>
          <p:cNvPicPr/>
          <p:nvPr/>
        </p:nvPicPr>
        <p:blipFill>
          <a:blip r:embed="rId1"/>
          <a:stretch/>
        </p:blipFill>
        <p:spPr>
          <a:xfrm>
            <a:off x="2149920" y="1481400"/>
            <a:ext cx="78915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sector is a fraction θ/360 of the whole circle — that one idea gives every formula.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Arc length = θ/360 × πd  (the curved edge).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Area of a sector = θ/360 × πr²  (square the radius first).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Perimeter of a sector = arc length + 2r  — never forget the two radii.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8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Given the arc or area, substitute and rearrange to find the radius (√) or the angle.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work out the fraction θ/360 first — then it is just circumference or area.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2026-07-15T08:33:25Z</dcterms:created>
  <dc:creator>Zahra Sheikh Ali</dc:creator>
  <dc:description/>
  <dc:language>en-US</dc:language>
  <cp:lastModifiedBy>Zahra Sheikh Ali</cp:lastModifiedBy>
  <dcterms:modified xsi:type="dcterms:W3CDTF">2026-07-15T08:33:25Z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