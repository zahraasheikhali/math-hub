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1AC6CE8-CF11-402C-A07C-9FD6F6F979B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99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PlaceHolder 3"/>
          <p:cNvSpPr>
            <a:spLocks noGrp="1"/>
          </p:cNvSpPr>
          <p:nvPr>
            <p:ph type="sldNum" idx="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0EF3FD-C75C-4A94-82E2-3324008C2B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99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PlaceHolder 3"/>
          <p:cNvSpPr>
            <a:spLocks noGrp="1"/>
          </p:cNvSpPr>
          <p:nvPr>
            <p:ph type="sldNum" idx="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9BF9E2-3212-462E-B0C2-B321350FAA4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0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PlaceHolder 3"/>
          <p:cNvSpPr>
            <a:spLocks noGrp="1"/>
          </p:cNvSpPr>
          <p:nvPr>
            <p:ph type="sldNum" idx="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54F508-55E9-4FD5-B9B4-6E2FED8F9D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0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PlaceHolder 3"/>
          <p:cNvSpPr>
            <a:spLocks noGrp="1"/>
          </p:cNvSpPr>
          <p:nvPr>
            <p:ph type="sldNum" idx="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CF0A19-FCA5-4ECE-9DBA-8316400DE3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0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PlaceHolder 3"/>
          <p:cNvSpPr>
            <a:spLocks noGrp="1"/>
          </p:cNvSpPr>
          <p:nvPr>
            <p:ph type="sldNum" idx="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93999D-0FC8-4D8C-8874-4B6BF80E518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1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PlaceHolder 3"/>
          <p:cNvSpPr>
            <a:spLocks noGrp="1"/>
          </p:cNvSpPr>
          <p:nvPr>
            <p:ph type="sldNum" idx="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1F6C7A-0A80-42CA-8A2F-45FB78AF07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1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PlaceHolder 3"/>
          <p:cNvSpPr>
            <a:spLocks noGrp="1"/>
          </p:cNvSpPr>
          <p:nvPr>
            <p:ph type="sldNum" idx="1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0CEEE6-5B58-41E1-A98C-A3E32FCC9B4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1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PlaceHolder 3"/>
          <p:cNvSpPr>
            <a:spLocks noGrp="1"/>
          </p:cNvSpPr>
          <p:nvPr>
            <p:ph type="sldNum" idx="1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EB4FED-76D5-4E18-B63D-67EFFEFF96B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1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682F00-B391-4681-B222-A8840758AA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2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PlaceHolder 3"/>
          <p:cNvSpPr>
            <a:spLocks noGrp="1"/>
          </p:cNvSpPr>
          <p:nvPr>
            <p:ph type="sldNum" idx="1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A124A7-5F25-42F8-B701-76DAE1A04B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2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PlaceHolder 3"/>
          <p:cNvSpPr>
            <a:spLocks noGrp="1"/>
          </p:cNvSpPr>
          <p:nvPr>
            <p:ph type="sldNum" idx="1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E6D7EF-CA11-470E-BB4D-3B67420641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2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PlaceHolder 3"/>
          <p:cNvSpPr>
            <a:spLocks noGrp="1"/>
          </p:cNvSpPr>
          <p:nvPr>
            <p:ph type="sldNum" idx="1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258BB7-D377-4363-9303-FF2BE41D174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3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PlaceHolder 3"/>
          <p:cNvSpPr>
            <a:spLocks noGrp="1"/>
          </p:cNvSpPr>
          <p:nvPr>
            <p:ph type="sldNum" idx="1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6142A7-AF1D-4D46-9F57-83835920789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3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PlaceHolder 3"/>
          <p:cNvSpPr>
            <a:spLocks noGrp="1"/>
          </p:cNvSpPr>
          <p:nvPr>
            <p:ph type="sldNum" idx="1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733758-D25A-48CC-B1A3-1D4D78B721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3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PlaceHolder 3"/>
          <p:cNvSpPr>
            <a:spLocks noGrp="1"/>
          </p:cNvSpPr>
          <p:nvPr>
            <p:ph type="sldNum" idx="1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29DBEA-53A4-4BAF-AA61-4EA19B9C0DA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4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PlaceHolder 3"/>
          <p:cNvSpPr>
            <a:spLocks noGrp="1"/>
          </p:cNvSpPr>
          <p:nvPr>
            <p:ph type="sldNum" idx="1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F96619-68F0-493A-B1B0-056417015F1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4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PlaceHolder 3"/>
          <p:cNvSpPr>
            <a:spLocks noGrp="1"/>
          </p:cNvSpPr>
          <p:nvPr>
            <p:ph type="sldNum" idx="2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0A187A-6EDA-440A-8819-17FF1BD7B90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4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PlaceHolder 3"/>
          <p:cNvSpPr>
            <a:spLocks noGrp="1"/>
          </p:cNvSpPr>
          <p:nvPr>
            <p:ph type="sldNum" idx="2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0A487B-5D12-4F4B-8D99-FE7EAEBC993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4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PlaceHolder 3"/>
          <p:cNvSpPr>
            <a:spLocks noGrp="1"/>
          </p:cNvSpPr>
          <p:nvPr>
            <p:ph type="sldNum" idx="2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F4B78A-574E-424B-B7FC-6FAC886C92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5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PlaceHolder 3"/>
          <p:cNvSpPr>
            <a:spLocks noGrp="1"/>
          </p:cNvSpPr>
          <p:nvPr>
            <p:ph type="sldNum" idx="2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4A5F2B-AB99-4E4E-AB7B-57B7DC2308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5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PlaceHolder 3"/>
          <p:cNvSpPr>
            <a:spLocks noGrp="1"/>
          </p:cNvSpPr>
          <p:nvPr>
            <p:ph type="sldNum" idx="2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03F55-B9EE-4319-9AF5-4183277469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9509760" y="1005840"/>
            <a:ext cx="1828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33463a"/>
                </a:solidFill>
                <a:latin typeface="Cambria"/>
                <a:ea typeface="Cambria"/>
              </a:rPr>
              <a:t>x̄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e0ac2b"/>
                </a:solidFill>
                <a:latin typeface="Cambria"/>
                <a:ea typeface="Cambria"/>
              </a:rPr>
              <a:t>Averages &amp; Range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Mode · Median · Mean · Range · Quartiles &amp; the Interquartile Range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Three Averages and a Spread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An average is a single number that represents a whole set of data.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There are three — mode, median and mean — plus the range and quartiles to measure the SPREAD.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Mode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Median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Mean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Range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Quartiles &amp; IQR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mode · median · mean · range · lower quartile · upper quartile · interquartile range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Three Averages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9"/>
          <p:cNvSpPr/>
          <p:nvPr/>
        </p:nvSpPr>
        <p:spPr>
          <a:xfrm>
            <a:off x="567000" y="12801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40"/>
          <p:cNvSpPr/>
          <p:nvPr/>
        </p:nvSpPr>
        <p:spPr>
          <a:xfrm>
            <a:off x="887040" y="1280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Data: 3, 5, 5, 6, 11.   Watch how each average is found.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41"/>
          <p:cNvSpPr/>
          <p:nvPr/>
        </p:nvSpPr>
        <p:spPr>
          <a:xfrm>
            <a:off x="567000" y="2103120"/>
            <a:ext cx="3520080" cy="320004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42"/>
          <p:cNvSpPr/>
          <p:nvPr/>
        </p:nvSpPr>
        <p:spPr>
          <a:xfrm>
            <a:off x="567000" y="233172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MODE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43"/>
          <p:cNvSpPr/>
          <p:nvPr/>
        </p:nvSpPr>
        <p:spPr>
          <a:xfrm>
            <a:off x="567000" y="278892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most common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44"/>
          <p:cNvSpPr/>
          <p:nvPr/>
        </p:nvSpPr>
        <p:spPr>
          <a:xfrm>
            <a:off x="567000" y="3200400"/>
            <a:ext cx="3520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c84f2f"/>
                </a:solidFill>
                <a:latin typeface="Cambria"/>
                <a:ea typeface="Cambria"/>
              </a:rPr>
              <a:t>5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45"/>
          <p:cNvSpPr/>
          <p:nvPr/>
        </p:nvSpPr>
        <p:spPr>
          <a:xfrm>
            <a:off x="841320" y="4206240"/>
            <a:ext cx="2971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libri"/>
                <a:ea typeface="Calibri"/>
              </a:rPr>
              <a:t>the value that appears most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46"/>
          <p:cNvSpPr/>
          <p:nvPr/>
        </p:nvSpPr>
        <p:spPr>
          <a:xfrm>
            <a:off x="4316040" y="2103120"/>
            <a:ext cx="3520080" cy="320004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47"/>
          <p:cNvSpPr/>
          <p:nvPr/>
        </p:nvSpPr>
        <p:spPr>
          <a:xfrm>
            <a:off x="4316040" y="233172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MEDIAN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48"/>
          <p:cNvSpPr/>
          <p:nvPr/>
        </p:nvSpPr>
        <p:spPr>
          <a:xfrm>
            <a:off x="4316040" y="278892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middle value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49"/>
          <p:cNvSpPr/>
          <p:nvPr/>
        </p:nvSpPr>
        <p:spPr>
          <a:xfrm>
            <a:off x="4316040" y="3200400"/>
            <a:ext cx="3520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c84f2f"/>
                </a:solidFill>
                <a:latin typeface="Cambria"/>
                <a:ea typeface="Cambria"/>
              </a:rPr>
              <a:t>5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50"/>
          <p:cNvSpPr/>
          <p:nvPr/>
        </p:nvSpPr>
        <p:spPr>
          <a:xfrm>
            <a:off x="4590360" y="4206240"/>
            <a:ext cx="2971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libri"/>
                <a:ea typeface="Calibri"/>
              </a:rPr>
              <a:t>order first, then take the middle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51"/>
          <p:cNvSpPr/>
          <p:nvPr/>
        </p:nvSpPr>
        <p:spPr>
          <a:xfrm>
            <a:off x="8065080" y="2103120"/>
            <a:ext cx="3520080" cy="320004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52"/>
          <p:cNvSpPr/>
          <p:nvPr/>
        </p:nvSpPr>
        <p:spPr>
          <a:xfrm>
            <a:off x="8065080" y="233172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MEAN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53"/>
          <p:cNvSpPr/>
          <p:nvPr/>
        </p:nvSpPr>
        <p:spPr>
          <a:xfrm>
            <a:off x="8065080" y="278892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add ÷ count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54"/>
          <p:cNvSpPr/>
          <p:nvPr/>
        </p:nvSpPr>
        <p:spPr>
          <a:xfrm>
            <a:off x="8065080" y="3200400"/>
            <a:ext cx="3520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c84f2f"/>
                </a:solidFill>
                <a:latin typeface="Cambria"/>
                <a:ea typeface="Cambria"/>
              </a:rPr>
              <a:t>6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55"/>
          <p:cNvSpPr/>
          <p:nvPr/>
        </p:nvSpPr>
        <p:spPr>
          <a:xfrm>
            <a:off x="8339400" y="4206240"/>
            <a:ext cx="2971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libri"/>
                <a:ea typeface="Calibri"/>
              </a:rPr>
              <a:t>(3+5+5+6+11) ÷ 5 = 30 ÷ 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56"/>
          <p:cNvSpPr/>
          <p:nvPr/>
        </p:nvSpPr>
        <p:spPr>
          <a:xfrm>
            <a:off x="567000" y="553212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57"/>
          <p:cNvSpPr/>
          <p:nvPr/>
        </p:nvSpPr>
        <p:spPr>
          <a:xfrm>
            <a:off x="841320" y="5532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RANGE (spread) = highest − lowest = 11 − 3 = 8.  (Range is not an average.)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MODE &amp; MEDIAN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Two ‘No-Calculation’ Averages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 mode you just spot; the median you find by ordering.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For the median, ORDER the data first — always.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41"/>
          <p:cNvSpPr/>
          <p:nvPr/>
        </p:nvSpPr>
        <p:spPr>
          <a:xfrm>
            <a:off x="567000" y="228600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42"/>
          <p:cNvSpPr/>
          <p:nvPr/>
        </p:nvSpPr>
        <p:spPr>
          <a:xfrm>
            <a:off x="93276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MODE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43"/>
          <p:cNvSpPr/>
          <p:nvPr/>
        </p:nvSpPr>
        <p:spPr>
          <a:xfrm>
            <a:off x="914400" y="3017520"/>
            <a:ext cx="47545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The most frequent value.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450" spc="-1" strike="noStrike">
                <a:solidFill>
                  <a:srgbClr val="c84f2f"/>
                </a:solidFill>
                <a:latin typeface="Cambria"/>
                <a:ea typeface="Cambria"/>
              </a:rPr>
              <a:t>7, 3, 7, 9, 7, 2  →  mode = 7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There can be no mode, or more than one.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44"/>
          <p:cNvSpPr/>
          <p:nvPr/>
        </p:nvSpPr>
        <p:spPr>
          <a:xfrm>
            <a:off x="6190560" y="228600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45"/>
          <p:cNvSpPr/>
          <p:nvPr/>
        </p:nvSpPr>
        <p:spPr>
          <a:xfrm>
            <a:off x="655632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MEDIAN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6"/>
          <p:cNvSpPr/>
          <p:nvPr/>
        </p:nvSpPr>
        <p:spPr>
          <a:xfrm>
            <a:off x="6537960" y="3017520"/>
            <a:ext cx="47545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Order the data, take the MIDDLE.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450" spc="-1" strike="noStrike">
                <a:solidFill>
                  <a:srgbClr val="c84f2f"/>
                </a:solidFill>
                <a:latin typeface="Cambria"/>
                <a:ea typeface="Cambria"/>
              </a:rPr>
              <a:t>2, 3, 7, 7, 9  →  median = 7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Even amount? Average the two middle numbers.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47"/>
          <p:cNvSpPr/>
          <p:nvPr/>
        </p:nvSpPr>
        <p:spPr>
          <a:xfrm>
            <a:off x="567000" y="553212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48"/>
          <p:cNvSpPr/>
          <p:nvPr/>
        </p:nvSpPr>
        <p:spPr>
          <a:xfrm>
            <a:off x="841320" y="5532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Median position = (n + 1) ÷ 2.   For 8 values that is the 4.5th — average the 4th and 5th.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MEAN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Add Everything, Divide by How Many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Add up all the values (the total).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Divide by how many values there are.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 mean can be a decimal — that is fine.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Reverse it: total = mean × number of values.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If you know the mean, you can find the total: total = mean × how many.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Work out the mean of 6, 4, 3, 2, 5.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Add them:  6 + 4 + 3 + 2 + 5 = 20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Count them:  there are 5 values.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Mean = 20 ÷ 5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Mean = total ÷ number of values = 20 ÷ 5 = 4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RANGE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 Measure of Spread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 range tells you how SPREAD OUT the data is — not an average.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A small range means the data is consistent.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41"/>
          <p:cNvSpPr/>
          <p:nvPr/>
        </p:nvSpPr>
        <p:spPr>
          <a:xfrm>
            <a:off x="1920240" y="2468880"/>
            <a:ext cx="8320680" cy="1371240"/>
          </a:xfrm>
          <a:prstGeom prst="roundRect">
            <a:avLst>
              <a:gd name="adj" fmla="val 4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42"/>
          <p:cNvSpPr/>
          <p:nvPr/>
        </p:nvSpPr>
        <p:spPr>
          <a:xfrm>
            <a:off x="1920240" y="2468880"/>
            <a:ext cx="8320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0ac2b"/>
                </a:solidFill>
                <a:latin typeface="Cambria"/>
                <a:ea typeface="Cambria"/>
              </a:rPr>
              <a:t>RANGE  =  highest value  −  lowest value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43"/>
          <p:cNvSpPr/>
          <p:nvPr/>
        </p:nvSpPr>
        <p:spPr>
          <a:xfrm>
            <a:off x="567000" y="420624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Data 4, 9, 2, 11, 6:   range = 11 − 2 = </a:t>
            </a: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9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44"/>
          <p:cNvSpPr/>
          <p:nvPr/>
        </p:nvSpPr>
        <p:spPr>
          <a:xfrm>
            <a:off x="567000" y="5029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 smaller range = more consistent / more reliable data.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30"/>
          <p:cNvSpPr/>
          <p:nvPr/>
        </p:nvSpPr>
        <p:spPr>
          <a:xfrm>
            <a:off x="0" y="468756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QUARTILES &amp; IQR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Splitting the Data into Quarters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Quartiles split ORDERED data into four equal parts.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 IQR measures the spread of the middle half.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41"/>
          <p:cNvSpPr/>
          <p:nvPr/>
        </p:nvSpPr>
        <p:spPr>
          <a:xfrm>
            <a:off x="138960" y="2080440"/>
            <a:ext cx="3526200" cy="194076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42"/>
          <p:cNvSpPr/>
          <p:nvPr/>
        </p:nvSpPr>
        <p:spPr>
          <a:xfrm>
            <a:off x="138960" y="20390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The three quartiles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43"/>
          <p:cNvSpPr/>
          <p:nvPr/>
        </p:nvSpPr>
        <p:spPr>
          <a:xfrm>
            <a:off x="245880" y="2562840"/>
            <a:ext cx="3312360" cy="14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Lower quartile (LQ):  ¼ of the way in.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Median (Q2):  halfway.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Upper quartile (UQ):  ¾ of the way in.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Order the data first, always.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44"/>
          <p:cNvSpPr/>
          <p:nvPr/>
        </p:nvSpPr>
        <p:spPr>
          <a:xfrm>
            <a:off x="138960" y="4266360"/>
            <a:ext cx="3526200" cy="187416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45"/>
          <p:cNvSpPr/>
          <p:nvPr/>
        </p:nvSpPr>
        <p:spPr>
          <a:xfrm>
            <a:off x="167040" y="436248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Interquartile range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46"/>
          <p:cNvSpPr/>
          <p:nvPr/>
        </p:nvSpPr>
        <p:spPr>
          <a:xfrm>
            <a:off x="167040" y="4915440"/>
            <a:ext cx="33912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IQR = UQ − LQ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The spread of the middle 50% of the data.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It ignores extreme values, so it is more reliable than the range.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47"/>
          <p:cNvSpPr/>
          <p:nvPr/>
        </p:nvSpPr>
        <p:spPr>
          <a:xfrm>
            <a:off x="274320" y="6392880"/>
            <a:ext cx="11063880" cy="51804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48"/>
          <p:cNvSpPr/>
          <p:nvPr/>
        </p:nvSpPr>
        <p:spPr>
          <a:xfrm>
            <a:off x="841320" y="6392880"/>
            <a:ext cx="1051524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IQR = upper quartile − lower quartile — the range of the middle half.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Box 3"/>
          <p:cNvSpPr/>
          <p:nvPr/>
        </p:nvSpPr>
        <p:spPr>
          <a:xfrm>
            <a:off x="4171680" y="1984320"/>
            <a:ext cx="8000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12,    6,    4,    9,    8,    4,    9,    8,     5,    9,    8,    10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Box 4"/>
          <p:cNvSpPr/>
          <p:nvPr/>
        </p:nvSpPr>
        <p:spPr>
          <a:xfrm>
            <a:off x="3968640" y="3698640"/>
            <a:ext cx="8314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400"/>
              </a:spcBef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4,     4,     5,     6,     8,     8,     8,     9,      9,     9,     10,     12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Box 5"/>
          <p:cNvSpPr/>
          <p:nvPr/>
        </p:nvSpPr>
        <p:spPr>
          <a:xfrm>
            <a:off x="6533640" y="2479680"/>
            <a:ext cx="2819160" cy="455400"/>
          </a:xfrm>
          <a:prstGeom prst="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Order the data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Line 12"/>
          <p:cNvSpPr/>
          <p:nvPr/>
        </p:nvSpPr>
        <p:spPr>
          <a:xfrm>
            <a:off x="5942880" y="4355640"/>
            <a:ext cx="3927600" cy="6480"/>
          </a:xfrm>
          <a:prstGeom prst="line">
            <a:avLst/>
          </a:prstGeom>
          <a:ln w="57150">
            <a:solidFill>
              <a:srgbClr val="ff505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38520" bIns="-3852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3" name="Text Box 13"/>
          <p:cNvSpPr/>
          <p:nvPr/>
        </p:nvSpPr>
        <p:spPr>
          <a:xfrm>
            <a:off x="5194080" y="5892480"/>
            <a:ext cx="5662080" cy="424800"/>
          </a:xfrm>
          <a:prstGeom prst="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100"/>
              </a:spcBef>
            </a:pPr>
            <a:r>
              <a:rPr b="1" lang="en-GB" sz="2200" spc="-1" strike="noStrike">
                <a:solidFill>
                  <a:schemeClr val="dk1"/>
                </a:solidFill>
                <a:latin typeface="Calibri"/>
              </a:rPr>
              <a:t>Inter- Quartile Range = 9 - 5½ = 3½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4" name="Group 20"/>
          <p:cNvGrpSpPr/>
          <p:nvPr/>
        </p:nvGrpSpPr>
        <p:grpSpPr>
          <a:xfrm>
            <a:off x="5276520" y="3089160"/>
            <a:ext cx="1439640" cy="2306520"/>
            <a:chOff x="5276520" y="3089160"/>
            <a:chExt cx="1439640" cy="2306520"/>
          </a:xfrm>
        </p:grpSpPr>
        <p:grpSp>
          <p:nvGrpSpPr>
            <p:cNvPr id="385" name="Group 15"/>
            <p:cNvGrpSpPr/>
            <p:nvPr/>
          </p:nvGrpSpPr>
          <p:grpSpPr>
            <a:xfrm>
              <a:off x="5276520" y="3551040"/>
              <a:ext cx="1439640" cy="1844640"/>
              <a:chOff x="5276520" y="3551040"/>
              <a:chExt cx="1439640" cy="1844640"/>
            </a:xfrm>
          </p:grpSpPr>
          <p:sp>
            <p:nvSpPr>
              <p:cNvPr id="386" name="Line 10"/>
              <p:cNvSpPr/>
              <p:nvPr/>
            </p:nvSpPr>
            <p:spPr>
              <a:xfrm>
                <a:off x="5944680" y="3551040"/>
                <a:ext cx="360" cy="761760"/>
              </a:xfrm>
              <a:prstGeom prst="line">
                <a:avLst/>
              </a:prstGeom>
              <a:ln w="38100">
                <a:solidFill>
                  <a:srgbClr val="ed7d3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387" name="Text Box 11"/>
              <p:cNvSpPr/>
              <p:nvPr/>
            </p:nvSpPr>
            <p:spPr>
              <a:xfrm>
                <a:off x="5276520" y="4524120"/>
                <a:ext cx="1439640" cy="87156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Bef>
                    <a:spcPts val="1199"/>
                  </a:spcBef>
                </a:pPr>
                <a:r>
                  <a:rPr b="1" lang="en-GB" sz="2400" spc="-1" strike="noStrike">
                    <a:solidFill>
                      <a:schemeClr val="dk1"/>
                    </a:solidFill>
                    <a:latin typeface="Calibri"/>
                  </a:rPr>
                  <a:t>LQ (Q</a:t>
                </a:r>
                <a:r>
                  <a:rPr b="1" lang="en-GB" sz="2400" spc="-1" strike="noStrike" baseline="-25000">
                    <a:solidFill>
                      <a:schemeClr val="dk1"/>
                    </a:solidFill>
                    <a:latin typeface="Calibri"/>
                  </a:rPr>
                  <a:t>1</a:t>
                </a:r>
                <a:r>
                  <a:rPr b="1" lang="en-GB" sz="2400" spc="-1" strike="noStrike">
                    <a:solidFill>
                      <a:schemeClr val="dk1"/>
                    </a:solidFill>
                    <a:latin typeface="Calibri"/>
                  </a:rPr>
                  <a:t>)= 5½ </a:t>
                </a:r>
                <a:endParaRPr b="0" lang="en-US" sz="2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388" name="Text Box 18"/>
            <p:cNvSpPr/>
            <p:nvPr/>
          </p:nvSpPr>
          <p:spPr>
            <a:xfrm>
              <a:off x="5657400" y="3089160"/>
              <a:ext cx="590040" cy="4363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a5a5a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1" lang="en-GB" sz="2000" spc="-1" strike="noStrike">
                  <a:solidFill>
                    <a:schemeClr val="dk1"/>
                  </a:solidFill>
                  <a:latin typeface="Calibri"/>
                </a:rPr>
                <a:t>Q</a:t>
              </a:r>
              <a:r>
                <a:rPr b="1" lang="en-GB" sz="2000" spc="-1" strike="noStrike" baseline="-25000">
                  <a:solidFill>
                    <a:schemeClr val="dk1"/>
                  </a:solidFill>
                  <a:latin typeface="Calibri"/>
                </a:rPr>
                <a:t>1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9" name="Group 21"/>
          <p:cNvGrpSpPr/>
          <p:nvPr/>
        </p:nvGrpSpPr>
        <p:grpSpPr>
          <a:xfrm>
            <a:off x="9175320" y="3089160"/>
            <a:ext cx="1439640" cy="1905840"/>
            <a:chOff x="9175320" y="3089160"/>
            <a:chExt cx="1439640" cy="1905840"/>
          </a:xfrm>
        </p:grpSpPr>
        <p:grpSp>
          <p:nvGrpSpPr>
            <p:cNvPr id="390" name="Group 16"/>
            <p:cNvGrpSpPr/>
            <p:nvPr/>
          </p:nvGrpSpPr>
          <p:grpSpPr>
            <a:xfrm>
              <a:off x="9175320" y="3549240"/>
              <a:ext cx="1439640" cy="1445760"/>
              <a:chOff x="9175320" y="3549240"/>
              <a:chExt cx="1439640" cy="1445760"/>
            </a:xfrm>
          </p:grpSpPr>
          <p:sp>
            <p:nvSpPr>
              <p:cNvPr id="391" name="Line 8"/>
              <p:cNvSpPr/>
              <p:nvPr/>
            </p:nvSpPr>
            <p:spPr>
              <a:xfrm>
                <a:off x="9907200" y="3549240"/>
                <a:ext cx="360" cy="762120"/>
              </a:xfrm>
              <a:prstGeom prst="line">
                <a:avLst/>
              </a:prstGeom>
              <a:ln w="38100">
                <a:solidFill>
                  <a:srgbClr val="ed7d3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392" name="Text Box 9"/>
              <p:cNvSpPr/>
              <p:nvPr/>
            </p:nvSpPr>
            <p:spPr>
              <a:xfrm>
                <a:off x="9175320" y="4524120"/>
                <a:ext cx="1439640" cy="47088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Bef>
                    <a:spcPts val="1100"/>
                  </a:spcBef>
                </a:pPr>
                <a:r>
                  <a:rPr b="1" lang="en-GB" sz="2200" spc="-1" strike="noStrike">
                    <a:solidFill>
                      <a:schemeClr val="dk1"/>
                    </a:solidFill>
                    <a:latin typeface="Calibri"/>
                  </a:rPr>
                  <a:t>UQ (Q</a:t>
                </a:r>
                <a:r>
                  <a:rPr b="1" lang="en-GB" sz="2200" spc="-1" strike="noStrike" baseline="-25000">
                    <a:solidFill>
                      <a:schemeClr val="dk1"/>
                    </a:solidFill>
                    <a:latin typeface="Calibri"/>
                  </a:rPr>
                  <a:t>3</a:t>
                </a:r>
                <a:r>
                  <a:rPr b="1" lang="en-GB" sz="2200" spc="-1" strike="noStrike">
                    <a:solidFill>
                      <a:schemeClr val="dk1"/>
                    </a:solidFill>
                    <a:latin typeface="Calibri"/>
                  </a:rPr>
                  <a:t>)= 9</a:t>
                </a:r>
                <a:endParaRPr b="0" lang="en-US" sz="2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393" name="Text Box 19"/>
            <p:cNvSpPr/>
            <p:nvPr/>
          </p:nvSpPr>
          <p:spPr>
            <a:xfrm>
              <a:off x="9543600" y="3089160"/>
              <a:ext cx="590040" cy="4363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a5a5a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1" lang="en-GB" sz="2000" spc="-1" strike="noStrike">
                  <a:solidFill>
                    <a:schemeClr val="dk1"/>
                  </a:solidFill>
                  <a:latin typeface="Calibri"/>
                </a:rPr>
                <a:t>Q</a:t>
              </a:r>
              <a:r>
                <a:rPr b="1" lang="en-GB" sz="2000" spc="-1" strike="noStrike" baseline="-25000">
                  <a:solidFill>
                    <a:schemeClr val="dk1"/>
                  </a:solidFill>
                  <a:latin typeface="Calibri"/>
                </a:rPr>
                <a:t>3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4" name="Group 27"/>
          <p:cNvGrpSpPr/>
          <p:nvPr/>
        </p:nvGrpSpPr>
        <p:grpSpPr>
          <a:xfrm>
            <a:off x="7259400" y="3051000"/>
            <a:ext cx="1439640" cy="2309400"/>
            <a:chOff x="7259400" y="3051000"/>
            <a:chExt cx="1439640" cy="2309400"/>
          </a:xfrm>
        </p:grpSpPr>
        <p:grpSp>
          <p:nvGrpSpPr>
            <p:cNvPr id="395" name="Group 14"/>
            <p:cNvGrpSpPr/>
            <p:nvPr/>
          </p:nvGrpSpPr>
          <p:grpSpPr>
            <a:xfrm>
              <a:off x="7259400" y="3552480"/>
              <a:ext cx="1439640" cy="1807920"/>
              <a:chOff x="7259400" y="3552480"/>
              <a:chExt cx="1439640" cy="1807920"/>
            </a:xfrm>
          </p:grpSpPr>
          <p:sp>
            <p:nvSpPr>
              <p:cNvPr id="396" name="Line 6"/>
              <p:cNvSpPr/>
              <p:nvPr/>
            </p:nvSpPr>
            <p:spPr>
              <a:xfrm>
                <a:off x="7819560" y="3552480"/>
                <a:ext cx="360" cy="762120"/>
              </a:xfrm>
              <a:prstGeom prst="line">
                <a:avLst/>
              </a:prstGeom>
              <a:ln w="3810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24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397" name="Text Box 7"/>
              <p:cNvSpPr/>
              <p:nvPr/>
            </p:nvSpPr>
            <p:spPr>
              <a:xfrm>
                <a:off x="7259400" y="4554360"/>
                <a:ext cx="1439640" cy="80604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a5a5a5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spcBef>
                    <a:spcPts val="1100"/>
                  </a:spcBef>
                </a:pPr>
                <a:r>
                  <a:rPr b="1" lang="en-GB" sz="2200" spc="-1" strike="noStrike">
                    <a:solidFill>
                      <a:schemeClr val="dk1"/>
                    </a:solidFill>
                    <a:latin typeface="Calibri"/>
                  </a:rPr>
                  <a:t>Median (Q</a:t>
                </a:r>
                <a:r>
                  <a:rPr b="1" lang="en-GB" sz="2200" spc="-1" strike="noStrike" baseline="-25000">
                    <a:solidFill>
                      <a:schemeClr val="dk1"/>
                    </a:solidFill>
                    <a:latin typeface="Calibri"/>
                  </a:rPr>
                  <a:t>2</a:t>
                </a:r>
                <a:r>
                  <a:rPr b="1" lang="en-GB" sz="2200" spc="-1" strike="noStrike">
                    <a:solidFill>
                      <a:schemeClr val="dk1"/>
                    </a:solidFill>
                    <a:latin typeface="Calibri"/>
                  </a:rPr>
                  <a:t>) = 8</a:t>
                </a:r>
                <a:endParaRPr b="0" lang="en-US" sz="2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398" name="Text Box 26"/>
            <p:cNvSpPr/>
            <p:nvPr/>
          </p:nvSpPr>
          <p:spPr>
            <a:xfrm>
              <a:off x="7505280" y="3051000"/>
              <a:ext cx="590040" cy="4363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a5a5a5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001"/>
                </a:spcBef>
              </a:pPr>
              <a:r>
                <a:rPr b="1" lang="en-GB" sz="2000" spc="-1" strike="noStrike">
                  <a:solidFill>
                    <a:schemeClr val="dk1"/>
                  </a:solidFill>
                  <a:latin typeface="Calibri"/>
                </a:rPr>
                <a:t>Q</a:t>
              </a:r>
              <a:r>
                <a:rPr b="1" lang="en-GB" sz="2000" spc="-1" strike="noStrike" baseline="-25000">
                  <a:solidFill>
                    <a:schemeClr val="dk1"/>
                  </a:solidFill>
                  <a:latin typeface="Calibri"/>
                </a:rPr>
                <a:t>2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12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7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2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7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2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37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2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Order the data, then find the average or spread the question asks for.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Mode = most common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Median = middle (order first)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Mean = total ÷ count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Range &amp; IQR = spread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39"/>
          <p:cNvSpPr/>
          <p:nvPr/>
        </p:nvSpPr>
        <p:spPr>
          <a:xfrm>
            <a:off x="1587960" y="1408320"/>
            <a:ext cx="9015480" cy="495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1" name="Image 0" descr="/tmp/work/avq/q-28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481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39"/>
          <p:cNvSpPr/>
          <p:nvPr/>
        </p:nvSpPr>
        <p:spPr>
          <a:xfrm>
            <a:off x="2332080" y="1408320"/>
            <a:ext cx="752724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2" name="Image 0" descr="/tmp/work/avq/q-29.png"/>
          <p:cNvPicPr/>
          <p:nvPr/>
        </p:nvPicPr>
        <p:blipFill>
          <a:blip r:embed="rId1"/>
          <a:stretch/>
        </p:blipFill>
        <p:spPr>
          <a:xfrm>
            <a:off x="2405160" y="1481400"/>
            <a:ext cx="738072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39"/>
          <p:cNvSpPr/>
          <p:nvPr/>
        </p:nvSpPr>
        <p:spPr>
          <a:xfrm>
            <a:off x="1587960" y="1408320"/>
            <a:ext cx="9015480" cy="2342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3" name="Image 0" descr="/tmp/work/avq/q-30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219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39"/>
          <p:cNvSpPr/>
          <p:nvPr/>
        </p:nvSpPr>
        <p:spPr>
          <a:xfrm>
            <a:off x="1587960" y="1408320"/>
            <a:ext cx="9015480" cy="304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4" name="Image 0" descr="/tmp/work/avq/q-31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289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39"/>
          <p:cNvSpPr/>
          <p:nvPr/>
        </p:nvSpPr>
        <p:spPr>
          <a:xfrm>
            <a:off x="1587960" y="1408320"/>
            <a:ext cx="9015480" cy="2072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5" name="Image 0" descr="/tmp/work/avq/q-32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192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39"/>
          <p:cNvSpPr/>
          <p:nvPr/>
        </p:nvSpPr>
        <p:spPr>
          <a:xfrm>
            <a:off x="1587960" y="1408320"/>
            <a:ext cx="9015480" cy="284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6" name="Image 0" descr="/tmp/work/avq/q-33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27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39"/>
          <p:cNvSpPr/>
          <p:nvPr/>
        </p:nvSpPr>
        <p:spPr>
          <a:xfrm>
            <a:off x="1587960" y="1408320"/>
            <a:ext cx="9015480" cy="30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7" name="Image 0" descr="/tmp/work/avq/q-34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294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39"/>
          <p:cNvSpPr/>
          <p:nvPr/>
        </p:nvSpPr>
        <p:spPr>
          <a:xfrm>
            <a:off x="1587960" y="1408320"/>
            <a:ext cx="9015480" cy="378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8" name="Image 0" descr="/tmp/work/avq/q-35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364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9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39"/>
          <p:cNvSpPr/>
          <p:nvPr/>
        </p:nvSpPr>
        <p:spPr>
          <a:xfrm>
            <a:off x="1587960" y="1408320"/>
            <a:ext cx="9015480" cy="489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9" name="Image 0" descr="/tmp/work/avq/q-36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474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10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39"/>
          <p:cNvSpPr/>
          <p:nvPr/>
        </p:nvSpPr>
        <p:spPr>
          <a:xfrm>
            <a:off x="1587960" y="1408320"/>
            <a:ext cx="9015480" cy="470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0" name="Image 0" descr="/tmp/work/avq/q-37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456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39"/>
          <p:cNvSpPr/>
          <p:nvPr/>
        </p:nvSpPr>
        <p:spPr>
          <a:xfrm>
            <a:off x="1587960" y="1408320"/>
            <a:ext cx="9015480" cy="18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1" name="Image 0" descr="/tmp/work/avq/q-38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170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Shape 39"/>
          <p:cNvSpPr/>
          <p:nvPr/>
        </p:nvSpPr>
        <p:spPr>
          <a:xfrm>
            <a:off x="1587960" y="1408320"/>
            <a:ext cx="9015480" cy="388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2" name="Image 0" descr="/tmp/work/avq/q-39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373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8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9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2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3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Mode = most common value;  median = middle value (order the data first).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5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Mean = total ÷ number of values;  total = mean × number of values.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6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7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Range = highest − lowest — a measure of SPREAD, not an average.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8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9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Quartiles split ordered data into quarters (LQ, median, UQ).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0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1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IQR = UQ − LQ — the spread of the middle half, unaffected by extremes.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2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3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always ORDER the data first for the median, quartiles and range.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940</Words>
  <Paragraphs>183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2026-07-17T10:46:08Z</dcterms:created>
  <dc:creator>Zahra Sheikh Ali</dc:creator>
  <dc:description/>
  <dc:language>en-US</dc:language>
  <cp:lastModifiedBy>zahraa sheik ali</cp:lastModifiedBy>
  <dcterms:modified xsi:type="dcterms:W3CDTF">2026-08-04T19:18:24Z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21</vt:r8>
  </property>
  <property fmtid="{D5CDD505-2E9C-101B-9397-08002B2CF9AE}" pid="3" name="PresentationFormat">
    <vt:lpwstr>Custom</vt:lpwstr>
  </property>
  <property fmtid="{D5CDD505-2E9C-101B-9397-08002B2CF9AE}" pid="4" name="Slides">
    <vt:r8>21</vt:r8>
  </property>
</Properties>
</file>