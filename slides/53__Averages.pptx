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2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E4D1CD-F983-432F-B4E8-CF5AA1ACE3EB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27C493-2584-4031-9593-7D33999E91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502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509760" y="10058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4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x̄</a:t>
            </a:r>
            <a:endParaRPr lang="en-US" sz="54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Averages &amp; Range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· Median · Mean · Range · Quartiles &amp; the Interquartile Range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Averages and a Spread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average is a single number that represents a whole set of data.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three — mode, median and mean — plus the range and quartiles to measure the SPREAD.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Quartiles &amp; IQR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· median · mean · range · lower quartile · upper quartile · interquartile range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Averages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3, 5, 5, 6, 11.   Watch how each average is found.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0312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66928" y="2331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>
            <a:off x="566928" y="2788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66928" y="320040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47" name="Text 45"/>
          <p:cNvSpPr/>
          <p:nvPr/>
        </p:nvSpPr>
        <p:spPr>
          <a:xfrm>
            <a:off x="841248" y="42062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that appears most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315968" y="210312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315968" y="2331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4315968" y="2788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value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315968" y="320040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52" name="Text 50"/>
          <p:cNvSpPr/>
          <p:nvPr/>
        </p:nvSpPr>
        <p:spPr>
          <a:xfrm>
            <a:off x="4590288" y="42062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first, then take the middle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065008" y="210312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065008" y="2331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8065008" y="2788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÷ count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065008" y="320040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8339328" y="42062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(3+5+5+6+11) ÷ 5 = 30 ÷ 5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66928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532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(spread) = highest − lowest = 11 − 3 = 8.  (Range is not an average.)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&amp; MEDIAN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‘No-Calculation’ Averages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 you just spot; the median you find by ordering.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median, ORDER the data first — always.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30175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frequent value.</a:t>
            </a:r>
            <a:endParaRPr lang="en-US" sz="14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 3, 7, 9, 7, 2  →  mode = 7</a:t>
            </a:r>
            <a:endParaRPr lang="en-US" sz="145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can be no mode, or more than one.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619048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30175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the data, take the MIDDLE.</a:t>
            </a:r>
            <a:endParaRPr lang="en-US" sz="14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 3, 7, 7, 9  →  median = 7</a:t>
            </a:r>
            <a:endParaRPr lang="en-US" sz="145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amount? Average the two middle numbers.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566928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5532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 position = (n + 1) ÷ 2.   For 8 values that is the 4.5th — average the 4th and 5th.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Everything, Divide by How Many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all the values (the total).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how many values there are.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 can be a decimal — that is fine.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it: total = mean × number of values.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the mean, you can find the total: total = mean × how many.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mean of 6, 4, 3, 2, 5.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them:  6 + 4 + 3 + 2 + 5 = 20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them:  there are 5 values.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20 ÷ 5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= total ÷ number of values = 20 ÷ 5 = 4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Measure of Spread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 tells you how SPREAD OUT the data is — not an average.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range means the data is consistent.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920240" y="2468880"/>
            <a:ext cx="8321040" cy="1371600"/>
          </a:xfrm>
          <a:prstGeom prst="roundRect">
            <a:avLst>
              <a:gd name="adj" fmla="val 4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920240" y="2468880"/>
            <a:ext cx="8321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 =  highest value  −  lowest value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>
            <a:off x="566928" y="4206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4, 9, 2, 11, 6:   range = 11 − 2 = </a:t>
            </a: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5029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smaller range = more consistent / more reliable data.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6878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QUARTILES &amp; IQR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Splitting the Data into Quarters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Quartiles split ORDERED data into four equal parts.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IQR measures the spread of the middle half.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38924" y="2080501"/>
            <a:ext cx="3526697" cy="1941095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38924" y="203911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quartiles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245924" y="2562880"/>
            <a:ext cx="3312695" cy="140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quartile (LQ):  ¼ of the way in.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 (Q2):  halfway.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quartile (UQ):  ¾ of the way in.</a:t>
            </a:r>
            <a:endParaRPr lang="en-US" sz="140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the data first, always.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138924" y="4266278"/>
            <a:ext cx="3526697" cy="187452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66917" y="4362323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Interquartile range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166917" y="4915277"/>
            <a:ext cx="339170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IQR = UQ − LQ</a:t>
            </a:r>
            <a:endParaRPr lang="en-US" sz="14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spread of the middle 50% of the data.</a:t>
            </a:r>
            <a:endParaRPr lang="en-US" sz="145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ignores extreme values, so it is more reliable than the range.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274320" y="6392779"/>
            <a:ext cx="11064240" cy="518354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6392779"/>
            <a:ext cx="10515600" cy="565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IQR = upper quartile − lower quartile — the range of the middle half.</a:t>
            </a:r>
            <a:endParaRPr lang="en-US" sz="2300" dirty="0"/>
          </a:p>
        </p:txBody>
      </p:sp>
      <p:sp>
        <p:nvSpPr>
          <p:cNvPr id="51" name="Text Box 3"/>
          <p:cNvSpPr txBox="1">
            <a:spLocks noChangeArrowheads="1"/>
          </p:cNvSpPr>
          <p:nvPr/>
        </p:nvSpPr>
        <p:spPr bwMode="auto">
          <a:xfrm>
            <a:off x="4171572" y="1984248"/>
            <a:ext cx="8001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99CC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2400">
                <a:solidFill>
                  <a:srgbClr val="000000"/>
                </a:solidFill>
              </a:rPr>
              <a:t>12,    6,    4,    9,    8,    4,    9,    8,     5,    9,    8,    10</a:t>
            </a:r>
          </a:p>
        </p:txBody>
      </p:sp>
      <p:sp>
        <p:nvSpPr>
          <p:cNvPr id="52" name="Text Box 4"/>
          <p:cNvSpPr txBox="1">
            <a:spLocks noChangeArrowheads="1"/>
          </p:cNvSpPr>
          <p:nvPr/>
        </p:nvSpPr>
        <p:spPr bwMode="auto">
          <a:xfrm>
            <a:off x="3968496" y="3698748"/>
            <a:ext cx="831450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2800" dirty="0">
                <a:solidFill>
                  <a:srgbClr val="000000"/>
                </a:solidFill>
              </a:rPr>
              <a:t>4,     4,     5,     6,     8,     8,     8,     9,      9,     9,     10,     12</a:t>
            </a:r>
          </a:p>
        </p:txBody>
      </p:sp>
      <p:sp>
        <p:nvSpPr>
          <p:cNvPr id="53" name="Text Box 5"/>
          <p:cNvSpPr txBox="1">
            <a:spLocks noChangeArrowheads="1"/>
          </p:cNvSpPr>
          <p:nvPr/>
        </p:nvSpPr>
        <p:spPr bwMode="auto">
          <a:xfrm>
            <a:off x="6533772" y="2479548"/>
            <a:ext cx="2819400" cy="457200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2400" b="1">
                <a:solidFill>
                  <a:srgbClr val="000000"/>
                </a:solidFill>
              </a:rPr>
              <a:t>Order the data</a:t>
            </a:r>
          </a:p>
        </p:txBody>
      </p:sp>
      <p:sp>
        <p:nvSpPr>
          <p:cNvPr id="54" name="Line 12"/>
          <p:cNvSpPr>
            <a:spLocks noChangeShapeType="1"/>
          </p:cNvSpPr>
          <p:nvPr/>
        </p:nvSpPr>
        <p:spPr bwMode="auto">
          <a:xfrm>
            <a:off x="5943222" y="4355973"/>
            <a:ext cx="3927475" cy="6350"/>
          </a:xfrm>
          <a:prstGeom prst="line">
            <a:avLst/>
          </a:prstGeom>
          <a:noFill/>
          <a:ln w="57150">
            <a:solidFill>
              <a:srgbClr val="FF5050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>
              <a:solidFill>
                <a:srgbClr val="000000"/>
              </a:solidFill>
            </a:endParaRPr>
          </a:p>
        </p:txBody>
      </p:sp>
      <p:sp>
        <p:nvSpPr>
          <p:cNvPr id="55" name="Text Box 13"/>
          <p:cNvSpPr txBox="1">
            <a:spLocks noChangeArrowheads="1"/>
          </p:cNvSpPr>
          <p:nvPr/>
        </p:nvSpPr>
        <p:spPr bwMode="auto">
          <a:xfrm>
            <a:off x="5193922" y="5892301"/>
            <a:ext cx="5662613" cy="427037"/>
          </a:xfrm>
          <a:prstGeom prst="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en-GB" altLang="en-US" sz="2200" b="1">
                <a:solidFill>
                  <a:schemeClr val="tx1"/>
                </a:solidFill>
              </a:rPr>
              <a:t>Inter- Quartile Range = 9 - 5½ = 3½ </a:t>
            </a:r>
          </a:p>
        </p:txBody>
      </p:sp>
      <p:grpSp>
        <p:nvGrpSpPr>
          <p:cNvPr id="56" name="Group 20"/>
          <p:cNvGrpSpPr>
            <a:grpSpLocks/>
          </p:cNvGrpSpPr>
          <p:nvPr/>
        </p:nvGrpSpPr>
        <p:grpSpPr bwMode="auto">
          <a:xfrm>
            <a:off x="5276472" y="3089149"/>
            <a:ext cx="1439863" cy="2227263"/>
            <a:chOff x="1188" y="1776"/>
            <a:chExt cx="907" cy="1403"/>
          </a:xfrm>
        </p:grpSpPr>
        <p:grpSp>
          <p:nvGrpSpPr>
            <p:cNvPr id="57" name="Group 15"/>
            <p:cNvGrpSpPr>
              <a:grpSpLocks/>
            </p:cNvGrpSpPr>
            <p:nvPr/>
          </p:nvGrpSpPr>
          <p:grpSpPr bwMode="auto">
            <a:xfrm>
              <a:off x="1188" y="2067"/>
              <a:ext cx="907" cy="1112"/>
              <a:chOff x="1188" y="2067"/>
              <a:chExt cx="907" cy="1112"/>
            </a:xfrm>
          </p:grpSpPr>
          <p:sp>
            <p:nvSpPr>
              <p:cNvPr id="59" name="Line 10"/>
              <p:cNvSpPr>
                <a:spLocks noChangeShapeType="1"/>
              </p:cNvSpPr>
              <p:nvPr/>
            </p:nvSpPr>
            <p:spPr bwMode="auto">
              <a:xfrm>
                <a:off x="1609" y="2067"/>
                <a:ext cx="0" cy="480"/>
              </a:xfrm>
              <a:prstGeom prst="line">
                <a:avLst/>
              </a:prstGeom>
              <a:noFill/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 sz="2400">
                  <a:solidFill>
                    <a:srgbClr val="000000"/>
                  </a:solidFill>
                </a:endParaRPr>
              </a:p>
            </p:txBody>
          </p:sp>
          <p:sp>
            <p:nvSpPr>
              <p:cNvPr id="60" name="Text Box 11"/>
              <p:cNvSpPr txBox="1">
                <a:spLocks noChangeArrowheads="1"/>
              </p:cNvSpPr>
              <p:nvPr/>
            </p:nvSpPr>
            <p:spPr bwMode="auto">
              <a:xfrm>
                <a:off x="1188" y="2680"/>
                <a:ext cx="907" cy="499"/>
              </a:xfrm>
              <a:prstGeom prst="rect">
                <a:avLst/>
              </a:prstGeom>
              <a:ln/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sz="2400" b="1" dirty="0"/>
                  <a:t>LQ (Q</a:t>
                </a:r>
                <a:r>
                  <a:rPr lang="en-GB" altLang="en-US" sz="2400" b="1" baseline="-25000" dirty="0"/>
                  <a:t>1</a:t>
                </a:r>
                <a:r>
                  <a:rPr lang="en-GB" altLang="en-US" sz="2400" b="1" dirty="0"/>
                  <a:t>)= 5½ </a:t>
                </a:r>
              </a:p>
            </p:txBody>
          </p:sp>
        </p:grpSp>
        <p:sp>
          <p:nvSpPr>
            <p:cNvPr id="58" name="Text Box 18"/>
            <p:cNvSpPr txBox="1">
              <a:spLocks noChangeArrowheads="1"/>
            </p:cNvSpPr>
            <p:nvPr/>
          </p:nvSpPr>
          <p:spPr bwMode="auto">
            <a:xfrm>
              <a:off x="1428" y="1776"/>
              <a:ext cx="372" cy="250"/>
            </a:xfrm>
            <a:prstGeom prst="rect">
              <a:avLst/>
            </a:prstGeom>
            <a:ln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 b="1"/>
                <a:t>Q</a:t>
              </a:r>
              <a:r>
                <a:rPr lang="en-GB" altLang="en-US" sz="2000" b="1" baseline="-25000"/>
                <a:t>1</a:t>
              </a:r>
              <a:endParaRPr lang="en-GB" altLang="en-US" sz="2000" b="1"/>
            </a:p>
          </p:txBody>
        </p:sp>
      </p:grpSp>
      <p:grpSp>
        <p:nvGrpSpPr>
          <p:cNvPr id="61" name="Group 21"/>
          <p:cNvGrpSpPr>
            <a:grpSpLocks/>
          </p:cNvGrpSpPr>
          <p:nvPr/>
        </p:nvGrpSpPr>
        <p:grpSpPr bwMode="auto">
          <a:xfrm>
            <a:off x="9175372" y="3089149"/>
            <a:ext cx="1439863" cy="2227263"/>
            <a:chOff x="3644" y="1776"/>
            <a:chExt cx="907" cy="1403"/>
          </a:xfrm>
        </p:grpSpPr>
        <p:grpSp>
          <p:nvGrpSpPr>
            <p:cNvPr id="62" name="Group 16"/>
            <p:cNvGrpSpPr>
              <a:grpSpLocks/>
            </p:cNvGrpSpPr>
            <p:nvPr/>
          </p:nvGrpSpPr>
          <p:grpSpPr bwMode="auto">
            <a:xfrm>
              <a:off x="3644" y="2066"/>
              <a:ext cx="907" cy="1113"/>
              <a:chOff x="3644" y="2066"/>
              <a:chExt cx="907" cy="1113"/>
            </a:xfrm>
          </p:grpSpPr>
          <p:sp>
            <p:nvSpPr>
              <p:cNvPr id="64" name="Line 8"/>
              <p:cNvSpPr>
                <a:spLocks noChangeShapeType="1"/>
              </p:cNvSpPr>
              <p:nvPr/>
            </p:nvSpPr>
            <p:spPr bwMode="auto">
              <a:xfrm>
                <a:off x="4105" y="2066"/>
                <a:ext cx="0" cy="480"/>
              </a:xfrm>
              <a:prstGeom prst="line">
                <a:avLst/>
              </a:prstGeom>
              <a:noFill/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 sz="2400">
                  <a:solidFill>
                    <a:srgbClr val="000000"/>
                  </a:solidFill>
                </a:endParaRPr>
              </a:p>
            </p:txBody>
          </p:sp>
          <p:sp>
            <p:nvSpPr>
              <p:cNvPr id="65" name="Text Box 9"/>
              <p:cNvSpPr txBox="1">
                <a:spLocks noChangeArrowheads="1"/>
              </p:cNvSpPr>
              <p:nvPr/>
            </p:nvSpPr>
            <p:spPr bwMode="auto">
              <a:xfrm>
                <a:off x="3644" y="2680"/>
                <a:ext cx="907" cy="499"/>
              </a:xfrm>
              <a:prstGeom prst="rect">
                <a:avLst/>
              </a:prstGeom>
              <a:ln/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sz="2200" b="1" dirty="0"/>
                  <a:t>UQ (Q</a:t>
                </a:r>
                <a:r>
                  <a:rPr lang="en-GB" altLang="en-US" sz="2200" b="1" baseline="-25000" dirty="0"/>
                  <a:t>3</a:t>
                </a:r>
                <a:r>
                  <a:rPr lang="en-GB" altLang="en-US" sz="2200" b="1" dirty="0"/>
                  <a:t>)= 9</a:t>
                </a:r>
              </a:p>
            </p:txBody>
          </p:sp>
        </p:grpSp>
        <p:sp>
          <p:nvSpPr>
            <p:cNvPr id="63" name="Text Box 19"/>
            <p:cNvSpPr txBox="1">
              <a:spLocks noChangeArrowheads="1"/>
            </p:cNvSpPr>
            <p:nvPr/>
          </p:nvSpPr>
          <p:spPr bwMode="auto">
            <a:xfrm>
              <a:off x="3876" y="1776"/>
              <a:ext cx="372" cy="250"/>
            </a:xfrm>
            <a:prstGeom prst="rect">
              <a:avLst/>
            </a:prstGeom>
            <a:ln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 b="1"/>
                <a:t>Q</a:t>
              </a:r>
              <a:r>
                <a:rPr lang="en-GB" altLang="en-US" sz="2000" b="1" baseline="-25000"/>
                <a:t>3</a:t>
              </a:r>
              <a:endParaRPr lang="en-GB" altLang="en-US" sz="2000" b="1"/>
            </a:p>
          </p:txBody>
        </p:sp>
      </p:grpSp>
      <p:grpSp>
        <p:nvGrpSpPr>
          <p:cNvPr id="66" name="Group 27"/>
          <p:cNvGrpSpPr>
            <a:grpSpLocks/>
          </p:cNvGrpSpPr>
          <p:nvPr/>
        </p:nvGrpSpPr>
        <p:grpSpPr bwMode="auto">
          <a:xfrm>
            <a:off x="7259263" y="3051049"/>
            <a:ext cx="1439864" cy="2295526"/>
            <a:chOff x="2437" y="1752"/>
            <a:chExt cx="907" cy="1446"/>
          </a:xfrm>
        </p:grpSpPr>
        <p:grpSp>
          <p:nvGrpSpPr>
            <p:cNvPr id="67" name="Group 14"/>
            <p:cNvGrpSpPr>
              <a:grpSpLocks/>
            </p:cNvGrpSpPr>
            <p:nvPr/>
          </p:nvGrpSpPr>
          <p:grpSpPr bwMode="auto">
            <a:xfrm>
              <a:off x="2437" y="2068"/>
              <a:ext cx="907" cy="1130"/>
              <a:chOff x="2409" y="2060"/>
              <a:chExt cx="907" cy="1130"/>
            </a:xfrm>
          </p:grpSpPr>
          <p:sp>
            <p:nvSpPr>
              <p:cNvPr id="69" name="Line 6"/>
              <p:cNvSpPr>
                <a:spLocks noChangeShapeType="1"/>
              </p:cNvSpPr>
              <p:nvPr/>
            </p:nvSpPr>
            <p:spPr bwMode="auto">
              <a:xfrm>
                <a:off x="2762" y="2060"/>
                <a:ext cx="0" cy="48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 sz="2400">
                  <a:solidFill>
                    <a:srgbClr val="000000"/>
                  </a:solidFill>
                </a:endParaRPr>
              </a:p>
            </p:txBody>
          </p:sp>
          <p:sp>
            <p:nvSpPr>
              <p:cNvPr id="70" name="Text Box 7"/>
              <p:cNvSpPr txBox="1">
                <a:spLocks noChangeArrowheads="1"/>
              </p:cNvSpPr>
              <p:nvPr/>
            </p:nvSpPr>
            <p:spPr bwMode="auto">
              <a:xfrm>
                <a:off x="2409" y="2691"/>
                <a:ext cx="907" cy="499"/>
              </a:xfrm>
              <a:prstGeom prst="rect">
                <a:avLst/>
              </a:prstGeom>
              <a:ln/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fontAlgn="base">
                  <a:spcBef>
                    <a:spcPct val="50000"/>
                  </a:spcBef>
                  <a:spcAft>
                    <a:spcPct val="0"/>
                  </a:spcAft>
                </a:pPr>
                <a:r>
                  <a:rPr lang="en-GB" altLang="en-US" sz="2200" b="1" dirty="0">
                    <a:solidFill>
                      <a:schemeClr val="tx1"/>
                    </a:solidFill>
                  </a:rPr>
                  <a:t>Median (Q</a:t>
                </a:r>
                <a:r>
                  <a:rPr lang="en-GB" altLang="en-US" sz="2200" b="1" baseline="-25000" dirty="0">
                    <a:solidFill>
                      <a:schemeClr val="tx1"/>
                    </a:solidFill>
                  </a:rPr>
                  <a:t>2</a:t>
                </a:r>
                <a:r>
                  <a:rPr lang="en-GB" altLang="en-US" sz="2200" b="1" dirty="0">
                    <a:solidFill>
                      <a:schemeClr val="tx1"/>
                    </a:solidFill>
                  </a:rPr>
                  <a:t>) = 8</a:t>
                </a:r>
              </a:p>
            </p:txBody>
          </p:sp>
        </p:grpSp>
        <p:sp>
          <p:nvSpPr>
            <p:cNvPr id="68" name="Text Box 26"/>
            <p:cNvSpPr txBox="1">
              <a:spLocks noChangeArrowheads="1"/>
            </p:cNvSpPr>
            <p:nvPr/>
          </p:nvSpPr>
          <p:spPr bwMode="auto">
            <a:xfrm>
              <a:off x="2592" y="1752"/>
              <a:ext cx="372" cy="250"/>
            </a:xfrm>
            <a:prstGeom prst="rect">
              <a:avLst/>
            </a:prstGeom>
            <a:ln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GB" altLang="en-US" sz="2000" b="1">
                  <a:solidFill>
                    <a:schemeClr val="tx1"/>
                  </a:solidFill>
                </a:rPr>
                <a:t>Q</a:t>
              </a:r>
              <a:r>
                <a:rPr lang="en-GB" altLang="en-US" sz="2000" b="1" baseline="-25000">
                  <a:solidFill>
                    <a:schemeClr val="tx1"/>
                  </a:solidFill>
                </a:rPr>
                <a:t>2</a:t>
              </a:r>
              <a:endParaRPr lang="en-GB" altLang="en-US" sz="2000" b="1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3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utoUpdateAnimBg="0"/>
      <p:bldP spid="52" grpId="0" autoUpdateAnimBg="0"/>
      <p:bldP spid="53" grpId="0" animBg="1" autoUpdateAnimBg="0"/>
      <p:bldP spid="54" grpId="0" animBg="1"/>
      <p:bldP spid="55" grpId="0" animBg="1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the data, then find the average or spread the question asks for.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= most common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 = middle (order first)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= total ÷ count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&amp; IQR = spread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95801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8117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332137" y="1408176"/>
            <a:ext cx="7527422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289" y="1481328"/>
            <a:ext cx="7381118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234266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21963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304199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28956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207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19263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284662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27003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309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294688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37869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36406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89158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74527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707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56079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18543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170808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388505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vq/q-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37387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= most common value;  median = middle value (order the data first).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total ÷ number of values;  total = mean × number of values.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= highest − lowest — a measure of SPREAD, not an average.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Quartiles split ordered data into quarters (LQ, median, UQ).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= UQ − LQ — the spread of the middle half, unaffected by extremes.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ORDER the data first for the median, quartiles and range.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940</Words>
  <Application>Microsoft Office PowerPoint</Application>
  <PresentationFormat>Custom</PresentationFormat>
  <Paragraphs>183</Paragraphs>
  <Slides>21</Slides>
  <Notes>21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2</cp:revision>
  <dcterms:created xsi:type="dcterms:W3CDTF">2026-07-17T10:46:08Z</dcterms:created>
  <dcterms:modified xsi:type="dcterms:W3CDTF">2026-08-04T19:18:24Z</dcterms:modified>
</cp:coreProperties>
</file>