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5EC78-C9FD-409C-936E-C581D4FD8C2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EB819-6572-4CE5-963D-C32F03FD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2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09760" y="9144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60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Formula · NOT Happening · Mutually Exclusive · Expected Frequency · Combined Events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How Likely Something Is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a number from 0 (impossible) to 1 (certain).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builds the key formulas — each with an example — then combined events with and without replacement.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formula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happening: 1 − P(A)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Mutually exclusive: add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frequency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events: multiply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· outcome · event · complement · mutually exclusive · expected · independent · replacement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FORMULA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P(event) = successful ÷ total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equally likely outcomes: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P(event)  =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520440" y="1929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successful outcomes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520440" y="2240280"/>
            <a:ext cx="2103120" cy="0"/>
          </a:xfrm>
          <a:prstGeom prst="line">
            <a:avLst/>
          </a:prstGeom>
          <a:noFill/>
          <a:ln w="20320">
            <a:solidFill>
              <a:srgbClr val="C84F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22768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number of outcomes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3429000"/>
            <a:ext cx="7315200" cy="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" y="3337560"/>
            <a:ext cx="0" cy="18288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8288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480560" y="3337560"/>
            <a:ext cx="0" cy="18288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84048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138160" y="3337560"/>
            <a:ext cx="0" cy="182880"/>
          </a:xfrm>
          <a:prstGeom prst="line">
            <a:avLst/>
          </a:prstGeom>
          <a:noFill/>
          <a:ln w="25400">
            <a:solidFill>
              <a:srgbClr val="1C2A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98080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595360" y="1828800"/>
            <a:ext cx="3035808" cy="2377440"/>
          </a:xfrm>
          <a:prstGeom prst="roundRect">
            <a:avLst>
              <a:gd name="adj" fmla="val 230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961120" y="20665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8869680" y="2514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bag has 3 green and 5 red (8 total).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P(green) =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189720" y="3392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189720" y="3703320"/>
            <a:ext cx="640080" cy="0"/>
          </a:xfrm>
          <a:prstGeom prst="line">
            <a:avLst/>
          </a:prstGeom>
          <a:noFill/>
          <a:ln w="20320">
            <a:solidFill>
              <a:srgbClr val="C84F2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89720" y="37398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66928" y="46177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841248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is a fraction: how many ways it CAN happen, over how many outcomes in total.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HAPPENING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P(not A) = 1 − P(A)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probabilities add up to 1, so ‘not A’ is whatever is left.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94560" y="2011680"/>
            <a:ext cx="7772400" cy="109728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011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P(not A)  =  1  −  P(A)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566928" y="33832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36210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(decimals)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41148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P(win) = 0.65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P(not win) = 1 − 0.65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15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decimals add up to 1.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90488" y="33832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56248" y="362102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(fractions)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537960" y="41148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P(red) = 2/5,   so P(not red) = </a:t>
            </a: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</a:t>
            </a:r>
            <a:endParaRPr lang="en-US" sz="1450" dirty="0"/>
          </a:p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numbers (2 + 3) add up to the bottom (5).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41248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P(not A) = 1 − P(A).  Fractions: tops add to the bottom;  decimals add to 1.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or B) = P(A) + P(B)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= cannot happen at the same time.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the probabilities for ‘A OR B’.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194560" y="2011680"/>
            <a:ext cx="7772400" cy="1051560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0116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or B)  =  P(A)  +  P(B)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566928" y="3291840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3529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P(red) = 0.2,  P(blue) = 0.3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P(red or blue) = 0.2 + 0.3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90488" y="3291840"/>
            <a:ext cx="5440680" cy="2240280"/>
          </a:xfrm>
          <a:prstGeom prst="roundRect">
            <a:avLst>
              <a:gd name="adj" fmla="val 2449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56248" y="3529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‘all add to 1’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53796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P(red)=0.2, P(blue)=0.3, P(green)=0.25,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P(yellow) = 1 − (0.2+0.3+0.25)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</a:t>
            </a: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41248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‘OR’ → ADD.  All mutually exclusive probabilities add up to 1.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FREQUENCY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Probability, Find the Number of Times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EXPECTED (predicted) number, not exact.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= probability × number of trials.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 fraction, decimal or percentage.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it: probability = number of times ÷ trials.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 = 0.65 over 20 games gives 0.65 × 20 = 13 expected wins.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‘How many times would you expect it?’ → multiply by the number of trials.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number = probability × number of trials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P(win) = 0.65, John plays 20 games:  0.65 × 20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wins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P(six) = 1/6, dice rolled 300 times:  1/6 × 300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sixes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number of times = probability × number of trials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EVENTS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and B) = P(A) × P(B)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801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801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‘A AND B’ (both happening), MULTIPLY the probabilities.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whether the second probability changes.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194560" y="2011680"/>
            <a:ext cx="7772400" cy="1051560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0116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and B)  =  P(A)  ×  P(B)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566928" y="3291840"/>
            <a:ext cx="11064240" cy="2240280"/>
          </a:xfrm>
          <a:prstGeom prst="roundRect">
            <a:avLst>
              <a:gd name="adj" fmla="val 2449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35295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coin and a dice.  P(head) = 1/2,  P(six) = 1/6.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P(head AND six) = 1/2 × 1/6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1/12</a:t>
            </a:r>
            <a:r>
              <a:rPr lang="en-US" sz="12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(‘and’ → multiply).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41248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‘AND’ → MULTIPLY.   ‘OR’ → ADD.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· FIND THE MISSING PROBABILITY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Sections Have the SAME Probability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biased 4-sided spinner. Sections 2 and 4 have the SAME probability, x.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22960" y="2286000"/>
            <a:ext cx="19202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74320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97764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21208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4652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22960" y="2834640"/>
            <a:ext cx="19202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743200" y="2834640"/>
            <a:ext cx="12344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3977640" y="2834640"/>
            <a:ext cx="1234440" cy="548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212080" y="2834640"/>
            <a:ext cx="12344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6446520" y="2834640"/>
            <a:ext cx="1234440" cy="548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2296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 and 4 are equal — both x.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66928" y="39776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32688" y="42153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— all probabilities add up to 1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+ x + 0.3 + x = 1   →   2x + 0.5 = 1   →   2x = 0.5   →   </a:t>
            </a: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0.25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41248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equal sections → 2x.  All the probabilities add to 1, so 2x + 0.5 = 1, giving x = 0.25.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· FIND THE MISSING PROBABILITY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Section is DOUBLE the Other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similar spinner, but now section 4 is TWICE section 2 — so they are x and 2x.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x.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22960" y="2286000"/>
            <a:ext cx="19202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274320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97764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21208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46520" y="2286000"/>
            <a:ext cx="1234440" cy="54864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22960" y="2834640"/>
            <a:ext cx="19202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743200" y="2834640"/>
            <a:ext cx="12344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3977640" y="2834640"/>
            <a:ext cx="1234440" cy="548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212080" y="2834640"/>
            <a:ext cx="1234440" cy="5486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208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6446520" y="2834640"/>
            <a:ext cx="1234440" cy="5486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46520" y="2834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82296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is double section 2  →  x and 2x.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66928" y="39776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32688" y="42153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— all probabilities add up to 1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+ x + 0.3 + 2x = 1   →   3x + 0.4 = 1   →   3x = 0.6   →   </a:t>
            </a: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0.2   (so 2x = 0.4)</a:t>
            </a:r>
            <a:endParaRPr lang="en-US" sz="1550" dirty="0"/>
          </a:p>
        </p:txBody>
      </p:sp>
      <p:sp>
        <p:nvSpPr>
          <p:cNvPr id="67" name="Shape 65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41248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‘Double’ → use 2x.  Then x + 2x = 3x;  3x + 0.4 = 1, so x = 0.2 and 2x = 0.4.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for OR, multiply for AND, × trials for expected, and check for replacement.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successful ÷ total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→ add;  AND → multiply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= P × trials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replacement → totals drop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87856" y="1408176"/>
            <a:ext cx="9015984" cy="1741765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81328"/>
            <a:ext cx="8869680" cy="15954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87856" y="1408176"/>
            <a:ext cx="9015984" cy="431162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81328"/>
            <a:ext cx="8869680" cy="41653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205791" y="1408176"/>
            <a:ext cx="578011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943" y="1481328"/>
            <a:ext cx="563381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304896" y="1408176"/>
            <a:ext cx="558190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48" y="1481328"/>
            <a:ext cx="54356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87856" y="1408176"/>
            <a:ext cx="9015984" cy="3334247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81328"/>
            <a:ext cx="8869680" cy="31879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87856" y="1408176"/>
            <a:ext cx="9015984" cy="494978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pbq/q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008" y="1481328"/>
            <a:ext cx="8869680" cy="48034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= number of successful outcomes ÷ total outcomes (a value from 0 to 1).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P(not A) = 1 − P(A);  all probabilities add up to 1.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(‘OR’): P(A or B) = P(A) + P(B).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(‘AND’): P(A and B) = P(A) × P(B);  expected number = P × trials.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probabilities are unknown (x, or x and 2x), use that they all add up to 1 to find x.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adds, AND multiplies;  and every probability in a table adds up to 1.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1103</Words>
  <Application>Microsoft Office PowerPoint</Application>
  <PresentationFormat>Custom</PresentationFormat>
  <Paragraphs>191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1</cp:revision>
  <dcterms:created xsi:type="dcterms:W3CDTF">2026-07-17T12:29:39Z</dcterms:created>
  <dcterms:modified xsi:type="dcterms:W3CDTF">2026-08-06T17:01:35Z</dcterms:modified>
</cp:coreProperties>
</file>