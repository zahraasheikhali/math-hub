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126EBBD-E66C-44AA-9B9C-8DBA1641CC67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7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PlaceHolder 3"/>
          <p:cNvSpPr>
            <a:spLocks noGrp="1"/>
          </p:cNvSpPr>
          <p:nvPr>
            <p:ph type="sldNum" idx="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6CCC09F-775B-458A-BE42-81977973E70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7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PlaceHolder 3"/>
          <p:cNvSpPr>
            <a:spLocks noGrp="1"/>
          </p:cNvSpPr>
          <p:nvPr>
            <p:ph type="sldNum" idx="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6C9EA83-6ADA-4A4D-A2D2-4DFF1977372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8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PlaceHolder 3"/>
          <p:cNvSpPr>
            <a:spLocks noGrp="1"/>
          </p:cNvSpPr>
          <p:nvPr>
            <p:ph type="sldNum" idx="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BD73D1-AE20-41A8-BCAA-98F944E07A8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8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PlaceHolder 3"/>
          <p:cNvSpPr>
            <a:spLocks noGrp="1"/>
          </p:cNvSpPr>
          <p:nvPr>
            <p:ph type="sldNum" idx="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DFA7880-2DDC-4F94-ACC8-25AFA5B96D2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8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PlaceHolder 3"/>
          <p:cNvSpPr>
            <a:spLocks noGrp="1"/>
          </p:cNvSpPr>
          <p:nvPr>
            <p:ph type="sldNum" idx="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2BEF329-98D6-4915-B7CD-02D0C7C181F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9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PlaceHolder 3"/>
          <p:cNvSpPr>
            <a:spLocks noGrp="1"/>
          </p:cNvSpPr>
          <p:nvPr>
            <p:ph type="sldNum" idx="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33C77F-F2AA-4913-AD49-3E1FFAA110A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9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PlaceHolder 3"/>
          <p:cNvSpPr>
            <a:spLocks noGrp="1"/>
          </p:cNvSpPr>
          <p:nvPr>
            <p:ph type="sldNum" idx="1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6E8481-EAE1-4667-99A0-2673188DA6E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9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PlaceHolder 3"/>
          <p:cNvSpPr>
            <a:spLocks noGrp="1"/>
          </p:cNvSpPr>
          <p:nvPr>
            <p:ph type="sldNum" idx="1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E9BBE0-51EC-425E-B79A-527A0380DAB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9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PlaceHolder 3"/>
          <p:cNvSpPr>
            <a:spLocks noGrp="1"/>
          </p:cNvSpPr>
          <p:nvPr>
            <p:ph type="sldNum" idx="1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1F010F-9E29-459E-BC30-7D9F35CC539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90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PlaceHolder 3"/>
          <p:cNvSpPr>
            <a:spLocks noGrp="1"/>
          </p:cNvSpPr>
          <p:nvPr>
            <p:ph type="sldNum" idx="1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32076AF-41EF-45BC-B8E4-EAB0A4EF396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90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PlaceHolder 3"/>
          <p:cNvSpPr>
            <a:spLocks noGrp="1"/>
          </p:cNvSpPr>
          <p:nvPr>
            <p:ph type="sldNum" idx="1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A69EC2-97AA-48A9-8013-57141823012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90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PlaceHolder 3"/>
          <p:cNvSpPr>
            <a:spLocks noGrp="1"/>
          </p:cNvSpPr>
          <p:nvPr>
            <p:ph type="sldNum" idx="1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3E0150D-2A0E-4EF5-93BE-98F896D76A9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91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PlaceHolder 3"/>
          <p:cNvSpPr>
            <a:spLocks noGrp="1"/>
          </p:cNvSpPr>
          <p:nvPr>
            <p:ph type="sldNum" idx="1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F608484-B41B-4572-B5CA-C5FD60AB9D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91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PlaceHolder 3"/>
          <p:cNvSpPr>
            <a:spLocks noGrp="1"/>
          </p:cNvSpPr>
          <p:nvPr>
            <p:ph type="sldNum" idx="1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CA8B38-93F9-4AA6-AE61-1114C43D24A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91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PlaceHolder 3"/>
          <p:cNvSpPr>
            <a:spLocks noGrp="1"/>
          </p:cNvSpPr>
          <p:nvPr>
            <p:ph type="sldNum" idx="1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C5BB31-4E23-41AC-BDE3-815EDA8B35C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92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PlaceHolder 3"/>
          <p:cNvSpPr>
            <a:spLocks noGrp="1"/>
          </p:cNvSpPr>
          <p:nvPr>
            <p:ph type="sldNum" idx="1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99F4F2-0F5C-49C6-813F-E6A99CDBB82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92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PlaceHolder 3"/>
          <p:cNvSpPr>
            <a:spLocks noGrp="1"/>
          </p:cNvSpPr>
          <p:nvPr>
            <p:ph type="sldNum" idx="2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BC42663-21BC-435B-AF73-CAFBC90A2FB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9509760" y="914400"/>
            <a:ext cx="18284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rgbClr val="33463a"/>
                </a:solidFill>
                <a:latin typeface="Cambria"/>
                <a:ea typeface="Cambria"/>
              </a:rPr>
              <a:t>P</a:t>
            </a:r>
            <a:endParaRPr b="0" lang="en-US" sz="6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37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e0ac2b"/>
                </a:solidFill>
                <a:latin typeface="Cambria"/>
                <a:ea typeface="Cambria"/>
              </a:rPr>
              <a:t>Probability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The Basic Formula · NOT Happening · Mutually Exclusive · Expected Frequency · Combined Events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42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43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Measuring How Likely Something Is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Probability is a number from 0 (impossible) to 1 (certain).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This lesson builds the key formulas — each with an example — then combined events with and without replacement.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The basic formula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NOT happening: 1 − P(A)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Mutually exclusive: add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Expected frequency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Combined events: multiply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Past-paper questions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probability · outcome · event · complement · mutually exclusive · expected · independent · replacement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BASIC FORMULA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P(event) = successful ÷ total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39"/>
          <p:cNvSpPr/>
          <p:nvPr/>
        </p:nvSpPr>
        <p:spPr>
          <a:xfrm>
            <a:off x="567000" y="1280160"/>
            <a:ext cx="11063880" cy="566640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40"/>
          <p:cNvSpPr/>
          <p:nvPr/>
        </p:nvSpPr>
        <p:spPr>
          <a:xfrm>
            <a:off x="887040" y="128016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For equally likely outcomes: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41"/>
          <p:cNvSpPr/>
          <p:nvPr/>
        </p:nvSpPr>
        <p:spPr>
          <a:xfrm>
            <a:off x="822960" y="1920240"/>
            <a:ext cx="2651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c2a22"/>
                </a:solidFill>
                <a:latin typeface="Cambria"/>
                <a:ea typeface="Cambria"/>
              </a:rPr>
              <a:t>P(event)  =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42"/>
          <p:cNvSpPr/>
          <p:nvPr/>
        </p:nvSpPr>
        <p:spPr>
          <a:xfrm>
            <a:off x="3520440" y="1929240"/>
            <a:ext cx="21027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c84f2f"/>
                </a:solidFill>
                <a:latin typeface="Cambria"/>
                <a:ea typeface="Cambria"/>
              </a:rPr>
              <a:t>number of successful outcomes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43"/>
          <p:cNvSpPr/>
          <p:nvPr/>
        </p:nvSpPr>
        <p:spPr>
          <a:xfrm>
            <a:off x="3520440" y="2240280"/>
            <a:ext cx="2103120" cy="360"/>
          </a:xfrm>
          <a:prstGeom prst="line">
            <a:avLst/>
          </a:prstGeom>
          <a:ln w="2032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44"/>
          <p:cNvSpPr/>
          <p:nvPr/>
        </p:nvSpPr>
        <p:spPr>
          <a:xfrm>
            <a:off x="3520440" y="2277000"/>
            <a:ext cx="21027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c84f2f"/>
                </a:solidFill>
                <a:latin typeface="Cambria"/>
                <a:ea typeface="Cambria"/>
              </a:rPr>
              <a:t>total number of outcomes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45"/>
          <p:cNvSpPr/>
          <p:nvPr/>
        </p:nvSpPr>
        <p:spPr>
          <a:xfrm>
            <a:off x="822960" y="3429000"/>
            <a:ext cx="7315200" cy="360"/>
          </a:xfrm>
          <a:prstGeom prst="line">
            <a:avLst/>
          </a:prstGeom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46"/>
          <p:cNvSpPr/>
          <p:nvPr/>
        </p:nvSpPr>
        <p:spPr>
          <a:xfrm>
            <a:off x="822960" y="3337560"/>
            <a:ext cx="360" cy="182880"/>
          </a:xfrm>
          <a:prstGeom prst="line">
            <a:avLst/>
          </a:prstGeom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47"/>
          <p:cNvSpPr/>
          <p:nvPr/>
        </p:nvSpPr>
        <p:spPr>
          <a:xfrm>
            <a:off x="548640" y="352044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0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48"/>
          <p:cNvSpPr/>
          <p:nvPr/>
        </p:nvSpPr>
        <p:spPr>
          <a:xfrm>
            <a:off x="182880" y="379476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5c6b60"/>
                </a:solidFill>
                <a:latin typeface="Calibri"/>
                <a:ea typeface="Calibri"/>
              </a:rPr>
              <a:t>impossible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Shape 49"/>
          <p:cNvSpPr/>
          <p:nvPr/>
        </p:nvSpPr>
        <p:spPr>
          <a:xfrm>
            <a:off x="4480560" y="3337560"/>
            <a:ext cx="360" cy="182880"/>
          </a:xfrm>
          <a:prstGeom prst="line">
            <a:avLst/>
          </a:prstGeom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50"/>
          <p:cNvSpPr/>
          <p:nvPr/>
        </p:nvSpPr>
        <p:spPr>
          <a:xfrm>
            <a:off x="4206240" y="352044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½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51"/>
          <p:cNvSpPr/>
          <p:nvPr/>
        </p:nvSpPr>
        <p:spPr>
          <a:xfrm>
            <a:off x="3840480" y="379476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5c6b60"/>
                </a:solidFill>
                <a:latin typeface="Calibri"/>
                <a:ea typeface="Calibri"/>
              </a:rPr>
              <a:t>even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52"/>
          <p:cNvSpPr/>
          <p:nvPr/>
        </p:nvSpPr>
        <p:spPr>
          <a:xfrm>
            <a:off x="8138160" y="3337560"/>
            <a:ext cx="360" cy="182880"/>
          </a:xfrm>
          <a:prstGeom prst="line">
            <a:avLst/>
          </a:prstGeom>
          <a:ln w="25400">
            <a:solidFill>
              <a:srgbClr val="1c2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53"/>
          <p:cNvSpPr/>
          <p:nvPr/>
        </p:nvSpPr>
        <p:spPr>
          <a:xfrm>
            <a:off x="7863840" y="352044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54"/>
          <p:cNvSpPr/>
          <p:nvPr/>
        </p:nvSpPr>
        <p:spPr>
          <a:xfrm>
            <a:off x="7498080" y="3794760"/>
            <a:ext cx="1279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5c6b60"/>
                </a:solidFill>
                <a:latin typeface="Calibri"/>
                <a:ea typeface="Calibri"/>
              </a:rPr>
              <a:t>certain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55"/>
          <p:cNvSpPr/>
          <p:nvPr/>
        </p:nvSpPr>
        <p:spPr>
          <a:xfrm>
            <a:off x="8595360" y="1828800"/>
            <a:ext cx="3035520" cy="2377080"/>
          </a:xfrm>
          <a:prstGeom prst="roundRect">
            <a:avLst>
              <a:gd name="adj" fmla="val 2308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56"/>
          <p:cNvSpPr/>
          <p:nvPr/>
        </p:nvSpPr>
        <p:spPr>
          <a:xfrm>
            <a:off x="8961120" y="2066400"/>
            <a:ext cx="2304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Example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57"/>
          <p:cNvSpPr/>
          <p:nvPr/>
        </p:nvSpPr>
        <p:spPr>
          <a:xfrm>
            <a:off x="8869680" y="2514600"/>
            <a:ext cx="24685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A bag has 3 green and 5 red (8 total).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P(green) =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58"/>
          <p:cNvSpPr/>
          <p:nvPr/>
        </p:nvSpPr>
        <p:spPr>
          <a:xfrm>
            <a:off x="9189720" y="3392280"/>
            <a:ext cx="639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59"/>
          <p:cNvSpPr/>
          <p:nvPr/>
        </p:nvSpPr>
        <p:spPr>
          <a:xfrm>
            <a:off x="9189720" y="3703320"/>
            <a:ext cx="640080" cy="360"/>
          </a:xfrm>
          <a:prstGeom prst="line">
            <a:avLst/>
          </a:prstGeom>
          <a:ln w="2032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60"/>
          <p:cNvSpPr/>
          <p:nvPr/>
        </p:nvSpPr>
        <p:spPr>
          <a:xfrm>
            <a:off x="9189720" y="3740040"/>
            <a:ext cx="639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8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61"/>
          <p:cNvSpPr/>
          <p:nvPr/>
        </p:nvSpPr>
        <p:spPr>
          <a:xfrm>
            <a:off x="567000" y="4617720"/>
            <a:ext cx="11063880" cy="1005480"/>
          </a:xfrm>
          <a:prstGeom prst="roundRect">
            <a:avLst>
              <a:gd name="adj" fmla="val 5455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 62"/>
          <p:cNvSpPr/>
          <p:nvPr/>
        </p:nvSpPr>
        <p:spPr>
          <a:xfrm>
            <a:off x="841320" y="4617720"/>
            <a:ext cx="10515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Probability is a fraction: how many ways it CAN happen, over how many outcomes in total.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NOT HAPPENING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P(not A) = 1 − P(A)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39"/>
          <p:cNvSpPr/>
          <p:nvPr/>
        </p:nvSpPr>
        <p:spPr>
          <a:xfrm>
            <a:off x="567000" y="1280160"/>
            <a:ext cx="11063880" cy="566640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Text 40"/>
          <p:cNvSpPr/>
          <p:nvPr/>
        </p:nvSpPr>
        <p:spPr>
          <a:xfrm>
            <a:off x="887040" y="128016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All the probabilities add up to 1, so ‘not A’ is whatever is left.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41"/>
          <p:cNvSpPr/>
          <p:nvPr/>
        </p:nvSpPr>
        <p:spPr>
          <a:xfrm>
            <a:off x="2194560" y="2011680"/>
            <a:ext cx="7772040" cy="1096920"/>
          </a:xfrm>
          <a:prstGeom prst="roundRect">
            <a:avLst>
              <a:gd name="adj" fmla="val 5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42"/>
          <p:cNvSpPr/>
          <p:nvPr/>
        </p:nvSpPr>
        <p:spPr>
          <a:xfrm>
            <a:off x="2194560" y="2011680"/>
            <a:ext cx="77720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P(not A)  =  1  −  P(A)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Shape 43"/>
          <p:cNvSpPr/>
          <p:nvPr/>
        </p:nvSpPr>
        <p:spPr>
          <a:xfrm>
            <a:off x="567000" y="3383280"/>
            <a:ext cx="5440320" cy="2148480"/>
          </a:xfrm>
          <a:prstGeom prst="roundRect">
            <a:avLst>
              <a:gd name="adj" fmla="val 2553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44"/>
          <p:cNvSpPr/>
          <p:nvPr/>
        </p:nvSpPr>
        <p:spPr>
          <a:xfrm>
            <a:off x="932760" y="362088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Example (decimals)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45"/>
          <p:cNvSpPr/>
          <p:nvPr/>
        </p:nvSpPr>
        <p:spPr>
          <a:xfrm>
            <a:off x="914400" y="4114800"/>
            <a:ext cx="47545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P(win) = 0.65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P(not win) = 1 − 0.65 = </a:t>
            </a: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0.35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5c6b60"/>
                </a:solidFill>
                <a:latin typeface="Cambria"/>
                <a:ea typeface="Cambria"/>
              </a:rPr>
              <a:t>The two decimals add up to 1.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46"/>
          <p:cNvSpPr/>
          <p:nvPr/>
        </p:nvSpPr>
        <p:spPr>
          <a:xfrm>
            <a:off x="6190560" y="3383280"/>
            <a:ext cx="5440320" cy="2148480"/>
          </a:xfrm>
          <a:prstGeom prst="roundRect">
            <a:avLst>
              <a:gd name="adj" fmla="val 2553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 47"/>
          <p:cNvSpPr/>
          <p:nvPr/>
        </p:nvSpPr>
        <p:spPr>
          <a:xfrm>
            <a:off x="6556320" y="362088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Example (fractions)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48"/>
          <p:cNvSpPr/>
          <p:nvPr/>
        </p:nvSpPr>
        <p:spPr>
          <a:xfrm>
            <a:off x="6537960" y="4114800"/>
            <a:ext cx="47545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P(red) = 2/5,   so P(not red) = </a:t>
            </a:r>
            <a:r>
              <a:rPr b="1" lang="en-US" sz="1450" spc="-1" strike="noStrike">
                <a:solidFill>
                  <a:srgbClr val="c84f2f"/>
                </a:solidFill>
                <a:latin typeface="Cambria"/>
                <a:ea typeface="Cambria"/>
              </a:rPr>
              <a:t>3/5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5c6b60"/>
                </a:solidFill>
                <a:latin typeface="Cambria"/>
                <a:ea typeface="Cambria"/>
              </a:rPr>
              <a:t>The top numbers (2 + 3) add up to the bottom (5).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49"/>
          <p:cNvSpPr/>
          <p:nvPr/>
        </p:nvSpPr>
        <p:spPr>
          <a:xfrm>
            <a:off x="567000" y="5669280"/>
            <a:ext cx="11063880" cy="63972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 50"/>
          <p:cNvSpPr/>
          <p:nvPr/>
        </p:nvSpPr>
        <p:spPr>
          <a:xfrm>
            <a:off x="841320" y="566928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P(not A) = 1 − P(A).  Fractions: tops add to the bottom;  decimals add to 1.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MUTUALLY EXCLUSIVE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P(A or B) = P(A) + P(B)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39"/>
          <p:cNvSpPr/>
          <p:nvPr/>
        </p:nvSpPr>
        <p:spPr>
          <a:xfrm>
            <a:off x="567000" y="1280160"/>
            <a:ext cx="11063880" cy="621360"/>
          </a:xfrm>
          <a:prstGeom prst="roundRect">
            <a:avLst>
              <a:gd name="adj" fmla="val 8824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 40"/>
          <p:cNvSpPr/>
          <p:nvPr/>
        </p:nvSpPr>
        <p:spPr>
          <a:xfrm>
            <a:off x="887040" y="1280160"/>
            <a:ext cx="104238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Mutually exclusive = cannot happen at the same time.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Then ADD the probabilities for ‘A OR B’.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41"/>
          <p:cNvSpPr/>
          <p:nvPr/>
        </p:nvSpPr>
        <p:spPr>
          <a:xfrm>
            <a:off x="2194560" y="2011680"/>
            <a:ext cx="7772040" cy="1051200"/>
          </a:xfrm>
          <a:prstGeom prst="roundRect">
            <a:avLst>
              <a:gd name="adj" fmla="val 521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Text 42"/>
          <p:cNvSpPr/>
          <p:nvPr/>
        </p:nvSpPr>
        <p:spPr>
          <a:xfrm>
            <a:off x="2194560" y="2011680"/>
            <a:ext cx="77720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P(A or B)  =  P(A)  +  P(B)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43"/>
          <p:cNvSpPr/>
          <p:nvPr/>
        </p:nvSpPr>
        <p:spPr>
          <a:xfrm>
            <a:off x="567000" y="3291840"/>
            <a:ext cx="5440320" cy="2239920"/>
          </a:xfrm>
          <a:prstGeom prst="roundRect">
            <a:avLst>
              <a:gd name="adj" fmla="val 2449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 44"/>
          <p:cNvSpPr/>
          <p:nvPr/>
        </p:nvSpPr>
        <p:spPr>
          <a:xfrm>
            <a:off x="932760" y="352944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Example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 45"/>
          <p:cNvSpPr/>
          <p:nvPr/>
        </p:nvSpPr>
        <p:spPr>
          <a:xfrm>
            <a:off x="914400" y="4023360"/>
            <a:ext cx="47545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P(red) = 0.2,  P(blue) = 0.3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P(red or blue) = 0.2 + 0.3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= </a:t>
            </a: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0.5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46"/>
          <p:cNvSpPr/>
          <p:nvPr/>
        </p:nvSpPr>
        <p:spPr>
          <a:xfrm>
            <a:off x="6190560" y="3291840"/>
            <a:ext cx="5440320" cy="2239920"/>
          </a:xfrm>
          <a:prstGeom prst="roundRect">
            <a:avLst>
              <a:gd name="adj" fmla="val 2449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 47"/>
          <p:cNvSpPr/>
          <p:nvPr/>
        </p:nvSpPr>
        <p:spPr>
          <a:xfrm>
            <a:off x="6556320" y="352944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Using ‘all add to 1’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 48"/>
          <p:cNvSpPr/>
          <p:nvPr/>
        </p:nvSpPr>
        <p:spPr>
          <a:xfrm>
            <a:off x="6537960" y="4023360"/>
            <a:ext cx="47545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If P(red)=0.2, P(blue)=0.3, P(green)=0.25,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P(yellow) = 1 − (0.2+0.3+0.25)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= </a:t>
            </a: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0.25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49"/>
          <p:cNvSpPr/>
          <p:nvPr/>
        </p:nvSpPr>
        <p:spPr>
          <a:xfrm>
            <a:off x="567000" y="5669280"/>
            <a:ext cx="11063880" cy="63972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Text 50"/>
          <p:cNvSpPr/>
          <p:nvPr/>
        </p:nvSpPr>
        <p:spPr>
          <a:xfrm>
            <a:off x="841320" y="566928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‘</a:t>
            </a: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OR’ → ADD.  All mutually exclusive probabilities add up to 1.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EXPECTED FREQUENCY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Given a Probability, Find the Number of Times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Method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This is the EXPECTED (predicted) number, not exact.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expected = probability × number of trials.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Works with a fraction, decimal or percentage.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Reverse it: probability = number of times ÷ trials.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e.g. P = 0.65 over 20 games gives 0.65 × 20 = 13 expected wins.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‘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How many times would you expect it?’ → multiply by the number of trials.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expected number = probability × number of trials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P(win) = 0.65, John plays 20 games:  0.65 × 20 =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13 wins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P(six) = 1/6, dice rolled 300 times:  1/6 × 300 =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50 sixes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Expected number of times = probability × number of trials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COMBINED EVENTS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P(A and B) = P(A) × P(B)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39"/>
          <p:cNvSpPr/>
          <p:nvPr/>
        </p:nvSpPr>
        <p:spPr>
          <a:xfrm>
            <a:off x="567000" y="1280160"/>
            <a:ext cx="11063880" cy="621360"/>
          </a:xfrm>
          <a:prstGeom prst="roundRect">
            <a:avLst>
              <a:gd name="adj" fmla="val 8824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Text 40"/>
          <p:cNvSpPr/>
          <p:nvPr/>
        </p:nvSpPr>
        <p:spPr>
          <a:xfrm>
            <a:off x="887040" y="1280160"/>
            <a:ext cx="104238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For ‘A AND B’ (both happening), MULTIPLY the probabilities.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Watch whether the second probability changes.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41"/>
          <p:cNvSpPr/>
          <p:nvPr/>
        </p:nvSpPr>
        <p:spPr>
          <a:xfrm>
            <a:off x="2194560" y="2011680"/>
            <a:ext cx="7772040" cy="1051200"/>
          </a:xfrm>
          <a:prstGeom prst="roundRect">
            <a:avLst>
              <a:gd name="adj" fmla="val 521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 42"/>
          <p:cNvSpPr/>
          <p:nvPr/>
        </p:nvSpPr>
        <p:spPr>
          <a:xfrm>
            <a:off x="2194560" y="2011680"/>
            <a:ext cx="77720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P(A and B)  =  P(A)  ×  P(B)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43"/>
          <p:cNvSpPr/>
          <p:nvPr/>
        </p:nvSpPr>
        <p:spPr>
          <a:xfrm>
            <a:off x="567000" y="3291840"/>
            <a:ext cx="11063880" cy="2239920"/>
          </a:xfrm>
          <a:prstGeom prst="roundRect">
            <a:avLst>
              <a:gd name="adj" fmla="val 2449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 44"/>
          <p:cNvSpPr/>
          <p:nvPr/>
        </p:nvSpPr>
        <p:spPr>
          <a:xfrm>
            <a:off x="932760" y="3529440"/>
            <a:ext cx="10332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Example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Text 45"/>
          <p:cNvSpPr/>
          <p:nvPr/>
        </p:nvSpPr>
        <p:spPr>
          <a:xfrm>
            <a:off x="914400" y="4023360"/>
            <a:ext cx="103323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A coin and a dice.  P(head) = 1/2,  P(six) = 1/6.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P(head AND six) = 1/2 × 1/6 = </a:t>
            </a: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1/12</a:t>
            </a:r>
            <a:r>
              <a:rPr b="0" i="1" lang="en-US" sz="1250" spc="-1" strike="noStrike">
                <a:solidFill>
                  <a:srgbClr val="5c6b60"/>
                </a:solidFill>
                <a:latin typeface="Cambria"/>
                <a:ea typeface="Cambria"/>
              </a:rPr>
              <a:t>    (‘and’ → multiply).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hape 46"/>
          <p:cNvSpPr/>
          <p:nvPr/>
        </p:nvSpPr>
        <p:spPr>
          <a:xfrm>
            <a:off x="567000" y="5669280"/>
            <a:ext cx="11063880" cy="63972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 47"/>
          <p:cNvSpPr/>
          <p:nvPr/>
        </p:nvSpPr>
        <p:spPr>
          <a:xfrm>
            <a:off x="841320" y="566928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‘</a:t>
            </a: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AND’ → MULTIPLY.   ‘OR’ → ADD.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EXAMPLE 1 · FIND THE MISSING PROBABILITY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Two Sections Have the SAME Probability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39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 40"/>
          <p:cNvSpPr/>
          <p:nvPr/>
        </p:nvSpPr>
        <p:spPr>
          <a:xfrm>
            <a:off x="887040" y="129852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 biased 4-sided spinner. Sections 2 and 4 have the SAME probability, x.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Find x.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41"/>
          <p:cNvSpPr/>
          <p:nvPr/>
        </p:nvSpPr>
        <p:spPr>
          <a:xfrm>
            <a:off x="822960" y="2286000"/>
            <a:ext cx="1919880" cy="548280"/>
          </a:xfrm>
          <a:prstGeom prst="rect">
            <a:avLst/>
          </a:prstGeom>
          <a:solidFill>
            <a:srgbClr val="16261f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Text 42"/>
          <p:cNvSpPr/>
          <p:nvPr/>
        </p:nvSpPr>
        <p:spPr>
          <a:xfrm>
            <a:off x="822960" y="2286000"/>
            <a:ext cx="1919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0ac2b"/>
                </a:solidFill>
                <a:latin typeface="Cambria"/>
                <a:ea typeface="Cambria"/>
              </a:rPr>
              <a:t>Number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43"/>
          <p:cNvSpPr/>
          <p:nvPr/>
        </p:nvSpPr>
        <p:spPr>
          <a:xfrm>
            <a:off x="2743200" y="2286000"/>
            <a:ext cx="1234080" cy="548280"/>
          </a:xfrm>
          <a:prstGeom prst="rect">
            <a:avLst/>
          </a:prstGeom>
          <a:solidFill>
            <a:srgbClr val="16261f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" name="Text 44"/>
          <p:cNvSpPr/>
          <p:nvPr/>
        </p:nvSpPr>
        <p:spPr>
          <a:xfrm>
            <a:off x="2743200" y="2286000"/>
            <a:ext cx="123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1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45"/>
          <p:cNvSpPr/>
          <p:nvPr/>
        </p:nvSpPr>
        <p:spPr>
          <a:xfrm>
            <a:off x="3977640" y="2286000"/>
            <a:ext cx="1234080" cy="548280"/>
          </a:xfrm>
          <a:prstGeom prst="rect">
            <a:avLst/>
          </a:prstGeom>
          <a:solidFill>
            <a:srgbClr val="16261f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 46"/>
          <p:cNvSpPr/>
          <p:nvPr/>
        </p:nvSpPr>
        <p:spPr>
          <a:xfrm>
            <a:off x="3977640" y="2286000"/>
            <a:ext cx="123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47"/>
          <p:cNvSpPr/>
          <p:nvPr/>
        </p:nvSpPr>
        <p:spPr>
          <a:xfrm>
            <a:off x="5212080" y="2286000"/>
            <a:ext cx="1234080" cy="548280"/>
          </a:xfrm>
          <a:prstGeom prst="rect">
            <a:avLst/>
          </a:prstGeom>
          <a:solidFill>
            <a:srgbClr val="16261f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" name="Text 48"/>
          <p:cNvSpPr/>
          <p:nvPr/>
        </p:nvSpPr>
        <p:spPr>
          <a:xfrm>
            <a:off x="5212080" y="2286000"/>
            <a:ext cx="123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49"/>
          <p:cNvSpPr/>
          <p:nvPr/>
        </p:nvSpPr>
        <p:spPr>
          <a:xfrm>
            <a:off x="6446520" y="2286000"/>
            <a:ext cx="1234080" cy="548280"/>
          </a:xfrm>
          <a:prstGeom prst="rect">
            <a:avLst/>
          </a:prstGeom>
          <a:solidFill>
            <a:srgbClr val="16261f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Text 50"/>
          <p:cNvSpPr/>
          <p:nvPr/>
        </p:nvSpPr>
        <p:spPr>
          <a:xfrm>
            <a:off x="6446520" y="2286000"/>
            <a:ext cx="123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51"/>
          <p:cNvSpPr/>
          <p:nvPr/>
        </p:nvSpPr>
        <p:spPr>
          <a:xfrm>
            <a:off x="822960" y="2834640"/>
            <a:ext cx="1919880" cy="5482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 52"/>
          <p:cNvSpPr/>
          <p:nvPr/>
        </p:nvSpPr>
        <p:spPr>
          <a:xfrm>
            <a:off x="822960" y="2834640"/>
            <a:ext cx="1919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Probability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53"/>
          <p:cNvSpPr/>
          <p:nvPr/>
        </p:nvSpPr>
        <p:spPr>
          <a:xfrm>
            <a:off x="2743200" y="2834640"/>
            <a:ext cx="1234080" cy="5482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 54"/>
          <p:cNvSpPr/>
          <p:nvPr/>
        </p:nvSpPr>
        <p:spPr>
          <a:xfrm>
            <a:off x="2743200" y="2834640"/>
            <a:ext cx="123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0.2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55"/>
          <p:cNvSpPr/>
          <p:nvPr/>
        </p:nvSpPr>
        <p:spPr>
          <a:xfrm>
            <a:off x="3977640" y="2834640"/>
            <a:ext cx="1234080" cy="5482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 56"/>
          <p:cNvSpPr/>
          <p:nvPr/>
        </p:nvSpPr>
        <p:spPr>
          <a:xfrm>
            <a:off x="3977640" y="2834640"/>
            <a:ext cx="123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x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Shape 57"/>
          <p:cNvSpPr/>
          <p:nvPr/>
        </p:nvSpPr>
        <p:spPr>
          <a:xfrm>
            <a:off x="5212080" y="2834640"/>
            <a:ext cx="1234080" cy="5482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 58"/>
          <p:cNvSpPr/>
          <p:nvPr/>
        </p:nvSpPr>
        <p:spPr>
          <a:xfrm>
            <a:off x="5212080" y="2834640"/>
            <a:ext cx="123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0.3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59"/>
          <p:cNvSpPr/>
          <p:nvPr/>
        </p:nvSpPr>
        <p:spPr>
          <a:xfrm>
            <a:off x="6446520" y="2834640"/>
            <a:ext cx="1234080" cy="5482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 60"/>
          <p:cNvSpPr/>
          <p:nvPr/>
        </p:nvSpPr>
        <p:spPr>
          <a:xfrm>
            <a:off x="6446520" y="2834640"/>
            <a:ext cx="123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x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 61"/>
          <p:cNvSpPr/>
          <p:nvPr/>
        </p:nvSpPr>
        <p:spPr>
          <a:xfrm>
            <a:off x="822960" y="3474720"/>
            <a:ext cx="685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5c6b60"/>
                </a:solidFill>
                <a:latin typeface="Calibri"/>
                <a:ea typeface="Calibri"/>
              </a:rPr>
              <a:t>Sections 2 and 4 are equal — both x.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62"/>
          <p:cNvSpPr/>
          <p:nvPr/>
        </p:nvSpPr>
        <p:spPr>
          <a:xfrm>
            <a:off x="567000" y="3977640"/>
            <a:ext cx="11063880" cy="1508400"/>
          </a:xfrm>
          <a:prstGeom prst="roundRect">
            <a:avLst>
              <a:gd name="adj" fmla="val 3636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Text 63"/>
          <p:cNvSpPr/>
          <p:nvPr/>
        </p:nvSpPr>
        <p:spPr>
          <a:xfrm>
            <a:off x="932760" y="4215240"/>
            <a:ext cx="10332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Working — all probabilities add up to 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Text 64"/>
          <p:cNvSpPr/>
          <p:nvPr/>
        </p:nvSpPr>
        <p:spPr>
          <a:xfrm>
            <a:off x="914400" y="4709160"/>
            <a:ext cx="10332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0.2 + x + 0.3 + x = 1   →   2x + 0.5 = 1   →   2x = 0.5   →   </a:t>
            </a: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x = 0.25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hape 65"/>
          <p:cNvSpPr/>
          <p:nvPr/>
        </p:nvSpPr>
        <p:spPr>
          <a:xfrm>
            <a:off x="567000" y="5669280"/>
            <a:ext cx="11063880" cy="63972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Text 66"/>
          <p:cNvSpPr/>
          <p:nvPr/>
        </p:nvSpPr>
        <p:spPr>
          <a:xfrm>
            <a:off x="841320" y="566928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Two equal sections → 2x.  All the probabilities add to 1, so 2x + 0.5 = 1, giving x = 0.25.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EXAMPLE 2 · FIND THE MISSING PROBABILITY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One Section is DOUBLE the Other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39"/>
          <p:cNvSpPr/>
          <p:nvPr/>
        </p:nvSpPr>
        <p:spPr>
          <a:xfrm>
            <a:off x="567000" y="129852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Text 40"/>
          <p:cNvSpPr/>
          <p:nvPr/>
        </p:nvSpPr>
        <p:spPr>
          <a:xfrm>
            <a:off x="887040" y="129852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 similar spinner, but now section 4 is TWICE section 2 — so they are x and 2x.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Find x.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Shape 41"/>
          <p:cNvSpPr/>
          <p:nvPr/>
        </p:nvSpPr>
        <p:spPr>
          <a:xfrm>
            <a:off x="822960" y="2286000"/>
            <a:ext cx="1919880" cy="548280"/>
          </a:xfrm>
          <a:prstGeom prst="rect">
            <a:avLst/>
          </a:prstGeom>
          <a:solidFill>
            <a:srgbClr val="16261f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 42"/>
          <p:cNvSpPr/>
          <p:nvPr/>
        </p:nvSpPr>
        <p:spPr>
          <a:xfrm>
            <a:off x="822960" y="2286000"/>
            <a:ext cx="1919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0ac2b"/>
                </a:solidFill>
                <a:latin typeface="Cambria"/>
                <a:ea typeface="Cambria"/>
              </a:rPr>
              <a:t>Number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Shape 43"/>
          <p:cNvSpPr/>
          <p:nvPr/>
        </p:nvSpPr>
        <p:spPr>
          <a:xfrm>
            <a:off x="2743200" y="2286000"/>
            <a:ext cx="1234080" cy="548280"/>
          </a:xfrm>
          <a:prstGeom prst="rect">
            <a:avLst/>
          </a:prstGeom>
          <a:solidFill>
            <a:srgbClr val="16261f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Text 44"/>
          <p:cNvSpPr/>
          <p:nvPr/>
        </p:nvSpPr>
        <p:spPr>
          <a:xfrm>
            <a:off x="2743200" y="2286000"/>
            <a:ext cx="123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1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Shape 45"/>
          <p:cNvSpPr/>
          <p:nvPr/>
        </p:nvSpPr>
        <p:spPr>
          <a:xfrm>
            <a:off x="3977640" y="2286000"/>
            <a:ext cx="1234080" cy="548280"/>
          </a:xfrm>
          <a:prstGeom prst="rect">
            <a:avLst/>
          </a:prstGeom>
          <a:solidFill>
            <a:srgbClr val="16261f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Text 46"/>
          <p:cNvSpPr/>
          <p:nvPr/>
        </p:nvSpPr>
        <p:spPr>
          <a:xfrm>
            <a:off x="3977640" y="2286000"/>
            <a:ext cx="123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Shape 47"/>
          <p:cNvSpPr/>
          <p:nvPr/>
        </p:nvSpPr>
        <p:spPr>
          <a:xfrm>
            <a:off x="5212080" y="2286000"/>
            <a:ext cx="1234080" cy="548280"/>
          </a:xfrm>
          <a:prstGeom prst="rect">
            <a:avLst/>
          </a:prstGeom>
          <a:solidFill>
            <a:srgbClr val="16261f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Text 48"/>
          <p:cNvSpPr/>
          <p:nvPr/>
        </p:nvSpPr>
        <p:spPr>
          <a:xfrm>
            <a:off x="5212080" y="2286000"/>
            <a:ext cx="123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Shape 49"/>
          <p:cNvSpPr/>
          <p:nvPr/>
        </p:nvSpPr>
        <p:spPr>
          <a:xfrm>
            <a:off x="6446520" y="2286000"/>
            <a:ext cx="1234080" cy="548280"/>
          </a:xfrm>
          <a:prstGeom prst="rect">
            <a:avLst/>
          </a:prstGeom>
          <a:solidFill>
            <a:srgbClr val="16261f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 50"/>
          <p:cNvSpPr/>
          <p:nvPr/>
        </p:nvSpPr>
        <p:spPr>
          <a:xfrm>
            <a:off x="6446520" y="2286000"/>
            <a:ext cx="123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Shape 51"/>
          <p:cNvSpPr/>
          <p:nvPr/>
        </p:nvSpPr>
        <p:spPr>
          <a:xfrm>
            <a:off x="822960" y="2834640"/>
            <a:ext cx="1919880" cy="5482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 52"/>
          <p:cNvSpPr/>
          <p:nvPr/>
        </p:nvSpPr>
        <p:spPr>
          <a:xfrm>
            <a:off x="822960" y="2834640"/>
            <a:ext cx="1919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Probability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Shape 53"/>
          <p:cNvSpPr/>
          <p:nvPr/>
        </p:nvSpPr>
        <p:spPr>
          <a:xfrm>
            <a:off x="2743200" y="2834640"/>
            <a:ext cx="1234080" cy="5482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 54"/>
          <p:cNvSpPr/>
          <p:nvPr/>
        </p:nvSpPr>
        <p:spPr>
          <a:xfrm>
            <a:off x="2743200" y="2834640"/>
            <a:ext cx="123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0.1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Shape 55"/>
          <p:cNvSpPr/>
          <p:nvPr/>
        </p:nvSpPr>
        <p:spPr>
          <a:xfrm>
            <a:off x="3977640" y="2834640"/>
            <a:ext cx="1234080" cy="5482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Text 56"/>
          <p:cNvSpPr/>
          <p:nvPr/>
        </p:nvSpPr>
        <p:spPr>
          <a:xfrm>
            <a:off x="3977640" y="2834640"/>
            <a:ext cx="123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x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Shape 57"/>
          <p:cNvSpPr/>
          <p:nvPr/>
        </p:nvSpPr>
        <p:spPr>
          <a:xfrm>
            <a:off x="5212080" y="2834640"/>
            <a:ext cx="1234080" cy="54828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 58"/>
          <p:cNvSpPr/>
          <p:nvPr/>
        </p:nvSpPr>
        <p:spPr>
          <a:xfrm>
            <a:off x="5212080" y="2834640"/>
            <a:ext cx="123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0.3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Shape 59"/>
          <p:cNvSpPr/>
          <p:nvPr/>
        </p:nvSpPr>
        <p:spPr>
          <a:xfrm>
            <a:off x="6446520" y="2834640"/>
            <a:ext cx="1234080" cy="54828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Text 60"/>
          <p:cNvSpPr/>
          <p:nvPr/>
        </p:nvSpPr>
        <p:spPr>
          <a:xfrm>
            <a:off x="6446520" y="2834640"/>
            <a:ext cx="123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2x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Text 61"/>
          <p:cNvSpPr/>
          <p:nvPr/>
        </p:nvSpPr>
        <p:spPr>
          <a:xfrm>
            <a:off x="822960" y="3474720"/>
            <a:ext cx="6857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5c6b60"/>
                </a:solidFill>
                <a:latin typeface="Calibri"/>
                <a:ea typeface="Calibri"/>
              </a:rPr>
              <a:t>Section 4 is double section 2  →  x and 2x.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Shape 62"/>
          <p:cNvSpPr/>
          <p:nvPr/>
        </p:nvSpPr>
        <p:spPr>
          <a:xfrm>
            <a:off x="567000" y="3977640"/>
            <a:ext cx="11063880" cy="1508400"/>
          </a:xfrm>
          <a:prstGeom prst="roundRect">
            <a:avLst>
              <a:gd name="adj" fmla="val 3636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 63"/>
          <p:cNvSpPr/>
          <p:nvPr/>
        </p:nvSpPr>
        <p:spPr>
          <a:xfrm>
            <a:off x="932760" y="4215240"/>
            <a:ext cx="10332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Working — all probabilities add up to 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Text 64"/>
          <p:cNvSpPr/>
          <p:nvPr/>
        </p:nvSpPr>
        <p:spPr>
          <a:xfrm>
            <a:off x="914400" y="4709160"/>
            <a:ext cx="10332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0.1 + x + 0.3 + 2x = 1   →   3x + 0.4 = 1   →   3x = 0.6   →   </a:t>
            </a:r>
            <a:r>
              <a:rPr b="1" lang="en-US" sz="1550" spc="-1" strike="noStrike">
                <a:solidFill>
                  <a:srgbClr val="c84f2f"/>
                </a:solidFill>
                <a:latin typeface="Cambria"/>
                <a:ea typeface="Cambria"/>
              </a:rPr>
              <a:t>x = 0.2   (so 2x = 0.4)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Shape 65"/>
          <p:cNvSpPr/>
          <p:nvPr/>
        </p:nvSpPr>
        <p:spPr>
          <a:xfrm>
            <a:off x="567000" y="5669280"/>
            <a:ext cx="11063880" cy="63972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Text 66"/>
          <p:cNvSpPr/>
          <p:nvPr/>
        </p:nvSpPr>
        <p:spPr>
          <a:xfrm>
            <a:off x="841320" y="566928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‘</a:t>
            </a: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Double’ → use 2x.  Then x + 2x = 3x;  3x + 0.4 = 1, so x = 0.2 and 2x = 0.4.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Past-Paper Questions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Add for OR, multiply for AND, × trials for expected, and check for replacement.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P = successful ÷ total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OR → add;  AND → multiply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Expected = P × trials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Without replacement → totals drop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Shape 39"/>
          <p:cNvSpPr/>
          <p:nvPr/>
        </p:nvSpPr>
        <p:spPr>
          <a:xfrm>
            <a:off x="1587960" y="1408320"/>
            <a:ext cx="9015480" cy="1741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17" name="Image 0" descr="/tmp/work/pbq/q-17.png"/>
          <p:cNvPicPr/>
          <p:nvPr/>
        </p:nvPicPr>
        <p:blipFill>
          <a:blip r:embed="rId1"/>
          <a:stretch/>
        </p:blipFill>
        <p:spPr>
          <a:xfrm>
            <a:off x="1661040" y="1481400"/>
            <a:ext cx="8869320" cy="1595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2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Shape 39"/>
          <p:cNvSpPr/>
          <p:nvPr/>
        </p:nvSpPr>
        <p:spPr>
          <a:xfrm>
            <a:off x="1587960" y="1408320"/>
            <a:ext cx="9015480" cy="4311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58" name="Image 0" descr="/tmp/work/pbq/q-18.png"/>
          <p:cNvPicPr/>
          <p:nvPr/>
        </p:nvPicPr>
        <p:blipFill>
          <a:blip r:embed="rId1"/>
          <a:stretch/>
        </p:blipFill>
        <p:spPr>
          <a:xfrm>
            <a:off x="1661040" y="1481400"/>
            <a:ext cx="8869320" cy="4164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Shape 39"/>
          <p:cNvSpPr/>
          <p:nvPr/>
        </p:nvSpPr>
        <p:spPr>
          <a:xfrm>
            <a:off x="3205800" y="1408320"/>
            <a:ext cx="57798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99" name="Image 0" descr="/tmp/work/pbq/q-19.png"/>
          <p:cNvPicPr/>
          <p:nvPr/>
        </p:nvPicPr>
        <p:blipFill>
          <a:blip r:embed="rId1"/>
          <a:stretch/>
        </p:blipFill>
        <p:spPr>
          <a:xfrm>
            <a:off x="3278880" y="1481400"/>
            <a:ext cx="56332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4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Shape 39"/>
          <p:cNvSpPr/>
          <p:nvPr/>
        </p:nvSpPr>
        <p:spPr>
          <a:xfrm>
            <a:off x="3304800" y="1408320"/>
            <a:ext cx="558144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40" name="Image 0" descr="/tmp/work/pbq/q-20.png"/>
          <p:cNvPicPr/>
          <p:nvPr/>
        </p:nvPicPr>
        <p:blipFill>
          <a:blip r:embed="rId1"/>
          <a:stretch/>
        </p:blipFill>
        <p:spPr>
          <a:xfrm>
            <a:off x="3377880" y="1481400"/>
            <a:ext cx="54352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5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Shape 39"/>
          <p:cNvSpPr/>
          <p:nvPr/>
        </p:nvSpPr>
        <p:spPr>
          <a:xfrm>
            <a:off x="1587960" y="1408320"/>
            <a:ext cx="9015480" cy="3333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81" name="Image 0" descr="/tmp/work/pbq/q-21.png"/>
          <p:cNvPicPr/>
          <p:nvPr/>
        </p:nvPicPr>
        <p:blipFill>
          <a:blip r:embed="rId1"/>
          <a:stretch/>
        </p:blipFill>
        <p:spPr>
          <a:xfrm>
            <a:off x="1661040" y="1481400"/>
            <a:ext cx="8869320" cy="318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6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Shape 39"/>
          <p:cNvSpPr/>
          <p:nvPr/>
        </p:nvSpPr>
        <p:spPr>
          <a:xfrm>
            <a:off x="1587960" y="1408320"/>
            <a:ext cx="9015480" cy="4949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22" name="Image 0" descr="/tmp/work/pbq/q-22.png"/>
          <p:cNvPicPr/>
          <p:nvPr/>
        </p:nvPicPr>
        <p:blipFill>
          <a:blip r:embed="rId1"/>
          <a:stretch/>
        </p:blipFill>
        <p:spPr>
          <a:xfrm>
            <a:off x="1661040" y="1481400"/>
            <a:ext cx="8869320" cy="4803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9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0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1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2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3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Probability = number of successful outcomes ÷ total outcomes (a value from 0 to 1).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4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5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P(not A) = 1 − P(A);  all probabilities add up to 1.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6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7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Mutually exclusive (‘OR’): P(A or B) = P(A) + P(B).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8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9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Combined (‘AND’): P(A and B) = P(A) × P(B);  expected number = P × trials.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0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1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If probabilities are unknown (x, or x and 2x), use that they all add up to 1 to find x.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2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3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OR adds, AND multiplies;  and every probability in a table adds up to 1.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1103</Words>
  <Paragraphs>191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2026-07-17T12:29:39Z</dcterms:created>
  <dc:creator>Zahra Sheikh Ali</dc:creator>
  <dc:description/>
  <dc:language>en-US</dc:language>
  <cp:lastModifiedBy>zahraa sheik ali</cp:lastModifiedBy>
  <dcterms:modified xsi:type="dcterms:W3CDTF">2026-08-06T17:01:35Z</dcterms:modified>
  <cp:revision>1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17</vt:r8>
  </property>
  <property fmtid="{D5CDD505-2E9C-101B-9397-08002B2CF9AE}" pid="3" name="PresentationFormat">
    <vt:lpwstr>Custom</vt:lpwstr>
  </property>
  <property fmtid="{D5CDD505-2E9C-101B-9397-08002B2CF9AE}" pid="4" name="Slides">
    <vt:r8>17</vt:r8>
  </property>
</Properties>
</file>