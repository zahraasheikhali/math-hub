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CED8D1D-C1AE-459A-BF04-E2E77A91071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F36F33-5314-42D0-A5FA-FC282750D3C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D7BCFA-CB1E-426E-8B52-53835B774AC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77F37F-E5E5-4D1C-AFE2-EB12B24C172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180E4E-8A9F-4A0E-AB51-C7EEE116C83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B612E9-F450-4A4E-AF0E-9CDBF400F13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954D62-F290-4C13-B9E6-F1BBD6C04FA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B8950C-89C3-40E7-B4C2-1D7A03C97AB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D9EBDB-326E-4849-BED4-0DE4D33E2D1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C5BD62-7BC4-4CC4-93AB-73C7689EABA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7AEBA8-F835-43C8-9ED4-BA5130F77C2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13715C-90C0-481E-8723-4923C3DAE81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9751C2-5BEE-4DB7-A3E6-815226AF059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765EBE-5E93-49DD-9519-BB959F2D7B2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8869680" y="868680"/>
            <a:ext cx="2377080" cy="1554120"/>
          </a:xfrm>
          <a:prstGeom prst="rect">
            <a:avLst/>
          </a:prstGeom>
          <a:noFill/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8869680" y="1389600"/>
            <a:ext cx="2377440" cy="360"/>
          </a:xfrm>
          <a:prstGeom prst="line">
            <a:avLst/>
          </a:prstGeom>
          <a:ln w="254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9664920" y="868680"/>
            <a:ext cx="360" cy="1554480"/>
          </a:xfrm>
          <a:prstGeom prst="line">
            <a:avLst/>
          </a:prstGeom>
          <a:ln w="254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38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42"/>
          <p:cNvSpPr/>
          <p:nvPr/>
        </p:nvSpPr>
        <p:spPr>
          <a:xfrm>
            <a:off x="777240" y="2240280"/>
            <a:ext cx="10789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e0ac2b"/>
                </a:solidFill>
                <a:latin typeface="Cambria"/>
                <a:ea typeface="Cambria"/>
              </a:rPr>
              <a:t>Averages from a Table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804600" y="3310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Ungrouped &amp; Grouped Frequency Tables · Modal Class · Median Class · Estimated Mean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44"/>
          <p:cNvSpPr/>
          <p:nvPr/>
        </p:nvSpPr>
        <p:spPr>
          <a:xfrm>
            <a:off x="777240" y="4297680"/>
            <a:ext cx="676620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1097280" y="449892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46"/>
          <p:cNvSpPr/>
          <p:nvPr/>
        </p:nvSpPr>
        <p:spPr>
          <a:xfrm>
            <a:off x="1097280" y="495612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47"/>
          <p:cNvSpPr/>
          <p:nvPr/>
        </p:nvSpPr>
        <p:spPr>
          <a:xfrm>
            <a:off x="1097280" y="539496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LESSON OVERVIEW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Finding Averages from Frequency Tables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39"/>
          <p:cNvSpPr/>
          <p:nvPr/>
        </p:nvSpPr>
        <p:spPr>
          <a:xfrm>
            <a:off x="567000" y="1481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40"/>
          <p:cNvSpPr/>
          <p:nvPr/>
        </p:nvSpPr>
        <p:spPr>
          <a:xfrm>
            <a:off x="887040" y="148140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A frequency table records how OFTEN each value (or class) occurs.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The averages are the same idea as before — you just use the frequencies, with an extra fx column for the mean.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41"/>
          <p:cNvSpPr/>
          <p:nvPr/>
        </p:nvSpPr>
        <p:spPr>
          <a:xfrm>
            <a:off x="5670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42"/>
          <p:cNvSpPr/>
          <p:nvPr/>
        </p:nvSpPr>
        <p:spPr>
          <a:xfrm>
            <a:off x="8229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43"/>
          <p:cNvSpPr/>
          <p:nvPr/>
        </p:nvSpPr>
        <p:spPr>
          <a:xfrm>
            <a:off x="8229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44"/>
          <p:cNvSpPr/>
          <p:nvPr/>
        </p:nvSpPr>
        <p:spPr>
          <a:xfrm>
            <a:off x="14356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Reading a frequency table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45"/>
          <p:cNvSpPr/>
          <p:nvPr/>
        </p:nvSpPr>
        <p:spPr>
          <a:xfrm>
            <a:off x="43434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46"/>
          <p:cNvSpPr/>
          <p:nvPr/>
        </p:nvSpPr>
        <p:spPr>
          <a:xfrm>
            <a:off x="45993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47"/>
          <p:cNvSpPr/>
          <p:nvPr/>
        </p:nvSpPr>
        <p:spPr>
          <a:xfrm>
            <a:off x="45993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48"/>
          <p:cNvSpPr/>
          <p:nvPr/>
        </p:nvSpPr>
        <p:spPr>
          <a:xfrm>
            <a:off x="52120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Mode &amp; median from a table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49"/>
          <p:cNvSpPr/>
          <p:nvPr/>
        </p:nvSpPr>
        <p:spPr>
          <a:xfrm>
            <a:off x="81198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50"/>
          <p:cNvSpPr/>
          <p:nvPr/>
        </p:nvSpPr>
        <p:spPr>
          <a:xfrm>
            <a:off x="83757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51"/>
          <p:cNvSpPr/>
          <p:nvPr/>
        </p:nvSpPr>
        <p:spPr>
          <a:xfrm>
            <a:off x="83757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52"/>
          <p:cNvSpPr/>
          <p:nvPr/>
        </p:nvSpPr>
        <p:spPr>
          <a:xfrm>
            <a:off x="89884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Mean: Σfx ÷ Σf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53"/>
          <p:cNvSpPr/>
          <p:nvPr/>
        </p:nvSpPr>
        <p:spPr>
          <a:xfrm>
            <a:off x="5670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54"/>
          <p:cNvSpPr/>
          <p:nvPr/>
        </p:nvSpPr>
        <p:spPr>
          <a:xfrm>
            <a:off x="8229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55"/>
          <p:cNvSpPr/>
          <p:nvPr/>
        </p:nvSpPr>
        <p:spPr>
          <a:xfrm>
            <a:off x="8229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56"/>
          <p:cNvSpPr/>
          <p:nvPr/>
        </p:nvSpPr>
        <p:spPr>
          <a:xfrm>
            <a:off x="14356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Grouped: modal class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57"/>
          <p:cNvSpPr/>
          <p:nvPr/>
        </p:nvSpPr>
        <p:spPr>
          <a:xfrm>
            <a:off x="43434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58"/>
          <p:cNvSpPr/>
          <p:nvPr/>
        </p:nvSpPr>
        <p:spPr>
          <a:xfrm>
            <a:off x="45993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59"/>
          <p:cNvSpPr/>
          <p:nvPr/>
        </p:nvSpPr>
        <p:spPr>
          <a:xfrm>
            <a:off x="45993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60"/>
          <p:cNvSpPr/>
          <p:nvPr/>
        </p:nvSpPr>
        <p:spPr>
          <a:xfrm>
            <a:off x="52120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Grouped: estimated mean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61"/>
          <p:cNvSpPr/>
          <p:nvPr/>
        </p:nvSpPr>
        <p:spPr>
          <a:xfrm>
            <a:off x="81198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62"/>
          <p:cNvSpPr/>
          <p:nvPr/>
        </p:nvSpPr>
        <p:spPr>
          <a:xfrm>
            <a:off x="83757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63"/>
          <p:cNvSpPr/>
          <p:nvPr/>
        </p:nvSpPr>
        <p:spPr>
          <a:xfrm>
            <a:off x="83757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64"/>
          <p:cNvSpPr/>
          <p:nvPr/>
        </p:nvSpPr>
        <p:spPr>
          <a:xfrm>
            <a:off x="89884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Past-paper questions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65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Key words:  </a:t>
            </a: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frequency · Σfx ÷ Σf · modal class · median class · midpoint · estimated mean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UNGROUPED TABLE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Mode, Median &amp; Mean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39"/>
          <p:cNvSpPr/>
          <p:nvPr/>
        </p:nvSpPr>
        <p:spPr>
          <a:xfrm>
            <a:off x="567000" y="128016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40"/>
          <p:cNvSpPr/>
          <p:nvPr/>
        </p:nvSpPr>
        <p:spPr>
          <a:xfrm>
            <a:off x="887040" y="128016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Number of pets owned by 20 people. Add an fx column to find the mean.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41"/>
          <p:cNvSpPr/>
          <p:nvPr/>
        </p:nvSpPr>
        <p:spPr>
          <a:xfrm>
            <a:off x="567000" y="1965960"/>
            <a:ext cx="1828440" cy="45684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42"/>
          <p:cNvSpPr/>
          <p:nvPr/>
        </p:nvSpPr>
        <p:spPr>
          <a:xfrm>
            <a:off x="612720" y="196596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0ac2b"/>
                </a:solidFill>
                <a:latin typeface="Cambria"/>
                <a:ea typeface="Cambria"/>
              </a:rPr>
              <a:t>Pets (x)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43"/>
          <p:cNvSpPr/>
          <p:nvPr/>
        </p:nvSpPr>
        <p:spPr>
          <a:xfrm>
            <a:off x="2395800" y="1965960"/>
            <a:ext cx="1828440" cy="45684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44"/>
          <p:cNvSpPr/>
          <p:nvPr/>
        </p:nvSpPr>
        <p:spPr>
          <a:xfrm>
            <a:off x="2441520" y="196596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0ac2b"/>
                </a:solidFill>
                <a:latin typeface="Cambria"/>
                <a:ea typeface="Cambria"/>
              </a:rPr>
              <a:t>Freq (f)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45"/>
          <p:cNvSpPr/>
          <p:nvPr/>
        </p:nvSpPr>
        <p:spPr>
          <a:xfrm>
            <a:off x="4224600" y="1965960"/>
            <a:ext cx="1828440" cy="45684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46"/>
          <p:cNvSpPr/>
          <p:nvPr/>
        </p:nvSpPr>
        <p:spPr>
          <a:xfrm>
            <a:off x="4270320" y="196596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0ac2b"/>
                </a:solidFill>
                <a:latin typeface="Cambria"/>
                <a:ea typeface="Cambria"/>
              </a:rPr>
              <a:t>f × x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47"/>
          <p:cNvSpPr/>
          <p:nvPr/>
        </p:nvSpPr>
        <p:spPr>
          <a:xfrm>
            <a:off x="567000" y="2423160"/>
            <a:ext cx="182844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48"/>
          <p:cNvSpPr/>
          <p:nvPr/>
        </p:nvSpPr>
        <p:spPr>
          <a:xfrm>
            <a:off x="612720" y="2423160"/>
            <a:ext cx="17370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49"/>
          <p:cNvSpPr/>
          <p:nvPr/>
        </p:nvSpPr>
        <p:spPr>
          <a:xfrm>
            <a:off x="2395800" y="2423160"/>
            <a:ext cx="182844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50"/>
          <p:cNvSpPr/>
          <p:nvPr/>
        </p:nvSpPr>
        <p:spPr>
          <a:xfrm>
            <a:off x="2441520" y="2423160"/>
            <a:ext cx="17370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51"/>
          <p:cNvSpPr/>
          <p:nvPr/>
        </p:nvSpPr>
        <p:spPr>
          <a:xfrm>
            <a:off x="4224600" y="2423160"/>
            <a:ext cx="182844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52"/>
          <p:cNvSpPr/>
          <p:nvPr/>
        </p:nvSpPr>
        <p:spPr>
          <a:xfrm>
            <a:off x="4270320" y="2423160"/>
            <a:ext cx="17370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53"/>
          <p:cNvSpPr/>
          <p:nvPr/>
        </p:nvSpPr>
        <p:spPr>
          <a:xfrm>
            <a:off x="567000" y="2843640"/>
            <a:ext cx="182844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54"/>
          <p:cNvSpPr/>
          <p:nvPr/>
        </p:nvSpPr>
        <p:spPr>
          <a:xfrm>
            <a:off x="612720" y="2843640"/>
            <a:ext cx="17370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55"/>
          <p:cNvSpPr/>
          <p:nvPr/>
        </p:nvSpPr>
        <p:spPr>
          <a:xfrm>
            <a:off x="2395800" y="2843640"/>
            <a:ext cx="182844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56"/>
          <p:cNvSpPr/>
          <p:nvPr/>
        </p:nvSpPr>
        <p:spPr>
          <a:xfrm>
            <a:off x="2441520" y="2843640"/>
            <a:ext cx="17370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8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57"/>
          <p:cNvSpPr/>
          <p:nvPr/>
        </p:nvSpPr>
        <p:spPr>
          <a:xfrm>
            <a:off x="4224600" y="2843640"/>
            <a:ext cx="182844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58"/>
          <p:cNvSpPr/>
          <p:nvPr/>
        </p:nvSpPr>
        <p:spPr>
          <a:xfrm>
            <a:off x="4270320" y="2843640"/>
            <a:ext cx="17370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8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59"/>
          <p:cNvSpPr/>
          <p:nvPr/>
        </p:nvSpPr>
        <p:spPr>
          <a:xfrm>
            <a:off x="567000" y="3264480"/>
            <a:ext cx="182844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60"/>
          <p:cNvSpPr/>
          <p:nvPr/>
        </p:nvSpPr>
        <p:spPr>
          <a:xfrm>
            <a:off x="612720" y="3264480"/>
            <a:ext cx="17370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61"/>
          <p:cNvSpPr/>
          <p:nvPr/>
        </p:nvSpPr>
        <p:spPr>
          <a:xfrm>
            <a:off x="2395800" y="3264480"/>
            <a:ext cx="182844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62"/>
          <p:cNvSpPr/>
          <p:nvPr/>
        </p:nvSpPr>
        <p:spPr>
          <a:xfrm>
            <a:off x="2441520" y="3264480"/>
            <a:ext cx="17370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63"/>
          <p:cNvSpPr/>
          <p:nvPr/>
        </p:nvSpPr>
        <p:spPr>
          <a:xfrm>
            <a:off x="4224600" y="3264480"/>
            <a:ext cx="182844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64"/>
          <p:cNvSpPr/>
          <p:nvPr/>
        </p:nvSpPr>
        <p:spPr>
          <a:xfrm>
            <a:off x="4270320" y="3264480"/>
            <a:ext cx="17370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8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65"/>
          <p:cNvSpPr/>
          <p:nvPr/>
        </p:nvSpPr>
        <p:spPr>
          <a:xfrm>
            <a:off x="567000" y="3684960"/>
            <a:ext cx="182844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66"/>
          <p:cNvSpPr/>
          <p:nvPr/>
        </p:nvSpPr>
        <p:spPr>
          <a:xfrm>
            <a:off x="612720" y="3684960"/>
            <a:ext cx="17370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67"/>
          <p:cNvSpPr/>
          <p:nvPr/>
        </p:nvSpPr>
        <p:spPr>
          <a:xfrm>
            <a:off x="2395800" y="3684960"/>
            <a:ext cx="182844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68"/>
          <p:cNvSpPr/>
          <p:nvPr/>
        </p:nvSpPr>
        <p:spPr>
          <a:xfrm>
            <a:off x="2441520" y="3684960"/>
            <a:ext cx="17370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69"/>
          <p:cNvSpPr/>
          <p:nvPr/>
        </p:nvSpPr>
        <p:spPr>
          <a:xfrm>
            <a:off x="4224600" y="3684960"/>
            <a:ext cx="182844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70"/>
          <p:cNvSpPr/>
          <p:nvPr/>
        </p:nvSpPr>
        <p:spPr>
          <a:xfrm>
            <a:off x="4270320" y="3684960"/>
            <a:ext cx="17370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9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71"/>
          <p:cNvSpPr/>
          <p:nvPr/>
        </p:nvSpPr>
        <p:spPr>
          <a:xfrm>
            <a:off x="567000" y="3657600"/>
            <a:ext cx="5486040" cy="420120"/>
          </a:xfrm>
          <a:prstGeom prst="rect">
            <a:avLst/>
          </a:prstGeom>
          <a:solidFill>
            <a:srgbClr val="26342b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72"/>
          <p:cNvSpPr/>
          <p:nvPr/>
        </p:nvSpPr>
        <p:spPr>
          <a:xfrm>
            <a:off x="640080" y="3657600"/>
            <a:ext cx="53946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0ac2b"/>
                </a:solidFill>
                <a:latin typeface="Cambria"/>
                <a:ea typeface="Cambria"/>
              </a:rPr>
              <a:t>Totals:      Σf = 20        Σfx = 25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73"/>
          <p:cNvSpPr/>
          <p:nvPr/>
        </p:nvSpPr>
        <p:spPr>
          <a:xfrm>
            <a:off x="6400800" y="1965960"/>
            <a:ext cx="5230080" cy="3565800"/>
          </a:xfrm>
          <a:prstGeom prst="roundRect">
            <a:avLst>
              <a:gd name="adj" fmla="val 1538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74"/>
          <p:cNvSpPr/>
          <p:nvPr/>
        </p:nvSpPr>
        <p:spPr>
          <a:xfrm>
            <a:off x="6766560" y="2203560"/>
            <a:ext cx="4498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The three averages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75"/>
          <p:cNvSpPr/>
          <p:nvPr/>
        </p:nvSpPr>
        <p:spPr>
          <a:xfrm>
            <a:off x="6720840" y="2697480"/>
            <a:ext cx="466308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c84f2f"/>
                </a:solidFill>
                <a:latin typeface="Cambria"/>
                <a:ea typeface="Cambria"/>
              </a:rPr>
              <a:t>MODE = 1  </a:t>
            </a:r>
            <a:r>
              <a:rPr b="0" lang="en-US" sz="1200" spc="-1" strike="noStrike">
                <a:solidFill>
                  <a:srgbClr val="5c6b60"/>
                </a:solidFill>
                <a:latin typeface="Cambria"/>
                <a:ea typeface="Cambria"/>
              </a:rPr>
              <a:t>(highest frequency, 8)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c84f2f"/>
                </a:solidFill>
                <a:latin typeface="Cambria"/>
                <a:ea typeface="Cambria"/>
              </a:rPr>
              <a:t>MEDIAN = 1  </a:t>
            </a:r>
            <a:r>
              <a:rPr b="0" lang="en-US" sz="1200" spc="-1" strike="noStrike">
                <a:solidFill>
                  <a:srgbClr val="5c6b60"/>
                </a:solidFill>
                <a:latin typeface="Cambria"/>
                <a:ea typeface="Cambria"/>
              </a:rPr>
              <a:t>(10th &amp; 11th values)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MEAN = Σfx ÷ Σf = 25 ÷ 20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c84f2f"/>
                </a:solidFill>
                <a:latin typeface="Cambria"/>
                <a:ea typeface="Cambria"/>
              </a:rPr>
              <a:t>        </a:t>
            </a:r>
            <a:r>
              <a:rPr b="1" lang="en-US" sz="1450" spc="-1" strike="noStrike">
                <a:solidFill>
                  <a:srgbClr val="c84f2f"/>
                </a:solidFill>
                <a:latin typeface="Cambria"/>
                <a:ea typeface="Cambria"/>
              </a:rPr>
              <a:t>= 1.25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76"/>
          <p:cNvSpPr/>
          <p:nvPr/>
        </p:nvSpPr>
        <p:spPr>
          <a:xfrm>
            <a:off x="567000" y="5669280"/>
            <a:ext cx="11063880" cy="685440"/>
          </a:xfrm>
          <a:prstGeom prst="roundRect">
            <a:avLst>
              <a:gd name="adj" fmla="val 8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77"/>
          <p:cNvSpPr/>
          <p:nvPr/>
        </p:nvSpPr>
        <p:spPr>
          <a:xfrm>
            <a:off x="841320" y="56692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Mean from a table = Σfx ÷ Σf  (total of f×x, divided by total frequency).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MEAN FROM A TABLE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Σfx ÷ Σf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39"/>
          <p:cNvSpPr/>
          <p:nvPr/>
        </p:nvSpPr>
        <p:spPr>
          <a:xfrm>
            <a:off x="567000" y="132588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40"/>
          <p:cNvSpPr/>
          <p:nvPr/>
        </p:nvSpPr>
        <p:spPr>
          <a:xfrm>
            <a:off x="887040" y="132588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Multiply each value by its frequency (fx), add those up,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then divide by the total frequency.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41"/>
          <p:cNvSpPr/>
          <p:nvPr/>
        </p:nvSpPr>
        <p:spPr>
          <a:xfrm>
            <a:off x="2377440" y="3108960"/>
            <a:ext cx="1828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mean  =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42"/>
          <p:cNvSpPr/>
          <p:nvPr/>
        </p:nvSpPr>
        <p:spPr>
          <a:xfrm>
            <a:off x="4572000" y="3117960"/>
            <a:ext cx="2194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c84f2f"/>
                </a:solidFill>
                <a:latin typeface="Cambria"/>
                <a:ea typeface="Cambria"/>
              </a:rPr>
              <a:t>Σ f x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43"/>
          <p:cNvSpPr/>
          <p:nvPr/>
        </p:nvSpPr>
        <p:spPr>
          <a:xfrm>
            <a:off x="4572000" y="3429000"/>
            <a:ext cx="2194560" cy="3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44"/>
          <p:cNvSpPr/>
          <p:nvPr/>
        </p:nvSpPr>
        <p:spPr>
          <a:xfrm>
            <a:off x="4572000" y="3465720"/>
            <a:ext cx="2194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c84f2f"/>
                </a:solidFill>
                <a:latin typeface="Cambria"/>
                <a:ea typeface="Cambria"/>
              </a:rPr>
              <a:t>Σ f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45"/>
          <p:cNvSpPr/>
          <p:nvPr/>
        </p:nvSpPr>
        <p:spPr>
          <a:xfrm>
            <a:off x="567000" y="457200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=  total of (f × x)  ÷  total frequency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46"/>
          <p:cNvSpPr/>
          <p:nvPr/>
        </p:nvSpPr>
        <p:spPr>
          <a:xfrm>
            <a:off x="567000" y="530352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47"/>
          <p:cNvSpPr/>
          <p:nvPr/>
        </p:nvSpPr>
        <p:spPr>
          <a:xfrm>
            <a:off x="841320" y="530352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Do NOT just add the values and divide — you must weight each by its frequency.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GROUPED TABLE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Modal Class &amp; Median Class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39"/>
          <p:cNvSpPr/>
          <p:nvPr/>
        </p:nvSpPr>
        <p:spPr>
          <a:xfrm>
            <a:off x="567000" y="128016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40"/>
          <p:cNvSpPr/>
          <p:nvPr/>
        </p:nvSpPr>
        <p:spPr>
          <a:xfrm>
            <a:off x="887040" y="128016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With grouped data we cannot know exact values — so we give a CLASS.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41"/>
          <p:cNvSpPr/>
          <p:nvPr/>
        </p:nvSpPr>
        <p:spPr>
          <a:xfrm>
            <a:off x="567000" y="1965960"/>
            <a:ext cx="2468520" cy="45684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42"/>
          <p:cNvSpPr/>
          <p:nvPr/>
        </p:nvSpPr>
        <p:spPr>
          <a:xfrm>
            <a:off x="612720" y="196596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0ac2b"/>
                </a:solidFill>
                <a:latin typeface="Cambria"/>
                <a:ea typeface="Cambria"/>
              </a:rPr>
              <a:t>Height h (cm)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43"/>
          <p:cNvSpPr/>
          <p:nvPr/>
        </p:nvSpPr>
        <p:spPr>
          <a:xfrm>
            <a:off x="3035880" y="1965960"/>
            <a:ext cx="1645560" cy="45684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44"/>
          <p:cNvSpPr/>
          <p:nvPr/>
        </p:nvSpPr>
        <p:spPr>
          <a:xfrm>
            <a:off x="3081600" y="196596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0ac2b"/>
                </a:solidFill>
                <a:latin typeface="Cambria"/>
                <a:ea typeface="Cambria"/>
              </a:rPr>
              <a:t>Freq (f)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45"/>
          <p:cNvSpPr/>
          <p:nvPr/>
        </p:nvSpPr>
        <p:spPr>
          <a:xfrm>
            <a:off x="567000" y="2423160"/>
            <a:ext cx="246852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46"/>
          <p:cNvSpPr/>
          <p:nvPr/>
        </p:nvSpPr>
        <p:spPr>
          <a:xfrm>
            <a:off x="612720" y="2423160"/>
            <a:ext cx="23770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0 &lt; h ≤ 10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47"/>
          <p:cNvSpPr/>
          <p:nvPr/>
        </p:nvSpPr>
        <p:spPr>
          <a:xfrm>
            <a:off x="3035880" y="2423160"/>
            <a:ext cx="164556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48"/>
          <p:cNvSpPr/>
          <p:nvPr/>
        </p:nvSpPr>
        <p:spPr>
          <a:xfrm>
            <a:off x="3081600" y="242316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3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49"/>
          <p:cNvSpPr/>
          <p:nvPr/>
        </p:nvSpPr>
        <p:spPr>
          <a:xfrm>
            <a:off x="567000" y="2843640"/>
            <a:ext cx="246852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50"/>
          <p:cNvSpPr/>
          <p:nvPr/>
        </p:nvSpPr>
        <p:spPr>
          <a:xfrm>
            <a:off x="612720" y="2843640"/>
            <a:ext cx="23770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10 &lt; h ≤ 20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51"/>
          <p:cNvSpPr/>
          <p:nvPr/>
        </p:nvSpPr>
        <p:spPr>
          <a:xfrm>
            <a:off x="3035880" y="2843640"/>
            <a:ext cx="164556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52"/>
          <p:cNvSpPr/>
          <p:nvPr/>
        </p:nvSpPr>
        <p:spPr>
          <a:xfrm>
            <a:off x="3081600" y="284364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7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53"/>
          <p:cNvSpPr/>
          <p:nvPr/>
        </p:nvSpPr>
        <p:spPr>
          <a:xfrm>
            <a:off x="567000" y="3264480"/>
            <a:ext cx="246852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54"/>
          <p:cNvSpPr/>
          <p:nvPr/>
        </p:nvSpPr>
        <p:spPr>
          <a:xfrm>
            <a:off x="612720" y="3264480"/>
            <a:ext cx="23770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20 &lt; h ≤ 30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55"/>
          <p:cNvSpPr/>
          <p:nvPr/>
        </p:nvSpPr>
        <p:spPr>
          <a:xfrm>
            <a:off x="3035880" y="3264480"/>
            <a:ext cx="164556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56"/>
          <p:cNvSpPr/>
          <p:nvPr/>
        </p:nvSpPr>
        <p:spPr>
          <a:xfrm>
            <a:off x="3081600" y="326448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6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57"/>
          <p:cNvSpPr/>
          <p:nvPr/>
        </p:nvSpPr>
        <p:spPr>
          <a:xfrm>
            <a:off x="567000" y="3684960"/>
            <a:ext cx="246852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58"/>
          <p:cNvSpPr/>
          <p:nvPr/>
        </p:nvSpPr>
        <p:spPr>
          <a:xfrm>
            <a:off x="612720" y="3684960"/>
            <a:ext cx="23770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30 &lt; h ≤ 40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59"/>
          <p:cNvSpPr/>
          <p:nvPr/>
        </p:nvSpPr>
        <p:spPr>
          <a:xfrm>
            <a:off x="3035880" y="3684960"/>
            <a:ext cx="164556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60"/>
          <p:cNvSpPr/>
          <p:nvPr/>
        </p:nvSpPr>
        <p:spPr>
          <a:xfrm>
            <a:off x="3081600" y="368496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4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61"/>
          <p:cNvSpPr/>
          <p:nvPr/>
        </p:nvSpPr>
        <p:spPr>
          <a:xfrm>
            <a:off x="5212080" y="1965960"/>
            <a:ext cx="6418800" cy="3565800"/>
          </a:xfrm>
          <a:prstGeom prst="roundRect">
            <a:avLst>
              <a:gd name="adj" fmla="val 1538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62"/>
          <p:cNvSpPr/>
          <p:nvPr/>
        </p:nvSpPr>
        <p:spPr>
          <a:xfrm>
            <a:off x="5577840" y="2203560"/>
            <a:ext cx="5687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Reading the classes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63"/>
          <p:cNvSpPr/>
          <p:nvPr/>
        </p:nvSpPr>
        <p:spPr>
          <a:xfrm>
            <a:off x="5532120" y="2697480"/>
            <a:ext cx="576036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50" spc="-1" strike="noStrike">
                <a:solidFill>
                  <a:srgbClr val="c84f2f"/>
                </a:solidFill>
                <a:latin typeface="Cambria"/>
                <a:ea typeface="Cambria"/>
              </a:rPr>
              <a:t>MODAL CLASS = 10 &lt; h ≤ 20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5c6b60"/>
                </a:solidFill>
                <a:latin typeface="Cambria"/>
                <a:ea typeface="Cambria"/>
              </a:rPr>
              <a:t>the class with the highest frequency (7).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50" spc="-1" strike="noStrike">
                <a:solidFill>
                  <a:srgbClr val="c84f2f"/>
                </a:solidFill>
                <a:latin typeface="Cambria"/>
                <a:ea typeface="Cambria"/>
              </a:rPr>
              <a:t>MEDIAN CLASS = 20 &lt; h ≤ 30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c6b60"/>
                </a:solidFill>
                <a:latin typeface="Cambria"/>
                <a:ea typeface="Cambria"/>
              </a:rPr>
              <a:t>the 10.5th value falls here (running totals 3, 10, 16, 20).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64"/>
          <p:cNvSpPr/>
          <p:nvPr/>
        </p:nvSpPr>
        <p:spPr>
          <a:xfrm>
            <a:off x="567000" y="5669280"/>
            <a:ext cx="11063880" cy="685440"/>
          </a:xfrm>
          <a:prstGeom prst="roundRect">
            <a:avLst>
              <a:gd name="adj" fmla="val 8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65"/>
          <p:cNvSpPr/>
          <p:nvPr/>
        </p:nvSpPr>
        <p:spPr>
          <a:xfrm>
            <a:off x="841320" y="56692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You give the CLASS, not a single value — e.g. ‘the modal class is 10 &lt; h ≤ 20’.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GROUPED TABLE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Estimated Mean — Use Midpoints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39"/>
          <p:cNvSpPr/>
          <p:nvPr/>
        </p:nvSpPr>
        <p:spPr>
          <a:xfrm>
            <a:off x="567000" y="128016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40"/>
          <p:cNvSpPr/>
          <p:nvPr/>
        </p:nvSpPr>
        <p:spPr>
          <a:xfrm>
            <a:off x="887040" y="128016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We do not know exact values, so use the MIDPOINT of each class as x.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41"/>
          <p:cNvSpPr/>
          <p:nvPr/>
        </p:nvSpPr>
        <p:spPr>
          <a:xfrm>
            <a:off x="567000" y="1920240"/>
            <a:ext cx="2285640" cy="45684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42"/>
          <p:cNvSpPr/>
          <p:nvPr/>
        </p:nvSpPr>
        <p:spPr>
          <a:xfrm>
            <a:off x="612720" y="192024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0ac2b"/>
                </a:solidFill>
                <a:latin typeface="Cambria"/>
                <a:ea typeface="Cambria"/>
              </a:rPr>
              <a:t>Height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43"/>
          <p:cNvSpPr/>
          <p:nvPr/>
        </p:nvSpPr>
        <p:spPr>
          <a:xfrm>
            <a:off x="2853000" y="1920240"/>
            <a:ext cx="1371240" cy="45684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 44"/>
          <p:cNvSpPr/>
          <p:nvPr/>
        </p:nvSpPr>
        <p:spPr>
          <a:xfrm>
            <a:off x="2898720" y="1920240"/>
            <a:ext cx="1279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0ac2b"/>
                </a:solidFill>
                <a:latin typeface="Cambria"/>
                <a:ea typeface="Cambria"/>
              </a:rPr>
              <a:t>f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45"/>
          <p:cNvSpPr/>
          <p:nvPr/>
        </p:nvSpPr>
        <p:spPr>
          <a:xfrm>
            <a:off x="4224600" y="1920240"/>
            <a:ext cx="1279800" cy="45684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 46"/>
          <p:cNvSpPr/>
          <p:nvPr/>
        </p:nvSpPr>
        <p:spPr>
          <a:xfrm>
            <a:off x="4270320" y="1920240"/>
            <a:ext cx="118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0ac2b"/>
                </a:solidFill>
                <a:latin typeface="Cambria"/>
                <a:ea typeface="Cambria"/>
              </a:rPr>
              <a:t>mid x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47"/>
          <p:cNvSpPr/>
          <p:nvPr/>
        </p:nvSpPr>
        <p:spPr>
          <a:xfrm>
            <a:off x="5504760" y="1920240"/>
            <a:ext cx="1371240" cy="45684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Text 48"/>
          <p:cNvSpPr/>
          <p:nvPr/>
        </p:nvSpPr>
        <p:spPr>
          <a:xfrm>
            <a:off x="5550480" y="1920240"/>
            <a:ext cx="1279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0ac2b"/>
                </a:solidFill>
                <a:latin typeface="Cambria"/>
                <a:ea typeface="Cambria"/>
              </a:rPr>
              <a:t>f × x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49"/>
          <p:cNvSpPr/>
          <p:nvPr/>
        </p:nvSpPr>
        <p:spPr>
          <a:xfrm>
            <a:off x="567000" y="2377440"/>
            <a:ext cx="228564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 50"/>
          <p:cNvSpPr/>
          <p:nvPr/>
        </p:nvSpPr>
        <p:spPr>
          <a:xfrm>
            <a:off x="612720" y="2377440"/>
            <a:ext cx="2194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0–10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51"/>
          <p:cNvSpPr/>
          <p:nvPr/>
        </p:nvSpPr>
        <p:spPr>
          <a:xfrm>
            <a:off x="2853000" y="2377440"/>
            <a:ext cx="137124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 52"/>
          <p:cNvSpPr/>
          <p:nvPr/>
        </p:nvSpPr>
        <p:spPr>
          <a:xfrm>
            <a:off x="2898720" y="2377440"/>
            <a:ext cx="1279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53"/>
          <p:cNvSpPr/>
          <p:nvPr/>
        </p:nvSpPr>
        <p:spPr>
          <a:xfrm>
            <a:off x="4224600" y="2377440"/>
            <a:ext cx="127980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 54"/>
          <p:cNvSpPr/>
          <p:nvPr/>
        </p:nvSpPr>
        <p:spPr>
          <a:xfrm>
            <a:off x="4270320" y="2377440"/>
            <a:ext cx="1188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55"/>
          <p:cNvSpPr/>
          <p:nvPr/>
        </p:nvSpPr>
        <p:spPr>
          <a:xfrm>
            <a:off x="5504760" y="2377440"/>
            <a:ext cx="137124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 56"/>
          <p:cNvSpPr/>
          <p:nvPr/>
        </p:nvSpPr>
        <p:spPr>
          <a:xfrm>
            <a:off x="5550480" y="2377440"/>
            <a:ext cx="1279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15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57"/>
          <p:cNvSpPr/>
          <p:nvPr/>
        </p:nvSpPr>
        <p:spPr>
          <a:xfrm>
            <a:off x="567000" y="2797920"/>
            <a:ext cx="228564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 58"/>
          <p:cNvSpPr/>
          <p:nvPr/>
        </p:nvSpPr>
        <p:spPr>
          <a:xfrm>
            <a:off x="612720" y="2797920"/>
            <a:ext cx="2194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10–20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59"/>
          <p:cNvSpPr/>
          <p:nvPr/>
        </p:nvSpPr>
        <p:spPr>
          <a:xfrm>
            <a:off x="2853000" y="2797920"/>
            <a:ext cx="137124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 60"/>
          <p:cNvSpPr/>
          <p:nvPr/>
        </p:nvSpPr>
        <p:spPr>
          <a:xfrm>
            <a:off x="2898720" y="2797920"/>
            <a:ext cx="1279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7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61"/>
          <p:cNvSpPr/>
          <p:nvPr/>
        </p:nvSpPr>
        <p:spPr>
          <a:xfrm>
            <a:off x="4224600" y="2797920"/>
            <a:ext cx="127980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 62"/>
          <p:cNvSpPr/>
          <p:nvPr/>
        </p:nvSpPr>
        <p:spPr>
          <a:xfrm>
            <a:off x="4270320" y="2797920"/>
            <a:ext cx="1188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15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63"/>
          <p:cNvSpPr/>
          <p:nvPr/>
        </p:nvSpPr>
        <p:spPr>
          <a:xfrm>
            <a:off x="5504760" y="2797920"/>
            <a:ext cx="137124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64"/>
          <p:cNvSpPr/>
          <p:nvPr/>
        </p:nvSpPr>
        <p:spPr>
          <a:xfrm>
            <a:off x="5550480" y="2797920"/>
            <a:ext cx="1279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105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65"/>
          <p:cNvSpPr/>
          <p:nvPr/>
        </p:nvSpPr>
        <p:spPr>
          <a:xfrm>
            <a:off x="567000" y="3218760"/>
            <a:ext cx="228564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 66"/>
          <p:cNvSpPr/>
          <p:nvPr/>
        </p:nvSpPr>
        <p:spPr>
          <a:xfrm>
            <a:off x="612720" y="3218760"/>
            <a:ext cx="2194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20–30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67"/>
          <p:cNvSpPr/>
          <p:nvPr/>
        </p:nvSpPr>
        <p:spPr>
          <a:xfrm>
            <a:off x="2853000" y="3218760"/>
            <a:ext cx="137124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 68"/>
          <p:cNvSpPr/>
          <p:nvPr/>
        </p:nvSpPr>
        <p:spPr>
          <a:xfrm>
            <a:off x="2898720" y="3218760"/>
            <a:ext cx="1279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69"/>
          <p:cNvSpPr/>
          <p:nvPr/>
        </p:nvSpPr>
        <p:spPr>
          <a:xfrm>
            <a:off x="4224600" y="3218760"/>
            <a:ext cx="127980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 70"/>
          <p:cNvSpPr/>
          <p:nvPr/>
        </p:nvSpPr>
        <p:spPr>
          <a:xfrm>
            <a:off x="4270320" y="3218760"/>
            <a:ext cx="1188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25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71"/>
          <p:cNvSpPr/>
          <p:nvPr/>
        </p:nvSpPr>
        <p:spPr>
          <a:xfrm>
            <a:off x="5504760" y="3218760"/>
            <a:ext cx="137124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72"/>
          <p:cNvSpPr/>
          <p:nvPr/>
        </p:nvSpPr>
        <p:spPr>
          <a:xfrm>
            <a:off x="5550480" y="3218760"/>
            <a:ext cx="1279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150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73"/>
          <p:cNvSpPr/>
          <p:nvPr/>
        </p:nvSpPr>
        <p:spPr>
          <a:xfrm>
            <a:off x="567000" y="3639240"/>
            <a:ext cx="228564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 74"/>
          <p:cNvSpPr/>
          <p:nvPr/>
        </p:nvSpPr>
        <p:spPr>
          <a:xfrm>
            <a:off x="612720" y="3639240"/>
            <a:ext cx="2194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30–40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75"/>
          <p:cNvSpPr/>
          <p:nvPr/>
        </p:nvSpPr>
        <p:spPr>
          <a:xfrm>
            <a:off x="2853000" y="3639240"/>
            <a:ext cx="137124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 76"/>
          <p:cNvSpPr/>
          <p:nvPr/>
        </p:nvSpPr>
        <p:spPr>
          <a:xfrm>
            <a:off x="2898720" y="3639240"/>
            <a:ext cx="1279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77"/>
          <p:cNvSpPr/>
          <p:nvPr/>
        </p:nvSpPr>
        <p:spPr>
          <a:xfrm>
            <a:off x="4224600" y="3639240"/>
            <a:ext cx="127980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78"/>
          <p:cNvSpPr/>
          <p:nvPr/>
        </p:nvSpPr>
        <p:spPr>
          <a:xfrm>
            <a:off x="4270320" y="3639240"/>
            <a:ext cx="1188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35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79"/>
          <p:cNvSpPr/>
          <p:nvPr/>
        </p:nvSpPr>
        <p:spPr>
          <a:xfrm>
            <a:off x="5504760" y="3639240"/>
            <a:ext cx="137124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 80"/>
          <p:cNvSpPr/>
          <p:nvPr/>
        </p:nvSpPr>
        <p:spPr>
          <a:xfrm>
            <a:off x="5550480" y="3639240"/>
            <a:ext cx="1279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140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81"/>
          <p:cNvSpPr/>
          <p:nvPr/>
        </p:nvSpPr>
        <p:spPr>
          <a:xfrm>
            <a:off x="567000" y="3602880"/>
            <a:ext cx="6309000" cy="420120"/>
          </a:xfrm>
          <a:prstGeom prst="rect">
            <a:avLst/>
          </a:prstGeom>
          <a:solidFill>
            <a:srgbClr val="26342b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 82"/>
          <p:cNvSpPr/>
          <p:nvPr/>
        </p:nvSpPr>
        <p:spPr>
          <a:xfrm>
            <a:off x="640080" y="3602880"/>
            <a:ext cx="62175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0ac2b"/>
                </a:solidFill>
                <a:latin typeface="Cambria"/>
                <a:ea typeface="Cambria"/>
              </a:rPr>
              <a:t>Totals:   Σf = 20      Σfx = 410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83"/>
          <p:cNvSpPr/>
          <p:nvPr/>
        </p:nvSpPr>
        <p:spPr>
          <a:xfrm>
            <a:off x="7223760" y="1920240"/>
            <a:ext cx="4407120" cy="3382920"/>
          </a:xfrm>
          <a:prstGeom prst="roundRect">
            <a:avLst>
              <a:gd name="adj" fmla="val 1622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 84"/>
          <p:cNvSpPr/>
          <p:nvPr/>
        </p:nvSpPr>
        <p:spPr>
          <a:xfrm>
            <a:off x="7589520" y="2157840"/>
            <a:ext cx="3675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Estimated mean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 85"/>
          <p:cNvSpPr/>
          <p:nvPr/>
        </p:nvSpPr>
        <p:spPr>
          <a:xfrm>
            <a:off x="7498080" y="2788920"/>
            <a:ext cx="15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mean ≈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 86"/>
          <p:cNvSpPr/>
          <p:nvPr/>
        </p:nvSpPr>
        <p:spPr>
          <a:xfrm>
            <a:off x="9098280" y="275220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410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87"/>
          <p:cNvSpPr/>
          <p:nvPr/>
        </p:nvSpPr>
        <p:spPr>
          <a:xfrm>
            <a:off x="9098280" y="3063240"/>
            <a:ext cx="1371600" cy="3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 88"/>
          <p:cNvSpPr/>
          <p:nvPr/>
        </p:nvSpPr>
        <p:spPr>
          <a:xfrm>
            <a:off x="9098280" y="309996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20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 89"/>
          <p:cNvSpPr/>
          <p:nvPr/>
        </p:nvSpPr>
        <p:spPr>
          <a:xfrm>
            <a:off x="7498080" y="3840480"/>
            <a:ext cx="3931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= </a:t>
            </a: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20.5 cm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90"/>
          <p:cNvSpPr/>
          <p:nvPr/>
        </p:nvSpPr>
        <p:spPr>
          <a:xfrm>
            <a:off x="7315200" y="4572000"/>
            <a:ext cx="4205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c6b60"/>
                </a:solidFill>
                <a:latin typeface="Calibri"/>
                <a:ea typeface="Calibri"/>
              </a:rPr>
              <a:t>It is an ESTIMATE — midpoints are assumed.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91"/>
          <p:cNvSpPr/>
          <p:nvPr/>
        </p:nvSpPr>
        <p:spPr>
          <a:xfrm>
            <a:off x="567000" y="5669280"/>
            <a:ext cx="11063880" cy="685440"/>
          </a:xfrm>
          <a:prstGeom prst="roundRect">
            <a:avLst>
              <a:gd name="adj" fmla="val 8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Text 92"/>
          <p:cNvSpPr/>
          <p:nvPr/>
        </p:nvSpPr>
        <p:spPr>
          <a:xfrm>
            <a:off x="841320" y="56692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Estimated mean = Σfx ÷ Σf with x = the midpoint of each class = 410 ÷ 20 = 20.5.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2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Past-Paper Questions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Add an fx column, total it, then divide by Σf — use midpoints if grouped.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Mode / modal class = highest f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Mean = Σfx ÷ Σf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Grouped → use midpoints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Median: use running totals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Shape 39"/>
          <p:cNvSpPr/>
          <p:nvPr/>
        </p:nvSpPr>
        <p:spPr>
          <a:xfrm>
            <a:off x="1587960" y="1408320"/>
            <a:ext cx="9015480" cy="384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9" name="Image 0" descr="/tmp/work/ftq/q-20.png"/>
          <p:cNvPicPr/>
          <p:nvPr/>
        </p:nvPicPr>
        <p:blipFill>
          <a:blip r:embed="rId1"/>
          <a:stretch/>
        </p:blipFill>
        <p:spPr>
          <a:xfrm>
            <a:off x="1661040" y="1481400"/>
            <a:ext cx="8869320" cy="3696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Shape 39"/>
          <p:cNvSpPr/>
          <p:nvPr/>
        </p:nvSpPr>
        <p:spPr>
          <a:xfrm>
            <a:off x="1587960" y="1408320"/>
            <a:ext cx="9015480" cy="453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0" name="Image 0" descr="/tmp/work/ftq/q-21.png"/>
          <p:cNvPicPr/>
          <p:nvPr/>
        </p:nvPicPr>
        <p:blipFill>
          <a:blip r:embed="rId1"/>
          <a:stretch/>
        </p:blipFill>
        <p:spPr>
          <a:xfrm>
            <a:off x="1661040" y="1481400"/>
            <a:ext cx="8869320" cy="4385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39"/>
          <p:cNvSpPr/>
          <p:nvPr/>
        </p:nvSpPr>
        <p:spPr>
          <a:xfrm>
            <a:off x="1587960" y="1408320"/>
            <a:ext cx="9015480" cy="4533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1" name="Image 0" descr="/tmp/work/ftq/q-22.png"/>
          <p:cNvPicPr/>
          <p:nvPr/>
        </p:nvPicPr>
        <p:blipFill>
          <a:blip r:embed="rId1"/>
          <a:stretch/>
        </p:blipFill>
        <p:spPr>
          <a:xfrm>
            <a:off x="1661040" y="1481400"/>
            <a:ext cx="8869320" cy="438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4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39"/>
          <p:cNvSpPr/>
          <p:nvPr/>
        </p:nvSpPr>
        <p:spPr>
          <a:xfrm>
            <a:off x="1587960" y="1408320"/>
            <a:ext cx="9015480" cy="42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2" name="Image 0" descr="/tmp/work/ftq/q-23.png"/>
          <p:cNvPicPr/>
          <p:nvPr/>
        </p:nvPicPr>
        <p:blipFill>
          <a:blip r:embed="rId1"/>
          <a:stretch/>
        </p:blipFill>
        <p:spPr>
          <a:xfrm>
            <a:off x="1661040" y="1481400"/>
            <a:ext cx="8869320" cy="4111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5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Shape 39"/>
          <p:cNvSpPr/>
          <p:nvPr/>
        </p:nvSpPr>
        <p:spPr>
          <a:xfrm>
            <a:off x="2586600" y="1408320"/>
            <a:ext cx="701856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3" name="Image 0" descr="/tmp/work/ftq/q-24.png"/>
          <p:cNvPicPr/>
          <p:nvPr/>
        </p:nvPicPr>
        <p:blipFill>
          <a:blip r:embed="rId1"/>
          <a:stretch/>
        </p:blipFill>
        <p:spPr>
          <a:xfrm>
            <a:off x="2659680" y="1481400"/>
            <a:ext cx="687204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9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0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1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2" name="Text 38"/>
          <p:cNvSpPr/>
          <p:nvPr/>
        </p:nvSpPr>
        <p:spPr>
          <a:xfrm>
            <a:off x="777240" y="13716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3" name="Shape 39"/>
          <p:cNvSpPr/>
          <p:nvPr/>
        </p:nvSpPr>
        <p:spPr>
          <a:xfrm>
            <a:off x="868680" y="236844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4" name="Text 40"/>
          <p:cNvSpPr/>
          <p:nvPr/>
        </p:nvSpPr>
        <p:spPr>
          <a:xfrm>
            <a:off x="1234440" y="2331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In a frequency table, add an fx column (value × frequency).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5" name="Shape 41"/>
          <p:cNvSpPr/>
          <p:nvPr/>
        </p:nvSpPr>
        <p:spPr>
          <a:xfrm>
            <a:off x="868680" y="2935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6" name="Text 42"/>
          <p:cNvSpPr/>
          <p:nvPr/>
        </p:nvSpPr>
        <p:spPr>
          <a:xfrm>
            <a:off x="1234440" y="2898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Mean = Σfx ÷ Σf — the total of fx divided by the total frequency.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7" name="Shape 43"/>
          <p:cNvSpPr/>
          <p:nvPr/>
        </p:nvSpPr>
        <p:spPr>
          <a:xfrm>
            <a:off x="868680" y="3502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8" name="Text 44"/>
          <p:cNvSpPr/>
          <p:nvPr/>
        </p:nvSpPr>
        <p:spPr>
          <a:xfrm>
            <a:off x="1234440" y="3465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Mode = the value (or class) with the highest frequency.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9" name="Shape 45"/>
          <p:cNvSpPr/>
          <p:nvPr/>
        </p:nvSpPr>
        <p:spPr>
          <a:xfrm>
            <a:off x="868680" y="4069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0" name="Text 46"/>
          <p:cNvSpPr/>
          <p:nvPr/>
        </p:nvSpPr>
        <p:spPr>
          <a:xfrm>
            <a:off x="1234440" y="4032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Grouped data: give the MODAL CLASS and MEDIAN CLASS, not single values.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1" name="Shape 47"/>
          <p:cNvSpPr/>
          <p:nvPr/>
        </p:nvSpPr>
        <p:spPr>
          <a:xfrm>
            <a:off x="868680" y="4636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2" name="Text 48"/>
          <p:cNvSpPr/>
          <p:nvPr/>
        </p:nvSpPr>
        <p:spPr>
          <a:xfrm>
            <a:off x="1234440" y="4599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Estimated mean of grouped data uses the MIDPOINT of each class as x.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3" name="Shape 49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4" name="Text 50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Golden rule:  </a:t>
            </a:r>
            <a:r>
              <a:rPr b="0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mean from a table is always Σfx ÷ Σf — weight every value by its frequency.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2026-07-17T10:47:11Z</dcterms:created>
  <dc:creator>Zahra Sheikh Ali</dc:creator>
  <dc:description/>
  <dc:language>en-US</dc:language>
  <cp:lastModifiedBy>Zahra Sheikh Ali</cp:lastModifiedBy>
  <dcterms:modified xsi:type="dcterms:W3CDTF">2026-07-17T10:47:11Z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13</vt:r8>
  </property>
  <property fmtid="{D5CDD505-2E9C-101B-9397-08002B2CF9AE}" pid="3" name="PresentationFormat">
    <vt:lpwstr>On-screen Show (16:9)</vt:lpwstr>
  </property>
  <property fmtid="{D5CDD505-2E9C-101B-9397-08002B2CF9AE}" pid="4" name="Slides">
    <vt:r8>13</vt:r8>
  </property>
</Properties>
</file>