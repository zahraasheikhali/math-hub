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869680" y="868680"/>
            <a:ext cx="2377440" cy="1554480"/>
          </a:xfrm>
          <a:prstGeom prst="rect">
            <a:avLst/>
          </a:prstGeom>
          <a:ln w="38100">
            <a:solidFill>
              <a:srgbClr val="33463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869680" y="1389888"/>
            <a:ext cx="2377440" cy="0"/>
          </a:xfrm>
          <a:prstGeom prst="line">
            <a:avLst/>
          </a:prstGeom>
          <a:noFill/>
          <a:ln w="25400">
            <a:solidFill>
              <a:srgbClr val="33463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665208" y="868680"/>
            <a:ext cx="0" cy="1554480"/>
          </a:xfrm>
          <a:prstGeom prst="line">
            <a:avLst/>
          </a:prstGeom>
          <a:noFill/>
          <a:ln w="25400">
            <a:solidFill>
              <a:srgbClr val="33463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41" name="Text 39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2160" dirty="0"/>
          </a:p>
        </p:txBody>
      </p:sp>
      <p:sp>
        <p:nvSpPr>
          <p:cNvPr id="42" name="Text 40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Averages from a Table</a:t>
            </a:r>
            <a:endParaRPr lang="en-US" sz="3400" dirty="0"/>
          </a:p>
        </p:txBody>
      </p:sp>
      <p:sp>
        <p:nvSpPr>
          <p:cNvPr id="45" name="Text 43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Ungrouped &amp; Grouped Frequency Tables · Modal Class · Median Class · Estimated Mean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</a:t>
            </a:r>
            <a:pPr indent="0" marL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Averages from Frequency Tables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frequency table records how OFTEN each value (or class) occurs. </a:t>
            </a:r>
            <a:pPr algn="l" indent="0" marL="0">
              <a:buNone/>
            </a:pP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averages are the same idea as before — you just use the frequencies, with an extra fx column for the mean.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a frequency table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 &amp; median from a table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Mean: Σfx ÷ Σf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Grouped: modal class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Grouped: estimated mean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pPr algn="ctr" indent="0" marL="0"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· Σfx ÷ Σf · modal class · median class · midpoint · estimated mean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UNGROUPED TABLE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Mode, Median &amp; Mean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pets owned by 20 people. Add an fx column to find the mean.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1965960"/>
            <a:ext cx="1828800" cy="45720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4" name="Text 42"/>
          <p:cNvSpPr/>
          <p:nvPr/>
        </p:nvSpPr>
        <p:spPr>
          <a:xfrm>
            <a:off x="612648" y="1965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Pets (x)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395728" y="1965960"/>
            <a:ext cx="1828800" cy="45720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6" name="Text 44"/>
          <p:cNvSpPr/>
          <p:nvPr/>
        </p:nvSpPr>
        <p:spPr>
          <a:xfrm>
            <a:off x="2441448" y="1965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 (f)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224528" y="1965960"/>
            <a:ext cx="1828800" cy="45720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8" name="Text 46"/>
          <p:cNvSpPr/>
          <p:nvPr/>
        </p:nvSpPr>
        <p:spPr>
          <a:xfrm>
            <a:off x="4270248" y="1965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 × x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66928" y="2423160"/>
            <a:ext cx="182880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2648" y="242316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395728" y="2423160"/>
            <a:ext cx="182880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41448" y="242316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4224528" y="2423160"/>
            <a:ext cx="182880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270248" y="242316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66928" y="2843784"/>
            <a:ext cx="182880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2648" y="284378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2395728" y="2843784"/>
            <a:ext cx="182880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441448" y="284378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4224528" y="2843784"/>
            <a:ext cx="182880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270248" y="284378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566928" y="3264408"/>
            <a:ext cx="182880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12648" y="326440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395728" y="3264408"/>
            <a:ext cx="182880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441448" y="326440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4224528" y="3264408"/>
            <a:ext cx="182880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270248" y="326440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566928" y="3685032"/>
            <a:ext cx="182880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2648" y="368503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395728" y="3685032"/>
            <a:ext cx="182880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441448" y="368503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4224528" y="3685032"/>
            <a:ext cx="182880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270248" y="368503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566928" y="3657600"/>
            <a:ext cx="5486400" cy="420624"/>
          </a:xfrm>
          <a:prstGeom prst="rect">
            <a:avLst/>
          </a:prstGeom>
          <a:solidFill>
            <a:srgbClr val="26342B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0080" y="3657600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Totals:      Σf = 20        Σfx = 25</a:t>
            </a:r>
            <a:endParaRPr lang="en-US" sz="1250" dirty="0"/>
          </a:p>
        </p:txBody>
      </p:sp>
      <p:sp>
        <p:nvSpPr>
          <p:cNvPr id="75" name="Shape 73"/>
          <p:cNvSpPr/>
          <p:nvPr/>
        </p:nvSpPr>
        <p:spPr>
          <a:xfrm>
            <a:off x="6400800" y="1965960"/>
            <a:ext cx="5230368" cy="3566160"/>
          </a:xfrm>
          <a:prstGeom prst="roundRect">
            <a:avLst>
              <a:gd name="adj" fmla="val 1538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76" name="Text 74"/>
          <p:cNvSpPr/>
          <p:nvPr/>
        </p:nvSpPr>
        <p:spPr>
          <a:xfrm>
            <a:off x="6766560" y="2203704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averages</a:t>
            </a:r>
            <a:endParaRPr lang="en-US" sz="1700" dirty="0"/>
          </a:p>
        </p:txBody>
      </p:sp>
      <p:sp>
        <p:nvSpPr>
          <p:cNvPr id="77" name="Text 75"/>
          <p:cNvSpPr/>
          <p:nvPr/>
        </p:nvSpPr>
        <p:spPr>
          <a:xfrm>
            <a:off x="6720840" y="2697480"/>
            <a:ext cx="4663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 = 1  </a:t>
            </a:r>
            <a:pPr indent="0" marL="0">
              <a:buNone/>
            </a:pPr>
            <a:r>
              <a:rPr lang="en-US" sz="120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(highest frequency, 8)</a:t>
            </a:r>
            <a:endParaRPr lang="en-US" sz="1450" dirty="0"/>
          </a:p>
          <a:p>
            <a:pPr indent="0" marL="0">
              <a:spcAft>
                <a:spcPts val="200"/>
              </a:spcAft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 = 1  </a:t>
            </a:r>
            <a:pPr indent="0" marL="0">
              <a:buNone/>
            </a:pPr>
            <a:r>
              <a:rPr lang="en-US" sz="120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(10th &amp; 11th values)</a:t>
            </a:r>
            <a:endParaRPr lang="en-US" sz="1450" dirty="0"/>
          </a:p>
          <a:p>
            <a:pPr indent="0" marL="0">
              <a:spcAft>
                <a:spcPts val="200"/>
              </a:spcAft>
              <a:buNone/>
            </a:pPr>
            <a:endParaRPr lang="en-US" sz="14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 = Σfx ÷ Σf = 25 ÷ 20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   = 1.25</a:t>
            </a:r>
            <a:endParaRPr lang="en-US" sz="1450" dirty="0"/>
          </a:p>
        </p:txBody>
      </p:sp>
      <p:sp>
        <p:nvSpPr>
          <p:cNvPr id="78" name="Shape 76"/>
          <p:cNvSpPr/>
          <p:nvPr/>
        </p:nvSpPr>
        <p:spPr>
          <a:xfrm>
            <a:off x="566928" y="566928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79" name="Text 77"/>
          <p:cNvSpPr/>
          <p:nvPr/>
        </p:nvSpPr>
        <p:spPr>
          <a:xfrm>
            <a:off x="841248" y="56692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 from a table = Σfx ÷ Σf  (total of f×x, divided by total frequency).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MEAN FROM A TABLE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Σfx ÷ Σf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3258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3258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each value by its frequency (fx), add those up, </a:t>
            </a:r>
            <a:pPr algn="l" indent="0" marL="0">
              <a:buNone/>
            </a:pP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divide by the total frequency.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2377440" y="31089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  =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4572000" y="31181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f x</a:t>
            </a:r>
            <a:endParaRPr lang="en-US" sz="2400" dirty="0"/>
          </a:p>
        </p:txBody>
      </p:sp>
      <p:sp>
        <p:nvSpPr>
          <p:cNvPr id="45" name="Shape 43"/>
          <p:cNvSpPr/>
          <p:nvPr/>
        </p:nvSpPr>
        <p:spPr>
          <a:xfrm>
            <a:off x="4572000" y="3429000"/>
            <a:ext cx="2194560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0" y="34655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f</a:t>
            </a:r>
            <a:endParaRPr lang="en-US" sz="2400" dirty="0"/>
          </a:p>
        </p:txBody>
      </p:sp>
      <p:sp>
        <p:nvSpPr>
          <p:cNvPr id="47" name="Text 45"/>
          <p:cNvSpPr/>
          <p:nvPr/>
        </p:nvSpPr>
        <p:spPr>
          <a:xfrm>
            <a:off x="566928" y="4572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 total of (f × x)  ÷  total frequency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841248" y="5303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NOT just add the values and divide — you must weight each by its frequency.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TABLE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Modal Class &amp; Median Class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grouped data we cannot know exact values — so we give a CLASS.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1965960"/>
            <a:ext cx="2468880" cy="45720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4" name="Text 42"/>
          <p:cNvSpPr/>
          <p:nvPr/>
        </p:nvSpPr>
        <p:spPr>
          <a:xfrm>
            <a:off x="612648" y="1965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Height h (cm)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35808" y="1965960"/>
            <a:ext cx="1645920" cy="45720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6" name="Text 44"/>
          <p:cNvSpPr/>
          <p:nvPr/>
        </p:nvSpPr>
        <p:spPr>
          <a:xfrm>
            <a:off x="3081528" y="1965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 (f)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66928" y="2423160"/>
            <a:ext cx="246888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2648" y="242316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&lt; h ≤ 10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3035808" y="2423160"/>
            <a:ext cx="164592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81528" y="242316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566928" y="2843784"/>
            <a:ext cx="246888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2648" y="284378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&lt; h ≤ 20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3035808" y="2843784"/>
            <a:ext cx="164592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081528" y="284378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66928" y="3264408"/>
            <a:ext cx="246888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2648" y="326440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&lt; h ≤ 30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3035808" y="3264408"/>
            <a:ext cx="164592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081528" y="326440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566928" y="3685032"/>
            <a:ext cx="246888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2648" y="368503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&lt; h ≤ 40</a:t>
            </a:r>
            <a:endParaRPr lang="en-US" sz="1250" dirty="0"/>
          </a:p>
        </p:txBody>
      </p:sp>
      <p:sp>
        <p:nvSpPr>
          <p:cNvPr id="61" name="Shape 59"/>
          <p:cNvSpPr/>
          <p:nvPr/>
        </p:nvSpPr>
        <p:spPr>
          <a:xfrm>
            <a:off x="3035808" y="3685032"/>
            <a:ext cx="164592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081528" y="368503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5212080" y="1965960"/>
            <a:ext cx="6419088" cy="3566160"/>
          </a:xfrm>
          <a:prstGeom prst="roundRect">
            <a:avLst>
              <a:gd name="adj" fmla="val 1538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5577840" y="2203704"/>
            <a:ext cx="5687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classes</a:t>
            </a:r>
            <a:endParaRPr lang="en-US" sz="1700" dirty="0"/>
          </a:p>
        </p:txBody>
      </p:sp>
      <p:sp>
        <p:nvSpPr>
          <p:cNvPr id="65" name="Text 63"/>
          <p:cNvSpPr/>
          <p:nvPr/>
        </p:nvSpPr>
        <p:spPr>
          <a:xfrm>
            <a:off x="5532120" y="2697480"/>
            <a:ext cx="5760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MODAL CLASS = 10 &lt; h ≤ 20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class with the highest frequency (7).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 CLASS = 20 &lt; h ≤ 30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10.5th value falls here (running totals 3, 10, 16, 20).</a:t>
            </a:r>
            <a:endParaRPr lang="en-US" sz="1450" dirty="0"/>
          </a:p>
        </p:txBody>
      </p:sp>
      <p:sp>
        <p:nvSpPr>
          <p:cNvPr id="66" name="Shape 64"/>
          <p:cNvSpPr/>
          <p:nvPr/>
        </p:nvSpPr>
        <p:spPr>
          <a:xfrm>
            <a:off x="566928" y="566928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841248" y="56692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give the CLASS, not a single value — e.g. ‘the modal class is 10 &lt; h ≤ 20’.</a:t>
            </a:r>
            <a:endParaRPr lang="en-US" sz="2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TABLE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Estimated Mean — Use Midpoints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8016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know exact values, so use the MIDPOINT of each class as x.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1920240"/>
            <a:ext cx="2286000" cy="45720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4" name="Text 42"/>
          <p:cNvSpPr/>
          <p:nvPr/>
        </p:nvSpPr>
        <p:spPr>
          <a:xfrm>
            <a:off x="612648" y="1920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Height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2852928" y="1920240"/>
            <a:ext cx="1371600" cy="45720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6" name="Text 44"/>
          <p:cNvSpPr/>
          <p:nvPr/>
        </p:nvSpPr>
        <p:spPr>
          <a:xfrm>
            <a:off x="2898648" y="19202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224528" y="1920240"/>
            <a:ext cx="1280160" cy="45720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48" name="Text 46"/>
          <p:cNvSpPr/>
          <p:nvPr/>
        </p:nvSpPr>
        <p:spPr>
          <a:xfrm>
            <a:off x="4270248" y="19202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 x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5504688" y="1920240"/>
            <a:ext cx="1371600" cy="457200"/>
          </a:xfrm>
          <a:prstGeom prst="rect">
            <a:avLst/>
          </a:prstGeom>
          <a:solidFill>
            <a:srgbClr val="16261F"/>
          </a:solidFill>
          <a:ln/>
        </p:spPr>
      </p:sp>
      <p:sp>
        <p:nvSpPr>
          <p:cNvPr id="50" name="Text 48"/>
          <p:cNvSpPr/>
          <p:nvPr/>
        </p:nvSpPr>
        <p:spPr>
          <a:xfrm>
            <a:off x="5550408" y="19202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 × x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66928" y="2377440"/>
            <a:ext cx="228600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2648" y="237744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0–10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852928" y="2377440"/>
            <a:ext cx="137160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98648" y="237744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4224528" y="2377440"/>
            <a:ext cx="128016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70248" y="237744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504688" y="2377440"/>
            <a:ext cx="137160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50408" y="237744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566928" y="2798064"/>
            <a:ext cx="228600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2648" y="279806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10–20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852928" y="2798064"/>
            <a:ext cx="137160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898648" y="2798064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4224528" y="2798064"/>
            <a:ext cx="128016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270248" y="2798064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04688" y="2798064"/>
            <a:ext cx="137160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50408" y="2798064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105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66928" y="3218688"/>
            <a:ext cx="228600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2648" y="32186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20–30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852928" y="3218688"/>
            <a:ext cx="137160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898648" y="3218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4224528" y="3218688"/>
            <a:ext cx="128016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270248" y="321868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5504688" y="3218688"/>
            <a:ext cx="1371600" cy="420624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550408" y="3218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566928" y="3639312"/>
            <a:ext cx="228600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2648" y="363931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30–40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852928" y="3639312"/>
            <a:ext cx="137160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898648" y="3639312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4224528" y="3639312"/>
            <a:ext cx="128016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270248" y="363931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504688" y="3639312"/>
            <a:ext cx="1371600" cy="420624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550408" y="3639312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566928" y="3602736"/>
            <a:ext cx="6309360" cy="420624"/>
          </a:xfrm>
          <a:prstGeom prst="rect">
            <a:avLst/>
          </a:prstGeom>
          <a:solidFill>
            <a:srgbClr val="26342B"/>
          </a:solidFill>
          <a:ln w="12700">
            <a:solidFill>
              <a:srgbClr val="E4E2D6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40080" y="3602736"/>
            <a:ext cx="6217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Totals:   Σf = 20      Σfx = 410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3760" y="1920240"/>
            <a:ext cx="4407408" cy="3383280"/>
          </a:xfrm>
          <a:prstGeom prst="roundRect">
            <a:avLst>
              <a:gd name="adj" fmla="val 1622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86" name="Text 84"/>
          <p:cNvSpPr/>
          <p:nvPr/>
        </p:nvSpPr>
        <p:spPr>
          <a:xfrm>
            <a:off x="7589520" y="2157984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Estimated mean</a:t>
            </a:r>
            <a:endParaRPr lang="en-US" sz="1700" dirty="0"/>
          </a:p>
        </p:txBody>
      </p:sp>
      <p:sp>
        <p:nvSpPr>
          <p:cNvPr id="87" name="Text 85"/>
          <p:cNvSpPr/>
          <p:nvPr/>
        </p:nvSpPr>
        <p:spPr>
          <a:xfrm>
            <a:off x="7498080" y="27889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 ≈</a:t>
            </a:r>
            <a:endParaRPr lang="en-US" sz="1600" dirty="0"/>
          </a:p>
        </p:txBody>
      </p:sp>
      <p:sp>
        <p:nvSpPr>
          <p:cNvPr id="88" name="Text 86"/>
          <p:cNvSpPr/>
          <p:nvPr/>
        </p:nvSpPr>
        <p:spPr>
          <a:xfrm>
            <a:off x="9098280" y="27523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410</a:t>
            </a:r>
            <a:endParaRPr lang="en-US" sz="1700" dirty="0"/>
          </a:p>
        </p:txBody>
      </p:sp>
      <p:sp>
        <p:nvSpPr>
          <p:cNvPr id="89" name="Shape 87"/>
          <p:cNvSpPr/>
          <p:nvPr/>
        </p:nvSpPr>
        <p:spPr>
          <a:xfrm>
            <a:off x="9098280" y="3063240"/>
            <a:ext cx="1371600" cy="0"/>
          </a:xfrm>
          <a:prstGeom prst="line">
            <a:avLst/>
          </a:prstGeom>
          <a:noFill/>
          <a:ln w="20320">
            <a:solidFill>
              <a:srgbClr val="C84F2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098280" y="30998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700" dirty="0"/>
          </a:p>
        </p:txBody>
      </p:sp>
      <p:sp>
        <p:nvSpPr>
          <p:cNvPr id="91" name="Text 89"/>
          <p:cNvSpPr/>
          <p:nvPr/>
        </p:nvSpPr>
        <p:spPr>
          <a:xfrm>
            <a:off x="7498080" y="38404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</a:t>
            </a:r>
            <a:pPr indent="0" marL="0">
              <a:buNone/>
            </a:pPr>
            <a:r>
              <a:rPr lang="en-US" sz="17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20.5 cm</a:t>
            </a:r>
            <a:endParaRPr lang="en-US" sz="1700" dirty="0"/>
          </a:p>
        </p:txBody>
      </p:sp>
      <p:sp>
        <p:nvSpPr>
          <p:cNvPr id="92" name="Text 90"/>
          <p:cNvSpPr/>
          <p:nvPr/>
        </p:nvSpPr>
        <p:spPr>
          <a:xfrm>
            <a:off x="7315200" y="45720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an ESTIMATE — midpoints are assumed.</a:t>
            </a:r>
            <a:endParaRPr lang="en-US" sz="1150" dirty="0"/>
          </a:p>
        </p:txBody>
      </p:sp>
      <p:sp>
        <p:nvSpPr>
          <p:cNvPr id="93" name="Shape 91"/>
          <p:cNvSpPr/>
          <p:nvPr/>
        </p:nvSpPr>
        <p:spPr>
          <a:xfrm>
            <a:off x="566928" y="566928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94" name="Text 92"/>
          <p:cNvSpPr/>
          <p:nvPr/>
        </p:nvSpPr>
        <p:spPr>
          <a:xfrm>
            <a:off x="841248" y="56692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Estimated mean = Σfx ÷ Σf with x = the midpoint of each class = 410 ÷ 20 = 20.5.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an fx column, total it, then divide by Σf — use midpoints if grouped.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 / modal class = highest f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 = Σfx ÷ Σf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Grouped → use midpoints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Median: use running totals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384315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ftq/q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1008" y="1481328"/>
            <a:ext cx="8869680" cy="36968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453224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ftq/q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1008" y="1481328"/>
            <a:ext cx="8869680" cy="43859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453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ftq/q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1008" y="1481328"/>
            <a:ext cx="8869680" cy="43878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87856" y="1408176"/>
            <a:ext cx="9015984" cy="4258495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ftq/q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1008" y="1481328"/>
            <a:ext cx="8869680" cy="411219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586443" y="1408176"/>
            <a:ext cx="7018809" cy="52212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42" name="Image 0" descr="/tmp/work/ftq/q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9595" y="1481328"/>
            <a:ext cx="6872505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frequency table, add an fx column (value × frequency).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= Σfx ÷ Σf — the total of fx divided by the total frequency.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= the value (or class) with the highest frequency.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data: give the MODAL CLASS and MEDIAN CLASS, not single values.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mean of grouped data uses the MIDPOINT of each class as x.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pPr algn="ctr" indent="0" marL="0">
              <a:buNone/>
            </a:pP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 from a table is always Σfx ÷ Σf — weight every value by its frequency.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 Sheikh Ali</cp:lastModifiedBy>
  <cp:revision>1</cp:revision>
  <dcterms:created xsi:type="dcterms:W3CDTF">2026-07-17T10:47:11Z</dcterms:created>
  <dcterms:modified xsi:type="dcterms:W3CDTF">2026-07-17T10:47:11Z</dcterms:modified>
</cp:coreProperties>
</file>