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wmf" ContentType="image/x-wmf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124DBA4-B22E-47BF-838E-2149ABEB728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F2F193-B8C5-4419-ACE6-EDB019C8D4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17FEE3-51B2-42A3-B0EF-7E4F52DF6C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3B108E-4B63-42AF-B1DE-73EB780CCD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92BA72-36B6-4492-8581-A4CF8FFBFB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B2B992-A166-408F-9B5C-F9088BCAD9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8F0830-5730-4108-A2CD-DBB2296910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3A410E-974A-46AA-8753-840222A536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CEFD08-9218-423C-BFA9-EFAC51541F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D801E6-2273-487D-A085-C50384D0259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47F728-C096-42F4-B202-1D6AF16805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1E212C-7551-4F28-A8B5-723531F5B56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E9D582-5F64-4C72-9159-5213F5DE81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0DD5ED-F5F0-4D99-B495-6C7661434C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F24E69-177E-4256-BCDF-D36FD19857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6A901B-29B6-4C90-A4A9-08F8EAB9A3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C4498B-327E-4A7E-B80F-CC062D60D9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49047C-F8D7-4836-A92B-A59ECB1FC0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8CD8F9-99C9-41CE-B164-D553D4D30D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D51722-B480-4AE7-A430-F808F3C78D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778240" y="914400"/>
            <a:ext cx="360" cy="1554480"/>
          </a:xfrm>
          <a:prstGeom prst="line">
            <a:avLst/>
          </a:prstGeom>
          <a:ln w="15240">
            <a:solidFill>
              <a:srgbClr val="5c6b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8778240" y="2468880"/>
            <a:ext cx="2651760" cy="360"/>
          </a:xfrm>
          <a:prstGeom prst="line">
            <a:avLst/>
          </a:prstGeom>
          <a:ln w="15240">
            <a:solidFill>
              <a:srgbClr val="5c6b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8778240" y="2180880"/>
            <a:ext cx="883440" cy="287640"/>
          </a:xfrm>
          <a:prstGeom prst="rect">
            <a:avLst/>
          </a:prstGeom>
          <a:solidFill>
            <a:srgbClr val="eef1e8">
              <a:alpha val="92000"/>
            </a:srgbClr>
          </a:solidFill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9662040" y="1547640"/>
            <a:ext cx="441720" cy="920880"/>
          </a:xfrm>
          <a:prstGeom prst="rect">
            <a:avLst/>
          </a:prstGeom>
          <a:solidFill>
            <a:srgbClr val="fbf3dd">
              <a:alpha val="92000"/>
            </a:srgbClr>
          </a:solidFill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39"/>
          <p:cNvSpPr/>
          <p:nvPr/>
        </p:nvSpPr>
        <p:spPr>
          <a:xfrm>
            <a:off x="10104120" y="914400"/>
            <a:ext cx="441720" cy="1554120"/>
          </a:xfrm>
          <a:prstGeom prst="rect">
            <a:avLst/>
          </a:prstGeom>
          <a:solidFill>
            <a:srgbClr val="eef1e8">
              <a:alpha val="92000"/>
            </a:srgbClr>
          </a:solidFill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10546200" y="1893240"/>
            <a:ext cx="883440" cy="575280"/>
          </a:xfrm>
          <a:prstGeom prst="rect">
            <a:avLst/>
          </a:prstGeom>
          <a:solidFill>
            <a:srgbClr val="fbf3dd">
              <a:alpha val="92000"/>
            </a:srgbClr>
          </a:solidFill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41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Histograms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Bar Charts vs Histograms · Frequency Density · Area = Frequency · Drawing &amp; Reading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50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When Class Widths Are Not Equal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histogram shows grouped continuous data.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Unlike a bar chart, the bars can be different widths — so it is the AREA, not the height, that shows the frequency. The height is the FREQUENCY DENSITY.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Bar chart vs histogram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Frequency density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Area = frequency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Finding GW &amp; FD (table)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Drawing &amp; reading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histogram · frequency density · class / group width · area = frequency · continuous data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Bar Chart vs Histogram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39"/>
          <p:cNvSpPr/>
          <p:nvPr/>
        </p:nvSpPr>
        <p:spPr>
          <a:xfrm>
            <a:off x="567000" y="128016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0"/>
          <p:cNvSpPr/>
          <p:nvPr/>
        </p:nvSpPr>
        <p:spPr>
          <a:xfrm>
            <a:off x="887040" y="128016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They look similar, but a histogram is for grouped data with (often) unequal widths.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 big change: the vertical axis.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1"/>
          <p:cNvSpPr/>
          <p:nvPr/>
        </p:nvSpPr>
        <p:spPr>
          <a:xfrm>
            <a:off x="567000" y="224028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2"/>
          <p:cNvSpPr/>
          <p:nvPr/>
        </p:nvSpPr>
        <p:spPr>
          <a:xfrm>
            <a:off x="932760" y="24778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BAR CHART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3"/>
          <p:cNvSpPr/>
          <p:nvPr/>
        </p:nvSpPr>
        <p:spPr>
          <a:xfrm>
            <a:off x="868680" y="3063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44"/>
          <p:cNvSpPr/>
          <p:nvPr/>
        </p:nvSpPr>
        <p:spPr>
          <a:xfrm>
            <a:off x="1143000" y="2971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Bars have GAPS between them.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5"/>
          <p:cNvSpPr/>
          <p:nvPr/>
        </p:nvSpPr>
        <p:spPr>
          <a:xfrm>
            <a:off x="868680" y="3630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46"/>
          <p:cNvSpPr/>
          <p:nvPr/>
        </p:nvSpPr>
        <p:spPr>
          <a:xfrm>
            <a:off x="1143000" y="3538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All bars the SAME width.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47"/>
          <p:cNvSpPr/>
          <p:nvPr/>
        </p:nvSpPr>
        <p:spPr>
          <a:xfrm>
            <a:off x="868680" y="4197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8"/>
          <p:cNvSpPr/>
          <p:nvPr/>
        </p:nvSpPr>
        <p:spPr>
          <a:xfrm>
            <a:off x="1143000" y="4105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Vertical axis = FREQUENCY.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9"/>
          <p:cNvSpPr/>
          <p:nvPr/>
        </p:nvSpPr>
        <p:spPr>
          <a:xfrm>
            <a:off x="868680" y="4763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50"/>
          <p:cNvSpPr/>
          <p:nvPr/>
        </p:nvSpPr>
        <p:spPr>
          <a:xfrm>
            <a:off x="1143000" y="46724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Height shows the frequency.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51"/>
          <p:cNvSpPr/>
          <p:nvPr/>
        </p:nvSpPr>
        <p:spPr>
          <a:xfrm>
            <a:off x="6190560" y="224028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2"/>
          <p:cNvSpPr/>
          <p:nvPr/>
        </p:nvSpPr>
        <p:spPr>
          <a:xfrm>
            <a:off x="6556320" y="24778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HISTOGRAM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3"/>
          <p:cNvSpPr/>
          <p:nvPr/>
        </p:nvSpPr>
        <p:spPr>
          <a:xfrm>
            <a:off x="6492240" y="3063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54"/>
          <p:cNvSpPr/>
          <p:nvPr/>
        </p:nvSpPr>
        <p:spPr>
          <a:xfrm>
            <a:off x="6766560" y="2971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Bars TOUCH (no gaps).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55"/>
          <p:cNvSpPr/>
          <p:nvPr/>
        </p:nvSpPr>
        <p:spPr>
          <a:xfrm>
            <a:off x="6492240" y="3630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56"/>
          <p:cNvSpPr/>
          <p:nvPr/>
        </p:nvSpPr>
        <p:spPr>
          <a:xfrm>
            <a:off x="6766560" y="3538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Widths can be DIFFERENT.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57"/>
          <p:cNvSpPr/>
          <p:nvPr/>
        </p:nvSpPr>
        <p:spPr>
          <a:xfrm>
            <a:off x="6492240" y="4197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58"/>
          <p:cNvSpPr/>
          <p:nvPr/>
        </p:nvSpPr>
        <p:spPr>
          <a:xfrm>
            <a:off x="6766560" y="4105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Vertical axis = FREQUENCY DENSITY.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59"/>
          <p:cNvSpPr/>
          <p:nvPr/>
        </p:nvSpPr>
        <p:spPr>
          <a:xfrm>
            <a:off x="6492240" y="4763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60"/>
          <p:cNvSpPr/>
          <p:nvPr/>
        </p:nvSpPr>
        <p:spPr>
          <a:xfrm>
            <a:off x="6766560" y="46724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AREA of a bar shows the frequency.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61"/>
          <p:cNvSpPr/>
          <p:nvPr/>
        </p:nvSpPr>
        <p:spPr>
          <a:xfrm>
            <a:off x="567000" y="557784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62"/>
          <p:cNvSpPr/>
          <p:nvPr/>
        </p:nvSpPr>
        <p:spPr>
          <a:xfrm>
            <a:off x="841320" y="557784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Histogram: no gaps, unequal widths allowed, y-axis is frequency density, AREA = frequency.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0"/>
          <p:cNvSpPr/>
          <p:nvPr/>
        </p:nvSpPr>
        <p:spPr>
          <a:xfrm>
            <a:off x="0" y="454176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FREQUENCY DENSITY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Two Formulas — and Area = Frequency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39"/>
          <p:cNvSpPr/>
          <p:nvPr/>
        </p:nvSpPr>
        <p:spPr>
          <a:xfrm>
            <a:off x="567000" y="1298520"/>
            <a:ext cx="6595560" cy="15357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40"/>
          <p:cNvSpPr/>
          <p:nvPr/>
        </p:nvSpPr>
        <p:spPr>
          <a:xfrm>
            <a:off x="887040" y="129852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Because widths differ, we plot frequency DENSITY (frequency per unit width).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41"/>
          <p:cNvSpPr/>
          <p:nvPr/>
        </p:nvSpPr>
        <p:spPr>
          <a:xfrm>
            <a:off x="353520" y="3052440"/>
            <a:ext cx="5440320" cy="228564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2"/>
          <p:cNvSpPr/>
          <p:nvPr/>
        </p:nvSpPr>
        <p:spPr>
          <a:xfrm>
            <a:off x="719280" y="32904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To DRAW: find the height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3"/>
          <p:cNvSpPr/>
          <p:nvPr/>
        </p:nvSpPr>
        <p:spPr>
          <a:xfrm>
            <a:off x="655200" y="396684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frequency density (FD)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44"/>
          <p:cNvSpPr/>
          <p:nvPr/>
        </p:nvSpPr>
        <p:spPr>
          <a:xfrm>
            <a:off x="4175640" y="3976200"/>
            <a:ext cx="137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Frequency (F)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45"/>
          <p:cNvSpPr/>
          <p:nvPr/>
        </p:nvSpPr>
        <p:spPr>
          <a:xfrm>
            <a:off x="4175640" y="4286880"/>
            <a:ext cx="1371600" cy="360"/>
          </a:xfrm>
          <a:prstGeom prst="line">
            <a:avLst/>
          </a:prstGeom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6"/>
          <p:cNvSpPr/>
          <p:nvPr/>
        </p:nvSpPr>
        <p:spPr>
          <a:xfrm>
            <a:off x="4175640" y="4323600"/>
            <a:ext cx="137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Group width (GW)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47"/>
          <p:cNvSpPr/>
          <p:nvPr/>
        </p:nvSpPr>
        <p:spPr>
          <a:xfrm>
            <a:off x="6126480" y="3052440"/>
            <a:ext cx="5440320" cy="2285640"/>
          </a:xfrm>
          <a:prstGeom prst="roundRect">
            <a:avLst>
              <a:gd name="adj" fmla="val 240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48"/>
          <p:cNvSpPr/>
          <p:nvPr/>
        </p:nvSpPr>
        <p:spPr>
          <a:xfrm>
            <a:off x="6492240" y="32904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To READ: find the frequency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49"/>
          <p:cNvSpPr/>
          <p:nvPr/>
        </p:nvSpPr>
        <p:spPr>
          <a:xfrm>
            <a:off x="6473880" y="3966840"/>
            <a:ext cx="237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frequency  =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0"/>
          <p:cNvSpPr/>
          <p:nvPr/>
        </p:nvSpPr>
        <p:spPr>
          <a:xfrm>
            <a:off x="8622720" y="396684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FD × Group width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51"/>
          <p:cNvSpPr/>
          <p:nvPr/>
        </p:nvSpPr>
        <p:spPr>
          <a:xfrm>
            <a:off x="2797920" y="5526360"/>
            <a:ext cx="7406280" cy="70920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52"/>
          <p:cNvSpPr/>
          <p:nvPr/>
        </p:nvSpPr>
        <p:spPr>
          <a:xfrm>
            <a:off x="2607480" y="5526360"/>
            <a:ext cx="7406280" cy="62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AREA of each bar  =  frequency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53"/>
          <p:cNvSpPr/>
          <p:nvPr/>
        </p:nvSpPr>
        <p:spPr>
          <a:xfrm>
            <a:off x="567000" y="6157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Frequency density is ‘how crowded’ the class is — frequency shared over its width.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Isosceles Triangle 55"/>
          <p:cNvSpPr/>
          <p:nvPr/>
        </p:nvSpPr>
        <p:spPr>
          <a:xfrm>
            <a:off x="9045360" y="272880"/>
            <a:ext cx="2952000" cy="172152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6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243" name="Straight Connector 56"/>
          <p:cNvCxnSpPr/>
          <p:nvPr/>
        </p:nvCxnSpPr>
        <p:spPr>
          <a:xfrm>
            <a:off x="9765000" y="1208880"/>
            <a:ext cx="1476720" cy="360"/>
          </a:xfrm>
          <a:prstGeom prst="straightConnector1">
            <a:avLst/>
          </a:prstGeom>
          <a:ln w="38100">
            <a:solidFill>
              <a:srgbClr val="000000"/>
            </a:solidFill>
          </a:ln>
        </p:spPr>
      </p:cxnSp>
      <p:sp>
        <p:nvSpPr>
          <p:cNvPr id="244" name="TextBox 57"/>
          <p:cNvSpPr/>
          <p:nvPr/>
        </p:nvSpPr>
        <p:spPr>
          <a:xfrm>
            <a:off x="9549360" y="1303560"/>
            <a:ext cx="959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4000" spc="-1" strike="noStrike">
                <a:solidFill>
                  <a:schemeClr val="dk1"/>
                </a:solidFill>
                <a:latin typeface="Calibri"/>
              </a:rPr>
              <a:t>FD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58"/>
          <p:cNvSpPr/>
          <p:nvPr/>
        </p:nvSpPr>
        <p:spPr>
          <a:xfrm>
            <a:off x="10269360" y="439560"/>
            <a:ext cx="662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4000" spc="-1" strike="noStrike">
                <a:solidFill>
                  <a:schemeClr val="dk1"/>
                </a:solidFill>
                <a:latin typeface="Calibri"/>
              </a:rPr>
              <a:t>F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59"/>
          <p:cNvSpPr/>
          <p:nvPr/>
        </p:nvSpPr>
        <p:spPr>
          <a:xfrm>
            <a:off x="10580760" y="1303560"/>
            <a:ext cx="1275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4000" spc="-1" strike="noStrike">
                <a:solidFill>
                  <a:schemeClr val="dk1"/>
                </a:solidFill>
                <a:latin typeface="Calibri"/>
              </a:rPr>
              <a:t>GW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0"/>
          <p:cNvSpPr/>
          <p:nvPr/>
        </p:nvSpPr>
        <p:spPr>
          <a:xfrm>
            <a:off x="10220760" y="1221840"/>
            <a:ext cx="451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4800" spc="-1" strike="noStrike">
                <a:solidFill>
                  <a:schemeClr val="dk1"/>
                </a:solidFill>
                <a:latin typeface="Calibri"/>
              </a:rPr>
              <a:t>×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61"/>
          <p:cNvSpPr/>
          <p:nvPr/>
        </p:nvSpPr>
        <p:spPr>
          <a:xfrm>
            <a:off x="739800" y="1809360"/>
            <a:ext cx="6095520" cy="9309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Group Width &amp; Frequency Density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9"/>
          <p:cNvSpPr/>
          <p:nvPr/>
        </p:nvSpPr>
        <p:spPr>
          <a:xfrm>
            <a:off x="567000" y="1280160"/>
            <a:ext cx="11063880" cy="529920"/>
          </a:xfrm>
          <a:prstGeom prst="roundRect">
            <a:avLst>
              <a:gd name="adj" fmla="val 10345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40"/>
          <p:cNvSpPr/>
          <p:nvPr/>
        </p:nvSpPr>
        <p:spPr>
          <a:xfrm>
            <a:off x="887040" y="1280160"/>
            <a:ext cx="104238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For each class:  group width = upper − lower,   FD = frequency ÷ width.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41"/>
          <p:cNvSpPr/>
          <p:nvPr/>
        </p:nvSpPr>
        <p:spPr>
          <a:xfrm>
            <a:off x="567000" y="1874520"/>
            <a:ext cx="283428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2"/>
          <p:cNvSpPr/>
          <p:nvPr/>
        </p:nvSpPr>
        <p:spPr>
          <a:xfrm>
            <a:off x="612720" y="18745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mbria"/>
                <a:ea typeface="Cambria"/>
              </a:rPr>
              <a:t>Time t (s)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43"/>
          <p:cNvSpPr/>
          <p:nvPr/>
        </p:nvSpPr>
        <p:spPr>
          <a:xfrm>
            <a:off x="3401640" y="1874520"/>
            <a:ext cx="155412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44"/>
          <p:cNvSpPr/>
          <p:nvPr/>
        </p:nvSpPr>
        <p:spPr>
          <a:xfrm>
            <a:off x="3447360" y="18745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mbria"/>
                <a:ea typeface="Cambria"/>
              </a:rPr>
              <a:t>Freq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45"/>
          <p:cNvSpPr/>
          <p:nvPr/>
        </p:nvSpPr>
        <p:spPr>
          <a:xfrm>
            <a:off x="4956120" y="1874520"/>
            <a:ext cx="182844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46"/>
          <p:cNvSpPr/>
          <p:nvPr/>
        </p:nvSpPr>
        <p:spPr>
          <a:xfrm>
            <a:off x="5001840" y="18745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mbria"/>
                <a:ea typeface="Cambria"/>
              </a:rPr>
              <a:t>Group width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47"/>
          <p:cNvSpPr/>
          <p:nvPr/>
        </p:nvSpPr>
        <p:spPr>
          <a:xfrm>
            <a:off x="6784920" y="1874520"/>
            <a:ext cx="210276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48"/>
          <p:cNvSpPr/>
          <p:nvPr/>
        </p:nvSpPr>
        <p:spPr>
          <a:xfrm>
            <a:off x="6830640" y="187452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mbria"/>
                <a:ea typeface="Cambria"/>
              </a:rPr>
              <a:t>Freq density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49"/>
          <p:cNvSpPr/>
          <p:nvPr/>
        </p:nvSpPr>
        <p:spPr>
          <a:xfrm>
            <a:off x="567000" y="2331720"/>
            <a:ext cx="283428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50"/>
          <p:cNvSpPr/>
          <p:nvPr/>
        </p:nvSpPr>
        <p:spPr>
          <a:xfrm>
            <a:off x="612720" y="2331720"/>
            <a:ext cx="2742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10 &lt; t ≤ 30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51"/>
          <p:cNvSpPr/>
          <p:nvPr/>
        </p:nvSpPr>
        <p:spPr>
          <a:xfrm>
            <a:off x="3401640" y="2331720"/>
            <a:ext cx="155412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52"/>
          <p:cNvSpPr/>
          <p:nvPr/>
        </p:nvSpPr>
        <p:spPr>
          <a:xfrm>
            <a:off x="3447360" y="2331720"/>
            <a:ext cx="1462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53"/>
          <p:cNvSpPr/>
          <p:nvPr/>
        </p:nvSpPr>
        <p:spPr>
          <a:xfrm>
            <a:off x="4956120" y="2331720"/>
            <a:ext cx="182844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54"/>
          <p:cNvSpPr/>
          <p:nvPr/>
        </p:nvSpPr>
        <p:spPr>
          <a:xfrm>
            <a:off x="5001840" y="2331720"/>
            <a:ext cx="1737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dk1"/>
                </a:solidFill>
                <a:latin typeface="Calibri"/>
              </a:rPr>
              <a:t>30 – 10 = </a:t>
            </a: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55"/>
          <p:cNvSpPr/>
          <p:nvPr/>
        </p:nvSpPr>
        <p:spPr>
          <a:xfrm>
            <a:off x="6784920" y="2331720"/>
            <a:ext cx="210276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56"/>
          <p:cNvSpPr/>
          <p:nvPr/>
        </p:nvSpPr>
        <p:spPr>
          <a:xfrm>
            <a:off x="6830640" y="2331720"/>
            <a:ext cx="2011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0.25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57"/>
          <p:cNvSpPr/>
          <p:nvPr/>
        </p:nvSpPr>
        <p:spPr>
          <a:xfrm>
            <a:off x="567000" y="2752200"/>
            <a:ext cx="283428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58"/>
          <p:cNvSpPr/>
          <p:nvPr/>
        </p:nvSpPr>
        <p:spPr>
          <a:xfrm>
            <a:off x="612720" y="2752200"/>
            <a:ext cx="2742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30 &lt; t ≤ 35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59"/>
          <p:cNvSpPr/>
          <p:nvPr/>
        </p:nvSpPr>
        <p:spPr>
          <a:xfrm>
            <a:off x="3401640" y="2752200"/>
            <a:ext cx="155412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60"/>
          <p:cNvSpPr/>
          <p:nvPr/>
        </p:nvSpPr>
        <p:spPr>
          <a:xfrm>
            <a:off x="3447360" y="2752200"/>
            <a:ext cx="1462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61"/>
          <p:cNvSpPr/>
          <p:nvPr/>
        </p:nvSpPr>
        <p:spPr>
          <a:xfrm>
            <a:off x="4956120" y="2752200"/>
            <a:ext cx="182844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62"/>
          <p:cNvSpPr/>
          <p:nvPr/>
        </p:nvSpPr>
        <p:spPr>
          <a:xfrm>
            <a:off x="5001840" y="2752200"/>
            <a:ext cx="1737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dk1"/>
                </a:solidFill>
                <a:latin typeface="Calibri"/>
              </a:rPr>
              <a:t>35 – 30 = </a:t>
            </a: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63"/>
          <p:cNvSpPr/>
          <p:nvPr/>
        </p:nvSpPr>
        <p:spPr>
          <a:xfrm>
            <a:off x="6784920" y="2752200"/>
            <a:ext cx="210276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64"/>
          <p:cNvSpPr/>
          <p:nvPr/>
        </p:nvSpPr>
        <p:spPr>
          <a:xfrm>
            <a:off x="6830640" y="2752200"/>
            <a:ext cx="2011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0.8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65"/>
          <p:cNvSpPr/>
          <p:nvPr/>
        </p:nvSpPr>
        <p:spPr>
          <a:xfrm>
            <a:off x="567000" y="3173040"/>
            <a:ext cx="283428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66"/>
          <p:cNvSpPr/>
          <p:nvPr/>
        </p:nvSpPr>
        <p:spPr>
          <a:xfrm>
            <a:off x="612720" y="3173040"/>
            <a:ext cx="2742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35 &lt; t ≤ 40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67"/>
          <p:cNvSpPr/>
          <p:nvPr/>
        </p:nvSpPr>
        <p:spPr>
          <a:xfrm>
            <a:off x="3401640" y="3173040"/>
            <a:ext cx="155412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68"/>
          <p:cNvSpPr/>
          <p:nvPr/>
        </p:nvSpPr>
        <p:spPr>
          <a:xfrm>
            <a:off x="3447360" y="3173040"/>
            <a:ext cx="1462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69"/>
          <p:cNvSpPr/>
          <p:nvPr/>
        </p:nvSpPr>
        <p:spPr>
          <a:xfrm>
            <a:off x="4956120" y="3173040"/>
            <a:ext cx="182844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70"/>
          <p:cNvSpPr/>
          <p:nvPr/>
        </p:nvSpPr>
        <p:spPr>
          <a:xfrm>
            <a:off x="5001840" y="3173040"/>
            <a:ext cx="1737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71"/>
          <p:cNvSpPr/>
          <p:nvPr/>
        </p:nvSpPr>
        <p:spPr>
          <a:xfrm>
            <a:off x="6784920" y="3173040"/>
            <a:ext cx="210276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72"/>
          <p:cNvSpPr/>
          <p:nvPr/>
        </p:nvSpPr>
        <p:spPr>
          <a:xfrm>
            <a:off x="6830640" y="3173040"/>
            <a:ext cx="2011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1.6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73"/>
          <p:cNvSpPr/>
          <p:nvPr/>
        </p:nvSpPr>
        <p:spPr>
          <a:xfrm>
            <a:off x="567000" y="3593520"/>
            <a:ext cx="283428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74"/>
          <p:cNvSpPr/>
          <p:nvPr/>
        </p:nvSpPr>
        <p:spPr>
          <a:xfrm>
            <a:off x="612720" y="3593520"/>
            <a:ext cx="2742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40 &lt; t ≤ 50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75"/>
          <p:cNvSpPr/>
          <p:nvPr/>
        </p:nvSpPr>
        <p:spPr>
          <a:xfrm>
            <a:off x="3401640" y="3593520"/>
            <a:ext cx="155412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76"/>
          <p:cNvSpPr/>
          <p:nvPr/>
        </p:nvSpPr>
        <p:spPr>
          <a:xfrm>
            <a:off x="3447360" y="3593520"/>
            <a:ext cx="1462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77"/>
          <p:cNvSpPr/>
          <p:nvPr/>
        </p:nvSpPr>
        <p:spPr>
          <a:xfrm>
            <a:off x="4956120" y="3593520"/>
            <a:ext cx="182844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78"/>
          <p:cNvSpPr/>
          <p:nvPr/>
        </p:nvSpPr>
        <p:spPr>
          <a:xfrm>
            <a:off x="5001840" y="3593520"/>
            <a:ext cx="1737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79"/>
          <p:cNvSpPr/>
          <p:nvPr/>
        </p:nvSpPr>
        <p:spPr>
          <a:xfrm>
            <a:off x="6784920" y="3593520"/>
            <a:ext cx="2102760" cy="42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80"/>
          <p:cNvSpPr/>
          <p:nvPr/>
        </p:nvSpPr>
        <p:spPr>
          <a:xfrm>
            <a:off x="6830640" y="3593520"/>
            <a:ext cx="2011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2.7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81"/>
          <p:cNvSpPr/>
          <p:nvPr/>
        </p:nvSpPr>
        <p:spPr>
          <a:xfrm>
            <a:off x="567000" y="4014360"/>
            <a:ext cx="283428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82"/>
          <p:cNvSpPr/>
          <p:nvPr/>
        </p:nvSpPr>
        <p:spPr>
          <a:xfrm>
            <a:off x="612720" y="4014360"/>
            <a:ext cx="2742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50 &lt; t ≤ 70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83"/>
          <p:cNvSpPr/>
          <p:nvPr/>
        </p:nvSpPr>
        <p:spPr>
          <a:xfrm>
            <a:off x="3401640" y="4014360"/>
            <a:ext cx="155412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84"/>
          <p:cNvSpPr/>
          <p:nvPr/>
        </p:nvSpPr>
        <p:spPr>
          <a:xfrm>
            <a:off x="3447360" y="4014360"/>
            <a:ext cx="1462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85"/>
          <p:cNvSpPr/>
          <p:nvPr/>
        </p:nvSpPr>
        <p:spPr>
          <a:xfrm>
            <a:off x="4956120" y="4014360"/>
            <a:ext cx="182844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86"/>
          <p:cNvSpPr/>
          <p:nvPr/>
        </p:nvSpPr>
        <p:spPr>
          <a:xfrm>
            <a:off x="5001840" y="4014360"/>
            <a:ext cx="17370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87"/>
          <p:cNvSpPr/>
          <p:nvPr/>
        </p:nvSpPr>
        <p:spPr>
          <a:xfrm>
            <a:off x="6784920" y="4014360"/>
            <a:ext cx="2102760" cy="42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88"/>
          <p:cNvSpPr/>
          <p:nvPr/>
        </p:nvSpPr>
        <p:spPr>
          <a:xfrm>
            <a:off x="6830640" y="4014360"/>
            <a:ext cx="2011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1.2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89"/>
          <p:cNvSpPr/>
          <p:nvPr/>
        </p:nvSpPr>
        <p:spPr>
          <a:xfrm>
            <a:off x="8686800" y="1874520"/>
            <a:ext cx="2944080" cy="3245760"/>
          </a:xfrm>
          <a:prstGeom prst="roundRect">
            <a:avLst>
              <a:gd name="adj" fmla="val 186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90"/>
          <p:cNvSpPr/>
          <p:nvPr/>
        </p:nvSpPr>
        <p:spPr>
          <a:xfrm>
            <a:off x="9052560" y="2112120"/>
            <a:ext cx="2212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Check one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91"/>
          <p:cNvSpPr/>
          <p:nvPr/>
        </p:nvSpPr>
        <p:spPr>
          <a:xfrm>
            <a:off x="8961120" y="2606040"/>
            <a:ext cx="24685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40 &lt; t ≤ 50: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width = 50 − 40 = 10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FD = 27 ÷ 10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c84f2f"/>
                </a:solidFill>
                <a:latin typeface="Cambria"/>
                <a:ea typeface="Cambria"/>
              </a:rPr>
              <a:t>= 2.7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92"/>
          <p:cNvSpPr/>
          <p:nvPr/>
        </p:nvSpPr>
        <p:spPr>
          <a:xfrm>
            <a:off x="567000" y="553212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93"/>
          <p:cNvSpPr/>
          <p:nvPr/>
        </p:nvSpPr>
        <p:spPr>
          <a:xfrm>
            <a:off x="841320" y="553212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FD = frequency ÷ class width.  Divide every frequency by its own width.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2"/>
          <p:cNvSpPr/>
          <p:nvPr/>
        </p:nvSpPr>
        <p:spPr>
          <a:xfrm>
            <a:off x="-484560" y="-376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3"/>
          <p:cNvSpPr/>
          <p:nvPr/>
        </p:nvSpPr>
        <p:spPr>
          <a:xfrm>
            <a:off x="-484560" y="1897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4"/>
          <p:cNvSpPr/>
          <p:nvPr/>
        </p:nvSpPr>
        <p:spPr>
          <a:xfrm>
            <a:off x="-484560" y="7567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35"/>
          <p:cNvSpPr/>
          <p:nvPr/>
        </p:nvSpPr>
        <p:spPr>
          <a:xfrm>
            <a:off x="82440" y="4356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36"/>
          <p:cNvSpPr/>
          <p:nvPr/>
        </p:nvSpPr>
        <p:spPr>
          <a:xfrm>
            <a:off x="82440" y="43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37"/>
          <p:cNvSpPr/>
          <p:nvPr/>
        </p:nvSpPr>
        <p:spPr>
          <a:xfrm>
            <a:off x="841320" y="2520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DRAWING A HISTOGRAM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38"/>
          <p:cNvSpPr/>
          <p:nvPr/>
        </p:nvSpPr>
        <p:spPr>
          <a:xfrm>
            <a:off x="841320" y="29952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Plot Frequency Density; Bars Touch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9"/>
          <p:cNvSpPr/>
          <p:nvPr/>
        </p:nvSpPr>
        <p:spPr>
          <a:xfrm>
            <a:off x="518040" y="75672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40"/>
          <p:cNvSpPr/>
          <p:nvPr/>
        </p:nvSpPr>
        <p:spPr>
          <a:xfrm>
            <a:off x="838080" y="75672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Using the frequency densities from the table — the bars have different widths but no gaps.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50"/>
          <p:cNvSpPr/>
          <p:nvPr/>
        </p:nvSpPr>
        <p:spPr>
          <a:xfrm>
            <a:off x="8341200" y="4412520"/>
            <a:ext cx="3948480" cy="191988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51"/>
          <p:cNvSpPr/>
          <p:nvPr/>
        </p:nvSpPr>
        <p:spPr>
          <a:xfrm>
            <a:off x="8442000" y="4421520"/>
            <a:ext cx="4132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Steps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52"/>
          <p:cNvSpPr/>
          <p:nvPr/>
        </p:nvSpPr>
        <p:spPr>
          <a:xfrm>
            <a:off x="8703360" y="497340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53"/>
          <p:cNvSpPr/>
          <p:nvPr/>
        </p:nvSpPr>
        <p:spPr>
          <a:xfrm>
            <a:off x="9009000" y="4795200"/>
            <a:ext cx="4114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Work out the FD for every class.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54"/>
          <p:cNvSpPr/>
          <p:nvPr/>
        </p:nvSpPr>
        <p:spPr>
          <a:xfrm>
            <a:off x="8679960" y="538380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 55"/>
          <p:cNvSpPr/>
          <p:nvPr/>
        </p:nvSpPr>
        <p:spPr>
          <a:xfrm>
            <a:off x="8954280" y="5189760"/>
            <a:ext cx="4114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Frequency density goes up the y-axis.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56"/>
          <p:cNvSpPr/>
          <p:nvPr/>
        </p:nvSpPr>
        <p:spPr>
          <a:xfrm>
            <a:off x="8679960" y="572220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57"/>
          <p:cNvSpPr/>
          <p:nvPr/>
        </p:nvSpPr>
        <p:spPr>
          <a:xfrm>
            <a:off x="8954280" y="5544000"/>
            <a:ext cx="4114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Each bar spans its class width on the x-axis.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58"/>
          <p:cNvSpPr/>
          <p:nvPr/>
        </p:nvSpPr>
        <p:spPr>
          <a:xfrm>
            <a:off x="8694720" y="61041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59"/>
          <p:cNvSpPr/>
          <p:nvPr/>
        </p:nvSpPr>
        <p:spPr>
          <a:xfrm>
            <a:off x="9009000" y="5907600"/>
            <a:ext cx="4114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Bars TOUCH — no gaps.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60"/>
          <p:cNvSpPr/>
          <p:nvPr/>
        </p:nvSpPr>
        <p:spPr>
          <a:xfrm>
            <a:off x="631080" y="13788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 wide, short bar can hold the same frequency as a narrow, tall one — equal areas.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ectangle 63"/>
          <p:cNvSpPr/>
          <p:nvPr/>
        </p:nvSpPr>
        <p:spPr>
          <a:xfrm>
            <a:off x="5867280" y="4869360"/>
            <a:ext cx="2088720" cy="1666440"/>
          </a:xfrm>
          <a:prstGeom prst="rect">
            <a:avLst/>
          </a:prstGeom>
          <a:solidFill>
            <a:srgbClr val="ffc000"/>
          </a:solidFill>
          <a:ln>
            <a:solidFill>
              <a:srgbClr val="0000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00000"/>
              </a:solidFill>
              <a:latin typeface="Calibri"/>
              <a:ea typeface="Microsoft YaHei"/>
            </a:endParaRPr>
          </a:p>
        </p:txBody>
      </p:sp>
      <p:grpSp>
        <p:nvGrpSpPr>
          <p:cNvPr id="396" name="Group 64"/>
          <p:cNvGrpSpPr/>
          <p:nvPr/>
        </p:nvGrpSpPr>
        <p:grpSpPr>
          <a:xfrm>
            <a:off x="1752480" y="6164640"/>
            <a:ext cx="2098800" cy="371520"/>
            <a:chOff x="1752480" y="6164640"/>
            <a:chExt cx="2098800" cy="371520"/>
          </a:xfrm>
        </p:grpSpPr>
        <p:sp>
          <p:nvSpPr>
            <p:cNvPr id="397" name="Rectangle 65"/>
            <p:cNvSpPr/>
            <p:nvPr/>
          </p:nvSpPr>
          <p:spPr>
            <a:xfrm>
              <a:off x="1752480" y="6164640"/>
              <a:ext cx="2098440" cy="37116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398" name="Line 6"/>
            <p:cNvSpPr/>
            <p:nvPr/>
          </p:nvSpPr>
          <p:spPr>
            <a:xfrm>
              <a:off x="3850920" y="6164640"/>
              <a:ext cx="360" cy="37152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399" name="Group 67"/>
          <p:cNvGrpSpPr/>
          <p:nvPr/>
        </p:nvGrpSpPr>
        <p:grpSpPr>
          <a:xfrm>
            <a:off x="3851280" y="5372640"/>
            <a:ext cx="505080" cy="1163520"/>
            <a:chOff x="3851280" y="5372640"/>
            <a:chExt cx="505080" cy="1163520"/>
          </a:xfrm>
        </p:grpSpPr>
        <p:sp>
          <p:nvSpPr>
            <p:cNvPr id="400" name="Rectangle 68"/>
            <p:cNvSpPr/>
            <p:nvPr/>
          </p:nvSpPr>
          <p:spPr>
            <a:xfrm>
              <a:off x="3851280" y="5372640"/>
              <a:ext cx="504360" cy="116316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01" name="Line 9"/>
            <p:cNvSpPr/>
            <p:nvPr/>
          </p:nvSpPr>
          <p:spPr>
            <a:xfrm>
              <a:off x="4356000" y="5562720"/>
              <a:ext cx="360" cy="97344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02" name="Group 70"/>
          <p:cNvGrpSpPr/>
          <p:nvPr/>
        </p:nvGrpSpPr>
        <p:grpSpPr>
          <a:xfrm>
            <a:off x="4859280" y="2779920"/>
            <a:ext cx="1007640" cy="3756240"/>
            <a:chOff x="4859280" y="2779920"/>
            <a:chExt cx="1007640" cy="3756240"/>
          </a:xfrm>
        </p:grpSpPr>
        <p:sp>
          <p:nvSpPr>
            <p:cNvPr id="403" name="Rectangle 71"/>
            <p:cNvSpPr/>
            <p:nvPr/>
          </p:nvSpPr>
          <p:spPr>
            <a:xfrm>
              <a:off x="4859280" y="2780280"/>
              <a:ext cx="1007640" cy="375552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04" name="Line 12"/>
            <p:cNvSpPr/>
            <p:nvPr/>
          </p:nvSpPr>
          <p:spPr>
            <a:xfrm>
              <a:off x="4859280" y="2779920"/>
              <a:ext cx="360" cy="375624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05" name="Group 73"/>
          <p:cNvGrpSpPr/>
          <p:nvPr/>
        </p:nvGrpSpPr>
        <p:grpSpPr>
          <a:xfrm>
            <a:off x="4356000" y="4293000"/>
            <a:ext cx="503280" cy="2242800"/>
            <a:chOff x="4356000" y="4293000"/>
            <a:chExt cx="503280" cy="2242800"/>
          </a:xfrm>
        </p:grpSpPr>
        <p:sp>
          <p:nvSpPr>
            <p:cNvPr id="406" name="Rectangle 74"/>
            <p:cNvSpPr/>
            <p:nvPr/>
          </p:nvSpPr>
          <p:spPr>
            <a:xfrm>
              <a:off x="4356000" y="4293000"/>
              <a:ext cx="502920" cy="22428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07" name="Line 15"/>
            <p:cNvSpPr/>
            <p:nvPr/>
          </p:nvSpPr>
          <p:spPr>
            <a:xfrm>
              <a:off x="4356000" y="4293000"/>
              <a:ext cx="503280" cy="36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08" name="Group 76"/>
          <p:cNvGrpSpPr/>
          <p:nvPr/>
        </p:nvGrpSpPr>
        <p:grpSpPr>
          <a:xfrm>
            <a:off x="-36360" y="1695960"/>
            <a:ext cx="9288000" cy="5186520"/>
            <a:chOff x="-36360" y="1695960"/>
            <a:chExt cx="9288000" cy="5186520"/>
          </a:xfrm>
        </p:grpSpPr>
        <p:sp>
          <p:nvSpPr>
            <p:cNvPr id="409" name="Text Box 17"/>
            <p:cNvSpPr/>
            <p:nvPr/>
          </p:nvSpPr>
          <p:spPr>
            <a:xfrm>
              <a:off x="1523880" y="6536160"/>
              <a:ext cx="53316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  <a:ea typeface="Microsoft YaHei"/>
                </a:rPr>
                <a:t>10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0" name="Text Box 18"/>
            <p:cNvSpPr/>
            <p:nvPr/>
          </p:nvSpPr>
          <p:spPr>
            <a:xfrm>
              <a:off x="2556000" y="6525000"/>
              <a:ext cx="53316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  <a:ea typeface="Microsoft YaHei"/>
                </a:rPr>
                <a:t>20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411" name="Group 23"/>
            <p:cNvGrpSpPr/>
            <p:nvPr/>
          </p:nvGrpSpPr>
          <p:grpSpPr>
            <a:xfrm>
              <a:off x="-36360" y="1695960"/>
              <a:ext cx="9288000" cy="5186520"/>
              <a:chOff x="-36360" y="1695960"/>
              <a:chExt cx="9288000" cy="5186520"/>
            </a:xfrm>
          </p:grpSpPr>
          <p:grpSp>
            <p:nvGrpSpPr>
              <p:cNvPr id="412" name="Group 24"/>
              <p:cNvGrpSpPr/>
              <p:nvPr/>
            </p:nvGrpSpPr>
            <p:grpSpPr>
              <a:xfrm>
                <a:off x="-36360" y="1695960"/>
                <a:ext cx="9288000" cy="5186520"/>
                <a:chOff x="-36360" y="1695960"/>
                <a:chExt cx="9288000" cy="5186520"/>
              </a:xfrm>
            </p:grpSpPr>
            <p:grpSp>
              <p:nvGrpSpPr>
                <p:cNvPr id="413" name="Group 25"/>
                <p:cNvGrpSpPr/>
                <p:nvPr/>
              </p:nvGrpSpPr>
              <p:grpSpPr>
                <a:xfrm>
                  <a:off x="-36360" y="1695960"/>
                  <a:ext cx="9288000" cy="5186520"/>
                  <a:chOff x="-36360" y="1695960"/>
                  <a:chExt cx="9288000" cy="5186520"/>
                </a:xfrm>
              </p:grpSpPr>
              <p:sp>
                <p:nvSpPr>
                  <p:cNvPr id="414" name="Line 26"/>
                  <p:cNvSpPr/>
                  <p:nvPr/>
                </p:nvSpPr>
                <p:spPr>
                  <a:xfrm>
                    <a:off x="1599840" y="6536160"/>
                    <a:ext cx="7391520" cy="36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  <a:tailEnd len="med" type="triangle" w="med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-44640" bIns="-4464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415" name="Line 27"/>
                  <p:cNvSpPr/>
                  <p:nvPr/>
                </p:nvSpPr>
                <p:spPr>
                  <a:xfrm flipV="1">
                    <a:off x="914040" y="2268720"/>
                    <a:ext cx="360" cy="426744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  <a:tailEnd len="med" type="triangle" w="med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416" name="Text Box 28"/>
                  <p:cNvSpPr/>
                  <p:nvPr/>
                </p:nvSpPr>
                <p:spPr>
                  <a:xfrm>
                    <a:off x="-36360" y="1695960"/>
                    <a:ext cx="1371240" cy="577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Frequency density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17" name="Text Box 29"/>
                  <p:cNvSpPr/>
                  <p:nvPr/>
                </p:nvSpPr>
                <p:spPr>
                  <a:xfrm>
                    <a:off x="7956720" y="6549120"/>
                    <a:ext cx="129492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Time t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18" name="Line 30"/>
                  <p:cNvSpPr/>
                  <p:nvPr/>
                </p:nvSpPr>
                <p:spPr>
                  <a:xfrm>
                    <a:off x="914040" y="6536160"/>
                    <a:ext cx="152640" cy="36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-44640" bIns="-4464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419" name="Line 31"/>
                  <p:cNvSpPr/>
                  <p:nvPr/>
                </p:nvSpPr>
                <p:spPr>
                  <a:xfrm flipV="1">
                    <a:off x="1066680" y="6231240"/>
                    <a:ext cx="75960" cy="30492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420" name="Line 32"/>
                  <p:cNvSpPr/>
                  <p:nvPr/>
                </p:nvSpPr>
                <p:spPr>
                  <a:xfrm>
                    <a:off x="1142640" y="6231240"/>
                    <a:ext cx="228600" cy="60948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421" name="Line 33"/>
                  <p:cNvSpPr/>
                  <p:nvPr/>
                </p:nvSpPr>
                <p:spPr>
                  <a:xfrm flipV="1">
                    <a:off x="1371240" y="6536160"/>
                    <a:ext cx="228600" cy="30456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</p:grpSp>
            <p:grpSp>
              <p:nvGrpSpPr>
                <p:cNvPr id="422" name="Group 34"/>
                <p:cNvGrpSpPr/>
                <p:nvPr/>
              </p:nvGrpSpPr>
              <p:grpSpPr>
                <a:xfrm>
                  <a:off x="228600" y="2192760"/>
                  <a:ext cx="685440" cy="3807000"/>
                  <a:chOff x="228600" y="2192760"/>
                  <a:chExt cx="685440" cy="3807000"/>
                </a:xfrm>
              </p:grpSpPr>
              <p:sp>
                <p:nvSpPr>
                  <p:cNvPr id="423" name="Text Box 35"/>
                  <p:cNvSpPr/>
                  <p:nvPr/>
                </p:nvSpPr>
                <p:spPr>
                  <a:xfrm>
                    <a:off x="228600" y="566640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0.5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24" name="Text Box 36"/>
                  <p:cNvSpPr/>
                  <p:nvPr/>
                </p:nvSpPr>
                <p:spPr>
                  <a:xfrm>
                    <a:off x="228600" y="498060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1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25" name="Text Box 37"/>
                  <p:cNvSpPr/>
                  <p:nvPr/>
                </p:nvSpPr>
                <p:spPr>
                  <a:xfrm>
                    <a:off x="228600" y="429480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1.5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26" name="Text Box 38"/>
                  <p:cNvSpPr/>
                  <p:nvPr/>
                </p:nvSpPr>
                <p:spPr>
                  <a:xfrm>
                    <a:off x="228600" y="356436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2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27" name="Text Box 39"/>
                  <p:cNvSpPr/>
                  <p:nvPr/>
                </p:nvSpPr>
                <p:spPr>
                  <a:xfrm>
                    <a:off x="228600" y="287856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2.5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428" name="Text Box 40"/>
                  <p:cNvSpPr/>
                  <p:nvPr/>
                </p:nvSpPr>
                <p:spPr>
                  <a:xfrm>
                    <a:off x="228600" y="219276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3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</p:grpSp>
          </p:grpSp>
          <p:sp>
            <p:nvSpPr>
              <p:cNvPr id="429" name="Text Box 41"/>
              <p:cNvSpPr/>
              <p:nvPr/>
            </p:nvSpPr>
            <p:spPr>
              <a:xfrm>
                <a:off x="457200" y="6536160"/>
                <a:ext cx="533160" cy="333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799"/>
                  </a:spcBef>
                </a:pPr>
                <a:r>
                  <a:rPr b="0" lang="en-GB" sz="1600" spc="-1" strike="noStrike">
                    <a:solidFill>
                      <a:srgbClr val="000000"/>
                    </a:solidFill>
                    <a:latin typeface="Calibri"/>
                    <a:ea typeface="Microsoft YaHei"/>
                  </a:rPr>
                  <a:t>0</a:t>
                </a:r>
                <a:endParaRPr b="0" lang="en-US" sz="16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430" name="Text Box 18"/>
          <p:cNvSpPr/>
          <p:nvPr/>
        </p:nvSpPr>
        <p:spPr>
          <a:xfrm>
            <a:off x="3635280" y="652500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30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Box 17"/>
          <p:cNvSpPr/>
          <p:nvPr/>
        </p:nvSpPr>
        <p:spPr>
          <a:xfrm>
            <a:off x="4643280" y="652500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40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Box 17"/>
          <p:cNvSpPr/>
          <p:nvPr/>
        </p:nvSpPr>
        <p:spPr>
          <a:xfrm>
            <a:off x="5651640" y="652500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50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Box 17"/>
          <p:cNvSpPr/>
          <p:nvPr/>
        </p:nvSpPr>
        <p:spPr>
          <a:xfrm>
            <a:off x="6732720" y="652500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60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 Box 17"/>
          <p:cNvSpPr/>
          <p:nvPr/>
        </p:nvSpPr>
        <p:spPr>
          <a:xfrm>
            <a:off x="7740720" y="652500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70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35" name="Group 442"/>
          <p:cNvGraphicFramePr/>
          <p:nvPr/>
        </p:nvGraphicFramePr>
        <p:xfrm>
          <a:off x="6012000" y="1787040"/>
          <a:ext cx="3096000" cy="2665440"/>
        </p:xfrm>
        <a:graphic>
          <a:graphicData uri="http://schemas.openxmlformats.org/drawingml/2006/table">
            <a:tbl>
              <a:tblPr/>
              <a:tblGrid>
                <a:gridCol w="1278000"/>
                <a:gridCol w="594000"/>
                <a:gridCol w="576000"/>
                <a:gridCol w="648000"/>
              </a:tblGrid>
              <a:tr h="6822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GB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Time taken 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GB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(t seconds)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GB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GB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GW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GB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888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10 &lt; t ≤ 30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0.25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888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30 &lt; t ≤ 35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4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0.8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888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35 &lt; t ≤ 40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8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1.6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888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40 &lt; t ≤ 50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27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2.7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88800"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50 &lt; t ≤ 70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24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20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tIns="45360" bIns="4536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1.2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" dur="5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" dur="5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35"/>
          <p:cNvSpPr/>
          <p:nvPr/>
        </p:nvSpPr>
        <p:spPr>
          <a:xfrm>
            <a:off x="18360" y="496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36"/>
          <p:cNvSpPr/>
          <p:nvPr/>
        </p:nvSpPr>
        <p:spPr>
          <a:xfrm>
            <a:off x="18360" y="496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37"/>
          <p:cNvSpPr/>
          <p:nvPr/>
        </p:nvSpPr>
        <p:spPr>
          <a:xfrm>
            <a:off x="725400" y="633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READING A HISTOGRAM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38"/>
          <p:cNvSpPr/>
          <p:nvPr/>
        </p:nvSpPr>
        <p:spPr>
          <a:xfrm>
            <a:off x="690840" y="315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Frequency of a Group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914400" y="649224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Going the other way, you can complete a table from a histogram, then the histogram from a table.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56"/>
          <p:cNvSpPr/>
          <p:nvPr/>
        </p:nvSpPr>
        <p:spPr>
          <a:xfrm>
            <a:off x="567000" y="6055200"/>
            <a:ext cx="11063880" cy="43668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 57"/>
          <p:cNvSpPr/>
          <p:nvPr/>
        </p:nvSpPr>
        <p:spPr>
          <a:xfrm>
            <a:off x="822960" y="6059880"/>
            <a:ext cx="1051524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frequency = frequency density × class width = the bar’s area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Placeholder 2"/>
          <p:cNvSpPr/>
          <p:nvPr/>
        </p:nvSpPr>
        <p:spPr>
          <a:xfrm>
            <a:off x="2722320" y="38952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479" name="Group 442"/>
          <p:cNvGraphicFramePr/>
          <p:nvPr/>
        </p:nvGraphicFramePr>
        <p:xfrm>
          <a:off x="8734320" y="887040"/>
          <a:ext cx="3096000" cy="2171160"/>
        </p:xfrm>
        <a:graphic>
          <a:graphicData uri="http://schemas.openxmlformats.org/drawingml/2006/table">
            <a:tbl>
              <a:tblPr/>
              <a:tblGrid>
                <a:gridCol w="990000"/>
                <a:gridCol w="1098000"/>
                <a:gridCol w="504000"/>
                <a:gridCol w="504000"/>
              </a:tblGrid>
              <a:tr h="51804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Time taken 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(t seconds)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GW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FD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32292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10 &lt; t ≤ 30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41"/>
                        </a:spcBef>
                        <a:tabLst>
                          <a:tab algn="l" pos="0"/>
                        </a:tabLst>
                      </a:pPr>
                      <a:endParaRPr b="0" lang="en-GB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0.25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2112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30 &lt; t ≤ 35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41"/>
                        </a:spcBef>
                        <a:tabLst>
                          <a:tab algn="l" pos="0"/>
                        </a:tabLst>
                      </a:pPr>
                      <a:endParaRPr b="0" lang="en-GB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0.8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2292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35 &lt; t ≤ 40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41"/>
                        </a:spcBef>
                        <a:tabLst>
                          <a:tab algn="l" pos="0"/>
                        </a:tabLst>
                      </a:pPr>
                      <a:endParaRPr b="0" lang="en-GB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1.6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2292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40 &lt; t ≤ 50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41"/>
                        </a:spcBef>
                        <a:tabLst>
                          <a:tab algn="l" pos="0"/>
                        </a:tabLst>
                      </a:pPr>
                      <a:endParaRPr b="0" lang="en-GB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2.7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21120"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50 &lt; t ≤ 70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41"/>
                        </a:spcBef>
                        <a:tabLst>
                          <a:tab algn="l" pos="0"/>
                        </a:tabLst>
                      </a:pPr>
                      <a:endParaRPr b="0" lang="en-GB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281"/>
                        </a:spcBef>
                        <a:tabLst>
                          <a:tab algn="l" pos="0"/>
                        </a:tabLst>
                      </a:pPr>
                      <a:r>
                        <a:rPr b="0" lang="en-GB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80" name="Rectangle 3"/>
          <p:cNvSpPr/>
          <p:nvPr/>
        </p:nvSpPr>
        <p:spPr>
          <a:xfrm>
            <a:off x="8589600" y="3995280"/>
            <a:ext cx="2088720" cy="1666440"/>
          </a:xfrm>
          <a:prstGeom prst="rect">
            <a:avLst/>
          </a:prstGeom>
          <a:solidFill>
            <a:srgbClr val="5b9bd5"/>
          </a:solidFill>
          <a:ln>
            <a:solidFill>
              <a:srgbClr val="000000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00000"/>
              </a:solidFill>
              <a:latin typeface="Calibri"/>
              <a:ea typeface="Microsoft YaHei"/>
            </a:endParaRPr>
          </a:p>
        </p:txBody>
      </p:sp>
      <p:grpSp>
        <p:nvGrpSpPr>
          <p:cNvPr id="481" name="Group 4"/>
          <p:cNvGrpSpPr/>
          <p:nvPr/>
        </p:nvGrpSpPr>
        <p:grpSpPr>
          <a:xfrm>
            <a:off x="4474800" y="5290560"/>
            <a:ext cx="2098800" cy="371520"/>
            <a:chOff x="4474800" y="5290560"/>
            <a:chExt cx="2098800" cy="371520"/>
          </a:xfrm>
        </p:grpSpPr>
        <p:sp>
          <p:nvSpPr>
            <p:cNvPr id="482" name="Rectangle 5"/>
            <p:cNvSpPr/>
            <p:nvPr/>
          </p:nvSpPr>
          <p:spPr>
            <a:xfrm>
              <a:off x="4474800" y="5290920"/>
              <a:ext cx="2098440" cy="371160"/>
            </a:xfrm>
            <a:prstGeom prst="rect">
              <a:avLst/>
            </a:prstGeom>
            <a:solidFill>
              <a:srgbClr val="5b9bd5"/>
            </a:solidFill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83" name="Line 6"/>
            <p:cNvSpPr/>
            <p:nvPr/>
          </p:nvSpPr>
          <p:spPr>
            <a:xfrm>
              <a:off x="6573240" y="5290560"/>
              <a:ext cx="360" cy="37152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84" name="Group 7"/>
          <p:cNvGrpSpPr/>
          <p:nvPr/>
        </p:nvGrpSpPr>
        <p:grpSpPr>
          <a:xfrm>
            <a:off x="6573600" y="4498560"/>
            <a:ext cx="505080" cy="1163520"/>
            <a:chOff x="6573600" y="4498560"/>
            <a:chExt cx="505080" cy="1163520"/>
          </a:xfrm>
        </p:grpSpPr>
        <p:sp>
          <p:nvSpPr>
            <p:cNvPr id="485" name="Rectangle 8"/>
            <p:cNvSpPr/>
            <p:nvPr/>
          </p:nvSpPr>
          <p:spPr>
            <a:xfrm>
              <a:off x="6573600" y="4498560"/>
              <a:ext cx="504360" cy="1163160"/>
            </a:xfrm>
            <a:prstGeom prst="rect">
              <a:avLst/>
            </a:prstGeom>
            <a:solidFill>
              <a:srgbClr val="5b9bd5"/>
            </a:solidFill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86" name="Line 9"/>
            <p:cNvSpPr/>
            <p:nvPr/>
          </p:nvSpPr>
          <p:spPr>
            <a:xfrm>
              <a:off x="7078320" y="4689000"/>
              <a:ext cx="360" cy="97308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87" name="Group 10"/>
          <p:cNvGrpSpPr/>
          <p:nvPr/>
        </p:nvGrpSpPr>
        <p:grpSpPr>
          <a:xfrm>
            <a:off x="7581240" y="1906200"/>
            <a:ext cx="1008000" cy="3755880"/>
            <a:chOff x="7581240" y="1906200"/>
            <a:chExt cx="1008000" cy="3755880"/>
          </a:xfrm>
        </p:grpSpPr>
        <p:sp>
          <p:nvSpPr>
            <p:cNvPr id="488" name="Rectangle 11"/>
            <p:cNvSpPr/>
            <p:nvPr/>
          </p:nvSpPr>
          <p:spPr>
            <a:xfrm>
              <a:off x="7581600" y="1906200"/>
              <a:ext cx="1007640" cy="3755520"/>
            </a:xfrm>
            <a:prstGeom prst="rect">
              <a:avLst/>
            </a:prstGeom>
            <a:solidFill>
              <a:srgbClr val="5b9bd5"/>
            </a:solidFill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89" name="Line 12"/>
            <p:cNvSpPr/>
            <p:nvPr/>
          </p:nvSpPr>
          <p:spPr>
            <a:xfrm>
              <a:off x="7581240" y="1906200"/>
              <a:ext cx="360" cy="375588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90" name="Group 13"/>
          <p:cNvGrpSpPr/>
          <p:nvPr/>
        </p:nvGrpSpPr>
        <p:grpSpPr>
          <a:xfrm>
            <a:off x="7078320" y="3418920"/>
            <a:ext cx="502920" cy="2243160"/>
            <a:chOff x="7078320" y="3418920"/>
            <a:chExt cx="502920" cy="2243160"/>
          </a:xfrm>
        </p:grpSpPr>
        <p:sp>
          <p:nvSpPr>
            <p:cNvPr id="491" name="Rectangle 14"/>
            <p:cNvSpPr/>
            <p:nvPr/>
          </p:nvSpPr>
          <p:spPr>
            <a:xfrm>
              <a:off x="7078320" y="3419280"/>
              <a:ext cx="502920" cy="2242800"/>
            </a:xfrm>
            <a:prstGeom prst="rect">
              <a:avLst/>
            </a:prstGeom>
            <a:solidFill>
              <a:srgbClr val="5b9bd5"/>
            </a:solidFill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  <p:sp>
          <p:nvSpPr>
            <p:cNvPr id="492" name="Line 15"/>
            <p:cNvSpPr/>
            <p:nvPr/>
          </p:nvSpPr>
          <p:spPr>
            <a:xfrm>
              <a:off x="7078320" y="3418920"/>
              <a:ext cx="502920" cy="36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endParaRPr>
            </a:p>
          </p:txBody>
        </p:sp>
      </p:grpSp>
      <p:grpSp>
        <p:nvGrpSpPr>
          <p:cNvPr id="493" name="Group 16"/>
          <p:cNvGrpSpPr/>
          <p:nvPr/>
        </p:nvGrpSpPr>
        <p:grpSpPr>
          <a:xfrm>
            <a:off x="2722320" y="821880"/>
            <a:ext cx="9324360" cy="5173560"/>
            <a:chOff x="2722320" y="821880"/>
            <a:chExt cx="9324360" cy="5173560"/>
          </a:xfrm>
        </p:grpSpPr>
        <p:sp>
          <p:nvSpPr>
            <p:cNvPr id="494" name="Text Box 17"/>
            <p:cNvSpPr/>
            <p:nvPr/>
          </p:nvSpPr>
          <p:spPr>
            <a:xfrm>
              <a:off x="4246200" y="5662080"/>
              <a:ext cx="53316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  <a:ea typeface="Microsoft YaHei"/>
                </a:rPr>
                <a:t>10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5" name="Text Box 18"/>
            <p:cNvSpPr/>
            <p:nvPr/>
          </p:nvSpPr>
          <p:spPr>
            <a:xfrm>
              <a:off x="5277960" y="5651280"/>
              <a:ext cx="53316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  <a:ea typeface="Microsoft YaHei"/>
                </a:rPr>
                <a:t>20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496" name="Group 23"/>
            <p:cNvGrpSpPr/>
            <p:nvPr/>
          </p:nvGrpSpPr>
          <p:grpSpPr>
            <a:xfrm>
              <a:off x="2722320" y="821880"/>
              <a:ext cx="9324360" cy="5173560"/>
              <a:chOff x="2722320" y="821880"/>
              <a:chExt cx="9324360" cy="5173560"/>
            </a:xfrm>
          </p:grpSpPr>
          <p:grpSp>
            <p:nvGrpSpPr>
              <p:cNvPr id="497" name="Group 24"/>
              <p:cNvGrpSpPr/>
              <p:nvPr/>
            </p:nvGrpSpPr>
            <p:grpSpPr>
              <a:xfrm>
                <a:off x="2722320" y="821880"/>
                <a:ext cx="9324360" cy="5162760"/>
                <a:chOff x="2722320" y="821880"/>
                <a:chExt cx="9324360" cy="5162760"/>
              </a:xfrm>
            </p:grpSpPr>
            <p:grpSp>
              <p:nvGrpSpPr>
                <p:cNvPr id="498" name="Group 25"/>
                <p:cNvGrpSpPr/>
                <p:nvPr/>
              </p:nvGrpSpPr>
              <p:grpSpPr>
                <a:xfrm>
                  <a:off x="2722320" y="821880"/>
                  <a:ext cx="9324360" cy="5162760"/>
                  <a:chOff x="2722320" y="821880"/>
                  <a:chExt cx="9324360" cy="5162760"/>
                </a:xfrm>
              </p:grpSpPr>
              <p:sp>
                <p:nvSpPr>
                  <p:cNvPr id="499" name="Line 26"/>
                  <p:cNvSpPr/>
                  <p:nvPr/>
                </p:nvSpPr>
                <p:spPr>
                  <a:xfrm>
                    <a:off x="4322160" y="5662080"/>
                    <a:ext cx="7391520" cy="36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  <a:tailEnd len="med" type="triangle" w="med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-44640" bIns="-4464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500" name="Line 27"/>
                  <p:cNvSpPr/>
                  <p:nvPr/>
                </p:nvSpPr>
                <p:spPr>
                  <a:xfrm flipV="1">
                    <a:off x="3636360" y="1395000"/>
                    <a:ext cx="360" cy="426708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  <a:tailEnd len="med" type="triangle" w="med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501" name="Text Box 28"/>
                  <p:cNvSpPr/>
                  <p:nvPr/>
                </p:nvSpPr>
                <p:spPr>
                  <a:xfrm>
                    <a:off x="2722320" y="821880"/>
                    <a:ext cx="1371240" cy="577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Frequency density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02" name="Text Box 29"/>
                  <p:cNvSpPr/>
                  <p:nvPr/>
                </p:nvSpPr>
                <p:spPr>
                  <a:xfrm>
                    <a:off x="10751760" y="5651280"/>
                    <a:ext cx="129492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Time t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03" name="Line 30"/>
                  <p:cNvSpPr/>
                  <p:nvPr/>
                </p:nvSpPr>
                <p:spPr>
                  <a:xfrm>
                    <a:off x="3636360" y="5662080"/>
                    <a:ext cx="152640" cy="36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-44640" bIns="-4464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504" name="Line 31"/>
                  <p:cNvSpPr/>
                  <p:nvPr/>
                </p:nvSpPr>
                <p:spPr>
                  <a:xfrm flipV="1">
                    <a:off x="3789000" y="5357160"/>
                    <a:ext cx="75960" cy="30492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505" name="Line 32"/>
                  <p:cNvSpPr/>
                  <p:nvPr/>
                </p:nvSpPr>
                <p:spPr>
                  <a:xfrm>
                    <a:off x="3864960" y="5357160"/>
                    <a:ext cx="228600" cy="60984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  <p:sp>
                <p:nvSpPr>
                  <p:cNvPr id="506" name="Line 33"/>
                  <p:cNvSpPr/>
                  <p:nvPr/>
                </p:nvSpPr>
                <p:spPr>
                  <a:xfrm flipV="1">
                    <a:off x="4093560" y="5662080"/>
                    <a:ext cx="228600" cy="30492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2400" spc="-1" strike="noStrike">
                      <a:solidFill>
                        <a:srgbClr val="000000"/>
                      </a:solidFill>
                      <a:latin typeface="Calibri"/>
                      <a:ea typeface="Microsoft YaHei"/>
                    </a:endParaRPr>
                  </a:p>
                </p:txBody>
              </p:sp>
            </p:grpSp>
            <p:grpSp>
              <p:nvGrpSpPr>
                <p:cNvPr id="507" name="Group 34"/>
                <p:cNvGrpSpPr/>
                <p:nvPr/>
              </p:nvGrpSpPr>
              <p:grpSpPr>
                <a:xfrm>
                  <a:off x="2950920" y="1318680"/>
                  <a:ext cx="685440" cy="3807000"/>
                  <a:chOff x="2950920" y="1318680"/>
                  <a:chExt cx="685440" cy="3807000"/>
                </a:xfrm>
              </p:grpSpPr>
              <p:sp>
                <p:nvSpPr>
                  <p:cNvPr id="508" name="Text Box 35"/>
                  <p:cNvSpPr/>
                  <p:nvPr/>
                </p:nvSpPr>
                <p:spPr>
                  <a:xfrm>
                    <a:off x="2950920" y="479232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0.5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09" name="Text Box 36"/>
                  <p:cNvSpPr/>
                  <p:nvPr/>
                </p:nvSpPr>
                <p:spPr>
                  <a:xfrm>
                    <a:off x="2950920" y="410652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1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10" name="Text Box 37"/>
                  <p:cNvSpPr/>
                  <p:nvPr/>
                </p:nvSpPr>
                <p:spPr>
                  <a:xfrm>
                    <a:off x="2950920" y="342072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1.5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11" name="Text Box 38"/>
                  <p:cNvSpPr/>
                  <p:nvPr/>
                </p:nvSpPr>
                <p:spPr>
                  <a:xfrm>
                    <a:off x="2950920" y="269028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2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12" name="Text Box 39"/>
                  <p:cNvSpPr/>
                  <p:nvPr/>
                </p:nvSpPr>
                <p:spPr>
                  <a:xfrm>
                    <a:off x="2950920" y="200448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2.5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  <p:sp>
                <p:nvSpPr>
                  <p:cNvPr id="513" name="Text Box 40"/>
                  <p:cNvSpPr/>
                  <p:nvPr/>
                </p:nvSpPr>
                <p:spPr>
                  <a:xfrm>
                    <a:off x="2950920" y="1318680"/>
                    <a:ext cx="685440" cy="3333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spAutoFit/>
                  </a:bodyPr>
                  <a:p>
                    <a:pPr algn="ctr" defTabSz="914400">
                      <a:lnSpc>
                        <a:spcPct val="100000"/>
                      </a:lnSpc>
                      <a:spcBef>
                        <a:spcPts val="799"/>
                      </a:spcBef>
                    </a:pPr>
                    <a:r>
                      <a:rPr b="0" lang="en-GB" sz="1600" spc="-1" strike="noStrike">
                        <a:solidFill>
                          <a:srgbClr val="000000"/>
                        </a:solidFill>
                        <a:latin typeface="Calibri"/>
                        <a:ea typeface="Microsoft YaHei"/>
                      </a:rPr>
                      <a:t>3</a:t>
                    </a:r>
                    <a:endParaRPr b="0" lang="en-US" sz="1600" spc="-1" strike="noStrike">
                      <a:solidFill>
                        <a:srgbClr val="000000"/>
                      </a:solidFill>
                      <a:latin typeface="Arial"/>
                    </a:endParaRPr>
                  </a:p>
                </p:txBody>
              </p:sp>
            </p:grpSp>
          </p:grpSp>
          <p:sp>
            <p:nvSpPr>
              <p:cNvPr id="514" name="Text Box 41"/>
              <p:cNvSpPr/>
              <p:nvPr/>
            </p:nvSpPr>
            <p:spPr>
              <a:xfrm>
                <a:off x="3179520" y="5662080"/>
                <a:ext cx="533160" cy="333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799"/>
                  </a:spcBef>
                </a:pPr>
                <a:r>
                  <a:rPr b="0" lang="en-GB" sz="1600" spc="-1" strike="noStrike">
                    <a:solidFill>
                      <a:srgbClr val="000000"/>
                    </a:solidFill>
                    <a:latin typeface="Calibri"/>
                    <a:ea typeface="Microsoft YaHei"/>
                  </a:rPr>
                  <a:t>0</a:t>
                </a:r>
                <a:endParaRPr b="0" lang="en-US" sz="16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515" name="Text Box 18"/>
          <p:cNvSpPr/>
          <p:nvPr/>
        </p:nvSpPr>
        <p:spPr>
          <a:xfrm>
            <a:off x="6357600" y="565128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30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Box 17"/>
          <p:cNvSpPr/>
          <p:nvPr/>
        </p:nvSpPr>
        <p:spPr>
          <a:xfrm>
            <a:off x="7365600" y="565128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40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Box 17"/>
          <p:cNvSpPr/>
          <p:nvPr/>
        </p:nvSpPr>
        <p:spPr>
          <a:xfrm>
            <a:off x="8373600" y="565128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50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 Box 17"/>
          <p:cNvSpPr/>
          <p:nvPr/>
        </p:nvSpPr>
        <p:spPr>
          <a:xfrm>
            <a:off x="9454680" y="565128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60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Box 17"/>
          <p:cNvSpPr/>
          <p:nvPr/>
        </p:nvSpPr>
        <p:spPr>
          <a:xfrm>
            <a:off x="10463040" y="5651280"/>
            <a:ext cx="53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  <a:ea typeface="Microsoft YaHei"/>
              </a:rPr>
              <a:t>70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01"/>
          <p:cNvSpPr/>
          <p:nvPr/>
        </p:nvSpPr>
        <p:spPr>
          <a:xfrm>
            <a:off x="9710280" y="1470600"/>
            <a:ext cx="1106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20 × 0.25 = </a:t>
            </a:r>
            <a:r>
              <a:rPr b="1" lang="en-GB" sz="1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02"/>
          <p:cNvSpPr/>
          <p:nvPr/>
        </p:nvSpPr>
        <p:spPr>
          <a:xfrm>
            <a:off x="9820440" y="1776960"/>
            <a:ext cx="92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5 × 0.8 = </a:t>
            </a:r>
            <a:r>
              <a:rPr b="1" lang="en-GB" sz="1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103"/>
          <p:cNvSpPr/>
          <p:nvPr/>
        </p:nvSpPr>
        <p:spPr>
          <a:xfrm>
            <a:off x="10117080" y="2084760"/>
            <a:ext cx="31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en-GB" sz="1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8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Cloud 104"/>
          <p:cNvSpPr/>
          <p:nvPr/>
        </p:nvSpPr>
        <p:spPr>
          <a:xfrm>
            <a:off x="3570120" y="3139560"/>
            <a:ext cx="7016400" cy="2369880"/>
          </a:xfrm>
          <a:prstGeom prst="cloud">
            <a:avLst/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449280">
              <a:lnSpc>
                <a:spcPct val="93000"/>
              </a:lnSpc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rPr>
              <a:t>To find the frequency, all you need to do is remember that the frequency is the AREA of each bar.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449280">
              <a:lnSpc>
                <a:spcPct val="93000"/>
              </a:lnSpc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  <a:ea typeface="Microsoft YaHei"/>
              </a:rPr>
              <a:t>GW and FD are the length and width of the bar!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105"/>
          <p:cNvSpPr/>
          <p:nvPr/>
        </p:nvSpPr>
        <p:spPr>
          <a:xfrm>
            <a:off x="10105920" y="2406240"/>
            <a:ext cx="40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en-GB" sz="1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27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106"/>
          <p:cNvSpPr/>
          <p:nvPr/>
        </p:nvSpPr>
        <p:spPr>
          <a:xfrm>
            <a:off x="10105920" y="2746440"/>
            <a:ext cx="40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en-GB" sz="1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24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Cloud Callout 107"/>
          <p:cNvSpPr/>
          <p:nvPr/>
        </p:nvSpPr>
        <p:spPr>
          <a:xfrm>
            <a:off x="4779720" y="893880"/>
            <a:ext cx="3238200" cy="1344240"/>
          </a:xfrm>
          <a:prstGeom prst="cloudCallout">
            <a:avLst>
              <a:gd name="adj1" fmla="val 147736"/>
              <a:gd name="adj2" fmla="val -23768"/>
            </a:avLst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First read the GW and the FD off the histogram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ectangle 108"/>
          <p:cNvSpPr/>
          <p:nvPr/>
        </p:nvSpPr>
        <p:spPr>
          <a:xfrm>
            <a:off x="10996200" y="151776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Rectangle 109"/>
          <p:cNvSpPr/>
          <p:nvPr/>
        </p:nvSpPr>
        <p:spPr>
          <a:xfrm>
            <a:off x="10966680" y="183024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Rectangle 110"/>
          <p:cNvSpPr/>
          <p:nvPr/>
        </p:nvSpPr>
        <p:spPr>
          <a:xfrm>
            <a:off x="10966680" y="216576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Rectangle 111"/>
          <p:cNvSpPr/>
          <p:nvPr/>
        </p:nvSpPr>
        <p:spPr>
          <a:xfrm>
            <a:off x="10966680" y="247824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Rectangle 112"/>
          <p:cNvSpPr/>
          <p:nvPr/>
        </p:nvSpPr>
        <p:spPr>
          <a:xfrm>
            <a:off x="10966680" y="281376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2" name="Rectangle 113"/>
          <p:cNvSpPr/>
          <p:nvPr/>
        </p:nvSpPr>
        <p:spPr>
          <a:xfrm>
            <a:off x="11470680" y="281376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Rectangle 114"/>
          <p:cNvSpPr/>
          <p:nvPr/>
        </p:nvSpPr>
        <p:spPr>
          <a:xfrm>
            <a:off x="11470680" y="2478240"/>
            <a:ext cx="18612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115"/>
          <p:cNvSpPr/>
          <p:nvPr/>
        </p:nvSpPr>
        <p:spPr>
          <a:xfrm>
            <a:off x="11470680" y="2190240"/>
            <a:ext cx="242640" cy="1436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116"/>
          <p:cNvSpPr/>
          <p:nvPr/>
        </p:nvSpPr>
        <p:spPr>
          <a:xfrm>
            <a:off x="11470680" y="1830240"/>
            <a:ext cx="24264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Rectangle 117"/>
          <p:cNvSpPr/>
          <p:nvPr/>
        </p:nvSpPr>
        <p:spPr>
          <a:xfrm>
            <a:off x="11398680" y="1517760"/>
            <a:ext cx="314640" cy="16776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Rectangle 118"/>
          <p:cNvSpPr/>
          <p:nvPr/>
        </p:nvSpPr>
        <p:spPr>
          <a:xfrm>
            <a:off x="0" y="1301400"/>
            <a:ext cx="2950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Example – From the histogram, find the frequency of each group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49" dur="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76" dur="1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35"/>
          <p:cNvSpPr/>
          <p:nvPr/>
        </p:nvSpPr>
        <p:spPr>
          <a:xfrm>
            <a:off x="18360" y="496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36"/>
          <p:cNvSpPr/>
          <p:nvPr/>
        </p:nvSpPr>
        <p:spPr>
          <a:xfrm>
            <a:off x="18360" y="496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37"/>
          <p:cNvSpPr/>
          <p:nvPr/>
        </p:nvSpPr>
        <p:spPr>
          <a:xfrm>
            <a:off x="725400" y="633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READING A HISTOGRAM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38"/>
          <p:cNvSpPr/>
          <p:nvPr/>
        </p:nvSpPr>
        <p:spPr>
          <a:xfrm>
            <a:off x="690840" y="315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Frequency of a Group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Placeholder 2"/>
          <p:cNvSpPr/>
          <p:nvPr/>
        </p:nvSpPr>
        <p:spPr>
          <a:xfrm>
            <a:off x="2722320" y="38952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8" name="Rectangle 119"/>
          <p:cNvSpPr/>
          <p:nvPr/>
        </p:nvSpPr>
        <p:spPr>
          <a:xfrm>
            <a:off x="385920" y="2660040"/>
            <a:ext cx="5877720" cy="3932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 Placeholder 2"/>
          <p:cNvSpPr/>
          <p:nvPr/>
        </p:nvSpPr>
        <p:spPr>
          <a:xfrm>
            <a:off x="385920" y="100368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Exam question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21"/>
          <p:cNvSpPr/>
          <p:nvPr/>
        </p:nvSpPr>
        <p:spPr>
          <a:xfrm>
            <a:off x="358920" y="1281960"/>
            <a:ext cx="40716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a) Use the information on the histogram to complete the table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b) Use the table to complete the histogram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1" name="Picture 2" descr=""/>
          <p:cNvPicPr/>
          <p:nvPr/>
        </p:nvPicPr>
        <p:blipFill>
          <a:blip r:embed="rId1"/>
          <a:stretch/>
        </p:blipFill>
        <p:spPr>
          <a:xfrm>
            <a:off x="349560" y="2406240"/>
            <a:ext cx="5914440" cy="4285800"/>
          </a:xfrm>
          <a:prstGeom prst="rect">
            <a:avLst/>
          </a:prstGeom>
          <a:ln w="9525">
            <a:noFill/>
          </a:ln>
        </p:spPr>
      </p:pic>
      <p:graphicFrame>
        <p:nvGraphicFramePr>
          <p:cNvPr id="582" name="Table 123"/>
          <p:cNvGraphicFramePr/>
          <p:nvPr/>
        </p:nvGraphicFramePr>
        <p:xfrm>
          <a:off x="4931280" y="1091880"/>
          <a:ext cx="4490640" cy="2000160"/>
        </p:xfrm>
        <a:graphic>
          <a:graphicData uri="http://schemas.openxmlformats.org/drawingml/2006/table">
            <a:tbl>
              <a:tblPr/>
              <a:tblGrid>
                <a:gridCol w="1394640"/>
                <a:gridCol w="1224000"/>
                <a:gridCol w="936000"/>
                <a:gridCol w="936000"/>
              </a:tblGrid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Time (m)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Frequency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GW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FD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0 &lt; </a:t>
                      </a:r>
                      <a:r>
                        <a:rPr b="0" i="1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</a:t>
                      </a: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 ≤ 10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20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10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10 &lt; </a:t>
                      </a:r>
                      <a:r>
                        <a:rPr b="0" i="1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 </a:t>
                      </a: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≤ 15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5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15 &lt; </a:t>
                      </a:r>
                      <a:r>
                        <a:rPr b="0" i="1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</a:t>
                      </a: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 ≤ 30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15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30 &lt; </a:t>
                      </a:r>
                      <a:r>
                        <a:rPr b="0" i="1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</a:t>
                      </a: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 ≤ 50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62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20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3336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50 &lt; </a:t>
                      </a:r>
                      <a:r>
                        <a:rPr b="0" i="1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t</a:t>
                      </a: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 ≤ 60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23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r>
                        <a:rPr b="0" lang="en-US" sz="1600" spc="-1" strike="noStrike">
                          <a:solidFill>
                            <a:schemeClr val="dk1"/>
                          </a:solidFill>
                          <a:latin typeface="Calibri"/>
                          <a:ea typeface="Times New Roman"/>
                        </a:rPr>
                        <a:t>10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tabLst>
                          <a:tab algn="l" pos="457200"/>
                          <a:tab algn="l" pos="914400"/>
                          <a:tab algn="l" pos="1371600"/>
                          <a:tab algn="l" pos="1828800"/>
                          <a:tab algn="l" pos="2286000"/>
                          <a:tab algn="l" pos="2743200"/>
                          <a:tab algn="l" pos="3200400"/>
                          <a:tab algn="l" pos="3657600"/>
                          <a:tab algn="l" pos="4114800"/>
                          <a:tab algn="l" pos="4572000"/>
                          <a:tab algn="l" pos="5029200"/>
                          <a:tab algn="l" pos="5486400"/>
                          <a:tab algn="l" pos="5943600"/>
                          <a:tab algn="l" pos="6400800"/>
                        </a:tabLst>
                      </a:pPr>
                      <a:endParaRPr b="0" lang="en-US" sz="1600" spc="-1" strike="noStrike">
                        <a:solidFill>
                          <a:schemeClr val="dk1"/>
                        </a:solidFill>
                        <a:latin typeface="Calibri"/>
                        <a:ea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83" name="TextBox 124"/>
          <p:cNvSpPr/>
          <p:nvPr/>
        </p:nvSpPr>
        <p:spPr>
          <a:xfrm>
            <a:off x="8835120" y="142668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125"/>
          <p:cNvSpPr/>
          <p:nvPr/>
        </p:nvSpPr>
        <p:spPr>
          <a:xfrm>
            <a:off x="855720" y="467640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126"/>
          <p:cNvSpPr/>
          <p:nvPr/>
        </p:nvSpPr>
        <p:spPr>
          <a:xfrm>
            <a:off x="855720" y="538704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127"/>
          <p:cNvSpPr/>
          <p:nvPr/>
        </p:nvSpPr>
        <p:spPr>
          <a:xfrm>
            <a:off x="857160" y="392184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128"/>
          <p:cNvSpPr/>
          <p:nvPr/>
        </p:nvSpPr>
        <p:spPr>
          <a:xfrm>
            <a:off x="855720" y="316404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129"/>
          <p:cNvSpPr/>
          <p:nvPr/>
        </p:nvSpPr>
        <p:spPr>
          <a:xfrm>
            <a:off x="914040" y="251604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130"/>
          <p:cNvSpPr/>
          <p:nvPr/>
        </p:nvSpPr>
        <p:spPr>
          <a:xfrm>
            <a:off x="8848440" y="172404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131"/>
          <p:cNvSpPr/>
          <p:nvPr/>
        </p:nvSpPr>
        <p:spPr>
          <a:xfrm>
            <a:off x="8848440" y="2074680"/>
            <a:ext cx="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132"/>
          <p:cNvSpPr/>
          <p:nvPr/>
        </p:nvSpPr>
        <p:spPr>
          <a:xfrm>
            <a:off x="6761160" y="1724040"/>
            <a:ext cx="412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15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33"/>
          <p:cNvSpPr/>
          <p:nvPr/>
        </p:nvSpPr>
        <p:spPr>
          <a:xfrm>
            <a:off x="6761160" y="2074680"/>
            <a:ext cx="412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60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34"/>
          <p:cNvSpPr/>
          <p:nvPr/>
        </p:nvSpPr>
        <p:spPr>
          <a:xfrm>
            <a:off x="8776800" y="2372040"/>
            <a:ext cx="47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3.1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135"/>
          <p:cNvSpPr/>
          <p:nvPr/>
        </p:nvSpPr>
        <p:spPr>
          <a:xfrm>
            <a:off x="8776800" y="2700720"/>
            <a:ext cx="47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2.3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ectangle 136"/>
          <p:cNvSpPr/>
          <p:nvPr/>
        </p:nvSpPr>
        <p:spPr>
          <a:xfrm>
            <a:off x="7550280" y="1019520"/>
            <a:ext cx="1979280" cy="2110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Cloud Callout 137"/>
          <p:cNvSpPr/>
          <p:nvPr/>
        </p:nvSpPr>
        <p:spPr>
          <a:xfrm>
            <a:off x="6398280" y="3092040"/>
            <a:ext cx="2952000" cy="1439640"/>
          </a:xfrm>
          <a:prstGeom prst="cloudCallout">
            <a:avLst>
              <a:gd name="adj1" fmla="val -213138"/>
              <a:gd name="adj2" fmla="val 112726"/>
            </a:avLst>
          </a:prstGeom>
          <a:solidFill>
            <a:srgbClr val="ffffff"/>
          </a:solidFill>
          <a:ln>
            <a:solidFill>
              <a:srgbClr val="ffc00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Find the bar where you ALSO have the info in the table…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Cloud Callout 138"/>
          <p:cNvSpPr/>
          <p:nvPr/>
        </p:nvSpPr>
        <p:spPr>
          <a:xfrm>
            <a:off x="6408360" y="3596040"/>
            <a:ext cx="2952000" cy="1439640"/>
          </a:xfrm>
          <a:prstGeom prst="cloudCallout">
            <a:avLst>
              <a:gd name="adj1" fmla="val 51743"/>
              <a:gd name="adj2" fmla="val 76715"/>
            </a:avLst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Calculate the FD of that bar, and use it to label the FD axis on the graph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Cloud Callout 139"/>
          <p:cNvSpPr/>
          <p:nvPr/>
        </p:nvSpPr>
        <p:spPr>
          <a:xfrm>
            <a:off x="6420600" y="4028400"/>
            <a:ext cx="2952000" cy="1439640"/>
          </a:xfrm>
          <a:prstGeom prst="cloudCallout">
            <a:avLst>
              <a:gd name="adj1" fmla="val 51743"/>
              <a:gd name="adj2" fmla="val 76715"/>
            </a:avLst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Read off the FD of the other bars on the graph, and use that  to calculate F for these bars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Cloud Callout 140"/>
          <p:cNvSpPr/>
          <p:nvPr/>
        </p:nvSpPr>
        <p:spPr>
          <a:xfrm>
            <a:off x="6542280" y="4532400"/>
            <a:ext cx="2952000" cy="1439640"/>
          </a:xfrm>
          <a:prstGeom prst="cloudCallout">
            <a:avLst>
              <a:gd name="adj1" fmla="val 51743"/>
              <a:gd name="adj2" fmla="val 76715"/>
            </a:avLst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400" spc="-1" strike="noStrike">
                <a:solidFill>
                  <a:schemeClr val="dk1"/>
                </a:solidFill>
                <a:latin typeface="Calibri"/>
              </a:rPr>
              <a:t>Calculate FD for the rest of the table, and use these values to draw the rest of the histogram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ectangle 141"/>
          <p:cNvSpPr/>
          <p:nvPr/>
        </p:nvSpPr>
        <p:spPr>
          <a:xfrm>
            <a:off x="3324960" y="4028400"/>
            <a:ext cx="1416600" cy="2219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Rectangle 142"/>
          <p:cNvSpPr/>
          <p:nvPr/>
        </p:nvSpPr>
        <p:spPr>
          <a:xfrm>
            <a:off x="4741920" y="4591800"/>
            <a:ext cx="719640" cy="16556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7" dur="indefinite" restart="never" nodeType="tmRoot">
          <p:childTnLst>
            <p:seq>
              <p:cTn id="98" dur="indefinite" nodeType="mainSeq">
                <p:childTnLst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Frequency density = frequency ÷ width;  frequency = the bar’s area.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FD = frequency ÷ class width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frequency = FD × width (area)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Bars touch; widths can differ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Part of a class → area of that part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39"/>
          <p:cNvSpPr/>
          <p:nvPr/>
        </p:nvSpPr>
        <p:spPr>
          <a:xfrm>
            <a:off x="3174120" y="1408320"/>
            <a:ext cx="5842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4" name="Image 0" descr="/tmp/work/hgq/q-12.png"/>
          <p:cNvPicPr/>
          <p:nvPr/>
        </p:nvPicPr>
        <p:blipFill>
          <a:blip r:embed="rId1"/>
          <a:stretch/>
        </p:blipFill>
        <p:spPr>
          <a:xfrm>
            <a:off x="3247560" y="1481400"/>
            <a:ext cx="5696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39"/>
          <p:cNvSpPr/>
          <p:nvPr/>
        </p:nvSpPr>
        <p:spPr>
          <a:xfrm>
            <a:off x="3758760" y="1408320"/>
            <a:ext cx="46735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5" name="Image 0" descr="/tmp/work/hgq/q-13.png"/>
          <p:cNvPicPr/>
          <p:nvPr/>
        </p:nvPicPr>
        <p:blipFill>
          <a:blip r:embed="rId1"/>
          <a:stretch/>
        </p:blipFill>
        <p:spPr>
          <a:xfrm>
            <a:off x="3832200" y="1481400"/>
            <a:ext cx="45273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39"/>
          <p:cNvSpPr/>
          <p:nvPr/>
        </p:nvSpPr>
        <p:spPr>
          <a:xfrm>
            <a:off x="2407680" y="1408320"/>
            <a:ext cx="73760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6" name="Image 0" descr="/tmp/work/hgq/q-14.png"/>
          <p:cNvPicPr/>
          <p:nvPr/>
        </p:nvPicPr>
        <p:blipFill>
          <a:blip r:embed="rId1"/>
          <a:stretch/>
        </p:blipFill>
        <p:spPr>
          <a:xfrm>
            <a:off x="2480760" y="1481400"/>
            <a:ext cx="72295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39"/>
          <p:cNvSpPr/>
          <p:nvPr/>
        </p:nvSpPr>
        <p:spPr>
          <a:xfrm>
            <a:off x="3907800" y="1408320"/>
            <a:ext cx="4375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7" name="Image 0" descr="/tmp/work/hgq/q-15.png"/>
          <p:cNvPicPr/>
          <p:nvPr/>
        </p:nvPicPr>
        <p:blipFill>
          <a:blip r:embed="rId1"/>
          <a:stretch/>
        </p:blipFill>
        <p:spPr>
          <a:xfrm>
            <a:off x="3980880" y="1481400"/>
            <a:ext cx="42296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39"/>
          <p:cNvSpPr/>
          <p:nvPr/>
        </p:nvSpPr>
        <p:spPr>
          <a:xfrm>
            <a:off x="2215080" y="1408320"/>
            <a:ext cx="77612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8" name="Image 0" descr="/tmp/work/hgq/q-16.png"/>
          <p:cNvPicPr/>
          <p:nvPr/>
        </p:nvPicPr>
        <p:blipFill>
          <a:blip r:embed="rId1"/>
          <a:stretch/>
        </p:blipFill>
        <p:spPr>
          <a:xfrm>
            <a:off x="2288160" y="1481400"/>
            <a:ext cx="76150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39"/>
          <p:cNvSpPr/>
          <p:nvPr/>
        </p:nvSpPr>
        <p:spPr>
          <a:xfrm>
            <a:off x="3266280" y="1408320"/>
            <a:ext cx="56588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9" name="Image 0" descr="/tmp/work/hgq/q-17.png"/>
          <p:cNvPicPr/>
          <p:nvPr/>
        </p:nvPicPr>
        <p:blipFill>
          <a:blip r:embed="rId1"/>
          <a:stretch/>
        </p:blipFill>
        <p:spPr>
          <a:xfrm>
            <a:off x="3339360" y="1481400"/>
            <a:ext cx="55123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39"/>
          <p:cNvSpPr/>
          <p:nvPr/>
        </p:nvSpPr>
        <p:spPr>
          <a:xfrm>
            <a:off x="3380400" y="1408320"/>
            <a:ext cx="54309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0" name="Image 0" descr="/tmp/work/hgq/q-18.png"/>
          <p:cNvPicPr/>
          <p:nvPr/>
        </p:nvPicPr>
        <p:blipFill>
          <a:blip r:embed="rId1"/>
          <a:stretch/>
        </p:blipFill>
        <p:spPr>
          <a:xfrm>
            <a:off x="3453480" y="1481400"/>
            <a:ext cx="52844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39"/>
          <p:cNvSpPr/>
          <p:nvPr/>
        </p:nvSpPr>
        <p:spPr>
          <a:xfrm>
            <a:off x="2426760" y="1408320"/>
            <a:ext cx="73382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1" name="Image 0" descr="/tmp/work/hgq/q-19.png"/>
          <p:cNvPicPr/>
          <p:nvPr/>
        </p:nvPicPr>
        <p:blipFill>
          <a:blip r:embed="rId1"/>
          <a:stretch/>
        </p:blipFill>
        <p:spPr>
          <a:xfrm>
            <a:off x="2499840" y="1481400"/>
            <a:ext cx="71917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39"/>
          <p:cNvSpPr/>
          <p:nvPr/>
        </p:nvSpPr>
        <p:spPr>
          <a:xfrm>
            <a:off x="3307680" y="792360"/>
            <a:ext cx="6486480" cy="583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2" name="Image 0" descr="/tmp/work/hgq/q-20.png"/>
          <p:cNvPicPr/>
          <p:nvPr/>
        </p:nvPicPr>
        <p:blipFill>
          <a:blip r:embed="rId1"/>
          <a:stretch/>
        </p:blipFill>
        <p:spPr>
          <a:xfrm>
            <a:off x="3380760" y="653040"/>
            <a:ext cx="6316200" cy="590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histogram shows grouped data; bars touch and can have different widths.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The vertical axis is FREQUENCY DENSITY, not frequency.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Frequency density = frequency ÷ class width.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Frequency = frequency density × class width — the AREA of the bar.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For part of a class, use the area of just that part (same frequency density).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AREA = frequency.  Height is frequency density = frequency ÷ width.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LibreOffice/24.2.7.2$Linux_X86_64 LibreOffice_project/420$Build-2</Application>
  <AppVersion>15.0000</AppVersion>
  <Words>1157</Words>
  <Paragraphs>303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2026-07-17T12:00:23Z</dcterms:created>
  <dc:creator>Zahra Sheikh Ali</dc:creator>
  <dc:description/>
  <dc:language>en-US</dc:language>
  <cp:lastModifiedBy>zahraa sheik ali</cp:lastModifiedBy>
  <dcterms:modified xsi:type="dcterms:W3CDTF">2026-08-06T16:57:48Z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19</vt:r8>
  </property>
  <property fmtid="{D5CDD505-2E9C-101B-9397-08002B2CF9AE}" pid="3" name="PresentationFormat">
    <vt:lpwstr>Custom</vt:lpwstr>
  </property>
  <property fmtid="{D5CDD505-2E9C-101B-9397-08002B2CF9AE}" pid="4" name="Slides">
    <vt:r8>19</vt:r8>
  </property>
</Properties>
</file>