
<file path=[Content_Types].xml><?xml version="1.0" encoding="utf-8"?>
<Types xmlns="http://schemas.openxmlformats.org/package/2006/content-types"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5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-946" y="-34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C73773-D787-4E9F-8ACE-53B1511A3CD7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5FE307-2228-4539-8AAF-D2F73D99EE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201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0" y="914400"/>
            <a:ext cx="0" cy="1554480"/>
          </a:xfrm>
          <a:prstGeom prst="line">
            <a:avLst/>
          </a:prstGeom>
          <a:noFill/>
          <a:ln w="15240">
            <a:solidFill>
              <a:srgbClr val="5C6B6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778240" y="2468880"/>
            <a:ext cx="2651760" cy="0"/>
          </a:xfrm>
          <a:prstGeom prst="line">
            <a:avLst/>
          </a:prstGeom>
          <a:noFill/>
          <a:ln w="15240">
            <a:solidFill>
              <a:srgbClr val="5C6B6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778240" y="2181013"/>
            <a:ext cx="883920" cy="287867"/>
          </a:xfrm>
          <a:prstGeom prst="rect">
            <a:avLst/>
          </a:prstGeom>
          <a:solidFill>
            <a:srgbClr val="EEF1E8">
              <a:alpha val="92000"/>
            </a:srgbClr>
          </a:solidFill>
          <a:ln w="20320">
            <a:solidFill>
              <a:srgbClr val="C84F2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62160" y="1547707"/>
            <a:ext cx="441960" cy="921173"/>
          </a:xfrm>
          <a:prstGeom prst="rect">
            <a:avLst/>
          </a:prstGeom>
          <a:solidFill>
            <a:srgbClr val="FBF3DD">
              <a:alpha val="92000"/>
            </a:srgbClr>
          </a:solidFill>
          <a:ln w="20320">
            <a:solidFill>
              <a:srgbClr val="C84F2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04120" y="914400"/>
            <a:ext cx="441960" cy="1554480"/>
          </a:xfrm>
          <a:prstGeom prst="rect">
            <a:avLst/>
          </a:prstGeom>
          <a:solidFill>
            <a:srgbClr val="EEF1E8">
              <a:alpha val="92000"/>
            </a:srgbClr>
          </a:solidFill>
          <a:ln w="20320">
            <a:solidFill>
              <a:srgbClr val="C84F2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46080" y="1893147"/>
            <a:ext cx="883920" cy="575733"/>
          </a:xfrm>
          <a:prstGeom prst="rect">
            <a:avLst/>
          </a:prstGeom>
          <a:solidFill>
            <a:srgbClr val="FBF3DD">
              <a:alpha val="92000"/>
            </a:srgbClr>
          </a:solidFill>
          <a:ln w="20320">
            <a:solidFill>
              <a:srgbClr val="C84F2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77240" y="6400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623D"/>
          </a:solidFill>
          <a:ln/>
        </p:spPr>
      </p:sp>
      <p:sp>
        <p:nvSpPr>
          <p:cNvPr id="44" name="Text 42"/>
          <p:cNvSpPr/>
          <p:nvPr/>
        </p:nvSpPr>
        <p:spPr>
          <a:xfrm>
            <a:off x="777240" y="640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2160" dirty="0"/>
          </a:p>
        </p:txBody>
      </p:sp>
      <p:sp>
        <p:nvSpPr>
          <p:cNvPr id="45" name="Text 43"/>
          <p:cNvSpPr/>
          <p:nvPr/>
        </p:nvSpPr>
        <p:spPr>
          <a:xfrm>
            <a:off x="1600200" y="60350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Zπ  MATHS HUB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60020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IGCSE (9–1) · Higher Tier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777240" y="22402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Histograms</a:t>
            </a:r>
            <a:endParaRPr lang="en-US" sz="3800" dirty="0"/>
          </a:p>
        </p:txBody>
      </p:sp>
      <p:sp>
        <p:nvSpPr>
          <p:cNvPr id="48" name="Text 46"/>
          <p:cNvSpPr/>
          <p:nvPr/>
        </p:nvSpPr>
        <p:spPr>
          <a:xfrm>
            <a:off x="804672" y="33101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 Charts vs Histograms · Frequency Density · Area = Frequency · Drawing &amp; Reading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77240" y="4297680"/>
            <a:ext cx="6766560" cy="1691640"/>
          </a:xfrm>
          <a:prstGeom prst="roundRect">
            <a:avLst>
              <a:gd name="adj" fmla="val 3243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1097280" y="449884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Zahra Sheikh Ali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1097280" y="495604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9D2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IGCSE Mathematics Teacher  ·  M.Sc. Differential Geometry &amp; Geometric Control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1097280" y="539496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  66613748      ✉  zahraa.sheikhali@outlook.com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OVERVIEW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Class Widths Are Not Equal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481328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48132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histogram shows grouped continuous data.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 bar chart, the bars can be different widths — so it is the AREA, not the height, that shows the frequency. The height is the FREQUENCY DENSITY.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66928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22960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1435608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 chart vs histogram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343400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599432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4599432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5212080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Frequency density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8119872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375904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375904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8988552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 = frequency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566928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22960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7" name="Text 55"/>
          <p:cNvSpPr/>
          <p:nvPr/>
        </p:nvSpPr>
        <p:spPr>
          <a:xfrm>
            <a:off x="822960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1435608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GW &amp; FD (table)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4343400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599432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1" name="Text 59"/>
          <p:cNvSpPr/>
          <p:nvPr/>
        </p:nvSpPr>
        <p:spPr>
          <a:xfrm>
            <a:off x="4599432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5212080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Drawing &amp; reading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8119872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8375904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5" name="Text 63"/>
          <p:cNvSpPr/>
          <p:nvPr/>
        </p:nvSpPr>
        <p:spPr>
          <a:xfrm>
            <a:off x="8375904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8988552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Past-paper questions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words:  </a:t>
            </a:r>
            <a:r>
              <a:rPr lang="en-US" sz="13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· frequency density · class / group width · area = frequency · continuous data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IDEA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 Chart vs Histogram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28016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28016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look similar, but a histogram is for grouped data with (often) unequal widths.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change: the vertical axis.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66928" y="2240280"/>
            <a:ext cx="5440680" cy="3200400"/>
          </a:xfrm>
          <a:prstGeom prst="roundRect">
            <a:avLst>
              <a:gd name="adj" fmla="val 1714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932688" y="247802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 CHART</a:t>
            </a:r>
            <a:endParaRPr lang="en-US" sz="1700" dirty="0"/>
          </a:p>
        </p:txBody>
      </p:sp>
      <p:sp>
        <p:nvSpPr>
          <p:cNvPr id="45" name="Shape 43"/>
          <p:cNvSpPr/>
          <p:nvPr/>
        </p:nvSpPr>
        <p:spPr>
          <a:xfrm>
            <a:off x="868680" y="3063240"/>
            <a:ext cx="146304" cy="14630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6" name="Text 44"/>
          <p:cNvSpPr/>
          <p:nvPr/>
        </p:nvSpPr>
        <p:spPr>
          <a:xfrm>
            <a:off x="1143000" y="29718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Bars have GAPS between them.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868680" y="3630168"/>
            <a:ext cx="146304" cy="14630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8" name="Text 46"/>
          <p:cNvSpPr/>
          <p:nvPr/>
        </p:nvSpPr>
        <p:spPr>
          <a:xfrm>
            <a:off x="1143000" y="353872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bars the SAME width.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868680" y="4197096"/>
            <a:ext cx="146304" cy="14630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0" name="Text 48"/>
          <p:cNvSpPr/>
          <p:nvPr/>
        </p:nvSpPr>
        <p:spPr>
          <a:xfrm>
            <a:off x="1143000" y="410565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Vertical axis = FREQUENCY.</a:t>
            </a:r>
            <a:endParaRPr lang="en-US" sz="1350" dirty="0"/>
          </a:p>
        </p:txBody>
      </p:sp>
      <p:sp>
        <p:nvSpPr>
          <p:cNvPr id="51" name="Shape 49"/>
          <p:cNvSpPr/>
          <p:nvPr/>
        </p:nvSpPr>
        <p:spPr>
          <a:xfrm>
            <a:off x="868680" y="4764024"/>
            <a:ext cx="146304" cy="14630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2" name="Text 50"/>
          <p:cNvSpPr/>
          <p:nvPr/>
        </p:nvSpPr>
        <p:spPr>
          <a:xfrm>
            <a:off x="1143000" y="467258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Height shows the frequency.</a:t>
            </a:r>
            <a:endParaRPr lang="en-US" sz="1350" dirty="0"/>
          </a:p>
        </p:txBody>
      </p:sp>
      <p:sp>
        <p:nvSpPr>
          <p:cNvPr id="53" name="Shape 51"/>
          <p:cNvSpPr/>
          <p:nvPr/>
        </p:nvSpPr>
        <p:spPr>
          <a:xfrm>
            <a:off x="6190488" y="2240280"/>
            <a:ext cx="5440680" cy="3200400"/>
          </a:xfrm>
          <a:prstGeom prst="roundRect">
            <a:avLst>
              <a:gd name="adj" fmla="val 1714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556248" y="247802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</a:t>
            </a:r>
            <a:endParaRPr lang="en-US" sz="1700" dirty="0"/>
          </a:p>
        </p:txBody>
      </p:sp>
      <p:sp>
        <p:nvSpPr>
          <p:cNvPr id="55" name="Shape 53"/>
          <p:cNvSpPr/>
          <p:nvPr/>
        </p:nvSpPr>
        <p:spPr>
          <a:xfrm>
            <a:off x="6492240" y="3063240"/>
            <a:ext cx="146304" cy="14630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6" name="Text 54"/>
          <p:cNvSpPr/>
          <p:nvPr/>
        </p:nvSpPr>
        <p:spPr>
          <a:xfrm>
            <a:off x="6766560" y="29718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Bars TOUCH (no gaps).</a:t>
            </a:r>
            <a:endParaRPr lang="en-US" sz="1350" dirty="0"/>
          </a:p>
        </p:txBody>
      </p:sp>
      <p:sp>
        <p:nvSpPr>
          <p:cNvPr id="57" name="Shape 55"/>
          <p:cNvSpPr/>
          <p:nvPr/>
        </p:nvSpPr>
        <p:spPr>
          <a:xfrm>
            <a:off x="6492240" y="3630168"/>
            <a:ext cx="146304" cy="14630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8" name="Text 56"/>
          <p:cNvSpPr/>
          <p:nvPr/>
        </p:nvSpPr>
        <p:spPr>
          <a:xfrm>
            <a:off x="6766560" y="353872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Widths can be DIFFERENT.</a:t>
            </a:r>
            <a:endParaRPr lang="en-US" sz="1350" dirty="0"/>
          </a:p>
        </p:txBody>
      </p:sp>
      <p:sp>
        <p:nvSpPr>
          <p:cNvPr id="59" name="Shape 57"/>
          <p:cNvSpPr/>
          <p:nvPr/>
        </p:nvSpPr>
        <p:spPr>
          <a:xfrm>
            <a:off x="6492240" y="4197096"/>
            <a:ext cx="146304" cy="14630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0" name="Text 58"/>
          <p:cNvSpPr/>
          <p:nvPr/>
        </p:nvSpPr>
        <p:spPr>
          <a:xfrm>
            <a:off x="6766560" y="410565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Vertical axis = FREQUENCY DENSITY.</a:t>
            </a:r>
            <a:endParaRPr lang="en-US" sz="1350" dirty="0"/>
          </a:p>
        </p:txBody>
      </p:sp>
      <p:sp>
        <p:nvSpPr>
          <p:cNvPr id="61" name="Shape 59"/>
          <p:cNvSpPr/>
          <p:nvPr/>
        </p:nvSpPr>
        <p:spPr>
          <a:xfrm>
            <a:off x="6492240" y="4764024"/>
            <a:ext cx="146304" cy="14630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2" name="Text 60"/>
          <p:cNvSpPr/>
          <p:nvPr/>
        </p:nvSpPr>
        <p:spPr>
          <a:xfrm>
            <a:off x="6766560" y="467258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 of a bar shows the frequency.</a:t>
            </a:r>
            <a:endParaRPr lang="en-US" sz="1350" dirty="0"/>
          </a:p>
        </p:txBody>
      </p:sp>
      <p:sp>
        <p:nvSpPr>
          <p:cNvPr id="63" name="Shape 61"/>
          <p:cNvSpPr/>
          <p:nvPr/>
        </p:nvSpPr>
        <p:spPr>
          <a:xfrm>
            <a:off x="566928" y="557784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841248" y="55778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Histogram: no gaps, unequal widths allowed, y-axis is frequency density, AREA = frequency.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-1" y="4541921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DENSITY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Formulas — and Area = Frequency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298448"/>
            <a:ext cx="6595872" cy="1536192"/>
          </a:xfrm>
          <a:prstGeom prst="roundRect">
            <a:avLst>
              <a:gd name="adj" fmla="val 8824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298448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widths differ, we plot frequency DENSITY (frequency per unit width).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353568" y="3052492"/>
            <a:ext cx="5440680" cy="2286000"/>
          </a:xfrm>
          <a:prstGeom prst="roundRect">
            <a:avLst>
              <a:gd name="adj" fmla="val 2400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19328" y="329023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DRAW: find the height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655320" y="396689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frequency density </a:t>
            </a:r>
            <a:r>
              <a:rPr lang="en-US" sz="1500" b="1" dirty="0" smtClean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(FD) </a:t>
            </a:r>
            <a:r>
              <a:rPr lang="en-US" sz="15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4175760" y="39760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 smtClean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Frequency (F)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175760" y="4286932"/>
            <a:ext cx="1371600" cy="0"/>
          </a:xfrm>
          <a:prstGeom prst="line">
            <a:avLst/>
          </a:prstGeom>
          <a:noFill/>
          <a:ln w="20320">
            <a:solidFill>
              <a:srgbClr val="C84F2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75760" y="43235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 smtClean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width (GW)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126480" y="3052492"/>
            <a:ext cx="5440680" cy="2286000"/>
          </a:xfrm>
          <a:prstGeom prst="roundRect">
            <a:avLst>
              <a:gd name="adj" fmla="val 2400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492240" y="329023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READ: find the frequency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6473952" y="396689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frequency  =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622792" y="396689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FD × </a:t>
            </a:r>
            <a:r>
              <a:rPr lang="en-US" sz="1600" b="1" dirty="0" smtClean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width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2798064" y="5526504"/>
            <a:ext cx="7406640" cy="709703"/>
          </a:xfrm>
          <a:prstGeom prst="roundRect">
            <a:avLst>
              <a:gd name="adj" fmla="val 5217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2607482" y="5526504"/>
            <a:ext cx="7406640" cy="62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 of each bar  =  frequency</a:t>
            </a:r>
            <a:endParaRPr lang="en-US" sz="1900" dirty="0"/>
          </a:p>
        </p:txBody>
      </p:sp>
      <p:sp>
        <p:nvSpPr>
          <p:cNvPr id="55" name="Text 53"/>
          <p:cNvSpPr/>
          <p:nvPr/>
        </p:nvSpPr>
        <p:spPr>
          <a:xfrm>
            <a:off x="566928" y="61569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density is ‘how crowded’ the class is — frequency shared over its width.</a:t>
            </a:r>
            <a:endParaRPr lang="en-US" sz="1250" dirty="0"/>
          </a:p>
        </p:txBody>
      </p:sp>
      <p:sp>
        <p:nvSpPr>
          <p:cNvPr id="56" name="Isosceles Triangle 55"/>
          <p:cNvSpPr/>
          <p:nvPr/>
        </p:nvSpPr>
        <p:spPr>
          <a:xfrm>
            <a:off x="9045181" y="272846"/>
            <a:ext cx="2952328" cy="1722020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600" dirty="0"/>
          </a:p>
        </p:txBody>
      </p:sp>
      <p:cxnSp>
        <p:nvCxnSpPr>
          <p:cNvPr id="57" name="Straight Connector 56"/>
          <p:cNvCxnSpPr/>
          <p:nvPr/>
        </p:nvCxnSpPr>
        <p:spPr>
          <a:xfrm>
            <a:off x="9765261" y="1208950"/>
            <a:ext cx="1476164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9549237" y="1303605"/>
            <a:ext cx="9594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FD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69317" y="439509"/>
            <a:ext cx="6629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F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80725" y="1303605"/>
            <a:ext cx="12760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GW</a:t>
            </a:r>
            <a:endParaRPr lang="en-GB" sz="4800" dirty="0"/>
          </a:p>
        </p:txBody>
      </p:sp>
      <p:sp>
        <p:nvSpPr>
          <p:cNvPr id="61" name="TextBox 60"/>
          <p:cNvSpPr txBox="1"/>
          <p:nvPr/>
        </p:nvSpPr>
        <p:spPr>
          <a:xfrm>
            <a:off x="10220685" y="1221724"/>
            <a:ext cx="4521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/>
              <a:t>×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Rectangle 61"/>
              <p:cNvSpPr/>
              <p:nvPr/>
            </p:nvSpPr>
            <p:spPr>
              <a:xfrm>
                <a:off x="739862" y="1809454"/>
                <a:ext cx="6096000" cy="93140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457200" indent="-457200">
                  <a:buFont typeface="Wingdings" pitchFamily="2" charset="2"/>
                  <a:buChar char="§"/>
                </a:pPr>
                <a:r>
                  <a:rPr lang="en-GB" sz="1200" dirty="0" smtClean="0">
                    <a:solidFill>
                      <a:schemeClr val="bg1"/>
                    </a:solidFill>
                  </a:rPr>
                  <a:t>se these formulae to work out what you need...</a:t>
                </a:r>
              </a:p>
              <a:p>
                <a:pPr marL="974725" lvl="2" indent="-342900"/>
                <a:r>
                  <a:rPr lang="en-GB" sz="1200" dirty="0">
                    <a:solidFill>
                      <a:schemeClr val="bg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GB" sz="1200" i="1" dirty="0">
                        <a:solidFill>
                          <a:schemeClr val="bg1"/>
                        </a:solidFill>
                        <a:latin typeface="Cambria Math"/>
                      </a:rPr>
                      <m:t>𝐺𝑊</m:t>
                    </m:r>
                    <m:r>
                      <a:rPr lang="en-GB" sz="1200" i="1" dirty="0">
                        <a:solidFill>
                          <a:schemeClr val="bg1"/>
                        </a:solidFill>
                        <a:latin typeface="Cambria Math"/>
                      </a:rPr>
                      <m:t> = </m:t>
                    </m:r>
                    <m:r>
                      <a:rPr lang="en-GB" sz="1200" i="1" dirty="0">
                        <a:solidFill>
                          <a:schemeClr val="bg1"/>
                        </a:solidFill>
                        <a:latin typeface="Cambria Math"/>
                      </a:rPr>
                      <m:t>𝑡𝑜𝑝</m:t>
                    </m:r>
                    <m:r>
                      <a:rPr lang="en-GB" sz="1200" i="1" dirty="0">
                        <a:solidFill>
                          <a:schemeClr val="bg1"/>
                        </a:solidFill>
                        <a:latin typeface="Cambria Math"/>
                      </a:rPr>
                      <m:t> </m:t>
                    </m:r>
                    <m:r>
                      <a:rPr lang="en-GB" sz="1200" i="1" dirty="0">
                        <a:solidFill>
                          <a:schemeClr val="bg1"/>
                        </a:solidFill>
                        <a:latin typeface="Cambria Math"/>
                      </a:rPr>
                      <m:t>𝑜𝑓</m:t>
                    </m:r>
                    <m:r>
                      <a:rPr lang="en-GB" sz="1200" i="1" dirty="0">
                        <a:solidFill>
                          <a:schemeClr val="bg1"/>
                        </a:solidFill>
                        <a:latin typeface="Cambria Math"/>
                      </a:rPr>
                      <m:t> </m:t>
                    </m:r>
                    <m:r>
                      <a:rPr lang="en-GB" sz="1200" i="1" dirty="0">
                        <a:solidFill>
                          <a:schemeClr val="bg1"/>
                        </a:solidFill>
                        <a:latin typeface="Cambria Math"/>
                      </a:rPr>
                      <m:t>𝑔𝑟𝑜𝑢𝑝</m:t>
                    </m:r>
                    <m:r>
                      <a:rPr lang="en-GB" sz="1200" i="1" dirty="0">
                        <a:solidFill>
                          <a:schemeClr val="bg1"/>
                        </a:solidFill>
                        <a:latin typeface="Cambria Math"/>
                      </a:rPr>
                      <m:t> – </m:t>
                    </m:r>
                    <m:r>
                      <a:rPr lang="en-GB" sz="1200" i="1" dirty="0">
                        <a:solidFill>
                          <a:schemeClr val="bg1"/>
                        </a:solidFill>
                        <a:latin typeface="Cambria Math"/>
                      </a:rPr>
                      <m:t>𝑏𝑜𝑡𝑡𝑜𝑚</m:t>
                    </m:r>
                    <m:r>
                      <a:rPr lang="en-GB" sz="1200" i="1" dirty="0">
                        <a:solidFill>
                          <a:schemeClr val="bg1"/>
                        </a:solidFill>
                        <a:latin typeface="Cambria Math"/>
                      </a:rPr>
                      <m:t> </m:t>
                    </m:r>
                    <m:r>
                      <a:rPr lang="en-GB" sz="1200" i="1" dirty="0">
                        <a:solidFill>
                          <a:schemeClr val="bg1"/>
                        </a:solidFill>
                        <a:latin typeface="Cambria Math"/>
                      </a:rPr>
                      <m:t>𝑜𝑓</m:t>
                    </m:r>
                    <m:r>
                      <a:rPr lang="en-GB" sz="1200" i="1" dirty="0">
                        <a:solidFill>
                          <a:schemeClr val="bg1"/>
                        </a:solidFill>
                        <a:latin typeface="Cambria Math"/>
                      </a:rPr>
                      <m:t> </m:t>
                    </m:r>
                    <m:r>
                      <a:rPr lang="en-GB" sz="1200" i="1" dirty="0">
                        <a:solidFill>
                          <a:schemeClr val="bg1"/>
                        </a:solidFill>
                        <a:latin typeface="Cambria Math"/>
                      </a:rPr>
                      <m:t>𝑔𝑟𝑜𝑢𝑝</m:t>
                    </m:r>
                  </m:oMath>
                </a14:m>
                <a:endParaRPr lang="en-GB" sz="1200" dirty="0">
                  <a:solidFill>
                    <a:schemeClr val="bg1"/>
                  </a:solidFill>
                  <a:latin typeface="Calibri" pitchFamily="34" charset="0"/>
                </a:endParaRPr>
              </a:p>
              <a:p>
                <a:pPr marL="1089025" lvl="2" indent="-457200"/>
                <a14:m>
                  <m:oMath xmlns:m="http://schemas.openxmlformats.org/officeDocument/2006/math">
                    <m:r>
                      <a:rPr lang="en-GB" sz="1200" i="1" dirty="0">
                        <a:solidFill>
                          <a:schemeClr val="bg1"/>
                        </a:solidFill>
                        <a:latin typeface="Cambria Math"/>
                      </a:rPr>
                      <m:t>𝐹𝐷</m:t>
                    </m:r>
                    <m:r>
                      <a:rPr lang="en-GB" sz="1200" i="1" dirty="0">
                        <a:solidFill>
                          <a:schemeClr val="bg1"/>
                        </a:solidFill>
                        <a:latin typeface="Cambria Math"/>
                      </a:rPr>
                      <m:t> = </m:t>
                    </m:r>
                    <m:f>
                      <m:fPr>
                        <m:ctrlPr>
                          <a:rPr lang="en-GB" sz="1200" i="1" dirty="0">
                            <a:solidFill>
                              <a:schemeClr val="bg1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GB" sz="1200" i="1" dirty="0">
                            <a:solidFill>
                              <a:schemeClr val="bg1"/>
                            </a:solidFill>
                            <a:latin typeface="Cambria Math"/>
                          </a:rPr>
                          <m:t>𝐹</m:t>
                        </m:r>
                      </m:num>
                      <m:den>
                        <m:r>
                          <a:rPr lang="en-GB" sz="1200" i="1" dirty="0">
                            <a:solidFill>
                              <a:schemeClr val="bg1"/>
                            </a:solidFill>
                            <a:latin typeface="Cambria Math"/>
                          </a:rPr>
                          <m:t>𝐺𝑊</m:t>
                        </m:r>
                      </m:den>
                    </m:f>
                    <m:r>
                      <a:rPr lang="en-GB" sz="1200" i="1" dirty="0">
                        <a:solidFill>
                          <a:schemeClr val="bg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GB" sz="1200" dirty="0">
                    <a:solidFill>
                      <a:schemeClr val="bg1"/>
                    </a:solidFill>
                  </a:rPr>
                  <a:t>  	     	(“D is for divide”)</a:t>
                </a:r>
              </a:p>
              <a:p>
                <a:pPr marL="1089025" lvl="2" indent="-457200"/>
                <a14:m>
                  <m:oMath xmlns:m="http://schemas.openxmlformats.org/officeDocument/2006/math">
                    <m:r>
                      <a:rPr lang="en-GB" sz="1200" i="1" dirty="0">
                        <a:solidFill>
                          <a:schemeClr val="bg1"/>
                        </a:solidFill>
                        <a:latin typeface="Cambria Math"/>
                      </a:rPr>
                      <m:t>𝐹</m:t>
                    </m:r>
                    <m:r>
                      <a:rPr lang="en-GB" sz="1200" i="1" dirty="0">
                        <a:solidFill>
                          <a:schemeClr val="bg1"/>
                        </a:solidFill>
                        <a:latin typeface="Cambria Math"/>
                      </a:rPr>
                      <m:t> = </m:t>
                    </m:r>
                    <m:r>
                      <a:rPr lang="en-GB" sz="1200" i="1" dirty="0">
                        <a:solidFill>
                          <a:schemeClr val="bg1"/>
                        </a:solidFill>
                        <a:latin typeface="Cambria Math"/>
                      </a:rPr>
                      <m:t>𝐹𝐷</m:t>
                    </m:r>
                    <m:r>
                      <a:rPr lang="en-GB" sz="1200" i="1" dirty="0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×</m:t>
                    </m:r>
                    <m:r>
                      <a:rPr lang="en-GB" sz="1200" i="1" dirty="0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𝐺𝑊</m:t>
                    </m:r>
                  </m:oMath>
                </a14:m>
                <a:r>
                  <a:rPr lang="en-GB" sz="1200" dirty="0">
                    <a:solidFill>
                      <a:schemeClr val="bg1"/>
                    </a:solidFill>
                  </a:rPr>
                  <a:t>	(“Area of each rectangular bar”)</a:t>
                </a:r>
              </a:p>
            </p:txBody>
          </p:sp>
        </mc:Choice>
        <mc:Fallback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862" y="1809454"/>
                <a:ext cx="6096000" cy="931409"/>
              </a:xfrm>
              <a:prstGeom prst="rect">
                <a:avLst/>
              </a:prstGeom>
              <a:blipFill rotWithShape="1">
                <a:blip r:embed="rId3"/>
                <a:stretch>
                  <a:fillRect b="-45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Group Width &amp; Frequency Density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280160"/>
            <a:ext cx="11064240" cy="530352"/>
          </a:xfrm>
          <a:prstGeom prst="roundRect">
            <a:avLst>
              <a:gd name="adj" fmla="val 10345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280160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class:  group width = upper − lower,   FD = frequency ÷ width.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66928" y="1874520"/>
            <a:ext cx="2834640" cy="457200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44" name="Text 42"/>
          <p:cNvSpPr/>
          <p:nvPr/>
        </p:nvSpPr>
        <p:spPr>
          <a:xfrm>
            <a:off x="612648" y="1874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t (s)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401568" y="1874520"/>
            <a:ext cx="1554480" cy="457200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46" name="Text 44"/>
          <p:cNvSpPr/>
          <p:nvPr/>
        </p:nvSpPr>
        <p:spPr>
          <a:xfrm>
            <a:off x="3447288" y="1874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956048" y="1874520"/>
            <a:ext cx="1828800" cy="457200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48" name="Text 46"/>
          <p:cNvSpPr/>
          <p:nvPr/>
        </p:nvSpPr>
        <p:spPr>
          <a:xfrm>
            <a:off x="5001768" y="1874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width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784848" y="1874520"/>
            <a:ext cx="2103120" cy="457200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50" name="Text 48"/>
          <p:cNvSpPr/>
          <p:nvPr/>
        </p:nvSpPr>
        <p:spPr>
          <a:xfrm>
            <a:off x="6830568" y="1874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 density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66928" y="2331720"/>
            <a:ext cx="2834640" cy="420624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2648" y="23317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&lt; t ≤ 30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401568" y="2331720"/>
            <a:ext cx="1554480" cy="420624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47288" y="233172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956048" y="2331720"/>
            <a:ext cx="1828800" cy="420624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01768" y="233172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GB" sz="1200" dirty="0"/>
              <a:t>30 – 10 = </a:t>
            </a:r>
            <a:r>
              <a:rPr lang="en-US" sz="1200" dirty="0" smtClean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784848" y="2331720"/>
            <a:ext cx="2103120" cy="420624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30568" y="233172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0.25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566928" y="2752344"/>
            <a:ext cx="2834640" cy="420624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2648" y="275234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&lt; t ≤ 35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3401568" y="2752344"/>
            <a:ext cx="1554480" cy="420624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447288" y="275234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4956048" y="2752344"/>
            <a:ext cx="1828800" cy="420624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01768" y="275234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GB" sz="1200" dirty="0" smtClean="0"/>
              <a:t>35 </a:t>
            </a:r>
            <a:r>
              <a:rPr lang="en-GB" sz="1200" dirty="0"/>
              <a:t>– </a:t>
            </a:r>
            <a:r>
              <a:rPr lang="en-GB" sz="1200" dirty="0" smtClean="0"/>
              <a:t>30 </a:t>
            </a:r>
            <a:r>
              <a:rPr lang="en-GB" sz="1200" dirty="0"/>
              <a:t>= </a:t>
            </a:r>
            <a:r>
              <a:rPr lang="en-US" sz="1200" dirty="0" smtClean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6784848" y="2752344"/>
            <a:ext cx="2103120" cy="420624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830568" y="275234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566928" y="3172968"/>
            <a:ext cx="2834640" cy="420624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12648" y="31729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 &lt; t ≤ 40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3401568" y="3172968"/>
            <a:ext cx="1554480" cy="420624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447288" y="317296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4956048" y="3172968"/>
            <a:ext cx="1828800" cy="420624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001768" y="317296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6784848" y="3172968"/>
            <a:ext cx="2103120" cy="420624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830568" y="317296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566928" y="3593592"/>
            <a:ext cx="2834640" cy="420624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12648" y="359359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&lt; t ≤ 50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3401568" y="3593592"/>
            <a:ext cx="1554480" cy="420624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447288" y="359359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4956048" y="3593592"/>
            <a:ext cx="1828800" cy="420624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001768" y="359359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6784848" y="3593592"/>
            <a:ext cx="2103120" cy="420624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830568" y="359359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566928" y="4014216"/>
            <a:ext cx="2834640" cy="420624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12648" y="401421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&lt; t ≤ 70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3401568" y="4014216"/>
            <a:ext cx="1554480" cy="420624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447288" y="401421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4956048" y="4014216"/>
            <a:ext cx="1828800" cy="420624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001768" y="401421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6784848" y="4014216"/>
            <a:ext cx="2103120" cy="420624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830568" y="401421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8686800" y="1874520"/>
            <a:ext cx="2944368" cy="3246120"/>
          </a:xfrm>
          <a:prstGeom prst="roundRect">
            <a:avLst>
              <a:gd name="adj" fmla="val 1863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2" name="Text 90"/>
          <p:cNvSpPr/>
          <p:nvPr/>
        </p:nvSpPr>
        <p:spPr>
          <a:xfrm>
            <a:off x="9052560" y="2112264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one</a:t>
            </a:r>
            <a:endParaRPr lang="en-US" sz="1700" dirty="0"/>
          </a:p>
        </p:txBody>
      </p:sp>
      <p:sp>
        <p:nvSpPr>
          <p:cNvPr id="93" name="Text 91"/>
          <p:cNvSpPr/>
          <p:nvPr/>
        </p:nvSpPr>
        <p:spPr>
          <a:xfrm>
            <a:off x="8961120" y="260604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&lt; t ≤ 50: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width = 50 − 40 = 10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FD = 27 ÷ 10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2.7</a:t>
            </a:r>
            <a:endParaRPr lang="en-US" sz="1350" dirty="0"/>
          </a:p>
        </p:txBody>
      </p:sp>
      <p:sp>
        <p:nvSpPr>
          <p:cNvPr id="94" name="Shape 92"/>
          <p:cNvSpPr/>
          <p:nvPr/>
        </p:nvSpPr>
        <p:spPr>
          <a:xfrm>
            <a:off x="566928" y="553212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5" name="Text 93"/>
          <p:cNvSpPr/>
          <p:nvPr/>
        </p:nvSpPr>
        <p:spPr>
          <a:xfrm>
            <a:off x="841248" y="5532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FD = frequency ÷ class width.  Divide every frequency by its own width.</a:t>
            </a:r>
            <a:endParaRPr lang="en-US" sz="2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-484632" y="-376989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-484632" y="189939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-484632" y="756867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296" y="43635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" y="4363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841248" y="25347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 A HISTOGRAM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41248" y="299667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Plot Frequency Density; Bars Touch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18160" y="756867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38200" y="756867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frequency densities from the table — the bars have different widths but no gaps.</a:t>
            </a:r>
            <a:endParaRPr lang="en-US" sz="1350" dirty="0"/>
          </a:p>
        </p:txBody>
      </p:sp>
      <p:sp>
        <p:nvSpPr>
          <p:cNvPr id="52" name="Shape 50"/>
          <p:cNvSpPr/>
          <p:nvPr/>
        </p:nvSpPr>
        <p:spPr>
          <a:xfrm>
            <a:off x="8341361" y="4412501"/>
            <a:ext cx="3948937" cy="1920240"/>
          </a:xfrm>
          <a:prstGeom prst="roundRect">
            <a:avLst>
              <a:gd name="adj" fmla="val 1818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8442106" y="4421645"/>
            <a:ext cx="4133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</a:t>
            </a:r>
            <a:endParaRPr lang="en-US" sz="1700" dirty="0"/>
          </a:p>
        </p:txBody>
      </p:sp>
      <p:sp>
        <p:nvSpPr>
          <p:cNvPr id="54" name="Shape 52"/>
          <p:cNvSpPr/>
          <p:nvPr/>
        </p:nvSpPr>
        <p:spPr>
          <a:xfrm>
            <a:off x="8703271" y="4973413"/>
            <a:ext cx="146304" cy="14630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5" name="Text 53"/>
          <p:cNvSpPr/>
          <p:nvPr/>
        </p:nvSpPr>
        <p:spPr>
          <a:xfrm>
            <a:off x="9009034" y="4795105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out the FD for every class.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8679850" y="5383691"/>
            <a:ext cx="146304" cy="14630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7" name="Text 55"/>
          <p:cNvSpPr/>
          <p:nvPr/>
        </p:nvSpPr>
        <p:spPr>
          <a:xfrm>
            <a:off x="8954170" y="5189741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Frequency density goes up the y-axis.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8679850" y="5722259"/>
            <a:ext cx="146304" cy="14630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9" name="Text 57"/>
          <p:cNvSpPr/>
          <p:nvPr/>
        </p:nvSpPr>
        <p:spPr>
          <a:xfrm>
            <a:off x="8954170" y="5543951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bar spans its class width on the x-axis.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8694608" y="6104141"/>
            <a:ext cx="146304" cy="14630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1" name="Text 59"/>
          <p:cNvSpPr/>
          <p:nvPr/>
        </p:nvSpPr>
        <p:spPr>
          <a:xfrm>
            <a:off x="9009034" y="5907545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Bars TOUCH — no gaps.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631096" y="1378659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wide, short bar can hold the same frequency as a narrow, tall one — equal areas.</a:t>
            </a:r>
            <a:endParaRPr lang="en-US" sz="1250" dirty="0"/>
          </a:p>
        </p:txBody>
      </p:sp>
      <p:sp>
        <p:nvSpPr>
          <p:cNvPr id="64" name="Rectangle 63"/>
          <p:cNvSpPr>
            <a:spLocks noChangeArrowheads="1"/>
          </p:cNvSpPr>
          <p:nvPr/>
        </p:nvSpPr>
        <p:spPr bwMode="auto">
          <a:xfrm>
            <a:off x="5867400" y="4869383"/>
            <a:ext cx="2089150" cy="1666875"/>
          </a:xfrm>
          <a:prstGeom prst="rect">
            <a:avLst/>
          </a:prstGeom>
          <a:ln>
            <a:solidFill>
              <a:schemeClr val="tx1"/>
            </a:solidFill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altLang="en-US" sz="2400">
              <a:solidFill>
                <a:prstClr val="black"/>
              </a:solidFill>
              <a:ea typeface="Microsoft YaHei" pitchFamily="34" charset="-122"/>
            </a:endParaRPr>
          </a:p>
        </p:txBody>
      </p:sp>
      <p:grpSp>
        <p:nvGrpSpPr>
          <p:cNvPr id="65" name="Group 64"/>
          <p:cNvGrpSpPr>
            <a:grpSpLocks/>
          </p:cNvGrpSpPr>
          <p:nvPr/>
        </p:nvGrpSpPr>
        <p:grpSpPr bwMode="auto">
          <a:xfrm>
            <a:off x="1752600" y="6164783"/>
            <a:ext cx="2098675" cy="371475"/>
            <a:chOff x="1104" y="2208"/>
            <a:chExt cx="480" cy="1728"/>
          </a:xfrm>
        </p:grpSpPr>
        <p:sp>
          <p:nvSpPr>
            <p:cNvPr id="66" name="Rectangle 65"/>
            <p:cNvSpPr>
              <a:spLocks noChangeArrowheads="1"/>
            </p:cNvSpPr>
            <p:nvPr/>
          </p:nvSpPr>
          <p:spPr bwMode="auto">
            <a:xfrm>
              <a:off x="1104" y="2208"/>
              <a:ext cx="480" cy="1728"/>
            </a:xfrm>
            <a:prstGeom prst="rect">
              <a:avLst/>
            </a:prstGeom>
            <a:ln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altLang="en-US" sz="2400">
                <a:solidFill>
                  <a:prstClr val="black"/>
                </a:solidFill>
                <a:ea typeface="Microsoft YaHei" pitchFamily="34" charset="-122"/>
              </a:endParaRPr>
            </a:p>
          </p:txBody>
        </p:sp>
        <p:sp>
          <p:nvSpPr>
            <p:cNvPr id="67" name="Line 6"/>
            <p:cNvSpPr>
              <a:spLocks noChangeShapeType="1"/>
            </p:cNvSpPr>
            <p:nvPr/>
          </p:nvSpPr>
          <p:spPr bwMode="auto">
            <a:xfrm>
              <a:off x="1584" y="2208"/>
              <a:ext cx="0" cy="1728"/>
            </a:xfrm>
            <a:prstGeom prst="line">
              <a:avLst/>
            </a:prstGeom>
            <a:ln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400">
                <a:solidFill>
                  <a:prstClr val="black"/>
                </a:solidFill>
                <a:ea typeface="Microsoft YaHei" pitchFamily="34" charset="-122"/>
              </a:endParaRPr>
            </a:p>
          </p:txBody>
        </p:sp>
      </p:grpSp>
      <p:grpSp>
        <p:nvGrpSpPr>
          <p:cNvPr id="68" name="Group 67"/>
          <p:cNvGrpSpPr>
            <a:grpSpLocks/>
          </p:cNvGrpSpPr>
          <p:nvPr/>
        </p:nvGrpSpPr>
        <p:grpSpPr bwMode="auto">
          <a:xfrm>
            <a:off x="3851275" y="5372621"/>
            <a:ext cx="504825" cy="1163637"/>
            <a:chOff x="1584" y="1296"/>
            <a:chExt cx="528" cy="2640"/>
          </a:xfrm>
        </p:grpSpPr>
        <p:sp>
          <p:nvSpPr>
            <p:cNvPr id="69" name="Rectangle 68"/>
            <p:cNvSpPr>
              <a:spLocks noChangeArrowheads="1"/>
            </p:cNvSpPr>
            <p:nvPr/>
          </p:nvSpPr>
          <p:spPr bwMode="auto">
            <a:xfrm>
              <a:off x="1584" y="1296"/>
              <a:ext cx="528" cy="2640"/>
            </a:xfrm>
            <a:prstGeom prst="rect">
              <a:avLst/>
            </a:prstGeom>
            <a:ln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altLang="en-US" sz="2400">
                <a:solidFill>
                  <a:prstClr val="black"/>
                </a:solidFill>
                <a:ea typeface="Microsoft YaHei" pitchFamily="34" charset="-122"/>
              </a:endParaRPr>
            </a:p>
          </p:txBody>
        </p:sp>
        <p:sp>
          <p:nvSpPr>
            <p:cNvPr id="70" name="Line 9"/>
            <p:cNvSpPr>
              <a:spLocks noChangeShapeType="1"/>
            </p:cNvSpPr>
            <p:nvPr/>
          </p:nvSpPr>
          <p:spPr bwMode="auto">
            <a:xfrm>
              <a:off x="2112" y="1728"/>
              <a:ext cx="0" cy="2208"/>
            </a:xfrm>
            <a:prstGeom prst="line">
              <a:avLst/>
            </a:prstGeom>
            <a:ln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400">
                <a:solidFill>
                  <a:prstClr val="black"/>
                </a:solidFill>
                <a:ea typeface="Microsoft YaHei" pitchFamily="34" charset="-122"/>
              </a:endParaRPr>
            </a:p>
          </p:txBody>
        </p:sp>
      </p:grpSp>
      <p:grpSp>
        <p:nvGrpSpPr>
          <p:cNvPr id="71" name="Group 70"/>
          <p:cNvGrpSpPr>
            <a:grpSpLocks/>
          </p:cNvGrpSpPr>
          <p:nvPr/>
        </p:nvGrpSpPr>
        <p:grpSpPr bwMode="auto">
          <a:xfrm>
            <a:off x="4859338" y="2780233"/>
            <a:ext cx="1008062" cy="3756025"/>
            <a:chOff x="3120" y="2640"/>
            <a:chExt cx="528" cy="1296"/>
          </a:xfrm>
        </p:grpSpPr>
        <p:sp>
          <p:nvSpPr>
            <p:cNvPr id="72" name="Rectangle 71"/>
            <p:cNvSpPr>
              <a:spLocks noChangeArrowheads="1"/>
            </p:cNvSpPr>
            <p:nvPr/>
          </p:nvSpPr>
          <p:spPr bwMode="auto">
            <a:xfrm>
              <a:off x="3120" y="2640"/>
              <a:ext cx="528" cy="1296"/>
            </a:xfrm>
            <a:prstGeom prst="rect">
              <a:avLst/>
            </a:prstGeom>
            <a:ln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altLang="en-US" sz="2400">
                <a:solidFill>
                  <a:prstClr val="black"/>
                </a:solidFill>
                <a:ea typeface="Microsoft YaHei" pitchFamily="34" charset="-122"/>
              </a:endParaRPr>
            </a:p>
          </p:txBody>
        </p:sp>
        <p:sp>
          <p:nvSpPr>
            <p:cNvPr id="73" name="Line 12"/>
            <p:cNvSpPr>
              <a:spLocks noChangeShapeType="1"/>
            </p:cNvSpPr>
            <p:nvPr/>
          </p:nvSpPr>
          <p:spPr bwMode="auto">
            <a:xfrm>
              <a:off x="3120" y="2640"/>
              <a:ext cx="0" cy="1296"/>
            </a:xfrm>
            <a:prstGeom prst="line">
              <a:avLst/>
            </a:prstGeom>
            <a:ln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400">
                <a:solidFill>
                  <a:prstClr val="black"/>
                </a:solidFill>
                <a:ea typeface="Microsoft YaHei" pitchFamily="34" charset="-122"/>
              </a:endParaRPr>
            </a:p>
          </p:txBody>
        </p:sp>
      </p:grpSp>
      <p:grpSp>
        <p:nvGrpSpPr>
          <p:cNvPr id="74" name="Group 73"/>
          <p:cNvGrpSpPr>
            <a:grpSpLocks/>
          </p:cNvGrpSpPr>
          <p:nvPr/>
        </p:nvGrpSpPr>
        <p:grpSpPr bwMode="auto">
          <a:xfrm>
            <a:off x="4356100" y="4293121"/>
            <a:ext cx="503238" cy="2243137"/>
            <a:chOff x="2112" y="1728"/>
            <a:chExt cx="1008" cy="2208"/>
          </a:xfrm>
        </p:grpSpPr>
        <p:sp>
          <p:nvSpPr>
            <p:cNvPr id="75" name="Rectangle 74"/>
            <p:cNvSpPr>
              <a:spLocks noChangeArrowheads="1"/>
            </p:cNvSpPr>
            <p:nvPr/>
          </p:nvSpPr>
          <p:spPr bwMode="auto">
            <a:xfrm>
              <a:off x="2112" y="1728"/>
              <a:ext cx="1008" cy="2208"/>
            </a:xfrm>
            <a:prstGeom prst="rect">
              <a:avLst/>
            </a:prstGeom>
            <a:ln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altLang="en-US" sz="2400">
                <a:solidFill>
                  <a:prstClr val="black"/>
                </a:solidFill>
                <a:ea typeface="Microsoft YaHei" pitchFamily="34" charset="-122"/>
              </a:endParaRPr>
            </a:p>
          </p:txBody>
        </p:sp>
        <p:sp>
          <p:nvSpPr>
            <p:cNvPr id="76" name="Line 15"/>
            <p:cNvSpPr>
              <a:spLocks noChangeShapeType="1"/>
            </p:cNvSpPr>
            <p:nvPr/>
          </p:nvSpPr>
          <p:spPr bwMode="auto">
            <a:xfrm>
              <a:off x="2112" y="1728"/>
              <a:ext cx="1008" cy="0"/>
            </a:xfrm>
            <a:prstGeom prst="line">
              <a:avLst/>
            </a:prstGeom>
            <a:ln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400">
                <a:solidFill>
                  <a:prstClr val="black"/>
                </a:solidFill>
                <a:ea typeface="Microsoft YaHei" pitchFamily="34" charset="-122"/>
              </a:endParaRPr>
            </a:p>
          </p:txBody>
        </p:sp>
      </p:grpSp>
      <p:grpSp>
        <p:nvGrpSpPr>
          <p:cNvPr id="77" name="Group 76"/>
          <p:cNvGrpSpPr>
            <a:grpSpLocks/>
          </p:cNvGrpSpPr>
          <p:nvPr/>
        </p:nvGrpSpPr>
        <p:grpSpPr bwMode="auto">
          <a:xfrm>
            <a:off x="-36513" y="1695971"/>
            <a:ext cx="9288464" cy="5189538"/>
            <a:chOff x="-23" y="887"/>
            <a:chExt cx="5851" cy="3269"/>
          </a:xfrm>
        </p:grpSpPr>
        <p:sp>
          <p:nvSpPr>
            <p:cNvPr id="78" name="Text Box 17"/>
            <p:cNvSpPr txBox="1">
              <a:spLocks noChangeArrowheads="1"/>
            </p:cNvSpPr>
            <p:nvPr/>
          </p:nvSpPr>
          <p:spPr bwMode="auto">
            <a:xfrm>
              <a:off x="960" y="3936"/>
              <a:ext cx="3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Microsoft YaHei" pitchFamily="34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Microsoft YaHei" pitchFamily="34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Microsoft YaHei" pitchFamily="34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Microsoft YaHei" pitchFamily="34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Microsoft YaHei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Microsoft YaHei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Microsoft YaHei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Microsoft YaHei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Microsoft YaHei" pitchFamily="34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GB" altLang="en-US" sz="1600">
                  <a:solidFill>
                    <a:prstClr val="black"/>
                  </a:solidFill>
                  <a:latin typeface="+mn-lt"/>
                </a:rPr>
                <a:t>10</a:t>
              </a:r>
            </a:p>
          </p:txBody>
        </p:sp>
        <p:sp>
          <p:nvSpPr>
            <p:cNvPr id="79" name="Text Box 18"/>
            <p:cNvSpPr txBox="1">
              <a:spLocks noChangeArrowheads="1"/>
            </p:cNvSpPr>
            <p:nvPr/>
          </p:nvSpPr>
          <p:spPr bwMode="auto">
            <a:xfrm>
              <a:off x="1610" y="3929"/>
              <a:ext cx="3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Microsoft YaHei" pitchFamily="34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Microsoft YaHei" pitchFamily="34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Microsoft YaHei" pitchFamily="34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Microsoft YaHei" pitchFamily="34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Microsoft YaHei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Microsoft YaHei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Microsoft YaHei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Microsoft YaHei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Microsoft YaHei" pitchFamily="34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GB" altLang="en-US" sz="1600">
                  <a:solidFill>
                    <a:prstClr val="black"/>
                  </a:solidFill>
                  <a:latin typeface="+mn-lt"/>
                </a:rPr>
                <a:t>20</a:t>
              </a:r>
            </a:p>
          </p:txBody>
        </p:sp>
        <p:grpSp>
          <p:nvGrpSpPr>
            <p:cNvPr id="80" name="Group 23"/>
            <p:cNvGrpSpPr>
              <a:grpSpLocks/>
            </p:cNvGrpSpPr>
            <p:nvPr/>
          </p:nvGrpSpPr>
          <p:grpSpPr bwMode="auto">
            <a:xfrm>
              <a:off x="-23" y="887"/>
              <a:ext cx="5851" cy="3269"/>
              <a:chOff x="-23" y="887"/>
              <a:chExt cx="5851" cy="3269"/>
            </a:xfrm>
          </p:grpSpPr>
          <p:grpSp>
            <p:nvGrpSpPr>
              <p:cNvPr id="81" name="Group 24"/>
              <p:cNvGrpSpPr>
                <a:grpSpLocks/>
              </p:cNvGrpSpPr>
              <p:nvPr/>
            </p:nvGrpSpPr>
            <p:grpSpPr bwMode="auto">
              <a:xfrm>
                <a:off x="-23" y="887"/>
                <a:ext cx="5851" cy="3269"/>
                <a:chOff x="-23" y="887"/>
                <a:chExt cx="5851" cy="3269"/>
              </a:xfrm>
            </p:grpSpPr>
            <p:grpSp>
              <p:nvGrpSpPr>
                <p:cNvPr id="83" name="Group 25"/>
                <p:cNvGrpSpPr>
                  <a:grpSpLocks/>
                </p:cNvGrpSpPr>
                <p:nvPr/>
              </p:nvGrpSpPr>
              <p:grpSpPr bwMode="auto">
                <a:xfrm>
                  <a:off x="-23" y="887"/>
                  <a:ext cx="5851" cy="3269"/>
                  <a:chOff x="-23" y="887"/>
                  <a:chExt cx="5851" cy="3269"/>
                </a:xfrm>
              </p:grpSpPr>
              <p:sp>
                <p:nvSpPr>
                  <p:cNvPr id="91" name="Line 26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3936"/>
                    <a:ext cx="465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GB" sz="2400">
                      <a:solidFill>
                        <a:prstClr val="black"/>
                      </a:solidFill>
                      <a:ea typeface="Microsoft YaHei" pitchFamily="34" charset="-122"/>
                    </a:endParaRPr>
                  </a:p>
                </p:txBody>
              </p:sp>
              <p:sp>
                <p:nvSpPr>
                  <p:cNvPr id="92" name="Line 2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76" y="1248"/>
                    <a:ext cx="0" cy="268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GB" sz="2400">
                      <a:solidFill>
                        <a:prstClr val="black"/>
                      </a:solidFill>
                      <a:ea typeface="Microsoft YaHei" pitchFamily="34" charset="-122"/>
                    </a:endParaRPr>
                  </a:p>
                </p:txBody>
              </p:sp>
              <p:sp>
                <p:nvSpPr>
                  <p:cNvPr id="93" name="Text Box 2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-23" y="887"/>
                    <a:ext cx="864" cy="36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9pPr>
                  </a:lstStyle>
                  <a:p>
                    <a:pPr algn="ctr" fontAlgn="base">
                      <a:spcBef>
                        <a:spcPct val="50000"/>
                      </a:spcBef>
                      <a:spcAft>
                        <a:spcPct val="0"/>
                      </a:spcAft>
                    </a:pPr>
                    <a:r>
                      <a:rPr lang="en-GB" altLang="en-US" sz="1600" dirty="0">
                        <a:solidFill>
                          <a:prstClr val="black"/>
                        </a:solidFill>
                        <a:latin typeface="+mn-lt"/>
                      </a:rPr>
                      <a:t>Frequency density</a:t>
                    </a:r>
                  </a:p>
                </p:txBody>
              </p:sp>
              <p:sp>
                <p:nvSpPr>
                  <p:cNvPr id="94" name="Text Box 2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012" y="3944"/>
                    <a:ext cx="816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9pPr>
                  </a:lstStyle>
                  <a:p>
                    <a:pPr algn="ctr" fontAlgn="base">
                      <a:spcBef>
                        <a:spcPct val="50000"/>
                      </a:spcBef>
                      <a:spcAft>
                        <a:spcPct val="0"/>
                      </a:spcAft>
                    </a:pPr>
                    <a:r>
                      <a:rPr lang="en-GB" altLang="en-US" sz="1600" dirty="0">
                        <a:solidFill>
                          <a:prstClr val="black"/>
                        </a:solidFill>
                        <a:latin typeface="+mn-lt"/>
                      </a:rPr>
                      <a:t>Time t</a:t>
                    </a:r>
                  </a:p>
                </p:txBody>
              </p:sp>
              <p:sp>
                <p:nvSpPr>
                  <p:cNvPr id="95" name="Line 30"/>
                  <p:cNvSpPr>
                    <a:spLocks noChangeShapeType="1"/>
                  </p:cNvSpPr>
                  <p:nvPr/>
                </p:nvSpPr>
                <p:spPr bwMode="auto">
                  <a:xfrm>
                    <a:off x="576" y="3936"/>
                    <a:ext cx="9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GB" sz="2400">
                      <a:solidFill>
                        <a:prstClr val="black"/>
                      </a:solidFill>
                      <a:ea typeface="Microsoft YaHei" pitchFamily="34" charset="-122"/>
                    </a:endParaRPr>
                  </a:p>
                </p:txBody>
              </p:sp>
              <p:sp>
                <p:nvSpPr>
                  <p:cNvPr id="96" name="Line 3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672" y="3744"/>
                    <a:ext cx="48" cy="19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GB" sz="2400">
                      <a:solidFill>
                        <a:prstClr val="black"/>
                      </a:solidFill>
                      <a:ea typeface="Microsoft YaHei" pitchFamily="34" charset="-122"/>
                    </a:endParaRPr>
                  </a:p>
                </p:txBody>
              </p:sp>
              <p:sp>
                <p:nvSpPr>
                  <p:cNvPr id="97" name="Line 32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3744"/>
                    <a:ext cx="144" cy="38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GB" sz="2400">
                      <a:solidFill>
                        <a:prstClr val="black"/>
                      </a:solidFill>
                      <a:ea typeface="Microsoft YaHei" pitchFamily="34" charset="-122"/>
                    </a:endParaRPr>
                  </a:p>
                </p:txBody>
              </p:sp>
              <p:sp>
                <p:nvSpPr>
                  <p:cNvPr id="98" name="Line 3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864" y="3936"/>
                    <a:ext cx="144" cy="19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GB" sz="2400">
                      <a:solidFill>
                        <a:prstClr val="black"/>
                      </a:solidFill>
                      <a:ea typeface="Microsoft YaHei" pitchFamily="34" charset="-122"/>
                    </a:endParaRPr>
                  </a:p>
                </p:txBody>
              </p:sp>
            </p:grpSp>
            <p:grpSp>
              <p:nvGrpSpPr>
                <p:cNvPr id="84" name="Group 34"/>
                <p:cNvGrpSpPr>
                  <a:grpSpLocks/>
                </p:cNvGrpSpPr>
                <p:nvPr/>
              </p:nvGrpSpPr>
              <p:grpSpPr bwMode="auto">
                <a:xfrm>
                  <a:off x="144" y="1200"/>
                  <a:ext cx="432" cy="2400"/>
                  <a:chOff x="768" y="1200"/>
                  <a:chExt cx="432" cy="2400"/>
                </a:xfrm>
              </p:grpSpPr>
              <p:sp>
                <p:nvSpPr>
                  <p:cNvPr id="85" name="Text Box 3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68" y="3388"/>
                    <a:ext cx="432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9pPr>
                  </a:lstStyle>
                  <a:p>
                    <a:pPr algn="ctr" fontAlgn="base">
                      <a:spcBef>
                        <a:spcPct val="50000"/>
                      </a:spcBef>
                      <a:spcAft>
                        <a:spcPct val="0"/>
                      </a:spcAft>
                    </a:pPr>
                    <a:r>
                      <a:rPr lang="en-GB" altLang="en-US" sz="1600">
                        <a:solidFill>
                          <a:prstClr val="black"/>
                        </a:solidFill>
                        <a:latin typeface="+mn-lt"/>
                      </a:rPr>
                      <a:t>0.5</a:t>
                    </a:r>
                  </a:p>
                </p:txBody>
              </p:sp>
              <p:sp>
                <p:nvSpPr>
                  <p:cNvPr id="86" name="Text Box 3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68" y="2956"/>
                    <a:ext cx="432" cy="21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9pPr>
                  </a:lstStyle>
                  <a:p>
                    <a:pPr algn="ctr" fontAlgn="base">
                      <a:spcBef>
                        <a:spcPct val="50000"/>
                      </a:spcBef>
                      <a:spcAft>
                        <a:spcPct val="0"/>
                      </a:spcAft>
                    </a:pPr>
                    <a:r>
                      <a:rPr lang="en-GB" altLang="en-US" sz="1600">
                        <a:solidFill>
                          <a:prstClr val="black"/>
                        </a:solidFill>
                        <a:latin typeface="+mn-lt"/>
                      </a:rPr>
                      <a:t>1</a:t>
                    </a:r>
                  </a:p>
                </p:txBody>
              </p:sp>
              <p:sp>
                <p:nvSpPr>
                  <p:cNvPr id="87" name="Text Box 3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68" y="2524"/>
                    <a:ext cx="432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9pPr>
                  </a:lstStyle>
                  <a:p>
                    <a:pPr algn="ctr" fontAlgn="base">
                      <a:spcBef>
                        <a:spcPct val="50000"/>
                      </a:spcBef>
                      <a:spcAft>
                        <a:spcPct val="0"/>
                      </a:spcAft>
                    </a:pPr>
                    <a:r>
                      <a:rPr lang="en-GB" altLang="en-US" sz="1600">
                        <a:solidFill>
                          <a:prstClr val="black"/>
                        </a:solidFill>
                        <a:latin typeface="+mn-lt"/>
                      </a:rPr>
                      <a:t>1.5</a:t>
                    </a:r>
                  </a:p>
                </p:txBody>
              </p:sp>
              <p:sp>
                <p:nvSpPr>
                  <p:cNvPr id="88" name="Text Box 3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68" y="2064"/>
                    <a:ext cx="432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9pPr>
                  </a:lstStyle>
                  <a:p>
                    <a:pPr algn="ctr" fontAlgn="base">
                      <a:spcBef>
                        <a:spcPct val="50000"/>
                      </a:spcBef>
                      <a:spcAft>
                        <a:spcPct val="0"/>
                      </a:spcAft>
                    </a:pPr>
                    <a:r>
                      <a:rPr lang="en-GB" altLang="en-US" sz="1600">
                        <a:solidFill>
                          <a:prstClr val="black"/>
                        </a:solidFill>
                        <a:latin typeface="+mn-lt"/>
                      </a:rPr>
                      <a:t>2</a:t>
                    </a:r>
                  </a:p>
                </p:txBody>
              </p:sp>
              <p:sp>
                <p:nvSpPr>
                  <p:cNvPr id="89" name="Text Box 3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68" y="1632"/>
                    <a:ext cx="432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9pPr>
                  </a:lstStyle>
                  <a:p>
                    <a:pPr algn="ctr" fontAlgn="base">
                      <a:spcBef>
                        <a:spcPct val="50000"/>
                      </a:spcBef>
                      <a:spcAft>
                        <a:spcPct val="0"/>
                      </a:spcAft>
                    </a:pPr>
                    <a:r>
                      <a:rPr lang="en-GB" altLang="en-US" sz="1600">
                        <a:solidFill>
                          <a:prstClr val="black"/>
                        </a:solidFill>
                        <a:latin typeface="+mn-lt"/>
                      </a:rPr>
                      <a:t>2.5</a:t>
                    </a:r>
                  </a:p>
                </p:txBody>
              </p:sp>
              <p:sp>
                <p:nvSpPr>
                  <p:cNvPr id="90" name="Text Box 4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68" y="1200"/>
                    <a:ext cx="432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9pPr>
                  </a:lstStyle>
                  <a:p>
                    <a:pPr algn="ctr" fontAlgn="base">
                      <a:spcBef>
                        <a:spcPct val="50000"/>
                      </a:spcBef>
                      <a:spcAft>
                        <a:spcPct val="0"/>
                      </a:spcAft>
                    </a:pPr>
                    <a:r>
                      <a:rPr lang="en-GB" altLang="en-US" sz="1600">
                        <a:solidFill>
                          <a:prstClr val="black"/>
                        </a:solidFill>
                        <a:latin typeface="+mn-lt"/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82" name="Text Box 41"/>
              <p:cNvSpPr txBox="1">
                <a:spLocks noChangeArrowheads="1"/>
              </p:cNvSpPr>
              <p:nvPr/>
            </p:nvSpPr>
            <p:spPr bwMode="auto">
              <a:xfrm>
                <a:off x="288" y="3936"/>
                <a:ext cx="33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Microsoft YaHei" pitchFamily="34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Microsoft YaHei" pitchFamily="34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Microsoft YaHei" pitchFamily="34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Microsoft YaHei" pitchFamily="34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Microsoft YaHei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Microsoft YaHei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Microsoft YaHei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Microsoft YaHei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Microsoft YaHei" pitchFamily="34" charset="-122"/>
                  </a:defRPr>
                </a:lvl9pPr>
              </a:lstStyle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GB" altLang="en-US" sz="1600">
                    <a:solidFill>
                      <a:prstClr val="black"/>
                    </a:solidFill>
                    <a:latin typeface="+mn-lt"/>
                  </a:rPr>
                  <a:t>0</a:t>
                </a:r>
              </a:p>
            </p:txBody>
          </p:sp>
        </p:grpSp>
      </p:grpSp>
      <p:sp>
        <p:nvSpPr>
          <p:cNvPr id="99" name="Text Box 18"/>
          <p:cNvSpPr txBox="1">
            <a:spLocks noChangeArrowheads="1"/>
          </p:cNvSpPr>
          <p:nvPr/>
        </p:nvSpPr>
        <p:spPr bwMode="auto">
          <a:xfrm>
            <a:off x="3635375" y="6525146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z="1600">
                <a:solidFill>
                  <a:prstClr val="black"/>
                </a:solidFill>
                <a:latin typeface="+mn-lt"/>
              </a:rPr>
              <a:t>30</a:t>
            </a:r>
          </a:p>
        </p:txBody>
      </p:sp>
      <p:sp>
        <p:nvSpPr>
          <p:cNvPr id="100" name="Text Box 17"/>
          <p:cNvSpPr txBox="1">
            <a:spLocks noChangeArrowheads="1"/>
          </p:cNvSpPr>
          <p:nvPr/>
        </p:nvSpPr>
        <p:spPr bwMode="auto">
          <a:xfrm>
            <a:off x="4643438" y="6525146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z="1600">
                <a:solidFill>
                  <a:prstClr val="black"/>
                </a:solidFill>
                <a:latin typeface="+mn-lt"/>
              </a:rPr>
              <a:t>40</a:t>
            </a:r>
          </a:p>
        </p:txBody>
      </p:sp>
      <p:sp>
        <p:nvSpPr>
          <p:cNvPr id="101" name="Text Box 17"/>
          <p:cNvSpPr txBox="1">
            <a:spLocks noChangeArrowheads="1"/>
          </p:cNvSpPr>
          <p:nvPr/>
        </p:nvSpPr>
        <p:spPr bwMode="auto">
          <a:xfrm>
            <a:off x="5651500" y="6525146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z="1600">
                <a:solidFill>
                  <a:prstClr val="black"/>
                </a:solidFill>
                <a:latin typeface="+mn-lt"/>
              </a:rPr>
              <a:t>50</a:t>
            </a:r>
          </a:p>
        </p:txBody>
      </p:sp>
      <p:sp>
        <p:nvSpPr>
          <p:cNvPr id="102" name="Text Box 17"/>
          <p:cNvSpPr txBox="1">
            <a:spLocks noChangeArrowheads="1"/>
          </p:cNvSpPr>
          <p:nvPr/>
        </p:nvSpPr>
        <p:spPr bwMode="auto">
          <a:xfrm>
            <a:off x="6732588" y="6525146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z="1600">
                <a:solidFill>
                  <a:prstClr val="black"/>
                </a:solidFill>
                <a:latin typeface="+mn-lt"/>
              </a:rPr>
              <a:t>60</a:t>
            </a:r>
          </a:p>
        </p:txBody>
      </p:sp>
      <p:sp>
        <p:nvSpPr>
          <p:cNvPr id="103" name="Text Box 17"/>
          <p:cNvSpPr txBox="1">
            <a:spLocks noChangeArrowheads="1"/>
          </p:cNvSpPr>
          <p:nvPr/>
        </p:nvSpPr>
        <p:spPr bwMode="auto">
          <a:xfrm>
            <a:off x="7740650" y="6525146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z="1600">
                <a:solidFill>
                  <a:prstClr val="black"/>
                </a:solidFill>
                <a:latin typeface="+mn-lt"/>
              </a:rPr>
              <a:t>70</a:t>
            </a:r>
          </a:p>
        </p:txBody>
      </p:sp>
      <p:graphicFrame>
        <p:nvGraphicFramePr>
          <p:cNvPr id="104" name="Group 4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5585270"/>
              </p:ext>
            </p:extLst>
          </p:nvPr>
        </p:nvGraphicFramePr>
        <p:xfrm>
          <a:off x="6012160" y="1786900"/>
          <a:ext cx="3096344" cy="2676084"/>
        </p:xfrm>
        <a:graphic>
          <a:graphicData uri="http://schemas.openxmlformats.org/drawingml/2006/table">
            <a:tbl>
              <a:tblPr/>
              <a:tblGrid>
                <a:gridCol w="1278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9420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6824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Time taken 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(t seconds)</a:t>
                      </a:r>
                    </a:p>
                  </a:txBody>
                  <a:tcPr marL="91432" marR="91432" marT="45715" marB="4571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F</a:t>
                      </a:r>
                    </a:p>
                  </a:txBody>
                  <a:tcPr marL="91432" marR="91432" marT="45715" marB="4571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GW</a:t>
                      </a:r>
                    </a:p>
                  </a:txBody>
                  <a:tcPr marL="91432" marR="91432" marT="45715" marB="4571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FD</a:t>
                      </a:r>
                    </a:p>
                  </a:txBody>
                  <a:tcPr marL="91432" marR="91432" marT="45715" marB="4571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91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10 &lt; t ≤ 30</a:t>
                      </a:r>
                    </a:p>
                  </a:txBody>
                  <a:tcPr marL="91432" marR="91432" marT="45715" marB="4571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5</a:t>
                      </a:r>
                    </a:p>
                  </a:txBody>
                  <a:tcPr marL="91432" marR="91432" marT="45715" marB="4571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20</a:t>
                      </a:r>
                    </a:p>
                  </a:txBody>
                  <a:tcPr marL="91432" marR="91432" marT="45715" marB="4571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0.25</a:t>
                      </a:r>
                    </a:p>
                  </a:txBody>
                  <a:tcPr marL="91432" marR="91432" marT="45715" marB="4571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91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30 &lt; t ≤ 35</a:t>
                      </a:r>
                    </a:p>
                  </a:txBody>
                  <a:tcPr marL="91432" marR="91432" marT="45715" marB="4571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4</a:t>
                      </a:r>
                    </a:p>
                  </a:txBody>
                  <a:tcPr marL="91432" marR="91432" marT="45715" marB="4571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5</a:t>
                      </a:r>
                    </a:p>
                  </a:txBody>
                  <a:tcPr marL="91432" marR="91432" marT="45715" marB="4571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0.8</a:t>
                      </a:r>
                    </a:p>
                  </a:txBody>
                  <a:tcPr marL="91432" marR="91432" marT="45715" marB="4571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891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35 &lt; t ≤ 40</a:t>
                      </a:r>
                    </a:p>
                  </a:txBody>
                  <a:tcPr marL="91432" marR="91432" marT="45715" marB="4571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8</a:t>
                      </a:r>
                    </a:p>
                  </a:txBody>
                  <a:tcPr marL="91432" marR="91432" marT="45715" marB="4571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5</a:t>
                      </a:r>
                    </a:p>
                  </a:txBody>
                  <a:tcPr marL="91432" marR="91432" marT="45715" marB="4571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1.6</a:t>
                      </a:r>
                    </a:p>
                  </a:txBody>
                  <a:tcPr marL="91432" marR="91432" marT="45715" marB="4571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891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40 &lt; t ≤ 50</a:t>
                      </a:r>
                    </a:p>
                  </a:txBody>
                  <a:tcPr marL="91432" marR="91432" marT="45715" marB="4571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27</a:t>
                      </a:r>
                    </a:p>
                  </a:txBody>
                  <a:tcPr marL="91432" marR="91432" marT="45715" marB="4571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10</a:t>
                      </a:r>
                    </a:p>
                  </a:txBody>
                  <a:tcPr marL="91432" marR="91432" marT="45715" marB="4571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2.7</a:t>
                      </a:r>
                    </a:p>
                  </a:txBody>
                  <a:tcPr marL="91432" marR="91432" marT="45715" marB="4571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891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50 &lt; t ≤ 70</a:t>
                      </a:r>
                    </a:p>
                  </a:txBody>
                  <a:tcPr marL="91432" marR="91432" marT="45715" marB="4571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24</a:t>
                      </a:r>
                    </a:p>
                  </a:txBody>
                  <a:tcPr marL="91432" marR="91432" marT="45715" marB="4571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20</a:t>
                      </a:r>
                    </a:p>
                  </a:txBody>
                  <a:tcPr marL="91432" marR="91432" marT="45715" marB="4571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1.2</a:t>
                      </a:r>
                    </a:p>
                  </a:txBody>
                  <a:tcPr marL="91432" marR="91432" marT="45715" marB="4571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99" grpId="0"/>
      <p:bldP spid="100" grpId="0"/>
      <p:bldP spid="101" grpId="0"/>
      <p:bldP spid="102" grpId="0"/>
      <p:bldP spid="10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8288" y="4978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18288" y="497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25373" y="63435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HISTOGRAM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90880" y="31496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Frequency of a Group</a:t>
            </a:r>
            <a:endParaRPr lang="en-US" sz="2700" dirty="0"/>
          </a:p>
        </p:txBody>
      </p:sp>
      <p:sp>
        <p:nvSpPr>
          <p:cNvPr id="45" name="Text 43"/>
          <p:cNvSpPr/>
          <p:nvPr/>
        </p:nvSpPr>
        <p:spPr>
          <a:xfrm>
            <a:off x="914400" y="6492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the other way, you can complete a table from a histogram, then the histogram from a table.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566928" y="6055360"/>
            <a:ext cx="11064240" cy="43688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822960" y="6059764"/>
            <a:ext cx="1051560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frequency = frequency density × class width = the bar’s area</a:t>
            </a:r>
            <a:endParaRPr lang="en-US" sz="2300" dirty="0"/>
          </a:p>
        </p:txBody>
      </p:sp>
      <p:sp>
        <p:nvSpPr>
          <p:cNvPr id="60" name="Text Placeholder 2"/>
          <p:cNvSpPr txBox="1">
            <a:spLocks/>
          </p:cNvSpPr>
          <p:nvPr/>
        </p:nvSpPr>
        <p:spPr>
          <a:xfrm>
            <a:off x="2722245" y="389571"/>
            <a:ext cx="9144000" cy="558958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dirty="0"/>
          </a:p>
        </p:txBody>
      </p:sp>
      <p:graphicFrame>
        <p:nvGraphicFramePr>
          <p:cNvPr id="61" name="Group 4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488009"/>
              </p:ext>
            </p:extLst>
          </p:nvPr>
        </p:nvGraphicFramePr>
        <p:xfrm>
          <a:off x="8734405" y="886911"/>
          <a:ext cx="3096344" cy="2172975"/>
        </p:xfrm>
        <a:graphic>
          <a:graphicData uri="http://schemas.openxmlformats.org/drawingml/2006/table">
            <a:tbl>
              <a:tblPr/>
              <a:tblGrid>
                <a:gridCol w="990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9823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518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Time taken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(t seconds)</a:t>
                      </a:r>
                    </a:p>
                  </a:txBody>
                  <a:tcPr marL="91416" marR="91416" marT="45729" marB="45729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F</a:t>
                      </a:r>
                    </a:p>
                  </a:txBody>
                  <a:tcPr marL="91416" marR="91416" marT="45729" marB="45729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GW</a:t>
                      </a:r>
                    </a:p>
                  </a:txBody>
                  <a:tcPr marL="91416" marR="91416" marT="45729" marB="45729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FD</a:t>
                      </a:r>
                    </a:p>
                  </a:txBody>
                  <a:tcPr marL="91416" marR="91416" marT="45729" marB="45729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231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10 &lt; t ≤ 30</a:t>
                      </a:r>
                    </a:p>
                  </a:txBody>
                  <a:tcPr marL="91416" marR="91416" marT="45729" marB="45729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91416" marR="91416" marT="45729" marB="45729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20</a:t>
                      </a:r>
                    </a:p>
                  </a:txBody>
                  <a:tcPr marL="91416" marR="91416" marT="45729" marB="45729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0.25</a:t>
                      </a:r>
                    </a:p>
                  </a:txBody>
                  <a:tcPr marL="91416" marR="91416" marT="45729" marB="45729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212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30 &lt; t ≤ 35</a:t>
                      </a:r>
                    </a:p>
                  </a:txBody>
                  <a:tcPr marL="91416" marR="91416" marT="45729" marB="45729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91416" marR="91416" marT="45729" marB="45729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5</a:t>
                      </a:r>
                    </a:p>
                  </a:txBody>
                  <a:tcPr marL="91416" marR="91416" marT="45729" marB="45729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0.8</a:t>
                      </a:r>
                    </a:p>
                  </a:txBody>
                  <a:tcPr marL="91416" marR="91416" marT="45729" marB="45729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231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35 &lt; t ≤ 40</a:t>
                      </a:r>
                    </a:p>
                  </a:txBody>
                  <a:tcPr marL="91416" marR="91416" marT="45729" marB="45729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91416" marR="91416" marT="45729" marB="45729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5</a:t>
                      </a:r>
                    </a:p>
                  </a:txBody>
                  <a:tcPr marL="91416" marR="91416" marT="45729" marB="45729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1.6</a:t>
                      </a:r>
                    </a:p>
                  </a:txBody>
                  <a:tcPr marL="91416" marR="91416" marT="45729" marB="45729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231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40 &lt; t ≤ 50</a:t>
                      </a:r>
                    </a:p>
                  </a:txBody>
                  <a:tcPr marL="91416" marR="91416" marT="45729" marB="45729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91416" marR="91416" marT="45729" marB="45729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10</a:t>
                      </a:r>
                    </a:p>
                  </a:txBody>
                  <a:tcPr marL="91416" marR="91416" marT="45729" marB="45729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2.7</a:t>
                      </a:r>
                    </a:p>
                  </a:txBody>
                  <a:tcPr marL="91416" marR="91416" marT="45729" marB="45729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212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50 &lt; t ≤ 70</a:t>
                      </a:r>
                    </a:p>
                  </a:txBody>
                  <a:tcPr marL="91416" marR="91416" marT="45729" marB="45729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91416" marR="91416" marT="45729" marB="45729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20</a:t>
                      </a:r>
                    </a:p>
                  </a:txBody>
                  <a:tcPr marL="91416" marR="91416" marT="45729" marB="45729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1.2</a:t>
                      </a:r>
                    </a:p>
                  </a:txBody>
                  <a:tcPr marL="91416" marR="91416" marT="45729" marB="45729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62" name="Rectangle 3"/>
          <p:cNvSpPr>
            <a:spLocks noChangeArrowheads="1"/>
          </p:cNvSpPr>
          <p:nvPr/>
        </p:nvSpPr>
        <p:spPr bwMode="auto">
          <a:xfrm>
            <a:off x="8589645" y="3995378"/>
            <a:ext cx="2089150" cy="1666875"/>
          </a:xfrm>
          <a:prstGeom prst="rect">
            <a:avLst/>
          </a:prstGeom>
          <a:ln>
            <a:solidFill>
              <a:schemeClr val="tx1"/>
            </a:solidFill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altLang="en-US" sz="2400">
              <a:solidFill>
                <a:prstClr val="black"/>
              </a:solidFill>
              <a:ea typeface="Microsoft YaHei" pitchFamily="34" charset="-122"/>
            </a:endParaRPr>
          </a:p>
        </p:txBody>
      </p:sp>
      <p:grpSp>
        <p:nvGrpSpPr>
          <p:cNvPr id="63" name="Group 4"/>
          <p:cNvGrpSpPr>
            <a:grpSpLocks/>
          </p:cNvGrpSpPr>
          <p:nvPr/>
        </p:nvGrpSpPr>
        <p:grpSpPr bwMode="auto">
          <a:xfrm>
            <a:off x="4474845" y="5290778"/>
            <a:ext cx="2098675" cy="371475"/>
            <a:chOff x="1104" y="2208"/>
            <a:chExt cx="480" cy="1728"/>
          </a:xfrm>
        </p:grpSpPr>
        <p:sp>
          <p:nvSpPr>
            <p:cNvPr id="64" name="Rectangle 5"/>
            <p:cNvSpPr>
              <a:spLocks noChangeArrowheads="1"/>
            </p:cNvSpPr>
            <p:nvPr/>
          </p:nvSpPr>
          <p:spPr bwMode="auto">
            <a:xfrm>
              <a:off x="1104" y="2208"/>
              <a:ext cx="480" cy="1728"/>
            </a:xfrm>
            <a:prstGeom prst="rect">
              <a:avLst/>
            </a:prstGeom>
            <a:ln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altLang="en-US" sz="2400">
                <a:solidFill>
                  <a:prstClr val="black"/>
                </a:solidFill>
                <a:ea typeface="Microsoft YaHei" pitchFamily="34" charset="-122"/>
              </a:endParaRPr>
            </a:p>
          </p:txBody>
        </p:sp>
        <p:sp>
          <p:nvSpPr>
            <p:cNvPr id="65" name="Line 6"/>
            <p:cNvSpPr>
              <a:spLocks noChangeShapeType="1"/>
            </p:cNvSpPr>
            <p:nvPr/>
          </p:nvSpPr>
          <p:spPr bwMode="auto">
            <a:xfrm>
              <a:off x="1584" y="2208"/>
              <a:ext cx="0" cy="1728"/>
            </a:xfrm>
            <a:prstGeom prst="line">
              <a:avLst/>
            </a:prstGeom>
            <a:ln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400">
                <a:solidFill>
                  <a:prstClr val="black"/>
                </a:solidFill>
                <a:ea typeface="Microsoft YaHei" pitchFamily="34" charset="-122"/>
              </a:endParaRPr>
            </a:p>
          </p:txBody>
        </p:sp>
      </p:grpSp>
      <p:grpSp>
        <p:nvGrpSpPr>
          <p:cNvPr id="66" name="Group 7"/>
          <p:cNvGrpSpPr>
            <a:grpSpLocks/>
          </p:cNvGrpSpPr>
          <p:nvPr/>
        </p:nvGrpSpPr>
        <p:grpSpPr bwMode="auto">
          <a:xfrm>
            <a:off x="6573520" y="4498616"/>
            <a:ext cx="504825" cy="1163637"/>
            <a:chOff x="1584" y="1296"/>
            <a:chExt cx="528" cy="2640"/>
          </a:xfrm>
        </p:grpSpPr>
        <p:sp>
          <p:nvSpPr>
            <p:cNvPr id="67" name="Rectangle 8"/>
            <p:cNvSpPr>
              <a:spLocks noChangeArrowheads="1"/>
            </p:cNvSpPr>
            <p:nvPr/>
          </p:nvSpPr>
          <p:spPr bwMode="auto">
            <a:xfrm>
              <a:off x="1584" y="1296"/>
              <a:ext cx="528" cy="2640"/>
            </a:xfrm>
            <a:prstGeom prst="rect">
              <a:avLst/>
            </a:prstGeom>
            <a:ln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altLang="en-US" sz="2400">
                <a:solidFill>
                  <a:prstClr val="black"/>
                </a:solidFill>
                <a:ea typeface="Microsoft YaHei" pitchFamily="34" charset="-122"/>
              </a:endParaRPr>
            </a:p>
          </p:txBody>
        </p:sp>
        <p:sp>
          <p:nvSpPr>
            <p:cNvPr id="68" name="Line 9"/>
            <p:cNvSpPr>
              <a:spLocks noChangeShapeType="1"/>
            </p:cNvSpPr>
            <p:nvPr/>
          </p:nvSpPr>
          <p:spPr bwMode="auto">
            <a:xfrm>
              <a:off x="2112" y="1728"/>
              <a:ext cx="0" cy="2208"/>
            </a:xfrm>
            <a:prstGeom prst="line">
              <a:avLst/>
            </a:prstGeom>
            <a:ln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400">
                <a:solidFill>
                  <a:prstClr val="black"/>
                </a:solidFill>
                <a:ea typeface="Microsoft YaHei" pitchFamily="34" charset="-122"/>
              </a:endParaRPr>
            </a:p>
          </p:txBody>
        </p:sp>
      </p:grpSp>
      <p:grpSp>
        <p:nvGrpSpPr>
          <p:cNvPr id="69" name="Group 10"/>
          <p:cNvGrpSpPr>
            <a:grpSpLocks/>
          </p:cNvGrpSpPr>
          <p:nvPr/>
        </p:nvGrpSpPr>
        <p:grpSpPr bwMode="auto">
          <a:xfrm>
            <a:off x="7581583" y="1906228"/>
            <a:ext cx="1008062" cy="3756025"/>
            <a:chOff x="3120" y="2640"/>
            <a:chExt cx="528" cy="1296"/>
          </a:xfrm>
        </p:grpSpPr>
        <p:sp>
          <p:nvSpPr>
            <p:cNvPr id="70" name="Rectangle 11"/>
            <p:cNvSpPr>
              <a:spLocks noChangeArrowheads="1"/>
            </p:cNvSpPr>
            <p:nvPr/>
          </p:nvSpPr>
          <p:spPr bwMode="auto">
            <a:xfrm>
              <a:off x="3120" y="2640"/>
              <a:ext cx="528" cy="1296"/>
            </a:xfrm>
            <a:prstGeom prst="rect">
              <a:avLst/>
            </a:prstGeom>
            <a:ln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altLang="en-US" sz="2400">
                <a:solidFill>
                  <a:prstClr val="black"/>
                </a:solidFill>
                <a:ea typeface="Microsoft YaHei" pitchFamily="34" charset="-122"/>
              </a:endParaRPr>
            </a:p>
          </p:txBody>
        </p:sp>
        <p:sp>
          <p:nvSpPr>
            <p:cNvPr id="71" name="Line 12"/>
            <p:cNvSpPr>
              <a:spLocks noChangeShapeType="1"/>
            </p:cNvSpPr>
            <p:nvPr/>
          </p:nvSpPr>
          <p:spPr bwMode="auto">
            <a:xfrm>
              <a:off x="3120" y="2640"/>
              <a:ext cx="0" cy="1296"/>
            </a:xfrm>
            <a:prstGeom prst="line">
              <a:avLst/>
            </a:prstGeom>
            <a:ln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400">
                <a:solidFill>
                  <a:prstClr val="black"/>
                </a:solidFill>
                <a:ea typeface="Microsoft YaHei" pitchFamily="34" charset="-122"/>
              </a:endParaRPr>
            </a:p>
          </p:txBody>
        </p:sp>
      </p:grpSp>
      <p:grpSp>
        <p:nvGrpSpPr>
          <p:cNvPr id="72" name="Group 13"/>
          <p:cNvGrpSpPr>
            <a:grpSpLocks/>
          </p:cNvGrpSpPr>
          <p:nvPr/>
        </p:nvGrpSpPr>
        <p:grpSpPr bwMode="auto">
          <a:xfrm>
            <a:off x="7078345" y="3419116"/>
            <a:ext cx="503238" cy="2243137"/>
            <a:chOff x="2112" y="1728"/>
            <a:chExt cx="1008" cy="2208"/>
          </a:xfrm>
        </p:grpSpPr>
        <p:sp>
          <p:nvSpPr>
            <p:cNvPr id="73" name="Rectangle 14"/>
            <p:cNvSpPr>
              <a:spLocks noChangeArrowheads="1"/>
            </p:cNvSpPr>
            <p:nvPr/>
          </p:nvSpPr>
          <p:spPr bwMode="auto">
            <a:xfrm>
              <a:off x="2112" y="1728"/>
              <a:ext cx="1008" cy="2208"/>
            </a:xfrm>
            <a:prstGeom prst="rect">
              <a:avLst/>
            </a:prstGeom>
            <a:ln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altLang="en-US" sz="2400">
                <a:solidFill>
                  <a:prstClr val="black"/>
                </a:solidFill>
                <a:ea typeface="Microsoft YaHei" pitchFamily="34" charset="-122"/>
              </a:endParaRPr>
            </a:p>
          </p:txBody>
        </p:sp>
        <p:sp>
          <p:nvSpPr>
            <p:cNvPr id="74" name="Line 15"/>
            <p:cNvSpPr>
              <a:spLocks noChangeShapeType="1"/>
            </p:cNvSpPr>
            <p:nvPr/>
          </p:nvSpPr>
          <p:spPr bwMode="auto">
            <a:xfrm>
              <a:off x="2112" y="1728"/>
              <a:ext cx="1008" cy="0"/>
            </a:xfrm>
            <a:prstGeom prst="line">
              <a:avLst/>
            </a:prstGeom>
            <a:ln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400">
                <a:solidFill>
                  <a:prstClr val="black"/>
                </a:solidFill>
                <a:ea typeface="Microsoft YaHei" pitchFamily="34" charset="-122"/>
              </a:endParaRPr>
            </a:p>
          </p:txBody>
        </p:sp>
      </p:grpSp>
      <p:grpSp>
        <p:nvGrpSpPr>
          <p:cNvPr id="75" name="Group 16"/>
          <p:cNvGrpSpPr>
            <a:grpSpLocks/>
          </p:cNvGrpSpPr>
          <p:nvPr/>
        </p:nvGrpSpPr>
        <p:grpSpPr bwMode="auto">
          <a:xfrm>
            <a:off x="2722245" y="821966"/>
            <a:ext cx="9324976" cy="5176838"/>
            <a:chOff x="0" y="887"/>
            <a:chExt cx="5874" cy="3261"/>
          </a:xfrm>
        </p:grpSpPr>
        <p:sp>
          <p:nvSpPr>
            <p:cNvPr id="76" name="Text Box 17"/>
            <p:cNvSpPr txBox="1">
              <a:spLocks noChangeArrowheads="1"/>
            </p:cNvSpPr>
            <p:nvPr/>
          </p:nvSpPr>
          <p:spPr bwMode="auto">
            <a:xfrm>
              <a:off x="960" y="3936"/>
              <a:ext cx="3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Microsoft YaHei" pitchFamily="34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Microsoft YaHei" pitchFamily="34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Microsoft YaHei" pitchFamily="34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Microsoft YaHei" pitchFamily="34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Microsoft YaHei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Microsoft YaHei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Microsoft YaHei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Microsoft YaHei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Microsoft YaHei" pitchFamily="34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GB" altLang="en-US" sz="1600">
                  <a:solidFill>
                    <a:prstClr val="black"/>
                  </a:solidFill>
                  <a:latin typeface="+mn-lt"/>
                </a:rPr>
                <a:t>10</a:t>
              </a:r>
            </a:p>
          </p:txBody>
        </p:sp>
        <p:sp>
          <p:nvSpPr>
            <p:cNvPr id="77" name="Text Box 18"/>
            <p:cNvSpPr txBox="1">
              <a:spLocks noChangeArrowheads="1"/>
            </p:cNvSpPr>
            <p:nvPr/>
          </p:nvSpPr>
          <p:spPr bwMode="auto">
            <a:xfrm>
              <a:off x="1610" y="3929"/>
              <a:ext cx="3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Microsoft YaHei" pitchFamily="34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Microsoft YaHei" pitchFamily="34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Microsoft YaHei" pitchFamily="34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Microsoft YaHei" pitchFamily="34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Microsoft YaHei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Microsoft YaHei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Microsoft YaHei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Microsoft YaHei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Microsoft YaHei" pitchFamily="34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GB" altLang="en-US" sz="1600">
                  <a:solidFill>
                    <a:prstClr val="black"/>
                  </a:solidFill>
                  <a:latin typeface="+mn-lt"/>
                </a:rPr>
                <a:t>20</a:t>
              </a:r>
            </a:p>
          </p:txBody>
        </p:sp>
        <p:grpSp>
          <p:nvGrpSpPr>
            <p:cNvPr id="78" name="Group 23"/>
            <p:cNvGrpSpPr>
              <a:grpSpLocks/>
            </p:cNvGrpSpPr>
            <p:nvPr/>
          </p:nvGrpSpPr>
          <p:grpSpPr bwMode="auto">
            <a:xfrm>
              <a:off x="0" y="887"/>
              <a:ext cx="5874" cy="3261"/>
              <a:chOff x="0" y="887"/>
              <a:chExt cx="5874" cy="3261"/>
            </a:xfrm>
          </p:grpSpPr>
          <p:grpSp>
            <p:nvGrpSpPr>
              <p:cNvPr id="79" name="Group 24"/>
              <p:cNvGrpSpPr>
                <a:grpSpLocks/>
              </p:cNvGrpSpPr>
              <p:nvPr/>
            </p:nvGrpSpPr>
            <p:grpSpPr bwMode="auto">
              <a:xfrm>
                <a:off x="0" y="887"/>
                <a:ext cx="5874" cy="3254"/>
                <a:chOff x="0" y="887"/>
                <a:chExt cx="5874" cy="3254"/>
              </a:xfrm>
            </p:grpSpPr>
            <p:grpSp>
              <p:nvGrpSpPr>
                <p:cNvPr id="81" name="Group 25"/>
                <p:cNvGrpSpPr>
                  <a:grpSpLocks/>
                </p:cNvGrpSpPr>
                <p:nvPr/>
              </p:nvGrpSpPr>
              <p:grpSpPr bwMode="auto">
                <a:xfrm>
                  <a:off x="0" y="887"/>
                  <a:ext cx="5874" cy="3254"/>
                  <a:chOff x="0" y="887"/>
                  <a:chExt cx="5874" cy="3254"/>
                </a:xfrm>
              </p:grpSpPr>
              <p:sp>
                <p:nvSpPr>
                  <p:cNvPr id="89" name="Line 26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3936"/>
                    <a:ext cx="465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GB" sz="2400">
                      <a:solidFill>
                        <a:prstClr val="black"/>
                      </a:solidFill>
                      <a:ea typeface="Microsoft YaHei" pitchFamily="34" charset="-122"/>
                    </a:endParaRPr>
                  </a:p>
                </p:txBody>
              </p:sp>
              <p:sp>
                <p:nvSpPr>
                  <p:cNvPr id="90" name="Line 2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76" y="1248"/>
                    <a:ext cx="0" cy="268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GB" sz="2400">
                      <a:solidFill>
                        <a:prstClr val="black"/>
                      </a:solidFill>
                      <a:ea typeface="Microsoft YaHei" pitchFamily="34" charset="-122"/>
                    </a:endParaRPr>
                  </a:p>
                </p:txBody>
              </p:sp>
              <p:sp>
                <p:nvSpPr>
                  <p:cNvPr id="91" name="Text Box 2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0" y="887"/>
                    <a:ext cx="864" cy="36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9pPr>
                  </a:lstStyle>
                  <a:p>
                    <a:pPr algn="ctr" fontAlgn="base">
                      <a:spcBef>
                        <a:spcPct val="50000"/>
                      </a:spcBef>
                      <a:spcAft>
                        <a:spcPct val="0"/>
                      </a:spcAft>
                    </a:pPr>
                    <a:r>
                      <a:rPr lang="en-GB" altLang="en-US" sz="1600" dirty="0">
                        <a:solidFill>
                          <a:prstClr val="black"/>
                        </a:solidFill>
                        <a:latin typeface="+mn-lt"/>
                      </a:rPr>
                      <a:t>Frequency density</a:t>
                    </a:r>
                  </a:p>
                </p:txBody>
              </p:sp>
              <p:sp>
                <p:nvSpPr>
                  <p:cNvPr id="92" name="Text Box 2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058" y="3929"/>
                    <a:ext cx="816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9pPr>
                  </a:lstStyle>
                  <a:p>
                    <a:pPr algn="ctr" fontAlgn="base">
                      <a:spcBef>
                        <a:spcPct val="50000"/>
                      </a:spcBef>
                      <a:spcAft>
                        <a:spcPct val="0"/>
                      </a:spcAft>
                    </a:pPr>
                    <a:r>
                      <a:rPr lang="en-GB" altLang="en-US" sz="1600" dirty="0">
                        <a:solidFill>
                          <a:prstClr val="black"/>
                        </a:solidFill>
                        <a:latin typeface="+mn-lt"/>
                      </a:rPr>
                      <a:t>Time t</a:t>
                    </a:r>
                  </a:p>
                </p:txBody>
              </p:sp>
              <p:sp>
                <p:nvSpPr>
                  <p:cNvPr id="93" name="Line 30"/>
                  <p:cNvSpPr>
                    <a:spLocks noChangeShapeType="1"/>
                  </p:cNvSpPr>
                  <p:nvPr/>
                </p:nvSpPr>
                <p:spPr bwMode="auto">
                  <a:xfrm>
                    <a:off x="576" y="3936"/>
                    <a:ext cx="9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GB" sz="2400">
                      <a:solidFill>
                        <a:prstClr val="black"/>
                      </a:solidFill>
                      <a:ea typeface="Microsoft YaHei" pitchFamily="34" charset="-122"/>
                    </a:endParaRPr>
                  </a:p>
                </p:txBody>
              </p:sp>
              <p:sp>
                <p:nvSpPr>
                  <p:cNvPr id="94" name="Line 3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672" y="3744"/>
                    <a:ext cx="48" cy="19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GB" sz="2400">
                      <a:solidFill>
                        <a:prstClr val="black"/>
                      </a:solidFill>
                      <a:ea typeface="Microsoft YaHei" pitchFamily="34" charset="-122"/>
                    </a:endParaRPr>
                  </a:p>
                </p:txBody>
              </p:sp>
              <p:sp>
                <p:nvSpPr>
                  <p:cNvPr id="95" name="Line 32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3744"/>
                    <a:ext cx="144" cy="38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GB" sz="2400">
                      <a:solidFill>
                        <a:prstClr val="black"/>
                      </a:solidFill>
                      <a:ea typeface="Microsoft YaHei" pitchFamily="34" charset="-122"/>
                    </a:endParaRPr>
                  </a:p>
                </p:txBody>
              </p:sp>
              <p:sp>
                <p:nvSpPr>
                  <p:cNvPr id="96" name="Line 3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864" y="3936"/>
                    <a:ext cx="144" cy="19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GB" sz="2400">
                      <a:solidFill>
                        <a:prstClr val="black"/>
                      </a:solidFill>
                      <a:ea typeface="Microsoft YaHei" pitchFamily="34" charset="-122"/>
                    </a:endParaRPr>
                  </a:p>
                </p:txBody>
              </p:sp>
            </p:grpSp>
            <p:grpSp>
              <p:nvGrpSpPr>
                <p:cNvPr id="82" name="Group 34"/>
                <p:cNvGrpSpPr>
                  <a:grpSpLocks/>
                </p:cNvGrpSpPr>
                <p:nvPr/>
              </p:nvGrpSpPr>
              <p:grpSpPr bwMode="auto">
                <a:xfrm>
                  <a:off x="144" y="1200"/>
                  <a:ext cx="432" cy="2400"/>
                  <a:chOff x="768" y="1200"/>
                  <a:chExt cx="432" cy="2400"/>
                </a:xfrm>
              </p:grpSpPr>
              <p:sp>
                <p:nvSpPr>
                  <p:cNvPr id="83" name="Text Box 3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68" y="3388"/>
                    <a:ext cx="432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9pPr>
                  </a:lstStyle>
                  <a:p>
                    <a:pPr algn="ctr" fontAlgn="base">
                      <a:spcBef>
                        <a:spcPct val="50000"/>
                      </a:spcBef>
                      <a:spcAft>
                        <a:spcPct val="0"/>
                      </a:spcAft>
                    </a:pPr>
                    <a:r>
                      <a:rPr lang="en-GB" altLang="en-US" sz="1600">
                        <a:solidFill>
                          <a:prstClr val="black"/>
                        </a:solidFill>
                        <a:latin typeface="+mn-lt"/>
                      </a:rPr>
                      <a:t>0.5</a:t>
                    </a:r>
                  </a:p>
                </p:txBody>
              </p:sp>
              <p:sp>
                <p:nvSpPr>
                  <p:cNvPr id="84" name="Text Box 3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68" y="2956"/>
                    <a:ext cx="432" cy="21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9pPr>
                  </a:lstStyle>
                  <a:p>
                    <a:pPr algn="ctr" fontAlgn="base">
                      <a:spcBef>
                        <a:spcPct val="50000"/>
                      </a:spcBef>
                      <a:spcAft>
                        <a:spcPct val="0"/>
                      </a:spcAft>
                    </a:pPr>
                    <a:r>
                      <a:rPr lang="en-GB" altLang="en-US" sz="1600">
                        <a:solidFill>
                          <a:prstClr val="black"/>
                        </a:solidFill>
                        <a:latin typeface="+mn-lt"/>
                      </a:rPr>
                      <a:t>1</a:t>
                    </a:r>
                  </a:p>
                </p:txBody>
              </p:sp>
              <p:sp>
                <p:nvSpPr>
                  <p:cNvPr id="85" name="Text Box 3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68" y="2524"/>
                    <a:ext cx="432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9pPr>
                  </a:lstStyle>
                  <a:p>
                    <a:pPr algn="ctr" fontAlgn="base">
                      <a:spcBef>
                        <a:spcPct val="50000"/>
                      </a:spcBef>
                      <a:spcAft>
                        <a:spcPct val="0"/>
                      </a:spcAft>
                    </a:pPr>
                    <a:r>
                      <a:rPr lang="en-GB" altLang="en-US" sz="1600">
                        <a:solidFill>
                          <a:prstClr val="black"/>
                        </a:solidFill>
                        <a:latin typeface="+mn-lt"/>
                      </a:rPr>
                      <a:t>1.5</a:t>
                    </a:r>
                  </a:p>
                </p:txBody>
              </p:sp>
              <p:sp>
                <p:nvSpPr>
                  <p:cNvPr id="86" name="Text Box 3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68" y="2064"/>
                    <a:ext cx="432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9pPr>
                  </a:lstStyle>
                  <a:p>
                    <a:pPr algn="ctr" fontAlgn="base">
                      <a:spcBef>
                        <a:spcPct val="50000"/>
                      </a:spcBef>
                      <a:spcAft>
                        <a:spcPct val="0"/>
                      </a:spcAft>
                    </a:pPr>
                    <a:r>
                      <a:rPr lang="en-GB" altLang="en-US" sz="1600">
                        <a:solidFill>
                          <a:prstClr val="black"/>
                        </a:solidFill>
                        <a:latin typeface="+mn-lt"/>
                      </a:rPr>
                      <a:t>2</a:t>
                    </a:r>
                  </a:p>
                </p:txBody>
              </p:sp>
              <p:sp>
                <p:nvSpPr>
                  <p:cNvPr id="87" name="Text Box 3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68" y="1632"/>
                    <a:ext cx="432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9pPr>
                  </a:lstStyle>
                  <a:p>
                    <a:pPr algn="ctr" fontAlgn="base">
                      <a:spcBef>
                        <a:spcPct val="50000"/>
                      </a:spcBef>
                      <a:spcAft>
                        <a:spcPct val="0"/>
                      </a:spcAft>
                    </a:pPr>
                    <a:r>
                      <a:rPr lang="en-GB" altLang="en-US" sz="1600">
                        <a:solidFill>
                          <a:prstClr val="black"/>
                        </a:solidFill>
                        <a:latin typeface="+mn-lt"/>
                      </a:rPr>
                      <a:t>2.5</a:t>
                    </a:r>
                  </a:p>
                </p:txBody>
              </p:sp>
              <p:sp>
                <p:nvSpPr>
                  <p:cNvPr id="88" name="Text Box 4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68" y="1200"/>
                    <a:ext cx="432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Microsoft YaHei" pitchFamily="34" charset="-122"/>
                      </a:defRPr>
                    </a:lvl9pPr>
                  </a:lstStyle>
                  <a:p>
                    <a:pPr algn="ctr" fontAlgn="base">
                      <a:spcBef>
                        <a:spcPct val="50000"/>
                      </a:spcBef>
                      <a:spcAft>
                        <a:spcPct val="0"/>
                      </a:spcAft>
                    </a:pPr>
                    <a:r>
                      <a:rPr lang="en-GB" altLang="en-US" sz="1600">
                        <a:solidFill>
                          <a:prstClr val="black"/>
                        </a:solidFill>
                        <a:latin typeface="+mn-lt"/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80" name="Text Box 41"/>
              <p:cNvSpPr txBox="1">
                <a:spLocks noChangeArrowheads="1"/>
              </p:cNvSpPr>
              <p:nvPr/>
            </p:nvSpPr>
            <p:spPr bwMode="auto">
              <a:xfrm>
                <a:off x="288" y="3936"/>
                <a:ext cx="33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Microsoft YaHei" pitchFamily="34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Microsoft YaHei" pitchFamily="34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Microsoft YaHei" pitchFamily="34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Microsoft YaHei" pitchFamily="34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Microsoft YaHei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Microsoft YaHei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Microsoft YaHei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Microsoft YaHei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Microsoft YaHei" pitchFamily="34" charset="-122"/>
                  </a:defRPr>
                </a:lvl9pPr>
              </a:lstStyle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GB" altLang="en-US" sz="1600">
                    <a:solidFill>
                      <a:prstClr val="black"/>
                    </a:solidFill>
                    <a:latin typeface="+mn-lt"/>
                  </a:rPr>
                  <a:t>0</a:t>
                </a:r>
              </a:p>
            </p:txBody>
          </p:sp>
        </p:grpSp>
      </p:grpSp>
      <p:sp>
        <p:nvSpPr>
          <p:cNvPr id="97" name="Text Box 18"/>
          <p:cNvSpPr txBox="1">
            <a:spLocks noChangeArrowheads="1"/>
          </p:cNvSpPr>
          <p:nvPr/>
        </p:nvSpPr>
        <p:spPr bwMode="auto">
          <a:xfrm>
            <a:off x="6357620" y="5651141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z="1600">
                <a:solidFill>
                  <a:prstClr val="black"/>
                </a:solidFill>
                <a:latin typeface="+mn-lt"/>
              </a:rPr>
              <a:t>30</a:t>
            </a:r>
          </a:p>
        </p:txBody>
      </p:sp>
      <p:sp>
        <p:nvSpPr>
          <p:cNvPr id="98" name="Text Box 17"/>
          <p:cNvSpPr txBox="1">
            <a:spLocks noChangeArrowheads="1"/>
          </p:cNvSpPr>
          <p:nvPr/>
        </p:nvSpPr>
        <p:spPr bwMode="auto">
          <a:xfrm>
            <a:off x="7365683" y="5651141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z="1600">
                <a:solidFill>
                  <a:prstClr val="black"/>
                </a:solidFill>
                <a:latin typeface="+mn-lt"/>
              </a:rPr>
              <a:t>40</a:t>
            </a:r>
          </a:p>
        </p:txBody>
      </p:sp>
      <p:sp>
        <p:nvSpPr>
          <p:cNvPr id="99" name="Text Box 17"/>
          <p:cNvSpPr txBox="1">
            <a:spLocks noChangeArrowheads="1"/>
          </p:cNvSpPr>
          <p:nvPr/>
        </p:nvSpPr>
        <p:spPr bwMode="auto">
          <a:xfrm>
            <a:off x="8373745" y="5651141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z="1600">
                <a:solidFill>
                  <a:prstClr val="black"/>
                </a:solidFill>
                <a:latin typeface="+mn-lt"/>
              </a:rPr>
              <a:t>50</a:t>
            </a:r>
          </a:p>
        </p:txBody>
      </p:sp>
      <p:sp>
        <p:nvSpPr>
          <p:cNvPr id="100" name="Text Box 17"/>
          <p:cNvSpPr txBox="1">
            <a:spLocks noChangeArrowheads="1"/>
          </p:cNvSpPr>
          <p:nvPr/>
        </p:nvSpPr>
        <p:spPr bwMode="auto">
          <a:xfrm>
            <a:off x="9454833" y="5651141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z="1600">
                <a:solidFill>
                  <a:prstClr val="black"/>
                </a:solidFill>
                <a:latin typeface="+mn-lt"/>
              </a:rPr>
              <a:t>60</a:t>
            </a:r>
          </a:p>
        </p:txBody>
      </p:sp>
      <p:sp>
        <p:nvSpPr>
          <p:cNvPr id="101" name="Text Box 17"/>
          <p:cNvSpPr txBox="1">
            <a:spLocks noChangeArrowheads="1"/>
          </p:cNvSpPr>
          <p:nvPr/>
        </p:nvSpPr>
        <p:spPr bwMode="auto">
          <a:xfrm>
            <a:off x="10462895" y="5651141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z="1600">
                <a:solidFill>
                  <a:prstClr val="black"/>
                </a:solidFill>
                <a:latin typeface="+mn-lt"/>
              </a:rPr>
              <a:t>70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05023" y="1470738"/>
            <a:ext cx="1117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20 × 0.25 = </a:t>
            </a:r>
            <a:r>
              <a:rPr lang="en-GB" sz="1400" b="1" dirty="0">
                <a:solidFill>
                  <a:schemeClr val="accent6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815758" y="1777026"/>
            <a:ext cx="9348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5 × 0.8 = </a:t>
            </a:r>
            <a:r>
              <a:rPr lang="en-GB" sz="1400" b="1" dirty="0">
                <a:solidFill>
                  <a:schemeClr val="accent6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114559" y="2084803"/>
            <a:ext cx="3161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 </a:t>
            </a:r>
            <a:r>
              <a:rPr lang="en-GB" sz="1400" b="1" dirty="0">
                <a:solidFill>
                  <a:schemeClr val="accent6">
                    <a:lumMod val="75000"/>
                  </a:schemeClr>
                </a:solidFill>
              </a:rPr>
              <a:t>8</a:t>
            </a:r>
          </a:p>
        </p:txBody>
      </p:sp>
      <p:sp>
        <p:nvSpPr>
          <p:cNvPr id="105" name="Cloud 104"/>
          <p:cNvSpPr/>
          <p:nvPr/>
        </p:nvSpPr>
        <p:spPr bwMode="auto">
          <a:xfrm>
            <a:off x="3569970" y="3139716"/>
            <a:ext cx="7016750" cy="2370138"/>
          </a:xfrm>
          <a:prstGeom prst="cloud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algn="ctr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en-GB" sz="2400" dirty="0">
                <a:solidFill>
                  <a:prstClr val="black"/>
                </a:solidFill>
                <a:ea typeface="Microsoft YaHei" charset="-122"/>
              </a:rPr>
              <a:t>To find the frequency, all you need to do is remember that the frequency is the AREA of each bar.</a:t>
            </a:r>
          </a:p>
          <a:p>
            <a:pPr algn="ctr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en-GB" sz="2400" dirty="0">
                <a:solidFill>
                  <a:prstClr val="black"/>
                </a:solidFill>
                <a:ea typeface="Microsoft YaHei" charset="-122"/>
              </a:rPr>
              <a:t>GW and FD are the length and width of the bar!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102557" y="2406142"/>
            <a:ext cx="4074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 </a:t>
            </a:r>
            <a:r>
              <a:rPr lang="en-GB" sz="1400" b="1" dirty="0">
                <a:solidFill>
                  <a:schemeClr val="accent6">
                    <a:lumMod val="75000"/>
                  </a:schemeClr>
                </a:solidFill>
              </a:rPr>
              <a:t>27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102557" y="2746437"/>
            <a:ext cx="4074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 </a:t>
            </a:r>
            <a:r>
              <a:rPr lang="en-GB" sz="1400" b="1" dirty="0">
                <a:solidFill>
                  <a:schemeClr val="accent6">
                    <a:lumMod val="75000"/>
                  </a:schemeClr>
                </a:solidFill>
              </a:rPr>
              <a:t>24</a:t>
            </a:r>
          </a:p>
        </p:txBody>
      </p:sp>
      <p:sp>
        <p:nvSpPr>
          <p:cNvPr id="108" name="Cloud Callout 107"/>
          <p:cNvSpPr/>
          <p:nvPr/>
        </p:nvSpPr>
        <p:spPr>
          <a:xfrm>
            <a:off x="4779645" y="893974"/>
            <a:ext cx="3238500" cy="1344717"/>
          </a:xfrm>
          <a:prstGeom prst="cloudCallout">
            <a:avLst>
              <a:gd name="adj1" fmla="val 147736"/>
              <a:gd name="adj2" fmla="val -23768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First read the GW and the FD off the histogram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0996295" y="1517787"/>
            <a:ext cx="186382" cy="1682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0" name="Rectangle 109"/>
          <p:cNvSpPr/>
          <p:nvPr/>
        </p:nvSpPr>
        <p:spPr>
          <a:xfrm>
            <a:off x="10966653" y="1830078"/>
            <a:ext cx="186382" cy="1682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1" name="Rectangle 110"/>
          <p:cNvSpPr/>
          <p:nvPr/>
        </p:nvSpPr>
        <p:spPr>
          <a:xfrm>
            <a:off x="10966653" y="2165859"/>
            <a:ext cx="186382" cy="1682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2" name="Rectangle 111"/>
          <p:cNvSpPr/>
          <p:nvPr/>
        </p:nvSpPr>
        <p:spPr>
          <a:xfrm>
            <a:off x="10966653" y="2478150"/>
            <a:ext cx="186382" cy="1682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3" name="Rectangle 112"/>
          <p:cNvSpPr/>
          <p:nvPr/>
        </p:nvSpPr>
        <p:spPr>
          <a:xfrm>
            <a:off x="10966653" y="2813931"/>
            <a:ext cx="186382" cy="1682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4" name="Rectangle 113"/>
          <p:cNvSpPr/>
          <p:nvPr/>
        </p:nvSpPr>
        <p:spPr>
          <a:xfrm>
            <a:off x="11470709" y="2813931"/>
            <a:ext cx="186382" cy="1682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5" name="Rectangle 114"/>
          <p:cNvSpPr/>
          <p:nvPr/>
        </p:nvSpPr>
        <p:spPr>
          <a:xfrm>
            <a:off x="11470709" y="2478150"/>
            <a:ext cx="186382" cy="1682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Rectangle 115"/>
          <p:cNvSpPr/>
          <p:nvPr/>
        </p:nvSpPr>
        <p:spPr>
          <a:xfrm>
            <a:off x="11470709" y="2190119"/>
            <a:ext cx="243136" cy="1440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7" name="Rectangle 116"/>
          <p:cNvSpPr/>
          <p:nvPr/>
        </p:nvSpPr>
        <p:spPr>
          <a:xfrm>
            <a:off x="11470708" y="1830078"/>
            <a:ext cx="243137" cy="1682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8" name="Rectangle 117"/>
          <p:cNvSpPr/>
          <p:nvPr/>
        </p:nvSpPr>
        <p:spPr>
          <a:xfrm>
            <a:off x="11398700" y="1517787"/>
            <a:ext cx="315145" cy="1682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9" name="Rectangle 118"/>
          <p:cNvSpPr/>
          <p:nvPr/>
        </p:nvSpPr>
        <p:spPr>
          <a:xfrm>
            <a:off x="0" y="1301460"/>
            <a:ext cx="295084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Example – From the histogram, find the frequency of each group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/>
      <p:bldP spid="103" grpId="0"/>
      <p:bldP spid="104" grpId="0"/>
      <p:bldP spid="105" grpId="0" animBg="1"/>
      <p:bldP spid="106" grpId="0"/>
      <p:bldP spid="107" grpId="0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8288" y="4978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18288" y="497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25373" y="63435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HISTOGRAM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90880" y="31496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Frequency of a Group</a:t>
            </a:r>
            <a:endParaRPr lang="en-US" sz="2700" dirty="0"/>
          </a:p>
        </p:txBody>
      </p:sp>
      <p:sp>
        <p:nvSpPr>
          <p:cNvPr id="60" name="Text Placeholder 2"/>
          <p:cNvSpPr txBox="1">
            <a:spLocks/>
          </p:cNvSpPr>
          <p:nvPr/>
        </p:nvSpPr>
        <p:spPr>
          <a:xfrm>
            <a:off x="2722245" y="389571"/>
            <a:ext cx="9144000" cy="558958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dirty="0"/>
          </a:p>
        </p:txBody>
      </p:sp>
      <p:sp>
        <p:nvSpPr>
          <p:cNvPr id="120" name="Rectangle 119"/>
          <p:cNvSpPr/>
          <p:nvPr/>
        </p:nvSpPr>
        <p:spPr>
          <a:xfrm>
            <a:off x="386016" y="2660069"/>
            <a:ext cx="5878151" cy="39330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1" name="Text Placeholder 2"/>
          <p:cNvSpPr txBox="1">
            <a:spLocks/>
          </p:cNvSpPr>
          <p:nvPr/>
        </p:nvSpPr>
        <p:spPr>
          <a:xfrm>
            <a:off x="386016" y="1003538"/>
            <a:ext cx="9144000" cy="558958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smtClean="0"/>
              <a:t>Exam question</a:t>
            </a:r>
            <a:endParaRPr lang="en-GB" dirty="0"/>
          </a:p>
        </p:txBody>
      </p:sp>
      <p:sp>
        <p:nvSpPr>
          <p:cNvPr id="122" name="TextBox 121"/>
          <p:cNvSpPr txBox="1"/>
          <p:nvPr/>
        </p:nvSpPr>
        <p:spPr>
          <a:xfrm>
            <a:off x="358991" y="1282109"/>
            <a:ext cx="40719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</a:rPr>
              <a:t>a) Use the information on the histogram to complete the table</a:t>
            </a:r>
          </a:p>
          <a:p>
            <a:endParaRPr lang="en-GB" dirty="0">
              <a:solidFill>
                <a:prstClr val="black"/>
              </a:solidFill>
            </a:endParaRPr>
          </a:p>
          <a:p>
            <a:r>
              <a:rPr lang="en-GB" dirty="0">
                <a:solidFill>
                  <a:prstClr val="black"/>
                </a:solidFill>
              </a:rPr>
              <a:t>b) Use the table to complete the histogram</a:t>
            </a:r>
            <a:endParaRPr lang="en-GB" sz="2000" b="1" dirty="0">
              <a:solidFill>
                <a:prstClr val="black"/>
              </a:solidFill>
            </a:endParaRPr>
          </a:p>
        </p:txBody>
      </p:sp>
      <p:pic>
        <p:nvPicPr>
          <p:cNvPr id="12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9504" y="2406237"/>
            <a:ext cx="5914663" cy="4286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24" name="Table 1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520805"/>
              </p:ext>
            </p:extLst>
          </p:nvPr>
        </p:nvGraphicFramePr>
        <p:xfrm>
          <a:off x="4931384" y="1091855"/>
          <a:ext cx="4491128" cy="2000262"/>
        </p:xfrm>
        <a:graphic>
          <a:graphicData uri="http://schemas.openxmlformats.org/drawingml/2006/table">
            <a:tbl>
              <a:tblPr/>
              <a:tblGrid>
                <a:gridCol w="139478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3610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333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US" sz="1600" b="0" dirty="0">
                          <a:latin typeface="+mn-lt"/>
                          <a:ea typeface="Times New Roman"/>
                          <a:cs typeface="Times New Roman"/>
                        </a:rPr>
                        <a:t>Time</a:t>
                      </a:r>
                      <a:r>
                        <a:rPr lang="en-US" sz="1600" b="0" baseline="0" dirty="0">
                          <a:latin typeface="+mn-lt"/>
                          <a:ea typeface="Times New Roman"/>
                          <a:cs typeface="Times New Roman"/>
                        </a:rPr>
                        <a:t> (m)</a:t>
                      </a:r>
                      <a:endParaRPr lang="en-US" sz="1600" b="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US" sz="1600" b="0" dirty="0">
                          <a:latin typeface="+mn-lt"/>
                          <a:ea typeface="Times New Roman"/>
                          <a:cs typeface="Times New Roman"/>
                        </a:rPr>
                        <a:t>Frequency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US" sz="1600" b="0" dirty="0">
                          <a:latin typeface="+mn-lt"/>
                          <a:ea typeface="Times New Roman"/>
                          <a:cs typeface="Times New Roman"/>
                        </a:rPr>
                        <a:t>GW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US" sz="1600" b="0" dirty="0">
                          <a:latin typeface="+mn-lt"/>
                          <a:ea typeface="Times New Roman"/>
                          <a:cs typeface="Times New Roman"/>
                        </a:rPr>
                        <a:t>FD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33377">
                <a:tc>
                  <a:txBody>
                    <a:bodyPr/>
                    <a:lstStyle/>
                    <a:p>
                      <a:pPr marR="335280"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US" sz="1600" b="0">
                          <a:latin typeface="+mn-lt"/>
                          <a:ea typeface="Times New Roman"/>
                          <a:cs typeface="Times New Roman"/>
                        </a:rPr>
                        <a:t>0 &lt; </a:t>
                      </a:r>
                      <a:r>
                        <a:rPr lang="en-US" sz="1600" b="0" i="1">
                          <a:latin typeface="+mn-lt"/>
                          <a:ea typeface="Times New Roman"/>
                          <a:cs typeface="Times New Roman"/>
                        </a:rPr>
                        <a:t>t</a:t>
                      </a:r>
                      <a:r>
                        <a:rPr lang="en-US" sz="1600" b="0">
                          <a:latin typeface="+mn-lt"/>
                          <a:ea typeface="Times New Roman"/>
                          <a:cs typeface="Times New Roman"/>
                        </a:rPr>
                        <a:t> ≤ 10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US" sz="1600" b="0" dirty="0">
                          <a:latin typeface="+mn-lt"/>
                          <a:ea typeface="Times New Roman"/>
                          <a:cs typeface="Times New Roman"/>
                        </a:rPr>
                        <a:t>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US" sz="1600" b="0" dirty="0">
                          <a:latin typeface="+mn-lt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endParaRPr lang="en-US" sz="1600" b="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33377">
                <a:tc>
                  <a:txBody>
                    <a:bodyPr/>
                    <a:lstStyle/>
                    <a:p>
                      <a:pPr marR="335280"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US" sz="1600" b="0">
                          <a:latin typeface="+mn-lt"/>
                          <a:ea typeface="Times New Roman"/>
                          <a:cs typeface="Times New Roman"/>
                        </a:rPr>
                        <a:t>10 &lt; </a:t>
                      </a:r>
                      <a:r>
                        <a:rPr lang="en-US" sz="1600" b="0" i="1">
                          <a:latin typeface="+mn-lt"/>
                          <a:ea typeface="Times New Roman"/>
                          <a:cs typeface="Times New Roman"/>
                        </a:rPr>
                        <a:t>t </a:t>
                      </a:r>
                      <a:r>
                        <a:rPr lang="en-US" sz="1600" b="0">
                          <a:latin typeface="+mn-lt"/>
                          <a:ea typeface="Times New Roman"/>
                          <a:cs typeface="Times New Roman"/>
                        </a:rPr>
                        <a:t>≤ 15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endParaRPr lang="en-US" sz="1600" b="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US" sz="1600" b="0" dirty="0">
                          <a:latin typeface="+mn-lt"/>
                          <a:ea typeface="Times New Roman"/>
                          <a:cs typeface="Times New Roman"/>
                        </a:rPr>
                        <a:t>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endParaRPr lang="en-US" sz="1600" b="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33377">
                <a:tc>
                  <a:txBody>
                    <a:bodyPr/>
                    <a:lstStyle/>
                    <a:p>
                      <a:pPr marR="335280"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US" sz="1600" b="0">
                          <a:latin typeface="+mn-lt"/>
                          <a:ea typeface="Times New Roman"/>
                          <a:cs typeface="Times New Roman"/>
                        </a:rPr>
                        <a:t>15 &lt; </a:t>
                      </a:r>
                      <a:r>
                        <a:rPr lang="en-US" sz="1600" b="0" i="1">
                          <a:latin typeface="+mn-lt"/>
                          <a:ea typeface="Times New Roman"/>
                          <a:cs typeface="Times New Roman"/>
                        </a:rPr>
                        <a:t>t</a:t>
                      </a:r>
                      <a:r>
                        <a:rPr lang="en-US" sz="1600" b="0">
                          <a:latin typeface="+mn-lt"/>
                          <a:ea typeface="Times New Roman"/>
                          <a:cs typeface="Times New Roman"/>
                        </a:rPr>
                        <a:t> ≤ 30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endParaRPr lang="en-US" sz="1600" b="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US" sz="1600" b="0" dirty="0">
                          <a:latin typeface="+mn-lt"/>
                          <a:ea typeface="Times New Roman"/>
                          <a:cs typeface="Times New Roman"/>
                        </a:rPr>
                        <a:t>15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endParaRPr lang="en-US" sz="1600" b="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33377">
                <a:tc>
                  <a:txBody>
                    <a:bodyPr/>
                    <a:lstStyle/>
                    <a:p>
                      <a:pPr marR="335280"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US" sz="1600" b="0">
                          <a:latin typeface="+mn-lt"/>
                          <a:ea typeface="Times New Roman"/>
                          <a:cs typeface="Times New Roman"/>
                        </a:rPr>
                        <a:t>30 &lt; </a:t>
                      </a:r>
                      <a:r>
                        <a:rPr lang="en-US" sz="1600" b="0" i="1">
                          <a:latin typeface="+mn-lt"/>
                          <a:ea typeface="Times New Roman"/>
                          <a:cs typeface="Times New Roman"/>
                        </a:rPr>
                        <a:t>t</a:t>
                      </a:r>
                      <a:r>
                        <a:rPr lang="en-US" sz="1600" b="0">
                          <a:latin typeface="+mn-lt"/>
                          <a:ea typeface="Times New Roman"/>
                          <a:cs typeface="Times New Roman"/>
                        </a:rPr>
                        <a:t> ≤ 50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US" sz="1600" b="0" dirty="0">
                          <a:latin typeface="+mn-lt"/>
                          <a:ea typeface="Times New Roman"/>
                          <a:cs typeface="Times New Roman"/>
                        </a:rPr>
                        <a:t>62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US" sz="1600" b="0" dirty="0">
                          <a:latin typeface="+mn-lt"/>
                          <a:ea typeface="Times New Roman"/>
                          <a:cs typeface="Times New Roman"/>
                        </a:rPr>
                        <a:t>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endParaRPr lang="en-US" sz="1600" b="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33377">
                <a:tc>
                  <a:txBody>
                    <a:bodyPr/>
                    <a:lstStyle/>
                    <a:p>
                      <a:pPr marR="335280"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US" sz="1600" b="0">
                          <a:latin typeface="+mn-lt"/>
                          <a:ea typeface="Times New Roman"/>
                          <a:cs typeface="Times New Roman"/>
                        </a:rPr>
                        <a:t>50 &lt; </a:t>
                      </a:r>
                      <a:r>
                        <a:rPr lang="en-US" sz="1600" b="0" i="1">
                          <a:latin typeface="+mn-lt"/>
                          <a:ea typeface="Times New Roman"/>
                          <a:cs typeface="Times New Roman"/>
                        </a:rPr>
                        <a:t>t</a:t>
                      </a:r>
                      <a:r>
                        <a:rPr lang="en-US" sz="1600" b="0">
                          <a:latin typeface="+mn-lt"/>
                          <a:ea typeface="Times New Roman"/>
                          <a:cs typeface="Times New Roman"/>
                        </a:rPr>
                        <a:t> ≤ 60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US" sz="1600" b="0" dirty="0">
                          <a:latin typeface="+mn-lt"/>
                          <a:ea typeface="Times New Roman"/>
                          <a:cs typeface="Times New Roman"/>
                        </a:rPr>
                        <a:t>23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US" sz="1600" b="0" dirty="0">
                          <a:latin typeface="+mn-lt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endParaRPr lang="en-US" sz="1600" b="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125" name="TextBox 124"/>
          <p:cNvSpPr txBox="1"/>
          <p:nvPr/>
        </p:nvSpPr>
        <p:spPr>
          <a:xfrm>
            <a:off x="8832794" y="14266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2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53560" y="467629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53560" y="538708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55117" y="39218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3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53560" y="316412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4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11914" y="25160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5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846448" y="17239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846448" y="207471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4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758216" y="172396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15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758216" y="207471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60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774440" y="2372037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3.1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774440" y="2700719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2.3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7550304" y="1019441"/>
            <a:ext cx="1979712" cy="21105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8" name="Cloud Callout 137"/>
          <p:cNvSpPr/>
          <p:nvPr/>
        </p:nvSpPr>
        <p:spPr>
          <a:xfrm>
            <a:off x="6398176" y="3092117"/>
            <a:ext cx="2952328" cy="1440160"/>
          </a:xfrm>
          <a:prstGeom prst="cloudCallout">
            <a:avLst>
              <a:gd name="adj1" fmla="val -213138"/>
              <a:gd name="adj2" fmla="val 112726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Find the bar where you ALSO have the info in the table…</a:t>
            </a:r>
          </a:p>
        </p:txBody>
      </p:sp>
      <p:sp>
        <p:nvSpPr>
          <p:cNvPr id="139" name="Cloud Callout 138"/>
          <p:cNvSpPr/>
          <p:nvPr/>
        </p:nvSpPr>
        <p:spPr>
          <a:xfrm>
            <a:off x="6408304" y="3596173"/>
            <a:ext cx="2952328" cy="1440160"/>
          </a:xfrm>
          <a:prstGeom prst="cloudCallout">
            <a:avLst>
              <a:gd name="adj1" fmla="val 51743"/>
              <a:gd name="adj2" fmla="val 76715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Calculate the FD of that bar, and use it to label the FD axis on the graph</a:t>
            </a:r>
          </a:p>
        </p:txBody>
      </p:sp>
      <p:sp>
        <p:nvSpPr>
          <p:cNvPr id="140" name="Cloud Callout 139"/>
          <p:cNvSpPr/>
          <p:nvPr/>
        </p:nvSpPr>
        <p:spPr>
          <a:xfrm>
            <a:off x="6420766" y="4028221"/>
            <a:ext cx="2952328" cy="1440160"/>
          </a:xfrm>
          <a:prstGeom prst="cloudCallout">
            <a:avLst>
              <a:gd name="adj1" fmla="val 51743"/>
              <a:gd name="adj2" fmla="val 76715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Read off the FD of the other bars on the graph, and use that  to calculate F for these bars</a:t>
            </a:r>
          </a:p>
        </p:txBody>
      </p:sp>
      <p:sp>
        <p:nvSpPr>
          <p:cNvPr id="141" name="Cloud Callout 140"/>
          <p:cNvSpPr/>
          <p:nvPr/>
        </p:nvSpPr>
        <p:spPr>
          <a:xfrm>
            <a:off x="6542192" y="4532277"/>
            <a:ext cx="2952328" cy="1440160"/>
          </a:xfrm>
          <a:prstGeom prst="cloudCallout">
            <a:avLst>
              <a:gd name="adj1" fmla="val 51743"/>
              <a:gd name="adj2" fmla="val 76715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Calculate FD for the rest of the table, and use these values to draw the rest of the histogram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325090" y="4028220"/>
            <a:ext cx="1416901" cy="221963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3" name="Rectangle 142"/>
          <p:cNvSpPr/>
          <p:nvPr/>
        </p:nvSpPr>
        <p:spPr>
          <a:xfrm>
            <a:off x="4741991" y="4591855"/>
            <a:ext cx="720000" cy="1656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9231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" grpId="0"/>
      <p:bldP spid="126" grpId="0"/>
      <p:bldP spid="127" grpId="0"/>
      <p:bldP spid="128" grpId="0"/>
      <p:bldP spid="129" grpId="0"/>
      <p:bldP spid="130" grpId="0"/>
      <p:bldP spid="131" grpId="0"/>
      <p:bldP spid="132" grpId="0"/>
      <p:bldP spid="133" grpId="0"/>
      <p:bldP spid="134" grpId="0"/>
      <p:bldP spid="135" grpId="0"/>
      <p:bldP spid="136" grpId="0"/>
      <p:bldP spid="137" grpId="0" animBg="1"/>
      <p:bldP spid="138" grpId="0" animBg="1"/>
      <p:bldP spid="139" grpId="0" animBg="1"/>
      <p:bldP spid="140" grpId="0" animBg="1"/>
      <p:bldP spid="141" grpId="0" animBg="1"/>
      <p:bldP spid="142" grpId="0" animBg="1"/>
      <p:bldP spid="14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40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80" dirty="0"/>
          </a:p>
        </p:txBody>
      </p:sp>
      <p:sp>
        <p:nvSpPr>
          <p:cNvPr id="39" name="Text 37"/>
          <p:cNvSpPr/>
          <p:nvPr/>
        </p:nvSpPr>
        <p:spPr>
          <a:xfrm>
            <a:off x="1554480" y="6766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16916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Past-Paper Questions</a:t>
            </a:r>
            <a:endParaRPr lang="en-US" sz="4400" dirty="0"/>
          </a:p>
        </p:txBody>
      </p:sp>
      <p:sp>
        <p:nvSpPr>
          <p:cNvPr id="41" name="Text 39"/>
          <p:cNvSpPr/>
          <p:nvPr/>
        </p:nvSpPr>
        <p:spPr>
          <a:xfrm>
            <a:off x="804672" y="2697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Frequency density = frequency ÷ width;  frequency = the bar’s area.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68680" y="3611880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3611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1554480" y="361188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FD = frequency ÷ class width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868680" y="4325112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6" name="Text 44"/>
          <p:cNvSpPr/>
          <p:nvPr/>
        </p:nvSpPr>
        <p:spPr>
          <a:xfrm>
            <a:off x="868680" y="4325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1554480" y="4325112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frequency = FD × width (area)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868680" y="5038344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" y="50383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554480" y="5038344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Bars touch; widths can differ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868680" y="5751576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2" name="Text 50"/>
          <p:cNvSpPr/>
          <p:nvPr/>
        </p:nvSpPr>
        <p:spPr>
          <a:xfrm>
            <a:off x="868680" y="5751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1554480" y="5751576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of a class → area of that part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3174295" y="1408176"/>
            <a:ext cx="5843106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hgq/q-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7447" y="1481328"/>
            <a:ext cx="5696802" cy="50749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2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3758883" y="1408176"/>
            <a:ext cx="4673929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hgq/q-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2035" y="1481328"/>
            <a:ext cx="4527625" cy="50749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3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407684" y="1408176"/>
            <a:ext cx="7376327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hgq/q-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0836" y="1481328"/>
            <a:ext cx="7230023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4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3907729" y="1408176"/>
            <a:ext cx="4376237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hgq/q-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0881" y="1481328"/>
            <a:ext cx="4229933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5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215059" y="1408176"/>
            <a:ext cx="7761577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hgq/q-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8211" y="1481328"/>
            <a:ext cx="7615273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6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3266267" y="1408176"/>
            <a:ext cx="5659161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hgq/q-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9419" y="1481328"/>
            <a:ext cx="5512857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7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3380237" y="1408176"/>
            <a:ext cx="5431221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hgq/q-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3389" y="1481328"/>
            <a:ext cx="5284917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8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426603" y="1408176"/>
            <a:ext cx="7338488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hgq/q-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9755" y="1481328"/>
            <a:ext cx="7192184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9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3307535" y="792480"/>
            <a:ext cx="6486705" cy="5836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hgq/q-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0687" y="653124"/>
            <a:ext cx="6316525" cy="590312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40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80" dirty="0"/>
          </a:p>
        </p:txBody>
      </p:sp>
      <p:sp>
        <p:nvSpPr>
          <p:cNvPr id="39" name="Text 37"/>
          <p:cNvSpPr/>
          <p:nvPr/>
        </p:nvSpPr>
        <p:spPr>
          <a:xfrm>
            <a:off x="1554480" y="67665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13716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800" dirty="0"/>
          </a:p>
        </p:txBody>
      </p:sp>
      <p:sp>
        <p:nvSpPr>
          <p:cNvPr id="41" name="Shape 39"/>
          <p:cNvSpPr/>
          <p:nvPr/>
        </p:nvSpPr>
        <p:spPr>
          <a:xfrm>
            <a:off x="868680" y="2368296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2" name="Text 40"/>
          <p:cNvSpPr/>
          <p:nvPr/>
        </p:nvSpPr>
        <p:spPr>
          <a:xfrm>
            <a:off x="1234440" y="23317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histogram shows grouped data; bars touch and can have different widths.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868680" y="2935224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4" name="Text 42"/>
          <p:cNvSpPr/>
          <p:nvPr/>
        </p:nvSpPr>
        <p:spPr>
          <a:xfrm>
            <a:off x="1234440" y="28986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vertical axis is FREQUENCY DENSITY, not frequency.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868680" y="3502152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6" name="Text 44"/>
          <p:cNvSpPr/>
          <p:nvPr/>
        </p:nvSpPr>
        <p:spPr>
          <a:xfrm>
            <a:off x="1234440" y="346557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density = frequency ÷ class width.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868680" y="4069080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8" name="Text 46"/>
          <p:cNvSpPr/>
          <p:nvPr/>
        </p:nvSpPr>
        <p:spPr>
          <a:xfrm>
            <a:off x="1234440" y="403250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= frequency density × class width — the AREA of the bar.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868680" y="4636008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50" name="Text 48"/>
          <p:cNvSpPr/>
          <p:nvPr/>
        </p:nvSpPr>
        <p:spPr>
          <a:xfrm>
            <a:off x="1234440" y="459943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part of a class, use the area of just that part (same frequency density).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777240" y="5440680"/>
            <a:ext cx="10607040" cy="86868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777240" y="5440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Golden rule:  </a:t>
            </a:r>
            <a:r>
              <a:rPr lang="en-US" sz="17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 = frequency.  Height is frequency density = frequency ÷ width.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1157</Words>
  <Application>Microsoft Office PowerPoint</Application>
  <PresentationFormat>Custom</PresentationFormat>
  <Paragraphs>303</Paragraphs>
  <Slides>19</Slides>
  <Notes>19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Zahra Sheikh Ali</dc:creator>
  <cp:lastModifiedBy>zahraa sheik ali</cp:lastModifiedBy>
  <cp:revision>6</cp:revision>
  <dcterms:created xsi:type="dcterms:W3CDTF">2026-07-17T12:00:23Z</dcterms:created>
  <dcterms:modified xsi:type="dcterms:W3CDTF">2026-08-06T16:57:48Z</dcterms:modified>
</cp:coreProperties>
</file>