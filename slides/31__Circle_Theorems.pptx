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6" r:id="rId19"/>
    <p:sldId id="273" r:id="rId20"/>
    <p:sldId id="297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ACACD-65E6-4807-BE54-A5725124D84D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5F342-AE31-442D-A525-8D484E309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685800"/>
            <a:ext cx="2286000" cy="2286000"/>
          </a:xfrm>
          <a:prstGeom prst="ellipse">
            <a:avLst/>
          </a:prstGeom>
          <a:ln w="635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Theorems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 in Circles · Right Angles · Same Segment · Angle at the Centre · Cyclic Quadrilaterals · Alternate Segment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of Angles in Circles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theorems are laws about angles when circles are involved.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wording in the boxes — the exam asks you to JUSTIFY each angle in words.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of a circle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Right-angle theorems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segment &amp; centre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 quadrilaterals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segment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· chord · tangent · arc · segment · subtended · cyclic quadrilateral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" y="242161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166503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8988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of a Circle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886968" y="960120"/>
            <a:ext cx="8925772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names first.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diameter, chord, tangent, arc, sector and segment.</a:t>
            </a:r>
            <a:endParaRPr lang="en-US" sz="1300" dirty="0"/>
          </a:p>
        </p:txBody>
      </p:sp>
      <p:sp>
        <p:nvSpPr>
          <p:cNvPr id="48" name="Oval 47"/>
          <p:cNvSpPr/>
          <p:nvPr/>
        </p:nvSpPr>
        <p:spPr>
          <a:xfrm>
            <a:off x="3743908" y="1702225"/>
            <a:ext cx="3960440" cy="39604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Connector 48"/>
          <p:cNvCxnSpPr/>
          <p:nvPr/>
        </p:nvCxnSpPr>
        <p:spPr>
          <a:xfrm>
            <a:off x="3856381" y="3021659"/>
            <a:ext cx="1154243" cy="2503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5265457" y="1747495"/>
            <a:ext cx="494675" cy="19709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767627" y="2347102"/>
            <a:ext cx="1409075" cy="1379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186165" y="2422052"/>
            <a:ext cx="3065488" cy="2540833"/>
          </a:xfrm>
          <a:prstGeom prst="line">
            <a:avLst/>
          </a:prstGeom>
          <a:ln>
            <a:prstDash val="sysDot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832140" y="3441384"/>
            <a:ext cx="1854228" cy="277065"/>
          </a:xfrm>
          <a:prstGeom prst="line">
            <a:avLst/>
          </a:prstGeom>
          <a:ln>
            <a:prstDash val="sysDot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402335" y="4528170"/>
            <a:ext cx="4489554" cy="1723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76356" y="1414193"/>
            <a:ext cx="1080120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1660" y="3574433"/>
            <a:ext cx="1296144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(Minor)</a:t>
            </a:r>
          </a:p>
          <a:p>
            <a:r>
              <a:rPr lang="en-GB" sz="2400" dirty="0"/>
              <a:t>Segment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2380" y="4150497"/>
            <a:ext cx="151216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Diameter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4388" y="2710337"/>
            <a:ext cx="11521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Radius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39652" y="5374633"/>
            <a:ext cx="136815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Tangent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9692" y="2638329"/>
            <a:ext cx="136815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Chord</a:t>
            </a:r>
          </a:p>
        </p:txBody>
      </p:sp>
      <p:sp>
        <p:nvSpPr>
          <p:cNvPr id="61" name="Freeform 60"/>
          <p:cNvSpPr/>
          <p:nvPr/>
        </p:nvSpPr>
        <p:spPr>
          <a:xfrm>
            <a:off x="5220486" y="1481419"/>
            <a:ext cx="2083633" cy="715781"/>
          </a:xfrm>
          <a:custGeom>
            <a:avLst/>
            <a:gdLst>
              <a:gd name="connsiteX0" fmla="*/ 0 w 2083633"/>
              <a:gd name="connsiteY0" fmla="*/ 101184 h 715781"/>
              <a:gd name="connsiteX1" fmla="*/ 344774 w 2083633"/>
              <a:gd name="connsiteY1" fmla="*/ 11243 h 715781"/>
              <a:gd name="connsiteX2" fmla="*/ 742013 w 2083633"/>
              <a:gd name="connsiteY2" fmla="*/ 33728 h 715781"/>
              <a:gd name="connsiteX3" fmla="*/ 1094282 w 2083633"/>
              <a:gd name="connsiteY3" fmla="*/ 116174 h 715781"/>
              <a:gd name="connsiteX4" fmla="*/ 1491521 w 2083633"/>
              <a:gd name="connsiteY4" fmla="*/ 281066 h 715781"/>
              <a:gd name="connsiteX5" fmla="*/ 1843790 w 2083633"/>
              <a:gd name="connsiteY5" fmla="*/ 528404 h 715781"/>
              <a:gd name="connsiteX6" fmla="*/ 2083633 w 2083633"/>
              <a:gd name="connsiteY6" fmla="*/ 715781 h 71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3633" h="715781">
                <a:moveTo>
                  <a:pt x="0" y="101184"/>
                </a:moveTo>
                <a:cubicBezTo>
                  <a:pt x="110552" y="61835"/>
                  <a:pt x="221105" y="22486"/>
                  <a:pt x="344774" y="11243"/>
                </a:cubicBezTo>
                <a:cubicBezTo>
                  <a:pt x="468443" y="0"/>
                  <a:pt x="617095" y="16240"/>
                  <a:pt x="742013" y="33728"/>
                </a:cubicBezTo>
                <a:cubicBezTo>
                  <a:pt x="866931" y="51216"/>
                  <a:pt x="969364" y="74951"/>
                  <a:pt x="1094282" y="116174"/>
                </a:cubicBezTo>
                <a:cubicBezTo>
                  <a:pt x="1219200" y="157397"/>
                  <a:pt x="1366603" y="212361"/>
                  <a:pt x="1491521" y="281066"/>
                </a:cubicBezTo>
                <a:cubicBezTo>
                  <a:pt x="1616439" y="349771"/>
                  <a:pt x="1745105" y="455952"/>
                  <a:pt x="1843790" y="528404"/>
                </a:cubicBezTo>
                <a:cubicBezTo>
                  <a:pt x="1942475" y="600856"/>
                  <a:pt x="2013054" y="658318"/>
                  <a:pt x="2083633" y="715781"/>
                </a:cubicBezTo>
              </a:path>
            </a:pathLst>
          </a:custGeom>
          <a:ln w="19050">
            <a:prstDash val="sysDot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/>
          <p:cNvSpPr txBox="1"/>
          <p:nvPr/>
        </p:nvSpPr>
        <p:spPr>
          <a:xfrm>
            <a:off x="5832140" y="982145"/>
            <a:ext cx="165618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(Minor) Arc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16316" y="5590657"/>
            <a:ext cx="208823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Circumference</a:t>
            </a:r>
          </a:p>
        </p:txBody>
      </p:sp>
      <p:cxnSp>
        <p:nvCxnSpPr>
          <p:cNvPr id="64" name="Straight Arrow Connector 63"/>
          <p:cNvCxnSpPr>
            <a:stCxn id="59" idx="3"/>
          </p:cNvCxnSpPr>
          <p:nvPr/>
        </p:nvCxnSpPr>
        <p:spPr>
          <a:xfrm flipV="1">
            <a:off x="2807804" y="5086601"/>
            <a:ext cx="792088" cy="5188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6" idx="3"/>
          </p:cNvCxnSpPr>
          <p:nvPr/>
        </p:nvCxnSpPr>
        <p:spPr>
          <a:xfrm>
            <a:off x="2807804" y="3989932"/>
            <a:ext cx="1368152" cy="3045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60" idx="3"/>
          </p:cNvCxnSpPr>
          <p:nvPr/>
        </p:nvCxnSpPr>
        <p:spPr>
          <a:xfrm>
            <a:off x="3167844" y="2869162"/>
            <a:ext cx="1008112" cy="9212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1"/>
          </p:cNvCxnSpPr>
          <p:nvPr/>
        </p:nvCxnSpPr>
        <p:spPr>
          <a:xfrm flipH="1">
            <a:off x="6912260" y="4381330"/>
            <a:ext cx="1080120" cy="27322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8" idx="1"/>
          </p:cNvCxnSpPr>
          <p:nvPr/>
        </p:nvCxnSpPr>
        <p:spPr>
          <a:xfrm flipH="1">
            <a:off x="7344308" y="2941170"/>
            <a:ext cx="720080" cy="48924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5" idx="1"/>
          </p:cNvCxnSpPr>
          <p:nvPr/>
        </p:nvCxnSpPr>
        <p:spPr>
          <a:xfrm flipH="1">
            <a:off x="6336196" y="1645026"/>
            <a:ext cx="1440160" cy="9212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2" idx="2"/>
          </p:cNvCxnSpPr>
          <p:nvPr/>
        </p:nvCxnSpPr>
        <p:spPr>
          <a:xfrm flipH="1">
            <a:off x="6624228" y="1443810"/>
            <a:ext cx="36004" cy="2584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3" idx="1"/>
          </p:cNvCxnSpPr>
          <p:nvPr/>
        </p:nvCxnSpPr>
        <p:spPr>
          <a:xfrm flipH="1" flipV="1">
            <a:off x="6840252" y="5374633"/>
            <a:ext cx="576064" cy="4468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832140" y="982145"/>
            <a:ext cx="1656184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6356" y="1414193"/>
            <a:ext cx="1080120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64388" y="2710337"/>
            <a:ext cx="1152128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92380" y="4150497"/>
            <a:ext cx="1512168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16316" y="5590657"/>
            <a:ext cx="2088232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99692" y="2638329"/>
            <a:ext cx="1368152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11660" y="3574433"/>
            <a:ext cx="1368152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39652" y="5374633"/>
            <a:ext cx="1368152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Facts (Not Circle Theorems)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circle theorems,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need them: angles in a triangle/quadrilateral, and radii make ISOSCELES triangles.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 · RIGHT 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in a Semicircle &amp; Radius–Tangent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“Angle in a semicircle is 90°.”   “Angle between a radius and a tangent is 90°.”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this wording.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· KEY 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Segment &amp; Angle at the Centre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“Angles in the same segment are equal.”   “The angle at the centre is TWICE the angle at the circumference.”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AT THE CENTRE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Stays True Wherever the Apex Moves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angles stand on the same arc.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apex around the circumference — the angle at the centre is still double.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AT THE CENTRE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Case — Standing on the Diameter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diameter the centre angle is 180°,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angle at the circumference is 90° — that is the semicircle theorem.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3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 Quadrilaterals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“Opposite angles of a cyclic quadrilateral add up to 180°.”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vertices lie on the circumference.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QUADRILATERAL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Cyclic Quadrilateral?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vertex must be ON the circumference.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is not, the theorem does not apply.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 · LENGTHS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Tangents from a Point Are Equal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two tangents from a point to a circle are equal in length.”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an isosceles triangle.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5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Alternate Segment Theorem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angle between a tangent and a chord equals the angle in the alternate segment.”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one — learn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Reasons You Must Write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exam you must give a REASON.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exact wordings that earn the mark.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3035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1488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035040" y="2148840"/>
            <a:ext cx="5596128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6144768" y="2148840"/>
            <a:ext cx="537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reason to write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566928" y="2642616"/>
            <a:ext cx="5303520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" y="26426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Semicircle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035040" y="2642616"/>
            <a:ext cx="5596128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6426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“Angle in a semicircle is 90°”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66928" y="3099816"/>
            <a:ext cx="5303520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" y="30998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Radius &amp; tangent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035040" y="3099816"/>
            <a:ext cx="5596128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30998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“Angle between a radius and a tangent is 90°”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66928" y="3557016"/>
            <a:ext cx="5303520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" y="35570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segment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035040" y="3557016"/>
            <a:ext cx="5596128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35570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“Angles in the same segment are equal”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66928" y="4014216"/>
            <a:ext cx="5303520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" y="40142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at the centre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035040" y="4014216"/>
            <a:ext cx="5596128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40142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“Angle at the centre is twice the angle at the circumference”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66928" y="4471416"/>
            <a:ext cx="5303520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" y="44714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 quadrilateral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6035040" y="4471416"/>
            <a:ext cx="5596128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44714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“Opposite angles of a cyclic quadrilateral add up to 180°”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566928" y="4928616"/>
            <a:ext cx="5303520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4088" y="49286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Tangents from a point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6035040" y="4928616"/>
            <a:ext cx="5596128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49286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“Tangents from a point to a circle are equal”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566928" y="5385816"/>
            <a:ext cx="5303520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4088" y="53858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segment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035040" y="5385816"/>
            <a:ext cx="5596128" cy="429768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53858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“Angle between tangent and chord = angle in the alternate segment”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566928" y="5843016"/>
            <a:ext cx="5303520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4088" y="58430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radii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6035040" y="5843016"/>
            <a:ext cx="5596128" cy="429768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72200" y="5843016"/>
            <a:ext cx="5321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“Triangle is isosceles — two radii are equal”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= no mark. Learn these sentences word for word.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04" y="505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92304" y="50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5926" y="6605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4368" y="292097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Circle Theorem? (1)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theorem you would use — then find the angle.</a:t>
            </a:r>
            <a:endParaRPr lang="en-US" sz="1300" dirty="0"/>
          </a:p>
        </p:txBody>
      </p:sp>
      <p:sp>
        <p:nvSpPr>
          <p:cNvPr id="45" name="TextBox 44"/>
          <p:cNvSpPr txBox="1"/>
          <p:nvPr/>
        </p:nvSpPr>
        <p:spPr>
          <a:xfrm>
            <a:off x="3056696" y="671893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Identify which circle theorems you could use to solve each question.</a:t>
            </a:r>
          </a:p>
        </p:txBody>
      </p:sp>
      <p:sp>
        <p:nvSpPr>
          <p:cNvPr id="46" name="Oval 45"/>
          <p:cNvSpPr/>
          <p:nvPr/>
        </p:nvSpPr>
        <p:spPr>
          <a:xfrm>
            <a:off x="3632760" y="1535989"/>
            <a:ext cx="4248472" cy="43058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eform 46"/>
          <p:cNvSpPr/>
          <p:nvPr/>
        </p:nvSpPr>
        <p:spPr>
          <a:xfrm>
            <a:off x="3754248" y="1644549"/>
            <a:ext cx="4083184" cy="3886200"/>
          </a:xfrm>
          <a:custGeom>
            <a:avLst/>
            <a:gdLst>
              <a:gd name="connsiteX0" fmla="*/ 0 w 4076700"/>
              <a:gd name="connsiteY0" fmla="*/ 2781300 h 3886200"/>
              <a:gd name="connsiteX1" fmla="*/ 3116580 w 4076700"/>
              <a:gd name="connsiteY1" fmla="*/ 3886200 h 3886200"/>
              <a:gd name="connsiteX2" fmla="*/ 4076700 w 4076700"/>
              <a:gd name="connsiteY2" fmla="*/ 1546860 h 3886200"/>
              <a:gd name="connsiteX3" fmla="*/ 1333500 w 4076700"/>
              <a:gd name="connsiteY3" fmla="*/ 0 h 3886200"/>
              <a:gd name="connsiteX4" fmla="*/ 0 w 4076700"/>
              <a:gd name="connsiteY4" fmla="*/ 2781300 h 3886200"/>
              <a:gd name="connsiteX0" fmla="*/ 0 w 4083184"/>
              <a:gd name="connsiteY0" fmla="*/ 2781300 h 3886200"/>
              <a:gd name="connsiteX1" fmla="*/ 3116580 w 4083184"/>
              <a:gd name="connsiteY1" fmla="*/ 3886200 h 3886200"/>
              <a:gd name="connsiteX2" fmla="*/ 4083184 w 4083184"/>
              <a:gd name="connsiteY2" fmla="*/ 2506216 h 3886200"/>
              <a:gd name="connsiteX3" fmla="*/ 1333500 w 4083184"/>
              <a:gd name="connsiteY3" fmla="*/ 0 h 3886200"/>
              <a:gd name="connsiteX4" fmla="*/ 0 w 4083184"/>
              <a:gd name="connsiteY4" fmla="*/ 27813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3184" h="3886200">
                <a:moveTo>
                  <a:pt x="0" y="2781300"/>
                </a:moveTo>
                <a:lnTo>
                  <a:pt x="3116580" y="3886200"/>
                </a:lnTo>
                <a:lnTo>
                  <a:pt x="4083184" y="2506216"/>
                </a:lnTo>
                <a:lnTo>
                  <a:pt x="1333500" y="0"/>
                </a:lnTo>
                <a:lnTo>
                  <a:pt x="0" y="27813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Connector 47"/>
          <p:cNvCxnSpPr>
            <a:stCxn id="47" idx="0"/>
          </p:cNvCxnSpPr>
          <p:nvPr/>
        </p:nvCxnSpPr>
        <p:spPr>
          <a:xfrm flipV="1">
            <a:off x="3754248" y="3552213"/>
            <a:ext cx="1966744" cy="873636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2"/>
          </p:cNvCxnSpPr>
          <p:nvPr/>
        </p:nvCxnSpPr>
        <p:spPr>
          <a:xfrm flipH="1" flipV="1">
            <a:off x="5720992" y="3552213"/>
            <a:ext cx="2116440" cy="598552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32960" y="326418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</a:p>
        </p:txBody>
      </p:sp>
      <p:sp>
        <p:nvSpPr>
          <p:cNvPr id="51" name="Freeform 50"/>
          <p:cNvSpPr/>
          <p:nvPr/>
        </p:nvSpPr>
        <p:spPr>
          <a:xfrm>
            <a:off x="6345048" y="5068469"/>
            <a:ext cx="807720" cy="264160"/>
          </a:xfrm>
          <a:custGeom>
            <a:avLst/>
            <a:gdLst>
              <a:gd name="connsiteX0" fmla="*/ 0 w 807720"/>
              <a:gd name="connsiteY0" fmla="*/ 264160 h 264160"/>
              <a:gd name="connsiteX1" fmla="*/ 129540 w 807720"/>
              <a:gd name="connsiteY1" fmla="*/ 127000 h 264160"/>
              <a:gd name="connsiteX2" fmla="*/ 281940 w 807720"/>
              <a:gd name="connsiteY2" fmla="*/ 27940 h 264160"/>
              <a:gd name="connsiteX3" fmla="*/ 502920 w 807720"/>
              <a:gd name="connsiteY3" fmla="*/ 12700 h 264160"/>
              <a:gd name="connsiteX4" fmla="*/ 693420 w 807720"/>
              <a:gd name="connsiteY4" fmla="*/ 5080 h 264160"/>
              <a:gd name="connsiteX5" fmla="*/ 807720 w 807720"/>
              <a:gd name="connsiteY5" fmla="*/ 4318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7720" h="264160">
                <a:moveTo>
                  <a:pt x="0" y="264160"/>
                </a:moveTo>
                <a:cubicBezTo>
                  <a:pt x="41275" y="215265"/>
                  <a:pt x="82550" y="166370"/>
                  <a:pt x="129540" y="127000"/>
                </a:cubicBezTo>
                <a:cubicBezTo>
                  <a:pt x="176530" y="87630"/>
                  <a:pt x="219710" y="46990"/>
                  <a:pt x="281940" y="27940"/>
                </a:cubicBezTo>
                <a:cubicBezTo>
                  <a:pt x="344170" y="8890"/>
                  <a:pt x="434340" y="16510"/>
                  <a:pt x="502920" y="12700"/>
                </a:cubicBezTo>
                <a:cubicBezTo>
                  <a:pt x="571500" y="8890"/>
                  <a:pt x="642620" y="0"/>
                  <a:pt x="693420" y="5080"/>
                </a:cubicBezTo>
                <a:cubicBezTo>
                  <a:pt x="744220" y="10160"/>
                  <a:pt x="775970" y="26670"/>
                  <a:pt x="807720" y="4318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reeform 51"/>
          <p:cNvSpPr/>
          <p:nvPr/>
        </p:nvSpPr>
        <p:spPr>
          <a:xfrm>
            <a:off x="5400168" y="3679089"/>
            <a:ext cx="723900" cy="153670"/>
          </a:xfrm>
          <a:custGeom>
            <a:avLst/>
            <a:gdLst>
              <a:gd name="connsiteX0" fmla="*/ 0 w 723900"/>
              <a:gd name="connsiteY0" fmla="*/ 7620 h 153670"/>
              <a:gd name="connsiteX1" fmla="*/ 160020 w 723900"/>
              <a:gd name="connsiteY1" fmla="*/ 129540 h 153670"/>
              <a:gd name="connsiteX2" fmla="*/ 434340 w 723900"/>
              <a:gd name="connsiteY2" fmla="*/ 144780 h 153670"/>
              <a:gd name="connsiteX3" fmla="*/ 647700 w 723900"/>
              <a:gd name="connsiteY3" fmla="*/ 76200 h 153670"/>
              <a:gd name="connsiteX4" fmla="*/ 723900 w 723900"/>
              <a:gd name="connsiteY4" fmla="*/ 0 h 15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153670">
                <a:moveTo>
                  <a:pt x="0" y="7620"/>
                </a:moveTo>
                <a:cubicBezTo>
                  <a:pt x="43815" y="57150"/>
                  <a:pt x="87630" y="106680"/>
                  <a:pt x="160020" y="129540"/>
                </a:cubicBezTo>
                <a:cubicBezTo>
                  <a:pt x="232410" y="152400"/>
                  <a:pt x="353060" y="153670"/>
                  <a:pt x="434340" y="144780"/>
                </a:cubicBezTo>
                <a:cubicBezTo>
                  <a:pt x="515620" y="135890"/>
                  <a:pt x="599440" y="100330"/>
                  <a:pt x="647700" y="76200"/>
                </a:cubicBezTo>
                <a:cubicBezTo>
                  <a:pt x="695960" y="52070"/>
                  <a:pt x="709930" y="26035"/>
                  <a:pt x="72390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5360952" y="3768237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160</a:t>
            </a:r>
            <a:r>
              <a:rPr lang="en-GB" sz="2800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6153040" y="4560325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100</a:t>
            </a:r>
            <a:r>
              <a:rPr lang="en-GB" sz="2800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5" name="Right Arrow 54"/>
          <p:cNvSpPr/>
          <p:nvPr/>
        </p:nvSpPr>
        <p:spPr>
          <a:xfrm>
            <a:off x="8313280" y="3696229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ight Arrow 55"/>
          <p:cNvSpPr/>
          <p:nvPr/>
        </p:nvSpPr>
        <p:spPr>
          <a:xfrm>
            <a:off x="8313280" y="2112053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5504968" y="3768237"/>
            <a:ext cx="720080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7376" y="671893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in </a:t>
            </a:r>
            <a:r>
              <a:rPr lang="en-GB" b="1" dirty="0"/>
              <a:t>semicircle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9177376" y="1175949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between </a:t>
            </a:r>
            <a:r>
              <a:rPr lang="en-GB" b="1" dirty="0"/>
              <a:t>tangent and radius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9177376" y="1968037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Opposite angles of </a:t>
            </a:r>
            <a:r>
              <a:rPr lang="en-GB" b="1" dirty="0"/>
              <a:t>cyclic quadrilateral</a:t>
            </a:r>
            <a:r>
              <a:rPr lang="en-GB" dirty="0"/>
              <a:t> add to 180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9177376" y="2760125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in </a:t>
            </a:r>
            <a:r>
              <a:rPr lang="en-GB" b="1" dirty="0"/>
              <a:t>same segment </a:t>
            </a:r>
            <a:r>
              <a:rPr lang="en-GB" dirty="0"/>
              <a:t>are equal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77376" y="3552213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at </a:t>
            </a:r>
            <a:r>
              <a:rPr lang="en-GB" b="1" dirty="0"/>
              <a:t>centre</a:t>
            </a:r>
            <a:r>
              <a:rPr lang="en-GB" dirty="0"/>
              <a:t> is twice angle at circumference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77376" y="4344301"/>
            <a:ext cx="2592288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Lengths of the tangents </a:t>
            </a:r>
            <a:r>
              <a:rPr lang="en-GB" dirty="0"/>
              <a:t>from a point to the circle are equal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77376" y="5352413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Two angles in isosceles triangle the same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77376" y="6046850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of </a:t>
            </a:r>
            <a:r>
              <a:rPr lang="en-GB" b="1" dirty="0"/>
              <a:t>quadrilateral</a:t>
            </a:r>
            <a:r>
              <a:rPr lang="en-GB" dirty="0"/>
              <a:t> add to 360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66" name="Rectangle 65"/>
          <p:cNvSpPr/>
          <p:nvPr/>
        </p:nvSpPr>
        <p:spPr>
          <a:xfrm>
            <a:off x="7753510" y="1421896"/>
            <a:ext cx="936104" cy="2880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Reveal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Circle Theorem? (2)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theorem you would use — then find the angle.</a:t>
            </a:r>
            <a:endParaRPr lang="en-US" sz="1300" dirty="0"/>
          </a:p>
        </p:txBody>
      </p:sp>
      <p:sp>
        <p:nvSpPr>
          <p:cNvPr id="45" name="TextBox 44"/>
          <p:cNvSpPr txBox="1"/>
          <p:nvPr/>
        </p:nvSpPr>
        <p:spPr>
          <a:xfrm>
            <a:off x="3082988" y="1471628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Identify which circle theorems you could use to solve each question.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735616" y="744948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7131" y="2538139"/>
            <a:ext cx="5577433" cy="328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TextBox 47"/>
          <p:cNvSpPr txBox="1"/>
          <p:nvPr/>
        </p:nvSpPr>
        <p:spPr>
          <a:xfrm>
            <a:off x="4919192" y="2833180"/>
            <a:ext cx="720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115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49" name="Rectangle 48"/>
          <p:cNvSpPr/>
          <p:nvPr/>
        </p:nvSpPr>
        <p:spPr>
          <a:xfrm>
            <a:off x="4919192" y="2763593"/>
            <a:ext cx="720080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9712" y="96876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in </a:t>
            </a:r>
            <a:r>
              <a:rPr lang="en-GB" b="1" dirty="0"/>
              <a:t>semicircle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1" name="TextBox 50"/>
          <p:cNvSpPr txBox="1"/>
          <p:nvPr/>
        </p:nvSpPr>
        <p:spPr>
          <a:xfrm>
            <a:off x="9599712" y="600932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between </a:t>
            </a:r>
            <a:r>
              <a:rPr lang="en-GB" b="1" dirty="0"/>
              <a:t>tangent and radius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2" name="TextBox 51"/>
          <p:cNvSpPr txBox="1"/>
          <p:nvPr/>
        </p:nvSpPr>
        <p:spPr>
          <a:xfrm>
            <a:off x="9599712" y="1393020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Opposite angles of </a:t>
            </a:r>
            <a:r>
              <a:rPr lang="en-GB" b="1" dirty="0"/>
              <a:t>cyclic quadrilateral</a:t>
            </a:r>
            <a:r>
              <a:rPr lang="en-GB" dirty="0"/>
              <a:t> add to 180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9599712" y="2185108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in </a:t>
            </a:r>
            <a:r>
              <a:rPr lang="en-GB" b="1" dirty="0"/>
              <a:t>same segment </a:t>
            </a:r>
            <a:r>
              <a:rPr lang="en-GB" dirty="0"/>
              <a:t>are equal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99712" y="2977196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at </a:t>
            </a:r>
            <a:r>
              <a:rPr lang="en-GB" b="1" dirty="0"/>
              <a:t>centre</a:t>
            </a:r>
            <a:r>
              <a:rPr lang="en-GB" dirty="0"/>
              <a:t> is twice angle at circumference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99712" y="3769284"/>
            <a:ext cx="2592288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Lengths of the tangents </a:t>
            </a:r>
            <a:r>
              <a:rPr lang="en-GB" dirty="0"/>
              <a:t>from a point to the circle are equal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9712" y="4777396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Two angles in isosceles triangle the same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99712" y="5471833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of </a:t>
            </a:r>
            <a:r>
              <a:rPr lang="en-GB" b="1" dirty="0"/>
              <a:t>quadrilateral</a:t>
            </a:r>
            <a:r>
              <a:rPr lang="en-GB" dirty="0"/>
              <a:t> add to 360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8" name="Right Arrow 57"/>
          <p:cNvSpPr/>
          <p:nvPr/>
        </p:nvSpPr>
        <p:spPr>
          <a:xfrm>
            <a:off x="8663608" y="5641492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8087544" y="1973943"/>
            <a:ext cx="936104" cy="2880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Reveal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Circle Theorem? (3)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theorem you would use — then find the angle.</a:t>
            </a:r>
            <a:endParaRPr lang="en-US" sz="1300" dirty="0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3616" y="1353312"/>
            <a:ext cx="44196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45"/>
          <p:cNvSpPr txBox="1"/>
          <p:nvPr/>
        </p:nvSpPr>
        <p:spPr>
          <a:xfrm>
            <a:off x="134340" y="1226185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Identify which circle theorems you could use to solve each question.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2248" y="633232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in </a:t>
            </a:r>
            <a:r>
              <a:rPr lang="en-GB" b="1" dirty="0"/>
              <a:t>semicircle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48" name="TextBox 47"/>
          <p:cNvSpPr txBox="1"/>
          <p:nvPr/>
        </p:nvSpPr>
        <p:spPr>
          <a:xfrm>
            <a:off x="9522248" y="1137288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between </a:t>
            </a:r>
            <a:r>
              <a:rPr lang="en-GB" b="1" dirty="0"/>
              <a:t>tangent and radius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49" name="TextBox 48"/>
          <p:cNvSpPr txBox="1"/>
          <p:nvPr/>
        </p:nvSpPr>
        <p:spPr>
          <a:xfrm>
            <a:off x="9522248" y="1929376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Opposite angles of </a:t>
            </a:r>
            <a:r>
              <a:rPr lang="en-GB" b="1" dirty="0"/>
              <a:t>cyclic quadrilateral</a:t>
            </a:r>
            <a:r>
              <a:rPr lang="en-GB" dirty="0"/>
              <a:t> add to 180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9522248" y="2721464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in </a:t>
            </a:r>
            <a:r>
              <a:rPr lang="en-GB" b="1" dirty="0"/>
              <a:t>same segment </a:t>
            </a:r>
            <a:r>
              <a:rPr lang="en-GB" dirty="0"/>
              <a:t>are equal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2248" y="3513552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at </a:t>
            </a:r>
            <a:r>
              <a:rPr lang="en-GB" b="1" dirty="0"/>
              <a:t>centre</a:t>
            </a:r>
            <a:r>
              <a:rPr lang="en-GB" dirty="0"/>
              <a:t> is twice angle at circumference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2248" y="4305640"/>
            <a:ext cx="2592288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Lengths of the tangents </a:t>
            </a:r>
            <a:r>
              <a:rPr lang="en-GB" dirty="0"/>
              <a:t>from a point to the circle are equal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802168" y="2937488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/>
          <p:cNvSpPr txBox="1"/>
          <p:nvPr/>
        </p:nvSpPr>
        <p:spPr>
          <a:xfrm>
            <a:off x="7362008" y="2865480"/>
            <a:ext cx="5676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32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5" name="Rectangle 54"/>
          <p:cNvSpPr/>
          <p:nvPr/>
        </p:nvSpPr>
        <p:spPr>
          <a:xfrm>
            <a:off x="7217992" y="2793472"/>
            <a:ext cx="720080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2248" y="5313752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Two angles in isosceles triangle the same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802168" y="5457768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/>
          <p:cNvSpPr txBox="1"/>
          <p:nvPr/>
        </p:nvSpPr>
        <p:spPr>
          <a:xfrm>
            <a:off x="9522248" y="6008189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of </a:t>
            </a:r>
            <a:r>
              <a:rPr lang="en-GB" b="1" dirty="0"/>
              <a:t>quadrilateral</a:t>
            </a:r>
            <a:r>
              <a:rPr lang="en-GB" dirty="0"/>
              <a:t> add to 360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9" name="Rectangle 58"/>
          <p:cNvSpPr/>
          <p:nvPr/>
        </p:nvSpPr>
        <p:spPr>
          <a:xfrm>
            <a:off x="8241272" y="1495587"/>
            <a:ext cx="936104" cy="2880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Reveal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Labelled Angles (1)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1417320"/>
            <a:ext cx="6035040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one angle at a time, giving a reason for each.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Circle Theorem?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theorem you would use — then find the angle.</a:t>
            </a:r>
            <a:endParaRPr lang="en-US" sz="1300" dirty="0"/>
          </a:p>
        </p:txBody>
      </p:sp>
      <p:pic>
        <p:nvPicPr>
          <p:cNvPr id="7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2213" y="2035479"/>
            <a:ext cx="49434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" name="TextBox 76"/>
          <p:cNvSpPr txBox="1"/>
          <p:nvPr/>
        </p:nvSpPr>
        <p:spPr>
          <a:xfrm>
            <a:off x="3014320" y="1353312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Identify which circle theorems you could use to solve each question.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37776" y="261428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in </a:t>
            </a:r>
            <a:r>
              <a:rPr lang="en-GB" b="1" dirty="0"/>
              <a:t>semicircle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79" name="TextBox 78"/>
          <p:cNvSpPr txBox="1"/>
          <p:nvPr/>
        </p:nvSpPr>
        <p:spPr>
          <a:xfrm>
            <a:off x="9637776" y="765484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between </a:t>
            </a:r>
            <a:r>
              <a:rPr lang="en-GB" b="1" dirty="0"/>
              <a:t>tangent and radius</a:t>
            </a:r>
            <a:r>
              <a:rPr lang="en-GB" dirty="0"/>
              <a:t> is 90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80" name="TextBox 79"/>
          <p:cNvSpPr txBox="1"/>
          <p:nvPr/>
        </p:nvSpPr>
        <p:spPr>
          <a:xfrm>
            <a:off x="9637776" y="1557572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Opposite angles of </a:t>
            </a:r>
            <a:r>
              <a:rPr lang="en-GB" b="1" dirty="0"/>
              <a:t>cyclic quadrilateral</a:t>
            </a:r>
            <a:r>
              <a:rPr lang="en-GB" dirty="0"/>
              <a:t> add to 180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81" name="TextBox 80"/>
          <p:cNvSpPr txBox="1"/>
          <p:nvPr/>
        </p:nvSpPr>
        <p:spPr>
          <a:xfrm>
            <a:off x="9637776" y="2349660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in </a:t>
            </a:r>
            <a:r>
              <a:rPr lang="en-GB" b="1" dirty="0"/>
              <a:t>same segment </a:t>
            </a:r>
            <a:r>
              <a:rPr lang="en-GB" dirty="0"/>
              <a:t>are equal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37776" y="3141748"/>
            <a:ext cx="2592288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at </a:t>
            </a:r>
            <a:r>
              <a:rPr lang="en-GB" b="1" dirty="0"/>
              <a:t>centre</a:t>
            </a:r>
            <a:r>
              <a:rPr lang="en-GB" dirty="0"/>
              <a:t> is twice angle at circumference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37776" y="3933836"/>
            <a:ext cx="2592288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Lengths of the tangents </a:t>
            </a:r>
            <a:r>
              <a:rPr lang="en-GB" dirty="0"/>
              <a:t>from a point to the circle are equal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8917696" y="3285764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5965368" y="2133636"/>
            <a:ext cx="5676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31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86" name="Rectangle 85"/>
          <p:cNvSpPr/>
          <p:nvPr/>
        </p:nvSpPr>
        <p:spPr>
          <a:xfrm>
            <a:off x="5965368" y="2781708"/>
            <a:ext cx="57606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37776" y="4941948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Two angles in isosceles triangle the same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8845688" y="5806044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/>
          <p:cNvSpPr txBox="1"/>
          <p:nvPr/>
        </p:nvSpPr>
        <p:spPr>
          <a:xfrm>
            <a:off x="9637776" y="5636385"/>
            <a:ext cx="259228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Angles of </a:t>
            </a:r>
            <a:r>
              <a:rPr lang="en-GB" b="1" dirty="0"/>
              <a:t>quadrilateral</a:t>
            </a:r>
            <a:r>
              <a:rPr lang="en-GB" dirty="0"/>
              <a:t> add to 360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90" name="Right Arrow 89"/>
          <p:cNvSpPr/>
          <p:nvPr/>
        </p:nvSpPr>
        <p:spPr>
          <a:xfrm>
            <a:off x="8917696" y="909500"/>
            <a:ext cx="57606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/>
          <p:cNvSpPr/>
          <p:nvPr/>
        </p:nvSpPr>
        <p:spPr>
          <a:xfrm>
            <a:off x="7000888" y="1747447"/>
            <a:ext cx="936104" cy="2880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Reveal</a:t>
            </a:r>
          </a:p>
        </p:txBody>
      </p:sp>
    </p:spTree>
    <p:extLst>
      <p:ext uri="{BB962C8B-B14F-4D97-AF65-F5344CB8AC3E}">
        <p14:creationId xmlns:p14="http://schemas.microsoft.com/office/powerpoint/2010/main" val="10850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  <p:bldLst>
      <p:bldP spid="84" grpId="0" animBg="1"/>
      <p:bldP spid="86" grpId="0" animBg="1"/>
      <p:bldP spid="88" grpId="0" animBg="1"/>
      <p:bldP spid="9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1473" y="1280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351473" y="146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44209" y="1280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6603" y="412887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Labelled Angles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0" y="1146517"/>
            <a:ext cx="9177376" cy="486109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semicircle, a radius-tangent, or a cyclic quadrilateral first.</a:t>
            </a:r>
            <a:endParaRPr lang="en-US" sz="1300" dirty="0"/>
          </a:p>
        </p:txBody>
      </p:sp>
      <p:sp>
        <p:nvSpPr>
          <p:cNvPr id="45" name="Text Placeholder 2"/>
          <p:cNvSpPr txBox="1">
            <a:spLocks/>
          </p:cNvSpPr>
          <p:nvPr/>
        </p:nvSpPr>
        <p:spPr>
          <a:xfrm>
            <a:off x="0" y="1268413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88900" y="1146517"/>
            <a:ext cx="87328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prstClr val="black"/>
                </a:solidFill>
              </a:rPr>
              <a:t>Calculate the size of the labelled angles in the following diagram:</a:t>
            </a:r>
            <a:endParaRPr lang="en-GB" altLang="en-US" sz="2400" dirty="0" smtClean="0">
              <a:solidFill>
                <a:prstClr val="black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3997325" y="1825967"/>
            <a:ext cx="471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GB" altLang="en-US" sz="2400" dirty="0" smtClean="0">
                <a:solidFill>
                  <a:prstClr val="black"/>
                </a:solidFill>
              </a:rPr>
              <a:t> = 37</a:t>
            </a:r>
            <a:r>
              <a:rPr lang="en-US" altLang="en-US" sz="2400" dirty="0" smtClean="0">
                <a:solidFill>
                  <a:prstClr val="black"/>
                </a:solidFill>
              </a:rPr>
              <a:t>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at the base of an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isosceles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48" name="Oval 29"/>
          <p:cNvSpPr>
            <a:spLocks noChangeArrowheads="1"/>
          </p:cNvSpPr>
          <p:nvPr/>
        </p:nvSpPr>
        <p:spPr bwMode="auto">
          <a:xfrm>
            <a:off x="252413" y="2257767"/>
            <a:ext cx="3457575" cy="34575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49" name="Oval 30"/>
          <p:cNvSpPr>
            <a:spLocks noChangeArrowheads="1"/>
          </p:cNvSpPr>
          <p:nvPr/>
        </p:nvSpPr>
        <p:spPr bwMode="auto">
          <a:xfrm>
            <a:off x="1944688" y="3951629"/>
            <a:ext cx="71437" cy="7143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0" name="Text Box 31"/>
          <p:cNvSpPr txBox="1">
            <a:spLocks noChangeArrowheads="1"/>
          </p:cNvSpPr>
          <p:nvPr/>
        </p:nvSpPr>
        <p:spPr bwMode="auto">
          <a:xfrm>
            <a:off x="1562100" y="3584917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>
                <a:solidFill>
                  <a:prstClr val="black"/>
                </a:solidFill>
              </a:rPr>
              <a:t>O</a:t>
            </a:r>
          </a:p>
        </p:txBody>
      </p:sp>
      <p:sp>
        <p:nvSpPr>
          <p:cNvPr id="51" name="Line 32"/>
          <p:cNvSpPr>
            <a:spLocks noChangeShapeType="1"/>
          </p:cNvSpPr>
          <p:nvPr/>
        </p:nvSpPr>
        <p:spPr bwMode="auto">
          <a:xfrm flipV="1">
            <a:off x="555625" y="3008654"/>
            <a:ext cx="2833688" cy="1965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2" name="Text Box 38"/>
          <p:cNvSpPr txBox="1">
            <a:spLocks noChangeArrowheads="1"/>
          </p:cNvSpPr>
          <p:nvPr/>
        </p:nvSpPr>
        <p:spPr bwMode="auto">
          <a:xfrm>
            <a:off x="2808288" y="3254717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mtClean="0">
                <a:solidFill>
                  <a:prstClr val="black"/>
                </a:solidFill>
              </a:rPr>
              <a:t>37</a:t>
            </a:r>
            <a:r>
              <a:rPr lang="en-US" altLang="en-US" smtClean="0">
                <a:solidFill>
                  <a:prstClr val="black"/>
                </a:solidFill>
              </a:rPr>
              <a:t>°</a:t>
            </a:r>
          </a:p>
        </p:txBody>
      </p:sp>
      <p:sp>
        <p:nvSpPr>
          <p:cNvPr id="53" name="Text Box 40"/>
          <p:cNvSpPr txBox="1">
            <a:spLocks noChangeArrowheads="1"/>
          </p:cNvSpPr>
          <p:nvPr/>
        </p:nvSpPr>
        <p:spPr bwMode="auto">
          <a:xfrm>
            <a:off x="2341563" y="4993029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solidFill>
                  <a:prstClr val="black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54" name="Text Box 41"/>
          <p:cNvSpPr txBox="1">
            <a:spLocks noChangeArrowheads="1"/>
          </p:cNvSpPr>
          <p:nvPr/>
        </p:nvSpPr>
        <p:spPr bwMode="auto">
          <a:xfrm>
            <a:off x="2100263" y="5180354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solidFill>
                  <a:prstClr val="black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757238" y="4705692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solidFill>
                  <a:prstClr val="black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56" name="Text Box 43"/>
          <p:cNvSpPr txBox="1">
            <a:spLocks noChangeArrowheads="1"/>
          </p:cNvSpPr>
          <p:nvPr/>
        </p:nvSpPr>
        <p:spPr bwMode="auto">
          <a:xfrm>
            <a:off x="1746250" y="4004017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solidFill>
                  <a:prstClr val="black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57" name="Text Box 44"/>
          <p:cNvSpPr txBox="1">
            <a:spLocks noChangeArrowheads="1"/>
          </p:cNvSpPr>
          <p:nvPr/>
        </p:nvSpPr>
        <p:spPr bwMode="auto">
          <a:xfrm>
            <a:off x="2014538" y="3823042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solidFill>
                  <a:prstClr val="black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58" name="Line 33"/>
          <p:cNvSpPr>
            <a:spLocks noChangeShapeType="1"/>
          </p:cNvSpPr>
          <p:nvPr/>
        </p:nvSpPr>
        <p:spPr bwMode="auto">
          <a:xfrm flipH="1">
            <a:off x="2514600" y="2995954"/>
            <a:ext cx="887413" cy="2632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9" name="Line 34"/>
          <p:cNvSpPr>
            <a:spLocks noChangeShapeType="1"/>
          </p:cNvSpPr>
          <p:nvPr/>
        </p:nvSpPr>
        <p:spPr bwMode="auto">
          <a:xfrm>
            <a:off x="560388" y="4969217"/>
            <a:ext cx="1958975" cy="658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60" name="Line 35"/>
          <p:cNvSpPr>
            <a:spLocks noChangeShapeType="1"/>
          </p:cNvSpPr>
          <p:nvPr/>
        </p:nvSpPr>
        <p:spPr bwMode="auto">
          <a:xfrm>
            <a:off x="1981200" y="3984967"/>
            <a:ext cx="528638" cy="1643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61" name="Text Box 48"/>
          <p:cNvSpPr txBox="1">
            <a:spLocks noChangeArrowheads="1"/>
          </p:cNvSpPr>
          <p:nvPr/>
        </p:nvSpPr>
        <p:spPr bwMode="auto">
          <a:xfrm>
            <a:off x="3997325" y="2724492"/>
            <a:ext cx="48593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GB" altLang="en-US" sz="2400" dirty="0" smtClean="0">
                <a:solidFill>
                  <a:prstClr val="black"/>
                </a:solidFill>
              </a:rPr>
              <a:t> = 90</a:t>
            </a:r>
            <a:r>
              <a:rPr lang="en-US" altLang="en-US" sz="2400" dirty="0" smtClean="0">
                <a:solidFill>
                  <a:prstClr val="black"/>
                </a:solidFill>
              </a:rPr>
              <a:t>°</a:t>
            </a:r>
            <a:r>
              <a:rPr lang="en-GB" altLang="en-US" sz="2400" dirty="0" smtClean="0">
                <a:solidFill>
                  <a:prstClr val="black"/>
                </a:solidFill>
              </a:rPr>
              <a:t> – 37</a:t>
            </a:r>
            <a:r>
              <a:rPr lang="en-US" altLang="en-US" sz="2400" dirty="0" smtClean="0">
                <a:solidFill>
                  <a:prstClr val="black"/>
                </a:solidFill>
              </a:rPr>
              <a:t>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010066"/>
                </a:solidFill>
              </a:rPr>
              <a:t>   </a:t>
            </a:r>
            <a:r>
              <a:rPr lang="en-US" altLang="en-US" sz="2400" dirty="0" smtClean="0">
                <a:solidFill>
                  <a:prstClr val="black"/>
                </a:solidFill>
              </a:rPr>
              <a:t>= 53°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 in a semi-circle)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62" name="Text Box 49"/>
          <p:cNvSpPr txBox="1">
            <a:spLocks noChangeArrowheads="1"/>
          </p:cNvSpPr>
          <p:nvPr/>
        </p:nvSpPr>
        <p:spPr bwMode="auto">
          <a:xfrm>
            <a:off x="3997325" y="3624604"/>
            <a:ext cx="471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solidFill>
                  <a:prstClr val="black"/>
                </a:solidFill>
                <a:latin typeface="Times New Roman" pitchFamily="18" charset="0"/>
              </a:rPr>
              <a:t>c</a:t>
            </a:r>
            <a:r>
              <a:rPr lang="en-GB" altLang="en-US" sz="2400" dirty="0" smtClean="0">
                <a:solidFill>
                  <a:prstClr val="black"/>
                </a:solidFill>
              </a:rPr>
              <a:t> = 53</a:t>
            </a:r>
            <a:r>
              <a:rPr lang="en-US" altLang="en-US" sz="2400" dirty="0" smtClean="0">
                <a:solidFill>
                  <a:prstClr val="black"/>
                </a:solidFill>
              </a:rPr>
              <a:t>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at the base of an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isosceles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63" name="Text Box 50"/>
          <p:cNvSpPr txBox="1">
            <a:spLocks noChangeArrowheads="1"/>
          </p:cNvSpPr>
          <p:nvPr/>
        </p:nvSpPr>
        <p:spPr bwMode="auto">
          <a:xfrm>
            <a:off x="3997325" y="4523129"/>
            <a:ext cx="471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solidFill>
                  <a:prstClr val="black"/>
                </a:solidFill>
                <a:latin typeface="Times New Roman" pitchFamily="18" charset="0"/>
              </a:rPr>
              <a:t>d</a:t>
            </a:r>
            <a:r>
              <a:rPr lang="en-GB" altLang="en-US" sz="2400" dirty="0" smtClean="0">
                <a:solidFill>
                  <a:prstClr val="black"/>
                </a:solidFill>
              </a:rPr>
              <a:t> = 180</a:t>
            </a:r>
            <a:r>
              <a:rPr lang="en-US" altLang="en-US" sz="2400" dirty="0" smtClean="0">
                <a:solidFill>
                  <a:prstClr val="black"/>
                </a:solidFill>
              </a:rPr>
              <a:t>° – 2 × </a:t>
            </a:r>
            <a:r>
              <a:rPr lang="en-GB" altLang="en-US" sz="2400" dirty="0" smtClean="0">
                <a:solidFill>
                  <a:prstClr val="black"/>
                </a:solidFill>
              </a:rPr>
              <a:t>53</a:t>
            </a:r>
            <a:r>
              <a:rPr lang="en-US" altLang="en-US" sz="2400" dirty="0" smtClean="0">
                <a:solidFill>
                  <a:prstClr val="black"/>
                </a:solidFill>
              </a:rPr>
              <a:t>°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010066"/>
                </a:solidFill>
              </a:rPr>
              <a:t>   </a:t>
            </a:r>
            <a:r>
              <a:rPr lang="en-US" altLang="en-US" sz="2400" dirty="0" smtClean="0">
                <a:solidFill>
                  <a:prstClr val="black"/>
                </a:solidFill>
              </a:rPr>
              <a:t>= 74°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in a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64" name="Text Box 51"/>
          <p:cNvSpPr txBox="1">
            <a:spLocks noChangeArrowheads="1"/>
          </p:cNvSpPr>
          <p:nvPr/>
        </p:nvSpPr>
        <p:spPr bwMode="auto">
          <a:xfrm>
            <a:off x="3997325" y="5423242"/>
            <a:ext cx="471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lang="en-GB" altLang="en-US" sz="2400" dirty="0" smtClean="0">
                <a:solidFill>
                  <a:prstClr val="black"/>
                </a:solidFill>
              </a:rPr>
              <a:t> = 180</a:t>
            </a:r>
            <a:r>
              <a:rPr lang="en-US" altLang="en-US" sz="2400" dirty="0" smtClean="0">
                <a:solidFill>
                  <a:prstClr val="black"/>
                </a:solidFill>
              </a:rPr>
              <a:t>° – 74°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010066"/>
                </a:solidFill>
              </a:rPr>
              <a:t>   </a:t>
            </a:r>
            <a:r>
              <a:rPr lang="en-US" altLang="en-US" sz="2400" dirty="0" smtClean="0">
                <a:solidFill>
                  <a:prstClr val="black"/>
                </a:solidFill>
              </a:rPr>
              <a:t>= 106°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on a line)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1" grpId="0"/>
      <p:bldP spid="62" grpId="0"/>
      <p:bldP spid="63" grpId="0"/>
      <p:bldP spid="6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Labelled Angles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0677" y="1353312"/>
            <a:ext cx="9036699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 theorems: one angle unlocks the next.</a:t>
            </a:r>
            <a:endParaRPr lang="en-US" sz="1300" dirty="0"/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3877976" y="1405888"/>
            <a:ext cx="471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a</a:t>
            </a:r>
            <a:r>
              <a:rPr lang="en-GB" altLang="en-US" sz="2400" dirty="0" smtClean="0"/>
              <a:t> = 90</a:t>
            </a:r>
            <a:r>
              <a:rPr lang="en-US" altLang="en-US" sz="2400" dirty="0" smtClean="0"/>
              <a:t>° – 51°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= 39°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 in a semi-circle)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46" name="Oval 7"/>
          <p:cNvSpPr>
            <a:spLocks noChangeArrowheads="1"/>
          </p:cNvSpPr>
          <p:nvPr/>
        </p:nvSpPr>
        <p:spPr bwMode="auto">
          <a:xfrm>
            <a:off x="133064" y="1694813"/>
            <a:ext cx="3457575" cy="34575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47" name="Oval 8"/>
          <p:cNvSpPr>
            <a:spLocks noChangeArrowheads="1"/>
          </p:cNvSpPr>
          <p:nvPr/>
        </p:nvSpPr>
        <p:spPr bwMode="auto">
          <a:xfrm>
            <a:off x="1825339" y="3388675"/>
            <a:ext cx="71437" cy="7143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48" name="Text Box 9"/>
          <p:cNvSpPr txBox="1">
            <a:spLocks noChangeArrowheads="1"/>
          </p:cNvSpPr>
          <p:nvPr/>
        </p:nvSpPr>
        <p:spPr bwMode="auto">
          <a:xfrm>
            <a:off x="1442751" y="3021963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O</a:t>
            </a:r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2882614" y="3079113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smtClean="0"/>
              <a:t>44</a:t>
            </a:r>
            <a:r>
              <a:rPr lang="en-US" altLang="en-US" b="1" smtClean="0"/>
              <a:t>°</a:t>
            </a:r>
          </a:p>
        </p:txBody>
      </p:sp>
      <p:sp>
        <p:nvSpPr>
          <p:cNvPr id="50" name="Text Box 11"/>
          <p:cNvSpPr txBox="1">
            <a:spLocks noChangeArrowheads="1"/>
          </p:cNvSpPr>
          <p:nvPr/>
        </p:nvSpPr>
        <p:spPr bwMode="auto">
          <a:xfrm>
            <a:off x="1855501" y="4506275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smtClean="0"/>
              <a:t>51</a:t>
            </a:r>
            <a:r>
              <a:rPr lang="en-US" altLang="en-US" b="1" smtClean="0"/>
              <a:t>°</a:t>
            </a:r>
          </a:p>
        </p:txBody>
      </p:sp>
      <p:sp>
        <p:nvSpPr>
          <p:cNvPr id="51" name="Text Box 12"/>
          <p:cNvSpPr txBox="1">
            <a:spLocks noChangeArrowheads="1"/>
          </p:cNvSpPr>
          <p:nvPr/>
        </p:nvSpPr>
        <p:spPr bwMode="auto">
          <a:xfrm>
            <a:off x="1901539" y="1817050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i="1" smtClean="0">
                <a:latin typeface="Times New Roman" pitchFamily="18" charset="0"/>
              </a:rPr>
              <a:t>c</a:t>
            </a:r>
          </a:p>
        </p:txBody>
      </p:sp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493426" y="3710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i="1" smtClean="0">
                <a:latin typeface="Times New Roman" pitchFamily="18" charset="0"/>
              </a:rPr>
              <a:t>b</a:t>
            </a:r>
          </a:p>
        </p:txBody>
      </p:sp>
      <p:sp>
        <p:nvSpPr>
          <p:cNvPr id="53" name="Text Box 18"/>
          <p:cNvSpPr txBox="1">
            <a:spLocks noChangeArrowheads="1"/>
          </p:cNvSpPr>
          <p:nvPr/>
        </p:nvSpPr>
        <p:spPr bwMode="auto">
          <a:xfrm>
            <a:off x="3877976" y="2533013"/>
            <a:ext cx="48593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b</a:t>
            </a:r>
            <a:r>
              <a:rPr lang="en-GB" altLang="en-US" sz="2400" dirty="0" smtClean="0"/>
              <a:t> = 180</a:t>
            </a:r>
            <a:r>
              <a:rPr lang="en-US" altLang="en-US" sz="2400" dirty="0" smtClean="0"/>
              <a:t>° – (90° + </a:t>
            </a:r>
            <a:r>
              <a:rPr lang="en-GB" altLang="en-US" sz="2400" dirty="0" smtClean="0"/>
              <a:t>44</a:t>
            </a:r>
            <a:r>
              <a:rPr lang="en-US" altLang="en-US" sz="2400" dirty="0" smtClean="0"/>
              <a:t>°)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= 46°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in a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54" name="Text Box 19"/>
          <p:cNvSpPr txBox="1">
            <a:spLocks noChangeArrowheads="1"/>
          </p:cNvSpPr>
          <p:nvPr/>
        </p:nvSpPr>
        <p:spPr bwMode="auto">
          <a:xfrm>
            <a:off x="3877976" y="3661725"/>
            <a:ext cx="48244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c</a:t>
            </a:r>
            <a:r>
              <a:rPr lang="en-GB" altLang="en-US" sz="2400" dirty="0" smtClean="0"/>
              <a:t> </a:t>
            </a:r>
            <a:r>
              <a:rPr lang="en-US" altLang="en-US" sz="2400" dirty="0" smtClean="0"/>
              <a:t>= </a:t>
            </a:r>
            <a:r>
              <a:rPr lang="en-GB" altLang="en-US" sz="2400" i="1" dirty="0" smtClean="0">
                <a:latin typeface="Times New Roman" pitchFamily="18" charset="0"/>
              </a:rPr>
              <a:t>b</a:t>
            </a:r>
            <a:r>
              <a:rPr lang="en-US" altLang="en-US" sz="2400" dirty="0" smtClean="0"/>
              <a:t> = 46°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in the same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segment)</a:t>
            </a:r>
            <a:r>
              <a:rPr lang="en-US" altLang="en-US" sz="2400" dirty="0" smtClean="0">
                <a:solidFill>
                  <a:srgbClr val="010066"/>
                </a:solidFill>
              </a:rPr>
              <a:t>    </a:t>
            </a:r>
          </a:p>
        </p:txBody>
      </p:sp>
      <p:sp>
        <p:nvSpPr>
          <p:cNvPr id="55" name="Text Box 23"/>
          <p:cNvSpPr txBox="1">
            <a:spLocks noChangeArrowheads="1"/>
          </p:cNvSpPr>
          <p:nvPr/>
        </p:nvSpPr>
        <p:spPr bwMode="auto">
          <a:xfrm>
            <a:off x="2325401" y="443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i="1" smtClean="0">
                <a:latin typeface="Times New Roman" pitchFamily="18" charset="0"/>
              </a:rPr>
              <a:t>a</a:t>
            </a:r>
          </a:p>
        </p:txBody>
      </p:sp>
      <p:sp>
        <p:nvSpPr>
          <p:cNvPr id="56" name="Line 24"/>
          <p:cNvSpPr>
            <a:spLocks noChangeShapeType="1"/>
          </p:cNvSpPr>
          <p:nvPr/>
        </p:nvSpPr>
        <p:spPr bwMode="auto">
          <a:xfrm flipV="1">
            <a:off x="190214" y="2961638"/>
            <a:ext cx="3338512" cy="919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7" name="Line 25"/>
          <p:cNvSpPr>
            <a:spLocks noChangeShapeType="1"/>
          </p:cNvSpPr>
          <p:nvPr/>
        </p:nvSpPr>
        <p:spPr bwMode="auto">
          <a:xfrm flipH="1" flipV="1">
            <a:off x="1801526" y="1693225"/>
            <a:ext cx="609600" cy="337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8" name="Line 26"/>
          <p:cNvSpPr>
            <a:spLocks noChangeShapeType="1"/>
          </p:cNvSpPr>
          <p:nvPr/>
        </p:nvSpPr>
        <p:spPr bwMode="auto">
          <a:xfrm>
            <a:off x="188626" y="3877625"/>
            <a:ext cx="2235200" cy="1190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59" name="Line 27"/>
          <p:cNvSpPr>
            <a:spLocks noChangeShapeType="1"/>
          </p:cNvSpPr>
          <p:nvPr/>
        </p:nvSpPr>
        <p:spPr bwMode="auto">
          <a:xfrm flipV="1">
            <a:off x="2407951" y="2944175"/>
            <a:ext cx="1120775" cy="2127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60" name="Line 28"/>
          <p:cNvSpPr>
            <a:spLocks noChangeShapeType="1"/>
          </p:cNvSpPr>
          <p:nvPr/>
        </p:nvSpPr>
        <p:spPr bwMode="auto">
          <a:xfrm flipH="1" flipV="1">
            <a:off x="1807876" y="1699575"/>
            <a:ext cx="1727200" cy="126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61" name="Text Box 33"/>
          <p:cNvSpPr txBox="1">
            <a:spLocks noChangeArrowheads="1"/>
          </p:cNvSpPr>
          <p:nvPr/>
        </p:nvSpPr>
        <p:spPr bwMode="auto">
          <a:xfrm>
            <a:off x="2950876" y="2720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i="1" smtClean="0">
                <a:latin typeface="Times New Roman" pitchFamily="18" charset="0"/>
              </a:rPr>
              <a:t>d</a:t>
            </a:r>
          </a:p>
        </p:txBody>
      </p:sp>
      <p:sp>
        <p:nvSpPr>
          <p:cNvPr id="62" name="Text Box 34"/>
          <p:cNvSpPr txBox="1">
            <a:spLocks noChangeArrowheads="1"/>
          </p:cNvSpPr>
          <p:nvPr/>
        </p:nvSpPr>
        <p:spPr bwMode="auto">
          <a:xfrm>
            <a:off x="3877976" y="4790438"/>
            <a:ext cx="48593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d</a:t>
            </a:r>
            <a:r>
              <a:rPr lang="en-GB" altLang="en-US" sz="2400" dirty="0" smtClean="0"/>
              <a:t> = </a:t>
            </a:r>
            <a:r>
              <a:rPr lang="en-US" altLang="en-US" sz="2400" dirty="0" smtClean="0"/>
              <a:t>51°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in the same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segment)</a:t>
            </a:r>
            <a:r>
              <a:rPr lang="en-US" altLang="en-US" sz="2400" dirty="0" smtClean="0">
                <a:solidFill>
                  <a:srgbClr val="010066"/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0474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3" grpId="0"/>
      <p:bldP spid="54" grpId="0"/>
      <p:bldP spid="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Labelled Angles (3)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0677" y="1353312"/>
            <a:ext cx="9036699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 theorems: one angle unlocks the next.</a:t>
            </a:r>
            <a:endParaRPr lang="en-US" sz="1300" dirty="0"/>
          </a:p>
        </p:txBody>
      </p:sp>
      <p:sp>
        <p:nvSpPr>
          <p:cNvPr id="63" name="Oval 7"/>
          <p:cNvSpPr>
            <a:spLocks noChangeArrowheads="1"/>
          </p:cNvSpPr>
          <p:nvPr/>
        </p:nvSpPr>
        <p:spPr bwMode="auto">
          <a:xfrm>
            <a:off x="312043" y="1379379"/>
            <a:ext cx="3457575" cy="34575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64" name="Text Box 11"/>
          <p:cNvSpPr txBox="1">
            <a:spLocks noChangeArrowheads="1"/>
          </p:cNvSpPr>
          <p:nvPr/>
        </p:nvSpPr>
        <p:spPr bwMode="auto">
          <a:xfrm>
            <a:off x="1667768" y="2706529"/>
            <a:ext cx="6142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mtClean="0"/>
              <a:t>128</a:t>
            </a:r>
            <a:r>
              <a:rPr lang="en-US" altLang="en-US" smtClean="0"/>
              <a:t>°</a:t>
            </a: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462855" y="2750979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d</a:t>
            </a:r>
          </a:p>
        </p:txBody>
      </p:sp>
      <p:sp>
        <p:nvSpPr>
          <p:cNvPr id="66" name="Text Box 14"/>
          <p:cNvSpPr txBox="1">
            <a:spLocks noChangeArrowheads="1"/>
          </p:cNvSpPr>
          <p:nvPr/>
        </p:nvSpPr>
        <p:spPr bwMode="auto">
          <a:xfrm>
            <a:off x="786705" y="2444591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b</a:t>
            </a:r>
          </a:p>
        </p:txBody>
      </p:sp>
      <p:sp>
        <p:nvSpPr>
          <p:cNvPr id="67" name="Text Box 18"/>
          <p:cNvSpPr txBox="1">
            <a:spLocks noChangeArrowheads="1"/>
          </p:cNvSpPr>
          <p:nvPr/>
        </p:nvSpPr>
        <p:spPr bwMode="auto">
          <a:xfrm>
            <a:off x="4056955" y="1599893"/>
            <a:ext cx="48593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b</a:t>
            </a:r>
            <a:r>
              <a:rPr lang="en-GB" altLang="en-US" sz="2400" dirty="0" smtClean="0"/>
              <a:t> = </a:t>
            </a:r>
            <a:r>
              <a:rPr lang="en-GB" altLang="en-US" sz="2400" i="1" dirty="0" smtClean="0">
                <a:latin typeface="Times New Roman" pitchFamily="18" charset="0"/>
              </a:rPr>
              <a:t>c</a:t>
            </a:r>
            <a:r>
              <a:rPr lang="en-GB" altLang="en-US" sz="2400" dirty="0" smtClean="0"/>
              <a:t> = (180</a:t>
            </a:r>
            <a:r>
              <a:rPr lang="en-US" altLang="en-US" sz="2400" dirty="0" smtClean="0"/>
              <a:t>° – 128°) ÷ 2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      = 26°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at the base of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      an isosceles triangle)</a:t>
            </a:r>
            <a:endParaRPr lang="en-US" altLang="en-US" sz="2400" dirty="0" smtClean="0">
              <a:solidFill>
                <a:srgbClr val="010066"/>
              </a:solidFill>
            </a:endParaRPr>
          </a:p>
        </p:txBody>
      </p:sp>
      <p:sp>
        <p:nvSpPr>
          <p:cNvPr id="68" name="Text Box 19"/>
          <p:cNvSpPr txBox="1">
            <a:spLocks noChangeArrowheads="1"/>
          </p:cNvSpPr>
          <p:nvPr/>
        </p:nvSpPr>
        <p:spPr bwMode="auto">
          <a:xfrm>
            <a:off x="4056955" y="2685098"/>
            <a:ext cx="48244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d</a:t>
            </a:r>
            <a:r>
              <a:rPr lang="en-GB" altLang="en-US" sz="2400" dirty="0" smtClean="0"/>
              <a:t> = </a:t>
            </a:r>
            <a:r>
              <a:rPr lang="en-US" altLang="en-US" sz="2400" dirty="0" smtClean="0"/>
              <a:t>33°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at the base of an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rgbClr val="FF6600"/>
                </a:solidFill>
              </a:rPr>
              <a:t>               isosceles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69" name="Text Box 20"/>
          <p:cNvSpPr txBox="1">
            <a:spLocks noChangeArrowheads="1"/>
          </p:cNvSpPr>
          <p:nvPr/>
        </p:nvSpPr>
        <p:spPr bwMode="auto">
          <a:xfrm>
            <a:off x="4056955" y="3393916"/>
            <a:ext cx="4895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e</a:t>
            </a:r>
            <a:r>
              <a:rPr lang="en-GB" altLang="en-US" sz="2400" dirty="0" smtClean="0"/>
              <a:t> = 180</a:t>
            </a:r>
            <a:r>
              <a:rPr lang="en-US" altLang="en-US" sz="2400" dirty="0" smtClean="0"/>
              <a:t>° – 2 × 33°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= 114°  </a:t>
            </a:r>
            <a:r>
              <a:rPr lang="en-US" altLang="en-US" sz="2400" dirty="0" smtClean="0">
                <a:solidFill>
                  <a:srgbClr val="FF6600"/>
                </a:solidFill>
              </a:rPr>
              <a:t>(angles in a triangle)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  <p:sp>
        <p:nvSpPr>
          <p:cNvPr id="70" name="Text Box 23"/>
          <p:cNvSpPr txBox="1">
            <a:spLocks noChangeArrowheads="1"/>
          </p:cNvSpPr>
          <p:nvPr/>
        </p:nvSpPr>
        <p:spPr bwMode="auto">
          <a:xfrm>
            <a:off x="916880" y="4111466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e</a:t>
            </a:r>
          </a:p>
        </p:txBody>
      </p:sp>
      <p:sp>
        <p:nvSpPr>
          <p:cNvPr id="71" name="Line 25"/>
          <p:cNvSpPr>
            <a:spLocks noChangeShapeType="1"/>
          </p:cNvSpPr>
          <p:nvPr/>
        </p:nvSpPr>
        <p:spPr bwMode="auto">
          <a:xfrm flipH="1" flipV="1">
            <a:off x="386655" y="2584291"/>
            <a:ext cx="577850" cy="1870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2" name="Line 27"/>
          <p:cNvSpPr>
            <a:spLocks noChangeShapeType="1"/>
          </p:cNvSpPr>
          <p:nvPr/>
        </p:nvSpPr>
        <p:spPr bwMode="auto">
          <a:xfrm flipV="1">
            <a:off x="383480" y="2127091"/>
            <a:ext cx="3076575" cy="471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3" name="Line 30"/>
          <p:cNvSpPr>
            <a:spLocks noChangeShapeType="1"/>
          </p:cNvSpPr>
          <p:nvPr/>
        </p:nvSpPr>
        <p:spPr bwMode="auto">
          <a:xfrm>
            <a:off x="953393" y="4452779"/>
            <a:ext cx="1939925" cy="169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4" name="Line 31"/>
          <p:cNvSpPr>
            <a:spLocks noChangeShapeType="1"/>
          </p:cNvSpPr>
          <p:nvPr/>
        </p:nvSpPr>
        <p:spPr bwMode="auto">
          <a:xfrm flipV="1">
            <a:off x="2883793" y="2127091"/>
            <a:ext cx="581025" cy="2505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5" name="Line 33"/>
          <p:cNvSpPr>
            <a:spLocks noChangeShapeType="1"/>
          </p:cNvSpPr>
          <p:nvPr/>
        </p:nvSpPr>
        <p:spPr bwMode="auto">
          <a:xfrm>
            <a:off x="396180" y="2589054"/>
            <a:ext cx="2500313" cy="2038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6" name="Line 38"/>
          <p:cNvSpPr>
            <a:spLocks noChangeShapeType="1"/>
          </p:cNvSpPr>
          <p:nvPr/>
        </p:nvSpPr>
        <p:spPr bwMode="auto">
          <a:xfrm rot="-5400000" flipH="1" flipV="1">
            <a:off x="654148" y="3450273"/>
            <a:ext cx="42863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7" name="Line 39"/>
          <p:cNvSpPr>
            <a:spLocks noChangeShapeType="1"/>
          </p:cNvSpPr>
          <p:nvPr/>
        </p:nvSpPr>
        <p:spPr bwMode="auto">
          <a:xfrm rot="-5400000">
            <a:off x="1853505" y="4532154"/>
            <a:ext cx="13970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8" name="Oval 40"/>
          <p:cNvSpPr>
            <a:spLocks noChangeArrowheads="1"/>
          </p:cNvSpPr>
          <p:nvPr/>
        </p:nvSpPr>
        <p:spPr bwMode="auto">
          <a:xfrm>
            <a:off x="2004318" y="3073241"/>
            <a:ext cx="71437" cy="7143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79" name="Text Box 41"/>
          <p:cNvSpPr txBox="1">
            <a:spLocks noChangeArrowheads="1"/>
          </p:cNvSpPr>
          <p:nvPr/>
        </p:nvSpPr>
        <p:spPr bwMode="auto">
          <a:xfrm>
            <a:off x="1843980" y="3084354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O</a:t>
            </a:r>
          </a:p>
        </p:txBody>
      </p:sp>
      <p:sp>
        <p:nvSpPr>
          <p:cNvPr id="80" name="Line 42"/>
          <p:cNvSpPr>
            <a:spLocks noChangeShapeType="1"/>
          </p:cNvSpPr>
          <p:nvPr/>
        </p:nvSpPr>
        <p:spPr bwMode="auto">
          <a:xfrm>
            <a:off x="404118" y="2593816"/>
            <a:ext cx="1636712" cy="514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81" name="Line 43"/>
          <p:cNvSpPr>
            <a:spLocks noChangeShapeType="1"/>
          </p:cNvSpPr>
          <p:nvPr/>
        </p:nvSpPr>
        <p:spPr bwMode="auto">
          <a:xfrm flipV="1">
            <a:off x="2040830" y="2131854"/>
            <a:ext cx="1419225" cy="976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10066"/>
              </a:solidFill>
            </a:endParaRPr>
          </a:p>
        </p:txBody>
      </p:sp>
      <p:sp>
        <p:nvSpPr>
          <p:cNvPr id="82" name="Text Box 44"/>
          <p:cNvSpPr txBox="1">
            <a:spLocks noChangeArrowheads="1"/>
          </p:cNvSpPr>
          <p:nvPr/>
        </p:nvSpPr>
        <p:spPr bwMode="auto">
          <a:xfrm>
            <a:off x="2869505" y="2122329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c</a:t>
            </a:r>
          </a:p>
        </p:txBody>
      </p:sp>
      <p:sp>
        <p:nvSpPr>
          <p:cNvPr id="83" name="Text Box 46"/>
          <p:cNvSpPr txBox="1">
            <a:spLocks noChangeArrowheads="1"/>
          </p:cNvSpPr>
          <p:nvPr/>
        </p:nvSpPr>
        <p:spPr bwMode="auto">
          <a:xfrm>
            <a:off x="2655193" y="414956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a</a:t>
            </a:r>
          </a:p>
        </p:txBody>
      </p:sp>
      <p:sp>
        <p:nvSpPr>
          <p:cNvPr id="84" name="Text Box 47"/>
          <p:cNvSpPr txBox="1">
            <a:spLocks noChangeArrowheads="1"/>
          </p:cNvSpPr>
          <p:nvPr/>
        </p:nvSpPr>
        <p:spPr bwMode="auto">
          <a:xfrm>
            <a:off x="3085405" y="2293779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i="1" smtClean="0">
                <a:latin typeface="Times New Roman" pitchFamily="18" charset="0"/>
              </a:rPr>
              <a:t>f</a:t>
            </a:r>
          </a:p>
        </p:txBody>
      </p:sp>
      <p:sp>
        <p:nvSpPr>
          <p:cNvPr id="85" name="Text Box 50"/>
          <p:cNvSpPr txBox="1">
            <a:spLocks noChangeArrowheads="1"/>
          </p:cNvSpPr>
          <p:nvPr/>
        </p:nvSpPr>
        <p:spPr bwMode="auto">
          <a:xfrm>
            <a:off x="2102743" y="4246404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F9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mtClean="0"/>
              <a:t>33</a:t>
            </a:r>
            <a:r>
              <a:rPr lang="en-US" altLang="en-US" smtClean="0"/>
              <a:t>°</a:t>
            </a:r>
          </a:p>
        </p:txBody>
      </p:sp>
      <p:sp>
        <p:nvSpPr>
          <p:cNvPr id="86" name="Text Box 51"/>
          <p:cNvSpPr txBox="1">
            <a:spLocks noChangeArrowheads="1"/>
          </p:cNvSpPr>
          <p:nvPr/>
        </p:nvSpPr>
        <p:spPr bwMode="auto">
          <a:xfrm>
            <a:off x="4056955" y="4227503"/>
            <a:ext cx="48958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i="1" dirty="0" smtClean="0">
                <a:latin typeface="Times New Roman" pitchFamily="18" charset="0"/>
              </a:rPr>
              <a:t>f</a:t>
            </a:r>
            <a:r>
              <a:rPr lang="en-GB" altLang="en-US" sz="2400" dirty="0" smtClean="0"/>
              <a:t> = 180</a:t>
            </a:r>
            <a:r>
              <a:rPr lang="en-US" altLang="en-US" sz="2400" dirty="0" smtClean="0"/>
              <a:t>° – (</a:t>
            </a:r>
            <a:r>
              <a:rPr lang="en-US" altLang="en-US" sz="2400" b="1" i="1" dirty="0" smtClean="0">
                <a:latin typeface="Times New Roman" pitchFamily="18" charset="0"/>
              </a:rPr>
              <a:t>e</a:t>
            </a:r>
            <a:r>
              <a:rPr lang="en-US" altLang="en-US" sz="2400" dirty="0" smtClean="0"/>
              <a:t> + </a:t>
            </a:r>
            <a:r>
              <a:rPr lang="en-US" altLang="en-US" sz="2400" b="1" i="1" dirty="0" smtClean="0">
                <a:latin typeface="Times New Roman" pitchFamily="18" charset="0"/>
              </a:rPr>
              <a:t>c</a:t>
            </a:r>
            <a:r>
              <a:rPr lang="en-US" altLang="en-US" sz="2400" dirty="0" smtClean="0"/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= 180° – 140°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   = 40° </a:t>
            </a:r>
            <a:r>
              <a:rPr lang="en-US" altLang="en-US" sz="2400" dirty="0" smtClean="0">
                <a:solidFill>
                  <a:srgbClr val="FF6600"/>
                </a:solidFill>
              </a:rPr>
              <a:t>(opposite angles in 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 smtClean="0">
                <a:solidFill>
                  <a:srgbClr val="FF6600"/>
                </a:solidFill>
              </a:rPr>
              <a:t>                cyclic quadrilateral</a:t>
            </a:r>
            <a:r>
              <a:rPr lang="en-US" altLang="en-US" sz="2400" dirty="0" smtClean="0">
                <a:solidFill>
                  <a:srgbClr val="FF6600"/>
                </a:solidFill>
              </a:rPr>
              <a:t>)</a:t>
            </a:r>
            <a:r>
              <a:rPr lang="en-US" altLang="en-US" sz="2400" dirty="0" smtClean="0">
                <a:solidFill>
                  <a:srgbClr val="010066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Segment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109533" y="1353312"/>
            <a:ext cx="706784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alternate segment theorem.</a:t>
            </a:r>
            <a:endParaRPr lang="en-US" sz="1300" dirty="0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9533" y="1353312"/>
            <a:ext cx="711949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45"/>
          <p:cNvSpPr txBox="1"/>
          <p:nvPr/>
        </p:nvSpPr>
        <p:spPr>
          <a:xfrm>
            <a:off x="4773829" y="5169736"/>
            <a:ext cx="129614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z = 58</a:t>
            </a:r>
            <a:r>
              <a:rPr lang="en-GB" sz="2800" dirty="0">
                <a:sym typeface="Symbol"/>
              </a:rPr>
              <a:t></a:t>
            </a:r>
            <a:endParaRPr lang="en-GB" sz="2800" dirty="0"/>
          </a:p>
        </p:txBody>
      </p:sp>
      <p:sp>
        <p:nvSpPr>
          <p:cNvPr id="47" name="Rectangle 46"/>
          <p:cNvSpPr/>
          <p:nvPr/>
        </p:nvSpPr>
        <p:spPr>
          <a:xfrm>
            <a:off x="4773829" y="5169736"/>
            <a:ext cx="1296144" cy="5376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Jan 2014 (R)</a:t>
            </a:r>
            <a:endParaRPr lang="en-US" sz="2700" dirty="0"/>
          </a:p>
        </p:txBody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reason for every angle you write down.</a:t>
            </a:r>
            <a:endParaRPr lang="en-US" sz="1300" dirty="0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8440" y="364651"/>
            <a:ext cx="5256584" cy="3406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45"/>
          <p:cNvSpPr txBox="1"/>
          <p:nvPr/>
        </p:nvSpPr>
        <p:spPr>
          <a:xfrm>
            <a:off x="3030208" y="4037059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ABC =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0208" y="4973163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Give a reason: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0528" y="4037059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AOC =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0528" y="4973163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Give a reason: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0848" y="4037059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Angle CAE =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0848" y="4973163"/>
            <a:ext cx="252028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Give a reason: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2216" y="446910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112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3102216" y="5405211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Supplementary angles of cyclic quadrilateral add up to 180.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2536" y="446910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136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8862856" y="446910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68</a:t>
            </a:r>
            <a:r>
              <a:rPr lang="en-GB" dirty="0">
                <a:sym typeface="Symbol"/>
              </a:rPr>
              <a:t>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5910528" y="5405211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Angle at centre is double angle at circumference.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0848" y="5405211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Alternate Segment Theorem.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30208" y="4397099"/>
            <a:ext cx="252028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10528" y="4397099"/>
            <a:ext cx="252028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90848" y="4397099"/>
            <a:ext cx="252028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30208" y="5333203"/>
            <a:ext cx="2520280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10528" y="5333203"/>
            <a:ext cx="2520280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90848" y="5333203"/>
            <a:ext cx="2520280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QUESTIONS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May 2013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14320" y="1353312"/>
            <a:ext cx="616305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theorems combine in one diagram.</a:t>
            </a:r>
            <a:endParaRPr lang="en-US" sz="1300" dirty="0"/>
          </a:p>
        </p:txBody>
      </p:sp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5928" y="1467087"/>
            <a:ext cx="5040560" cy="375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45"/>
          <p:cNvSpPr txBox="1"/>
          <p:nvPr/>
        </p:nvSpPr>
        <p:spPr>
          <a:xfrm>
            <a:off x="5300104" y="5643551"/>
            <a:ext cx="288032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Determine angle ADB.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36" y="261921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8256" y="4203391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6168" y="362732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8176" y="3555319"/>
            <a:ext cx="504056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6328" y="2619215"/>
            <a:ext cx="504056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40264" y="4131383"/>
            <a:ext cx="504056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angle needs a REASON — write the theorem in words.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what you know on the diagram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theorem (centre? tangent? cyclic quad?)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one angle, then chain to the next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 reason for EVERY step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Jan 2023 · Paper 2HR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Nov 2023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080" y="1399032"/>
            <a:ext cx="6955536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s-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88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in a semicircle = 90°;  angle between a radius and a tangent = 90°.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in the same segment are equal.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at the centre is TWICE the angle at the circumference.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angles of a cyclic quadrilateral add up to 180°.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Tangent–chord angle = angle in the alternate segment;  two radii → isosceles triangle.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write an angle without its reason — the reason carries the mark.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1776</Words>
  <Application>Microsoft Office PowerPoint</Application>
  <PresentationFormat>Custom</PresentationFormat>
  <Paragraphs>390</Paragraphs>
  <Slides>42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4</cp:revision>
  <dcterms:created xsi:type="dcterms:W3CDTF">2026-07-13T09:34:46Z</dcterms:created>
  <dcterms:modified xsi:type="dcterms:W3CDTF">2026-07-25T08:24:30Z</dcterms:modified>
</cp:coreProperties>
</file>