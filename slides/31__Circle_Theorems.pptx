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8.png" ContentType="image/png"/>
  <Override PartName="/ppt/media/image27.png" ContentType="image/png"/>
  <Override PartName="/ppt/media/image11.png" ContentType="image/png"/>
  <Override PartName="/ppt/media/image2.png" ContentType="image/png"/>
  <Override PartName="/ppt/media/image17.png" ContentType="image/png"/>
  <Override PartName="/ppt/media/image8.png" ContentType="image/png"/>
  <Override PartName="/ppt/media/image12.png" ContentType="image/png"/>
  <Override PartName="/ppt/media/image3.png" ContentType="image/png"/>
  <Override PartName="/ppt/media/image18.png" ContentType="image/png"/>
  <Override PartName="/ppt/media/image9.png" ContentType="image/png"/>
  <Override PartName="/ppt/media/image20.png" ContentType="image/png"/>
  <Override PartName="/ppt/media/image13.png" ContentType="image/png"/>
  <Override PartName="/ppt/media/image4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6.png" ContentType="image/png"/>
  <Override PartName="/ppt/media/image15.png" ContentType="image/png"/>
  <Override PartName="/ppt/media/image5.png" ContentType="image/png"/>
  <Override PartName="/ppt/media/image14.png" ContentType="image/png"/>
  <Override PartName="/ppt/media/image19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_rels/slide17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34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8.xml.rels" ContentType="application/vnd.openxmlformats-package.relationships+xml"/>
  <Override PartName="/ppt/slides/_rels/slide30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35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41.xml" ContentType="application/vnd.openxmlformats-officedocument.presentationml.slide+xml"/>
  <Override PartName="/ppt/slides/slide30.xml" ContentType="application/vnd.openxmlformats-officedocument.presentationml.slide+xml"/>
  <Override PartName="/ppt/slides/slide42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notesSlides/_rels/notesSlide20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36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41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42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EAD62BC9-791C-4C55-B00A-E57A8CC3FA48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4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2" name="PlaceHolder 3"/>
          <p:cNvSpPr>
            <a:spLocks noGrp="1"/>
          </p:cNvSpPr>
          <p:nvPr>
            <p:ph type="sldNum" idx="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4199EF4-2BB1-46D4-9BA3-875114F3CCE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4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5" name="PlaceHolder 3"/>
          <p:cNvSpPr>
            <a:spLocks noGrp="1"/>
          </p:cNvSpPr>
          <p:nvPr>
            <p:ph type="sldNum" idx="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2655570-E7BC-4EB3-8C14-00D0E451369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4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8" name="PlaceHolder 3"/>
          <p:cNvSpPr>
            <a:spLocks noGrp="1"/>
          </p:cNvSpPr>
          <p:nvPr>
            <p:ph type="sldNum" idx="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119D3D-F5FD-42F3-9966-F34EB2CD806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5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1" name="PlaceHolder 3"/>
          <p:cNvSpPr>
            <a:spLocks noGrp="1"/>
          </p:cNvSpPr>
          <p:nvPr>
            <p:ph type="sldNum" idx="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81C6840-1028-427D-B855-7F3B927251E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5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4" name="PlaceHolder 3"/>
          <p:cNvSpPr>
            <a:spLocks noGrp="1"/>
          </p:cNvSpPr>
          <p:nvPr>
            <p:ph type="sldNum" idx="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A0ED61-78E9-4327-9992-80063BE065C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5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7" name="PlaceHolder 3"/>
          <p:cNvSpPr>
            <a:spLocks noGrp="1"/>
          </p:cNvSpPr>
          <p:nvPr>
            <p:ph type="sldNum" idx="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D6DC2B-F53C-4B32-867A-65101D65B2D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5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0" name="PlaceHolder 3"/>
          <p:cNvSpPr>
            <a:spLocks noGrp="1"/>
          </p:cNvSpPr>
          <p:nvPr>
            <p:ph type="sldNum" idx="1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95ECADA-9C33-4BA4-99E2-2C2C976D302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6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3" name="PlaceHolder 3"/>
          <p:cNvSpPr>
            <a:spLocks noGrp="1"/>
          </p:cNvSpPr>
          <p:nvPr>
            <p:ph type="sldNum" idx="1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DAB19EF-10FF-4120-810D-567D0041623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6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6" name="PlaceHolder 3"/>
          <p:cNvSpPr>
            <a:spLocks noGrp="1"/>
          </p:cNvSpPr>
          <p:nvPr>
            <p:ph type="sldNum" idx="1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BEC3D49-D0FC-4DA4-91E2-520EB2CB7B3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6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9" name="PlaceHolder 3"/>
          <p:cNvSpPr>
            <a:spLocks noGrp="1"/>
          </p:cNvSpPr>
          <p:nvPr>
            <p:ph type="sldNum" idx="1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86D3CC-9E92-4480-AC51-82FEDD1C142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7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2" name="PlaceHolder 3"/>
          <p:cNvSpPr>
            <a:spLocks noGrp="1"/>
          </p:cNvSpPr>
          <p:nvPr>
            <p:ph type="sldNum" idx="1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1F32623-05B1-49E3-BFC7-89BD209BC98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7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5" name="PlaceHolder 3"/>
          <p:cNvSpPr>
            <a:spLocks noGrp="1"/>
          </p:cNvSpPr>
          <p:nvPr>
            <p:ph type="sldNum" idx="1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A29127-6FCC-4883-8CBC-306440548E8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7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8" name="PlaceHolder 3"/>
          <p:cNvSpPr>
            <a:spLocks noGrp="1"/>
          </p:cNvSpPr>
          <p:nvPr>
            <p:ph type="sldNum" idx="1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19DBB5-F025-4424-A25E-E6854776581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8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1" name="PlaceHolder 3"/>
          <p:cNvSpPr>
            <a:spLocks noGrp="1"/>
          </p:cNvSpPr>
          <p:nvPr>
            <p:ph type="sldNum" idx="1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B993137-82F7-4419-B680-9E39D7D3707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8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4" name="PlaceHolder 3"/>
          <p:cNvSpPr>
            <a:spLocks noGrp="1"/>
          </p:cNvSpPr>
          <p:nvPr>
            <p:ph type="sldNum" idx="1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71C173-C36C-4E2B-8650-FA54A7BF83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8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7" name="PlaceHolder 3"/>
          <p:cNvSpPr>
            <a:spLocks noGrp="1"/>
          </p:cNvSpPr>
          <p:nvPr>
            <p:ph type="sldNum" idx="1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7D032F-BB77-4813-8A7F-2808E29B7B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8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0" name="PlaceHolder 3"/>
          <p:cNvSpPr>
            <a:spLocks noGrp="1"/>
          </p:cNvSpPr>
          <p:nvPr>
            <p:ph type="sldNum" idx="2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60226D-02F2-4DA8-92D9-AF1F67F5AAE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9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3" name="PlaceHolder 3"/>
          <p:cNvSpPr>
            <a:spLocks noGrp="1"/>
          </p:cNvSpPr>
          <p:nvPr>
            <p:ph type="sldNum" idx="2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CD09801-9648-434F-9CE4-9C01C9D6936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9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6" name="PlaceHolder 3"/>
          <p:cNvSpPr>
            <a:spLocks noGrp="1"/>
          </p:cNvSpPr>
          <p:nvPr>
            <p:ph type="sldNum" idx="2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52112F9-98E1-4A24-B49C-E7D92D9A078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09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9" name="PlaceHolder 3"/>
          <p:cNvSpPr>
            <a:spLocks noGrp="1"/>
          </p:cNvSpPr>
          <p:nvPr>
            <p:ph type="sldNum" idx="2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964F99B-6CB7-4E2B-B3AB-8CBA3802F50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0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2" name="PlaceHolder 3"/>
          <p:cNvSpPr>
            <a:spLocks noGrp="1"/>
          </p:cNvSpPr>
          <p:nvPr>
            <p:ph type="sldNum" idx="2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23F7ED-4125-4AC7-B079-E96A3048BA2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0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5" name="PlaceHolder 3"/>
          <p:cNvSpPr>
            <a:spLocks noGrp="1"/>
          </p:cNvSpPr>
          <p:nvPr>
            <p:ph type="sldNum" idx="2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CF2096-72A4-44A0-9C26-A1B145C3B32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0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8" name="PlaceHolder 3"/>
          <p:cNvSpPr>
            <a:spLocks noGrp="1"/>
          </p:cNvSpPr>
          <p:nvPr>
            <p:ph type="sldNum" idx="2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813F2E-811B-4DA0-BC1F-68E0DBD95BA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1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1" name="PlaceHolder 3"/>
          <p:cNvSpPr>
            <a:spLocks noGrp="1"/>
          </p:cNvSpPr>
          <p:nvPr>
            <p:ph type="sldNum" idx="2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5B48B0-F542-42D5-84CE-F70215737D8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1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4" name="PlaceHolder 3"/>
          <p:cNvSpPr>
            <a:spLocks noGrp="1"/>
          </p:cNvSpPr>
          <p:nvPr>
            <p:ph type="sldNum" idx="2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6EDA7A8-7E05-439A-BFCF-0B746B1B17A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1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7" name="PlaceHolder 3"/>
          <p:cNvSpPr>
            <a:spLocks noGrp="1"/>
          </p:cNvSpPr>
          <p:nvPr>
            <p:ph type="sldNum" idx="2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36E36E-7EA3-457B-9832-12AC12A888E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1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0" name="PlaceHolder 3"/>
          <p:cNvSpPr>
            <a:spLocks noGrp="1"/>
          </p:cNvSpPr>
          <p:nvPr>
            <p:ph type="sldNum" idx="3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84ED7D-0E3A-4055-8141-4530F87704B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2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3" name="PlaceHolder 3"/>
          <p:cNvSpPr>
            <a:spLocks noGrp="1"/>
          </p:cNvSpPr>
          <p:nvPr>
            <p:ph type="sldNum" idx="3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23E4F8-ED84-4BB2-9773-188AC2C174E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2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6" name="PlaceHolder 3"/>
          <p:cNvSpPr>
            <a:spLocks noGrp="1"/>
          </p:cNvSpPr>
          <p:nvPr>
            <p:ph type="sldNum" idx="3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1B4F45-A9C9-4196-8D53-D3C9B52B88A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2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9" name="PlaceHolder 3"/>
          <p:cNvSpPr>
            <a:spLocks noGrp="1"/>
          </p:cNvSpPr>
          <p:nvPr>
            <p:ph type="sldNum" idx="3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9BCA86-6C7E-4995-B4A0-8320B04C2AA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3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2" name="PlaceHolder 3"/>
          <p:cNvSpPr>
            <a:spLocks noGrp="1"/>
          </p:cNvSpPr>
          <p:nvPr>
            <p:ph type="sldNum" idx="3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96FB346-E1B6-4487-9398-2BB5F962A11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3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5" name="PlaceHolder 3"/>
          <p:cNvSpPr>
            <a:spLocks noGrp="1"/>
          </p:cNvSpPr>
          <p:nvPr>
            <p:ph type="sldNum" idx="3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A5FDC71-D41F-407D-9683-39F934308E7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3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8" name="PlaceHolder 3"/>
          <p:cNvSpPr>
            <a:spLocks noGrp="1"/>
          </p:cNvSpPr>
          <p:nvPr>
            <p:ph type="sldNum" idx="3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C02C34-6BEB-423A-97F0-D61DF0262CB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4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1" name="PlaceHolder 3"/>
          <p:cNvSpPr>
            <a:spLocks noGrp="1"/>
          </p:cNvSpPr>
          <p:nvPr>
            <p:ph type="sldNum" idx="3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A7AE942-06BC-4921-A6F7-C2CF5793686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4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4" name="PlaceHolder 3"/>
          <p:cNvSpPr>
            <a:spLocks noGrp="1"/>
          </p:cNvSpPr>
          <p:nvPr>
            <p:ph type="sldNum" idx="3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CDEB86-640E-4F0B-A5C9-DC38CFFD1CF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4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7" name="PlaceHolder 3"/>
          <p:cNvSpPr>
            <a:spLocks noGrp="1"/>
          </p:cNvSpPr>
          <p:nvPr>
            <p:ph type="sldNum" idx="3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11A370-0288-46D0-B223-67A7B11259A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4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0" name="PlaceHolder 3"/>
          <p:cNvSpPr>
            <a:spLocks noGrp="1"/>
          </p:cNvSpPr>
          <p:nvPr>
            <p:ph type="sldNum" idx="4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51E7DE-48FC-4782-8357-DE3447B0773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5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3" name="PlaceHolder 3"/>
          <p:cNvSpPr>
            <a:spLocks noGrp="1"/>
          </p:cNvSpPr>
          <p:nvPr>
            <p:ph type="sldNum" idx="4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9DECEE4-352D-49AF-9F83-C9723D091C8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5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6" name="PlaceHolder 3"/>
          <p:cNvSpPr>
            <a:spLocks noGrp="1"/>
          </p:cNvSpPr>
          <p:nvPr>
            <p:ph type="sldNum" idx="4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19B0C0-1BE7-4332-A017-409E81E1E05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5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9" name="PlaceHolder 3"/>
          <p:cNvSpPr>
            <a:spLocks noGrp="1"/>
          </p:cNvSpPr>
          <p:nvPr>
            <p:ph type="sldNum" idx="4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82FAFE-50EB-48D5-B395-C6FCE36547E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6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2" name="PlaceHolder 3"/>
          <p:cNvSpPr>
            <a:spLocks noGrp="1"/>
          </p:cNvSpPr>
          <p:nvPr>
            <p:ph type="sldNum" idx="4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61E559-C20B-40E0-A929-166032C02E1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216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5" name="PlaceHolder 3"/>
          <p:cNvSpPr>
            <a:spLocks noGrp="1"/>
          </p:cNvSpPr>
          <p:nvPr>
            <p:ph type="sldNum" idx="4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6A88574-4F18-4206-8555-3B8CC93CDF7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Shape 35"/>
          <p:cNvSpPr/>
          <p:nvPr/>
        </p:nvSpPr>
        <p:spPr>
          <a:xfrm>
            <a:off x="8869680" y="685800"/>
            <a:ext cx="2285640" cy="2285640"/>
          </a:xfrm>
          <a:prstGeom prst="ellipse">
            <a:avLst/>
          </a:prstGeom>
          <a:noFill/>
          <a:ln w="63500">
            <a:solidFill>
              <a:srgbClr val="3346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37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e0ac2b"/>
                </a:solidFill>
                <a:latin typeface="Cambria"/>
                <a:ea typeface="Cambria"/>
              </a:rPr>
              <a:t>Circle Theorems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Angles in Circles · Right Angles · Same Segment · Angle at the Centre · Cyclic Quadrilaterals · Alternate Segment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42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43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Laws of Angles in Circles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Circle theorems are laws about angles when circles are involved.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Learn the wording in the boxes — the exam asks you to JUSTIFY each angle in words.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Parts of a circle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Right-angle theorems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Same segment &amp; centre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Cyclic quadrilaterals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Alternate segment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Past-paper questions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radius · chord · tangent · arc · segment · subtended · cyclic quadrilateral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5"/>
          <p:cNvSpPr/>
          <p:nvPr/>
        </p:nvSpPr>
        <p:spPr>
          <a:xfrm>
            <a:off x="612720" y="2422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37"/>
          <p:cNvSpPr/>
          <p:nvPr/>
        </p:nvSpPr>
        <p:spPr>
          <a:xfrm>
            <a:off x="1325880" y="1666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RECAP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38"/>
          <p:cNvSpPr/>
          <p:nvPr/>
        </p:nvSpPr>
        <p:spPr>
          <a:xfrm>
            <a:off x="1389960" y="40248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Parts of a Circle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39"/>
          <p:cNvSpPr/>
          <p:nvPr/>
        </p:nvSpPr>
        <p:spPr>
          <a:xfrm>
            <a:off x="887040" y="960120"/>
            <a:ext cx="8925480" cy="504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Know the names first.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Radius, diameter, chord, tangent, arc, sector and segment.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Oval 47"/>
          <p:cNvSpPr/>
          <p:nvPr/>
        </p:nvSpPr>
        <p:spPr>
          <a:xfrm>
            <a:off x="3744000" y="1702080"/>
            <a:ext cx="3960000" cy="3960000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cxnSp>
        <p:nvCxnSpPr>
          <p:cNvPr id="163" name="Straight Connector 48"/>
          <p:cNvCxnSpPr/>
          <p:nvPr/>
        </p:nvCxnSpPr>
        <p:spPr>
          <a:xfrm>
            <a:off x="3856320" y="3021480"/>
            <a:ext cx="1154520" cy="250380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164" name="Straight Connector 49"/>
          <p:cNvCxnSpPr/>
          <p:nvPr/>
        </p:nvCxnSpPr>
        <p:spPr>
          <a:xfrm flipH="1" flipV="1">
            <a:off x="5265360" y="1747440"/>
            <a:ext cx="495000" cy="1971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165" name="Straight Connector 50"/>
          <p:cNvCxnSpPr/>
          <p:nvPr/>
        </p:nvCxnSpPr>
        <p:spPr>
          <a:xfrm flipV="1">
            <a:off x="5767560" y="2346840"/>
            <a:ext cx="1409400" cy="137952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166" name="Straight Connector 51"/>
          <p:cNvCxnSpPr/>
          <p:nvPr/>
        </p:nvCxnSpPr>
        <p:spPr>
          <a:xfrm>
            <a:off x="4186080" y="2421720"/>
            <a:ext cx="3065760" cy="2541240"/>
          </a:xfrm>
          <a:prstGeom prst="straightConnector1">
            <a:avLst/>
          </a:prstGeom>
          <a:ln>
            <a:solidFill>
              <a:srgbClr val="000000"/>
            </a:solidFill>
            <a:prstDash val="sysDot"/>
            <a:headEnd len="lg" type="triangle" w="lg"/>
            <a:tailEnd len="lg" type="triangle" w="lg"/>
          </a:ln>
        </p:spPr>
      </p:cxnSp>
      <p:cxnSp>
        <p:nvCxnSpPr>
          <p:cNvPr id="167" name="Straight Connector 52"/>
          <p:cNvCxnSpPr/>
          <p:nvPr/>
        </p:nvCxnSpPr>
        <p:spPr>
          <a:xfrm flipV="1">
            <a:off x="5832000" y="3441240"/>
            <a:ext cx="1854720" cy="277560"/>
          </a:xfrm>
          <a:prstGeom prst="straightConnector1">
            <a:avLst/>
          </a:prstGeom>
          <a:ln>
            <a:solidFill>
              <a:srgbClr val="000000"/>
            </a:solidFill>
            <a:prstDash val="sysDot"/>
            <a:headEnd len="lg" type="triangle" w="lg"/>
            <a:tailEnd len="lg" type="triangle" w="lg"/>
          </a:ln>
        </p:spPr>
      </p:cxnSp>
      <p:cxnSp>
        <p:nvCxnSpPr>
          <p:cNvPr id="168" name="Straight Connector 53"/>
          <p:cNvCxnSpPr/>
          <p:nvPr/>
        </p:nvCxnSpPr>
        <p:spPr>
          <a:xfrm>
            <a:off x="2402280" y="4528080"/>
            <a:ext cx="4489920" cy="172404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sp>
        <p:nvSpPr>
          <p:cNvPr id="169" name="TextBox 54"/>
          <p:cNvSpPr/>
          <p:nvPr/>
        </p:nvSpPr>
        <p:spPr>
          <a:xfrm>
            <a:off x="7776360" y="1414080"/>
            <a:ext cx="1079640" cy="4554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lt1"/>
                </a:solidFill>
                <a:latin typeface="Calibri"/>
              </a:rPr>
              <a:t>Sector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55"/>
          <p:cNvSpPr/>
          <p:nvPr/>
        </p:nvSpPr>
        <p:spPr>
          <a:xfrm>
            <a:off x="1511640" y="3574440"/>
            <a:ext cx="1295640" cy="82116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lt1"/>
                </a:solidFill>
                <a:latin typeface="Calibri"/>
              </a:rPr>
              <a:t>(Minor)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lt1"/>
                </a:solidFill>
                <a:latin typeface="Calibri"/>
              </a:rPr>
              <a:t>Segment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Box 56"/>
          <p:cNvSpPr/>
          <p:nvPr/>
        </p:nvSpPr>
        <p:spPr>
          <a:xfrm>
            <a:off x="7992360" y="4150440"/>
            <a:ext cx="1511640" cy="4554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lt1"/>
                </a:solidFill>
                <a:latin typeface="Calibri"/>
              </a:rPr>
              <a:t>Diameter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Box 57"/>
          <p:cNvSpPr/>
          <p:nvPr/>
        </p:nvSpPr>
        <p:spPr>
          <a:xfrm>
            <a:off x="8064360" y="2710440"/>
            <a:ext cx="1151640" cy="4554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lt1"/>
                </a:solidFill>
                <a:latin typeface="Calibri"/>
              </a:rPr>
              <a:t>Radius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Box 58"/>
          <p:cNvSpPr/>
          <p:nvPr/>
        </p:nvSpPr>
        <p:spPr>
          <a:xfrm>
            <a:off x="1439640" y="5374800"/>
            <a:ext cx="1367640" cy="4554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lt1"/>
                </a:solidFill>
                <a:latin typeface="Calibri"/>
              </a:rPr>
              <a:t>Tangent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59"/>
          <p:cNvSpPr/>
          <p:nvPr/>
        </p:nvSpPr>
        <p:spPr>
          <a:xfrm>
            <a:off x="1799640" y="2638440"/>
            <a:ext cx="1367640" cy="4554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lt1"/>
                </a:solidFill>
                <a:latin typeface="Calibri"/>
              </a:rPr>
              <a:t>Chord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Freeform 60"/>
          <p:cNvSpPr/>
          <p:nvPr/>
        </p:nvSpPr>
        <p:spPr>
          <a:xfrm>
            <a:off x="5220360" y="1481400"/>
            <a:ext cx="2083320" cy="715320"/>
          </a:xfrm>
          <a:custGeom>
            <a:avLst/>
            <a:gdLst>
              <a:gd name="textAreaLeft" fmla="*/ 0 w 2083320"/>
              <a:gd name="textAreaRight" fmla="*/ 2083680 w 2083320"/>
              <a:gd name="textAreaTop" fmla="*/ 0 h 715320"/>
              <a:gd name="textAreaBottom" fmla="*/ 715680 h 715320"/>
            </a:gdLst>
            <a:ahLst/>
            <a:rect l="textAreaLeft" t="textAreaTop" r="textAreaRight" b="textAreaBottom"/>
            <a:pathLst>
              <a:path w="2083633" h="715781">
                <a:moveTo>
                  <a:pt x="0" y="101184"/>
                </a:moveTo>
                <a:cubicBezTo>
                  <a:pt x="110552" y="61835"/>
                  <a:pt x="221105" y="22486"/>
                  <a:pt x="344774" y="11243"/>
                </a:cubicBezTo>
                <a:cubicBezTo>
                  <a:pt x="468443" y="0"/>
                  <a:pt x="617095" y="16240"/>
                  <a:pt x="742013" y="33728"/>
                </a:cubicBezTo>
                <a:cubicBezTo>
                  <a:pt x="866931" y="51216"/>
                  <a:pt x="969364" y="74951"/>
                  <a:pt x="1094282" y="116174"/>
                </a:cubicBezTo>
                <a:cubicBezTo>
                  <a:pt x="1219200" y="157397"/>
                  <a:pt x="1366603" y="212361"/>
                  <a:pt x="1491521" y="281066"/>
                </a:cubicBezTo>
                <a:cubicBezTo>
                  <a:pt x="1616439" y="349771"/>
                  <a:pt x="1745105" y="455952"/>
                  <a:pt x="1843790" y="528404"/>
                </a:cubicBezTo>
                <a:cubicBezTo>
                  <a:pt x="1942475" y="600856"/>
                  <a:pt x="2013054" y="658318"/>
                  <a:pt x="2083633" y="715781"/>
                </a:cubicBezTo>
              </a:path>
            </a:pathLst>
          </a:custGeom>
          <a:noFill/>
          <a:ln>
            <a:solidFill>
              <a:srgbClr val="000000"/>
            </a:solidFill>
            <a:prstDash val="sysDot"/>
            <a:headEnd len="med" type="triangle" w="med"/>
            <a:tailEnd len="med" type="triangle" w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6" name="TextBox 61"/>
          <p:cNvSpPr/>
          <p:nvPr/>
        </p:nvSpPr>
        <p:spPr>
          <a:xfrm>
            <a:off x="5832000" y="982080"/>
            <a:ext cx="1656000" cy="4554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lt1"/>
                </a:solidFill>
                <a:latin typeface="Calibri"/>
              </a:rPr>
              <a:t>(Minor) Arc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62"/>
          <p:cNvSpPr/>
          <p:nvPr/>
        </p:nvSpPr>
        <p:spPr>
          <a:xfrm>
            <a:off x="7416360" y="5590800"/>
            <a:ext cx="2088000" cy="4554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lt1"/>
                </a:solidFill>
                <a:latin typeface="Calibri"/>
              </a:rPr>
              <a:t>Circumference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78" name="Straight Arrow Connector 63"/>
          <p:cNvCxnSpPr>
            <a:stCxn id="173" idx="3"/>
          </p:cNvCxnSpPr>
          <p:nvPr/>
        </p:nvCxnSpPr>
        <p:spPr>
          <a:xfrm flipV="1">
            <a:off x="2807640" y="5086440"/>
            <a:ext cx="792360" cy="519120"/>
          </a:xfrm>
          <a:prstGeom prst="straightConnector1">
            <a:avLst/>
          </a:prstGeom>
          <a:ln>
            <a:solidFill>
              <a:srgbClr val="a5a5a5"/>
            </a:solidFill>
            <a:tailEnd len="med" type="arrow" w="med"/>
          </a:ln>
        </p:spPr>
      </p:cxnSp>
      <p:cxnSp>
        <p:nvCxnSpPr>
          <p:cNvPr id="179" name="Straight Arrow Connector 64"/>
          <p:cNvCxnSpPr>
            <a:stCxn id="170" idx="3"/>
          </p:cNvCxnSpPr>
          <p:nvPr/>
        </p:nvCxnSpPr>
        <p:spPr>
          <a:xfrm>
            <a:off x="2807640" y="3989880"/>
            <a:ext cx="1368360" cy="304920"/>
          </a:xfrm>
          <a:prstGeom prst="straightConnector1">
            <a:avLst/>
          </a:prstGeom>
          <a:ln>
            <a:solidFill>
              <a:srgbClr val="a5a5a5"/>
            </a:solidFill>
            <a:tailEnd len="med" type="arrow" w="med"/>
          </a:ln>
        </p:spPr>
      </p:cxnSp>
      <p:cxnSp>
        <p:nvCxnSpPr>
          <p:cNvPr id="180" name="Straight Arrow Connector 65"/>
          <p:cNvCxnSpPr>
            <a:stCxn id="174" idx="3"/>
          </p:cNvCxnSpPr>
          <p:nvPr/>
        </p:nvCxnSpPr>
        <p:spPr>
          <a:xfrm>
            <a:off x="3167640" y="2868840"/>
            <a:ext cx="1008360" cy="921960"/>
          </a:xfrm>
          <a:prstGeom prst="straightConnector1">
            <a:avLst/>
          </a:prstGeom>
          <a:ln>
            <a:solidFill>
              <a:srgbClr val="a5a5a5"/>
            </a:solidFill>
            <a:tailEnd len="med" type="arrow" w="med"/>
          </a:ln>
        </p:spPr>
      </p:cxnSp>
      <p:cxnSp>
        <p:nvCxnSpPr>
          <p:cNvPr id="181" name="Straight Arrow Connector 66"/>
          <p:cNvCxnSpPr>
            <a:stCxn id="171" idx="1"/>
          </p:cNvCxnSpPr>
          <p:nvPr/>
        </p:nvCxnSpPr>
        <p:spPr>
          <a:xfrm flipH="1">
            <a:off x="6912000" y="4381200"/>
            <a:ext cx="1080720" cy="273600"/>
          </a:xfrm>
          <a:prstGeom prst="straightConnector1">
            <a:avLst/>
          </a:prstGeom>
          <a:ln>
            <a:solidFill>
              <a:srgbClr val="a5a5a5"/>
            </a:solidFill>
            <a:tailEnd len="med" type="arrow" w="med"/>
          </a:ln>
        </p:spPr>
      </p:cxnSp>
      <p:cxnSp>
        <p:nvCxnSpPr>
          <p:cNvPr id="182" name="Straight Arrow Connector 67"/>
          <p:cNvCxnSpPr>
            <a:stCxn id="172" idx="1"/>
          </p:cNvCxnSpPr>
          <p:nvPr/>
        </p:nvCxnSpPr>
        <p:spPr>
          <a:xfrm flipH="1">
            <a:off x="7344000" y="2940840"/>
            <a:ext cx="720720" cy="489600"/>
          </a:xfrm>
          <a:prstGeom prst="straightConnector1">
            <a:avLst/>
          </a:prstGeom>
          <a:ln>
            <a:solidFill>
              <a:srgbClr val="a5a5a5"/>
            </a:solidFill>
            <a:tailEnd len="med" type="arrow" w="med"/>
          </a:ln>
        </p:spPr>
      </p:cxnSp>
      <p:cxnSp>
        <p:nvCxnSpPr>
          <p:cNvPr id="183" name="Straight Arrow Connector 68"/>
          <p:cNvCxnSpPr>
            <a:stCxn id="169" idx="1"/>
          </p:cNvCxnSpPr>
          <p:nvPr/>
        </p:nvCxnSpPr>
        <p:spPr>
          <a:xfrm flipH="1">
            <a:off x="6336000" y="1644840"/>
            <a:ext cx="1440360" cy="921600"/>
          </a:xfrm>
          <a:prstGeom prst="straightConnector1">
            <a:avLst/>
          </a:prstGeom>
          <a:ln>
            <a:solidFill>
              <a:srgbClr val="a5a5a5"/>
            </a:solidFill>
            <a:tailEnd len="med" type="arrow" w="med"/>
          </a:ln>
        </p:spPr>
      </p:cxnSp>
      <p:cxnSp>
        <p:nvCxnSpPr>
          <p:cNvPr id="184" name="Straight Arrow Connector 69"/>
          <p:cNvCxnSpPr>
            <a:stCxn id="176" idx="2"/>
          </p:cNvCxnSpPr>
          <p:nvPr/>
        </p:nvCxnSpPr>
        <p:spPr>
          <a:xfrm flipH="1">
            <a:off x="6624000" y="1443600"/>
            <a:ext cx="36360" cy="258840"/>
          </a:xfrm>
          <a:prstGeom prst="straightConnector1">
            <a:avLst/>
          </a:prstGeom>
          <a:ln>
            <a:solidFill>
              <a:srgbClr val="a5a5a5"/>
            </a:solidFill>
            <a:tailEnd len="med" type="arrow" w="med"/>
          </a:ln>
        </p:spPr>
      </p:cxnSp>
      <p:cxnSp>
        <p:nvCxnSpPr>
          <p:cNvPr id="185" name="Straight Arrow Connector 70"/>
          <p:cNvCxnSpPr>
            <a:stCxn id="177" idx="1"/>
          </p:cNvCxnSpPr>
          <p:nvPr/>
        </p:nvCxnSpPr>
        <p:spPr>
          <a:xfrm flipH="1" flipV="1">
            <a:off x="6840000" y="5374440"/>
            <a:ext cx="576360" cy="447120"/>
          </a:xfrm>
          <a:prstGeom prst="straightConnector1">
            <a:avLst/>
          </a:prstGeom>
          <a:ln>
            <a:solidFill>
              <a:srgbClr val="a5a5a5"/>
            </a:solidFill>
            <a:tailEnd len="med" type="arrow" w="med"/>
          </a:ln>
        </p:spPr>
      </p:cxnSp>
      <p:sp>
        <p:nvSpPr>
          <p:cNvPr id="186" name="Rectangle 71"/>
          <p:cNvSpPr/>
          <p:nvPr/>
        </p:nvSpPr>
        <p:spPr>
          <a:xfrm>
            <a:off x="5832000" y="982080"/>
            <a:ext cx="1656000" cy="503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Rectangle 72"/>
          <p:cNvSpPr/>
          <p:nvPr/>
        </p:nvSpPr>
        <p:spPr>
          <a:xfrm>
            <a:off x="7776360" y="1414080"/>
            <a:ext cx="1079640" cy="503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Rectangle 73"/>
          <p:cNvSpPr/>
          <p:nvPr/>
        </p:nvSpPr>
        <p:spPr>
          <a:xfrm>
            <a:off x="8064360" y="2710440"/>
            <a:ext cx="1151640" cy="503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Rectangle 74"/>
          <p:cNvSpPr/>
          <p:nvPr/>
        </p:nvSpPr>
        <p:spPr>
          <a:xfrm>
            <a:off x="7992360" y="4150440"/>
            <a:ext cx="1511640" cy="503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ectangle 75"/>
          <p:cNvSpPr/>
          <p:nvPr/>
        </p:nvSpPr>
        <p:spPr>
          <a:xfrm>
            <a:off x="7416360" y="5590800"/>
            <a:ext cx="2088000" cy="503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Rectangle 77"/>
          <p:cNvSpPr/>
          <p:nvPr/>
        </p:nvSpPr>
        <p:spPr>
          <a:xfrm>
            <a:off x="1799640" y="2638440"/>
            <a:ext cx="1367640" cy="503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Rectangle 78"/>
          <p:cNvSpPr/>
          <p:nvPr/>
        </p:nvSpPr>
        <p:spPr>
          <a:xfrm>
            <a:off x="1511640" y="3574440"/>
            <a:ext cx="1367640" cy="935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Rectangle 79"/>
          <p:cNvSpPr/>
          <p:nvPr/>
        </p:nvSpPr>
        <p:spPr>
          <a:xfrm>
            <a:off x="1439640" y="5374800"/>
            <a:ext cx="1367640" cy="503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restart="whenNotActive" nodeType="interactiveSeq" fill="hold">
                <p:stCondLst>
                  <p:cond delay="0" evt="onClick">
                    <p:tgtEl>
                      <p:spTgt spid="186"/>
                    </p:tgtEl>
                  </p:cond>
                </p:stCondLst>
                <p:childTnLst>
                  <p:par>
                    <p:cTn id="3" fill="hold">
                      <p:stCondLst>
                        <p:cond delay="0" evt="onClick">
                          <p:tgtEl>
                            <p:spTgt spid="186"/>
                          </p:tgtEl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6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8" restart="whenNotActive" nodeType="interactiveSeq" fill="hold">
                <p:stCondLst>
                  <p:cond delay="0" evt="onClick">
                    <p:tgtEl>
                      <p:spTgt spid="187"/>
                    </p:tgtEl>
                  </p:cond>
                </p:stCondLst>
                <p:childTnLst>
                  <p:par>
                    <p:cTn id="9" fill="hold">
                      <p:stCondLst>
                        <p:cond delay="0" evt="onClick">
                          <p:tgtEl>
                            <p:spTgt spid="187"/>
                          </p:tgtEl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12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14" restart="whenNotActive" nodeType="interactiveSeq" fill="hold">
                <p:stCondLst>
                  <p:cond delay="0" evt="onClick">
                    <p:tgtEl>
                      <p:spTgt spid="188"/>
                    </p:tgtEl>
                  </p:cond>
                </p:stCondLst>
                <p:childTnLst>
                  <p:par>
                    <p:cTn id="15" fill="hold">
                      <p:stCondLst>
                        <p:cond delay="0" evt="onClick">
                          <p:tgtEl>
                            <p:spTgt spid="188"/>
                          </p:tgtEl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18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20" restart="whenNotActive" nodeType="interactiveSeq" fill="hold">
                <p:stCondLst>
                  <p:cond delay="0" evt="onClick">
                    <p:tgtEl>
                      <p:spTgt spid="189"/>
                    </p:tgtEl>
                  </p:cond>
                </p:stCondLst>
                <p:childTnLst>
                  <p:par>
                    <p:cTn id="21" fill="hold">
                      <p:stCondLst>
                        <p:cond delay="0" evt="onClick">
                          <p:tgtEl>
                            <p:spTgt spid="189"/>
                          </p:tgtEl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24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26" restart="whenNotActive" nodeType="interactiveSeq" fill="hold">
                <p:stCondLst>
                  <p:cond delay="0" evt="onClick">
                    <p:tgtEl>
                      <p:spTgt spid="190"/>
                    </p:tgtEl>
                  </p:cond>
                </p:stCondLst>
                <p:childTnLst>
                  <p:par>
                    <p:cTn id="27" fill="hold">
                      <p:stCondLst>
                        <p:cond delay="0" evt="onClick">
                          <p:tgtEl>
                            <p:spTgt spid="190"/>
                          </p:tgtEl>
                        </p:cond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30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32" restart="whenNotActive" nodeType="interactiveSeq" fill="hold">
                <p:stCondLst>
                  <p:cond delay="0" evt="onClick">
                    <p:tgtEl>
                      <p:spTgt spid="191"/>
                    </p:tgtEl>
                  </p:cond>
                </p:stCondLst>
                <p:childTnLst>
                  <p:par>
                    <p:cTn id="33" fill="hold">
                      <p:stCondLst>
                        <p:cond delay="0" evt="onClick">
                          <p:tgtEl>
                            <p:spTgt spid="191"/>
                          </p:tgtEl>
                        </p:cond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36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38" restart="whenNotActive" nodeType="interactiveSeq" fill="hold">
                <p:stCondLst>
                  <p:cond delay="0" evt="onClick">
                    <p:tgtEl>
                      <p:spTgt spid="192"/>
                    </p:tgtEl>
                  </p:cond>
                </p:stCondLst>
                <p:childTnLst>
                  <p:par>
                    <p:cTn id="39" fill="hold">
                      <p:stCondLst>
                        <p:cond delay="0" evt="onClick">
                          <p:tgtEl>
                            <p:spTgt spid="192"/>
                          </p:tgtEl>
                        </p:cond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42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44" restart="whenNotActive" nodeType="interactiveSeq" fill="hold">
                <p:stCondLst>
                  <p:cond delay="0" evt="onClick">
                    <p:tgtEl>
                      <p:spTgt spid="193"/>
                    </p:tgtEl>
                  </p:cond>
                </p:stCondLst>
                <p:childTnLst>
                  <p:par>
                    <p:cTn id="45" fill="hold">
                      <p:stCondLst>
                        <p:cond delay="0" evt="onClick">
                          <p:tgtEl>
                            <p:spTgt spid="193"/>
                          </p:tgtEl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48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BEFORE WE START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Useful Facts (Not Circle Theorems)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39"/>
          <p:cNvSpPr/>
          <p:nvPr/>
        </p:nvSpPr>
        <p:spPr>
          <a:xfrm>
            <a:off x="3014280" y="1353240"/>
            <a:ext cx="61628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4" name="Image 0" descr="/tmp/work/cs-03.png"/>
          <p:cNvPicPr/>
          <p:nvPr/>
        </p:nvPicPr>
        <p:blipFill>
          <a:blip r:embed="rId1"/>
          <a:stretch/>
        </p:blipFill>
        <p:spPr>
          <a:xfrm>
            <a:off x="3078360" y="1417320"/>
            <a:ext cx="6034680" cy="4525920"/>
          </a:xfrm>
          <a:prstGeom prst="rect">
            <a:avLst/>
          </a:prstGeom>
          <a:ln w="0">
            <a:noFill/>
          </a:ln>
        </p:spPr>
      </p:pic>
      <p:sp>
        <p:nvSpPr>
          <p:cNvPr id="235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These are NOT circle theorems,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but you need them: angles in a triangle/quadrilateral, and radii make ISOSCELES triangles.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THEOREM 1 · RIGHT ANGLES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Angle in a Semicircle &amp; Radius–Tangent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39"/>
          <p:cNvSpPr/>
          <p:nvPr/>
        </p:nvSpPr>
        <p:spPr>
          <a:xfrm>
            <a:off x="3014280" y="1353240"/>
            <a:ext cx="61628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7" name="Image 0" descr="/tmp/work/cs-04.png"/>
          <p:cNvPicPr/>
          <p:nvPr/>
        </p:nvPicPr>
        <p:blipFill>
          <a:blip r:embed="rId1"/>
          <a:stretch/>
        </p:blipFill>
        <p:spPr>
          <a:xfrm>
            <a:off x="3078360" y="1417320"/>
            <a:ext cx="6034680" cy="4525920"/>
          </a:xfrm>
          <a:prstGeom prst="rect">
            <a:avLst/>
          </a:prstGeom>
          <a:ln w="0">
            <a:noFill/>
          </a:ln>
        </p:spPr>
      </p:pic>
      <p:sp>
        <p:nvSpPr>
          <p:cNvPr id="278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“</a:t>
            </a: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Angle in a semicircle is 90°.”   “Angle between a radius and a tangent is 90°.”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Learn this wording.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THEOREM 2 · KEY ANGLES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Same Segment &amp; Angle at the Centre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39"/>
          <p:cNvSpPr/>
          <p:nvPr/>
        </p:nvSpPr>
        <p:spPr>
          <a:xfrm>
            <a:off x="3014280" y="1353240"/>
            <a:ext cx="61628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0" name="Image 0" descr="/tmp/work/cs-05.png"/>
          <p:cNvPicPr/>
          <p:nvPr/>
        </p:nvPicPr>
        <p:blipFill>
          <a:blip r:embed="rId1"/>
          <a:stretch/>
        </p:blipFill>
        <p:spPr>
          <a:xfrm>
            <a:off x="3078360" y="1417320"/>
            <a:ext cx="6034680" cy="4525920"/>
          </a:xfrm>
          <a:prstGeom prst="rect">
            <a:avLst/>
          </a:prstGeom>
          <a:ln w="0">
            <a:noFill/>
          </a:ln>
        </p:spPr>
      </p:pic>
      <p:sp>
        <p:nvSpPr>
          <p:cNvPr id="321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“</a:t>
            </a: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Angles in the same segment are equal.”   “The angle at the centre is TWICE the angle at the circumference.”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ANGLE AT THE CENTRE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It Stays True Wherever the Apex Moves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39"/>
          <p:cNvSpPr/>
          <p:nvPr/>
        </p:nvSpPr>
        <p:spPr>
          <a:xfrm>
            <a:off x="3014280" y="1353240"/>
            <a:ext cx="61628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3" name="Image 0" descr="/tmp/work/cs-11.png"/>
          <p:cNvPicPr/>
          <p:nvPr/>
        </p:nvPicPr>
        <p:blipFill>
          <a:blip r:embed="rId1"/>
          <a:stretch/>
        </p:blipFill>
        <p:spPr>
          <a:xfrm>
            <a:off x="3078360" y="1417320"/>
            <a:ext cx="6034680" cy="4525920"/>
          </a:xfrm>
          <a:prstGeom prst="rect">
            <a:avLst/>
          </a:prstGeom>
          <a:ln w="0">
            <a:noFill/>
          </a:ln>
        </p:spPr>
      </p:pic>
      <p:sp>
        <p:nvSpPr>
          <p:cNvPr id="364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Both angles stand on the same arc.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Move the apex around the circumference — the angle at the centre is still double.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ANGLE AT THE CENTRE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Special Case — Standing on the Diameter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hape 39"/>
          <p:cNvSpPr/>
          <p:nvPr/>
        </p:nvSpPr>
        <p:spPr>
          <a:xfrm>
            <a:off x="3014280" y="1353240"/>
            <a:ext cx="61628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6" name="Image 0" descr="/tmp/work/cs-12.png"/>
          <p:cNvPicPr/>
          <p:nvPr/>
        </p:nvPicPr>
        <p:blipFill>
          <a:blip r:embed="rId1"/>
          <a:stretch/>
        </p:blipFill>
        <p:spPr>
          <a:xfrm>
            <a:off x="3078360" y="1417320"/>
            <a:ext cx="6034680" cy="4525920"/>
          </a:xfrm>
          <a:prstGeom prst="rect">
            <a:avLst/>
          </a:prstGeom>
          <a:ln w="0">
            <a:noFill/>
          </a:ln>
        </p:spPr>
      </p:pic>
      <p:sp>
        <p:nvSpPr>
          <p:cNvPr id="407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On a diameter the centre angle is 180°,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so the angle at the circumference is 90° — that is the semicircle theorem.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THEOREM 3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Cyclic Quadrilaterals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Shape 39"/>
          <p:cNvSpPr/>
          <p:nvPr/>
        </p:nvSpPr>
        <p:spPr>
          <a:xfrm>
            <a:off x="3014280" y="1353240"/>
            <a:ext cx="61628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9" name="Image 0" descr="/tmp/work/cs-06.png"/>
          <p:cNvPicPr/>
          <p:nvPr/>
        </p:nvPicPr>
        <p:blipFill>
          <a:blip r:embed="rId1"/>
          <a:stretch/>
        </p:blipFill>
        <p:spPr>
          <a:xfrm>
            <a:off x="3078360" y="1417320"/>
            <a:ext cx="6034680" cy="4525920"/>
          </a:xfrm>
          <a:prstGeom prst="rect">
            <a:avLst/>
          </a:prstGeom>
          <a:ln w="0">
            <a:noFill/>
          </a:ln>
        </p:spPr>
      </p:pic>
      <p:sp>
        <p:nvSpPr>
          <p:cNvPr id="450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“</a:t>
            </a: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Opposite angles of a cyclic quadrilateral add up to 180°.”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All four vertices lie on the circumference.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CYCLIC QUADRILATERAL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What Counts as a Cyclic Quadrilateral?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Shape 39"/>
          <p:cNvSpPr/>
          <p:nvPr/>
        </p:nvSpPr>
        <p:spPr>
          <a:xfrm>
            <a:off x="3014280" y="1353240"/>
            <a:ext cx="61628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2" name="Image 0" descr="/tmp/work/cs-13.png"/>
          <p:cNvPicPr/>
          <p:nvPr/>
        </p:nvPicPr>
        <p:blipFill>
          <a:blip r:embed="rId1"/>
          <a:stretch/>
        </p:blipFill>
        <p:spPr>
          <a:xfrm>
            <a:off x="3078360" y="1417320"/>
            <a:ext cx="6034680" cy="4525920"/>
          </a:xfrm>
          <a:prstGeom prst="rect">
            <a:avLst/>
          </a:prstGeom>
          <a:ln w="0">
            <a:noFill/>
          </a:ln>
        </p:spPr>
      </p:pic>
      <p:sp>
        <p:nvSpPr>
          <p:cNvPr id="493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Every vertex must be ON the circumference.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If one is not, the theorem does not apply.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THEOREM 4 · LENGTHS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Tangents from a Point Are Equal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39"/>
          <p:cNvSpPr/>
          <p:nvPr/>
        </p:nvSpPr>
        <p:spPr>
          <a:xfrm>
            <a:off x="3014280" y="1353240"/>
            <a:ext cx="61628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35" name="Image 0" descr="/tmp/work/cs-07.png"/>
          <p:cNvPicPr/>
          <p:nvPr/>
        </p:nvPicPr>
        <p:blipFill>
          <a:blip r:embed="rId1"/>
          <a:stretch/>
        </p:blipFill>
        <p:spPr>
          <a:xfrm>
            <a:off x="3078360" y="1417320"/>
            <a:ext cx="6034680" cy="4525920"/>
          </a:xfrm>
          <a:prstGeom prst="rect">
            <a:avLst/>
          </a:prstGeom>
          <a:ln w="0">
            <a:noFill/>
          </a:ln>
        </p:spPr>
      </p:pic>
      <p:sp>
        <p:nvSpPr>
          <p:cNvPr id="536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“</a:t>
            </a: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The two tangents from a point to a circle are equal in length.”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This creates an isosceles triangle.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THEOREM 5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Alternate Segment Theorem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Shape 39"/>
          <p:cNvSpPr/>
          <p:nvPr/>
        </p:nvSpPr>
        <p:spPr>
          <a:xfrm>
            <a:off x="3014280" y="1353240"/>
            <a:ext cx="61628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78" name="Image 0" descr="/tmp/work/cs-23.png"/>
          <p:cNvPicPr/>
          <p:nvPr/>
        </p:nvPicPr>
        <p:blipFill>
          <a:blip r:embed="rId1"/>
          <a:stretch/>
        </p:blipFill>
        <p:spPr>
          <a:xfrm>
            <a:off x="3078360" y="1417320"/>
            <a:ext cx="6034680" cy="4525920"/>
          </a:xfrm>
          <a:prstGeom prst="rect">
            <a:avLst/>
          </a:prstGeom>
          <a:ln w="0">
            <a:noFill/>
          </a:ln>
        </p:spPr>
      </p:pic>
      <p:sp>
        <p:nvSpPr>
          <p:cNvPr id="579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“</a:t>
            </a: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The angle between a tangent and a chord equals the angle in the alternate segment.”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The hardest one — learn it.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SUMMARY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Reasons You Must Write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39"/>
          <p:cNvSpPr/>
          <p:nvPr/>
        </p:nvSpPr>
        <p:spPr>
          <a:xfrm>
            <a:off x="567000" y="1325880"/>
            <a:ext cx="11063880" cy="621360"/>
          </a:xfrm>
          <a:prstGeom prst="roundRect">
            <a:avLst>
              <a:gd name="adj" fmla="val 8824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1" name="Text 40"/>
          <p:cNvSpPr/>
          <p:nvPr/>
        </p:nvSpPr>
        <p:spPr>
          <a:xfrm>
            <a:off x="887040" y="1325880"/>
            <a:ext cx="104238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In the exam you must give a REASON.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These are the exact wordings that earn the mark.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Shape 41"/>
          <p:cNvSpPr/>
          <p:nvPr/>
        </p:nvSpPr>
        <p:spPr>
          <a:xfrm>
            <a:off x="567000" y="2148840"/>
            <a:ext cx="5303160" cy="45684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Text 42"/>
          <p:cNvSpPr/>
          <p:nvPr/>
        </p:nvSpPr>
        <p:spPr>
          <a:xfrm>
            <a:off x="676800" y="2148840"/>
            <a:ext cx="5083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mbria"/>
                <a:ea typeface="Cambria"/>
              </a:rPr>
              <a:t>Theorem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Shape 43"/>
          <p:cNvSpPr/>
          <p:nvPr/>
        </p:nvSpPr>
        <p:spPr>
          <a:xfrm>
            <a:off x="6035040" y="2148840"/>
            <a:ext cx="5595840" cy="45684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Text 44"/>
          <p:cNvSpPr/>
          <p:nvPr/>
        </p:nvSpPr>
        <p:spPr>
          <a:xfrm>
            <a:off x="6144840" y="2148840"/>
            <a:ext cx="5376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mbria"/>
                <a:ea typeface="Cambria"/>
              </a:rPr>
              <a:t>The reason to write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Shape 45"/>
          <p:cNvSpPr/>
          <p:nvPr/>
        </p:nvSpPr>
        <p:spPr>
          <a:xfrm>
            <a:off x="567000" y="2642760"/>
            <a:ext cx="5303160" cy="429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Text 46"/>
          <p:cNvSpPr/>
          <p:nvPr/>
        </p:nvSpPr>
        <p:spPr>
          <a:xfrm>
            <a:off x="704160" y="2642760"/>
            <a:ext cx="502884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Semicircle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Shape 47"/>
          <p:cNvSpPr/>
          <p:nvPr/>
        </p:nvSpPr>
        <p:spPr>
          <a:xfrm>
            <a:off x="6035040" y="2642760"/>
            <a:ext cx="5595840" cy="429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Text 48"/>
          <p:cNvSpPr/>
          <p:nvPr/>
        </p:nvSpPr>
        <p:spPr>
          <a:xfrm>
            <a:off x="6172200" y="2642760"/>
            <a:ext cx="532152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“</a:t>
            </a:r>
            <a:r>
              <a:rPr b="0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Angle in a semicircle is 90°”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Shape 49"/>
          <p:cNvSpPr/>
          <p:nvPr/>
        </p:nvSpPr>
        <p:spPr>
          <a:xfrm>
            <a:off x="567000" y="3099960"/>
            <a:ext cx="5303160" cy="429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 50"/>
          <p:cNvSpPr/>
          <p:nvPr/>
        </p:nvSpPr>
        <p:spPr>
          <a:xfrm>
            <a:off x="704160" y="3099960"/>
            <a:ext cx="502884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Radius &amp; tangent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Shape 51"/>
          <p:cNvSpPr/>
          <p:nvPr/>
        </p:nvSpPr>
        <p:spPr>
          <a:xfrm>
            <a:off x="6035040" y="3099960"/>
            <a:ext cx="5595840" cy="429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Text 52"/>
          <p:cNvSpPr/>
          <p:nvPr/>
        </p:nvSpPr>
        <p:spPr>
          <a:xfrm>
            <a:off x="6172200" y="3099960"/>
            <a:ext cx="532152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“</a:t>
            </a:r>
            <a:r>
              <a:rPr b="0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Angle between a radius and a tangent is 90°”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Shape 53"/>
          <p:cNvSpPr/>
          <p:nvPr/>
        </p:nvSpPr>
        <p:spPr>
          <a:xfrm>
            <a:off x="567000" y="3557160"/>
            <a:ext cx="5303160" cy="429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Text 54"/>
          <p:cNvSpPr/>
          <p:nvPr/>
        </p:nvSpPr>
        <p:spPr>
          <a:xfrm>
            <a:off x="704160" y="3557160"/>
            <a:ext cx="502884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Same segment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Shape 55"/>
          <p:cNvSpPr/>
          <p:nvPr/>
        </p:nvSpPr>
        <p:spPr>
          <a:xfrm>
            <a:off x="6035040" y="3557160"/>
            <a:ext cx="5595840" cy="429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Text 56"/>
          <p:cNvSpPr/>
          <p:nvPr/>
        </p:nvSpPr>
        <p:spPr>
          <a:xfrm>
            <a:off x="6172200" y="3557160"/>
            <a:ext cx="532152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“</a:t>
            </a:r>
            <a:r>
              <a:rPr b="0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Angles in the same segment are equal”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Shape 57"/>
          <p:cNvSpPr/>
          <p:nvPr/>
        </p:nvSpPr>
        <p:spPr>
          <a:xfrm>
            <a:off x="567000" y="4014360"/>
            <a:ext cx="5303160" cy="429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Text 58"/>
          <p:cNvSpPr/>
          <p:nvPr/>
        </p:nvSpPr>
        <p:spPr>
          <a:xfrm>
            <a:off x="704160" y="4014360"/>
            <a:ext cx="502884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Angle at the centre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Shape 59"/>
          <p:cNvSpPr/>
          <p:nvPr/>
        </p:nvSpPr>
        <p:spPr>
          <a:xfrm>
            <a:off x="6035040" y="4014360"/>
            <a:ext cx="5595840" cy="429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 60"/>
          <p:cNvSpPr/>
          <p:nvPr/>
        </p:nvSpPr>
        <p:spPr>
          <a:xfrm>
            <a:off x="6172200" y="4014360"/>
            <a:ext cx="532152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“</a:t>
            </a:r>
            <a:r>
              <a:rPr b="0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Angle at the centre is twice the angle at the circumference”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Shape 61"/>
          <p:cNvSpPr/>
          <p:nvPr/>
        </p:nvSpPr>
        <p:spPr>
          <a:xfrm>
            <a:off x="567000" y="4471560"/>
            <a:ext cx="5303160" cy="429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 62"/>
          <p:cNvSpPr/>
          <p:nvPr/>
        </p:nvSpPr>
        <p:spPr>
          <a:xfrm>
            <a:off x="704160" y="4471560"/>
            <a:ext cx="502884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Cyclic quadrilateral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Shape 63"/>
          <p:cNvSpPr/>
          <p:nvPr/>
        </p:nvSpPr>
        <p:spPr>
          <a:xfrm>
            <a:off x="6035040" y="4471560"/>
            <a:ext cx="5595840" cy="429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Text 64"/>
          <p:cNvSpPr/>
          <p:nvPr/>
        </p:nvSpPr>
        <p:spPr>
          <a:xfrm>
            <a:off x="6172200" y="4471560"/>
            <a:ext cx="532152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“</a:t>
            </a:r>
            <a:r>
              <a:rPr b="0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Opposite angles of a cyclic quadrilateral add up to 180°”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Shape 65"/>
          <p:cNvSpPr/>
          <p:nvPr/>
        </p:nvSpPr>
        <p:spPr>
          <a:xfrm>
            <a:off x="567000" y="4928760"/>
            <a:ext cx="5303160" cy="429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Text 66"/>
          <p:cNvSpPr/>
          <p:nvPr/>
        </p:nvSpPr>
        <p:spPr>
          <a:xfrm>
            <a:off x="704160" y="4928760"/>
            <a:ext cx="502884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Tangents from a point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67"/>
          <p:cNvSpPr/>
          <p:nvPr/>
        </p:nvSpPr>
        <p:spPr>
          <a:xfrm>
            <a:off x="6035040" y="4928760"/>
            <a:ext cx="5595840" cy="429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Text 68"/>
          <p:cNvSpPr/>
          <p:nvPr/>
        </p:nvSpPr>
        <p:spPr>
          <a:xfrm>
            <a:off x="6172200" y="4928760"/>
            <a:ext cx="532152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“</a:t>
            </a:r>
            <a:r>
              <a:rPr b="0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Tangents from a point to a circle are equal”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69"/>
          <p:cNvSpPr/>
          <p:nvPr/>
        </p:nvSpPr>
        <p:spPr>
          <a:xfrm>
            <a:off x="567000" y="5385960"/>
            <a:ext cx="5303160" cy="429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Text 70"/>
          <p:cNvSpPr/>
          <p:nvPr/>
        </p:nvSpPr>
        <p:spPr>
          <a:xfrm>
            <a:off x="704160" y="5385960"/>
            <a:ext cx="502884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Alternate segment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71"/>
          <p:cNvSpPr/>
          <p:nvPr/>
        </p:nvSpPr>
        <p:spPr>
          <a:xfrm>
            <a:off x="6035040" y="5385960"/>
            <a:ext cx="5595840" cy="4294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Text 72"/>
          <p:cNvSpPr/>
          <p:nvPr/>
        </p:nvSpPr>
        <p:spPr>
          <a:xfrm>
            <a:off x="6172200" y="5385960"/>
            <a:ext cx="532152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“</a:t>
            </a:r>
            <a:r>
              <a:rPr b="0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Angle between tangent and chord = angle in the alternate segment”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Shape 73"/>
          <p:cNvSpPr/>
          <p:nvPr/>
        </p:nvSpPr>
        <p:spPr>
          <a:xfrm>
            <a:off x="567000" y="5843160"/>
            <a:ext cx="5303160" cy="429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Text 74"/>
          <p:cNvSpPr/>
          <p:nvPr/>
        </p:nvSpPr>
        <p:spPr>
          <a:xfrm>
            <a:off x="704160" y="5843160"/>
            <a:ext cx="502884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Two radii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75"/>
          <p:cNvSpPr/>
          <p:nvPr/>
        </p:nvSpPr>
        <p:spPr>
          <a:xfrm>
            <a:off x="6035040" y="5843160"/>
            <a:ext cx="5595840" cy="4294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Text 76"/>
          <p:cNvSpPr/>
          <p:nvPr/>
        </p:nvSpPr>
        <p:spPr>
          <a:xfrm>
            <a:off x="6172200" y="5843160"/>
            <a:ext cx="532152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“</a:t>
            </a:r>
            <a:r>
              <a:rPr b="0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Triangle is isosceles — two radii are equal”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Text 77"/>
          <p:cNvSpPr/>
          <p:nvPr/>
        </p:nvSpPr>
        <p:spPr>
          <a:xfrm>
            <a:off x="567000" y="6355080"/>
            <a:ext cx="11063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No reason = no mark. Learn these sentences word for word.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Shape 35"/>
          <p:cNvSpPr/>
          <p:nvPr/>
        </p:nvSpPr>
        <p:spPr>
          <a:xfrm>
            <a:off x="92160" y="5076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5" name="Text 36"/>
          <p:cNvSpPr/>
          <p:nvPr/>
        </p:nvSpPr>
        <p:spPr>
          <a:xfrm>
            <a:off x="92160" y="507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Text 37"/>
          <p:cNvSpPr/>
          <p:nvPr/>
        </p:nvSpPr>
        <p:spPr>
          <a:xfrm>
            <a:off x="815760" y="658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PRACTICE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Text 38"/>
          <p:cNvSpPr/>
          <p:nvPr/>
        </p:nvSpPr>
        <p:spPr>
          <a:xfrm>
            <a:off x="744480" y="29196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Which Circle Theorem? (1)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Shape 39"/>
          <p:cNvSpPr/>
          <p:nvPr/>
        </p:nvSpPr>
        <p:spPr>
          <a:xfrm>
            <a:off x="3014280" y="1353240"/>
            <a:ext cx="61628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Identify which theorem you would use — then find the angle.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TextBox 44"/>
          <p:cNvSpPr/>
          <p:nvPr/>
        </p:nvSpPr>
        <p:spPr>
          <a:xfrm>
            <a:off x="3056760" y="671760"/>
            <a:ext cx="5544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Identify which circle theorems you could use to solve each question.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Oval 45"/>
          <p:cNvSpPr/>
          <p:nvPr/>
        </p:nvSpPr>
        <p:spPr>
          <a:xfrm>
            <a:off x="3632760" y="1536120"/>
            <a:ext cx="4248000" cy="4305600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03" name="Freeform 46"/>
          <p:cNvSpPr/>
          <p:nvPr/>
        </p:nvSpPr>
        <p:spPr>
          <a:xfrm>
            <a:off x="3754080" y="1644480"/>
            <a:ext cx="4082760" cy="3885840"/>
          </a:xfrm>
          <a:custGeom>
            <a:avLst/>
            <a:gdLst>
              <a:gd name="textAreaLeft" fmla="*/ 0 w 4082760"/>
              <a:gd name="textAreaRight" fmla="*/ 4083120 w 4082760"/>
              <a:gd name="textAreaTop" fmla="*/ 0 h 3885840"/>
              <a:gd name="textAreaBottom" fmla="*/ 3886200 h 3885840"/>
            </a:gdLst>
            <a:ahLst/>
            <a:rect l="textAreaLeft" t="textAreaTop" r="textAreaRight" b="textAreaBottom"/>
            <a:pathLst>
              <a:path w="4083184" h="3886200">
                <a:moveTo>
                  <a:pt x="0" y="2781300"/>
                </a:moveTo>
                <a:lnTo>
                  <a:pt x="3116580" y="3886200"/>
                </a:lnTo>
                <a:lnTo>
                  <a:pt x="4083184" y="2506216"/>
                </a:lnTo>
                <a:lnTo>
                  <a:pt x="1333500" y="0"/>
                </a:lnTo>
                <a:lnTo>
                  <a:pt x="0" y="2781300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cxnSp>
        <p:nvCxnSpPr>
          <p:cNvPr id="704" name="Straight Connector 47"/>
          <p:cNvCxnSpPr>
            <a:stCxn id="703" idx="0"/>
          </p:cNvCxnSpPr>
          <p:nvPr/>
        </p:nvCxnSpPr>
        <p:spPr>
          <a:xfrm flipV="1">
            <a:off x="3754080" y="3552120"/>
            <a:ext cx="1967040" cy="87408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705" name="Straight Connector 48"/>
          <p:cNvCxnSpPr>
            <a:stCxn id="703" idx="2"/>
          </p:cNvCxnSpPr>
          <p:nvPr/>
        </p:nvCxnSpPr>
        <p:spPr>
          <a:xfrm flipH="1" flipV="1">
            <a:off x="5720760" y="3552120"/>
            <a:ext cx="2116800" cy="59868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sp>
        <p:nvSpPr>
          <p:cNvPr id="706" name="TextBox 49"/>
          <p:cNvSpPr/>
          <p:nvPr/>
        </p:nvSpPr>
        <p:spPr>
          <a:xfrm>
            <a:off x="5433120" y="3264120"/>
            <a:ext cx="43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Freeform 50"/>
          <p:cNvSpPr/>
          <p:nvPr/>
        </p:nvSpPr>
        <p:spPr>
          <a:xfrm>
            <a:off x="6345000" y="5068440"/>
            <a:ext cx="807480" cy="263880"/>
          </a:xfrm>
          <a:custGeom>
            <a:avLst/>
            <a:gdLst>
              <a:gd name="textAreaLeft" fmla="*/ 0 w 807480"/>
              <a:gd name="textAreaRight" fmla="*/ 807840 w 807480"/>
              <a:gd name="textAreaTop" fmla="*/ 0 h 263880"/>
              <a:gd name="textAreaBottom" fmla="*/ 264240 h 263880"/>
            </a:gdLst>
            <a:ahLst/>
            <a:rect l="textAreaLeft" t="textAreaTop" r="textAreaRight" b="textAreaBottom"/>
            <a:pathLst>
              <a:path w="807720" h="264160">
                <a:moveTo>
                  <a:pt x="0" y="264160"/>
                </a:moveTo>
                <a:cubicBezTo>
                  <a:pt x="41275" y="215265"/>
                  <a:pt x="82550" y="166370"/>
                  <a:pt x="129540" y="127000"/>
                </a:cubicBezTo>
                <a:cubicBezTo>
                  <a:pt x="176530" y="87630"/>
                  <a:pt x="219710" y="46990"/>
                  <a:pt x="281940" y="27940"/>
                </a:cubicBezTo>
                <a:cubicBezTo>
                  <a:pt x="344170" y="8890"/>
                  <a:pt x="434340" y="16510"/>
                  <a:pt x="502920" y="12700"/>
                </a:cubicBezTo>
                <a:cubicBezTo>
                  <a:pt x="571500" y="8890"/>
                  <a:pt x="642620" y="0"/>
                  <a:pt x="693420" y="5080"/>
                </a:cubicBezTo>
                <a:cubicBezTo>
                  <a:pt x="744220" y="10160"/>
                  <a:pt x="775970" y="26670"/>
                  <a:pt x="807720" y="43180"/>
                </a:cubicBezTo>
              </a:path>
            </a:pathLst>
          </a:custGeom>
          <a:noFill/>
          <a:ln>
            <a:solidFill>
              <a:srgbClr val="00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08" name="Freeform 51"/>
          <p:cNvSpPr/>
          <p:nvPr/>
        </p:nvSpPr>
        <p:spPr>
          <a:xfrm>
            <a:off x="5400000" y="3679200"/>
            <a:ext cx="723600" cy="153360"/>
          </a:xfrm>
          <a:custGeom>
            <a:avLst/>
            <a:gdLst>
              <a:gd name="textAreaLeft" fmla="*/ 0 w 723600"/>
              <a:gd name="textAreaRight" fmla="*/ 723960 w 723600"/>
              <a:gd name="textAreaTop" fmla="*/ 0 h 153360"/>
              <a:gd name="textAreaBottom" fmla="*/ 153720 h 153360"/>
            </a:gdLst>
            <a:ahLst/>
            <a:rect l="textAreaLeft" t="textAreaTop" r="textAreaRight" b="textAreaBottom"/>
            <a:pathLst>
              <a:path w="723900" h="153670">
                <a:moveTo>
                  <a:pt x="0" y="7620"/>
                </a:moveTo>
                <a:cubicBezTo>
                  <a:pt x="43815" y="57150"/>
                  <a:pt x="87630" y="106680"/>
                  <a:pt x="160020" y="129540"/>
                </a:cubicBezTo>
                <a:cubicBezTo>
                  <a:pt x="232410" y="152400"/>
                  <a:pt x="353060" y="153670"/>
                  <a:pt x="434340" y="144780"/>
                </a:cubicBezTo>
                <a:cubicBezTo>
                  <a:pt x="515620" y="135890"/>
                  <a:pt x="599440" y="100330"/>
                  <a:pt x="647700" y="76200"/>
                </a:cubicBezTo>
                <a:cubicBezTo>
                  <a:pt x="695960" y="52070"/>
                  <a:pt x="709930" y="26035"/>
                  <a:pt x="723900" y="0"/>
                </a:cubicBezTo>
              </a:path>
            </a:pathLst>
          </a:custGeom>
          <a:noFill/>
          <a:ln>
            <a:solidFill>
              <a:srgbClr val="00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09" name="TextBox 52"/>
          <p:cNvSpPr/>
          <p:nvPr/>
        </p:nvSpPr>
        <p:spPr>
          <a:xfrm>
            <a:off x="5361120" y="3768120"/>
            <a:ext cx="1007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dk1"/>
                </a:solidFill>
                <a:latin typeface="Calibri"/>
              </a:rPr>
              <a:t>160</a:t>
            </a:r>
            <a:r>
              <a:rPr b="0" lang="en-GB" sz="2800" spc="-1" strike="noStrike">
                <a:solidFill>
                  <a:schemeClr val="dk1"/>
                </a:solidFill>
                <a:latin typeface="Symbol"/>
              </a:rPr>
              <a:t>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TextBox 53"/>
          <p:cNvSpPr/>
          <p:nvPr/>
        </p:nvSpPr>
        <p:spPr>
          <a:xfrm>
            <a:off x="6153120" y="4560480"/>
            <a:ext cx="1007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dk1"/>
                </a:solidFill>
                <a:latin typeface="Calibri"/>
              </a:rPr>
              <a:t>100</a:t>
            </a:r>
            <a:r>
              <a:rPr b="0" lang="en-GB" sz="2800" spc="-1" strike="noStrike">
                <a:solidFill>
                  <a:schemeClr val="dk1"/>
                </a:solidFill>
                <a:latin typeface="Symbol"/>
              </a:rPr>
              <a:t>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Right Arrow 54"/>
          <p:cNvSpPr/>
          <p:nvPr/>
        </p:nvSpPr>
        <p:spPr>
          <a:xfrm>
            <a:off x="8313120" y="3696120"/>
            <a:ext cx="575640" cy="359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2" name="Right Arrow 55"/>
          <p:cNvSpPr/>
          <p:nvPr/>
        </p:nvSpPr>
        <p:spPr>
          <a:xfrm>
            <a:off x="8313120" y="2112120"/>
            <a:ext cx="575640" cy="359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3" name="Rectangle 56"/>
          <p:cNvSpPr/>
          <p:nvPr/>
        </p:nvSpPr>
        <p:spPr>
          <a:xfrm>
            <a:off x="5505120" y="3768120"/>
            <a:ext cx="719640" cy="503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TextBox 57"/>
          <p:cNvSpPr/>
          <p:nvPr/>
        </p:nvSpPr>
        <p:spPr>
          <a:xfrm>
            <a:off x="9177480" y="671760"/>
            <a:ext cx="2592000" cy="36396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 in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semicircle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is 90</a:t>
            </a:r>
            <a:r>
              <a:rPr b="0" lang="en-GB" sz="1800" spc="-1" strike="noStrike">
                <a:solidFill>
                  <a:schemeClr val="lt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TextBox 58"/>
          <p:cNvSpPr/>
          <p:nvPr/>
        </p:nvSpPr>
        <p:spPr>
          <a:xfrm>
            <a:off x="9177480" y="1176120"/>
            <a:ext cx="2592000" cy="63828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 between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tangent and radius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is 90</a:t>
            </a:r>
            <a:r>
              <a:rPr b="0" lang="en-GB" sz="1800" spc="-1" strike="noStrike">
                <a:solidFill>
                  <a:schemeClr val="lt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TextBox 59"/>
          <p:cNvSpPr/>
          <p:nvPr/>
        </p:nvSpPr>
        <p:spPr>
          <a:xfrm>
            <a:off x="9177480" y="1968120"/>
            <a:ext cx="2592000" cy="63828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Opposite angles of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cyclic quadrilateral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add to 180</a:t>
            </a:r>
            <a:r>
              <a:rPr b="0" lang="en-GB" sz="1800" spc="-1" strike="noStrike">
                <a:solidFill>
                  <a:schemeClr val="lt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TextBox 60"/>
          <p:cNvSpPr/>
          <p:nvPr/>
        </p:nvSpPr>
        <p:spPr>
          <a:xfrm>
            <a:off x="9177480" y="2760120"/>
            <a:ext cx="2592000" cy="63828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Angles in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same segment 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are equal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TextBox 61"/>
          <p:cNvSpPr/>
          <p:nvPr/>
        </p:nvSpPr>
        <p:spPr>
          <a:xfrm>
            <a:off x="9177480" y="3552120"/>
            <a:ext cx="2592000" cy="63828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 at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centre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is twice angle at circumference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TextBox 62"/>
          <p:cNvSpPr/>
          <p:nvPr/>
        </p:nvSpPr>
        <p:spPr>
          <a:xfrm>
            <a:off x="9177480" y="4344480"/>
            <a:ext cx="2592000" cy="91260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Lengths of the tangents 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from a point to the circle are equal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TextBox 63"/>
          <p:cNvSpPr/>
          <p:nvPr/>
        </p:nvSpPr>
        <p:spPr>
          <a:xfrm>
            <a:off x="9177480" y="5352480"/>
            <a:ext cx="2592000" cy="638280"/>
          </a:xfrm>
          <a:prstGeom prst="rect">
            <a:avLst/>
          </a:prstGeom>
          <a:solidFill>
            <a:srgbClr val="ed7d31"/>
          </a:solidFill>
          <a:ln>
            <a:solidFill>
              <a:srgbClr val="af5c2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Two angles in isosceles triangle the same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1" name="TextBox 64"/>
          <p:cNvSpPr/>
          <p:nvPr/>
        </p:nvSpPr>
        <p:spPr>
          <a:xfrm>
            <a:off x="9177480" y="6046920"/>
            <a:ext cx="2592000" cy="638280"/>
          </a:xfrm>
          <a:prstGeom prst="rect">
            <a:avLst/>
          </a:prstGeom>
          <a:solidFill>
            <a:srgbClr val="ed7d31"/>
          </a:solidFill>
          <a:ln>
            <a:solidFill>
              <a:srgbClr val="af5c2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Angles of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quadrilateral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add to 360</a:t>
            </a:r>
            <a:r>
              <a:rPr b="0" lang="en-GB" sz="1800" spc="-1" strike="noStrike">
                <a:solidFill>
                  <a:schemeClr val="lt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2" name="Rectangle 65"/>
          <p:cNvSpPr/>
          <p:nvPr/>
        </p:nvSpPr>
        <p:spPr>
          <a:xfrm>
            <a:off x="7753680" y="1422000"/>
            <a:ext cx="935640" cy="28764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  <a:scene3d>
            <a:camera prst="orthographicFront"/>
            <a:lightRig dir="t" rig="threePt"/>
          </a:scene3d>
          <a:sp3d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Reveal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0" dur="indefinite" restart="never" nodeType="tmRoot">
          <p:childTnLst>
            <p:seq>
              <p:cTn id="51" restart="whenNotActive" nodeType="interactiveSeq" fill="hold">
                <p:stCondLst>
                  <p:cond delay="0" evt="onClick">
                    <p:tgtEl>
                      <p:spTgt spid="713"/>
                    </p:tgtEl>
                  </p:cond>
                </p:stCondLst>
                <p:childTnLst>
                  <p:par>
                    <p:cTn id="52" fill="hold">
                      <p:stCondLst>
                        <p:cond delay="0" evt="onClick">
                          <p:tgtEl>
                            <p:spTgt spid="713"/>
                          </p:tgtEl>
                        </p:cond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55" dur="500"/>
                                        <p:tgtEl>
                                          <p:spTgt spid="7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57" restart="whenNotActive" nodeType="interactiveSeq" fill="hold">
                <p:stCondLst>
                  <p:cond delay="0" evt="onClick">
                    <p:tgtEl>
                      <p:spTgt spid="722"/>
                    </p:tgtEl>
                  </p:cond>
                </p:stCondLst>
                <p:childTnLst>
                  <p:par>
                    <p:cTn id="58" fill="hold">
                      <p:stCondLst>
                        <p:cond delay="0" evt="onClick">
                          <p:tgtEl>
                            <p:spTgt spid="722"/>
                          </p:tgtEl>
                        </p:cond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nodeType="clickEffect" fill="hold" presetClass="entr" presetID="5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checkerboard(across)" transition="in">
                                      <p:cBhvr additive="repl">
                                        <p:cTn id="62" dur="500"/>
                                        <p:tgtEl>
                                          <p:spTgt spid="7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nodeType="withEffect" fill="hold" presetClass="entr" presetID="5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checkerboard(across)" transition="in">
                                      <p:cBhvr additive="repl">
                                        <p:cTn id="65" dur="500"/>
                                        <p:tgtEl>
                                          <p:spTgt spid="7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PRACTICE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Which Circle Theorem? (2)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Shape 39"/>
          <p:cNvSpPr/>
          <p:nvPr/>
        </p:nvSpPr>
        <p:spPr>
          <a:xfrm>
            <a:off x="3014280" y="1353240"/>
            <a:ext cx="61628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4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Identify which theorem you would use — then find the angle.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TextBox 44"/>
          <p:cNvSpPr/>
          <p:nvPr/>
        </p:nvSpPr>
        <p:spPr>
          <a:xfrm>
            <a:off x="3083040" y="1471680"/>
            <a:ext cx="5112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Identify which circle theorems you could use to solve each question.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Right Arrow 45"/>
          <p:cNvSpPr/>
          <p:nvPr/>
        </p:nvSpPr>
        <p:spPr>
          <a:xfrm>
            <a:off x="8735760" y="744840"/>
            <a:ext cx="575640" cy="359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67" name="Picture 2" descr=""/>
          <p:cNvPicPr/>
          <p:nvPr/>
        </p:nvPicPr>
        <p:blipFill>
          <a:blip r:embed="rId1"/>
          <a:stretch/>
        </p:blipFill>
        <p:spPr>
          <a:xfrm>
            <a:off x="3306960" y="2538000"/>
            <a:ext cx="5577120" cy="3282840"/>
          </a:xfrm>
          <a:prstGeom prst="rect">
            <a:avLst/>
          </a:prstGeom>
          <a:ln w="9525">
            <a:noFill/>
          </a:ln>
        </p:spPr>
      </p:pic>
      <p:sp>
        <p:nvSpPr>
          <p:cNvPr id="768" name="TextBox 47"/>
          <p:cNvSpPr/>
          <p:nvPr/>
        </p:nvSpPr>
        <p:spPr>
          <a:xfrm>
            <a:off x="4919040" y="2833200"/>
            <a:ext cx="719640" cy="36396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115</a:t>
            </a:r>
            <a:r>
              <a:rPr b="0" lang="en-GB" sz="1800" spc="-1" strike="noStrike">
                <a:solidFill>
                  <a:schemeClr val="dk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Rectangle 48"/>
          <p:cNvSpPr/>
          <p:nvPr/>
        </p:nvSpPr>
        <p:spPr>
          <a:xfrm>
            <a:off x="4919040" y="2763720"/>
            <a:ext cx="719640" cy="503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TextBox 49"/>
          <p:cNvSpPr/>
          <p:nvPr/>
        </p:nvSpPr>
        <p:spPr>
          <a:xfrm>
            <a:off x="9599760" y="96840"/>
            <a:ext cx="2592000" cy="36396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 in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semicircle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is 90</a:t>
            </a:r>
            <a:r>
              <a:rPr b="0" lang="en-GB" sz="1800" spc="-1" strike="noStrike">
                <a:solidFill>
                  <a:schemeClr val="lt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TextBox 50"/>
          <p:cNvSpPr/>
          <p:nvPr/>
        </p:nvSpPr>
        <p:spPr>
          <a:xfrm>
            <a:off x="9599760" y="600840"/>
            <a:ext cx="2592000" cy="63828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 between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tangent and radius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is 90</a:t>
            </a:r>
            <a:r>
              <a:rPr b="0" lang="en-GB" sz="1800" spc="-1" strike="noStrike">
                <a:solidFill>
                  <a:schemeClr val="lt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TextBox 51"/>
          <p:cNvSpPr/>
          <p:nvPr/>
        </p:nvSpPr>
        <p:spPr>
          <a:xfrm>
            <a:off x="9599760" y="1393200"/>
            <a:ext cx="2592000" cy="63828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Opposite angles of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cyclic quadrilateral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add to 180</a:t>
            </a:r>
            <a:r>
              <a:rPr b="0" lang="en-GB" sz="1800" spc="-1" strike="noStrike">
                <a:solidFill>
                  <a:schemeClr val="lt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TextBox 52"/>
          <p:cNvSpPr/>
          <p:nvPr/>
        </p:nvSpPr>
        <p:spPr>
          <a:xfrm>
            <a:off x="9599760" y="2185200"/>
            <a:ext cx="2592000" cy="63828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Angles in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same segment 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are equal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TextBox 53"/>
          <p:cNvSpPr/>
          <p:nvPr/>
        </p:nvSpPr>
        <p:spPr>
          <a:xfrm>
            <a:off x="9599760" y="2977200"/>
            <a:ext cx="2592000" cy="63828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 at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centre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is twice angle at circumference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TextBox 54"/>
          <p:cNvSpPr/>
          <p:nvPr/>
        </p:nvSpPr>
        <p:spPr>
          <a:xfrm>
            <a:off x="9599760" y="3769200"/>
            <a:ext cx="2592000" cy="91260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Lengths of the tangents 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from a point to the circle are equal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55"/>
          <p:cNvSpPr/>
          <p:nvPr/>
        </p:nvSpPr>
        <p:spPr>
          <a:xfrm>
            <a:off x="9599760" y="4777560"/>
            <a:ext cx="2592000" cy="638280"/>
          </a:xfrm>
          <a:prstGeom prst="rect">
            <a:avLst/>
          </a:prstGeom>
          <a:solidFill>
            <a:srgbClr val="ed7d31"/>
          </a:solidFill>
          <a:ln>
            <a:solidFill>
              <a:srgbClr val="af5c2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Two angles in isosceles triangle the same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7" name="TextBox 56"/>
          <p:cNvSpPr/>
          <p:nvPr/>
        </p:nvSpPr>
        <p:spPr>
          <a:xfrm>
            <a:off x="9599760" y="5472000"/>
            <a:ext cx="2592000" cy="638280"/>
          </a:xfrm>
          <a:prstGeom prst="rect">
            <a:avLst/>
          </a:prstGeom>
          <a:solidFill>
            <a:srgbClr val="ed7d31"/>
          </a:solidFill>
          <a:ln>
            <a:solidFill>
              <a:srgbClr val="af5c2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Angles of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quadrilateral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add to 360</a:t>
            </a:r>
            <a:r>
              <a:rPr b="0" lang="en-GB" sz="1800" spc="-1" strike="noStrike">
                <a:solidFill>
                  <a:schemeClr val="lt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Right Arrow 57"/>
          <p:cNvSpPr/>
          <p:nvPr/>
        </p:nvSpPr>
        <p:spPr>
          <a:xfrm>
            <a:off x="8663760" y="5641560"/>
            <a:ext cx="575640" cy="359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9" name="Rectangle 58"/>
          <p:cNvSpPr/>
          <p:nvPr/>
        </p:nvSpPr>
        <p:spPr>
          <a:xfrm>
            <a:off x="8087400" y="1973880"/>
            <a:ext cx="935640" cy="28764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  <a:scene3d>
            <a:camera prst="orthographicFront"/>
            <a:lightRig dir="t" rig="threePt"/>
          </a:scene3d>
          <a:sp3d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Reveal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6" dur="indefinite" restart="never" nodeType="tmRoot">
          <p:childTnLst>
            <p:seq>
              <p:cTn id="67" restart="whenNotActive" nodeType="interactiveSeq" fill="hold">
                <p:stCondLst>
                  <p:cond delay="0" evt="onClick">
                    <p:tgtEl>
                      <p:spTgt spid="769"/>
                    </p:tgtEl>
                  </p:cond>
                </p:stCondLst>
                <p:childTnLst>
                  <p:par>
                    <p:cTn id="68" fill="hold">
                      <p:stCondLst>
                        <p:cond delay="0" evt="onClick">
                          <p:tgtEl>
                            <p:spTgt spid="769"/>
                          </p:tgtEl>
                        </p:cond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71" dur="500"/>
                                        <p:tgtEl>
                                          <p:spTgt spid="7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73" restart="whenNotActive" nodeType="interactiveSeq" fill="hold">
                <p:stCondLst>
                  <p:cond delay="0" evt="onClick">
                    <p:tgtEl>
                      <p:spTgt spid="779"/>
                    </p:tgtEl>
                  </p:cond>
                </p:stCondLst>
                <p:childTnLst>
                  <p:par>
                    <p:cTn id="74" fill="hold">
                      <p:stCondLst>
                        <p:cond delay="0" evt="onClick">
                          <p:tgtEl>
                            <p:spTgt spid="779"/>
                          </p:tgtEl>
                        </p:cond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nodeType="clickEffect" fill="hold" presetClass="entr" presetID="5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checkerboard(across)" transition="in">
                                      <p:cBhvr additive="repl">
                                        <p:cTn id="78" dur="500"/>
                                        <p:tgtEl>
                                          <p:spTgt spid="7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nodeType="withEffect" fill="hold" presetClass="entr" presetID="5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checkerboard(across)" transition="in">
                                      <p:cBhvr additive="repl">
                                        <p:cTn id="81" dur="500"/>
                                        <p:tgtEl>
                                          <p:spTgt spid="7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PRACTICE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Which Circle Theorem? (3)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Shape 39"/>
          <p:cNvSpPr/>
          <p:nvPr/>
        </p:nvSpPr>
        <p:spPr>
          <a:xfrm>
            <a:off x="3014280" y="1353240"/>
            <a:ext cx="61628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1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Identify which theorem you would use — then find the angle.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22" name="Picture 2" descr=""/>
          <p:cNvPicPr/>
          <p:nvPr/>
        </p:nvPicPr>
        <p:blipFill>
          <a:blip r:embed="rId1"/>
          <a:stretch/>
        </p:blipFill>
        <p:spPr>
          <a:xfrm>
            <a:off x="3833640" y="1353240"/>
            <a:ext cx="4419360" cy="4333680"/>
          </a:xfrm>
          <a:prstGeom prst="rect">
            <a:avLst/>
          </a:prstGeom>
          <a:ln w="9525">
            <a:noFill/>
          </a:ln>
        </p:spPr>
      </p:pic>
      <p:sp>
        <p:nvSpPr>
          <p:cNvPr id="823" name="TextBox 45"/>
          <p:cNvSpPr/>
          <p:nvPr/>
        </p:nvSpPr>
        <p:spPr>
          <a:xfrm>
            <a:off x="134280" y="1226160"/>
            <a:ext cx="5400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Identify which circle theorems you could use to solve each question.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TextBox 46"/>
          <p:cNvSpPr/>
          <p:nvPr/>
        </p:nvSpPr>
        <p:spPr>
          <a:xfrm>
            <a:off x="9522360" y="633240"/>
            <a:ext cx="2592000" cy="36396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 in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semicircle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is 90</a:t>
            </a:r>
            <a:r>
              <a:rPr b="0" lang="en-GB" sz="1800" spc="-1" strike="noStrike">
                <a:solidFill>
                  <a:schemeClr val="lt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TextBox 47"/>
          <p:cNvSpPr/>
          <p:nvPr/>
        </p:nvSpPr>
        <p:spPr>
          <a:xfrm>
            <a:off x="9522360" y="1137240"/>
            <a:ext cx="2592000" cy="63828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 between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tangent and radius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is 90</a:t>
            </a:r>
            <a:r>
              <a:rPr b="0" lang="en-GB" sz="1800" spc="-1" strike="noStrike">
                <a:solidFill>
                  <a:schemeClr val="lt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TextBox 48"/>
          <p:cNvSpPr/>
          <p:nvPr/>
        </p:nvSpPr>
        <p:spPr>
          <a:xfrm>
            <a:off x="9522360" y="1929240"/>
            <a:ext cx="2592000" cy="63828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Opposite angles of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cyclic quadrilateral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add to 180</a:t>
            </a:r>
            <a:r>
              <a:rPr b="0" lang="en-GB" sz="1800" spc="-1" strike="noStrike">
                <a:solidFill>
                  <a:schemeClr val="lt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TextBox 49"/>
          <p:cNvSpPr/>
          <p:nvPr/>
        </p:nvSpPr>
        <p:spPr>
          <a:xfrm>
            <a:off x="9522360" y="2721600"/>
            <a:ext cx="2592000" cy="63828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Angles in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same segment 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are equal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TextBox 50"/>
          <p:cNvSpPr/>
          <p:nvPr/>
        </p:nvSpPr>
        <p:spPr>
          <a:xfrm>
            <a:off x="9522360" y="3513600"/>
            <a:ext cx="2592000" cy="63828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 at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centre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is twice angle at circumference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TextBox 51"/>
          <p:cNvSpPr/>
          <p:nvPr/>
        </p:nvSpPr>
        <p:spPr>
          <a:xfrm>
            <a:off x="9522360" y="4305600"/>
            <a:ext cx="2592000" cy="91260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Lengths of the tangents 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from a point to the circle are equal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Right Arrow 52"/>
          <p:cNvSpPr/>
          <p:nvPr/>
        </p:nvSpPr>
        <p:spPr>
          <a:xfrm>
            <a:off x="8802000" y="2937600"/>
            <a:ext cx="575640" cy="359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1" name="TextBox 53"/>
          <p:cNvSpPr/>
          <p:nvPr/>
        </p:nvSpPr>
        <p:spPr>
          <a:xfrm>
            <a:off x="7362000" y="2865600"/>
            <a:ext cx="567360" cy="36396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32</a:t>
            </a:r>
            <a:r>
              <a:rPr b="0" lang="en-GB" sz="1800" spc="-1" strike="noStrike">
                <a:solidFill>
                  <a:schemeClr val="dk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Rectangle 54"/>
          <p:cNvSpPr/>
          <p:nvPr/>
        </p:nvSpPr>
        <p:spPr>
          <a:xfrm>
            <a:off x="7218000" y="2793600"/>
            <a:ext cx="719640" cy="503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TextBox 55"/>
          <p:cNvSpPr/>
          <p:nvPr/>
        </p:nvSpPr>
        <p:spPr>
          <a:xfrm>
            <a:off x="9522360" y="5313600"/>
            <a:ext cx="2592000" cy="638280"/>
          </a:xfrm>
          <a:prstGeom prst="rect">
            <a:avLst/>
          </a:prstGeom>
          <a:solidFill>
            <a:srgbClr val="ed7d31"/>
          </a:solidFill>
          <a:ln>
            <a:solidFill>
              <a:srgbClr val="af5c2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Two angles in isosceles triangle the same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Right Arrow 56"/>
          <p:cNvSpPr/>
          <p:nvPr/>
        </p:nvSpPr>
        <p:spPr>
          <a:xfrm>
            <a:off x="8802000" y="5457600"/>
            <a:ext cx="575640" cy="359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5" name="TextBox 57"/>
          <p:cNvSpPr/>
          <p:nvPr/>
        </p:nvSpPr>
        <p:spPr>
          <a:xfrm>
            <a:off x="9522360" y="6008040"/>
            <a:ext cx="2592000" cy="638280"/>
          </a:xfrm>
          <a:prstGeom prst="rect">
            <a:avLst/>
          </a:prstGeom>
          <a:solidFill>
            <a:srgbClr val="ed7d31"/>
          </a:solidFill>
          <a:ln>
            <a:solidFill>
              <a:srgbClr val="af5c2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Angles of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quadrilateral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add to 360</a:t>
            </a:r>
            <a:r>
              <a:rPr b="0" lang="en-GB" sz="1800" spc="-1" strike="noStrike">
                <a:solidFill>
                  <a:schemeClr val="lt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6" name="Rectangle 58"/>
          <p:cNvSpPr/>
          <p:nvPr/>
        </p:nvSpPr>
        <p:spPr>
          <a:xfrm>
            <a:off x="8241120" y="1495440"/>
            <a:ext cx="935640" cy="28764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  <a:scene3d>
            <a:camera prst="orthographicFront"/>
            <a:lightRig dir="t" rig="threePt"/>
          </a:scene3d>
          <a:sp3d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Reveal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2" dur="indefinite" restart="never" nodeType="tmRoot">
          <p:childTnLst>
            <p:seq>
              <p:cTn id="83" restart="whenNotActive" nodeType="interactiveSeq" fill="hold">
                <p:stCondLst>
                  <p:cond delay="0" evt="onClick">
                    <p:tgtEl>
                      <p:spTgt spid="832"/>
                    </p:tgtEl>
                  </p:cond>
                </p:stCondLst>
                <p:childTnLst>
                  <p:par>
                    <p:cTn id="84" fill="hold">
                      <p:stCondLst>
                        <p:cond delay="0" evt="onClick">
                          <p:tgtEl>
                            <p:spTgt spid="832"/>
                          </p:tgtEl>
                        </p:cond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87" dur="500"/>
                                        <p:tgtEl>
                                          <p:spTgt spid="8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89" restart="whenNotActive" nodeType="interactiveSeq" fill="hold">
                <p:stCondLst>
                  <p:cond delay="0" evt="onClick">
                    <p:tgtEl>
                      <p:spTgt spid="836"/>
                    </p:tgtEl>
                  </p:cond>
                </p:stCondLst>
                <p:childTnLst>
                  <p:par>
                    <p:cTn id="90" fill="hold">
                      <p:stCondLst>
                        <p:cond delay="0" evt="onClick">
                          <p:tgtEl>
                            <p:spTgt spid="836"/>
                          </p:tgtEl>
                        </p:cond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nodeType="clickEffect" fill="hold" presetClass="entr" presetID="5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checkerboard(across)" transition="in">
                                      <p:cBhvr additive="repl">
                                        <p:cTn id="94" dur="500"/>
                                        <p:tgtEl>
                                          <p:spTgt spid="8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nodeType="withEffect" fill="hold" presetClass="entr" presetID="5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checkerboard(across)" transition="in">
                                      <p:cBhvr additive="repl">
                                        <p:cTn id="97" dur="500"/>
                                        <p:tgtEl>
                                          <p:spTgt spid="8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EXAMPLE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Calculate the Labelled Angles (1)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Shape 39"/>
          <p:cNvSpPr/>
          <p:nvPr/>
        </p:nvSpPr>
        <p:spPr>
          <a:xfrm>
            <a:off x="3014280" y="1353240"/>
            <a:ext cx="61628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77" name="Image 0" descr="/tmp/work/cs-20.png"/>
          <p:cNvPicPr/>
          <p:nvPr/>
        </p:nvPicPr>
        <p:blipFill>
          <a:blip r:embed="rId1"/>
          <a:stretch/>
        </p:blipFill>
        <p:spPr>
          <a:xfrm>
            <a:off x="3078360" y="1417320"/>
            <a:ext cx="6034680" cy="4525920"/>
          </a:xfrm>
          <a:prstGeom prst="rect">
            <a:avLst/>
          </a:prstGeom>
          <a:ln w="0">
            <a:noFill/>
          </a:ln>
        </p:spPr>
      </p:pic>
      <p:sp>
        <p:nvSpPr>
          <p:cNvPr id="878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9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Work through one angle at a time, giving a reason for each.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PRACTICE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Which Circle Theorem? (4)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Shape 39"/>
          <p:cNvSpPr/>
          <p:nvPr/>
        </p:nvSpPr>
        <p:spPr>
          <a:xfrm>
            <a:off x="3014280" y="1353240"/>
            <a:ext cx="61628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1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Identify which theorem you would use — then find the angle.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22" name="Picture 2" descr=""/>
          <p:cNvPicPr/>
          <p:nvPr/>
        </p:nvPicPr>
        <p:blipFill>
          <a:blip r:embed="rId1"/>
          <a:stretch/>
        </p:blipFill>
        <p:spPr>
          <a:xfrm>
            <a:off x="3902040" y="2035440"/>
            <a:ext cx="4943160" cy="3504960"/>
          </a:xfrm>
          <a:prstGeom prst="rect">
            <a:avLst/>
          </a:prstGeom>
          <a:ln w="9525">
            <a:noFill/>
          </a:ln>
        </p:spPr>
      </p:pic>
      <p:sp>
        <p:nvSpPr>
          <p:cNvPr id="923" name="TextBox 76"/>
          <p:cNvSpPr/>
          <p:nvPr/>
        </p:nvSpPr>
        <p:spPr>
          <a:xfrm>
            <a:off x="3014280" y="1353240"/>
            <a:ext cx="5400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Identify which circle theorems you could use to solve each question.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TextBox 77"/>
          <p:cNvSpPr/>
          <p:nvPr/>
        </p:nvSpPr>
        <p:spPr>
          <a:xfrm>
            <a:off x="9637920" y="261360"/>
            <a:ext cx="2592000" cy="36396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 in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semicircle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is 90</a:t>
            </a:r>
            <a:r>
              <a:rPr b="0" lang="en-GB" sz="1800" spc="-1" strike="noStrike">
                <a:solidFill>
                  <a:schemeClr val="lt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TextBox 78"/>
          <p:cNvSpPr/>
          <p:nvPr/>
        </p:nvSpPr>
        <p:spPr>
          <a:xfrm>
            <a:off x="9637920" y="765360"/>
            <a:ext cx="2592000" cy="63828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 between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tangent and radius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is 90</a:t>
            </a:r>
            <a:r>
              <a:rPr b="0" lang="en-GB" sz="1800" spc="-1" strike="noStrike">
                <a:solidFill>
                  <a:schemeClr val="lt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TextBox 79"/>
          <p:cNvSpPr/>
          <p:nvPr/>
        </p:nvSpPr>
        <p:spPr>
          <a:xfrm>
            <a:off x="9637920" y="1557720"/>
            <a:ext cx="2592000" cy="63828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Opposite angles of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cyclic quadrilateral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add to 180</a:t>
            </a:r>
            <a:r>
              <a:rPr b="0" lang="en-GB" sz="1800" spc="-1" strike="noStrike">
                <a:solidFill>
                  <a:schemeClr val="lt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TextBox 80"/>
          <p:cNvSpPr/>
          <p:nvPr/>
        </p:nvSpPr>
        <p:spPr>
          <a:xfrm>
            <a:off x="9637920" y="2349720"/>
            <a:ext cx="2592000" cy="63828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Angles in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same segment 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are equal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TextBox 81"/>
          <p:cNvSpPr/>
          <p:nvPr/>
        </p:nvSpPr>
        <p:spPr>
          <a:xfrm>
            <a:off x="9637920" y="3141720"/>
            <a:ext cx="2592000" cy="63828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 at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centre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is twice angle at circumference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TextBox 82"/>
          <p:cNvSpPr/>
          <p:nvPr/>
        </p:nvSpPr>
        <p:spPr>
          <a:xfrm>
            <a:off x="9637920" y="3933720"/>
            <a:ext cx="2592000" cy="912600"/>
          </a:xfrm>
          <a:prstGeom prst="rect">
            <a:avLst/>
          </a:prstGeom>
          <a:solidFill>
            <a:srgbClr val="ffc0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Lengths of the tangents 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from a point to the circle are equal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Right Arrow 83"/>
          <p:cNvSpPr/>
          <p:nvPr/>
        </p:nvSpPr>
        <p:spPr>
          <a:xfrm>
            <a:off x="8917560" y="3285720"/>
            <a:ext cx="575640" cy="359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1" name="TextBox 84"/>
          <p:cNvSpPr/>
          <p:nvPr/>
        </p:nvSpPr>
        <p:spPr>
          <a:xfrm>
            <a:off x="5965200" y="2133720"/>
            <a:ext cx="567360" cy="36396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31</a:t>
            </a:r>
            <a:r>
              <a:rPr b="0" lang="en-GB" sz="1800" spc="-1" strike="noStrike">
                <a:solidFill>
                  <a:schemeClr val="dk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Rectangle 85"/>
          <p:cNvSpPr/>
          <p:nvPr/>
        </p:nvSpPr>
        <p:spPr>
          <a:xfrm>
            <a:off x="5965200" y="2781720"/>
            <a:ext cx="575640" cy="359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TextBox 86"/>
          <p:cNvSpPr/>
          <p:nvPr/>
        </p:nvSpPr>
        <p:spPr>
          <a:xfrm>
            <a:off x="9637920" y="4942080"/>
            <a:ext cx="2592000" cy="638280"/>
          </a:xfrm>
          <a:prstGeom prst="rect">
            <a:avLst/>
          </a:prstGeom>
          <a:solidFill>
            <a:srgbClr val="ed7d31"/>
          </a:solidFill>
          <a:ln>
            <a:solidFill>
              <a:srgbClr val="af5c2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Two angles in isosceles triangle the same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4" name="Right Arrow 87"/>
          <p:cNvSpPr/>
          <p:nvPr/>
        </p:nvSpPr>
        <p:spPr>
          <a:xfrm>
            <a:off x="8845560" y="5806080"/>
            <a:ext cx="575640" cy="359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5" name="TextBox 88"/>
          <p:cNvSpPr/>
          <p:nvPr/>
        </p:nvSpPr>
        <p:spPr>
          <a:xfrm>
            <a:off x="9637920" y="5636520"/>
            <a:ext cx="2592000" cy="638280"/>
          </a:xfrm>
          <a:prstGeom prst="rect">
            <a:avLst/>
          </a:prstGeom>
          <a:solidFill>
            <a:srgbClr val="ed7d31"/>
          </a:solidFill>
          <a:ln>
            <a:solidFill>
              <a:srgbClr val="af5c2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Angles of </a:t>
            </a:r>
            <a:r>
              <a:rPr b="1" lang="en-GB" sz="1800" spc="-1" strike="noStrike">
                <a:solidFill>
                  <a:schemeClr val="lt1"/>
                </a:solidFill>
                <a:latin typeface="Calibri"/>
              </a:rPr>
              <a:t>quadrilateral</a:t>
            </a: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 add to 360</a:t>
            </a:r>
            <a:r>
              <a:rPr b="0" lang="en-GB" sz="1800" spc="-1" strike="noStrike">
                <a:solidFill>
                  <a:schemeClr val="lt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6" name="Right Arrow 89"/>
          <p:cNvSpPr/>
          <p:nvPr/>
        </p:nvSpPr>
        <p:spPr>
          <a:xfrm>
            <a:off x="8917560" y="909360"/>
            <a:ext cx="575640" cy="3596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7" name="Rectangle 90"/>
          <p:cNvSpPr/>
          <p:nvPr/>
        </p:nvSpPr>
        <p:spPr>
          <a:xfrm>
            <a:off x="7000920" y="1747440"/>
            <a:ext cx="935640" cy="28764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  <a:scene3d>
            <a:camera prst="orthographicFront"/>
            <a:lightRig dir="t" rig="threePt"/>
          </a:scene3d>
          <a:sp3d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Reveal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98" dur="indefinite" restart="never" nodeType="tmRoot">
          <p:childTnLst>
            <p:seq>
              <p:cTn id="99" restart="whenNotActive" nodeType="interactiveSeq" fill="hold">
                <p:stCondLst>
                  <p:cond delay="0" evt="onClick">
                    <p:tgtEl>
                      <p:spTgt spid="932"/>
                    </p:tgtEl>
                  </p:cond>
                </p:stCondLst>
                <p:childTnLst>
                  <p:par>
                    <p:cTn id="100" fill="hold">
                      <p:stCondLst>
                        <p:cond delay="0" evt="onClick">
                          <p:tgtEl>
                            <p:spTgt spid="932"/>
                          </p:tgtEl>
                        </p:cond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103" dur="500"/>
                                        <p:tgtEl>
                                          <p:spTgt spid="9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105" restart="whenNotActive" nodeType="interactiveSeq" fill="hold">
                <p:stCondLst>
                  <p:cond delay="0" evt="onClick">
                    <p:tgtEl>
                      <p:spTgt spid="937"/>
                    </p:tgtEl>
                  </p:cond>
                </p:stCondLst>
                <p:childTnLst>
                  <p:par>
                    <p:cTn id="106" fill="hold">
                      <p:stCondLst>
                        <p:cond delay="0" evt="onClick">
                          <p:tgtEl>
                            <p:spTgt spid="937"/>
                          </p:tgtEl>
                        </p:cond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nodeType="clickEffect" fill="hold" presetClass="entr" presetID="5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checkerboard(across)" transition="in">
                                      <p:cBhvr additive="repl">
                                        <p:cTn id="110" dur="500"/>
                                        <p:tgtEl>
                                          <p:spTgt spid="9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nodeType="withEffect" fill="hold" presetClass="entr" presetID="5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checkerboard(across)" transition="in">
                                      <p:cBhvr additive="repl">
                                        <p:cTn id="113" dur="500"/>
                                        <p:tgtEl>
                                          <p:spTgt spid="9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nodeType="withEffect" fill="hold" presetClass="entr" presetID="5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checkerboard(across)" transition="in">
                                      <p:cBhvr additive="repl">
                                        <p:cTn id="116" dur="500"/>
                                        <p:tgtEl>
                                          <p:spTgt spid="9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Shape 35"/>
          <p:cNvSpPr/>
          <p:nvPr/>
        </p:nvSpPr>
        <p:spPr>
          <a:xfrm>
            <a:off x="351360" y="12816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4" name="Text 36"/>
          <p:cNvSpPr/>
          <p:nvPr/>
        </p:nvSpPr>
        <p:spPr>
          <a:xfrm>
            <a:off x="351360" y="1461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Text 37"/>
          <p:cNvSpPr/>
          <p:nvPr/>
        </p:nvSpPr>
        <p:spPr>
          <a:xfrm>
            <a:off x="1044360" y="12816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EXAMPLE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Text 38"/>
          <p:cNvSpPr/>
          <p:nvPr/>
        </p:nvSpPr>
        <p:spPr>
          <a:xfrm>
            <a:off x="956520" y="41292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Calculate the Labelled Angles (1)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Shape 39"/>
          <p:cNvSpPr/>
          <p:nvPr/>
        </p:nvSpPr>
        <p:spPr>
          <a:xfrm>
            <a:off x="0" y="1146600"/>
            <a:ext cx="9177120" cy="486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9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Look for a semicircle, a radius-tangent, or a cyclic quadrilateral first.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Text Placeholder 2"/>
          <p:cNvSpPr/>
          <p:nvPr/>
        </p:nvSpPr>
        <p:spPr>
          <a:xfrm>
            <a:off x="0" y="1268280"/>
            <a:ext cx="9143640" cy="55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641"/>
              </a:spcBef>
              <a:tabLst>
                <a:tab algn="l" pos="0"/>
              </a:tabLst>
            </a:pPr>
            <a:endParaRPr b="0" lang="en-GB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81" name="Text Box 5"/>
          <p:cNvSpPr/>
          <p:nvPr/>
        </p:nvSpPr>
        <p:spPr>
          <a:xfrm>
            <a:off x="88920" y="1146600"/>
            <a:ext cx="8732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Calculate the size of the labelled angles in the following diagram: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Text Box 45"/>
          <p:cNvSpPr/>
          <p:nvPr/>
        </p:nvSpPr>
        <p:spPr>
          <a:xfrm>
            <a:off x="3997440" y="1825920"/>
            <a:ext cx="47160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2400" spc="-1" strike="noStrike">
                <a:solidFill>
                  <a:srgbClr val="000000"/>
                </a:solidFill>
                <a:latin typeface="Times New Roman"/>
              </a:rPr>
              <a:t>a</a:t>
            </a:r>
            <a:r>
              <a:rPr b="0" lang="en-GB" sz="2400" spc="-1" strike="noStrike">
                <a:solidFill>
                  <a:srgbClr val="000000"/>
                </a:solidFill>
                <a:latin typeface="Calibri"/>
              </a:rPr>
              <a:t> = 37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° 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(angles at the base of an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              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isosceles triangle)</a:t>
            </a:r>
            <a:r>
              <a:rPr b="0" lang="en-US" sz="2400" spc="-1" strike="noStrike">
                <a:solidFill>
                  <a:srgbClr val="010066"/>
                </a:solidFill>
                <a:latin typeface="Calibri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Oval 29"/>
          <p:cNvSpPr/>
          <p:nvPr/>
        </p:nvSpPr>
        <p:spPr>
          <a:xfrm>
            <a:off x="252360" y="2257920"/>
            <a:ext cx="3457080" cy="3457080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984" name="Oval 30"/>
          <p:cNvSpPr/>
          <p:nvPr/>
        </p:nvSpPr>
        <p:spPr>
          <a:xfrm>
            <a:off x="1944720" y="3951720"/>
            <a:ext cx="70920" cy="70920"/>
          </a:xfrm>
          <a:prstGeom prst="ellipse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5760" bIns="5760" anchor="ctr">
            <a:sp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985" name="Text Box 31"/>
          <p:cNvSpPr/>
          <p:nvPr/>
        </p:nvSpPr>
        <p:spPr>
          <a:xfrm>
            <a:off x="1564560" y="3584880"/>
            <a:ext cx="382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rgbClr val="000000"/>
                </a:solidFill>
                <a:latin typeface="Calibri"/>
              </a:rPr>
              <a:t>O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Line 32"/>
          <p:cNvSpPr/>
          <p:nvPr/>
        </p:nvSpPr>
        <p:spPr>
          <a:xfrm flipV="1">
            <a:off x="555480" y="3008520"/>
            <a:ext cx="2833560" cy="196524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987" name="Text Box 38"/>
          <p:cNvSpPr/>
          <p:nvPr/>
        </p:nvSpPr>
        <p:spPr>
          <a:xfrm>
            <a:off x="2812320" y="3254760"/>
            <a:ext cx="488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37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Text Box 40"/>
          <p:cNvSpPr/>
          <p:nvPr/>
        </p:nvSpPr>
        <p:spPr>
          <a:xfrm>
            <a:off x="2342520" y="4993200"/>
            <a:ext cx="295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1800" spc="-1" strike="noStrike">
                <a:solidFill>
                  <a:srgbClr val="000000"/>
                </a:solidFill>
                <a:latin typeface="Times New Roman"/>
              </a:rPr>
              <a:t>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Text Box 41"/>
          <p:cNvSpPr/>
          <p:nvPr/>
        </p:nvSpPr>
        <p:spPr>
          <a:xfrm>
            <a:off x="2101320" y="5180400"/>
            <a:ext cx="295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1800" spc="-1" strike="noStrike">
                <a:solidFill>
                  <a:srgbClr val="000000"/>
                </a:solidFill>
                <a:latin typeface="Times New Roman"/>
              </a:rPr>
              <a:t>b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Text Box 42"/>
          <p:cNvSpPr/>
          <p:nvPr/>
        </p:nvSpPr>
        <p:spPr>
          <a:xfrm>
            <a:off x="758880" y="4705560"/>
            <a:ext cx="281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1800" spc="-1" strike="noStrike">
                <a:solidFill>
                  <a:srgbClr val="000000"/>
                </a:solidFill>
                <a:latin typeface="Times New Roman"/>
              </a:rPr>
              <a:t>c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Text Box 43"/>
          <p:cNvSpPr/>
          <p:nvPr/>
        </p:nvSpPr>
        <p:spPr>
          <a:xfrm>
            <a:off x="1747440" y="4003920"/>
            <a:ext cx="295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1800" spc="-1" strike="noStrike">
                <a:solidFill>
                  <a:srgbClr val="000000"/>
                </a:solidFill>
                <a:latin typeface="Times New Roman"/>
              </a:rPr>
              <a:t>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Text Box 44"/>
          <p:cNvSpPr/>
          <p:nvPr/>
        </p:nvSpPr>
        <p:spPr>
          <a:xfrm>
            <a:off x="2016360" y="3823200"/>
            <a:ext cx="281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1800" spc="-1" strike="noStrike">
                <a:solidFill>
                  <a:srgbClr val="000000"/>
                </a:solidFill>
                <a:latin typeface="Times New Roman"/>
              </a:rPr>
              <a:t>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Line 33"/>
          <p:cNvSpPr/>
          <p:nvPr/>
        </p:nvSpPr>
        <p:spPr>
          <a:xfrm flipH="1">
            <a:off x="2514600" y="2995920"/>
            <a:ext cx="887400" cy="263196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994" name="Line 34"/>
          <p:cNvSpPr/>
          <p:nvPr/>
        </p:nvSpPr>
        <p:spPr>
          <a:xfrm>
            <a:off x="560160" y="4969080"/>
            <a:ext cx="1959120" cy="65880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995" name="Line 35"/>
          <p:cNvSpPr/>
          <p:nvPr/>
        </p:nvSpPr>
        <p:spPr>
          <a:xfrm>
            <a:off x="1981080" y="3984840"/>
            <a:ext cx="528480" cy="164304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996" name="Text Box 48"/>
          <p:cNvSpPr/>
          <p:nvPr/>
        </p:nvSpPr>
        <p:spPr>
          <a:xfrm>
            <a:off x="3997440" y="2724480"/>
            <a:ext cx="48589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2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GB" sz="2400" spc="-1" strike="noStrike">
                <a:solidFill>
                  <a:srgbClr val="000000"/>
                </a:solidFill>
                <a:latin typeface="Calibri"/>
              </a:rPr>
              <a:t> = 90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°</a:t>
            </a:r>
            <a:r>
              <a:rPr b="0" lang="en-GB" sz="2400" spc="-1" strike="noStrike">
                <a:solidFill>
                  <a:srgbClr val="000000"/>
                </a:solidFill>
                <a:latin typeface="Calibri"/>
              </a:rPr>
              <a:t> – 37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°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rgbClr val="010066"/>
                </a:solidFill>
                <a:latin typeface="Calibri"/>
              </a:rPr>
              <a:t>   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= 53° 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(angle in a semi-circle)</a:t>
            </a:r>
            <a:r>
              <a:rPr b="0" lang="en-US" sz="2400" spc="-1" strike="noStrike">
                <a:solidFill>
                  <a:srgbClr val="010066"/>
                </a:solidFill>
                <a:latin typeface="Calibri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Text Box 49"/>
          <p:cNvSpPr/>
          <p:nvPr/>
        </p:nvSpPr>
        <p:spPr>
          <a:xfrm>
            <a:off x="3997440" y="3624480"/>
            <a:ext cx="47160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2400" spc="-1" strike="noStrike">
                <a:solidFill>
                  <a:srgbClr val="000000"/>
                </a:solidFill>
                <a:latin typeface="Times New Roman"/>
              </a:rPr>
              <a:t>c</a:t>
            </a:r>
            <a:r>
              <a:rPr b="0" lang="en-GB" sz="2400" spc="-1" strike="noStrike">
                <a:solidFill>
                  <a:srgbClr val="000000"/>
                </a:solidFill>
                <a:latin typeface="Calibri"/>
              </a:rPr>
              <a:t> = 53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° 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(angles at the base of an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              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isosceles triangle)</a:t>
            </a:r>
            <a:r>
              <a:rPr b="0" lang="en-US" sz="2400" spc="-1" strike="noStrike">
                <a:solidFill>
                  <a:srgbClr val="010066"/>
                </a:solidFill>
                <a:latin typeface="Calibri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Text Box 50"/>
          <p:cNvSpPr/>
          <p:nvPr/>
        </p:nvSpPr>
        <p:spPr>
          <a:xfrm>
            <a:off x="3997440" y="4523040"/>
            <a:ext cx="47160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2400" spc="-1" strike="noStrike">
                <a:solidFill>
                  <a:srgbClr val="000000"/>
                </a:solidFill>
                <a:latin typeface="Times New Roman"/>
              </a:rPr>
              <a:t>d</a:t>
            </a:r>
            <a:r>
              <a:rPr b="0" lang="en-GB" sz="2400" spc="-1" strike="noStrike">
                <a:solidFill>
                  <a:srgbClr val="000000"/>
                </a:solidFill>
                <a:latin typeface="Calibri"/>
              </a:rPr>
              <a:t> = 180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° – 2 × </a:t>
            </a:r>
            <a:r>
              <a:rPr b="0" lang="en-GB" sz="2400" spc="-1" strike="noStrike">
                <a:solidFill>
                  <a:srgbClr val="000000"/>
                </a:solidFill>
                <a:latin typeface="Calibri"/>
              </a:rPr>
              <a:t>53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°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rgbClr val="010066"/>
                </a:solidFill>
                <a:latin typeface="Calibri"/>
              </a:rPr>
              <a:t>   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= 74° 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(angles in a triangle)</a:t>
            </a:r>
            <a:r>
              <a:rPr b="0" lang="en-US" sz="2400" spc="-1" strike="noStrike">
                <a:solidFill>
                  <a:srgbClr val="010066"/>
                </a:solidFill>
                <a:latin typeface="Calibri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Text Box 51"/>
          <p:cNvSpPr/>
          <p:nvPr/>
        </p:nvSpPr>
        <p:spPr>
          <a:xfrm>
            <a:off x="3997440" y="5423400"/>
            <a:ext cx="47160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2400" spc="-1" strike="noStrike">
                <a:solidFill>
                  <a:srgbClr val="000000"/>
                </a:solidFill>
                <a:latin typeface="Times New Roman"/>
              </a:rPr>
              <a:t>e</a:t>
            </a:r>
            <a:r>
              <a:rPr b="0" lang="en-GB" sz="2400" spc="-1" strike="noStrike">
                <a:solidFill>
                  <a:srgbClr val="000000"/>
                </a:solidFill>
                <a:latin typeface="Calibri"/>
              </a:rPr>
              <a:t> = 180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° – 74°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rgbClr val="010066"/>
                </a:solidFill>
                <a:latin typeface="Calibri"/>
              </a:rPr>
              <a:t>   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= 106° 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(angles on a line)</a:t>
            </a:r>
            <a:r>
              <a:rPr b="0" lang="en-US" sz="2400" spc="-1" strike="noStrike">
                <a:solidFill>
                  <a:srgbClr val="010066"/>
                </a:solidFill>
                <a:latin typeface="Calibri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17" dur="indefinite" restart="never" nodeType="tmRoot">
          <p:childTnLst>
            <p:seq>
              <p:cTn id="118" dur="indefinite" nodeType="mainSeq">
                <p:childTnLst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EXAMPLE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Calculate the Labelled Angles (2)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Shape 39"/>
          <p:cNvSpPr/>
          <p:nvPr/>
        </p:nvSpPr>
        <p:spPr>
          <a:xfrm>
            <a:off x="140760" y="1353240"/>
            <a:ext cx="903636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1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Chain the theorems: one angle unlocks the next.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Text Box 6"/>
          <p:cNvSpPr/>
          <p:nvPr/>
        </p:nvSpPr>
        <p:spPr>
          <a:xfrm>
            <a:off x="3877920" y="1405800"/>
            <a:ext cx="47160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2400" spc="-1" strike="noStrike">
                <a:solidFill>
                  <a:schemeClr val="dk1"/>
                </a:solidFill>
                <a:latin typeface="Times New Roman"/>
              </a:rPr>
              <a:t>a</a:t>
            </a:r>
            <a:r>
              <a:rPr b="0" lang="en-GB" sz="2400" spc="-1" strike="noStrike">
                <a:solidFill>
                  <a:schemeClr val="dk1"/>
                </a:solidFill>
                <a:latin typeface="Calibri"/>
              </a:rPr>
              <a:t> = 90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° – 51°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 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= 39° 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(angle in a semi-circle)</a:t>
            </a:r>
            <a:r>
              <a:rPr b="0" lang="en-US" sz="2400" spc="-1" strike="noStrike">
                <a:solidFill>
                  <a:srgbClr val="010066"/>
                </a:solidFill>
                <a:latin typeface="Calibri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Oval 7"/>
          <p:cNvSpPr/>
          <p:nvPr/>
        </p:nvSpPr>
        <p:spPr>
          <a:xfrm>
            <a:off x="133200" y="1694880"/>
            <a:ext cx="3457080" cy="3457080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1044" name="Oval 8"/>
          <p:cNvSpPr/>
          <p:nvPr/>
        </p:nvSpPr>
        <p:spPr>
          <a:xfrm>
            <a:off x="1825200" y="3388680"/>
            <a:ext cx="70920" cy="70920"/>
          </a:xfrm>
          <a:prstGeom prst="ellipse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5760" bIns="5760" anchor="ctr">
            <a:sp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1045" name="Text Box 9"/>
          <p:cNvSpPr/>
          <p:nvPr/>
        </p:nvSpPr>
        <p:spPr>
          <a:xfrm>
            <a:off x="1445400" y="3021840"/>
            <a:ext cx="382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dk1"/>
                </a:solidFill>
                <a:latin typeface="Calibri"/>
              </a:rPr>
              <a:t>O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Text Box 10"/>
          <p:cNvSpPr/>
          <p:nvPr/>
        </p:nvSpPr>
        <p:spPr>
          <a:xfrm>
            <a:off x="2885760" y="3079080"/>
            <a:ext cx="490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GB" sz="1800" spc="-1" strike="noStrike">
                <a:solidFill>
                  <a:schemeClr val="dk1"/>
                </a:solidFill>
                <a:latin typeface="Calibri"/>
              </a:rPr>
              <a:t>44</a:t>
            </a: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Text Box 11"/>
          <p:cNvSpPr/>
          <p:nvPr/>
        </p:nvSpPr>
        <p:spPr>
          <a:xfrm>
            <a:off x="1858680" y="4506120"/>
            <a:ext cx="490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GB" sz="1800" spc="-1" strike="noStrike">
                <a:solidFill>
                  <a:schemeClr val="dk1"/>
                </a:solidFill>
                <a:latin typeface="Calibri"/>
              </a:rPr>
              <a:t>51</a:t>
            </a:r>
            <a:r>
              <a:rPr b="1" lang="en-US" sz="1800" spc="-1" strike="noStrike">
                <a:solidFill>
                  <a:schemeClr val="dk1"/>
                </a:solidFill>
                <a:latin typeface="Calibri"/>
              </a:rPr>
              <a:t>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Text Box 12"/>
          <p:cNvSpPr/>
          <p:nvPr/>
        </p:nvSpPr>
        <p:spPr>
          <a:xfrm>
            <a:off x="1903320" y="1816920"/>
            <a:ext cx="281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i="1" lang="en-GB" sz="1800" spc="-1" strike="noStrike">
                <a:solidFill>
                  <a:schemeClr val="dk1"/>
                </a:solidFill>
                <a:latin typeface="Times New Roman"/>
              </a:rPr>
              <a:t>c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Text Box 13"/>
          <p:cNvSpPr/>
          <p:nvPr/>
        </p:nvSpPr>
        <p:spPr>
          <a:xfrm>
            <a:off x="494640" y="3710880"/>
            <a:ext cx="295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i="1" lang="en-GB" sz="1800" spc="-1" strike="noStrike">
                <a:solidFill>
                  <a:schemeClr val="dk1"/>
                </a:solidFill>
                <a:latin typeface="Times New Roman"/>
              </a:rPr>
              <a:t>b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Text Box 18"/>
          <p:cNvSpPr/>
          <p:nvPr/>
        </p:nvSpPr>
        <p:spPr>
          <a:xfrm>
            <a:off x="3877920" y="2532960"/>
            <a:ext cx="48589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2400" spc="-1" strike="noStrike">
                <a:solidFill>
                  <a:schemeClr val="dk1"/>
                </a:solidFill>
                <a:latin typeface="Times New Roman"/>
              </a:rPr>
              <a:t>b</a:t>
            </a:r>
            <a:r>
              <a:rPr b="0" lang="en-GB" sz="2400" spc="-1" strike="noStrike">
                <a:solidFill>
                  <a:schemeClr val="dk1"/>
                </a:solidFill>
                <a:latin typeface="Calibri"/>
              </a:rPr>
              <a:t> = 180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° – (90° + </a:t>
            </a:r>
            <a:r>
              <a:rPr b="0" lang="en-GB" sz="2400" spc="-1" strike="noStrike">
                <a:solidFill>
                  <a:schemeClr val="dk1"/>
                </a:solidFill>
                <a:latin typeface="Calibri"/>
              </a:rPr>
              <a:t>44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°)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 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= 46° 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(angles in a triangle)</a:t>
            </a:r>
            <a:r>
              <a:rPr b="0" lang="en-US" sz="2400" spc="-1" strike="noStrike">
                <a:solidFill>
                  <a:srgbClr val="010066"/>
                </a:solidFill>
                <a:latin typeface="Calibri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1" name="Text Box 19"/>
          <p:cNvSpPr/>
          <p:nvPr/>
        </p:nvSpPr>
        <p:spPr>
          <a:xfrm>
            <a:off x="3877920" y="3661560"/>
            <a:ext cx="48240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2400" spc="-1" strike="noStrike">
                <a:solidFill>
                  <a:schemeClr val="dk1"/>
                </a:solidFill>
                <a:latin typeface="Times New Roman"/>
              </a:rPr>
              <a:t>c</a:t>
            </a:r>
            <a:r>
              <a:rPr b="0" lang="en-GB" sz="2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= </a:t>
            </a:r>
            <a:r>
              <a:rPr b="0" i="1" lang="en-GB" sz="2400" spc="-1" strike="noStrike">
                <a:solidFill>
                  <a:schemeClr val="dk1"/>
                </a:solidFill>
                <a:latin typeface="Times New Roman"/>
              </a:rPr>
              <a:t>b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= 46° 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(angles in the same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              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segment)</a:t>
            </a:r>
            <a:r>
              <a:rPr b="0" lang="en-US" sz="2400" spc="-1" strike="noStrike">
                <a:solidFill>
                  <a:srgbClr val="010066"/>
                </a:solidFill>
                <a:latin typeface="Calibri"/>
              </a:rPr>
              <a:t>   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Text Box 23"/>
          <p:cNvSpPr/>
          <p:nvPr/>
        </p:nvSpPr>
        <p:spPr>
          <a:xfrm>
            <a:off x="2326320" y="4433400"/>
            <a:ext cx="295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i="1" lang="en-GB" sz="1800" spc="-1" strike="noStrike">
                <a:solidFill>
                  <a:schemeClr val="dk1"/>
                </a:solidFill>
                <a:latin typeface="Times New Roman"/>
              </a:rPr>
              <a:t>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Line 24"/>
          <p:cNvSpPr/>
          <p:nvPr/>
        </p:nvSpPr>
        <p:spPr>
          <a:xfrm flipV="1">
            <a:off x="190080" y="2961360"/>
            <a:ext cx="3338640" cy="91944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1054" name="Line 25"/>
          <p:cNvSpPr/>
          <p:nvPr/>
        </p:nvSpPr>
        <p:spPr>
          <a:xfrm flipH="1" flipV="1">
            <a:off x="1801440" y="1693080"/>
            <a:ext cx="609480" cy="337500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1055" name="Line 26"/>
          <p:cNvSpPr/>
          <p:nvPr/>
        </p:nvSpPr>
        <p:spPr>
          <a:xfrm>
            <a:off x="188280" y="3877560"/>
            <a:ext cx="2235240" cy="119052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1056" name="Line 27"/>
          <p:cNvSpPr/>
          <p:nvPr/>
        </p:nvSpPr>
        <p:spPr>
          <a:xfrm flipV="1">
            <a:off x="2407680" y="2944080"/>
            <a:ext cx="1121040" cy="212724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1057" name="Line 28"/>
          <p:cNvSpPr/>
          <p:nvPr/>
        </p:nvSpPr>
        <p:spPr>
          <a:xfrm flipH="1" flipV="1">
            <a:off x="1807560" y="1699560"/>
            <a:ext cx="1727280" cy="126360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1058" name="Text Box 33"/>
          <p:cNvSpPr/>
          <p:nvPr/>
        </p:nvSpPr>
        <p:spPr>
          <a:xfrm>
            <a:off x="2952000" y="2720160"/>
            <a:ext cx="295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i="1" lang="en-GB" sz="1800" spc="-1" strike="noStrike">
                <a:solidFill>
                  <a:schemeClr val="dk1"/>
                </a:solidFill>
                <a:latin typeface="Times New Roman"/>
              </a:rPr>
              <a:t>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9" name="Text Box 34"/>
          <p:cNvSpPr/>
          <p:nvPr/>
        </p:nvSpPr>
        <p:spPr>
          <a:xfrm>
            <a:off x="3877920" y="4790520"/>
            <a:ext cx="48589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2400" spc="-1" strike="noStrike">
                <a:solidFill>
                  <a:schemeClr val="dk1"/>
                </a:solidFill>
                <a:latin typeface="Times New Roman"/>
              </a:rPr>
              <a:t>d</a:t>
            </a:r>
            <a:r>
              <a:rPr b="0" lang="en-GB" sz="2400" spc="-1" strike="noStrike">
                <a:solidFill>
                  <a:schemeClr val="dk1"/>
                </a:solidFill>
                <a:latin typeface="Calibri"/>
              </a:rPr>
              <a:t> =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51° 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(angles in the same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              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segment)</a:t>
            </a:r>
            <a:r>
              <a:rPr b="0" lang="en-US" sz="2400" spc="-1" strike="noStrike">
                <a:solidFill>
                  <a:srgbClr val="010066"/>
                </a:solidFill>
                <a:latin typeface="Calibri"/>
              </a:rPr>
              <a:t>   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39" dur="indefinite" restart="never" nodeType="tmRoot">
          <p:childTnLst>
            <p:seq>
              <p:cTn id="140" dur="indefinite" nodeType="mainSeq">
                <p:childTnLst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EXAMPLE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Calculate the Labelled Angles (3)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Shape 39"/>
          <p:cNvSpPr/>
          <p:nvPr/>
        </p:nvSpPr>
        <p:spPr>
          <a:xfrm>
            <a:off x="140760" y="1353240"/>
            <a:ext cx="903636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1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Chain the theorems: one angle unlocks the next.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" name="Oval 7"/>
          <p:cNvSpPr/>
          <p:nvPr/>
        </p:nvSpPr>
        <p:spPr>
          <a:xfrm>
            <a:off x="312120" y="1379520"/>
            <a:ext cx="3457080" cy="3457080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1103" name="Text Box 11"/>
          <p:cNvSpPr/>
          <p:nvPr/>
        </p:nvSpPr>
        <p:spPr>
          <a:xfrm>
            <a:off x="1672200" y="2706480"/>
            <a:ext cx="604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128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Text Box 13"/>
          <p:cNvSpPr/>
          <p:nvPr/>
        </p:nvSpPr>
        <p:spPr>
          <a:xfrm>
            <a:off x="464040" y="2751120"/>
            <a:ext cx="295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1800" spc="-1" strike="noStrike">
                <a:solidFill>
                  <a:schemeClr val="dk1"/>
                </a:solidFill>
                <a:latin typeface="Times New Roman"/>
              </a:rPr>
              <a:t>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Text Box 14"/>
          <p:cNvSpPr/>
          <p:nvPr/>
        </p:nvSpPr>
        <p:spPr>
          <a:xfrm>
            <a:off x="787680" y="2444760"/>
            <a:ext cx="295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1800" spc="-1" strike="noStrike">
                <a:solidFill>
                  <a:schemeClr val="dk1"/>
                </a:solidFill>
                <a:latin typeface="Times New Roman"/>
              </a:rPr>
              <a:t>b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Text Box 18"/>
          <p:cNvSpPr/>
          <p:nvPr/>
        </p:nvSpPr>
        <p:spPr>
          <a:xfrm>
            <a:off x="4056840" y="1599840"/>
            <a:ext cx="485892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2400" spc="-1" strike="noStrike">
                <a:solidFill>
                  <a:schemeClr val="dk1"/>
                </a:solidFill>
                <a:latin typeface="Times New Roman"/>
              </a:rPr>
              <a:t>b</a:t>
            </a:r>
            <a:r>
              <a:rPr b="0" lang="en-GB" sz="2400" spc="-1" strike="noStrike">
                <a:solidFill>
                  <a:schemeClr val="dk1"/>
                </a:solidFill>
                <a:latin typeface="Calibri"/>
              </a:rPr>
              <a:t> = </a:t>
            </a:r>
            <a:r>
              <a:rPr b="0" i="1" lang="en-GB" sz="2400" spc="-1" strike="noStrike">
                <a:solidFill>
                  <a:schemeClr val="dk1"/>
                </a:solidFill>
                <a:latin typeface="Times New Roman"/>
              </a:rPr>
              <a:t>c</a:t>
            </a:r>
            <a:r>
              <a:rPr b="0" lang="en-GB" sz="2400" spc="-1" strike="noStrike">
                <a:solidFill>
                  <a:schemeClr val="dk1"/>
                </a:solidFill>
                <a:latin typeface="Calibri"/>
              </a:rPr>
              <a:t> = (180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° – 128°) ÷ 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       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= 26° 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(angles at the base of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                    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an isosceles triangle)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" name="Text Box 19"/>
          <p:cNvSpPr/>
          <p:nvPr/>
        </p:nvSpPr>
        <p:spPr>
          <a:xfrm>
            <a:off x="4056840" y="2685240"/>
            <a:ext cx="48240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2400" spc="-1" strike="noStrike">
                <a:solidFill>
                  <a:schemeClr val="dk1"/>
                </a:solidFill>
                <a:latin typeface="Times New Roman"/>
              </a:rPr>
              <a:t>d</a:t>
            </a:r>
            <a:r>
              <a:rPr b="0" lang="en-GB" sz="2400" spc="-1" strike="noStrike">
                <a:solidFill>
                  <a:schemeClr val="dk1"/>
                </a:solidFill>
                <a:latin typeface="Calibri"/>
              </a:rPr>
              <a:t> =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33° 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(angles at the base of an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              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isosceles triangle)</a:t>
            </a:r>
            <a:r>
              <a:rPr b="0" lang="en-US" sz="2400" spc="-1" strike="noStrike">
                <a:solidFill>
                  <a:srgbClr val="010066"/>
                </a:solidFill>
                <a:latin typeface="Calibri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Text Box 20"/>
          <p:cNvSpPr/>
          <p:nvPr/>
        </p:nvSpPr>
        <p:spPr>
          <a:xfrm>
            <a:off x="4056840" y="3394080"/>
            <a:ext cx="48956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2400" spc="-1" strike="noStrike">
                <a:solidFill>
                  <a:schemeClr val="dk1"/>
                </a:solidFill>
                <a:latin typeface="Times New Roman"/>
              </a:rPr>
              <a:t>e</a:t>
            </a:r>
            <a:r>
              <a:rPr b="0" lang="en-GB" sz="2400" spc="-1" strike="noStrike">
                <a:solidFill>
                  <a:schemeClr val="dk1"/>
                </a:solidFill>
                <a:latin typeface="Calibri"/>
              </a:rPr>
              <a:t> = 180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° – 2 × 33°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 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= 114° 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(angles in a triangle)</a:t>
            </a:r>
            <a:r>
              <a:rPr b="0" lang="en-US" sz="2400" spc="-1" strike="noStrike">
                <a:solidFill>
                  <a:srgbClr val="010066"/>
                </a:solidFill>
                <a:latin typeface="Calibri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Text Box 23"/>
          <p:cNvSpPr/>
          <p:nvPr/>
        </p:nvSpPr>
        <p:spPr>
          <a:xfrm>
            <a:off x="918720" y="4111560"/>
            <a:ext cx="281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1800" spc="-1" strike="noStrike">
                <a:solidFill>
                  <a:schemeClr val="dk1"/>
                </a:solidFill>
                <a:latin typeface="Times New Roman"/>
              </a:rPr>
              <a:t>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0" name="Line 25"/>
          <p:cNvSpPr/>
          <p:nvPr/>
        </p:nvSpPr>
        <p:spPr>
          <a:xfrm flipH="1" flipV="1">
            <a:off x="386640" y="2584080"/>
            <a:ext cx="577800" cy="187020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1111" name="Line 27"/>
          <p:cNvSpPr/>
          <p:nvPr/>
        </p:nvSpPr>
        <p:spPr>
          <a:xfrm flipV="1">
            <a:off x="383400" y="2126880"/>
            <a:ext cx="3076560" cy="47160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1112" name="Line 30"/>
          <p:cNvSpPr/>
          <p:nvPr/>
        </p:nvSpPr>
        <p:spPr>
          <a:xfrm>
            <a:off x="953280" y="4452480"/>
            <a:ext cx="1939680" cy="16992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1113" name="Line 31"/>
          <p:cNvSpPr/>
          <p:nvPr/>
        </p:nvSpPr>
        <p:spPr>
          <a:xfrm flipV="1">
            <a:off x="2883600" y="2126880"/>
            <a:ext cx="581040" cy="250524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1114" name="Line 33"/>
          <p:cNvSpPr/>
          <p:nvPr/>
        </p:nvSpPr>
        <p:spPr>
          <a:xfrm>
            <a:off x="396000" y="2588760"/>
            <a:ext cx="2500200" cy="203832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1115" name="Line 38"/>
          <p:cNvSpPr/>
          <p:nvPr/>
        </p:nvSpPr>
        <p:spPr>
          <a:xfrm flipH="1">
            <a:off x="605520" y="3498480"/>
            <a:ext cx="139680" cy="4284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1116" name="Line 39"/>
          <p:cNvSpPr/>
          <p:nvPr/>
        </p:nvSpPr>
        <p:spPr>
          <a:xfrm flipV="1">
            <a:off x="1917000" y="4468320"/>
            <a:ext cx="12600" cy="13968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1117" name="Oval 40"/>
          <p:cNvSpPr/>
          <p:nvPr/>
        </p:nvSpPr>
        <p:spPr>
          <a:xfrm>
            <a:off x="2004480" y="3073320"/>
            <a:ext cx="70920" cy="70920"/>
          </a:xfrm>
          <a:prstGeom prst="ellipse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5760" bIns="5760" anchor="ctr">
            <a:spAutoFit/>
          </a:bodyPr>
          <a:p>
            <a:pPr defTabSz="914400">
              <a:lnSpc>
                <a:spcPct val="100000"/>
              </a:lnSpc>
            </a:pPr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1118" name="Text Box 41"/>
          <p:cNvSpPr/>
          <p:nvPr/>
        </p:nvSpPr>
        <p:spPr>
          <a:xfrm>
            <a:off x="1846440" y="3084480"/>
            <a:ext cx="382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chemeClr val="dk1"/>
                </a:solidFill>
                <a:latin typeface="Calibri"/>
              </a:rPr>
              <a:t>O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Line 42"/>
          <p:cNvSpPr/>
          <p:nvPr/>
        </p:nvSpPr>
        <p:spPr>
          <a:xfrm>
            <a:off x="403920" y="2593800"/>
            <a:ext cx="1636560" cy="51408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1120" name="Line 43"/>
          <p:cNvSpPr/>
          <p:nvPr/>
        </p:nvSpPr>
        <p:spPr>
          <a:xfrm flipV="1">
            <a:off x="2040480" y="2131560"/>
            <a:ext cx="1419480" cy="976320"/>
          </a:xfrm>
          <a:prstGeom prst="line">
            <a:avLst/>
          </a:prstGeom>
          <a:ln w="2857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2400" spc="-1" strike="noStrike">
              <a:solidFill>
                <a:srgbClr val="010066"/>
              </a:solidFill>
              <a:latin typeface="Calibri"/>
            </a:endParaRPr>
          </a:p>
        </p:txBody>
      </p:sp>
      <p:sp>
        <p:nvSpPr>
          <p:cNvPr id="1121" name="Text Box 44"/>
          <p:cNvSpPr/>
          <p:nvPr/>
        </p:nvSpPr>
        <p:spPr>
          <a:xfrm>
            <a:off x="2871360" y="2122200"/>
            <a:ext cx="281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1800" spc="-1" strike="noStrike">
                <a:solidFill>
                  <a:schemeClr val="dk1"/>
                </a:solidFill>
                <a:latin typeface="Times New Roman"/>
              </a:rPr>
              <a:t>c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Text Box 46"/>
          <p:cNvSpPr/>
          <p:nvPr/>
        </p:nvSpPr>
        <p:spPr>
          <a:xfrm>
            <a:off x="2656440" y="4149720"/>
            <a:ext cx="295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1800" spc="-1" strike="noStrike">
                <a:solidFill>
                  <a:schemeClr val="dk1"/>
                </a:solidFill>
                <a:latin typeface="Times New Roman"/>
              </a:rPr>
              <a:t>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Text Box 47"/>
          <p:cNvSpPr/>
          <p:nvPr/>
        </p:nvSpPr>
        <p:spPr>
          <a:xfrm>
            <a:off x="3087720" y="2293920"/>
            <a:ext cx="243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1800" spc="-1" strike="noStrike">
                <a:solidFill>
                  <a:schemeClr val="dk1"/>
                </a:solidFill>
                <a:latin typeface="Times New Roman"/>
              </a:rPr>
              <a:t>f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Text Box 50"/>
          <p:cNvSpPr/>
          <p:nvPr/>
        </p:nvSpPr>
        <p:spPr>
          <a:xfrm>
            <a:off x="2106720" y="4246560"/>
            <a:ext cx="488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33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Text Box 51"/>
          <p:cNvSpPr/>
          <p:nvPr/>
        </p:nvSpPr>
        <p:spPr>
          <a:xfrm>
            <a:off x="4056840" y="4227480"/>
            <a:ext cx="489564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i="1" lang="en-GB" sz="2400" spc="-1" strike="noStrike">
                <a:solidFill>
                  <a:schemeClr val="dk1"/>
                </a:solidFill>
                <a:latin typeface="Times New Roman"/>
              </a:rPr>
              <a:t>f</a:t>
            </a:r>
            <a:r>
              <a:rPr b="0" lang="en-GB" sz="2400" spc="-1" strike="noStrike">
                <a:solidFill>
                  <a:schemeClr val="dk1"/>
                </a:solidFill>
                <a:latin typeface="Calibri"/>
              </a:rPr>
              <a:t> = 180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° – (</a:t>
            </a:r>
            <a:r>
              <a:rPr b="1" i="1" lang="en-US" sz="2400" spc="-1" strike="noStrike">
                <a:solidFill>
                  <a:schemeClr val="dk1"/>
                </a:solidFill>
                <a:latin typeface="Times New Roman"/>
              </a:rPr>
              <a:t>e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+ </a:t>
            </a:r>
            <a:r>
              <a:rPr b="1" i="1" lang="en-US" sz="2400" spc="-1" strike="noStrike">
                <a:solidFill>
                  <a:schemeClr val="dk1"/>
                </a:solidFill>
                <a:latin typeface="Times New Roman"/>
              </a:rPr>
              <a:t>c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 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= 180° – 140°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   </a:t>
            </a: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= 40° 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(opposite angles in 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rgbClr val="ff6600"/>
                </a:solidFill>
                <a:latin typeface="Calibri"/>
              </a:rPr>
              <a:t>                </a:t>
            </a:r>
            <a:r>
              <a:rPr b="0" lang="en-GB" sz="2400" spc="-1" strike="noStrike">
                <a:solidFill>
                  <a:srgbClr val="ff6600"/>
                </a:solidFill>
                <a:latin typeface="Calibri"/>
              </a:rPr>
              <a:t>cyclic quadrilateral</a:t>
            </a:r>
            <a:r>
              <a:rPr b="0" lang="en-US" sz="2400" spc="-1" strike="noStrike">
                <a:solidFill>
                  <a:srgbClr val="ff6600"/>
                </a:solidFill>
                <a:latin typeface="Calibri"/>
              </a:rPr>
              <a:t>)</a:t>
            </a:r>
            <a:r>
              <a:rPr b="0" lang="en-US" sz="2400" spc="-1" strike="noStrike">
                <a:solidFill>
                  <a:srgbClr val="010066"/>
                </a:solidFill>
                <a:latin typeface="Calibri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57" dur="indefinite" restart="never" nodeType="tmRoot">
          <p:childTnLst>
            <p:seq>
              <p:cTn id="158" dur="indefinite" nodeType="mainSeq">
                <p:childTnLst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CHECK YOUR UNDERSTANDING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Alternate Segment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Shape 39"/>
          <p:cNvSpPr/>
          <p:nvPr/>
        </p:nvSpPr>
        <p:spPr>
          <a:xfrm>
            <a:off x="2109600" y="1353240"/>
            <a:ext cx="706752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6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7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Use the alternate segment theorem.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68" name="Picture 2" descr=""/>
          <p:cNvPicPr/>
          <p:nvPr/>
        </p:nvPicPr>
        <p:blipFill>
          <a:blip r:embed="rId1"/>
          <a:stretch/>
        </p:blipFill>
        <p:spPr>
          <a:xfrm>
            <a:off x="2109600" y="1353240"/>
            <a:ext cx="7119000" cy="3312000"/>
          </a:xfrm>
          <a:prstGeom prst="rect">
            <a:avLst/>
          </a:prstGeom>
          <a:ln w="9525">
            <a:noFill/>
          </a:ln>
        </p:spPr>
      </p:pic>
      <p:sp>
        <p:nvSpPr>
          <p:cNvPr id="1169" name="TextBox 45"/>
          <p:cNvSpPr/>
          <p:nvPr/>
        </p:nvSpPr>
        <p:spPr>
          <a:xfrm>
            <a:off x="4773960" y="5169600"/>
            <a:ext cx="1295640" cy="5166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z = 58</a:t>
            </a:r>
            <a:r>
              <a:rPr b="0" lang="en-GB" sz="2800" spc="-1" strike="noStrike">
                <a:solidFill>
                  <a:schemeClr val="lt1"/>
                </a:solidFill>
                <a:latin typeface="Symbol"/>
              </a:rPr>
              <a:t>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0" name="Rectangle 46"/>
          <p:cNvSpPr/>
          <p:nvPr/>
        </p:nvSpPr>
        <p:spPr>
          <a:xfrm>
            <a:off x="4773960" y="5169600"/>
            <a:ext cx="1295640" cy="53712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75" dur="indefinite" restart="never" nodeType="tmRoot">
          <p:childTnLst>
            <p:seq>
              <p:cTn id="176" restart="whenNotActive" nodeType="interactiveSeq" fill="hold">
                <p:stCondLst>
                  <p:cond delay="0" evt="onClick">
                    <p:tgtEl>
                      <p:spTgt spid="1170"/>
                    </p:tgtEl>
                  </p:cond>
                </p:stCondLst>
                <p:childTnLst>
                  <p:par>
                    <p:cTn id="177" fill="hold">
                      <p:stCondLst>
                        <p:cond delay="0" evt="onClick">
                          <p:tgtEl>
                            <p:spTgt spid="1170"/>
                          </p:tgtEl>
                        </p:cond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180" dur="500"/>
                                        <p:tgtEl>
                                          <p:spTgt spid="11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CHECK YOUR UNDERSTANDING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IGCSE Jan 2014 (R)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1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Give a reason for every angle you write down.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12" name="Picture 2" descr=""/>
          <p:cNvPicPr/>
          <p:nvPr/>
        </p:nvPicPr>
        <p:blipFill>
          <a:blip r:embed="rId1"/>
          <a:stretch/>
        </p:blipFill>
        <p:spPr>
          <a:xfrm>
            <a:off x="5118480" y="364680"/>
            <a:ext cx="5256360" cy="3406320"/>
          </a:xfrm>
          <a:prstGeom prst="rect">
            <a:avLst/>
          </a:prstGeom>
          <a:ln w="9525">
            <a:noFill/>
          </a:ln>
        </p:spPr>
      </p:pic>
      <p:sp>
        <p:nvSpPr>
          <p:cNvPr id="1213" name="TextBox 45"/>
          <p:cNvSpPr/>
          <p:nvPr/>
        </p:nvSpPr>
        <p:spPr>
          <a:xfrm>
            <a:off x="3030120" y="4037040"/>
            <a:ext cx="2520000" cy="36396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 ABC =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4" name="TextBox 46"/>
          <p:cNvSpPr/>
          <p:nvPr/>
        </p:nvSpPr>
        <p:spPr>
          <a:xfrm>
            <a:off x="3030120" y="4973040"/>
            <a:ext cx="2520000" cy="36396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Give a reason: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5" name="TextBox 47"/>
          <p:cNvSpPr/>
          <p:nvPr/>
        </p:nvSpPr>
        <p:spPr>
          <a:xfrm>
            <a:off x="5910480" y="4037040"/>
            <a:ext cx="2520000" cy="36396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 AOC =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6" name="TextBox 48"/>
          <p:cNvSpPr/>
          <p:nvPr/>
        </p:nvSpPr>
        <p:spPr>
          <a:xfrm>
            <a:off x="5910480" y="4973040"/>
            <a:ext cx="2520000" cy="36396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Give a reason: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7" name="TextBox 49"/>
          <p:cNvSpPr/>
          <p:nvPr/>
        </p:nvSpPr>
        <p:spPr>
          <a:xfrm>
            <a:off x="8790840" y="4037040"/>
            <a:ext cx="2520000" cy="36396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Angle CAE =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8" name="TextBox 50"/>
          <p:cNvSpPr/>
          <p:nvPr/>
        </p:nvSpPr>
        <p:spPr>
          <a:xfrm>
            <a:off x="8790840" y="4973040"/>
            <a:ext cx="2520000" cy="36396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Give a reason: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9" name="TextBox 51"/>
          <p:cNvSpPr/>
          <p:nvPr/>
        </p:nvSpPr>
        <p:spPr>
          <a:xfrm>
            <a:off x="3102120" y="4469040"/>
            <a:ext cx="237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112</a:t>
            </a:r>
            <a:r>
              <a:rPr b="0" lang="en-GB" sz="1800" spc="-1" strike="noStrike">
                <a:solidFill>
                  <a:schemeClr val="dk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0" name="TextBox 52"/>
          <p:cNvSpPr/>
          <p:nvPr/>
        </p:nvSpPr>
        <p:spPr>
          <a:xfrm>
            <a:off x="3102120" y="5405040"/>
            <a:ext cx="23760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600" spc="-1" strike="noStrike">
                <a:solidFill>
                  <a:schemeClr val="dk1"/>
                </a:solidFill>
                <a:latin typeface="Calibri"/>
              </a:rPr>
              <a:t>Supplementary angles of cyclic quadrilateral add up to 180.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1" name="TextBox 53"/>
          <p:cNvSpPr/>
          <p:nvPr/>
        </p:nvSpPr>
        <p:spPr>
          <a:xfrm>
            <a:off x="5982480" y="4469040"/>
            <a:ext cx="237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136</a:t>
            </a:r>
            <a:r>
              <a:rPr b="0" lang="en-GB" sz="1800" spc="-1" strike="noStrike">
                <a:solidFill>
                  <a:schemeClr val="dk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2" name="TextBox 54"/>
          <p:cNvSpPr/>
          <p:nvPr/>
        </p:nvSpPr>
        <p:spPr>
          <a:xfrm>
            <a:off x="8862840" y="4469040"/>
            <a:ext cx="237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68</a:t>
            </a:r>
            <a:r>
              <a:rPr b="0" lang="en-GB" sz="1800" spc="-1" strike="noStrike">
                <a:solidFill>
                  <a:schemeClr val="dk1"/>
                </a:solidFill>
                <a:latin typeface="Symbol"/>
              </a:rPr>
              <a:t>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TextBox 55"/>
          <p:cNvSpPr/>
          <p:nvPr/>
        </p:nvSpPr>
        <p:spPr>
          <a:xfrm>
            <a:off x="5910480" y="5405040"/>
            <a:ext cx="237600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600" spc="-1" strike="noStrike">
                <a:solidFill>
                  <a:schemeClr val="dk1"/>
                </a:solidFill>
                <a:latin typeface="Calibri"/>
              </a:rPr>
              <a:t>Angle at centre is double angle at circumference.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4" name="TextBox 56"/>
          <p:cNvSpPr/>
          <p:nvPr/>
        </p:nvSpPr>
        <p:spPr>
          <a:xfrm>
            <a:off x="8790840" y="5405040"/>
            <a:ext cx="237600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600" spc="-1" strike="noStrike">
                <a:solidFill>
                  <a:schemeClr val="dk1"/>
                </a:solidFill>
                <a:latin typeface="Calibri"/>
              </a:rPr>
              <a:t>Alternate Segment Theorem.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5" name="Rectangle 57"/>
          <p:cNvSpPr/>
          <p:nvPr/>
        </p:nvSpPr>
        <p:spPr>
          <a:xfrm>
            <a:off x="3030120" y="4397040"/>
            <a:ext cx="2520000" cy="431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Rectangle 58"/>
          <p:cNvSpPr/>
          <p:nvPr/>
        </p:nvSpPr>
        <p:spPr>
          <a:xfrm>
            <a:off x="5910480" y="4397040"/>
            <a:ext cx="2520000" cy="431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Rectangle 59"/>
          <p:cNvSpPr/>
          <p:nvPr/>
        </p:nvSpPr>
        <p:spPr>
          <a:xfrm>
            <a:off x="8790840" y="4397040"/>
            <a:ext cx="2520000" cy="431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8" name="Rectangle 60"/>
          <p:cNvSpPr/>
          <p:nvPr/>
        </p:nvSpPr>
        <p:spPr>
          <a:xfrm>
            <a:off x="3030120" y="5333040"/>
            <a:ext cx="2520000" cy="863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9" name="Rectangle 61"/>
          <p:cNvSpPr/>
          <p:nvPr/>
        </p:nvSpPr>
        <p:spPr>
          <a:xfrm>
            <a:off x="5910480" y="5333040"/>
            <a:ext cx="2520000" cy="863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0" name="Rectangle 62"/>
          <p:cNvSpPr/>
          <p:nvPr/>
        </p:nvSpPr>
        <p:spPr>
          <a:xfrm>
            <a:off x="8790840" y="5333040"/>
            <a:ext cx="2520000" cy="863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82" dur="indefinite" restart="never" nodeType="tmRoot">
          <p:childTnLst>
            <p:seq>
              <p:cTn id="183" restart="whenNotActive" nodeType="interactiveSeq" fill="hold">
                <p:stCondLst>
                  <p:cond delay="0" evt="onClick">
                    <p:tgtEl>
                      <p:spTgt spid="1225"/>
                    </p:tgtEl>
                  </p:cond>
                </p:stCondLst>
                <p:childTnLst>
                  <p:par>
                    <p:cTn id="184" fill="hold">
                      <p:stCondLst>
                        <p:cond delay="0" evt="onClick">
                          <p:tgtEl>
                            <p:spTgt spid="1225"/>
                          </p:tgtEl>
                        </p:cond>
                      </p:stCondLst>
                      <p:childTnLst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187" dur="500"/>
                                        <p:tgtEl>
                                          <p:spTgt spid="12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189" restart="whenNotActive" nodeType="interactiveSeq" fill="hold">
                <p:stCondLst>
                  <p:cond delay="0" evt="onClick">
                    <p:tgtEl>
                      <p:spTgt spid="1226"/>
                    </p:tgtEl>
                  </p:cond>
                </p:stCondLst>
                <p:childTnLst>
                  <p:par>
                    <p:cTn id="190" fill="hold">
                      <p:stCondLst>
                        <p:cond delay="0" evt="onClick">
                          <p:tgtEl>
                            <p:spTgt spid="1226"/>
                          </p:tgtEl>
                        </p:cond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193" dur="500"/>
                                        <p:tgtEl>
                                          <p:spTgt spid="1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195" restart="whenNotActive" nodeType="interactiveSeq" fill="hold">
                <p:stCondLst>
                  <p:cond delay="0" evt="onClick">
                    <p:tgtEl>
                      <p:spTgt spid="1227"/>
                    </p:tgtEl>
                  </p:cond>
                </p:stCondLst>
                <p:childTnLst>
                  <p:par>
                    <p:cTn id="196" fill="hold">
                      <p:stCondLst>
                        <p:cond delay="0" evt="onClick">
                          <p:tgtEl>
                            <p:spTgt spid="1227"/>
                          </p:tgtEl>
                        </p:cond>
                      </p:stCondLst>
                      <p:childTnLst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199" dur="500"/>
                                        <p:tgtEl>
                                          <p:spTgt spid="1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201" restart="whenNotActive" nodeType="interactiveSeq" fill="hold">
                <p:stCondLst>
                  <p:cond delay="0" evt="onClick">
                    <p:tgtEl>
                      <p:spTgt spid="1228"/>
                    </p:tgtEl>
                  </p:cond>
                </p:stCondLst>
                <p:childTnLst>
                  <p:par>
                    <p:cTn id="202" fill="hold">
                      <p:stCondLst>
                        <p:cond delay="0" evt="onClick">
                          <p:tgtEl>
                            <p:spTgt spid="1228"/>
                          </p:tgtEl>
                        </p:cond>
                      </p:stCondLst>
                      <p:childTnLst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205" dur="500"/>
                                        <p:tgtEl>
                                          <p:spTgt spid="12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207" restart="whenNotActive" nodeType="interactiveSeq" fill="hold">
                <p:stCondLst>
                  <p:cond delay="0" evt="onClick">
                    <p:tgtEl>
                      <p:spTgt spid="1229"/>
                    </p:tgtEl>
                  </p:cond>
                </p:stCondLst>
                <p:childTnLst>
                  <p:par>
                    <p:cTn id="208" fill="hold">
                      <p:stCondLst>
                        <p:cond delay="0" evt="onClick">
                          <p:tgtEl>
                            <p:spTgt spid="1229"/>
                          </p:tgtEl>
                        </p:cond>
                      </p:stCondLst>
                      <p:childTnLst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210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211" dur="500"/>
                                        <p:tgtEl>
                                          <p:spTgt spid="12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213" restart="whenNotActive" nodeType="interactiveSeq" fill="hold">
                <p:stCondLst>
                  <p:cond delay="0" evt="onClick">
                    <p:tgtEl>
                      <p:spTgt spid="1230"/>
                    </p:tgtEl>
                  </p:cond>
                </p:stCondLst>
                <p:childTnLst>
                  <p:par>
                    <p:cTn id="214" fill="hold">
                      <p:stCondLst>
                        <p:cond delay="0" evt="onClick">
                          <p:tgtEl>
                            <p:spTgt spid="1230"/>
                          </p:tgtEl>
                        </p:cond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217" dur="500"/>
                                        <p:tgtEl>
                                          <p:spTgt spid="1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HARDER QUESTIONS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IGCSE May 2013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0" name="Shape 39"/>
          <p:cNvSpPr/>
          <p:nvPr/>
        </p:nvSpPr>
        <p:spPr>
          <a:xfrm>
            <a:off x="3014280" y="1353240"/>
            <a:ext cx="61628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1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2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Several theorems combine in one diagram.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73" name="Picture 3" descr=""/>
          <p:cNvPicPr/>
          <p:nvPr/>
        </p:nvPicPr>
        <p:blipFill>
          <a:blip r:embed="rId1"/>
          <a:stretch/>
        </p:blipFill>
        <p:spPr>
          <a:xfrm>
            <a:off x="3715920" y="1467000"/>
            <a:ext cx="5040360" cy="3755520"/>
          </a:xfrm>
          <a:prstGeom prst="rect">
            <a:avLst/>
          </a:prstGeom>
          <a:ln w="9525">
            <a:noFill/>
          </a:ln>
        </p:spPr>
      </p:pic>
      <p:sp>
        <p:nvSpPr>
          <p:cNvPr id="1274" name="TextBox 45"/>
          <p:cNvSpPr/>
          <p:nvPr/>
        </p:nvSpPr>
        <p:spPr>
          <a:xfrm>
            <a:off x="5300280" y="5643720"/>
            <a:ext cx="2880000" cy="36396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Calibri"/>
              </a:rPr>
              <a:t>Determine angle ADB.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5" name="TextBox 46"/>
          <p:cNvSpPr/>
          <p:nvPr/>
        </p:nvSpPr>
        <p:spPr>
          <a:xfrm>
            <a:off x="7388280" y="2619360"/>
            <a:ext cx="50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39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6" name="TextBox 47"/>
          <p:cNvSpPr/>
          <p:nvPr/>
        </p:nvSpPr>
        <p:spPr>
          <a:xfrm>
            <a:off x="6668280" y="4203360"/>
            <a:ext cx="647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77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7" name="TextBox 48"/>
          <p:cNvSpPr/>
          <p:nvPr/>
        </p:nvSpPr>
        <p:spPr>
          <a:xfrm>
            <a:off x="5876280" y="3627360"/>
            <a:ext cx="647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dk1"/>
                </a:solidFill>
                <a:latin typeface="Calibri"/>
              </a:rPr>
              <a:t>64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8" name="Rectangle 49"/>
          <p:cNvSpPr/>
          <p:nvPr/>
        </p:nvSpPr>
        <p:spPr>
          <a:xfrm>
            <a:off x="5948280" y="3555360"/>
            <a:ext cx="503640" cy="431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" name="Rectangle 50"/>
          <p:cNvSpPr/>
          <p:nvPr/>
        </p:nvSpPr>
        <p:spPr>
          <a:xfrm>
            <a:off x="7316280" y="2619360"/>
            <a:ext cx="503640" cy="431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0" name="Rectangle 51"/>
          <p:cNvSpPr/>
          <p:nvPr/>
        </p:nvSpPr>
        <p:spPr>
          <a:xfrm>
            <a:off x="6740280" y="4131360"/>
            <a:ext cx="503640" cy="4316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chemeClr val="lt1"/>
                </a:solidFill>
                <a:latin typeface="Calibri"/>
              </a:rPr>
              <a:t>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19" dur="indefinite" restart="never" nodeType="tmRoot">
          <p:childTnLst>
            <p:seq>
              <p:cTn id="220" restart="whenNotActive" nodeType="interactiveSeq" fill="hold">
                <p:stCondLst>
                  <p:cond delay="0" evt="onClick">
                    <p:tgtEl>
                      <p:spTgt spid="1278"/>
                    </p:tgtEl>
                  </p:cond>
                </p:stCondLst>
                <p:childTnLst>
                  <p:par>
                    <p:cTn id="221" fill="hold">
                      <p:stCondLst>
                        <p:cond delay="0" evt="onClick">
                          <p:tgtEl>
                            <p:spTgt spid="1278"/>
                          </p:tgtEl>
                        </p:cond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23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224" dur="500"/>
                                        <p:tgtEl>
                                          <p:spTgt spid="12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226" restart="whenNotActive" nodeType="interactiveSeq" fill="hold">
                <p:stCondLst>
                  <p:cond delay="0" evt="onClick">
                    <p:tgtEl>
                      <p:spTgt spid="1279"/>
                    </p:tgtEl>
                  </p:cond>
                </p:stCondLst>
                <p:childTnLst>
                  <p:par>
                    <p:cTn id="227" fill="hold">
                      <p:stCondLst>
                        <p:cond delay="0" evt="onClick">
                          <p:tgtEl>
                            <p:spTgt spid="1279"/>
                          </p:tgtEl>
                        </p:cond>
                      </p:stCondLst>
                      <p:childTnLst>
                        <p:par>
                          <p:cTn id="228" fill="hold">
                            <p:stCondLst>
                              <p:cond delay="0"/>
                            </p:stCondLst>
                            <p:childTnLst>
                              <p:par>
                                <p:cTn id="229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230" dur="500"/>
                                        <p:tgtEl>
                                          <p:spTgt spid="12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seq>
              <p:cTn id="232" restart="whenNotActive" nodeType="interactiveSeq" fill="hold">
                <p:stCondLst>
                  <p:cond delay="0" evt="onClick">
                    <p:tgtEl>
                      <p:spTgt spid="1280"/>
                    </p:tgtEl>
                  </p:cond>
                </p:stCondLst>
                <p:childTnLst>
                  <p:par>
                    <p:cTn id="233" fill="hold">
                      <p:stCondLst>
                        <p:cond delay="0" evt="onClick">
                          <p:tgtEl>
                            <p:spTgt spid="1280"/>
                          </p:tgtEl>
                        </p:cond>
                      </p:stCondLst>
                      <p:childTnLst>
                        <p:par>
                          <p:cTn id="234" fill="hold">
                            <p:stCondLst>
                              <p:cond delay="0"/>
                            </p:stCondLst>
                            <p:childTnLst>
                              <p:par>
                                <p:cTn id="235" nodeType="clickEffect" fill="hold" presetClass="exit" presetID="1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 additive="repl">
                                        <p:cTn id="236" dur="500"/>
                                        <p:tgtEl>
                                          <p:spTgt spid="12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6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7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8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9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Past-Paper Questions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0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Every angle needs a REASON — write the theorem in words.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1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2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3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Mark what you know on the diagram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4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5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6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Spot the theorem (centre? tangent? cyclic quad?)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7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8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9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Find one angle, then chain to the next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0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1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2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Give a reason for EVERY step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  ·  Jan 2023 · Paper 2HR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2" name="Shape 39"/>
          <p:cNvSpPr/>
          <p:nvPr/>
        </p:nvSpPr>
        <p:spPr>
          <a:xfrm>
            <a:off x="2617920" y="1398960"/>
            <a:ext cx="695520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3" name="Image 0" descr="/tmp/work/cs-38.png"/>
          <p:cNvPicPr/>
          <p:nvPr/>
        </p:nvPicPr>
        <p:blipFill>
          <a:blip r:embed="rId1"/>
          <a:stretch/>
        </p:blipFill>
        <p:spPr>
          <a:xfrm>
            <a:off x="2682000" y="1463040"/>
            <a:ext cx="6827040" cy="5120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2  ·  Nov 2023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3" name="Shape 39"/>
          <p:cNvSpPr/>
          <p:nvPr/>
        </p:nvSpPr>
        <p:spPr>
          <a:xfrm>
            <a:off x="2617920" y="1398960"/>
            <a:ext cx="695520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14" name="Image 0" descr="/tmp/work/cs-39.png"/>
          <p:cNvPicPr/>
          <p:nvPr/>
        </p:nvPicPr>
        <p:blipFill>
          <a:blip r:embed="rId1"/>
          <a:stretch/>
        </p:blipFill>
        <p:spPr>
          <a:xfrm>
            <a:off x="2682000" y="1463040"/>
            <a:ext cx="6827040" cy="5120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4" name="Shape 39"/>
          <p:cNvSpPr/>
          <p:nvPr/>
        </p:nvSpPr>
        <p:spPr>
          <a:xfrm>
            <a:off x="2617920" y="1398960"/>
            <a:ext cx="695520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55" name="Image 0" descr="/tmp/work/cs-40.png"/>
          <p:cNvPicPr/>
          <p:nvPr/>
        </p:nvPicPr>
        <p:blipFill>
          <a:blip r:embed="rId1"/>
          <a:stretch/>
        </p:blipFill>
        <p:spPr>
          <a:xfrm>
            <a:off x="2682000" y="1463040"/>
            <a:ext cx="6827040" cy="5120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4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5" name="Shape 39"/>
          <p:cNvSpPr/>
          <p:nvPr/>
        </p:nvSpPr>
        <p:spPr>
          <a:xfrm>
            <a:off x="2617920" y="1398960"/>
            <a:ext cx="695520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96" name="Image 0" descr="/tmp/work/cs-41.png"/>
          <p:cNvPicPr/>
          <p:nvPr/>
        </p:nvPicPr>
        <p:blipFill>
          <a:blip r:embed="rId1"/>
          <a:stretch/>
        </p:blipFill>
        <p:spPr>
          <a:xfrm>
            <a:off x="2682000" y="1463040"/>
            <a:ext cx="6827040" cy="5120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5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6" name="Shape 39"/>
          <p:cNvSpPr/>
          <p:nvPr/>
        </p:nvSpPr>
        <p:spPr>
          <a:xfrm>
            <a:off x="2617920" y="1398960"/>
            <a:ext cx="695520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37" name="Image 0" descr="/tmp/work/cs-42.png"/>
          <p:cNvPicPr/>
          <p:nvPr/>
        </p:nvPicPr>
        <p:blipFill>
          <a:blip r:embed="rId1"/>
          <a:stretch/>
        </p:blipFill>
        <p:spPr>
          <a:xfrm>
            <a:off x="2682000" y="1463040"/>
            <a:ext cx="6827040" cy="5120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6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7" name="Shape 39"/>
          <p:cNvSpPr/>
          <p:nvPr/>
        </p:nvSpPr>
        <p:spPr>
          <a:xfrm>
            <a:off x="2617920" y="1398960"/>
            <a:ext cx="695520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78" name="Image 0" descr="/tmp/work/cs-43.png"/>
          <p:cNvPicPr/>
          <p:nvPr/>
        </p:nvPicPr>
        <p:blipFill>
          <a:blip r:embed="rId1"/>
          <a:stretch/>
        </p:blipFill>
        <p:spPr>
          <a:xfrm>
            <a:off x="2682000" y="1463040"/>
            <a:ext cx="6827040" cy="5120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7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8" name="Shape 39"/>
          <p:cNvSpPr/>
          <p:nvPr/>
        </p:nvSpPr>
        <p:spPr>
          <a:xfrm>
            <a:off x="2617920" y="1398960"/>
            <a:ext cx="695520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19" name="Image 0" descr="/tmp/work/cs-44.png"/>
          <p:cNvPicPr/>
          <p:nvPr/>
        </p:nvPicPr>
        <p:blipFill>
          <a:blip r:embed="rId1"/>
          <a:stretch/>
        </p:blipFill>
        <p:spPr>
          <a:xfrm>
            <a:off x="2682000" y="1463040"/>
            <a:ext cx="6827040" cy="5120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8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9" name="Shape 39"/>
          <p:cNvSpPr/>
          <p:nvPr/>
        </p:nvSpPr>
        <p:spPr>
          <a:xfrm>
            <a:off x="2617920" y="1398960"/>
            <a:ext cx="695520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60" name="Image 0" descr="/tmp/work/cs-45.png"/>
          <p:cNvPicPr/>
          <p:nvPr/>
        </p:nvPicPr>
        <p:blipFill>
          <a:blip r:embed="rId1"/>
          <a:stretch/>
        </p:blipFill>
        <p:spPr>
          <a:xfrm>
            <a:off x="2682000" y="1463040"/>
            <a:ext cx="6827040" cy="5120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9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0" name="Shape 39"/>
          <p:cNvSpPr/>
          <p:nvPr/>
        </p:nvSpPr>
        <p:spPr>
          <a:xfrm>
            <a:off x="2617920" y="1398960"/>
            <a:ext cx="695520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01" name="Image 0" descr="/tmp/work/cs-46.png"/>
          <p:cNvPicPr/>
          <p:nvPr/>
        </p:nvPicPr>
        <p:blipFill>
          <a:blip r:embed="rId1"/>
          <a:stretch/>
        </p:blipFill>
        <p:spPr>
          <a:xfrm>
            <a:off x="2682000" y="1463040"/>
            <a:ext cx="6827040" cy="5120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10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" name="Shape 39"/>
          <p:cNvSpPr/>
          <p:nvPr/>
        </p:nvSpPr>
        <p:spPr>
          <a:xfrm>
            <a:off x="2617920" y="1398960"/>
            <a:ext cx="695520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42" name="Image 0" descr="/tmp/work/cs-47.png"/>
          <p:cNvPicPr/>
          <p:nvPr/>
        </p:nvPicPr>
        <p:blipFill>
          <a:blip r:embed="rId1"/>
          <a:stretch/>
        </p:blipFill>
        <p:spPr>
          <a:xfrm>
            <a:off x="2682000" y="1463040"/>
            <a:ext cx="6827040" cy="5120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2" name="Shape 39"/>
          <p:cNvSpPr/>
          <p:nvPr/>
        </p:nvSpPr>
        <p:spPr>
          <a:xfrm>
            <a:off x="2617920" y="1398960"/>
            <a:ext cx="695520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83" name="Image 0" descr="/tmp/work/cs-48.png"/>
          <p:cNvPicPr/>
          <p:nvPr/>
        </p:nvPicPr>
        <p:blipFill>
          <a:blip r:embed="rId1"/>
          <a:stretch/>
        </p:blipFill>
        <p:spPr>
          <a:xfrm>
            <a:off x="2682000" y="1463040"/>
            <a:ext cx="6827040" cy="5120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12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3" name="Shape 39"/>
          <p:cNvSpPr/>
          <p:nvPr/>
        </p:nvSpPr>
        <p:spPr>
          <a:xfrm>
            <a:off x="2617920" y="1398960"/>
            <a:ext cx="695520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24" name="Image 0" descr="/tmp/work/cs-49.png"/>
          <p:cNvPicPr/>
          <p:nvPr/>
        </p:nvPicPr>
        <p:blipFill>
          <a:blip r:embed="rId1"/>
          <a:stretch/>
        </p:blipFill>
        <p:spPr>
          <a:xfrm>
            <a:off x="2682000" y="1463040"/>
            <a:ext cx="6827040" cy="5120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4" name="Shape 39"/>
          <p:cNvSpPr/>
          <p:nvPr/>
        </p:nvSpPr>
        <p:spPr>
          <a:xfrm>
            <a:off x="2617920" y="1398960"/>
            <a:ext cx="695520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65" name="Image 0" descr="/tmp/work/cs-50.png"/>
          <p:cNvPicPr/>
          <p:nvPr/>
        </p:nvPicPr>
        <p:blipFill>
          <a:blip r:embed="rId1"/>
          <a:stretch/>
        </p:blipFill>
        <p:spPr>
          <a:xfrm>
            <a:off x="2682000" y="1463040"/>
            <a:ext cx="6827040" cy="5120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14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5" name="Shape 39"/>
          <p:cNvSpPr/>
          <p:nvPr/>
        </p:nvSpPr>
        <p:spPr>
          <a:xfrm>
            <a:off x="2617920" y="1398960"/>
            <a:ext cx="695520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06" name="Image 0" descr="/tmp/work/cs-51.png"/>
          <p:cNvPicPr/>
          <p:nvPr/>
        </p:nvPicPr>
        <p:blipFill>
          <a:blip r:embed="rId1"/>
          <a:stretch/>
        </p:blipFill>
        <p:spPr>
          <a:xfrm>
            <a:off x="2682000" y="1463040"/>
            <a:ext cx="6827040" cy="5120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15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6" name="Shape 39"/>
          <p:cNvSpPr/>
          <p:nvPr/>
        </p:nvSpPr>
        <p:spPr>
          <a:xfrm>
            <a:off x="2617920" y="1398960"/>
            <a:ext cx="695520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47" name="Image 0" descr="/tmp/work/cs-52.png"/>
          <p:cNvPicPr/>
          <p:nvPr/>
        </p:nvPicPr>
        <p:blipFill>
          <a:blip r:embed="rId1"/>
          <a:stretch/>
        </p:blipFill>
        <p:spPr>
          <a:xfrm>
            <a:off x="2682000" y="1463040"/>
            <a:ext cx="6827040" cy="5120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16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7" name="Shape 39"/>
          <p:cNvSpPr/>
          <p:nvPr/>
        </p:nvSpPr>
        <p:spPr>
          <a:xfrm>
            <a:off x="2617920" y="1398960"/>
            <a:ext cx="695520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88" name="Image 0" descr="/tmp/work/cs-53.png"/>
          <p:cNvPicPr/>
          <p:nvPr/>
        </p:nvPicPr>
        <p:blipFill>
          <a:blip r:embed="rId1"/>
          <a:stretch/>
        </p:blipFill>
        <p:spPr>
          <a:xfrm>
            <a:off x="2682000" y="1463040"/>
            <a:ext cx="6827040" cy="5120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4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5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6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7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8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9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Angle in a semicircle = 90°;  angle between a radius and a tangent = 90°.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0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1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Angles in the same segment are equal.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2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3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The angle at the centre is TWICE the angle at the circumference.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4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5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Opposite angles of a cyclic quadrilateral add up to 180°.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6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7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Tangent–chord angle = angle in the alternate segment;  two radii → isosceles triangle.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8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9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never write an angle without its reason — the reason carries the mark.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</TotalTime>
  <Application>LibreOffice/24.2.7.2$Linux_X86_64 LibreOffice_project/420$Build-2</Application>
  <AppVersion>15.0000</AppVersion>
  <Words>1776</Words>
  <Paragraphs>390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2026-07-13T09:34:46Z</dcterms:created>
  <dc:creator>Zahra Sheikh Ali</dc:creator>
  <dc:description/>
  <dc:language>en-US</dc:language>
  <cp:lastModifiedBy>zahraa sheik ali</cp:lastModifiedBy>
  <dcterms:modified xsi:type="dcterms:W3CDTF">2026-07-25T08:24:30Z</dcterms:modified>
  <cp:revision>4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42</vt:r8>
  </property>
  <property fmtid="{D5CDD505-2E9C-101B-9397-08002B2CF9AE}" pid="3" name="PresentationFormat">
    <vt:lpwstr>Custom</vt:lpwstr>
  </property>
  <property fmtid="{D5CDD505-2E9C-101B-9397-08002B2CF9AE}" pid="4" name="Slides">
    <vt:r8>42</vt:r8>
  </property>
</Properties>
</file>