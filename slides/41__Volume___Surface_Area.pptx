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6279711-B343-408A-B4B2-10E0914CB94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E7DE891-6AD3-43AD-97D3-E941086B8179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2E757F6-CCB3-4AEE-A2CE-E74BCACBC207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632D4F7-28B2-4A44-B68C-E363C9AB6C0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5C991B-97B9-4765-B94E-BBD44807F02B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C441A4D-2C16-4636-AE8C-790ED2A2A4BC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177DF75-168B-45FA-99D8-FD69E166131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D8BDC2F-1F01-465D-9B20-D2322FFC02BE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4DA2B33-38D9-4EFB-BA15-970D28EB3F7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8C1E84-AA10-48E4-831F-A6ED86677A4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B0BCD8B-3C2B-41ED-B6C3-2F64974DABB3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50B13E5-7A91-4B04-9574-7978BB820816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195DB92-9735-469D-83CB-C58F68C01DB1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9FAC6D7-6CCD-4446-97FC-DAFC6A4DB54D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B4952A3-CBD1-4D06-B3BC-8100010D5112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5E3E164-EBDA-497E-9DDA-BB6C5331B60A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B289D55-B87F-401B-A87F-35B083C82468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259DCE-A265-42CD-941B-818135F4A49F}" type="slidenum">
              <a:rPr b="0" lang="en-US" sz="18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8778240" y="914400"/>
            <a:ext cx="2011320" cy="1371240"/>
          </a:xfrm>
          <a:prstGeom prst="rect">
            <a:avLst/>
          </a:prstGeom>
          <a:noFill/>
          <a:ln w="508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10789920" y="914400"/>
            <a:ext cx="502920" cy="360"/>
          </a:xfrm>
          <a:prstGeom prst="line">
            <a:avLst/>
          </a:prstGeom>
          <a:ln w="508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37"/>
          <p:cNvSpPr/>
          <p:nvPr/>
        </p:nvSpPr>
        <p:spPr>
          <a:xfrm>
            <a:off x="8778240" y="914400"/>
            <a:ext cx="502920" cy="360"/>
          </a:xfrm>
          <a:prstGeom prst="line">
            <a:avLst/>
          </a:prstGeom>
          <a:ln w="508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38"/>
          <p:cNvSpPr/>
          <p:nvPr/>
        </p:nvSpPr>
        <p:spPr>
          <a:xfrm>
            <a:off x="10789920" y="2286000"/>
            <a:ext cx="502920" cy="360"/>
          </a:xfrm>
          <a:prstGeom prst="line">
            <a:avLst/>
          </a:prstGeom>
          <a:ln w="50800">
            <a:solidFill>
              <a:srgbClr val="3346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42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Volume &amp; Surface Area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Cuboids · Prisms · Cross-sections · Surface Area from Nets · Compound Solids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5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46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7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48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Solids: Space Inside, Surface Outside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VOLUME is the space inside a solid (cubic units, cm³).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SURFACE AREA is the total area of all its faces (square units, cm²). Two different measures — keep them apart.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Volume of a cuboid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Volume of any prism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Surface area from a net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Surface area of a prism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Compound solids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volume · surface area · cuboid · prism · cross-section · net · face · cm³ vs cm²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Any Prism: Area of Cross-section × Length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39"/>
          <p:cNvSpPr/>
          <p:nvPr/>
        </p:nvSpPr>
        <p:spPr>
          <a:xfrm>
            <a:off x="567000" y="1325880"/>
            <a:ext cx="8139960" cy="65808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40"/>
          <p:cNvSpPr/>
          <p:nvPr/>
        </p:nvSpPr>
        <p:spPr>
          <a:xfrm>
            <a:off x="887040" y="1325880"/>
            <a:ext cx="104238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A prism has the SAME cross-section all the way through.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Find that area, then multiply by the length.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41"/>
          <p:cNvSpPr/>
          <p:nvPr/>
        </p:nvSpPr>
        <p:spPr>
          <a:xfrm>
            <a:off x="1231920" y="2184120"/>
            <a:ext cx="8137800" cy="1188360"/>
          </a:xfrm>
          <a:prstGeom prst="roundRect">
            <a:avLst>
              <a:gd name="adj" fmla="val 4615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42"/>
          <p:cNvSpPr/>
          <p:nvPr/>
        </p:nvSpPr>
        <p:spPr>
          <a:xfrm>
            <a:off x="932760" y="2267640"/>
            <a:ext cx="8137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e0ac2b"/>
                </a:solidFill>
                <a:latin typeface="Cambria"/>
                <a:ea typeface="Cambria"/>
              </a:rPr>
              <a:t>Volume of a prism  =  area of cross-section  ×  length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43"/>
          <p:cNvSpPr/>
          <p:nvPr/>
        </p:nvSpPr>
        <p:spPr>
          <a:xfrm>
            <a:off x="567000" y="3749040"/>
            <a:ext cx="5440320" cy="1919880"/>
          </a:xfrm>
          <a:prstGeom prst="roundRect">
            <a:avLst>
              <a:gd name="adj" fmla="val 285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44"/>
          <p:cNvSpPr/>
          <p:nvPr/>
        </p:nvSpPr>
        <p:spPr>
          <a:xfrm>
            <a:off x="932760" y="39866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Cuboid (a rectangular prism)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5"/>
          <p:cNvSpPr/>
          <p:nvPr/>
        </p:nvSpPr>
        <p:spPr>
          <a:xfrm>
            <a:off x="914400" y="443484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V = length × width × height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e.g. 13 × 8 × 5 = 520 cm³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46"/>
          <p:cNvSpPr/>
          <p:nvPr/>
        </p:nvSpPr>
        <p:spPr>
          <a:xfrm>
            <a:off x="6190560" y="3749040"/>
            <a:ext cx="5998680" cy="1919880"/>
          </a:xfrm>
          <a:prstGeom prst="roundRect">
            <a:avLst>
              <a:gd name="adj" fmla="val 285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7"/>
          <p:cNvSpPr/>
          <p:nvPr/>
        </p:nvSpPr>
        <p:spPr>
          <a:xfrm>
            <a:off x="6556320" y="39866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Triangular / other prism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48"/>
          <p:cNvSpPr/>
          <p:nvPr/>
        </p:nvSpPr>
        <p:spPr>
          <a:xfrm>
            <a:off x="6537960" y="4434840"/>
            <a:ext cx="47545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V = (area of the triangle) × length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Work out the cross-section area first.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9"/>
          <p:cNvSpPr/>
          <p:nvPr/>
        </p:nvSpPr>
        <p:spPr>
          <a:xfrm>
            <a:off x="567000" y="58521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Volume is always in CUBIC units (cm³, m³) — three lengths multiplied.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3" name="Group 270"/>
          <p:cNvGrpSpPr/>
          <p:nvPr/>
        </p:nvGrpSpPr>
        <p:grpSpPr>
          <a:xfrm>
            <a:off x="9068040" y="3537000"/>
            <a:ext cx="3123720" cy="2088360"/>
            <a:chOff x="9068040" y="3537000"/>
            <a:chExt cx="3123720" cy="2088360"/>
          </a:xfrm>
        </p:grpSpPr>
        <p:grpSp>
          <p:nvGrpSpPr>
            <p:cNvPr id="174" name="Group 262"/>
            <p:cNvGrpSpPr/>
            <p:nvPr/>
          </p:nvGrpSpPr>
          <p:grpSpPr>
            <a:xfrm>
              <a:off x="9068040" y="3835800"/>
              <a:ext cx="3123720" cy="1789560"/>
              <a:chOff x="9068040" y="3835800"/>
              <a:chExt cx="3123720" cy="1789560"/>
            </a:xfrm>
          </p:grpSpPr>
          <p:sp>
            <p:nvSpPr>
              <p:cNvPr id="175" name="AutoShape 258"/>
              <p:cNvSpPr/>
              <p:nvPr/>
            </p:nvSpPr>
            <p:spPr>
              <a:xfrm flipH="1" rot="20793600">
                <a:off x="9871560" y="4072680"/>
                <a:ext cx="2194560" cy="1315440"/>
              </a:xfrm>
              <a:prstGeom prst="parallelogram">
                <a:avLst>
                  <a:gd name="adj" fmla="val 30142"/>
                </a:avLst>
              </a:prstGeom>
              <a:noFill/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76" name="AutoShape 259"/>
              <p:cNvSpPr/>
              <p:nvPr/>
            </p:nvSpPr>
            <p:spPr>
              <a:xfrm>
                <a:off x="9071640" y="4347000"/>
                <a:ext cx="1372320" cy="1186560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 w="28575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77" name="Freeform 260"/>
              <p:cNvSpPr/>
              <p:nvPr/>
            </p:nvSpPr>
            <p:spPr>
              <a:xfrm rot="10800000">
                <a:off x="9068040" y="5115240"/>
                <a:ext cx="3123720" cy="414720"/>
              </a:xfrm>
              <a:custGeom>
                <a:avLst/>
                <a:gdLst>
                  <a:gd name="textAreaLeft" fmla="*/ 0 w 3123720"/>
                  <a:gd name="textAreaRight" fmla="*/ 3124080 w 3123720"/>
                  <a:gd name="textAreaTop" fmla="*/ 0 h 414720"/>
                  <a:gd name="textAreaBottom" fmla="*/ 415080 h 414720"/>
                </a:gdLst>
                <a:ahLst/>
                <a:rect l="textAreaLeft" t="textAreaTop" r="textAreaRight" b="textAreaBottom"/>
                <a:pathLst>
                  <a:path w="1550" h="206">
                    <a:moveTo>
                      <a:pt x="0" y="206"/>
                    </a:moveTo>
                    <a:lnTo>
                      <a:pt x="688" y="206"/>
                    </a:lnTo>
                    <a:lnTo>
                      <a:pt x="1550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178" name="Freeform 261"/>
              <p:cNvSpPr/>
              <p:nvPr/>
            </p:nvSpPr>
            <p:spPr>
              <a:xfrm>
                <a:off x="10831320" y="3917880"/>
                <a:ext cx="678960" cy="1182600"/>
              </a:xfrm>
              <a:custGeom>
                <a:avLst/>
                <a:gdLst>
                  <a:gd name="textAreaLeft" fmla="*/ 0 w 678960"/>
                  <a:gd name="textAreaRight" fmla="*/ 679320 w 678960"/>
                  <a:gd name="textAreaTop" fmla="*/ 0 h 1182600"/>
                  <a:gd name="textAreaBottom" fmla="*/ 1182960 h 1182600"/>
                </a:gdLst>
                <a:ahLst/>
                <a:rect l="textAreaLeft" t="textAreaTop" r="textAreaRight" b="textAreaBottom"/>
                <a:pathLst>
                  <a:path w="337" h="587">
                    <a:moveTo>
                      <a:pt x="0" y="587"/>
                    </a:moveTo>
                    <a:lnTo>
                      <a:pt x="337" y="0"/>
                    </a:lnTo>
                  </a:path>
                </a:pathLst>
              </a:custGeom>
              <a:noFill/>
              <a:ln w="28575">
                <a:solidFill>
                  <a:srgbClr val="000000"/>
                </a:solidFill>
                <a:prstDash val="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pPr defTabSz="914400">
                  <a:lnSpc>
                    <a:spcPct val="100000"/>
                  </a:lnSpc>
                </a:pPr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</p:grpSp>
        <p:sp>
          <p:nvSpPr>
            <p:cNvPr id="179" name="Text Box 267"/>
            <p:cNvSpPr/>
            <p:nvPr/>
          </p:nvSpPr>
          <p:spPr>
            <a:xfrm>
              <a:off x="9458640" y="4927680"/>
              <a:ext cx="6566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CSA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0" name="Line 268"/>
            <p:cNvSpPr/>
            <p:nvPr/>
          </p:nvSpPr>
          <p:spPr>
            <a:xfrm flipV="1">
              <a:off x="9753120" y="3765240"/>
              <a:ext cx="1755720" cy="39996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headEnd len="med" type="arrow" w="med"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1" name="Text Box 269"/>
            <p:cNvSpPr/>
            <p:nvPr/>
          </p:nvSpPr>
          <p:spPr>
            <a:xfrm>
              <a:off x="10365120" y="3537000"/>
              <a:ext cx="309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L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2" name="Group 281"/>
          <p:cNvGrpSpPr/>
          <p:nvPr/>
        </p:nvGrpSpPr>
        <p:grpSpPr>
          <a:xfrm>
            <a:off x="9395280" y="567000"/>
            <a:ext cx="2133360" cy="2300040"/>
            <a:chOff x="9395280" y="567000"/>
            <a:chExt cx="2133360" cy="2300040"/>
          </a:xfrm>
        </p:grpSpPr>
        <p:sp>
          <p:nvSpPr>
            <p:cNvPr id="183" name="Freeform 271"/>
            <p:cNvSpPr/>
            <p:nvPr/>
          </p:nvSpPr>
          <p:spPr>
            <a:xfrm>
              <a:off x="9926640" y="2148120"/>
              <a:ext cx="1599840" cy="704520"/>
            </a:xfrm>
            <a:custGeom>
              <a:avLst/>
              <a:gdLst>
                <a:gd name="textAreaLeft" fmla="*/ 0 w 1599840"/>
                <a:gd name="textAreaRight" fmla="*/ 1600200 w 1599840"/>
                <a:gd name="textAreaTop" fmla="*/ 0 h 704520"/>
                <a:gd name="textAreaBottom" fmla="*/ 704880 h 704520"/>
              </a:gdLst>
              <a:ahLst/>
              <a:rect l="textAreaLeft" t="textAreaTop" r="textAreaRight" b="textAreaBottom"/>
              <a:pathLst>
                <a:path w="1008" h="444">
                  <a:moveTo>
                    <a:pt x="0" y="444"/>
                  </a:moveTo>
                  <a:lnTo>
                    <a:pt x="720" y="444"/>
                  </a:lnTo>
                  <a:lnTo>
                    <a:pt x="1008" y="252"/>
                  </a:lnTo>
                  <a:lnTo>
                    <a:pt x="673" y="0"/>
                  </a:lnTo>
                  <a:lnTo>
                    <a:pt x="0" y="444"/>
                  </a:lnTo>
                  <a:close/>
                </a:path>
              </a:pathLst>
            </a:custGeom>
            <a:solidFill>
              <a:schemeClr val="accent2"/>
            </a:solidFill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4" name="Freeform 273"/>
            <p:cNvSpPr/>
            <p:nvPr/>
          </p:nvSpPr>
          <p:spPr>
            <a:xfrm>
              <a:off x="9926640" y="567000"/>
              <a:ext cx="1599840" cy="704520"/>
            </a:xfrm>
            <a:custGeom>
              <a:avLst/>
              <a:gdLst>
                <a:gd name="textAreaLeft" fmla="*/ 0 w 1599840"/>
                <a:gd name="textAreaRight" fmla="*/ 1600200 w 1599840"/>
                <a:gd name="textAreaTop" fmla="*/ 0 h 704520"/>
                <a:gd name="textAreaBottom" fmla="*/ 704880 h 704520"/>
              </a:gdLst>
              <a:ahLst/>
              <a:rect l="textAreaLeft" t="textAreaTop" r="textAreaRight" b="textAreaBottom"/>
              <a:pathLst>
                <a:path w="1008" h="444">
                  <a:moveTo>
                    <a:pt x="0" y="444"/>
                  </a:moveTo>
                  <a:lnTo>
                    <a:pt x="720" y="444"/>
                  </a:lnTo>
                  <a:lnTo>
                    <a:pt x="1008" y="252"/>
                  </a:lnTo>
                  <a:lnTo>
                    <a:pt x="673" y="0"/>
                  </a:lnTo>
                  <a:lnTo>
                    <a:pt x="0" y="44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5" name="Line 274"/>
            <p:cNvSpPr/>
            <p:nvPr/>
          </p:nvSpPr>
          <p:spPr>
            <a:xfrm>
              <a:off x="9926280" y="1252440"/>
              <a:ext cx="360" cy="16002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6" name="Line 275"/>
            <p:cNvSpPr/>
            <p:nvPr/>
          </p:nvSpPr>
          <p:spPr>
            <a:xfrm>
              <a:off x="11067840" y="1266840"/>
              <a:ext cx="360" cy="16002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7" name="Line 276"/>
            <p:cNvSpPr/>
            <p:nvPr/>
          </p:nvSpPr>
          <p:spPr>
            <a:xfrm>
              <a:off x="11528280" y="961920"/>
              <a:ext cx="360" cy="16002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8" name="Line 277"/>
            <p:cNvSpPr/>
            <p:nvPr/>
          </p:nvSpPr>
          <p:spPr>
            <a:xfrm>
              <a:off x="10990080" y="582480"/>
              <a:ext cx="360" cy="1600200"/>
            </a:xfrm>
            <a:prstGeom prst="line">
              <a:avLst/>
            </a:prstGeom>
            <a:ln w="28575">
              <a:solidFill>
                <a:srgbClr val="00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89" name="Text Box 278"/>
            <p:cNvSpPr/>
            <p:nvPr/>
          </p:nvSpPr>
          <p:spPr>
            <a:xfrm>
              <a:off x="10405080" y="2405160"/>
              <a:ext cx="6566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CSA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0" name="Line 279"/>
            <p:cNvSpPr/>
            <p:nvPr/>
          </p:nvSpPr>
          <p:spPr>
            <a:xfrm>
              <a:off x="9774000" y="1252440"/>
              <a:ext cx="360" cy="1600200"/>
            </a:xfrm>
            <a:prstGeom prst="line">
              <a:avLst/>
            </a:prstGeom>
            <a:ln w="19050">
              <a:solidFill>
                <a:srgbClr val="000000"/>
              </a:solidFill>
              <a:round/>
              <a:headEnd len="med" type="arrow" w="med"/>
              <a:tailEnd len="med" type="arrow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191" name="Text Box 280"/>
            <p:cNvSpPr/>
            <p:nvPr/>
          </p:nvSpPr>
          <p:spPr>
            <a:xfrm>
              <a:off x="9395280" y="1785960"/>
              <a:ext cx="30924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2400" spc="-1" strike="noStrike">
                  <a:solidFill>
                    <a:schemeClr val="dk1"/>
                  </a:solidFill>
                  <a:latin typeface="Calibri"/>
                </a:rPr>
                <a:t>L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VOLUME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Volume of a Cuboid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39"/>
          <p:cNvSpPr/>
          <p:nvPr/>
        </p:nvSpPr>
        <p:spPr>
          <a:xfrm>
            <a:off x="1688400" y="1353240"/>
            <a:ext cx="8814600" cy="251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2" name="Image 0" descr="/tmp/work/vteach/t-11.png"/>
          <p:cNvPicPr/>
          <p:nvPr/>
        </p:nvPicPr>
        <p:blipFill>
          <a:blip r:embed="rId1"/>
          <a:stretch/>
        </p:blipFill>
        <p:spPr>
          <a:xfrm>
            <a:off x="1752480" y="1417320"/>
            <a:ext cx="8686440" cy="2385720"/>
          </a:xfrm>
          <a:prstGeom prst="rect">
            <a:avLst/>
          </a:prstGeom>
          <a:ln w="0">
            <a:noFill/>
          </a:ln>
        </p:spPr>
      </p:pic>
      <p:sp>
        <p:nvSpPr>
          <p:cNvPr id="233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V = length × width × height.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Multiply the three dimensions together.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VOLUME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Volume of a </a:t>
            </a:r>
            <a:r>
              <a:rPr b="1" lang="en-US" sz="2800" spc="-1" strike="noStrike">
                <a:solidFill>
                  <a:srgbClr val="1c2a22"/>
                </a:solidFill>
                <a:latin typeface="Cambria"/>
                <a:ea typeface="Cambria"/>
              </a:rPr>
              <a:t>Triangular Prism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9"/>
          <p:cNvSpPr/>
          <p:nvPr/>
        </p:nvSpPr>
        <p:spPr>
          <a:xfrm>
            <a:off x="1688400" y="1353240"/>
            <a:ext cx="8814600" cy="4146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b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V = (area of the triangle) × length</a:t>
            </a:r>
            <a:r>
              <a:rPr b="0" lang="en-US" sz="1500" spc="-1" strike="noStrike">
                <a:solidFill>
                  <a:schemeClr val="dk1"/>
                </a:solidFill>
                <a:latin typeface="Calibri"/>
                <a:ea typeface="Cambria"/>
              </a:rPr>
              <a:t>, </a:t>
            </a:r>
            <a:r>
              <a:rPr b="0" i="1" lang="en-US" sz="1300" spc="-1" strike="noStrike">
                <a:solidFill>
                  <a:schemeClr val="lt1"/>
                </a:solidFill>
                <a:latin typeface="Cambria"/>
                <a:ea typeface="Cambria"/>
              </a:rPr>
              <a:t>Work out the cross-section area first</a:t>
            </a:r>
            <a:r>
              <a:rPr b="0" i="1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Freeform 44"/>
          <p:cNvSpPr/>
          <p:nvPr/>
        </p:nvSpPr>
        <p:spPr>
          <a:xfrm>
            <a:off x="5784480" y="1485360"/>
            <a:ext cx="3457080" cy="2596680"/>
          </a:xfrm>
          <a:custGeom>
            <a:avLst/>
            <a:gdLst>
              <a:gd name="textAreaLeft" fmla="*/ 0 w 3457080"/>
              <a:gd name="textAreaRight" fmla="*/ 3457440 w 3457080"/>
              <a:gd name="textAreaTop" fmla="*/ 0 h 2596680"/>
              <a:gd name="textAreaBottom" fmla="*/ 2597040 h 2596680"/>
            </a:gdLst>
            <a:ahLst/>
            <a:rect l="textAreaLeft" t="textAreaTop" r="textAreaRight" b="textAreaBottom"/>
            <a:pathLst>
              <a:path w="2178" h="1636">
                <a:moveTo>
                  <a:pt x="0" y="727"/>
                </a:moveTo>
                <a:lnTo>
                  <a:pt x="1157" y="0"/>
                </a:lnTo>
                <a:lnTo>
                  <a:pt x="2178" y="909"/>
                </a:lnTo>
                <a:lnTo>
                  <a:pt x="1025" y="1636"/>
                </a:lnTo>
                <a:lnTo>
                  <a:pt x="0" y="727"/>
                </a:lnTo>
                <a:close/>
              </a:path>
            </a:pathLst>
          </a:custGeom>
          <a:solidFill>
            <a:srgbClr val="ffe05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8" name="Freeform 45"/>
          <p:cNvSpPr/>
          <p:nvPr/>
        </p:nvSpPr>
        <p:spPr>
          <a:xfrm>
            <a:off x="5024160" y="2639520"/>
            <a:ext cx="2368080" cy="1442520"/>
          </a:xfrm>
          <a:custGeom>
            <a:avLst/>
            <a:gdLst>
              <a:gd name="textAreaLeft" fmla="*/ 0 w 2368080"/>
              <a:gd name="textAreaRight" fmla="*/ 2368440 w 2368080"/>
              <a:gd name="textAreaTop" fmla="*/ 0 h 1442520"/>
              <a:gd name="textAreaBottom" fmla="*/ 1442880 h 1442520"/>
            </a:gdLst>
            <a:ahLst/>
            <a:rect l="textAreaLeft" t="textAreaTop" r="textAreaRight" b="textAreaBottom"/>
            <a:pathLst>
              <a:path w="1492" h="909">
                <a:moveTo>
                  <a:pt x="479" y="0"/>
                </a:moveTo>
                <a:lnTo>
                  <a:pt x="0" y="909"/>
                </a:lnTo>
                <a:lnTo>
                  <a:pt x="1492" y="903"/>
                </a:lnTo>
                <a:lnTo>
                  <a:pt x="479" y="0"/>
                </a:lnTo>
                <a:close/>
              </a:path>
            </a:pathLst>
          </a:custGeom>
          <a:solidFill>
            <a:srgbClr val="ffc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9" name="Line 8"/>
          <p:cNvSpPr/>
          <p:nvPr/>
        </p:nvSpPr>
        <p:spPr>
          <a:xfrm flipV="1">
            <a:off x="5028480" y="2639520"/>
            <a:ext cx="360" cy="143964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280" name="Group 9"/>
          <p:cNvGrpSpPr/>
          <p:nvPr/>
        </p:nvGrpSpPr>
        <p:grpSpPr>
          <a:xfrm>
            <a:off x="5028480" y="2639520"/>
            <a:ext cx="2376720" cy="1440000"/>
            <a:chOff x="5028480" y="2639520"/>
            <a:chExt cx="2376720" cy="1440000"/>
          </a:xfrm>
        </p:grpSpPr>
        <p:sp>
          <p:nvSpPr>
            <p:cNvPr id="281" name="Line 10"/>
            <p:cNvSpPr/>
            <p:nvPr/>
          </p:nvSpPr>
          <p:spPr>
            <a:xfrm>
              <a:off x="5028480" y="4079160"/>
              <a:ext cx="237672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2" name="Line 11"/>
            <p:cNvSpPr/>
            <p:nvPr/>
          </p:nvSpPr>
          <p:spPr>
            <a:xfrm flipV="1">
              <a:off x="5028480" y="2639520"/>
              <a:ext cx="757440" cy="143964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283" name="Line 12"/>
            <p:cNvSpPr/>
            <p:nvPr/>
          </p:nvSpPr>
          <p:spPr>
            <a:xfrm>
              <a:off x="5785920" y="2639520"/>
              <a:ext cx="1619280" cy="143964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284" name="Line 13"/>
          <p:cNvSpPr/>
          <p:nvPr/>
        </p:nvSpPr>
        <p:spPr>
          <a:xfrm>
            <a:off x="5028480" y="2639520"/>
            <a:ext cx="757440" cy="360"/>
          </a:xfrm>
          <a:prstGeom prst="line">
            <a:avLst/>
          </a:prstGeom>
          <a:ln w="28575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5" name="Line 14"/>
          <p:cNvSpPr/>
          <p:nvPr/>
        </p:nvSpPr>
        <p:spPr>
          <a:xfrm>
            <a:off x="6865560" y="2928240"/>
            <a:ext cx="2376360" cy="360"/>
          </a:xfrm>
          <a:prstGeom prst="line">
            <a:avLst/>
          </a:prstGeom>
          <a:ln w="1905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6" name="Line 15"/>
          <p:cNvSpPr/>
          <p:nvPr/>
        </p:nvSpPr>
        <p:spPr>
          <a:xfrm flipV="1">
            <a:off x="6865560" y="1488600"/>
            <a:ext cx="757080" cy="1439640"/>
          </a:xfrm>
          <a:prstGeom prst="line">
            <a:avLst/>
          </a:prstGeom>
          <a:ln w="1905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7" name="Line 16"/>
          <p:cNvSpPr/>
          <p:nvPr/>
        </p:nvSpPr>
        <p:spPr>
          <a:xfrm>
            <a:off x="7622640" y="1488600"/>
            <a:ext cx="1619280" cy="143964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8" name="Line 17"/>
          <p:cNvSpPr/>
          <p:nvPr/>
        </p:nvSpPr>
        <p:spPr>
          <a:xfrm flipV="1">
            <a:off x="5785920" y="1488600"/>
            <a:ext cx="1836720" cy="11509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9" name="Line 18"/>
          <p:cNvSpPr/>
          <p:nvPr/>
        </p:nvSpPr>
        <p:spPr>
          <a:xfrm flipV="1">
            <a:off x="5028480" y="2928240"/>
            <a:ext cx="1837080" cy="1150920"/>
          </a:xfrm>
          <a:prstGeom prst="line">
            <a:avLst/>
          </a:prstGeom>
          <a:ln w="19050">
            <a:solidFill>
              <a:srgbClr val="000000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0" name="Line 19"/>
          <p:cNvSpPr/>
          <p:nvPr/>
        </p:nvSpPr>
        <p:spPr>
          <a:xfrm flipV="1">
            <a:off x="7405200" y="2928240"/>
            <a:ext cx="1836720" cy="11509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1" name="Line 20"/>
          <p:cNvSpPr/>
          <p:nvPr/>
        </p:nvSpPr>
        <p:spPr>
          <a:xfrm flipV="1">
            <a:off x="5784120" y="1343880"/>
            <a:ext cx="1837080" cy="115092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2" name="Line 21"/>
          <p:cNvSpPr/>
          <p:nvPr/>
        </p:nvSpPr>
        <p:spPr>
          <a:xfrm>
            <a:off x="5028480" y="4220640"/>
            <a:ext cx="2364120" cy="324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1760" bIns="-4176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3" name="Text Box 22"/>
          <p:cNvSpPr/>
          <p:nvPr/>
        </p:nvSpPr>
        <p:spPr>
          <a:xfrm>
            <a:off x="5861520" y="4223880"/>
            <a:ext cx="775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5 cm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Box 23"/>
          <p:cNvSpPr/>
          <p:nvPr/>
        </p:nvSpPr>
        <p:spPr>
          <a:xfrm>
            <a:off x="4183560" y="3071520"/>
            <a:ext cx="775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4 cm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Box 24"/>
          <p:cNvSpPr/>
          <p:nvPr/>
        </p:nvSpPr>
        <p:spPr>
          <a:xfrm>
            <a:off x="5789160" y="1485360"/>
            <a:ext cx="1006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7.2 cm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Box 25"/>
          <p:cNvSpPr/>
          <p:nvPr/>
        </p:nvSpPr>
        <p:spPr>
          <a:xfrm>
            <a:off x="3749760" y="4655880"/>
            <a:ext cx="436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Area of cross-section = ½ × 5 × 4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Box 26"/>
          <p:cNvSpPr/>
          <p:nvPr/>
        </p:nvSpPr>
        <p:spPr>
          <a:xfrm>
            <a:off x="8604720" y="4655880"/>
            <a:ext cx="10195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10 cm</a:t>
            </a:r>
            <a:r>
              <a:rPr b="0" lang="en-US" sz="2400" spc="-1" strike="noStrike" baseline="30000">
                <a:solidFill>
                  <a:schemeClr val="dk1"/>
                </a:solidFill>
                <a:latin typeface="Calibri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Box 27"/>
          <p:cNvSpPr/>
          <p:nvPr/>
        </p:nvSpPr>
        <p:spPr>
          <a:xfrm>
            <a:off x="3744360" y="5106600"/>
            <a:ext cx="3712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Volume of prism = 10 × 7.2 =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Box 28"/>
          <p:cNvSpPr/>
          <p:nvPr/>
        </p:nvSpPr>
        <p:spPr>
          <a:xfrm>
            <a:off x="7741440" y="5106600"/>
            <a:ext cx="1022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72 cm</a:t>
            </a:r>
            <a:r>
              <a:rPr b="1" lang="en-US" sz="2400" spc="-1" strike="noStrike" baseline="30000">
                <a:solidFill>
                  <a:schemeClr val="dk1"/>
                </a:solidFill>
                <a:latin typeface="Calibri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COMPOUND SOLIDS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Split Into Simple Solids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39"/>
          <p:cNvSpPr/>
          <p:nvPr/>
        </p:nvSpPr>
        <p:spPr>
          <a:xfrm>
            <a:off x="1734120" y="1353240"/>
            <a:ext cx="872280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Break the solid into cuboids (or prisms),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find each volume, then add — or subtract a piece that is cut out.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Freeform 9"/>
          <p:cNvSpPr/>
          <p:nvPr/>
        </p:nvSpPr>
        <p:spPr>
          <a:xfrm>
            <a:off x="2481840" y="2535120"/>
            <a:ext cx="2199960" cy="2636640"/>
          </a:xfrm>
          <a:custGeom>
            <a:avLst/>
            <a:gdLst>
              <a:gd name="textAreaLeft" fmla="*/ 0 w 2199960"/>
              <a:gd name="textAreaRight" fmla="*/ 2200320 w 2199960"/>
              <a:gd name="textAreaTop" fmla="*/ 0 h 2636640"/>
              <a:gd name="textAreaBottom" fmla="*/ 2637000 h 2636640"/>
            </a:gdLst>
            <a:ahLst/>
            <a:rect l="textAreaLeft" t="textAreaTop" r="textAreaRight" b="textAreaBottom"/>
            <a:pathLst>
              <a:path w="1134" h="1360">
                <a:moveTo>
                  <a:pt x="0" y="0"/>
                </a:moveTo>
                <a:lnTo>
                  <a:pt x="0" y="1360"/>
                </a:lnTo>
                <a:lnTo>
                  <a:pt x="1134" y="1360"/>
                </a:lnTo>
                <a:lnTo>
                  <a:pt x="1134" y="907"/>
                </a:lnTo>
                <a:lnTo>
                  <a:pt x="680" y="907"/>
                </a:lnTo>
                <a:lnTo>
                  <a:pt x="680" y="0"/>
                </a:lnTo>
                <a:lnTo>
                  <a:pt x="0" y="0"/>
                </a:lnTo>
                <a:close/>
              </a:path>
            </a:pathLst>
          </a:custGeom>
          <a:solidFill>
            <a:srgbClr val="c6ea9a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3" name="Freeform 11"/>
          <p:cNvSpPr/>
          <p:nvPr/>
        </p:nvSpPr>
        <p:spPr>
          <a:xfrm>
            <a:off x="3801240" y="3765600"/>
            <a:ext cx="1758600" cy="528120"/>
          </a:xfrm>
          <a:custGeom>
            <a:avLst/>
            <a:gdLst>
              <a:gd name="textAreaLeft" fmla="*/ 0 w 1758600"/>
              <a:gd name="textAreaRight" fmla="*/ 1758960 w 1758600"/>
              <a:gd name="textAreaTop" fmla="*/ 0 h 528120"/>
              <a:gd name="textAreaBottom" fmla="*/ 528480 h 528120"/>
            </a:gdLst>
            <a:ahLst/>
            <a:rect l="textAreaLeft" t="textAreaTop" r="textAreaRight" b="textAreaBottom"/>
            <a:pathLst>
              <a:path w="907" h="272">
                <a:moveTo>
                  <a:pt x="454" y="0"/>
                </a:moveTo>
                <a:lnTo>
                  <a:pt x="0" y="272"/>
                </a:lnTo>
                <a:lnTo>
                  <a:pt x="454" y="272"/>
                </a:lnTo>
                <a:lnTo>
                  <a:pt x="907" y="0"/>
                </a:lnTo>
                <a:lnTo>
                  <a:pt x="454" y="0"/>
                </a:lnTo>
                <a:close/>
              </a:path>
            </a:pathLst>
          </a:custGeom>
          <a:solidFill>
            <a:srgbClr val="a7df63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4" name="Freeform 12"/>
          <p:cNvSpPr/>
          <p:nvPr/>
        </p:nvSpPr>
        <p:spPr>
          <a:xfrm>
            <a:off x="4682160" y="3765600"/>
            <a:ext cx="877680" cy="1406160"/>
          </a:xfrm>
          <a:custGeom>
            <a:avLst/>
            <a:gdLst>
              <a:gd name="textAreaLeft" fmla="*/ 0 w 877680"/>
              <a:gd name="textAreaRight" fmla="*/ 878040 w 877680"/>
              <a:gd name="textAreaTop" fmla="*/ 0 h 1406160"/>
              <a:gd name="textAreaBottom" fmla="*/ 1406520 h 1406160"/>
            </a:gdLst>
            <a:ahLst/>
            <a:rect l="textAreaLeft" t="textAreaTop" r="textAreaRight" b="textAreaBottom"/>
            <a:pathLst>
              <a:path w="453" h="725">
                <a:moveTo>
                  <a:pt x="0" y="272"/>
                </a:moveTo>
                <a:lnTo>
                  <a:pt x="0" y="725"/>
                </a:lnTo>
                <a:lnTo>
                  <a:pt x="453" y="453"/>
                </a:lnTo>
                <a:lnTo>
                  <a:pt x="453" y="0"/>
                </a:lnTo>
                <a:lnTo>
                  <a:pt x="0" y="272"/>
                </a:lnTo>
                <a:close/>
              </a:path>
            </a:pathLst>
          </a:custGeom>
          <a:solidFill>
            <a:srgbClr val="dbf2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grpSp>
        <p:nvGrpSpPr>
          <p:cNvPr id="345" name="Group 56"/>
          <p:cNvGrpSpPr/>
          <p:nvPr/>
        </p:nvGrpSpPr>
        <p:grpSpPr>
          <a:xfrm>
            <a:off x="3799440" y="3747960"/>
            <a:ext cx="1760400" cy="1423800"/>
            <a:chOff x="3799440" y="3747960"/>
            <a:chExt cx="1760400" cy="1423800"/>
          </a:xfrm>
        </p:grpSpPr>
        <p:sp>
          <p:nvSpPr>
            <p:cNvPr id="346" name="Rectangle 57"/>
            <p:cNvSpPr/>
            <p:nvPr/>
          </p:nvSpPr>
          <p:spPr>
            <a:xfrm>
              <a:off x="3801240" y="4294080"/>
              <a:ext cx="877680" cy="877680"/>
            </a:xfrm>
            <a:prstGeom prst="rect">
              <a:avLst/>
            </a:prstGeom>
            <a:solidFill>
              <a:srgbClr val="80d0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7" name="Freeform 58"/>
            <p:cNvSpPr/>
            <p:nvPr/>
          </p:nvSpPr>
          <p:spPr>
            <a:xfrm>
              <a:off x="3799440" y="3747960"/>
              <a:ext cx="1758600" cy="528120"/>
            </a:xfrm>
            <a:custGeom>
              <a:avLst/>
              <a:gdLst>
                <a:gd name="textAreaLeft" fmla="*/ 0 w 1758600"/>
                <a:gd name="textAreaRight" fmla="*/ 1758960 w 1758600"/>
                <a:gd name="textAreaTop" fmla="*/ 0 h 528120"/>
                <a:gd name="textAreaBottom" fmla="*/ 528480 h 528120"/>
              </a:gdLst>
              <a:ahLst/>
              <a:rect l="textAreaLeft" t="textAreaTop" r="textAreaRight" b="textAreaBottom"/>
              <a:pathLst>
                <a:path w="907" h="272">
                  <a:moveTo>
                    <a:pt x="454" y="0"/>
                  </a:moveTo>
                  <a:lnTo>
                    <a:pt x="0" y="272"/>
                  </a:lnTo>
                  <a:lnTo>
                    <a:pt x="454" y="272"/>
                  </a:lnTo>
                  <a:lnTo>
                    <a:pt x="907" y="0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6ac7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348" name="Freeform 59"/>
            <p:cNvSpPr/>
            <p:nvPr/>
          </p:nvSpPr>
          <p:spPr>
            <a:xfrm>
              <a:off x="4682160" y="3765600"/>
              <a:ext cx="877680" cy="1406160"/>
            </a:xfrm>
            <a:custGeom>
              <a:avLst/>
              <a:gdLst>
                <a:gd name="textAreaLeft" fmla="*/ 0 w 877680"/>
                <a:gd name="textAreaRight" fmla="*/ 878040 w 877680"/>
                <a:gd name="textAreaTop" fmla="*/ 0 h 1406160"/>
                <a:gd name="textAreaBottom" fmla="*/ 1406520 h 1406160"/>
              </a:gdLst>
              <a:ahLst/>
              <a:rect l="textAreaLeft" t="textAreaTop" r="textAreaRight" b="textAreaBottom"/>
              <a:pathLst>
                <a:path w="453" h="725">
                  <a:moveTo>
                    <a:pt x="0" y="272"/>
                  </a:moveTo>
                  <a:lnTo>
                    <a:pt x="0" y="725"/>
                  </a:lnTo>
                  <a:lnTo>
                    <a:pt x="453" y="453"/>
                  </a:lnTo>
                  <a:lnTo>
                    <a:pt x="453" y="0"/>
                  </a:lnTo>
                  <a:lnTo>
                    <a:pt x="0" y="272"/>
                  </a:lnTo>
                  <a:close/>
                </a:path>
              </a:pathLst>
            </a:custGeom>
            <a:solidFill>
              <a:srgbClr val="aee0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349" name="Freeform 8"/>
          <p:cNvSpPr/>
          <p:nvPr/>
        </p:nvSpPr>
        <p:spPr>
          <a:xfrm>
            <a:off x="2481840" y="2004840"/>
            <a:ext cx="2199960" cy="529920"/>
          </a:xfrm>
          <a:custGeom>
            <a:avLst/>
            <a:gdLst>
              <a:gd name="textAreaLeft" fmla="*/ 0 w 2199960"/>
              <a:gd name="textAreaRight" fmla="*/ 2200320 w 2199960"/>
              <a:gd name="textAreaTop" fmla="*/ 0 h 529920"/>
              <a:gd name="textAreaBottom" fmla="*/ 530280 h 529920"/>
            </a:gdLst>
            <a:ahLst/>
            <a:rect l="textAreaLeft" t="textAreaTop" r="textAreaRight" b="textAreaBottom"/>
            <a:pathLst>
              <a:path w="1134" h="273">
                <a:moveTo>
                  <a:pt x="0" y="273"/>
                </a:moveTo>
                <a:lnTo>
                  <a:pt x="453" y="0"/>
                </a:lnTo>
                <a:lnTo>
                  <a:pt x="1134" y="0"/>
                </a:lnTo>
                <a:lnTo>
                  <a:pt x="680" y="273"/>
                </a:lnTo>
                <a:lnTo>
                  <a:pt x="0" y="273"/>
                </a:lnTo>
                <a:close/>
              </a:path>
            </a:pathLst>
          </a:custGeom>
          <a:solidFill>
            <a:srgbClr val="a7df63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0" name="Freeform 52"/>
          <p:cNvSpPr/>
          <p:nvPr/>
        </p:nvSpPr>
        <p:spPr>
          <a:xfrm>
            <a:off x="3801240" y="2004840"/>
            <a:ext cx="880560" cy="2288880"/>
          </a:xfrm>
          <a:custGeom>
            <a:avLst/>
            <a:gdLst>
              <a:gd name="textAreaLeft" fmla="*/ 0 w 880560"/>
              <a:gd name="textAreaRight" fmla="*/ 880920 w 880560"/>
              <a:gd name="textAreaTop" fmla="*/ 0 h 2288880"/>
              <a:gd name="textAreaBottom" fmla="*/ 2289240 h 2288880"/>
            </a:gdLst>
            <a:ahLst/>
            <a:rect l="textAreaLeft" t="textAreaTop" r="textAreaRight" b="textAreaBottom"/>
            <a:pathLst>
              <a:path w="454" h="1180">
                <a:moveTo>
                  <a:pt x="454" y="0"/>
                </a:moveTo>
                <a:lnTo>
                  <a:pt x="0" y="273"/>
                </a:lnTo>
                <a:lnTo>
                  <a:pt x="0" y="1180"/>
                </a:lnTo>
                <a:lnTo>
                  <a:pt x="454" y="908"/>
                </a:lnTo>
                <a:lnTo>
                  <a:pt x="454" y="0"/>
                </a:lnTo>
                <a:close/>
              </a:path>
            </a:pathLst>
          </a:custGeom>
          <a:solidFill>
            <a:srgbClr val="dbf2c0"/>
          </a:solidFill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1" name="Line 13"/>
          <p:cNvSpPr/>
          <p:nvPr/>
        </p:nvSpPr>
        <p:spPr>
          <a:xfrm>
            <a:off x="2481840" y="2535120"/>
            <a:ext cx="131904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2" name="Line 14"/>
          <p:cNvSpPr/>
          <p:nvPr/>
        </p:nvSpPr>
        <p:spPr>
          <a:xfrm>
            <a:off x="2481840" y="2535120"/>
            <a:ext cx="360" cy="263664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3" name="Line 15"/>
          <p:cNvSpPr/>
          <p:nvPr/>
        </p:nvSpPr>
        <p:spPr>
          <a:xfrm>
            <a:off x="2481840" y="5171760"/>
            <a:ext cx="219996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4" name="Line 16"/>
          <p:cNvSpPr/>
          <p:nvPr/>
        </p:nvSpPr>
        <p:spPr>
          <a:xfrm flipV="1">
            <a:off x="4681800" y="4294080"/>
            <a:ext cx="360" cy="8776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5" name="Line 17"/>
          <p:cNvSpPr/>
          <p:nvPr/>
        </p:nvSpPr>
        <p:spPr>
          <a:xfrm>
            <a:off x="3800880" y="2535120"/>
            <a:ext cx="360" cy="17589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6" name="Line 18"/>
          <p:cNvSpPr/>
          <p:nvPr/>
        </p:nvSpPr>
        <p:spPr>
          <a:xfrm>
            <a:off x="3800880" y="4294080"/>
            <a:ext cx="88092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7" name="Line 19"/>
          <p:cNvSpPr/>
          <p:nvPr/>
        </p:nvSpPr>
        <p:spPr>
          <a:xfrm>
            <a:off x="3359520" y="2004840"/>
            <a:ext cx="131940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8" name="Line 20"/>
          <p:cNvSpPr/>
          <p:nvPr/>
        </p:nvSpPr>
        <p:spPr>
          <a:xfrm>
            <a:off x="3359520" y="2004840"/>
            <a:ext cx="360" cy="263700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9" name="Line 21"/>
          <p:cNvSpPr/>
          <p:nvPr/>
        </p:nvSpPr>
        <p:spPr>
          <a:xfrm>
            <a:off x="3359520" y="4641840"/>
            <a:ext cx="2200320" cy="36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0" name="Line 22"/>
          <p:cNvSpPr/>
          <p:nvPr/>
        </p:nvSpPr>
        <p:spPr>
          <a:xfrm flipV="1">
            <a:off x="5559840" y="3763800"/>
            <a:ext cx="360" cy="87804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1" name="Line 23"/>
          <p:cNvSpPr/>
          <p:nvPr/>
        </p:nvSpPr>
        <p:spPr>
          <a:xfrm>
            <a:off x="4678920" y="2004840"/>
            <a:ext cx="360" cy="17589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2" name="Line 24"/>
          <p:cNvSpPr/>
          <p:nvPr/>
        </p:nvSpPr>
        <p:spPr>
          <a:xfrm>
            <a:off x="4678920" y="3763800"/>
            <a:ext cx="88092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3" name="Line 25"/>
          <p:cNvSpPr/>
          <p:nvPr/>
        </p:nvSpPr>
        <p:spPr>
          <a:xfrm flipV="1">
            <a:off x="2481840" y="2004840"/>
            <a:ext cx="877680" cy="5302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4" name="Line 26"/>
          <p:cNvSpPr/>
          <p:nvPr/>
        </p:nvSpPr>
        <p:spPr>
          <a:xfrm flipV="1">
            <a:off x="3800880" y="2004840"/>
            <a:ext cx="878040" cy="5302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5" name="Line 27"/>
          <p:cNvSpPr/>
          <p:nvPr/>
        </p:nvSpPr>
        <p:spPr>
          <a:xfrm flipV="1">
            <a:off x="3800880" y="3763800"/>
            <a:ext cx="880920" cy="5302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6" name="Line 28"/>
          <p:cNvSpPr/>
          <p:nvPr/>
        </p:nvSpPr>
        <p:spPr>
          <a:xfrm flipV="1">
            <a:off x="4678920" y="3763800"/>
            <a:ext cx="880920" cy="5302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7" name="Line 29"/>
          <p:cNvSpPr/>
          <p:nvPr/>
        </p:nvSpPr>
        <p:spPr>
          <a:xfrm flipV="1">
            <a:off x="4678920" y="4641840"/>
            <a:ext cx="880920" cy="52992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8" name="Line 30"/>
          <p:cNvSpPr/>
          <p:nvPr/>
        </p:nvSpPr>
        <p:spPr>
          <a:xfrm flipV="1">
            <a:off x="2481840" y="4641840"/>
            <a:ext cx="877680" cy="52992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9" name="Line 31"/>
          <p:cNvSpPr/>
          <p:nvPr/>
        </p:nvSpPr>
        <p:spPr>
          <a:xfrm>
            <a:off x="3359520" y="1860480"/>
            <a:ext cx="1319400" cy="36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0" name="Line 32"/>
          <p:cNvSpPr/>
          <p:nvPr/>
        </p:nvSpPr>
        <p:spPr>
          <a:xfrm flipV="1">
            <a:off x="4824720" y="2004840"/>
            <a:ext cx="360" cy="174312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1" name="Line 33"/>
          <p:cNvSpPr/>
          <p:nvPr/>
        </p:nvSpPr>
        <p:spPr>
          <a:xfrm>
            <a:off x="2481840" y="5316480"/>
            <a:ext cx="2197080" cy="36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2" name="Line 34"/>
          <p:cNvSpPr/>
          <p:nvPr/>
        </p:nvSpPr>
        <p:spPr>
          <a:xfrm>
            <a:off x="2337120" y="2535120"/>
            <a:ext cx="360" cy="263664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3" name="Line 35"/>
          <p:cNvSpPr/>
          <p:nvPr/>
        </p:nvSpPr>
        <p:spPr>
          <a:xfrm flipV="1">
            <a:off x="2324520" y="1933560"/>
            <a:ext cx="878040" cy="529920"/>
          </a:xfrm>
          <a:prstGeom prst="line">
            <a:avLst/>
          </a:prstGeom>
          <a:ln w="19050">
            <a:solidFill>
              <a:srgbClr val="000000"/>
            </a:solidFill>
            <a:round/>
            <a:headEnd len="med" type="arrow" w="med"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4" name="Text Box 36"/>
          <p:cNvSpPr/>
          <p:nvPr/>
        </p:nvSpPr>
        <p:spPr>
          <a:xfrm>
            <a:off x="1601640" y="3471840"/>
            <a:ext cx="677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 cm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Box 37"/>
          <p:cNvSpPr/>
          <p:nvPr/>
        </p:nvSpPr>
        <p:spPr>
          <a:xfrm>
            <a:off x="3206520" y="5316480"/>
            <a:ext cx="677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 cm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Box 38"/>
          <p:cNvSpPr/>
          <p:nvPr/>
        </p:nvSpPr>
        <p:spPr>
          <a:xfrm>
            <a:off x="2112840" y="1806480"/>
            <a:ext cx="677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 cm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Box 39"/>
          <p:cNvSpPr/>
          <p:nvPr/>
        </p:nvSpPr>
        <p:spPr>
          <a:xfrm>
            <a:off x="4829040" y="2652840"/>
            <a:ext cx="677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 cm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Box 40"/>
          <p:cNvSpPr/>
          <p:nvPr/>
        </p:nvSpPr>
        <p:spPr>
          <a:xfrm>
            <a:off x="3573360" y="1463760"/>
            <a:ext cx="677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 cm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Line 41"/>
          <p:cNvSpPr/>
          <p:nvPr/>
        </p:nvSpPr>
        <p:spPr>
          <a:xfrm>
            <a:off x="3800880" y="4294080"/>
            <a:ext cx="360" cy="87768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0" name="Line 42"/>
          <p:cNvSpPr/>
          <p:nvPr/>
        </p:nvSpPr>
        <p:spPr>
          <a:xfrm>
            <a:off x="4681800" y="3790800"/>
            <a:ext cx="360" cy="877680"/>
          </a:xfrm>
          <a:prstGeom prst="line">
            <a:avLst/>
          </a:prstGeom>
          <a:ln w="12700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1" name="Line 44"/>
          <p:cNvSpPr/>
          <p:nvPr/>
        </p:nvSpPr>
        <p:spPr>
          <a:xfrm flipV="1">
            <a:off x="3800880" y="4641840"/>
            <a:ext cx="880920" cy="529920"/>
          </a:xfrm>
          <a:prstGeom prst="line">
            <a:avLst/>
          </a:prstGeom>
          <a:ln w="9525">
            <a:solidFill>
              <a:srgbClr val="0000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GB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2" name="Text Box 48"/>
          <p:cNvSpPr/>
          <p:nvPr/>
        </p:nvSpPr>
        <p:spPr>
          <a:xfrm>
            <a:off x="6153840" y="1663560"/>
            <a:ext cx="4290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We can think of the shape as two cuboids joined together.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Box 49"/>
          <p:cNvSpPr/>
          <p:nvPr/>
        </p:nvSpPr>
        <p:spPr>
          <a:xfrm>
            <a:off x="6171840" y="2600280"/>
            <a:ext cx="36190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Volume of the green cuboid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Box 50"/>
          <p:cNvSpPr/>
          <p:nvPr/>
        </p:nvSpPr>
        <p:spPr>
          <a:xfrm>
            <a:off x="6171480" y="3084480"/>
            <a:ext cx="264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= 6 × 3 × 3 = 54 cm</a:t>
            </a:r>
            <a:r>
              <a:rPr b="0" lang="en-US" sz="2400" spc="-1" strike="noStrike" baseline="30000">
                <a:solidFill>
                  <a:schemeClr val="dk1"/>
                </a:solidFill>
                <a:latin typeface="Calibri"/>
              </a:rPr>
              <a:t>3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Box 51"/>
          <p:cNvSpPr/>
          <p:nvPr/>
        </p:nvSpPr>
        <p:spPr>
          <a:xfrm>
            <a:off x="6177240" y="3745080"/>
            <a:ext cx="3451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Volume of the blue cuboid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Box 52"/>
          <p:cNvSpPr/>
          <p:nvPr/>
        </p:nvSpPr>
        <p:spPr>
          <a:xfrm>
            <a:off x="6177600" y="4237200"/>
            <a:ext cx="264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= 3 × 2 × 2 = 12 cm</a:t>
            </a:r>
            <a:r>
              <a:rPr b="0" lang="en-US" sz="2400" spc="-1" strike="noStrike" baseline="30000">
                <a:solidFill>
                  <a:schemeClr val="dk1"/>
                </a:solidFill>
                <a:latin typeface="Calibri"/>
              </a:rPr>
              <a:t>3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Box 53"/>
          <p:cNvSpPr/>
          <p:nvPr/>
        </p:nvSpPr>
        <p:spPr>
          <a:xfrm>
            <a:off x="6169320" y="4889520"/>
            <a:ext cx="1766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Total volume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Box 54"/>
          <p:cNvSpPr/>
          <p:nvPr/>
        </p:nvSpPr>
        <p:spPr>
          <a:xfrm>
            <a:off x="6177600" y="5389560"/>
            <a:ext cx="2508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= 54 + 12 = 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66 cm</a:t>
            </a:r>
            <a:r>
              <a:rPr b="1" lang="en-US" sz="2400" spc="-1" strike="noStrike" baseline="30000">
                <a:solidFill>
                  <a:schemeClr val="dk1"/>
                </a:solidFill>
                <a:latin typeface="Calibri"/>
              </a:rPr>
              <a:t>3</a:t>
            </a: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29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nodeType="afterEffect" fill="hold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 additive="repl">
                                        <p:cTn id="33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SURFACE AREA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Count the Faces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39"/>
          <p:cNvSpPr/>
          <p:nvPr/>
        </p:nvSpPr>
        <p:spPr>
          <a:xfrm>
            <a:off x="1688400" y="1353240"/>
            <a:ext cx="8814600" cy="3005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9" name="Image 0" descr="/tmp/work/vteach/t-03.png"/>
          <p:cNvPicPr/>
          <p:nvPr/>
        </p:nvPicPr>
        <p:blipFill>
          <a:blip r:embed="rId1"/>
          <a:stretch/>
        </p:blipFill>
        <p:spPr>
          <a:xfrm>
            <a:off x="1752480" y="1417320"/>
            <a:ext cx="8686440" cy="2877120"/>
          </a:xfrm>
          <a:prstGeom prst="rect">
            <a:avLst/>
          </a:prstGeom>
          <a:ln w="0">
            <a:noFill/>
          </a:ln>
        </p:spPr>
      </p:pic>
      <p:sp>
        <p:nvSpPr>
          <p:cNvPr id="430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Surface area = the total of ALL the faces.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List each face, find its area, then add them up.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SURFACE AREA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Using the Net of a Cuboid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39"/>
          <p:cNvSpPr/>
          <p:nvPr/>
        </p:nvSpPr>
        <p:spPr>
          <a:xfrm>
            <a:off x="1922040" y="1353240"/>
            <a:ext cx="834732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2" name="Image 0" descr="/tmp/work/vteach/t-06.png"/>
          <p:cNvPicPr/>
          <p:nvPr/>
        </p:nvPicPr>
        <p:blipFill>
          <a:blip r:embed="rId1"/>
          <a:stretch/>
        </p:blipFill>
        <p:spPr>
          <a:xfrm>
            <a:off x="1986120" y="1417320"/>
            <a:ext cx="8219160" cy="4525920"/>
          </a:xfrm>
          <a:prstGeom prst="rect">
            <a:avLst/>
          </a:prstGeom>
          <a:ln w="0">
            <a:noFill/>
          </a:ln>
        </p:spPr>
      </p:pic>
      <p:sp>
        <p:nvSpPr>
          <p:cNvPr id="473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Open the solid into a net.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 cuboid has 3 pairs of equal rectangles — find each pair and add.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SURFACE AREA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Surface Area of a Prism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39"/>
          <p:cNvSpPr/>
          <p:nvPr/>
        </p:nvSpPr>
        <p:spPr>
          <a:xfrm>
            <a:off x="2276640" y="1353240"/>
            <a:ext cx="763812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Two identical end faces + the rectangles around the sides.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Add every face.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7" name="Group 4"/>
          <p:cNvGrpSpPr/>
          <p:nvPr/>
        </p:nvGrpSpPr>
        <p:grpSpPr>
          <a:xfrm>
            <a:off x="2332080" y="1700280"/>
            <a:ext cx="4138560" cy="2400480"/>
            <a:chOff x="2332080" y="1700280"/>
            <a:chExt cx="4138560" cy="2400480"/>
          </a:xfrm>
        </p:grpSpPr>
        <p:sp>
          <p:nvSpPr>
            <p:cNvPr id="518" name="Line 5"/>
            <p:cNvSpPr/>
            <p:nvPr/>
          </p:nvSpPr>
          <p:spPr>
            <a:xfrm>
              <a:off x="2332080" y="2500200"/>
              <a:ext cx="360" cy="16002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19" name="Line 6"/>
            <p:cNvSpPr/>
            <p:nvPr/>
          </p:nvSpPr>
          <p:spPr>
            <a:xfrm>
              <a:off x="2332080" y="2500200"/>
              <a:ext cx="1638000" cy="16002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0" name="Line 7"/>
            <p:cNvSpPr/>
            <p:nvPr/>
          </p:nvSpPr>
          <p:spPr>
            <a:xfrm>
              <a:off x="2332080" y="4100400"/>
              <a:ext cx="16380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1" name="Line 8"/>
            <p:cNvSpPr/>
            <p:nvPr/>
          </p:nvSpPr>
          <p:spPr>
            <a:xfrm flipV="1">
              <a:off x="2332080" y="1700280"/>
              <a:ext cx="2500200" cy="79992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2" name="Line 9"/>
            <p:cNvSpPr/>
            <p:nvPr/>
          </p:nvSpPr>
          <p:spPr>
            <a:xfrm flipV="1">
              <a:off x="3970080" y="3300480"/>
              <a:ext cx="2500560" cy="79992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3" name="Line 10"/>
            <p:cNvSpPr/>
            <p:nvPr/>
          </p:nvSpPr>
          <p:spPr>
            <a:xfrm>
              <a:off x="4832280" y="1700280"/>
              <a:ext cx="1638360" cy="16002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4" name="Line 11"/>
            <p:cNvSpPr/>
            <p:nvPr/>
          </p:nvSpPr>
          <p:spPr>
            <a:xfrm>
              <a:off x="4832280" y="1700280"/>
              <a:ext cx="360" cy="1600200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5" name="Line 12"/>
            <p:cNvSpPr/>
            <p:nvPr/>
          </p:nvSpPr>
          <p:spPr>
            <a:xfrm flipV="1">
              <a:off x="2332080" y="3300480"/>
              <a:ext cx="2500200" cy="799920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6" name="Line 13"/>
            <p:cNvSpPr/>
            <p:nvPr/>
          </p:nvSpPr>
          <p:spPr>
            <a:xfrm>
              <a:off x="4832280" y="3299400"/>
              <a:ext cx="1638360" cy="360"/>
            </a:xfrm>
            <a:prstGeom prst="line">
              <a:avLst/>
            </a:prstGeom>
            <a:ln w="28575">
              <a:solidFill>
                <a:srgbClr val="000000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7" name="Line 14"/>
            <p:cNvSpPr/>
            <p:nvPr/>
          </p:nvSpPr>
          <p:spPr>
            <a:xfrm>
              <a:off x="2332080" y="3900600"/>
              <a:ext cx="17244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528" name="Line 15"/>
            <p:cNvSpPr/>
            <p:nvPr/>
          </p:nvSpPr>
          <p:spPr>
            <a:xfrm>
              <a:off x="2504520" y="3900600"/>
              <a:ext cx="360" cy="19980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529" name="Text Box 16"/>
          <p:cNvSpPr/>
          <p:nvPr/>
        </p:nvSpPr>
        <p:spPr>
          <a:xfrm>
            <a:off x="4846680" y="3757680"/>
            <a:ext cx="914040" cy="35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10 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Box 17"/>
          <p:cNvSpPr/>
          <p:nvPr/>
        </p:nvSpPr>
        <p:spPr>
          <a:xfrm>
            <a:off x="2789280" y="4100760"/>
            <a:ext cx="717120" cy="35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4 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Text Box 18"/>
          <p:cNvSpPr/>
          <p:nvPr/>
        </p:nvSpPr>
        <p:spPr>
          <a:xfrm>
            <a:off x="3132360" y="3071880"/>
            <a:ext cx="717120" cy="35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5 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Box 19"/>
          <p:cNvSpPr/>
          <p:nvPr/>
        </p:nvSpPr>
        <p:spPr>
          <a:xfrm>
            <a:off x="1760760" y="3186360"/>
            <a:ext cx="717120" cy="35856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3 cm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Text Box 20"/>
          <p:cNvSpPr/>
          <p:nvPr/>
        </p:nvSpPr>
        <p:spPr>
          <a:xfrm>
            <a:off x="6876720" y="1700280"/>
            <a:ext cx="2719440" cy="5166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(4 </a:t>
            </a:r>
            <a:r>
              <a:rPr b="0" lang="en-GB" sz="2800" spc="-1" strike="noStrike">
                <a:solidFill>
                  <a:srgbClr val="000000"/>
                </a:solidFill>
                <a:latin typeface="Symbol"/>
              </a:rPr>
              <a:t>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3) ÷ 2 =   6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Box 21"/>
          <p:cNvSpPr/>
          <p:nvPr/>
        </p:nvSpPr>
        <p:spPr>
          <a:xfrm>
            <a:off x="6886440" y="2399040"/>
            <a:ext cx="2798280" cy="5166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(4 </a:t>
            </a:r>
            <a:r>
              <a:rPr b="0" lang="en-GB" sz="2800" spc="-1" strike="noStrike">
                <a:solidFill>
                  <a:srgbClr val="000000"/>
                </a:solidFill>
                <a:latin typeface="Symbol"/>
              </a:rPr>
              <a:t>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3) ÷ 2 =   6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Box 22"/>
          <p:cNvSpPr/>
          <p:nvPr/>
        </p:nvSpPr>
        <p:spPr>
          <a:xfrm>
            <a:off x="7429680" y="3026160"/>
            <a:ext cx="2231640" cy="5166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5 </a:t>
            </a:r>
            <a:r>
              <a:rPr b="0" lang="en-GB" sz="2800" spc="-1" strike="noStrike">
                <a:solidFill>
                  <a:srgbClr val="000000"/>
                </a:solidFill>
                <a:latin typeface="Symbol"/>
              </a:rPr>
              <a:t>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10 =  50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Text Box 23"/>
          <p:cNvSpPr/>
          <p:nvPr/>
        </p:nvSpPr>
        <p:spPr>
          <a:xfrm>
            <a:off x="7429680" y="3724560"/>
            <a:ext cx="2231640" cy="5166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3 </a:t>
            </a:r>
            <a:r>
              <a:rPr b="0" lang="en-GB" sz="2800" spc="-1" strike="noStrike">
                <a:solidFill>
                  <a:srgbClr val="000000"/>
                </a:solidFill>
                <a:latin typeface="Symbol"/>
              </a:rPr>
              <a:t>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10 =  30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Box 24"/>
          <p:cNvSpPr/>
          <p:nvPr/>
        </p:nvSpPr>
        <p:spPr>
          <a:xfrm>
            <a:off x="7405920" y="4421160"/>
            <a:ext cx="2231640" cy="5166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4 </a:t>
            </a:r>
            <a:r>
              <a:rPr b="0" lang="en-GB" sz="2800" spc="-1" strike="noStrike">
                <a:solidFill>
                  <a:srgbClr val="000000"/>
                </a:solidFill>
                <a:latin typeface="Symbol"/>
              </a:rPr>
              <a:t>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10 =  40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Line 25"/>
          <p:cNvSpPr/>
          <p:nvPr/>
        </p:nvSpPr>
        <p:spPr>
          <a:xfrm>
            <a:off x="8568360" y="4978440"/>
            <a:ext cx="126072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9" name="Text Box 26"/>
          <p:cNvSpPr/>
          <p:nvPr/>
        </p:nvSpPr>
        <p:spPr>
          <a:xfrm>
            <a:off x="8521920" y="4964400"/>
            <a:ext cx="1827000" cy="516600"/>
          </a:xfrm>
          <a:prstGeom prst="rect">
            <a:avLst/>
          </a:prstGeom>
          <a:noFill/>
          <a:ln w="254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1400"/>
              </a:spcBef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132 cm</a:t>
            </a:r>
            <a:r>
              <a:rPr b="0" lang="en-GB" sz="2800" spc="-1" strike="noStrike" baseline="30000">
                <a:solidFill>
                  <a:srgbClr val="000000"/>
                </a:solidFill>
                <a:latin typeface="Calibri"/>
              </a:rPr>
              <a:t>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Box 27"/>
          <p:cNvSpPr/>
          <p:nvPr/>
        </p:nvSpPr>
        <p:spPr>
          <a:xfrm>
            <a:off x="9348840" y="4232520"/>
            <a:ext cx="495000" cy="699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2001"/>
              </a:spcBef>
            </a:pPr>
            <a:r>
              <a:rPr b="0" lang="en-GB" sz="4000" spc="-1" strike="noStrike">
                <a:solidFill>
                  <a:srgbClr val="000000"/>
                </a:solidFill>
                <a:latin typeface="Calibri"/>
              </a:rPr>
              <a:t>+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Line 28"/>
          <p:cNvSpPr/>
          <p:nvPr/>
        </p:nvSpPr>
        <p:spPr>
          <a:xfrm>
            <a:off x="8568360" y="5497560"/>
            <a:ext cx="1260720" cy="360"/>
          </a:xfrm>
          <a:prstGeom prst="line">
            <a:avLst/>
          </a:prstGeom>
          <a:ln w="2857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2" name="AutoShape 29"/>
          <p:cNvSpPr/>
          <p:nvPr/>
        </p:nvSpPr>
        <p:spPr>
          <a:xfrm>
            <a:off x="4832280" y="1700280"/>
            <a:ext cx="1638000" cy="1599840"/>
          </a:xfrm>
          <a:prstGeom prst="rtTriangle">
            <a:avLst/>
          </a:prstGeom>
          <a:solidFill>
            <a:srgbClr val="ffff99">
              <a:alpha val="20000"/>
            </a:srgbClr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3" name="AutoShape 30"/>
          <p:cNvSpPr/>
          <p:nvPr/>
        </p:nvSpPr>
        <p:spPr>
          <a:xfrm>
            <a:off x="2332080" y="2516400"/>
            <a:ext cx="1638000" cy="1584000"/>
          </a:xfrm>
          <a:prstGeom prst="rtTriangle">
            <a:avLst/>
          </a:prstGeom>
          <a:solidFill>
            <a:srgbClr val="ffff99">
              <a:alpha val="50000"/>
            </a:srgbClr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4" name="AutoShape 31"/>
          <p:cNvSpPr/>
          <p:nvPr/>
        </p:nvSpPr>
        <p:spPr>
          <a:xfrm>
            <a:off x="2332080" y="3299040"/>
            <a:ext cx="4138200" cy="801360"/>
          </a:xfrm>
          <a:prstGeom prst="parallelogram">
            <a:avLst>
              <a:gd name="adj" fmla="val 316841"/>
            </a:avLst>
          </a:prstGeom>
          <a:solidFill>
            <a:srgbClr val="ffcc99">
              <a:alpha val="40000"/>
            </a:srgbClr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5" name="AutoShape 32"/>
          <p:cNvSpPr/>
          <p:nvPr/>
        </p:nvSpPr>
        <p:spPr>
          <a:xfrm flipV="1" rot="5400000">
            <a:off x="2381760" y="1649880"/>
            <a:ext cx="2400120" cy="2499840"/>
          </a:xfrm>
          <a:prstGeom prst="parallelogram">
            <a:avLst>
              <a:gd name="adj" fmla="val 33926"/>
            </a:avLst>
          </a:prstGeom>
          <a:solidFill>
            <a:srgbClr val="cc99ff">
              <a:alpha val="30000"/>
            </a:srgbClr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6" name="AutoShape 33"/>
          <p:cNvSpPr/>
          <p:nvPr/>
        </p:nvSpPr>
        <p:spPr>
          <a:xfrm flipV="1" rot="9736800">
            <a:off x="2514960" y="1889640"/>
            <a:ext cx="3733560" cy="2010960"/>
          </a:xfrm>
          <a:prstGeom prst="parallelogram">
            <a:avLst>
              <a:gd name="adj" fmla="val 53576"/>
            </a:avLst>
          </a:prstGeom>
          <a:solidFill>
            <a:srgbClr val="00ff00">
              <a:alpha val="20000"/>
            </a:srgbClr>
          </a:solidFill>
          <a:ln w="254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47" name="Group 74"/>
          <p:cNvGrpSpPr/>
          <p:nvPr/>
        </p:nvGrpSpPr>
        <p:grpSpPr>
          <a:xfrm>
            <a:off x="6230880" y="1700280"/>
            <a:ext cx="501480" cy="644040"/>
            <a:chOff x="6230880" y="1700280"/>
            <a:chExt cx="501480" cy="644040"/>
          </a:xfrm>
        </p:grpSpPr>
        <p:sp>
          <p:nvSpPr>
            <p:cNvPr id="548" name="Right Triangle 75"/>
            <p:cNvSpPr/>
            <p:nvPr/>
          </p:nvSpPr>
          <p:spPr>
            <a:xfrm>
              <a:off x="6465960" y="1700280"/>
              <a:ext cx="266400" cy="399600"/>
            </a:xfrm>
            <a:prstGeom prst="rtTriangl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49" name="TextBox 76"/>
            <p:cNvSpPr/>
            <p:nvPr/>
          </p:nvSpPr>
          <p:spPr>
            <a:xfrm>
              <a:off x="6446880" y="2041200"/>
              <a:ext cx="27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4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0" name="TextBox 77"/>
            <p:cNvSpPr/>
            <p:nvPr/>
          </p:nvSpPr>
          <p:spPr>
            <a:xfrm>
              <a:off x="6230880" y="1753200"/>
              <a:ext cx="27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1" name="Group 78"/>
          <p:cNvGrpSpPr/>
          <p:nvPr/>
        </p:nvGrpSpPr>
        <p:grpSpPr>
          <a:xfrm>
            <a:off x="6230880" y="2399760"/>
            <a:ext cx="520560" cy="645120"/>
            <a:chOff x="6230880" y="2399760"/>
            <a:chExt cx="520560" cy="645120"/>
          </a:xfrm>
        </p:grpSpPr>
        <p:sp>
          <p:nvSpPr>
            <p:cNvPr id="552" name="Right Triangle 79"/>
            <p:cNvSpPr/>
            <p:nvPr/>
          </p:nvSpPr>
          <p:spPr>
            <a:xfrm>
              <a:off x="6485040" y="2399760"/>
              <a:ext cx="266400" cy="399600"/>
            </a:xfrm>
            <a:prstGeom prst="rtTriangle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3" name="TextBox 80"/>
            <p:cNvSpPr/>
            <p:nvPr/>
          </p:nvSpPr>
          <p:spPr>
            <a:xfrm>
              <a:off x="6446880" y="2741760"/>
              <a:ext cx="27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4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TextBox 81"/>
            <p:cNvSpPr/>
            <p:nvPr/>
          </p:nvSpPr>
          <p:spPr>
            <a:xfrm>
              <a:off x="6230880" y="2473560"/>
              <a:ext cx="27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5" name="Group 82"/>
          <p:cNvGrpSpPr/>
          <p:nvPr/>
        </p:nvGrpSpPr>
        <p:grpSpPr>
          <a:xfrm>
            <a:off x="6675120" y="3173760"/>
            <a:ext cx="633240" cy="519120"/>
            <a:chOff x="6675120" y="3173760"/>
            <a:chExt cx="633240" cy="519120"/>
          </a:xfrm>
        </p:grpSpPr>
        <p:sp>
          <p:nvSpPr>
            <p:cNvPr id="556" name="Rectangle 83"/>
            <p:cNvSpPr/>
            <p:nvPr/>
          </p:nvSpPr>
          <p:spPr>
            <a:xfrm>
              <a:off x="6876720" y="3186360"/>
              <a:ext cx="431640" cy="2440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57" name="TextBox 84"/>
            <p:cNvSpPr/>
            <p:nvPr/>
          </p:nvSpPr>
          <p:spPr>
            <a:xfrm>
              <a:off x="6879600" y="3389760"/>
              <a:ext cx="36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10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8" name="TextBox 85"/>
            <p:cNvSpPr/>
            <p:nvPr/>
          </p:nvSpPr>
          <p:spPr>
            <a:xfrm>
              <a:off x="6675120" y="3173760"/>
              <a:ext cx="27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5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59" name="Group 86"/>
          <p:cNvGrpSpPr/>
          <p:nvPr/>
        </p:nvGrpSpPr>
        <p:grpSpPr>
          <a:xfrm>
            <a:off x="6662880" y="3893760"/>
            <a:ext cx="633600" cy="519120"/>
            <a:chOff x="6662880" y="3893760"/>
            <a:chExt cx="633600" cy="519120"/>
          </a:xfrm>
        </p:grpSpPr>
        <p:sp>
          <p:nvSpPr>
            <p:cNvPr id="560" name="Rectangle 87"/>
            <p:cNvSpPr/>
            <p:nvPr/>
          </p:nvSpPr>
          <p:spPr>
            <a:xfrm>
              <a:off x="6864840" y="3906360"/>
              <a:ext cx="431640" cy="2440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1" name="TextBox 88"/>
            <p:cNvSpPr/>
            <p:nvPr/>
          </p:nvSpPr>
          <p:spPr>
            <a:xfrm>
              <a:off x="6867720" y="4109760"/>
              <a:ext cx="36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10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2" name="TextBox 89"/>
            <p:cNvSpPr/>
            <p:nvPr/>
          </p:nvSpPr>
          <p:spPr>
            <a:xfrm>
              <a:off x="6662880" y="3893760"/>
              <a:ext cx="27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3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63" name="Group 90"/>
          <p:cNvGrpSpPr/>
          <p:nvPr/>
        </p:nvGrpSpPr>
        <p:grpSpPr>
          <a:xfrm>
            <a:off x="6662880" y="4541760"/>
            <a:ext cx="633600" cy="519120"/>
            <a:chOff x="6662880" y="4541760"/>
            <a:chExt cx="633600" cy="519120"/>
          </a:xfrm>
        </p:grpSpPr>
        <p:sp>
          <p:nvSpPr>
            <p:cNvPr id="564" name="Rectangle 91"/>
            <p:cNvSpPr/>
            <p:nvPr/>
          </p:nvSpPr>
          <p:spPr>
            <a:xfrm>
              <a:off x="6864840" y="4554360"/>
              <a:ext cx="431640" cy="24408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0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en-GB" sz="18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65" name="TextBox 92"/>
            <p:cNvSpPr/>
            <p:nvPr/>
          </p:nvSpPr>
          <p:spPr>
            <a:xfrm>
              <a:off x="6867720" y="4757760"/>
              <a:ext cx="36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10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6" name="TextBox 93"/>
            <p:cNvSpPr/>
            <p:nvPr/>
          </p:nvSpPr>
          <p:spPr>
            <a:xfrm>
              <a:off x="6662880" y="4541760"/>
              <a:ext cx="27108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4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nodeType="with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DON'T LOSE MARKS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Units &amp; Common Mistakes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39"/>
          <p:cNvSpPr/>
          <p:nvPr/>
        </p:nvSpPr>
        <p:spPr>
          <a:xfrm>
            <a:off x="567000" y="132588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40"/>
          <p:cNvSpPr/>
          <p:nvPr/>
        </p:nvSpPr>
        <p:spPr>
          <a:xfrm>
            <a:off x="887040" y="132588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Two easy marks to protect on every question.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41"/>
          <p:cNvSpPr/>
          <p:nvPr/>
        </p:nvSpPr>
        <p:spPr>
          <a:xfrm>
            <a:off x="567000" y="210312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Text 42"/>
          <p:cNvSpPr/>
          <p:nvPr/>
        </p:nvSpPr>
        <p:spPr>
          <a:xfrm>
            <a:off x="914400" y="2103120"/>
            <a:ext cx="4571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Volume uses CUBIC units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Text 43"/>
          <p:cNvSpPr/>
          <p:nvPr/>
        </p:nvSpPr>
        <p:spPr>
          <a:xfrm>
            <a:off x="5577840" y="2103120"/>
            <a:ext cx="5851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cm³, m³ — three lengths multiplied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44"/>
          <p:cNvSpPr/>
          <p:nvPr/>
        </p:nvSpPr>
        <p:spPr>
          <a:xfrm>
            <a:off x="567000" y="292608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Text 45"/>
          <p:cNvSpPr/>
          <p:nvPr/>
        </p:nvSpPr>
        <p:spPr>
          <a:xfrm>
            <a:off x="914400" y="2926080"/>
            <a:ext cx="4571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Surface area uses SQUARE units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Text 46"/>
          <p:cNvSpPr/>
          <p:nvPr/>
        </p:nvSpPr>
        <p:spPr>
          <a:xfrm>
            <a:off x="5577840" y="2926080"/>
            <a:ext cx="5851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cm², m² — it is an area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Shape 47"/>
          <p:cNvSpPr/>
          <p:nvPr/>
        </p:nvSpPr>
        <p:spPr>
          <a:xfrm>
            <a:off x="567000" y="374904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48"/>
          <p:cNvSpPr/>
          <p:nvPr/>
        </p:nvSpPr>
        <p:spPr>
          <a:xfrm>
            <a:off x="914400" y="3749040"/>
            <a:ext cx="4571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Match the units first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Text 49"/>
          <p:cNvSpPr/>
          <p:nvPr/>
        </p:nvSpPr>
        <p:spPr>
          <a:xfrm>
            <a:off x="5577840" y="3749040"/>
            <a:ext cx="5851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don't mix cm and m — convert before calculating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50"/>
          <p:cNvSpPr/>
          <p:nvPr/>
        </p:nvSpPr>
        <p:spPr>
          <a:xfrm>
            <a:off x="567000" y="457200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8" name="Text 51"/>
          <p:cNvSpPr/>
          <p:nvPr/>
        </p:nvSpPr>
        <p:spPr>
          <a:xfrm>
            <a:off x="914400" y="4572000"/>
            <a:ext cx="4571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Surface area = EVERY face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52"/>
          <p:cNvSpPr/>
          <p:nvPr/>
        </p:nvSpPr>
        <p:spPr>
          <a:xfrm>
            <a:off x="5577840" y="4572000"/>
            <a:ext cx="5851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don't forget the hidden back and bottom faces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53"/>
          <p:cNvSpPr/>
          <p:nvPr/>
        </p:nvSpPr>
        <p:spPr>
          <a:xfrm>
            <a:off x="567000" y="5394960"/>
            <a:ext cx="11063880" cy="712800"/>
          </a:xfrm>
          <a:prstGeom prst="roundRect">
            <a:avLst>
              <a:gd name="adj" fmla="val 7692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Text 54"/>
          <p:cNvSpPr/>
          <p:nvPr/>
        </p:nvSpPr>
        <p:spPr>
          <a:xfrm>
            <a:off x="914400" y="5394960"/>
            <a:ext cx="4571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f2f"/>
                </a:solidFill>
                <a:latin typeface="Cambria"/>
                <a:ea typeface="Cambria"/>
              </a:rPr>
              <a:t>A prism must have a constant cross-section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Text 55"/>
          <p:cNvSpPr/>
          <p:nvPr/>
        </p:nvSpPr>
        <p:spPr>
          <a:xfrm>
            <a:off x="5577840" y="5394960"/>
            <a:ext cx="5851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 pyramid or cone does NOT — different formula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56"/>
          <p:cNvSpPr/>
          <p:nvPr/>
        </p:nvSpPr>
        <p:spPr>
          <a:xfrm>
            <a:off x="567000" y="630936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Read the question: does it want VOLUME (space inside) or SURFACE AREA (outside)?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Cuboids and prisms — decide volume or surface area, then work face by face.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Is it volume or surface area?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Prism → cross-section × length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Surface area → add every face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5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Cubic units for volume, square for area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39"/>
          <p:cNvSpPr/>
          <p:nvPr/>
        </p:nvSpPr>
        <p:spPr>
          <a:xfrm>
            <a:off x="1554480" y="1408320"/>
            <a:ext cx="908208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6" name="Image 0" descr="/tmp/work/vq/q-32.png"/>
          <p:cNvPicPr/>
          <p:nvPr/>
        </p:nvPicPr>
        <p:blipFill>
          <a:blip r:embed="rId1"/>
          <a:stretch/>
        </p:blipFill>
        <p:spPr>
          <a:xfrm>
            <a:off x="1627560" y="1481400"/>
            <a:ext cx="89359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Shape 39"/>
          <p:cNvSpPr/>
          <p:nvPr/>
        </p:nvSpPr>
        <p:spPr>
          <a:xfrm>
            <a:off x="2622240" y="1408320"/>
            <a:ext cx="694692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7" name="Image 0" descr="/tmp/work/vq/q-36.png"/>
          <p:cNvPicPr/>
          <p:nvPr/>
        </p:nvPicPr>
        <p:blipFill>
          <a:blip r:embed="rId1"/>
          <a:stretch/>
        </p:blipFill>
        <p:spPr>
          <a:xfrm>
            <a:off x="2695320" y="1481400"/>
            <a:ext cx="680076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9"/>
          <p:cNvSpPr/>
          <p:nvPr/>
        </p:nvSpPr>
        <p:spPr>
          <a:xfrm>
            <a:off x="2488680" y="1408320"/>
            <a:ext cx="72140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8" name="Image 0" descr="/tmp/work/vq/q-37.png"/>
          <p:cNvPicPr/>
          <p:nvPr/>
        </p:nvPicPr>
        <p:blipFill>
          <a:blip r:embed="rId1"/>
          <a:stretch/>
        </p:blipFill>
        <p:spPr>
          <a:xfrm>
            <a:off x="2561760" y="1481400"/>
            <a:ext cx="706788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39"/>
          <p:cNvSpPr/>
          <p:nvPr/>
        </p:nvSpPr>
        <p:spPr>
          <a:xfrm>
            <a:off x="1614960" y="1408320"/>
            <a:ext cx="896184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9" name="Image 0" descr="/tmp/work/vq/q-38.png"/>
          <p:cNvPicPr/>
          <p:nvPr/>
        </p:nvPicPr>
        <p:blipFill>
          <a:blip r:embed="rId1"/>
          <a:stretch/>
        </p:blipFill>
        <p:spPr>
          <a:xfrm>
            <a:off x="1688040" y="1481400"/>
            <a:ext cx="881532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39"/>
          <p:cNvSpPr/>
          <p:nvPr/>
        </p:nvSpPr>
        <p:spPr>
          <a:xfrm>
            <a:off x="1571040" y="1408320"/>
            <a:ext cx="9048960" cy="522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88920" dir="5400000" dist="38160" rotWithShape="0">
              <a:srgbClr val="000000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0" name="Image 0" descr="/tmp/work/vq/q-40a.png"/>
          <p:cNvPicPr/>
          <p:nvPr/>
        </p:nvPicPr>
        <p:blipFill>
          <a:blip r:embed="rId1"/>
          <a:stretch/>
        </p:blipFill>
        <p:spPr>
          <a:xfrm>
            <a:off x="1644120" y="1481400"/>
            <a:ext cx="8902800" cy="507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0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Volume of a prism = area of cross-section × length.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Cuboid: V = length × width × height (cubic units).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Surface area = the total area of every face — use a net so you miss none.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Compound solids: split into simple parts, then add or subtract.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Volume is cm³; surface area is cm² — never mix them, and match units first.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prism volume is always cross-section × length; surface area is every face added up.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LibreOffice/24.2.7.2$Linux_X86_64 LibreOffice_project/420$Build-2</Application>
  <AppVersion>15.0000</AppVersion>
  <Words>842</Words>
  <Paragraphs>173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2026-07-15T14:54:08Z</dcterms:created>
  <dc:creator>Zahra Sheikh Ali</dc:creator>
  <dc:description/>
  <dc:language>en-US</dc:language>
  <cp:lastModifiedBy>zahraa sheik ali</cp:lastModifiedBy>
  <dcterms:modified xsi:type="dcterms:W3CDTF">2026-07-27T10:19:51Z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17</vt:r8>
  </property>
  <property fmtid="{D5CDD505-2E9C-101B-9397-08002B2CF9AE}" pid="3" name="PresentationFormat">
    <vt:lpwstr>Custom</vt:lpwstr>
  </property>
  <property fmtid="{D5CDD505-2E9C-101B-9397-08002B2CF9AE}" pid="4" name="Slides">
    <vt:r8>17</vt:r8>
  </property>
</Properties>
</file>