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58" r:id="rId4"/>
    <p:sldId id="259" r:id="rId5"/>
    <p:sldId id="274" r:id="rId6"/>
    <p:sldId id="273" r:id="rId7"/>
    <p:sldId id="261" r:id="rId8"/>
    <p:sldId id="262" r:id="rId9"/>
    <p:sldId id="263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>
        <p:scale>
          <a:sx n="56" d="100"/>
          <a:sy n="56" d="100"/>
        </p:scale>
        <p:origin x="-1685" y="-75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323243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635000" y="914400"/>
            <a:ext cx="8128000" cy="4572000"/>
          </a:xfrm>
          <a:prstGeom prst="rect">
            <a:avLst/>
          </a:prstGeo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5791200"/>
            <a:ext cx="5486400" cy="54864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>
          <a:xfrm>
            <a:off x="3884613" y="11580813"/>
            <a:ext cx="2971800" cy="609600"/>
          </a:xfrm>
          <a:prstGeom prst="rect">
            <a:avLst/>
          </a:prstGeom>
        </p:spPr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635000" y="914400"/>
            <a:ext cx="8128000" cy="4572000"/>
          </a:xfrm>
          <a:prstGeom prst="rect">
            <a:avLst/>
          </a:prstGeo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5791200"/>
            <a:ext cx="5486400" cy="54864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>
          <a:xfrm>
            <a:off x="3884613" y="11580813"/>
            <a:ext cx="2971800" cy="609600"/>
          </a:xfrm>
          <a:prstGeom prst="rect">
            <a:avLst/>
          </a:prstGeom>
        </p:spPr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2A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778240" y="914400"/>
            <a:ext cx="2011680" cy="1371600"/>
          </a:xfrm>
          <a:prstGeom prst="rect">
            <a:avLst/>
          </a:prstGeom>
          <a:ln w="50800">
            <a:solidFill>
              <a:srgbClr val="33463A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10789920" y="914400"/>
            <a:ext cx="502920" cy="0"/>
          </a:xfrm>
          <a:prstGeom prst="line">
            <a:avLst/>
          </a:prstGeom>
          <a:noFill/>
          <a:ln w="50800">
            <a:solidFill>
              <a:srgbClr val="33463A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8778240" y="914400"/>
            <a:ext cx="502920" cy="0"/>
          </a:xfrm>
          <a:prstGeom prst="line">
            <a:avLst/>
          </a:prstGeom>
          <a:noFill/>
          <a:ln w="50800">
            <a:solidFill>
              <a:srgbClr val="33463A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0789920" y="2286000"/>
            <a:ext cx="502920" cy="0"/>
          </a:xfrm>
          <a:prstGeom prst="line">
            <a:avLst/>
          </a:prstGeom>
          <a:noFill/>
          <a:ln w="50800">
            <a:solidFill>
              <a:srgbClr val="33463A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777240" y="640080"/>
            <a:ext cx="658368" cy="658368"/>
          </a:xfrm>
          <a:prstGeom prst="roundRect">
            <a:avLst>
              <a:gd name="adj" fmla="val 13889"/>
            </a:avLst>
          </a:prstGeom>
          <a:solidFill>
            <a:srgbClr val="E8623D"/>
          </a:solidFill>
          <a:ln/>
        </p:spPr>
      </p:sp>
      <p:sp>
        <p:nvSpPr>
          <p:cNvPr id="42" name="Text 40"/>
          <p:cNvSpPr/>
          <p:nvPr/>
        </p:nvSpPr>
        <p:spPr>
          <a:xfrm>
            <a:off x="777240" y="640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16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2160" dirty="0"/>
          </a:p>
        </p:txBody>
      </p:sp>
      <p:sp>
        <p:nvSpPr>
          <p:cNvPr id="43" name="Text 41"/>
          <p:cNvSpPr/>
          <p:nvPr/>
        </p:nvSpPr>
        <p:spPr>
          <a:xfrm>
            <a:off x="1600200" y="603504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E0A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Zπ  MATHS HUB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1600200" y="9144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C9D2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Pearson Edexcel IGCSE (9–1) · Higher Tier</a:t>
            </a:r>
            <a:endParaRPr lang="en-US" sz="1150" dirty="0"/>
          </a:p>
        </p:txBody>
      </p:sp>
      <p:sp>
        <p:nvSpPr>
          <p:cNvPr id="45" name="Text 43"/>
          <p:cNvSpPr/>
          <p:nvPr/>
        </p:nvSpPr>
        <p:spPr>
          <a:xfrm>
            <a:off x="777240" y="2240280"/>
            <a:ext cx="10789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Volume &amp; Surface Area</a:t>
            </a:r>
            <a:endParaRPr lang="en-US" sz="3800" dirty="0"/>
          </a:p>
        </p:txBody>
      </p:sp>
      <p:sp>
        <p:nvSpPr>
          <p:cNvPr id="46" name="Text 44"/>
          <p:cNvSpPr/>
          <p:nvPr/>
        </p:nvSpPr>
        <p:spPr>
          <a:xfrm>
            <a:off x="804672" y="3310128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EDEB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Cuboids · Prisms · Cross-sections · Surface Area from Nets · Compound Solids</a:t>
            </a:r>
            <a:endParaRPr lang="en-US" sz="1600" dirty="0"/>
          </a:p>
        </p:txBody>
      </p:sp>
      <p:sp>
        <p:nvSpPr>
          <p:cNvPr id="47" name="Shape 45"/>
          <p:cNvSpPr/>
          <p:nvPr/>
        </p:nvSpPr>
        <p:spPr>
          <a:xfrm>
            <a:off x="777240" y="4297680"/>
            <a:ext cx="6766560" cy="1691640"/>
          </a:xfrm>
          <a:prstGeom prst="roundRect">
            <a:avLst>
              <a:gd name="adj" fmla="val 3243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1097280" y="4498848"/>
            <a:ext cx="6126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Zahra Sheikh Ali</a:t>
            </a:r>
            <a:endParaRPr lang="en-US" sz="2200" dirty="0"/>
          </a:p>
        </p:txBody>
      </p:sp>
      <p:sp>
        <p:nvSpPr>
          <p:cNvPr id="49" name="Text 47"/>
          <p:cNvSpPr/>
          <p:nvPr/>
        </p:nvSpPr>
        <p:spPr>
          <a:xfrm>
            <a:off x="1097280" y="4956048"/>
            <a:ext cx="6217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C9D2C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IGCSE Mathematics Teacher  ·  M.Sc. Differential Geometry &amp; Geometric Control</a:t>
            </a:r>
            <a:endParaRPr lang="en-US" sz="1250" dirty="0"/>
          </a:p>
        </p:txBody>
      </p:sp>
      <p:sp>
        <p:nvSpPr>
          <p:cNvPr id="50" name="Text 48"/>
          <p:cNvSpPr/>
          <p:nvPr/>
        </p:nvSpPr>
        <p:spPr>
          <a:xfrm>
            <a:off x="1097280" y="5394960"/>
            <a:ext cx="6217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E862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☎  66613748      ✉  zahraa.sheikhali@outlook.com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OVERVIEW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Solids: Space Inside, Surface Outside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566928" y="1481328"/>
            <a:ext cx="11064240" cy="822960"/>
          </a:xfrm>
          <a:prstGeom prst="roundRect">
            <a:avLst>
              <a:gd name="adj" fmla="val 6667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886968" y="1481328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E0A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 is the space inside a solid (cubic units, cm³). </a:t>
            </a:r>
            <a:r>
              <a:rPr lang="en-US" sz="135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 AREA is the total area of all its faces (square units, cm²). Two different measures — keep them apart.</a:t>
            </a:r>
            <a:endParaRPr lang="en-US" sz="1350" dirty="0"/>
          </a:p>
        </p:txBody>
      </p:sp>
      <p:sp>
        <p:nvSpPr>
          <p:cNvPr id="43" name="Shape 41"/>
          <p:cNvSpPr/>
          <p:nvPr/>
        </p:nvSpPr>
        <p:spPr>
          <a:xfrm>
            <a:off x="566928" y="2651760"/>
            <a:ext cx="3502152" cy="1051560"/>
          </a:xfrm>
          <a:prstGeom prst="roundRect">
            <a:avLst>
              <a:gd name="adj" fmla="val 5217"/>
            </a:avLst>
          </a:prstGeom>
          <a:solidFill>
            <a:srgbClr val="EEF1E8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4" name="Shape 42"/>
          <p:cNvSpPr/>
          <p:nvPr/>
        </p:nvSpPr>
        <p:spPr>
          <a:xfrm>
            <a:off x="822960" y="2948940"/>
            <a:ext cx="457200" cy="457200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45" name="Text 43"/>
          <p:cNvSpPr/>
          <p:nvPr/>
        </p:nvSpPr>
        <p:spPr>
          <a:xfrm>
            <a:off x="822960" y="29489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46" name="Text 44"/>
          <p:cNvSpPr/>
          <p:nvPr/>
        </p:nvSpPr>
        <p:spPr>
          <a:xfrm>
            <a:off x="1435608" y="2651760"/>
            <a:ext cx="25420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Volume of a cuboid</a:t>
            </a:r>
            <a:endParaRPr lang="en-US" sz="1300" dirty="0"/>
          </a:p>
        </p:txBody>
      </p:sp>
      <p:sp>
        <p:nvSpPr>
          <p:cNvPr id="47" name="Shape 45"/>
          <p:cNvSpPr/>
          <p:nvPr/>
        </p:nvSpPr>
        <p:spPr>
          <a:xfrm>
            <a:off x="4343400" y="2651760"/>
            <a:ext cx="3502152" cy="1051560"/>
          </a:xfrm>
          <a:prstGeom prst="roundRect">
            <a:avLst>
              <a:gd name="adj" fmla="val 5217"/>
            </a:avLst>
          </a:prstGeom>
          <a:solidFill>
            <a:srgbClr val="EEF1E8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8" name="Shape 46"/>
          <p:cNvSpPr/>
          <p:nvPr/>
        </p:nvSpPr>
        <p:spPr>
          <a:xfrm>
            <a:off x="4599432" y="2948940"/>
            <a:ext cx="457200" cy="457200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49" name="Text 47"/>
          <p:cNvSpPr/>
          <p:nvPr/>
        </p:nvSpPr>
        <p:spPr>
          <a:xfrm>
            <a:off x="4599432" y="29489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50" name="Text 48"/>
          <p:cNvSpPr/>
          <p:nvPr/>
        </p:nvSpPr>
        <p:spPr>
          <a:xfrm>
            <a:off x="5212080" y="2651760"/>
            <a:ext cx="25420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Volume of any prism</a:t>
            </a:r>
            <a:endParaRPr lang="en-US" sz="1300" dirty="0"/>
          </a:p>
        </p:txBody>
      </p:sp>
      <p:sp>
        <p:nvSpPr>
          <p:cNvPr id="51" name="Shape 49"/>
          <p:cNvSpPr/>
          <p:nvPr/>
        </p:nvSpPr>
        <p:spPr>
          <a:xfrm>
            <a:off x="8119872" y="2651760"/>
            <a:ext cx="3502152" cy="1051560"/>
          </a:xfrm>
          <a:prstGeom prst="roundRect">
            <a:avLst>
              <a:gd name="adj" fmla="val 5217"/>
            </a:avLst>
          </a:prstGeom>
          <a:solidFill>
            <a:srgbClr val="EEF1E8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52" name="Shape 50"/>
          <p:cNvSpPr/>
          <p:nvPr/>
        </p:nvSpPr>
        <p:spPr>
          <a:xfrm>
            <a:off x="8375904" y="2948940"/>
            <a:ext cx="457200" cy="457200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3" name="Text 51"/>
          <p:cNvSpPr/>
          <p:nvPr/>
        </p:nvSpPr>
        <p:spPr>
          <a:xfrm>
            <a:off x="8375904" y="29489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54" name="Text 52"/>
          <p:cNvSpPr/>
          <p:nvPr/>
        </p:nvSpPr>
        <p:spPr>
          <a:xfrm>
            <a:off x="8988552" y="2651760"/>
            <a:ext cx="25420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Surface area from a net</a:t>
            </a:r>
            <a:endParaRPr lang="en-US" sz="1300" dirty="0"/>
          </a:p>
        </p:txBody>
      </p:sp>
      <p:sp>
        <p:nvSpPr>
          <p:cNvPr id="55" name="Shape 53"/>
          <p:cNvSpPr/>
          <p:nvPr/>
        </p:nvSpPr>
        <p:spPr>
          <a:xfrm>
            <a:off x="566928" y="3995928"/>
            <a:ext cx="3502152" cy="1051560"/>
          </a:xfrm>
          <a:prstGeom prst="roundRect">
            <a:avLst>
              <a:gd name="adj" fmla="val 5217"/>
            </a:avLst>
          </a:prstGeom>
          <a:solidFill>
            <a:srgbClr val="FBF3DD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56" name="Shape 54"/>
          <p:cNvSpPr/>
          <p:nvPr/>
        </p:nvSpPr>
        <p:spPr>
          <a:xfrm>
            <a:off x="822960" y="4293108"/>
            <a:ext cx="457200" cy="457200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7" name="Text 55"/>
          <p:cNvSpPr/>
          <p:nvPr/>
        </p:nvSpPr>
        <p:spPr>
          <a:xfrm>
            <a:off x="822960" y="42931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58" name="Text 56"/>
          <p:cNvSpPr/>
          <p:nvPr/>
        </p:nvSpPr>
        <p:spPr>
          <a:xfrm>
            <a:off x="1435608" y="3995928"/>
            <a:ext cx="25420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Surface area of a prism</a:t>
            </a:r>
            <a:endParaRPr lang="en-US" sz="1300" dirty="0"/>
          </a:p>
        </p:txBody>
      </p:sp>
      <p:sp>
        <p:nvSpPr>
          <p:cNvPr id="59" name="Shape 57"/>
          <p:cNvSpPr/>
          <p:nvPr/>
        </p:nvSpPr>
        <p:spPr>
          <a:xfrm>
            <a:off x="4343400" y="3995928"/>
            <a:ext cx="3502152" cy="1051560"/>
          </a:xfrm>
          <a:prstGeom prst="roundRect">
            <a:avLst>
              <a:gd name="adj" fmla="val 5217"/>
            </a:avLst>
          </a:prstGeom>
          <a:solidFill>
            <a:srgbClr val="FBF3DD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60" name="Shape 58"/>
          <p:cNvSpPr/>
          <p:nvPr/>
        </p:nvSpPr>
        <p:spPr>
          <a:xfrm>
            <a:off x="4599432" y="4293108"/>
            <a:ext cx="457200" cy="457200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61" name="Text 59"/>
          <p:cNvSpPr/>
          <p:nvPr/>
        </p:nvSpPr>
        <p:spPr>
          <a:xfrm>
            <a:off x="4599432" y="42931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000" dirty="0"/>
          </a:p>
        </p:txBody>
      </p:sp>
      <p:sp>
        <p:nvSpPr>
          <p:cNvPr id="62" name="Text 60"/>
          <p:cNvSpPr/>
          <p:nvPr/>
        </p:nvSpPr>
        <p:spPr>
          <a:xfrm>
            <a:off x="5212080" y="3995928"/>
            <a:ext cx="25420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Compound solids</a:t>
            </a:r>
            <a:endParaRPr lang="en-US" sz="1300" dirty="0"/>
          </a:p>
        </p:txBody>
      </p:sp>
      <p:sp>
        <p:nvSpPr>
          <p:cNvPr id="63" name="Shape 61"/>
          <p:cNvSpPr/>
          <p:nvPr/>
        </p:nvSpPr>
        <p:spPr>
          <a:xfrm>
            <a:off x="8119872" y="3995928"/>
            <a:ext cx="3502152" cy="1051560"/>
          </a:xfrm>
          <a:prstGeom prst="roundRect">
            <a:avLst>
              <a:gd name="adj" fmla="val 5217"/>
            </a:avLst>
          </a:prstGeom>
          <a:solidFill>
            <a:srgbClr val="FBF3DD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64" name="Shape 62"/>
          <p:cNvSpPr/>
          <p:nvPr/>
        </p:nvSpPr>
        <p:spPr>
          <a:xfrm>
            <a:off x="8375904" y="4293108"/>
            <a:ext cx="457200" cy="457200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65" name="Text 63"/>
          <p:cNvSpPr/>
          <p:nvPr/>
        </p:nvSpPr>
        <p:spPr>
          <a:xfrm>
            <a:off x="8375904" y="42931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2000" dirty="0"/>
          </a:p>
        </p:txBody>
      </p:sp>
      <p:sp>
        <p:nvSpPr>
          <p:cNvPr id="66" name="Text 64"/>
          <p:cNvSpPr/>
          <p:nvPr/>
        </p:nvSpPr>
        <p:spPr>
          <a:xfrm>
            <a:off x="8988552" y="3995928"/>
            <a:ext cx="25420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Past-paper questions</a:t>
            </a:r>
            <a:endParaRPr lang="en-US" sz="1300" dirty="0"/>
          </a:p>
        </p:txBody>
      </p:sp>
      <p:sp>
        <p:nvSpPr>
          <p:cNvPr id="67" name="Text 65"/>
          <p:cNvSpPr/>
          <p:nvPr/>
        </p:nvSpPr>
        <p:spPr>
          <a:xfrm>
            <a:off x="566928" y="61722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words:  </a:t>
            </a:r>
            <a:r>
              <a:rPr lang="en-US" sz="13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 · surface area · cuboid · prism · cross-section · net · face · cm³ vs cm²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KEY IDEA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Any Prism: Area of Cross-section × Length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566928" y="1325880"/>
            <a:ext cx="8140344" cy="658368"/>
          </a:xfrm>
          <a:prstGeom prst="roundRect">
            <a:avLst>
              <a:gd name="adj" fmla="val 8333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886968" y="1325880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E0A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prism has the SAME cross-section all the way through. </a:t>
            </a:r>
            <a:r>
              <a:rPr lang="en-US" sz="135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that area, then multiply by the length.</a:t>
            </a:r>
            <a:endParaRPr lang="en-US" sz="1350" dirty="0"/>
          </a:p>
        </p:txBody>
      </p:sp>
      <p:sp>
        <p:nvSpPr>
          <p:cNvPr id="43" name="Shape 41"/>
          <p:cNvSpPr/>
          <p:nvPr/>
        </p:nvSpPr>
        <p:spPr>
          <a:xfrm>
            <a:off x="1231775" y="2184147"/>
            <a:ext cx="8138160" cy="1188720"/>
          </a:xfrm>
          <a:prstGeom prst="roundRect">
            <a:avLst>
              <a:gd name="adj" fmla="val 4615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932688" y="2267712"/>
            <a:ext cx="8138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Volume of a prism  =  area of cross-section  ×  length</a:t>
            </a:r>
            <a:endParaRPr lang="en-US" sz="1900" dirty="0"/>
          </a:p>
        </p:txBody>
      </p:sp>
      <p:sp>
        <p:nvSpPr>
          <p:cNvPr id="45" name="Shape 43"/>
          <p:cNvSpPr/>
          <p:nvPr/>
        </p:nvSpPr>
        <p:spPr>
          <a:xfrm>
            <a:off x="566928" y="3749040"/>
            <a:ext cx="5440680" cy="1920240"/>
          </a:xfrm>
          <a:prstGeom prst="roundRect">
            <a:avLst>
              <a:gd name="adj" fmla="val 2857"/>
            </a:avLst>
          </a:prstGeom>
          <a:solidFill>
            <a:srgbClr val="EEF1E8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6" name="Text 44"/>
          <p:cNvSpPr/>
          <p:nvPr/>
        </p:nvSpPr>
        <p:spPr>
          <a:xfrm>
            <a:off x="932688" y="3986784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Cuboid (a rectangular prism)</a:t>
            </a:r>
            <a:endParaRPr lang="en-US" sz="1700" dirty="0"/>
          </a:p>
        </p:txBody>
      </p:sp>
      <p:sp>
        <p:nvSpPr>
          <p:cNvPr id="47" name="Text 45"/>
          <p:cNvSpPr/>
          <p:nvPr/>
        </p:nvSpPr>
        <p:spPr>
          <a:xfrm>
            <a:off x="914400" y="443484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 = length × width × height</a:t>
            </a:r>
            <a:endParaRPr lang="en-US" sz="1500" dirty="0"/>
          </a:p>
          <a:p>
            <a:pPr marL="0" indent="0">
              <a:buNone/>
            </a:pPr>
            <a:r>
              <a:rPr lang="en-US" sz="1300" i="1" dirty="0">
                <a:solidFill>
                  <a:srgbClr val="5C6B6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e.g. 13 × 8 × 5 = 520 cm³</a:t>
            </a:r>
            <a:endParaRPr lang="en-US" sz="1500" dirty="0"/>
          </a:p>
        </p:txBody>
      </p:sp>
      <p:sp>
        <p:nvSpPr>
          <p:cNvPr id="48" name="Shape 46"/>
          <p:cNvSpPr/>
          <p:nvPr/>
        </p:nvSpPr>
        <p:spPr>
          <a:xfrm>
            <a:off x="6190487" y="3749040"/>
            <a:ext cx="5999133" cy="1920240"/>
          </a:xfrm>
          <a:prstGeom prst="roundRect">
            <a:avLst>
              <a:gd name="adj" fmla="val 2857"/>
            </a:avLst>
          </a:prstGeom>
          <a:solidFill>
            <a:srgbClr val="FBF3DD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9" name="Text 47"/>
          <p:cNvSpPr/>
          <p:nvPr/>
        </p:nvSpPr>
        <p:spPr>
          <a:xfrm>
            <a:off x="6556248" y="3986784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Triangular / other prism</a:t>
            </a:r>
            <a:endParaRPr lang="en-US" sz="1700" dirty="0"/>
          </a:p>
        </p:txBody>
      </p:sp>
      <p:sp>
        <p:nvSpPr>
          <p:cNvPr id="50" name="Text 48"/>
          <p:cNvSpPr/>
          <p:nvPr/>
        </p:nvSpPr>
        <p:spPr>
          <a:xfrm>
            <a:off x="6537960" y="443484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 = (area of the triangle) × length</a:t>
            </a:r>
            <a:endParaRPr lang="en-US" sz="1500" dirty="0"/>
          </a:p>
          <a:p>
            <a:pPr marL="0" indent="0">
              <a:buNone/>
            </a:pPr>
            <a:r>
              <a:rPr lang="en-US" sz="1300" i="1" dirty="0">
                <a:solidFill>
                  <a:srgbClr val="5C6B6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 out the cross-section area first.</a:t>
            </a:r>
            <a:endParaRPr lang="en-US" sz="1500" dirty="0"/>
          </a:p>
        </p:txBody>
      </p:sp>
      <p:sp>
        <p:nvSpPr>
          <p:cNvPr id="51" name="Text 49"/>
          <p:cNvSpPr/>
          <p:nvPr/>
        </p:nvSpPr>
        <p:spPr>
          <a:xfrm>
            <a:off x="566928" y="58521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 is always in CUBIC units (cm³, m³) — three lengths multiplied.</a:t>
            </a:r>
            <a:endParaRPr lang="en-US" sz="1300" dirty="0"/>
          </a:p>
        </p:txBody>
      </p:sp>
      <p:grpSp>
        <p:nvGrpSpPr>
          <p:cNvPr id="52" name="Group 270"/>
          <p:cNvGrpSpPr>
            <a:grpSpLocks/>
          </p:cNvGrpSpPr>
          <p:nvPr/>
        </p:nvGrpSpPr>
        <p:grpSpPr bwMode="auto">
          <a:xfrm>
            <a:off x="9067495" y="3536886"/>
            <a:ext cx="3124200" cy="1997075"/>
            <a:chOff x="528" y="1536"/>
            <a:chExt cx="1968" cy="1258"/>
          </a:xfrm>
        </p:grpSpPr>
        <p:grpSp>
          <p:nvGrpSpPr>
            <p:cNvPr id="53" name="Group 262"/>
            <p:cNvGrpSpPr>
              <a:grpSpLocks/>
            </p:cNvGrpSpPr>
            <p:nvPr/>
          </p:nvGrpSpPr>
          <p:grpSpPr bwMode="auto">
            <a:xfrm>
              <a:off x="528" y="1776"/>
              <a:ext cx="1968" cy="1018"/>
              <a:chOff x="576" y="1920"/>
              <a:chExt cx="1550" cy="802"/>
            </a:xfrm>
          </p:grpSpPr>
          <p:sp>
            <p:nvSpPr>
              <p:cNvPr id="57" name="AutoShape 258"/>
              <p:cNvSpPr>
                <a:spLocks noChangeArrowheads="1"/>
              </p:cNvSpPr>
              <p:nvPr/>
            </p:nvSpPr>
            <p:spPr bwMode="auto">
              <a:xfrm rot="20793309" flipH="1">
                <a:off x="975" y="1997"/>
                <a:ext cx="1089" cy="653"/>
              </a:xfrm>
              <a:prstGeom prst="parallelogram">
                <a:avLst>
                  <a:gd name="adj" fmla="val 30142"/>
                </a:avLst>
              </a:prstGeom>
              <a:noFill/>
              <a:ln w="2857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gradFill rotWithShape="1">
                      <a:gsLst>
                        <a:gs pos="0">
                          <a:srgbClr val="EBE2F2"/>
                        </a:gs>
                        <a:gs pos="100000">
                          <a:srgbClr val="D0B8E0"/>
                        </a:gs>
                      </a:gsLst>
                      <a:lin ang="2700000" scaled="1"/>
                    </a:gra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endParaRPr lang="en-GB" sz="2400"/>
              </a:p>
            </p:txBody>
          </p:sp>
          <p:sp>
            <p:nvSpPr>
              <p:cNvPr id="58" name="AutoShape 259"/>
              <p:cNvSpPr>
                <a:spLocks noChangeArrowheads="1"/>
              </p:cNvSpPr>
              <p:nvPr/>
            </p:nvSpPr>
            <p:spPr bwMode="auto">
              <a:xfrm>
                <a:off x="578" y="2133"/>
                <a:ext cx="681" cy="589"/>
              </a:xfrm>
              <a:prstGeom prst="triangle">
                <a:avLst>
                  <a:gd name="adj" fmla="val 50000"/>
                </a:avLst>
              </a:prstGeom>
              <a:solidFill>
                <a:schemeClr val="accent2"/>
              </a:solidFill>
              <a:ln w="2857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endParaRPr lang="en-GB" sz="2400"/>
              </a:p>
            </p:txBody>
          </p:sp>
          <p:sp>
            <p:nvSpPr>
              <p:cNvPr id="59" name="Freeform 260"/>
              <p:cNvSpPr>
                <a:spLocks/>
              </p:cNvSpPr>
              <p:nvPr/>
            </p:nvSpPr>
            <p:spPr bwMode="auto">
              <a:xfrm rot="10800000">
                <a:off x="576" y="2514"/>
                <a:ext cx="1550" cy="206"/>
              </a:xfrm>
              <a:custGeom>
                <a:avLst/>
                <a:gdLst>
                  <a:gd name="T0" fmla="*/ 0 w 1550"/>
                  <a:gd name="T1" fmla="*/ 206 h 206"/>
                  <a:gd name="T2" fmla="*/ 688 w 1550"/>
                  <a:gd name="T3" fmla="*/ 206 h 206"/>
                  <a:gd name="T4" fmla="*/ 1550 w 1550"/>
                  <a:gd name="T5" fmla="*/ 0 h 2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1550" h="206">
                    <a:moveTo>
                      <a:pt x="0" y="206"/>
                    </a:moveTo>
                    <a:lnTo>
                      <a:pt x="688" y="206"/>
                    </a:lnTo>
                    <a:lnTo>
                      <a:pt x="1550" y="0"/>
                    </a:lnTo>
                  </a:path>
                </a:pathLst>
              </a:custGeom>
              <a:noFill/>
              <a:ln w="28575" cap="flat" cmpd="sng">
                <a:solidFill>
                  <a:schemeClr val="tx1"/>
                </a:solidFill>
                <a:prstDash val="dash"/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endParaRPr lang="en-GB" sz="2400"/>
              </a:p>
            </p:txBody>
          </p:sp>
          <p:sp>
            <p:nvSpPr>
              <p:cNvPr id="60" name="Freeform 261"/>
              <p:cNvSpPr>
                <a:spLocks/>
              </p:cNvSpPr>
              <p:nvPr/>
            </p:nvSpPr>
            <p:spPr bwMode="auto">
              <a:xfrm>
                <a:off x="1451" y="1920"/>
                <a:ext cx="337" cy="587"/>
              </a:xfrm>
              <a:custGeom>
                <a:avLst/>
                <a:gdLst>
                  <a:gd name="T0" fmla="*/ 0 w 337"/>
                  <a:gd name="T1" fmla="*/ 587 h 587"/>
                  <a:gd name="T2" fmla="*/ 337 w 337"/>
                  <a:gd name="T3" fmla="*/ 0 h 58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</a:cxnLst>
                <a:rect l="0" t="0" r="r" b="b"/>
                <a:pathLst>
                  <a:path w="337" h="587">
                    <a:moveTo>
                      <a:pt x="0" y="587"/>
                    </a:moveTo>
                    <a:lnTo>
                      <a:pt x="337" y="0"/>
                    </a:lnTo>
                  </a:path>
                </a:pathLst>
              </a:custGeom>
              <a:noFill/>
              <a:ln w="28575" cap="flat" cmpd="sng">
                <a:solidFill>
                  <a:schemeClr val="tx1"/>
                </a:solidFill>
                <a:prstDash val="dash"/>
                <a:round/>
                <a:headEnd type="none" w="med" len="med"/>
                <a:tailEnd type="none" w="med" len="med"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endParaRPr lang="en-GB" sz="2400"/>
              </a:p>
            </p:txBody>
          </p:sp>
        </p:grpSp>
        <p:sp>
          <p:nvSpPr>
            <p:cNvPr id="54" name="Text Box 267"/>
            <p:cNvSpPr txBox="1">
              <a:spLocks noChangeArrowheads="1"/>
            </p:cNvSpPr>
            <p:nvPr/>
          </p:nvSpPr>
          <p:spPr bwMode="auto">
            <a:xfrm>
              <a:off x="772" y="2412"/>
              <a:ext cx="419" cy="29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lang="en-GB" altLang="en-US" sz="2400" dirty="0"/>
                <a:t>CSA</a:t>
              </a:r>
            </a:p>
          </p:txBody>
        </p:sp>
        <p:sp>
          <p:nvSpPr>
            <p:cNvPr id="55" name="Line 268"/>
            <p:cNvSpPr>
              <a:spLocks noChangeShapeType="1"/>
            </p:cNvSpPr>
            <p:nvPr/>
          </p:nvSpPr>
          <p:spPr bwMode="auto">
            <a:xfrm flipV="1">
              <a:off x="960" y="1680"/>
              <a:ext cx="1106" cy="252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 type="arrow" w="med" len="med"/>
              <a:tailEnd type="arrow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</a:pPr>
              <a:endParaRPr lang="en-GB" sz="2400"/>
            </a:p>
          </p:txBody>
        </p:sp>
        <p:sp>
          <p:nvSpPr>
            <p:cNvPr id="56" name="Text Box 269"/>
            <p:cNvSpPr txBox="1">
              <a:spLocks noChangeArrowheads="1"/>
            </p:cNvSpPr>
            <p:nvPr/>
          </p:nvSpPr>
          <p:spPr bwMode="auto">
            <a:xfrm>
              <a:off x="1344" y="1536"/>
              <a:ext cx="198" cy="29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lang="en-GB" altLang="en-US" sz="2400" dirty="0"/>
                <a:t>L</a:t>
              </a:r>
            </a:p>
          </p:txBody>
        </p:sp>
      </p:grpSp>
      <p:grpSp>
        <p:nvGrpSpPr>
          <p:cNvPr id="61" name="Group 281"/>
          <p:cNvGrpSpPr>
            <a:grpSpLocks/>
          </p:cNvGrpSpPr>
          <p:nvPr/>
        </p:nvGrpSpPr>
        <p:grpSpPr bwMode="auto">
          <a:xfrm>
            <a:off x="9393151" y="566928"/>
            <a:ext cx="2135188" cy="2300288"/>
            <a:chOff x="3264" y="1536"/>
            <a:chExt cx="1345" cy="1449"/>
          </a:xfrm>
        </p:grpSpPr>
        <p:sp>
          <p:nvSpPr>
            <p:cNvPr id="62" name="Freeform 271"/>
            <p:cNvSpPr>
              <a:spLocks/>
            </p:cNvSpPr>
            <p:nvPr/>
          </p:nvSpPr>
          <p:spPr bwMode="auto">
            <a:xfrm>
              <a:off x="3600" y="2532"/>
              <a:ext cx="1008" cy="444"/>
            </a:xfrm>
            <a:custGeom>
              <a:avLst/>
              <a:gdLst>
                <a:gd name="T0" fmla="*/ 0 w 1008"/>
                <a:gd name="T1" fmla="*/ 444 h 444"/>
                <a:gd name="T2" fmla="*/ 720 w 1008"/>
                <a:gd name="T3" fmla="*/ 444 h 444"/>
                <a:gd name="T4" fmla="*/ 1008 w 1008"/>
                <a:gd name="T5" fmla="*/ 252 h 444"/>
                <a:gd name="T6" fmla="*/ 673 w 1008"/>
                <a:gd name="T7" fmla="*/ 0 h 444"/>
                <a:gd name="T8" fmla="*/ 0 w 1008"/>
                <a:gd name="T9" fmla="*/ 444 h 4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08" h="444">
                  <a:moveTo>
                    <a:pt x="0" y="444"/>
                  </a:moveTo>
                  <a:lnTo>
                    <a:pt x="720" y="444"/>
                  </a:lnTo>
                  <a:lnTo>
                    <a:pt x="1008" y="252"/>
                  </a:lnTo>
                  <a:lnTo>
                    <a:pt x="673" y="0"/>
                  </a:lnTo>
                  <a:lnTo>
                    <a:pt x="0" y="444"/>
                  </a:lnTo>
                  <a:close/>
                </a:path>
              </a:pathLst>
            </a:custGeom>
            <a:solidFill>
              <a:schemeClr val="accent2"/>
            </a:solidFill>
            <a:ln w="28575" cmpd="sng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</a:pPr>
              <a:endParaRPr lang="en-GB" sz="2400"/>
            </a:p>
          </p:txBody>
        </p:sp>
        <p:sp>
          <p:nvSpPr>
            <p:cNvPr id="63" name="Freeform 273"/>
            <p:cNvSpPr>
              <a:spLocks/>
            </p:cNvSpPr>
            <p:nvPr/>
          </p:nvSpPr>
          <p:spPr bwMode="auto">
            <a:xfrm>
              <a:off x="3600" y="1536"/>
              <a:ext cx="1008" cy="444"/>
            </a:xfrm>
            <a:custGeom>
              <a:avLst/>
              <a:gdLst>
                <a:gd name="T0" fmla="*/ 0 w 1008"/>
                <a:gd name="T1" fmla="*/ 444 h 444"/>
                <a:gd name="T2" fmla="*/ 720 w 1008"/>
                <a:gd name="T3" fmla="*/ 444 h 444"/>
                <a:gd name="T4" fmla="*/ 1008 w 1008"/>
                <a:gd name="T5" fmla="*/ 252 h 444"/>
                <a:gd name="T6" fmla="*/ 673 w 1008"/>
                <a:gd name="T7" fmla="*/ 0 h 444"/>
                <a:gd name="T8" fmla="*/ 0 w 1008"/>
                <a:gd name="T9" fmla="*/ 444 h 4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08" h="444">
                  <a:moveTo>
                    <a:pt x="0" y="444"/>
                  </a:moveTo>
                  <a:lnTo>
                    <a:pt x="720" y="444"/>
                  </a:lnTo>
                  <a:lnTo>
                    <a:pt x="1008" y="252"/>
                  </a:lnTo>
                  <a:lnTo>
                    <a:pt x="673" y="0"/>
                  </a:lnTo>
                  <a:lnTo>
                    <a:pt x="0" y="444"/>
                  </a:lnTo>
                  <a:close/>
                </a:path>
              </a:pathLst>
            </a:custGeom>
            <a:noFill/>
            <a:ln w="28575" cmpd="sng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</a:pPr>
              <a:endParaRPr lang="en-GB" sz="2400"/>
            </a:p>
          </p:txBody>
        </p:sp>
        <p:sp>
          <p:nvSpPr>
            <p:cNvPr id="64" name="Line 274"/>
            <p:cNvSpPr>
              <a:spLocks noChangeShapeType="1"/>
            </p:cNvSpPr>
            <p:nvPr/>
          </p:nvSpPr>
          <p:spPr bwMode="auto">
            <a:xfrm>
              <a:off x="3600" y="1968"/>
              <a:ext cx="0" cy="1008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</a:pPr>
              <a:endParaRPr lang="en-GB" sz="2400"/>
            </a:p>
          </p:txBody>
        </p:sp>
        <p:sp>
          <p:nvSpPr>
            <p:cNvPr id="65" name="Line 275"/>
            <p:cNvSpPr>
              <a:spLocks noChangeShapeType="1"/>
            </p:cNvSpPr>
            <p:nvPr/>
          </p:nvSpPr>
          <p:spPr bwMode="auto">
            <a:xfrm>
              <a:off x="4319" y="1977"/>
              <a:ext cx="0" cy="1008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</a:pPr>
              <a:endParaRPr lang="en-GB" sz="2400"/>
            </a:p>
          </p:txBody>
        </p:sp>
        <p:sp>
          <p:nvSpPr>
            <p:cNvPr id="66" name="Line 276"/>
            <p:cNvSpPr>
              <a:spLocks noChangeShapeType="1"/>
            </p:cNvSpPr>
            <p:nvPr/>
          </p:nvSpPr>
          <p:spPr bwMode="auto">
            <a:xfrm>
              <a:off x="4609" y="1785"/>
              <a:ext cx="0" cy="1008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</a:pPr>
              <a:endParaRPr lang="en-GB" sz="2400"/>
            </a:p>
          </p:txBody>
        </p:sp>
        <p:sp>
          <p:nvSpPr>
            <p:cNvPr id="67" name="Line 277"/>
            <p:cNvSpPr>
              <a:spLocks noChangeShapeType="1"/>
            </p:cNvSpPr>
            <p:nvPr/>
          </p:nvSpPr>
          <p:spPr bwMode="auto">
            <a:xfrm>
              <a:off x="4270" y="1546"/>
              <a:ext cx="0" cy="1008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</a:pPr>
              <a:endParaRPr lang="en-GB" sz="2400"/>
            </a:p>
          </p:txBody>
        </p:sp>
        <p:sp>
          <p:nvSpPr>
            <p:cNvPr id="68" name="Text Box 278"/>
            <p:cNvSpPr txBox="1">
              <a:spLocks noChangeArrowheads="1"/>
            </p:cNvSpPr>
            <p:nvPr/>
          </p:nvSpPr>
          <p:spPr bwMode="auto">
            <a:xfrm>
              <a:off x="3899" y="2694"/>
              <a:ext cx="419" cy="29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lang="en-GB" altLang="en-US" sz="2400" dirty="0"/>
                <a:t>CSA</a:t>
              </a:r>
            </a:p>
          </p:txBody>
        </p:sp>
        <p:sp>
          <p:nvSpPr>
            <p:cNvPr id="69" name="Line 279"/>
            <p:cNvSpPr>
              <a:spLocks noChangeShapeType="1"/>
            </p:cNvSpPr>
            <p:nvPr/>
          </p:nvSpPr>
          <p:spPr bwMode="auto">
            <a:xfrm>
              <a:off x="3504" y="1968"/>
              <a:ext cx="0" cy="1008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 type="arrow" w="med" len="med"/>
              <a:tailEnd type="arrow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</a:pPr>
              <a:endParaRPr lang="en-GB" sz="2400"/>
            </a:p>
          </p:txBody>
        </p:sp>
        <p:sp>
          <p:nvSpPr>
            <p:cNvPr id="70" name="Text Box 280"/>
            <p:cNvSpPr txBox="1">
              <a:spLocks noChangeArrowheads="1"/>
            </p:cNvSpPr>
            <p:nvPr/>
          </p:nvSpPr>
          <p:spPr bwMode="auto">
            <a:xfrm>
              <a:off x="3264" y="2304"/>
              <a:ext cx="198" cy="29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lang="en-GB" altLang="en-US" sz="2400" dirty="0"/>
                <a:t>L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Volume of a Cuboid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1688440" y="1353312"/>
            <a:ext cx="8814816" cy="251399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prstDash val="solid"/>
          </a:ln>
          <a:effectLst>
            <a:outerShdw blurRad="76200" dist="38100" dir="5400000" algn="bl" rotWithShape="0">
              <a:srgbClr val="000000">
                <a:alpha val="15000"/>
              </a:srgbClr>
            </a:outerShdw>
          </a:effectLst>
        </p:spPr>
      </p:sp>
      <p:pic>
        <p:nvPicPr>
          <p:cNvPr id="42" name="Image 0" descr="/tmp/work/vteach/t-1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52448" y="1417320"/>
            <a:ext cx="8686800" cy="2385974"/>
          </a:xfrm>
          <a:prstGeom prst="rect">
            <a:avLst/>
          </a:prstGeom>
        </p:spPr>
      </p:pic>
      <p:sp>
        <p:nvSpPr>
          <p:cNvPr id="43" name="Shape 40"/>
          <p:cNvSpPr/>
          <p:nvPr/>
        </p:nvSpPr>
        <p:spPr>
          <a:xfrm>
            <a:off x="566928" y="6144768"/>
            <a:ext cx="11064240" cy="548640"/>
          </a:xfrm>
          <a:prstGeom prst="roundRect">
            <a:avLst>
              <a:gd name="adj" fmla="val 10000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4" name="Text 41"/>
          <p:cNvSpPr/>
          <p:nvPr/>
        </p:nvSpPr>
        <p:spPr>
          <a:xfrm>
            <a:off x="886968" y="61447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0A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 = length × width × height. </a:t>
            </a:r>
            <a:r>
              <a:rPr lang="en-US" sz="130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Multiply the three dimensions together.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Volume of a </a:t>
            </a:r>
            <a:r>
              <a:rPr lang="en-US" sz="2800" b="1" dirty="0" smtClean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Triangular Pris</a:t>
            </a:r>
            <a:r>
              <a:rPr lang="en-US" sz="28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1688440" y="1353312"/>
            <a:ext cx="8814816" cy="414673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prstDash val="solid"/>
          </a:ln>
          <a:effectLst>
            <a:outerShdw blurRad="76200" dist="38100" dir="5400000" algn="bl" rotWithShape="0">
              <a:srgbClr val="000000">
                <a:alpha val="15000"/>
              </a:srgbClr>
            </a:outerShdw>
          </a:effectLst>
        </p:spPr>
      </p:sp>
      <p:sp>
        <p:nvSpPr>
          <p:cNvPr id="43" name="Shape 40"/>
          <p:cNvSpPr/>
          <p:nvPr/>
        </p:nvSpPr>
        <p:spPr>
          <a:xfrm>
            <a:off x="566928" y="6144768"/>
            <a:ext cx="11064240" cy="548640"/>
          </a:xfrm>
          <a:prstGeom prst="roundRect">
            <a:avLst>
              <a:gd name="adj" fmla="val 10000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4" name="Text 41"/>
          <p:cNvSpPr/>
          <p:nvPr/>
        </p:nvSpPr>
        <p:spPr>
          <a:xfrm>
            <a:off x="886968" y="61447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spcAft>
                <a:spcPts val="600"/>
              </a:spcAft>
            </a:pPr>
            <a:r>
              <a:rPr lang="en-US" sz="15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 = (area of the triangle) × </a:t>
            </a:r>
            <a:r>
              <a:rPr lang="en-US" sz="1500" b="1" dirty="0" smtClean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length</a:t>
            </a:r>
            <a:r>
              <a:rPr lang="en-US" sz="1500" dirty="0" smtClean="0"/>
              <a:t>, </a:t>
            </a:r>
            <a:r>
              <a:rPr lang="en-US" sz="1300" i="1" dirty="0" smtClean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 </a:t>
            </a:r>
            <a:r>
              <a:rPr lang="en-US" sz="1300" i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out the cross-section area first</a:t>
            </a:r>
            <a:r>
              <a:rPr lang="en-US" sz="1300" i="1" dirty="0">
                <a:solidFill>
                  <a:srgbClr val="5C6B6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.</a:t>
            </a:r>
            <a:endParaRPr lang="en-US" sz="1500" dirty="0"/>
          </a:p>
        </p:txBody>
      </p:sp>
      <p:sp>
        <p:nvSpPr>
          <p:cNvPr id="45" name="Freeform 44"/>
          <p:cNvSpPr>
            <a:spLocks/>
          </p:cNvSpPr>
          <p:nvPr/>
        </p:nvSpPr>
        <p:spPr bwMode="auto">
          <a:xfrm>
            <a:off x="5784476" y="1485500"/>
            <a:ext cx="3457575" cy="2597150"/>
          </a:xfrm>
          <a:custGeom>
            <a:avLst/>
            <a:gdLst>
              <a:gd name="T0" fmla="*/ 0 w 2178"/>
              <a:gd name="T1" fmla="*/ 727 h 1636"/>
              <a:gd name="T2" fmla="*/ 1157 w 2178"/>
              <a:gd name="T3" fmla="*/ 0 h 1636"/>
              <a:gd name="T4" fmla="*/ 2178 w 2178"/>
              <a:gd name="T5" fmla="*/ 909 h 1636"/>
              <a:gd name="T6" fmla="*/ 1025 w 2178"/>
              <a:gd name="T7" fmla="*/ 1636 h 1636"/>
              <a:gd name="T8" fmla="*/ 0 w 2178"/>
              <a:gd name="T9" fmla="*/ 727 h 163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2178" h="1636">
                <a:moveTo>
                  <a:pt x="0" y="727"/>
                </a:moveTo>
                <a:lnTo>
                  <a:pt x="1157" y="0"/>
                </a:lnTo>
                <a:lnTo>
                  <a:pt x="2178" y="909"/>
                </a:lnTo>
                <a:lnTo>
                  <a:pt x="1025" y="1636"/>
                </a:lnTo>
                <a:lnTo>
                  <a:pt x="0" y="727"/>
                </a:lnTo>
                <a:close/>
              </a:path>
            </a:pathLst>
          </a:custGeom>
          <a:solidFill>
            <a:srgbClr val="FFE05D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endParaRPr lang="en-GB" sz="2400"/>
          </a:p>
        </p:txBody>
      </p:sp>
      <p:sp>
        <p:nvSpPr>
          <p:cNvPr id="46" name="Freeform 45"/>
          <p:cNvSpPr>
            <a:spLocks/>
          </p:cNvSpPr>
          <p:nvPr/>
        </p:nvSpPr>
        <p:spPr bwMode="auto">
          <a:xfrm>
            <a:off x="5024063" y="2639613"/>
            <a:ext cx="2368550" cy="1443037"/>
          </a:xfrm>
          <a:custGeom>
            <a:avLst/>
            <a:gdLst>
              <a:gd name="T0" fmla="*/ 479 w 1492"/>
              <a:gd name="T1" fmla="*/ 0 h 909"/>
              <a:gd name="T2" fmla="*/ 0 w 1492"/>
              <a:gd name="T3" fmla="*/ 909 h 909"/>
              <a:gd name="T4" fmla="*/ 1492 w 1492"/>
              <a:gd name="T5" fmla="*/ 903 h 909"/>
              <a:gd name="T6" fmla="*/ 479 w 1492"/>
              <a:gd name="T7" fmla="*/ 0 h 90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1492" h="909">
                <a:moveTo>
                  <a:pt x="479" y="0"/>
                </a:moveTo>
                <a:lnTo>
                  <a:pt x="0" y="909"/>
                </a:lnTo>
                <a:lnTo>
                  <a:pt x="1492" y="903"/>
                </a:lnTo>
                <a:lnTo>
                  <a:pt x="479" y="0"/>
                </a:lnTo>
                <a:close/>
              </a:path>
            </a:pathLst>
          </a:custGeom>
          <a:solidFill>
            <a:srgbClr val="FFCC0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endParaRPr lang="en-GB" sz="2400"/>
          </a:p>
        </p:txBody>
      </p:sp>
      <p:sp>
        <p:nvSpPr>
          <p:cNvPr id="47" name="Line 8"/>
          <p:cNvSpPr>
            <a:spLocks noChangeShapeType="1"/>
          </p:cNvSpPr>
          <p:nvPr/>
        </p:nvSpPr>
        <p:spPr bwMode="auto">
          <a:xfrm flipV="1">
            <a:off x="5028826" y="2639613"/>
            <a:ext cx="0" cy="1439862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 type="arrow" w="med" len="med"/>
            <a:tailEnd type="arrow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endParaRPr lang="en-GB" sz="2400"/>
          </a:p>
        </p:txBody>
      </p:sp>
      <p:grpSp>
        <p:nvGrpSpPr>
          <p:cNvPr id="48" name="Group 9"/>
          <p:cNvGrpSpPr>
            <a:grpSpLocks/>
          </p:cNvGrpSpPr>
          <p:nvPr/>
        </p:nvGrpSpPr>
        <p:grpSpPr bwMode="auto">
          <a:xfrm>
            <a:off x="5028826" y="2639613"/>
            <a:ext cx="2376487" cy="1439862"/>
            <a:chOff x="1133" y="2069"/>
            <a:chExt cx="1497" cy="907"/>
          </a:xfrm>
        </p:grpSpPr>
        <p:sp>
          <p:nvSpPr>
            <p:cNvPr id="49" name="Line 10"/>
            <p:cNvSpPr>
              <a:spLocks noChangeShapeType="1"/>
            </p:cNvSpPr>
            <p:nvPr/>
          </p:nvSpPr>
          <p:spPr bwMode="auto">
            <a:xfrm>
              <a:off x="1133" y="2976"/>
              <a:ext cx="1497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</a:pPr>
              <a:endParaRPr lang="en-GB" sz="2400"/>
            </a:p>
          </p:txBody>
        </p:sp>
        <p:sp>
          <p:nvSpPr>
            <p:cNvPr id="50" name="Line 11"/>
            <p:cNvSpPr>
              <a:spLocks noChangeShapeType="1"/>
            </p:cNvSpPr>
            <p:nvPr/>
          </p:nvSpPr>
          <p:spPr bwMode="auto">
            <a:xfrm flipV="1">
              <a:off x="1133" y="2069"/>
              <a:ext cx="477" cy="907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</a:pPr>
              <a:endParaRPr lang="en-GB" sz="2400"/>
            </a:p>
          </p:txBody>
        </p:sp>
        <p:sp>
          <p:nvSpPr>
            <p:cNvPr id="51" name="Line 12"/>
            <p:cNvSpPr>
              <a:spLocks noChangeShapeType="1"/>
            </p:cNvSpPr>
            <p:nvPr/>
          </p:nvSpPr>
          <p:spPr bwMode="auto">
            <a:xfrm>
              <a:off x="1610" y="2069"/>
              <a:ext cx="1020" cy="907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</a:pPr>
              <a:endParaRPr lang="en-GB" sz="2400"/>
            </a:p>
          </p:txBody>
        </p:sp>
      </p:grpSp>
      <p:sp>
        <p:nvSpPr>
          <p:cNvPr id="52" name="Line 13"/>
          <p:cNvSpPr>
            <a:spLocks noChangeShapeType="1"/>
          </p:cNvSpPr>
          <p:nvPr/>
        </p:nvSpPr>
        <p:spPr bwMode="auto">
          <a:xfrm>
            <a:off x="5028826" y="2639613"/>
            <a:ext cx="757237" cy="0"/>
          </a:xfrm>
          <a:prstGeom prst="line">
            <a:avLst/>
          </a:prstGeom>
          <a:noFill/>
          <a:ln w="28575">
            <a:solidFill>
              <a:schemeClr val="tx1"/>
            </a:solidFill>
            <a:prstDash val="sysDot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endParaRPr lang="en-GB" sz="2400"/>
          </a:p>
        </p:txBody>
      </p:sp>
      <p:sp>
        <p:nvSpPr>
          <p:cNvPr id="53" name="Line 14"/>
          <p:cNvSpPr>
            <a:spLocks noChangeShapeType="1"/>
          </p:cNvSpPr>
          <p:nvPr/>
        </p:nvSpPr>
        <p:spPr bwMode="auto">
          <a:xfrm>
            <a:off x="6865563" y="2928538"/>
            <a:ext cx="2376488" cy="0"/>
          </a:xfrm>
          <a:prstGeom prst="line">
            <a:avLst/>
          </a:prstGeom>
          <a:noFill/>
          <a:ln w="19050">
            <a:solidFill>
              <a:schemeClr val="tx1"/>
            </a:solidFill>
            <a:prstDash val="sysDot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endParaRPr lang="en-GB" sz="2400"/>
          </a:p>
        </p:txBody>
      </p:sp>
      <p:sp>
        <p:nvSpPr>
          <p:cNvPr id="54" name="Line 15"/>
          <p:cNvSpPr>
            <a:spLocks noChangeShapeType="1"/>
          </p:cNvSpPr>
          <p:nvPr/>
        </p:nvSpPr>
        <p:spPr bwMode="auto">
          <a:xfrm flipV="1">
            <a:off x="6865563" y="1488675"/>
            <a:ext cx="757238" cy="1439863"/>
          </a:xfrm>
          <a:prstGeom prst="line">
            <a:avLst/>
          </a:prstGeom>
          <a:noFill/>
          <a:ln w="19050">
            <a:solidFill>
              <a:schemeClr val="tx1"/>
            </a:solidFill>
            <a:prstDash val="sysDot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endParaRPr lang="en-GB" sz="2400"/>
          </a:p>
        </p:txBody>
      </p:sp>
      <p:sp>
        <p:nvSpPr>
          <p:cNvPr id="55" name="Line 16"/>
          <p:cNvSpPr>
            <a:spLocks noChangeShapeType="1"/>
          </p:cNvSpPr>
          <p:nvPr/>
        </p:nvSpPr>
        <p:spPr bwMode="auto">
          <a:xfrm>
            <a:off x="7622801" y="1488675"/>
            <a:ext cx="1619250" cy="1439863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endParaRPr lang="en-GB" sz="2400"/>
          </a:p>
        </p:txBody>
      </p:sp>
      <p:sp>
        <p:nvSpPr>
          <p:cNvPr id="56" name="Line 17"/>
          <p:cNvSpPr>
            <a:spLocks noChangeShapeType="1"/>
          </p:cNvSpPr>
          <p:nvPr/>
        </p:nvSpPr>
        <p:spPr bwMode="auto">
          <a:xfrm flipV="1">
            <a:off x="5786063" y="1488675"/>
            <a:ext cx="1836738" cy="1150938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endParaRPr lang="en-GB" sz="2400"/>
          </a:p>
        </p:txBody>
      </p:sp>
      <p:sp>
        <p:nvSpPr>
          <p:cNvPr id="57" name="Line 18"/>
          <p:cNvSpPr>
            <a:spLocks noChangeShapeType="1"/>
          </p:cNvSpPr>
          <p:nvPr/>
        </p:nvSpPr>
        <p:spPr bwMode="auto">
          <a:xfrm flipV="1">
            <a:off x="5028826" y="2928538"/>
            <a:ext cx="1836737" cy="1150937"/>
          </a:xfrm>
          <a:prstGeom prst="line">
            <a:avLst/>
          </a:prstGeom>
          <a:noFill/>
          <a:ln w="19050">
            <a:solidFill>
              <a:schemeClr val="tx1"/>
            </a:solidFill>
            <a:prstDash val="sysDot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endParaRPr lang="en-GB" sz="2400"/>
          </a:p>
        </p:txBody>
      </p:sp>
      <p:sp>
        <p:nvSpPr>
          <p:cNvPr id="58" name="Line 19"/>
          <p:cNvSpPr>
            <a:spLocks noChangeShapeType="1"/>
          </p:cNvSpPr>
          <p:nvPr/>
        </p:nvSpPr>
        <p:spPr bwMode="auto">
          <a:xfrm flipV="1">
            <a:off x="7405313" y="2928538"/>
            <a:ext cx="1836738" cy="1150937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endParaRPr lang="en-GB" sz="2400"/>
          </a:p>
        </p:txBody>
      </p:sp>
      <p:sp>
        <p:nvSpPr>
          <p:cNvPr id="59" name="Line 20"/>
          <p:cNvSpPr>
            <a:spLocks noChangeShapeType="1"/>
          </p:cNvSpPr>
          <p:nvPr/>
        </p:nvSpPr>
        <p:spPr bwMode="auto">
          <a:xfrm flipV="1">
            <a:off x="5784476" y="1344213"/>
            <a:ext cx="1836737" cy="1150937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 type="arrow" w="med" len="med"/>
            <a:tailEnd type="arrow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endParaRPr lang="en-GB" sz="2400"/>
          </a:p>
        </p:txBody>
      </p:sp>
      <p:sp>
        <p:nvSpPr>
          <p:cNvPr id="60" name="Line 21"/>
          <p:cNvSpPr>
            <a:spLocks noChangeShapeType="1"/>
          </p:cNvSpPr>
          <p:nvPr/>
        </p:nvSpPr>
        <p:spPr bwMode="auto">
          <a:xfrm>
            <a:off x="5028826" y="4220763"/>
            <a:ext cx="2363787" cy="3175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 type="arrow" w="med" len="med"/>
            <a:tailEnd type="arrow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endParaRPr lang="en-GB" sz="2400"/>
          </a:p>
        </p:txBody>
      </p:sp>
      <p:sp>
        <p:nvSpPr>
          <p:cNvPr id="61" name="Text Box 22"/>
          <p:cNvSpPr txBox="1">
            <a:spLocks noChangeArrowheads="1"/>
          </p:cNvSpPr>
          <p:nvPr/>
        </p:nvSpPr>
        <p:spPr bwMode="auto">
          <a:xfrm>
            <a:off x="5857501" y="4223938"/>
            <a:ext cx="784189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400"/>
              <a:t>5 cm</a:t>
            </a:r>
            <a:endParaRPr lang="en-GB" altLang="en-US" sz="2400"/>
          </a:p>
        </p:txBody>
      </p:sp>
      <p:sp>
        <p:nvSpPr>
          <p:cNvPr id="62" name="Text Box 23"/>
          <p:cNvSpPr txBox="1">
            <a:spLocks noChangeArrowheads="1"/>
          </p:cNvSpPr>
          <p:nvPr/>
        </p:nvSpPr>
        <p:spPr bwMode="auto">
          <a:xfrm>
            <a:off x="4179513" y="3071413"/>
            <a:ext cx="784189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400"/>
              <a:t>4 cm</a:t>
            </a:r>
            <a:endParaRPr lang="en-GB" altLang="en-US" sz="2400"/>
          </a:p>
        </p:txBody>
      </p:sp>
      <p:sp>
        <p:nvSpPr>
          <p:cNvPr id="63" name="Text Box 24"/>
          <p:cNvSpPr txBox="1">
            <a:spLocks noChangeArrowheads="1"/>
          </p:cNvSpPr>
          <p:nvPr/>
        </p:nvSpPr>
        <p:spPr bwMode="auto">
          <a:xfrm>
            <a:off x="5784476" y="1485500"/>
            <a:ext cx="1016625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400"/>
              <a:t>7.2 cm</a:t>
            </a:r>
            <a:endParaRPr lang="en-GB" altLang="en-US" sz="2400"/>
          </a:p>
        </p:txBody>
      </p:sp>
      <p:sp>
        <p:nvSpPr>
          <p:cNvPr id="64" name="Text Box 25"/>
          <p:cNvSpPr txBox="1">
            <a:spLocks noChangeArrowheads="1"/>
          </p:cNvSpPr>
          <p:nvPr/>
        </p:nvSpPr>
        <p:spPr bwMode="auto">
          <a:xfrm>
            <a:off x="3728663" y="4655738"/>
            <a:ext cx="4407617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400"/>
              <a:t>Area of cross-section = ½ × 5 × 4 =</a:t>
            </a:r>
          </a:p>
        </p:txBody>
      </p:sp>
      <p:sp>
        <p:nvSpPr>
          <p:cNvPr id="65" name="Text Box 26"/>
          <p:cNvSpPr txBox="1">
            <a:spLocks noChangeArrowheads="1"/>
          </p:cNvSpPr>
          <p:nvPr/>
        </p:nvSpPr>
        <p:spPr bwMode="auto">
          <a:xfrm>
            <a:off x="8592763" y="4655738"/>
            <a:ext cx="1043876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400"/>
              <a:t>10 cm</a:t>
            </a:r>
            <a:r>
              <a:rPr lang="en-US" altLang="en-US" sz="2400" baseline="30000"/>
              <a:t>2</a:t>
            </a:r>
            <a:endParaRPr lang="en-GB" altLang="en-US" sz="2400" baseline="30000"/>
          </a:p>
        </p:txBody>
      </p:sp>
      <p:sp>
        <p:nvSpPr>
          <p:cNvPr id="66" name="Text Box 27"/>
          <p:cNvSpPr txBox="1">
            <a:spLocks noChangeArrowheads="1"/>
          </p:cNvSpPr>
          <p:nvPr/>
        </p:nvSpPr>
        <p:spPr bwMode="auto">
          <a:xfrm>
            <a:off x="3728663" y="5106588"/>
            <a:ext cx="3744808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400"/>
              <a:t>Volume of prism = 10 × 7.2 =</a:t>
            </a:r>
            <a:endParaRPr lang="en-GB" altLang="en-US" sz="2400"/>
          </a:p>
        </p:txBody>
      </p:sp>
      <p:sp>
        <p:nvSpPr>
          <p:cNvPr id="67" name="Text Box 28"/>
          <p:cNvSpPr txBox="1">
            <a:spLocks noChangeArrowheads="1"/>
          </p:cNvSpPr>
          <p:nvPr/>
        </p:nvSpPr>
        <p:spPr bwMode="auto">
          <a:xfrm>
            <a:off x="7729163" y="5106588"/>
            <a:ext cx="1047082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400" b="1"/>
              <a:t>72 cm</a:t>
            </a:r>
            <a:r>
              <a:rPr lang="en-US" altLang="en-US" sz="2400" b="1" baseline="30000"/>
              <a:t>3</a:t>
            </a:r>
            <a:endParaRPr lang="en-GB" altLang="en-US" sz="2400" b="1" baseline="30000"/>
          </a:p>
        </p:txBody>
      </p:sp>
    </p:spTree>
    <p:extLst>
      <p:ext uri="{BB962C8B-B14F-4D97-AF65-F5344CB8AC3E}">
        <p14:creationId xmlns:p14="http://schemas.microsoft.com/office/powerpoint/2010/main" val="36821909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4" grpId="0"/>
      <p:bldP spid="65" grpId="0"/>
      <p:bldP spid="66" grpId="0"/>
      <p:bldP spid="67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COMPOUND SOLIDS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Split Into Simple Solids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1734189" y="1353312"/>
            <a:ext cx="8723318" cy="465429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prstDash val="solid"/>
          </a:ln>
          <a:effectLst>
            <a:outerShdw blurRad="76200" dist="38100" dir="5400000" algn="bl" rotWithShape="0">
              <a:srgbClr val="000000">
                <a:alpha val="15000"/>
              </a:srgbClr>
            </a:outerShdw>
          </a:effectLst>
        </p:spPr>
      </p:sp>
      <p:sp>
        <p:nvSpPr>
          <p:cNvPr id="43" name="Shape 40"/>
          <p:cNvSpPr/>
          <p:nvPr/>
        </p:nvSpPr>
        <p:spPr>
          <a:xfrm>
            <a:off x="566928" y="6144768"/>
            <a:ext cx="11064240" cy="548640"/>
          </a:xfrm>
          <a:prstGeom prst="roundRect">
            <a:avLst>
              <a:gd name="adj" fmla="val 10000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4" name="Text 41"/>
          <p:cNvSpPr/>
          <p:nvPr/>
        </p:nvSpPr>
        <p:spPr>
          <a:xfrm>
            <a:off x="886968" y="61447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0A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 the solid into cuboids (or prisms), </a:t>
            </a:r>
            <a:r>
              <a:rPr lang="en-US" sz="130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each volume, then add — or subtract a piece that is cut out.</a:t>
            </a:r>
            <a:endParaRPr lang="en-US" sz="1300" dirty="0"/>
          </a:p>
        </p:txBody>
      </p:sp>
      <p:sp>
        <p:nvSpPr>
          <p:cNvPr id="45" name="Freeform 9"/>
          <p:cNvSpPr>
            <a:spLocks/>
          </p:cNvSpPr>
          <p:nvPr/>
        </p:nvSpPr>
        <p:spPr bwMode="auto">
          <a:xfrm>
            <a:off x="2481853" y="2535238"/>
            <a:ext cx="2200275" cy="2636837"/>
          </a:xfrm>
          <a:custGeom>
            <a:avLst/>
            <a:gdLst>
              <a:gd name="T0" fmla="*/ 0 w 1134"/>
              <a:gd name="T1" fmla="*/ 0 h 1360"/>
              <a:gd name="T2" fmla="*/ 0 w 1134"/>
              <a:gd name="T3" fmla="*/ 1360 h 1360"/>
              <a:gd name="T4" fmla="*/ 1134 w 1134"/>
              <a:gd name="T5" fmla="*/ 1360 h 1360"/>
              <a:gd name="T6" fmla="*/ 1134 w 1134"/>
              <a:gd name="T7" fmla="*/ 907 h 1360"/>
              <a:gd name="T8" fmla="*/ 680 w 1134"/>
              <a:gd name="T9" fmla="*/ 907 h 1360"/>
              <a:gd name="T10" fmla="*/ 680 w 1134"/>
              <a:gd name="T11" fmla="*/ 0 h 1360"/>
              <a:gd name="T12" fmla="*/ 0 w 1134"/>
              <a:gd name="T13" fmla="*/ 0 h 136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1134" h="1360">
                <a:moveTo>
                  <a:pt x="0" y="0"/>
                </a:moveTo>
                <a:lnTo>
                  <a:pt x="0" y="1360"/>
                </a:lnTo>
                <a:lnTo>
                  <a:pt x="1134" y="1360"/>
                </a:lnTo>
                <a:lnTo>
                  <a:pt x="1134" y="907"/>
                </a:lnTo>
                <a:lnTo>
                  <a:pt x="680" y="907"/>
                </a:lnTo>
                <a:lnTo>
                  <a:pt x="680" y="0"/>
                </a:lnTo>
                <a:lnTo>
                  <a:pt x="0" y="0"/>
                </a:lnTo>
                <a:close/>
              </a:path>
            </a:pathLst>
          </a:custGeom>
          <a:solidFill>
            <a:srgbClr val="C6EA9A"/>
          </a:solidFill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endParaRPr lang="en-GB" sz="2400"/>
          </a:p>
        </p:txBody>
      </p:sp>
      <p:sp>
        <p:nvSpPr>
          <p:cNvPr id="46" name="Freeform 11"/>
          <p:cNvSpPr>
            <a:spLocks/>
          </p:cNvSpPr>
          <p:nvPr/>
        </p:nvSpPr>
        <p:spPr bwMode="auto">
          <a:xfrm>
            <a:off x="3801066" y="3765550"/>
            <a:ext cx="1758950" cy="528638"/>
          </a:xfrm>
          <a:custGeom>
            <a:avLst/>
            <a:gdLst>
              <a:gd name="T0" fmla="*/ 454 w 907"/>
              <a:gd name="T1" fmla="*/ 0 h 272"/>
              <a:gd name="T2" fmla="*/ 0 w 907"/>
              <a:gd name="T3" fmla="*/ 272 h 272"/>
              <a:gd name="T4" fmla="*/ 454 w 907"/>
              <a:gd name="T5" fmla="*/ 272 h 272"/>
              <a:gd name="T6" fmla="*/ 907 w 907"/>
              <a:gd name="T7" fmla="*/ 0 h 272"/>
              <a:gd name="T8" fmla="*/ 454 w 907"/>
              <a:gd name="T9" fmla="*/ 0 h 27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907" h="272">
                <a:moveTo>
                  <a:pt x="454" y="0"/>
                </a:moveTo>
                <a:lnTo>
                  <a:pt x="0" y="272"/>
                </a:lnTo>
                <a:lnTo>
                  <a:pt x="454" y="272"/>
                </a:lnTo>
                <a:lnTo>
                  <a:pt x="907" y="0"/>
                </a:lnTo>
                <a:lnTo>
                  <a:pt x="454" y="0"/>
                </a:lnTo>
                <a:close/>
              </a:path>
            </a:pathLst>
          </a:custGeom>
          <a:solidFill>
            <a:srgbClr val="A7DF63"/>
          </a:solidFill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endParaRPr lang="en-GB" sz="2400"/>
          </a:p>
        </p:txBody>
      </p:sp>
      <p:sp>
        <p:nvSpPr>
          <p:cNvPr id="47" name="Freeform 12"/>
          <p:cNvSpPr>
            <a:spLocks/>
          </p:cNvSpPr>
          <p:nvPr/>
        </p:nvSpPr>
        <p:spPr bwMode="auto">
          <a:xfrm>
            <a:off x="4682128" y="3765550"/>
            <a:ext cx="877888" cy="1406525"/>
          </a:xfrm>
          <a:custGeom>
            <a:avLst/>
            <a:gdLst>
              <a:gd name="T0" fmla="*/ 0 w 453"/>
              <a:gd name="T1" fmla="*/ 272 h 725"/>
              <a:gd name="T2" fmla="*/ 0 w 453"/>
              <a:gd name="T3" fmla="*/ 725 h 725"/>
              <a:gd name="T4" fmla="*/ 453 w 453"/>
              <a:gd name="T5" fmla="*/ 453 h 725"/>
              <a:gd name="T6" fmla="*/ 453 w 453"/>
              <a:gd name="T7" fmla="*/ 0 h 725"/>
              <a:gd name="T8" fmla="*/ 0 w 453"/>
              <a:gd name="T9" fmla="*/ 272 h 725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453" h="725">
                <a:moveTo>
                  <a:pt x="0" y="272"/>
                </a:moveTo>
                <a:lnTo>
                  <a:pt x="0" y="725"/>
                </a:lnTo>
                <a:lnTo>
                  <a:pt x="453" y="453"/>
                </a:lnTo>
                <a:lnTo>
                  <a:pt x="453" y="0"/>
                </a:lnTo>
                <a:lnTo>
                  <a:pt x="0" y="272"/>
                </a:lnTo>
                <a:close/>
              </a:path>
            </a:pathLst>
          </a:custGeom>
          <a:solidFill>
            <a:srgbClr val="DBF2C0"/>
          </a:solidFill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endParaRPr lang="en-GB" sz="2400"/>
          </a:p>
        </p:txBody>
      </p:sp>
      <p:grpSp>
        <p:nvGrpSpPr>
          <p:cNvPr id="48" name="Group 56"/>
          <p:cNvGrpSpPr>
            <a:grpSpLocks/>
          </p:cNvGrpSpPr>
          <p:nvPr/>
        </p:nvGrpSpPr>
        <p:grpSpPr bwMode="auto">
          <a:xfrm>
            <a:off x="3799478" y="3748088"/>
            <a:ext cx="1760538" cy="1423987"/>
            <a:chOff x="1442" y="2487"/>
            <a:chExt cx="1109" cy="897"/>
          </a:xfrm>
        </p:grpSpPr>
        <p:sp>
          <p:nvSpPr>
            <p:cNvPr id="49" name="Rectangle 57"/>
            <p:cNvSpPr>
              <a:spLocks noChangeArrowheads="1"/>
            </p:cNvSpPr>
            <p:nvPr/>
          </p:nvSpPr>
          <p:spPr bwMode="auto">
            <a:xfrm>
              <a:off x="1443" y="2831"/>
              <a:ext cx="553" cy="553"/>
            </a:xfrm>
            <a:prstGeom prst="rect">
              <a:avLst/>
            </a:prstGeom>
            <a:solidFill>
              <a:srgbClr val="80D0E8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</a:pPr>
              <a:endParaRPr lang="en-GB" sz="2400"/>
            </a:p>
          </p:txBody>
        </p:sp>
        <p:sp>
          <p:nvSpPr>
            <p:cNvPr id="50" name="Freeform 58"/>
            <p:cNvSpPr>
              <a:spLocks/>
            </p:cNvSpPr>
            <p:nvPr/>
          </p:nvSpPr>
          <p:spPr bwMode="auto">
            <a:xfrm>
              <a:off x="1442" y="2487"/>
              <a:ext cx="1108" cy="333"/>
            </a:xfrm>
            <a:custGeom>
              <a:avLst/>
              <a:gdLst>
                <a:gd name="T0" fmla="*/ 454 w 907"/>
                <a:gd name="T1" fmla="*/ 0 h 272"/>
                <a:gd name="T2" fmla="*/ 0 w 907"/>
                <a:gd name="T3" fmla="*/ 272 h 272"/>
                <a:gd name="T4" fmla="*/ 454 w 907"/>
                <a:gd name="T5" fmla="*/ 272 h 272"/>
                <a:gd name="T6" fmla="*/ 907 w 907"/>
                <a:gd name="T7" fmla="*/ 0 h 272"/>
                <a:gd name="T8" fmla="*/ 454 w 907"/>
                <a:gd name="T9" fmla="*/ 0 h 27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907" h="272">
                  <a:moveTo>
                    <a:pt x="454" y="0"/>
                  </a:moveTo>
                  <a:lnTo>
                    <a:pt x="0" y="272"/>
                  </a:lnTo>
                  <a:lnTo>
                    <a:pt x="454" y="272"/>
                  </a:lnTo>
                  <a:lnTo>
                    <a:pt x="907" y="0"/>
                  </a:lnTo>
                  <a:lnTo>
                    <a:pt x="454" y="0"/>
                  </a:lnTo>
                  <a:close/>
                </a:path>
              </a:pathLst>
            </a:custGeom>
            <a:solidFill>
              <a:srgbClr val="6AC7E4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</a:pPr>
              <a:endParaRPr lang="en-GB" sz="2400"/>
            </a:p>
          </p:txBody>
        </p:sp>
        <p:sp>
          <p:nvSpPr>
            <p:cNvPr id="51" name="Freeform 59"/>
            <p:cNvSpPr>
              <a:spLocks/>
            </p:cNvSpPr>
            <p:nvPr/>
          </p:nvSpPr>
          <p:spPr bwMode="auto">
            <a:xfrm>
              <a:off x="1998" y="2498"/>
              <a:ext cx="553" cy="886"/>
            </a:xfrm>
            <a:custGeom>
              <a:avLst/>
              <a:gdLst>
                <a:gd name="T0" fmla="*/ 0 w 453"/>
                <a:gd name="T1" fmla="*/ 272 h 725"/>
                <a:gd name="T2" fmla="*/ 0 w 453"/>
                <a:gd name="T3" fmla="*/ 725 h 725"/>
                <a:gd name="T4" fmla="*/ 453 w 453"/>
                <a:gd name="T5" fmla="*/ 453 h 725"/>
                <a:gd name="T6" fmla="*/ 453 w 453"/>
                <a:gd name="T7" fmla="*/ 0 h 725"/>
                <a:gd name="T8" fmla="*/ 0 w 453"/>
                <a:gd name="T9" fmla="*/ 272 h 72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53" h="725">
                  <a:moveTo>
                    <a:pt x="0" y="272"/>
                  </a:moveTo>
                  <a:lnTo>
                    <a:pt x="0" y="725"/>
                  </a:lnTo>
                  <a:lnTo>
                    <a:pt x="453" y="453"/>
                  </a:lnTo>
                  <a:lnTo>
                    <a:pt x="453" y="0"/>
                  </a:lnTo>
                  <a:lnTo>
                    <a:pt x="0" y="272"/>
                  </a:lnTo>
                  <a:close/>
                </a:path>
              </a:pathLst>
            </a:custGeom>
            <a:solidFill>
              <a:srgbClr val="AEE0F0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</a:pPr>
              <a:endParaRPr lang="en-GB" sz="2400"/>
            </a:p>
          </p:txBody>
        </p:sp>
      </p:grpSp>
      <p:sp>
        <p:nvSpPr>
          <p:cNvPr id="52" name="Freeform 8"/>
          <p:cNvSpPr>
            <a:spLocks/>
          </p:cNvSpPr>
          <p:nvPr/>
        </p:nvSpPr>
        <p:spPr bwMode="auto">
          <a:xfrm>
            <a:off x="2481853" y="2005013"/>
            <a:ext cx="2200275" cy="530225"/>
          </a:xfrm>
          <a:custGeom>
            <a:avLst/>
            <a:gdLst>
              <a:gd name="T0" fmla="*/ 0 w 1134"/>
              <a:gd name="T1" fmla="*/ 273 h 273"/>
              <a:gd name="T2" fmla="*/ 453 w 1134"/>
              <a:gd name="T3" fmla="*/ 0 h 273"/>
              <a:gd name="T4" fmla="*/ 1134 w 1134"/>
              <a:gd name="T5" fmla="*/ 0 h 273"/>
              <a:gd name="T6" fmla="*/ 680 w 1134"/>
              <a:gd name="T7" fmla="*/ 273 h 273"/>
              <a:gd name="T8" fmla="*/ 0 w 1134"/>
              <a:gd name="T9" fmla="*/ 273 h 27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1134" h="273">
                <a:moveTo>
                  <a:pt x="0" y="273"/>
                </a:moveTo>
                <a:lnTo>
                  <a:pt x="453" y="0"/>
                </a:lnTo>
                <a:lnTo>
                  <a:pt x="1134" y="0"/>
                </a:lnTo>
                <a:lnTo>
                  <a:pt x="680" y="273"/>
                </a:lnTo>
                <a:lnTo>
                  <a:pt x="0" y="273"/>
                </a:lnTo>
                <a:close/>
              </a:path>
            </a:pathLst>
          </a:custGeom>
          <a:solidFill>
            <a:srgbClr val="A7DF63"/>
          </a:solidFill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endParaRPr lang="en-GB" sz="2400"/>
          </a:p>
        </p:txBody>
      </p:sp>
      <p:sp>
        <p:nvSpPr>
          <p:cNvPr id="53" name="Freeform 52"/>
          <p:cNvSpPr>
            <a:spLocks/>
          </p:cNvSpPr>
          <p:nvPr/>
        </p:nvSpPr>
        <p:spPr bwMode="auto">
          <a:xfrm>
            <a:off x="3801066" y="2005013"/>
            <a:ext cx="881062" cy="2289175"/>
          </a:xfrm>
          <a:custGeom>
            <a:avLst/>
            <a:gdLst>
              <a:gd name="T0" fmla="*/ 454 w 454"/>
              <a:gd name="T1" fmla="*/ 0 h 1180"/>
              <a:gd name="T2" fmla="*/ 0 w 454"/>
              <a:gd name="T3" fmla="*/ 273 h 1180"/>
              <a:gd name="T4" fmla="*/ 0 w 454"/>
              <a:gd name="T5" fmla="*/ 1180 h 1180"/>
              <a:gd name="T6" fmla="*/ 454 w 454"/>
              <a:gd name="T7" fmla="*/ 908 h 1180"/>
              <a:gd name="T8" fmla="*/ 454 w 454"/>
              <a:gd name="T9" fmla="*/ 0 h 118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454" h="1180">
                <a:moveTo>
                  <a:pt x="454" y="0"/>
                </a:moveTo>
                <a:lnTo>
                  <a:pt x="0" y="273"/>
                </a:lnTo>
                <a:lnTo>
                  <a:pt x="0" y="1180"/>
                </a:lnTo>
                <a:lnTo>
                  <a:pt x="454" y="908"/>
                </a:lnTo>
                <a:lnTo>
                  <a:pt x="454" y="0"/>
                </a:lnTo>
                <a:close/>
              </a:path>
            </a:pathLst>
          </a:custGeom>
          <a:solidFill>
            <a:srgbClr val="DBF2C0"/>
          </a:solidFill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endParaRPr lang="en-GB" sz="2400"/>
          </a:p>
        </p:txBody>
      </p:sp>
      <p:sp>
        <p:nvSpPr>
          <p:cNvPr id="54" name="Line 13"/>
          <p:cNvSpPr>
            <a:spLocks noChangeShapeType="1"/>
          </p:cNvSpPr>
          <p:nvPr/>
        </p:nvSpPr>
        <p:spPr bwMode="auto">
          <a:xfrm>
            <a:off x="2481853" y="2535238"/>
            <a:ext cx="1319213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endParaRPr lang="en-GB" sz="2400"/>
          </a:p>
        </p:txBody>
      </p:sp>
      <p:sp>
        <p:nvSpPr>
          <p:cNvPr id="55" name="Line 14"/>
          <p:cNvSpPr>
            <a:spLocks noChangeShapeType="1"/>
          </p:cNvSpPr>
          <p:nvPr/>
        </p:nvSpPr>
        <p:spPr bwMode="auto">
          <a:xfrm>
            <a:off x="2481853" y="2535238"/>
            <a:ext cx="0" cy="2636837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endParaRPr lang="en-GB" sz="2400"/>
          </a:p>
        </p:txBody>
      </p:sp>
      <p:sp>
        <p:nvSpPr>
          <p:cNvPr id="56" name="Line 15"/>
          <p:cNvSpPr>
            <a:spLocks noChangeShapeType="1"/>
          </p:cNvSpPr>
          <p:nvPr/>
        </p:nvSpPr>
        <p:spPr bwMode="auto">
          <a:xfrm>
            <a:off x="2481853" y="5172075"/>
            <a:ext cx="2200275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endParaRPr lang="en-GB" sz="2400"/>
          </a:p>
        </p:txBody>
      </p:sp>
      <p:sp>
        <p:nvSpPr>
          <p:cNvPr id="57" name="Line 16"/>
          <p:cNvSpPr>
            <a:spLocks noChangeShapeType="1"/>
          </p:cNvSpPr>
          <p:nvPr/>
        </p:nvSpPr>
        <p:spPr bwMode="auto">
          <a:xfrm flipV="1">
            <a:off x="4682128" y="4294188"/>
            <a:ext cx="0" cy="877887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endParaRPr lang="en-GB" sz="2400"/>
          </a:p>
        </p:txBody>
      </p:sp>
      <p:sp>
        <p:nvSpPr>
          <p:cNvPr id="58" name="Line 17"/>
          <p:cNvSpPr>
            <a:spLocks noChangeShapeType="1"/>
          </p:cNvSpPr>
          <p:nvPr/>
        </p:nvSpPr>
        <p:spPr bwMode="auto">
          <a:xfrm>
            <a:off x="3801066" y="2535238"/>
            <a:ext cx="0" cy="175895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endParaRPr lang="en-GB" sz="2400"/>
          </a:p>
        </p:txBody>
      </p:sp>
      <p:sp>
        <p:nvSpPr>
          <p:cNvPr id="59" name="Line 18"/>
          <p:cNvSpPr>
            <a:spLocks noChangeShapeType="1"/>
          </p:cNvSpPr>
          <p:nvPr/>
        </p:nvSpPr>
        <p:spPr bwMode="auto">
          <a:xfrm>
            <a:off x="3801066" y="4294188"/>
            <a:ext cx="881062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endParaRPr lang="en-GB" sz="2400"/>
          </a:p>
        </p:txBody>
      </p:sp>
      <p:sp>
        <p:nvSpPr>
          <p:cNvPr id="60" name="Line 19"/>
          <p:cNvSpPr>
            <a:spLocks noChangeShapeType="1"/>
          </p:cNvSpPr>
          <p:nvPr/>
        </p:nvSpPr>
        <p:spPr bwMode="auto">
          <a:xfrm>
            <a:off x="3359741" y="2005013"/>
            <a:ext cx="1319212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endParaRPr lang="en-GB" sz="2400"/>
          </a:p>
        </p:txBody>
      </p:sp>
      <p:sp>
        <p:nvSpPr>
          <p:cNvPr id="61" name="Line 20"/>
          <p:cNvSpPr>
            <a:spLocks noChangeShapeType="1"/>
          </p:cNvSpPr>
          <p:nvPr/>
        </p:nvSpPr>
        <p:spPr bwMode="auto">
          <a:xfrm>
            <a:off x="3359741" y="2005013"/>
            <a:ext cx="0" cy="2636837"/>
          </a:xfrm>
          <a:prstGeom prst="line">
            <a:avLst/>
          </a:prstGeom>
          <a:noFill/>
          <a:ln w="12700">
            <a:solidFill>
              <a:schemeClr val="tx1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endParaRPr lang="en-GB" sz="2400"/>
          </a:p>
        </p:txBody>
      </p:sp>
      <p:sp>
        <p:nvSpPr>
          <p:cNvPr id="62" name="Line 21"/>
          <p:cNvSpPr>
            <a:spLocks noChangeShapeType="1"/>
          </p:cNvSpPr>
          <p:nvPr/>
        </p:nvSpPr>
        <p:spPr bwMode="auto">
          <a:xfrm>
            <a:off x="3359741" y="4641850"/>
            <a:ext cx="2200275" cy="0"/>
          </a:xfrm>
          <a:prstGeom prst="line">
            <a:avLst/>
          </a:prstGeom>
          <a:noFill/>
          <a:ln w="12700">
            <a:solidFill>
              <a:schemeClr val="tx1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endParaRPr lang="en-GB" sz="2400"/>
          </a:p>
        </p:txBody>
      </p:sp>
      <p:sp>
        <p:nvSpPr>
          <p:cNvPr id="63" name="Line 22"/>
          <p:cNvSpPr>
            <a:spLocks noChangeShapeType="1"/>
          </p:cNvSpPr>
          <p:nvPr/>
        </p:nvSpPr>
        <p:spPr bwMode="auto">
          <a:xfrm flipV="1">
            <a:off x="5560016" y="3763963"/>
            <a:ext cx="0" cy="877887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endParaRPr lang="en-GB" sz="2400"/>
          </a:p>
        </p:txBody>
      </p:sp>
      <p:sp>
        <p:nvSpPr>
          <p:cNvPr id="64" name="Line 23"/>
          <p:cNvSpPr>
            <a:spLocks noChangeShapeType="1"/>
          </p:cNvSpPr>
          <p:nvPr/>
        </p:nvSpPr>
        <p:spPr bwMode="auto">
          <a:xfrm>
            <a:off x="4678953" y="2005013"/>
            <a:ext cx="0" cy="175895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endParaRPr lang="en-GB" sz="2400"/>
          </a:p>
        </p:txBody>
      </p:sp>
      <p:sp>
        <p:nvSpPr>
          <p:cNvPr id="65" name="Line 24"/>
          <p:cNvSpPr>
            <a:spLocks noChangeShapeType="1"/>
          </p:cNvSpPr>
          <p:nvPr/>
        </p:nvSpPr>
        <p:spPr bwMode="auto">
          <a:xfrm>
            <a:off x="4678953" y="3763963"/>
            <a:ext cx="881063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endParaRPr lang="en-GB" sz="2400"/>
          </a:p>
        </p:txBody>
      </p:sp>
      <p:sp>
        <p:nvSpPr>
          <p:cNvPr id="66" name="Line 25"/>
          <p:cNvSpPr>
            <a:spLocks noChangeShapeType="1"/>
          </p:cNvSpPr>
          <p:nvPr/>
        </p:nvSpPr>
        <p:spPr bwMode="auto">
          <a:xfrm flipV="1">
            <a:off x="2481853" y="2005013"/>
            <a:ext cx="877888" cy="530225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endParaRPr lang="en-GB" sz="2400"/>
          </a:p>
        </p:txBody>
      </p:sp>
      <p:sp>
        <p:nvSpPr>
          <p:cNvPr id="67" name="Line 26"/>
          <p:cNvSpPr>
            <a:spLocks noChangeShapeType="1"/>
          </p:cNvSpPr>
          <p:nvPr/>
        </p:nvSpPr>
        <p:spPr bwMode="auto">
          <a:xfrm flipV="1">
            <a:off x="3801066" y="2005013"/>
            <a:ext cx="877887" cy="530225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endParaRPr lang="en-GB" sz="2400"/>
          </a:p>
        </p:txBody>
      </p:sp>
      <p:sp>
        <p:nvSpPr>
          <p:cNvPr id="68" name="Line 27"/>
          <p:cNvSpPr>
            <a:spLocks noChangeShapeType="1"/>
          </p:cNvSpPr>
          <p:nvPr/>
        </p:nvSpPr>
        <p:spPr bwMode="auto">
          <a:xfrm flipV="1">
            <a:off x="3801066" y="3763963"/>
            <a:ext cx="881062" cy="530225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endParaRPr lang="en-GB" sz="2400"/>
          </a:p>
        </p:txBody>
      </p:sp>
      <p:sp>
        <p:nvSpPr>
          <p:cNvPr id="69" name="Line 28"/>
          <p:cNvSpPr>
            <a:spLocks noChangeShapeType="1"/>
          </p:cNvSpPr>
          <p:nvPr/>
        </p:nvSpPr>
        <p:spPr bwMode="auto">
          <a:xfrm flipV="1">
            <a:off x="4678953" y="3763963"/>
            <a:ext cx="881063" cy="530225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endParaRPr lang="en-GB" sz="2400"/>
          </a:p>
        </p:txBody>
      </p:sp>
      <p:sp>
        <p:nvSpPr>
          <p:cNvPr id="70" name="Line 29"/>
          <p:cNvSpPr>
            <a:spLocks noChangeShapeType="1"/>
          </p:cNvSpPr>
          <p:nvPr/>
        </p:nvSpPr>
        <p:spPr bwMode="auto">
          <a:xfrm flipV="1">
            <a:off x="4678953" y="4641850"/>
            <a:ext cx="881063" cy="530225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endParaRPr lang="en-GB" sz="2400"/>
          </a:p>
        </p:txBody>
      </p:sp>
      <p:sp>
        <p:nvSpPr>
          <p:cNvPr id="71" name="Line 30"/>
          <p:cNvSpPr>
            <a:spLocks noChangeShapeType="1"/>
          </p:cNvSpPr>
          <p:nvPr/>
        </p:nvSpPr>
        <p:spPr bwMode="auto">
          <a:xfrm flipV="1">
            <a:off x="2481853" y="4641850"/>
            <a:ext cx="877888" cy="530225"/>
          </a:xfrm>
          <a:prstGeom prst="line">
            <a:avLst/>
          </a:prstGeom>
          <a:noFill/>
          <a:ln w="12700">
            <a:solidFill>
              <a:schemeClr val="tx1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endParaRPr lang="en-GB" sz="2400"/>
          </a:p>
        </p:txBody>
      </p:sp>
      <p:sp>
        <p:nvSpPr>
          <p:cNvPr id="72" name="Line 31"/>
          <p:cNvSpPr>
            <a:spLocks noChangeShapeType="1"/>
          </p:cNvSpPr>
          <p:nvPr/>
        </p:nvSpPr>
        <p:spPr bwMode="auto">
          <a:xfrm>
            <a:off x="3359741" y="1860550"/>
            <a:ext cx="1319212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 type="arrow" w="med" len="med"/>
            <a:tailEnd type="arrow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endParaRPr lang="en-GB" sz="2400"/>
          </a:p>
        </p:txBody>
      </p:sp>
      <p:sp>
        <p:nvSpPr>
          <p:cNvPr id="73" name="Line 32"/>
          <p:cNvSpPr>
            <a:spLocks noChangeShapeType="1"/>
          </p:cNvSpPr>
          <p:nvPr/>
        </p:nvSpPr>
        <p:spPr bwMode="auto">
          <a:xfrm rot="-5400000">
            <a:off x="3953465" y="2876551"/>
            <a:ext cx="1743075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 type="arrow" w="med" len="med"/>
            <a:tailEnd type="arrow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endParaRPr lang="en-GB" sz="2400"/>
          </a:p>
        </p:txBody>
      </p:sp>
      <p:sp>
        <p:nvSpPr>
          <p:cNvPr id="74" name="Line 33"/>
          <p:cNvSpPr>
            <a:spLocks noChangeShapeType="1"/>
          </p:cNvSpPr>
          <p:nvPr/>
        </p:nvSpPr>
        <p:spPr bwMode="auto">
          <a:xfrm>
            <a:off x="2481853" y="5316538"/>
            <a:ext cx="2197100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 type="arrow" w="med" len="med"/>
            <a:tailEnd type="arrow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endParaRPr lang="en-GB" sz="2400"/>
          </a:p>
        </p:txBody>
      </p:sp>
      <p:sp>
        <p:nvSpPr>
          <p:cNvPr id="75" name="Line 34"/>
          <p:cNvSpPr>
            <a:spLocks noChangeShapeType="1"/>
          </p:cNvSpPr>
          <p:nvPr/>
        </p:nvSpPr>
        <p:spPr bwMode="auto">
          <a:xfrm>
            <a:off x="2337391" y="2535238"/>
            <a:ext cx="0" cy="2636837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 type="arrow" w="med" len="med"/>
            <a:tailEnd type="arrow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endParaRPr lang="en-GB" sz="2400"/>
          </a:p>
        </p:txBody>
      </p:sp>
      <p:sp>
        <p:nvSpPr>
          <p:cNvPr id="76" name="Line 35"/>
          <p:cNvSpPr>
            <a:spLocks noChangeShapeType="1"/>
          </p:cNvSpPr>
          <p:nvPr/>
        </p:nvSpPr>
        <p:spPr bwMode="auto">
          <a:xfrm flipV="1">
            <a:off x="2324691" y="1933575"/>
            <a:ext cx="877887" cy="530225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 type="arrow" w="med" len="med"/>
            <a:tailEnd type="arrow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endParaRPr lang="en-GB" sz="2400"/>
          </a:p>
        </p:txBody>
      </p:sp>
      <p:sp>
        <p:nvSpPr>
          <p:cNvPr id="77" name="Text Box 36"/>
          <p:cNvSpPr txBox="1">
            <a:spLocks noChangeArrowheads="1"/>
          </p:cNvSpPr>
          <p:nvPr/>
        </p:nvSpPr>
        <p:spPr bwMode="auto">
          <a:xfrm>
            <a:off x="1597616" y="3471863"/>
            <a:ext cx="686406" cy="4001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000"/>
              <a:t>6 cm</a:t>
            </a:r>
            <a:endParaRPr lang="en-GB" altLang="en-US" sz="2000"/>
          </a:p>
        </p:txBody>
      </p:sp>
      <p:sp>
        <p:nvSpPr>
          <p:cNvPr id="78" name="Text Box 37"/>
          <p:cNvSpPr txBox="1">
            <a:spLocks noChangeArrowheads="1"/>
          </p:cNvSpPr>
          <p:nvPr/>
        </p:nvSpPr>
        <p:spPr bwMode="auto">
          <a:xfrm>
            <a:off x="3202578" y="5316538"/>
            <a:ext cx="686406" cy="4001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000"/>
              <a:t>5 cm</a:t>
            </a:r>
            <a:endParaRPr lang="en-GB" altLang="en-US" sz="2000"/>
          </a:p>
        </p:txBody>
      </p:sp>
      <p:sp>
        <p:nvSpPr>
          <p:cNvPr id="79" name="Text Box 38"/>
          <p:cNvSpPr txBox="1">
            <a:spLocks noChangeArrowheads="1"/>
          </p:cNvSpPr>
          <p:nvPr/>
        </p:nvSpPr>
        <p:spPr bwMode="auto">
          <a:xfrm>
            <a:off x="2108791" y="1806575"/>
            <a:ext cx="686406" cy="4001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000"/>
              <a:t>3 cm</a:t>
            </a:r>
            <a:endParaRPr lang="en-GB" altLang="en-US" sz="2000"/>
          </a:p>
        </p:txBody>
      </p:sp>
      <p:sp>
        <p:nvSpPr>
          <p:cNvPr id="80" name="Text Box 39"/>
          <p:cNvSpPr txBox="1">
            <a:spLocks noChangeArrowheads="1"/>
          </p:cNvSpPr>
          <p:nvPr/>
        </p:nvSpPr>
        <p:spPr bwMode="auto">
          <a:xfrm>
            <a:off x="4825003" y="2652713"/>
            <a:ext cx="686406" cy="4001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000"/>
              <a:t>4 cm</a:t>
            </a:r>
            <a:endParaRPr lang="en-GB" altLang="en-US" sz="2000"/>
          </a:p>
        </p:txBody>
      </p:sp>
      <p:sp>
        <p:nvSpPr>
          <p:cNvPr id="81" name="Text Box 40"/>
          <p:cNvSpPr txBox="1">
            <a:spLocks noChangeArrowheads="1"/>
          </p:cNvSpPr>
          <p:nvPr/>
        </p:nvSpPr>
        <p:spPr bwMode="auto">
          <a:xfrm>
            <a:off x="3569291" y="1463675"/>
            <a:ext cx="686406" cy="4001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000"/>
              <a:t>3 cm</a:t>
            </a:r>
            <a:endParaRPr lang="en-GB" altLang="en-US" sz="2000"/>
          </a:p>
        </p:txBody>
      </p:sp>
      <p:sp>
        <p:nvSpPr>
          <p:cNvPr id="82" name="Line 41"/>
          <p:cNvSpPr>
            <a:spLocks noChangeShapeType="1"/>
          </p:cNvSpPr>
          <p:nvPr/>
        </p:nvSpPr>
        <p:spPr bwMode="auto">
          <a:xfrm>
            <a:off x="3801066" y="4294188"/>
            <a:ext cx="0" cy="877887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endParaRPr lang="en-GB" sz="2400"/>
          </a:p>
        </p:txBody>
      </p:sp>
      <p:sp>
        <p:nvSpPr>
          <p:cNvPr id="83" name="Line 42"/>
          <p:cNvSpPr>
            <a:spLocks noChangeShapeType="1"/>
          </p:cNvSpPr>
          <p:nvPr/>
        </p:nvSpPr>
        <p:spPr bwMode="auto">
          <a:xfrm>
            <a:off x="4682128" y="3790950"/>
            <a:ext cx="0" cy="877888"/>
          </a:xfrm>
          <a:prstGeom prst="line">
            <a:avLst/>
          </a:prstGeom>
          <a:noFill/>
          <a:ln w="12700">
            <a:solidFill>
              <a:schemeClr val="tx1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endParaRPr lang="en-GB" sz="2400"/>
          </a:p>
        </p:txBody>
      </p:sp>
      <p:sp>
        <p:nvSpPr>
          <p:cNvPr id="84" name="Line 44"/>
          <p:cNvSpPr>
            <a:spLocks noChangeShapeType="1"/>
          </p:cNvSpPr>
          <p:nvPr/>
        </p:nvSpPr>
        <p:spPr bwMode="auto">
          <a:xfrm flipV="1">
            <a:off x="3801066" y="4641850"/>
            <a:ext cx="881062" cy="530225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endParaRPr lang="en-GB" sz="2400"/>
          </a:p>
        </p:txBody>
      </p:sp>
      <p:sp>
        <p:nvSpPr>
          <p:cNvPr id="85" name="Text Box 48"/>
          <p:cNvSpPr txBox="1">
            <a:spLocks noChangeArrowheads="1"/>
          </p:cNvSpPr>
          <p:nvPr/>
        </p:nvSpPr>
        <p:spPr bwMode="auto">
          <a:xfrm>
            <a:off x="6153741" y="1663700"/>
            <a:ext cx="4291012" cy="83099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400"/>
              <a:t>We can think of the shape as two cuboids joined together.</a:t>
            </a:r>
            <a:endParaRPr lang="en-GB" altLang="en-US" sz="2400"/>
          </a:p>
        </p:txBody>
      </p:sp>
      <p:sp>
        <p:nvSpPr>
          <p:cNvPr id="86" name="Text Box 49"/>
          <p:cNvSpPr txBox="1">
            <a:spLocks noChangeArrowheads="1"/>
          </p:cNvSpPr>
          <p:nvPr/>
        </p:nvSpPr>
        <p:spPr bwMode="auto">
          <a:xfrm>
            <a:off x="6153741" y="2600325"/>
            <a:ext cx="3655809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400"/>
              <a:t>Volume of the green cuboid</a:t>
            </a:r>
            <a:endParaRPr lang="en-GB" altLang="en-US" sz="2400"/>
          </a:p>
        </p:txBody>
      </p:sp>
      <p:sp>
        <p:nvSpPr>
          <p:cNvPr id="87" name="Text Box 50"/>
          <p:cNvSpPr txBox="1">
            <a:spLocks noChangeArrowheads="1"/>
          </p:cNvSpPr>
          <p:nvPr/>
        </p:nvSpPr>
        <p:spPr bwMode="auto">
          <a:xfrm>
            <a:off x="6153741" y="3084513"/>
            <a:ext cx="2677336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400"/>
              <a:t>= 6 × 3 × 3 = 54 cm</a:t>
            </a:r>
            <a:r>
              <a:rPr lang="en-US" altLang="en-US" sz="2400" baseline="30000"/>
              <a:t>3</a:t>
            </a:r>
            <a:r>
              <a:rPr lang="en-US" altLang="en-US" sz="2400"/>
              <a:t> </a:t>
            </a:r>
            <a:endParaRPr lang="en-GB" altLang="en-US" sz="2400"/>
          </a:p>
        </p:txBody>
      </p:sp>
      <p:sp>
        <p:nvSpPr>
          <p:cNvPr id="88" name="Text Box 51"/>
          <p:cNvSpPr txBox="1">
            <a:spLocks noChangeArrowheads="1"/>
          </p:cNvSpPr>
          <p:nvPr/>
        </p:nvSpPr>
        <p:spPr bwMode="auto">
          <a:xfrm>
            <a:off x="6160091" y="3744913"/>
            <a:ext cx="3486724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400"/>
              <a:t>Volume of the blue cuboid</a:t>
            </a:r>
            <a:endParaRPr lang="en-GB" altLang="en-US" sz="2400"/>
          </a:p>
        </p:txBody>
      </p:sp>
      <p:sp>
        <p:nvSpPr>
          <p:cNvPr id="89" name="Text Box 52"/>
          <p:cNvSpPr txBox="1">
            <a:spLocks noChangeArrowheads="1"/>
          </p:cNvSpPr>
          <p:nvPr/>
        </p:nvSpPr>
        <p:spPr bwMode="auto">
          <a:xfrm>
            <a:off x="6160091" y="4237038"/>
            <a:ext cx="2677336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400"/>
              <a:t>= 3 × 2 × 2 = 12 cm</a:t>
            </a:r>
            <a:r>
              <a:rPr lang="en-US" altLang="en-US" sz="2400" baseline="30000"/>
              <a:t>3</a:t>
            </a:r>
            <a:r>
              <a:rPr lang="en-US" altLang="en-US" sz="2400"/>
              <a:t> </a:t>
            </a:r>
            <a:endParaRPr lang="en-GB" altLang="en-US" sz="2400"/>
          </a:p>
        </p:txBody>
      </p:sp>
      <p:sp>
        <p:nvSpPr>
          <p:cNvPr id="90" name="Text Box 53"/>
          <p:cNvSpPr txBox="1">
            <a:spLocks noChangeArrowheads="1"/>
          </p:cNvSpPr>
          <p:nvPr/>
        </p:nvSpPr>
        <p:spPr bwMode="auto">
          <a:xfrm>
            <a:off x="6160091" y="4889500"/>
            <a:ext cx="1785682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400"/>
              <a:t>Total volume</a:t>
            </a:r>
            <a:endParaRPr lang="en-GB" altLang="en-US" sz="2400"/>
          </a:p>
        </p:txBody>
      </p:sp>
      <p:sp>
        <p:nvSpPr>
          <p:cNvPr id="91" name="Text Box 54"/>
          <p:cNvSpPr txBox="1">
            <a:spLocks noChangeArrowheads="1"/>
          </p:cNvSpPr>
          <p:nvPr/>
        </p:nvSpPr>
        <p:spPr bwMode="auto">
          <a:xfrm>
            <a:off x="6160091" y="5389563"/>
            <a:ext cx="2544286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400"/>
              <a:t>= 54 + 12 = </a:t>
            </a:r>
            <a:r>
              <a:rPr lang="en-US" altLang="en-US" sz="2400" b="1"/>
              <a:t>66 cm</a:t>
            </a:r>
            <a:r>
              <a:rPr lang="en-US" altLang="en-US" sz="2400" b="1" baseline="30000"/>
              <a:t>3</a:t>
            </a:r>
            <a:r>
              <a:rPr lang="en-US" altLang="en-US" sz="2400" b="1"/>
              <a:t> </a:t>
            </a:r>
            <a:endParaRPr lang="en-GB" altLang="en-US" sz="2400" b="1"/>
          </a:p>
        </p:txBody>
      </p:sp>
    </p:spTree>
    <p:extLst>
      <p:ext uri="{BB962C8B-B14F-4D97-AF65-F5344CB8AC3E}">
        <p14:creationId xmlns:p14="http://schemas.microsoft.com/office/powerpoint/2010/main" val="22859232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5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500"/>
                            </p:stCondLst>
                            <p:childTnLst>
                              <p:par>
                                <p:cTn id="13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5" dur="50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000"/>
                            </p:stCondLst>
                            <p:childTnLst>
                              <p:par>
                                <p:cTn id="17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2" grpId="0" animBg="1"/>
      <p:bldP spid="84" grpId="0" animBg="1"/>
      <p:bldP spid="85" grpId="0"/>
      <p:bldP spid="86" grpId="0"/>
      <p:bldP spid="87" grpId="0"/>
      <p:bldP spid="88" grpId="0"/>
      <p:bldP spid="89" grpId="0"/>
      <p:bldP spid="90" grpId="0"/>
      <p:bldP spid="9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 AREA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Count the Faces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1688440" y="1353312"/>
            <a:ext cx="8814816" cy="300559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prstDash val="solid"/>
          </a:ln>
          <a:effectLst>
            <a:outerShdw blurRad="76200" dist="38100" dir="5400000" algn="bl" rotWithShape="0">
              <a:srgbClr val="000000">
                <a:alpha val="15000"/>
              </a:srgbClr>
            </a:outerShdw>
          </a:effectLst>
        </p:spPr>
      </p:sp>
      <p:pic>
        <p:nvPicPr>
          <p:cNvPr id="42" name="Image 0" descr="/tmp/work/vteach/t-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52448" y="1417320"/>
            <a:ext cx="8686800" cy="2877578"/>
          </a:xfrm>
          <a:prstGeom prst="rect">
            <a:avLst/>
          </a:prstGeom>
        </p:spPr>
      </p:pic>
      <p:sp>
        <p:nvSpPr>
          <p:cNvPr id="43" name="Shape 40"/>
          <p:cNvSpPr/>
          <p:nvPr/>
        </p:nvSpPr>
        <p:spPr>
          <a:xfrm>
            <a:off x="566928" y="6144768"/>
            <a:ext cx="11064240" cy="548640"/>
          </a:xfrm>
          <a:prstGeom prst="roundRect">
            <a:avLst>
              <a:gd name="adj" fmla="val 10000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4" name="Text 41"/>
          <p:cNvSpPr/>
          <p:nvPr/>
        </p:nvSpPr>
        <p:spPr>
          <a:xfrm>
            <a:off x="886968" y="61447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0A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 area = the total of ALL the faces. </a:t>
            </a:r>
            <a:r>
              <a:rPr lang="en-US" sz="130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 each face, find its area, then add them up.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 AREA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Using the Net of a Cuboid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1922021" y="1353312"/>
            <a:ext cx="8347653" cy="465429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prstDash val="solid"/>
          </a:ln>
          <a:effectLst>
            <a:outerShdw blurRad="76200" dist="38100" dir="5400000" algn="bl" rotWithShape="0">
              <a:srgbClr val="000000">
                <a:alpha val="15000"/>
              </a:srgbClr>
            </a:outerShdw>
          </a:effectLst>
        </p:spPr>
      </p:sp>
      <p:pic>
        <p:nvPicPr>
          <p:cNvPr id="42" name="Image 0" descr="/tmp/work/vteach/t-0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86029" y="1417320"/>
            <a:ext cx="8219637" cy="4526280"/>
          </a:xfrm>
          <a:prstGeom prst="rect">
            <a:avLst/>
          </a:prstGeom>
        </p:spPr>
      </p:pic>
      <p:sp>
        <p:nvSpPr>
          <p:cNvPr id="43" name="Shape 40"/>
          <p:cNvSpPr/>
          <p:nvPr/>
        </p:nvSpPr>
        <p:spPr>
          <a:xfrm>
            <a:off x="566928" y="6144768"/>
            <a:ext cx="11064240" cy="548640"/>
          </a:xfrm>
          <a:prstGeom prst="roundRect">
            <a:avLst>
              <a:gd name="adj" fmla="val 10000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4" name="Text 41"/>
          <p:cNvSpPr/>
          <p:nvPr/>
        </p:nvSpPr>
        <p:spPr>
          <a:xfrm>
            <a:off x="886968" y="61447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0A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the solid into a net. </a:t>
            </a:r>
            <a:r>
              <a:rPr lang="en-US" sz="130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cuboid has 3 pairs of equal rectangles — find each pair and add.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 AREA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Surface Area of a Prism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2276629" y="1353312"/>
            <a:ext cx="7638436" cy="465429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prstDash val="solid"/>
          </a:ln>
          <a:effectLst>
            <a:outerShdw blurRad="76200" dist="38100" dir="5400000" algn="bl" rotWithShape="0">
              <a:srgbClr val="000000">
                <a:alpha val="15000"/>
              </a:srgbClr>
            </a:outerShdw>
          </a:effectLst>
        </p:spPr>
      </p:sp>
      <p:sp>
        <p:nvSpPr>
          <p:cNvPr id="43" name="Shape 40"/>
          <p:cNvSpPr/>
          <p:nvPr/>
        </p:nvSpPr>
        <p:spPr>
          <a:xfrm>
            <a:off x="566928" y="6144768"/>
            <a:ext cx="11064240" cy="548640"/>
          </a:xfrm>
          <a:prstGeom prst="roundRect">
            <a:avLst>
              <a:gd name="adj" fmla="val 10000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4" name="Text 41"/>
          <p:cNvSpPr/>
          <p:nvPr/>
        </p:nvSpPr>
        <p:spPr>
          <a:xfrm>
            <a:off x="886968" y="61447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0A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identical end faces + the rectangles around the sides. </a:t>
            </a:r>
            <a:r>
              <a:rPr lang="en-US" sz="130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every face.</a:t>
            </a:r>
            <a:endParaRPr lang="en-US" sz="1300" dirty="0"/>
          </a:p>
        </p:txBody>
      </p:sp>
      <p:grpSp>
        <p:nvGrpSpPr>
          <p:cNvPr id="45" name="Group 4"/>
          <p:cNvGrpSpPr>
            <a:grpSpLocks/>
          </p:cNvGrpSpPr>
          <p:nvPr/>
        </p:nvGrpSpPr>
        <p:grpSpPr bwMode="auto">
          <a:xfrm>
            <a:off x="2332138" y="1700443"/>
            <a:ext cx="4138612" cy="2400300"/>
            <a:chOff x="2303" y="2340"/>
            <a:chExt cx="5424" cy="2712"/>
          </a:xfrm>
        </p:grpSpPr>
        <p:sp>
          <p:nvSpPr>
            <p:cNvPr id="46" name="Line 5"/>
            <p:cNvSpPr>
              <a:spLocks noChangeShapeType="1"/>
            </p:cNvSpPr>
            <p:nvPr/>
          </p:nvSpPr>
          <p:spPr bwMode="auto">
            <a:xfrm>
              <a:off x="2303" y="3244"/>
              <a:ext cx="0" cy="1808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>
                <a:solidFill>
                  <a:prstClr val="black"/>
                </a:solidFill>
              </a:endParaRPr>
            </a:p>
          </p:txBody>
        </p:sp>
        <p:sp>
          <p:nvSpPr>
            <p:cNvPr id="47" name="Line 6"/>
            <p:cNvSpPr>
              <a:spLocks noChangeShapeType="1"/>
            </p:cNvSpPr>
            <p:nvPr/>
          </p:nvSpPr>
          <p:spPr bwMode="auto">
            <a:xfrm>
              <a:off x="2303" y="3244"/>
              <a:ext cx="2147" cy="1808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>
                <a:solidFill>
                  <a:prstClr val="black"/>
                </a:solidFill>
              </a:endParaRPr>
            </a:p>
          </p:txBody>
        </p:sp>
        <p:sp>
          <p:nvSpPr>
            <p:cNvPr id="48" name="Line 7"/>
            <p:cNvSpPr>
              <a:spLocks noChangeShapeType="1"/>
            </p:cNvSpPr>
            <p:nvPr/>
          </p:nvSpPr>
          <p:spPr bwMode="auto">
            <a:xfrm>
              <a:off x="2303" y="5052"/>
              <a:ext cx="2147" cy="0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>
                <a:solidFill>
                  <a:prstClr val="black"/>
                </a:solidFill>
              </a:endParaRPr>
            </a:p>
          </p:txBody>
        </p:sp>
        <p:sp>
          <p:nvSpPr>
            <p:cNvPr id="49" name="Line 8"/>
            <p:cNvSpPr>
              <a:spLocks noChangeShapeType="1"/>
            </p:cNvSpPr>
            <p:nvPr/>
          </p:nvSpPr>
          <p:spPr bwMode="auto">
            <a:xfrm flipV="1">
              <a:off x="2303" y="2340"/>
              <a:ext cx="3277" cy="904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>
                <a:solidFill>
                  <a:prstClr val="black"/>
                </a:solidFill>
              </a:endParaRPr>
            </a:p>
          </p:txBody>
        </p:sp>
        <p:sp>
          <p:nvSpPr>
            <p:cNvPr id="50" name="Line 9"/>
            <p:cNvSpPr>
              <a:spLocks noChangeShapeType="1"/>
            </p:cNvSpPr>
            <p:nvPr/>
          </p:nvSpPr>
          <p:spPr bwMode="auto">
            <a:xfrm flipV="1">
              <a:off x="4450" y="4148"/>
              <a:ext cx="3277" cy="904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>
                <a:solidFill>
                  <a:prstClr val="black"/>
                </a:solidFill>
              </a:endParaRPr>
            </a:p>
          </p:txBody>
        </p:sp>
        <p:sp>
          <p:nvSpPr>
            <p:cNvPr id="51" name="Line 10"/>
            <p:cNvSpPr>
              <a:spLocks noChangeShapeType="1"/>
            </p:cNvSpPr>
            <p:nvPr/>
          </p:nvSpPr>
          <p:spPr bwMode="auto">
            <a:xfrm>
              <a:off x="5580" y="2340"/>
              <a:ext cx="2147" cy="1808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>
                <a:solidFill>
                  <a:prstClr val="black"/>
                </a:solidFill>
              </a:endParaRPr>
            </a:p>
          </p:txBody>
        </p:sp>
        <p:sp>
          <p:nvSpPr>
            <p:cNvPr id="52" name="Line 11"/>
            <p:cNvSpPr>
              <a:spLocks noChangeShapeType="1"/>
            </p:cNvSpPr>
            <p:nvPr/>
          </p:nvSpPr>
          <p:spPr bwMode="auto">
            <a:xfrm>
              <a:off x="5580" y="2340"/>
              <a:ext cx="0" cy="1808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prstDash val="dash"/>
              <a:round/>
              <a:headEnd/>
              <a:tailEnd/>
            </a:ln>
          </p:spPr>
          <p:txBody>
            <a:bodyPr/>
            <a:lstStyle/>
            <a:p>
              <a:endParaRPr lang="en-US">
                <a:solidFill>
                  <a:prstClr val="black"/>
                </a:solidFill>
              </a:endParaRPr>
            </a:p>
          </p:txBody>
        </p:sp>
        <p:sp>
          <p:nvSpPr>
            <p:cNvPr id="53" name="Line 12"/>
            <p:cNvSpPr>
              <a:spLocks noChangeShapeType="1"/>
            </p:cNvSpPr>
            <p:nvPr/>
          </p:nvSpPr>
          <p:spPr bwMode="auto">
            <a:xfrm flipV="1">
              <a:off x="2303" y="4148"/>
              <a:ext cx="3277" cy="904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prstDash val="dash"/>
              <a:round/>
              <a:headEnd/>
              <a:tailEnd/>
            </a:ln>
          </p:spPr>
          <p:txBody>
            <a:bodyPr/>
            <a:lstStyle/>
            <a:p>
              <a:endParaRPr lang="en-US">
                <a:solidFill>
                  <a:prstClr val="black"/>
                </a:solidFill>
              </a:endParaRPr>
            </a:p>
          </p:txBody>
        </p:sp>
        <p:sp>
          <p:nvSpPr>
            <p:cNvPr id="54" name="Line 13"/>
            <p:cNvSpPr>
              <a:spLocks noChangeShapeType="1"/>
            </p:cNvSpPr>
            <p:nvPr/>
          </p:nvSpPr>
          <p:spPr bwMode="auto">
            <a:xfrm>
              <a:off x="5580" y="4147"/>
              <a:ext cx="2147" cy="0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prstDash val="dash"/>
              <a:round/>
              <a:headEnd/>
              <a:tailEnd/>
            </a:ln>
          </p:spPr>
          <p:txBody>
            <a:bodyPr/>
            <a:lstStyle/>
            <a:p>
              <a:endParaRPr lang="en-US">
                <a:solidFill>
                  <a:prstClr val="black"/>
                </a:solidFill>
              </a:endParaRPr>
            </a:p>
          </p:txBody>
        </p:sp>
        <p:sp>
          <p:nvSpPr>
            <p:cNvPr id="55" name="Line 14"/>
            <p:cNvSpPr>
              <a:spLocks noChangeShapeType="1"/>
            </p:cNvSpPr>
            <p:nvPr/>
          </p:nvSpPr>
          <p:spPr bwMode="auto">
            <a:xfrm>
              <a:off x="2303" y="4826"/>
              <a:ext cx="226" cy="0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>
                <a:solidFill>
                  <a:prstClr val="black"/>
                </a:solidFill>
              </a:endParaRPr>
            </a:p>
          </p:txBody>
        </p:sp>
        <p:sp>
          <p:nvSpPr>
            <p:cNvPr id="56" name="Line 15"/>
            <p:cNvSpPr>
              <a:spLocks noChangeShapeType="1"/>
            </p:cNvSpPr>
            <p:nvPr/>
          </p:nvSpPr>
          <p:spPr bwMode="auto">
            <a:xfrm>
              <a:off x="2529" y="4826"/>
              <a:ext cx="0" cy="226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>
                <a:solidFill>
                  <a:prstClr val="black"/>
                </a:solidFill>
              </a:endParaRPr>
            </a:p>
          </p:txBody>
        </p:sp>
      </p:grpSp>
      <p:sp>
        <p:nvSpPr>
          <p:cNvPr id="57" name="Text Box 16"/>
          <p:cNvSpPr txBox="1">
            <a:spLocks noChangeArrowheads="1"/>
          </p:cNvSpPr>
          <p:nvPr/>
        </p:nvSpPr>
        <p:spPr bwMode="auto">
          <a:xfrm>
            <a:off x="4846738" y="3757843"/>
            <a:ext cx="914400" cy="3587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>
              <a:spcBef>
                <a:spcPct val="50000"/>
              </a:spcBef>
            </a:pPr>
            <a:r>
              <a:rPr lang="en-US">
                <a:solidFill>
                  <a:prstClr val="black"/>
                </a:solidFill>
              </a:rPr>
              <a:t>10 cm</a:t>
            </a:r>
            <a:endParaRPr lang="en-US" sz="2800">
              <a:solidFill>
                <a:prstClr val="black"/>
              </a:solidFill>
            </a:endParaRPr>
          </a:p>
        </p:txBody>
      </p:sp>
      <p:sp>
        <p:nvSpPr>
          <p:cNvPr id="58" name="Text Box 17"/>
          <p:cNvSpPr txBox="1">
            <a:spLocks noChangeArrowheads="1"/>
          </p:cNvSpPr>
          <p:nvPr/>
        </p:nvSpPr>
        <p:spPr bwMode="auto">
          <a:xfrm>
            <a:off x="2789338" y="4100743"/>
            <a:ext cx="717550" cy="3587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>
              <a:spcBef>
                <a:spcPct val="50000"/>
              </a:spcBef>
            </a:pPr>
            <a:r>
              <a:rPr lang="en-US" dirty="0">
                <a:solidFill>
                  <a:prstClr val="black"/>
                </a:solidFill>
              </a:rPr>
              <a:t>4 cm</a:t>
            </a:r>
            <a:endParaRPr lang="en-US" sz="2800" dirty="0">
              <a:solidFill>
                <a:prstClr val="black"/>
              </a:solidFill>
            </a:endParaRPr>
          </a:p>
        </p:txBody>
      </p:sp>
      <p:sp>
        <p:nvSpPr>
          <p:cNvPr id="59" name="Text Box 18"/>
          <p:cNvSpPr txBox="1">
            <a:spLocks noChangeArrowheads="1"/>
          </p:cNvSpPr>
          <p:nvPr/>
        </p:nvSpPr>
        <p:spPr bwMode="auto">
          <a:xfrm>
            <a:off x="3132238" y="3072043"/>
            <a:ext cx="717550" cy="3587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>
              <a:spcBef>
                <a:spcPct val="50000"/>
              </a:spcBef>
            </a:pPr>
            <a:r>
              <a:rPr lang="en-US" dirty="0">
                <a:solidFill>
                  <a:prstClr val="black"/>
                </a:solidFill>
              </a:rPr>
              <a:t>5 cm</a:t>
            </a:r>
            <a:endParaRPr lang="en-US" sz="2800" dirty="0">
              <a:solidFill>
                <a:prstClr val="black"/>
              </a:solidFill>
            </a:endParaRPr>
          </a:p>
        </p:txBody>
      </p:sp>
      <p:sp>
        <p:nvSpPr>
          <p:cNvPr id="60" name="Text Box 19"/>
          <p:cNvSpPr txBox="1">
            <a:spLocks noChangeArrowheads="1"/>
          </p:cNvSpPr>
          <p:nvPr/>
        </p:nvSpPr>
        <p:spPr bwMode="auto">
          <a:xfrm>
            <a:off x="1760638" y="3186343"/>
            <a:ext cx="717550" cy="3587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>
              <a:spcBef>
                <a:spcPct val="50000"/>
              </a:spcBef>
            </a:pPr>
            <a:r>
              <a:rPr lang="en-US" dirty="0">
                <a:solidFill>
                  <a:prstClr val="black"/>
                </a:solidFill>
              </a:rPr>
              <a:t>3 cm</a:t>
            </a:r>
            <a:endParaRPr lang="en-US" sz="2800" dirty="0">
              <a:solidFill>
                <a:prstClr val="black"/>
              </a:solidFill>
            </a:endParaRPr>
          </a:p>
        </p:txBody>
      </p:sp>
      <p:sp>
        <p:nvSpPr>
          <p:cNvPr id="61" name="Text Box 20"/>
          <p:cNvSpPr txBox="1">
            <a:spLocks noChangeArrowheads="1"/>
          </p:cNvSpPr>
          <p:nvPr/>
        </p:nvSpPr>
        <p:spPr bwMode="auto">
          <a:xfrm>
            <a:off x="6876845" y="1700443"/>
            <a:ext cx="2719693" cy="523220"/>
          </a:xfrm>
          <a:prstGeom prst="rect">
            <a:avLst/>
          </a:prstGeom>
          <a:noFill/>
          <a:ln w="25400" algn="ctr">
            <a:noFill/>
            <a:miter lim="800000"/>
            <a:headEnd/>
            <a:tailEnd type="none" w="lg" len="lg"/>
          </a:ln>
        </p:spPr>
        <p:txBody>
          <a:bodyPr wrap="square">
            <a:spAutoFit/>
          </a:bodyPr>
          <a:lstStyle/>
          <a:p>
            <a:pPr>
              <a:spcBef>
                <a:spcPct val="50000"/>
              </a:spcBef>
            </a:pPr>
            <a:r>
              <a:rPr lang="en-GB" sz="2800" dirty="0">
                <a:solidFill>
                  <a:prstClr val="black"/>
                </a:solidFill>
                <a:sym typeface="Symbol" pitchFamily="18" charset="2"/>
              </a:rPr>
              <a:t>(4  3) ÷ 2 =   6 </a:t>
            </a:r>
          </a:p>
        </p:txBody>
      </p:sp>
      <p:sp>
        <p:nvSpPr>
          <p:cNvPr id="62" name="Text Box 21"/>
          <p:cNvSpPr txBox="1">
            <a:spLocks noChangeArrowheads="1"/>
          </p:cNvSpPr>
          <p:nvPr/>
        </p:nvSpPr>
        <p:spPr bwMode="auto">
          <a:xfrm>
            <a:off x="6886394" y="2398943"/>
            <a:ext cx="2798763" cy="523220"/>
          </a:xfrm>
          <a:prstGeom prst="rect">
            <a:avLst/>
          </a:prstGeom>
          <a:noFill/>
          <a:ln w="25400" algn="ctr">
            <a:noFill/>
            <a:miter lim="800000"/>
            <a:headEnd/>
            <a:tailEnd type="none" w="lg" len="lg"/>
          </a:ln>
        </p:spPr>
        <p:txBody>
          <a:bodyPr wrap="square">
            <a:spAutoFit/>
          </a:bodyPr>
          <a:lstStyle/>
          <a:p>
            <a:pPr>
              <a:spcBef>
                <a:spcPct val="50000"/>
              </a:spcBef>
            </a:pPr>
            <a:r>
              <a:rPr lang="en-GB" sz="2800" dirty="0">
                <a:solidFill>
                  <a:prstClr val="black"/>
                </a:solidFill>
                <a:sym typeface="Symbol" pitchFamily="18" charset="2"/>
              </a:rPr>
              <a:t>(4  3) ÷ 2 =   6</a:t>
            </a:r>
          </a:p>
        </p:txBody>
      </p:sp>
      <p:sp>
        <p:nvSpPr>
          <p:cNvPr id="63" name="Text Box 22"/>
          <p:cNvSpPr txBox="1">
            <a:spLocks noChangeArrowheads="1"/>
          </p:cNvSpPr>
          <p:nvPr/>
        </p:nvSpPr>
        <p:spPr bwMode="auto">
          <a:xfrm>
            <a:off x="7429600" y="3026005"/>
            <a:ext cx="2232025" cy="519113"/>
          </a:xfrm>
          <a:prstGeom prst="rect">
            <a:avLst/>
          </a:prstGeom>
          <a:noFill/>
          <a:ln w="25400" algn="ctr">
            <a:noFill/>
            <a:miter lim="800000"/>
            <a:headEnd/>
            <a:tailEnd type="none" w="lg" len="lg"/>
          </a:ln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GB" sz="2800" dirty="0">
                <a:solidFill>
                  <a:prstClr val="black"/>
                </a:solidFill>
                <a:sym typeface="Symbol" pitchFamily="18" charset="2"/>
              </a:rPr>
              <a:t>5  10 =  50</a:t>
            </a:r>
          </a:p>
        </p:txBody>
      </p:sp>
      <p:sp>
        <p:nvSpPr>
          <p:cNvPr id="64" name="Text Box 23"/>
          <p:cNvSpPr txBox="1">
            <a:spLocks noChangeArrowheads="1"/>
          </p:cNvSpPr>
          <p:nvPr/>
        </p:nvSpPr>
        <p:spPr bwMode="auto">
          <a:xfrm>
            <a:off x="7429600" y="3724505"/>
            <a:ext cx="2232025" cy="519113"/>
          </a:xfrm>
          <a:prstGeom prst="rect">
            <a:avLst/>
          </a:prstGeom>
          <a:noFill/>
          <a:ln w="25400" algn="ctr">
            <a:noFill/>
            <a:miter lim="800000"/>
            <a:headEnd/>
            <a:tailEnd type="none" w="lg" len="lg"/>
          </a:ln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GB" sz="2800" dirty="0">
                <a:solidFill>
                  <a:prstClr val="black"/>
                </a:solidFill>
                <a:sym typeface="Symbol" pitchFamily="18" charset="2"/>
              </a:rPr>
              <a:t>3  10 =  30</a:t>
            </a:r>
          </a:p>
        </p:txBody>
      </p:sp>
      <p:sp>
        <p:nvSpPr>
          <p:cNvPr id="65" name="Text Box 24"/>
          <p:cNvSpPr txBox="1">
            <a:spLocks noChangeArrowheads="1"/>
          </p:cNvSpPr>
          <p:nvPr/>
        </p:nvSpPr>
        <p:spPr bwMode="auto">
          <a:xfrm>
            <a:off x="7405787" y="4421168"/>
            <a:ext cx="2232025" cy="519112"/>
          </a:xfrm>
          <a:prstGeom prst="rect">
            <a:avLst/>
          </a:prstGeom>
          <a:noFill/>
          <a:ln w="25400" algn="ctr">
            <a:noFill/>
            <a:miter lim="800000"/>
            <a:headEnd/>
            <a:tailEnd type="none" w="lg" len="lg"/>
          </a:ln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GB" sz="2800" dirty="0">
                <a:solidFill>
                  <a:prstClr val="black"/>
                </a:solidFill>
                <a:sym typeface="Symbol" pitchFamily="18" charset="2"/>
              </a:rPr>
              <a:t>4  10 =  40</a:t>
            </a:r>
          </a:p>
        </p:txBody>
      </p:sp>
      <p:sp>
        <p:nvSpPr>
          <p:cNvPr id="66" name="Line 25"/>
          <p:cNvSpPr>
            <a:spLocks noChangeShapeType="1"/>
          </p:cNvSpPr>
          <p:nvPr/>
        </p:nvSpPr>
        <p:spPr bwMode="auto">
          <a:xfrm>
            <a:off x="8568698" y="4978630"/>
            <a:ext cx="1260475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none" w="lg" len="lg"/>
          </a:ln>
        </p:spPr>
        <p:txBody>
          <a:bodyPr>
            <a:spAutoFit/>
          </a:bodyPr>
          <a:lstStyle/>
          <a:p>
            <a:endParaRPr lang="en-US">
              <a:solidFill>
                <a:prstClr val="black"/>
              </a:solidFill>
            </a:endParaRPr>
          </a:p>
        </p:txBody>
      </p:sp>
      <p:sp>
        <p:nvSpPr>
          <p:cNvPr id="67" name="Text Box 26"/>
          <p:cNvSpPr txBox="1">
            <a:spLocks noChangeArrowheads="1"/>
          </p:cNvSpPr>
          <p:nvPr/>
        </p:nvSpPr>
        <p:spPr bwMode="auto">
          <a:xfrm>
            <a:off x="8521800" y="4964343"/>
            <a:ext cx="1827213" cy="519112"/>
          </a:xfrm>
          <a:prstGeom prst="rect">
            <a:avLst/>
          </a:prstGeom>
          <a:noFill/>
          <a:ln w="25400" algn="ctr">
            <a:noFill/>
            <a:miter lim="800000"/>
            <a:headEnd/>
            <a:tailEnd type="none" w="lg" len="lg"/>
          </a:ln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GB" sz="2800">
                <a:solidFill>
                  <a:prstClr val="black"/>
                </a:solidFill>
              </a:rPr>
              <a:t>132 cm</a:t>
            </a:r>
            <a:r>
              <a:rPr lang="en-GB" sz="2800" baseline="30000">
                <a:solidFill>
                  <a:prstClr val="black"/>
                </a:solidFill>
              </a:rPr>
              <a:t>2</a:t>
            </a:r>
            <a:endParaRPr lang="en-US" sz="2800">
              <a:solidFill>
                <a:prstClr val="black"/>
              </a:solidFill>
            </a:endParaRPr>
          </a:p>
        </p:txBody>
      </p:sp>
      <p:sp>
        <p:nvSpPr>
          <p:cNvPr id="68" name="Text Box 27"/>
          <p:cNvSpPr txBox="1">
            <a:spLocks noChangeArrowheads="1"/>
          </p:cNvSpPr>
          <p:nvPr/>
        </p:nvSpPr>
        <p:spPr bwMode="auto">
          <a:xfrm>
            <a:off x="9348888" y="4232394"/>
            <a:ext cx="495300" cy="707886"/>
          </a:xfrm>
          <a:prstGeom prst="rect">
            <a:avLst/>
          </a:prstGeom>
          <a:noFill/>
          <a:ln w="12700" algn="ctr">
            <a:noFill/>
            <a:miter lim="800000"/>
            <a:headEnd/>
            <a:tailEnd type="none" w="lg" len="lg"/>
          </a:ln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GB" sz="4000" dirty="0">
                <a:solidFill>
                  <a:prstClr val="black"/>
                </a:solidFill>
              </a:rPr>
              <a:t>+</a:t>
            </a:r>
            <a:endParaRPr lang="en-US" sz="4000" dirty="0">
              <a:solidFill>
                <a:prstClr val="black"/>
              </a:solidFill>
            </a:endParaRPr>
          </a:p>
        </p:txBody>
      </p:sp>
      <p:sp>
        <p:nvSpPr>
          <p:cNvPr id="69" name="Line 28"/>
          <p:cNvSpPr>
            <a:spLocks noChangeShapeType="1"/>
          </p:cNvSpPr>
          <p:nvPr/>
        </p:nvSpPr>
        <p:spPr bwMode="auto">
          <a:xfrm>
            <a:off x="8568698" y="5497743"/>
            <a:ext cx="1260475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none" w="lg" len="lg"/>
          </a:ln>
        </p:spPr>
        <p:txBody>
          <a:bodyPr>
            <a:spAutoFit/>
          </a:bodyPr>
          <a:lstStyle/>
          <a:p>
            <a:endParaRPr lang="en-US">
              <a:solidFill>
                <a:prstClr val="black"/>
              </a:solidFill>
            </a:endParaRPr>
          </a:p>
        </p:txBody>
      </p:sp>
      <p:sp>
        <p:nvSpPr>
          <p:cNvPr id="70" name="AutoShape 29"/>
          <p:cNvSpPr>
            <a:spLocks noChangeArrowheads="1"/>
          </p:cNvSpPr>
          <p:nvPr/>
        </p:nvSpPr>
        <p:spPr bwMode="auto">
          <a:xfrm>
            <a:off x="4832450" y="1700443"/>
            <a:ext cx="1638300" cy="1600200"/>
          </a:xfrm>
          <a:prstGeom prst="rtTriangle">
            <a:avLst/>
          </a:prstGeom>
          <a:solidFill>
            <a:srgbClr val="FFFF99">
              <a:alpha val="20000"/>
            </a:srgbClr>
          </a:solidFill>
          <a:ln w="25400" algn="ctr">
            <a:solidFill>
              <a:schemeClr val="tx1"/>
            </a:solidFill>
            <a:miter lim="800000"/>
            <a:headEnd/>
            <a:tailEnd type="none" w="lg" len="lg"/>
          </a:ln>
        </p:spPr>
        <p:txBody>
          <a:bodyPr anchor="ctr">
            <a:spAutoFit/>
          </a:bodyPr>
          <a:lstStyle/>
          <a:p>
            <a:endParaRPr lang="en-US">
              <a:solidFill>
                <a:prstClr val="black"/>
              </a:solidFill>
            </a:endParaRPr>
          </a:p>
        </p:txBody>
      </p:sp>
      <p:sp>
        <p:nvSpPr>
          <p:cNvPr id="71" name="AutoShape 30"/>
          <p:cNvSpPr>
            <a:spLocks noChangeArrowheads="1"/>
          </p:cNvSpPr>
          <p:nvPr/>
        </p:nvSpPr>
        <p:spPr bwMode="auto">
          <a:xfrm>
            <a:off x="2332138" y="2516418"/>
            <a:ext cx="1638300" cy="1584325"/>
          </a:xfrm>
          <a:prstGeom prst="rtTriangle">
            <a:avLst/>
          </a:prstGeom>
          <a:solidFill>
            <a:srgbClr val="FFFF99">
              <a:alpha val="50195"/>
            </a:srgbClr>
          </a:solidFill>
          <a:ln w="25400" algn="ctr">
            <a:solidFill>
              <a:schemeClr val="tx1"/>
            </a:solidFill>
            <a:miter lim="800000"/>
            <a:headEnd/>
            <a:tailEnd type="none" w="lg" len="lg"/>
          </a:ln>
        </p:spPr>
        <p:txBody>
          <a:bodyPr anchor="ctr">
            <a:spAutoFit/>
          </a:bodyPr>
          <a:lstStyle/>
          <a:p>
            <a:endParaRPr lang="en-US">
              <a:solidFill>
                <a:prstClr val="black"/>
              </a:solidFill>
            </a:endParaRPr>
          </a:p>
        </p:txBody>
      </p:sp>
      <p:sp>
        <p:nvSpPr>
          <p:cNvPr id="72" name="AutoShape 31"/>
          <p:cNvSpPr>
            <a:spLocks noChangeArrowheads="1"/>
          </p:cNvSpPr>
          <p:nvPr/>
        </p:nvSpPr>
        <p:spPr bwMode="auto">
          <a:xfrm>
            <a:off x="2332138" y="3299055"/>
            <a:ext cx="4138612" cy="801688"/>
          </a:xfrm>
          <a:prstGeom prst="parallelogram">
            <a:avLst>
              <a:gd name="adj" fmla="val 316841"/>
            </a:avLst>
          </a:prstGeom>
          <a:solidFill>
            <a:srgbClr val="FFCC99">
              <a:alpha val="39999"/>
            </a:srgbClr>
          </a:solidFill>
          <a:ln w="25400" algn="ctr">
            <a:solidFill>
              <a:schemeClr val="tx1"/>
            </a:solidFill>
            <a:miter lim="800000"/>
            <a:headEnd/>
            <a:tailEnd type="none" w="lg" len="lg"/>
          </a:ln>
        </p:spPr>
        <p:txBody>
          <a:bodyPr anchor="ctr">
            <a:spAutoFit/>
          </a:bodyPr>
          <a:lstStyle/>
          <a:p>
            <a:endParaRPr lang="en-US">
              <a:solidFill>
                <a:prstClr val="black"/>
              </a:solidFill>
            </a:endParaRPr>
          </a:p>
        </p:txBody>
      </p:sp>
      <p:sp>
        <p:nvSpPr>
          <p:cNvPr id="73" name="AutoShape 32"/>
          <p:cNvSpPr>
            <a:spLocks noChangeArrowheads="1"/>
          </p:cNvSpPr>
          <p:nvPr/>
        </p:nvSpPr>
        <p:spPr bwMode="auto">
          <a:xfrm rot="5400000" flipV="1">
            <a:off x="2382144" y="1650437"/>
            <a:ext cx="2400300" cy="2500312"/>
          </a:xfrm>
          <a:prstGeom prst="parallelogram">
            <a:avLst>
              <a:gd name="adj" fmla="val 33926"/>
            </a:avLst>
          </a:prstGeom>
          <a:solidFill>
            <a:srgbClr val="CC99FF">
              <a:alpha val="30196"/>
            </a:srgbClr>
          </a:solidFill>
          <a:ln w="25400" algn="ctr">
            <a:solidFill>
              <a:schemeClr val="tx1"/>
            </a:solidFill>
            <a:miter lim="800000"/>
            <a:headEnd/>
            <a:tailEnd type="none" w="lg" len="lg"/>
          </a:ln>
        </p:spPr>
        <p:txBody>
          <a:bodyPr anchor="ctr">
            <a:spAutoFit/>
          </a:bodyPr>
          <a:lstStyle/>
          <a:p>
            <a:endParaRPr lang="en-US">
              <a:solidFill>
                <a:prstClr val="black"/>
              </a:solidFill>
            </a:endParaRPr>
          </a:p>
        </p:txBody>
      </p:sp>
      <p:sp>
        <p:nvSpPr>
          <p:cNvPr id="74" name="AutoShape 33"/>
          <p:cNvSpPr>
            <a:spLocks noChangeArrowheads="1"/>
          </p:cNvSpPr>
          <p:nvPr/>
        </p:nvSpPr>
        <p:spPr bwMode="auto">
          <a:xfrm rot="9736931" flipV="1">
            <a:off x="2514700" y="1889355"/>
            <a:ext cx="3733800" cy="2011363"/>
          </a:xfrm>
          <a:prstGeom prst="parallelogram">
            <a:avLst>
              <a:gd name="adj" fmla="val 53576"/>
            </a:avLst>
          </a:prstGeom>
          <a:solidFill>
            <a:srgbClr val="00FF00">
              <a:alpha val="20000"/>
            </a:srgbClr>
          </a:solidFill>
          <a:ln w="25400" algn="ctr">
            <a:solidFill>
              <a:schemeClr val="tx1"/>
            </a:solidFill>
            <a:miter lim="800000"/>
            <a:headEnd/>
            <a:tailEnd type="none" w="lg" len="lg"/>
          </a:ln>
        </p:spPr>
        <p:txBody>
          <a:bodyPr anchor="ctr">
            <a:spAutoFit/>
          </a:bodyPr>
          <a:lstStyle/>
          <a:p>
            <a:endParaRPr lang="en-US">
              <a:solidFill>
                <a:prstClr val="black"/>
              </a:solidFill>
            </a:endParaRPr>
          </a:p>
        </p:txBody>
      </p:sp>
      <p:grpSp>
        <p:nvGrpSpPr>
          <p:cNvPr id="75" name="Group 74"/>
          <p:cNvGrpSpPr/>
          <p:nvPr/>
        </p:nvGrpSpPr>
        <p:grpSpPr>
          <a:xfrm>
            <a:off x="6228773" y="1700443"/>
            <a:ext cx="504056" cy="648693"/>
            <a:chOff x="4499992" y="2872060"/>
            <a:chExt cx="504056" cy="648693"/>
          </a:xfrm>
        </p:grpSpPr>
        <p:sp>
          <p:nvSpPr>
            <p:cNvPr id="76" name="Right Triangle 75"/>
            <p:cNvSpPr/>
            <p:nvPr/>
          </p:nvSpPr>
          <p:spPr>
            <a:xfrm>
              <a:off x="4737225" y="2872060"/>
              <a:ext cx="266823" cy="400050"/>
            </a:xfrm>
            <a:prstGeom prst="rtTriangl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77" name="TextBox 76"/>
            <p:cNvSpPr txBox="1"/>
            <p:nvPr/>
          </p:nvSpPr>
          <p:spPr>
            <a:xfrm>
              <a:off x="4716016" y="3212976"/>
              <a:ext cx="27603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400" dirty="0"/>
                <a:t>4</a:t>
              </a:r>
            </a:p>
          </p:txBody>
        </p:sp>
        <p:sp>
          <p:nvSpPr>
            <p:cNvPr id="78" name="TextBox 77"/>
            <p:cNvSpPr txBox="1"/>
            <p:nvPr/>
          </p:nvSpPr>
          <p:spPr>
            <a:xfrm>
              <a:off x="4499992" y="2924944"/>
              <a:ext cx="27603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400" dirty="0"/>
                <a:t>3</a:t>
              </a:r>
            </a:p>
          </p:txBody>
        </p:sp>
      </p:grpSp>
      <p:grpSp>
        <p:nvGrpSpPr>
          <p:cNvPr id="79" name="Group 78"/>
          <p:cNvGrpSpPr/>
          <p:nvPr/>
        </p:nvGrpSpPr>
        <p:grpSpPr>
          <a:xfrm>
            <a:off x="6228773" y="2399859"/>
            <a:ext cx="523044" cy="649612"/>
            <a:chOff x="4499992" y="3571476"/>
            <a:chExt cx="523044" cy="649612"/>
          </a:xfrm>
        </p:grpSpPr>
        <p:sp>
          <p:nvSpPr>
            <p:cNvPr id="80" name="Right Triangle 79"/>
            <p:cNvSpPr/>
            <p:nvPr/>
          </p:nvSpPr>
          <p:spPr>
            <a:xfrm>
              <a:off x="4756213" y="3571476"/>
              <a:ext cx="266823" cy="400050"/>
            </a:xfrm>
            <a:prstGeom prst="rtTriangl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1" name="TextBox 80"/>
            <p:cNvSpPr txBox="1"/>
            <p:nvPr/>
          </p:nvSpPr>
          <p:spPr>
            <a:xfrm>
              <a:off x="4716016" y="3913311"/>
              <a:ext cx="27603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400" dirty="0"/>
                <a:t>4</a:t>
              </a:r>
            </a:p>
          </p:txBody>
        </p:sp>
        <p:sp>
          <p:nvSpPr>
            <p:cNvPr id="82" name="TextBox 81"/>
            <p:cNvSpPr txBox="1"/>
            <p:nvPr/>
          </p:nvSpPr>
          <p:spPr>
            <a:xfrm>
              <a:off x="4499992" y="3645024"/>
              <a:ext cx="27603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400" dirty="0"/>
                <a:t>3</a:t>
              </a:r>
            </a:p>
          </p:txBody>
        </p:sp>
      </p:grpSp>
      <p:grpSp>
        <p:nvGrpSpPr>
          <p:cNvPr id="83" name="Group 82"/>
          <p:cNvGrpSpPr/>
          <p:nvPr/>
        </p:nvGrpSpPr>
        <p:grpSpPr>
          <a:xfrm>
            <a:off x="6672815" y="3173742"/>
            <a:ext cx="636078" cy="523801"/>
            <a:chOff x="4944034" y="4345359"/>
            <a:chExt cx="636078" cy="523801"/>
          </a:xfrm>
        </p:grpSpPr>
        <p:sp>
          <p:nvSpPr>
            <p:cNvPr id="84" name="Rectangle 83"/>
            <p:cNvSpPr/>
            <p:nvPr/>
          </p:nvSpPr>
          <p:spPr>
            <a:xfrm>
              <a:off x="5148064" y="4357960"/>
              <a:ext cx="432048" cy="244475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5" name="TextBox 84"/>
            <p:cNvSpPr txBox="1"/>
            <p:nvPr/>
          </p:nvSpPr>
          <p:spPr>
            <a:xfrm>
              <a:off x="5148064" y="4561383"/>
              <a:ext cx="36740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400" dirty="0"/>
                <a:t>10</a:t>
              </a:r>
            </a:p>
          </p:txBody>
        </p:sp>
        <p:sp>
          <p:nvSpPr>
            <p:cNvPr id="86" name="TextBox 85"/>
            <p:cNvSpPr txBox="1"/>
            <p:nvPr/>
          </p:nvSpPr>
          <p:spPr>
            <a:xfrm>
              <a:off x="4944034" y="4345359"/>
              <a:ext cx="27603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400" dirty="0"/>
                <a:t>5</a:t>
              </a:r>
            </a:p>
          </p:txBody>
        </p:sp>
      </p:grpSp>
      <p:grpSp>
        <p:nvGrpSpPr>
          <p:cNvPr id="87" name="Group 86"/>
          <p:cNvGrpSpPr/>
          <p:nvPr/>
        </p:nvGrpSpPr>
        <p:grpSpPr>
          <a:xfrm>
            <a:off x="6660821" y="3893822"/>
            <a:ext cx="636078" cy="523801"/>
            <a:chOff x="4944034" y="4345359"/>
            <a:chExt cx="636078" cy="523801"/>
          </a:xfrm>
        </p:grpSpPr>
        <p:sp>
          <p:nvSpPr>
            <p:cNvPr id="88" name="Rectangle 87"/>
            <p:cNvSpPr/>
            <p:nvPr/>
          </p:nvSpPr>
          <p:spPr>
            <a:xfrm>
              <a:off x="5148064" y="4357960"/>
              <a:ext cx="432048" cy="244475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9" name="TextBox 88"/>
            <p:cNvSpPr txBox="1"/>
            <p:nvPr/>
          </p:nvSpPr>
          <p:spPr>
            <a:xfrm>
              <a:off x="5148064" y="4561383"/>
              <a:ext cx="36740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400" dirty="0"/>
                <a:t>10</a:t>
              </a:r>
            </a:p>
          </p:txBody>
        </p:sp>
        <p:sp>
          <p:nvSpPr>
            <p:cNvPr id="90" name="TextBox 89"/>
            <p:cNvSpPr txBox="1"/>
            <p:nvPr/>
          </p:nvSpPr>
          <p:spPr>
            <a:xfrm>
              <a:off x="4944034" y="4345359"/>
              <a:ext cx="27603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400" dirty="0"/>
                <a:t>3</a:t>
              </a:r>
            </a:p>
          </p:txBody>
        </p:sp>
      </p:grpSp>
      <p:grpSp>
        <p:nvGrpSpPr>
          <p:cNvPr id="91" name="Group 90"/>
          <p:cNvGrpSpPr/>
          <p:nvPr/>
        </p:nvGrpSpPr>
        <p:grpSpPr>
          <a:xfrm>
            <a:off x="6660821" y="4541894"/>
            <a:ext cx="636078" cy="523801"/>
            <a:chOff x="4944034" y="4345359"/>
            <a:chExt cx="636078" cy="523801"/>
          </a:xfrm>
        </p:grpSpPr>
        <p:sp>
          <p:nvSpPr>
            <p:cNvPr id="92" name="Rectangle 91"/>
            <p:cNvSpPr/>
            <p:nvPr/>
          </p:nvSpPr>
          <p:spPr>
            <a:xfrm>
              <a:off x="5148064" y="4357960"/>
              <a:ext cx="432048" cy="244475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93" name="TextBox 92"/>
            <p:cNvSpPr txBox="1"/>
            <p:nvPr/>
          </p:nvSpPr>
          <p:spPr>
            <a:xfrm>
              <a:off x="5148064" y="4561383"/>
              <a:ext cx="36740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400" dirty="0"/>
                <a:t>10</a:t>
              </a:r>
            </a:p>
          </p:txBody>
        </p:sp>
        <p:sp>
          <p:nvSpPr>
            <p:cNvPr id="94" name="TextBox 93"/>
            <p:cNvSpPr txBox="1"/>
            <p:nvPr/>
          </p:nvSpPr>
          <p:spPr>
            <a:xfrm>
              <a:off x="4944034" y="4345359"/>
              <a:ext cx="27603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400" dirty="0"/>
                <a:t>4</a:t>
              </a: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1" grpId="0"/>
      <p:bldP spid="62" grpId="0"/>
      <p:bldP spid="63" grpId="0"/>
      <p:bldP spid="64" grpId="0"/>
      <p:bldP spid="65" grpId="0"/>
      <p:bldP spid="66" grpId="0" animBg="1"/>
      <p:bldP spid="67" grpId="0"/>
      <p:bldP spid="68" grpId="0"/>
      <p:bldP spid="69" grpId="0" animBg="1"/>
      <p:bldP spid="70" grpId="0" animBg="1"/>
      <p:bldP spid="70" grpId="1" animBg="1"/>
      <p:bldP spid="71" grpId="0" animBg="1"/>
      <p:bldP spid="71" grpId="1" animBg="1"/>
      <p:bldP spid="72" grpId="0" animBg="1"/>
      <p:bldP spid="72" grpId="1" animBg="1"/>
      <p:bldP spid="73" grpId="0" animBg="1"/>
      <p:bldP spid="73" grpId="1" animBg="1"/>
      <p:bldP spid="74" grpId="0" animBg="1"/>
      <p:bldP spid="74" grpId="1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DON'T LOSE MARKS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Units &amp; Common Mistakes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566928" y="1325880"/>
            <a:ext cx="11064240" cy="566928"/>
          </a:xfrm>
          <a:prstGeom prst="roundRect">
            <a:avLst>
              <a:gd name="adj" fmla="val 9677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886968" y="1325880"/>
            <a:ext cx="10424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easy marks to protect on every question.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566928" y="2103120"/>
            <a:ext cx="11064240" cy="713232"/>
          </a:xfrm>
          <a:prstGeom prst="roundRect">
            <a:avLst>
              <a:gd name="adj" fmla="val 7692"/>
            </a:avLst>
          </a:prstGeom>
          <a:solidFill>
            <a:srgbClr val="EEF1E8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914400" y="2103120"/>
            <a:ext cx="4572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Volume uses CUBIC units</a:t>
            </a:r>
            <a:endParaRPr lang="en-US" sz="1400" dirty="0"/>
          </a:p>
        </p:txBody>
      </p:sp>
      <p:sp>
        <p:nvSpPr>
          <p:cNvPr id="45" name="Text 43"/>
          <p:cNvSpPr/>
          <p:nvPr/>
        </p:nvSpPr>
        <p:spPr>
          <a:xfrm>
            <a:off x="5577840" y="2103120"/>
            <a:ext cx="5852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cm³, m³ — three lengths multiplied</a:t>
            </a:r>
            <a:endParaRPr lang="en-US" sz="1300" dirty="0"/>
          </a:p>
        </p:txBody>
      </p:sp>
      <p:sp>
        <p:nvSpPr>
          <p:cNvPr id="46" name="Shape 44"/>
          <p:cNvSpPr/>
          <p:nvPr/>
        </p:nvSpPr>
        <p:spPr>
          <a:xfrm>
            <a:off x="566928" y="2926080"/>
            <a:ext cx="11064240" cy="713232"/>
          </a:xfrm>
          <a:prstGeom prst="roundRect">
            <a:avLst>
              <a:gd name="adj" fmla="val 7692"/>
            </a:avLst>
          </a:prstGeom>
          <a:solidFill>
            <a:srgbClr val="FBF3DD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7" name="Text 45"/>
          <p:cNvSpPr/>
          <p:nvPr/>
        </p:nvSpPr>
        <p:spPr>
          <a:xfrm>
            <a:off x="914400" y="2926080"/>
            <a:ext cx="4572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Surface area uses SQUARE units</a:t>
            </a:r>
            <a:endParaRPr lang="en-US" sz="1400" dirty="0"/>
          </a:p>
        </p:txBody>
      </p:sp>
      <p:sp>
        <p:nvSpPr>
          <p:cNvPr id="48" name="Text 46"/>
          <p:cNvSpPr/>
          <p:nvPr/>
        </p:nvSpPr>
        <p:spPr>
          <a:xfrm>
            <a:off x="5577840" y="2926080"/>
            <a:ext cx="5852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cm², m² — it is an area</a:t>
            </a:r>
            <a:endParaRPr lang="en-US" sz="1300" dirty="0"/>
          </a:p>
        </p:txBody>
      </p:sp>
      <p:sp>
        <p:nvSpPr>
          <p:cNvPr id="49" name="Shape 47"/>
          <p:cNvSpPr/>
          <p:nvPr/>
        </p:nvSpPr>
        <p:spPr>
          <a:xfrm>
            <a:off x="566928" y="3749040"/>
            <a:ext cx="11064240" cy="713232"/>
          </a:xfrm>
          <a:prstGeom prst="roundRect">
            <a:avLst>
              <a:gd name="adj" fmla="val 7692"/>
            </a:avLst>
          </a:prstGeom>
          <a:solidFill>
            <a:srgbClr val="EEF1E8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50" name="Text 48"/>
          <p:cNvSpPr/>
          <p:nvPr/>
        </p:nvSpPr>
        <p:spPr>
          <a:xfrm>
            <a:off x="914400" y="3749040"/>
            <a:ext cx="4572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Match the units first</a:t>
            </a:r>
            <a:endParaRPr lang="en-US" sz="1400" dirty="0"/>
          </a:p>
        </p:txBody>
      </p:sp>
      <p:sp>
        <p:nvSpPr>
          <p:cNvPr id="51" name="Text 49"/>
          <p:cNvSpPr/>
          <p:nvPr/>
        </p:nvSpPr>
        <p:spPr>
          <a:xfrm>
            <a:off x="5577840" y="3749040"/>
            <a:ext cx="5852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don't mix cm and m — convert before calculating</a:t>
            </a:r>
            <a:endParaRPr lang="en-US" sz="1300" dirty="0"/>
          </a:p>
        </p:txBody>
      </p:sp>
      <p:sp>
        <p:nvSpPr>
          <p:cNvPr id="52" name="Shape 50"/>
          <p:cNvSpPr/>
          <p:nvPr/>
        </p:nvSpPr>
        <p:spPr>
          <a:xfrm>
            <a:off x="566928" y="4572000"/>
            <a:ext cx="11064240" cy="713232"/>
          </a:xfrm>
          <a:prstGeom prst="roundRect">
            <a:avLst>
              <a:gd name="adj" fmla="val 7692"/>
            </a:avLst>
          </a:prstGeom>
          <a:solidFill>
            <a:srgbClr val="FBF3DD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53" name="Text 51"/>
          <p:cNvSpPr/>
          <p:nvPr/>
        </p:nvSpPr>
        <p:spPr>
          <a:xfrm>
            <a:off x="914400" y="4572000"/>
            <a:ext cx="4572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Surface area = EVERY face</a:t>
            </a:r>
            <a:endParaRPr lang="en-US" sz="1400" dirty="0"/>
          </a:p>
        </p:txBody>
      </p:sp>
      <p:sp>
        <p:nvSpPr>
          <p:cNvPr id="54" name="Text 52"/>
          <p:cNvSpPr/>
          <p:nvPr/>
        </p:nvSpPr>
        <p:spPr>
          <a:xfrm>
            <a:off x="5577840" y="4572000"/>
            <a:ext cx="5852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don't forget the hidden back and bottom faces</a:t>
            </a:r>
            <a:endParaRPr lang="en-US" sz="1300" dirty="0"/>
          </a:p>
        </p:txBody>
      </p:sp>
      <p:sp>
        <p:nvSpPr>
          <p:cNvPr id="55" name="Shape 53"/>
          <p:cNvSpPr/>
          <p:nvPr/>
        </p:nvSpPr>
        <p:spPr>
          <a:xfrm>
            <a:off x="566928" y="5394960"/>
            <a:ext cx="11064240" cy="713232"/>
          </a:xfrm>
          <a:prstGeom prst="roundRect">
            <a:avLst>
              <a:gd name="adj" fmla="val 7692"/>
            </a:avLst>
          </a:prstGeom>
          <a:solidFill>
            <a:srgbClr val="EEF1E8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56" name="Text 54"/>
          <p:cNvSpPr/>
          <p:nvPr/>
        </p:nvSpPr>
        <p:spPr>
          <a:xfrm>
            <a:off x="914400" y="5394960"/>
            <a:ext cx="4572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prism must have a constant cross-section</a:t>
            </a:r>
            <a:endParaRPr lang="en-US" sz="1400" dirty="0"/>
          </a:p>
        </p:txBody>
      </p:sp>
      <p:sp>
        <p:nvSpPr>
          <p:cNvPr id="57" name="Text 55"/>
          <p:cNvSpPr/>
          <p:nvPr/>
        </p:nvSpPr>
        <p:spPr>
          <a:xfrm>
            <a:off x="5577840" y="5394960"/>
            <a:ext cx="5852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pyramid or cone does NOT — different formula</a:t>
            </a:r>
            <a:endParaRPr lang="en-US" sz="1300" dirty="0"/>
          </a:p>
        </p:txBody>
      </p:sp>
      <p:sp>
        <p:nvSpPr>
          <p:cNvPr id="58" name="Text 56"/>
          <p:cNvSpPr/>
          <p:nvPr/>
        </p:nvSpPr>
        <p:spPr>
          <a:xfrm>
            <a:off x="566928" y="63093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i="1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question: does it want VOLUME (space inside) or SURFACE AREA (outside)?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C2A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77240" y="640080"/>
            <a:ext cx="603504" cy="603504"/>
          </a:xfrm>
          <a:prstGeom prst="roundRect">
            <a:avLst>
              <a:gd name="adj" fmla="val 15152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777240" y="64008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8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980" dirty="0"/>
          </a:p>
        </p:txBody>
      </p:sp>
      <p:sp>
        <p:nvSpPr>
          <p:cNvPr id="39" name="Text 37"/>
          <p:cNvSpPr/>
          <p:nvPr/>
        </p:nvSpPr>
        <p:spPr>
          <a:xfrm>
            <a:off x="1554480" y="676656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300" dirty="0">
                <a:solidFill>
                  <a:srgbClr val="E0A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</a:t>
            </a:r>
            <a:endParaRPr lang="en-US" sz="1250" dirty="0"/>
          </a:p>
        </p:txBody>
      </p:sp>
      <p:sp>
        <p:nvSpPr>
          <p:cNvPr id="40" name="Text 38"/>
          <p:cNvSpPr/>
          <p:nvPr/>
        </p:nvSpPr>
        <p:spPr>
          <a:xfrm>
            <a:off x="777240" y="1691640"/>
            <a:ext cx="1078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Past-Paper Questions</a:t>
            </a:r>
            <a:endParaRPr lang="en-US" sz="4400" dirty="0"/>
          </a:p>
        </p:txBody>
      </p:sp>
      <p:sp>
        <p:nvSpPr>
          <p:cNvPr id="41" name="Text 39"/>
          <p:cNvSpPr/>
          <p:nvPr/>
        </p:nvSpPr>
        <p:spPr>
          <a:xfrm>
            <a:off x="804672" y="269748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EDEB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Cuboids and prisms — decide volume or surface area, then work face by face.</a:t>
            </a:r>
            <a:endParaRPr lang="en-US" sz="1800" dirty="0"/>
          </a:p>
        </p:txBody>
      </p:sp>
      <p:sp>
        <p:nvSpPr>
          <p:cNvPr id="42" name="Shape 40"/>
          <p:cNvSpPr/>
          <p:nvPr/>
        </p:nvSpPr>
        <p:spPr>
          <a:xfrm>
            <a:off x="868680" y="3611880"/>
            <a:ext cx="475488" cy="475488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43" name="Text 41"/>
          <p:cNvSpPr/>
          <p:nvPr/>
        </p:nvSpPr>
        <p:spPr>
          <a:xfrm>
            <a:off x="868680" y="361188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44" name="Text 42"/>
          <p:cNvSpPr/>
          <p:nvPr/>
        </p:nvSpPr>
        <p:spPr>
          <a:xfrm>
            <a:off x="1554480" y="3611880"/>
            <a:ext cx="10058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EDEB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 it volume or surface area?</a:t>
            </a:r>
            <a:endParaRPr lang="en-US" sz="1800" dirty="0"/>
          </a:p>
        </p:txBody>
      </p:sp>
      <p:sp>
        <p:nvSpPr>
          <p:cNvPr id="45" name="Shape 43"/>
          <p:cNvSpPr/>
          <p:nvPr/>
        </p:nvSpPr>
        <p:spPr>
          <a:xfrm>
            <a:off x="868680" y="4325112"/>
            <a:ext cx="475488" cy="475488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46" name="Text 44"/>
          <p:cNvSpPr/>
          <p:nvPr/>
        </p:nvSpPr>
        <p:spPr>
          <a:xfrm>
            <a:off x="868680" y="432511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47" name="Text 45"/>
          <p:cNvSpPr/>
          <p:nvPr/>
        </p:nvSpPr>
        <p:spPr>
          <a:xfrm>
            <a:off x="1554480" y="4325112"/>
            <a:ext cx="10058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EDEB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Prism → cross-section × length</a:t>
            </a:r>
            <a:endParaRPr lang="en-US" sz="1800" dirty="0"/>
          </a:p>
        </p:txBody>
      </p:sp>
      <p:sp>
        <p:nvSpPr>
          <p:cNvPr id="48" name="Shape 46"/>
          <p:cNvSpPr/>
          <p:nvPr/>
        </p:nvSpPr>
        <p:spPr>
          <a:xfrm>
            <a:off x="868680" y="5038344"/>
            <a:ext cx="475488" cy="475488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49" name="Text 47"/>
          <p:cNvSpPr/>
          <p:nvPr/>
        </p:nvSpPr>
        <p:spPr>
          <a:xfrm>
            <a:off x="868680" y="503834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50" name="Text 48"/>
          <p:cNvSpPr/>
          <p:nvPr/>
        </p:nvSpPr>
        <p:spPr>
          <a:xfrm>
            <a:off x="1554480" y="5038344"/>
            <a:ext cx="10058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EDEB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Surface area → add every face</a:t>
            </a:r>
            <a:endParaRPr lang="en-US" sz="1800" dirty="0"/>
          </a:p>
        </p:txBody>
      </p:sp>
      <p:sp>
        <p:nvSpPr>
          <p:cNvPr id="51" name="Shape 49"/>
          <p:cNvSpPr/>
          <p:nvPr/>
        </p:nvSpPr>
        <p:spPr>
          <a:xfrm>
            <a:off x="868680" y="5751576"/>
            <a:ext cx="475488" cy="475488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2" name="Text 50"/>
          <p:cNvSpPr/>
          <p:nvPr/>
        </p:nvSpPr>
        <p:spPr>
          <a:xfrm>
            <a:off x="868680" y="575157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53" name="Text 51"/>
          <p:cNvSpPr/>
          <p:nvPr/>
        </p:nvSpPr>
        <p:spPr>
          <a:xfrm>
            <a:off x="1554480" y="5751576"/>
            <a:ext cx="10058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EDEB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Cubic units for volume, square for area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PAST-PAPER QUESTION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 1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1554560" y="1408176"/>
            <a:ext cx="9082576" cy="52212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prstDash val="solid"/>
          </a:ln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</p:sp>
      <p:pic>
        <p:nvPicPr>
          <p:cNvPr id="42" name="Image 0" descr="/tmp/work/vq/q-3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7712" y="1481328"/>
            <a:ext cx="8936272" cy="507492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PAST-PAPER QUESTION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 2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2622204" y="1408176"/>
            <a:ext cx="6947287" cy="52212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prstDash val="solid"/>
          </a:ln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</p:sp>
      <p:pic>
        <p:nvPicPr>
          <p:cNvPr id="42" name="Image 0" descr="/tmp/work/vq/q-3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95356" y="1481328"/>
            <a:ext cx="6800983" cy="507492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PAST-PAPER QUESTION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 3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2488619" y="1408176"/>
            <a:ext cx="7214457" cy="52212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prstDash val="solid"/>
          </a:ln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</p:sp>
      <p:pic>
        <p:nvPicPr>
          <p:cNvPr id="42" name="Image 0" descr="/tmp/work/vq/q-3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61771" y="1481328"/>
            <a:ext cx="7068153" cy="507492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PAST-PAPER QUESTION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 4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1614817" y="1408176"/>
            <a:ext cx="8962062" cy="52212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prstDash val="solid"/>
          </a:ln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</p:sp>
      <p:pic>
        <p:nvPicPr>
          <p:cNvPr id="42" name="Image 0" descr="/tmp/work/vq/q-3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87969" y="1481328"/>
            <a:ext cx="8815758" cy="507492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PAST-PAPER QUESTION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 5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1571108" y="1408176"/>
            <a:ext cx="9049479" cy="52212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prstDash val="solid"/>
          </a:ln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</p:sp>
      <p:pic>
        <p:nvPicPr>
          <p:cNvPr id="42" name="Image 0" descr="/tmp/work/vq/q-40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4260" y="1481328"/>
            <a:ext cx="8903175" cy="507492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C2A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77240" y="640080"/>
            <a:ext cx="603504" cy="603504"/>
          </a:xfrm>
          <a:prstGeom prst="roundRect">
            <a:avLst>
              <a:gd name="adj" fmla="val 15152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777240" y="64008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8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980" dirty="0"/>
          </a:p>
        </p:txBody>
      </p:sp>
      <p:sp>
        <p:nvSpPr>
          <p:cNvPr id="39" name="Text 37"/>
          <p:cNvSpPr/>
          <p:nvPr/>
        </p:nvSpPr>
        <p:spPr>
          <a:xfrm>
            <a:off x="1554480" y="676656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300" dirty="0">
                <a:solidFill>
                  <a:srgbClr val="E0A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RECAP</a:t>
            </a:r>
            <a:endParaRPr lang="en-US" sz="1250" dirty="0"/>
          </a:p>
        </p:txBody>
      </p:sp>
      <p:sp>
        <p:nvSpPr>
          <p:cNvPr id="40" name="Text 38"/>
          <p:cNvSpPr/>
          <p:nvPr/>
        </p:nvSpPr>
        <p:spPr>
          <a:xfrm>
            <a:off x="777240" y="137160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Takeaways</a:t>
            </a:r>
            <a:endParaRPr lang="en-US" sz="3800" dirty="0"/>
          </a:p>
        </p:txBody>
      </p:sp>
      <p:sp>
        <p:nvSpPr>
          <p:cNvPr id="41" name="Shape 39"/>
          <p:cNvSpPr/>
          <p:nvPr/>
        </p:nvSpPr>
        <p:spPr>
          <a:xfrm>
            <a:off x="868680" y="2368296"/>
            <a:ext cx="182880" cy="182880"/>
          </a:xfrm>
          <a:prstGeom prst="ellipse">
            <a:avLst/>
          </a:prstGeom>
          <a:solidFill>
            <a:srgbClr val="E8623D"/>
          </a:solidFill>
          <a:ln/>
        </p:spPr>
      </p:sp>
      <p:sp>
        <p:nvSpPr>
          <p:cNvPr id="42" name="Text 40"/>
          <p:cNvSpPr/>
          <p:nvPr/>
        </p:nvSpPr>
        <p:spPr>
          <a:xfrm>
            <a:off x="1234440" y="2331720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 of a prism = area of cross-section × length.</a:t>
            </a:r>
            <a:endParaRPr lang="en-US" sz="1500" dirty="0"/>
          </a:p>
        </p:txBody>
      </p:sp>
      <p:sp>
        <p:nvSpPr>
          <p:cNvPr id="43" name="Shape 41"/>
          <p:cNvSpPr/>
          <p:nvPr/>
        </p:nvSpPr>
        <p:spPr>
          <a:xfrm>
            <a:off x="868680" y="2935224"/>
            <a:ext cx="182880" cy="182880"/>
          </a:xfrm>
          <a:prstGeom prst="ellipse">
            <a:avLst/>
          </a:prstGeom>
          <a:solidFill>
            <a:srgbClr val="E8623D"/>
          </a:solidFill>
          <a:ln/>
        </p:spPr>
      </p:sp>
      <p:sp>
        <p:nvSpPr>
          <p:cNvPr id="44" name="Text 42"/>
          <p:cNvSpPr/>
          <p:nvPr/>
        </p:nvSpPr>
        <p:spPr>
          <a:xfrm>
            <a:off x="1234440" y="2898648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Cuboid: V = length × width × height (cubic units).</a:t>
            </a:r>
            <a:endParaRPr lang="en-US" sz="1500" dirty="0"/>
          </a:p>
        </p:txBody>
      </p:sp>
      <p:sp>
        <p:nvSpPr>
          <p:cNvPr id="45" name="Shape 43"/>
          <p:cNvSpPr/>
          <p:nvPr/>
        </p:nvSpPr>
        <p:spPr>
          <a:xfrm>
            <a:off x="868680" y="3502152"/>
            <a:ext cx="182880" cy="182880"/>
          </a:xfrm>
          <a:prstGeom prst="ellipse">
            <a:avLst/>
          </a:prstGeom>
          <a:solidFill>
            <a:srgbClr val="E8623D"/>
          </a:solidFill>
          <a:ln/>
        </p:spPr>
      </p:sp>
      <p:sp>
        <p:nvSpPr>
          <p:cNvPr id="46" name="Text 44"/>
          <p:cNvSpPr/>
          <p:nvPr/>
        </p:nvSpPr>
        <p:spPr>
          <a:xfrm>
            <a:off x="1234440" y="3465576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 area = the total area of every face — use a net so you miss none.</a:t>
            </a:r>
            <a:endParaRPr lang="en-US" sz="1500" dirty="0"/>
          </a:p>
        </p:txBody>
      </p:sp>
      <p:sp>
        <p:nvSpPr>
          <p:cNvPr id="47" name="Shape 45"/>
          <p:cNvSpPr/>
          <p:nvPr/>
        </p:nvSpPr>
        <p:spPr>
          <a:xfrm>
            <a:off x="868680" y="4069080"/>
            <a:ext cx="182880" cy="182880"/>
          </a:xfrm>
          <a:prstGeom prst="ellipse">
            <a:avLst/>
          </a:prstGeom>
          <a:solidFill>
            <a:srgbClr val="E8623D"/>
          </a:solidFill>
          <a:ln/>
        </p:spPr>
      </p:sp>
      <p:sp>
        <p:nvSpPr>
          <p:cNvPr id="48" name="Text 46"/>
          <p:cNvSpPr/>
          <p:nvPr/>
        </p:nvSpPr>
        <p:spPr>
          <a:xfrm>
            <a:off x="1234440" y="4032504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Compound solids: split into simple parts, then add or subtract.</a:t>
            </a:r>
            <a:endParaRPr lang="en-US" sz="1500" dirty="0"/>
          </a:p>
        </p:txBody>
      </p:sp>
      <p:sp>
        <p:nvSpPr>
          <p:cNvPr id="49" name="Shape 47"/>
          <p:cNvSpPr/>
          <p:nvPr/>
        </p:nvSpPr>
        <p:spPr>
          <a:xfrm>
            <a:off x="868680" y="4636008"/>
            <a:ext cx="182880" cy="182880"/>
          </a:xfrm>
          <a:prstGeom prst="ellipse">
            <a:avLst/>
          </a:prstGeom>
          <a:solidFill>
            <a:srgbClr val="E8623D"/>
          </a:solidFill>
          <a:ln/>
        </p:spPr>
      </p:sp>
      <p:sp>
        <p:nvSpPr>
          <p:cNvPr id="50" name="Text 48"/>
          <p:cNvSpPr/>
          <p:nvPr/>
        </p:nvSpPr>
        <p:spPr>
          <a:xfrm>
            <a:off x="1234440" y="4599432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 is cm³; surface area is cm² — never mix them, and match units first.</a:t>
            </a:r>
            <a:endParaRPr lang="en-US" sz="1500" dirty="0"/>
          </a:p>
        </p:txBody>
      </p:sp>
      <p:sp>
        <p:nvSpPr>
          <p:cNvPr id="51" name="Shape 49"/>
          <p:cNvSpPr/>
          <p:nvPr/>
        </p:nvSpPr>
        <p:spPr>
          <a:xfrm>
            <a:off x="777240" y="5440680"/>
            <a:ext cx="10607040" cy="868680"/>
          </a:xfrm>
          <a:prstGeom prst="roundRect">
            <a:avLst>
              <a:gd name="adj" fmla="val 6316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52" name="Text 50"/>
          <p:cNvSpPr/>
          <p:nvPr/>
        </p:nvSpPr>
        <p:spPr>
          <a:xfrm>
            <a:off x="777240" y="5440680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Golden rule:  </a:t>
            </a:r>
            <a:r>
              <a:rPr lang="en-US" sz="1700" dirty="0">
                <a:solidFill>
                  <a:srgbClr val="EDEB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prism volume is always cross-section × length; surface area is every face added up.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xmlns="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842</Words>
  <Application>Microsoft Office PowerPoint</Application>
  <PresentationFormat>Custom</PresentationFormat>
  <Paragraphs>173</Paragraphs>
  <Slides>17</Slides>
  <Notes>17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18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Zahra Sheikh Ali</dc:creator>
  <cp:lastModifiedBy>zahraa sheik ali</cp:lastModifiedBy>
  <cp:revision>2</cp:revision>
  <dcterms:created xsi:type="dcterms:W3CDTF">2026-07-15T14:54:08Z</dcterms:created>
  <dcterms:modified xsi:type="dcterms:W3CDTF">2026-07-27T10:19:51Z</dcterms:modified>
</cp:coreProperties>
</file>