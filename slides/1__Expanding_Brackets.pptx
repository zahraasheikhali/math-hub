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E542087-1018-4096-B74A-679EAC5752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BB2F04-6383-4E18-A72C-EDD7AA5536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B105BD-F846-4979-B3F4-BDCBBE7CF2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1EC11D-D2DA-456C-AC3B-DA0A90FEFB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64FCC-401B-4472-9648-0ED11386BC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BE9B31-F62C-42A9-8301-77A0EA511B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3E3171-B347-4C62-B464-AAC4606344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265E8-0A9E-481B-BBEE-69EB8C281C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Answers — 1: 6x+18.  2: 20x²+7xy–6y².  3: 10x³y+11x²y²–6xy³.  4: 8x+8.  5: t³+12t²+48t+64.  6: t³–3t²+3t–1.  7: 2x³–2x²+x²y+xy+y².  8: 7x²–32x+2.  9: 4x²+4x+1.  10: x³–3x²y+3xy²–y³.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94F69-72F7-46DD-BB65-5CA9247DCA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Answers — (x+m)(x+n)=x²+(m+n)x+mn.  3x(2x–5y)=6x²–15xy.  (3x+2y)(3x–4y)=9x²–6xy–8y².  Show: (x²+14x+49)–(x²–6x+9)=20x+40=20(x+2).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2FEE15-8DF5-4416-943B-20DFFCC5E3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E6DC4-6524-4806-9FEE-8FF25289B1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D7598-9520-4962-AA10-515FB84490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0B8603-8E8D-4016-AD46-0AA2DBE250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503920" y="91440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0" spc="-1" strike="noStrike">
                <a:solidFill>
                  <a:srgbClr val="283731"/>
                </a:solidFill>
                <a:latin typeface="Cambria"/>
                <a:ea typeface="Cambria"/>
              </a:rPr>
              <a:t>(  )</a:t>
            </a:r>
            <a:endParaRPr b="0" lang="en-US" sz="20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503920" y="137160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9000" spc="-1" strike="noStrike">
                <a:solidFill>
                  <a:srgbClr val="16261f"/>
                </a:solidFill>
                <a:latin typeface="Cambria"/>
                <a:ea typeface="Cambria"/>
              </a:rPr>
              <a:t>x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31520" y="640080"/>
            <a:ext cx="712800" cy="71280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621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4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627560" y="676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e0ac2b"/>
                </a:solidFill>
                <a:latin typeface="Calibri"/>
                <a:ea typeface="Calibri"/>
              </a:rPr>
              <a:t>Zπ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627560" y="951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anim_1_a"/>
          <p:cNvSpPr/>
          <p:nvPr/>
        </p:nvSpPr>
        <p:spPr>
          <a:xfrm>
            <a:off x="731520" y="192024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pc="-1" strike="noStrike">
                <a:solidFill>
                  <a:srgbClr val="e0ac2b"/>
                </a:solidFill>
                <a:latin typeface="Cambria"/>
                <a:ea typeface="Cambria"/>
              </a:rPr>
              <a:t>Expanding Brackets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anim_2_a"/>
          <p:cNvSpPr/>
          <p:nvPr/>
        </p:nvSpPr>
        <p:spPr>
          <a:xfrm>
            <a:off x="758880" y="306324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Single  ·  Double  ·  Triple  ·  Squaring a Bracket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anim_3_a"/>
          <p:cNvSpPr/>
          <p:nvPr/>
        </p:nvSpPr>
        <p:spPr>
          <a:xfrm>
            <a:off x="758880" y="3566160"/>
            <a:ext cx="1005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A clear, step-by-step lesson with worked examples and exam practice.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anim_4_a"/>
          <p:cNvSpPr/>
          <p:nvPr/>
        </p:nvSpPr>
        <p:spPr>
          <a:xfrm>
            <a:off x="731520" y="4343400"/>
            <a:ext cx="6857640" cy="1627200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anim_4_a"/>
          <p:cNvSpPr/>
          <p:nvPr/>
        </p:nvSpPr>
        <p:spPr>
          <a:xfrm>
            <a:off x="1005840" y="4526280"/>
            <a:ext cx="6400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anim_4_a"/>
          <p:cNvSpPr/>
          <p:nvPr/>
        </p:nvSpPr>
        <p:spPr>
          <a:xfrm>
            <a:off x="1005840" y="491940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IGCSE Mathematics Teacher  ·  M.Sc. Differential Geometry &amp; Geometric Control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anim_4_a"/>
          <p:cNvSpPr/>
          <p:nvPr/>
        </p:nvSpPr>
        <p:spPr>
          <a:xfrm>
            <a:off x="1005840" y="53582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66613748  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THE BIG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Expanding = Multiplying Out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anim_1_a"/>
          <p:cNvSpPr/>
          <p:nvPr/>
        </p:nvSpPr>
        <p:spPr>
          <a:xfrm>
            <a:off x="548640" y="1572840"/>
            <a:ext cx="11091240" cy="1416960"/>
          </a:xfrm>
          <a:prstGeom prst="roundRect">
            <a:avLst>
              <a:gd name="adj" fmla="val 6452"/>
            </a:avLst>
          </a:prstGeom>
          <a:solidFill>
            <a:srgbClr val="16261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anim_1_a"/>
          <p:cNvSpPr/>
          <p:nvPr/>
        </p:nvSpPr>
        <p:spPr>
          <a:xfrm>
            <a:off x="868680" y="17557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e0ac2b"/>
                </a:solidFill>
                <a:latin typeface="Calibri"/>
                <a:ea typeface="Calibri"/>
              </a:rPr>
              <a:t>OBJECTIVE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anim_1_a"/>
          <p:cNvSpPr/>
          <p:nvPr/>
        </p:nvSpPr>
        <p:spPr>
          <a:xfrm>
            <a:off x="868680" y="204840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I can expand and simplify single, double and triple brackets — and square a bracket.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anim_2_c"/>
          <p:cNvSpPr/>
          <p:nvPr/>
        </p:nvSpPr>
        <p:spPr>
          <a:xfrm>
            <a:off x="548640" y="3200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84f2f"/>
                </a:solidFill>
                <a:latin typeface="Calibri"/>
                <a:ea typeface="Calibri"/>
              </a:rPr>
              <a:t>KEY IDEA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anim_2_c"/>
          <p:cNvSpPr/>
          <p:nvPr/>
        </p:nvSpPr>
        <p:spPr>
          <a:xfrm>
            <a:off x="548640" y="3529440"/>
            <a:ext cx="5440320" cy="12067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anim_2_c"/>
          <p:cNvSpPr/>
          <p:nvPr/>
        </p:nvSpPr>
        <p:spPr>
          <a:xfrm>
            <a:off x="804600" y="367596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Expand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anim_2_c"/>
          <p:cNvSpPr/>
          <p:nvPr/>
        </p:nvSpPr>
        <p:spPr>
          <a:xfrm>
            <a:off x="804600" y="4078080"/>
            <a:ext cx="4983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remove the brackets by multiplying everything out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anim_2_c"/>
          <p:cNvSpPr/>
          <p:nvPr/>
        </p:nvSpPr>
        <p:spPr>
          <a:xfrm>
            <a:off x="6199560" y="3529440"/>
            <a:ext cx="5440320" cy="12067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anim_2_c"/>
          <p:cNvSpPr/>
          <p:nvPr/>
        </p:nvSpPr>
        <p:spPr>
          <a:xfrm>
            <a:off x="6455520" y="367596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Term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anim_2_c"/>
          <p:cNvSpPr/>
          <p:nvPr/>
        </p:nvSpPr>
        <p:spPr>
          <a:xfrm>
            <a:off x="6455520" y="4078080"/>
            <a:ext cx="4983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a part of an expression, e.g. 3x, –4, x²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anim_2_c"/>
          <p:cNvSpPr/>
          <p:nvPr/>
        </p:nvSpPr>
        <p:spPr>
          <a:xfrm>
            <a:off x="548640" y="4919400"/>
            <a:ext cx="5440320" cy="12067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anim_2_c"/>
          <p:cNvSpPr/>
          <p:nvPr/>
        </p:nvSpPr>
        <p:spPr>
          <a:xfrm>
            <a:off x="804600" y="506592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Like terms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anim_2_c"/>
          <p:cNvSpPr/>
          <p:nvPr/>
        </p:nvSpPr>
        <p:spPr>
          <a:xfrm>
            <a:off x="804600" y="5468040"/>
            <a:ext cx="4983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terms with the same letters &amp; powers, e.g. 6n and 9n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anim_2_c"/>
          <p:cNvSpPr/>
          <p:nvPr/>
        </p:nvSpPr>
        <p:spPr>
          <a:xfrm>
            <a:off x="6199560" y="4919400"/>
            <a:ext cx="5440320" cy="12067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anim_2_c"/>
          <p:cNvSpPr/>
          <p:nvPr/>
        </p:nvSpPr>
        <p:spPr>
          <a:xfrm>
            <a:off x="6455520" y="506592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Simplify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anim_2_c"/>
          <p:cNvSpPr/>
          <p:nvPr/>
        </p:nvSpPr>
        <p:spPr>
          <a:xfrm>
            <a:off x="6455520" y="5468040"/>
            <a:ext cx="4983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collect like terms together after expanding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EXPANDING ·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Single Bracket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Rule: 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multiply </a:t>
            </a: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every term inside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 the bracket by the term </a:t>
            </a: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outside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anim_1_a"/>
          <p:cNvSpPr/>
          <p:nvPr/>
        </p:nvSpPr>
        <p:spPr>
          <a:xfrm>
            <a:off x="548640" y="2377440"/>
            <a:ext cx="1109124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anim_1_a"/>
          <p:cNvSpPr/>
          <p:nvPr/>
        </p:nvSpPr>
        <p:spPr>
          <a:xfrm>
            <a:off x="548640" y="2377440"/>
            <a:ext cx="1109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1f"/>
                </a:solidFill>
                <a:latin typeface="Cambria"/>
                <a:ea typeface="Cambria"/>
              </a:rPr>
              <a:t>Expand    3(2x + 4)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anim_2_c"/>
          <p:cNvSpPr/>
          <p:nvPr/>
        </p:nvSpPr>
        <p:spPr>
          <a:xfrm>
            <a:off x="548640" y="3886200"/>
            <a:ext cx="11091240" cy="182844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anim_2_c"/>
          <p:cNvSpPr/>
          <p:nvPr/>
        </p:nvSpPr>
        <p:spPr>
          <a:xfrm>
            <a:off x="868680" y="41331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anim_2_c"/>
          <p:cNvSpPr/>
          <p:nvPr/>
        </p:nvSpPr>
        <p:spPr>
          <a:xfrm>
            <a:off x="868680" y="413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anim_2_c"/>
          <p:cNvSpPr/>
          <p:nvPr/>
        </p:nvSpPr>
        <p:spPr>
          <a:xfrm>
            <a:off x="1417320" y="406908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Multiply the 3 by the first term: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3 × 2x = 6x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anim_3_c"/>
          <p:cNvSpPr/>
          <p:nvPr/>
        </p:nvSpPr>
        <p:spPr>
          <a:xfrm>
            <a:off x="868680" y="48189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anim_3_c"/>
          <p:cNvSpPr/>
          <p:nvPr/>
        </p:nvSpPr>
        <p:spPr>
          <a:xfrm>
            <a:off x="868680" y="4818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anim_3_c"/>
          <p:cNvSpPr/>
          <p:nvPr/>
        </p:nvSpPr>
        <p:spPr>
          <a:xfrm>
            <a:off x="1417320" y="475488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Multiply the 3 by the second term: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3 × 4 = 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anim_4_c"/>
          <p:cNvSpPr/>
          <p:nvPr/>
        </p:nvSpPr>
        <p:spPr>
          <a:xfrm>
            <a:off x="868680" y="5440680"/>
            <a:ext cx="6583320" cy="63972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anim_4_c"/>
          <p:cNvSpPr/>
          <p:nvPr/>
        </p:nvSpPr>
        <p:spPr>
          <a:xfrm>
            <a:off x="1051560" y="5440680"/>
            <a:ext cx="6217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3(2x + 4) = 6x + 12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EXPANDING · 1b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Expand &amp; Simplify (collect like terms)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nim_1_a"/>
          <p:cNvSpPr/>
          <p:nvPr/>
        </p:nvSpPr>
        <p:spPr>
          <a:xfrm>
            <a:off x="548640" y="1481400"/>
            <a:ext cx="110912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anim_1_a"/>
          <p:cNvSpPr/>
          <p:nvPr/>
        </p:nvSpPr>
        <p:spPr>
          <a:xfrm>
            <a:off x="548640" y="1481400"/>
            <a:ext cx="1109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261f"/>
                </a:solidFill>
                <a:latin typeface="Cambria"/>
                <a:ea typeface="Cambria"/>
              </a:rPr>
              <a:t>Expand &amp; simplify    2(3n – 4) + 3(3n + 5)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anim_2_c"/>
          <p:cNvSpPr/>
          <p:nvPr/>
        </p:nvSpPr>
        <p:spPr>
          <a:xfrm>
            <a:off x="548640" y="2670120"/>
            <a:ext cx="11091240" cy="3291480"/>
          </a:xfrm>
          <a:prstGeom prst="roundRect">
            <a:avLst>
              <a:gd name="adj" fmla="val 2778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anim_2_c"/>
          <p:cNvSpPr/>
          <p:nvPr/>
        </p:nvSpPr>
        <p:spPr>
          <a:xfrm>
            <a:off x="868680" y="29444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anim_2_c"/>
          <p:cNvSpPr/>
          <p:nvPr/>
        </p:nvSpPr>
        <p:spPr>
          <a:xfrm>
            <a:off x="868680" y="2944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anim_2_c"/>
          <p:cNvSpPr/>
          <p:nvPr/>
        </p:nvSpPr>
        <p:spPr>
          <a:xfrm>
            <a:off x="1417320" y="28803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Expand both brackets: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6n – 8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  +  </a:t>
            </a:r>
            <a:r>
              <a:rPr b="1" lang="en-US" sz="1600" spc="-1" strike="noStrike">
                <a:solidFill>
                  <a:srgbClr val="2f6f6b"/>
                </a:solidFill>
                <a:latin typeface="Cambria"/>
                <a:ea typeface="Cambria"/>
              </a:rPr>
              <a:t>9n + 15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anim_3_c"/>
          <p:cNvSpPr/>
          <p:nvPr/>
        </p:nvSpPr>
        <p:spPr>
          <a:xfrm>
            <a:off x="868680" y="3721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anim_3_c"/>
          <p:cNvSpPr/>
          <p:nvPr/>
        </p:nvSpPr>
        <p:spPr>
          <a:xfrm>
            <a:off x="868680" y="3721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anim_3_c"/>
          <p:cNvSpPr/>
          <p:nvPr/>
        </p:nvSpPr>
        <p:spPr>
          <a:xfrm>
            <a:off x="1417320" y="365760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Group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like terms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:   ( 6n + 9n )  +  ( –8 + 15 )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anim_4_c"/>
          <p:cNvSpPr/>
          <p:nvPr/>
        </p:nvSpPr>
        <p:spPr>
          <a:xfrm>
            <a:off x="868680" y="44989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anim_4_c"/>
          <p:cNvSpPr/>
          <p:nvPr/>
        </p:nvSpPr>
        <p:spPr>
          <a:xfrm>
            <a:off x="868680" y="4498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anim_4_c"/>
          <p:cNvSpPr/>
          <p:nvPr/>
        </p:nvSpPr>
        <p:spPr>
          <a:xfrm>
            <a:off x="1417320" y="443484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Add them up:   15n  +  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anim_5_c"/>
          <p:cNvSpPr/>
          <p:nvPr/>
        </p:nvSpPr>
        <p:spPr>
          <a:xfrm>
            <a:off x="868680" y="5166360"/>
            <a:ext cx="6949080" cy="63972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anim_5_c"/>
          <p:cNvSpPr/>
          <p:nvPr/>
        </p:nvSpPr>
        <p:spPr>
          <a:xfrm>
            <a:off x="1051560" y="5166360"/>
            <a:ext cx="658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2(3n – 4) + 3(3n + 5) = 15n + 7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EXPANDING ·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Double Brackets — Grid or FOIL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Rule: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every term in the first bracket multiplies every term in the second — use the </a:t>
            </a:r>
            <a:r>
              <a:rPr b="1" lang="en-US" sz="1500" spc="-1" strike="noStrike">
                <a:solidFill>
                  <a:srgbClr val="e0ac2b"/>
                </a:solidFill>
                <a:latin typeface="Calibri"/>
                <a:ea typeface="Calibri"/>
              </a:rPr>
              <a:t>grid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 or </a:t>
            </a:r>
            <a:r>
              <a:rPr b="1" lang="en-US" sz="1500" spc="-1" strike="noStrike">
                <a:solidFill>
                  <a:srgbClr val="e0ac2b"/>
                </a:solidFill>
                <a:latin typeface="Calibri"/>
                <a:ea typeface="Calibri"/>
              </a:rPr>
              <a:t>FOIL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anim_1_a"/>
          <p:cNvSpPr/>
          <p:nvPr/>
        </p:nvSpPr>
        <p:spPr>
          <a:xfrm>
            <a:off x="548640" y="2267640"/>
            <a:ext cx="1109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16261f"/>
                </a:solidFill>
                <a:latin typeface="Cambria"/>
                <a:ea typeface="Cambria"/>
              </a:rPr>
              <a:t>Expand &amp; simplify   (x + 2)(x + 5)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anim_2_c"/>
          <p:cNvSpPr/>
          <p:nvPr/>
        </p:nvSpPr>
        <p:spPr>
          <a:xfrm>
            <a:off x="1005840" y="2788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48" strike="noStrike">
                <a:solidFill>
                  <a:srgbClr val="c84f2f"/>
                </a:solidFill>
                <a:latin typeface="Calibri"/>
                <a:ea typeface="Calibri"/>
              </a:rPr>
              <a:t>GRID 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4" name="anim_2_c"/>
          <p:cNvGraphicFramePr/>
          <p:nvPr/>
        </p:nvGraphicFramePr>
        <p:xfrm>
          <a:off x="1005840" y="3108960"/>
          <a:ext cx="393156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1394280"/>
                <a:gridCol w="139428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e0ac2b"/>
                          </a:solidFill>
                          <a:latin typeface="Cambria"/>
                          <a:ea typeface="Cambria"/>
                        </a:rPr>
                        <a:t>×</a:t>
                      </a:r>
                      <a:endParaRPr b="0" lang="en-US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16261f"/>
                          </a:solidFill>
                          <a:latin typeface="Cambria"/>
                          <a:ea typeface="Cambria"/>
                        </a:rPr>
                        <a:t>x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3d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16261f"/>
                          </a:solidFill>
                          <a:latin typeface="Cambria"/>
                          <a:ea typeface="Cambria"/>
                        </a:rPr>
                        <a:t>+ 5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3dd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16261f"/>
                          </a:solidFill>
                          <a:latin typeface="Cambria"/>
                          <a:ea typeface="Cambria"/>
                        </a:rPr>
                        <a:t>x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3d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c84f2f"/>
                          </a:solidFill>
                          <a:latin typeface="Cambria"/>
                          <a:ea typeface="Cambria"/>
                        </a:rPr>
                        <a:t>x²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c84f2f"/>
                          </a:solidFill>
                          <a:latin typeface="Cambria"/>
                          <a:ea typeface="Cambria"/>
                        </a:rPr>
                        <a:t>5x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16261f"/>
                          </a:solidFill>
                          <a:latin typeface="Cambria"/>
                          <a:ea typeface="Cambria"/>
                        </a:rPr>
                        <a:t>+ 2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3d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c84f2f"/>
                          </a:solidFill>
                          <a:latin typeface="Cambria"/>
                          <a:ea typeface="Cambria"/>
                        </a:rPr>
                        <a:t>2x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c84f2f"/>
                          </a:solidFill>
                          <a:latin typeface="Cambria"/>
                          <a:ea typeface="Cambria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anim_3_c"/>
          <p:cNvSpPr/>
          <p:nvPr/>
        </p:nvSpPr>
        <p:spPr>
          <a:xfrm>
            <a:off x="5943600" y="2788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48" strike="noStrike">
                <a:solidFill>
                  <a:srgbClr val="c84f2f"/>
                </a:solidFill>
                <a:latin typeface="Calibri"/>
                <a:ea typeface="Calibri"/>
              </a:rPr>
              <a:t>FOIL 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anim_3_c"/>
          <p:cNvSpPr/>
          <p:nvPr/>
        </p:nvSpPr>
        <p:spPr>
          <a:xfrm>
            <a:off x="5943600" y="3127320"/>
            <a:ext cx="383760" cy="383760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anim_3_c"/>
          <p:cNvSpPr/>
          <p:nvPr/>
        </p:nvSpPr>
        <p:spPr>
          <a:xfrm>
            <a:off x="594360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anim_3_c"/>
          <p:cNvSpPr/>
          <p:nvPr/>
        </p:nvSpPr>
        <p:spPr>
          <a:xfrm>
            <a:off x="6446520" y="3099960"/>
            <a:ext cx="5120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First:   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x × x = x²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anim_3_c"/>
          <p:cNvSpPr/>
          <p:nvPr/>
        </p:nvSpPr>
        <p:spPr>
          <a:xfrm>
            <a:off x="5943600" y="3584520"/>
            <a:ext cx="383760" cy="383760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anim_3_c"/>
          <p:cNvSpPr/>
          <p:nvPr/>
        </p:nvSpPr>
        <p:spPr>
          <a:xfrm>
            <a:off x="5943600" y="3584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anim_3_c"/>
          <p:cNvSpPr/>
          <p:nvPr/>
        </p:nvSpPr>
        <p:spPr>
          <a:xfrm>
            <a:off x="6446520" y="3557160"/>
            <a:ext cx="5120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Outer:   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x × 5 = 5x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anim_3_c"/>
          <p:cNvSpPr/>
          <p:nvPr/>
        </p:nvSpPr>
        <p:spPr>
          <a:xfrm>
            <a:off x="5943600" y="4041720"/>
            <a:ext cx="383760" cy="383760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anim_3_c"/>
          <p:cNvSpPr/>
          <p:nvPr/>
        </p:nvSpPr>
        <p:spPr>
          <a:xfrm>
            <a:off x="5943600" y="4041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anim_3_c"/>
          <p:cNvSpPr/>
          <p:nvPr/>
        </p:nvSpPr>
        <p:spPr>
          <a:xfrm>
            <a:off x="6446520" y="4014360"/>
            <a:ext cx="5120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Inner:   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2 × x = 2x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anim_3_c"/>
          <p:cNvSpPr/>
          <p:nvPr/>
        </p:nvSpPr>
        <p:spPr>
          <a:xfrm>
            <a:off x="5943600" y="4498920"/>
            <a:ext cx="383760" cy="383760"/>
          </a:xfrm>
          <a:prstGeom prst="roundRect">
            <a:avLst>
              <a:gd name="adj" fmla="val 16667"/>
            </a:avLst>
          </a:prstGeom>
          <a:solidFill>
            <a:srgbClr val="e0ac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anim_3_c"/>
          <p:cNvSpPr/>
          <p:nvPr/>
        </p:nvSpPr>
        <p:spPr>
          <a:xfrm>
            <a:off x="5943600" y="4498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anim_3_c"/>
          <p:cNvSpPr/>
          <p:nvPr/>
        </p:nvSpPr>
        <p:spPr>
          <a:xfrm>
            <a:off x="6446520" y="4471560"/>
            <a:ext cx="5120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Last:   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2 × 5 =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anim_4_c"/>
          <p:cNvSpPr/>
          <p:nvPr/>
        </p:nvSpPr>
        <p:spPr>
          <a:xfrm>
            <a:off x="1005840" y="5029200"/>
            <a:ext cx="10423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1f"/>
                </a:solidFill>
                <a:latin typeface="Cambria"/>
                <a:ea typeface="Cambria"/>
              </a:rPr>
              <a:t>Both methods give the same four products:   x</a:t>
            </a:r>
            <a:r>
              <a:rPr b="1" lang="en-US" sz="155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550" spc="-1" strike="noStrike">
                <a:solidFill>
                  <a:srgbClr val="16261f"/>
                </a:solidFill>
                <a:latin typeface="Cambria"/>
                <a:ea typeface="Cambria"/>
              </a:rPr>
              <a:t> + 5x + 2x + 10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anim_4_c"/>
          <p:cNvSpPr/>
          <p:nvPr/>
        </p:nvSpPr>
        <p:spPr>
          <a:xfrm>
            <a:off x="1005840" y="5532120"/>
            <a:ext cx="640044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anim_4_c"/>
          <p:cNvSpPr/>
          <p:nvPr/>
        </p:nvSpPr>
        <p:spPr>
          <a:xfrm>
            <a:off x="1188720" y="5532120"/>
            <a:ext cx="6034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(x + 2)(x + 5) = x</a:t>
            </a:r>
            <a:r>
              <a:rPr b="1" lang="en-US" sz="20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 + 7x + 10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EXPANDING · 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Triple Brackets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expand </a:t>
            </a: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two brackets first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, then multiply the result by the third.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anim_1_a"/>
          <p:cNvSpPr/>
          <p:nvPr/>
        </p:nvSpPr>
        <p:spPr>
          <a:xfrm>
            <a:off x="548640" y="2331720"/>
            <a:ext cx="1109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261f"/>
                </a:solidFill>
                <a:latin typeface="Cambria"/>
                <a:ea typeface="Cambria"/>
              </a:rPr>
              <a:t>Expand   (x + 1)(x + 2)(x + 3)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anim_2_c"/>
          <p:cNvSpPr/>
          <p:nvPr/>
        </p:nvSpPr>
        <p:spPr>
          <a:xfrm>
            <a:off x="548640" y="2971800"/>
            <a:ext cx="11091240" cy="2971440"/>
          </a:xfrm>
          <a:prstGeom prst="roundRect">
            <a:avLst>
              <a:gd name="adj" fmla="val 3077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anim_2_c"/>
          <p:cNvSpPr/>
          <p:nvPr/>
        </p:nvSpPr>
        <p:spPr>
          <a:xfrm>
            <a:off x="868680" y="32187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anim_2_c"/>
          <p:cNvSpPr/>
          <p:nvPr/>
        </p:nvSpPr>
        <p:spPr>
          <a:xfrm>
            <a:off x="868680" y="321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anim_2_c"/>
          <p:cNvSpPr/>
          <p:nvPr/>
        </p:nvSpPr>
        <p:spPr>
          <a:xfrm>
            <a:off x="1417320" y="315468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Expand the first two:   (x + 1)(x + 2) =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r>
              <a:rPr b="1" lang="en-US" sz="16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 + 3x + 2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anim_3_c"/>
          <p:cNvSpPr/>
          <p:nvPr/>
        </p:nvSpPr>
        <p:spPr>
          <a:xfrm>
            <a:off x="868680" y="39960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anim_3_c"/>
          <p:cNvSpPr/>
          <p:nvPr/>
        </p:nvSpPr>
        <p:spPr>
          <a:xfrm>
            <a:off x="868680" y="3996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anim_3_c"/>
          <p:cNvSpPr/>
          <p:nvPr/>
        </p:nvSpPr>
        <p:spPr>
          <a:xfrm>
            <a:off x="1417320" y="393192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Now multiply by (x + 3):   (x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 + 3x + 2)(x + 3)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anim_4_c"/>
          <p:cNvSpPr/>
          <p:nvPr/>
        </p:nvSpPr>
        <p:spPr>
          <a:xfrm>
            <a:off x="868680" y="46360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anim_4_c"/>
          <p:cNvSpPr/>
          <p:nvPr/>
        </p:nvSpPr>
        <p:spPr>
          <a:xfrm>
            <a:off x="868680" y="4636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anim_4_c"/>
          <p:cNvSpPr/>
          <p:nvPr/>
        </p:nvSpPr>
        <p:spPr>
          <a:xfrm>
            <a:off x="1417320" y="457200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= x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3</a:t>
            </a: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 + 3x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 + 3x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 + 9x + 2x + 6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anim_5_c"/>
          <p:cNvSpPr/>
          <p:nvPr/>
        </p:nvSpPr>
        <p:spPr>
          <a:xfrm>
            <a:off x="868680" y="5257800"/>
            <a:ext cx="868644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anim_5_c"/>
          <p:cNvSpPr/>
          <p:nvPr/>
        </p:nvSpPr>
        <p:spPr>
          <a:xfrm>
            <a:off x="1051560" y="5257800"/>
            <a:ext cx="8320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0ac2b"/>
                </a:solidFill>
                <a:latin typeface="Cambria"/>
                <a:ea typeface="Cambria"/>
              </a:rPr>
              <a:t>(x + 1)(x + 2)(x + 3) = x</a:t>
            </a:r>
            <a:r>
              <a:rPr b="1" lang="en-US" sz="19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3</a:t>
            </a:r>
            <a:r>
              <a:rPr b="1" lang="en-US" sz="1900" spc="-1" strike="noStrike">
                <a:solidFill>
                  <a:srgbClr val="e0ac2b"/>
                </a:solidFill>
                <a:latin typeface="Cambria"/>
                <a:ea typeface="Cambria"/>
              </a:rPr>
              <a:t> + 6x</a:t>
            </a:r>
            <a:r>
              <a:rPr b="1" lang="en-US" sz="19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1900" spc="-1" strike="noStrike">
                <a:solidFill>
                  <a:srgbClr val="e0ac2b"/>
                </a:solidFill>
                <a:latin typeface="Cambria"/>
                <a:ea typeface="Cambria"/>
              </a:rPr>
              <a:t> + 11x + 6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2" dur="indefinite" restart="never" nodeType="tmRoot">
          <p:childTnLst>
            <p:seq>
              <p:cTn id="263" dur="indefinite" nodeType="mainSeq"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EXPANDING · 4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Squaring a Bracket  —  (a + b)²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Remember: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 power means repeated multiplication —   (x + 3)</a:t>
            </a:r>
            <a:r>
              <a:rPr b="0" lang="en-US" sz="1600" spc="-1" strike="noStrike" baseline="30000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 = (x + 3)(x + 3).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anim_2_c"/>
          <p:cNvSpPr/>
          <p:nvPr/>
        </p:nvSpPr>
        <p:spPr>
          <a:xfrm>
            <a:off x="548640" y="2377440"/>
            <a:ext cx="7040520" cy="3565800"/>
          </a:xfrm>
          <a:prstGeom prst="roundRect">
            <a:avLst>
              <a:gd name="adj" fmla="val 2564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anim_2_c"/>
          <p:cNvSpPr/>
          <p:nvPr/>
        </p:nvSpPr>
        <p:spPr>
          <a:xfrm>
            <a:off x="868680" y="254196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6261f"/>
                </a:solidFill>
                <a:latin typeface="Cambria"/>
                <a:ea typeface="Cambria"/>
              </a:rPr>
              <a:t>Expand   (x + 3)</a:t>
            </a:r>
            <a:r>
              <a:rPr b="1" lang="en-US" sz="22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anim_2_c"/>
          <p:cNvSpPr/>
          <p:nvPr/>
        </p:nvSpPr>
        <p:spPr>
          <a:xfrm>
            <a:off x="868680" y="32187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anim_2_c"/>
          <p:cNvSpPr/>
          <p:nvPr/>
        </p:nvSpPr>
        <p:spPr>
          <a:xfrm>
            <a:off x="868680" y="321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anim_2_c"/>
          <p:cNvSpPr/>
          <p:nvPr/>
        </p:nvSpPr>
        <p:spPr>
          <a:xfrm>
            <a:off x="1417320" y="315468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Write it out:  (x + 3)(x + 3)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nim_3_c"/>
          <p:cNvSpPr/>
          <p:nvPr/>
        </p:nvSpPr>
        <p:spPr>
          <a:xfrm>
            <a:off x="868680" y="39045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anim_3_c"/>
          <p:cNvSpPr/>
          <p:nvPr/>
        </p:nvSpPr>
        <p:spPr>
          <a:xfrm>
            <a:off x="868680" y="3904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anim_3_c"/>
          <p:cNvSpPr/>
          <p:nvPr/>
        </p:nvSpPr>
        <p:spPr>
          <a:xfrm>
            <a:off x="1417320" y="384048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Expand:  x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 + 3x + 3x + 9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anim_4_c"/>
          <p:cNvSpPr/>
          <p:nvPr/>
        </p:nvSpPr>
        <p:spPr>
          <a:xfrm>
            <a:off x="868680" y="4663440"/>
            <a:ext cx="493740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anim_4_c"/>
          <p:cNvSpPr/>
          <p:nvPr/>
        </p:nvSpPr>
        <p:spPr>
          <a:xfrm>
            <a:off x="1051560" y="4663440"/>
            <a:ext cx="4571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= x</a:t>
            </a:r>
            <a:r>
              <a:rPr b="1" lang="en-US" sz="20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 + 6x + 9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anim_4_c"/>
          <p:cNvSpPr/>
          <p:nvPr/>
        </p:nvSpPr>
        <p:spPr>
          <a:xfrm>
            <a:off x="868680" y="5413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a7269"/>
                </a:solidFill>
                <a:latin typeface="Cambria"/>
                <a:ea typeface="Cambria"/>
              </a:rPr>
              <a:t>General:  (a + b)</a:t>
            </a:r>
            <a:r>
              <a:rPr b="1" lang="en-US" sz="13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r>
              <a:rPr b="1" lang="en-US" sz="1300" spc="-1" strike="noStrike">
                <a:solidFill>
                  <a:srgbClr val="6a7269"/>
                </a:solidFill>
                <a:latin typeface="Cambria"/>
                <a:ea typeface="Cambria"/>
              </a:rPr>
              <a:t> = a</a:t>
            </a:r>
            <a:r>
              <a:rPr b="1" lang="en-US" sz="13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r>
              <a:rPr b="1" lang="en-US" sz="1300" spc="-1" strike="noStrike">
                <a:solidFill>
                  <a:srgbClr val="6a7269"/>
                </a:solidFill>
                <a:latin typeface="Cambria"/>
                <a:ea typeface="Cambria"/>
              </a:rPr>
              <a:t> + 2ab + b</a:t>
            </a:r>
            <a:r>
              <a:rPr b="1" lang="en-US" sz="13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anim_3_c"/>
          <p:cNvSpPr/>
          <p:nvPr/>
        </p:nvSpPr>
        <p:spPr>
          <a:xfrm>
            <a:off x="7818120" y="2377440"/>
            <a:ext cx="3821760" cy="3565800"/>
          </a:xfrm>
          <a:prstGeom prst="roundRect">
            <a:avLst>
              <a:gd name="adj" fmla="val 3077"/>
            </a:avLst>
          </a:prstGeom>
          <a:solidFill>
            <a:srgbClr val="fbeae3"/>
          </a:solidFill>
          <a:ln w="15875">
            <a:solidFill>
              <a:srgbClr val="c84f2f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anim_3_c"/>
          <p:cNvSpPr/>
          <p:nvPr/>
        </p:nvSpPr>
        <p:spPr>
          <a:xfrm>
            <a:off x="8092440" y="25786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c84f2f"/>
                </a:solidFill>
                <a:latin typeface="Calibri"/>
                <a:ea typeface="Calibri"/>
              </a:rPr>
              <a:t>COMMON MISTAKE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anim_3_c"/>
          <p:cNvSpPr/>
          <p:nvPr/>
        </p:nvSpPr>
        <p:spPr>
          <a:xfrm>
            <a:off x="8092440" y="31089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(x + 3)</a:t>
            </a:r>
            <a:r>
              <a:rPr b="1" lang="en-US" sz="21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  ≠  x</a:t>
            </a:r>
            <a:r>
              <a:rPr b="1" lang="en-US" sz="21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 + 9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anim_3_c"/>
          <p:cNvSpPr/>
          <p:nvPr/>
        </p:nvSpPr>
        <p:spPr>
          <a:xfrm>
            <a:off x="8092440" y="37947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You must not just square each term.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anim_3_c"/>
          <p:cNvSpPr/>
          <p:nvPr/>
        </p:nvSpPr>
        <p:spPr>
          <a:xfrm>
            <a:off x="8092440" y="457200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Don't forget the middle term:  2 × 3 × x = 6x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YOUR TURN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Exercises — Expand &amp; Simplify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anim_1_a"/>
          <p:cNvSpPr/>
          <p:nvPr/>
        </p:nvSpPr>
        <p:spPr>
          <a:xfrm>
            <a:off x="640080" y="16916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anim_1_a"/>
          <p:cNvSpPr/>
          <p:nvPr/>
        </p:nvSpPr>
        <p:spPr>
          <a:xfrm>
            <a:off x="640080" y="169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anim_1_a"/>
          <p:cNvSpPr/>
          <p:nvPr/>
        </p:nvSpPr>
        <p:spPr>
          <a:xfrm>
            <a:off x="1243440" y="164592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4(2x + 3) – 2(x – 3)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anim_1_a"/>
          <p:cNvSpPr/>
          <p:nvPr/>
        </p:nvSpPr>
        <p:spPr>
          <a:xfrm>
            <a:off x="640080" y="26244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anim_1_a"/>
          <p:cNvSpPr/>
          <p:nvPr/>
        </p:nvSpPr>
        <p:spPr>
          <a:xfrm>
            <a:off x="640080" y="2624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anim_1_a"/>
          <p:cNvSpPr/>
          <p:nvPr/>
        </p:nvSpPr>
        <p:spPr>
          <a:xfrm>
            <a:off x="1243440" y="257868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(5x – 2y)(4x + 3y)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anim_1_a"/>
          <p:cNvSpPr/>
          <p:nvPr/>
        </p:nvSpPr>
        <p:spPr>
          <a:xfrm>
            <a:off x="640080" y="35571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anim_1_a"/>
          <p:cNvSpPr/>
          <p:nvPr/>
        </p:nvSpPr>
        <p:spPr>
          <a:xfrm>
            <a:off x="640080" y="3557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anim_1_a"/>
          <p:cNvSpPr/>
          <p:nvPr/>
        </p:nvSpPr>
        <p:spPr>
          <a:xfrm>
            <a:off x="1243440" y="35114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xy(2x + 3y)(5x – 2y)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anim_1_a"/>
          <p:cNvSpPr/>
          <p:nvPr/>
        </p:nvSpPr>
        <p:spPr>
          <a:xfrm>
            <a:off x="640080" y="44895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anim_1_a"/>
          <p:cNvSpPr/>
          <p:nvPr/>
        </p:nvSpPr>
        <p:spPr>
          <a:xfrm>
            <a:off x="640080" y="4489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anim_1_a"/>
          <p:cNvSpPr/>
          <p:nvPr/>
        </p:nvSpPr>
        <p:spPr>
          <a:xfrm>
            <a:off x="1243440" y="44438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(x + 3)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 – (x – 1)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anim_1_a"/>
          <p:cNvSpPr/>
          <p:nvPr/>
        </p:nvSpPr>
        <p:spPr>
          <a:xfrm>
            <a:off x="640080" y="5422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anim_1_a"/>
          <p:cNvSpPr/>
          <p:nvPr/>
        </p:nvSpPr>
        <p:spPr>
          <a:xfrm>
            <a:off x="640080" y="5422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anim_1_a"/>
          <p:cNvSpPr/>
          <p:nvPr/>
        </p:nvSpPr>
        <p:spPr>
          <a:xfrm>
            <a:off x="1243440" y="537660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(t + 4)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3</a:t>
            </a:r>
            <a:r>
              <a:rPr b="0" i="1" lang="en-US" sz="1800" spc="-1" strike="noStrike">
                <a:solidFill>
                  <a:srgbClr val="6a7269"/>
                </a:solidFill>
                <a:latin typeface="Cambria"/>
                <a:ea typeface="Cambria"/>
              </a:rPr>
              <a:t>     [June 2012]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anim_2_c"/>
          <p:cNvSpPr/>
          <p:nvPr/>
        </p:nvSpPr>
        <p:spPr>
          <a:xfrm>
            <a:off x="6355080" y="16916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anim_2_c"/>
          <p:cNvSpPr/>
          <p:nvPr/>
        </p:nvSpPr>
        <p:spPr>
          <a:xfrm>
            <a:off x="6355080" y="169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anim_2_c"/>
          <p:cNvSpPr/>
          <p:nvPr/>
        </p:nvSpPr>
        <p:spPr>
          <a:xfrm>
            <a:off x="6958440" y="164592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(t – 1)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anim_2_c"/>
          <p:cNvSpPr/>
          <p:nvPr/>
        </p:nvSpPr>
        <p:spPr>
          <a:xfrm>
            <a:off x="6355080" y="26244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anim_2_c"/>
          <p:cNvSpPr/>
          <p:nvPr/>
        </p:nvSpPr>
        <p:spPr>
          <a:xfrm>
            <a:off x="6355080" y="2624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anim_2_c"/>
          <p:cNvSpPr/>
          <p:nvPr/>
        </p:nvSpPr>
        <p:spPr>
          <a:xfrm>
            <a:off x="6958440" y="257868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(2x + y)(x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 – x + 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anim_2_c"/>
          <p:cNvSpPr/>
          <p:nvPr/>
        </p:nvSpPr>
        <p:spPr>
          <a:xfrm>
            <a:off x="6355080" y="35571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anim_2_c"/>
          <p:cNvSpPr/>
          <p:nvPr/>
        </p:nvSpPr>
        <p:spPr>
          <a:xfrm>
            <a:off x="6355080" y="3557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anim_2_c"/>
          <p:cNvSpPr/>
          <p:nvPr/>
        </p:nvSpPr>
        <p:spPr>
          <a:xfrm>
            <a:off x="6958440" y="35114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2(2x – 3)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 – (x + 4)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anim_2_c"/>
          <p:cNvSpPr/>
          <p:nvPr/>
        </p:nvSpPr>
        <p:spPr>
          <a:xfrm>
            <a:off x="6355080" y="448956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anim_2_c"/>
          <p:cNvSpPr/>
          <p:nvPr/>
        </p:nvSpPr>
        <p:spPr>
          <a:xfrm>
            <a:off x="6355080" y="4489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anim_2_c"/>
          <p:cNvSpPr/>
          <p:nvPr/>
        </p:nvSpPr>
        <p:spPr>
          <a:xfrm>
            <a:off x="6958440" y="44438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(2x + 1)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anim_2_c"/>
          <p:cNvSpPr/>
          <p:nvPr/>
        </p:nvSpPr>
        <p:spPr>
          <a:xfrm>
            <a:off x="6355080" y="54223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anim_2_c"/>
          <p:cNvSpPr/>
          <p:nvPr/>
        </p:nvSpPr>
        <p:spPr>
          <a:xfrm>
            <a:off x="6355080" y="5422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anim_2_c"/>
          <p:cNvSpPr/>
          <p:nvPr/>
        </p:nvSpPr>
        <p:spPr>
          <a:xfrm>
            <a:off x="6958440" y="537660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(x – y)</a:t>
            </a:r>
            <a:r>
              <a:rPr b="1" lang="en-US" sz="18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3" dur="indefinite" restart="never" nodeType="tmRoot">
          <p:childTnLst>
            <p:seq>
              <p:cTn id="384" dur="indefinite" nodeType="mainSeq"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AQA PAST PAPER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Exam Questions — Algebra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anim_1_a"/>
          <p:cNvSpPr/>
          <p:nvPr/>
        </p:nvSpPr>
        <p:spPr>
          <a:xfrm>
            <a:off x="548640" y="1600200"/>
            <a:ext cx="5440320" cy="2011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anim_1_a"/>
          <p:cNvSpPr/>
          <p:nvPr/>
        </p:nvSpPr>
        <p:spPr>
          <a:xfrm>
            <a:off x="804600" y="1837800"/>
            <a:ext cx="2468520" cy="420120"/>
          </a:xfrm>
          <a:prstGeom prst="roundRect">
            <a:avLst>
              <a:gd name="adj" fmla="val 17391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anim_1_a"/>
          <p:cNvSpPr/>
          <p:nvPr/>
        </p:nvSpPr>
        <p:spPr>
          <a:xfrm>
            <a:off x="804600" y="1837800"/>
            <a:ext cx="2468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0ac2b"/>
                </a:solidFill>
                <a:latin typeface="Calibri"/>
                <a:ea typeface="Calibri"/>
              </a:rPr>
              <a:t>AQA Jan 2013 · P2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anim_1_a"/>
          <p:cNvSpPr/>
          <p:nvPr/>
        </p:nvSpPr>
        <p:spPr>
          <a:xfrm>
            <a:off x="841320" y="236844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24332d"/>
                </a:solidFill>
                <a:latin typeface="Cambria"/>
                <a:ea typeface="Cambria"/>
              </a:rPr>
              <a:t>Expand   (x + m)(x + n).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anim_1_a"/>
          <p:cNvSpPr/>
          <p:nvPr/>
        </p:nvSpPr>
        <p:spPr>
          <a:xfrm>
            <a:off x="841320" y="3173040"/>
            <a:ext cx="489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a7269"/>
                </a:solidFill>
                <a:latin typeface="Calibri"/>
                <a:ea typeface="Calibri"/>
              </a:rPr>
              <a:t>Give your answer in terms of m and 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anim_2_c"/>
          <p:cNvSpPr/>
          <p:nvPr/>
        </p:nvSpPr>
        <p:spPr>
          <a:xfrm>
            <a:off x="6199560" y="1600200"/>
            <a:ext cx="5440320" cy="2011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anim_2_c"/>
          <p:cNvSpPr/>
          <p:nvPr/>
        </p:nvSpPr>
        <p:spPr>
          <a:xfrm>
            <a:off x="6455520" y="1837800"/>
            <a:ext cx="2468520" cy="420120"/>
          </a:xfrm>
          <a:prstGeom prst="roundRect">
            <a:avLst>
              <a:gd name="adj" fmla="val 17391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anim_2_c"/>
          <p:cNvSpPr/>
          <p:nvPr/>
        </p:nvSpPr>
        <p:spPr>
          <a:xfrm>
            <a:off x="6455520" y="1837800"/>
            <a:ext cx="2468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0ac2b"/>
                </a:solidFill>
                <a:latin typeface="Calibri"/>
                <a:ea typeface="Calibri"/>
              </a:rPr>
              <a:t>AQA Jun 2012 · P2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anim_2_c"/>
          <p:cNvSpPr/>
          <p:nvPr/>
        </p:nvSpPr>
        <p:spPr>
          <a:xfrm>
            <a:off x="6492240" y="236844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(a)  Expand   3x(2x – 5y)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(b)  Expand &amp; simplify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       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(3x + 2y)(3x – 4y)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anim_3_c"/>
          <p:cNvSpPr/>
          <p:nvPr/>
        </p:nvSpPr>
        <p:spPr>
          <a:xfrm>
            <a:off x="548640" y="3840480"/>
            <a:ext cx="1109124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anim_3_c"/>
          <p:cNvSpPr/>
          <p:nvPr/>
        </p:nvSpPr>
        <p:spPr>
          <a:xfrm>
            <a:off x="804600" y="4078080"/>
            <a:ext cx="2468520" cy="420120"/>
          </a:xfrm>
          <a:prstGeom prst="roundRect">
            <a:avLst>
              <a:gd name="adj" fmla="val 17391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anim_3_c"/>
          <p:cNvSpPr/>
          <p:nvPr/>
        </p:nvSpPr>
        <p:spPr>
          <a:xfrm>
            <a:off x="804600" y="4078080"/>
            <a:ext cx="2468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0ac2b"/>
                </a:solidFill>
                <a:latin typeface="Calibri"/>
                <a:ea typeface="Calibri"/>
              </a:rPr>
              <a:t>AQA Jun 2012 · P2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anim_3_c"/>
          <p:cNvSpPr/>
          <p:nvPr/>
        </p:nvSpPr>
        <p:spPr>
          <a:xfrm>
            <a:off x="841320" y="4608720"/>
            <a:ext cx="10542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24332d"/>
                </a:solidFill>
                <a:latin typeface="Cambria"/>
                <a:ea typeface="Cambria"/>
              </a:rPr>
              <a:t>Show that   (x + 7)</a:t>
            </a:r>
            <a:r>
              <a:rPr b="1" lang="en-US" sz="19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900" spc="-1" strike="noStrike">
                <a:solidFill>
                  <a:srgbClr val="24332d"/>
                </a:solidFill>
                <a:latin typeface="Cambria"/>
                <a:ea typeface="Cambria"/>
              </a:rPr>
              <a:t> – (x – 3)</a:t>
            </a:r>
            <a:r>
              <a:rPr b="1" lang="en-US" sz="19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900" spc="-1" strike="noStrike">
                <a:solidFill>
                  <a:srgbClr val="24332d"/>
                </a:solidFill>
                <a:latin typeface="Cambria"/>
                <a:ea typeface="Cambria"/>
              </a:rPr>
              <a:t>   simplifies to   20(x + 2).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anim_3_c"/>
          <p:cNvSpPr/>
          <p:nvPr/>
        </p:nvSpPr>
        <p:spPr>
          <a:xfrm>
            <a:off x="841320" y="5596200"/>
            <a:ext cx="10542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a7269"/>
                </a:solidFill>
                <a:latin typeface="Calibri"/>
                <a:ea typeface="Calibri"/>
              </a:rPr>
              <a:t>Show full working.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9" dur="indefinite" restart="never" nodeType="tmRoot">
          <p:childTnLst>
            <p:seq>
              <p:cTn id="480" dur="indefinite" nodeType="mainSeq">
                <p:childTnLst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PAST PAPER · GEOMETRY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Trapezium — Form &amp; Show an Equation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anim_1_a"/>
          <p:cNvSpPr/>
          <p:nvPr/>
        </p:nvSpPr>
        <p:spPr>
          <a:xfrm>
            <a:off x="548640" y="1572840"/>
            <a:ext cx="566892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anim_1_a"/>
          <p:cNvSpPr/>
          <p:nvPr/>
        </p:nvSpPr>
        <p:spPr>
          <a:xfrm>
            <a:off x="1828800" y="2788920"/>
            <a:ext cx="3108600" cy="1828440"/>
          </a:xfrm>
          <a:prstGeom prst="trapezoid">
            <a:avLst>
              <a:gd name="adj" fmla="val 25000"/>
            </a:avLst>
          </a:prstGeom>
          <a:solidFill>
            <a:srgbClr val="eef1e8"/>
          </a:solidFill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anim_1_a"/>
          <p:cNvSpPr/>
          <p:nvPr/>
        </p:nvSpPr>
        <p:spPr>
          <a:xfrm>
            <a:off x="3383280" y="2788920"/>
            <a:ext cx="360" cy="1828800"/>
          </a:xfrm>
          <a:prstGeom prst="line">
            <a:avLst/>
          </a:prstGeom>
          <a:ln w="15875">
            <a:solidFill>
              <a:srgbClr val="6a726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anim_1_a"/>
          <p:cNvSpPr/>
          <p:nvPr/>
        </p:nvSpPr>
        <p:spPr>
          <a:xfrm>
            <a:off x="2194560" y="239580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24332d"/>
                </a:solidFill>
                <a:latin typeface="Cambria"/>
                <a:ea typeface="Cambria"/>
              </a:rPr>
              <a:t>(x + 5)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anim_1_a"/>
          <p:cNvSpPr/>
          <p:nvPr/>
        </p:nvSpPr>
        <p:spPr>
          <a:xfrm>
            <a:off x="1463040" y="464508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24332d"/>
                </a:solidFill>
                <a:latin typeface="Cambria"/>
                <a:ea typeface="Cambria"/>
              </a:rPr>
              <a:t>(3x – 2)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anim_1_a"/>
          <p:cNvSpPr/>
          <p:nvPr/>
        </p:nvSpPr>
        <p:spPr>
          <a:xfrm>
            <a:off x="3493080" y="356616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24332d"/>
                </a:solidFill>
                <a:latin typeface="Cambria"/>
                <a:ea typeface="Cambria"/>
              </a:rPr>
              <a:t>(2x – 3)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anim_1_a"/>
          <p:cNvSpPr/>
          <p:nvPr/>
        </p:nvSpPr>
        <p:spPr>
          <a:xfrm>
            <a:off x="868680" y="52851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a7269"/>
                </a:solidFill>
                <a:latin typeface="Calibri"/>
                <a:ea typeface="Calibri"/>
              </a:rPr>
              <a:t>Diagram not accurately drawn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anim_1_a"/>
          <p:cNvSpPr/>
          <p:nvPr/>
        </p:nvSpPr>
        <p:spPr>
          <a:xfrm>
            <a:off x="6400800" y="1572840"/>
            <a:ext cx="5239080" cy="1234080"/>
          </a:xfrm>
          <a:prstGeom prst="roundRect">
            <a:avLst>
              <a:gd name="adj" fmla="val 7407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anim_1_a"/>
          <p:cNvSpPr/>
          <p:nvPr/>
        </p:nvSpPr>
        <p:spPr>
          <a:xfrm>
            <a:off x="6675120" y="1572840"/>
            <a:ext cx="47545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The area of the trapezium is 133 cm².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Show that   8x² – 6x – 275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anim_2_c"/>
          <p:cNvSpPr/>
          <p:nvPr/>
        </p:nvSpPr>
        <p:spPr>
          <a:xfrm>
            <a:off x="6400800" y="31273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anim_2_c"/>
          <p:cNvSpPr/>
          <p:nvPr/>
        </p:nvSpPr>
        <p:spPr>
          <a:xfrm>
            <a:off x="640080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anim_2_c"/>
          <p:cNvSpPr/>
          <p:nvPr/>
        </p:nvSpPr>
        <p:spPr>
          <a:xfrm>
            <a:off x="6949440" y="306324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Area = ½(a + b)h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anim_2_c"/>
          <p:cNvSpPr/>
          <p:nvPr/>
        </p:nvSpPr>
        <p:spPr>
          <a:xfrm>
            <a:off x="6949440" y="361188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= ½((x+5)+(3x–2))(2x–3)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= ½(4x + 3)(2x – 3)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= ½(8x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 – 6x – 9)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anim_3_c"/>
          <p:cNvSpPr/>
          <p:nvPr/>
        </p:nvSpPr>
        <p:spPr>
          <a:xfrm>
            <a:off x="6400800" y="48830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anim_3_c"/>
          <p:cNvSpPr/>
          <p:nvPr/>
        </p:nvSpPr>
        <p:spPr>
          <a:xfrm>
            <a:off x="6400800" y="488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anim_3_c"/>
          <p:cNvSpPr/>
          <p:nvPr/>
        </p:nvSpPr>
        <p:spPr>
          <a:xfrm>
            <a:off x="6949440" y="48189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Set = 133:  8x</a:t>
            </a:r>
            <a:r>
              <a:rPr b="1" lang="en-US" sz="14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–6x–9 = 266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anim_3_c"/>
          <p:cNvSpPr/>
          <p:nvPr/>
        </p:nvSpPr>
        <p:spPr>
          <a:xfrm>
            <a:off x="6949440" y="5440680"/>
            <a:ext cx="4663080" cy="50256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anim_3_c"/>
          <p:cNvSpPr/>
          <p:nvPr/>
        </p:nvSpPr>
        <p:spPr>
          <a:xfrm>
            <a:off x="7132320" y="544068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8x</a:t>
            </a:r>
            <a:r>
              <a:rPr b="1" lang="en-US" sz="17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 – 6x – 275 = 0   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9" dur="indefinite" restart="never" nodeType="tmRoot">
          <p:childTnLst>
            <p:seq>
              <p:cTn id="530" dur="indefinite" nodeType="mainSeq"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PAST PAPER · GEOMETRY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Compound Shape — Form &amp; Show an Equation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anim_1_a"/>
          <p:cNvSpPr/>
          <p:nvPr/>
        </p:nvSpPr>
        <p:spPr>
          <a:xfrm>
            <a:off x="548640" y="1572840"/>
            <a:ext cx="566892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anim_1_a"/>
          <p:cNvSpPr/>
          <p:nvPr/>
        </p:nvSpPr>
        <p:spPr>
          <a:xfrm>
            <a:off x="1828800" y="4343400"/>
            <a:ext cx="2743200" cy="36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anim_1_a"/>
          <p:cNvSpPr/>
          <p:nvPr/>
        </p:nvSpPr>
        <p:spPr>
          <a:xfrm>
            <a:off x="4572000" y="2331720"/>
            <a:ext cx="360" cy="201168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anim_1_a"/>
          <p:cNvSpPr/>
          <p:nvPr/>
        </p:nvSpPr>
        <p:spPr>
          <a:xfrm>
            <a:off x="3291840" y="2331720"/>
            <a:ext cx="1280160" cy="36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anim_1_a"/>
          <p:cNvSpPr/>
          <p:nvPr/>
        </p:nvSpPr>
        <p:spPr>
          <a:xfrm>
            <a:off x="3291840" y="2331720"/>
            <a:ext cx="360" cy="109728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anim_1_a"/>
          <p:cNvSpPr/>
          <p:nvPr/>
        </p:nvSpPr>
        <p:spPr>
          <a:xfrm>
            <a:off x="1828800" y="3429000"/>
            <a:ext cx="1463040" cy="36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anim_1_a"/>
          <p:cNvSpPr/>
          <p:nvPr/>
        </p:nvSpPr>
        <p:spPr>
          <a:xfrm>
            <a:off x="1828800" y="3429000"/>
            <a:ext cx="360" cy="91440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anim_1_a"/>
          <p:cNvSpPr/>
          <p:nvPr/>
        </p:nvSpPr>
        <p:spPr>
          <a:xfrm>
            <a:off x="3657600" y="2002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anim_1_a"/>
          <p:cNvSpPr/>
          <p:nvPr/>
        </p:nvSpPr>
        <p:spPr>
          <a:xfrm>
            <a:off x="4681800" y="310896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3x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anim_1_a"/>
          <p:cNvSpPr/>
          <p:nvPr/>
        </p:nvSpPr>
        <p:spPr>
          <a:xfrm>
            <a:off x="2194560" y="44164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(4x – 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anim_1_a"/>
          <p:cNvSpPr/>
          <p:nvPr/>
        </p:nvSpPr>
        <p:spPr>
          <a:xfrm>
            <a:off x="640080" y="37490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(x + 1)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anim_1_a"/>
          <p:cNvSpPr/>
          <p:nvPr/>
        </p:nvSpPr>
        <p:spPr>
          <a:xfrm>
            <a:off x="868680" y="54406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a7269"/>
                </a:solidFill>
                <a:latin typeface="Calibri"/>
                <a:ea typeface="Calibri"/>
              </a:rPr>
              <a:t>All corners right angles · not accurately drawn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anim_1_a"/>
          <p:cNvSpPr/>
          <p:nvPr/>
        </p:nvSpPr>
        <p:spPr>
          <a:xfrm>
            <a:off x="6400800" y="1572840"/>
            <a:ext cx="5239080" cy="1234080"/>
          </a:xfrm>
          <a:prstGeom prst="roundRect">
            <a:avLst>
              <a:gd name="adj" fmla="val 7407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anim_1_a"/>
          <p:cNvSpPr/>
          <p:nvPr/>
        </p:nvSpPr>
        <p:spPr>
          <a:xfrm>
            <a:off x="6675120" y="1572840"/>
            <a:ext cx="47545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The area of the shape is 40 cm².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Show that   4x² + 9x – 47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anim_2_c"/>
          <p:cNvSpPr/>
          <p:nvPr/>
        </p:nvSpPr>
        <p:spPr>
          <a:xfrm>
            <a:off x="6400800" y="31273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anim_2_c"/>
          <p:cNvSpPr/>
          <p:nvPr/>
        </p:nvSpPr>
        <p:spPr>
          <a:xfrm>
            <a:off x="640080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anim_2_c"/>
          <p:cNvSpPr/>
          <p:nvPr/>
        </p:nvSpPr>
        <p:spPr>
          <a:xfrm>
            <a:off x="6949440" y="306324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Split into two rectangles: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anim_2_c"/>
          <p:cNvSpPr/>
          <p:nvPr/>
        </p:nvSpPr>
        <p:spPr>
          <a:xfrm>
            <a:off x="6949440" y="3611880"/>
            <a:ext cx="4663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Bottom: (4x – 3)(x + 1)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Top: 4 × (2x – 1)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Total = 4x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 + 9x – 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anim_3_c"/>
          <p:cNvSpPr/>
          <p:nvPr/>
        </p:nvSpPr>
        <p:spPr>
          <a:xfrm>
            <a:off x="6400800" y="48830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anim_3_c"/>
          <p:cNvSpPr/>
          <p:nvPr/>
        </p:nvSpPr>
        <p:spPr>
          <a:xfrm>
            <a:off x="6400800" y="488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anim_3_c"/>
          <p:cNvSpPr/>
          <p:nvPr/>
        </p:nvSpPr>
        <p:spPr>
          <a:xfrm>
            <a:off x="6949440" y="48189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Set = 40: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anim_3_c"/>
          <p:cNvSpPr/>
          <p:nvPr/>
        </p:nvSpPr>
        <p:spPr>
          <a:xfrm>
            <a:off x="6949440" y="5440680"/>
            <a:ext cx="4663080" cy="50256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anim_3_c"/>
          <p:cNvSpPr/>
          <p:nvPr/>
        </p:nvSpPr>
        <p:spPr>
          <a:xfrm>
            <a:off x="7132320" y="544068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4x</a:t>
            </a:r>
            <a:r>
              <a:rPr b="1" lang="en-US" sz="17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 + 9x – 47 = 0   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1" dur="indefinite" restart="never" nodeType="tmRoot">
          <p:childTnLst>
            <p:seq>
              <p:cTn id="592" dur="indefinite" nodeType="mainSeq"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0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indefinite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9784080" y="3108960"/>
            <a:ext cx="2742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0" spc="-1" strike="noStrike">
                <a:solidFill>
                  <a:srgbClr val="283731"/>
                </a:solidFill>
                <a:latin typeface="Cambria"/>
                <a:ea typeface="Cambria"/>
              </a:rPr>
              <a:t>Σ</a:t>
            </a:r>
            <a:endParaRPr b="0" lang="en-US" sz="1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731520" y="640080"/>
            <a:ext cx="639720" cy="63972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731520" y="62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4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2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1517760" y="676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8" strike="noStrike">
                <a:solidFill>
                  <a:srgbClr val="e0ac2b"/>
                </a:solidFill>
                <a:latin typeface="Calibri"/>
                <a:ea typeface="Calibri"/>
              </a:rPr>
              <a:t>Zπ MATHS HUB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731520" y="13258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0ac2b"/>
                </a:solidFill>
                <a:latin typeface="Cambria"/>
                <a:ea typeface="Cambria"/>
              </a:rPr>
              <a:t>Recap &amp; Resources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anim_1_a"/>
          <p:cNvSpPr/>
          <p:nvPr/>
        </p:nvSpPr>
        <p:spPr>
          <a:xfrm>
            <a:off x="731520" y="2240280"/>
            <a:ext cx="5440320" cy="105120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anim_1_a"/>
          <p:cNvSpPr/>
          <p:nvPr/>
        </p:nvSpPr>
        <p:spPr>
          <a:xfrm>
            <a:off x="1005840" y="2386440"/>
            <a:ext cx="493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Single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anim_1_a"/>
          <p:cNvSpPr/>
          <p:nvPr/>
        </p:nvSpPr>
        <p:spPr>
          <a:xfrm>
            <a:off x="1005840" y="27522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multiply every inside term by the outside term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anim_1_a"/>
          <p:cNvSpPr/>
          <p:nvPr/>
        </p:nvSpPr>
        <p:spPr>
          <a:xfrm>
            <a:off x="6355080" y="2240280"/>
            <a:ext cx="5440320" cy="105120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anim_1_a"/>
          <p:cNvSpPr/>
          <p:nvPr/>
        </p:nvSpPr>
        <p:spPr>
          <a:xfrm>
            <a:off x="6629400" y="2386440"/>
            <a:ext cx="493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Double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anim_1_a"/>
          <p:cNvSpPr/>
          <p:nvPr/>
        </p:nvSpPr>
        <p:spPr>
          <a:xfrm>
            <a:off x="6629400" y="27522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every term × every term (grid / FOIL), then simplify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anim_2_c"/>
          <p:cNvSpPr/>
          <p:nvPr/>
        </p:nvSpPr>
        <p:spPr>
          <a:xfrm>
            <a:off x="731520" y="3456360"/>
            <a:ext cx="5440320" cy="105120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anim_2_c"/>
          <p:cNvSpPr/>
          <p:nvPr/>
        </p:nvSpPr>
        <p:spPr>
          <a:xfrm>
            <a:off x="1005840" y="3602880"/>
            <a:ext cx="493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Triple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anim_2_c"/>
          <p:cNvSpPr/>
          <p:nvPr/>
        </p:nvSpPr>
        <p:spPr>
          <a:xfrm>
            <a:off x="1005840" y="39686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expand two brackets first, then multiply by the third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anim_2_c"/>
          <p:cNvSpPr/>
          <p:nvPr/>
        </p:nvSpPr>
        <p:spPr>
          <a:xfrm>
            <a:off x="6355080" y="3456360"/>
            <a:ext cx="5440320" cy="1051200"/>
          </a:xfrm>
          <a:prstGeom prst="roundRect">
            <a:avLst>
              <a:gd name="adj" fmla="val 8696"/>
            </a:avLst>
          </a:prstGeom>
          <a:solidFill>
            <a:srgbClr val="283731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anim_2_c"/>
          <p:cNvSpPr/>
          <p:nvPr/>
        </p:nvSpPr>
        <p:spPr>
          <a:xfrm>
            <a:off x="6629400" y="3602880"/>
            <a:ext cx="493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Square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anim_2_c"/>
          <p:cNvSpPr/>
          <p:nvPr/>
        </p:nvSpPr>
        <p:spPr>
          <a:xfrm>
            <a:off x="6629400" y="39686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(a + b)² = a² + 2ab + b² — keep the middle term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anim_3_c"/>
          <p:cNvSpPr/>
          <p:nvPr/>
        </p:nvSpPr>
        <p:spPr>
          <a:xfrm>
            <a:off x="731520" y="4754880"/>
            <a:ext cx="10926720" cy="1005480"/>
          </a:xfrm>
          <a:prstGeom prst="roundRect">
            <a:avLst>
              <a:gd name="adj" fmla="val 10909"/>
            </a:avLst>
          </a:prstGeom>
          <a:solidFill>
            <a:srgbClr val="16261f"/>
          </a:solidFill>
          <a:ln w="15875">
            <a:solidFill>
              <a:srgbClr val="2837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anim_3_c"/>
          <p:cNvSpPr/>
          <p:nvPr/>
        </p:nvSpPr>
        <p:spPr>
          <a:xfrm>
            <a:off x="1051560" y="48830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 u="sng">
                <a:solidFill>
                  <a:srgbClr val="e0ac2b"/>
                </a:solidFill>
                <a:uFillTx/>
                <a:latin typeface="Calibri"/>
                <a:ea typeface="Calibri"/>
              </a:rPr>
              <a:t>Practice:  </a:t>
            </a:r>
            <a:r>
              <a:rPr b="0" lang="en-US" sz="1300" spc="-1" strike="noStrike" u="sng">
                <a:solidFill>
                  <a:srgbClr val="edebdd"/>
                </a:solidFill>
                <a:uFillTx/>
                <a:latin typeface="Calibri"/>
                <a:ea typeface="Calibri"/>
              </a:rPr>
              <a:t>wordwall.net — expanding single brackets        ✉  zahraa.sheikhali@outlook.com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anim_3_c"/>
          <p:cNvSpPr/>
          <p:nvPr/>
        </p:nvSpPr>
        <p:spPr>
          <a:xfrm>
            <a:off x="1051560" y="53035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Ms. Zahra Sheikh Ali  ·  Pearson Edexcel IGCSE (9–1) Mathematics A  ·  Higher Tier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8" dur="indefinite" restart="never" nodeType="tmRoot">
          <p:childTnLst>
            <p:seq>
              <p:cTn id="669" dur="indefinite" nodeType="mainSeq">
                <p:childTnLst>
                  <p:par>
                    <p:cTn id="670" fill="hold">
                      <p:stCondLst>
                        <p:cond delay="0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0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3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6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9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indefinite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2026-06-28T08:26:36Z</dcterms:created>
  <dc:creator>Zahra Sheikh Ali</dc:creator>
  <dc:description/>
  <dc:language>en-US</dc:language>
  <cp:lastModifiedBy>Zahra Sheikh Ali</cp:lastModifiedBy>
  <dcterms:modified xsi:type="dcterms:W3CDTF">2026-06-28T08:26:36Z</dcterms:modified>
  <cp:revision>1</cp:revision>
  <dc:subject>PptxGenJS Presentation</dc:subject>
  <dc:title>Expanding Brackets — IGCSE Mathematics (Higher Tier)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