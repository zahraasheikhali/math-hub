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404CC23-28E0-43DD-B4E2-3C23FC7CF18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01E824-8E2F-4BD7-9D34-2D0C323CE7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2C809B-914A-4213-8F17-D40B5FB507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71C774-5A95-4201-B7BE-AA91BA71E23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B86BA8-B797-4082-9B53-F2E45BAFCB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D592FD-9F7B-40BC-A33C-B9DEBDD0F1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2A42DA-0733-4575-B4E2-9613F4ED49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FED5EF-A425-4760-BAC6-3F033B1168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1: 6x+18.  2: 20x²+7xy–6y².  3: 10x³y+11x²y²–6xy³.  4: 8x+8.  5: t³+12t²+48t+64.  6: t³–3t²+3t–1.  7: 2x³–2x²+x²y+xy+y².  8: 7x²–32x+2.  9: 4x²+4x+1.  10: x³–3x²y+3xy²–y³.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0F4D0C-7428-419C-B068-7D46E7C5D40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(x+m)(x+n)=x²+(m+n)x+mn.  3x(2x–5y)=6x²–15xy.  (3x+2y)(3x–4y)=9x²–6xy–8y².  Show: (x²+14x+49)–(x²–6x+9)=20x+40=20(x+2).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1C40C7-20F8-4A43-A154-47C470995D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3B25D4-CE40-4243-A663-C3F7A5EEAF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ED5BDC-00F4-435D-A6AF-EBCF17262B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78465E-4C5D-4C8C-A8A0-B5889714EF4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8503920" y="914400"/>
            <a:ext cx="36572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0" spc="-1" strike="noStrike">
                <a:solidFill>
                  <a:srgbClr val="283731"/>
                </a:solidFill>
                <a:latin typeface="Cambria"/>
                <a:ea typeface="Cambria"/>
              </a:rPr>
              <a:t>(  )</a:t>
            </a:r>
            <a:endParaRPr b="0" lang="en-US" sz="20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8503920" y="1371600"/>
            <a:ext cx="3657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9000" spc="-1" strike="noStrike">
                <a:solidFill>
                  <a:srgbClr val="16261f"/>
                </a:solidFill>
                <a:latin typeface="Cambria"/>
                <a:ea typeface="Cambria"/>
              </a:rPr>
              <a:t>x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31520" y="640080"/>
            <a:ext cx="712800" cy="71280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31520" y="621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9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4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6275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627560" y="951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anim_1_a"/>
          <p:cNvSpPr/>
          <p:nvPr/>
        </p:nvSpPr>
        <p:spPr>
          <a:xfrm>
            <a:off x="731520" y="192024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600" spc="-1" strike="noStrike">
                <a:solidFill>
                  <a:srgbClr val="e0ac2b"/>
                </a:solidFill>
                <a:latin typeface="Cambria"/>
                <a:ea typeface="Cambria"/>
              </a:rPr>
              <a:t>Expanding Brackets</a:t>
            </a:r>
            <a:endParaRPr b="0" lang="en-US" sz="5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anim_2_a"/>
          <p:cNvSpPr/>
          <p:nvPr/>
        </p:nvSpPr>
        <p:spPr>
          <a:xfrm>
            <a:off x="758880" y="3063240"/>
            <a:ext cx="10058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Single  ·  Double  ·  Triple  ·  Squaring a Bracket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anim_3_a"/>
          <p:cNvSpPr/>
          <p:nvPr/>
        </p:nvSpPr>
        <p:spPr>
          <a:xfrm>
            <a:off x="758880" y="3566160"/>
            <a:ext cx="10058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A clear, step-by-step lesson with worked examples and exam practice.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anim_4_a"/>
          <p:cNvSpPr/>
          <p:nvPr/>
        </p:nvSpPr>
        <p:spPr>
          <a:xfrm>
            <a:off x="731520" y="4343400"/>
            <a:ext cx="6857640" cy="1627200"/>
          </a:xfrm>
          <a:prstGeom prst="roundRect">
            <a:avLst>
              <a:gd name="adj" fmla="val 6742"/>
            </a:avLst>
          </a:prstGeom>
          <a:solidFill>
            <a:srgbClr val="283731"/>
          </a:solidFill>
          <a:ln w="0">
            <a:noFill/>
          </a:ln>
          <a:effectLst>
            <a:outerShdw algn="bl" blurRad="152280" dir="5400000" dist="50760" kx="0" ky="0" rotWithShape="0" sx="100000" sy="10000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anim_4_a"/>
          <p:cNvSpPr/>
          <p:nvPr/>
        </p:nvSpPr>
        <p:spPr>
          <a:xfrm>
            <a:off x="1005840" y="4526280"/>
            <a:ext cx="6400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anim_4_a"/>
          <p:cNvSpPr/>
          <p:nvPr/>
        </p:nvSpPr>
        <p:spPr>
          <a:xfrm>
            <a:off x="1005840" y="4919400"/>
            <a:ext cx="6400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IGCSE Mathematics Teacher  ·  M.Sc. Differential Geometry &amp; Geometric Control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anim_4_a"/>
          <p:cNvSpPr/>
          <p:nvPr/>
        </p:nvSpPr>
        <p:spPr>
          <a:xfrm>
            <a:off x="1005840" y="535824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66613748  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BIG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Expanding = Multiplying Out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anim_1_a"/>
          <p:cNvSpPr/>
          <p:nvPr/>
        </p:nvSpPr>
        <p:spPr>
          <a:xfrm>
            <a:off x="548640" y="1572840"/>
            <a:ext cx="11091240" cy="1416960"/>
          </a:xfrm>
          <a:prstGeom prst="roundRect">
            <a:avLst>
              <a:gd name="adj" fmla="val 6452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anim_1_a"/>
          <p:cNvSpPr/>
          <p:nvPr/>
        </p:nvSpPr>
        <p:spPr>
          <a:xfrm>
            <a:off x="868680" y="17557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e0ac2b"/>
                </a:solidFill>
                <a:latin typeface="Calibri"/>
                <a:ea typeface="Calibri"/>
              </a:rPr>
              <a:t>OBJECTIVE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anim_1_a"/>
          <p:cNvSpPr/>
          <p:nvPr/>
        </p:nvSpPr>
        <p:spPr>
          <a:xfrm>
            <a:off x="868680" y="2048400"/>
            <a:ext cx="10332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I can expand and simplify single, double and triple brackets — and square a bracket.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anim_2_c"/>
          <p:cNvSpPr/>
          <p:nvPr/>
        </p:nvSpPr>
        <p:spPr>
          <a:xfrm>
            <a:off x="548640" y="3200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KEY IDEA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anim_2_c"/>
          <p:cNvSpPr/>
          <p:nvPr/>
        </p:nvSpPr>
        <p:spPr>
          <a:xfrm>
            <a:off x="548640" y="3529440"/>
            <a:ext cx="5440320" cy="12067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anim_2_c"/>
          <p:cNvSpPr/>
          <p:nvPr/>
        </p:nvSpPr>
        <p:spPr>
          <a:xfrm>
            <a:off x="804600" y="3675960"/>
            <a:ext cx="4983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Expand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anim_2_c"/>
          <p:cNvSpPr/>
          <p:nvPr/>
        </p:nvSpPr>
        <p:spPr>
          <a:xfrm>
            <a:off x="804600" y="407808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24332d"/>
                </a:solidFill>
                <a:latin typeface="Calibri"/>
                <a:ea typeface="Calibri"/>
              </a:rPr>
              <a:t>remove the brackets by multiplying everything out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anim_2_c"/>
          <p:cNvSpPr/>
          <p:nvPr/>
        </p:nvSpPr>
        <p:spPr>
          <a:xfrm>
            <a:off x="6199560" y="3529440"/>
            <a:ext cx="5440320" cy="12067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anim_2_c"/>
          <p:cNvSpPr/>
          <p:nvPr/>
        </p:nvSpPr>
        <p:spPr>
          <a:xfrm>
            <a:off x="6455520" y="3675960"/>
            <a:ext cx="4983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Term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anim_2_c"/>
          <p:cNvSpPr/>
          <p:nvPr/>
        </p:nvSpPr>
        <p:spPr>
          <a:xfrm>
            <a:off x="6455520" y="407808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24332d"/>
                </a:solidFill>
                <a:latin typeface="Calibri"/>
                <a:ea typeface="Calibri"/>
              </a:rPr>
              <a:t>a part of an expression, e.g. 3x, –4, x²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anim_2_c"/>
          <p:cNvSpPr/>
          <p:nvPr/>
        </p:nvSpPr>
        <p:spPr>
          <a:xfrm>
            <a:off x="548640" y="4919400"/>
            <a:ext cx="5440320" cy="12067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anim_2_c"/>
          <p:cNvSpPr/>
          <p:nvPr/>
        </p:nvSpPr>
        <p:spPr>
          <a:xfrm>
            <a:off x="804600" y="5065920"/>
            <a:ext cx="4983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Like terms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anim_2_c"/>
          <p:cNvSpPr/>
          <p:nvPr/>
        </p:nvSpPr>
        <p:spPr>
          <a:xfrm>
            <a:off x="804600" y="546804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24332d"/>
                </a:solidFill>
                <a:latin typeface="Calibri"/>
                <a:ea typeface="Calibri"/>
              </a:rPr>
              <a:t>terms with the same letters &amp; powers, e.g. 6n and 9n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anim_2_c"/>
          <p:cNvSpPr/>
          <p:nvPr/>
        </p:nvSpPr>
        <p:spPr>
          <a:xfrm>
            <a:off x="6199560" y="4919400"/>
            <a:ext cx="5440320" cy="12067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763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anim_2_c"/>
          <p:cNvSpPr/>
          <p:nvPr/>
        </p:nvSpPr>
        <p:spPr>
          <a:xfrm>
            <a:off x="6455520" y="5065920"/>
            <a:ext cx="4983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Simplify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anim_2_c"/>
          <p:cNvSpPr/>
          <p:nvPr/>
        </p:nvSpPr>
        <p:spPr>
          <a:xfrm>
            <a:off x="6455520" y="546804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24332d"/>
                </a:solidFill>
                <a:latin typeface="Calibri"/>
                <a:ea typeface="Calibri"/>
              </a:rPr>
              <a:t>collect like terms together after expanding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2" dur="indefinite" restart="never" nodeType="tmRoot">
          <p:childTnLst>
            <p:seq>
              <p:cTn id="33" dur="indefinite" nodeType="mainSeq"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EXPANDING ·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Single Bracket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Rule: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multiply </a:t>
            </a: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every term inside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 the bracket by the term </a:t>
            </a: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outside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 it.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anim_1_a"/>
          <p:cNvSpPr/>
          <p:nvPr/>
        </p:nvSpPr>
        <p:spPr>
          <a:xfrm>
            <a:off x="548640" y="237744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anim_1_a"/>
          <p:cNvSpPr/>
          <p:nvPr/>
        </p:nvSpPr>
        <p:spPr>
          <a:xfrm>
            <a:off x="548640" y="2377440"/>
            <a:ext cx="11091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6261f"/>
                </a:solidFill>
                <a:latin typeface="Cambria"/>
                <a:ea typeface="Cambria"/>
              </a:rPr>
              <a:t>Expand    3(2x + 4)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anim_2_c"/>
          <p:cNvSpPr/>
          <p:nvPr/>
        </p:nvSpPr>
        <p:spPr>
          <a:xfrm>
            <a:off x="548640" y="3886200"/>
            <a:ext cx="11091240" cy="1828440"/>
          </a:xfrm>
          <a:prstGeom prst="roundRect">
            <a:avLst>
              <a:gd name="adj" fmla="val 5000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anim_2_c"/>
          <p:cNvSpPr/>
          <p:nvPr/>
        </p:nvSpPr>
        <p:spPr>
          <a:xfrm>
            <a:off x="868680" y="41331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anim_2_c"/>
          <p:cNvSpPr/>
          <p:nvPr/>
        </p:nvSpPr>
        <p:spPr>
          <a:xfrm>
            <a:off x="868680" y="413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anim_2_c"/>
          <p:cNvSpPr/>
          <p:nvPr/>
        </p:nvSpPr>
        <p:spPr>
          <a:xfrm>
            <a:off x="1417320" y="406908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Multiply the 3 by the first term:  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3 × 2x = 6x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anim_3_c"/>
          <p:cNvSpPr/>
          <p:nvPr/>
        </p:nvSpPr>
        <p:spPr>
          <a:xfrm>
            <a:off x="868680" y="48189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anim_3_c"/>
          <p:cNvSpPr/>
          <p:nvPr/>
        </p:nvSpPr>
        <p:spPr>
          <a:xfrm>
            <a:off x="868680" y="4818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anim_3_c"/>
          <p:cNvSpPr/>
          <p:nvPr/>
        </p:nvSpPr>
        <p:spPr>
          <a:xfrm>
            <a:off x="1417320" y="475488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Multiply the 3 by the second term:  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3 × 4 = 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anim_4_c"/>
          <p:cNvSpPr/>
          <p:nvPr/>
        </p:nvSpPr>
        <p:spPr>
          <a:xfrm>
            <a:off x="868680" y="5440680"/>
            <a:ext cx="658332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anim_4_c"/>
          <p:cNvSpPr/>
          <p:nvPr/>
        </p:nvSpPr>
        <p:spPr>
          <a:xfrm>
            <a:off x="1051560" y="5440680"/>
            <a:ext cx="6217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3(2x + 4) = 6x + 12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6" dur="indefinite" restart="never" nodeType="tmRoot">
          <p:childTnLst>
            <p:seq>
              <p:cTn id="87" dur="indefinite" nodeType="mainSeq"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EXPANDING · 1b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Expand &amp; Simplify (collect like terms)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anim_1_a"/>
          <p:cNvSpPr/>
          <p:nvPr/>
        </p:nvSpPr>
        <p:spPr>
          <a:xfrm>
            <a:off x="548640" y="1481400"/>
            <a:ext cx="11091240" cy="100548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anim_1_a"/>
          <p:cNvSpPr/>
          <p:nvPr/>
        </p:nvSpPr>
        <p:spPr>
          <a:xfrm>
            <a:off x="548640" y="1481400"/>
            <a:ext cx="11091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Expand &amp; simplify    2(3n – 4) + 3(3n + 5)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anim_2_c"/>
          <p:cNvSpPr/>
          <p:nvPr/>
        </p:nvSpPr>
        <p:spPr>
          <a:xfrm>
            <a:off x="548640" y="2670120"/>
            <a:ext cx="11091240" cy="3291480"/>
          </a:xfrm>
          <a:prstGeom prst="roundRect">
            <a:avLst>
              <a:gd name="adj" fmla="val 2778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anim_2_c"/>
          <p:cNvSpPr/>
          <p:nvPr/>
        </p:nvSpPr>
        <p:spPr>
          <a:xfrm>
            <a:off x="868680" y="29444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anim_2_c"/>
          <p:cNvSpPr/>
          <p:nvPr/>
        </p:nvSpPr>
        <p:spPr>
          <a:xfrm>
            <a:off x="868680" y="2944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anim_2_c"/>
          <p:cNvSpPr/>
          <p:nvPr/>
        </p:nvSpPr>
        <p:spPr>
          <a:xfrm>
            <a:off x="1417320" y="288036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Expand both brackets:  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6n – 8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 +  </a:t>
            </a:r>
            <a:r>
              <a:rPr b="1" lang="en-US" sz="1600" spc="-1" strike="noStrike">
                <a:solidFill>
                  <a:srgbClr val="2f6f6b"/>
                </a:solidFill>
                <a:latin typeface="Cambria"/>
                <a:ea typeface="Cambria"/>
              </a:rPr>
              <a:t>9n + 15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anim_3_c"/>
          <p:cNvSpPr/>
          <p:nvPr/>
        </p:nvSpPr>
        <p:spPr>
          <a:xfrm>
            <a:off x="868680" y="3721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anim_3_c"/>
          <p:cNvSpPr/>
          <p:nvPr/>
        </p:nvSpPr>
        <p:spPr>
          <a:xfrm>
            <a:off x="868680" y="372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anim_3_c"/>
          <p:cNvSpPr/>
          <p:nvPr/>
        </p:nvSpPr>
        <p:spPr>
          <a:xfrm>
            <a:off x="1417320" y="36576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Group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like terms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:   ( 6n + 9n )  +  ( –8 + 15 )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anim_4_c"/>
          <p:cNvSpPr/>
          <p:nvPr/>
        </p:nvSpPr>
        <p:spPr>
          <a:xfrm>
            <a:off x="868680" y="44989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anim_4_c"/>
          <p:cNvSpPr/>
          <p:nvPr/>
        </p:nvSpPr>
        <p:spPr>
          <a:xfrm>
            <a:off x="868680" y="44989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anim_4_c"/>
          <p:cNvSpPr/>
          <p:nvPr/>
        </p:nvSpPr>
        <p:spPr>
          <a:xfrm>
            <a:off x="1417320" y="44348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Add them up:   15n  +  7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anim_5_c"/>
          <p:cNvSpPr/>
          <p:nvPr/>
        </p:nvSpPr>
        <p:spPr>
          <a:xfrm>
            <a:off x="868680" y="5166360"/>
            <a:ext cx="694908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anim_5_c"/>
          <p:cNvSpPr/>
          <p:nvPr/>
        </p:nvSpPr>
        <p:spPr>
          <a:xfrm>
            <a:off x="1051560" y="5166360"/>
            <a:ext cx="65833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2(3n – 4) + 3(3n + 5) = 15n + 7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5" dur="indefinite" restart="never" nodeType="tmRoot">
          <p:childTnLst>
            <p:seq>
              <p:cTn id="136" dur="indefinite" nodeType="mainSeq">
                <p:childTnLst>
                  <p:par>
                    <p:cTn id="137" fill="hold">
                      <p:stCondLst>
                        <p:cond delay="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EXPANDING · 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Double Brackets — Grid or FOIL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Rule: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every term in the first bracket multiplies every term in the second — use the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grid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or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FOIL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anim_1_a"/>
          <p:cNvSpPr/>
          <p:nvPr/>
        </p:nvSpPr>
        <p:spPr>
          <a:xfrm>
            <a:off x="548640" y="2267640"/>
            <a:ext cx="11091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Expand &amp; simplify   (x + 2)(x + 5)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anim_2_c"/>
          <p:cNvSpPr/>
          <p:nvPr/>
        </p:nvSpPr>
        <p:spPr>
          <a:xfrm>
            <a:off x="1005840" y="278892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48" strike="noStrike">
                <a:solidFill>
                  <a:srgbClr val="c84f2f"/>
                </a:solidFill>
                <a:latin typeface="Calibri"/>
                <a:ea typeface="Calibri"/>
              </a:rPr>
              <a:t>GRID METHOD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4" name="anim_2_c"/>
          <p:cNvGraphicFramePr/>
          <p:nvPr/>
        </p:nvGraphicFramePr>
        <p:xfrm>
          <a:off x="1005840" y="3108960"/>
          <a:ext cx="3931560" cy="1828800"/>
        </p:xfrm>
        <a:graphic>
          <a:graphicData uri="http://schemas.openxmlformats.org/drawingml/2006/table">
            <a:tbl>
              <a:tblPr/>
              <a:tblGrid>
                <a:gridCol w="1143000"/>
                <a:gridCol w="1394280"/>
                <a:gridCol w="1394280"/>
              </a:tblGrid>
              <a:tr h="5486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700" spc="-1" strike="noStrike">
                          <a:solidFill>
                            <a:srgbClr val="e0ac2b"/>
                          </a:solidFill>
                          <a:latin typeface="Cambria"/>
                          <a:ea typeface="Cambria"/>
                        </a:rPr>
                        <a:t>×</a:t>
                      </a:r>
                      <a:endParaRPr b="0" lang="en-US" sz="17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62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700" spc="-1" strike="noStrike">
                          <a:solidFill>
                            <a:srgbClr val="16261f"/>
                          </a:solidFill>
                          <a:latin typeface="Cambria"/>
                          <a:ea typeface="Cambria"/>
                        </a:rPr>
                        <a:t>x</a:t>
                      </a:r>
                      <a:endParaRPr b="0" lang="en-US" sz="1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3d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700" spc="-1" strike="noStrike">
                          <a:solidFill>
                            <a:srgbClr val="16261f"/>
                          </a:solidFill>
                          <a:latin typeface="Cambria"/>
                          <a:ea typeface="Cambria"/>
                        </a:rPr>
                        <a:t>+ 5</a:t>
                      </a:r>
                      <a:endParaRPr b="0" lang="en-US" sz="1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3dd"/>
                    </a:solidFill>
                  </a:tcPr>
                </a:tc>
              </a:tr>
              <a:tr h="6400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700" spc="-1" strike="noStrike">
                          <a:solidFill>
                            <a:srgbClr val="16261f"/>
                          </a:solidFill>
                          <a:latin typeface="Cambria"/>
                          <a:ea typeface="Cambria"/>
                        </a:rPr>
                        <a:t>x</a:t>
                      </a:r>
                      <a:endParaRPr b="0" lang="en-US" sz="1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3d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800" spc="-1" strike="noStrike">
                          <a:solidFill>
                            <a:srgbClr val="c84f2f"/>
                          </a:solidFill>
                          <a:latin typeface="Cambria"/>
                          <a:ea typeface="Cambria"/>
                        </a:rPr>
                        <a:t>x²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6c6"/>
                      </a:solidFill>
                      <a:prstDash val="solid"/>
                    </a:lnL>
                    <a:lnR w="12240">
                      <a:solidFill>
                        <a:srgbClr val="d9d6c6"/>
                      </a:solidFill>
                      <a:prstDash val="solid"/>
                    </a:lnR>
                    <a:lnT w="12240">
                      <a:solidFill>
                        <a:srgbClr val="d9d6c6"/>
                      </a:solidFill>
                      <a:prstDash val="solid"/>
                    </a:lnT>
                    <a:lnB w="12240">
                      <a:solidFill>
                        <a:srgbClr val="d9d6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800" spc="-1" strike="noStrike">
                          <a:solidFill>
                            <a:srgbClr val="c84f2f"/>
                          </a:solidFill>
                          <a:latin typeface="Cambria"/>
                          <a:ea typeface="Cambria"/>
                        </a:rPr>
                        <a:t>5x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6c6"/>
                      </a:solidFill>
                      <a:prstDash val="solid"/>
                    </a:lnL>
                    <a:lnR w="12240">
                      <a:solidFill>
                        <a:srgbClr val="d9d6c6"/>
                      </a:solidFill>
                      <a:prstDash val="solid"/>
                    </a:lnR>
                    <a:lnT w="12240">
                      <a:solidFill>
                        <a:srgbClr val="d9d6c6"/>
                      </a:solidFill>
                      <a:prstDash val="solid"/>
                    </a:lnT>
                    <a:lnB w="12240">
                      <a:solidFill>
                        <a:srgbClr val="d9d6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700" spc="-1" strike="noStrike">
                          <a:solidFill>
                            <a:srgbClr val="16261f"/>
                          </a:solidFill>
                          <a:latin typeface="Cambria"/>
                          <a:ea typeface="Cambria"/>
                        </a:rPr>
                        <a:t>+ 2</a:t>
                      </a:r>
                      <a:endParaRPr b="0" lang="en-US" sz="1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3d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800" spc="-1" strike="noStrike">
                          <a:solidFill>
                            <a:srgbClr val="c84f2f"/>
                          </a:solidFill>
                          <a:latin typeface="Cambria"/>
                          <a:ea typeface="Cambria"/>
                        </a:rPr>
                        <a:t>2x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6c6"/>
                      </a:solidFill>
                      <a:prstDash val="solid"/>
                    </a:lnL>
                    <a:lnR w="12240">
                      <a:solidFill>
                        <a:srgbClr val="d9d6c6"/>
                      </a:solidFill>
                      <a:prstDash val="solid"/>
                    </a:lnR>
                    <a:lnT w="12240">
                      <a:solidFill>
                        <a:srgbClr val="d9d6c6"/>
                      </a:solidFill>
                      <a:prstDash val="solid"/>
                    </a:lnT>
                    <a:lnB w="12240">
                      <a:solidFill>
                        <a:srgbClr val="d9d6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800" spc="-1" strike="noStrike">
                          <a:solidFill>
                            <a:srgbClr val="c84f2f"/>
                          </a:solidFill>
                          <a:latin typeface="Cambria"/>
                          <a:ea typeface="Cambria"/>
                        </a:rPr>
                        <a:t>10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6c6"/>
                      </a:solidFill>
                      <a:prstDash val="solid"/>
                    </a:lnL>
                    <a:lnR w="12240">
                      <a:solidFill>
                        <a:srgbClr val="d9d6c6"/>
                      </a:solidFill>
                      <a:prstDash val="solid"/>
                    </a:lnR>
                    <a:lnT w="12240">
                      <a:solidFill>
                        <a:srgbClr val="d9d6c6"/>
                      </a:solidFill>
                      <a:prstDash val="solid"/>
                    </a:lnT>
                    <a:lnB w="12240">
                      <a:solidFill>
                        <a:srgbClr val="d9d6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anim_3_c"/>
          <p:cNvSpPr/>
          <p:nvPr/>
        </p:nvSpPr>
        <p:spPr>
          <a:xfrm>
            <a:off x="5943600" y="27889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48" strike="noStrike">
                <a:solidFill>
                  <a:srgbClr val="c84f2f"/>
                </a:solidFill>
                <a:latin typeface="Calibri"/>
                <a:ea typeface="Calibri"/>
              </a:rPr>
              <a:t>FOIL METHOD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anim_3_c"/>
          <p:cNvSpPr/>
          <p:nvPr/>
        </p:nvSpPr>
        <p:spPr>
          <a:xfrm>
            <a:off x="5943600" y="3127320"/>
            <a:ext cx="383760" cy="383760"/>
          </a:xfrm>
          <a:prstGeom prst="roundRect">
            <a:avLst>
              <a:gd name="adj" fmla="val 16667"/>
            </a:avLst>
          </a:prstGeom>
          <a:solidFill>
            <a:srgbClr val="e0ac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anim_3_c"/>
          <p:cNvSpPr/>
          <p:nvPr/>
        </p:nvSpPr>
        <p:spPr>
          <a:xfrm>
            <a:off x="5943600" y="3127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F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anim_3_c"/>
          <p:cNvSpPr/>
          <p:nvPr/>
        </p:nvSpPr>
        <p:spPr>
          <a:xfrm>
            <a:off x="6446520" y="3099960"/>
            <a:ext cx="5120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6a7269"/>
                </a:solidFill>
                <a:latin typeface="Calibri"/>
                <a:ea typeface="Calibri"/>
              </a:rPr>
              <a:t>First:   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x × x = x²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anim_3_c"/>
          <p:cNvSpPr/>
          <p:nvPr/>
        </p:nvSpPr>
        <p:spPr>
          <a:xfrm>
            <a:off x="5943600" y="3584520"/>
            <a:ext cx="383760" cy="383760"/>
          </a:xfrm>
          <a:prstGeom prst="roundRect">
            <a:avLst>
              <a:gd name="adj" fmla="val 16667"/>
            </a:avLst>
          </a:prstGeom>
          <a:solidFill>
            <a:srgbClr val="e0ac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anim_3_c"/>
          <p:cNvSpPr/>
          <p:nvPr/>
        </p:nvSpPr>
        <p:spPr>
          <a:xfrm>
            <a:off x="5943600" y="3584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anim_3_c"/>
          <p:cNvSpPr/>
          <p:nvPr/>
        </p:nvSpPr>
        <p:spPr>
          <a:xfrm>
            <a:off x="6446520" y="3557160"/>
            <a:ext cx="5120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6a7269"/>
                </a:solidFill>
                <a:latin typeface="Calibri"/>
                <a:ea typeface="Calibri"/>
              </a:rPr>
              <a:t>Outer:   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x × 5 = 5x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anim_3_c"/>
          <p:cNvSpPr/>
          <p:nvPr/>
        </p:nvSpPr>
        <p:spPr>
          <a:xfrm>
            <a:off x="5943600" y="4041720"/>
            <a:ext cx="383760" cy="383760"/>
          </a:xfrm>
          <a:prstGeom prst="roundRect">
            <a:avLst>
              <a:gd name="adj" fmla="val 16667"/>
            </a:avLst>
          </a:prstGeom>
          <a:solidFill>
            <a:srgbClr val="e0ac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anim_3_c"/>
          <p:cNvSpPr/>
          <p:nvPr/>
        </p:nvSpPr>
        <p:spPr>
          <a:xfrm>
            <a:off x="5943600" y="4041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anim_3_c"/>
          <p:cNvSpPr/>
          <p:nvPr/>
        </p:nvSpPr>
        <p:spPr>
          <a:xfrm>
            <a:off x="6446520" y="4014360"/>
            <a:ext cx="5120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6a7269"/>
                </a:solidFill>
                <a:latin typeface="Calibri"/>
                <a:ea typeface="Calibri"/>
              </a:rPr>
              <a:t>Inner:   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2 × x = 2x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anim_3_c"/>
          <p:cNvSpPr/>
          <p:nvPr/>
        </p:nvSpPr>
        <p:spPr>
          <a:xfrm>
            <a:off x="5943600" y="4498920"/>
            <a:ext cx="383760" cy="383760"/>
          </a:xfrm>
          <a:prstGeom prst="roundRect">
            <a:avLst>
              <a:gd name="adj" fmla="val 16667"/>
            </a:avLst>
          </a:prstGeom>
          <a:solidFill>
            <a:srgbClr val="e0ac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anim_3_c"/>
          <p:cNvSpPr/>
          <p:nvPr/>
        </p:nvSpPr>
        <p:spPr>
          <a:xfrm>
            <a:off x="5943600" y="44989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anim_3_c"/>
          <p:cNvSpPr/>
          <p:nvPr/>
        </p:nvSpPr>
        <p:spPr>
          <a:xfrm>
            <a:off x="6446520" y="4471560"/>
            <a:ext cx="5120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6a7269"/>
                </a:solidFill>
                <a:latin typeface="Calibri"/>
                <a:ea typeface="Calibri"/>
              </a:rPr>
              <a:t>Last:   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2 × 5 = 10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anim_4_c"/>
          <p:cNvSpPr/>
          <p:nvPr/>
        </p:nvSpPr>
        <p:spPr>
          <a:xfrm>
            <a:off x="1005840" y="502920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16261f"/>
                </a:solidFill>
                <a:latin typeface="Cambria"/>
                <a:ea typeface="Cambria"/>
              </a:rPr>
              <a:t>Both methods give the same four products:   x</a:t>
            </a:r>
            <a:r>
              <a:rPr b="1" lang="en-US" sz="155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16261f"/>
                </a:solidFill>
                <a:latin typeface="Cambria"/>
                <a:ea typeface="Cambria"/>
              </a:rPr>
              <a:t> + 5x + 2x + 10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anim_4_c"/>
          <p:cNvSpPr/>
          <p:nvPr/>
        </p:nvSpPr>
        <p:spPr>
          <a:xfrm>
            <a:off x="1005840" y="5532120"/>
            <a:ext cx="640044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anim_4_c"/>
          <p:cNvSpPr/>
          <p:nvPr/>
        </p:nvSpPr>
        <p:spPr>
          <a:xfrm>
            <a:off x="1188720" y="5532120"/>
            <a:ext cx="6034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(x + 2)(x + 5) = x</a:t>
            </a:r>
            <a:r>
              <a:rPr b="1" lang="en-US" sz="20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 + 7x + 10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9" dur="indefinite" restart="never" nodeType="tmRoot">
          <p:childTnLst>
            <p:seq>
              <p:cTn id="190" dur="indefinite" nodeType="mainSeq">
                <p:childTnLst>
                  <p:par>
                    <p:cTn id="191" fill="hold">
                      <p:stCondLst>
                        <p:cond delay="0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indefinite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3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2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0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EXPANDING · 3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Triple Brackets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Strategy:  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expand </a:t>
            </a: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two brackets first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, then multiply the result by the third.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anim_1_a"/>
          <p:cNvSpPr/>
          <p:nvPr/>
        </p:nvSpPr>
        <p:spPr>
          <a:xfrm>
            <a:off x="548640" y="2331720"/>
            <a:ext cx="1109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Expand   (x + 1)(x + 2)(x + 3)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anim_2_c"/>
          <p:cNvSpPr/>
          <p:nvPr/>
        </p:nvSpPr>
        <p:spPr>
          <a:xfrm>
            <a:off x="548640" y="2971800"/>
            <a:ext cx="11091240" cy="2971440"/>
          </a:xfrm>
          <a:prstGeom prst="roundRect">
            <a:avLst>
              <a:gd name="adj" fmla="val 3077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anim_2_c"/>
          <p:cNvSpPr/>
          <p:nvPr/>
        </p:nvSpPr>
        <p:spPr>
          <a:xfrm>
            <a:off x="868680" y="32187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anim_2_c"/>
          <p:cNvSpPr/>
          <p:nvPr/>
        </p:nvSpPr>
        <p:spPr>
          <a:xfrm>
            <a:off x="868680" y="3218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anim_2_c"/>
          <p:cNvSpPr/>
          <p:nvPr/>
        </p:nvSpPr>
        <p:spPr>
          <a:xfrm>
            <a:off x="1417320" y="315468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Expand the first two:   (x + 1)(x + 2) =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x</a:t>
            </a:r>
            <a:r>
              <a:rPr b="1" lang="en-US" sz="160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 + 3x + 2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anim_3_c"/>
          <p:cNvSpPr/>
          <p:nvPr/>
        </p:nvSpPr>
        <p:spPr>
          <a:xfrm>
            <a:off x="868680" y="39960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anim_3_c"/>
          <p:cNvSpPr/>
          <p:nvPr/>
        </p:nvSpPr>
        <p:spPr>
          <a:xfrm>
            <a:off x="868680" y="3996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anim_3_c"/>
          <p:cNvSpPr/>
          <p:nvPr/>
        </p:nvSpPr>
        <p:spPr>
          <a:xfrm>
            <a:off x="1417320" y="393192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Now multiply by (x + 3):   (x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+ 3x + 2)(x + 3)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anim_4_c"/>
          <p:cNvSpPr/>
          <p:nvPr/>
        </p:nvSpPr>
        <p:spPr>
          <a:xfrm>
            <a:off x="868680" y="46360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anim_4_c"/>
          <p:cNvSpPr/>
          <p:nvPr/>
        </p:nvSpPr>
        <p:spPr>
          <a:xfrm>
            <a:off x="868680" y="4636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anim_4_c"/>
          <p:cNvSpPr/>
          <p:nvPr/>
        </p:nvSpPr>
        <p:spPr>
          <a:xfrm>
            <a:off x="1417320" y="45720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= x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+ 3x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+ 3x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+ 9x + 2x + 6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anim_5_c"/>
          <p:cNvSpPr/>
          <p:nvPr/>
        </p:nvSpPr>
        <p:spPr>
          <a:xfrm>
            <a:off x="868680" y="5257800"/>
            <a:ext cx="868644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anim_5_c"/>
          <p:cNvSpPr/>
          <p:nvPr/>
        </p:nvSpPr>
        <p:spPr>
          <a:xfrm>
            <a:off x="1051560" y="5257800"/>
            <a:ext cx="8320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(x + 1)(x + 2)(x + 3) = x</a:t>
            </a:r>
            <a:r>
              <a:rPr b="1" lang="en-US" sz="19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 + 6x</a:t>
            </a:r>
            <a:r>
              <a:rPr b="1" lang="en-US" sz="19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 + 11x + 6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2" dur="indefinite" restart="never" nodeType="tmRoot">
          <p:childTnLst>
            <p:seq>
              <p:cTn id="263" dur="indefinite" nodeType="mainSeq">
                <p:childTnLst>
                  <p:par>
                    <p:cTn id="264" fill="hold">
                      <p:stCondLst>
                        <p:cond delay="0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9" fill="hold">
                      <p:stCondLst>
                        <p:cond delay="indefinite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0" fill="hold">
                      <p:stCondLst>
                        <p:cond delay="indefinite"/>
                      </p:stCondLst>
                      <p:childTnLst>
                        <p:par>
                          <p:cTn id="301" fill="hold">
                            <p:stCondLst>
                              <p:cond delay="0"/>
                            </p:stCondLst>
                            <p:childTnLst>
                              <p:par>
                                <p:cTn id="30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1" fill="hold">
                      <p:stCondLst>
                        <p:cond delay="indefinite"/>
                      </p:stCondLst>
                      <p:childTnLst>
                        <p:par>
                          <p:cTn id="312" fill="hold">
                            <p:stCondLst>
                              <p:cond delay="0"/>
                            </p:stCondLst>
                            <p:childTnLst>
                              <p:par>
                                <p:cTn id="31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5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8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EXPANDING · 4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Squaring a Bracket  —  (a + b)²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Remember:  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a power means repeated multiplication —   (x + 3)</a:t>
            </a:r>
            <a:r>
              <a:rPr b="0" lang="en-US" sz="16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 = (x + 3)(x + 3).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anim_2_c"/>
          <p:cNvSpPr/>
          <p:nvPr/>
        </p:nvSpPr>
        <p:spPr>
          <a:xfrm>
            <a:off x="548640" y="2377440"/>
            <a:ext cx="7040520" cy="3565800"/>
          </a:xfrm>
          <a:prstGeom prst="roundRect">
            <a:avLst>
              <a:gd name="adj" fmla="val 2564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anim_2_c"/>
          <p:cNvSpPr/>
          <p:nvPr/>
        </p:nvSpPr>
        <p:spPr>
          <a:xfrm>
            <a:off x="868680" y="254196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Expand   (x + 3)</a:t>
            </a:r>
            <a:r>
              <a:rPr b="1" lang="en-US" sz="22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anim_2_c"/>
          <p:cNvSpPr/>
          <p:nvPr/>
        </p:nvSpPr>
        <p:spPr>
          <a:xfrm>
            <a:off x="868680" y="32187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anim_2_c"/>
          <p:cNvSpPr/>
          <p:nvPr/>
        </p:nvSpPr>
        <p:spPr>
          <a:xfrm>
            <a:off x="868680" y="3218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anim_2_c"/>
          <p:cNvSpPr/>
          <p:nvPr/>
        </p:nvSpPr>
        <p:spPr>
          <a:xfrm>
            <a:off x="1417320" y="3154680"/>
            <a:ext cx="5760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Write it out:  (x + 3)(x + 3)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nim_3_c"/>
          <p:cNvSpPr/>
          <p:nvPr/>
        </p:nvSpPr>
        <p:spPr>
          <a:xfrm>
            <a:off x="868680" y="39045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anim_3_c"/>
          <p:cNvSpPr/>
          <p:nvPr/>
        </p:nvSpPr>
        <p:spPr>
          <a:xfrm>
            <a:off x="868680" y="3904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anim_3_c"/>
          <p:cNvSpPr/>
          <p:nvPr/>
        </p:nvSpPr>
        <p:spPr>
          <a:xfrm>
            <a:off x="1417320" y="3840480"/>
            <a:ext cx="5760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Expand:  x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+ 3x + 3x + 9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anim_4_c"/>
          <p:cNvSpPr/>
          <p:nvPr/>
        </p:nvSpPr>
        <p:spPr>
          <a:xfrm>
            <a:off x="868680" y="4663440"/>
            <a:ext cx="493740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anim_4_c"/>
          <p:cNvSpPr/>
          <p:nvPr/>
        </p:nvSpPr>
        <p:spPr>
          <a:xfrm>
            <a:off x="1051560" y="4663440"/>
            <a:ext cx="45716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x</a:t>
            </a:r>
            <a:r>
              <a:rPr b="1" lang="en-US" sz="20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 + 6x + 9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anim_4_c"/>
          <p:cNvSpPr/>
          <p:nvPr/>
        </p:nvSpPr>
        <p:spPr>
          <a:xfrm>
            <a:off x="868680" y="541332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6a7269"/>
                </a:solidFill>
                <a:latin typeface="Cambria"/>
                <a:ea typeface="Cambria"/>
              </a:rPr>
              <a:t>General:  (a + b)</a:t>
            </a:r>
            <a:r>
              <a:rPr b="1" lang="en-US" sz="1300" spc="-1" strike="noStrike" baseline="30000">
                <a:solidFill>
                  <a:srgbClr val="6a7269"/>
                </a:solidFill>
                <a:latin typeface="Cambria"/>
                <a:ea typeface="Cambria"/>
              </a:rPr>
              <a:t>2</a:t>
            </a:r>
            <a:r>
              <a:rPr b="1" lang="en-US" sz="1300" spc="-1" strike="noStrike">
                <a:solidFill>
                  <a:srgbClr val="6a7269"/>
                </a:solidFill>
                <a:latin typeface="Cambria"/>
                <a:ea typeface="Cambria"/>
              </a:rPr>
              <a:t> = a</a:t>
            </a:r>
            <a:r>
              <a:rPr b="1" lang="en-US" sz="1300" spc="-1" strike="noStrike" baseline="30000">
                <a:solidFill>
                  <a:srgbClr val="6a7269"/>
                </a:solidFill>
                <a:latin typeface="Cambria"/>
                <a:ea typeface="Cambria"/>
              </a:rPr>
              <a:t>2</a:t>
            </a:r>
            <a:r>
              <a:rPr b="1" lang="en-US" sz="1300" spc="-1" strike="noStrike">
                <a:solidFill>
                  <a:srgbClr val="6a7269"/>
                </a:solidFill>
                <a:latin typeface="Cambria"/>
                <a:ea typeface="Cambria"/>
              </a:rPr>
              <a:t> + 2ab + b</a:t>
            </a:r>
            <a:r>
              <a:rPr b="1" lang="en-US" sz="1300" spc="-1" strike="noStrike" baseline="30000">
                <a:solidFill>
                  <a:srgbClr val="6a7269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anim_3_c"/>
          <p:cNvSpPr/>
          <p:nvPr/>
        </p:nvSpPr>
        <p:spPr>
          <a:xfrm>
            <a:off x="7818120" y="2377440"/>
            <a:ext cx="3821760" cy="3565800"/>
          </a:xfrm>
          <a:prstGeom prst="roundRect">
            <a:avLst>
              <a:gd name="adj" fmla="val 3077"/>
            </a:avLst>
          </a:prstGeom>
          <a:solidFill>
            <a:srgbClr val="fbeae3"/>
          </a:solidFill>
          <a:ln w="15875">
            <a:solidFill>
              <a:srgbClr val="c84f2f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anim_3_c"/>
          <p:cNvSpPr/>
          <p:nvPr/>
        </p:nvSpPr>
        <p:spPr>
          <a:xfrm>
            <a:off x="8092440" y="2578680"/>
            <a:ext cx="3291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c84f2f"/>
                </a:solidFill>
                <a:latin typeface="Calibri"/>
                <a:ea typeface="Calibri"/>
              </a:rPr>
              <a:t>COMMON MISTAKE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anim_3_c"/>
          <p:cNvSpPr/>
          <p:nvPr/>
        </p:nvSpPr>
        <p:spPr>
          <a:xfrm>
            <a:off x="8092440" y="3108960"/>
            <a:ext cx="3291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84f2f"/>
                </a:solidFill>
                <a:latin typeface="Cambria"/>
                <a:ea typeface="Cambria"/>
              </a:rPr>
              <a:t>(x + 3)</a:t>
            </a:r>
            <a:r>
              <a:rPr b="1" lang="en-US" sz="210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c84f2f"/>
                </a:solidFill>
                <a:latin typeface="Cambria"/>
                <a:ea typeface="Cambria"/>
              </a:rPr>
              <a:t>  ≠  x</a:t>
            </a:r>
            <a:r>
              <a:rPr b="1" lang="en-US" sz="210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c84f2f"/>
                </a:solidFill>
                <a:latin typeface="Cambria"/>
                <a:ea typeface="Cambria"/>
              </a:rPr>
              <a:t> + 9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anim_3_c"/>
          <p:cNvSpPr/>
          <p:nvPr/>
        </p:nvSpPr>
        <p:spPr>
          <a:xfrm>
            <a:off x="8092440" y="3794760"/>
            <a:ext cx="3291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24332d"/>
                </a:solidFill>
                <a:latin typeface="Calibri"/>
                <a:ea typeface="Calibri"/>
              </a:rPr>
              <a:t>You must not just square each term.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anim_3_c"/>
          <p:cNvSpPr/>
          <p:nvPr/>
        </p:nvSpPr>
        <p:spPr>
          <a:xfrm>
            <a:off x="8092440" y="4572000"/>
            <a:ext cx="3291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libri"/>
                <a:ea typeface="Calibri"/>
              </a:rPr>
              <a:t>Don't forget the middle term:  2 × 3 × x = 6x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19" dur="indefinite" restart="never" nodeType="tmRoot">
          <p:childTnLst>
            <p:seq>
              <p:cTn id="320" dur="indefinite" nodeType="mainSeq">
                <p:childTnLst>
                  <p:par>
                    <p:cTn id="321" fill="hold">
                      <p:stCondLst>
                        <p:cond delay="0"/>
                      </p:stCondLst>
                      <p:childTnLst>
                        <p:par>
                          <p:cTn id="322" fill="hold">
                            <p:stCondLst>
                              <p:cond delay="0"/>
                            </p:stCondLst>
                            <p:childTnLst>
                              <p:par>
                                <p:cTn id="32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9" fill="hold">
                      <p:stCondLst>
                        <p:cond delay="indefinite"/>
                      </p:stCondLst>
                      <p:childTnLst>
                        <p:par>
                          <p:cTn id="330" fill="hold">
                            <p:stCondLst>
                              <p:cond delay="0"/>
                            </p:stCondLst>
                            <p:childTnLst>
                              <p:par>
                                <p:cTn id="33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3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6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9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2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6" fill="hold">
                      <p:stCondLst>
                        <p:cond delay="indefinite"/>
                      </p:stCondLst>
                      <p:childTnLst>
                        <p:par>
                          <p:cTn id="347" fill="hold">
                            <p:stCondLst>
                              <p:cond delay="0"/>
                            </p:stCondLst>
                            <p:childTnLst>
                              <p:par>
                                <p:cTn id="34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6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2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5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8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1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2" fill="hold">
                      <p:stCondLst>
                        <p:cond delay="indefinite"/>
                      </p:stCondLst>
                      <p:childTnLst>
                        <p:par>
                          <p:cTn id="373" fill="hold">
                            <p:stCondLst>
                              <p:cond delay="0"/>
                            </p:stCondLst>
                            <p:childTnLst>
                              <p:par>
                                <p:cTn id="37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6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9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2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YOUR TURN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Exercises — Expand &amp; Simplify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anim_1_a"/>
          <p:cNvSpPr/>
          <p:nvPr/>
        </p:nvSpPr>
        <p:spPr>
          <a:xfrm>
            <a:off x="640080" y="169164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anim_1_a"/>
          <p:cNvSpPr/>
          <p:nvPr/>
        </p:nvSpPr>
        <p:spPr>
          <a:xfrm>
            <a:off x="640080" y="1691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anim_1_a"/>
          <p:cNvSpPr/>
          <p:nvPr/>
        </p:nvSpPr>
        <p:spPr>
          <a:xfrm>
            <a:off x="1243440" y="164592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4(2x + 3) – 2(x – 3)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anim_1_a"/>
          <p:cNvSpPr/>
          <p:nvPr/>
        </p:nvSpPr>
        <p:spPr>
          <a:xfrm>
            <a:off x="640080" y="262440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anim_1_a"/>
          <p:cNvSpPr/>
          <p:nvPr/>
        </p:nvSpPr>
        <p:spPr>
          <a:xfrm>
            <a:off x="640080" y="2624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anim_1_a"/>
          <p:cNvSpPr/>
          <p:nvPr/>
        </p:nvSpPr>
        <p:spPr>
          <a:xfrm>
            <a:off x="1243440" y="257868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(5x – 2y)(4x + 3y)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anim_1_a"/>
          <p:cNvSpPr/>
          <p:nvPr/>
        </p:nvSpPr>
        <p:spPr>
          <a:xfrm>
            <a:off x="640080" y="355716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anim_1_a"/>
          <p:cNvSpPr/>
          <p:nvPr/>
        </p:nvSpPr>
        <p:spPr>
          <a:xfrm>
            <a:off x="640080" y="3557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anim_1_a"/>
          <p:cNvSpPr/>
          <p:nvPr/>
        </p:nvSpPr>
        <p:spPr>
          <a:xfrm>
            <a:off x="1243440" y="35114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xy(2x + 3y)(5x – 2y)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anim_1_a"/>
          <p:cNvSpPr/>
          <p:nvPr/>
        </p:nvSpPr>
        <p:spPr>
          <a:xfrm>
            <a:off x="640080" y="448956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anim_1_a"/>
          <p:cNvSpPr/>
          <p:nvPr/>
        </p:nvSpPr>
        <p:spPr>
          <a:xfrm>
            <a:off x="640080" y="4489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anim_1_a"/>
          <p:cNvSpPr/>
          <p:nvPr/>
        </p:nvSpPr>
        <p:spPr>
          <a:xfrm>
            <a:off x="1243440" y="44438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(x + 3)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(x – 1)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anim_1_a"/>
          <p:cNvSpPr/>
          <p:nvPr/>
        </p:nvSpPr>
        <p:spPr>
          <a:xfrm>
            <a:off x="640080" y="542232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anim_1_a"/>
          <p:cNvSpPr/>
          <p:nvPr/>
        </p:nvSpPr>
        <p:spPr>
          <a:xfrm>
            <a:off x="640080" y="5422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anim_1_a"/>
          <p:cNvSpPr/>
          <p:nvPr/>
        </p:nvSpPr>
        <p:spPr>
          <a:xfrm>
            <a:off x="1243440" y="537660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(t + 4)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0" i="1" lang="en-US" sz="1800" spc="-1" strike="noStrike">
                <a:solidFill>
                  <a:srgbClr val="6a7269"/>
                </a:solidFill>
                <a:latin typeface="Cambria"/>
                <a:ea typeface="Cambria"/>
              </a:rPr>
              <a:t>     [June 2012]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anim_2_c"/>
          <p:cNvSpPr/>
          <p:nvPr/>
        </p:nvSpPr>
        <p:spPr>
          <a:xfrm>
            <a:off x="6355080" y="169164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anim_2_c"/>
          <p:cNvSpPr/>
          <p:nvPr/>
        </p:nvSpPr>
        <p:spPr>
          <a:xfrm>
            <a:off x="6355080" y="1691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anim_2_c"/>
          <p:cNvSpPr/>
          <p:nvPr/>
        </p:nvSpPr>
        <p:spPr>
          <a:xfrm>
            <a:off x="6958440" y="164592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(t – 1)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anim_2_c"/>
          <p:cNvSpPr/>
          <p:nvPr/>
        </p:nvSpPr>
        <p:spPr>
          <a:xfrm>
            <a:off x="6355080" y="262440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anim_2_c"/>
          <p:cNvSpPr/>
          <p:nvPr/>
        </p:nvSpPr>
        <p:spPr>
          <a:xfrm>
            <a:off x="6355080" y="2624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7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anim_2_c"/>
          <p:cNvSpPr/>
          <p:nvPr/>
        </p:nvSpPr>
        <p:spPr>
          <a:xfrm>
            <a:off x="6958440" y="257868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(2x + y)(x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x + y)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anim_2_c"/>
          <p:cNvSpPr/>
          <p:nvPr/>
        </p:nvSpPr>
        <p:spPr>
          <a:xfrm>
            <a:off x="6355080" y="355716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anim_2_c"/>
          <p:cNvSpPr/>
          <p:nvPr/>
        </p:nvSpPr>
        <p:spPr>
          <a:xfrm>
            <a:off x="6355080" y="3557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8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anim_2_c"/>
          <p:cNvSpPr/>
          <p:nvPr/>
        </p:nvSpPr>
        <p:spPr>
          <a:xfrm>
            <a:off x="6958440" y="35114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2(2x – 3)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(x + 4)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anim_2_c"/>
          <p:cNvSpPr/>
          <p:nvPr/>
        </p:nvSpPr>
        <p:spPr>
          <a:xfrm>
            <a:off x="6355080" y="448956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anim_2_c"/>
          <p:cNvSpPr/>
          <p:nvPr/>
        </p:nvSpPr>
        <p:spPr>
          <a:xfrm>
            <a:off x="6355080" y="4489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9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anim_2_c"/>
          <p:cNvSpPr/>
          <p:nvPr/>
        </p:nvSpPr>
        <p:spPr>
          <a:xfrm>
            <a:off x="6958440" y="44438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(2x + 1)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anim_2_c"/>
          <p:cNvSpPr/>
          <p:nvPr/>
        </p:nvSpPr>
        <p:spPr>
          <a:xfrm>
            <a:off x="6355080" y="5422320"/>
            <a:ext cx="456840" cy="456840"/>
          </a:xfrm>
          <a:prstGeom prst="roundRect">
            <a:avLst>
              <a:gd name="adj" fmla="val 16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anim_2_c"/>
          <p:cNvSpPr/>
          <p:nvPr/>
        </p:nvSpPr>
        <p:spPr>
          <a:xfrm>
            <a:off x="6355080" y="5422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anim_2_c"/>
          <p:cNvSpPr/>
          <p:nvPr/>
        </p:nvSpPr>
        <p:spPr>
          <a:xfrm>
            <a:off x="6958440" y="537660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(x – y)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83" dur="indefinite" restart="never" nodeType="tmRoot">
          <p:childTnLst>
            <p:seq>
              <p:cTn id="384" dur="indefinite" nodeType="mainSeq"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9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2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5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8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1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4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7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0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3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6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9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2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5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8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2" fill="hold">
                      <p:stCondLst>
                        <p:cond delay="indefinite"/>
                      </p:stCondLst>
                      <p:childTnLst>
                        <p:par>
                          <p:cTn id="433" fill="hold">
                            <p:stCondLst>
                              <p:cond delay="0"/>
                            </p:stCondLst>
                            <p:childTnLst>
                              <p:par>
                                <p:cTn id="43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6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2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5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8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1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4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7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0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3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9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5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AQA 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Exam Questions — Algebra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anim_1_a"/>
          <p:cNvSpPr/>
          <p:nvPr/>
        </p:nvSpPr>
        <p:spPr>
          <a:xfrm>
            <a:off x="548640" y="1600200"/>
            <a:ext cx="5440320" cy="2011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anim_1_a"/>
          <p:cNvSpPr/>
          <p:nvPr/>
        </p:nvSpPr>
        <p:spPr>
          <a:xfrm>
            <a:off x="804600" y="1837800"/>
            <a:ext cx="2468520" cy="420120"/>
          </a:xfrm>
          <a:prstGeom prst="roundRect">
            <a:avLst>
              <a:gd name="adj" fmla="val 17391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anim_1_a"/>
          <p:cNvSpPr/>
          <p:nvPr/>
        </p:nvSpPr>
        <p:spPr>
          <a:xfrm>
            <a:off x="804600" y="183780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ac2b"/>
                </a:solidFill>
                <a:latin typeface="Calibri"/>
                <a:ea typeface="Calibri"/>
              </a:rPr>
              <a:t>AQA Jan 2013 · P2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anim_1_a"/>
          <p:cNvSpPr/>
          <p:nvPr/>
        </p:nvSpPr>
        <p:spPr>
          <a:xfrm>
            <a:off x="841320" y="2368440"/>
            <a:ext cx="4891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Expand   (x + m)(x + n).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anim_1_a"/>
          <p:cNvSpPr/>
          <p:nvPr/>
        </p:nvSpPr>
        <p:spPr>
          <a:xfrm>
            <a:off x="841320" y="3173040"/>
            <a:ext cx="4891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6a7269"/>
                </a:solidFill>
                <a:latin typeface="Calibri"/>
                <a:ea typeface="Calibri"/>
              </a:rPr>
              <a:t>Give your answer in terms of m and 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anim_2_c"/>
          <p:cNvSpPr/>
          <p:nvPr/>
        </p:nvSpPr>
        <p:spPr>
          <a:xfrm>
            <a:off x="6199560" y="1600200"/>
            <a:ext cx="5440320" cy="2011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anim_2_c"/>
          <p:cNvSpPr/>
          <p:nvPr/>
        </p:nvSpPr>
        <p:spPr>
          <a:xfrm>
            <a:off x="6455520" y="1837800"/>
            <a:ext cx="2468520" cy="420120"/>
          </a:xfrm>
          <a:prstGeom prst="roundRect">
            <a:avLst>
              <a:gd name="adj" fmla="val 17391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anim_2_c"/>
          <p:cNvSpPr/>
          <p:nvPr/>
        </p:nvSpPr>
        <p:spPr>
          <a:xfrm>
            <a:off x="6455520" y="183780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ac2b"/>
                </a:solidFill>
                <a:latin typeface="Calibri"/>
                <a:ea typeface="Calibri"/>
              </a:rPr>
              <a:t>AQA Jun 2012 · P2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anim_2_c"/>
          <p:cNvSpPr/>
          <p:nvPr/>
        </p:nvSpPr>
        <p:spPr>
          <a:xfrm>
            <a:off x="6492240" y="2368440"/>
            <a:ext cx="4891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(a)  Expand   3x(2x – 5y)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(b)  Expand &amp; simplify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      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(3x + 2y)(3x – 4y)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anim_3_c"/>
          <p:cNvSpPr/>
          <p:nvPr/>
        </p:nvSpPr>
        <p:spPr>
          <a:xfrm>
            <a:off x="548640" y="3840480"/>
            <a:ext cx="11091240" cy="21942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anim_3_c"/>
          <p:cNvSpPr/>
          <p:nvPr/>
        </p:nvSpPr>
        <p:spPr>
          <a:xfrm>
            <a:off x="804600" y="4078080"/>
            <a:ext cx="2468520" cy="420120"/>
          </a:xfrm>
          <a:prstGeom prst="roundRect">
            <a:avLst>
              <a:gd name="adj" fmla="val 17391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anim_3_c"/>
          <p:cNvSpPr/>
          <p:nvPr/>
        </p:nvSpPr>
        <p:spPr>
          <a:xfrm>
            <a:off x="804600" y="407808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ac2b"/>
                </a:solidFill>
                <a:latin typeface="Calibri"/>
                <a:ea typeface="Calibri"/>
              </a:rPr>
              <a:t>AQA Jun 2012 · P2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anim_3_c"/>
          <p:cNvSpPr/>
          <p:nvPr/>
        </p:nvSpPr>
        <p:spPr>
          <a:xfrm>
            <a:off x="841320" y="4608720"/>
            <a:ext cx="105426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Show that   (x + 7)</a:t>
            </a:r>
            <a:r>
              <a:rPr b="1" lang="en-US" sz="19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 – (x – 3)</a:t>
            </a:r>
            <a:r>
              <a:rPr b="1" lang="en-US" sz="19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   simplifies to   20(x + 2).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anim_3_c"/>
          <p:cNvSpPr/>
          <p:nvPr/>
        </p:nvSpPr>
        <p:spPr>
          <a:xfrm>
            <a:off x="841320" y="5596200"/>
            <a:ext cx="10542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6a7269"/>
                </a:solidFill>
                <a:latin typeface="Calibri"/>
                <a:ea typeface="Calibri"/>
              </a:rPr>
              <a:t>Show full working.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79" dur="indefinite" restart="never" nodeType="tmRoot">
          <p:childTnLst>
            <p:seq>
              <p:cTn id="480" dur="indefinite" nodeType="mainSeq">
                <p:childTnLst>
                  <p:par>
                    <p:cTn id="481" fill="hold">
                      <p:stCondLst>
                        <p:cond delay="0"/>
                      </p:stCondLst>
                      <p:childTnLst>
                        <p:par>
                          <p:cTn id="482" fill="hold">
                            <p:stCondLst>
                              <p:cond delay="0"/>
                            </p:stCondLst>
                            <p:childTnLst>
                              <p:par>
                                <p:cTn id="48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5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1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4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7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8" fill="hold">
                      <p:stCondLst>
                        <p:cond delay="indefinite"/>
                      </p:stCondLst>
                      <p:childTnLst>
                        <p:par>
                          <p:cTn id="499" fill="hold">
                            <p:stCondLst>
                              <p:cond delay="0"/>
                            </p:stCondLst>
                            <p:childTnLst>
                              <p:par>
                                <p:cTn id="50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2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5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1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2" fill="hold">
                      <p:stCondLst>
                        <p:cond delay="indefinite"/>
                      </p:stCondLst>
                      <p:childTnLst>
                        <p:par>
                          <p:cTn id="513" fill="hold">
                            <p:stCondLst>
                              <p:cond delay="0"/>
                            </p:stCondLst>
                            <p:childTnLst>
                              <p:par>
                                <p:cTn id="51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6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9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2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5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8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 · GEOMETRY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Trapezium — Form &amp; Show an Equation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anim_1_a"/>
          <p:cNvSpPr/>
          <p:nvPr/>
        </p:nvSpPr>
        <p:spPr>
          <a:xfrm>
            <a:off x="548640" y="1572840"/>
            <a:ext cx="5668920" cy="4205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anim_1_a"/>
          <p:cNvSpPr/>
          <p:nvPr/>
        </p:nvSpPr>
        <p:spPr>
          <a:xfrm>
            <a:off x="1828800" y="2788920"/>
            <a:ext cx="3108600" cy="1828440"/>
          </a:xfrm>
          <a:prstGeom prst="trapezoid">
            <a:avLst>
              <a:gd name="adj" fmla="val 25000"/>
            </a:avLst>
          </a:prstGeom>
          <a:solidFill>
            <a:srgbClr val="eef1e8"/>
          </a:solidFill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anim_1_a"/>
          <p:cNvSpPr/>
          <p:nvPr/>
        </p:nvSpPr>
        <p:spPr>
          <a:xfrm>
            <a:off x="3383280" y="2788920"/>
            <a:ext cx="360" cy="1828800"/>
          </a:xfrm>
          <a:prstGeom prst="line">
            <a:avLst/>
          </a:prstGeom>
          <a:ln w="15875">
            <a:solidFill>
              <a:srgbClr val="6a72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anim_1_a"/>
          <p:cNvSpPr/>
          <p:nvPr/>
        </p:nvSpPr>
        <p:spPr>
          <a:xfrm>
            <a:off x="2194560" y="23958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+ 5)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anim_1_a"/>
          <p:cNvSpPr/>
          <p:nvPr/>
        </p:nvSpPr>
        <p:spPr>
          <a:xfrm>
            <a:off x="1463040" y="4645080"/>
            <a:ext cx="3840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(3x – 2)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anim_1_a"/>
          <p:cNvSpPr/>
          <p:nvPr/>
        </p:nvSpPr>
        <p:spPr>
          <a:xfrm>
            <a:off x="3493080" y="3566160"/>
            <a:ext cx="1554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(2x – 3)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anim_1_a"/>
          <p:cNvSpPr/>
          <p:nvPr/>
        </p:nvSpPr>
        <p:spPr>
          <a:xfrm>
            <a:off x="868680" y="528516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6a7269"/>
                </a:solidFill>
                <a:latin typeface="Calibri"/>
                <a:ea typeface="Calibri"/>
              </a:rPr>
              <a:t>Diagram not accurately drawn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anim_1_a"/>
          <p:cNvSpPr/>
          <p:nvPr/>
        </p:nvSpPr>
        <p:spPr>
          <a:xfrm>
            <a:off x="6400800" y="1572840"/>
            <a:ext cx="5239080" cy="1234080"/>
          </a:xfrm>
          <a:prstGeom prst="roundRect">
            <a:avLst>
              <a:gd name="adj" fmla="val 7407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anim_1_a"/>
          <p:cNvSpPr/>
          <p:nvPr/>
        </p:nvSpPr>
        <p:spPr>
          <a:xfrm>
            <a:off x="6675120" y="1572840"/>
            <a:ext cx="47545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The area of the trapezium is 133 cm².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Show that   8x² – 6x – 275 = 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anim_2_c"/>
          <p:cNvSpPr/>
          <p:nvPr/>
        </p:nvSpPr>
        <p:spPr>
          <a:xfrm>
            <a:off x="6400800" y="31273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anim_2_c"/>
          <p:cNvSpPr/>
          <p:nvPr/>
        </p:nvSpPr>
        <p:spPr>
          <a:xfrm>
            <a:off x="6400800" y="3127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anim_2_c"/>
          <p:cNvSpPr/>
          <p:nvPr/>
        </p:nvSpPr>
        <p:spPr>
          <a:xfrm>
            <a:off x="6949440" y="3063240"/>
            <a:ext cx="4599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libri"/>
                <a:ea typeface="Calibri"/>
              </a:rPr>
              <a:t>Area = ½(a + b)h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anim_2_c"/>
          <p:cNvSpPr/>
          <p:nvPr/>
        </p:nvSpPr>
        <p:spPr>
          <a:xfrm>
            <a:off x="6949440" y="3611880"/>
            <a:ext cx="46630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= ½((x+5)+(3x–2))(2x–3)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= ½(4x + 3)(2x – 3)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= ½(8x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 – 6x – 9)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anim_3_c"/>
          <p:cNvSpPr/>
          <p:nvPr/>
        </p:nvSpPr>
        <p:spPr>
          <a:xfrm>
            <a:off x="6400800" y="488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anim_3_c"/>
          <p:cNvSpPr/>
          <p:nvPr/>
        </p:nvSpPr>
        <p:spPr>
          <a:xfrm>
            <a:off x="6400800" y="488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anim_3_c"/>
          <p:cNvSpPr/>
          <p:nvPr/>
        </p:nvSpPr>
        <p:spPr>
          <a:xfrm>
            <a:off x="6949440" y="4818960"/>
            <a:ext cx="4599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Set = 133:  8x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libri"/>
                <a:ea typeface="Calibri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–6x–9 = 266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anim_3_c"/>
          <p:cNvSpPr/>
          <p:nvPr/>
        </p:nvSpPr>
        <p:spPr>
          <a:xfrm>
            <a:off x="6949440" y="5440680"/>
            <a:ext cx="466308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anim_3_c"/>
          <p:cNvSpPr/>
          <p:nvPr/>
        </p:nvSpPr>
        <p:spPr>
          <a:xfrm>
            <a:off x="7132320" y="5440680"/>
            <a:ext cx="4297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8x</a:t>
            </a:r>
            <a:r>
              <a:rPr b="1" lang="en-US" sz="17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 – 6x – 275 = 0   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29" dur="indefinite" restart="never" nodeType="tmRoot">
          <p:childTnLst>
            <p:seq>
              <p:cTn id="530" dur="indefinite" nodeType="mainSeq">
                <p:childTnLst>
                  <p:par>
                    <p:cTn id="531" fill="hold">
                      <p:stCondLst>
                        <p:cond delay="0"/>
                      </p:stCondLst>
                      <p:childTnLst>
                        <p:par>
                          <p:cTn id="532" fill="hold">
                            <p:stCondLst>
                              <p:cond delay="0"/>
                            </p:stCondLst>
                            <p:childTnLst>
                              <p:par>
                                <p:cTn id="53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5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8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1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4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7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0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6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0" fill="hold">
                      <p:stCondLst>
                        <p:cond delay="indefinite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4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7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0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3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4" fill="hold">
                      <p:stCondLst>
                        <p:cond delay="indefinite"/>
                      </p:stCondLst>
                      <p:childTnLst>
                        <p:par>
                          <p:cTn id="575" fill="hold">
                            <p:stCondLst>
                              <p:cond delay="0"/>
                            </p:stCondLst>
                            <p:childTnLst>
                              <p:par>
                                <p:cTn id="57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8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4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7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0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 · GEOMETRY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Compound Shape — Form &amp; Show an Equation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anim_1_a"/>
          <p:cNvSpPr/>
          <p:nvPr/>
        </p:nvSpPr>
        <p:spPr>
          <a:xfrm>
            <a:off x="548640" y="1572840"/>
            <a:ext cx="5668920" cy="4205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anim_1_a"/>
          <p:cNvSpPr/>
          <p:nvPr/>
        </p:nvSpPr>
        <p:spPr>
          <a:xfrm>
            <a:off x="1828800" y="4343400"/>
            <a:ext cx="2743200" cy="360"/>
          </a:xfrm>
          <a:prstGeom prst="line">
            <a:avLst/>
          </a:prstGeom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anim_1_a"/>
          <p:cNvSpPr/>
          <p:nvPr/>
        </p:nvSpPr>
        <p:spPr>
          <a:xfrm>
            <a:off x="4572000" y="2331720"/>
            <a:ext cx="360" cy="2011680"/>
          </a:xfrm>
          <a:prstGeom prst="line">
            <a:avLst/>
          </a:prstGeom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anim_1_a"/>
          <p:cNvSpPr/>
          <p:nvPr/>
        </p:nvSpPr>
        <p:spPr>
          <a:xfrm>
            <a:off x="3291840" y="2331720"/>
            <a:ext cx="1280160" cy="360"/>
          </a:xfrm>
          <a:prstGeom prst="line">
            <a:avLst/>
          </a:prstGeom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anim_1_a"/>
          <p:cNvSpPr/>
          <p:nvPr/>
        </p:nvSpPr>
        <p:spPr>
          <a:xfrm>
            <a:off x="3291840" y="2331720"/>
            <a:ext cx="360" cy="1097280"/>
          </a:xfrm>
          <a:prstGeom prst="line">
            <a:avLst/>
          </a:prstGeom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anim_1_a"/>
          <p:cNvSpPr/>
          <p:nvPr/>
        </p:nvSpPr>
        <p:spPr>
          <a:xfrm>
            <a:off x="1828800" y="3429000"/>
            <a:ext cx="1463040" cy="360"/>
          </a:xfrm>
          <a:prstGeom prst="line">
            <a:avLst/>
          </a:prstGeom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anim_1_a"/>
          <p:cNvSpPr/>
          <p:nvPr/>
        </p:nvSpPr>
        <p:spPr>
          <a:xfrm>
            <a:off x="1828800" y="3429000"/>
            <a:ext cx="360" cy="914400"/>
          </a:xfrm>
          <a:prstGeom prst="line">
            <a:avLst/>
          </a:prstGeom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anim_1_a"/>
          <p:cNvSpPr/>
          <p:nvPr/>
        </p:nvSpPr>
        <p:spPr>
          <a:xfrm>
            <a:off x="3657600" y="200268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anim_1_a"/>
          <p:cNvSpPr/>
          <p:nvPr/>
        </p:nvSpPr>
        <p:spPr>
          <a:xfrm>
            <a:off x="4681800" y="3108960"/>
            <a:ext cx="639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3x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anim_1_a"/>
          <p:cNvSpPr/>
          <p:nvPr/>
        </p:nvSpPr>
        <p:spPr>
          <a:xfrm>
            <a:off x="2194560" y="441648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(4x – 3)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anim_1_a"/>
          <p:cNvSpPr/>
          <p:nvPr/>
        </p:nvSpPr>
        <p:spPr>
          <a:xfrm>
            <a:off x="640080" y="374904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(x + 1)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anim_1_a"/>
          <p:cNvSpPr/>
          <p:nvPr/>
        </p:nvSpPr>
        <p:spPr>
          <a:xfrm>
            <a:off x="868680" y="54406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6a7269"/>
                </a:solidFill>
                <a:latin typeface="Calibri"/>
                <a:ea typeface="Calibri"/>
              </a:rPr>
              <a:t>All corners right angles · not accurately drawn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anim_1_a"/>
          <p:cNvSpPr/>
          <p:nvPr/>
        </p:nvSpPr>
        <p:spPr>
          <a:xfrm>
            <a:off x="6400800" y="1572840"/>
            <a:ext cx="5239080" cy="1234080"/>
          </a:xfrm>
          <a:prstGeom prst="roundRect">
            <a:avLst>
              <a:gd name="adj" fmla="val 7407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anim_1_a"/>
          <p:cNvSpPr/>
          <p:nvPr/>
        </p:nvSpPr>
        <p:spPr>
          <a:xfrm>
            <a:off x="6675120" y="1572840"/>
            <a:ext cx="47545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The area of the shape is 40 cm².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Show that   4x² + 9x – 47 = 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anim_2_c"/>
          <p:cNvSpPr/>
          <p:nvPr/>
        </p:nvSpPr>
        <p:spPr>
          <a:xfrm>
            <a:off x="6400800" y="31273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anim_2_c"/>
          <p:cNvSpPr/>
          <p:nvPr/>
        </p:nvSpPr>
        <p:spPr>
          <a:xfrm>
            <a:off x="6400800" y="3127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anim_2_c"/>
          <p:cNvSpPr/>
          <p:nvPr/>
        </p:nvSpPr>
        <p:spPr>
          <a:xfrm>
            <a:off x="6949440" y="3063240"/>
            <a:ext cx="4599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libri"/>
                <a:ea typeface="Calibri"/>
              </a:rPr>
              <a:t>Split into two rectangles: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anim_2_c"/>
          <p:cNvSpPr/>
          <p:nvPr/>
        </p:nvSpPr>
        <p:spPr>
          <a:xfrm>
            <a:off x="6949440" y="3611880"/>
            <a:ext cx="46630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Bottom: (4x – 3)(x + 1)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Top: 4 × (2x – 1)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Total = 4x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 + 9x – 7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anim_3_c"/>
          <p:cNvSpPr/>
          <p:nvPr/>
        </p:nvSpPr>
        <p:spPr>
          <a:xfrm>
            <a:off x="6400800" y="488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anim_3_c"/>
          <p:cNvSpPr/>
          <p:nvPr/>
        </p:nvSpPr>
        <p:spPr>
          <a:xfrm>
            <a:off x="6400800" y="488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anim_3_c"/>
          <p:cNvSpPr/>
          <p:nvPr/>
        </p:nvSpPr>
        <p:spPr>
          <a:xfrm>
            <a:off x="6949440" y="4818960"/>
            <a:ext cx="4599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Set = 40: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anim_3_c"/>
          <p:cNvSpPr/>
          <p:nvPr/>
        </p:nvSpPr>
        <p:spPr>
          <a:xfrm>
            <a:off x="6949440" y="5440680"/>
            <a:ext cx="466308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anim_3_c"/>
          <p:cNvSpPr/>
          <p:nvPr/>
        </p:nvSpPr>
        <p:spPr>
          <a:xfrm>
            <a:off x="7132320" y="5440680"/>
            <a:ext cx="4297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4x</a:t>
            </a:r>
            <a:r>
              <a:rPr b="1" lang="en-US" sz="17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 + 9x – 47 = 0   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91" dur="indefinite" restart="never" nodeType="tmRoot">
          <p:childTnLst>
            <p:seq>
              <p:cTn id="592" dur="indefinite" nodeType="mainSeq">
                <p:childTnLst>
                  <p:par>
                    <p:cTn id="593" fill="hold">
                      <p:stCondLst>
                        <p:cond delay="0"/>
                      </p:stCondLst>
                      <p:childTnLst>
                        <p:par>
                          <p:cTn id="594" fill="hold">
                            <p:stCondLst>
                              <p:cond delay="0"/>
                            </p:stCondLst>
                            <p:childTnLst>
                              <p:par>
                                <p:cTn id="59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7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0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6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9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2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5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8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1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4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0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3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6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7" fill="hold">
                      <p:stCondLst>
                        <p:cond delay="indefinite"/>
                      </p:stCondLst>
                      <p:childTnLst>
                        <p:par>
                          <p:cTn id="638" fill="hold">
                            <p:stCondLst>
                              <p:cond delay="0"/>
                            </p:stCondLst>
                            <p:childTnLst>
                              <p:par>
                                <p:cTn id="63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1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4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0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1" fill="hold">
                      <p:stCondLst>
                        <p:cond delay="indefinite"/>
                      </p:stCondLst>
                      <p:childTnLst>
                        <p:par>
                          <p:cTn id="652" fill="hold">
                            <p:stCondLst>
                              <p:cond delay="0"/>
                            </p:stCondLst>
                            <p:childTnLst>
                              <p:par>
                                <p:cTn id="65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5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8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1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4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 0"/>
          <p:cNvSpPr/>
          <p:nvPr/>
        </p:nvSpPr>
        <p:spPr>
          <a:xfrm>
            <a:off x="9784080" y="3108960"/>
            <a:ext cx="2742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0" spc="-1" strike="noStrike">
                <a:solidFill>
                  <a:srgbClr val="283731"/>
                </a:solidFill>
                <a:latin typeface="Cambria"/>
                <a:ea typeface="Cambria"/>
              </a:rPr>
              <a:t>Σ</a:t>
            </a:r>
            <a:endParaRPr b="0" lang="en-US" sz="1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1"/>
          <p:cNvSpPr/>
          <p:nvPr/>
        </p:nvSpPr>
        <p:spPr>
          <a:xfrm>
            <a:off x="731520" y="640080"/>
            <a:ext cx="639720" cy="63972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2"/>
          <p:cNvSpPr/>
          <p:nvPr/>
        </p:nvSpPr>
        <p:spPr>
          <a:xfrm>
            <a:off x="731520" y="6217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4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2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3"/>
          <p:cNvSpPr/>
          <p:nvPr/>
        </p:nvSpPr>
        <p:spPr>
          <a:xfrm>
            <a:off x="15177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4"/>
          <p:cNvSpPr/>
          <p:nvPr/>
        </p:nvSpPr>
        <p:spPr>
          <a:xfrm>
            <a:off x="731520" y="132588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e0ac2b"/>
                </a:solidFill>
                <a:latin typeface="Cambria"/>
                <a:ea typeface="Cambria"/>
              </a:rPr>
              <a:t>Recap &amp; Resources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anim_1_a"/>
          <p:cNvSpPr/>
          <p:nvPr/>
        </p:nvSpPr>
        <p:spPr>
          <a:xfrm>
            <a:off x="731520" y="2240280"/>
            <a:ext cx="5440320" cy="1051200"/>
          </a:xfrm>
          <a:prstGeom prst="roundRect">
            <a:avLst>
              <a:gd name="adj" fmla="val 8696"/>
            </a:avLst>
          </a:prstGeom>
          <a:solidFill>
            <a:srgbClr val="283731"/>
          </a:solidFill>
          <a:ln w="0">
            <a:noFill/>
          </a:ln>
          <a:effectLst>
            <a:outerShdw algn="bl" blurRad="1270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anim_1_a"/>
          <p:cNvSpPr/>
          <p:nvPr/>
        </p:nvSpPr>
        <p:spPr>
          <a:xfrm>
            <a:off x="1005840" y="2386440"/>
            <a:ext cx="4937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Single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anim_1_a"/>
          <p:cNvSpPr/>
          <p:nvPr/>
        </p:nvSpPr>
        <p:spPr>
          <a:xfrm>
            <a:off x="1005840" y="27522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debdd"/>
                </a:solidFill>
                <a:latin typeface="Calibri"/>
                <a:ea typeface="Calibri"/>
              </a:rPr>
              <a:t>multiply every inside term by the outside term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anim_1_a"/>
          <p:cNvSpPr/>
          <p:nvPr/>
        </p:nvSpPr>
        <p:spPr>
          <a:xfrm>
            <a:off x="6355080" y="2240280"/>
            <a:ext cx="5440320" cy="1051200"/>
          </a:xfrm>
          <a:prstGeom prst="roundRect">
            <a:avLst>
              <a:gd name="adj" fmla="val 8696"/>
            </a:avLst>
          </a:prstGeom>
          <a:solidFill>
            <a:srgbClr val="283731"/>
          </a:solidFill>
          <a:ln w="0">
            <a:noFill/>
          </a:ln>
          <a:effectLst>
            <a:outerShdw algn="bl" blurRad="1270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anim_1_a"/>
          <p:cNvSpPr/>
          <p:nvPr/>
        </p:nvSpPr>
        <p:spPr>
          <a:xfrm>
            <a:off x="6629400" y="2386440"/>
            <a:ext cx="4937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Double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anim_1_a"/>
          <p:cNvSpPr/>
          <p:nvPr/>
        </p:nvSpPr>
        <p:spPr>
          <a:xfrm>
            <a:off x="6629400" y="27522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debdd"/>
                </a:solidFill>
                <a:latin typeface="Calibri"/>
                <a:ea typeface="Calibri"/>
              </a:rPr>
              <a:t>every term × every term (grid / FOIL), then simplify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anim_2_c"/>
          <p:cNvSpPr/>
          <p:nvPr/>
        </p:nvSpPr>
        <p:spPr>
          <a:xfrm>
            <a:off x="731520" y="3456360"/>
            <a:ext cx="5440320" cy="1051200"/>
          </a:xfrm>
          <a:prstGeom prst="roundRect">
            <a:avLst>
              <a:gd name="adj" fmla="val 8696"/>
            </a:avLst>
          </a:prstGeom>
          <a:solidFill>
            <a:srgbClr val="283731"/>
          </a:solidFill>
          <a:ln w="0">
            <a:noFill/>
          </a:ln>
          <a:effectLst>
            <a:outerShdw algn="bl" blurRad="1270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anim_2_c"/>
          <p:cNvSpPr/>
          <p:nvPr/>
        </p:nvSpPr>
        <p:spPr>
          <a:xfrm>
            <a:off x="1005840" y="3602880"/>
            <a:ext cx="4937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Triple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anim_2_c"/>
          <p:cNvSpPr/>
          <p:nvPr/>
        </p:nvSpPr>
        <p:spPr>
          <a:xfrm>
            <a:off x="1005840" y="396864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debdd"/>
                </a:solidFill>
                <a:latin typeface="Calibri"/>
                <a:ea typeface="Calibri"/>
              </a:rPr>
              <a:t>expand two brackets first, then multiply by the third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anim_2_c"/>
          <p:cNvSpPr/>
          <p:nvPr/>
        </p:nvSpPr>
        <p:spPr>
          <a:xfrm>
            <a:off x="6355080" y="3456360"/>
            <a:ext cx="5440320" cy="1051200"/>
          </a:xfrm>
          <a:prstGeom prst="roundRect">
            <a:avLst>
              <a:gd name="adj" fmla="val 8696"/>
            </a:avLst>
          </a:prstGeom>
          <a:solidFill>
            <a:srgbClr val="283731"/>
          </a:solidFill>
          <a:ln w="0">
            <a:noFill/>
          </a:ln>
          <a:effectLst>
            <a:outerShdw algn="bl" blurRad="1270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anim_2_c"/>
          <p:cNvSpPr/>
          <p:nvPr/>
        </p:nvSpPr>
        <p:spPr>
          <a:xfrm>
            <a:off x="6629400" y="3602880"/>
            <a:ext cx="4937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Square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anim_2_c"/>
          <p:cNvSpPr/>
          <p:nvPr/>
        </p:nvSpPr>
        <p:spPr>
          <a:xfrm>
            <a:off x="6629400" y="396864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edebdd"/>
                </a:solidFill>
                <a:latin typeface="Calibri"/>
                <a:ea typeface="Calibri"/>
              </a:rPr>
              <a:t>(a + b)² = a² + 2ab + b² — keep the middle term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anim_3_c"/>
          <p:cNvSpPr/>
          <p:nvPr/>
        </p:nvSpPr>
        <p:spPr>
          <a:xfrm>
            <a:off x="731520" y="4754880"/>
            <a:ext cx="10926720" cy="1005480"/>
          </a:xfrm>
          <a:prstGeom prst="roundRect">
            <a:avLst>
              <a:gd name="adj" fmla="val 10909"/>
            </a:avLst>
          </a:prstGeom>
          <a:solidFill>
            <a:srgbClr val="16261f"/>
          </a:solidFill>
          <a:ln w="15875">
            <a:solidFill>
              <a:srgbClr val="28373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anim_3_c"/>
          <p:cNvSpPr/>
          <p:nvPr/>
        </p:nvSpPr>
        <p:spPr>
          <a:xfrm>
            <a:off x="1051560" y="48830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 u="sng">
                <a:solidFill>
                  <a:srgbClr val="e0ac2b"/>
                </a:solidFill>
                <a:uFillTx/>
                <a:latin typeface="Calibri"/>
                <a:ea typeface="Calibri"/>
              </a:rPr>
              <a:t>Practice:  </a:t>
            </a:r>
            <a:r>
              <a:rPr b="0" lang="en-US" sz="1300" spc="-1" strike="noStrike" u="sng">
                <a:solidFill>
                  <a:srgbClr val="edebdd"/>
                </a:solidFill>
                <a:uFillTx/>
                <a:latin typeface="Calibri"/>
                <a:ea typeface="Calibri"/>
              </a:rPr>
              <a:t>wordwall.net — expanding single brackets        ✉  zahraa.sheikhali@outlook.com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anim_3_c"/>
          <p:cNvSpPr/>
          <p:nvPr/>
        </p:nvSpPr>
        <p:spPr>
          <a:xfrm>
            <a:off x="1051560" y="530352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Ms. Zahra Sheikh Ali  ·  Pearson Edexcel IGCSE (9–1) Mathematics A  ·  Higher Tier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68" dur="indefinite" restart="never" nodeType="tmRoot">
          <p:childTnLst>
            <p:seq>
              <p:cTn id="669" dur="indefinite" nodeType="mainSeq">
                <p:childTnLst>
                  <p:par>
                    <p:cTn id="670" fill="hold">
                      <p:stCondLst>
                        <p:cond delay="0"/>
                      </p:stCondLst>
                      <p:childTnLst>
                        <p:par>
                          <p:cTn id="671" fill="hold">
                            <p:stCondLst>
                              <p:cond delay="0"/>
                            </p:stCondLst>
                            <p:childTnLst>
                              <p:par>
                                <p:cTn id="672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4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0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3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6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9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0" fill="hold">
                      <p:stCondLst>
                        <p:cond delay="indefinite"/>
                      </p:stCondLst>
                      <p:childTnLst>
                        <p:par>
                          <p:cTn id="691" fill="hold">
                            <p:stCondLst>
                              <p:cond delay="0"/>
                            </p:stCondLst>
                            <p:childTnLst>
                              <p:par>
                                <p:cTn id="69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4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7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0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3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6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9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0" fill="hold">
                      <p:stCondLst>
                        <p:cond delay="indefinite"/>
                      </p:stCondLst>
                      <p:childTnLst>
                        <p:par>
                          <p:cTn id="711" fill="hold">
                            <p:stCondLst>
                              <p:cond delay="0"/>
                            </p:stCondLst>
                            <p:childTnLst>
                              <p:par>
                                <p:cTn id="71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4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7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0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2026-06-28T08:26:36Z</dcterms:created>
  <dc:creator>Zahra Sheikh Ali</dc:creator>
  <dc:description/>
  <dc:language>en-US</dc:language>
  <cp:lastModifiedBy>Zahra Sheikh Ali</cp:lastModifiedBy>
  <dcterms:modified xsi:type="dcterms:W3CDTF">2026-06-28T08:26:36Z</dcterms:modified>
  <cp:revision>1</cp:revision>
  <dc:subject>PptxGenJS Presentation</dc:subject>
  <dc:title>Expanding Brackets — IGCSE Mathematics (Higher Tier)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On-screen Show (16:9)</vt:lpwstr>
  </property>
  <property fmtid="{D5CDD505-2E9C-101B-9397-08002B2CF9AE}" pid="4" name="Slides">
    <vt:r8>12</vt:r8>
  </property>
</Properties>
</file>