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95" d="100"/>
          <a:sy n="95" d="100"/>
        </p:scale>
        <p:origin x="-178" y="-1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3DAD8-C70B-42DD-82C7-858C88F36DFE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09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BBF2E0-CD63-4A50-8502-49F39E0EC5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378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132320" y="10058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i="1" dirty="0">
                <a:solidFill>
                  <a:srgbClr val="3346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m₁ × m₂ = −1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777240" y="640080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E8623D"/>
          </a:solidFill>
          <a:ln/>
        </p:spPr>
      </p:sp>
      <p:sp>
        <p:nvSpPr>
          <p:cNvPr id="39" name="Text 37"/>
          <p:cNvSpPr/>
          <p:nvPr/>
        </p:nvSpPr>
        <p:spPr>
          <a:xfrm>
            <a:off x="777240" y="640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6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2160" dirty="0"/>
          </a:p>
        </p:txBody>
      </p:sp>
      <p:sp>
        <p:nvSpPr>
          <p:cNvPr id="40" name="Text 38"/>
          <p:cNvSpPr/>
          <p:nvPr/>
        </p:nvSpPr>
        <p:spPr>
          <a:xfrm>
            <a:off x="1600200" y="603504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Zπ  MATHS HUB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00200" y="914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9D2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Edexcel IGCSE (9–1) · Higher Tier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77240" y="224028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&amp; Perpendicular Lines</a:t>
            </a:r>
            <a:endParaRPr lang="en-US" sz="3800" dirty="0"/>
          </a:p>
        </p:txBody>
      </p:sp>
      <p:sp>
        <p:nvSpPr>
          <p:cNvPr id="43" name="Text 41"/>
          <p:cNvSpPr/>
          <p:nvPr/>
        </p:nvSpPr>
        <p:spPr>
          <a:xfrm>
            <a:off x="804672" y="3310128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Gradient · Negative Reciprocal · m₁ × m₂ = −1 · Finding Equations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" y="4297680"/>
            <a:ext cx="6766560" cy="1691640"/>
          </a:xfrm>
          <a:prstGeom prst="roundRect">
            <a:avLst>
              <a:gd name="adj" fmla="val 324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5" name="Text 43"/>
          <p:cNvSpPr/>
          <p:nvPr/>
        </p:nvSpPr>
        <p:spPr>
          <a:xfrm>
            <a:off x="1097280" y="4498848"/>
            <a:ext cx="6126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Zahra Sheikh Ali</a:t>
            </a:r>
            <a:endParaRPr lang="en-US" sz="2200" dirty="0"/>
          </a:p>
        </p:txBody>
      </p:sp>
      <p:sp>
        <p:nvSpPr>
          <p:cNvPr id="46" name="Text 44"/>
          <p:cNvSpPr/>
          <p:nvPr/>
        </p:nvSpPr>
        <p:spPr>
          <a:xfrm>
            <a:off x="1097280" y="4956048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C9D2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IGCSE Mathematics Teacher  ·  M.Sc. Differential Geometry &amp; Geometric Control</a:t>
            </a:r>
            <a:endParaRPr lang="en-US" sz="1250" dirty="0"/>
          </a:p>
        </p:txBody>
      </p:sp>
      <p:sp>
        <p:nvSpPr>
          <p:cNvPr id="47" name="Text 45"/>
          <p:cNvSpPr/>
          <p:nvPr/>
        </p:nvSpPr>
        <p:spPr>
          <a:xfrm>
            <a:off x="1097280" y="5394960"/>
            <a:ext cx="6217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62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☎  66613748      ✉  zahraa.sheikhali@outlook.com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OVERVIEW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All Depends on the Gradient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481328"/>
            <a:ext cx="11064240" cy="822960"/>
          </a:xfrm>
          <a:prstGeom prst="roundRect">
            <a:avLst>
              <a:gd name="adj" fmla="val 666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481328"/>
            <a:ext cx="10424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lines are parallel if they have the SAME gradient. </a:t>
            </a:r>
            <a:r>
              <a:rPr lang="en-US" sz="135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perpendicular if their gradients multiply to −1 — the negative reciprocal.</a:t>
            </a:r>
            <a:endParaRPr lang="en-US" sz="1350" dirty="0"/>
          </a:p>
        </p:txBody>
      </p:sp>
      <p:sp>
        <p:nvSpPr>
          <p:cNvPr id="43" name="Shape 41"/>
          <p:cNvSpPr/>
          <p:nvPr/>
        </p:nvSpPr>
        <p:spPr>
          <a:xfrm>
            <a:off x="566928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822960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5" name="Text 43"/>
          <p:cNvSpPr/>
          <p:nvPr/>
        </p:nvSpPr>
        <p:spPr>
          <a:xfrm>
            <a:off x="822960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46" name="Text 44"/>
          <p:cNvSpPr/>
          <p:nvPr/>
        </p:nvSpPr>
        <p:spPr>
          <a:xfrm>
            <a:off x="1435608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Parallel: same gradient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343400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4599432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4599432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50" name="Text 48"/>
          <p:cNvSpPr/>
          <p:nvPr/>
        </p:nvSpPr>
        <p:spPr>
          <a:xfrm>
            <a:off x="5212080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Perpendicular: m₁ × m₂ = −1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8119872" y="2651760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8375904" y="29489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375904" y="29489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4" name="Text 52"/>
          <p:cNvSpPr/>
          <p:nvPr/>
        </p:nvSpPr>
        <p:spPr>
          <a:xfrm>
            <a:off x="8988552" y="2651760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negative reciprocal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566928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822960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7" name="Text 55"/>
          <p:cNvSpPr/>
          <p:nvPr/>
        </p:nvSpPr>
        <p:spPr>
          <a:xfrm>
            <a:off x="822960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58" name="Text 56"/>
          <p:cNvSpPr/>
          <p:nvPr/>
        </p:nvSpPr>
        <p:spPr>
          <a:xfrm>
            <a:off x="1435608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parallel line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343400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4599432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1" name="Text 59"/>
          <p:cNvSpPr/>
          <p:nvPr/>
        </p:nvSpPr>
        <p:spPr>
          <a:xfrm>
            <a:off x="4599432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62" name="Text 60"/>
          <p:cNvSpPr/>
          <p:nvPr/>
        </p:nvSpPr>
        <p:spPr>
          <a:xfrm>
            <a:off x="5212080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a perpendicular line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8119872" y="3995928"/>
            <a:ext cx="3502152" cy="1051560"/>
          </a:xfrm>
          <a:prstGeom prst="roundRect">
            <a:avLst>
              <a:gd name="adj" fmla="val 5217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8375904" y="4293108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65" name="Text 63"/>
          <p:cNvSpPr/>
          <p:nvPr/>
        </p:nvSpPr>
        <p:spPr>
          <a:xfrm>
            <a:off x="8375904" y="42931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66" name="Text 64"/>
          <p:cNvSpPr/>
          <p:nvPr/>
        </p:nvSpPr>
        <p:spPr>
          <a:xfrm>
            <a:off x="8988552" y="3995928"/>
            <a:ext cx="2542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Reminder:  </a:t>
            </a:r>
            <a:r>
              <a:rPr lang="en-US" sz="1300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rearrange to y = mx + c before comparing gradients.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Gradient, Different Intercept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never meet. </a:t>
            </a: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are equally steep, so they have the SAME value of m.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194560" y="2286000"/>
            <a:ext cx="7799832" cy="1097280"/>
          </a:xfrm>
          <a:prstGeom prst="roundRect">
            <a:avLst>
              <a:gd name="adj" fmla="val 5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94560" y="2286000"/>
            <a:ext cx="7799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  →   m₁  =  m₂</a:t>
            </a:r>
            <a:endParaRPr lang="en-US" sz="2800" dirty="0"/>
          </a:p>
        </p:txBody>
      </p:sp>
      <p:sp>
        <p:nvSpPr>
          <p:cNvPr id="45" name="Shape 43"/>
          <p:cNvSpPr/>
          <p:nvPr/>
        </p:nvSpPr>
        <p:spPr>
          <a:xfrm>
            <a:off x="566928" y="365760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32688" y="38953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These ARE parallel</a:t>
            </a:r>
            <a:endParaRPr lang="en-US" sz="1700" dirty="0"/>
          </a:p>
        </p:txBody>
      </p:sp>
      <p:sp>
        <p:nvSpPr>
          <p:cNvPr id="47" name="Text 45"/>
          <p:cNvSpPr/>
          <p:nvPr/>
        </p:nvSpPr>
        <p:spPr>
          <a:xfrm>
            <a:off x="914400" y="4343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2x + 3    and    y = 2x − 5</a:t>
            </a:r>
            <a:endParaRPr lang="en-US" sz="1600" dirty="0"/>
          </a:p>
          <a:p>
            <a:pPr marL="0" indent="0">
              <a:buNone/>
            </a:pPr>
            <a:r>
              <a:rPr lang="en-US" sz="13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Both have m = 2 (only c differs).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6190488" y="3657600"/>
            <a:ext cx="5440680" cy="1828800"/>
          </a:xfrm>
          <a:prstGeom prst="roundRect">
            <a:avLst>
              <a:gd name="adj" fmla="val 300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556248" y="3895344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Careful — rearrange first</a:t>
            </a:r>
            <a:endParaRPr lang="en-US" sz="1700" dirty="0"/>
          </a:p>
        </p:txBody>
      </p:sp>
      <p:sp>
        <p:nvSpPr>
          <p:cNvPr id="50" name="Text 48"/>
          <p:cNvSpPr/>
          <p:nvPr/>
        </p:nvSpPr>
        <p:spPr>
          <a:xfrm>
            <a:off x="6537960" y="434340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4x − 2y = 3   →   y = 2x − 1.5</a:t>
            </a:r>
            <a:endParaRPr lang="en-US" sz="1600" dirty="0"/>
          </a:p>
          <a:p>
            <a:pPr marL="0" indent="0">
              <a:buNone/>
            </a:pPr>
            <a:r>
              <a:rPr lang="en-US" sz="1350" i="1" dirty="0">
                <a:solidFill>
                  <a:srgbClr val="5C6B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2, so it IS parallel to y = 2x + 3.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566928" y="57150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 → parallel.  Same m AND same c → they are the same 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LINES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Negative Reciprocal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lines cross at 90°. </a:t>
            </a:r>
            <a:r>
              <a:rPr lang="en-US" sz="14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Their gradients multiply to give −1.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2194560" y="2240280"/>
            <a:ext cx="7799832" cy="1097280"/>
          </a:xfrm>
          <a:prstGeom prst="roundRect">
            <a:avLst>
              <a:gd name="adj" fmla="val 50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2194560" y="2240280"/>
            <a:ext cx="779983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  →   m₁  ×  m₂  =  −1</a:t>
            </a:r>
            <a:endParaRPr lang="en-US" sz="2600" dirty="0"/>
          </a:p>
        </p:txBody>
      </p:sp>
      <p:sp>
        <p:nvSpPr>
          <p:cNvPr id="45" name="Shape 43"/>
          <p:cNvSpPr/>
          <p:nvPr/>
        </p:nvSpPr>
        <p:spPr>
          <a:xfrm>
            <a:off x="566928" y="3611880"/>
            <a:ext cx="11064240" cy="1371600"/>
          </a:xfrm>
          <a:prstGeom prst="roundRect">
            <a:avLst>
              <a:gd name="adj" fmla="val 400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914400" y="39776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 the perpendicular gradient is   m₂  =  </a:t>
            </a:r>
            <a:endParaRPr lang="en-US" sz="1900" dirty="0"/>
          </a:p>
        </p:txBody>
      </p:sp>
      <p:sp>
        <p:nvSpPr>
          <p:cNvPr id="47" name="Text 45"/>
          <p:cNvSpPr/>
          <p:nvPr/>
        </p:nvSpPr>
        <p:spPr>
          <a:xfrm>
            <a:off x="5440680" y="4023360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5440680" y="4297680"/>
            <a:ext cx="822960" cy="0"/>
          </a:xfrm>
          <a:prstGeom prst="line">
            <a:avLst/>
          </a:prstGeom>
          <a:noFill/>
          <a:ln w="19050">
            <a:solidFill>
              <a:srgbClr val="C84F2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40680" y="4325112"/>
            <a:ext cx="822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m₁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6492240" y="3977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turn it upside down and change the sign</a:t>
            </a:r>
            <a:endParaRPr lang="en-US" sz="1350" dirty="0"/>
          </a:p>
        </p:txBody>
      </p:sp>
      <p:sp>
        <p:nvSpPr>
          <p:cNvPr id="51" name="Shape 49"/>
          <p:cNvSpPr/>
          <p:nvPr/>
        </p:nvSpPr>
        <p:spPr>
          <a:xfrm>
            <a:off x="566928" y="525780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841248" y="525780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‘Flip it and change the sign’ — that is the negative reciprocal.</a:t>
            </a:r>
            <a:endParaRPr lang="en-US" sz="2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Gradients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371600"/>
            <a:ext cx="11064240" cy="566928"/>
          </a:xfrm>
          <a:prstGeom prst="roundRect">
            <a:avLst>
              <a:gd name="adj" fmla="val 9677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886968" y="1371600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the fraction, change the sign.  Check: the two gradients multiply to −1.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566928" y="2194560"/>
            <a:ext cx="3703320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4" name="Text 42"/>
          <p:cNvSpPr/>
          <p:nvPr/>
        </p:nvSpPr>
        <p:spPr>
          <a:xfrm>
            <a:off x="676656" y="219456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Gradient  m₁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4480560" y="2194560"/>
            <a:ext cx="3703320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4590288" y="2194560"/>
            <a:ext cx="34838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Perpendicular  m₂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412480" y="2194560"/>
            <a:ext cx="3200400" cy="502920"/>
          </a:xfrm>
          <a:prstGeom prst="rect">
            <a:avLst/>
          </a:prstGeom>
          <a:solidFill>
            <a:srgbClr val="16261F"/>
          </a:solidFill>
          <a:ln/>
        </p:spPr>
      </p:sp>
      <p:sp>
        <p:nvSpPr>
          <p:cNvPr id="48" name="Text 46"/>
          <p:cNvSpPr/>
          <p:nvPr/>
        </p:nvSpPr>
        <p:spPr>
          <a:xfrm>
            <a:off x="8522208" y="2194560"/>
            <a:ext cx="29809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  m₁ × m₂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566928" y="2724912"/>
            <a:ext cx="37033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76656" y="2724912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4480560" y="2724912"/>
            <a:ext cx="37033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590288" y="2724912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½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8412480" y="2724912"/>
            <a:ext cx="320040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522208" y="2724912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66928" y="3291840"/>
            <a:ext cx="37033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6656" y="3291840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</a:t>
            </a: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4480560" y="3291840"/>
            <a:ext cx="37033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590288" y="3291840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¼</a:t>
            </a: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8412480" y="3291840"/>
            <a:ext cx="320040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522208" y="3291840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66928" y="3858768"/>
            <a:ext cx="37033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76656" y="3858768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480560" y="3858768"/>
            <a:ext cx="37033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90288" y="3858768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⅓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8412480" y="3858768"/>
            <a:ext cx="320040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8522208" y="3858768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566928" y="4425696"/>
            <a:ext cx="37033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76656" y="4425696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½</a:t>
            </a: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480560" y="4425696"/>
            <a:ext cx="37033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590288" y="4425696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−2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8412480" y="4425696"/>
            <a:ext cx="320040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522208" y="4425696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566928" y="4992624"/>
            <a:ext cx="37033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76656" y="4992624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 ⅔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4480560" y="4992624"/>
            <a:ext cx="370332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4590288" y="4992624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 ³⁄₂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8412480" y="4992624"/>
            <a:ext cx="3200400" cy="530352"/>
          </a:xfrm>
          <a:prstGeom prst="rect">
            <a:avLst/>
          </a:prstGeom>
          <a:solidFill>
            <a:srgbClr val="EEF1E8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8522208" y="4992624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566928" y="5559552"/>
            <a:ext cx="37033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6656" y="5559552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4480560" y="5559552"/>
            <a:ext cx="370332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590288" y="5559552"/>
            <a:ext cx="348386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8412480" y="5559552"/>
            <a:ext cx="3200400" cy="530352"/>
          </a:xfrm>
          <a:prstGeom prst="rect">
            <a:avLst/>
          </a:prstGeom>
          <a:solidFill>
            <a:srgbClr val="FBF3DD"/>
          </a:solidFill>
          <a:ln w="12700">
            <a:solidFill>
              <a:srgbClr val="E4E2D6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8522208" y="5559552"/>
            <a:ext cx="298094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−1</a:t>
            </a:r>
            <a:endParaRPr lang="en-US" sz="1600" dirty="0"/>
          </a:p>
        </p:txBody>
      </p:sp>
      <p:sp>
        <p:nvSpPr>
          <p:cNvPr id="85" name="Text 83"/>
          <p:cNvSpPr/>
          <p:nvPr/>
        </p:nvSpPr>
        <p:spPr>
          <a:xfrm>
            <a:off x="566928" y="61722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whole number m becomes the fraction −1/m;  a fraction flips over.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PARALLEL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Line Parallel to Another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gradient from the original line.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given point to find the NEW c.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 always changes — otherwise it is the same line.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equation is not in y = mx + c form, rearrange it first.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parallel to y = 4x + 1 passing through (2, 3).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→ same gradient, so m = 4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4x + c.  Substitute (2, 3):  3 = 8 + c  →  c = −5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4x − 5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4x − 5</a:t>
            </a:r>
            <a:endParaRPr lang="en-US" sz="2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PERPENDICULAR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 Line Perpendicular to Another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m₁ (rearrange if needed).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it and change the sign to get m₂.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Substitute the point to find c.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check your two gradients multiply to −1.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line perpendicular to y = 2x + 1 through (4, 3).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m₁ = 2  →  perpendicular gradient m₂ = −½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−½x + c.  Substitute (4, 3):  3 = −2 + c  →  c = 5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= −½x + 5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−½x + 5     (check: 2 × −½ = −1 ✓)</a:t>
            </a:r>
            <a:endParaRPr lang="en-US" sz="2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WORKED · EXAM STYLE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Are These Two Lines Parallel?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554480"/>
            <a:ext cx="6126480" cy="3246120"/>
          </a:xfrm>
          <a:prstGeom prst="roundRect">
            <a:avLst>
              <a:gd name="adj" fmla="val 1690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903720" y="1554480"/>
            <a:ext cx="4727448" cy="3246120"/>
          </a:xfrm>
          <a:prstGeom prst="roundRect">
            <a:avLst>
              <a:gd name="adj" fmla="val 1690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7178040" y="175564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C84F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7223760" y="2240280"/>
            <a:ext cx="4206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BOTH gradients into comparable form.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Rearrange the equation; use rise÷run for the points.</a:t>
            </a:r>
            <a:endParaRPr lang="en-US" sz="1350" dirty="0"/>
          </a:p>
          <a:p>
            <a:pPr marL="0" indent="0">
              <a:spcAft>
                <a:spcPts val="800"/>
              </a:spcAft>
              <a:buNone/>
            </a:pPr>
            <a:r>
              <a:rPr lang="en-US" sz="135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clearly whether they are equal.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6928" y="6327648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C6B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your working — the marks are for the two gradients.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68680" y="184708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7" name="Text 45"/>
          <p:cNvSpPr/>
          <p:nvPr/>
        </p:nvSpPr>
        <p:spPr>
          <a:xfrm>
            <a:off x="868680" y="1847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1362456" y="181051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A:  3x − 4y = 5.   Line B: through (4, 7) and (−1, 3).</a:t>
            </a:r>
            <a:endParaRPr lang="en-US" sz="1400" dirty="0"/>
          </a:p>
        </p:txBody>
      </p:sp>
      <p:sp>
        <p:nvSpPr>
          <p:cNvPr id="49" name="Shape 47"/>
          <p:cNvSpPr/>
          <p:nvPr/>
        </p:nvSpPr>
        <p:spPr>
          <a:xfrm>
            <a:off x="868680" y="257860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0" name="Text 48"/>
          <p:cNvSpPr/>
          <p:nvPr/>
        </p:nvSpPr>
        <p:spPr>
          <a:xfrm>
            <a:off x="868680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1362456" y="254203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A:  4y = 3x − 5  →  y = ¾x − 1.25   →  m = ¾</a:t>
            </a:r>
            <a:endParaRPr lang="en-US" sz="1400" dirty="0"/>
          </a:p>
        </p:txBody>
      </p:sp>
      <p:sp>
        <p:nvSpPr>
          <p:cNvPr id="52" name="Shape 50"/>
          <p:cNvSpPr/>
          <p:nvPr/>
        </p:nvSpPr>
        <p:spPr>
          <a:xfrm>
            <a:off x="868680" y="331012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3" name="Text 51"/>
          <p:cNvSpPr/>
          <p:nvPr/>
        </p:nvSpPr>
        <p:spPr>
          <a:xfrm>
            <a:off x="868680" y="3310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54" name="Text 52"/>
          <p:cNvSpPr/>
          <p:nvPr/>
        </p:nvSpPr>
        <p:spPr>
          <a:xfrm>
            <a:off x="1362456" y="327355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B:  m = (7 − 3) ÷ (4 − (−1)) = 4 ÷ 5 = ⁴⁄₅</a:t>
            </a:r>
            <a:endParaRPr lang="en-US" sz="1400" dirty="0"/>
          </a:p>
        </p:txBody>
      </p:sp>
      <p:sp>
        <p:nvSpPr>
          <p:cNvPr id="55" name="Shape 53"/>
          <p:cNvSpPr/>
          <p:nvPr/>
        </p:nvSpPr>
        <p:spPr>
          <a:xfrm>
            <a:off x="868680" y="4041648"/>
            <a:ext cx="329184" cy="329184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6" name="Text 54"/>
          <p:cNvSpPr/>
          <p:nvPr/>
        </p:nvSpPr>
        <p:spPr>
          <a:xfrm>
            <a:off x="8686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1362456" y="4005072"/>
            <a:ext cx="5486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C2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¾ ≠ ⁴⁄₅,  so  </a:t>
            </a:r>
            <a:r>
              <a:rPr lang="en-US" sz="1400" b="1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parallel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566928" y="5074920"/>
            <a:ext cx="11064240" cy="1143000"/>
          </a:xfrm>
          <a:prstGeom prst="roundRect">
            <a:avLst>
              <a:gd name="adj" fmla="val 4800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841248" y="5074920"/>
            <a:ext cx="10515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mₐ = ¾,  mₑ = ⁴⁄₅  →  not parallel</a:t>
            </a:r>
            <a:endParaRPr lang="en-US" sz="2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6916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Past-Paper Questions</a:t>
            </a:r>
            <a:endParaRPr lang="en-US" sz="4400" dirty="0"/>
          </a:p>
        </p:txBody>
      </p:sp>
      <p:sp>
        <p:nvSpPr>
          <p:cNvPr id="41" name="Text 39"/>
          <p:cNvSpPr/>
          <p:nvPr/>
        </p:nvSpPr>
        <p:spPr>
          <a:xfrm>
            <a:off x="804672" y="269748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Rearrange, compare gradients, then answer.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868680" y="3611880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3611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44" name="Text 42"/>
          <p:cNvSpPr/>
          <p:nvPr/>
        </p:nvSpPr>
        <p:spPr>
          <a:xfrm>
            <a:off x="1554480" y="3611880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Rearrange each line to y = mx + c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868680" y="4325112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6" name="Text 44"/>
          <p:cNvSpPr/>
          <p:nvPr/>
        </p:nvSpPr>
        <p:spPr>
          <a:xfrm>
            <a:off x="868680" y="432511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1554480" y="4325112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 → parallel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868680" y="5038344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503834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50" name="Text 48"/>
          <p:cNvSpPr/>
          <p:nvPr/>
        </p:nvSpPr>
        <p:spPr>
          <a:xfrm>
            <a:off x="1554480" y="5038344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m₁ × m₂ = −1 → perpendicular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868680" y="5751576"/>
            <a:ext cx="475488" cy="475488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2" name="Text 50"/>
          <p:cNvSpPr/>
          <p:nvPr/>
        </p:nvSpPr>
        <p:spPr>
          <a:xfrm>
            <a:off x="868680" y="5751576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1554480" y="5751576"/>
            <a:ext cx="100584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Substitute a point to find c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(1 of 3)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Identifying Parallel Lines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Here are four straight lines.  A: y = 2x + 3   B: 2y = 6 − 3x   C: 4x − 2y = 3   D: y = 3 − 2x.  Two of these lines are parallel. Which two?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and C  (both m = 2)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A has equation 3x − 4y = 5. Line B goes through (4, 7) and (−1, 3). Are lines A and B parallel? Show your working.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No:  ¾ ≠ ⁴⁄₅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down the gradient of a line parallel to  y = 5 − 4x.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−4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 animBg="1"/>
      <p:bldP spid="5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(2 of 3)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Finding Parallel &amp; Perpendicular Lines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 equation of the line parallel to y = 3x − 2 that passes through the point (2, 9).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3x + 3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 equation of the line perpendicular to y = 2x + 5 that passes through (6, 1).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−½x + 4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line is perpendicular to y = −¼x + 7. Write down its gradient.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4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 animBg="1"/>
      <p:bldP spid="5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6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E4E2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66928" y="420624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566928" y="4206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325880" y="402336"/>
            <a:ext cx="10241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250" dirty="0">
                <a:solidFill>
                  <a:srgbClr val="C84F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PAST-PAPER QUESTIONS (3 of 3)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1325880" y="676656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Harder — Rearranging First</a:t>
            </a:r>
            <a:endParaRPr lang="en-US" sz="2700" dirty="0"/>
          </a:p>
        </p:txBody>
      </p:sp>
      <p:sp>
        <p:nvSpPr>
          <p:cNvPr id="41" name="Shape 39"/>
          <p:cNvSpPr/>
          <p:nvPr/>
        </p:nvSpPr>
        <p:spPr>
          <a:xfrm>
            <a:off x="566928" y="169164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868680" y="214884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3" name="Text 41"/>
          <p:cNvSpPr/>
          <p:nvPr/>
        </p:nvSpPr>
        <p:spPr>
          <a:xfrm>
            <a:off x="8686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1481328" y="180136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 L has equation 2y + 7x = 10. Find the gradient of a line perpendicular to L.</a:t>
            </a:r>
            <a:endParaRPr lang="en-US" sz="1250" dirty="0"/>
          </a:p>
        </p:txBody>
      </p:sp>
      <p:sp>
        <p:nvSpPr>
          <p:cNvPr id="45" name="Shape 43"/>
          <p:cNvSpPr/>
          <p:nvPr/>
        </p:nvSpPr>
        <p:spPr>
          <a:xfrm>
            <a:off x="9326880" y="207568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46" name="Text 44"/>
          <p:cNvSpPr/>
          <p:nvPr/>
        </p:nvSpPr>
        <p:spPr>
          <a:xfrm>
            <a:off x="9326880" y="207568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 = ²⁄₇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66928" y="324612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FBF3DD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68680" y="370332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49" name="Text 47"/>
          <p:cNvSpPr/>
          <p:nvPr/>
        </p:nvSpPr>
        <p:spPr>
          <a:xfrm>
            <a:off x="8686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1481328" y="335584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an equation of the line perpendicular to 5x + 2y = 7 passing through (5, 4). Give your answer as y = mx + c.</a:t>
            </a:r>
            <a:endParaRPr lang="en-US" sz="1250" dirty="0"/>
          </a:p>
        </p:txBody>
      </p:sp>
      <p:sp>
        <p:nvSpPr>
          <p:cNvPr id="51" name="Shape 49"/>
          <p:cNvSpPr/>
          <p:nvPr/>
        </p:nvSpPr>
        <p:spPr>
          <a:xfrm>
            <a:off x="9326880" y="363016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2" name="Text 50"/>
          <p:cNvSpPr/>
          <p:nvPr/>
        </p:nvSpPr>
        <p:spPr>
          <a:xfrm>
            <a:off x="9326880" y="363016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⅖x + 2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66928" y="4800600"/>
            <a:ext cx="11064240" cy="1417320"/>
          </a:xfrm>
          <a:prstGeom prst="roundRect">
            <a:avLst>
              <a:gd name="adj" fmla="val 3871"/>
            </a:avLst>
          </a:prstGeom>
          <a:solidFill>
            <a:srgbClr val="EEF1E8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868680" y="5257800"/>
            <a:ext cx="457200" cy="457200"/>
          </a:xfrm>
          <a:prstGeom prst="ellipse">
            <a:avLst/>
          </a:prstGeom>
          <a:solidFill>
            <a:srgbClr val="C84F2F"/>
          </a:solidFill>
          <a:ln/>
        </p:spPr>
      </p:sp>
      <p:sp>
        <p:nvSpPr>
          <p:cNvPr id="55" name="Text 53"/>
          <p:cNvSpPr/>
          <p:nvPr/>
        </p:nvSpPr>
        <p:spPr>
          <a:xfrm>
            <a:off x="868680" y="5257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1600" dirty="0"/>
          </a:p>
        </p:txBody>
      </p:sp>
      <p:sp>
        <p:nvSpPr>
          <p:cNvPr id="56" name="Text 54"/>
          <p:cNvSpPr/>
          <p:nvPr/>
        </p:nvSpPr>
        <p:spPr>
          <a:xfrm>
            <a:off x="1481328" y="4910328"/>
            <a:ext cx="763524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C2A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line L passes through (1, 2) and (5, 10). Find an equation of the line perpendicular to L through (4, 6).</a:t>
            </a:r>
            <a:endParaRPr lang="en-US" sz="1250" dirty="0"/>
          </a:p>
        </p:txBody>
      </p:sp>
      <p:sp>
        <p:nvSpPr>
          <p:cNvPr id="57" name="Shape 55"/>
          <p:cNvSpPr/>
          <p:nvPr/>
        </p:nvSpPr>
        <p:spPr>
          <a:xfrm>
            <a:off x="9326880" y="5184648"/>
            <a:ext cx="2121408" cy="658368"/>
          </a:xfrm>
          <a:prstGeom prst="roundRect">
            <a:avLst>
              <a:gd name="adj" fmla="val 6944"/>
            </a:avLst>
          </a:prstGeom>
          <a:solidFill>
            <a:srgbClr val="16261F"/>
          </a:solidFill>
          <a:ln/>
        </p:spPr>
      </p:sp>
      <p:sp>
        <p:nvSpPr>
          <p:cNvPr id="58" name="Text 56"/>
          <p:cNvSpPr/>
          <p:nvPr/>
        </p:nvSpPr>
        <p:spPr>
          <a:xfrm>
            <a:off x="9326880" y="5184648"/>
            <a:ext cx="21214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spcAft>
                <a:spcPts val="200"/>
              </a:spcAft>
              <a:buNone/>
            </a:pPr>
            <a:r>
              <a:rPr lang="en-US" sz="850" b="1" kern="0" spc="100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ANSWER</a:t>
            </a:r>
            <a:endParaRPr lang="en-US" sz="8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−½x + 8</a:t>
            </a:r>
            <a:endParaRPr lang="en-US" sz="85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 animBg="1"/>
      <p:bldP spid="5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A2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6692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3385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0078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6771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83464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0156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6849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3542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10235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3620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0313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7006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93699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50392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07084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637776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204704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771632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1338560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905488" y="0"/>
            <a:ext cx="0" cy="685800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56692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113385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170078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226771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283464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0" y="340156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0" y="396849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0" y="4535424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0" y="5102352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0" y="5669280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0" y="6236208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6803136"/>
            <a:ext cx="12191695" cy="0"/>
          </a:xfrm>
          <a:prstGeom prst="line">
            <a:avLst/>
          </a:prstGeom>
          <a:noFill/>
          <a:ln w="6350">
            <a:solidFill>
              <a:srgbClr val="26342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77240" y="640080"/>
            <a:ext cx="603504" cy="603504"/>
          </a:xfrm>
          <a:prstGeom prst="roundRect">
            <a:avLst>
              <a:gd name="adj" fmla="val 15152"/>
            </a:avLst>
          </a:prstGeom>
          <a:solidFill>
            <a:srgbClr val="E8623D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64008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8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Zπ</a:t>
            </a:r>
            <a:endParaRPr lang="en-US" sz="1980" dirty="0"/>
          </a:p>
        </p:txBody>
      </p:sp>
      <p:sp>
        <p:nvSpPr>
          <p:cNvPr id="39" name="Text 37"/>
          <p:cNvSpPr/>
          <p:nvPr/>
        </p:nvSpPr>
        <p:spPr>
          <a:xfrm>
            <a:off x="1554480" y="676656"/>
            <a:ext cx="7315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300" dirty="0">
                <a:solidFill>
                  <a:srgbClr val="E0AC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250" dirty="0"/>
          </a:p>
        </p:txBody>
      </p:sp>
      <p:sp>
        <p:nvSpPr>
          <p:cNvPr id="40" name="Text 38"/>
          <p:cNvSpPr/>
          <p:nvPr/>
        </p:nvSpPr>
        <p:spPr>
          <a:xfrm>
            <a:off x="777240" y="1371600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Takeaways</a:t>
            </a:r>
            <a:endParaRPr lang="en-US" sz="3800" dirty="0"/>
          </a:p>
        </p:txBody>
      </p:sp>
      <p:sp>
        <p:nvSpPr>
          <p:cNvPr id="41" name="Shape 39"/>
          <p:cNvSpPr/>
          <p:nvPr/>
        </p:nvSpPr>
        <p:spPr>
          <a:xfrm>
            <a:off x="868680" y="2368296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2" name="Text 40"/>
          <p:cNvSpPr/>
          <p:nvPr/>
        </p:nvSpPr>
        <p:spPr>
          <a:xfrm>
            <a:off x="1234440" y="233172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lines have the SAME gradient:  m₁ = m₂.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868680" y="2935224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4" name="Text 42"/>
          <p:cNvSpPr/>
          <p:nvPr/>
        </p:nvSpPr>
        <p:spPr>
          <a:xfrm>
            <a:off x="1234440" y="2898648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Perpendicular gradients multiply to −1:  m₁ × m₂ = −1.</a:t>
            </a:r>
            <a:endParaRPr lang="en-US" sz="1500" dirty="0"/>
          </a:p>
        </p:txBody>
      </p:sp>
      <p:sp>
        <p:nvSpPr>
          <p:cNvPr id="45" name="Shape 43"/>
          <p:cNvSpPr/>
          <p:nvPr/>
        </p:nvSpPr>
        <p:spPr>
          <a:xfrm>
            <a:off x="868680" y="3502152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6" name="Text 44"/>
          <p:cNvSpPr/>
          <p:nvPr/>
        </p:nvSpPr>
        <p:spPr>
          <a:xfrm>
            <a:off x="1234440" y="3465576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perpendicular gradient is the NEGATIVE RECIPROCAL: flip it, change the sign.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868680" y="4069080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48" name="Text 46"/>
          <p:cNvSpPr/>
          <p:nvPr/>
        </p:nvSpPr>
        <p:spPr>
          <a:xfrm>
            <a:off x="1234440" y="4032504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rearrange to y = mx + c before comparing gradients.</a:t>
            </a:r>
            <a:endParaRPr lang="en-US" sz="1500" dirty="0"/>
          </a:p>
        </p:txBody>
      </p:sp>
      <p:sp>
        <p:nvSpPr>
          <p:cNvPr id="49" name="Shape 47"/>
          <p:cNvSpPr/>
          <p:nvPr/>
        </p:nvSpPr>
        <p:spPr>
          <a:xfrm>
            <a:off x="868680" y="4636008"/>
            <a:ext cx="182880" cy="182880"/>
          </a:xfrm>
          <a:prstGeom prst="ellipse">
            <a:avLst/>
          </a:prstGeom>
          <a:solidFill>
            <a:srgbClr val="E8623D"/>
          </a:solidFill>
          <a:ln/>
        </p:spPr>
      </p:sp>
      <p:sp>
        <p:nvSpPr>
          <p:cNvPr id="50" name="Text 48"/>
          <p:cNvSpPr/>
          <p:nvPr/>
        </p:nvSpPr>
        <p:spPr>
          <a:xfrm>
            <a:off x="1234440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EDEB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substitute the given point to find the new c.</a:t>
            </a:r>
            <a:endParaRPr lang="en-US" sz="1500" dirty="0"/>
          </a:p>
        </p:txBody>
      </p:sp>
      <p:sp>
        <p:nvSpPr>
          <p:cNvPr id="51" name="Shape 49"/>
          <p:cNvSpPr/>
          <p:nvPr/>
        </p:nvSpPr>
        <p:spPr>
          <a:xfrm>
            <a:off x="777240" y="5440680"/>
            <a:ext cx="10607040" cy="868680"/>
          </a:xfrm>
          <a:prstGeom prst="roundRect">
            <a:avLst>
              <a:gd name="adj" fmla="val 6316"/>
            </a:avLst>
          </a:prstGeom>
          <a:solidFill>
            <a:srgbClr val="16261F"/>
          </a:solidFill>
          <a:ln/>
          <a:effectLst>
            <a:outerShdw blurRad="889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E0AC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Golden rule:  </a:t>
            </a:r>
            <a:r>
              <a:rPr lang="en-US" sz="1700" dirty="0">
                <a:solidFill>
                  <a:srgbClr val="EDEBD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parallel → copy the gradient;  perpendicular → flip it and change the sign.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1268</Words>
  <Application>Microsoft Office PowerPoint</Application>
  <PresentationFormat>Custom</PresentationFormat>
  <Paragraphs>204</Paragraphs>
  <Slides>13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Zahra Sheikh Ali</dc:creator>
  <cp:lastModifiedBy>zahraa sheik ali</cp:lastModifiedBy>
  <cp:revision>2</cp:revision>
  <dcterms:created xsi:type="dcterms:W3CDTF">2026-07-12T09:22:32Z</dcterms:created>
  <dcterms:modified xsi:type="dcterms:W3CDTF">2026-07-23T19:32:15Z</dcterms:modified>
</cp:coreProperties>
</file>