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D949682-9E7C-46EC-B73D-9D7A3891935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2357A1-AC9D-4388-82F7-22EA66BA89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FF570C-F29C-4F98-92AA-F8C92D83061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04A8A3-5755-4B8F-AA4C-209A419F9BC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463198-D18E-4761-A841-561678B1DB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881A7F-9D62-440C-9DA6-F4959932912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FBC545-3F2B-48C2-B78A-A41E1F6F69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4F56CE-1467-4567-BF1D-36901819CF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84A687-1E02-48A0-9603-E1D37250B0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EA4A29-E7E1-4357-AB86-85B3F2FE6E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9F87D0-9D9E-49E9-988D-4789907048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3CEF95-12E3-4A5E-927D-A7E3BCB9682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68CE1D-0222-43A9-8ECD-5E519CAD899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B01BBF-C84B-4C2D-8CCD-C427A2DAF3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7132320" y="100584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000" spc="-1" strike="noStrike">
                <a:solidFill>
                  <a:srgbClr val="33463a"/>
                </a:solidFill>
                <a:latin typeface="Cambria"/>
                <a:ea typeface="Cambria"/>
              </a:rPr>
              <a:t>m₁ × m₂ = −1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Parallel &amp; Perpendicular Lines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Same Gradient · Negative Reciprocal · m₁ × m₂ = −1 · Finding Equations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It All Depends on the Gradient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Two lines are parallel if they have the SAME gradient.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They are perpendicular if their gradients multiply to −1 — the negative reciprocal.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Parallel: same gradient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Perpendicular: m₁ × m₂ = −1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negative reciprocal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Finding a parallel line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Finding a perpendicular line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Reminder: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always rearrange to y = mx + c before comparing gradients.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PARALLEL LINES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Same Gradient, Different Intercept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37160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37160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libri"/>
                <a:ea typeface="Calibri"/>
              </a:rPr>
              <a:t>Parallel lines never meet. 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They are equally steep, so they have the SAME value of m.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1"/>
          <p:cNvSpPr/>
          <p:nvPr/>
        </p:nvSpPr>
        <p:spPr>
          <a:xfrm>
            <a:off x="2194560" y="2286000"/>
            <a:ext cx="7799400" cy="1096920"/>
          </a:xfrm>
          <a:prstGeom prst="roundRect">
            <a:avLst>
              <a:gd name="adj" fmla="val 5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2194560" y="2286000"/>
            <a:ext cx="77994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e0ac2b"/>
                </a:solidFill>
                <a:latin typeface="Cambria"/>
                <a:ea typeface="Cambria"/>
              </a:rPr>
              <a:t>Parallel   →   m₁  =  m₂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3"/>
          <p:cNvSpPr/>
          <p:nvPr/>
        </p:nvSpPr>
        <p:spPr>
          <a:xfrm>
            <a:off x="567000" y="3657600"/>
            <a:ext cx="5440320" cy="1828440"/>
          </a:xfrm>
          <a:prstGeom prst="roundRect">
            <a:avLst>
              <a:gd name="adj" fmla="val 3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4"/>
          <p:cNvSpPr/>
          <p:nvPr/>
        </p:nvSpPr>
        <p:spPr>
          <a:xfrm>
            <a:off x="932760" y="38952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These ARE parallel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5"/>
          <p:cNvSpPr/>
          <p:nvPr/>
        </p:nvSpPr>
        <p:spPr>
          <a:xfrm>
            <a:off x="914400" y="4343400"/>
            <a:ext cx="4754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y = 2x + 3    and    y = 2x − 5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5c6b60"/>
                </a:solidFill>
                <a:latin typeface="Cambria"/>
                <a:ea typeface="Cambria"/>
              </a:rPr>
              <a:t>Both have m = 2 (only c differs).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46"/>
          <p:cNvSpPr/>
          <p:nvPr/>
        </p:nvSpPr>
        <p:spPr>
          <a:xfrm>
            <a:off x="6190560" y="3657600"/>
            <a:ext cx="5440320" cy="1828440"/>
          </a:xfrm>
          <a:prstGeom prst="roundRect">
            <a:avLst>
              <a:gd name="adj" fmla="val 300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7"/>
          <p:cNvSpPr/>
          <p:nvPr/>
        </p:nvSpPr>
        <p:spPr>
          <a:xfrm>
            <a:off x="6556320" y="38952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Careful — rearrange first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6537960" y="4343400"/>
            <a:ext cx="4754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4x − 2y = 3   →   y = 2x − 1.5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5c6b60"/>
                </a:solidFill>
                <a:latin typeface="Cambria"/>
                <a:ea typeface="Cambria"/>
              </a:rPr>
              <a:t>m = 2, so it IS parallel to y = 2x + 3.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9"/>
          <p:cNvSpPr/>
          <p:nvPr/>
        </p:nvSpPr>
        <p:spPr>
          <a:xfrm>
            <a:off x="567000" y="57150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Same m → parallel.  Same m AND same c → they are the same line.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PERPENDICULAR LINES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Negative Reciprocal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39"/>
          <p:cNvSpPr/>
          <p:nvPr/>
        </p:nvSpPr>
        <p:spPr>
          <a:xfrm>
            <a:off x="567000" y="137160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40"/>
          <p:cNvSpPr/>
          <p:nvPr/>
        </p:nvSpPr>
        <p:spPr>
          <a:xfrm>
            <a:off x="887040" y="137160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libri"/>
                <a:ea typeface="Calibri"/>
              </a:rPr>
              <a:t>Perpendicular lines cross at 90°. 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Their gradients multiply to give −1.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41"/>
          <p:cNvSpPr/>
          <p:nvPr/>
        </p:nvSpPr>
        <p:spPr>
          <a:xfrm>
            <a:off x="2194560" y="2240280"/>
            <a:ext cx="7799400" cy="1096920"/>
          </a:xfrm>
          <a:prstGeom prst="roundRect">
            <a:avLst>
              <a:gd name="adj" fmla="val 5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42"/>
          <p:cNvSpPr/>
          <p:nvPr/>
        </p:nvSpPr>
        <p:spPr>
          <a:xfrm>
            <a:off x="2194560" y="2240280"/>
            <a:ext cx="77994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e0ac2b"/>
                </a:solidFill>
                <a:latin typeface="Cambria"/>
                <a:ea typeface="Cambria"/>
              </a:rPr>
              <a:t>Perpendicular   →   m₁  ×  m₂  =  −1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43"/>
          <p:cNvSpPr/>
          <p:nvPr/>
        </p:nvSpPr>
        <p:spPr>
          <a:xfrm>
            <a:off x="567000" y="3611880"/>
            <a:ext cx="1106388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44"/>
          <p:cNvSpPr/>
          <p:nvPr/>
        </p:nvSpPr>
        <p:spPr>
          <a:xfrm>
            <a:off x="914400" y="397764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1c2a22"/>
                </a:solidFill>
                <a:latin typeface="Cambria"/>
                <a:ea typeface="Cambria"/>
              </a:rPr>
              <a:t>So the perpendicular gradient is   m₂  = 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45"/>
          <p:cNvSpPr/>
          <p:nvPr/>
        </p:nvSpPr>
        <p:spPr>
          <a:xfrm>
            <a:off x="5440680" y="4023360"/>
            <a:ext cx="822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46"/>
          <p:cNvSpPr/>
          <p:nvPr/>
        </p:nvSpPr>
        <p:spPr>
          <a:xfrm>
            <a:off x="5440680" y="4297680"/>
            <a:ext cx="822960" cy="360"/>
          </a:xfrm>
          <a:prstGeom prst="line">
            <a:avLst/>
          </a:prstGeom>
          <a:ln w="19050">
            <a:solidFill>
              <a:srgbClr val="c84f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47"/>
          <p:cNvSpPr/>
          <p:nvPr/>
        </p:nvSpPr>
        <p:spPr>
          <a:xfrm>
            <a:off x="5440680" y="4325040"/>
            <a:ext cx="822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m₁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48"/>
          <p:cNvSpPr/>
          <p:nvPr/>
        </p:nvSpPr>
        <p:spPr>
          <a:xfrm>
            <a:off x="6492240" y="3977640"/>
            <a:ext cx="48459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5c6b60"/>
                </a:solidFill>
                <a:latin typeface="Calibri"/>
                <a:ea typeface="Calibri"/>
              </a:rPr>
              <a:t>—  </a:t>
            </a:r>
            <a:r>
              <a:rPr b="0" i="1" lang="en-US" sz="1350" spc="-1" strike="noStrike">
                <a:solidFill>
                  <a:srgbClr val="5c6b60"/>
                </a:solidFill>
                <a:latin typeface="Calibri"/>
                <a:ea typeface="Calibri"/>
              </a:rPr>
              <a:t>turn it upside down and change the sign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49"/>
          <p:cNvSpPr/>
          <p:nvPr/>
        </p:nvSpPr>
        <p:spPr>
          <a:xfrm>
            <a:off x="567000" y="5257800"/>
            <a:ext cx="11063880" cy="1005480"/>
          </a:xfrm>
          <a:prstGeom prst="roundRect">
            <a:avLst>
              <a:gd name="adj" fmla="val 5455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50"/>
          <p:cNvSpPr/>
          <p:nvPr/>
        </p:nvSpPr>
        <p:spPr>
          <a:xfrm>
            <a:off x="841320" y="5257800"/>
            <a:ext cx="10515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‘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Flip it and change the sign’ — that is the negative reciprocal.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Perpendicular Gradients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39"/>
          <p:cNvSpPr/>
          <p:nvPr/>
        </p:nvSpPr>
        <p:spPr>
          <a:xfrm>
            <a:off x="567000" y="137160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40"/>
          <p:cNvSpPr/>
          <p:nvPr/>
        </p:nvSpPr>
        <p:spPr>
          <a:xfrm>
            <a:off x="887040" y="137160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Flip the fraction, change the sign.  Check: the two gradients multiply to −1.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41"/>
          <p:cNvSpPr/>
          <p:nvPr/>
        </p:nvSpPr>
        <p:spPr>
          <a:xfrm>
            <a:off x="567000" y="2194560"/>
            <a:ext cx="370296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42"/>
          <p:cNvSpPr/>
          <p:nvPr/>
        </p:nvSpPr>
        <p:spPr>
          <a:xfrm>
            <a:off x="676800" y="2194560"/>
            <a:ext cx="3483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Gradient  m₁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43"/>
          <p:cNvSpPr/>
          <p:nvPr/>
        </p:nvSpPr>
        <p:spPr>
          <a:xfrm>
            <a:off x="4480560" y="2194560"/>
            <a:ext cx="370296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44"/>
          <p:cNvSpPr/>
          <p:nvPr/>
        </p:nvSpPr>
        <p:spPr>
          <a:xfrm>
            <a:off x="4590360" y="2194560"/>
            <a:ext cx="3483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Perpendicular  m₂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45"/>
          <p:cNvSpPr/>
          <p:nvPr/>
        </p:nvSpPr>
        <p:spPr>
          <a:xfrm>
            <a:off x="8412480" y="2194560"/>
            <a:ext cx="320004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46"/>
          <p:cNvSpPr/>
          <p:nvPr/>
        </p:nvSpPr>
        <p:spPr>
          <a:xfrm>
            <a:off x="8522280" y="2194560"/>
            <a:ext cx="2980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Check  m₁ × m₂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47"/>
          <p:cNvSpPr/>
          <p:nvPr/>
        </p:nvSpPr>
        <p:spPr>
          <a:xfrm>
            <a:off x="567000" y="2724840"/>
            <a:ext cx="37029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48"/>
          <p:cNvSpPr/>
          <p:nvPr/>
        </p:nvSpPr>
        <p:spPr>
          <a:xfrm>
            <a:off x="676800" y="2724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49"/>
          <p:cNvSpPr/>
          <p:nvPr/>
        </p:nvSpPr>
        <p:spPr>
          <a:xfrm>
            <a:off x="4480560" y="2724840"/>
            <a:ext cx="37029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50"/>
          <p:cNvSpPr/>
          <p:nvPr/>
        </p:nvSpPr>
        <p:spPr>
          <a:xfrm>
            <a:off x="4590360" y="2724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−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51"/>
          <p:cNvSpPr/>
          <p:nvPr/>
        </p:nvSpPr>
        <p:spPr>
          <a:xfrm>
            <a:off x="8412480" y="2724840"/>
            <a:ext cx="320004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52"/>
          <p:cNvSpPr/>
          <p:nvPr/>
        </p:nvSpPr>
        <p:spPr>
          <a:xfrm>
            <a:off x="8522280" y="2724840"/>
            <a:ext cx="2980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53"/>
          <p:cNvSpPr/>
          <p:nvPr/>
        </p:nvSpPr>
        <p:spPr>
          <a:xfrm>
            <a:off x="567000" y="3291840"/>
            <a:ext cx="37029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54"/>
          <p:cNvSpPr/>
          <p:nvPr/>
        </p:nvSpPr>
        <p:spPr>
          <a:xfrm>
            <a:off x="676800" y="3291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55"/>
          <p:cNvSpPr/>
          <p:nvPr/>
        </p:nvSpPr>
        <p:spPr>
          <a:xfrm>
            <a:off x="4480560" y="3291840"/>
            <a:ext cx="37029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56"/>
          <p:cNvSpPr/>
          <p:nvPr/>
        </p:nvSpPr>
        <p:spPr>
          <a:xfrm>
            <a:off x="4590360" y="3291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¼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57"/>
          <p:cNvSpPr/>
          <p:nvPr/>
        </p:nvSpPr>
        <p:spPr>
          <a:xfrm>
            <a:off x="8412480" y="3291840"/>
            <a:ext cx="320004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58"/>
          <p:cNvSpPr/>
          <p:nvPr/>
        </p:nvSpPr>
        <p:spPr>
          <a:xfrm>
            <a:off x="8522280" y="3291840"/>
            <a:ext cx="2980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59"/>
          <p:cNvSpPr/>
          <p:nvPr/>
        </p:nvSpPr>
        <p:spPr>
          <a:xfrm>
            <a:off x="567000" y="3858840"/>
            <a:ext cx="37029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60"/>
          <p:cNvSpPr/>
          <p:nvPr/>
        </p:nvSpPr>
        <p:spPr>
          <a:xfrm>
            <a:off x="676800" y="3858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61"/>
          <p:cNvSpPr/>
          <p:nvPr/>
        </p:nvSpPr>
        <p:spPr>
          <a:xfrm>
            <a:off x="4480560" y="3858840"/>
            <a:ext cx="37029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62"/>
          <p:cNvSpPr/>
          <p:nvPr/>
        </p:nvSpPr>
        <p:spPr>
          <a:xfrm>
            <a:off x="4590360" y="3858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− 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63"/>
          <p:cNvSpPr/>
          <p:nvPr/>
        </p:nvSpPr>
        <p:spPr>
          <a:xfrm>
            <a:off x="8412480" y="3858840"/>
            <a:ext cx="320004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64"/>
          <p:cNvSpPr/>
          <p:nvPr/>
        </p:nvSpPr>
        <p:spPr>
          <a:xfrm>
            <a:off x="8522280" y="3858840"/>
            <a:ext cx="2980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65"/>
          <p:cNvSpPr/>
          <p:nvPr/>
        </p:nvSpPr>
        <p:spPr>
          <a:xfrm>
            <a:off x="567000" y="4425840"/>
            <a:ext cx="37029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66"/>
          <p:cNvSpPr/>
          <p:nvPr/>
        </p:nvSpPr>
        <p:spPr>
          <a:xfrm>
            <a:off x="676800" y="4425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½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67"/>
          <p:cNvSpPr/>
          <p:nvPr/>
        </p:nvSpPr>
        <p:spPr>
          <a:xfrm>
            <a:off x="4480560" y="4425840"/>
            <a:ext cx="37029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68"/>
          <p:cNvSpPr/>
          <p:nvPr/>
        </p:nvSpPr>
        <p:spPr>
          <a:xfrm>
            <a:off x="4590360" y="442584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69"/>
          <p:cNvSpPr/>
          <p:nvPr/>
        </p:nvSpPr>
        <p:spPr>
          <a:xfrm>
            <a:off x="8412480" y="4425840"/>
            <a:ext cx="320004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70"/>
          <p:cNvSpPr/>
          <p:nvPr/>
        </p:nvSpPr>
        <p:spPr>
          <a:xfrm>
            <a:off x="8522280" y="4425840"/>
            <a:ext cx="2980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71"/>
          <p:cNvSpPr/>
          <p:nvPr/>
        </p:nvSpPr>
        <p:spPr>
          <a:xfrm>
            <a:off x="567000" y="4992480"/>
            <a:ext cx="37029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72"/>
          <p:cNvSpPr/>
          <p:nvPr/>
        </p:nvSpPr>
        <p:spPr>
          <a:xfrm>
            <a:off x="676800" y="499248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 ⅔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73"/>
          <p:cNvSpPr/>
          <p:nvPr/>
        </p:nvSpPr>
        <p:spPr>
          <a:xfrm>
            <a:off x="4480560" y="4992480"/>
            <a:ext cx="370296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74"/>
          <p:cNvSpPr/>
          <p:nvPr/>
        </p:nvSpPr>
        <p:spPr>
          <a:xfrm>
            <a:off x="4590360" y="499248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 ³⁄₂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75"/>
          <p:cNvSpPr/>
          <p:nvPr/>
        </p:nvSpPr>
        <p:spPr>
          <a:xfrm>
            <a:off x="8412480" y="4992480"/>
            <a:ext cx="3200040" cy="52992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76"/>
          <p:cNvSpPr/>
          <p:nvPr/>
        </p:nvSpPr>
        <p:spPr>
          <a:xfrm>
            <a:off x="8522280" y="4992480"/>
            <a:ext cx="2980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77"/>
          <p:cNvSpPr/>
          <p:nvPr/>
        </p:nvSpPr>
        <p:spPr>
          <a:xfrm>
            <a:off x="567000" y="5559480"/>
            <a:ext cx="37029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78"/>
          <p:cNvSpPr/>
          <p:nvPr/>
        </p:nvSpPr>
        <p:spPr>
          <a:xfrm>
            <a:off x="676800" y="555948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79"/>
          <p:cNvSpPr/>
          <p:nvPr/>
        </p:nvSpPr>
        <p:spPr>
          <a:xfrm>
            <a:off x="4480560" y="5559480"/>
            <a:ext cx="370296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80"/>
          <p:cNvSpPr/>
          <p:nvPr/>
        </p:nvSpPr>
        <p:spPr>
          <a:xfrm>
            <a:off x="4590360" y="5559480"/>
            <a:ext cx="3483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81"/>
          <p:cNvSpPr/>
          <p:nvPr/>
        </p:nvSpPr>
        <p:spPr>
          <a:xfrm>
            <a:off x="8412480" y="5559480"/>
            <a:ext cx="3200040" cy="52992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82"/>
          <p:cNvSpPr/>
          <p:nvPr/>
        </p:nvSpPr>
        <p:spPr>
          <a:xfrm>
            <a:off x="8522280" y="5559480"/>
            <a:ext cx="29804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1" lang="en-US" sz="1600" spc="-1" strike="noStrike">
                <a:solidFill>
                  <a:srgbClr val="1c2a22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83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A whole number m becomes the fraction −1/m;  a fraction flips over.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PARALLEL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a Line Parallel to Another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Copy the gradient from the original line.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Substitute the given point to find the NEW c.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 c always changes — otherwise it is the same line.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If the equation is not in y = mx + c form, rearrange it first.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Find the line parallel to y = 4x + 1 passing through (2, 3).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Parallel → same gradient, so m = 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= 4x + c.  Substitute (2, 3):  3 = 8 + c  →  c = −5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y = 4x − 5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y = 4x − 5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PERPENDICULAR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a Line Perpendicular to Another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Find m₁ (rearrange if needed).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Flip it and change the sign to get m₂.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Substitute the point to find c.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Always check your two gradients multiply to −1.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Find the line perpendicular to y = 2x + 1 through (4, 3).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m₁ = 2  →  perpendicular gradient m₂ = −½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= −½x + c.  Substitute (4, 3):  3 = −2 + c  →  c =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y = −½x + 5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y = −½x + 5     (check: 2 × −½ = −1 ✓)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EXAM STYLE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Are These Two Lines Parallel?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Get BOTH gradients into comparable form.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Rearrange the equation; use rise÷run for the points.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State clearly whether they are equal.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Show your working — the marks are for the two gradients.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Line A:  3x − 4y = 5.   Line B: through (4, 7) and (−1, 3).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A:  4y = 3x − 5  →  y = ¾x − 1.25   →  m = ¾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B:  m = (7 − 3) ÷ (4 − (−1)) = 4 ÷ 5 = ⁴⁄₅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¾ ≠ ⁴⁄₅,  so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NOT parallel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mₐ = ¾,  mₑ = ⁴⁄₅  →  not parallel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Rearrange, compare gradients, then answer.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Rearrange each line to y = mx + 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Same m → parallel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m₁ × m₂ = −1 → perpendicular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Substitute a point to find 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(1 of 3)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Identifying Parallel Lines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Here are four straight lines.  A: y = 2x + 3   B: 2y = 6 − 3x   C: 4x − 2y = 3   D: y = 3 − 2x.  Two of these lines are parallel. Which two?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A and C  (both m = 2)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Line A has equation 3x − 4y = 5. Line B goes through (4, 7) and (−1, 3). Are lines A and B parallel? Show your working.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No:  ¾ ≠ ⁴⁄₅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Write down the gradient of a line parallel to  y = 5 − 4x.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m = −4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7" dur="500"/>
                                        <p:tgtEl>
                                          <p:spTgt spid="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0" dur="500"/>
                                        <p:tgtEl>
                                          <p:spTgt spid="5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5" dur="500"/>
                                        <p:tgtEl>
                                          <p:spTgt spid="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8" dur="500"/>
                                        <p:tgtEl>
                                          <p:spTgt spid="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23" dur="500"/>
                                        <p:tgtEl>
                                          <p:spTgt spid="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26" dur="500"/>
                                        <p:tgtEl>
                                          <p:spTgt spid="5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(2 of 3)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Finding Parallel &amp; Perpendicular Lines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Find an equation of the line parallel to y = 3x − 2 that passes through the point (2, 9).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3x + 3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Find an equation of the line perpendicular to y = 2x + 5 that passes through (6, 1).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−½x + 4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A line is perpendicular to y = −¼x + 7. Write down its gradient.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m = 4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33" dur="500"/>
                                        <p:tgtEl>
                                          <p:spTgt spid="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36" dur="500"/>
                                        <p:tgtEl>
                                          <p:spTgt spid="6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41" dur="500"/>
                                        <p:tgtEl>
                                          <p:spTgt spid="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44" dur="500"/>
                                        <p:tgtEl>
                                          <p:spTgt spid="6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49" dur="500"/>
                                        <p:tgtEl>
                                          <p:spTgt spid="6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52" dur="500"/>
                                        <p:tgtEl>
                                          <p:spTgt spid="6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(3 of 3)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Harder — Rearranging First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7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Line L has equation 2y + 7x = 10. Find the gradient of a line perpendicular to L.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m = ²⁄₇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8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Find an equation of the line perpendicular to 5x + 2y = 7 passing through (5, 4). Give your answer as y = mx + c.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⅖x + 2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9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The line L passes through (1, 2) and (5, 10). Find an equation of the line perpendicular to L through (4, 6).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−½x + 8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3" dur="indefinite" restart="never" nodeType="tmRoot">
          <p:childTnLst>
            <p:seq>
              <p:cTn id="54" dur="indefinite" nodeType="mainSeq">
                <p:childTnLst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59" dur="500"/>
                                        <p:tgtEl>
                                          <p:spTgt spid="6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62" dur="500"/>
                                        <p:tgtEl>
                                          <p:spTgt spid="6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67" dur="500"/>
                                        <p:tgtEl>
                                          <p:spTgt spid="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70" dur="500"/>
                                        <p:tgtEl>
                                          <p:spTgt spid="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75" dur="500"/>
                                        <p:tgtEl>
                                          <p:spTgt spid="7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78" dur="50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0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Parallel lines have the SAME gradient:  m₁ = m₂.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Perpendicular gradients multiply to −1:  m₁ × m₂ = −1.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The perpendicular gradient is the NEGATIVE RECIPROCAL: flip it, change the sign.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Always rearrange to y = mx + c before comparing gradients.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Then substitute the given point to find the new c.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parallel → copy the gradient;  perpendicular → flip it and change the sign.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1268</Words>
  <Paragraphs>204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2026-07-12T09:22:32Z</dcterms:created>
  <dc:creator>Zahra Sheikh Ali</dc:creator>
  <dc:description/>
  <dc:language>en-US</dc:language>
  <cp:lastModifiedBy>zahraa sheik ali</cp:lastModifiedBy>
  <dcterms:modified xsi:type="dcterms:W3CDTF">2026-07-23T19:32:15Z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13</vt:r8>
  </property>
  <property fmtid="{D5CDD505-2E9C-101B-9397-08002B2CF9AE}" pid="3" name="PresentationFormat">
    <vt:lpwstr>Custom</vt:lpwstr>
  </property>
  <property fmtid="{D5CDD505-2E9C-101B-9397-08002B2CF9AE}" pid="4" name="Slides">
    <vt:r8>13</vt:r8>
  </property>
</Properties>
</file>