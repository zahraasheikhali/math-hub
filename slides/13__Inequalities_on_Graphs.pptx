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5" d="100"/>
          <a:sy n="95" d="100"/>
        </p:scale>
        <p:origin x="-178" y="-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8488E9-D540-439B-ABE6-040032838C8B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23D4BA-B118-48FA-A333-3F1FB63D9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247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052560" y="868680"/>
            <a:ext cx="2194560" cy="0"/>
          </a:xfrm>
          <a:prstGeom prst="line">
            <a:avLst/>
          </a:prstGeom>
          <a:noFill/>
          <a:ln w="9525">
            <a:solidFill>
              <a:srgbClr val="E4E2D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052560" y="868680"/>
            <a:ext cx="0" cy="1554480"/>
          </a:xfrm>
          <a:prstGeom prst="line">
            <a:avLst/>
          </a:prstGeom>
          <a:noFill/>
          <a:ln w="9525">
            <a:solidFill>
              <a:srgbClr val="E4E2D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052560" y="1127760"/>
            <a:ext cx="2194560" cy="0"/>
          </a:xfrm>
          <a:prstGeom prst="line">
            <a:avLst/>
          </a:prstGeom>
          <a:noFill/>
          <a:ln w="9525">
            <a:solidFill>
              <a:srgbClr val="E4E2D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418320" y="868680"/>
            <a:ext cx="0" cy="1554480"/>
          </a:xfrm>
          <a:prstGeom prst="line">
            <a:avLst/>
          </a:prstGeom>
          <a:noFill/>
          <a:ln w="9525">
            <a:solidFill>
              <a:srgbClr val="E4E2D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052560" y="1386840"/>
            <a:ext cx="2194560" cy="0"/>
          </a:xfrm>
          <a:prstGeom prst="line">
            <a:avLst/>
          </a:prstGeom>
          <a:noFill/>
          <a:ln w="9525">
            <a:solidFill>
              <a:srgbClr val="E4E2D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784080" y="868680"/>
            <a:ext cx="0" cy="1554480"/>
          </a:xfrm>
          <a:prstGeom prst="line">
            <a:avLst/>
          </a:prstGeom>
          <a:noFill/>
          <a:ln w="9525">
            <a:solidFill>
              <a:srgbClr val="E4E2D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052560" y="1645920"/>
            <a:ext cx="2194560" cy="0"/>
          </a:xfrm>
          <a:prstGeom prst="line">
            <a:avLst/>
          </a:prstGeom>
          <a:noFill/>
          <a:ln w="9525">
            <a:solidFill>
              <a:srgbClr val="E4E2D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149840" y="868680"/>
            <a:ext cx="0" cy="1554480"/>
          </a:xfrm>
          <a:prstGeom prst="line">
            <a:avLst/>
          </a:prstGeom>
          <a:noFill/>
          <a:ln w="9525">
            <a:solidFill>
              <a:srgbClr val="E4E2D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052560" y="1905000"/>
            <a:ext cx="2194560" cy="0"/>
          </a:xfrm>
          <a:prstGeom prst="line">
            <a:avLst/>
          </a:prstGeom>
          <a:noFill/>
          <a:ln w="9525">
            <a:solidFill>
              <a:srgbClr val="E4E2D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515600" y="868680"/>
            <a:ext cx="0" cy="1554480"/>
          </a:xfrm>
          <a:prstGeom prst="line">
            <a:avLst/>
          </a:prstGeom>
          <a:noFill/>
          <a:ln w="9525">
            <a:solidFill>
              <a:srgbClr val="E4E2D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052560" y="2164080"/>
            <a:ext cx="2194560" cy="0"/>
          </a:xfrm>
          <a:prstGeom prst="line">
            <a:avLst/>
          </a:prstGeom>
          <a:noFill/>
          <a:ln w="9525">
            <a:solidFill>
              <a:srgbClr val="E4E2D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881360" y="868680"/>
            <a:ext cx="0" cy="1554480"/>
          </a:xfrm>
          <a:prstGeom prst="line">
            <a:avLst/>
          </a:prstGeom>
          <a:noFill/>
          <a:ln w="9525">
            <a:solidFill>
              <a:srgbClr val="E4E2D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052560" y="2423160"/>
            <a:ext cx="2194560" cy="0"/>
          </a:xfrm>
          <a:prstGeom prst="line">
            <a:avLst/>
          </a:prstGeom>
          <a:noFill/>
          <a:ln w="9525">
            <a:solidFill>
              <a:srgbClr val="E4E2D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247120" y="868680"/>
            <a:ext cx="0" cy="1554480"/>
          </a:xfrm>
          <a:prstGeom prst="line">
            <a:avLst/>
          </a:prstGeom>
          <a:noFill/>
          <a:ln w="9525">
            <a:solidFill>
              <a:srgbClr val="E4E2D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052560" y="1645920"/>
            <a:ext cx="2194560" cy="0"/>
          </a:xfrm>
          <a:prstGeom prst="line">
            <a:avLst/>
          </a:prstGeom>
          <a:noFill/>
          <a:ln w="17780">
            <a:solidFill>
              <a:srgbClr val="1C2A2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149840" y="868680"/>
            <a:ext cx="0" cy="1554480"/>
          </a:xfrm>
          <a:prstGeom prst="line">
            <a:avLst/>
          </a:prstGeom>
          <a:noFill/>
          <a:ln w="17780">
            <a:solidFill>
              <a:srgbClr val="1C2A2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045952" y="168249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0204704" y="8321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9052560" y="1127760"/>
            <a:ext cx="1463040" cy="1295400"/>
          </a:xfrm>
          <a:prstGeom prst="rect">
            <a:avLst/>
          </a:prstGeom>
          <a:solidFill>
            <a:srgbClr val="E0AC2B">
              <a:alpha val="3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0515600" y="868680"/>
            <a:ext cx="0" cy="1554480"/>
          </a:xfrm>
          <a:prstGeom prst="line">
            <a:avLst/>
          </a:prstGeom>
          <a:noFill/>
          <a:ln w="30480">
            <a:solidFill>
              <a:srgbClr val="C84F2F"/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>
            <a:off x="777240" y="6400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623D"/>
          </a:solidFill>
          <a:ln/>
        </p:spPr>
      </p:sp>
      <p:sp>
        <p:nvSpPr>
          <p:cNvPr id="58" name="Text 56"/>
          <p:cNvSpPr/>
          <p:nvPr/>
        </p:nvSpPr>
        <p:spPr>
          <a:xfrm>
            <a:off x="777240" y="640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2160" dirty="0"/>
          </a:p>
        </p:txBody>
      </p:sp>
      <p:sp>
        <p:nvSpPr>
          <p:cNvPr id="59" name="Text 57"/>
          <p:cNvSpPr/>
          <p:nvPr/>
        </p:nvSpPr>
        <p:spPr>
          <a:xfrm>
            <a:off x="1600200" y="60350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Zπ  MATHS HUB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160020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IGCSE (9–1) · Higher Tier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777240" y="22402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Graphing Inequalities</a:t>
            </a:r>
            <a:endParaRPr lang="en-US" sz="3400" dirty="0"/>
          </a:p>
        </p:txBody>
      </p:sp>
      <p:sp>
        <p:nvSpPr>
          <p:cNvPr id="62" name="Text 60"/>
          <p:cNvSpPr/>
          <p:nvPr/>
        </p:nvSpPr>
        <p:spPr>
          <a:xfrm>
            <a:off x="804672" y="33101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Regions on a Graph · Boundary Lines · Dashed or Solid · Shading · Describing a Region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777240" y="4297680"/>
            <a:ext cx="6766560" cy="1691640"/>
          </a:xfrm>
          <a:prstGeom prst="roundRect">
            <a:avLst>
              <a:gd name="adj" fmla="val 3243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1097280" y="449884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Zahra Sheikh Ali</a:t>
            </a:r>
            <a:endParaRPr lang="en-US" sz="2200" dirty="0"/>
          </a:p>
        </p:txBody>
      </p:sp>
      <p:sp>
        <p:nvSpPr>
          <p:cNvPr id="65" name="Text 63"/>
          <p:cNvSpPr/>
          <p:nvPr/>
        </p:nvSpPr>
        <p:spPr>
          <a:xfrm>
            <a:off x="1097280" y="495604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9D2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IGCSE Mathematics Teacher  ·  M.Sc. Differential Geometry &amp; Geometric Control</a:t>
            </a:r>
            <a:endParaRPr lang="en-US" sz="1250" dirty="0"/>
          </a:p>
        </p:txBody>
      </p:sp>
      <p:sp>
        <p:nvSpPr>
          <p:cNvPr id="66" name="Text 64"/>
          <p:cNvSpPr/>
          <p:nvPr/>
        </p:nvSpPr>
        <p:spPr>
          <a:xfrm>
            <a:off x="1097280" y="539496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  66613748      ✉  zahraa.sheikhali@outlook.com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OVERVIEW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Inequalities in Two Variables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481328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48132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inequality like y ≤ 2x + 1 is satisfied by a whole REGION of the graph, not just a line.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boundary line, decide dashed or solid, then shade the correct side.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66928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22960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1435608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Inequalities in two variables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343400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599432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4599432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5212080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boundary line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8119872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375904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375904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8988552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Dashed or solid?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66928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22960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7" name="Text 55"/>
          <p:cNvSpPr/>
          <p:nvPr/>
        </p:nvSpPr>
        <p:spPr>
          <a:xfrm>
            <a:off x="822960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1435608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side to shade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4343400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599432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1" name="Text 59"/>
          <p:cNvSpPr/>
          <p:nvPr/>
        </p:nvSpPr>
        <p:spPr>
          <a:xfrm>
            <a:off x="4599432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5212080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Several regions together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8119872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8375904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5" name="Text 63"/>
          <p:cNvSpPr/>
          <p:nvPr/>
        </p:nvSpPr>
        <p:spPr>
          <a:xfrm>
            <a:off x="8375904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8988552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Past-paper questions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words:  </a:t>
            </a:r>
            <a:r>
              <a:rPr lang="en-US" sz="13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· boundary line · dashed · solid · test point · half-plane · satisfy · shade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IDEA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Inequality Describes a REGION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298448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2984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+ 2y ≤ 8 is a linear inequality in two variables.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 (x, y) is a solution if it makes the inequality true — all such points form a region.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66928" y="2286000"/>
            <a:ext cx="5440680" cy="3108960"/>
          </a:xfrm>
          <a:prstGeom prst="roundRect">
            <a:avLst>
              <a:gd name="adj" fmla="val 1765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932688" y="252374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 point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914400" y="301752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(1, 3) a solution of x + 2y ≤ 8?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+ 2(3) = 7,  and 7 ≤ 8  ✓</a:t>
            </a:r>
            <a:endParaRPr lang="en-US" sz="1500" dirty="0"/>
          </a:p>
          <a:p>
            <a:pPr marL="0" indent="0">
              <a:buNone/>
            </a:pPr>
            <a:r>
              <a:rPr lang="en-US" sz="1250" i="1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(1, 3) lies inside the region.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190488" y="2286000"/>
            <a:ext cx="5440680" cy="3108960"/>
          </a:xfrm>
          <a:prstGeom prst="roundRect">
            <a:avLst>
              <a:gd name="adj" fmla="val 1765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556248" y="252374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steps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6537960" y="30632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Draw the BOUNDARY line.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537960" y="372160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Dashed for &lt; &gt;, solid for ≤ ≥.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537960" y="4379976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Test a point to see which side to shade.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566928" y="553212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841248" y="5532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graph of an inequality is a HALF-PLANE — everything on one side of the boundary.</a:t>
            </a:r>
            <a:endParaRPr lang="en-US" sz="2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BOUNDARY LINE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Dashed or Solid?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298448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298448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type of inequality sign decides the type of line.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66928" y="2194560"/>
            <a:ext cx="5440680" cy="3200400"/>
          </a:xfrm>
          <a:prstGeom prst="roundRect">
            <a:avLst>
              <a:gd name="adj" fmla="val 1714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932688" y="243230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DASHED line:  &lt;  or  &gt;</a:t>
            </a:r>
            <a:endParaRPr lang="en-US" sz="1700" dirty="0"/>
          </a:p>
        </p:txBody>
      </p:sp>
      <p:sp>
        <p:nvSpPr>
          <p:cNvPr id="45" name="Shape 43"/>
          <p:cNvSpPr/>
          <p:nvPr/>
        </p:nvSpPr>
        <p:spPr>
          <a:xfrm>
            <a:off x="1371600" y="2926080"/>
            <a:ext cx="3840480" cy="0"/>
          </a:xfrm>
          <a:prstGeom prst="line">
            <a:avLst/>
          </a:prstGeom>
          <a:noFill/>
          <a:ln w="9525">
            <a:solidFill>
              <a:srgbClr val="E4E2D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71600" y="2926080"/>
            <a:ext cx="0" cy="2103120"/>
          </a:xfrm>
          <a:prstGeom prst="line">
            <a:avLst/>
          </a:prstGeom>
          <a:noFill/>
          <a:ln w="9525">
            <a:solidFill>
              <a:srgbClr val="E4E2D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71600" y="3188970"/>
            <a:ext cx="3840480" cy="0"/>
          </a:xfrm>
          <a:prstGeom prst="line">
            <a:avLst/>
          </a:prstGeom>
          <a:noFill/>
          <a:ln w="9525">
            <a:solidFill>
              <a:srgbClr val="E4E2D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851660" y="2926080"/>
            <a:ext cx="0" cy="2103120"/>
          </a:xfrm>
          <a:prstGeom prst="line">
            <a:avLst/>
          </a:prstGeom>
          <a:noFill/>
          <a:ln w="9525">
            <a:solidFill>
              <a:srgbClr val="E4E2D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71600" y="3451860"/>
            <a:ext cx="3840480" cy="0"/>
          </a:xfrm>
          <a:prstGeom prst="line">
            <a:avLst/>
          </a:prstGeom>
          <a:noFill/>
          <a:ln w="9525">
            <a:solidFill>
              <a:srgbClr val="E4E2D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331720" y="2926080"/>
            <a:ext cx="0" cy="2103120"/>
          </a:xfrm>
          <a:prstGeom prst="line">
            <a:avLst/>
          </a:prstGeom>
          <a:noFill/>
          <a:ln w="9525">
            <a:solidFill>
              <a:srgbClr val="E4E2D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371600" y="3714750"/>
            <a:ext cx="3840480" cy="0"/>
          </a:xfrm>
          <a:prstGeom prst="line">
            <a:avLst/>
          </a:prstGeom>
          <a:noFill/>
          <a:ln w="9525">
            <a:solidFill>
              <a:srgbClr val="E4E2D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811780" y="2926080"/>
            <a:ext cx="0" cy="2103120"/>
          </a:xfrm>
          <a:prstGeom prst="line">
            <a:avLst/>
          </a:prstGeom>
          <a:noFill/>
          <a:ln w="9525">
            <a:solidFill>
              <a:srgbClr val="E4E2D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371600" y="3977640"/>
            <a:ext cx="3840480" cy="0"/>
          </a:xfrm>
          <a:prstGeom prst="line">
            <a:avLst/>
          </a:prstGeom>
          <a:noFill/>
          <a:ln w="9525">
            <a:solidFill>
              <a:srgbClr val="E4E2D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91840" y="2926080"/>
            <a:ext cx="0" cy="2103120"/>
          </a:xfrm>
          <a:prstGeom prst="line">
            <a:avLst/>
          </a:prstGeom>
          <a:noFill/>
          <a:ln w="9525">
            <a:solidFill>
              <a:srgbClr val="E4E2D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371600" y="4240530"/>
            <a:ext cx="3840480" cy="0"/>
          </a:xfrm>
          <a:prstGeom prst="line">
            <a:avLst/>
          </a:prstGeom>
          <a:noFill/>
          <a:ln w="9525">
            <a:solidFill>
              <a:srgbClr val="E4E2D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771900" y="2926080"/>
            <a:ext cx="0" cy="2103120"/>
          </a:xfrm>
          <a:prstGeom prst="line">
            <a:avLst/>
          </a:prstGeom>
          <a:noFill/>
          <a:ln w="9525">
            <a:solidFill>
              <a:srgbClr val="E4E2D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371600" y="4503420"/>
            <a:ext cx="3840480" cy="0"/>
          </a:xfrm>
          <a:prstGeom prst="line">
            <a:avLst/>
          </a:prstGeom>
          <a:noFill/>
          <a:ln w="9525">
            <a:solidFill>
              <a:srgbClr val="E4E2D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251960" y="2926080"/>
            <a:ext cx="0" cy="2103120"/>
          </a:xfrm>
          <a:prstGeom prst="line">
            <a:avLst/>
          </a:prstGeom>
          <a:noFill/>
          <a:ln w="9525">
            <a:solidFill>
              <a:srgbClr val="E4E2D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371600" y="4766310"/>
            <a:ext cx="3840480" cy="0"/>
          </a:xfrm>
          <a:prstGeom prst="line">
            <a:avLst/>
          </a:prstGeom>
          <a:noFill/>
          <a:ln w="9525">
            <a:solidFill>
              <a:srgbClr val="E4E2D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32020" y="2926080"/>
            <a:ext cx="0" cy="2103120"/>
          </a:xfrm>
          <a:prstGeom prst="line">
            <a:avLst/>
          </a:prstGeom>
          <a:noFill/>
          <a:ln w="9525">
            <a:solidFill>
              <a:srgbClr val="E4E2D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371600" y="5029200"/>
            <a:ext cx="3840480" cy="0"/>
          </a:xfrm>
          <a:prstGeom prst="line">
            <a:avLst/>
          </a:prstGeom>
          <a:noFill/>
          <a:ln w="9525">
            <a:solidFill>
              <a:srgbClr val="E4E2D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212080" y="2926080"/>
            <a:ext cx="0" cy="2103120"/>
          </a:xfrm>
          <a:prstGeom prst="line">
            <a:avLst/>
          </a:prstGeom>
          <a:noFill/>
          <a:ln w="9525">
            <a:solidFill>
              <a:srgbClr val="E4E2D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371600" y="3977640"/>
            <a:ext cx="3840480" cy="0"/>
          </a:xfrm>
          <a:prstGeom prst="line">
            <a:avLst/>
          </a:prstGeom>
          <a:noFill/>
          <a:ln w="17780">
            <a:solidFill>
              <a:srgbClr val="1C2A2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291840" y="2926080"/>
            <a:ext cx="0" cy="2103120"/>
          </a:xfrm>
          <a:prstGeom prst="line">
            <a:avLst/>
          </a:prstGeom>
          <a:noFill/>
          <a:ln w="17780">
            <a:solidFill>
              <a:srgbClr val="1C2A2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010912" y="401421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3346704" y="28895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4251960" y="2926080"/>
            <a:ext cx="0" cy="2103120"/>
          </a:xfrm>
          <a:prstGeom prst="line">
            <a:avLst/>
          </a:prstGeom>
          <a:noFill/>
          <a:ln w="30480">
            <a:solidFill>
              <a:srgbClr val="C84F2F"/>
            </a:solidFill>
            <a:prstDash val="dash"/>
          </a:ln>
        </p:spPr>
      </p:sp>
      <p:sp>
        <p:nvSpPr>
          <p:cNvPr id="68" name="Shape 66"/>
          <p:cNvSpPr/>
          <p:nvPr/>
        </p:nvSpPr>
        <p:spPr>
          <a:xfrm>
            <a:off x="1371600" y="2926080"/>
            <a:ext cx="2880360" cy="2103120"/>
          </a:xfrm>
          <a:prstGeom prst="rect">
            <a:avLst/>
          </a:prstGeom>
          <a:solidFill>
            <a:srgbClr val="E0AC2B">
              <a:alpha val="38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822960" y="5074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&lt; 2  — the line is NOT included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6190488" y="2194560"/>
            <a:ext cx="5440680" cy="3200400"/>
          </a:xfrm>
          <a:prstGeom prst="roundRect">
            <a:avLst>
              <a:gd name="adj" fmla="val 1714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6556248" y="243230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SOLID line:  ≤  or  ≥</a:t>
            </a:r>
            <a:endParaRPr lang="en-US" sz="1700" dirty="0"/>
          </a:p>
        </p:txBody>
      </p:sp>
      <p:sp>
        <p:nvSpPr>
          <p:cNvPr id="72" name="Shape 70"/>
          <p:cNvSpPr/>
          <p:nvPr/>
        </p:nvSpPr>
        <p:spPr>
          <a:xfrm>
            <a:off x="6995160" y="2926080"/>
            <a:ext cx="3840480" cy="0"/>
          </a:xfrm>
          <a:prstGeom prst="line">
            <a:avLst/>
          </a:prstGeom>
          <a:noFill/>
          <a:ln w="9525">
            <a:solidFill>
              <a:srgbClr val="E4E2D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995160" y="2926080"/>
            <a:ext cx="0" cy="2103120"/>
          </a:xfrm>
          <a:prstGeom prst="line">
            <a:avLst/>
          </a:prstGeom>
          <a:noFill/>
          <a:ln w="9525">
            <a:solidFill>
              <a:srgbClr val="E4E2D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995160" y="3188970"/>
            <a:ext cx="3840480" cy="0"/>
          </a:xfrm>
          <a:prstGeom prst="line">
            <a:avLst/>
          </a:prstGeom>
          <a:noFill/>
          <a:ln w="9525">
            <a:solidFill>
              <a:srgbClr val="E4E2D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475220" y="2926080"/>
            <a:ext cx="0" cy="2103120"/>
          </a:xfrm>
          <a:prstGeom prst="line">
            <a:avLst/>
          </a:prstGeom>
          <a:noFill/>
          <a:ln w="9525">
            <a:solidFill>
              <a:srgbClr val="E4E2D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995160" y="3451860"/>
            <a:ext cx="3840480" cy="0"/>
          </a:xfrm>
          <a:prstGeom prst="line">
            <a:avLst/>
          </a:prstGeom>
          <a:noFill/>
          <a:ln w="9525">
            <a:solidFill>
              <a:srgbClr val="E4E2D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955280" y="2926080"/>
            <a:ext cx="0" cy="2103120"/>
          </a:xfrm>
          <a:prstGeom prst="line">
            <a:avLst/>
          </a:prstGeom>
          <a:noFill/>
          <a:ln w="9525">
            <a:solidFill>
              <a:srgbClr val="E4E2D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995160" y="3714750"/>
            <a:ext cx="3840480" cy="0"/>
          </a:xfrm>
          <a:prstGeom prst="line">
            <a:avLst/>
          </a:prstGeom>
          <a:noFill/>
          <a:ln w="9525">
            <a:solidFill>
              <a:srgbClr val="E4E2D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435340" y="2926080"/>
            <a:ext cx="0" cy="2103120"/>
          </a:xfrm>
          <a:prstGeom prst="line">
            <a:avLst/>
          </a:prstGeom>
          <a:noFill/>
          <a:ln w="9525">
            <a:solidFill>
              <a:srgbClr val="E4E2D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995160" y="3977640"/>
            <a:ext cx="3840480" cy="0"/>
          </a:xfrm>
          <a:prstGeom prst="line">
            <a:avLst/>
          </a:prstGeom>
          <a:noFill/>
          <a:ln w="9525">
            <a:solidFill>
              <a:srgbClr val="E4E2D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915400" y="2926080"/>
            <a:ext cx="0" cy="2103120"/>
          </a:xfrm>
          <a:prstGeom prst="line">
            <a:avLst/>
          </a:prstGeom>
          <a:noFill/>
          <a:ln w="9525">
            <a:solidFill>
              <a:srgbClr val="E4E2D6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995160" y="4240530"/>
            <a:ext cx="3840480" cy="0"/>
          </a:xfrm>
          <a:prstGeom prst="line">
            <a:avLst/>
          </a:prstGeom>
          <a:noFill/>
          <a:ln w="9525">
            <a:solidFill>
              <a:srgbClr val="E4E2D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395460" y="2926080"/>
            <a:ext cx="0" cy="2103120"/>
          </a:xfrm>
          <a:prstGeom prst="line">
            <a:avLst/>
          </a:prstGeom>
          <a:noFill/>
          <a:ln w="9525">
            <a:solidFill>
              <a:srgbClr val="E4E2D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995160" y="4503420"/>
            <a:ext cx="3840480" cy="0"/>
          </a:xfrm>
          <a:prstGeom prst="line">
            <a:avLst/>
          </a:prstGeom>
          <a:noFill/>
          <a:ln w="9525">
            <a:solidFill>
              <a:srgbClr val="E4E2D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875520" y="2926080"/>
            <a:ext cx="0" cy="2103120"/>
          </a:xfrm>
          <a:prstGeom prst="line">
            <a:avLst/>
          </a:prstGeom>
          <a:noFill/>
          <a:ln w="9525">
            <a:solidFill>
              <a:srgbClr val="E4E2D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995160" y="4766310"/>
            <a:ext cx="3840480" cy="0"/>
          </a:xfrm>
          <a:prstGeom prst="line">
            <a:avLst/>
          </a:prstGeom>
          <a:noFill/>
          <a:ln w="9525">
            <a:solidFill>
              <a:srgbClr val="E4E2D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355580" y="2926080"/>
            <a:ext cx="0" cy="2103120"/>
          </a:xfrm>
          <a:prstGeom prst="line">
            <a:avLst/>
          </a:prstGeom>
          <a:noFill/>
          <a:ln w="9525">
            <a:solidFill>
              <a:srgbClr val="E4E2D6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995160" y="5029200"/>
            <a:ext cx="3840480" cy="0"/>
          </a:xfrm>
          <a:prstGeom prst="line">
            <a:avLst/>
          </a:prstGeom>
          <a:noFill/>
          <a:ln w="9525">
            <a:solidFill>
              <a:srgbClr val="E4E2D6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0835640" y="2926080"/>
            <a:ext cx="0" cy="2103120"/>
          </a:xfrm>
          <a:prstGeom prst="line">
            <a:avLst/>
          </a:prstGeom>
          <a:noFill/>
          <a:ln w="9525">
            <a:solidFill>
              <a:srgbClr val="E4E2D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995160" y="3977640"/>
            <a:ext cx="3840480" cy="0"/>
          </a:xfrm>
          <a:prstGeom prst="line">
            <a:avLst/>
          </a:prstGeom>
          <a:noFill/>
          <a:ln w="17780">
            <a:solidFill>
              <a:srgbClr val="1C2A2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915400" y="2926080"/>
            <a:ext cx="0" cy="2103120"/>
          </a:xfrm>
          <a:prstGeom prst="line">
            <a:avLst/>
          </a:prstGeom>
          <a:noFill/>
          <a:ln w="17780">
            <a:solidFill>
              <a:srgbClr val="1C2A22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634472" y="401421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8970264" y="28895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6995160" y="3188970"/>
            <a:ext cx="3840480" cy="0"/>
          </a:xfrm>
          <a:prstGeom prst="line">
            <a:avLst/>
          </a:prstGeom>
          <a:noFill/>
          <a:ln w="30480">
            <a:solidFill>
              <a:srgbClr val="C84F2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995160" y="2926080"/>
            <a:ext cx="3840480" cy="262890"/>
          </a:xfrm>
          <a:prstGeom prst="rect">
            <a:avLst/>
          </a:prstGeom>
          <a:solidFill>
            <a:srgbClr val="E0AC2B">
              <a:alpha val="38000"/>
            </a:srgbClr>
          </a:solidFill>
          <a:ln/>
        </p:spPr>
      </p:sp>
      <p:sp>
        <p:nvSpPr>
          <p:cNvPr id="96" name="Text 94"/>
          <p:cNvSpPr/>
          <p:nvPr/>
        </p:nvSpPr>
        <p:spPr>
          <a:xfrm>
            <a:off x="6446520" y="5074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≥ 3  — the line IS included</a:t>
            </a:r>
            <a:endParaRPr lang="en-US" sz="1150" dirty="0"/>
          </a:p>
        </p:txBody>
      </p:sp>
      <p:sp>
        <p:nvSpPr>
          <p:cNvPr id="97" name="Shape 95"/>
          <p:cNvSpPr/>
          <p:nvPr/>
        </p:nvSpPr>
        <p:spPr>
          <a:xfrm>
            <a:off x="566928" y="557784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8" name="Text 96"/>
          <p:cNvSpPr/>
          <p:nvPr/>
        </p:nvSpPr>
        <p:spPr>
          <a:xfrm>
            <a:off x="841248" y="55778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Strict (&lt; &gt;) → DASHED (not included).   ‘Or equal to’ (≤ ≥) → SOLID (included).</a:t>
            </a:r>
            <a:endParaRPr lang="en-US" sz="2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SIDE TO SHADE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a Test Point — Usually (0, 0)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554480"/>
            <a:ext cx="6126480" cy="324612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903720" y="1554480"/>
            <a:ext cx="4727448" cy="324612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178040" y="1755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223760" y="224028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any point not on the line — (0, 0) is easiest.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it into the inequality.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→ shade that side.  FALSE → shade the other side.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line = y = k;  vertical line = x = k.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line passes through the origin, test another easy point such as (1, 0).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68680" y="184708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7" name="Text 45"/>
          <p:cNvSpPr/>
          <p:nvPr/>
        </p:nvSpPr>
        <p:spPr>
          <a:xfrm>
            <a:off x="868680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362456" y="181051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y ≥ 3.  Boundary: the horizontal line y = 3 (SOLID).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68680" y="257860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0" name="Text 48"/>
          <p:cNvSpPr/>
          <p:nvPr/>
        </p:nvSpPr>
        <p:spPr>
          <a:xfrm>
            <a:off x="868680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362456" y="254203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(0, 0):  is 0 ≥ 3 ?   FALSE.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868680" y="331012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68680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362456" y="327355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(0, 0) is NOT in the region — shade the OTHER side (above the line).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868680" y="404164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6" name="Text 54"/>
          <p:cNvSpPr/>
          <p:nvPr/>
        </p:nvSpPr>
        <p:spPr>
          <a:xfrm>
            <a:off x="868680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1362456" y="40050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x &lt; 2:  test (0,0) → 0 &lt; 2 TRUE, so shade the side containing the origin.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566928" y="507492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41248" y="507492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(0,0): TRUE → shade that side;  FALSE → shade the opposite side</a:t>
            </a:r>
            <a:endParaRPr lang="en-US" sz="2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SLOPING BOUNDARIES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 the Line from a Table of Values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280160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280160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line like y = x − 3, work out two or three points first, join them, then shade.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1195503" y="1956816"/>
            <a:ext cx="596661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44" name="Image 0" descr="/tmp/work/lit/t-sl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367" y="2011680"/>
            <a:ext cx="5856882" cy="3931920"/>
          </a:xfrm>
          <a:prstGeom prst="rect">
            <a:avLst/>
          </a:prstGeom>
        </p:spPr>
      </p:pic>
      <p:sp>
        <p:nvSpPr>
          <p:cNvPr id="45" name="Shape 42"/>
          <p:cNvSpPr/>
          <p:nvPr/>
        </p:nvSpPr>
        <p:spPr>
          <a:xfrm>
            <a:off x="8046720" y="2011680"/>
            <a:ext cx="3584448" cy="3931920"/>
          </a:xfrm>
          <a:prstGeom prst="roundRect">
            <a:avLst>
              <a:gd name="adj" fmla="val 1531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6" name="Text 43"/>
          <p:cNvSpPr/>
          <p:nvPr/>
        </p:nvSpPr>
        <p:spPr>
          <a:xfrm>
            <a:off x="8412480" y="2249424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</a:t>
            </a:r>
            <a:endParaRPr lang="en-US" sz="1700" dirty="0"/>
          </a:p>
        </p:txBody>
      </p:sp>
      <p:sp>
        <p:nvSpPr>
          <p:cNvPr id="47" name="Text 44"/>
          <p:cNvSpPr/>
          <p:nvPr/>
        </p:nvSpPr>
        <p:spPr>
          <a:xfrm>
            <a:off x="8321040" y="2743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Boundary line: y = x − 3.</a:t>
            </a:r>
            <a:endParaRPr lang="en-US" sz="1150" dirty="0"/>
          </a:p>
        </p:txBody>
      </p:sp>
      <p:sp>
        <p:nvSpPr>
          <p:cNvPr id="48" name="Text 45"/>
          <p:cNvSpPr/>
          <p:nvPr/>
        </p:nvSpPr>
        <p:spPr>
          <a:xfrm>
            <a:off x="8321040" y="3246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DASHED, because the sign is &lt;.</a:t>
            </a:r>
            <a:endParaRPr lang="en-US" sz="1150" dirty="0"/>
          </a:p>
        </p:txBody>
      </p:sp>
      <p:sp>
        <p:nvSpPr>
          <p:cNvPr id="49" name="Text 46"/>
          <p:cNvSpPr/>
          <p:nvPr/>
        </p:nvSpPr>
        <p:spPr>
          <a:xfrm>
            <a:off x="8321040" y="3749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0 → y = −3    (0, −3)</a:t>
            </a:r>
            <a:endParaRPr lang="en-US" sz="1150" dirty="0"/>
          </a:p>
        </p:txBody>
      </p:sp>
      <p:sp>
        <p:nvSpPr>
          <p:cNvPr id="50" name="Text 47"/>
          <p:cNvSpPr/>
          <p:nvPr/>
        </p:nvSpPr>
        <p:spPr>
          <a:xfrm>
            <a:off x="8321040" y="4251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2 → y = −1    (2, −1)</a:t>
            </a:r>
            <a:endParaRPr lang="en-US" sz="1150" dirty="0"/>
          </a:p>
        </p:txBody>
      </p:sp>
      <p:sp>
        <p:nvSpPr>
          <p:cNvPr id="51" name="Text 48"/>
          <p:cNvSpPr/>
          <p:nvPr/>
        </p:nvSpPr>
        <p:spPr>
          <a:xfrm>
            <a:off x="8321040" y="4754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 the points, then test (0, 0):</a:t>
            </a:r>
            <a:endParaRPr lang="en-US" sz="1150" dirty="0"/>
          </a:p>
        </p:txBody>
      </p:sp>
      <p:sp>
        <p:nvSpPr>
          <p:cNvPr id="52" name="Text 49"/>
          <p:cNvSpPr/>
          <p:nvPr/>
        </p:nvSpPr>
        <p:spPr>
          <a:xfrm>
            <a:off x="8321040" y="5257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&lt; −3 is FALSE → shade the other side.</a:t>
            </a:r>
            <a:endParaRPr lang="en-US" sz="1150" dirty="0"/>
          </a:p>
        </p:txBody>
      </p:sp>
      <p:sp>
        <p:nvSpPr>
          <p:cNvPr id="53" name="Shape 50"/>
          <p:cNvSpPr/>
          <p:nvPr/>
        </p:nvSpPr>
        <p:spPr>
          <a:xfrm>
            <a:off x="566928" y="608076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4" name="Text 51"/>
          <p:cNvSpPr/>
          <p:nvPr/>
        </p:nvSpPr>
        <p:spPr>
          <a:xfrm>
            <a:off x="841248" y="608076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Substitute easy x-values to get points → join → test a point to decide the side.</a:t>
            </a:r>
            <a:endParaRPr lang="en-US" sz="2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INEQUALITIES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Shade OUT the Unwanted Regions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280160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280160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more than one inequality, the answer is where the regions OVERLAP.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1289213" y="1956816"/>
            <a:ext cx="577919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44" name="Image 0" descr="/tmp/work/lit/t-mult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077" y="2011680"/>
            <a:ext cx="5369544" cy="3723919"/>
          </a:xfrm>
          <a:prstGeom prst="rect">
            <a:avLst/>
          </a:prstGeom>
        </p:spPr>
      </p:pic>
      <p:sp>
        <p:nvSpPr>
          <p:cNvPr id="45" name="Shape 42"/>
          <p:cNvSpPr/>
          <p:nvPr/>
        </p:nvSpPr>
        <p:spPr>
          <a:xfrm>
            <a:off x="8046720" y="2011680"/>
            <a:ext cx="3584448" cy="3931920"/>
          </a:xfrm>
          <a:prstGeom prst="roundRect">
            <a:avLst>
              <a:gd name="adj" fmla="val 1531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6" name="Text 43"/>
          <p:cNvSpPr/>
          <p:nvPr/>
        </p:nvSpPr>
        <p:spPr>
          <a:xfrm>
            <a:off x="8412480" y="2249424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</a:t>
            </a:r>
            <a:endParaRPr lang="en-US" sz="1700" dirty="0"/>
          </a:p>
        </p:txBody>
      </p:sp>
      <p:sp>
        <p:nvSpPr>
          <p:cNvPr id="47" name="Shape 44"/>
          <p:cNvSpPr/>
          <p:nvPr/>
        </p:nvSpPr>
        <p:spPr>
          <a:xfrm>
            <a:off x="8321040" y="2889504"/>
            <a:ext cx="118872" cy="118872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8" name="Text 45"/>
          <p:cNvSpPr/>
          <p:nvPr/>
        </p:nvSpPr>
        <p:spPr>
          <a:xfrm>
            <a:off x="8522208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 every boundary line.</a:t>
            </a:r>
            <a:endParaRPr lang="en-US" sz="1150" dirty="0"/>
          </a:p>
        </p:txBody>
      </p:sp>
      <p:sp>
        <p:nvSpPr>
          <p:cNvPr id="49" name="Shape 46"/>
          <p:cNvSpPr/>
          <p:nvPr/>
        </p:nvSpPr>
        <p:spPr>
          <a:xfrm>
            <a:off x="8321040" y="3392424"/>
            <a:ext cx="118872" cy="118872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0" name="Text 47"/>
          <p:cNvSpPr/>
          <p:nvPr/>
        </p:nvSpPr>
        <p:spPr>
          <a:xfrm>
            <a:off x="8522208" y="3246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Dashed for &lt; &gt; , solid for ≤ ≥.</a:t>
            </a:r>
            <a:endParaRPr lang="en-US" sz="1150" dirty="0"/>
          </a:p>
        </p:txBody>
      </p:sp>
      <p:sp>
        <p:nvSpPr>
          <p:cNvPr id="51" name="Shape 48"/>
          <p:cNvSpPr/>
          <p:nvPr/>
        </p:nvSpPr>
        <p:spPr>
          <a:xfrm>
            <a:off x="8321040" y="3895344"/>
            <a:ext cx="118872" cy="118872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2" name="Text 49"/>
          <p:cNvSpPr/>
          <p:nvPr/>
        </p:nvSpPr>
        <p:spPr>
          <a:xfrm>
            <a:off x="8522208" y="3749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one inequality at a time.</a:t>
            </a:r>
            <a:endParaRPr lang="en-US" sz="1150" dirty="0"/>
          </a:p>
        </p:txBody>
      </p:sp>
      <p:sp>
        <p:nvSpPr>
          <p:cNvPr id="53" name="Shape 50"/>
          <p:cNvSpPr/>
          <p:nvPr/>
        </p:nvSpPr>
        <p:spPr>
          <a:xfrm>
            <a:off x="8321040" y="4398264"/>
            <a:ext cx="118872" cy="118872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4" name="Text 51"/>
          <p:cNvSpPr/>
          <p:nvPr/>
        </p:nvSpPr>
        <p:spPr>
          <a:xfrm>
            <a:off x="8522208" y="4251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Shade OUT what you do not want.</a:t>
            </a:r>
            <a:endParaRPr lang="en-US" sz="1150" dirty="0"/>
          </a:p>
        </p:txBody>
      </p:sp>
      <p:sp>
        <p:nvSpPr>
          <p:cNvPr id="55" name="Shape 52"/>
          <p:cNvSpPr/>
          <p:nvPr/>
        </p:nvSpPr>
        <p:spPr>
          <a:xfrm>
            <a:off x="8321040" y="4901184"/>
            <a:ext cx="118872" cy="118872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6" name="Text 53"/>
          <p:cNvSpPr/>
          <p:nvPr/>
        </p:nvSpPr>
        <p:spPr>
          <a:xfrm>
            <a:off x="8522208" y="4754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clear area left is region R.</a:t>
            </a:r>
            <a:endParaRPr lang="en-US" sz="1150" dirty="0"/>
          </a:p>
        </p:txBody>
      </p:sp>
      <p:sp>
        <p:nvSpPr>
          <p:cNvPr id="57" name="Shape 54"/>
          <p:cNvSpPr/>
          <p:nvPr/>
        </p:nvSpPr>
        <p:spPr>
          <a:xfrm>
            <a:off x="8321040" y="5404104"/>
            <a:ext cx="118872" cy="118872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8" name="Text 55"/>
          <p:cNvSpPr/>
          <p:nvPr/>
        </p:nvSpPr>
        <p:spPr>
          <a:xfrm>
            <a:off x="8522208" y="5257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a point inside fits ALL.</a:t>
            </a:r>
            <a:endParaRPr lang="en-US" sz="1150" dirty="0"/>
          </a:p>
        </p:txBody>
      </p:sp>
      <p:sp>
        <p:nvSpPr>
          <p:cNvPr id="59" name="Shape 56"/>
          <p:cNvSpPr/>
          <p:nvPr/>
        </p:nvSpPr>
        <p:spPr>
          <a:xfrm>
            <a:off x="566928" y="608076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0" name="Text 57"/>
          <p:cNvSpPr/>
          <p:nvPr/>
        </p:nvSpPr>
        <p:spPr>
          <a:xfrm>
            <a:off x="841248" y="608076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Shading out the unwanted parts makes the required overlap easy to see — label it R.</a:t>
            </a:r>
            <a:endParaRPr lang="en-US" sz="2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DESCRIBING A REGION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Lines — Find the Three Inequalities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280160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280160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shaded region is bounded by three lines. Only x + 2y = 8 is given — find the other two.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60725" y="1911096"/>
            <a:ext cx="6138886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44" name="Image 0" descr="/tmp/work/lit/t-thr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589" y="1965960"/>
            <a:ext cx="6029158" cy="3749040"/>
          </a:xfrm>
          <a:prstGeom prst="rect">
            <a:avLst/>
          </a:prstGeom>
        </p:spPr>
      </p:pic>
      <p:sp>
        <p:nvSpPr>
          <p:cNvPr id="45" name="Shape 42"/>
          <p:cNvSpPr/>
          <p:nvPr/>
        </p:nvSpPr>
        <p:spPr>
          <a:xfrm>
            <a:off x="6949440" y="1965960"/>
            <a:ext cx="4681728" cy="3749040"/>
          </a:xfrm>
          <a:prstGeom prst="roundRect">
            <a:avLst>
              <a:gd name="adj" fmla="val 1463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6" name="Text 43"/>
          <p:cNvSpPr/>
          <p:nvPr/>
        </p:nvSpPr>
        <p:spPr>
          <a:xfrm>
            <a:off x="7315200" y="2203704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</a:t>
            </a:r>
            <a:endParaRPr lang="en-US" sz="1700" dirty="0"/>
          </a:p>
        </p:txBody>
      </p:sp>
      <p:sp>
        <p:nvSpPr>
          <p:cNvPr id="47" name="Text 44"/>
          <p:cNvSpPr/>
          <p:nvPr/>
        </p:nvSpPr>
        <p:spPr>
          <a:xfrm>
            <a:off x="7223760" y="269748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The left edge is the y-axis: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x = 0   →   </a:t>
            </a:r>
            <a:r>
              <a:rPr lang="en-US" sz="12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≥ 0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The lower line passes through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(0,0) and (2,2):  y = x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region is above it →   </a:t>
            </a:r>
            <a:r>
              <a:rPr lang="en-US" sz="12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≥ x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The given line:  x + 2y = 8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region is below it →   </a:t>
            </a:r>
            <a:r>
              <a:rPr lang="en-US" sz="12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+ 2y ≤ 8</a:t>
            </a:r>
            <a:endParaRPr lang="en-US" sz="1250" dirty="0"/>
          </a:p>
        </p:txBody>
      </p:sp>
      <p:sp>
        <p:nvSpPr>
          <p:cNvPr id="48" name="Text 45"/>
          <p:cNvSpPr/>
          <p:nvPr/>
        </p:nvSpPr>
        <p:spPr>
          <a:xfrm>
            <a:off x="7223760" y="5440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lines are SOLID, so use ≤ and ≥.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566928" y="594360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0" name="Text 47"/>
          <p:cNvSpPr/>
          <p:nvPr/>
        </p:nvSpPr>
        <p:spPr>
          <a:xfrm>
            <a:off x="841248" y="59436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Answer:   x ≥ 0,    y ≥ x,    x + 2y ≤ 8      (check a point inside, e.g. (1, 2)).</a:t>
            </a:r>
            <a:endParaRPr lang="en-US" sz="2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DESCRIBING A REGION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Method in Three Steps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32588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3258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one boundary line at a time.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 → sign → direction.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66928" y="2286000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68680" y="2459736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5" name="Text 43"/>
          <p:cNvSpPr/>
          <p:nvPr/>
        </p:nvSpPr>
        <p:spPr>
          <a:xfrm>
            <a:off x="868680" y="2459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1508760" y="2286000"/>
            <a:ext cx="9875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EQUATION of each boundary line (y = k, x = k, or y = mx + c).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566928" y="3200400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68680" y="3374136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1508760" y="3200400"/>
            <a:ext cx="9875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the SIGN:  dashed line → &lt; or &gt; ;  solid line → ≤ or ≥.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566928" y="4114800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68680" y="4288536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68680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54" name="Text 52"/>
          <p:cNvSpPr/>
          <p:nvPr/>
        </p:nvSpPr>
        <p:spPr>
          <a:xfrm>
            <a:off x="1508760" y="4114800"/>
            <a:ext cx="9875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the DIRECTION: test a point inside the region in each inequality.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566928" y="5029200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68680" y="5202936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7" name="Text 55"/>
          <p:cNvSpPr/>
          <p:nvPr/>
        </p:nvSpPr>
        <p:spPr>
          <a:xfrm>
            <a:off x="868680" y="5202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58" name="Text 56"/>
          <p:cNvSpPr/>
          <p:nvPr/>
        </p:nvSpPr>
        <p:spPr>
          <a:xfrm>
            <a:off x="1508760" y="5029200"/>
            <a:ext cx="9875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region bounded by three lines needs THREE inequalities.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566928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boundary → y = k;   vertical → x = k;   sloping → find the gradient and intercept.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6916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Past-Paper Questions</a:t>
            </a:r>
            <a:endParaRPr lang="en-US" sz="4400" dirty="0"/>
          </a:p>
        </p:txBody>
      </p:sp>
      <p:sp>
        <p:nvSpPr>
          <p:cNvPr id="41" name="Text 39"/>
          <p:cNvSpPr/>
          <p:nvPr/>
        </p:nvSpPr>
        <p:spPr>
          <a:xfrm>
            <a:off x="804672" y="2697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 each boundary, dashed or solid, shade out the unwanted side, label R.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68680" y="3611880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3611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1554480" y="361188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Boundary line first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868680" y="4325112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6" name="Text 44"/>
          <p:cNvSpPr/>
          <p:nvPr/>
        </p:nvSpPr>
        <p:spPr>
          <a:xfrm>
            <a:off x="868680" y="4325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1554480" y="4325112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Dashed (&lt; &gt;) or solid (≤ ≥)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868680" y="5038344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" y="50383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554480" y="5038344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(0,0) to pick the side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868680" y="5751576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2" name="Text 50"/>
          <p:cNvSpPr/>
          <p:nvPr/>
        </p:nvSpPr>
        <p:spPr>
          <a:xfrm>
            <a:off x="868680" y="5751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1554480" y="5751576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Describing? → equation + sign + test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4214842" y="1408176"/>
            <a:ext cx="3762011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liq/q-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7994" y="1481328"/>
            <a:ext cx="3615707" cy="50749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2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4010469" y="1408176"/>
            <a:ext cx="4170758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liq/q-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3621" y="1481328"/>
            <a:ext cx="4024454" cy="50749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3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4202645" y="1408176"/>
            <a:ext cx="3786406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liq/q-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5797" y="1481328"/>
            <a:ext cx="3640102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4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3936862" y="1408176"/>
            <a:ext cx="4317972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liq/q-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0014" y="1481328"/>
            <a:ext cx="4171668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5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745561" y="1408176"/>
            <a:ext cx="6700573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liq/q-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8713" y="1481328"/>
            <a:ext cx="6554269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6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721069" y="1408176"/>
            <a:ext cx="6749558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liq/q-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221" y="1481328"/>
            <a:ext cx="6603254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7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737809" y="1408176"/>
            <a:ext cx="6716078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liq/q-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0961" y="1481328"/>
            <a:ext cx="6569774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8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951746" y="1408176"/>
            <a:ext cx="6288203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liq/q-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4898" y="1481328"/>
            <a:ext cx="6141899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9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3266213" y="1408176"/>
            <a:ext cx="5659270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liq/q-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9365" y="1481328"/>
            <a:ext cx="5512966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10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4318125" y="1408176"/>
            <a:ext cx="3555445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liq/q-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1277" y="1481328"/>
            <a:ext cx="3409141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11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3972033" y="1408176"/>
            <a:ext cx="4247630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liq/q-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5185" y="1481328"/>
            <a:ext cx="4101326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3716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41" name="Shape 39"/>
          <p:cNvSpPr/>
          <p:nvPr/>
        </p:nvSpPr>
        <p:spPr>
          <a:xfrm>
            <a:off x="868680" y="2368296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2" name="Text 40"/>
          <p:cNvSpPr/>
          <p:nvPr/>
        </p:nvSpPr>
        <p:spPr>
          <a:xfrm>
            <a:off x="1234440" y="23317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inequality in two variables describes a REGION (half-plane), not just a line.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868680" y="2935224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4" name="Text 42"/>
          <p:cNvSpPr/>
          <p:nvPr/>
        </p:nvSpPr>
        <p:spPr>
          <a:xfrm>
            <a:off x="1234440" y="28986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boundary line first: dashed for &lt; &gt;, solid for ≤ ≥.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868680" y="3502152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6" name="Text 44"/>
          <p:cNvSpPr/>
          <p:nvPr/>
        </p:nvSpPr>
        <p:spPr>
          <a:xfrm>
            <a:off x="1234440" y="346557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 point (usually the origin): TRUE → shade that side, FALSE → shade the other.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868680" y="4069080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8" name="Text 46"/>
          <p:cNvSpPr/>
          <p:nvPr/>
        </p:nvSpPr>
        <p:spPr>
          <a:xfrm>
            <a:off x="1234440" y="403250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inequalities: the answer is the overlap — shade out what you don’t want and label R.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868680" y="4636008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50" name="Text 48"/>
          <p:cNvSpPr/>
          <p:nvPr/>
        </p:nvSpPr>
        <p:spPr>
          <a:xfrm>
            <a:off x="1234440" y="459943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DESCRIBE a region: find each line’s equation, choose the sign from dashed/solid, then test a point.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777240" y="5440680"/>
            <a:ext cx="10607040" cy="86868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777240" y="5440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Golden rule:  </a:t>
            </a:r>
            <a:r>
              <a:rPr lang="en-US" sz="17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boundary line → dashed or solid → test a point to decide which side to shade.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1240</Words>
  <Application>Microsoft Office PowerPoint</Application>
  <PresentationFormat>Custom</PresentationFormat>
  <Paragraphs>198</Paragraphs>
  <Slides>22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Zahra Sheikh Ali</dc:creator>
  <cp:lastModifiedBy>zahraa sheik ali</cp:lastModifiedBy>
  <cp:revision>2</cp:revision>
  <dcterms:created xsi:type="dcterms:W3CDTF">2026-07-20T10:52:37Z</dcterms:created>
  <dcterms:modified xsi:type="dcterms:W3CDTF">2026-07-20T11:08:30Z</dcterms:modified>
</cp:coreProperties>
</file>