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  <Override PartName="/ppt/media/image13.png" ContentType="image/png"/>
  <Override PartName="/ppt/media/image4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82787C1-7A2D-47E0-9B8B-60EA97D8C00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934405-437F-4C18-9C4D-CE19B83D60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0FABA3-43AB-4ACA-A924-77180ACAD75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B5D3DA-985C-4015-A419-D584FEFA40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062841-4CA7-4AB1-B73A-5F04AF5179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242554-DD59-4794-8A49-3170263D8D1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3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A01C53-2E9F-4A39-A62B-544654798D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3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443496-BB7C-4AFB-8252-32C79B750A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4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5D3B96-B88D-43B1-B000-6886EAF60C9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4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B2D1E0-9753-4E3D-A3B3-6F53C5C2FDF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4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BA9FCA-B3D3-4AC3-B196-3CFD516919A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4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10BD6B-BC49-452A-81AC-6CD6761847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5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AAE7F7-647D-4657-A4A5-F3A605FDD93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5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57CFF9-8D2D-463C-91BC-108D580B46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5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429116-CC64-4192-AE2B-95AD88F8C8D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6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C84231-63D1-4D1F-BA5C-BFE1351AFFD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6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204841-2618-4449-8AAC-487F19947F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6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5BC041-93EC-4BD5-929D-A8CF8747A9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7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8D8681-C455-449D-95E7-482A2338828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7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D13DEB-A97F-4645-BE52-612FE7C10E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7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EC6B46-2E5A-485A-BD5D-D803497490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7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D40929-146A-4516-B525-45CA75A494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18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8067F8-B41C-4E0B-A832-3129388131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9052560" y="868680"/>
            <a:ext cx="219456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9052560" y="868680"/>
            <a:ext cx="360" cy="155448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9052560" y="1127520"/>
            <a:ext cx="219456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38"/>
          <p:cNvSpPr/>
          <p:nvPr/>
        </p:nvSpPr>
        <p:spPr>
          <a:xfrm>
            <a:off x="9418320" y="868680"/>
            <a:ext cx="360" cy="155448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39"/>
          <p:cNvSpPr/>
          <p:nvPr/>
        </p:nvSpPr>
        <p:spPr>
          <a:xfrm>
            <a:off x="9052560" y="1386720"/>
            <a:ext cx="219456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9784080" y="868680"/>
            <a:ext cx="360" cy="155448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41"/>
          <p:cNvSpPr/>
          <p:nvPr/>
        </p:nvSpPr>
        <p:spPr>
          <a:xfrm>
            <a:off x="9052560" y="1645920"/>
            <a:ext cx="219456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10149840" y="868680"/>
            <a:ext cx="360" cy="155448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9052560" y="1904760"/>
            <a:ext cx="219456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44"/>
          <p:cNvSpPr/>
          <p:nvPr/>
        </p:nvSpPr>
        <p:spPr>
          <a:xfrm>
            <a:off x="10515600" y="868680"/>
            <a:ext cx="360" cy="155448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45"/>
          <p:cNvSpPr/>
          <p:nvPr/>
        </p:nvSpPr>
        <p:spPr>
          <a:xfrm>
            <a:off x="9052560" y="2163960"/>
            <a:ext cx="219456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46"/>
          <p:cNvSpPr/>
          <p:nvPr/>
        </p:nvSpPr>
        <p:spPr>
          <a:xfrm>
            <a:off x="10881360" y="868680"/>
            <a:ext cx="360" cy="155448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47"/>
          <p:cNvSpPr/>
          <p:nvPr/>
        </p:nvSpPr>
        <p:spPr>
          <a:xfrm>
            <a:off x="9052560" y="2423160"/>
            <a:ext cx="219456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48"/>
          <p:cNvSpPr/>
          <p:nvPr/>
        </p:nvSpPr>
        <p:spPr>
          <a:xfrm>
            <a:off x="11247120" y="868680"/>
            <a:ext cx="360" cy="155448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49"/>
          <p:cNvSpPr/>
          <p:nvPr/>
        </p:nvSpPr>
        <p:spPr>
          <a:xfrm>
            <a:off x="9052560" y="1645920"/>
            <a:ext cx="2194560" cy="360"/>
          </a:xfrm>
          <a:prstGeom prst="line">
            <a:avLst/>
          </a:prstGeom>
          <a:ln w="1778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50"/>
          <p:cNvSpPr/>
          <p:nvPr/>
        </p:nvSpPr>
        <p:spPr>
          <a:xfrm>
            <a:off x="10149840" y="868680"/>
            <a:ext cx="360" cy="1554480"/>
          </a:xfrm>
          <a:prstGeom prst="line">
            <a:avLst/>
          </a:prstGeom>
          <a:ln w="1778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51"/>
          <p:cNvSpPr/>
          <p:nvPr/>
        </p:nvSpPr>
        <p:spPr>
          <a:xfrm>
            <a:off x="11045880" y="16826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mbria"/>
                <a:ea typeface="Cambria"/>
              </a:rPr>
              <a:t>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52"/>
          <p:cNvSpPr/>
          <p:nvPr/>
        </p:nvSpPr>
        <p:spPr>
          <a:xfrm>
            <a:off x="10204560" y="8319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mbria"/>
                <a:ea typeface="Cambria"/>
              </a:rPr>
              <a:t>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53"/>
          <p:cNvSpPr/>
          <p:nvPr/>
        </p:nvSpPr>
        <p:spPr>
          <a:xfrm>
            <a:off x="9052560" y="1127880"/>
            <a:ext cx="1462680" cy="1294920"/>
          </a:xfrm>
          <a:prstGeom prst="rect">
            <a:avLst/>
          </a:prstGeom>
          <a:solidFill>
            <a:srgbClr val="e0ac2b">
              <a:alpha val="3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54"/>
          <p:cNvSpPr/>
          <p:nvPr/>
        </p:nvSpPr>
        <p:spPr>
          <a:xfrm>
            <a:off x="10515600" y="868680"/>
            <a:ext cx="360" cy="1554480"/>
          </a:xfrm>
          <a:prstGeom prst="line">
            <a:avLst/>
          </a:prstGeom>
          <a:ln w="30480">
            <a:solidFill>
              <a:srgbClr val="c84f2f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55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56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57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58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59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e0ac2b"/>
                </a:solidFill>
                <a:latin typeface="Cambria"/>
                <a:ea typeface="Cambria"/>
              </a:rPr>
              <a:t>Graphing Inequalities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60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Regions on a Graph · Boundary Lines · Dashed or Solid · Shading · Describing a Region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61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62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63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64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Inequalities in Two Variables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An inequality like y ≤ 2x + 1 is satisfied by a whole REGION of the graph, not just a line.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Draw the boundary line, decide dashed or solid, then shade the correct side.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Inequalities in two variables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boundary line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Dashed or solid?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Which side to shade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Several regions together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region · boundary line · dashed · solid · test point · half-plane · satisfy · shade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An Inequality Describes a REGION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x + 2y ≤ 8 is a linear inequality in two variables.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A point (x, y) is a solution if it makes the inequality true — all such points form a region.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41"/>
          <p:cNvSpPr/>
          <p:nvPr/>
        </p:nvSpPr>
        <p:spPr>
          <a:xfrm>
            <a:off x="567000" y="228600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42"/>
          <p:cNvSpPr/>
          <p:nvPr/>
        </p:nvSpPr>
        <p:spPr>
          <a:xfrm>
            <a:off x="93276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Testing a point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43"/>
          <p:cNvSpPr/>
          <p:nvPr/>
        </p:nvSpPr>
        <p:spPr>
          <a:xfrm>
            <a:off x="914400" y="3017520"/>
            <a:ext cx="47545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Is (1, 3) a solution of x + 2y ≤ 8?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1 + 2(3) = 7,  and 7 ≤ 8  ✓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So (1, 3) lies inside the region.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44"/>
          <p:cNvSpPr/>
          <p:nvPr/>
        </p:nvSpPr>
        <p:spPr>
          <a:xfrm>
            <a:off x="6190560" y="228600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45"/>
          <p:cNvSpPr/>
          <p:nvPr/>
        </p:nvSpPr>
        <p:spPr>
          <a:xfrm>
            <a:off x="655632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The three steps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46"/>
          <p:cNvSpPr/>
          <p:nvPr/>
        </p:nvSpPr>
        <p:spPr>
          <a:xfrm>
            <a:off x="6537960" y="306324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1.  Draw the BOUNDARY line.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47"/>
          <p:cNvSpPr/>
          <p:nvPr/>
        </p:nvSpPr>
        <p:spPr>
          <a:xfrm>
            <a:off x="6537960" y="372168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2.  Dashed for &lt; &gt;, solid for ≤ ≥.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48"/>
          <p:cNvSpPr/>
          <p:nvPr/>
        </p:nvSpPr>
        <p:spPr>
          <a:xfrm>
            <a:off x="6537960" y="438012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3.  Test a point to see which side to shade.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49"/>
          <p:cNvSpPr/>
          <p:nvPr/>
        </p:nvSpPr>
        <p:spPr>
          <a:xfrm>
            <a:off x="567000" y="553212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50"/>
          <p:cNvSpPr/>
          <p:nvPr/>
        </p:nvSpPr>
        <p:spPr>
          <a:xfrm>
            <a:off x="841320" y="5532120"/>
            <a:ext cx="10515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The graph of an inequality is a HALF-PLANE — everything on one side of the boundary.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BOUNDARY LINE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Dashed or Solid?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39"/>
          <p:cNvSpPr/>
          <p:nvPr/>
        </p:nvSpPr>
        <p:spPr>
          <a:xfrm>
            <a:off x="567000" y="1298520"/>
            <a:ext cx="11063880" cy="621360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40"/>
          <p:cNvSpPr/>
          <p:nvPr/>
        </p:nvSpPr>
        <p:spPr>
          <a:xfrm>
            <a:off x="887040" y="1298520"/>
            <a:ext cx="10423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 type of inequality sign decides the type of line.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41"/>
          <p:cNvSpPr/>
          <p:nvPr/>
        </p:nvSpPr>
        <p:spPr>
          <a:xfrm>
            <a:off x="567000" y="219456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42"/>
          <p:cNvSpPr/>
          <p:nvPr/>
        </p:nvSpPr>
        <p:spPr>
          <a:xfrm>
            <a:off x="93276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DASHED line:  &lt;  or  &gt;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43"/>
          <p:cNvSpPr/>
          <p:nvPr/>
        </p:nvSpPr>
        <p:spPr>
          <a:xfrm>
            <a:off x="1371600" y="292608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44"/>
          <p:cNvSpPr/>
          <p:nvPr/>
        </p:nvSpPr>
        <p:spPr>
          <a:xfrm>
            <a:off x="137160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45"/>
          <p:cNvSpPr/>
          <p:nvPr/>
        </p:nvSpPr>
        <p:spPr>
          <a:xfrm>
            <a:off x="1371600" y="318888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46"/>
          <p:cNvSpPr/>
          <p:nvPr/>
        </p:nvSpPr>
        <p:spPr>
          <a:xfrm>
            <a:off x="185148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47"/>
          <p:cNvSpPr/>
          <p:nvPr/>
        </p:nvSpPr>
        <p:spPr>
          <a:xfrm>
            <a:off x="1371600" y="345168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48"/>
          <p:cNvSpPr/>
          <p:nvPr/>
        </p:nvSpPr>
        <p:spPr>
          <a:xfrm>
            <a:off x="233172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49"/>
          <p:cNvSpPr/>
          <p:nvPr/>
        </p:nvSpPr>
        <p:spPr>
          <a:xfrm>
            <a:off x="1371600" y="371448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50"/>
          <p:cNvSpPr/>
          <p:nvPr/>
        </p:nvSpPr>
        <p:spPr>
          <a:xfrm>
            <a:off x="281160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51"/>
          <p:cNvSpPr/>
          <p:nvPr/>
        </p:nvSpPr>
        <p:spPr>
          <a:xfrm>
            <a:off x="1371600" y="397764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52"/>
          <p:cNvSpPr/>
          <p:nvPr/>
        </p:nvSpPr>
        <p:spPr>
          <a:xfrm>
            <a:off x="329184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53"/>
          <p:cNvSpPr/>
          <p:nvPr/>
        </p:nvSpPr>
        <p:spPr>
          <a:xfrm>
            <a:off x="1371600" y="424044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54"/>
          <p:cNvSpPr/>
          <p:nvPr/>
        </p:nvSpPr>
        <p:spPr>
          <a:xfrm>
            <a:off x="377172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55"/>
          <p:cNvSpPr/>
          <p:nvPr/>
        </p:nvSpPr>
        <p:spPr>
          <a:xfrm>
            <a:off x="1371600" y="450324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56"/>
          <p:cNvSpPr/>
          <p:nvPr/>
        </p:nvSpPr>
        <p:spPr>
          <a:xfrm>
            <a:off x="425196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57"/>
          <p:cNvSpPr/>
          <p:nvPr/>
        </p:nvSpPr>
        <p:spPr>
          <a:xfrm>
            <a:off x="1371600" y="476604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58"/>
          <p:cNvSpPr/>
          <p:nvPr/>
        </p:nvSpPr>
        <p:spPr>
          <a:xfrm>
            <a:off x="473184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59"/>
          <p:cNvSpPr/>
          <p:nvPr/>
        </p:nvSpPr>
        <p:spPr>
          <a:xfrm>
            <a:off x="1371600" y="502920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60"/>
          <p:cNvSpPr/>
          <p:nvPr/>
        </p:nvSpPr>
        <p:spPr>
          <a:xfrm>
            <a:off x="521208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61"/>
          <p:cNvSpPr/>
          <p:nvPr/>
        </p:nvSpPr>
        <p:spPr>
          <a:xfrm>
            <a:off x="1371600" y="3977640"/>
            <a:ext cx="3840480" cy="360"/>
          </a:xfrm>
          <a:prstGeom prst="line">
            <a:avLst/>
          </a:prstGeom>
          <a:ln w="1778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62"/>
          <p:cNvSpPr/>
          <p:nvPr/>
        </p:nvSpPr>
        <p:spPr>
          <a:xfrm>
            <a:off x="3291840" y="2926080"/>
            <a:ext cx="360" cy="2103120"/>
          </a:xfrm>
          <a:prstGeom prst="line">
            <a:avLst/>
          </a:prstGeom>
          <a:ln w="1778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63"/>
          <p:cNvSpPr/>
          <p:nvPr/>
        </p:nvSpPr>
        <p:spPr>
          <a:xfrm>
            <a:off x="5010840" y="4014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mbria"/>
                <a:ea typeface="Cambria"/>
              </a:rPr>
              <a:t>x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64"/>
          <p:cNvSpPr/>
          <p:nvPr/>
        </p:nvSpPr>
        <p:spPr>
          <a:xfrm>
            <a:off x="3346560" y="2889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mbria"/>
                <a:ea typeface="Cambria"/>
              </a:rPr>
              <a:t>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65"/>
          <p:cNvSpPr/>
          <p:nvPr/>
        </p:nvSpPr>
        <p:spPr>
          <a:xfrm>
            <a:off x="4251960" y="2926080"/>
            <a:ext cx="360" cy="2103120"/>
          </a:xfrm>
          <a:prstGeom prst="line">
            <a:avLst/>
          </a:prstGeom>
          <a:ln w="30480">
            <a:solidFill>
              <a:srgbClr val="c84f2f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66"/>
          <p:cNvSpPr/>
          <p:nvPr/>
        </p:nvSpPr>
        <p:spPr>
          <a:xfrm>
            <a:off x="1371600" y="2926080"/>
            <a:ext cx="2880000" cy="2102760"/>
          </a:xfrm>
          <a:prstGeom prst="rect">
            <a:avLst/>
          </a:prstGeom>
          <a:solidFill>
            <a:srgbClr val="e0ac2b">
              <a:alpha val="3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67"/>
          <p:cNvSpPr/>
          <p:nvPr/>
        </p:nvSpPr>
        <p:spPr>
          <a:xfrm>
            <a:off x="822960" y="507492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c6b60"/>
                </a:solidFill>
                <a:latin typeface="Calibri"/>
                <a:ea typeface="Calibri"/>
              </a:rPr>
              <a:t>x &lt; 2  — the line is NOT included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68"/>
          <p:cNvSpPr/>
          <p:nvPr/>
        </p:nvSpPr>
        <p:spPr>
          <a:xfrm>
            <a:off x="6190560" y="219456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69"/>
          <p:cNvSpPr/>
          <p:nvPr/>
        </p:nvSpPr>
        <p:spPr>
          <a:xfrm>
            <a:off x="655632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SOLID line:  ≤  or  ≥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70"/>
          <p:cNvSpPr/>
          <p:nvPr/>
        </p:nvSpPr>
        <p:spPr>
          <a:xfrm>
            <a:off x="6995160" y="292608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71"/>
          <p:cNvSpPr/>
          <p:nvPr/>
        </p:nvSpPr>
        <p:spPr>
          <a:xfrm>
            <a:off x="699516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72"/>
          <p:cNvSpPr/>
          <p:nvPr/>
        </p:nvSpPr>
        <p:spPr>
          <a:xfrm>
            <a:off x="6995160" y="318888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73"/>
          <p:cNvSpPr/>
          <p:nvPr/>
        </p:nvSpPr>
        <p:spPr>
          <a:xfrm>
            <a:off x="747504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74"/>
          <p:cNvSpPr/>
          <p:nvPr/>
        </p:nvSpPr>
        <p:spPr>
          <a:xfrm>
            <a:off x="6995160" y="345168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75"/>
          <p:cNvSpPr/>
          <p:nvPr/>
        </p:nvSpPr>
        <p:spPr>
          <a:xfrm>
            <a:off x="795528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76"/>
          <p:cNvSpPr/>
          <p:nvPr/>
        </p:nvSpPr>
        <p:spPr>
          <a:xfrm>
            <a:off x="6995160" y="371448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77"/>
          <p:cNvSpPr/>
          <p:nvPr/>
        </p:nvSpPr>
        <p:spPr>
          <a:xfrm>
            <a:off x="843516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78"/>
          <p:cNvSpPr/>
          <p:nvPr/>
        </p:nvSpPr>
        <p:spPr>
          <a:xfrm>
            <a:off x="6995160" y="397764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79"/>
          <p:cNvSpPr/>
          <p:nvPr/>
        </p:nvSpPr>
        <p:spPr>
          <a:xfrm>
            <a:off x="891540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80"/>
          <p:cNvSpPr/>
          <p:nvPr/>
        </p:nvSpPr>
        <p:spPr>
          <a:xfrm>
            <a:off x="6995160" y="424044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81"/>
          <p:cNvSpPr/>
          <p:nvPr/>
        </p:nvSpPr>
        <p:spPr>
          <a:xfrm>
            <a:off x="939528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82"/>
          <p:cNvSpPr/>
          <p:nvPr/>
        </p:nvSpPr>
        <p:spPr>
          <a:xfrm>
            <a:off x="6995160" y="450324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83"/>
          <p:cNvSpPr/>
          <p:nvPr/>
        </p:nvSpPr>
        <p:spPr>
          <a:xfrm>
            <a:off x="987552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84"/>
          <p:cNvSpPr/>
          <p:nvPr/>
        </p:nvSpPr>
        <p:spPr>
          <a:xfrm>
            <a:off x="6995160" y="476604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85"/>
          <p:cNvSpPr/>
          <p:nvPr/>
        </p:nvSpPr>
        <p:spPr>
          <a:xfrm>
            <a:off x="1035540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86"/>
          <p:cNvSpPr/>
          <p:nvPr/>
        </p:nvSpPr>
        <p:spPr>
          <a:xfrm>
            <a:off x="6995160" y="5029200"/>
            <a:ext cx="3840480" cy="36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87"/>
          <p:cNvSpPr/>
          <p:nvPr/>
        </p:nvSpPr>
        <p:spPr>
          <a:xfrm>
            <a:off x="10835640" y="2926080"/>
            <a:ext cx="360" cy="2103120"/>
          </a:xfrm>
          <a:prstGeom prst="line">
            <a:avLst/>
          </a:prstGeom>
          <a:ln w="9525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88"/>
          <p:cNvSpPr/>
          <p:nvPr/>
        </p:nvSpPr>
        <p:spPr>
          <a:xfrm>
            <a:off x="6995160" y="3977640"/>
            <a:ext cx="3840480" cy="360"/>
          </a:xfrm>
          <a:prstGeom prst="line">
            <a:avLst/>
          </a:prstGeom>
          <a:ln w="1778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89"/>
          <p:cNvSpPr/>
          <p:nvPr/>
        </p:nvSpPr>
        <p:spPr>
          <a:xfrm>
            <a:off x="8915400" y="2926080"/>
            <a:ext cx="360" cy="2103120"/>
          </a:xfrm>
          <a:prstGeom prst="line">
            <a:avLst/>
          </a:prstGeom>
          <a:ln w="1778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90"/>
          <p:cNvSpPr/>
          <p:nvPr/>
        </p:nvSpPr>
        <p:spPr>
          <a:xfrm>
            <a:off x="10634400" y="4014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mbria"/>
                <a:ea typeface="Cambria"/>
              </a:rPr>
              <a:t>x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91"/>
          <p:cNvSpPr/>
          <p:nvPr/>
        </p:nvSpPr>
        <p:spPr>
          <a:xfrm>
            <a:off x="8970120" y="288936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mbria"/>
                <a:ea typeface="Cambria"/>
              </a:rPr>
              <a:t>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92"/>
          <p:cNvSpPr/>
          <p:nvPr/>
        </p:nvSpPr>
        <p:spPr>
          <a:xfrm>
            <a:off x="6995160" y="3188880"/>
            <a:ext cx="3840480" cy="360"/>
          </a:xfrm>
          <a:prstGeom prst="line">
            <a:avLst/>
          </a:prstGeom>
          <a:ln w="3048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93"/>
          <p:cNvSpPr/>
          <p:nvPr/>
        </p:nvSpPr>
        <p:spPr>
          <a:xfrm>
            <a:off x="6995160" y="2926080"/>
            <a:ext cx="3840120" cy="262440"/>
          </a:xfrm>
          <a:prstGeom prst="rect">
            <a:avLst/>
          </a:prstGeom>
          <a:solidFill>
            <a:srgbClr val="e0ac2b">
              <a:alpha val="3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94"/>
          <p:cNvSpPr/>
          <p:nvPr/>
        </p:nvSpPr>
        <p:spPr>
          <a:xfrm>
            <a:off x="6446520" y="507492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c6b60"/>
                </a:solidFill>
                <a:latin typeface="Calibri"/>
                <a:ea typeface="Calibri"/>
              </a:rPr>
              <a:t>y ≥ 3  — the line IS included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95"/>
          <p:cNvSpPr/>
          <p:nvPr/>
        </p:nvSpPr>
        <p:spPr>
          <a:xfrm>
            <a:off x="567000" y="557784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96"/>
          <p:cNvSpPr/>
          <p:nvPr/>
        </p:nvSpPr>
        <p:spPr>
          <a:xfrm>
            <a:off x="841320" y="557784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Strict (&lt; &gt;) → DASHED (not included).   ‘Or equal to’ (≤ ≥) → SOLID (included).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WHICH SIDE TO SHADE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Use a Test Point — Usually (0, 0)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Pick any point not on the line — (0, 0) is easiest.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Substitute it into the inequality.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TRUE → shade that side.  FALSE → shade the other side.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Horizontal line = y = k;  vertical line = x = k.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If the line passes through the origin, test another easy point such as (1, 0).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Graph y ≥ 3.  Boundary: the horizontal line y = 3 (SOLID).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Test (0, 0):  is 0 ≥ 3 ?   FALSE.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(0, 0) is NOT in the region — shade the OTHER side (above the line).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For x &lt; 2:  test (0,0) → 0 &lt; 2 TRUE, so shade the side containing the origin.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Test (0,0): TRUE → shade that side;  FALSE → shade the opposite side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SLOPING BOUNDARIES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Draw the Line from a Table of Values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39"/>
          <p:cNvSpPr/>
          <p:nvPr/>
        </p:nvSpPr>
        <p:spPr>
          <a:xfrm>
            <a:off x="567000" y="128016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40"/>
          <p:cNvSpPr/>
          <p:nvPr/>
        </p:nvSpPr>
        <p:spPr>
          <a:xfrm>
            <a:off x="887040" y="1280160"/>
            <a:ext cx="1042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For a line like y = x − 3, work out two or three points first, join them, then shade.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41"/>
          <p:cNvSpPr/>
          <p:nvPr/>
        </p:nvSpPr>
        <p:spPr>
          <a:xfrm>
            <a:off x="1195560" y="1956960"/>
            <a:ext cx="5966280" cy="404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255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7" name="Image 0" descr="/tmp/work/lit/t-slope.png"/>
          <p:cNvPicPr/>
          <p:nvPr/>
        </p:nvPicPr>
        <p:blipFill>
          <a:blip r:embed="rId1"/>
          <a:stretch/>
        </p:blipFill>
        <p:spPr>
          <a:xfrm>
            <a:off x="1250280" y="2011680"/>
            <a:ext cx="5856480" cy="3931560"/>
          </a:xfrm>
          <a:prstGeom prst="rect">
            <a:avLst/>
          </a:prstGeom>
          <a:ln w="0">
            <a:noFill/>
          </a:ln>
        </p:spPr>
      </p:pic>
      <p:sp>
        <p:nvSpPr>
          <p:cNvPr id="388" name="Shape 42"/>
          <p:cNvSpPr/>
          <p:nvPr/>
        </p:nvSpPr>
        <p:spPr>
          <a:xfrm>
            <a:off x="8046720" y="2011680"/>
            <a:ext cx="3584160" cy="3931560"/>
          </a:xfrm>
          <a:prstGeom prst="roundRect">
            <a:avLst>
              <a:gd name="adj" fmla="val 153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43"/>
          <p:cNvSpPr/>
          <p:nvPr/>
        </p:nvSpPr>
        <p:spPr>
          <a:xfrm>
            <a:off x="8412480" y="2249280"/>
            <a:ext cx="2852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Steps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44"/>
          <p:cNvSpPr/>
          <p:nvPr/>
        </p:nvSpPr>
        <p:spPr>
          <a:xfrm>
            <a:off x="8321040" y="274320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Boundary line: y = x − 3.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 45"/>
          <p:cNvSpPr/>
          <p:nvPr/>
        </p:nvSpPr>
        <p:spPr>
          <a:xfrm>
            <a:off x="8321040" y="324612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DASHED, because the sign is &lt;.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46"/>
          <p:cNvSpPr/>
          <p:nvPr/>
        </p:nvSpPr>
        <p:spPr>
          <a:xfrm>
            <a:off x="8321040" y="37490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x = 0 → y = −3    (0, −3)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47"/>
          <p:cNvSpPr/>
          <p:nvPr/>
        </p:nvSpPr>
        <p:spPr>
          <a:xfrm>
            <a:off x="8321040" y="425196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x = 2 → y = −1    (2, −1)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48"/>
          <p:cNvSpPr/>
          <p:nvPr/>
        </p:nvSpPr>
        <p:spPr>
          <a:xfrm>
            <a:off x="8321040" y="475488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4f2f"/>
                </a:solidFill>
                <a:latin typeface="Cambria"/>
                <a:ea typeface="Cambria"/>
              </a:rPr>
              <a:t>Join the points, then test (0, 0):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49"/>
          <p:cNvSpPr/>
          <p:nvPr/>
        </p:nvSpPr>
        <p:spPr>
          <a:xfrm>
            <a:off x="8321040" y="525780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84f2f"/>
                </a:solidFill>
                <a:latin typeface="Cambria"/>
                <a:ea typeface="Cambria"/>
              </a:rPr>
              <a:t>0 &lt; −3 is FALSE → shade the other side.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50"/>
          <p:cNvSpPr/>
          <p:nvPr/>
        </p:nvSpPr>
        <p:spPr>
          <a:xfrm>
            <a:off x="567000" y="608076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 51"/>
          <p:cNvSpPr/>
          <p:nvPr/>
        </p:nvSpPr>
        <p:spPr>
          <a:xfrm>
            <a:off x="841320" y="608076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Substitute easy x-values to get points → join → test a point to decide the side.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SEVERAL INEQUALITIES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Shade OUT the Unwanted Regions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39"/>
          <p:cNvSpPr/>
          <p:nvPr/>
        </p:nvSpPr>
        <p:spPr>
          <a:xfrm>
            <a:off x="567000" y="128016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 40"/>
          <p:cNvSpPr/>
          <p:nvPr/>
        </p:nvSpPr>
        <p:spPr>
          <a:xfrm>
            <a:off x="887040" y="1280160"/>
            <a:ext cx="1042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With more than one inequality, the answer is where the regions OVERLAP.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41"/>
          <p:cNvSpPr/>
          <p:nvPr/>
        </p:nvSpPr>
        <p:spPr>
          <a:xfrm>
            <a:off x="1289160" y="1956960"/>
            <a:ext cx="5778720" cy="404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255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0" name="Image 0" descr="/tmp/work/lit/t-multi.png"/>
          <p:cNvPicPr/>
          <p:nvPr/>
        </p:nvPicPr>
        <p:blipFill>
          <a:blip r:embed="rId1"/>
          <a:stretch/>
        </p:blipFill>
        <p:spPr>
          <a:xfrm>
            <a:off x="1344240" y="2011680"/>
            <a:ext cx="5369040" cy="3723480"/>
          </a:xfrm>
          <a:prstGeom prst="rect">
            <a:avLst/>
          </a:prstGeom>
          <a:ln w="0">
            <a:noFill/>
          </a:ln>
        </p:spPr>
      </p:pic>
      <p:sp>
        <p:nvSpPr>
          <p:cNvPr id="441" name="Shape 42"/>
          <p:cNvSpPr/>
          <p:nvPr/>
        </p:nvSpPr>
        <p:spPr>
          <a:xfrm>
            <a:off x="8046720" y="2011680"/>
            <a:ext cx="3584160" cy="3931560"/>
          </a:xfrm>
          <a:prstGeom prst="roundRect">
            <a:avLst>
              <a:gd name="adj" fmla="val 153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 43"/>
          <p:cNvSpPr/>
          <p:nvPr/>
        </p:nvSpPr>
        <p:spPr>
          <a:xfrm>
            <a:off x="8412480" y="2249280"/>
            <a:ext cx="2852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Method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44"/>
          <p:cNvSpPr/>
          <p:nvPr/>
        </p:nvSpPr>
        <p:spPr>
          <a:xfrm>
            <a:off x="8321040" y="2889360"/>
            <a:ext cx="118440" cy="1184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 45"/>
          <p:cNvSpPr/>
          <p:nvPr/>
        </p:nvSpPr>
        <p:spPr>
          <a:xfrm>
            <a:off x="8522280" y="274320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Draw every boundary line.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46"/>
          <p:cNvSpPr/>
          <p:nvPr/>
        </p:nvSpPr>
        <p:spPr>
          <a:xfrm>
            <a:off x="8321040" y="3392280"/>
            <a:ext cx="118440" cy="1184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47"/>
          <p:cNvSpPr/>
          <p:nvPr/>
        </p:nvSpPr>
        <p:spPr>
          <a:xfrm>
            <a:off x="8522280" y="324612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Dashed for &lt; &gt; , solid for ≤ ≥.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48"/>
          <p:cNvSpPr/>
          <p:nvPr/>
        </p:nvSpPr>
        <p:spPr>
          <a:xfrm>
            <a:off x="8321040" y="3895200"/>
            <a:ext cx="118440" cy="1184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 49"/>
          <p:cNvSpPr/>
          <p:nvPr/>
        </p:nvSpPr>
        <p:spPr>
          <a:xfrm>
            <a:off x="8522280" y="374904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Take one inequality at a time.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50"/>
          <p:cNvSpPr/>
          <p:nvPr/>
        </p:nvSpPr>
        <p:spPr>
          <a:xfrm>
            <a:off x="8321040" y="4398120"/>
            <a:ext cx="118440" cy="1184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51"/>
          <p:cNvSpPr/>
          <p:nvPr/>
        </p:nvSpPr>
        <p:spPr>
          <a:xfrm>
            <a:off x="8522280" y="42519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Shade OUT what you do not want.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52"/>
          <p:cNvSpPr/>
          <p:nvPr/>
        </p:nvSpPr>
        <p:spPr>
          <a:xfrm>
            <a:off x="8321040" y="4901040"/>
            <a:ext cx="118440" cy="1184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Text 53"/>
          <p:cNvSpPr/>
          <p:nvPr/>
        </p:nvSpPr>
        <p:spPr>
          <a:xfrm>
            <a:off x="8522280" y="475488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The clear area left is region R.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54"/>
          <p:cNvSpPr/>
          <p:nvPr/>
        </p:nvSpPr>
        <p:spPr>
          <a:xfrm>
            <a:off x="8321040" y="5403960"/>
            <a:ext cx="118440" cy="1184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Text 55"/>
          <p:cNvSpPr/>
          <p:nvPr/>
        </p:nvSpPr>
        <p:spPr>
          <a:xfrm>
            <a:off x="8522280" y="525780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c2a22"/>
                </a:solidFill>
                <a:latin typeface="Cambria"/>
                <a:ea typeface="Cambria"/>
              </a:rPr>
              <a:t>Check a point inside fits ALL.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56"/>
          <p:cNvSpPr/>
          <p:nvPr/>
        </p:nvSpPr>
        <p:spPr>
          <a:xfrm>
            <a:off x="567000" y="608076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 57"/>
          <p:cNvSpPr/>
          <p:nvPr/>
        </p:nvSpPr>
        <p:spPr>
          <a:xfrm>
            <a:off x="841320" y="608076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Shading out the unwanted parts makes the required overlap easy to see — label it R.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DESCRIBING A REGION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Three Lines — Find the Three Inequalities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39"/>
          <p:cNvSpPr/>
          <p:nvPr/>
        </p:nvSpPr>
        <p:spPr>
          <a:xfrm>
            <a:off x="567000" y="128016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 40"/>
          <p:cNvSpPr/>
          <p:nvPr/>
        </p:nvSpPr>
        <p:spPr>
          <a:xfrm>
            <a:off x="887040" y="1280160"/>
            <a:ext cx="1042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 shaded region is bounded by three lines. Only x + 2y = 8 is given — find the other two.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41"/>
          <p:cNvSpPr/>
          <p:nvPr/>
        </p:nvSpPr>
        <p:spPr>
          <a:xfrm>
            <a:off x="560880" y="1911240"/>
            <a:ext cx="6138360" cy="3858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255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9" name="Image 0" descr="/tmp/work/lit/t-three.png"/>
          <p:cNvPicPr/>
          <p:nvPr/>
        </p:nvPicPr>
        <p:blipFill>
          <a:blip r:embed="rId1"/>
          <a:stretch/>
        </p:blipFill>
        <p:spPr>
          <a:xfrm>
            <a:off x="615600" y="1965960"/>
            <a:ext cx="6028920" cy="3748680"/>
          </a:xfrm>
          <a:prstGeom prst="rect">
            <a:avLst/>
          </a:prstGeom>
          <a:ln w="0">
            <a:noFill/>
          </a:ln>
        </p:spPr>
      </p:pic>
      <p:sp>
        <p:nvSpPr>
          <p:cNvPr id="500" name="Shape 42"/>
          <p:cNvSpPr/>
          <p:nvPr/>
        </p:nvSpPr>
        <p:spPr>
          <a:xfrm>
            <a:off x="6949440" y="1965960"/>
            <a:ext cx="4681440" cy="3748680"/>
          </a:xfrm>
          <a:prstGeom prst="roundRect">
            <a:avLst>
              <a:gd name="adj" fmla="val 1463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 43"/>
          <p:cNvSpPr/>
          <p:nvPr/>
        </p:nvSpPr>
        <p:spPr>
          <a:xfrm>
            <a:off x="7315200" y="2203560"/>
            <a:ext cx="3949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Working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 44"/>
          <p:cNvSpPr/>
          <p:nvPr/>
        </p:nvSpPr>
        <p:spPr>
          <a:xfrm>
            <a:off x="7223760" y="2697480"/>
            <a:ext cx="42058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1.  The left edge is the y-axis: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    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x = 0   →   </a:t>
            </a: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x ≥ 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2.  The lower line passes through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    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(0,0) and (2,2):  y = x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    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region is above it →   </a:t>
            </a: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y ≥ x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3.  The given line:  x + 2y = 8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      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region is below it →   </a:t>
            </a: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x + 2y ≤ 8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 45"/>
          <p:cNvSpPr/>
          <p:nvPr/>
        </p:nvSpPr>
        <p:spPr>
          <a:xfrm>
            <a:off x="7223760" y="544068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60"/>
                </a:solidFill>
                <a:latin typeface="Calibri"/>
                <a:ea typeface="Calibri"/>
              </a:rPr>
              <a:t>All three lines are SOLID, so use ≤ and ≥.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46"/>
          <p:cNvSpPr/>
          <p:nvPr/>
        </p:nvSpPr>
        <p:spPr>
          <a:xfrm>
            <a:off x="567000" y="5943600"/>
            <a:ext cx="11063880" cy="73116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 47"/>
          <p:cNvSpPr/>
          <p:nvPr/>
        </p:nvSpPr>
        <p:spPr>
          <a:xfrm>
            <a:off x="841320" y="594360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Answer:   x ≥ 0,    y ≥ x,    x + 2y ≤ 8      (check a point inside, e.g. (1, 2)).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DESCRIBING A REGION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Method in Three Steps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Work through one boundary line at a time.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Equation → sign → direction.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41"/>
          <p:cNvSpPr/>
          <p:nvPr/>
        </p:nvSpPr>
        <p:spPr>
          <a:xfrm>
            <a:off x="567000" y="2286000"/>
            <a:ext cx="11063880" cy="804240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42"/>
          <p:cNvSpPr/>
          <p:nvPr/>
        </p:nvSpPr>
        <p:spPr>
          <a:xfrm>
            <a:off x="868680" y="245988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 43"/>
          <p:cNvSpPr/>
          <p:nvPr/>
        </p:nvSpPr>
        <p:spPr>
          <a:xfrm>
            <a:off x="868680" y="24598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 44"/>
          <p:cNvSpPr/>
          <p:nvPr/>
        </p:nvSpPr>
        <p:spPr>
          <a:xfrm>
            <a:off x="1508760" y="2286000"/>
            <a:ext cx="98751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Find the EQUATION of each boundary line (y = k, x = k, or y = mx + c).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45"/>
          <p:cNvSpPr/>
          <p:nvPr/>
        </p:nvSpPr>
        <p:spPr>
          <a:xfrm>
            <a:off x="567000" y="3200400"/>
            <a:ext cx="11063880" cy="804240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46"/>
          <p:cNvSpPr/>
          <p:nvPr/>
        </p:nvSpPr>
        <p:spPr>
          <a:xfrm>
            <a:off x="868680" y="337428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 47"/>
          <p:cNvSpPr/>
          <p:nvPr/>
        </p:nvSpPr>
        <p:spPr>
          <a:xfrm>
            <a:off x="868680" y="33742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 48"/>
          <p:cNvSpPr/>
          <p:nvPr/>
        </p:nvSpPr>
        <p:spPr>
          <a:xfrm>
            <a:off x="1508760" y="3200400"/>
            <a:ext cx="98751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Choose the SIGN:  dashed line → &lt; or &gt; ;  solid line → ≤ or ≥.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49"/>
          <p:cNvSpPr/>
          <p:nvPr/>
        </p:nvSpPr>
        <p:spPr>
          <a:xfrm>
            <a:off x="567000" y="4114800"/>
            <a:ext cx="11063880" cy="804240"/>
          </a:xfrm>
          <a:prstGeom prst="roundRect">
            <a:avLst>
              <a:gd name="adj" fmla="val 681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50"/>
          <p:cNvSpPr/>
          <p:nvPr/>
        </p:nvSpPr>
        <p:spPr>
          <a:xfrm>
            <a:off x="868680" y="428868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 51"/>
          <p:cNvSpPr/>
          <p:nvPr/>
        </p:nvSpPr>
        <p:spPr>
          <a:xfrm>
            <a:off x="868680" y="42886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 52"/>
          <p:cNvSpPr/>
          <p:nvPr/>
        </p:nvSpPr>
        <p:spPr>
          <a:xfrm>
            <a:off x="1508760" y="4114800"/>
            <a:ext cx="98751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Choose the DIRECTION: test a point inside the region in each inequality.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53"/>
          <p:cNvSpPr/>
          <p:nvPr/>
        </p:nvSpPr>
        <p:spPr>
          <a:xfrm>
            <a:off x="567000" y="5029200"/>
            <a:ext cx="11063880" cy="804240"/>
          </a:xfrm>
          <a:prstGeom prst="roundRect">
            <a:avLst>
              <a:gd name="adj" fmla="val 681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54"/>
          <p:cNvSpPr/>
          <p:nvPr/>
        </p:nvSpPr>
        <p:spPr>
          <a:xfrm>
            <a:off x="868680" y="520308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 55"/>
          <p:cNvSpPr/>
          <p:nvPr/>
        </p:nvSpPr>
        <p:spPr>
          <a:xfrm>
            <a:off x="868680" y="52030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 56"/>
          <p:cNvSpPr/>
          <p:nvPr/>
        </p:nvSpPr>
        <p:spPr>
          <a:xfrm>
            <a:off x="1508760" y="5029200"/>
            <a:ext cx="98751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A region bounded by three lines needs THREE inequalities.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 57"/>
          <p:cNvSpPr/>
          <p:nvPr/>
        </p:nvSpPr>
        <p:spPr>
          <a:xfrm>
            <a:off x="567000" y="61264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Horizontal boundary → y = k;   vertical → x = k;   sloping → find the gradient and intercept.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Draw each boundary, dashed or solid, shade out the unwanted side, label 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Boundary line first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Dashed (&lt; &gt;) or solid (≤ ≥)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Test (0,0) to pick the side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Describing? → equation + sign + test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39"/>
          <p:cNvSpPr/>
          <p:nvPr/>
        </p:nvSpPr>
        <p:spPr>
          <a:xfrm>
            <a:off x="4214880" y="1408320"/>
            <a:ext cx="37616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6" name="Image 0" descr="/tmp/work/liq/q-29.png"/>
          <p:cNvPicPr/>
          <p:nvPr/>
        </p:nvPicPr>
        <p:blipFill>
          <a:blip r:embed="rId1"/>
          <a:stretch/>
        </p:blipFill>
        <p:spPr>
          <a:xfrm>
            <a:off x="4287960" y="1481400"/>
            <a:ext cx="36154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39"/>
          <p:cNvSpPr/>
          <p:nvPr/>
        </p:nvSpPr>
        <p:spPr>
          <a:xfrm>
            <a:off x="4010400" y="1408320"/>
            <a:ext cx="41702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7" name="Image 0" descr="/tmp/work/liq/q-30.png"/>
          <p:cNvPicPr/>
          <p:nvPr/>
        </p:nvPicPr>
        <p:blipFill>
          <a:blip r:embed="rId1"/>
          <a:stretch/>
        </p:blipFill>
        <p:spPr>
          <a:xfrm>
            <a:off x="4083480" y="1481400"/>
            <a:ext cx="40240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39"/>
          <p:cNvSpPr/>
          <p:nvPr/>
        </p:nvSpPr>
        <p:spPr>
          <a:xfrm>
            <a:off x="4202640" y="1408320"/>
            <a:ext cx="37861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8" name="Image 0" descr="/tmp/work/liq/q-31.png"/>
          <p:cNvPicPr/>
          <p:nvPr/>
        </p:nvPicPr>
        <p:blipFill>
          <a:blip r:embed="rId1"/>
          <a:stretch/>
        </p:blipFill>
        <p:spPr>
          <a:xfrm>
            <a:off x="4275720" y="1481400"/>
            <a:ext cx="36396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39"/>
          <p:cNvSpPr/>
          <p:nvPr/>
        </p:nvSpPr>
        <p:spPr>
          <a:xfrm>
            <a:off x="3936960" y="1408320"/>
            <a:ext cx="43174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9" name="Image 0" descr="/tmp/work/liq/q-32.png"/>
          <p:cNvPicPr/>
          <p:nvPr/>
        </p:nvPicPr>
        <p:blipFill>
          <a:blip r:embed="rId1"/>
          <a:stretch/>
        </p:blipFill>
        <p:spPr>
          <a:xfrm>
            <a:off x="4010040" y="1481400"/>
            <a:ext cx="41713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39"/>
          <p:cNvSpPr/>
          <p:nvPr/>
        </p:nvSpPr>
        <p:spPr>
          <a:xfrm>
            <a:off x="2745720" y="1408320"/>
            <a:ext cx="67003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0" name="Image 0" descr="/tmp/work/liq/q-33.png"/>
          <p:cNvPicPr/>
          <p:nvPr/>
        </p:nvPicPr>
        <p:blipFill>
          <a:blip r:embed="rId1"/>
          <a:stretch/>
        </p:blipFill>
        <p:spPr>
          <a:xfrm>
            <a:off x="2818800" y="1481400"/>
            <a:ext cx="65538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39"/>
          <p:cNvSpPr/>
          <p:nvPr/>
        </p:nvSpPr>
        <p:spPr>
          <a:xfrm>
            <a:off x="2721240" y="1408320"/>
            <a:ext cx="67492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1" name="Image 0" descr="/tmp/work/liq/q-34.png"/>
          <p:cNvPicPr/>
          <p:nvPr/>
        </p:nvPicPr>
        <p:blipFill>
          <a:blip r:embed="rId1"/>
          <a:stretch/>
        </p:blipFill>
        <p:spPr>
          <a:xfrm>
            <a:off x="2794320" y="1481400"/>
            <a:ext cx="66027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39"/>
          <p:cNvSpPr/>
          <p:nvPr/>
        </p:nvSpPr>
        <p:spPr>
          <a:xfrm>
            <a:off x="2737800" y="1408320"/>
            <a:ext cx="67158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2" name="Image 0" descr="/tmp/work/liq/q-35.png"/>
          <p:cNvPicPr/>
          <p:nvPr/>
        </p:nvPicPr>
        <p:blipFill>
          <a:blip r:embed="rId1"/>
          <a:stretch/>
        </p:blipFill>
        <p:spPr>
          <a:xfrm>
            <a:off x="2810880" y="1481400"/>
            <a:ext cx="6569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39"/>
          <p:cNvSpPr/>
          <p:nvPr/>
        </p:nvSpPr>
        <p:spPr>
          <a:xfrm>
            <a:off x="2951640" y="1408320"/>
            <a:ext cx="62877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3" name="Image 0" descr="/tmp/work/liq/q-36.png"/>
          <p:cNvPicPr/>
          <p:nvPr/>
        </p:nvPicPr>
        <p:blipFill>
          <a:blip r:embed="rId1"/>
          <a:stretch/>
        </p:blipFill>
        <p:spPr>
          <a:xfrm>
            <a:off x="3024720" y="1481400"/>
            <a:ext cx="61416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Shape 39"/>
          <p:cNvSpPr/>
          <p:nvPr/>
        </p:nvSpPr>
        <p:spPr>
          <a:xfrm>
            <a:off x="3266280" y="1408320"/>
            <a:ext cx="56588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4" name="Image 0" descr="/tmp/work/liq/q-37.png"/>
          <p:cNvPicPr/>
          <p:nvPr/>
        </p:nvPicPr>
        <p:blipFill>
          <a:blip r:embed="rId1"/>
          <a:stretch/>
        </p:blipFill>
        <p:spPr>
          <a:xfrm>
            <a:off x="3339360" y="1481400"/>
            <a:ext cx="55126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10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39"/>
          <p:cNvSpPr/>
          <p:nvPr/>
        </p:nvSpPr>
        <p:spPr>
          <a:xfrm>
            <a:off x="4318200" y="1408320"/>
            <a:ext cx="35550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5" name="Image 0" descr="/tmp/work/liq/q-38.png"/>
          <p:cNvPicPr/>
          <p:nvPr/>
        </p:nvPicPr>
        <p:blipFill>
          <a:blip r:embed="rId1"/>
          <a:stretch/>
        </p:blipFill>
        <p:spPr>
          <a:xfrm>
            <a:off x="4391280" y="1481400"/>
            <a:ext cx="34088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39"/>
          <p:cNvSpPr/>
          <p:nvPr/>
        </p:nvSpPr>
        <p:spPr>
          <a:xfrm>
            <a:off x="3971880" y="1408320"/>
            <a:ext cx="42472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6" name="Image 0" descr="/tmp/work/liq/q-39.png"/>
          <p:cNvPicPr/>
          <p:nvPr/>
        </p:nvPicPr>
        <p:blipFill>
          <a:blip r:embed="rId1"/>
          <a:stretch/>
        </p:blipFill>
        <p:spPr>
          <a:xfrm>
            <a:off x="4045320" y="1481400"/>
            <a:ext cx="41011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An inequality in two variables describes a REGION (half-plane), not just a line.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8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Draw the boundary line first: dashed for &lt; &gt;, solid for ≤ ≥.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0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1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Test a point (usually the origin): TRUE → shade that side, FALSE → shade the other.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2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3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Several inequalities: the answer is the overlap — shade out what you don’t want and label 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4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5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To DESCRIBE a region: find each line’s equation, choose the sign from dashed/solid, then test a point.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6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boundary line → dashed or solid → test a point to decide which side to shade.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1240</Words>
  <Paragraphs>198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2026-07-20T10:52:37Z</dcterms:created>
  <dc:creator>Zahra Sheikh Ali</dc:creator>
  <dc:description/>
  <dc:language>en-US</dc:language>
  <cp:lastModifiedBy>zahraa sheik ali</cp:lastModifiedBy>
  <dcterms:modified xsi:type="dcterms:W3CDTF">2026-07-20T11:08:30Z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Custom</vt:lpwstr>
  </property>
  <property fmtid="{D5CDD505-2E9C-101B-9397-08002B2CF9AE}" pid="4" name="Slides">
    <vt:r8>22</vt:r8>
  </property>
</Properties>
</file>