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-499" y="-8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4C22D2-0D63-4C76-824C-D63D88F7946F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A7ED1B-A33A-431C-9451-2D1128BE85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7416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98080" y="86868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i="1" dirty="0">
                <a:solidFill>
                  <a:srgbClr val="334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5x + y = 22</a:t>
            </a:r>
            <a:endParaRPr lang="en-US" sz="4000" dirty="0"/>
          </a:p>
        </p:txBody>
      </p:sp>
      <p:sp>
        <p:nvSpPr>
          <p:cNvPr id="38" name="Text 36"/>
          <p:cNvSpPr/>
          <p:nvPr/>
        </p:nvSpPr>
        <p:spPr>
          <a:xfrm>
            <a:off x="7498080" y="1481328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i="1" dirty="0">
                <a:solidFill>
                  <a:srgbClr val="334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2x − y =  6</a:t>
            </a:r>
            <a:endParaRPr lang="en-US" sz="4000" dirty="0"/>
          </a:p>
        </p:txBody>
      </p:sp>
      <p:sp>
        <p:nvSpPr>
          <p:cNvPr id="39" name="Shape 37"/>
          <p:cNvSpPr/>
          <p:nvPr/>
        </p:nvSpPr>
        <p:spPr>
          <a:xfrm>
            <a:off x="777240" y="6400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/>
        </p:spPr>
      </p:sp>
      <p:sp>
        <p:nvSpPr>
          <p:cNvPr id="40" name="Text 38"/>
          <p:cNvSpPr/>
          <p:nvPr/>
        </p:nvSpPr>
        <p:spPr>
          <a:xfrm>
            <a:off x="777240" y="640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2160" dirty="0"/>
          </a:p>
        </p:txBody>
      </p:sp>
      <p:sp>
        <p:nvSpPr>
          <p:cNvPr id="41" name="Text 39"/>
          <p:cNvSpPr/>
          <p:nvPr/>
        </p:nvSpPr>
        <p:spPr>
          <a:xfrm>
            <a:off x="1600200" y="6035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Zπ  MATHS HUB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160020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Edexcel IGCSE (9–1) · Higher Tier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777240" y="224028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Simultaneous Equations</a:t>
            </a:r>
            <a:endParaRPr lang="en-US" sz="4400" dirty="0"/>
          </a:p>
        </p:txBody>
      </p:sp>
      <p:sp>
        <p:nvSpPr>
          <p:cNvPr id="44" name="Text 42"/>
          <p:cNvSpPr/>
          <p:nvPr/>
        </p:nvSpPr>
        <p:spPr>
          <a:xfrm>
            <a:off x="804672" y="33101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Solving by Elimination · Line the Equations Up · Worded &amp; Exam Questions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77240" y="4297680"/>
            <a:ext cx="6766560" cy="169164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097280" y="4498848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Zahra Sheikh Ali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1097280" y="4956048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C9D2C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IGCSE Mathematics Teacher  ·  M.Sc. Differential Geometry &amp; Geometric Control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1097280" y="5394960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  66613748      ✉  zahraa.sheikhali@outlook.com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OVERVIEW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 by Elimination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81328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813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equations, two unknowns. </a:t>
            </a:r>
            <a:r>
              <a:rPr lang="en-US" sz="14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them up under each other, make a pair of coefficients match, then add or subtract to eliminate one letter — and solve.</a:t>
            </a:r>
            <a:endParaRPr lang="en-US" sz="1450" dirty="0"/>
          </a:p>
        </p:txBody>
      </p:sp>
      <p:sp>
        <p:nvSpPr>
          <p:cNvPr id="43" name="Shape 41"/>
          <p:cNvSpPr/>
          <p:nvPr/>
        </p:nvSpPr>
        <p:spPr>
          <a:xfrm>
            <a:off x="566928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1435608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 up the equations</a:t>
            </a:r>
            <a:endParaRPr lang="en-US" sz="1450" dirty="0"/>
          </a:p>
        </p:txBody>
      </p:sp>
      <p:sp>
        <p:nvSpPr>
          <p:cNvPr id="47" name="Shape 45"/>
          <p:cNvSpPr/>
          <p:nvPr/>
        </p:nvSpPr>
        <p:spPr>
          <a:xfrm>
            <a:off x="4343400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599432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4599432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5212080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sign → subtract</a:t>
            </a:r>
            <a:endParaRPr lang="en-US" sz="1450" dirty="0"/>
          </a:p>
        </p:txBody>
      </p:sp>
      <p:sp>
        <p:nvSpPr>
          <p:cNvPr id="51" name="Shape 49"/>
          <p:cNvSpPr/>
          <p:nvPr/>
        </p:nvSpPr>
        <p:spPr>
          <a:xfrm>
            <a:off x="8119872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375904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375904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8988552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 sign → add</a:t>
            </a:r>
            <a:endParaRPr lang="en-US" sz="1450" dirty="0"/>
          </a:p>
        </p:txBody>
      </p:sp>
      <p:sp>
        <p:nvSpPr>
          <p:cNvPr id="55" name="Shape 53"/>
          <p:cNvSpPr/>
          <p:nvPr/>
        </p:nvSpPr>
        <p:spPr>
          <a:xfrm>
            <a:off x="566928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22960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7" name="Text 55"/>
          <p:cNvSpPr/>
          <p:nvPr/>
        </p:nvSpPr>
        <p:spPr>
          <a:xfrm>
            <a:off x="822960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58" name="Text 56"/>
          <p:cNvSpPr/>
          <p:nvPr/>
        </p:nvSpPr>
        <p:spPr>
          <a:xfrm>
            <a:off x="1435608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Multiply to match</a:t>
            </a:r>
            <a:endParaRPr lang="en-US" sz="1450" dirty="0"/>
          </a:p>
        </p:txBody>
      </p:sp>
      <p:sp>
        <p:nvSpPr>
          <p:cNvPr id="59" name="Shape 57"/>
          <p:cNvSpPr/>
          <p:nvPr/>
        </p:nvSpPr>
        <p:spPr>
          <a:xfrm>
            <a:off x="4343400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599432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1" name="Text 59"/>
          <p:cNvSpPr/>
          <p:nvPr/>
        </p:nvSpPr>
        <p:spPr>
          <a:xfrm>
            <a:off x="4599432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5212080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Worded problems</a:t>
            </a:r>
            <a:endParaRPr lang="en-US" sz="1450" dirty="0"/>
          </a:p>
        </p:txBody>
      </p:sp>
      <p:sp>
        <p:nvSpPr>
          <p:cNvPr id="63" name="Shape 61"/>
          <p:cNvSpPr/>
          <p:nvPr/>
        </p:nvSpPr>
        <p:spPr>
          <a:xfrm>
            <a:off x="8119872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375904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5" name="Text 63"/>
          <p:cNvSpPr/>
          <p:nvPr/>
        </p:nvSpPr>
        <p:spPr>
          <a:xfrm>
            <a:off x="8375904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66" name="Text 64"/>
          <p:cNvSpPr/>
          <p:nvPr/>
        </p:nvSpPr>
        <p:spPr>
          <a:xfrm>
            <a:off x="8988552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 questions</a:t>
            </a:r>
            <a:endParaRPr lang="en-US" sz="1450" dirty="0"/>
          </a:p>
        </p:txBody>
      </p:sp>
      <p:sp>
        <p:nvSpPr>
          <p:cNvPr id="67" name="Text 65"/>
          <p:cNvSpPr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words:  </a:t>
            </a: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· unknown · coefficient · eliminate · add · subtract · solution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 Them Up, Then Eliminate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63040"/>
            <a:ext cx="11064240" cy="841248"/>
          </a:xfrm>
          <a:prstGeom prst="roundRect">
            <a:avLst>
              <a:gd name="adj" fmla="val 6522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63040"/>
            <a:ext cx="10424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both equations in standard form, lined up: </a:t>
            </a:r>
            <a:r>
              <a:rPr lang="en-US" sz="14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under x, y under y, and the constant under the constant. Now look at the matching column.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66928" y="2514600"/>
            <a:ext cx="5394960" cy="2697480"/>
          </a:xfrm>
          <a:prstGeom prst="roundRect">
            <a:avLst>
              <a:gd name="adj" fmla="val 2034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32688" y="275234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the signs match?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914400" y="3200400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sign  →  SUBTRACT</a:t>
            </a:r>
            <a:endParaRPr lang="en-US" sz="18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 sign  →  ADD</a:t>
            </a:r>
            <a:endParaRPr lang="en-US" sz="18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8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matching coefficient yet?</a:t>
            </a:r>
            <a:endParaRPr lang="en-US" sz="1800" dirty="0"/>
          </a:p>
          <a:p>
            <a:pPr marL="0" indent="0">
              <a:buNone/>
            </a:pPr>
            <a:r>
              <a:rPr lang="en-US" sz="18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Multiply one or both equations first.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6236208" y="2514600"/>
            <a:ext cx="5394960" cy="2697480"/>
          </a:xfrm>
          <a:prstGeom prst="roundRect">
            <a:avLst>
              <a:gd name="adj" fmla="val 2034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6601968" y="275234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finish</a:t>
            </a:r>
            <a:endParaRPr lang="en-US" sz="1700" dirty="0"/>
          </a:p>
        </p:txBody>
      </p:sp>
      <p:sp>
        <p:nvSpPr>
          <p:cNvPr id="48" name="Shape 46"/>
          <p:cNvSpPr/>
          <p:nvPr/>
        </p:nvSpPr>
        <p:spPr>
          <a:xfrm>
            <a:off x="6537960" y="3209544"/>
            <a:ext cx="146304" cy="146304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9" name="Text 47"/>
          <p:cNvSpPr/>
          <p:nvPr/>
        </p:nvSpPr>
        <p:spPr>
          <a:xfrm>
            <a:off x="6812280" y="31546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or subtract to eliminate one letter.</a:t>
            </a:r>
            <a:endParaRPr lang="en-US" sz="1350" dirty="0"/>
          </a:p>
        </p:txBody>
      </p:sp>
      <p:sp>
        <p:nvSpPr>
          <p:cNvPr id="50" name="Shape 48"/>
          <p:cNvSpPr/>
          <p:nvPr/>
        </p:nvSpPr>
        <p:spPr>
          <a:xfrm>
            <a:off x="6537960" y="3593592"/>
            <a:ext cx="146304" cy="146304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51" name="Text 49"/>
          <p:cNvSpPr/>
          <p:nvPr/>
        </p:nvSpPr>
        <p:spPr>
          <a:xfrm>
            <a:off x="6812280" y="353872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the single-letter equation.</a:t>
            </a:r>
            <a:endParaRPr lang="en-US" sz="1350" dirty="0"/>
          </a:p>
        </p:txBody>
      </p:sp>
      <p:sp>
        <p:nvSpPr>
          <p:cNvPr id="52" name="Shape 50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53" name="Text 51"/>
          <p:cNvSpPr/>
          <p:nvPr/>
        </p:nvSpPr>
        <p:spPr>
          <a:xfrm>
            <a:off x="6812280" y="3922776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that value back in.</a:t>
            </a:r>
            <a:endParaRPr lang="en-US" sz="1350" dirty="0"/>
          </a:p>
        </p:txBody>
      </p:sp>
      <p:sp>
        <p:nvSpPr>
          <p:cNvPr id="54" name="Shape 52"/>
          <p:cNvSpPr/>
          <p:nvPr/>
        </p:nvSpPr>
        <p:spPr>
          <a:xfrm>
            <a:off x="6537960" y="4361688"/>
            <a:ext cx="146304" cy="146304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55" name="Text 53"/>
          <p:cNvSpPr/>
          <p:nvPr/>
        </p:nvSpPr>
        <p:spPr>
          <a:xfrm>
            <a:off x="6812280" y="4306824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for the second letter.</a:t>
            </a:r>
            <a:endParaRPr lang="en-US" sz="1350" dirty="0"/>
          </a:p>
        </p:txBody>
      </p:sp>
      <p:sp>
        <p:nvSpPr>
          <p:cNvPr id="56" name="Shape 54"/>
          <p:cNvSpPr/>
          <p:nvPr/>
        </p:nvSpPr>
        <p:spPr>
          <a:xfrm>
            <a:off x="6537960" y="4745736"/>
            <a:ext cx="146304" cy="146304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57" name="Text 55"/>
          <p:cNvSpPr/>
          <p:nvPr/>
        </p:nvSpPr>
        <p:spPr>
          <a:xfrm>
            <a:off x="6812280" y="469087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in BOTH equations.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6916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Matching Coefficients</a:t>
            </a:r>
            <a:endParaRPr lang="en-US" sz="4400" dirty="0"/>
          </a:p>
        </p:txBody>
      </p:sp>
      <p:sp>
        <p:nvSpPr>
          <p:cNvPr id="41" name="Text 39"/>
          <p:cNvSpPr/>
          <p:nvPr/>
        </p:nvSpPr>
        <p:spPr>
          <a:xfrm>
            <a:off x="804672" y="26974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a pair of coefficients already match — just add or subtract.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868680" y="3611880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3611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1554480" y="361188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 the equations up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868680" y="4325112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4325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1554480" y="4325112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 the matching coefficient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868680" y="5038344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5038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554480" y="5038344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sign subtract, different sign add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868680" y="5751576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7515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1554480" y="575157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Solve, substitute, solve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SIGNS → ADD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Eliminate by Adding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ADD?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y-terms are +y and −y — different signs.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cancels them: (+y) + (−y) = 0.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solve 7x = 28 and substitute back.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signs on the matching term → ADD the equations.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1234440" y="178308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5x</a:t>
            </a:r>
            <a:endParaRPr lang="en-US" sz="1900" dirty="0"/>
          </a:p>
        </p:txBody>
      </p:sp>
      <p:sp>
        <p:nvSpPr>
          <p:cNvPr id="47" name="Text 45"/>
          <p:cNvSpPr/>
          <p:nvPr/>
        </p:nvSpPr>
        <p:spPr>
          <a:xfrm>
            <a:off x="2130552" y="178308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1900" dirty="0"/>
          </a:p>
        </p:txBody>
      </p:sp>
      <p:sp>
        <p:nvSpPr>
          <p:cNvPr id="48" name="Text 46"/>
          <p:cNvSpPr/>
          <p:nvPr/>
        </p:nvSpPr>
        <p:spPr>
          <a:xfrm>
            <a:off x="2459736" y="178308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1900" dirty="0"/>
          </a:p>
        </p:txBody>
      </p:sp>
      <p:sp>
        <p:nvSpPr>
          <p:cNvPr id="49" name="Text 47"/>
          <p:cNvSpPr/>
          <p:nvPr/>
        </p:nvSpPr>
        <p:spPr>
          <a:xfrm>
            <a:off x="3227832" y="178308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900" dirty="0"/>
          </a:p>
        </p:txBody>
      </p:sp>
      <p:sp>
        <p:nvSpPr>
          <p:cNvPr id="50" name="Text 48"/>
          <p:cNvSpPr/>
          <p:nvPr/>
        </p:nvSpPr>
        <p:spPr>
          <a:xfrm>
            <a:off x="3575304" y="1783080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1900" dirty="0"/>
          </a:p>
        </p:txBody>
      </p:sp>
      <p:sp>
        <p:nvSpPr>
          <p:cNvPr id="51" name="Text 49"/>
          <p:cNvSpPr/>
          <p:nvPr/>
        </p:nvSpPr>
        <p:spPr>
          <a:xfrm>
            <a:off x="4599432" y="17830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4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</a:t>
            </a:r>
            <a:endParaRPr lang="en-US" sz="1254" dirty="0"/>
          </a:p>
        </p:txBody>
      </p:sp>
      <p:sp>
        <p:nvSpPr>
          <p:cNvPr id="52" name="Text 50"/>
          <p:cNvSpPr/>
          <p:nvPr/>
        </p:nvSpPr>
        <p:spPr>
          <a:xfrm>
            <a:off x="960120" y="2194560"/>
            <a:ext cx="237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1900" dirty="0"/>
          </a:p>
        </p:txBody>
      </p:sp>
      <p:sp>
        <p:nvSpPr>
          <p:cNvPr id="53" name="Text 51"/>
          <p:cNvSpPr/>
          <p:nvPr/>
        </p:nvSpPr>
        <p:spPr>
          <a:xfrm>
            <a:off x="1234440" y="219456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2x</a:t>
            </a:r>
            <a:endParaRPr lang="en-US" sz="1900" dirty="0"/>
          </a:p>
        </p:txBody>
      </p:sp>
      <p:sp>
        <p:nvSpPr>
          <p:cNvPr id="54" name="Text 52"/>
          <p:cNvSpPr/>
          <p:nvPr/>
        </p:nvSpPr>
        <p:spPr>
          <a:xfrm>
            <a:off x="2130552" y="219456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</a:t>
            </a:r>
            <a:endParaRPr lang="en-US" sz="1900" dirty="0"/>
          </a:p>
        </p:txBody>
      </p:sp>
      <p:sp>
        <p:nvSpPr>
          <p:cNvPr id="55" name="Text 53"/>
          <p:cNvSpPr/>
          <p:nvPr/>
        </p:nvSpPr>
        <p:spPr>
          <a:xfrm>
            <a:off x="2459736" y="219456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1900" dirty="0"/>
          </a:p>
        </p:txBody>
      </p:sp>
      <p:sp>
        <p:nvSpPr>
          <p:cNvPr id="56" name="Text 54"/>
          <p:cNvSpPr/>
          <p:nvPr/>
        </p:nvSpPr>
        <p:spPr>
          <a:xfrm>
            <a:off x="3227832" y="219456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900" dirty="0"/>
          </a:p>
        </p:txBody>
      </p:sp>
      <p:sp>
        <p:nvSpPr>
          <p:cNvPr id="57" name="Text 55"/>
          <p:cNvSpPr/>
          <p:nvPr/>
        </p:nvSpPr>
        <p:spPr>
          <a:xfrm>
            <a:off x="3575304" y="2194560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900" dirty="0"/>
          </a:p>
        </p:txBody>
      </p:sp>
      <p:sp>
        <p:nvSpPr>
          <p:cNvPr id="58" name="Text 56"/>
          <p:cNvSpPr/>
          <p:nvPr/>
        </p:nvSpPr>
        <p:spPr>
          <a:xfrm>
            <a:off x="4599432" y="219456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4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</a:t>
            </a:r>
            <a:endParaRPr lang="en-US" sz="1254" dirty="0"/>
          </a:p>
        </p:txBody>
      </p:sp>
      <p:sp>
        <p:nvSpPr>
          <p:cNvPr id="59" name="Shape 57"/>
          <p:cNvSpPr/>
          <p:nvPr/>
        </p:nvSpPr>
        <p:spPr>
          <a:xfrm>
            <a:off x="1234440" y="2633472"/>
            <a:ext cx="3209544" cy="0"/>
          </a:xfrm>
          <a:prstGeom prst="line">
            <a:avLst/>
          </a:prstGeom>
          <a:noFill/>
          <a:ln w="15875">
            <a:solidFill>
              <a:srgbClr val="1C2A2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72000" y="246888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</a:t>
            </a:r>
            <a:endParaRPr lang="en-US" sz="1250" dirty="0"/>
          </a:p>
        </p:txBody>
      </p:sp>
      <p:sp>
        <p:nvSpPr>
          <p:cNvPr id="61" name="Text 59"/>
          <p:cNvSpPr/>
          <p:nvPr/>
        </p:nvSpPr>
        <p:spPr>
          <a:xfrm>
            <a:off x="1234440" y="27249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7x</a:t>
            </a:r>
            <a:endParaRPr lang="en-US" sz="1900" dirty="0"/>
          </a:p>
        </p:txBody>
      </p:sp>
      <p:sp>
        <p:nvSpPr>
          <p:cNvPr id="62" name="Text 60"/>
          <p:cNvSpPr/>
          <p:nvPr/>
        </p:nvSpPr>
        <p:spPr>
          <a:xfrm>
            <a:off x="3227832" y="27249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900" dirty="0"/>
          </a:p>
        </p:txBody>
      </p:sp>
      <p:sp>
        <p:nvSpPr>
          <p:cNvPr id="63" name="Text 61"/>
          <p:cNvSpPr/>
          <p:nvPr/>
        </p:nvSpPr>
        <p:spPr>
          <a:xfrm>
            <a:off x="3575304" y="2724912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1900" dirty="0"/>
          </a:p>
        </p:txBody>
      </p:sp>
      <p:sp>
        <p:nvSpPr>
          <p:cNvPr id="64" name="Text 62"/>
          <p:cNvSpPr/>
          <p:nvPr/>
        </p:nvSpPr>
        <p:spPr>
          <a:xfrm>
            <a:off x="1234440" y="320040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900" dirty="0"/>
          </a:p>
        </p:txBody>
      </p:sp>
      <p:sp>
        <p:nvSpPr>
          <p:cNvPr id="65" name="Text 63"/>
          <p:cNvSpPr/>
          <p:nvPr/>
        </p:nvSpPr>
        <p:spPr>
          <a:xfrm>
            <a:off x="3227832" y="320040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900" dirty="0"/>
          </a:p>
        </p:txBody>
      </p:sp>
      <p:sp>
        <p:nvSpPr>
          <p:cNvPr id="66" name="Text 64"/>
          <p:cNvSpPr/>
          <p:nvPr/>
        </p:nvSpPr>
        <p:spPr>
          <a:xfrm>
            <a:off x="3575304" y="3200400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900" dirty="0"/>
          </a:p>
        </p:txBody>
      </p:sp>
      <p:sp>
        <p:nvSpPr>
          <p:cNvPr id="67" name="Text 65"/>
          <p:cNvSpPr/>
          <p:nvPr/>
        </p:nvSpPr>
        <p:spPr>
          <a:xfrm>
            <a:off x="960120" y="3703320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 x = 4  into (1):</a:t>
            </a:r>
            <a:endParaRPr lang="en-US" sz="1300" dirty="0"/>
          </a:p>
        </p:txBody>
      </p:sp>
      <p:sp>
        <p:nvSpPr>
          <p:cNvPr id="68" name="Text 66"/>
          <p:cNvSpPr/>
          <p:nvPr/>
        </p:nvSpPr>
        <p:spPr>
          <a:xfrm>
            <a:off x="960120" y="3986784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5(4) + y = 22   →   20 + y = 22</a:t>
            </a:r>
            <a:endParaRPr lang="en-US" sz="1500" dirty="0"/>
          </a:p>
        </p:txBody>
      </p:sp>
      <p:sp>
        <p:nvSpPr>
          <p:cNvPr id="69" name="Text 67"/>
          <p:cNvSpPr/>
          <p:nvPr/>
        </p:nvSpPr>
        <p:spPr>
          <a:xfrm>
            <a:off x="1234440" y="433425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1900" dirty="0"/>
          </a:p>
        </p:txBody>
      </p:sp>
      <p:sp>
        <p:nvSpPr>
          <p:cNvPr id="70" name="Text 68"/>
          <p:cNvSpPr/>
          <p:nvPr/>
        </p:nvSpPr>
        <p:spPr>
          <a:xfrm>
            <a:off x="3227832" y="433425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900" dirty="0"/>
          </a:p>
        </p:txBody>
      </p:sp>
      <p:sp>
        <p:nvSpPr>
          <p:cNvPr id="71" name="Text 69"/>
          <p:cNvSpPr/>
          <p:nvPr/>
        </p:nvSpPr>
        <p:spPr>
          <a:xfrm>
            <a:off x="3575304" y="4334256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72" name="Shape 70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4,   y = 2</a:t>
            </a:r>
            <a:endParaRPr lang="en-US" sz="23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SIGNS → SUBTRACT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Eliminate by Subtracting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SUBTRACT?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y-terms are +3y and +3y — same sign.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Subtracting cancels them: 3y − 3y = 0.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 every term: 17 − 13 = 4.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signs on the matching term → SUBTRACT the equations.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1234440" y="178308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4x</a:t>
            </a:r>
            <a:endParaRPr lang="en-US" sz="1900" dirty="0"/>
          </a:p>
        </p:txBody>
      </p:sp>
      <p:sp>
        <p:nvSpPr>
          <p:cNvPr id="47" name="Text 45"/>
          <p:cNvSpPr/>
          <p:nvPr/>
        </p:nvSpPr>
        <p:spPr>
          <a:xfrm>
            <a:off x="2130552" y="178308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1900" dirty="0"/>
          </a:p>
        </p:txBody>
      </p:sp>
      <p:sp>
        <p:nvSpPr>
          <p:cNvPr id="48" name="Text 46"/>
          <p:cNvSpPr/>
          <p:nvPr/>
        </p:nvSpPr>
        <p:spPr>
          <a:xfrm>
            <a:off x="2459736" y="178308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3y</a:t>
            </a:r>
            <a:endParaRPr lang="en-US" sz="1900" dirty="0"/>
          </a:p>
        </p:txBody>
      </p:sp>
      <p:sp>
        <p:nvSpPr>
          <p:cNvPr id="49" name="Text 47"/>
          <p:cNvSpPr/>
          <p:nvPr/>
        </p:nvSpPr>
        <p:spPr>
          <a:xfrm>
            <a:off x="3227832" y="178308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900" dirty="0"/>
          </a:p>
        </p:txBody>
      </p:sp>
      <p:sp>
        <p:nvSpPr>
          <p:cNvPr id="50" name="Text 48"/>
          <p:cNvSpPr/>
          <p:nvPr/>
        </p:nvSpPr>
        <p:spPr>
          <a:xfrm>
            <a:off x="3575304" y="1783080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900" dirty="0"/>
          </a:p>
        </p:txBody>
      </p:sp>
      <p:sp>
        <p:nvSpPr>
          <p:cNvPr id="51" name="Text 49"/>
          <p:cNvSpPr/>
          <p:nvPr/>
        </p:nvSpPr>
        <p:spPr>
          <a:xfrm>
            <a:off x="4599432" y="17830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4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</a:t>
            </a:r>
            <a:endParaRPr lang="en-US" sz="1254" dirty="0"/>
          </a:p>
        </p:txBody>
      </p:sp>
      <p:sp>
        <p:nvSpPr>
          <p:cNvPr id="52" name="Text 50"/>
          <p:cNvSpPr/>
          <p:nvPr/>
        </p:nvSpPr>
        <p:spPr>
          <a:xfrm>
            <a:off x="960120" y="2194560"/>
            <a:ext cx="237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</a:t>
            </a:r>
            <a:endParaRPr lang="en-US" sz="1900" dirty="0"/>
          </a:p>
        </p:txBody>
      </p:sp>
      <p:sp>
        <p:nvSpPr>
          <p:cNvPr id="53" name="Text 51"/>
          <p:cNvSpPr/>
          <p:nvPr/>
        </p:nvSpPr>
        <p:spPr>
          <a:xfrm>
            <a:off x="1234440" y="219456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2x</a:t>
            </a:r>
            <a:endParaRPr lang="en-US" sz="1900" dirty="0"/>
          </a:p>
        </p:txBody>
      </p:sp>
      <p:sp>
        <p:nvSpPr>
          <p:cNvPr id="54" name="Text 52"/>
          <p:cNvSpPr/>
          <p:nvPr/>
        </p:nvSpPr>
        <p:spPr>
          <a:xfrm>
            <a:off x="2130552" y="219456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1900" dirty="0"/>
          </a:p>
        </p:txBody>
      </p:sp>
      <p:sp>
        <p:nvSpPr>
          <p:cNvPr id="55" name="Text 53"/>
          <p:cNvSpPr/>
          <p:nvPr/>
        </p:nvSpPr>
        <p:spPr>
          <a:xfrm>
            <a:off x="2459736" y="219456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3y</a:t>
            </a:r>
            <a:endParaRPr lang="en-US" sz="1900" dirty="0"/>
          </a:p>
        </p:txBody>
      </p:sp>
      <p:sp>
        <p:nvSpPr>
          <p:cNvPr id="56" name="Text 54"/>
          <p:cNvSpPr/>
          <p:nvPr/>
        </p:nvSpPr>
        <p:spPr>
          <a:xfrm>
            <a:off x="3227832" y="219456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900" dirty="0"/>
          </a:p>
        </p:txBody>
      </p:sp>
      <p:sp>
        <p:nvSpPr>
          <p:cNvPr id="57" name="Text 55"/>
          <p:cNvSpPr/>
          <p:nvPr/>
        </p:nvSpPr>
        <p:spPr>
          <a:xfrm>
            <a:off x="3575304" y="2194560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900" dirty="0"/>
          </a:p>
        </p:txBody>
      </p:sp>
      <p:sp>
        <p:nvSpPr>
          <p:cNvPr id="58" name="Text 56"/>
          <p:cNvSpPr/>
          <p:nvPr/>
        </p:nvSpPr>
        <p:spPr>
          <a:xfrm>
            <a:off x="4599432" y="219456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4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</a:t>
            </a:r>
            <a:endParaRPr lang="en-US" sz="1254" dirty="0"/>
          </a:p>
        </p:txBody>
      </p:sp>
      <p:sp>
        <p:nvSpPr>
          <p:cNvPr id="59" name="Shape 57"/>
          <p:cNvSpPr/>
          <p:nvPr/>
        </p:nvSpPr>
        <p:spPr>
          <a:xfrm>
            <a:off x="1234440" y="2633472"/>
            <a:ext cx="3209544" cy="0"/>
          </a:xfrm>
          <a:prstGeom prst="line">
            <a:avLst/>
          </a:prstGeom>
          <a:noFill/>
          <a:ln w="15875">
            <a:solidFill>
              <a:srgbClr val="1C2A2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72000" y="246888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SUBTRACT</a:t>
            </a:r>
            <a:endParaRPr lang="en-US" sz="1250" dirty="0"/>
          </a:p>
        </p:txBody>
      </p:sp>
      <p:sp>
        <p:nvSpPr>
          <p:cNvPr id="61" name="Text 59"/>
          <p:cNvSpPr/>
          <p:nvPr/>
        </p:nvSpPr>
        <p:spPr>
          <a:xfrm>
            <a:off x="1234440" y="27249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2x</a:t>
            </a:r>
            <a:endParaRPr lang="en-US" sz="1900" dirty="0"/>
          </a:p>
        </p:txBody>
      </p:sp>
      <p:sp>
        <p:nvSpPr>
          <p:cNvPr id="62" name="Text 60"/>
          <p:cNvSpPr/>
          <p:nvPr/>
        </p:nvSpPr>
        <p:spPr>
          <a:xfrm>
            <a:off x="3227832" y="27249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900" dirty="0"/>
          </a:p>
        </p:txBody>
      </p:sp>
      <p:sp>
        <p:nvSpPr>
          <p:cNvPr id="63" name="Text 61"/>
          <p:cNvSpPr/>
          <p:nvPr/>
        </p:nvSpPr>
        <p:spPr>
          <a:xfrm>
            <a:off x="3575304" y="2724912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900" dirty="0"/>
          </a:p>
        </p:txBody>
      </p:sp>
      <p:sp>
        <p:nvSpPr>
          <p:cNvPr id="64" name="Text 62"/>
          <p:cNvSpPr/>
          <p:nvPr/>
        </p:nvSpPr>
        <p:spPr>
          <a:xfrm>
            <a:off x="1234440" y="320040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900" dirty="0"/>
          </a:p>
        </p:txBody>
      </p:sp>
      <p:sp>
        <p:nvSpPr>
          <p:cNvPr id="65" name="Text 63"/>
          <p:cNvSpPr/>
          <p:nvPr/>
        </p:nvSpPr>
        <p:spPr>
          <a:xfrm>
            <a:off x="3227832" y="320040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900" dirty="0"/>
          </a:p>
        </p:txBody>
      </p:sp>
      <p:sp>
        <p:nvSpPr>
          <p:cNvPr id="66" name="Text 64"/>
          <p:cNvSpPr/>
          <p:nvPr/>
        </p:nvSpPr>
        <p:spPr>
          <a:xfrm>
            <a:off x="3575304" y="3200400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67" name="Text 65"/>
          <p:cNvSpPr/>
          <p:nvPr/>
        </p:nvSpPr>
        <p:spPr>
          <a:xfrm>
            <a:off x="960120" y="3703320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 x = 2  into (2):</a:t>
            </a:r>
            <a:endParaRPr lang="en-US" sz="1300" dirty="0"/>
          </a:p>
        </p:txBody>
      </p:sp>
      <p:sp>
        <p:nvSpPr>
          <p:cNvPr id="68" name="Text 66"/>
          <p:cNvSpPr/>
          <p:nvPr/>
        </p:nvSpPr>
        <p:spPr>
          <a:xfrm>
            <a:off x="960120" y="3986784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2(2) + 3y = 13   →   3y = 9</a:t>
            </a:r>
            <a:endParaRPr lang="en-US" sz="1500" dirty="0"/>
          </a:p>
        </p:txBody>
      </p:sp>
      <p:sp>
        <p:nvSpPr>
          <p:cNvPr id="69" name="Text 67"/>
          <p:cNvSpPr/>
          <p:nvPr/>
        </p:nvSpPr>
        <p:spPr>
          <a:xfrm>
            <a:off x="1234440" y="433425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1900" dirty="0"/>
          </a:p>
        </p:txBody>
      </p:sp>
      <p:sp>
        <p:nvSpPr>
          <p:cNvPr id="70" name="Text 68"/>
          <p:cNvSpPr/>
          <p:nvPr/>
        </p:nvSpPr>
        <p:spPr>
          <a:xfrm>
            <a:off x="3227832" y="433425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900" dirty="0"/>
          </a:p>
        </p:txBody>
      </p:sp>
      <p:sp>
        <p:nvSpPr>
          <p:cNvPr id="71" name="Text 69"/>
          <p:cNvSpPr/>
          <p:nvPr/>
        </p:nvSpPr>
        <p:spPr>
          <a:xfrm>
            <a:off x="3575304" y="4334256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72" name="Shape 70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2,   y = 3</a:t>
            </a:r>
            <a:endParaRPr lang="en-US" sz="23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REARRANGE FIRST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Putting Equations in Standard Form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Rearrange first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every equation into ax + by = c form.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letters to the left, numbers to the right.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5y = 5 − 5x becomes 5x + 5y = 5, then ÷ 5 → x + y = 1.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line them up and eliminate as usual.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only line up and eliminate once both equations are in standard form.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960120" y="1719072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write each as  ax + by = c :</a:t>
            </a:r>
            <a:endParaRPr lang="en-US" sz="1350" dirty="0"/>
          </a:p>
        </p:txBody>
      </p:sp>
      <p:sp>
        <p:nvSpPr>
          <p:cNvPr id="47" name="Text 45"/>
          <p:cNvSpPr/>
          <p:nvPr/>
        </p:nvSpPr>
        <p:spPr>
          <a:xfrm>
            <a:off x="960120" y="2011680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3x = 7 + y     →     3x − y = 7</a:t>
            </a:r>
            <a:endParaRPr lang="en-US" sz="2000" dirty="0"/>
          </a:p>
        </p:txBody>
      </p:sp>
      <p:sp>
        <p:nvSpPr>
          <p:cNvPr id="48" name="Text 46"/>
          <p:cNvSpPr/>
          <p:nvPr/>
        </p:nvSpPr>
        <p:spPr>
          <a:xfrm>
            <a:off x="960120" y="2286000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5y = 5 − 5x     →     x + y = 1</a:t>
            </a: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1234440" y="268833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3x</a:t>
            </a:r>
            <a:endParaRPr lang="en-US" sz="1900" dirty="0"/>
          </a:p>
        </p:txBody>
      </p:sp>
      <p:sp>
        <p:nvSpPr>
          <p:cNvPr id="50" name="Text 48"/>
          <p:cNvSpPr/>
          <p:nvPr/>
        </p:nvSpPr>
        <p:spPr>
          <a:xfrm>
            <a:off x="2130552" y="268833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</a:t>
            </a:r>
            <a:endParaRPr lang="en-US" sz="1900" dirty="0"/>
          </a:p>
        </p:txBody>
      </p:sp>
      <p:sp>
        <p:nvSpPr>
          <p:cNvPr id="51" name="Text 49"/>
          <p:cNvSpPr/>
          <p:nvPr/>
        </p:nvSpPr>
        <p:spPr>
          <a:xfrm>
            <a:off x="2459736" y="268833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1900" dirty="0"/>
          </a:p>
        </p:txBody>
      </p:sp>
      <p:sp>
        <p:nvSpPr>
          <p:cNvPr id="52" name="Text 50"/>
          <p:cNvSpPr/>
          <p:nvPr/>
        </p:nvSpPr>
        <p:spPr>
          <a:xfrm>
            <a:off x="3227832" y="268833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900" dirty="0"/>
          </a:p>
        </p:txBody>
      </p:sp>
      <p:sp>
        <p:nvSpPr>
          <p:cNvPr id="53" name="Text 51"/>
          <p:cNvSpPr/>
          <p:nvPr/>
        </p:nvSpPr>
        <p:spPr>
          <a:xfrm>
            <a:off x="3575304" y="2688336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900" dirty="0"/>
          </a:p>
        </p:txBody>
      </p:sp>
      <p:sp>
        <p:nvSpPr>
          <p:cNvPr id="54" name="Text 52"/>
          <p:cNvSpPr/>
          <p:nvPr/>
        </p:nvSpPr>
        <p:spPr>
          <a:xfrm>
            <a:off x="4599432" y="268833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4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</a:t>
            </a:r>
            <a:endParaRPr lang="en-US" sz="1254" dirty="0"/>
          </a:p>
        </p:txBody>
      </p:sp>
      <p:sp>
        <p:nvSpPr>
          <p:cNvPr id="55" name="Text 53"/>
          <p:cNvSpPr/>
          <p:nvPr/>
        </p:nvSpPr>
        <p:spPr>
          <a:xfrm>
            <a:off x="960120" y="3054096"/>
            <a:ext cx="237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1900" dirty="0"/>
          </a:p>
        </p:txBody>
      </p:sp>
      <p:sp>
        <p:nvSpPr>
          <p:cNvPr id="56" name="Text 54"/>
          <p:cNvSpPr/>
          <p:nvPr/>
        </p:nvSpPr>
        <p:spPr>
          <a:xfrm>
            <a:off x="1234440" y="30540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900" dirty="0"/>
          </a:p>
        </p:txBody>
      </p:sp>
      <p:sp>
        <p:nvSpPr>
          <p:cNvPr id="57" name="Text 55"/>
          <p:cNvSpPr/>
          <p:nvPr/>
        </p:nvSpPr>
        <p:spPr>
          <a:xfrm>
            <a:off x="2130552" y="305409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1900" dirty="0"/>
          </a:p>
        </p:txBody>
      </p:sp>
      <p:sp>
        <p:nvSpPr>
          <p:cNvPr id="58" name="Text 56"/>
          <p:cNvSpPr/>
          <p:nvPr/>
        </p:nvSpPr>
        <p:spPr>
          <a:xfrm>
            <a:off x="2459736" y="305409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1900" dirty="0"/>
          </a:p>
        </p:txBody>
      </p:sp>
      <p:sp>
        <p:nvSpPr>
          <p:cNvPr id="59" name="Text 57"/>
          <p:cNvSpPr/>
          <p:nvPr/>
        </p:nvSpPr>
        <p:spPr>
          <a:xfrm>
            <a:off x="3227832" y="305409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900" dirty="0"/>
          </a:p>
        </p:txBody>
      </p:sp>
      <p:sp>
        <p:nvSpPr>
          <p:cNvPr id="60" name="Text 58"/>
          <p:cNvSpPr/>
          <p:nvPr/>
        </p:nvSpPr>
        <p:spPr>
          <a:xfrm>
            <a:off x="3575304" y="3054096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61" name="Text 59"/>
          <p:cNvSpPr/>
          <p:nvPr/>
        </p:nvSpPr>
        <p:spPr>
          <a:xfrm>
            <a:off x="4599432" y="305409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4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</a:t>
            </a:r>
            <a:endParaRPr lang="en-US" sz="1254" dirty="0"/>
          </a:p>
        </p:txBody>
      </p:sp>
      <p:sp>
        <p:nvSpPr>
          <p:cNvPr id="62" name="Shape 60"/>
          <p:cNvSpPr/>
          <p:nvPr/>
        </p:nvSpPr>
        <p:spPr>
          <a:xfrm>
            <a:off x="1234440" y="3474720"/>
            <a:ext cx="3209544" cy="0"/>
          </a:xfrm>
          <a:prstGeom prst="line">
            <a:avLst/>
          </a:prstGeom>
          <a:noFill/>
          <a:ln w="15875">
            <a:solidFill>
              <a:srgbClr val="1C2A22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572000" y="331012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</a:t>
            </a:r>
            <a:endParaRPr lang="en-US" sz="1250" dirty="0"/>
          </a:p>
        </p:txBody>
      </p:sp>
      <p:sp>
        <p:nvSpPr>
          <p:cNvPr id="64" name="Text 62"/>
          <p:cNvSpPr/>
          <p:nvPr/>
        </p:nvSpPr>
        <p:spPr>
          <a:xfrm>
            <a:off x="1234440" y="354787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4x</a:t>
            </a:r>
            <a:endParaRPr lang="en-US" sz="1900" dirty="0"/>
          </a:p>
        </p:txBody>
      </p:sp>
      <p:sp>
        <p:nvSpPr>
          <p:cNvPr id="65" name="Text 63"/>
          <p:cNvSpPr/>
          <p:nvPr/>
        </p:nvSpPr>
        <p:spPr>
          <a:xfrm>
            <a:off x="3227832" y="354787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900" dirty="0"/>
          </a:p>
        </p:txBody>
      </p:sp>
      <p:sp>
        <p:nvSpPr>
          <p:cNvPr id="66" name="Text 64"/>
          <p:cNvSpPr/>
          <p:nvPr/>
        </p:nvSpPr>
        <p:spPr>
          <a:xfrm>
            <a:off x="3575304" y="3547872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900" dirty="0"/>
          </a:p>
        </p:txBody>
      </p:sp>
      <p:sp>
        <p:nvSpPr>
          <p:cNvPr id="67" name="Text 65"/>
          <p:cNvSpPr/>
          <p:nvPr/>
        </p:nvSpPr>
        <p:spPr>
          <a:xfrm>
            <a:off x="1234440" y="391363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900" dirty="0"/>
          </a:p>
        </p:txBody>
      </p:sp>
      <p:sp>
        <p:nvSpPr>
          <p:cNvPr id="68" name="Text 66"/>
          <p:cNvSpPr/>
          <p:nvPr/>
        </p:nvSpPr>
        <p:spPr>
          <a:xfrm>
            <a:off x="3227832" y="391363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900" dirty="0"/>
          </a:p>
        </p:txBody>
      </p:sp>
      <p:sp>
        <p:nvSpPr>
          <p:cNvPr id="69" name="Text 67"/>
          <p:cNvSpPr/>
          <p:nvPr/>
        </p:nvSpPr>
        <p:spPr>
          <a:xfrm>
            <a:off x="3575304" y="3913632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70" name="Text 68"/>
          <p:cNvSpPr/>
          <p:nvPr/>
        </p:nvSpPr>
        <p:spPr>
          <a:xfrm>
            <a:off x="960120" y="4297680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Substitute  x = 2  into (2)   →   y = −1</a:t>
            </a:r>
            <a:endParaRPr lang="en-US" sz="1350" dirty="0"/>
          </a:p>
        </p:txBody>
      </p:sp>
      <p:sp>
        <p:nvSpPr>
          <p:cNvPr id="71" name="Shape 69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2" name="Text 70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2,   y = −1</a:t>
            </a:r>
            <a:endParaRPr lang="en-US" sz="23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· TASK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Practice — Some Need Rearranging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63040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630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Rearrange into standard form (ax + by = c) first where needed, then eliminate.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66928" y="233172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44144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1417320" y="2331720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3x + 2y = 11      and      5x − 2y = 13</a:t>
            </a:r>
            <a:endParaRPr lang="en-US" sz="1550" dirty="0"/>
          </a:p>
        </p:txBody>
      </p:sp>
      <p:sp>
        <p:nvSpPr>
          <p:cNvPr id="47" name="Text 45"/>
          <p:cNvSpPr/>
          <p:nvPr/>
        </p:nvSpPr>
        <p:spPr>
          <a:xfrm>
            <a:off x="10607040" y="2331720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566928" y="3054096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822960" y="3163824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22960" y="3163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1417320" y="3054096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+ b = 7      and      3a − b = 1</a:t>
            </a:r>
            <a:endParaRPr lang="en-US" sz="1550" dirty="0"/>
          </a:p>
        </p:txBody>
      </p:sp>
      <p:sp>
        <p:nvSpPr>
          <p:cNvPr id="52" name="Text 50"/>
          <p:cNvSpPr/>
          <p:nvPr/>
        </p:nvSpPr>
        <p:spPr>
          <a:xfrm>
            <a:off x="10607040" y="3054096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566928" y="3776472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822960" y="3886200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5" name="Text 53"/>
          <p:cNvSpPr/>
          <p:nvPr/>
        </p:nvSpPr>
        <p:spPr>
          <a:xfrm>
            <a:off x="82296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1417320" y="3776472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5p + 4q = 13      and      3p + 4q = 7</a:t>
            </a:r>
            <a:endParaRPr lang="en-US" sz="1550" dirty="0"/>
          </a:p>
        </p:txBody>
      </p:sp>
      <p:sp>
        <p:nvSpPr>
          <p:cNvPr id="57" name="Text 55"/>
          <p:cNvSpPr/>
          <p:nvPr/>
        </p:nvSpPr>
        <p:spPr>
          <a:xfrm>
            <a:off x="10607040" y="37764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566928" y="4498848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822960" y="4608576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0" name="Text 58"/>
          <p:cNvSpPr/>
          <p:nvPr/>
        </p:nvSpPr>
        <p:spPr>
          <a:xfrm>
            <a:off x="822960" y="4608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1417320" y="4498848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3x = 12 − y      and      2x + y = 9</a:t>
            </a:r>
            <a:endParaRPr lang="en-US" sz="1550" dirty="0"/>
          </a:p>
        </p:txBody>
      </p:sp>
      <p:sp>
        <p:nvSpPr>
          <p:cNvPr id="62" name="Text 60"/>
          <p:cNvSpPr/>
          <p:nvPr/>
        </p:nvSpPr>
        <p:spPr>
          <a:xfrm>
            <a:off x="10607040" y="4498848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250" dirty="0"/>
          </a:p>
        </p:txBody>
      </p:sp>
      <p:sp>
        <p:nvSpPr>
          <p:cNvPr id="63" name="Shape 61"/>
          <p:cNvSpPr/>
          <p:nvPr/>
        </p:nvSpPr>
        <p:spPr>
          <a:xfrm>
            <a:off x="566928" y="5221224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22960" y="5330952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5" name="Text 63"/>
          <p:cNvSpPr/>
          <p:nvPr/>
        </p:nvSpPr>
        <p:spPr>
          <a:xfrm>
            <a:off x="822960" y="5330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1417320" y="5221224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5x = 2y + 16      and      3x + 2y = 0</a:t>
            </a:r>
            <a:endParaRPr lang="en-US" sz="1550" dirty="0"/>
          </a:p>
        </p:txBody>
      </p:sp>
      <p:sp>
        <p:nvSpPr>
          <p:cNvPr id="67" name="Text 65"/>
          <p:cNvSpPr/>
          <p:nvPr/>
        </p:nvSpPr>
        <p:spPr>
          <a:xfrm>
            <a:off x="10607040" y="5221224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250" dirty="0"/>
          </a:p>
        </p:txBody>
      </p:sp>
      <p:sp>
        <p:nvSpPr>
          <p:cNvPr id="68" name="Shape 66"/>
          <p:cNvSpPr/>
          <p:nvPr/>
        </p:nvSpPr>
        <p:spPr>
          <a:xfrm>
            <a:off x="566928" y="5989320"/>
            <a:ext cx="11064240" cy="457200"/>
          </a:xfrm>
          <a:prstGeom prst="roundRect">
            <a:avLst>
              <a:gd name="adj" fmla="val 12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822960" y="59893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 </a:t>
            </a:r>
            <a:r>
              <a:rPr lang="en-US" sz="12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x=3, y=1     2) a=2, b=5     3) p=3, q=−0.5     4) x=3, y=3     5) x=2, y=−3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6916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Multiply to Match</a:t>
            </a:r>
            <a:endParaRPr lang="en-US" sz="4400" dirty="0"/>
          </a:p>
        </p:txBody>
      </p:sp>
      <p:sp>
        <p:nvSpPr>
          <p:cNvPr id="41" name="Text 39"/>
          <p:cNvSpPr/>
          <p:nvPr/>
        </p:nvSpPr>
        <p:spPr>
          <a:xfrm>
            <a:off x="804672" y="26974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nothing matches, scale one or both equations first.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868680" y="3611880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3611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1554480" y="361188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the letter to eliminate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868680" y="4325112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4325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1554480" y="4325112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Multiply to make its coefficients equal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868680" y="5038344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5038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554480" y="5038344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sign subtract, different sign add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868680" y="5751576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7515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1554480" y="575157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Solve, substitute, solve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ONE EQUATION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Scaling a Single Equation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idea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a letter by multiplying ONE equation.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 turns y into 2y, matching equation (2).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+2y → same sign → subtract.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one equation so a pair of coefficients line up.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1234440" y="178308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6x</a:t>
            </a:r>
            <a:endParaRPr lang="en-US" sz="1900" dirty="0"/>
          </a:p>
        </p:txBody>
      </p:sp>
      <p:sp>
        <p:nvSpPr>
          <p:cNvPr id="47" name="Text 45"/>
          <p:cNvSpPr/>
          <p:nvPr/>
        </p:nvSpPr>
        <p:spPr>
          <a:xfrm>
            <a:off x="2130552" y="178308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1900" dirty="0"/>
          </a:p>
        </p:txBody>
      </p:sp>
      <p:sp>
        <p:nvSpPr>
          <p:cNvPr id="48" name="Text 46"/>
          <p:cNvSpPr/>
          <p:nvPr/>
        </p:nvSpPr>
        <p:spPr>
          <a:xfrm>
            <a:off x="2459736" y="178308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1900" dirty="0"/>
          </a:p>
        </p:txBody>
      </p:sp>
      <p:sp>
        <p:nvSpPr>
          <p:cNvPr id="49" name="Text 47"/>
          <p:cNvSpPr/>
          <p:nvPr/>
        </p:nvSpPr>
        <p:spPr>
          <a:xfrm>
            <a:off x="3227832" y="178308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900" dirty="0"/>
          </a:p>
        </p:txBody>
      </p:sp>
      <p:sp>
        <p:nvSpPr>
          <p:cNvPr id="50" name="Text 48"/>
          <p:cNvSpPr/>
          <p:nvPr/>
        </p:nvSpPr>
        <p:spPr>
          <a:xfrm>
            <a:off x="3575304" y="1783080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−39</a:t>
            </a:r>
            <a:endParaRPr lang="en-US" sz="1900" dirty="0"/>
          </a:p>
        </p:txBody>
      </p:sp>
      <p:sp>
        <p:nvSpPr>
          <p:cNvPr id="51" name="Text 49"/>
          <p:cNvSpPr/>
          <p:nvPr/>
        </p:nvSpPr>
        <p:spPr>
          <a:xfrm>
            <a:off x="4599432" y="17830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4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</a:t>
            </a:r>
            <a:endParaRPr lang="en-US" sz="1254" dirty="0"/>
          </a:p>
        </p:txBody>
      </p:sp>
      <p:sp>
        <p:nvSpPr>
          <p:cNvPr id="52" name="Text 50"/>
          <p:cNvSpPr/>
          <p:nvPr/>
        </p:nvSpPr>
        <p:spPr>
          <a:xfrm>
            <a:off x="1234440" y="217627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3x</a:t>
            </a:r>
            <a:endParaRPr lang="en-US" sz="1900" dirty="0"/>
          </a:p>
        </p:txBody>
      </p:sp>
      <p:sp>
        <p:nvSpPr>
          <p:cNvPr id="53" name="Text 51"/>
          <p:cNvSpPr/>
          <p:nvPr/>
        </p:nvSpPr>
        <p:spPr>
          <a:xfrm>
            <a:off x="2130552" y="217627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1900" dirty="0"/>
          </a:p>
        </p:txBody>
      </p:sp>
      <p:sp>
        <p:nvSpPr>
          <p:cNvPr id="54" name="Text 52"/>
          <p:cNvSpPr/>
          <p:nvPr/>
        </p:nvSpPr>
        <p:spPr>
          <a:xfrm>
            <a:off x="2459736" y="2176272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2y</a:t>
            </a:r>
            <a:endParaRPr lang="en-US" sz="1900" dirty="0"/>
          </a:p>
        </p:txBody>
      </p:sp>
      <p:sp>
        <p:nvSpPr>
          <p:cNvPr id="55" name="Text 53"/>
          <p:cNvSpPr/>
          <p:nvPr/>
        </p:nvSpPr>
        <p:spPr>
          <a:xfrm>
            <a:off x="3227832" y="217627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900" dirty="0"/>
          </a:p>
        </p:txBody>
      </p:sp>
      <p:sp>
        <p:nvSpPr>
          <p:cNvPr id="56" name="Text 54"/>
          <p:cNvSpPr/>
          <p:nvPr/>
        </p:nvSpPr>
        <p:spPr>
          <a:xfrm>
            <a:off x="3575304" y="2176272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−15</a:t>
            </a:r>
            <a:endParaRPr lang="en-US" sz="1900" dirty="0"/>
          </a:p>
        </p:txBody>
      </p:sp>
      <p:sp>
        <p:nvSpPr>
          <p:cNvPr id="57" name="Text 55"/>
          <p:cNvSpPr/>
          <p:nvPr/>
        </p:nvSpPr>
        <p:spPr>
          <a:xfrm>
            <a:off x="4599432" y="217627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4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</a:t>
            </a:r>
            <a:endParaRPr lang="en-US" sz="1254" dirty="0"/>
          </a:p>
        </p:txBody>
      </p:sp>
      <p:sp>
        <p:nvSpPr>
          <p:cNvPr id="58" name="Text 56"/>
          <p:cNvSpPr/>
          <p:nvPr/>
        </p:nvSpPr>
        <p:spPr>
          <a:xfrm>
            <a:off x="960120" y="2560320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(1) by 2 to match the y-terms: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1234440" y="28529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12x</a:t>
            </a:r>
            <a:endParaRPr lang="en-US" sz="1900" dirty="0"/>
          </a:p>
        </p:txBody>
      </p:sp>
      <p:sp>
        <p:nvSpPr>
          <p:cNvPr id="60" name="Text 58"/>
          <p:cNvSpPr/>
          <p:nvPr/>
        </p:nvSpPr>
        <p:spPr>
          <a:xfrm>
            <a:off x="2130552" y="285292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1900" dirty="0"/>
          </a:p>
        </p:txBody>
      </p:sp>
      <p:sp>
        <p:nvSpPr>
          <p:cNvPr id="61" name="Text 59"/>
          <p:cNvSpPr/>
          <p:nvPr/>
        </p:nvSpPr>
        <p:spPr>
          <a:xfrm>
            <a:off x="2459736" y="2852928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2y</a:t>
            </a:r>
            <a:endParaRPr lang="en-US" sz="1900" dirty="0"/>
          </a:p>
        </p:txBody>
      </p:sp>
      <p:sp>
        <p:nvSpPr>
          <p:cNvPr id="62" name="Text 60"/>
          <p:cNvSpPr/>
          <p:nvPr/>
        </p:nvSpPr>
        <p:spPr>
          <a:xfrm>
            <a:off x="3227832" y="285292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900" dirty="0"/>
          </a:p>
        </p:txBody>
      </p:sp>
      <p:sp>
        <p:nvSpPr>
          <p:cNvPr id="63" name="Text 61"/>
          <p:cNvSpPr/>
          <p:nvPr/>
        </p:nvSpPr>
        <p:spPr>
          <a:xfrm>
            <a:off x="3575304" y="2852928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−78</a:t>
            </a:r>
            <a:endParaRPr lang="en-US" sz="1900" dirty="0"/>
          </a:p>
        </p:txBody>
      </p:sp>
      <p:sp>
        <p:nvSpPr>
          <p:cNvPr id="64" name="Text 62"/>
          <p:cNvSpPr/>
          <p:nvPr/>
        </p:nvSpPr>
        <p:spPr>
          <a:xfrm>
            <a:off x="4599432" y="285292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4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(1)×2</a:t>
            </a:r>
            <a:endParaRPr lang="en-US" sz="1254" dirty="0"/>
          </a:p>
        </p:txBody>
      </p:sp>
      <p:sp>
        <p:nvSpPr>
          <p:cNvPr id="65" name="Shape 63"/>
          <p:cNvSpPr/>
          <p:nvPr/>
        </p:nvSpPr>
        <p:spPr>
          <a:xfrm>
            <a:off x="1234440" y="3273552"/>
            <a:ext cx="3209544" cy="0"/>
          </a:xfrm>
          <a:prstGeom prst="line">
            <a:avLst/>
          </a:prstGeom>
          <a:noFill/>
          <a:ln w="15875">
            <a:solidFill>
              <a:srgbClr val="1C2A22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572000" y="310896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SUBTRACT</a:t>
            </a:r>
            <a:endParaRPr lang="en-US" sz="1250" dirty="0"/>
          </a:p>
        </p:txBody>
      </p:sp>
      <p:sp>
        <p:nvSpPr>
          <p:cNvPr id="67" name="Text 65"/>
          <p:cNvSpPr/>
          <p:nvPr/>
        </p:nvSpPr>
        <p:spPr>
          <a:xfrm>
            <a:off x="1234440" y="334670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9x</a:t>
            </a:r>
            <a:endParaRPr lang="en-US" sz="1900" dirty="0"/>
          </a:p>
        </p:txBody>
      </p:sp>
      <p:sp>
        <p:nvSpPr>
          <p:cNvPr id="68" name="Text 66"/>
          <p:cNvSpPr/>
          <p:nvPr/>
        </p:nvSpPr>
        <p:spPr>
          <a:xfrm>
            <a:off x="3227832" y="334670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900" dirty="0"/>
          </a:p>
        </p:txBody>
      </p:sp>
      <p:sp>
        <p:nvSpPr>
          <p:cNvPr id="69" name="Text 67"/>
          <p:cNvSpPr/>
          <p:nvPr/>
        </p:nvSpPr>
        <p:spPr>
          <a:xfrm>
            <a:off x="3575304" y="3346704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−63</a:t>
            </a:r>
            <a:endParaRPr lang="en-US" sz="1900" dirty="0"/>
          </a:p>
        </p:txBody>
      </p:sp>
      <p:sp>
        <p:nvSpPr>
          <p:cNvPr id="70" name="Text 68"/>
          <p:cNvSpPr/>
          <p:nvPr/>
        </p:nvSpPr>
        <p:spPr>
          <a:xfrm>
            <a:off x="1234440" y="37490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900" dirty="0"/>
          </a:p>
        </p:txBody>
      </p:sp>
      <p:sp>
        <p:nvSpPr>
          <p:cNvPr id="71" name="Text 69"/>
          <p:cNvSpPr/>
          <p:nvPr/>
        </p:nvSpPr>
        <p:spPr>
          <a:xfrm>
            <a:off x="3227832" y="374904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900" dirty="0"/>
          </a:p>
        </p:txBody>
      </p:sp>
      <p:sp>
        <p:nvSpPr>
          <p:cNvPr id="72" name="Text 70"/>
          <p:cNvSpPr/>
          <p:nvPr/>
        </p:nvSpPr>
        <p:spPr>
          <a:xfrm>
            <a:off x="3575304" y="3749040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−7</a:t>
            </a:r>
            <a:endParaRPr lang="en-US" sz="1900" dirty="0"/>
          </a:p>
        </p:txBody>
      </p:sp>
      <p:sp>
        <p:nvSpPr>
          <p:cNvPr id="73" name="Text 71"/>
          <p:cNvSpPr/>
          <p:nvPr/>
        </p:nvSpPr>
        <p:spPr>
          <a:xfrm>
            <a:off x="960120" y="4133088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 into (1):  6(−7) + y = −39</a:t>
            </a:r>
            <a:endParaRPr lang="en-US" sz="1400" dirty="0"/>
          </a:p>
        </p:txBody>
      </p:sp>
      <p:sp>
        <p:nvSpPr>
          <p:cNvPr id="74" name="Text 72"/>
          <p:cNvSpPr/>
          <p:nvPr/>
        </p:nvSpPr>
        <p:spPr>
          <a:xfrm>
            <a:off x="1234440" y="444398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1900" dirty="0"/>
          </a:p>
        </p:txBody>
      </p:sp>
      <p:sp>
        <p:nvSpPr>
          <p:cNvPr id="75" name="Text 73"/>
          <p:cNvSpPr/>
          <p:nvPr/>
        </p:nvSpPr>
        <p:spPr>
          <a:xfrm>
            <a:off x="3227832" y="444398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900" dirty="0"/>
          </a:p>
        </p:txBody>
      </p:sp>
      <p:sp>
        <p:nvSpPr>
          <p:cNvPr id="76" name="Text 74"/>
          <p:cNvSpPr/>
          <p:nvPr/>
        </p:nvSpPr>
        <p:spPr>
          <a:xfrm>
            <a:off x="3575304" y="4443984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77" name="Shape 75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8" name="Text 76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−7,   y = 3</a:t>
            </a:r>
            <a:endParaRPr lang="en-US" sz="23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BOTH EQUATIONS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Scaling Both Equations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idea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multiply works, so scale BOTH.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LCM of 2 and 3 is 6 → make both 6y.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−6y → same sign → subtract.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LCM of the coefficients to choose both multipliers.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1234440" y="175564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5x</a:t>
            </a:r>
            <a:endParaRPr lang="en-US" sz="1900" dirty="0"/>
          </a:p>
        </p:txBody>
      </p:sp>
      <p:sp>
        <p:nvSpPr>
          <p:cNvPr id="47" name="Text 45"/>
          <p:cNvSpPr/>
          <p:nvPr/>
        </p:nvSpPr>
        <p:spPr>
          <a:xfrm>
            <a:off x="2130552" y="175564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</a:t>
            </a:r>
            <a:endParaRPr lang="en-US" sz="1900" dirty="0"/>
          </a:p>
        </p:txBody>
      </p:sp>
      <p:sp>
        <p:nvSpPr>
          <p:cNvPr id="48" name="Text 46"/>
          <p:cNvSpPr/>
          <p:nvPr/>
        </p:nvSpPr>
        <p:spPr>
          <a:xfrm>
            <a:off x="2459736" y="1755648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2y</a:t>
            </a:r>
            <a:endParaRPr lang="en-US" sz="1900" dirty="0"/>
          </a:p>
        </p:txBody>
      </p:sp>
      <p:sp>
        <p:nvSpPr>
          <p:cNvPr id="49" name="Text 47"/>
          <p:cNvSpPr/>
          <p:nvPr/>
        </p:nvSpPr>
        <p:spPr>
          <a:xfrm>
            <a:off x="3227832" y="175564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900" dirty="0"/>
          </a:p>
        </p:txBody>
      </p:sp>
      <p:sp>
        <p:nvSpPr>
          <p:cNvPr id="50" name="Text 48"/>
          <p:cNvSpPr/>
          <p:nvPr/>
        </p:nvSpPr>
        <p:spPr>
          <a:xfrm>
            <a:off x="3575304" y="1755648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900" dirty="0"/>
          </a:p>
        </p:txBody>
      </p:sp>
      <p:sp>
        <p:nvSpPr>
          <p:cNvPr id="51" name="Text 49"/>
          <p:cNvSpPr/>
          <p:nvPr/>
        </p:nvSpPr>
        <p:spPr>
          <a:xfrm>
            <a:off x="4599432" y="175564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4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</a:t>
            </a:r>
            <a:endParaRPr lang="en-US" sz="1254" dirty="0"/>
          </a:p>
        </p:txBody>
      </p:sp>
      <p:sp>
        <p:nvSpPr>
          <p:cNvPr id="52" name="Text 50"/>
          <p:cNvSpPr/>
          <p:nvPr/>
        </p:nvSpPr>
        <p:spPr>
          <a:xfrm>
            <a:off x="1234440" y="212140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4x</a:t>
            </a:r>
            <a:endParaRPr lang="en-US" sz="1900" dirty="0"/>
          </a:p>
        </p:txBody>
      </p:sp>
      <p:sp>
        <p:nvSpPr>
          <p:cNvPr id="53" name="Text 51"/>
          <p:cNvSpPr/>
          <p:nvPr/>
        </p:nvSpPr>
        <p:spPr>
          <a:xfrm>
            <a:off x="2130552" y="212140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</a:t>
            </a:r>
            <a:endParaRPr lang="en-US" sz="1900" dirty="0"/>
          </a:p>
        </p:txBody>
      </p:sp>
      <p:sp>
        <p:nvSpPr>
          <p:cNvPr id="54" name="Text 52"/>
          <p:cNvSpPr/>
          <p:nvPr/>
        </p:nvSpPr>
        <p:spPr>
          <a:xfrm>
            <a:off x="2459736" y="2121408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3y</a:t>
            </a:r>
            <a:endParaRPr lang="en-US" sz="1900" dirty="0"/>
          </a:p>
        </p:txBody>
      </p:sp>
      <p:sp>
        <p:nvSpPr>
          <p:cNvPr id="55" name="Text 53"/>
          <p:cNvSpPr/>
          <p:nvPr/>
        </p:nvSpPr>
        <p:spPr>
          <a:xfrm>
            <a:off x="3227832" y="212140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900" dirty="0"/>
          </a:p>
        </p:txBody>
      </p:sp>
      <p:sp>
        <p:nvSpPr>
          <p:cNvPr id="56" name="Text 54"/>
          <p:cNvSpPr/>
          <p:nvPr/>
        </p:nvSpPr>
        <p:spPr>
          <a:xfrm>
            <a:off x="3575304" y="2121408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900" dirty="0"/>
          </a:p>
        </p:txBody>
      </p:sp>
      <p:sp>
        <p:nvSpPr>
          <p:cNvPr id="57" name="Text 55"/>
          <p:cNvSpPr/>
          <p:nvPr/>
        </p:nvSpPr>
        <p:spPr>
          <a:xfrm>
            <a:off x="4599432" y="212140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4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</a:t>
            </a:r>
            <a:endParaRPr lang="en-US" sz="1254" dirty="0"/>
          </a:p>
        </p:txBody>
      </p:sp>
      <p:sp>
        <p:nvSpPr>
          <p:cNvPr id="58" name="Text 56"/>
          <p:cNvSpPr/>
          <p:nvPr/>
        </p:nvSpPr>
        <p:spPr>
          <a:xfrm>
            <a:off x="960120" y="2487168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y: multiply (1)×3 and (2)×2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1234440" y="276148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15x</a:t>
            </a:r>
            <a:endParaRPr lang="en-US" sz="1900" dirty="0"/>
          </a:p>
        </p:txBody>
      </p:sp>
      <p:sp>
        <p:nvSpPr>
          <p:cNvPr id="60" name="Text 58"/>
          <p:cNvSpPr/>
          <p:nvPr/>
        </p:nvSpPr>
        <p:spPr>
          <a:xfrm>
            <a:off x="2130552" y="276148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</a:t>
            </a:r>
            <a:endParaRPr lang="en-US" sz="1900" dirty="0"/>
          </a:p>
        </p:txBody>
      </p:sp>
      <p:sp>
        <p:nvSpPr>
          <p:cNvPr id="61" name="Text 59"/>
          <p:cNvSpPr/>
          <p:nvPr/>
        </p:nvSpPr>
        <p:spPr>
          <a:xfrm>
            <a:off x="2459736" y="2761488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6y</a:t>
            </a:r>
            <a:endParaRPr lang="en-US" sz="1900" dirty="0"/>
          </a:p>
        </p:txBody>
      </p:sp>
      <p:sp>
        <p:nvSpPr>
          <p:cNvPr id="62" name="Text 60"/>
          <p:cNvSpPr/>
          <p:nvPr/>
        </p:nvSpPr>
        <p:spPr>
          <a:xfrm>
            <a:off x="3227832" y="276148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900" dirty="0"/>
          </a:p>
        </p:txBody>
      </p:sp>
      <p:sp>
        <p:nvSpPr>
          <p:cNvPr id="63" name="Text 61"/>
          <p:cNvSpPr/>
          <p:nvPr/>
        </p:nvSpPr>
        <p:spPr>
          <a:xfrm>
            <a:off x="3575304" y="2761488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</a:t>
            </a:r>
            <a:endParaRPr lang="en-US" sz="1900" dirty="0"/>
          </a:p>
        </p:txBody>
      </p:sp>
      <p:sp>
        <p:nvSpPr>
          <p:cNvPr id="64" name="Text 62"/>
          <p:cNvSpPr/>
          <p:nvPr/>
        </p:nvSpPr>
        <p:spPr>
          <a:xfrm>
            <a:off x="4599432" y="276148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4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(1)×3</a:t>
            </a:r>
            <a:endParaRPr lang="en-US" sz="1254" dirty="0"/>
          </a:p>
        </p:txBody>
      </p:sp>
      <p:sp>
        <p:nvSpPr>
          <p:cNvPr id="65" name="Text 63"/>
          <p:cNvSpPr/>
          <p:nvPr/>
        </p:nvSpPr>
        <p:spPr>
          <a:xfrm>
            <a:off x="1234440" y="312724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8x</a:t>
            </a:r>
            <a:endParaRPr lang="en-US" sz="1900" dirty="0"/>
          </a:p>
        </p:txBody>
      </p:sp>
      <p:sp>
        <p:nvSpPr>
          <p:cNvPr id="66" name="Text 64"/>
          <p:cNvSpPr/>
          <p:nvPr/>
        </p:nvSpPr>
        <p:spPr>
          <a:xfrm>
            <a:off x="2130552" y="312724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</a:t>
            </a:r>
            <a:endParaRPr lang="en-US" sz="1900" dirty="0"/>
          </a:p>
        </p:txBody>
      </p:sp>
      <p:sp>
        <p:nvSpPr>
          <p:cNvPr id="67" name="Text 65"/>
          <p:cNvSpPr/>
          <p:nvPr/>
        </p:nvSpPr>
        <p:spPr>
          <a:xfrm>
            <a:off x="2459736" y="3127248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6y</a:t>
            </a:r>
            <a:endParaRPr lang="en-US" sz="1900" dirty="0"/>
          </a:p>
        </p:txBody>
      </p:sp>
      <p:sp>
        <p:nvSpPr>
          <p:cNvPr id="68" name="Text 66"/>
          <p:cNvSpPr/>
          <p:nvPr/>
        </p:nvSpPr>
        <p:spPr>
          <a:xfrm>
            <a:off x="3227832" y="312724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900" dirty="0"/>
          </a:p>
        </p:txBody>
      </p:sp>
      <p:sp>
        <p:nvSpPr>
          <p:cNvPr id="69" name="Text 67"/>
          <p:cNvSpPr/>
          <p:nvPr/>
        </p:nvSpPr>
        <p:spPr>
          <a:xfrm>
            <a:off x="3575304" y="3127248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1900" dirty="0"/>
          </a:p>
        </p:txBody>
      </p:sp>
      <p:sp>
        <p:nvSpPr>
          <p:cNvPr id="70" name="Text 68"/>
          <p:cNvSpPr/>
          <p:nvPr/>
        </p:nvSpPr>
        <p:spPr>
          <a:xfrm>
            <a:off x="4599432" y="312724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4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(2)×2</a:t>
            </a:r>
            <a:endParaRPr lang="en-US" sz="1254" dirty="0"/>
          </a:p>
        </p:txBody>
      </p:sp>
      <p:sp>
        <p:nvSpPr>
          <p:cNvPr id="71" name="Shape 69"/>
          <p:cNvSpPr/>
          <p:nvPr/>
        </p:nvSpPr>
        <p:spPr>
          <a:xfrm>
            <a:off x="1234440" y="3511296"/>
            <a:ext cx="3209544" cy="0"/>
          </a:xfrm>
          <a:prstGeom prst="line">
            <a:avLst/>
          </a:prstGeom>
          <a:noFill/>
          <a:ln w="15875">
            <a:solidFill>
              <a:srgbClr val="1C2A22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572000" y="334670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SUBTRACT</a:t>
            </a:r>
            <a:endParaRPr lang="en-US" sz="1250" dirty="0"/>
          </a:p>
        </p:txBody>
      </p:sp>
      <p:sp>
        <p:nvSpPr>
          <p:cNvPr id="73" name="Text 71"/>
          <p:cNvSpPr/>
          <p:nvPr/>
        </p:nvSpPr>
        <p:spPr>
          <a:xfrm>
            <a:off x="1234440" y="358444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7x</a:t>
            </a:r>
            <a:endParaRPr lang="en-US" sz="1900" dirty="0"/>
          </a:p>
        </p:txBody>
      </p:sp>
      <p:sp>
        <p:nvSpPr>
          <p:cNvPr id="74" name="Text 72"/>
          <p:cNvSpPr/>
          <p:nvPr/>
        </p:nvSpPr>
        <p:spPr>
          <a:xfrm>
            <a:off x="3227832" y="358444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900" dirty="0"/>
          </a:p>
        </p:txBody>
      </p:sp>
      <p:sp>
        <p:nvSpPr>
          <p:cNvPr id="75" name="Text 73"/>
          <p:cNvSpPr/>
          <p:nvPr/>
        </p:nvSpPr>
        <p:spPr>
          <a:xfrm>
            <a:off x="3575304" y="3584448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</a:t>
            </a:r>
            <a:endParaRPr lang="en-US" sz="1900" dirty="0"/>
          </a:p>
        </p:txBody>
      </p:sp>
      <p:sp>
        <p:nvSpPr>
          <p:cNvPr id="76" name="Text 74"/>
          <p:cNvSpPr/>
          <p:nvPr/>
        </p:nvSpPr>
        <p:spPr>
          <a:xfrm>
            <a:off x="1234440" y="395020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900" dirty="0"/>
          </a:p>
        </p:txBody>
      </p:sp>
      <p:sp>
        <p:nvSpPr>
          <p:cNvPr id="77" name="Text 75"/>
          <p:cNvSpPr/>
          <p:nvPr/>
        </p:nvSpPr>
        <p:spPr>
          <a:xfrm>
            <a:off x="3227832" y="395020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900" dirty="0"/>
          </a:p>
        </p:txBody>
      </p:sp>
      <p:sp>
        <p:nvSpPr>
          <p:cNvPr id="78" name="Text 76"/>
          <p:cNvSpPr/>
          <p:nvPr/>
        </p:nvSpPr>
        <p:spPr>
          <a:xfrm>
            <a:off x="3575304" y="3950208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900" dirty="0"/>
          </a:p>
        </p:txBody>
      </p:sp>
      <p:sp>
        <p:nvSpPr>
          <p:cNvPr id="79" name="Text 77"/>
          <p:cNvSpPr/>
          <p:nvPr/>
        </p:nvSpPr>
        <p:spPr>
          <a:xfrm>
            <a:off x="960120" y="4407408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Substitute  x = 7  into (1)   →   y = 5</a:t>
            </a:r>
            <a:endParaRPr lang="en-US" sz="1350" dirty="0"/>
          </a:p>
        </p:txBody>
      </p:sp>
      <p:sp>
        <p:nvSpPr>
          <p:cNvPr id="80" name="Shape 78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7,   y = 5</a:t>
            </a:r>
            <a:endParaRPr lang="en-US" sz="23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WORDED PROBLEM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Numbers: Sum and Difference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idea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each sentence into an equation.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‘Sum’ → +,  ‘difference’ → −.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signs on y → add to eliminate.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your unknowns first, then form one equation per sentence.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960120" y="1755648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sum is 130; their difference is 38.</a:t>
            </a:r>
            <a:endParaRPr lang="en-US" sz="1350" dirty="0"/>
          </a:p>
        </p:txBody>
      </p:sp>
      <p:sp>
        <p:nvSpPr>
          <p:cNvPr id="47" name="Text 45"/>
          <p:cNvSpPr/>
          <p:nvPr/>
        </p:nvSpPr>
        <p:spPr>
          <a:xfrm>
            <a:off x="960120" y="2029968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 numbers be x and y: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1234440" y="23774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900" dirty="0"/>
          </a:p>
        </p:txBody>
      </p:sp>
      <p:sp>
        <p:nvSpPr>
          <p:cNvPr id="49" name="Text 47"/>
          <p:cNvSpPr/>
          <p:nvPr/>
        </p:nvSpPr>
        <p:spPr>
          <a:xfrm>
            <a:off x="2130552" y="237744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1900" dirty="0"/>
          </a:p>
        </p:txBody>
      </p:sp>
      <p:sp>
        <p:nvSpPr>
          <p:cNvPr id="50" name="Text 48"/>
          <p:cNvSpPr/>
          <p:nvPr/>
        </p:nvSpPr>
        <p:spPr>
          <a:xfrm>
            <a:off x="2459736" y="237744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1900" dirty="0"/>
          </a:p>
        </p:txBody>
      </p:sp>
      <p:sp>
        <p:nvSpPr>
          <p:cNvPr id="51" name="Text 49"/>
          <p:cNvSpPr/>
          <p:nvPr/>
        </p:nvSpPr>
        <p:spPr>
          <a:xfrm>
            <a:off x="3227832" y="237744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900" dirty="0"/>
          </a:p>
        </p:txBody>
      </p:sp>
      <p:sp>
        <p:nvSpPr>
          <p:cNvPr id="52" name="Text 50"/>
          <p:cNvSpPr/>
          <p:nvPr/>
        </p:nvSpPr>
        <p:spPr>
          <a:xfrm>
            <a:off x="3575304" y="2377440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130</a:t>
            </a:r>
            <a:endParaRPr lang="en-US" sz="1900" dirty="0"/>
          </a:p>
        </p:txBody>
      </p:sp>
      <p:sp>
        <p:nvSpPr>
          <p:cNvPr id="53" name="Text 51"/>
          <p:cNvSpPr/>
          <p:nvPr/>
        </p:nvSpPr>
        <p:spPr>
          <a:xfrm>
            <a:off x="4599432" y="237744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4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</a:t>
            </a:r>
            <a:endParaRPr lang="en-US" sz="1254" dirty="0"/>
          </a:p>
        </p:txBody>
      </p:sp>
      <p:sp>
        <p:nvSpPr>
          <p:cNvPr id="54" name="Text 52"/>
          <p:cNvSpPr/>
          <p:nvPr/>
        </p:nvSpPr>
        <p:spPr>
          <a:xfrm>
            <a:off x="960120" y="2761488"/>
            <a:ext cx="237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1900" dirty="0"/>
          </a:p>
        </p:txBody>
      </p:sp>
      <p:sp>
        <p:nvSpPr>
          <p:cNvPr id="55" name="Text 53"/>
          <p:cNvSpPr/>
          <p:nvPr/>
        </p:nvSpPr>
        <p:spPr>
          <a:xfrm>
            <a:off x="1234440" y="276148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900" dirty="0"/>
          </a:p>
        </p:txBody>
      </p:sp>
      <p:sp>
        <p:nvSpPr>
          <p:cNvPr id="56" name="Text 54"/>
          <p:cNvSpPr/>
          <p:nvPr/>
        </p:nvSpPr>
        <p:spPr>
          <a:xfrm>
            <a:off x="2130552" y="276148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</a:t>
            </a:r>
            <a:endParaRPr lang="en-US" sz="1900" dirty="0"/>
          </a:p>
        </p:txBody>
      </p:sp>
      <p:sp>
        <p:nvSpPr>
          <p:cNvPr id="57" name="Text 55"/>
          <p:cNvSpPr/>
          <p:nvPr/>
        </p:nvSpPr>
        <p:spPr>
          <a:xfrm>
            <a:off x="2459736" y="2761488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1900" dirty="0"/>
          </a:p>
        </p:txBody>
      </p:sp>
      <p:sp>
        <p:nvSpPr>
          <p:cNvPr id="58" name="Text 56"/>
          <p:cNvSpPr/>
          <p:nvPr/>
        </p:nvSpPr>
        <p:spPr>
          <a:xfrm>
            <a:off x="3227832" y="276148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900" dirty="0"/>
          </a:p>
        </p:txBody>
      </p:sp>
      <p:sp>
        <p:nvSpPr>
          <p:cNvPr id="59" name="Text 57"/>
          <p:cNvSpPr/>
          <p:nvPr/>
        </p:nvSpPr>
        <p:spPr>
          <a:xfrm>
            <a:off x="3575304" y="2761488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1900" dirty="0"/>
          </a:p>
        </p:txBody>
      </p:sp>
      <p:sp>
        <p:nvSpPr>
          <p:cNvPr id="60" name="Text 58"/>
          <p:cNvSpPr/>
          <p:nvPr/>
        </p:nvSpPr>
        <p:spPr>
          <a:xfrm>
            <a:off x="4599432" y="276148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4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</a:t>
            </a:r>
            <a:endParaRPr lang="en-US" sz="1254" dirty="0"/>
          </a:p>
        </p:txBody>
      </p:sp>
      <p:sp>
        <p:nvSpPr>
          <p:cNvPr id="61" name="Shape 59"/>
          <p:cNvSpPr/>
          <p:nvPr/>
        </p:nvSpPr>
        <p:spPr>
          <a:xfrm>
            <a:off x="1234440" y="3182112"/>
            <a:ext cx="3209544" cy="0"/>
          </a:xfrm>
          <a:prstGeom prst="line">
            <a:avLst/>
          </a:prstGeom>
          <a:noFill/>
          <a:ln w="15875">
            <a:solidFill>
              <a:srgbClr val="1C2A22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72000" y="30175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</a:t>
            </a:r>
            <a:endParaRPr lang="en-US" sz="1250" dirty="0"/>
          </a:p>
        </p:txBody>
      </p:sp>
      <p:sp>
        <p:nvSpPr>
          <p:cNvPr id="63" name="Text 61"/>
          <p:cNvSpPr/>
          <p:nvPr/>
        </p:nvSpPr>
        <p:spPr>
          <a:xfrm>
            <a:off x="1234440" y="325526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2x</a:t>
            </a:r>
            <a:endParaRPr lang="en-US" sz="1900" dirty="0"/>
          </a:p>
        </p:txBody>
      </p:sp>
      <p:sp>
        <p:nvSpPr>
          <p:cNvPr id="64" name="Text 62"/>
          <p:cNvSpPr/>
          <p:nvPr/>
        </p:nvSpPr>
        <p:spPr>
          <a:xfrm>
            <a:off x="3227832" y="325526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900" dirty="0"/>
          </a:p>
        </p:txBody>
      </p:sp>
      <p:sp>
        <p:nvSpPr>
          <p:cNvPr id="65" name="Text 63"/>
          <p:cNvSpPr/>
          <p:nvPr/>
        </p:nvSpPr>
        <p:spPr>
          <a:xfrm>
            <a:off x="3575304" y="3255264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168</a:t>
            </a:r>
            <a:endParaRPr lang="en-US" sz="1900" dirty="0"/>
          </a:p>
        </p:txBody>
      </p:sp>
      <p:sp>
        <p:nvSpPr>
          <p:cNvPr id="66" name="Text 64"/>
          <p:cNvSpPr/>
          <p:nvPr/>
        </p:nvSpPr>
        <p:spPr>
          <a:xfrm>
            <a:off x="1234440" y="36393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900" dirty="0"/>
          </a:p>
        </p:txBody>
      </p:sp>
      <p:sp>
        <p:nvSpPr>
          <p:cNvPr id="67" name="Text 65"/>
          <p:cNvSpPr/>
          <p:nvPr/>
        </p:nvSpPr>
        <p:spPr>
          <a:xfrm>
            <a:off x="3227832" y="36393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900" dirty="0"/>
          </a:p>
        </p:txBody>
      </p:sp>
      <p:sp>
        <p:nvSpPr>
          <p:cNvPr id="68" name="Text 66"/>
          <p:cNvSpPr/>
          <p:nvPr/>
        </p:nvSpPr>
        <p:spPr>
          <a:xfrm>
            <a:off x="3575304" y="3639312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</a:t>
            </a:r>
            <a:endParaRPr lang="en-US" sz="1900" dirty="0"/>
          </a:p>
        </p:txBody>
      </p:sp>
      <p:sp>
        <p:nvSpPr>
          <p:cNvPr id="69" name="Text 67"/>
          <p:cNvSpPr/>
          <p:nvPr/>
        </p:nvSpPr>
        <p:spPr>
          <a:xfrm>
            <a:off x="960120" y="4023360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 into (1):  84 + y = 130</a:t>
            </a:r>
            <a:endParaRPr lang="en-US" sz="1500" dirty="0"/>
          </a:p>
        </p:txBody>
      </p:sp>
      <p:sp>
        <p:nvSpPr>
          <p:cNvPr id="70" name="Text 68"/>
          <p:cNvSpPr/>
          <p:nvPr/>
        </p:nvSpPr>
        <p:spPr>
          <a:xfrm>
            <a:off x="1234440" y="437083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1900" dirty="0"/>
          </a:p>
        </p:txBody>
      </p:sp>
      <p:sp>
        <p:nvSpPr>
          <p:cNvPr id="71" name="Text 69"/>
          <p:cNvSpPr/>
          <p:nvPr/>
        </p:nvSpPr>
        <p:spPr>
          <a:xfrm>
            <a:off x="3227832" y="437083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900" dirty="0"/>
          </a:p>
        </p:txBody>
      </p:sp>
      <p:sp>
        <p:nvSpPr>
          <p:cNvPr id="72" name="Text 70"/>
          <p:cNvSpPr/>
          <p:nvPr/>
        </p:nvSpPr>
        <p:spPr>
          <a:xfrm>
            <a:off x="3575304" y="4370832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1900" dirty="0"/>
          </a:p>
        </p:txBody>
      </p:sp>
      <p:sp>
        <p:nvSpPr>
          <p:cNvPr id="73" name="Shape 71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numbers are 84 and 46</a:t>
            </a:r>
            <a:endParaRPr lang="en-US" sz="23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QUESTION · EDEXCEL SAM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Higher Tier Sample Assessment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carefully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Cutting in half halves one side — form a perimeter equation each way.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2a + b = 50 and a + 2b = 64.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wants the ORIGINAL perimeter: 2(a + b).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answer what is asked — here the original sheet’s perimeter, not a or b.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960120" y="1737360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 a by b. Cut one way: each perimeter 50.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960120" y="1993392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the other way: each perimeter 64.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1234440" y="234086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2a</a:t>
            </a:r>
            <a:endParaRPr lang="en-US" sz="1900" dirty="0"/>
          </a:p>
        </p:txBody>
      </p:sp>
      <p:sp>
        <p:nvSpPr>
          <p:cNvPr id="49" name="Text 47"/>
          <p:cNvSpPr/>
          <p:nvPr/>
        </p:nvSpPr>
        <p:spPr>
          <a:xfrm>
            <a:off x="2130552" y="234086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1900" dirty="0"/>
          </a:p>
        </p:txBody>
      </p:sp>
      <p:sp>
        <p:nvSpPr>
          <p:cNvPr id="50" name="Text 48"/>
          <p:cNvSpPr/>
          <p:nvPr/>
        </p:nvSpPr>
        <p:spPr>
          <a:xfrm>
            <a:off x="2459736" y="2340864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900" dirty="0"/>
          </a:p>
        </p:txBody>
      </p:sp>
      <p:sp>
        <p:nvSpPr>
          <p:cNvPr id="51" name="Text 49"/>
          <p:cNvSpPr/>
          <p:nvPr/>
        </p:nvSpPr>
        <p:spPr>
          <a:xfrm>
            <a:off x="3227832" y="234086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900" dirty="0"/>
          </a:p>
        </p:txBody>
      </p:sp>
      <p:sp>
        <p:nvSpPr>
          <p:cNvPr id="52" name="Text 50"/>
          <p:cNvSpPr/>
          <p:nvPr/>
        </p:nvSpPr>
        <p:spPr>
          <a:xfrm>
            <a:off x="3575304" y="2340864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1900" dirty="0"/>
          </a:p>
        </p:txBody>
      </p:sp>
      <p:sp>
        <p:nvSpPr>
          <p:cNvPr id="53" name="Text 51"/>
          <p:cNvSpPr/>
          <p:nvPr/>
        </p:nvSpPr>
        <p:spPr>
          <a:xfrm>
            <a:off x="4599432" y="234086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4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</a:t>
            </a:r>
            <a:endParaRPr lang="en-US" sz="1254" dirty="0"/>
          </a:p>
        </p:txBody>
      </p:sp>
      <p:sp>
        <p:nvSpPr>
          <p:cNvPr id="54" name="Text 52"/>
          <p:cNvSpPr/>
          <p:nvPr/>
        </p:nvSpPr>
        <p:spPr>
          <a:xfrm>
            <a:off x="1234440" y="27249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900" dirty="0"/>
          </a:p>
        </p:txBody>
      </p:sp>
      <p:sp>
        <p:nvSpPr>
          <p:cNvPr id="55" name="Text 53"/>
          <p:cNvSpPr/>
          <p:nvPr/>
        </p:nvSpPr>
        <p:spPr>
          <a:xfrm>
            <a:off x="2130552" y="27249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1900" dirty="0"/>
          </a:p>
        </p:txBody>
      </p:sp>
      <p:sp>
        <p:nvSpPr>
          <p:cNvPr id="56" name="Text 54"/>
          <p:cNvSpPr/>
          <p:nvPr/>
        </p:nvSpPr>
        <p:spPr>
          <a:xfrm>
            <a:off x="2459736" y="2724912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2b</a:t>
            </a:r>
            <a:endParaRPr lang="en-US" sz="1900" dirty="0"/>
          </a:p>
        </p:txBody>
      </p:sp>
      <p:sp>
        <p:nvSpPr>
          <p:cNvPr id="57" name="Text 55"/>
          <p:cNvSpPr/>
          <p:nvPr/>
        </p:nvSpPr>
        <p:spPr>
          <a:xfrm>
            <a:off x="3227832" y="27249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900" dirty="0"/>
          </a:p>
        </p:txBody>
      </p:sp>
      <p:sp>
        <p:nvSpPr>
          <p:cNvPr id="58" name="Text 56"/>
          <p:cNvSpPr/>
          <p:nvPr/>
        </p:nvSpPr>
        <p:spPr>
          <a:xfrm>
            <a:off x="3575304" y="2724912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</a:t>
            </a:r>
            <a:endParaRPr lang="en-US" sz="1900" dirty="0"/>
          </a:p>
        </p:txBody>
      </p:sp>
      <p:sp>
        <p:nvSpPr>
          <p:cNvPr id="59" name="Text 57"/>
          <p:cNvSpPr/>
          <p:nvPr/>
        </p:nvSpPr>
        <p:spPr>
          <a:xfrm>
            <a:off x="4599432" y="272491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4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</a:t>
            </a:r>
            <a:endParaRPr lang="en-US" sz="1254" dirty="0"/>
          </a:p>
        </p:txBody>
      </p:sp>
      <p:sp>
        <p:nvSpPr>
          <p:cNvPr id="60" name="Text 58"/>
          <p:cNvSpPr/>
          <p:nvPr/>
        </p:nvSpPr>
        <p:spPr>
          <a:xfrm>
            <a:off x="960120" y="3108960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(1)×2:  4a + 2b = 100,  then subtract (2):</a:t>
            </a:r>
            <a:endParaRPr lang="en-US" sz="1250" dirty="0"/>
          </a:p>
        </p:txBody>
      </p:sp>
      <p:sp>
        <p:nvSpPr>
          <p:cNvPr id="61" name="Text 59"/>
          <p:cNvSpPr/>
          <p:nvPr/>
        </p:nvSpPr>
        <p:spPr>
          <a:xfrm>
            <a:off x="1234440" y="341985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3a</a:t>
            </a:r>
            <a:endParaRPr lang="en-US" sz="1900" dirty="0"/>
          </a:p>
        </p:txBody>
      </p:sp>
      <p:sp>
        <p:nvSpPr>
          <p:cNvPr id="62" name="Text 60"/>
          <p:cNvSpPr/>
          <p:nvPr/>
        </p:nvSpPr>
        <p:spPr>
          <a:xfrm>
            <a:off x="3227832" y="341985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900" dirty="0"/>
          </a:p>
        </p:txBody>
      </p:sp>
      <p:sp>
        <p:nvSpPr>
          <p:cNvPr id="63" name="Text 61"/>
          <p:cNvSpPr/>
          <p:nvPr/>
        </p:nvSpPr>
        <p:spPr>
          <a:xfrm>
            <a:off x="3575304" y="3419856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1900" dirty="0"/>
          </a:p>
        </p:txBody>
      </p:sp>
      <p:sp>
        <p:nvSpPr>
          <p:cNvPr id="64" name="Text 62"/>
          <p:cNvSpPr/>
          <p:nvPr/>
        </p:nvSpPr>
        <p:spPr>
          <a:xfrm>
            <a:off x="1234440" y="378561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900" dirty="0"/>
          </a:p>
        </p:txBody>
      </p:sp>
      <p:sp>
        <p:nvSpPr>
          <p:cNvPr id="65" name="Text 63"/>
          <p:cNvSpPr/>
          <p:nvPr/>
        </p:nvSpPr>
        <p:spPr>
          <a:xfrm>
            <a:off x="3227832" y="378561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900" dirty="0"/>
          </a:p>
        </p:txBody>
      </p:sp>
      <p:sp>
        <p:nvSpPr>
          <p:cNvPr id="66" name="Text 64"/>
          <p:cNvSpPr/>
          <p:nvPr/>
        </p:nvSpPr>
        <p:spPr>
          <a:xfrm>
            <a:off x="3575304" y="3785616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900" dirty="0"/>
          </a:p>
        </p:txBody>
      </p:sp>
      <p:sp>
        <p:nvSpPr>
          <p:cNvPr id="67" name="Text 65"/>
          <p:cNvSpPr/>
          <p:nvPr/>
        </p:nvSpPr>
        <p:spPr>
          <a:xfrm>
            <a:off x="960120" y="4151376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= 26.  Original perimeter = 2(12 + 26)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Perimeter = 76 cm</a:t>
            </a:r>
            <a:endParaRPr lang="en-US" sz="23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PRACTICE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 Questions — Show Clear Working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17320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1732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each pair by elimination — rearrange into standard form first where needed.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103120"/>
            <a:ext cx="11064240" cy="877824"/>
          </a:xfrm>
          <a:prstGeom prst="roundRect">
            <a:avLst>
              <a:gd name="adj" fmla="val 625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68680" y="2331720"/>
            <a:ext cx="420624" cy="42062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68680" y="23317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1554480" y="2103120"/>
            <a:ext cx="64008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5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+ 2y = −0.5</a:t>
            </a:r>
            <a:endParaRPr lang="en-US" sz="1550" dirty="0"/>
          </a:p>
          <a:p>
            <a:pPr marL="0" indent="0">
              <a:buNone/>
            </a:pPr>
            <a:r>
              <a:rPr lang="en-US" sz="15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3x − y = 16</a:t>
            </a:r>
            <a:endParaRPr lang="en-US" sz="1550" dirty="0"/>
          </a:p>
        </p:txBody>
      </p:sp>
      <p:sp>
        <p:nvSpPr>
          <p:cNvPr id="47" name="Text 45"/>
          <p:cNvSpPr/>
          <p:nvPr/>
        </p:nvSpPr>
        <p:spPr>
          <a:xfrm>
            <a:off x="7955280" y="2103120"/>
            <a:ext cx="27432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clear algebraic working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0698480" y="2103120"/>
            <a:ext cx="7315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250" dirty="0"/>
          </a:p>
        </p:txBody>
      </p:sp>
      <p:sp>
        <p:nvSpPr>
          <p:cNvPr id="49" name="Shape 47"/>
          <p:cNvSpPr/>
          <p:nvPr/>
        </p:nvSpPr>
        <p:spPr>
          <a:xfrm>
            <a:off x="566928" y="3099816"/>
            <a:ext cx="11064240" cy="877824"/>
          </a:xfrm>
          <a:prstGeom prst="roundRect">
            <a:avLst>
              <a:gd name="adj" fmla="val 625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868680" y="3328416"/>
            <a:ext cx="420624" cy="42062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1" name="Text 49"/>
          <p:cNvSpPr/>
          <p:nvPr/>
        </p:nvSpPr>
        <p:spPr>
          <a:xfrm>
            <a:off x="868680" y="33284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1554480" y="3099816"/>
            <a:ext cx="64008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5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2x + 7y = 17</a:t>
            </a:r>
            <a:endParaRPr lang="en-US" sz="1550" dirty="0"/>
          </a:p>
          <a:p>
            <a:pPr marL="0" indent="0">
              <a:buNone/>
            </a:pPr>
            <a:r>
              <a:rPr lang="en-US" sz="15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5x + 3y = −1</a:t>
            </a:r>
            <a:endParaRPr lang="en-US" sz="1550" dirty="0"/>
          </a:p>
        </p:txBody>
      </p:sp>
      <p:sp>
        <p:nvSpPr>
          <p:cNvPr id="53" name="Text 51"/>
          <p:cNvSpPr/>
          <p:nvPr/>
        </p:nvSpPr>
        <p:spPr>
          <a:xfrm>
            <a:off x="7955280" y="3099816"/>
            <a:ext cx="27432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clear algebraic working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10698480" y="3099816"/>
            <a:ext cx="7315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66928" y="4096512"/>
            <a:ext cx="11064240" cy="877824"/>
          </a:xfrm>
          <a:prstGeom prst="roundRect">
            <a:avLst>
              <a:gd name="adj" fmla="val 625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68680" y="4325112"/>
            <a:ext cx="420624" cy="42062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7" name="Text 55"/>
          <p:cNvSpPr/>
          <p:nvPr/>
        </p:nvSpPr>
        <p:spPr>
          <a:xfrm>
            <a:off x="868680" y="43251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58" name="Text 56"/>
          <p:cNvSpPr/>
          <p:nvPr/>
        </p:nvSpPr>
        <p:spPr>
          <a:xfrm>
            <a:off x="1554480" y="4096512"/>
            <a:ext cx="64008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5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3x − 5y = 25</a:t>
            </a:r>
            <a:endParaRPr lang="en-US" sz="1550" dirty="0"/>
          </a:p>
          <a:p>
            <a:pPr marL="0" indent="0">
              <a:buNone/>
            </a:pPr>
            <a:r>
              <a:rPr lang="en-US" sz="15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4x + 3y = 14</a:t>
            </a:r>
            <a:endParaRPr lang="en-US" sz="1550" dirty="0"/>
          </a:p>
        </p:txBody>
      </p:sp>
      <p:sp>
        <p:nvSpPr>
          <p:cNvPr id="59" name="Text 57"/>
          <p:cNvSpPr/>
          <p:nvPr/>
        </p:nvSpPr>
        <p:spPr>
          <a:xfrm>
            <a:off x="7955280" y="4096512"/>
            <a:ext cx="27432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clear algebraic working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10698480" y="4096512"/>
            <a:ext cx="7315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250" dirty="0"/>
          </a:p>
        </p:txBody>
      </p:sp>
      <p:sp>
        <p:nvSpPr>
          <p:cNvPr id="61" name="Shape 59"/>
          <p:cNvSpPr/>
          <p:nvPr/>
        </p:nvSpPr>
        <p:spPr>
          <a:xfrm>
            <a:off x="566928" y="5093208"/>
            <a:ext cx="11064240" cy="877824"/>
          </a:xfrm>
          <a:prstGeom prst="roundRect">
            <a:avLst>
              <a:gd name="adj" fmla="val 625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868680" y="5321808"/>
            <a:ext cx="420624" cy="42062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3" name="Text 61"/>
          <p:cNvSpPr/>
          <p:nvPr/>
        </p:nvSpPr>
        <p:spPr>
          <a:xfrm>
            <a:off x="868680" y="5321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64" name="Text 62"/>
          <p:cNvSpPr/>
          <p:nvPr/>
        </p:nvSpPr>
        <p:spPr>
          <a:xfrm>
            <a:off x="1554480" y="5093208"/>
            <a:ext cx="64008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5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+ 2y = 8</a:t>
            </a:r>
            <a:endParaRPr lang="en-US" sz="1550" dirty="0"/>
          </a:p>
          <a:p>
            <a:pPr marL="0" indent="0">
              <a:buNone/>
            </a:pPr>
            <a:r>
              <a:rPr lang="en-US" sz="15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2x = y + 6   (rearrange first)</a:t>
            </a:r>
            <a:endParaRPr lang="en-US" sz="1550" dirty="0"/>
          </a:p>
        </p:txBody>
      </p:sp>
      <p:sp>
        <p:nvSpPr>
          <p:cNvPr id="65" name="Text 63"/>
          <p:cNvSpPr/>
          <p:nvPr/>
        </p:nvSpPr>
        <p:spPr>
          <a:xfrm>
            <a:off x="7955280" y="5093208"/>
            <a:ext cx="27432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clear algebraic working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10698480" y="5093208"/>
            <a:ext cx="7315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250" dirty="0"/>
          </a:p>
        </p:txBody>
      </p:sp>
      <p:sp>
        <p:nvSpPr>
          <p:cNvPr id="67" name="Shape 65"/>
          <p:cNvSpPr/>
          <p:nvPr/>
        </p:nvSpPr>
        <p:spPr>
          <a:xfrm>
            <a:off x="566928" y="6108192"/>
            <a:ext cx="11064240" cy="457200"/>
          </a:xfrm>
          <a:prstGeom prst="roundRect">
            <a:avLst>
              <a:gd name="adj" fmla="val 12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8" name="Text 66"/>
          <p:cNvSpPr/>
          <p:nvPr/>
        </p:nvSpPr>
        <p:spPr>
          <a:xfrm>
            <a:off x="822960" y="610819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 </a:t>
            </a: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x=4.5, y=−2.5    2) x=−2, y=3    3) x=5, y=−2    4) x=4, y=2</a:t>
            </a: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371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800" dirty="0"/>
          </a:p>
        </p:txBody>
      </p:sp>
      <p:sp>
        <p:nvSpPr>
          <p:cNvPr id="41" name="Shape 39"/>
          <p:cNvSpPr/>
          <p:nvPr/>
        </p:nvSpPr>
        <p:spPr>
          <a:xfrm>
            <a:off x="868680" y="2368296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2" name="Text 40"/>
          <p:cNvSpPr/>
          <p:nvPr/>
        </p:nvSpPr>
        <p:spPr>
          <a:xfrm>
            <a:off x="1234440" y="23317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both equations in standard form, lined up under each other.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68680" y="2935224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4" name="Text 42"/>
          <p:cNvSpPr/>
          <p:nvPr/>
        </p:nvSpPr>
        <p:spPr>
          <a:xfrm>
            <a:off x="1234440" y="289864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pair of coefficients match — multiply one or both if needed.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868680" y="3502152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6" name="Text 44"/>
          <p:cNvSpPr/>
          <p:nvPr/>
        </p:nvSpPr>
        <p:spPr>
          <a:xfrm>
            <a:off x="1234440" y="346557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sign → SUBTRACT;  different sign → ADD.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868680" y="4069080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8" name="Text 46"/>
          <p:cNvSpPr/>
          <p:nvPr/>
        </p:nvSpPr>
        <p:spPr>
          <a:xfrm>
            <a:off x="1234440" y="40325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Solve, substitute the value back, then solve for the second letter.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868680" y="4636008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50" name="Text 48"/>
          <p:cNvSpPr/>
          <p:nvPr/>
        </p:nvSpPr>
        <p:spPr>
          <a:xfrm>
            <a:off x="1234440" y="45994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Worded problems: define the unknowns, then form one equation per fact.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777240" y="5440680"/>
            <a:ext cx="10607040" cy="86868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777240" y="5440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check:  </a:t>
            </a:r>
            <a:r>
              <a:rPr lang="en-US" sz="17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 your x and y back into BOTH original equations.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1558</Words>
  <Application>Microsoft Office PowerPoint</Application>
  <PresentationFormat>Custom</PresentationFormat>
  <Paragraphs>384</Paragraphs>
  <Slides>15</Slides>
  <Notes>15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Zahra Sheikh Ali</dc:creator>
  <cp:lastModifiedBy>zahraa sheik ali</cp:lastModifiedBy>
  <cp:revision>2</cp:revision>
  <dcterms:created xsi:type="dcterms:W3CDTF">2026-06-29T10:50:29Z</dcterms:created>
  <dcterms:modified xsi:type="dcterms:W3CDTF">2026-06-29T10:53:04Z</dcterms:modified>
</cp:coreProperties>
</file>