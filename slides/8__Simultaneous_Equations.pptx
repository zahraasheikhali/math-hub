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F7C1A49-F7C1-45F1-865F-A01B3CA3927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BFF52-D8FE-4560-8FD3-70FFAFB830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B061D-BB61-4FCC-A0AF-B400B31185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688E0C-2718-4DCA-AB86-56F12FBF09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830454-A529-4471-B6EE-2EA9FD11AA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86A78-E750-4B9F-9D4A-3774608FF5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1BE94F-8191-4766-9777-EF05C5A310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84BEDE-DDC7-40CE-9103-BB6956FF84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A3DC0F-957A-4DF5-B07A-6D90BCDEE9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F9E7D6-ECA6-49F0-A6EC-5D1FADBAA6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4C172C-A6B7-46C0-A849-2E25ED9E41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C7406F-A13C-4865-96AA-1FCC07E59E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C8A8B-0100-4CF6-AAB6-E247A43208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485FAE-B1DA-4930-8493-A884A37979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F56388-8609-422C-B63B-F6A51FE8E8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8F85D1-BB56-4FA2-8FDD-D43483280C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498080" y="86868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000" spc="-1" strike="noStrike">
                <a:solidFill>
                  <a:srgbClr val="33463a"/>
                </a:solidFill>
                <a:latin typeface="Cambria"/>
                <a:ea typeface="Cambria"/>
              </a:rPr>
              <a:t>5x + y = 22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7498080" y="148140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000" spc="-1" strike="noStrike">
                <a:solidFill>
                  <a:srgbClr val="33463a"/>
                </a:solidFill>
                <a:latin typeface="Cambria"/>
                <a:ea typeface="Cambria"/>
              </a:rPr>
              <a:t>2x − y =  6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Simultaneous Equations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Solving by Elimination · Line the Equations Up · Worded &amp; Exam Questions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Solve by Elimination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0ac2b"/>
                </a:solidFill>
                <a:latin typeface="Calibri"/>
                <a:ea typeface="Calibri"/>
              </a:rPr>
              <a:t>Two equations, two unknowns. </a:t>
            </a:r>
            <a:r>
              <a:rPr b="0" lang="en-US" sz="1450" spc="-1" strike="noStrike">
                <a:solidFill>
                  <a:srgbClr val="edebdd"/>
                </a:solidFill>
                <a:latin typeface="Calibri"/>
                <a:ea typeface="Calibri"/>
              </a:rPr>
              <a:t>Line them up under each other, make a pair of coefficients match, then add or subtract to eliminate one letter — and solve.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Line up the equations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Same sign → subtract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Different sign → add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Multiply to match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Worded problems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Exam questions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variable · unknown · coefficient · eliminate · add · subtract · solution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METHOD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Line Them Up, Then Eliminate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9"/>
          <p:cNvSpPr/>
          <p:nvPr/>
        </p:nvSpPr>
        <p:spPr>
          <a:xfrm>
            <a:off x="567000" y="1463040"/>
            <a:ext cx="11063880" cy="840960"/>
          </a:xfrm>
          <a:prstGeom prst="roundRect">
            <a:avLst>
              <a:gd name="adj" fmla="val 6522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0"/>
          <p:cNvSpPr/>
          <p:nvPr/>
        </p:nvSpPr>
        <p:spPr>
          <a:xfrm>
            <a:off x="887040" y="1463040"/>
            <a:ext cx="104238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Write both equations in standard form, lined up: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x under x, y under y, and the constant under the constant. Now look at the matching column.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41"/>
          <p:cNvSpPr/>
          <p:nvPr/>
        </p:nvSpPr>
        <p:spPr>
          <a:xfrm>
            <a:off x="567000" y="2514600"/>
            <a:ext cx="5394600" cy="2697120"/>
          </a:xfrm>
          <a:prstGeom prst="roundRect">
            <a:avLst>
              <a:gd name="adj" fmla="val 203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2"/>
          <p:cNvSpPr/>
          <p:nvPr/>
        </p:nvSpPr>
        <p:spPr>
          <a:xfrm>
            <a:off x="932760" y="27522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Do the signs match?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3"/>
          <p:cNvSpPr/>
          <p:nvPr/>
        </p:nvSpPr>
        <p:spPr>
          <a:xfrm>
            <a:off x="914400" y="320040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Same sign  →  SUBTRACT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Different sign  →  ADD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No matching coefficient yet?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Multiply one or both equations first.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44"/>
          <p:cNvSpPr/>
          <p:nvPr/>
        </p:nvSpPr>
        <p:spPr>
          <a:xfrm>
            <a:off x="6236280" y="2514600"/>
            <a:ext cx="5394600" cy="2697120"/>
          </a:xfrm>
          <a:prstGeom prst="roundRect">
            <a:avLst>
              <a:gd name="adj" fmla="val 203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5"/>
          <p:cNvSpPr/>
          <p:nvPr/>
        </p:nvSpPr>
        <p:spPr>
          <a:xfrm>
            <a:off x="6602040" y="275220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Then finish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6"/>
          <p:cNvSpPr/>
          <p:nvPr/>
        </p:nvSpPr>
        <p:spPr>
          <a:xfrm>
            <a:off x="6537960" y="3209400"/>
            <a:ext cx="145800" cy="145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7"/>
          <p:cNvSpPr/>
          <p:nvPr/>
        </p:nvSpPr>
        <p:spPr>
          <a:xfrm>
            <a:off x="6812280" y="315468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 or subtract to eliminate one letter.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8"/>
          <p:cNvSpPr/>
          <p:nvPr/>
        </p:nvSpPr>
        <p:spPr>
          <a:xfrm>
            <a:off x="6537960" y="3593520"/>
            <a:ext cx="145800" cy="145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9"/>
          <p:cNvSpPr/>
          <p:nvPr/>
        </p:nvSpPr>
        <p:spPr>
          <a:xfrm>
            <a:off x="6812280" y="353880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Solve the single-letter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0"/>
          <p:cNvSpPr/>
          <p:nvPr/>
        </p:nvSpPr>
        <p:spPr>
          <a:xfrm>
            <a:off x="6537960" y="3977640"/>
            <a:ext cx="145800" cy="145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51"/>
          <p:cNvSpPr/>
          <p:nvPr/>
        </p:nvSpPr>
        <p:spPr>
          <a:xfrm>
            <a:off x="6812280" y="392292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Substitute that value back in.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2"/>
          <p:cNvSpPr/>
          <p:nvPr/>
        </p:nvSpPr>
        <p:spPr>
          <a:xfrm>
            <a:off x="6537960" y="4361760"/>
            <a:ext cx="145800" cy="145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3"/>
          <p:cNvSpPr/>
          <p:nvPr/>
        </p:nvSpPr>
        <p:spPr>
          <a:xfrm>
            <a:off x="6812280" y="430668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Solve for the second letter.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54"/>
          <p:cNvSpPr/>
          <p:nvPr/>
        </p:nvSpPr>
        <p:spPr>
          <a:xfrm>
            <a:off x="6537960" y="4745880"/>
            <a:ext cx="145800" cy="14580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55"/>
          <p:cNvSpPr/>
          <p:nvPr/>
        </p:nvSpPr>
        <p:spPr>
          <a:xfrm>
            <a:off x="6812280" y="469080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Check in BOTH equations.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1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Matching Coefficients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When a pair of coefficients already match — just add or subtract.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Line the equations up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Spot the matching coefficient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Same sign subtract, different sign add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Solve, substitute, solve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DIFFERENT SIGNS → ADD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Eliminate by Adding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Why ADD?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y-terms are +y and −y — different signs.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Adding cancels them: (+y) + (−y) = 0.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Then solve 7x = 28 and substitute back.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Different signs on the matching term → ADD the equations.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44"/>
          <p:cNvSpPr/>
          <p:nvPr/>
        </p:nvSpPr>
        <p:spPr>
          <a:xfrm>
            <a:off x="1234440" y="17830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5x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45"/>
          <p:cNvSpPr/>
          <p:nvPr/>
        </p:nvSpPr>
        <p:spPr>
          <a:xfrm>
            <a:off x="2130480" y="17830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6"/>
          <p:cNvSpPr/>
          <p:nvPr/>
        </p:nvSpPr>
        <p:spPr>
          <a:xfrm>
            <a:off x="2459880" y="178308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47"/>
          <p:cNvSpPr/>
          <p:nvPr/>
        </p:nvSpPr>
        <p:spPr>
          <a:xfrm>
            <a:off x="3227760" y="17830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48"/>
          <p:cNvSpPr/>
          <p:nvPr/>
        </p:nvSpPr>
        <p:spPr>
          <a:xfrm>
            <a:off x="3575160" y="178308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49"/>
          <p:cNvSpPr/>
          <p:nvPr/>
        </p:nvSpPr>
        <p:spPr>
          <a:xfrm>
            <a:off x="4599360" y="17830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50"/>
          <p:cNvSpPr/>
          <p:nvPr/>
        </p:nvSpPr>
        <p:spPr>
          <a:xfrm>
            <a:off x="960120" y="2194560"/>
            <a:ext cx="23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51"/>
          <p:cNvSpPr/>
          <p:nvPr/>
        </p:nvSpPr>
        <p:spPr>
          <a:xfrm>
            <a:off x="1234440" y="21945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52"/>
          <p:cNvSpPr/>
          <p:nvPr/>
        </p:nvSpPr>
        <p:spPr>
          <a:xfrm>
            <a:off x="2130480" y="2194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53"/>
          <p:cNvSpPr/>
          <p:nvPr/>
        </p:nvSpPr>
        <p:spPr>
          <a:xfrm>
            <a:off x="2459880" y="219456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54"/>
          <p:cNvSpPr/>
          <p:nvPr/>
        </p:nvSpPr>
        <p:spPr>
          <a:xfrm>
            <a:off x="3227760" y="2194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55"/>
          <p:cNvSpPr/>
          <p:nvPr/>
        </p:nvSpPr>
        <p:spPr>
          <a:xfrm>
            <a:off x="3575160" y="21945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56"/>
          <p:cNvSpPr/>
          <p:nvPr/>
        </p:nvSpPr>
        <p:spPr>
          <a:xfrm>
            <a:off x="4599360" y="219456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57"/>
          <p:cNvSpPr/>
          <p:nvPr/>
        </p:nvSpPr>
        <p:spPr>
          <a:xfrm>
            <a:off x="1234440" y="2633400"/>
            <a:ext cx="3209400" cy="360"/>
          </a:xfrm>
          <a:prstGeom prst="line">
            <a:avLst/>
          </a:prstGeom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58"/>
          <p:cNvSpPr/>
          <p:nvPr/>
        </p:nvSpPr>
        <p:spPr>
          <a:xfrm>
            <a:off x="4572000" y="246888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ADD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59"/>
          <p:cNvSpPr/>
          <p:nvPr/>
        </p:nvSpPr>
        <p:spPr>
          <a:xfrm>
            <a:off x="1234440" y="2724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7x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60"/>
          <p:cNvSpPr/>
          <p:nvPr/>
        </p:nvSpPr>
        <p:spPr>
          <a:xfrm>
            <a:off x="3227760" y="27248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61"/>
          <p:cNvSpPr/>
          <p:nvPr/>
        </p:nvSpPr>
        <p:spPr>
          <a:xfrm>
            <a:off x="3575160" y="27248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28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62"/>
          <p:cNvSpPr/>
          <p:nvPr/>
        </p:nvSpPr>
        <p:spPr>
          <a:xfrm>
            <a:off x="1234440" y="32004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63"/>
          <p:cNvSpPr/>
          <p:nvPr/>
        </p:nvSpPr>
        <p:spPr>
          <a:xfrm>
            <a:off x="3227760" y="32004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64"/>
          <p:cNvSpPr/>
          <p:nvPr/>
        </p:nvSpPr>
        <p:spPr>
          <a:xfrm>
            <a:off x="3575160" y="32004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4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65"/>
          <p:cNvSpPr/>
          <p:nvPr/>
        </p:nvSpPr>
        <p:spPr>
          <a:xfrm>
            <a:off x="960120" y="37033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Substitute  x = 4  into (1):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66"/>
          <p:cNvSpPr/>
          <p:nvPr/>
        </p:nvSpPr>
        <p:spPr>
          <a:xfrm>
            <a:off x="960120" y="398664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5(4) + y = 22   →   20 + y = 22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67"/>
          <p:cNvSpPr/>
          <p:nvPr/>
        </p:nvSpPr>
        <p:spPr>
          <a:xfrm>
            <a:off x="1234440" y="43344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68"/>
          <p:cNvSpPr/>
          <p:nvPr/>
        </p:nvSpPr>
        <p:spPr>
          <a:xfrm>
            <a:off x="3227760" y="43344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69"/>
          <p:cNvSpPr/>
          <p:nvPr/>
        </p:nvSpPr>
        <p:spPr>
          <a:xfrm>
            <a:off x="3575160" y="43344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70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71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4,   y = 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SAME SIGNS → SUBTRACT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Eliminate by Subtracting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Why SUBTRACT?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y-terms are +3y and +3y — same sign.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Subtracting cancels them: 3y − 3y = 0.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Subtract every term: 17 − 13 = 4.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Same signs on the matching term → SUBTRACT the equations.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44"/>
          <p:cNvSpPr/>
          <p:nvPr/>
        </p:nvSpPr>
        <p:spPr>
          <a:xfrm>
            <a:off x="1234440" y="17830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4x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45"/>
          <p:cNvSpPr/>
          <p:nvPr/>
        </p:nvSpPr>
        <p:spPr>
          <a:xfrm>
            <a:off x="2130480" y="17830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46"/>
          <p:cNvSpPr/>
          <p:nvPr/>
        </p:nvSpPr>
        <p:spPr>
          <a:xfrm>
            <a:off x="2459880" y="178308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47"/>
          <p:cNvSpPr/>
          <p:nvPr/>
        </p:nvSpPr>
        <p:spPr>
          <a:xfrm>
            <a:off x="3227760" y="17830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8"/>
          <p:cNvSpPr/>
          <p:nvPr/>
        </p:nvSpPr>
        <p:spPr>
          <a:xfrm>
            <a:off x="3575160" y="178308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17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9"/>
          <p:cNvSpPr/>
          <p:nvPr/>
        </p:nvSpPr>
        <p:spPr>
          <a:xfrm>
            <a:off x="4599360" y="17830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50"/>
          <p:cNvSpPr/>
          <p:nvPr/>
        </p:nvSpPr>
        <p:spPr>
          <a:xfrm>
            <a:off x="960120" y="2194560"/>
            <a:ext cx="23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51"/>
          <p:cNvSpPr/>
          <p:nvPr/>
        </p:nvSpPr>
        <p:spPr>
          <a:xfrm>
            <a:off x="1234440" y="21945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52"/>
          <p:cNvSpPr/>
          <p:nvPr/>
        </p:nvSpPr>
        <p:spPr>
          <a:xfrm>
            <a:off x="2130480" y="2194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53"/>
          <p:cNvSpPr/>
          <p:nvPr/>
        </p:nvSpPr>
        <p:spPr>
          <a:xfrm>
            <a:off x="2459880" y="219456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54"/>
          <p:cNvSpPr/>
          <p:nvPr/>
        </p:nvSpPr>
        <p:spPr>
          <a:xfrm>
            <a:off x="3227760" y="2194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55"/>
          <p:cNvSpPr/>
          <p:nvPr/>
        </p:nvSpPr>
        <p:spPr>
          <a:xfrm>
            <a:off x="3575160" y="21945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13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56"/>
          <p:cNvSpPr/>
          <p:nvPr/>
        </p:nvSpPr>
        <p:spPr>
          <a:xfrm>
            <a:off x="4599360" y="219456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57"/>
          <p:cNvSpPr/>
          <p:nvPr/>
        </p:nvSpPr>
        <p:spPr>
          <a:xfrm>
            <a:off x="1234440" y="2633400"/>
            <a:ext cx="3209400" cy="360"/>
          </a:xfrm>
          <a:prstGeom prst="line">
            <a:avLst/>
          </a:prstGeom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58"/>
          <p:cNvSpPr/>
          <p:nvPr/>
        </p:nvSpPr>
        <p:spPr>
          <a:xfrm>
            <a:off x="4572000" y="246888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SUBTRACT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59"/>
          <p:cNvSpPr/>
          <p:nvPr/>
        </p:nvSpPr>
        <p:spPr>
          <a:xfrm>
            <a:off x="1234440" y="2724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60"/>
          <p:cNvSpPr/>
          <p:nvPr/>
        </p:nvSpPr>
        <p:spPr>
          <a:xfrm>
            <a:off x="3227760" y="27248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61"/>
          <p:cNvSpPr/>
          <p:nvPr/>
        </p:nvSpPr>
        <p:spPr>
          <a:xfrm>
            <a:off x="3575160" y="27248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62"/>
          <p:cNvSpPr/>
          <p:nvPr/>
        </p:nvSpPr>
        <p:spPr>
          <a:xfrm>
            <a:off x="1234440" y="32004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63"/>
          <p:cNvSpPr/>
          <p:nvPr/>
        </p:nvSpPr>
        <p:spPr>
          <a:xfrm>
            <a:off x="3227760" y="32004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64"/>
          <p:cNvSpPr/>
          <p:nvPr/>
        </p:nvSpPr>
        <p:spPr>
          <a:xfrm>
            <a:off x="3575160" y="32004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65"/>
          <p:cNvSpPr/>
          <p:nvPr/>
        </p:nvSpPr>
        <p:spPr>
          <a:xfrm>
            <a:off x="960120" y="37033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Substitute  x = 2  into (2):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66"/>
          <p:cNvSpPr/>
          <p:nvPr/>
        </p:nvSpPr>
        <p:spPr>
          <a:xfrm>
            <a:off x="960120" y="398664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2(2) + 3y = 13   →   3y = 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67"/>
          <p:cNvSpPr/>
          <p:nvPr/>
        </p:nvSpPr>
        <p:spPr>
          <a:xfrm>
            <a:off x="1234440" y="43344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68"/>
          <p:cNvSpPr/>
          <p:nvPr/>
        </p:nvSpPr>
        <p:spPr>
          <a:xfrm>
            <a:off x="3227760" y="43344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69"/>
          <p:cNvSpPr/>
          <p:nvPr/>
        </p:nvSpPr>
        <p:spPr>
          <a:xfrm>
            <a:off x="3575160" y="43344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3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70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71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2,   y = 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REARRANGE FIRST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Putting Equations in Standard Form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Rearrange first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Get every equation into ax + by = c form.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Move the letters to the left, numbers to the right.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5y = 5 − 5x becomes 5x + 5y = 5, then ÷ 5 → x + y =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Now line them up and eliminate as usual.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You can only line up and eliminate once both equations are in standard form.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44"/>
          <p:cNvSpPr/>
          <p:nvPr/>
        </p:nvSpPr>
        <p:spPr>
          <a:xfrm>
            <a:off x="960120" y="171900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First write each as  ax + by = c 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45"/>
          <p:cNvSpPr/>
          <p:nvPr/>
        </p:nvSpPr>
        <p:spPr>
          <a:xfrm>
            <a:off x="960120" y="201168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3x = 7 + y     →     3x − y = 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46"/>
          <p:cNvSpPr/>
          <p:nvPr/>
        </p:nvSpPr>
        <p:spPr>
          <a:xfrm>
            <a:off x="960120" y="228600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5y = 5 − 5x     →     x + y =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47"/>
          <p:cNvSpPr/>
          <p:nvPr/>
        </p:nvSpPr>
        <p:spPr>
          <a:xfrm>
            <a:off x="1234440" y="26884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48"/>
          <p:cNvSpPr/>
          <p:nvPr/>
        </p:nvSpPr>
        <p:spPr>
          <a:xfrm>
            <a:off x="2130480" y="26884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49"/>
          <p:cNvSpPr/>
          <p:nvPr/>
        </p:nvSpPr>
        <p:spPr>
          <a:xfrm>
            <a:off x="2459880" y="268848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0"/>
          <p:cNvSpPr/>
          <p:nvPr/>
        </p:nvSpPr>
        <p:spPr>
          <a:xfrm>
            <a:off x="3227760" y="26884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51"/>
          <p:cNvSpPr/>
          <p:nvPr/>
        </p:nvSpPr>
        <p:spPr>
          <a:xfrm>
            <a:off x="3575160" y="268848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7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52"/>
          <p:cNvSpPr/>
          <p:nvPr/>
        </p:nvSpPr>
        <p:spPr>
          <a:xfrm>
            <a:off x="4599360" y="26884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53"/>
          <p:cNvSpPr/>
          <p:nvPr/>
        </p:nvSpPr>
        <p:spPr>
          <a:xfrm>
            <a:off x="960120" y="3054240"/>
            <a:ext cx="23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54"/>
          <p:cNvSpPr/>
          <p:nvPr/>
        </p:nvSpPr>
        <p:spPr>
          <a:xfrm>
            <a:off x="1234440" y="30542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55"/>
          <p:cNvSpPr/>
          <p:nvPr/>
        </p:nvSpPr>
        <p:spPr>
          <a:xfrm>
            <a:off x="2130480" y="30542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56"/>
          <p:cNvSpPr/>
          <p:nvPr/>
        </p:nvSpPr>
        <p:spPr>
          <a:xfrm>
            <a:off x="2459880" y="305424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57"/>
          <p:cNvSpPr/>
          <p:nvPr/>
        </p:nvSpPr>
        <p:spPr>
          <a:xfrm>
            <a:off x="3227760" y="30542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58"/>
          <p:cNvSpPr/>
          <p:nvPr/>
        </p:nvSpPr>
        <p:spPr>
          <a:xfrm>
            <a:off x="3575160" y="30542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59"/>
          <p:cNvSpPr/>
          <p:nvPr/>
        </p:nvSpPr>
        <p:spPr>
          <a:xfrm>
            <a:off x="4599360" y="30542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60"/>
          <p:cNvSpPr/>
          <p:nvPr/>
        </p:nvSpPr>
        <p:spPr>
          <a:xfrm>
            <a:off x="1234440" y="3474720"/>
            <a:ext cx="3209400" cy="360"/>
          </a:xfrm>
          <a:prstGeom prst="line">
            <a:avLst/>
          </a:prstGeom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61"/>
          <p:cNvSpPr/>
          <p:nvPr/>
        </p:nvSpPr>
        <p:spPr>
          <a:xfrm>
            <a:off x="4572000" y="331020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ADD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62"/>
          <p:cNvSpPr/>
          <p:nvPr/>
        </p:nvSpPr>
        <p:spPr>
          <a:xfrm>
            <a:off x="1234440" y="35478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4x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63"/>
          <p:cNvSpPr/>
          <p:nvPr/>
        </p:nvSpPr>
        <p:spPr>
          <a:xfrm>
            <a:off x="3227760" y="35478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64"/>
          <p:cNvSpPr/>
          <p:nvPr/>
        </p:nvSpPr>
        <p:spPr>
          <a:xfrm>
            <a:off x="3575160" y="35478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65"/>
          <p:cNvSpPr/>
          <p:nvPr/>
        </p:nvSpPr>
        <p:spPr>
          <a:xfrm>
            <a:off x="1234440" y="39135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66"/>
          <p:cNvSpPr/>
          <p:nvPr/>
        </p:nvSpPr>
        <p:spPr>
          <a:xfrm>
            <a:off x="3227760" y="3913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67"/>
          <p:cNvSpPr/>
          <p:nvPr/>
        </p:nvSpPr>
        <p:spPr>
          <a:xfrm>
            <a:off x="3575160" y="39135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68"/>
          <p:cNvSpPr/>
          <p:nvPr/>
        </p:nvSpPr>
        <p:spPr>
          <a:xfrm>
            <a:off x="960120" y="429768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Substitute  x = 2  into (2)   →   y = −1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69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70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2,   y = −1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5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6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1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7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0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9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2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YOUR TURN · TASK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Practice — Some Need Rearranging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Rearrange into standard form (ax + by = c) first where needed, then eliminate.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3x + 2y = 11      and      5x − 2y = 13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a + b = 7      and      3a − b = 1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5p + 4q = 13      and      3p + 4q = 7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3x = 12 − y      and      2x + y = 9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5x = 2y + 16      and      3x + 2y = 0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1) x=3, y=1     2) a=2, b=5     3) p=3, q=−0.5     4) x=3, y=3     5) x=2, y=−3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6" dur="indefinite" restart="never" nodeType="tmRoot">
          <p:childTnLst>
            <p:seq>
              <p:cTn id="287" dur="indefinite" nodeType="mainSeq">
                <p:childTnLst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2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4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9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8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3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6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9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7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0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Multiply to Match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When nothing matches, scale one or both equations first.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Pick the letter to eliminate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Multiply to make its coefficients equal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Same sign subtract, different sign add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Solve, substitute, solve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MULTIPLY ONE EQUATION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Scaling a Single Equation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Match a letter by multiplying ONE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×2 turns y into 2y, matching equation (2).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Both +2y → same sign → subtract.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Scale one equation so a pair of coefficients line up.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44"/>
          <p:cNvSpPr/>
          <p:nvPr/>
        </p:nvSpPr>
        <p:spPr>
          <a:xfrm>
            <a:off x="1234440" y="17830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6x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45"/>
          <p:cNvSpPr/>
          <p:nvPr/>
        </p:nvSpPr>
        <p:spPr>
          <a:xfrm>
            <a:off x="2130480" y="17830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46"/>
          <p:cNvSpPr/>
          <p:nvPr/>
        </p:nvSpPr>
        <p:spPr>
          <a:xfrm>
            <a:off x="2459880" y="178308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47"/>
          <p:cNvSpPr/>
          <p:nvPr/>
        </p:nvSpPr>
        <p:spPr>
          <a:xfrm>
            <a:off x="3227760" y="17830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48"/>
          <p:cNvSpPr/>
          <p:nvPr/>
        </p:nvSpPr>
        <p:spPr>
          <a:xfrm>
            <a:off x="3575160" y="178308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39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49"/>
          <p:cNvSpPr/>
          <p:nvPr/>
        </p:nvSpPr>
        <p:spPr>
          <a:xfrm>
            <a:off x="4599360" y="17830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50"/>
          <p:cNvSpPr/>
          <p:nvPr/>
        </p:nvSpPr>
        <p:spPr>
          <a:xfrm>
            <a:off x="1234440" y="21762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51"/>
          <p:cNvSpPr/>
          <p:nvPr/>
        </p:nvSpPr>
        <p:spPr>
          <a:xfrm>
            <a:off x="2130480" y="21762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52"/>
          <p:cNvSpPr/>
          <p:nvPr/>
        </p:nvSpPr>
        <p:spPr>
          <a:xfrm>
            <a:off x="2459880" y="217620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53"/>
          <p:cNvSpPr/>
          <p:nvPr/>
        </p:nvSpPr>
        <p:spPr>
          <a:xfrm>
            <a:off x="3227760" y="21762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54"/>
          <p:cNvSpPr/>
          <p:nvPr/>
        </p:nvSpPr>
        <p:spPr>
          <a:xfrm>
            <a:off x="3575160" y="21762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15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55"/>
          <p:cNvSpPr/>
          <p:nvPr/>
        </p:nvSpPr>
        <p:spPr>
          <a:xfrm>
            <a:off x="4599360" y="217620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56"/>
          <p:cNvSpPr/>
          <p:nvPr/>
        </p:nvSpPr>
        <p:spPr>
          <a:xfrm>
            <a:off x="960120" y="25603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Multiply (1) by 2 to match the y-terms: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57"/>
          <p:cNvSpPr/>
          <p:nvPr/>
        </p:nvSpPr>
        <p:spPr>
          <a:xfrm>
            <a:off x="1234440" y="28530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12x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58"/>
          <p:cNvSpPr/>
          <p:nvPr/>
        </p:nvSpPr>
        <p:spPr>
          <a:xfrm>
            <a:off x="2130480" y="28530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59"/>
          <p:cNvSpPr/>
          <p:nvPr/>
        </p:nvSpPr>
        <p:spPr>
          <a:xfrm>
            <a:off x="2459880" y="285300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60"/>
          <p:cNvSpPr/>
          <p:nvPr/>
        </p:nvSpPr>
        <p:spPr>
          <a:xfrm>
            <a:off x="3227760" y="28530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61"/>
          <p:cNvSpPr/>
          <p:nvPr/>
        </p:nvSpPr>
        <p:spPr>
          <a:xfrm>
            <a:off x="3575160" y="28530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78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62"/>
          <p:cNvSpPr/>
          <p:nvPr/>
        </p:nvSpPr>
        <p:spPr>
          <a:xfrm>
            <a:off x="4599360" y="285300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(1)×2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63"/>
          <p:cNvSpPr/>
          <p:nvPr/>
        </p:nvSpPr>
        <p:spPr>
          <a:xfrm>
            <a:off x="1234440" y="3273480"/>
            <a:ext cx="3209400" cy="360"/>
          </a:xfrm>
          <a:prstGeom prst="line">
            <a:avLst/>
          </a:prstGeom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64"/>
          <p:cNvSpPr/>
          <p:nvPr/>
        </p:nvSpPr>
        <p:spPr>
          <a:xfrm>
            <a:off x="4572000" y="310896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SUBTRACT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65"/>
          <p:cNvSpPr/>
          <p:nvPr/>
        </p:nvSpPr>
        <p:spPr>
          <a:xfrm>
            <a:off x="1234440" y="33465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9x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66"/>
          <p:cNvSpPr/>
          <p:nvPr/>
        </p:nvSpPr>
        <p:spPr>
          <a:xfrm>
            <a:off x="3227760" y="3346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67"/>
          <p:cNvSpPr/>
          <p:nvPr/>
        </p:nvSpPr>
        <p:spPr>
          <a:xfrm>
            <a:off x="3575160" y="33465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63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68"/>
          <p:cNvSpPr/>
          <p:nvPr/>
        </p:nvSpPr>
        <p:spPr>
          <a:xfrm>
            <a:off x="1234440" y="37490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69"/>
          <p:cNvSpPr/>
          <p:nvPr/>
        </p:nvSpPr>
        <p:spPr>
          <a:xfrm>
            <a:off x="3227760" y="37490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70"/>
          <p:cNvSpPr/>
          <p:nvPr/>
        </p:nvSpPr>
        <p:spPr>
          <a:xfrm>
            <a:off x="3575160" y="37490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−</a:t>
            </a: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7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71"/>
          <p:cNvSpPr/>
          <p:nvPr/>
        </p:nvSpPr>
        <p:spPr>
          <a:xfrm>
            <a:off x="960120" y="413316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Sub into (1):  6(−7) + y = −39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72"/>
          <p:cNvSpPr/>
          <p:nvPr/>
        </p:nvSpPr>
        <p:spPr>
          <a:xfrm>
            <a:off x="1234440" y="4443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73"/>
          <p:cNvSpPr/>
          <p:nvPr/>
        </p:nvSpPr>
        <p:spPr>
          <a:xfrm>
            <a:off x="3227760" y="44438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74"/>
          <p:cNvSpPr/>
          <p:nvPr/>
        </p:nvSpPr>
        <p:spPr>
          <a:xfrm>
            <a:off x="3575160" y="44438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3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7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76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−7,   y = 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1" dur="indefinite" restart="never" nodeType="tmRoot">
          <p:childTnLst>
            <p:seq>
              <p:cTn id="382" dur="indefinite" nodeType="mainSeq">
                <p:childTnLst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7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3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6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9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5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8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1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4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8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3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0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3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6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9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7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0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3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8"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1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MULTIPLY BOTH EQUATIONS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Scaling Both Equations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No single multiply works, so scale BOTH.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LCM of 2 and 3 is 6 → make both 6y.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Both −6y → same sign → subtract.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Use the LCM of the coefficients to choose both multipliers.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44"/>
          <p:cNvSpPr/>
          <p:nvPr/>
        </p:nvSpPr>
        <p:spPr>
          <a:xfrm>
            <a:off x="1234440" y="17557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5x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45"/>
          <p:cNvSpPr/>
          <p:nvPr/>
        </p:nvSpPr>
        <p:spPr>
          <a:xfrm>
            <a:off x="2130480" y="17557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46"/>
          <p:cNvSpPr/>
          <p:nvPr/>
        </p:nvSpPr>
        <p:spPr>
          <a:xfrm>
            <a:off x="2459880" y="175572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47"/>
          <p:cNvSpPr/>
          <p:nvPr/>
        </p:nvSpPr>
        <p:spPr>
          <a:xfrm>
            <a:off x="3227760" y="17557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48"/>
          <p:cNvSpPr/>
          <p:nvPr/>
        </p:nvSpPr>
        <p:spPr>
          <a:xfrm>
            <a:off x="3575160" y="175572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25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49"/>
          <p:cNvSpPr/>
          <p:nvPr/>
        </p:nvSpPr>
        <p:spPr>
          <a:xfrm>
            <a:off x="4599360" y="175572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50"/>
          <p:cNvSpPr/>
          <p:nvPr/>
        </p:nvSpPr>
        <p:spPr>
          <a:xfrm>
            <a:off x="1234440" y="21214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4x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51"/>
          <p:cNvSpPr/>
          <p:nvPr/>
        </p:nvSpPr>
        <p:spPr>
          <a:xfrm>
            <a:off x="2130480" y="21214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Text 52"/>
          <p:cNvSpPr/>
          <p:nvPr/>
        </p:nvSpPr>
        <p:spPr>
          <a:xfrm>
            <a:off x="2459880" y="212148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53"/>
          <p:cNvSpPr/>
          <p:nvPr/>
        </p:nvSpPr>
        <p:spPr>
          <a:xfrm>
            <a:off x="3227760" y="21214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54"/>
          <p:cNvSpPr/>
          <p:nvPr/>
        </p:nvSpPr>
        <p:spPr>
          <a:xfrm>
            <a:off x="3575160" y="212148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13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55"/>
          <p:cNvSpPr/>
          <p:nvPr/>
        </p:nvSpPr>
        <p:spPr>
          <a:xfrm>
            <a:off x="4599360" y="212148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56"/>
          <p:cNvSpPr/>
          <p:nvPr/>
        </p:nvSpPr>
        <p:spPr>
          <a:xfrm>
            <a:off x="960120" y="248724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Match y: multiply (1)×3 and (2)×2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57"/>
          <p:cNvSpPr/>
          <p:nvPr/>
        </p:nvSpPr>
        <p:spPr>
          <a:xfrm>
            <a:off x="1234440" y="27615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15x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58"/>
          <p:cNvSpPr/>
          <p:nvPr/>
        </p:nvSpPr>
        <p:spPr>
          <a:xfrm>
            <a:off x="2130480" y="2761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 59"/>
          <p:cNvSpPr/>
          <p:nvPr/>
        </p:nvSpPr>
        <p:spPr>
          <a:xfrm>
            <a:off x="2459880" y="276156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6y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Text 60"/>
          <p:cNvSpPr/>
          <p:nvPr/>
        </p:nvSpPr>
        <p:spPr>
          <a:xfrm>
            <a:off x="3227760" y="2761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61"/>
          <p:cNvSpPr/>
          <p:nvPr/>
        </p:nvSpPr>
        <p:spPr>
          <a:xfrm>
            <a:off x="3575160" y="27615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75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62"/>
          <p:cNvSpPr/>
          <p:nvPr/>
        </p:nvSpPr>
        <p:spPr>
          <a:xfrm>
            <a:off x="4599360" y="276156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(1)×3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 63"/>
          <p:cNvSpPr/>
          <p:nvPr/>
        </p:nvSpPr>
        <p:spPr>
          <a:xfrm>
            <a:off x="1234440" y="31273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8x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 64"/>
          <p:cNvSpPr/>
          <p:nvPr/>
        </p:nvSpPr>
        <p:spPr>
          <a:xfrm>
            <a:off x="2130480" y="31273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 65"/>
          <p:cNvSpPr/>
          <p:nvPr/>
        </p:nvSpPr>
        <p:spPr>
          <a:xfrm>
            <a:off x="2459880" y="312732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6y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66"/>
          <p:cNvSpPr/>
          <p:nvPr/>
        </p:nvSpPr>
        <p:spPr>
          <a:xfrm>
            <a:off x="3227760" y="31273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67"/>
          <p:cNvSpPr/>
          <p:nvPr/>
        </p:nvSpPr>
        <p:spPr>
          <a:xfrm>
            <a:off x="3575160" y="312732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Text 68"/>
          <p:cNvSpPr/>
          <p:nvPr/>
        </p:nvSpPr>
        <p:spPr>
          <a:xfrm>
            <a:off x="4599360" y="312732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(2)×2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69"/>
          <p:cNvSpPr/>
          <p:nvPr/>
        </p:nvSpPr>
        <p:spPr>
          <a:xfrm>
            <a:off x="1234440" y="3511080"/>
            <a:ext cx="3209400" cy="360"/>
          </a:xfrm>
          <a:prstGeom prst="line">
            <a:avLst/>
          </a:prstGeom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 70"/>
          <p:cNvSpPr/>
          <p:nvPr/>
        </p:nvSpPr>
        <p:spPr>
          <a:xfrm>
            <a:off x="4572000" y="334656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SUBTRACT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71"/>
          <p:cNvSpPr/>
          <p:nvPr/>
        </p:nvSpPr>
        <p:spPr>
          <a:xfrm>
            <a:off x="1234440" y="35845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7x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72"/>
          <p:cNvSpPr/>
          <p:nvPr/>
        </p:nvSpPr>
        <p:spPr>
          <a:xfrm>
            <a:off x="3227760" y="35845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73"/>
          <p:cNvSpPr/>
          <p:nvPr/>
        </p:nvSpPr>
        <p:spPr>
          <a:xfrm>
            <a:off x="3575160" y="358452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49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74"/>
          <p:cNvSpPr/>
          <p:nvPr/>
        </p:nvSpPr>
        <p:spPr>
          <a:xfrm>
            <a:off x="1234440" y="395028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75"/>
          <p:cNvSpPr/>
          <p:nvPr/>
        </p:nvSpPr>
        <p:spPr>
          <a:xfrm>
            <a:off x="3227760" y="395028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 76"/>
          <p:cNvSpPr/>
          <p:nvPr/>
        </p:nvSpPr>
        <p:spPr>
          <a:xfrm>
            <a:off x="3575160" y="395028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7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77"/>
          <p:cNvSpPr/>
          <p:nvPr/>
        </p:nvSpPr>
        <p:spPr>
          <a:xfrm>
            <a:off x="960120" y="440748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Substitute  x = 7  into (1)   →   y = 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78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79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x = 7,   y = 5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2" dur="indefinite" restart="never" nodeType="tmRoot">
          <p:childTnLst>
            <p:seq>
              <p:cTn id="493" dur="indefinite" nodeType="mainSeq">
                <p:childTnLst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8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1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4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7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3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6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9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2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5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1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6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9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2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5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8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1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4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7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0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3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6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9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2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0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6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9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2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5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8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3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8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1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WORDED PROBLEM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 Numbers: Sum and Difference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Turn each sentence into an equation.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‘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Sum’ → +,  ‘difference’ → −.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Different signs on y → add to eliminate.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Define your unknowns first, then form one equation per sentence.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44"/>
          <p:cNvSpPr/>
          <p:nvPr/>
        </p:nvSpPr>
        <p:spPr>
          <a:xfrm>
            <a:off x="960120" y="17557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Their sum is 130; their difference is 38.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45"/>
          <p:cNvSpPr/>
          <p:nvPr/>
        </p:nvSpPr>
        <p:spPr>
          <a:xfrm>
            <a:off x="960120" y="203004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Let the numbers be x and 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 46"/>
          <p:cNvSpPr/>
          <p:nvPr/>
        </p:nvSpPr>
        <p:spPr>
          <a:xfrm>
            <a:off x="1234440" y="23774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47"/>
          <p:cNvSpPr/>
          <p:nvPr/>
        </p:nvSpPr>
        <p:spPr>
          <a:xfrm>
            <a:off x="2130480" y="23774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48"/>
          <p:cNvSpPr/>
          <p:nvPr/>
        </p:nvSpPr>
        <p:spPr>
          <a:xfrm>
            <a:off x="2459880" y="237744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Text 49"/>
          <p:cNvSpPr/>
          <p:nvPr/>
        </p:nvSpPr>
        <p:spPr>
          <a:xfrm>
            <a:off x="3227760" y="23774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 50"/>
          <p:cNvSpPr/>
          <p:nvPr/>
        </p:nvSpPr>
        <p:spPr>
          <a:xfrm>
            <a:off x="3575160" y="23774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130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51"/>
          <p:cNvSpPr/>
          <p:nvPr/>
        </p:nvSpPr>
        <p:spPr>
          <a:xfrm>
            <a:off x="4599360" y="23774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52"/>
          <p:cNvSpPr/>
          <p:nvPr/>
        </p:nvSpPr>
        <p:spPr>
          <a:xfrm>
            <a:off x="960120" y="2761560"/>
            <a:ext cx="23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Text 53"/>
          <p:cNvSpPr/>
          <p:nvPr/>
        </p:nvSpPr>
        <p:spPr>
          <a:xfrm>
            <a:off x="1234440" y="27615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54"/>
          <p:cNvSpPr/>
          <p:nvPr/>
        </p:nvSpPr>
        <p:spPr>
          <a:xfrm>
            <a:off x="2130480" y="2761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55"/>
          <p:cNvSpPr/>
          <p:nvPr/>
        </p:nvSpPr>
        <p:spPr>
          <a:xfrm>
            <a:off x="2459880" y="276156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56"/>
          <p:cNvSpPr/>
          <p:nvPr/>
        </p:nvSpPr>
        <p:spPr>
          <a:xfrm>
            <a:off x="3227760" y="27615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 57"/>
          <p:cNvSpPr/>
          <p:nvPr/>
        </p:nvSpPr>
        <p:spPr>
          <a:xfrm>
            <a:off x="3575160" y="27615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38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 58"/>
          <p:cNvSpPr/>
          <p:nvPr/>
        </p:nvSpPr>
        <p:spPr>
          <a:xfrm>
            <a:off x="4599360" y="276156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59"/>
          <p:cNvSpPr/>
          <p:nvPr/>
        </p:nvSpPr>
        <p:spPr>
          <a:xfrm>
            <a:off x="1234440" y="3182040"/>
            <a:ext cx="3209400" cy="360"/>
          </a:xfrm>
          <a:prstGeom prst="line">
            <a:avLst/>
          </a:prstGeom>
          <a:ln w="15875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60"/>
          <p:cNvSpPr/>
          <p:nvPr/>
        </p:nvSpPr>
        <p:spPr>
          <a:xfrm>
            <a:off x="4572000" y="301752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c84f2f"/>
                </a:solidFill>
                <a:latin typeface="Cambria"/>
                <a:ea typeface="Cambria"/>
              </a:rPr>
              <a:t>ADD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 61"/>
          <p:cNvSpPr/>
          <p:nvPr/>
        </p:nvSpPr>
        <p:spPr>
          <a:xfrm>
            <a:off x="1234440" y="32551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 62"/>
          <p:cNvSpPr/>
          <p:nvPr/>
        </p:nvSpPr>
        <p:spPr>
          <a:xfrm>
            <a:off x="3227760" y="32551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 63"/>
          <p:cNvSpPr/>
          <p:nvPr/>
        </p:nvSpPr>
        <p:spPr>
          <a:xfrm>
            <a:off x="3575160" y="325512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168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Text 64"/>
          <p:cNvSpPr/>
          <p:nvPr/>
        </p:nvSpPr>
        <p:spPr>
          <a:xfrm>
            <a:off x="1234440" y="36392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65"/>
          <p:cNvSpPr/>
          <p:nvPr/>
        </p:nvSpPr>
        <p:spPr>
          <a:xfrm>
            <a:off x="3227760" y="36392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 66"/>
          <p:cNvSpPr/>
          <p:nvPr/>
        </p:nvSpPr>
        <p:spPr>
          <a:xfrm>
            <a:off x="3575160" y="36392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84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 67"/>
          <p:cNvSpPr/>
          <p:nvPr/>
        </p:nvSpPr>
        <p:spPr>
          <a:xfrm>
            <a:off x="960120" y="402336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Sub into (1):  84 + y = 130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68"/>
          <p:cNvSpPr/>
          <p:nvPr/>
        </p:nvSpPr>
        <p:spPr>
          <a:xfrm>
            <a:off x="1234440" y="43707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69"/>
          <p:cNvSpPr/>
          <p:nvPr/>
        </p:nvSpPr>
        <p:spPr>
          <a:xfrm>
            <a:off x="3227760" y="43707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70"/>
          <p:cNvSpPr/>
          <p:nvPr/>
        </p:nvSpPr>
        <p:spPr>
          <a:xfrm>
            <a:off x="3575160" y="43707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46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71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72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The numbers are 84 and 46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2" dur="indefinite" restart="never" nodeType="tmRoot">
          <p:childTnLst>
            <p:seq>
              <p:cTn id="613" dur="indefinite" nodeType="mainSeq">
                <p:childTnLst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1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fill="hold">
                      <p:stCondLst>
                        <p:cond delay="indefinite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6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9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2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5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8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1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4"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7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0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3"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6"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9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2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indefinite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7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0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3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6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9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2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5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8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3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6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9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2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indefinite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0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 QUESTION · EDEXCEL SAM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Higher Tier Sample Assessment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Read carefully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Cutting in half halves one side — form a perimeter equation each way.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2a + b = 50 and a + 2b = 64.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question wants the ORIGINAL perimeter: 2(a + b).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Always answer what is asked — here the original sheet’s perimeter, not a or b.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ext 44"/>
          <p:cNvSpPr/>
          <p:nvPr/>
        </p:nvSpPr>
        <p:spPr>
          <a:xfrm>
            <a:off x="960120" y="173736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Sheet a by b. Cut one way: each perimeter 50.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ext 45"/>
          <p:cNvSpPr/>
          <p:nvPr/>
        </p:nvSpPr>
        <p:spPr>
          <a:xfrm>
            <a:off x="960120" y="19933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1c2a22"/>
                </a:solidFill>
                <a:latin typeface="Calibri"/>
                <a:ea typeface="Calibri"/>
              </a:rPr>
              <a:t>Cut the other way: each perimeter 64.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ext 46"/>
          <p:cNvSpPr/>
          <p:nvPr/>
        </p:nvSpPr>
        <p:spPr>
          <a:xfrm>
            <a:off x="1234440" y="234072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 47"/>
          <p:cNvSpPr/>
          <p:nvPr/>
        </p:nvSpPr>
        <p:spPr>
          <a:xfrm>
            <a:off x="2130480" y="23407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Text 48"/>
          <p:cNvSpPr/>
          <p:nvPr/>
        </p:nvSpPr>
        <p:spPr>
          <a:xfrm>
            <a:off x="2459880" y="234072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49"/>
          <p:cNvSpPr/>
          <p:nvPr/>
        </p:nvSpPr>
        <p:spPr>
          <a:xfrm>
            <a:off x="3227760" y="234072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 50"/>
          <p:cNvSpPr/>
          <p:nvPr/>
        </p:nvSpPr>
        <p:spPr>
          <a:xfrm>
            <a:off x="3575160" y="234072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50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51"/>
          <p:cNvSpPr/>
          <p:nvPr/>
        </p:nvSpPr>
        <p:spPr>
          <a:xfrm>
            <a:off x="4599360" y="234072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(1)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52"/>
          <p:cNvSpPr/>
          <p:nvPr/>
        </p:nvSpPr>
        <p:spPr>
          <a:xfrm>
            <a:off x="1234440" y="272484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ext 53"/>
          <p:cNvSpPr/>
          <p:nvPr/>
        </p:nvSpPr>
        <p:spPr>
          <a:xfrm>
            <a:off x="2130480" y="27248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Text 54"/>
          <p:cNvSpPr/>
          <p:nvPr/>
        </p:nvSpPr>
        <p:spPr>
          <a:xfrm>
            <a:off x="2459880" y="272484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2b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Text 55"/>
          <p:cNvSpPr/>
          <p:nvPr/>
        </p:nvSpPr>
        <p:spPr>
          <a:xfrm>
            <a:off x="3227760" y="272484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Text 56"/>
          <p:cNvSpPr/>
          <p:nvPr/>
        </p:nvSpPr>
        <p:spPr>
          <a:xfrm>
            <a:off x="3575160" y="272484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64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57"/>
          <p:cNvSpPr/>
          <p:nvPr/>
        </p:nvSpPr>
        <p:spPr>
          <a:xfrm>
            <a:off x="4599360" y="27248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5c6b60"/>
                </a:solidFill>
                <a:latin typeface="Calibri"/>
                <a:ea typeface="Calibri"/>
              </a:rPr>
              <a:t>(2)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Text 58"/>
          <p:cNvSpPr/>
          <p:nvPr/>
        </p:nvSpPr>
        <p:spPr>
          <a:xfrm>
            <a:off x="960120" y="310896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(1)×2:  4a + 2b = 100,  then subtract (2):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Text 59"/>
          <p:cNvSpPr/>
          <p:nvPr/>
        </p:nvSpPr>
        <p:spPr>
          <a:xfrm>
            <a:off x="1234440" y="342000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 60"/>
          <p:cNvSpPr/>
          <p:nvPr/>
        </p:nvSpPr>
        <p:spPr>
          <a:xfrm>
            <a:off x="3227760" y="342000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 61"/>
          <p:cNvSpPr/>
          <p:nvPr/>
        </p:nvSpPr>
        <p:spPr>
          <a:xfrm>
            <a:off x="3575160" y="342000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2a22"/>
                </a:solidFill>
                <a:latin typeface="Cambria"/>
                <a:ea typeface="Cambria"/>
              </a:rPr>
              <a:t>36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62"/>
          <p:cNvSpPr/>
          <p:nvPr/>
        </p:nvSpPr>
        <p:spPr>
          <a:xfrm>
            <a:off x="1234440" y="3785760"/>
            <a:ext cx="86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63"/>
          <p:cNvSpPr/>
          <p:nvPr/>
        </p:nvSpPr>
        <p:spPr>
          <a:xfrm>
            <a:off x="3227760" y="3785760"/>
            <a:ext cx="310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 64"/>
          <p:cNvSpPr/>
          <p:nvPr/>
        </p:nvSpPr>
        <p:spPr>
          <a:xfrm>
            <a:off x="3575160" y="3785760"/>
            <a:ext cx="89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12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Text 65"/>
          <p:cNvSpPr/>
          <p:nvPr/>
        </p:nvSpPr>
        <p:spPr>
          <a:xfrm>
            <a:off x="960120" y="41515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b = 26.  Original perimeter = 2(12 + 26)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6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6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Perimeter = 76 cm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1" dur="indefinite" restart="never" nodeType="tmRoot">
          <p:childTnLst>
            <p:seq>
              <p:cTn id="712" dur="indefinite" nodeType="mainSeq">
                <p:childTnLst>
                  <p:par>
                    <p:cTn id="713" fill="hold">
                      <p:stCondLst>
                        <p:cond delay="indefinite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7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0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ite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5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8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1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4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7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0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3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6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9"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2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5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8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3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6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9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2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5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8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1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6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7" fill="hold">
                      <p:stCondLst>
                        <p:cond delay="indefinite"/>
                      </p:stCondLst>
                      <p:childTnLst>
                        <p:par>
                          <p:cTn id="788" fill="hold">
                            <p:stCondLst>
                              <p:cond delay="0"/>
                            </p:stCondLst>
                            <p:childTnLst>
                              <p:par>
                                <p:cTn id="7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1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4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Exam Questions — Show Clear Working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39"/>
          <p:cNvSpPr/>
          <p:nvPr/>
        </p:nvSpPr>
        <p:spPr>
          <a:xfrm>
            <a:off x="567000" y="141732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40"/>
          <p:cNvSpPr/>
          <p:nvPr/>
        </p:nvSpPr>
        <p:spPr>
          <a:xfrm>
            <a:off x="887040" y="141732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Solve each pair by elimination — rearrange into standard form first where needed.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41"/>
          <p:cNvSpPr/>
          <p:nvPr/>
        </p:nvSpPr>
        <p:spPr>
          <a:xfrm>
            <a:off x="567000" y="2103120"/>
            <a:ext cx="11063880" cy="877320"/>
          </a:xfrm>
          <a:prstGeom prst="roundRect">
            <a:avLst>
              <a:gd name="adj" fmla="val 625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42"/>
          <p:cNvSpPr/>
          <p:nvPr/>
        </p:nvSpPr>
        <p:spPr>
          <a:xfrm>
            <a:off x="868680" y="233172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43"/>
          <p:cNvSpPr/>
          <p:nvPr/>
        </p:nvSpPr>
        <p:spPr>
          <a:xfrm>
            <a:off x="868680" y="23317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 44"/>
          <p:cNvSpPr/>
          <p:nvPr/>
        </p:nvSpPr>
        <p:spPr>
          <a:xfrm>
            <a:off x="1554480" y="2103120"/>
            <a:ext cx="64004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x + 2y = −0.5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3x − y = 16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 45"/>
          <p:cNvSpPr/>
          <p:nvPr/>
        </p:nvSpPr>
        <p:spPr>
          <a:xfrm>
            <a:off x="7955280" y="2103120"/>
            <a:ext cx="27428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Show clear algebraic working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Text 46"/>
          <p:cNvSpPr/>
          <p:nvPr/>
        </p:nvSpPr>
        <p:spPr>
          <a:xfrm>
            <a:off x="10698480" y="2103120"/>
            <a:ext cx="7311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47"/>
          <p:cNvSpPr/>
          <p:nvPr/>
        </p:nvSpPr>
        <p:spPr>
          <a:xfrm>
            <a:off x="567000" y="3099960"/>
            <a:ext cx="11063880" cy="877320"/>
          </a:xfrm>
          <a:prstGeom prst="roundRect">
            <a:avLst>
              <a:gd name="adj" fmla="val 625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48"/>
          <p:cNvSpPr/>
          <p:nvPr/>
        </p:nvSpPr>
        <p:spPr>
          <a:xfrm>
            <a:off x="868680" y="332856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Text 49"/>
          <p:cNvSpPr/>
          <p:nvPr/>
        </p:nvSpPr>
        <p:spPr>
          <a:xfrm>
            <a:off x="868680" y="33285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Text 50"/>
          <p:cNvSpPr/>
          <p:nvPr/>
        </p:nvSpPr>
        <p:spPr>
          <a:xfrm>
            <a:off x="1554480" y="3099960"/>
            <a:ext cx="64004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2x + 7y = 17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5x + 3y = −1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 51"/>
          <p:cNvSpPr/>
          <p:nvPr/>
        </p:nvSpPr>
        <p:spPr>
          <a:xfrm>
            <a:off x="7955280" y="3099960"/>
            <a:ext cx="27428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Show clear algebraic working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Text 52"/>
          <p:cNvSpPr/>
          <p:nvPr/>
        </p:nvSpPr>
        <p:spPr>
          <a:xfrm>
            <a:off x="10698480" y="3099960"/>
            <a:ext cx="7311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53"/>
          <p:cNvSpPr/>
          <p:nvPr/>
        </p:nvSpPr>
        <p:spPr>
          <a:xfrm>
            <a:off x="567000" y="4096440"/>
            <a:ext cx="11063880" cy="877320"/>
          </a:xfrm>
          <a:prstGeom prst="roundRect">
            <a:avLst>
              <a:gd name="adj" fmla="val 625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54"/>
          <p:cNvSpPr/>
          <p:nvPr/>
        </p:nvSpPr>
        <p:spPr>
          <a:xfrm>
            <a:off x="868680" y="432504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 55"/>
          <p:cNvSpPr/>
          <p:nvPr/>
        </p:nvSpPr>
        <p:spPr>
          <a:xfrm>
            <a:off x="868680" y="4325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56"/>
          <p:cNvSpPr/>
          <p:nvPr/>
        </p:nvSpPr>
        <p:spPr>
          <a:xfrm>
            <a:off x="1554480" y="4096440"/>
            <a:ext cx="64004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3x − 5y = 25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4x + 3y = 14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Text 57"/>
          <p:cNvSpPr/>
          <p:nvPr/>
        </p:nvSpPr>
        <p:spPr>
          <a:xfrm>
            <a:off x="7955280" y="4096440"/>
            <a:ext cx="27428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Show clear algebraic working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Text 58"/>
          <p:cNvSpPr/>
          <p:nvPr/>
        </p:nvSpPr>
        <p:spPr>
          <a:xfrm>
            <a:off x="10698480" y="4096440"/>
            <a:ext cx="7311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59"/>
          <p:cNvSpPr/>
          <p:nvPr/>
        </p:nvSpPr>
        <p:spPr>
          <a:xfrm>
            <a:off x="567000" y="5093280"/>
            <a:ext cx="11063880" cy="877320"/>
          </a:xfrm>
          <a:prstGeom prst="roundRect">
            <a:avLst>
              <a:gd name="adj" fmla="val 625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60"/>
          <p:cNvSpPr/>
          <p:nvPr/>
        </p:nvSpPr>
        <p:spPr>
          <a:xfrm>
            <a:off x="868680" y="5321880"/>
            <a:ext cx="420120" cy="42012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61"/>
          <p:cNvSpPr/>
          <p:nvPr/>
        </p:nvSpPr>
        <p:spPr>
          <a:xfrm>
            <a:off x="868680" y="5321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 62"/>
          <p:cNvSpPr/>
          <p:nvPr/>
        </p:nvSpPr>
        <p:spPr>
          <a:xfrm>
            <a:off x="1554480" y="5093280"/>
            <a:ext cx="64004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x + 2y = 8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c2a22"/>
                </a:solidFill>
                <a:latin typeface="Cambria"/>
                <a:ea typeface="Cambria"/>
              </a:rPr>
              <a:t>2x = y + 6   (rearrange first)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63"/>
          <p:cNvSpPr/>
          <p:nvPr/>
        </p:nvSpPr>
        <p:spPr>
          <a:xfrm>
            <a:off x="7955280" y="5093280"/>
            <a:ext cx="274284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Show clear algebraic working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Text 64"/>
          <p:cNvSpPr/>
          <p:nvPr/>
        </p:nvSpPr>
        <p:spPr>
          <a:xfrm>
            <a:off x="10698480" y="5093280"/>
            <a:ext cx="73116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65"/>
          <p:cNvSpPr/>
          <p:nvPr/>
        </p:nvSpPr>
        <p:spPr>
          <a:xfrm>
            <a:off x="567000" y="61081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Text 66"/>
          <p:cNvSpPr/>
          <p:nvPr/>
        </p:nvSpPr>
        <p:spPr>
          <a:xfrm>
            <a:off x="822960" y="61081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1) x=4.5, y=−2.5    2) x=−2, y=3    3) x=5, y=−2    4) x=4, y=2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5" dur="indefinite" restart="never" nodeType="tmRoot">
          <p:childTnLst>
            <p:seq>
              <p:cTn id="796" dur="indefinite" nodeType="mainSeq">
                <p:childTnLst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1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4"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7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0"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3"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6"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1"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4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7"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0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3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6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7" fill="hold">
                      <p:stCondLst>
                        <p:cond delay="indefinite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1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4"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7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0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3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6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1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4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7"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0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3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6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1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4"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Write both equations in standard form, lined up under each other.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Make a pair of coefficients match — multiply one or both if needed.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Same sign → SUBTRACT;  different sign → ADD.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Solve, substitute the value back, then solve for the second letter.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Worded problems: define the unknowns, then form one equation per fact.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Always check: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put your x and y back into BOTH original equations.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1558</Words>
  <Paragraphs>384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2026-06-29T10:50:29Z</dcterms:created>
  <dc:creator>Zahra Sheikh Ali</dc:creator>
  <dc:description/>
  <dc:language>en-US</dc:language>
  <cp:lastModifiedBy>zahraa sheik ali</cp:lastModifiedBy>
  <dcterms:modified xsi:type="dcterms:W3CDTF">2026-06-29T10:53:04Z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Custom</vt:lpwstr>
  </property>
  <property fmtid="{D5CDD505-2E9C-101B-9397-08002B2CF9AE}" pid="4" name="Slides">
    <vt:r8>15</vt:r8>
  </property>
</Properties>
</file>