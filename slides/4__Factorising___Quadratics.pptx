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447DE52-B819-4C20-AA32-D07849560AA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0C124C-2350-49EA-AB1E-7E92CF6B38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09D3CA-95A2-4446-B935-368578CC06E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8EFBAA-A777-41BA-A7E9-93ABCA6D374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8BBAAF-B4DE-4C47-95F9-D61490EC189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8x–20 = 4(2x–5).  10x²–15xy = 5x(2x–3y).  9ef–12f = 3f(3e–4).  5y+20y³ = 5y(1+4y²).  10x²+6xy = 2x(5x+3y).  25a⁴c⁷d+45a⁹c³h = 5a⁴c³(5c⁴d+9a⁵h).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32596CD-C441-4371-84B7-1695E3A8BBC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F6CEE2-42CB-4A52-A6CF-ECDF773224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Examples — x²+6x–16=(x+8)(x–2); y²–2y–48=(y–8)(y+6); y²–9y+14=(y–7)(y–2).  Now try — 1:(x+3)(x+4). 2:(x–5)(x+4). 3:(x–3)(x–5).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92C414-3EBB-423E-B583-EE0EDADB584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x²+2x–24=(x+6)(x–4).  x²–5x–36=(x–9)(x+4).  x²+6x–16=(x+8)(x–2).  y²–9y+14=(y–7)(y–2).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3C08DC-C98E-4641-BDCD-2734CCE8264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5317F6-7436-4440-A4CE-4A6B17308C7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Now try — 1: (2x+1)(x+3). 2: (3x+2)(x+2). 3: (2x+1)(x–3).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76CC06-5C8B-4699-AB6E-B57C0DC8690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2x²–7x+6=(2x–3)(x–2).  4x²+x–5=(4x+5)(x–1).  6x²–x–12=(3x+4)(2x–3).  5x²–44x+32=(5x–4)(x–8).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32660F-CFBC-416B-A27C-C369AF0682E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Now try — 1:(x+3)(x–3). 2:(x+8)(x–8). 3:(x+12)(x–12). 4:(x+20)(x–20).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CC4A25-0551-46B9-9F2A-2BB768FA73C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Now try — 1:(3x+2y)(3x–2y). 2:(2c+3d³)(2c–3d³). 3:(5m+4)(5m–4).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03DC03-A9BC-4434-A866-403EA132559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936C164-179C-4FE5-85C5-D2987F5A91E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1654CA-5AF7-4794-8215-2449D6DF757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4c²–9d⁶=(2c+3d³)(2c–3d³).  a⁴–144=(a²+12)(a²–12).  2a²–18=2(a+3)(a–3).  (12x–y)²–(4x–3y)²=(16x–4y)(8x+2y)=8(4x–y)(4x+y).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31FC74-18B1-402D-9DEC-57655E214C9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FCB4D5-EC2D-473C-82F2-98A0953EB36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6C55F09-E441-4A0B-B37C-9F37E4E89F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Now solve — 1: (x+2)(x+6)=0 → x=–2, x=–6. 2: (x–3)(x–4)=0 → x=3, x=4. 3: (x+10)(x–10)=0 → x=±10.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D0A9D6-1191-4EA9-9E07-B4DB3A03DA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A045D7-FCC3-470F-8467-D33C6E6E292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(a) 2x²–7x+6=(2x–3)(x–2).  (b) x=3/2 (1.5) or x=2.  Combined: 6x²–x–12=(3x+4)(2x–3)=0 → x=–4/3 or x=3/2.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E77DB9-702D-42FC-817D-3A7519F76E6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A743EF-753D-45BF-972B-883DA37D84F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448508-FEA3-4BBB-915F-6A6D80A0762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Q1: 2x²+6x–3=0 → x=(–6±√60)/4 → 0.44 or –3.44 (2 d.p.).  Q2: 3x²–5x–1=0 → x=(5±√37)/6 → 1.85 or –0.180 (3 s.f.).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938B348-3423-45A9-9C25-BA0A6D65C22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558608A-D06F-41C1-A52C-095029877C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16c²y³+20cy⁵ = 4cy³(4c+5y²).  x²–5x–36=(x–9)(x+4).  5x²–44x+32=(5x–4)(x–8).  x²+8x+12=0 → x=–2,–6.  x²–7x+8=0 → x=5.56 or 1.44 (3 s.f.).  9x²–4y²=(3x+2y)(3x–2y).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1784AF-D6CD-4172-8F52-52466C4FEAD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3814BF-D9A6-4559-ABB9-DF311FB3B70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8869680" y="822960"/>
            <a:ext cx="29257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5000" spc="-1" strike="noStrike">
                <a:solidFill>
                  <a:srgbClr val="283731"/>
                </a:solidFill>
                <a:latin typeface="Cambria"/>
                <a:ea typeface="Cambria"/>
              </a:rPr>
              <a:t>x</a:t>
            </a:r>
            <a:endParaRPr b="0" lang="en-US" sz="15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0332720" y="1005840"/>
            <a:ext cx="10969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0" spc="-1" strike="noStrike">
                <a:solidFill>
                  <a:srgbClr val="283731"/>
                </a:solidFill>
                <a:latin typeface="Cambria"/>
                <a:ea typeface="Cambria"/>
              </a:rPr>
              <a:t>2</a:t>
            </a:r>
            <a:endParaRPr b="0" lang="en-US" sz="7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731520" y="640080"/>
            <a:ext cx="712800" cy="71280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31520" y="62172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9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49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1627560" y="676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48" strike="noStrike">
                <a:solidFill>
                  <a:srgbClr val="e0ac2b"/>
                </a:solidFill>
                <a:latin typeface="Calibri"/>
                <a:ea typeface="Calibri"/>
              </a:rPr>
              <a:t>Zπ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1627560" y="9511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anim_1_a"/>
          <p:cNvSpPr/>
          <p:nvPr/>
        </p:nvSpPr>
        <p:spPr>
          <a:xfrm>
            <a:off x="731520" y="1828800"/>
            <a:ext cx="8777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e0ac2b"/>
                </a:solidFill>
                <a:latin typeface="Cambria"/>
                <a:ea typeface="Cambria"/>
              </a:rPr>
              <a:t>Factorising &amp; Solving Quadratics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anim_2_a"/>
          <p:cNvSpPr/>
          <p:nvPr/>
        </p:nvSpPr>
        <p:spPr>
          <a:xfrm>
            <a:off x="758880" y="2926080"/>
            <a:ext cx="10789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HCF · a = 1 · a ≠ 1 (ac) · Difference of Squares · Solving · The Formula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anim_3_a"/>
          <p:cNvSpPr/>
          <p:nvPr/>
        </p:nvSpPr>
        <p:spPr>
          <a:xfrm>
            <a:off x="731520" y="4114800"/>
            <a:ext cx="6857640" cy="1627200"/>
          </a:xfrm>
          <a:prstGeom prst="roundRect">
            <a:avLst>
              <a:gd name="adj" fmla="val 6742"/>
            </a:avLst>
          </a:prstGeom>
          <a:solidFill>
            <a:srgbClr val="283731"/>
          </a:solidFill>
          <a:ln w="0">
            <a:noFill/>
          </a:ln>
          <a:effectLst>
            <a:outerShdw algn="bl" blurRad="152280" dir="5400000" dist="50760" kx="0" ky="0" rotWithShape="0" sx="100000" sy="100000">
              <a:srgbClr val="000000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anim_3_a"/>
          <p:cNvSpPr/>
          <p:nvPr/>
        </p:nvSpPr>
        <p:spPr>
          <a:xfrm>
            <a:off x="1005840" y="4297680"/>
            <a:ext cx="6400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anim_3_a"/>
          <p:cNvSpPr/>
          <p:nvPr/>
        </p:nvSpPr>
        <p:spPr>
          <a:xfrm>
            <a:off x="1005840" y="4690800"/>
            <a:ext cx="6400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edebdd"/>
                </a:solidFill>
                <a:latin typeface="Calibri"/>
                <a:ea typeface="Calibri"/>
              </a:rPr>
              <a:t>IGCSE Mathematics Teacher  ·  M.Sc. Differential Geometry &amp; Geometric Control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anim_3_a"/>
          <p:cNvSpPr/>
          <p:nvPr/>
        </p:nvSpPr>
        <p:spPr>
          <a:xfrm>
            <a:off x="1005840" y="512964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0ac2b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0ac2b"/>
                </a:solidFill>
                <a:latin typeface="Calibri"/>
                <a:ea typeface="Calibri"/>
              </a:rPr>
              <a:t>66613748  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THE BIG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Factorising = the Reverse of Expanding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anim_1_a"/>
          <p:cNvSpPr/>
          <p:nvPr/>
        </p:nvSpPr>
        <p:spPr>
          <a:xfrm>
            <a:off x="548640" y="1572840"/>
            <a:ext cx="11091240" cy="114264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anim_1_a"/>
          <p:cNvSpPr/>
          <p:nvPr/>
        </p:nvSpPr>
        <p:spPr>
          <a:xfrm>
            <a:off x="868680" y="1572840"/>
            <a:ext cx="1033236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expand</a:t>
            </a: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  →   </a:t>
            </a: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3(x + 2) = 3x + 6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mbria"/>
              </a:rPr>
              <a:t>        </a:t>
            </a: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factorise</a:t>
            </a: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  →   </a:t>
            </a: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3x + 6 = 3(x + 2)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anim_2_c"/>
          <p:cNvSpPr/>
          <p:nvPr/>
        </p:nvSpPr>
        <p:spPr>
          <a:xfrm>
            <a:off x="548640" y="2971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c84f2f"/>
                </a:solidFill>
                <a:latin typeface="Calibri"/>
                <a:ea typeface="Calibri"/>
              </a:rPr>
              <a:t>WE WILL LEARN FIVE METHODS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anim_2_c"/>
          <p:cNvSpPr/>
          <p:nvPr/>
        </p:nvSpPr>
        <p:spPr>
          <a:xfrm>
            <a:off x="548640" y="3291840"/>
            <a:ext cx="3520080" cy="1142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anim_2_c"/>
          <p:cNvSpPr/>
          <p:nvPr/>
        </p:nvSpPr>
        <p:spPr>
          <a:xfrm>
            <a:off x="804600" y="3620880"/>
            <a:ext cx="502560" cy="502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anim_2_c"/>
          <p:cNvSpPr/>
          <p:nvPr/>
        </p:nvSpPr>
        <p:spPr>
          <a:xfrm>
            <a:off x="804600" y="3620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anim_2_c"/>
          <p:cNvSpPr/>
          <p:nvPr/>
        </p:nvSpPr>
        <p:spPr>
          <a:xfrm>
            <a:off x="1463040" y="3291840"/>
            <a:ext cx="2514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261f"/>
                </a:solidFill>
                <a:latin typeface="Cambria"/>
                <a:ea typeface="Cambria"/>
              </a:rPr>
              <a:t>Common factor (HCF)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anim_2_c"/>
          <p:cNvSpPr/>
          <p:nvPr/>
        </p:nvSpPr>
        <p:spPr>
          <a:xfrm>
            <a:off x="4260960" y="3291840"/>
            <a:ext cx="3520080" cy="1142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anim_2_c"/>
          <p:cNvSpPr/>
          <p:nvPr/>
        </p:nvSpPr>
        <p:spPr>
          <a:xfrm>
            <a:off x="4517280" y="3620880"/>
            <a:ext cx="502560" cy="502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anim_2_c"/>
          <p:cNvSpPr/>
          <p:nvPr/>
        </p:nvSpPr>
        <p:spPr>
          <a:xfrm>
            <a:off x="4517280" y="3620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anim_2_c"/>
          <p:cNvSpPr/>
          <p:nvPr/>
        </p:nvSpPr>
        <p:spPr>
          <a:xfrm>
            <a:off x="5175360" y="3291840"/>
            <a:ext cx="2514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261f"/>
                </a:solidFill>
                <a:latin typeface="Cambria"/>
                <a:ea typeface="Cambria"/>
              </a:rPr>
              <a:t>Quadratics, a = 1 (product &amp; sum)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anim_2_c"/>
          <p:cNvSpPr/>
          <p:nvPr/>
        </p:nvSpPr>
        <p:spPr>
          <a:xfrm>
            <a:off x="7973640" y="3291840"/>
            <a:ext cx="3520080" cy="1142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anim_2_c"/>
          <p:cNvSpPr/>
          <p:nvPr/>
        </p:nvSpPr>
        <p:spPr>
          <a:xfrm>
            <a:off x="8229600" y="3620880"/>
            <a:ext cx="502560" cy="502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anim_2_c"/>
          <p:cNvSpPr/>
          <p:nvPr/>
        </p:nvSpPr>
        <p:spPr>
          <a:xfrm>
            <a:off x="8229600" y="3620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anim_2_c"/>
          <p:cNvSpPr/>
          <p:nvPr/>
        </p:nvSpPr>
        <p:spPr>
          <a:xfrm>
            <a:off x="8888040" y="3291840"/>
            <a:ext cx="2514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261f"/>
                </a:solidFill>
                <a:latin typeface="Cambria"/>
                <a:ea typeface="Cambria"/>
              </a:rPr>
              <a:t>Quadratics, a ≠ 1 (ac method)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anim_3_c"/>
          <p:cNvSpPr/>
          <p:nvPr/>
        </p:nvSpPr>
        <p:spPr>
          <a:xfrm>
            <a:off x="548640" y="4590360"/>
            <a:ext cx="3520080" cy="1142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anim_3_c"/>
          <p:cNvSpPr/>
          <p:nvPr/>
        </p:nvSpPr>
        <p:spPr>
          <a:xfrm>
            <a:off x="804600" y="4919400"/>
            <a:ext cx="502560" cy="502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anim_3_c"/>
          <p:cNvSpPr/>
          <p:nvPr/>
        </p:nvSpPr>
        <p:spPr>
          <a:xfrm>
            <a:off x="804600" y="49194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anim_3_c"/>
          <p:cNvSpPr/>
          <p:nvPr/>
        </p:nvSpPr>
        <p:spPr>
          <a:xfrm>
            <a:off x="1463040" y="4590360"/>
            <a:ext cx="2514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261f"/>
                </a:solidFill>
                <a:latin typeface="Cambria"/>
                <a:ea typeface="Cambria"/>
              </a:rPr>
              <a:t>Difference of two squares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anim_3_c"/>
          <p:cNvSpPr/>
          <p:nvPr/>
        </p:nvSpPr>
        <p:spPr>
          <a:xfrm>
            <a:off x="4260960" y="4590360"/>
            <a:ext cx="3520080" cy="1142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anim_3_c"/>
          <p:cNvSpPr/>
          <p:nvPr/>
        </p:nvSpPr>
        <p:spPr>
          <a:xfrm>
            <a:off x="4517280" y="4919400"/>
            <a:ext cx="502560" cy="502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anim_3_c"/>
          <p:cNvSpPr/>
          <p:nvPr/>
        </p:nvSpPr>
        <p:spPr>
          <a:xfrm>
            <a:off x="4517280" y="49194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anim_3_c"/>
          <p:cNvSpPr/>
          <p:nvPr/>
        </p:nvSpPr>
        <p:spPr>
          <a:xfrm>
            <a:off x="5175360" y="4590360"/>
            <a:ext cx="2514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261f"/>
                </a:solidFill>
                <a:latin typeface="Cambria"/>
                <a:ea typeface="Cambria"/>
              </a:rPr>
              <a:t>Solving — factorise &amp; the formula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" dur="indefinite" restart="never" nodeType="tmRoot">
          <p:childTnLst>
            <p:seq>
              <p:cTn id="28" dur="indefinite" nodeType="mainSeq"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METHOD 1 · HCF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Common Factor (HCF)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Steps: 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1) find the HCF of the terms    2) write it outside the bracket    3) divide each term by it.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anim_1_a"/>
          <p:cNvSpPr/>
          <p:nvPr/>
        </p:nvSpPr>
        <p:spPr>
          <a:xfrm>
            <a:off x="548640" y="2377440"/>
            <a:ext cx="11091240" cy="914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anim_1_a"/>
          <p:cNvSpPr/>
          <p:nvPr/>
        </p:nvSpPr>
        <p:spPr>
          <a:xfrm>
            <a:off x="548640" y="237744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Factorise   3x</a:t>
            </a:r>
            <a:r>
              <a:rPr b="1" lang="en-US" sz="2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 + 9x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anim_2_c"/>
          <p:cNvSpPr/>
          <p:nvPr/>
        </p:nvSpPr>
        <p:spPr>
          <a:xfrm>
            <a:off x="548640" y="3474720"/>
            <a:ext cx="11091240" cy="2468520"/>
          </a:xfrm>
          <a:prstGeom prst="roundRect">
            <a:avLst>
              <a:gd name="adj" fmla="val 3704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anim_2_c"/>
          <p:cNvSpPr/>
          <p:nvPr/>
        </p:nvSpPr>
        <p:spPr>
          <a:xfrm>
            <a:off x="868680" y="3749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anim_2_c"/>
          <p:cNvSpPr/>
          <p:nvPr/>
        </p:nvSpPr>
        <p:spPr>
          <a:xfrm>
            <a:off x="868680" y="3749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anim_2_c"/>
          <p:cNvSpPr/>
          <p:nvPr/>
        </p:nvSpPr>
        <p:spPr>
          <a:xfrm>
            <a:off x="1417320" y="368496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HCF of 3x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and 9x is  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3x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anim_3_c"/>
          <p:cNvSpPr/>
          <p:nvPr/>
        </p:nvSpPr>
        <p:spPr>
          <a:xfrm>
            <a:off x="86868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anim_3_c"/>
          <p:cNvSpPr/>
          <p:nvPr/>
        </p:nvSpPr>
        <p:spPr>
          <a:xfrm>
            <a:off x="86868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anim_3_c"/>
          <p:cNvSpPr/>
          <p:nvPr/>
        </p:nvSpPr>
        <p:spPr>
          <a:xfrm>
            <a:off x="1417320" y="438912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Divide each term by 3x:   3x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÷ 3x = x,   9x ÷ 3x = 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anim_4_c"/>
          <p:cNvSpPr/>
          <p:nvPr/>
        </p:nvSpPr>
        <p:spPr>
          <a:xfrm>
            <a:off x="868680" y="5166360"/>
            <a:ext cx="4571640" cy="60300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anim_4_c"/>
          <p:cNvSpPr/>
          <p:nvPr/>
        </p:nvSpPr>
        <p:spPr>
          <a:xfrm>
            <a:off x="1051560" y="5166360"/>
            <a:ext cx="4205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= 3x(x + 3)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anim_4_c"/>
          <p:cNvSpPr/>
          <p:nvPr/>
        </p:nvSpPr>
        <p:spPr>
          <a:xfrm>
            <a:off x="5760720" y="5166360"/>
            <a:ext cx="57603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6a7269"/>
                </a:solidFill>
                <a:latin typeface="Cambria"/>
                <a:ea typeface="Cambria"/>
              </a:rPr>
              <a:t>Check by expanding: 3x(x + 3) = 3x² + 9x ✓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04" dur="indefinite" restart="never" nodeType="tmRoot">
          <p:childTnLst>
            <p:seq>
              <p:cTn id="105" dur="indefinite" nodeType="mainSeq">
                <p:childTnLst>
                  <p:par>
                    <p:cTn id="106" fill="hold">
                      <p:stCondLst>
                        <p:cond delay="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METHOD 1 · HCF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More Worked Examples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anim_1_a"/>
          <p:cNvSpPr/>
          <p:nvPr/>
        </p:nvSpPr>
        <p:spPr>
          <a:xfrm>
            <a:off x="548640" y="178308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anim_1_a"/>
          <p:cNvSpPr/>
          <p:nvPr/>
        </p:nvSpPr>
        <p:spPr>
          <a:xfrm>
            <a:off x="868680" y="2039040"/>
            <a:ext cx="4845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2x + 4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anim_1_a"/>
          <p:cNvSpPr/>
          <p:nvPr/>
        </p:nvSpPr>
        <p:spPr>
          <a:xfrm>
            <a:off x="868680" y="262440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HCF = 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anim_1_a"/>
          <p:cNvSpPr/>
          <p:nvPr/>
        </p:nvSpPr>
        <p:spPr>
          <a:xfrm>
            <a:off x="868680" y="2990160"/>
            <a:ext cx="3657240" cy="50256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anim_1_a"/>
          <p:cNvSpPr/>
          <p:nvPr/>
        </p:nvSpPr>
        <p:spPr>
          <a:xfrm>
            <a:off x="868680" y="299016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= 2(x + 2)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anim_2_c"/>
          <p:cNvSpPr/>
          <p:nvPr/>
        </p:nvSpPr>
        <p:spPr>
          <a:xfrm>
            <a:off x="6199560" y="178308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anim_2_c"/>
          <p:cNvSpPr/>
          <p:nvPr/>
        </p:nvSpPr>
        <p:spPr>
          <a:xfrm>
            <a:off x="6519600" y="2039040"/>
            <a:ext cx="4845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2xy + 4x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anim_2_c"/>
          <p:cNvSpPr/>
          <p:nvPr/>
        </p:nvSpPr>
        <p:spPr>
          <a:xfrm>
            <a:off x="6519600" y="262440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HCF = 2x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anim_2_c"/>
          <p:cNvSpPr/>
          <p:nvPr/>
        </p:nvSpPr>
        <p:spPr>
          <a:xfrm>
            <a:off x="6519600" y="2990160"/>
            <a:ext cx="3657240" cy="50256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anim_2_c"/>
          <p:cNvSpPr/>
          <p:nvPr/>
        </p:nvSpPr>
        <p:spPr>
          <a:xfrm>
            <a:off x="6519600" y="299016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= 2x(y + 2)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anim_3_c"/>
          <p:cNvSpPr/>
          <p:nvPr/>
        </p:nvSpPr>
        <p:spPr>
          <a:xfrm>
            <a:off x="548640" y="379476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anim_3_c"/>
          <p:cNvSpPr/>
          <p:nvPr/>
        </p:nvSpPr>
        <p:spPr>
          <a:xfrm>
            <a:off x="868680" y="4050720"/>
            <a:ext cx="4845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4x</a:t>
            </a:r>
            <a:r>
              <a:rPr b="1" lang="en-US" sz="22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y + 6xy</a:t>
            </a:r>
            <a:r>
              <a:rPr b="1" lang="en-US" sz="22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anim_3_c"/>
          <p:cNvSpPr/>
          <p:nvPr/>
        </p:nvSpPr>
        <p:spPr>
          <a:xfrm>
            <a:off x="868680" y="46360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HCF = 2xy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anim_3_c"/>
          <p:cNvSpPr/>
          <p:nvPr/>
        </p:nvSpPr>
        <p:spPr>
          <a:xfrm>
            <a:off x="868680" y="5001840"/>
            <a:ext cx="3657240" cy="50256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anim_3_c"/>
          <p:cNvSpPr/>
          <p:nvPr/>
        </p:nvSpPr>
        <p:spPr>
          <a:xfrm>
            <a:off x="868680" y="500184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= 2xy(2x + 3y)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anim_4_c"/>
          <p:cNvSpPr/>
          <p:nvPr/>
        </p:nvSpPr>
        <p:spPr>
          <a:xfrm>
            <a:off x="6199560" y="379476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anim_4_c"/>
          <p:cNvSpPr/>
          <p:nvPr/>
        </p:nvSpPr>
        <p:spPr>
          <a:xfrm>
            <a:off x="6519600" y="4050720"/>
            <a:ext cx="4845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xy + x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anim_4_c"/>
          <p:cNvSpPr/>
          <p:nvPr/>
        </p:nvSpPr>
        <p:spPr>
          <a:xfrm>
            <a:off x="6519600" y="46360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HCF = x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anim_4_c"/>
          <p:cNvSpPr/>
          <p:nvPr/>
        </p:nvSpPr>
        <p:spPr>
          <a:xfrm>
            <a:off x="6519600" y="5001840"/>
            <a:ext cx="3657240" cy="50256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anim_4_c"/>
          <p:cNvSpPr/>
          <p:nvPr/>
        </p:nvSpPr>
        <p:spPr>
          <a:xfrm>
            <a:off x="6519600" y="500184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= x(y + 1)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6" dur="indefinite" restart="never" nodeType="tmRoot">
          <p:childTnLst>
            <p:seq>
              <p:cTn id="157" dur="indefinite" nodeType="mainSeq">
                <p:childTnLst>
                  <p:par>
                    <p:cTn id="158" fill="hold">
                      <p:stCondLst>
                        <p:cond delay="0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4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6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8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3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9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 · HCF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Factorise Fully — Exam Questions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anim_1_a"/>
          <p:cNvSpPr/>
          <p:nvPr/>
        </p:nvSpPr>
        <p:spPr>
          <a:xfrm>
            <a:off x="548640" y="169164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anim_1_a"/>
          <p:cNvSpPr/>
          <p:nvPr/>
        </p:nvSpPr>
        <p:spPr>
          <a:xfrm>
            <a:off x="786240" y="189288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anim_1_a"/>
          <p:cNvSpPr/>
          <p:nvPr/>
        </p:nvSpPr>
        <p:spPr>
          <a:xfrm>
            <a:off x="786240" y="18928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anim_1_a"/>
          <p:cNvSpPr/>
          <p:nvPr/>
        </p:nvSpPr>
        <p:spPr>
          <a:xfrm>
            <a:off x="822960" y="2295000"/>
            <a:ext cx="29714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24332d"/>
                </a:solidFill>
                <a:latin typeface="Cambria"/>
                <a:ea typeface="Cambria"/>
              </a:rPr>
              <a:t>8x – 20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anim_1_a"/>
          <p:cNvSpPr/>
          <p:nvPr/>
        </p:nvSpPr>
        <p:spPr>
          <a:xfrm>
            <a:off x="4260960" y="169164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anim_1_a"/>
          <p:cNvSpPr/>
          <p:nvPr/>
        </p:nvSpPr>
        <p:spPr>
          <a:xfrm>
            <a:off x="4498920" y="189288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anim_1_a"/>
          <p:cNvSpPr/>
          <p:nvPr/>
        </p:nvSpPr>
        <p:spPr>
          <a:xfrm>
            <a:off x="4498920" y="18928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anim_1_a"/>
          <p:cNvSpPr/>
          <p:nvPr/>
        </p:nvSpPr>
        <p:spPr>
          <a:xfrm>
            <a:off x="4535280" y="2295000"/>
            <a:ext cx="29714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24332d"/>
                </a:solidFill>
                <a:latin typeface="Cambria"/>
                <a:ea typeface="Cambria"/>
              </a:rPr>
              <a:t>10x</a:t>
            </a:r>
            <a:r>
              <a:rPr b="1" lang="en-US" sz="19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900" spc="-1" strike="noStrike">
                <a:solidFill>
                  <a:srgbClr val="24332d"/>
                </a:solidFill>
                <a:latin typeface="Cambria"/>
                <a:ea typeface="Cambria"/>
              </a:rPr>
              <a:t> – 15xy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anim_1_a"/>
          <p:cNvSpPr/>
          <p:nvPr/>
        </p:nvSpPr>
        <p:spPr>
          <a:xfrm>
            <a:off x="7973640" y="169164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anim_1_a"/>
          <p:cNvSpPr/>
          <p:nvPr/>
        </p:nvSpPr>
        <p:spPr>
          <a:xfrm>
            <a:off x="8211240" y="189288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anim_1_a"/>
          <p:cNvSpPr/>
          <p:nvPr/>
        </p:nvSpPr>
        <p:spPr>
          <a:xfrm>
            <a:off x="8211240" y="18928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anim_1_a"/>
          <p:cNvSpPr/>
          <p:nvPr/>
        </p:nvSpPr>
        <p:spPr>
          <a:xfrm>
            <a:off x="8247960" y="2295000"/>
            <a:ext cx="29714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24332d"/>
                </a:solidFill>
                <a:latin typeface="Cambria"/>
                <a:ea typeface="Cambria"/>
              </a:rPr>
              <a:t>9ef – 12f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anim_2_c"/>
          <p:cNvSpPr/>
          <p:nvPr/>
        </p:nvSpPr>
        <p:spPr>
          <a:xfrm>
            <a:off x="548640" y="379476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anim_2_c"/>
          <p:cNvSpPr/>
          <p:nvPr/>
        </p:nvSpPr>
        <p:spPr>
          <a:xfrm>
            <a:off x="786240" y="399600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anim_2_c"/>
          <p:cNvSpPr/>
          <p:nvPr/>
        </p:nvSpPr>
        <p:spPr>
          <a:xfrm>
            <a:off x="786240" y="399600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anim_2_c"/>
          <p:cNvSpPr/>
          <p:nvPr/>
        </p:nvSpPr>
        <p:spPr>
          <a:xfrm>
            <a:off x="822960" y="4398120"/>
            <a:ext cx="29714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24332d"/>
                </a:solidFill>
                <a:latin typeface="Cambria"/>
                <a:ea typeface="Cambria"/>
              </a:rPr>
              <a:t>5y + 20y</a:t>
            </a:r>
            <a:r>
              <a:rPr b="1" lang="en-US" sz="19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anim_2_c"/>
          <p:cNvSpPr/>
          <p:nvPr/>
        </p:nvSpPr>
        <p:spPr>
          <a:xfrm>
            <a:off x="4260960" y="379476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anim_2_c"/>
          <p:cNvSpPr/>
          <p:nvPr/>
        </p:nvSpPr>
        <p:spPr>
          <a:xfrm>
            <a:off x="4498920" y="399600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anim_2_c"/>
          <p:cNvSpPr/>
          <p:nvPr/>
        </p:nvSpPr>
        <p:spPr>
          <a:xfrm>
            <a:off x="4498920" y="399600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anim_2_c"/>
          <p:cNvSpPr/>
          <p:nvPr/>
        </p:nvSpPr>
        <p:spPr>
          <a:xfrm>
            <a:off x="4535280" y="4398120"/>
            <a:ext cx="29714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24332d"/>
                </a:solidFill>
                <a:latin typeface="Cambria"/>
                <a:ea typeface="Cambria"/>
              </a:rPr>
              <a:t>10x</a:t>
            </a:r>
            <a:r>
              <a:rPr b="1" lang="en-US" sz="19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900" spc="-1" strike="noStrike">
                <a:solidFill>
                  <a:srgbClr val="24332d"/>
                </a:solidFill>
                <a:latin typeface="Cambria"/>
                <a:ea typeface="Cambria"/>
              </a:rPr>
              <a:t> + 6xy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anim_2_c"/>
          <p:cNvSpPr/>
          <p:nvPr/>
        </p:nvSpPr>
        <p:spPr>
          <a:xfrm>
            <a:off x="7973640" y="379476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anim_2_c"/>
          <p:cNvSpPr/>
          <p:nvPr/>
        </p:nvSpPr>
        <p:spPr>
          <a:xfrm>
            <a:off x="8211240" y="399600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anim_2_c"/>
          <p:cNvSpPr/>
          <p:nvPr/>
        </p:nvSpPr>
        <p:spPr>
          <a:xfrm>
            <a:off x="8211240" y="399600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anim_2_c"/>
          <p:cNvSpPr/>
          <p:nvPr/>
        </p:nvSpPr>
        <p:spPr>
          <a:xfrm>
            <a:off x="8247960" y="4398120"/>
            <a:ext cx="29714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25a</a:t>
            </a:r>
            <a:r>
              <a:rPr b="1" lang="en-US" sz="17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4</a:t>
            </a: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c</a:t>
            </a:r>
            <a:r>
              <a:rPr b="1" lang="en-US" sz="17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7</a:t>
            </a: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d + 45a</a:t>
            </a:r>
            <a:r>
              <a:rPr b="1" lang="en-US" sz="17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9</a:t>
            </a: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c</a:t>
            </a:r>
            <a:r>
              <a:rPr b="1" lang="en-US" sz="17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26" dur="indefinite" restart="never" nodeType="tmRoot">
          <p:childTnLst>
            <p:seq>
              <p:cTn id="227" dur="indefinite" nodeType="mainSeq">
                <p:childTnLst>
                  <p:par>
                    <p:cTn id="228" fill="hold">
                      <p:stCondLst>
                        <p:cond delay="0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2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5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8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1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4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7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6" fill="hold">
                      <p:stCondLst>
                        <p:cond delay="indefinite"/>
                      </p:stCondLst>
                      <p:childTnLst>
                        <p:par>
                          <p:cTn id="267" fill="hold">
                            <p:stCondLst>
                              <p:cond delay="0"/>
                            </p:stCondLst>
                            <p:childTnLst>
                              <p:par>
                                <p:cTn id="26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6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9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2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8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1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4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7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0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0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METHOD 2 · a = 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Quadratics  x² + bx + c  — Product &amp; Sum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Find two numbers that  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multiply to c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 and  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add to b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 —  then  (x +  )(x +  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anim_1_a"/>
          <p:cNvSpPr/>
          <p:nvPr/>
        </p:nvSpPr>
        <p:spPr>
          <a:xfrm>
            <a:off x="548640" y="2377440"/>
            <a:ext cx="11091240" cy="868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anim_1_a"/>
          <p:cNvSpPr/>
          <p:nvPr/>
        </p:nvSpPr>
        <p:spPr>
          <a:xfrm>
            <a:off x="548640" y="2377440"/>
            <a:ext cx="11091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6261f"/>
                </a:solidFill>
                <a:latin typeface="Cambria"/>
                <a:ea typeface="Cambria"/>
              </a:rPr>
              <a:t>Factorise   x</a:t>
            </a:r>
            <a:r>
              <a:rPr b="1" lang="en-US" sz="26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600" spc="-1" strike="noStrike">
                <a:solidFill>
                  <a:srgbClr val="16261f"/>
                </a:solidFill>
                <a:latin typeface="Cambria"/>
                <a:ea typeface="Cambria"/>
              </a:rPr>
              <a:t> + 5x + 6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anim_2_c"/>
          <p:cNvSpPr/>
          <p:nvPr/>
        </p:nvSpPr>
        <p:spPr>
          <a:xfrm>
            <a:off x="548640" y="3337560"/>
            <a:ext cx="11091240" cy="2605680"/>
          </a:xfrm>
          <a:prstGeom prst="roundRect">
            <a:avLst>
              <a:gd name="adj" fmla="val 3509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anim_2_c"/>
          <p:cNvSpPr/>
          <p:nvPr/>
        </p:nvSpPr>
        <p:spPr>
          <a:xfrm>
            <a:off x="868680" y="3602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anim_2_c"/>
          <p:cNvSpPr/>
          <p:nvPr/>
        </p:nvSpPr>
        <p:spPr>
          <a:xfrm>
            <a:off x="868680" y="3602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anim_2_c"/>
          <p:cNvSpPr/>
          <p:nvPr/>
        </p:nvSpPr>
        <p:spPr>
          <a:xfrm>
            <a:off x="1417320" y="353880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Two numbers that multiply to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6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and add to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5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:   2 and 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anim_3_c"/>
          <p:cNvSpPr/>
          <p:nvPr/>
        </p:nvSpPr>
        <p:spPr>
          <a:xfrm>
            <a:off x="868680" y="4316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anim_3_c"/>
          <p:cNvSpPr/>
          <p:nvPr/>
        </p:nvSpPr>
        <p:spPr>
          <a:xfrm>
            <a:off x="868680" y="4316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nim_3_c"/>
          <p:cNvSpPr/>
          <p:nvPr/>
        </p:nvSpPr>
        <p:spPr>
          <a:xfrm>
            <a:off x="1417320" y="425196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6a7269"/>
                </a:solidFill>
                <a:latin typeface="Cambria"/>
                <a:ea typeface="Cambria"/>
              </a:rPr>
              <a:t>(2 × 3 = 6  ✓    2 + 3 = 5  ✓)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anim_4_c"/>
          <p:cNvSpPr/>
          <p:nvPr/>
        </p:nvSpPr>
        <p:spPr>
          <a:xfrm>
            <a:off x="868680" y="5029200"/>
            <a:ext cx="5120280" cy="60300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anim_4_c"/>
          <p:cNvSpPr/>
          <p:nvPr/>
        </p:nvSpPr>
        <p:spPr>
          <a:xfrm>
            <a:off x="1051560" y="5029200"/>
            <a:ext cx="475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= (x + 2)(x + 3)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04" dur="indefinite" restart="never" nodeType="tmRoot">
          <p:childTnLst>
            <p:seq>
              <p:cTn id="305" dur="indefinite" nodeType="mainSeq">
                <p:childTnLst>
                  <p:par>
                    <p:cTn id="306" fill="hold">
                      <p:stCondLst>
                        <p:cond delay="0"/>
                      </p:stCondLst>
                      <p:childTnLst>
                        <p:par>
                          <p:cTn id="307" fill="hold">
                            <p:stCondLst>
                              <p:cond delay="0"/>
                            </p:stCondLst>
                            <p:childTnLst>
                              <p:par>
                                <p:cTn id="308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0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3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6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9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0" fill="hold">
                      <p:stCondLst>
                        <p:cond delay="indefinite"/>
                      </p:stCondLst>
                      <p:childTnLst>
                        <p:par>
                          <p:cTn id="321" fill="hold">
                            <p:stCondLst>
                              <p:cond delay="0"/>
                            </p:stCondLst>
                            <p:childTnLst>
                              <p:par>
                                <p:cTn id="32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4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7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0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3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4" fill="hold">
                      <p:stCondLst>
                        <p:cond delay="indefinite"/>
                      </p:stCondLst>
                      <p:childTnLst>
                        <p:par>
                          <p:cTn id="335" fill="hold">
                            <p:stCondLst>
                              <p:cond delay="0"/>
                            </p:stCondLst>
                            <p:childTnLst>
                              <p:par>
                                <p:cTn id="33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8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1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4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5" fill="hold">
                      <p:stCondLst>
                        <p:cond delay="indefinite"/>
                      </p:stCondLst>
                      <p:childTnLst>
                        <p:par>
                          <p:cTn id="346" fill="hold">
                            <p:stCondLst>
                              <p:cond delay="0"/>
                            </p:stCondLst>
                            <p:childTnLst>
                              <p:par>
                                <p:cTn id="34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9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2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METHOD 2 · a = 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Worked Examples &amp; Practice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anim_1_a"/>
          <p:cNvSpPr/>
          <p:nvPr/>
        </p:nvSpPr>
        <p:spPr>
          <a:xfrm>
            <a:off x="548640" y="1737360"/>
            <a:ext cx="352008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anim_1_a"/>
          <p:cNvSpPr/>
          <p:nvPr/>
        </p:nvSpPr>
        <p:spPr>
          <a:xfrm>
            <a:off x="822960" y="199332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16261f"/>
                </a:solidFill>
                <a:latin typeface="Cambria"/>
                <a:ea typeface="Cambria"/>
              </a:rPr>
              <a:t>x</a:t>
            </a:r>
            <a:r>
              <a:rPr b="1" lang="en-US" sz="19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900" spc="-1" strike="noStrike">
                <a:solidFill>
                  <a:srgbClr val="16261f"/>
                </a:solidFill>
                <a:latin typeface="Cambria"/>
                <a:ea typeface="Cambria"/>
              </a:rPr>
              <a:t> + 6x – 16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anim_1_a"/>
          <p:cNvSpPr/>
          <p:nvPr/>
        </p:nvSpPr>
        <p:spPr>
          <a:xfrm>
            <a:off x="822960" y="251460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c84f2f"/>
                </a:solidFill>
                <a:latin typeface="Calibri"/>
                <a:ea typeface="Calibri"/>
              </a:rPr>
              <a:t>two numbers: 8 × (–2)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anim_1_a"/>
          <p:cNvSpPr/>
          <p:nvPr/>
        </p:nvSpPr>
        <p:spPr>
          <a:xfrm>
            <a:off x="822960" y="2926080"/>
            <a:ext cx="2971440" cy="475200"/>
          </a:xfrm>
          <a:prstGeom prst="roundRect">
            <a:avLst>
              <a:gd name="adj" fmla="val 19231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anim_1_a"/>
          <p:cNvSpPr/>
          <p:nvPr/>
        </p:nvSpPr>
        <p:spPr>
          <a:xfrm>
            <a:off x="822960" y="2926080"/>
            <a:ext cx="2971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= (x + 8)(x – 2)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anim_1_a"/>
          <p:cNvSpPr/>
          <p:nvPr/>
        </p:nvSpPr>
        <p:spPr>
          <a:xfrm>
            <a:off x="4260960" y="1737360"/>
            <a:ext cx="352008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anim_1_a"/>
          <p:cNvSpPr/>
          <p:nvPr/>
        </p:nvSpPr>
        <p:spPr>
          <a:xfrm>
            <a:off x="4535280" y="199332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16261f"/>
                </a:solidFill>
                <a:latin typeface="Cambria"/>
                <a:ea typeface="Cambria"/>
              </a:rPr>
              <a:t>y</a:t>
            </a:r>
            <a:r>
              <a:rPr b="1" lang="en-US" sz="19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900" spc="-1" strike="noStrike">
                <a:solidFill>
                  <a:srgbClr val="16261f"/>
                </a:solidFill>
                <a:latin typeface="Cambria"/>
                <a:ea typeface="Cambria"/>
              </a:rPr>
              <a:t> – 2y – 48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anim_1_a"/>
          <p:cNvSpPr/>
          <p:nvPr/>
        </p:nvSpPr>
        <p:spPr>
          <a:xfrm>
            <a:off x="4535280" y="251460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c84f2f"/>
                </a:solidFill>
                <a:latin typeface="Calibri"/>
                <a:ea typeface="Calibri"/>
              </a:rPr>
              <a:t>two numbers: –8 × 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anim_1_a"/>
          <p:cNvSpPr/>
          <p:nvPr/>
        </p:nvSpPr>
        <p:spPr>
          <a:xfrm>
            <a:off x="4535280" y="2926080"/>
            <a:ext cx="2971440" cy="475200"/>
          </a:xfrm>
          <a:prstGeom prst="roundRect">
            <a:avLst>
              <a:gd name="adj" fmla="val 19231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anim_1_a"/>
          <p:cNvSpPr/>
          <p:nvPr/>
        </p:nvSpPr>
        <p:spPr>
          <a:xfrm>
            <a:off x="4535280" y="2926080"/>
            <a:ext cx="2971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= (y – 8)(y + 6)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anim_1_a"/>
          <p:cNvSpPr/>
          <p:nvPr/>
        </p:nvSpPr>
        <p:spPr>
          <a:xfrm>
            <a:off x="7973640" y="1737360"/>
            <a:ext cx="352008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anim_1_a"/>
          <p:cNvSpPr/>
          <p:nvPr/>
        </p:nvSpPr>
        <p:spPr>
          <a:xfrm>
            <a:off x="8247960" y="1993320"/>
            <a:ext cx="3017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16261f"/>
                </a:solidFill>
                <a:latin typeface="Cambria"/>
                <a:ea typeface="Cambria"/>
              </a:rPr>
              <a:t>y</a:t>
            </a:r>
            <a:r>
              <a:rPr b="1" lang="en-US" sz="19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900" spc="-1" strike="noStrike">
                <a:solidFill>
                  <a:srgbClr val="16261f"/>
                </a:solidFill>
                <a:latin typeface="Cambria"/>
                <a:ea typeface="Cambria"/>
              </a:rPr>
              <a:t> – 9y + 14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anim_1_a"/>
          <p:cNvSpPr/>
          <p:nvPr/>
        </p:nvSpPr>
        <p:spPr>
          <a:xfrm>
            <a:off x="8247960" y="251460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c84f2f"/>
                </a:solidFill>
                <a:latin typeface="Calibri"/>
                <a:ea typeface="Calibri"/>
              </a:rPr>
              <a:t>two numbers: –7 × (–2)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anim_1_a"/>
          <p:cNvSpPr/>
          <p:nvPr/>
        </p:nvSpPr>
        <p:spPr>
          <a:xfrm>
            <a:off x="8247960" y="2926080"/>
            <a:ext cx="2971440" cy="475200"/>
          </a:xfrm>
          <a:prstGeom prst="roundRect">
            <a:avLst>
              <a:gd name="adj" fmla="val 19231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anim_1_a"/>
          <p:cNvSpPr/>
          <p:nvPr/>
        </p:nvSpPr>
        <p:spPr>
          <a:xfrm>
            <a:off x="8247960" y="2926080"/>
            <a:ext cx="29714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= (y – 7)(y – 2)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anim_2_c"/>
          <p:cNvSpPr/>
          <p:nvPr/>
        </p:nvSpPr>
        <p:spPr>
          <a:xfrm>
            <a:off x="548640" y="384048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c84f2f"/>
                </a:solidFill>
                <a:latin typeface="Calibri"/>
                <a:ea typeface="Calibri"/>
              </a:rPr>
              <a:t>NOW TRY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anim_2_c"/>
          <p:cNvSpPr/>
          <p:nvPr/>
        </p:nvSpPr>
        <p:spPr>
          <a:xfrm>
            <a:off x="548640" y="420624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anim_2_c"/>
          <p:cNvSpPr/>
          <p:nvPr/>
        </p:nvSpPr>
        <p:spPr>
          <a:xfrm>
            <a:off x="74988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anim_2_c"/>
          <p:cNvSpPr/>
          <p:nvPr/>
        </p:nvSpPr>
        <p:spPr>
          <a:xfrm>
            <a:off x="74988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anim_2_c"/>
          <p:cNvSpPr/>
          <p:nvPr/>
        </p:nvSpPr>
        <p:spPr>
          <a:xfrm>
            <a:off x="1225440" y="4206240"/>
            <a:ext cx="2742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+ 7x + 12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anim_2_c"/>
          <p:cNvSpPr/>
          <p:nvPr/>
        </p:nvSpPr>
        <p:spPr>
          <a:xfrm>
            <a:off x="4260960" y="420624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anim_2_c"/>
          <p:cNvSpPr/>
          <p:nvPr/>
        </p:nvSpPr>
        <p:spPr>
          <a:xfrm>
            <a:off x="446220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anim_2_c"/>
          <p:cNvSpPr/>
          <p:nvPr/>
        </p:nvSpPr>
        <p:spPr>
          <a:xfrm>
            <a:off x="446220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anim_2_c"/>
          <p:cNvSpPr/>
          <p:nvPr/>
        </p:nvSpPr>
        <p:spPr>
          <a:xfrm>
            <a:off x="4937760" y="4206240"/>
            <a:ext cx="2742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x – 20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anim_2_c"/>
          <p:cNvSpPr/>
          <p:nvPr/>
        </p:nvSpPr>
        <p:spPr>
          <a:xfrm>
            <a:off x="7973640" y="420624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anim_2_c"/>
          <p:cNvSpPr/>
          <p:nvPr/>
        </p:nvSpPr>
        <p:spPr>
          <a:xfrm>
            <a:off x="817488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anim_2_c"/>
          <p:cNvSpPr/>
          <p:nvPr/>
        </p:nvSpPr>
        <p:spPr>
          <a:xfrm>
            <a:off x="817488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anim_2_c"/>
          <p:cNvSpPr/>
          <p:nvPr/>
        </p:nvSpPr>
        <p:spPr>
          <a:xfrm>
            <a:off x="8650080" y="4206240"/>
            <a:ext cx="2742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8x + 15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53" dur="indefinite" restart="never" nodeType="tmRoot">
          <p:childTnLst>
            <p:seq>
              <p:cTn id="354" dur="indefinite" nodeType="mainSeq">
                <p:childTnLst>
                  <p:par>
                    <p:cTn id="355" fill="hold">
                      <p:stCondLst>
                        <p:cond delay="0"/>
                      </p:stCondLst>
                      <p:childTnLst>
                        <p:par>
                          <p:cTn id="356" fill="hold">
                            <p:stCondLst>
                              <p:cond delay="0"/>
                            </p:stCondLst>
                            <p:childTnLst>
                              <p:par>
                                <p:cTn id="357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59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2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5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8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1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4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77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0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3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6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89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2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5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8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01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2" fill="hold">
                      <p:stCondLst>
                        <p:cond delay="indefinite"/>
                      </p:stCondLst>
                      <p:childTnLst>
                        <p:par>
                          <p:cTn id="403" fill="hold">
                            <p:stCondLst>
                              <p:cond delay="0"/>
                            </p:stCondLst>
                            <p:childTnLst>
                              <p:par>
                                <p:cTn id="404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06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09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2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5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18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1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4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27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0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3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6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39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2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 · a = 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Exam Questions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anim_1_a"/>
          <p:cNvSpPr/>
          <p:nvPr/>
        </p:nvSpPr>
        <p:spPr>
          <a:xfrm>
            <a:off x="548640" y="16916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anim_1_a"/>
          <p:cNvSpPr/>
          <p:nvPr/>
        </p:nvSpPr>
        <p:spPr>
          <a:xfrm>
            <a:off x="786240" y="189288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anim_1_a"/>
          <p:cNvSpPr/>
          <p:nvPr/>
        </p:nvSpPr>
        <p:spPr>
          <a:xfrm>
            <a:off x="786240" y="18928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anim_1_a"/>
          <p:cNvSpPr/>
          <p:nvPr/>
        </p:nvSpPr>
        <p:spPr>
          <a:xfrm>
            <a:off x="822960" y="2295000"/>
            <a:ext cx="48916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22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2200" spc="-1" strike="noStrike">
                <a:solidFill>
                  <a:srgbClr val="24332d"/>
                </a:solidFill>
                <a:latin typeface="Cambria"/>
                <a:ea typeface="Cambria"/>
              </a:rPr>
              <a:t> + 2x – 24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anim_2_c"/>
          <p:cNvSpPr/>
          <p:nvPr/>
        </p:nvSpPr>
        <p:spPr>
          <a:xfrm>
            <a:off x="6199560" y="16916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anim_2_c"/>
          <p:cNvSpPr/>
          <p:nvPr/>
        </p:nvSpPr>
        <p:spPr>
          <a:xfrm>
            <a:off x="6437520" y="189288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anim_2_c"/>
          <p:cNvSpPr/>
          <p:nvPr/>
        </p:nvSpPr>
        <p:spPr>
          <a:xfrm>
            <a:off x="6437520" y="18928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anim_2_c"/>
          <p:cNvSpPr/>
          <p:nvPr/>
        </p:nvSpPr>
        <p:spPr>
          <a:xfrm>
            <a:off x="6473880" y="2295000"/>
            <a:ext cx="48916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22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2200" spc="-1" strike="noStrike">
                <a:solidFill>
                  <a:srgbClr val="24332d"/>
                </a:solidFill>
                <a:latin typeface="Cambria"/>
                <a:ea typeface="Cambria"/>
              </a:rPr>
              <a:t> – 5x – 36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anim_3_c"/>
          <p:cNvSpPr/>
          <p:nvPr/>
        </p:nvSpPr>
        <p:spPr>
          <a:xfrm>
            <a:off x="548640" y="37490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anim_3_c"/>
          <p:cNvSpPr/>
          <p:nvPr/>
        </p:nvSpPr>
        <p:spPr>
          <a:xfrm>
            <a:off x="786240" y="395028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anim_3_c"/>
          <p:cNvSpPr/>
          <p:nvPr/>
        </p:nvSpPr>
        <p:spPr>
          <a:xfrm>
            <a:off x="786240" y="39502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anim_3_c"/>
          <p:cNvSpPr/>
          <p:nvPr/>
        </p:nvSpPr>
        <p:spPr>
          <a:xfrm>
            <a:off x="822960" y="4352400"/>
            <a:ext cx="48916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22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2200" spc="-1" strike="noStrike">
                <a:solidFill>
                  <a:srgbClr val="24332d"/>
                </a:solidFill>
                <a:latin typeface="Cambria"/>
                <a:ea typeface="Cambria"/>
              </a:rPr>
              <a:t> + 6x – 16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anim_4_c"/>
          <p:cNvSpPr/>
          <p:nvPr/>
        </p:nvSpPr>
        <p:spPr>
          <a:xfrm>
            <a:off x="6199560" y="37490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anim_4_c"/>
          <p:cNvSpPr/>
          <p:nvPr/>
        </p:nvSpPr>
        <p:spPr>
          <a:xfrm>
            <a:off x="6437520" y="395028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anim_4_c"/>
          <p:cNvSpPr/>
          <p:nvPr/>
        </p:nvSpPr>
        <p:spPr>
          <a:xfrm>
            <a:off x="6437520" y="39502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anim_4_c"/>
          <p:cNvSpPr/>
          <p:nvPr/>
        </p:nvSpPr>
        <p:spPr>
          <a:xfrm>
            <a:off x="6473880" y="4352400"/>
            <a:ext cx="48916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24332d"/>
                </a:solidFill>
                <a:latin typeface="Cambria"/>
                <a:ea typeface="Cambria"/>
              </a:rPr>
              <a:t>y</a:t>
            </a:r>
            <a:r>
              <a:rPr b="1" lang="en-US" sz="22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2200" spc="-1" strike="noStrike">
                <a:solidFill>
                  <a:srgbClr val="24332d"/>
                </a:solidFill>
                <a:latin typeface="Cambria"/>
                <a:ea typeface="Cambria"/>
              </a:rPr>
              <a:t> – 9y + 14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43" dur="indefinite" restart="never" nodeType="tmRoot">
          <p:childTnLst>
            <p:seq>
              <p:cTn id="444" dur="indefinite" nodeType="mainSeq">
                <p:childTnLst>
                  <p:par>
                    <p:cTn id="445" fill="hold">
                      <p:stCondLst>
                        <p:cond delay="0"/>
                      </p:stCondLst>
                      <p:childTnLst>
                        <p:par>
                          <p:cTn id="446" fill="hold">
                            <p:stCondLst>
                              <p:cond delay="0"/>
                            </p:stCondLst>
                            <p:childTnLst>
                              <p:par>
                                <p:cTn id="447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9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5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58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9" fill="hold">
                      <p:stCondLst>
                        <p:cond delay="indefinite"/>
                      </p:stCondLst>
                      <p:childTnLst>
                        <p:par>
                          <p:cTn id="460" fill="hold">
                            <p:stCondLst>
                              <p:cond delay="0"/>
                            </p:stCondLst>
                            <p:childTnLst>
                              <p:par>
                                <p:cTn id="46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3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6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6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2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3" fill="hold">
                      <p:stCondLst>
                        <p:cond delay="indefinite"/>
                      </p:stCondLst>
                      <p:childTnLst>
                        <p:par>
                          <p:cTn id="474" fill="hold">
                            <p:stCondLst>
                              <p:cond delay="0"/>
                            </p:stCondLst>
                            <p:childTnLst>
                              <p:par>
                                <p:cTn id="47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7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0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3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86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7" fill="hold">
                      <p:stCondLst>
                        <p:cond delay="indefinite"/>
                      </p:stCondLst>
                      <p:childTnLst>
                        <p:par>
                          <p:cTn id="488" fill="hold">
                            <p:stCondLst>
                              <p:cond delay="0"/>
                            </p:stCondLst>
                            <p:childTnLst>
                              <p:par>
                                <p:cTn id="48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1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4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97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0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METHOD 3 · a ≠ 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The ac Method  (split the middle term)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Find two numbers that multiply to 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a × c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and add to 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b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— split the middle term, then factor by grouping.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anim_1_a"/>
          <p:cNvSpPr/>
          <p:nvPr/>
        </p:nvSpPr>
        <p:spPr>
          <a:xfrm>
            <a:off x="548640" y="2286000"/>
            <a:ext cx="1109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6261f"/>
                </a:solidFill>
                <a:latin typeface="Cambria"/>
                <a:ea typeface="Cambria"/>
              </a:rPr>
              <a:t>Factorise   3x</a:t>
            </a:r>
            <a:r>
              <a:rPr b="1" lang="en-US" sz="25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500" spc="-1" strike="noStrike">
                <a:solidFill>
                  <a:srgbClr val="16261f"/>
                </a:solidFill>
                <a:latin typeface="Cambria"/>
                <a:ea typeface="Cambria"/>
              </a:rPr>
              <a:t> + 10x + 8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anim_2_c"/>
          <p:cNvSpPr/>
          <p:nvPr/>
        </p:nvSpPr>
        <p:spPr>
          <a:xfrm>
            <a:off x="548640" y="2971800"/>
            <a:ext cx="3657240" cy="2971440"/>
          </a:xfrm>
          <a:prstGeom prst="roundRect">
            <a:avLst>
              <a:gd name="adj" fmla="val 3077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anim_2_c"/>
          <p:cNvSpPr/>
          <p:nvPr/>
        </p:nvSpPr>
        <p:spPr>
          <a:xfrm>
            <a:off x="548640" y="310896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a × c = 24,  b = 10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anim_2_c"/>
          <p:cNvSpPr/>
          <p:nvPr/>
        </p:nvSpPr>
        <p:spPr>
          <a:xfrm>
            <a:off x="1810440" y="3867840"/>
            <a:ext cx="1133640" cy="1133640"/>
          </a:xfrm>
          <a:prstGeom prst="line">
            <a:avLst/>
          </a:prstGeom>
          <a:ln w="190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anim_2_c"/>
          <p:cNvSpPr/>
          <p:nvPr/>
        </p:nvSpPr>
        <p:spPr>
          <a:xfrm flipV="1">
            <a:off x="1810440" y="3867840"/>
            <a:ext cx="1133640" cy="1133640"/>
          </a:xfrm>
          <a:prstGeom prst="line">
            <a:avLst/>
          </a:prstGeom>
          <a:ln w="190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anim_2_c"/>
          <p:cNvSpPr/>
          <p:nvPr/>
        </p:nvSpPr>
        <p:spPr>
          <a:xfrm>
            <a:off x="1874520" y="3502080"/>
            <a:ext cx="1005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10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anim_2_c"/>
          <p:cNvSpPr/>
          <p:nvPr/>
        </p:nvSpPr>
        <p:spPr>
          <a:xfrm>
            <a:off x="1874520" y="5020200"/>
            <a:ext cx="10054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24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anim_2_c"/>
          <p:cNvSpPr/>
          <p:nvPr/>
        </p:nvSpPr>
        <p:spPr>
          <a:xfrm>
            <a:off x="822960" y="4270320"/>
            <a:ext cx="868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anim_2_c"/>
          <p:cNvSpPr/>
          <p:nvPr/>
        </p:nvSpPr>
        <p:spPr>
          <a:xfrm>
            <a:off x="3063240" y="4270320"/>
            <a:ext cx="868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anim_2_c"/>
          <p:cNvSpPr/>
          <p:nvPr/>
        </p:nvSpPr>
        <p:spPr>
          <a:xfrm>
            <a:off x="548640" y="5532120"/>
            <a:ext cx="3657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6a7269"/>
                </a:solidFill>
                <a:latin typeface="Cambria"/>
                <a:ea typeface="Cambria"/>
              </a:rPr>
              <a:t>6 × 4 = 24,  6 + 4 = 10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anim_3_c"/>
          <p:cNvSpPr/>
          <p:nvPr/>
        </p:nvSpPr>
        <p:spPr>
          <a:xfrm>
            <a:off x="4526280" y="3173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anim_3_c"/>
          <p:cNvSpPr/>
          <p:nvPr/>
        </p:nvSpPr>
        <p:spPr>
          <a:xfrm>
            <a:off x="4526280" y="3173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anim_3_c"/>
          <p:cNvSpPr/>
          <p:nvPr/>
        </p:nvSpPr>
        <p:spPr>
          <a:xfrm>
            <a:off x="5074920" y="3108960"/>
            <a:ext cx="6400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Split:  3x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+ 6x + 4x + 8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anim_4_c"/>
          <p:cNvSpPr/>
          <p:nvPr/>
        </p:nvSpPr>
        <p:spPr>
          <a:xfrm>
            <a:off x="4526280" y="39045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anim_4_c"/>
          <p:cNvSpPr/>
          <p:nvPr/>
        </p:nvSpPr>
        <p:spPr>
          <a:xfrm>
            <a:off x="4526280" y="3904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anim_4_c"/>
          <p:cNvSpPr/>
          <p:nvPr/>
        </p:nvSpPr>
        <p:spPr>
          <a:xfrm>
            <a:off x="5074920" y="3840480"/>
            <a:ext cx="6400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Group:  3x(x + 2) + 4(x + 2)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anim_5_c"/>
          <p:cNvSpPr/>
          <p:nvPr/>
        </p:nvSpPr>
        <p:spPr>
          <a:xfrm>
            <a:off x="4526280" y="46360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anim_5_c"/>
          <p:cNvSpPr/>
          <p:nvPr/>
        </p:nvSpPr>
        <p:spPr>
          <a:xfrm>
            <a:off x="4526280" y="46360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anim_5_c"/>
          <p:cNvSpPr/>
          <p:nvPr/>
        </p:nvSpPr>
        <p:spPr>
          <a:xfrm>
            <a:off x="5074920" y="4572000"/>
            <a:ext cx="6400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Common bracket (x + 2):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anim_5_c"/>
          <p:cNvSpPr/>
          <p:nvPr/>
        </p:nvSpPr>
        <p:spPr>
          <a:xfrm>
            <a:off x="5074920" y="5212080"/>
            <a:ext cx="4571640" cy="60300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anim_5_c"/>
          <p:cNvSpPr/>
          <p:nvPr/>
        </p:nvSpPr>
        <p:spPr>
          <a:xfrm>
            <a:off x="5257800" y="5212080"/>
            <a:ext cx="4205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= (3x + 4)(x + 2)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01" dur="indefinite" restart="never" nodeType="tmRoot">
          <p:childTnLst>
            <p:seq>
              <p:cTn id="502" dur="indefinite" nodeType="mainSeq">
                <p:childTnLst>
                  <p:par>
                    <p:cTn id="503" fill="hold">
                      <p:stCondLst>
                        <p:cond delay="0"/>
                      </p:stCondLst>
                      <p:childTnLst>
                        <p:par>
                          <p:cTn id="504" fill="hold">
                            <p:stCondLst>
                              <p:cond delay="0"/>
                            </p:stCondLst>
                            <p:childTnLst>
                              <p:par>
                                <p:cTn id="50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7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3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4" fill="hold">
                      <p:stCondLst>
                        <p:cond delay="indefinite"/>
                      </p:stCondLst>
                      <p:childTnLst>
                        <p:par>
                          <p:cTn id="515" fill="hold">
                            <p:stCondLst>
                              <p:cond delay="0"/>
                            </p:stCondLst>
                            <p:childTnLst>
                              <p:par>
                                <p:cTn id="51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18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4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27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3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6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3" fill="hold">
                      <p:stCondLst>
                        <p:cond delay="indefinite"/>
                      </p:stCondLst>
                      <p:childTnLst>
                        <p:par>
                          <p:cTn id="544" fill="hold">
                            <p:stCondLst>
                              <p:cond delay="0"/>
                            </p:stCondLst>
                            <p:childTnLst>
                              <p:par>
                                <p:cTn id="54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47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0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4" fill="hold">
                      <p:stCondLst>
                        <p:cond delay="indefinite"/>
                      </p:stCondLst>
                      <p:childTnLst>
                        <p:par>
                          <p:cTn id="555" fill="hold">
                            <p:stCondLst>
                              <p:cond delay="0"/>
                            </p:stCondLst>
                            <p:childTnLst>
                              <p:par>
                                <p:cTn id="55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58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1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4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5" fill="hold">
                      <p:stCondLst>
                        <p:cond delay="indefinite"/>
                      </p:stCondLst>
                      <p:childTnLst>
                        <p:par>
                          <p:cTn id="566" fill="hold">
                            <p:stCondLst>
                              <p:cond delay="0"/>
                            </p:stCondLst>
                            <p:childTnLst>
                              <p:par>
                                <p:cTn id="56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9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72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75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78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METHOD 3 · a ≠ 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More Worked Examples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anim_1_a"/>
          <p:cNvSpPr/>
          <p:nvPr/>
        </p:nvSpPr>
        <p:spPr>
          <a:xfrm>
            <a:off x="548640" y="1783080"/>
            <a:ext cx="5440320" cy="2285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anim_1_a"/>
          <p:cNvSpPr/>
          <p:nvPr/>
        </p:nvSpPr>
        <p:spPr>
          <a:xfrm>
            <a:off x="868680" y="2057400"/>
            <a:ext cx="4845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2x</a:t>
            </a:r>
            <a:r>
              <a:rPr b="1" lang="en-US" sz="20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 + 9x + 10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anim_1_a"/>
          <p:cNvSpPr/>
          <p:nvPr/>
        </p:nvSpPr>
        <p:spPr>
          <a:xfrm>
            <a:off x="868680" y="265176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ac = 20, b = 9 → 4, 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anim_1_a"/>
          <p:cNvSpPr/>
          <p:nvPr/>
        </p:nvSpPr>
        <p:spPr>
          <a:xfrm>
            <a:off x="868680" y="3154680"/>
            <a:ext cx="4571640" cy="548280"/>
          </a:xfrm>
          <a:prstGeom prst="roundRect">
            <a:avLst>
              <a:gd name="adj" fmla="val 16667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anim_1_a"/>
          <p:cNvSpPr/>
          <p:nvPr/>
        </p:nvSpPr>
        <p:spPr>
          <a:xfrm>
            <a:off x="868680" y="3154680"/>
            <a:ext cx="4571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= (2x + 5)(x + 2)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anim_2_c"/>
          <p:cNvSpPr/>
          <p:nvPr/>
        </p:nvSpPr>
        <p:spPr>
          <a:xfrm>
            <a:off x="6199560" y="1783080"/>
            <a:ext cx="5440320" cy="2285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anim_2_c"/>
          <p:cNvSpPr/>
          <p:nvPr/>
        </p:nvSpPr>
        <p:spPr>
          <a:xfrm>
            <a:off x="6519600" y="2057400"/>
            <a:ext cx="4845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6x</a:t>
            </a:r>
            <a:r>
              <a:rPr b="1" lang="en-US" sz="20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000" spc="-1" strike="noStrike">
                <a:solidFill>
                  <a:srgbClr val="16261f"/>
                </a:solidFill>
                <a:latin typeface="Cambria"/>
                <a:ea typeface="Cambria"/>
              </a:rPr>
              <a:t> + 16x + 8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anim_2_c"/>
          <p:cNvSpPr/>
          <p:nvPr/>
        </p:nvSpPr>
        <p:spPr>
          <a:xfrm>
            <a:off x="6519600" y="265176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ac = 48, b = 16 → 12, 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anim_2_c"/>
          <p:cNvSpPr/>
          <p:nvPr/>
        </p:nvSpPr>
        <p:spPr>
          <a:xfrm>
            <a:off x="6519600" y="3154680"/>
            <a:ext cx="4571640" cy="548280"/>
          </a:xfrm>
          <a:prstGeom prst="roundRect">
            <a:avLst>
              <a:gd name="adj" fmla="val 16667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anim_2_c"/>
          <p:cNvSpPr/>
          <p:nvPr/>
        </p:nvSpPr>
        <p:spPr>
          <a:xfrm>
            <a:off x="6519600" y="3154680"/>
            <a:ext cx="4571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= 2(3x + 2)(x + 2)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anim_3_c"/>
          <p:cNvSpPr/>
          <p:nvPr/>
        </p:nvSpPr>
        <p:spPr>
          <a:xfrm>
            <a:off x="548640" y="43434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c84f2f"/>
                </a:solidFill>
                <a:latin typeface="Calibri"/>
                <a:ea typeface="Calibri"/>
              </a:rPr>
              <a:t>NOW TRY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anim_3_c"/>
          <p:cNvSpPr/>
          <p:nvPr/>
        </p:nvSpPr>
        <p:spPr>
          <a:xfrm>
            <a:off x="548640" y="470916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anim_3_c"/>
          <p:cNvSpPr/>
          <p:nvPr/>
        </p:nvSpPr>
        <p:spPr>
          <a:xfrm>
            <a:off x="749880" y="49561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anim_3_c"/>
          <p:cNvSpPr/>
          <p:nvPr/>
        </p:nvSpPr>
        <p:spPr>
          <a:xfrm>
            <a:off x="749880" y="49561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anim_3_c"/>
          <p:cNvSpPr/>
          <p:nvPr/>
        </p:nvSpPr>
        <p:spPr>
          <a:xfrm>
            <a:off x="1225440" y="4709160"/>
            <a:ext cx="2742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2x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+ 7x + 3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anim_3_c"/>
          <p:cNvSpPr/>
          <p:nvPr/>
        </p:nvSpPr>
        <p:spPr>
          <a:xfrm>
            <a:off x="4260960" y="470916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anim_3_c"/>
          <p:cNvSpPr/>
          <p:nvPr/>
        </p:nvSpPr>
        <p:spPr>
          <a:xfrm>
            <a:off x="4462200" y="49561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anim_3_c"/>
          <p:cNvSpPr/>
          <p:nvPr/>
        </p:nvSpPr>
        <p:spPr>
          <a:xfrm>
            <a:off x="4462200" y="49561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anim_3_c"/>
          <p:cNvSpPr/>
          <p:nvPr/>
        </p:nvSpPr>
        <p:spPr>
          <a:xfrm>
            <a:off x="4937760" y="4709160"/>
            <a:ext cx="2742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3x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+ 8x + 4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anim_3_c"/>
          <p:cNvSpPr/>
          <p:nvPr/>
        </p:nvSpPr>
        <p:spPr>
          <a:xfrm>
            <a:off x="7973640" y="470916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eef1e8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anim_3_c"/>
          <p:cNvSpPr/>
          <p:nvPr/>
        </p:nvSpPr>
        <p:spPr>
          <a:xfrm>
            <a:off x="8174880" y="49561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anim_3_c"/>
          <p:cNvSpPr/>
          <p:nvPr/>
        </p:nvSpPr>
        <p:spPr>
          <a:xfrm>
            <a:off x="8174880" y="49561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anim_3_c"/>
          <p:cNvSpPr/>
          <p:nvPr/>
        </p:nvSpPr>
        <p:spPr>
          <a:xfrm>
            <a:off x="8650080" y="4709160"/>
            <a:ext cx="2742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2x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5x – 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82" dur="indefinite" restart="never" nodeType="tmRoot">
          <p:childTnLst>
            <p:seq>
              <p:cTn id="583" dur="indefinite" nodeType="mainSeq">
                <p:childTnLst>
                  <p:par>
                    <p:cTn id="584" fill="hold">
                      <p:stCondLst>
                        <p:cond delay="0"/>
                      </p:stCondLst>
                      <p:childTnLst>
                        <p:par>
                          <p:cTn id="585" fill="hold">
                            <p:stCondLst>
                              <p:cond delay="0"/>
                            </p:stCondLst>
                            <p:childTnLst>
                              <p:par>
                                <p:cTn id="586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88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1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4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7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00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1" fill="hold">
                      <p:stCondLst>
                        <p:cond delay="indefinite"/>
                      </p:stCondLst>
                      <p:childTnLst>
                        <p:par>
                          <p:cTn id="602" fill="hold">
                            <p:stCondLst>
                              <p:cond delay="0"/>
                            </p:stCondLst>
                            <p:childTnLst>
                              <p:par>
                                <p:cTn id="60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05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08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1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4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17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8" fill="hold">
                      <p:stCondLst>
                        <p:cond delay="indefinite"/>
                      </p:stCondLst>
                      <p:childTnLst>
                        <p:par>
                          <p:cTn id="619" fill="hold">
                            <p:stCondLst>
                              <p:cond delay="0"/>
                            </p:stCondLst>
                            <p:childTnLst>
                              <p:par>
                                <p:cTn id="62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2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5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8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1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4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37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0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3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6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49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2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5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8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 · a ≠ 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Exam Questions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anim_1_a"/>
          <p:cNvSpPr/>
          <p:nvPr/>
        </p:nvSpPr>
        <p:spPr>
          <a:xfrm>
            <a:off x="548640" y="16916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anim_1_a"/>
          <p:cNvSpPr/>
          <p:nvPr/>
        </p:nvSpPr>
        <p:spPr>
          <a:xfrm>
            <a:off x="786240" y="189288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anim_1_a"/>
          <p:cNvSpPr/>
          <p:nvPr/>
        </p:nvSpPr>
        <p:spPr>
          <a:xfrm>
            <a:off x="786240" y="18928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anim_1_a"/>
          <p:cNvSpPr/>
          <p:nvPr/>
        </p:nvSpPr>
        <p:spPr>
          <a:xfrm>
            <a:off x="822960" y="2295000"/>
            <a:ext cx="48916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24332d"/>
                </a:solidFill>
                <a:latin typeface="Cambria"/>
                <a:ea typeface="Cambria"/>
              </a:rPr>
              <a:t>2x</a:t>
            </a:r>
            <a:r>
              <a:rPr b="1" lang="en-US" sz="21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2100" spc="-1" strike="noStrike">
                <a:solidFill>
                  <a:srgbClr val="24332d"/>
                </a:solidFill>
                <a:latin typeface="Cambria"/>
                <a:ea typeface="Cambria"/>
              </a:rPr>
              <a:t> – 7x + 6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anim_1_a"/>
          <p:cNvSpPr/>
          <p:nvPr/>
        </p:nvSpPr>
        <p:spPr>
          <a:xfrm>
            <a:off x="6199560" y="16916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anim_1_a"/>
          <p:cNvSpPr/>
          <p:nvPr/>
        </p:nvSpPr>
        <p:spPr>
          <a:xfrm>
            <a:off x="6437520" y="189288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anim_1_a"/>
          <p:cNvSpPr/>
          <p:nvPr/>
        </p:nvSpPr>
        <p:spPr>
          <a:xfrm>
            <a:off x="6437520" y="18928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anim_1_a"/>
          <p:cNvSpPr/>
          <p:nvPr/>
        </p:nvSpPr>
        <p:spPr>
          <a:xfrm>
            <a:off x="6473880" y="2295000"/>
            <a:ext cx="48916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24332d"/>
                </a:solidFill>
                <a:latin typeface="Cambria"/>
                <a:ea typeface="Cambria"/>
              </a:rPr>
              <a:t>4x</a:t>
            </a:r>
            <a:r>
              <a:rPr b="1" lang="en-US" sz="21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2100" spc="-1" strike="noStrike">
                <a:solidFill>
                  <a:srgbClr val="24332d"/>
                </a:solidFill>
                <a:latin typeface="Cambria"/>
                <a:ea typeface="Cambria"/>
              </a:rPr>
              <a:t> + x – 5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anim_2_c"/>
          <p:cNvSpPr/>
          <p:nvPr/>
        </p:nvSpPr>
        <p:spPr>
          <a:xfrm>
            <a:off x="548640" y="37490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anim_2_c"/>
          <p:cNvSpPr/>
          <p:nvPr/>
        </p:nvSpPr>
        <p:spPr>
          <a:xfrm>
            <a:off x="786240" y="395028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anim_2_c"/>
          <p:cNvSpPr/>
          <p:nvPr/>
        </p:nvSpPr>
        <p:spPr>
          <a:xfrm>
            <a:off x="786240" y="39502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anim_2_c"/>
          <p:cNvSpPr/>
          <p:nvPr/>
        </p:nvSpPr>
        <p:spPr>
          <a:xfrm>
            <a:off x="822960" y="4352400"/>
            <a:ext cx="48916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24332d"/>
                </a:solidFill>
                <a:latin typeface="Cambria"/>
                <a:ea typeface="Cambria"/>
              </a:rPr>
              <a:t>6x</a:t>
            </a:r>
            <a:r>
              <a:rPr b="1" lang="en-US" sz="21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2100" spc="-1" strike="noStrike">
                <a:solidFill>
                  <a:srgbClr val="24332d"/>
                </a:solidFill>
                <a:latin typeface="Cambria"/>
                <a:ea typeface="Cambria"/>
              </a:rPr>
              <a:t> – x – 12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anim_2_c"/>
          <p:cNvSpPr/>
          <p:nvPr/>
        </p:nvSpPr>
        <p:spPr>
          <a:xfrm>
            <a:off x="6199560" y="37490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anim_2_c"/>
          <p:cNvSpPr/>
          <p:nvPr/>
        </p:nvSpPr>
        <p:spPr>
          <a:xfrm>
            <a:off x="6437520" y="3950280"/>
            <a:ext cx="13712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anim_2_c"/>
          <p:cNvSpPr/>
          <p:nvPr/>
        </p:nvSpPr>
        <p:spPr>
          <a:xfrm>
            <a:off x="6437520" y="3950280"/>
            <a:ext cx="137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anim_2_c"/>
          <p:cNvSpPr/>
          <p:nvPr/>
        </p:nvSpPr>
        <p:spPr>
          <a:xfrm>
            <a:off x="6473880" y="4352400"/>
            <a:ext cx="48916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24332d"/>
                </a:solidFill>
                <a:latin typeface="Cambria"/>
                <a:ea typeface="Cambria"/>
              </a:rPr>
              <a:t>5x</a:t>
            </a:r>
            <a:r>
              <a:rPr b="1" lang="en-US" sz="21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2100" spc="-1" strike="noStrike">
                <a:solidFill>
                  <a:srgbClr val="24332d"/>
                </a:solidFill>
                <a:latin typeface="Cambria"/>
                <a:ea typeface="Cambria"/>
              </a:rPr>
              <a:t> – 44x + 32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59" dur="indefinite" restart="never" nodeType="tmRoot">
          <p:childTnLst>
            <p:seq>
              <p:cTn id="660" dur="indefinite" nodeType="mainSeq">
                <p:childTnLst>
                  <p:par>
                    <p:cTn id="661" fill="hold">
                      <p:stCondLst>
                        <p:cond delay="0"/>
                      </p:stCondLst>
                      <p:childTnLst>
                        <p:par>
                          <p:cTn id="662" fill="hold">
                            <p:stCondLst>
                              <p:cond delay="0"/>
                            </p:stCondLst>
                            <p:childTnLst>
                              <p:par>
                                <p:cTn id="66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6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68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1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4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77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0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3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6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7" fill="hold">
                      <p:stCondLst>
                        <p:cond delay="indefinite"/>
                      </p:stCondLst>
                      <p:childTnLst>
                        <p:par>
                          <p:cTn id="688" fill="hold">
                            <p:stCondLst>
                              <p:cond delay="0"/>
                            </p:stCondLst>
                            <p:childTnLst>
                              <p:par>
                                <p:cTn id="68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91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94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97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0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3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6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09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2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METHOD 4 · DIFFERENCE OF SQUARES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Case 1 — Coefficient of x² is 1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libri"/>
                <a:ea typeface="Calibri"/>
              </a:rPr>
              <a:t>Rule:  </a:t>
            </a: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x</a:t>
            </a:r>
            <a:r>
              <a:rPr b="1" lang="en-US" sz="1600" spc="-1" strike="noStrike" baseline="30000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 – a</a:t>
            </a:r>
            <a:r>
              <a:rPr b="1" lang="en-US" sz="1600" spc="-1" strike="noStrike" baseline="30000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 = (x + a)(x – a)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anim_2_c"/>
          <p:cNvSpPr/>
          <p:nvPr/>
        </p:nvSpPr>
        <p:spPr>
          <a:xfrm>
            <a:off x="548640" y="2377440"/>
            <a:ext cx="11091240" cy="1737000"/>
          </a:xfrm>
          <a:prstGeom prst="roundRect">
            <a:avLst>
              <a:gd name="adj" fmla="val 5263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anim_2_c"/>
          <p:cNvSpPr/>
          <p:nvPr/>
        </p:nvSpPr>
        <p:spPr>
          <a:xfrm>
            <a:off x="868680" y="2541960"/>
            <a:ext cx="5486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Factorise   x</a:t>
            </a:r>
            <a:r>
              <a:rPr b="1" lang="en-US" sz="24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 – 36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anim_2_c"/>
          <p:cNvSpPr/>
          <p:nvPr/>
        </p:nvSpPr>
        <p:spPr>
          <a:xfrm>
            <a:off x="868680" y="3173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anim_2_c"/>
          <p:cNvSpPr/>
          <p:nvPr/>
        </p:nvSpPr>
        <p:spPr>
          <a:xfrm>
            <a:off x="868680" y="3173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anim_2_c"/>
          <p:cNvSpPr/>
          <p:nvPr/>
        </p:nvSpPr>
        <p:spPr>
          <a:xfrm>
            <a:off x="1417320" y="3108960"/>
            <a:ext cx="9417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36 = 6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, so a = 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anim_3_c"/>
          <p:cNvSpPr/>
          <p:nvPr/>
        </p:nvSpPr>
        <p:spPr>
          <a:xfrm>
            <a:off x="868680" y="3657600"/>
            <a:ext cx="4937400" cy="456840"/>
          </a:xfrm>
          <a:prstGeom prst="roundRect">
            <a:avLst>
              <a:gd name="adj" fmla="val 24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anim_3_c"/>
          <p:cNvSpPr/>
          <p:nvPr/>
        </p:nvSpPr>
        <p:spPr>
          <a:xfrm>
            <a:off x="1051560" y="365760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= (x + 6)(x – 6)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anim_4_c"/>
          <p:cNvSpPr/>
          <p:nvPr/>
        </p:nvSpPr>
        <p:spPr>
          <a:xfrm>
            <a:off x="548640" y="43434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c84f2f"/>
                </a:solidFill>
                <a:latin typeface="Calibri"/>
                <a:ea typeface="Calibri"/>
              </a:rPr>
              <a:t>NOW TRY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anim_4_c"/>
          <p:cNvSpPr/>
          <p:nvPr/>
        </p:nvSpPr>
        <p:spPr>
          <a:xfrm>
            <a:off x="548640" y="4709160"/>
            <a:ext cx="265140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anim_4_c"/>
          <p:cNvSpPr/>
          <p:nvPr/>
        </p:nvSpPr>
        <p:spPr>
          <a:xfrm>
            <a:off x="731520" y="49104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anim_4_c"/>
          <p:cNvSpPr/>
          <p:nvPr/>
        </p:nvSpPr>
        <p:spPr>
          <a:xfrm>
            <a:off x="731520" y="4910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anim_4_c"/>
          <p:cNvSpPr/>
          <p:nvPr/>
        </p:nvSpPr>
        <p:spPr>
          <a:xfrm>
            <a:off x="1188720" y="470916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9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anim_4_c"/>
          <p:cNvSpPr/>
          <p:nvPr/>
        </p:nvSpPr>
        <p:spPr>
          <a:xfrm>
            <a:off x="3346560" y="4709160"/>
            <a:ext cx="265140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anim_4_c"/>
          <p:cNvSpPr/>
          <p:nvPr/>
        </p:nvSpPr>
        <p:spPr>
          <a:xfrm>
            <a:off x="3529440" y="49104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anim_4_c"/>
          <p:cNvSpPr/>
          <p:nvPr/>
        </p:nvSpPr>
        <p:spPr>
          <a:xfrm>
            <a:off x="3529440" y="4910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anim_4_c"/>
          <p:cNvSpPr/>
          <p:nvPr/>
        </p:nvSpPr>
        <p:spPr>
          <a:xfrm>
            <a:off x="3986640" y="470916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64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anim_4_c"/>
          <p:cNvSpPr/>
          <p:nvPr/>
        </p:nvSpPr>
        <p:spPr>
          <a:xfrm>
            <a:off x="6144840" y="4709160"/>
            <a:ext cx="265140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anim_4_c"/>
          <p:cNvSpPr/>
          <p:nvPr/>
        </p:nvSpPr>
        <p:spPr>
          <a:xfrm>
            <a:off x="6327720" y="49104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anim_4_c"/>
          <p:cNvSpPr/>
          <p:nvPr/>
        </p:nvSpPr>
        <p:spPr>
          <a:xfrm>
            <a:off x="6327720" y="4910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anim_4_c"/>
          <p:cNvSpPr/>
          <p:nvPr/>
        </p:nvSpPr>
        <p:spPr>
          <a:xfrm>
            <a:off x="6784920" y="470916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144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anim_4_c"/>
          <p:cNvSpPr/>
          <p:nvPr/>
        </p:nvSpPr>
        <p:spPr>
          <a:xfrm>
            <a:off x="8942760" y="4709160"/>
            <a:ext cx="265140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anim_4_c"/>
          <p:cNvSpPr/>
          <p:nvPr/>
        </p:nvSpPr>
        <p:spPr>
          <a:xfrm>
            <a:off x="9125640" y="49104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anim_4_c"/>
          <p:cNvSpPr/>
          <p:nvPr/>
        </p:nvSpPr>
        <p:spPr>
          <a:xfrm>
            <a:off x="9125640" y="4910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anim_4_c"/>
          <p:cNvSpPr/>
          <p:nvPr/>
        </p:nvSpPr>
        <p:spPr>
          <a:xfrm>
            <a:off x="9582840" y="470916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400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13" dur="indefinite" restart="never" nodeType="tmRoot">
          <p:childTnLst>
            <p:seq>
              <p:cTn id="714" dur="indefinite" nodeType="mainSeq">
                <p:childTnLst>
                  <p:par>
                    <p:cTn id="715" fill="hold">
                      <p:stCondLst>
                        <p:cond delay="0"/>
                      </p:stCondLst>
                      <p:childTnLst>
                        <p:par>
                          <p:cTn id="716" fill="hold">
                            <p:stCondLst>
                              <p:cond delay="0"/>
                            </p:stCondLst>
                            <p:childTnLst>
                              <p:par>
                                <p:cTn id="717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9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22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3" fill="hold">
                      <p:stCondLst>
                        <p:cond delay="indefinite"/>
                      </p:stCondLst>
                      <p:childTnLst>
                        <p:par>
                          <p:cTn id="724" fill="hold">
                            <p:stCondLst>
                              <p:cond delay="0"/>
                            </p:stCondLst>
                            <p:childTnLst>
                              <p:par>
                                <p:cTn id="72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27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30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33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36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39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0" fill="hold">
                      <p:stCondLst>
                        <p:cond delay="indefinite"/>
                      </p:stCondLst>
                      <p:childTnLst>
                        <p:par>
                          <p:cTn id="741" fill="hold">
                            <p:stCondLst>
                              <p:cond delay="0"/>
                            </p:stCondLst>
                            <p:childTnLst>
                              <p:par>
                                <p:cTn id="74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44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47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8" fill="hold">
                      <p:stCondLst>
                        <p:cond delay="indefinite"/>
                      </p:stCondLst>
                      <p:childTnLst>
                        <p:par>
                          <p:cTn id="749" fill="hold">
                            <p:stCondLst>
                              <p:cond delay="0"/>
                            </p:stCondLst>
                            <p:childTnLst>
                              <p:par>
                                <p:cTn id="75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52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55" dur="5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58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61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64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67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0" dur="5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3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6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9" dur="5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82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85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88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91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94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97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00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DIFFERENCE OF SQUARES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Case 2 — Both Coefficients are Perfect Squares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Square-root each term:  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(√ first)² – (√ second)² = (√ first + √ second)(√ first – √ second).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anim_2_c"/>
          <p:cNvSpPr/>
          <p:nvPr/>
        </p:nvSpPr>
        <p:spPr>
          <a:xfrm>
            <a:off x="548640" y="2377440"/>
            <a:ext cx="11091240" cy="1782720"/>
          </a:xfrm>
          <a:prstGeom prst="roundRect">
            <a:avLst>
              <a:gd name="adj" fmla="val 5128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anim_2_c"/>
          <p:cNvSpPr/>
          <p:nvPr/>
        </p:nvSpPr>
        <p:spPr>
          <a:xfrm>
            <a:off x="868680" y="2541960"/>
            <a:ext cx="7314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Factorise   49x</a:t>
            </a:r>
            <a:r>
              <a:rPr b="1" lang="en-US" sz="24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 – 81y</a:t>
            </a:r>
            <a:r>
              <a:rPr b="1" lang="en-US" sz="24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anim_2_c"/>
          <p:cNvSpPr/>
          <p:nvPr/>
        </p:nvSpPr>
        <p:spPr>
          <a:xfrm>
            <a:off x="868680" y="3173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anim_2_c"/>
          <p:cNvSpPr/>
          <p:nvPr/>
        </p:nvSpPr>
        <p:spPr>
          <a:xfrm>
            <a:off x="868680" y="3173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anim_2_c"/>
          <p:cNvSpPr/>
          <p:nvPr/>
        </p:nvSpPr>
        <p:spPr>
          <a:xfrm>
            <a:off x="1417320" y="3108960"/>
            <a:ext cx="9417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49x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= (7x)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,   81y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= (9y)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anim_3_c"/>
          <p:cNvSpPr/>
          <p:nvPr/>
        </p:nvSpPr>
        <p:spPr>
          <a:xfrm>
            <a:off x="868680" y="3703320"/>
            <a:ext cx="5851800" cy="456840"/>
          </a:xfrm>
          <a:prstGeom prst="roundRect">
            <a:avLst>
              <a:gd name="adj" fmla="val 24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anim_3_c"/>
          <p:cNvSpPr/>
          <p:nvPr/>
        </p:nvSpPr>
        <p:spPr>
          <a:xfrm>
            <a:off x="1051560" y="370332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= (7x + 9y)(7x – 9y)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anim_4_c"/>
          <p:cNvSpPr/>
          <p:nvPr/>
        </p:nvSpPr>
        <p:spPr>
          <a:xfrm>
            <a:off x="548640" y="438912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c84f2f"/>
                </a:solidFill>
                <a:latin typeface="Calibri"/>
                <a:ea typeface="Calibri"/>
              </a:rPr>
              <a:t>NOW TRY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anim_4_c"/>
          <p:cNvSpPr/>
          <p:nvPr/>
        </p:nvSpPr>
        <p:spPr>
          <a:xfrm>
            <a:off x="548640" y="4754880"/>
            <a:ext cx="352008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anim_4_c"/>
          <p:cNvSpPr/>
          <p:nvPr/>
        </p:nvSpPr>
        <p:spPr>
          <a:xfrm>
            <a:off x="731520" y="49561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anim_4_c"/>
          <p:cNvSpPr/>
          <p:nvPr/>
        </p:nvSpPr>
        <p:spPr>
          <a:xfrm>
            <a:off x="731520" y="49561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anim_4_c"/>
          <p:cNvSpPr/>
          <p:nvPr/>
        </p:nvSpPr>
        <p:spPr>
          <a:xfrm>
            <a:off x="1188720" y="4754880"/>
            <a:ext cx="27428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9x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4y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anim_4_c"/>
          <p:cNvSpPr/>
          <p:nvPr/>
        </p:nvSpPr>
        <p:spPr>
          <a:xfrm>
            <a:off x="4260960" y="4754880"/>
            <a:ext cx="352008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anim_4_c"/>
          <p:cNvSpPr/>
          <p:nvPr/>
        </p:nvSpPr>
        <p:spPr>
          <a:xfrm>
            <a:off x="4443840" y="49561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anim_4_c"/>
          <p:cNvSpPr/>
          <p:nvPr/>
        </p:nvSpPr>
        <p:spPr>
          <a:xfrm>
            <a:off x="4443840" y="49561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anim_4_c"/>
          <p:cNvSpPr/>
          <p:nvPr/>
        </p:nvSpPr>
        <p:spPr>
          <a:xfrm>
            <a:off x="4901040" y="4754880"/>
            <a:ext cx="27428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4c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9d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anim_4_c"/>
          <p:cNvSpPr/>
          <p:nvPr/>
        </p:nvSpPr>
        <p:spPr>
          <a:xfrm>
            <a:off x="7973640" y="4754880"/>
            <a:ext cx="352008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anim_4_c"/>
          <p:cNvSpPr/>
          <p:nvPr/>
        </p:nvSpPr>
        <p:spPr>
          <a:xfrm>
            <a:off x="8156520" y="49561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anim_4_c"/>
          <p:cNvSpPr/>
          <p:nvPr/>
        </p:nvSpPr>
        <p:spPr>
          <a:xfrm>
            <a:off x="8156520" y="49561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anim_4_c"/>
          <p:cNvSpPr/>
          <p:nvPr/>
        </p:nvSpPr>
        <p:spPr>
          <a:xfrm>
            <a:off x="8613720" y="4754880"/>
            <a:ext cx="27428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25m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16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01" dur="indefinite" restart="never" nodeType="tmRoot">
          <p:childTnLst>
            <p:seq>
              <p:cTn id="802" dur="indefinite" nodeType="mainSeq">
                <p:childTnLst>
                  <p:par>
                    <p:cTn id="803" fill="hold">
                      <p:stCondLst>
                        <p:cond delay="0"/>
                      </p:stCondLst>
                      <p:childTnLst>
                        <p:par>
                          <p:cTn id="804" fill="hold">
                            <p:stCondLst>
                              <p:cond delay="0"/>
                            </p:stCondLst>
                            <p:childTnLst>
                              <p:par>
                                <p:cTn id="80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07"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10" dur="50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1" fill="hold">
                      <p:stCondLst>
                        <p:cond delay="indefinite"/>
                      </p:stCondLst>
                      <p:childTnLst>
                        <p:par>
                          <p:cTn id="812" fill="hold">
                            <p:stCondLst>
                              <p:cond delay="0"/>
                            </p:stCondLst>
                            <p:childTnLst>
                              <p:par>
                                <p:cTn id="81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15"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18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21"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24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27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8" fill="hold">
                      <p:stCondLst>
                        <p:cond delay="indefinite"/>
                      </p:stCondLst>
                      <p:childTnLst>
                        <p:par>
                          <p:cTn id="829" fill="hold">
                            <p:stCondLst>
                              <p:cond delay="0"/>
                            </p:stCondLst>
                            <p:childTnLst>
                              <p:par>
                                <p:cTn id="83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32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35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6" fill="hold">
                      <p:stCondLst>
                        <p:cond delay="indefinite"/>
                      </p:stCondLst>
                      <p:childTnLst>
                        <p:par>
                          <p:cTn id="837" fill="hold">
                            <p:stCondLst>
                              <p:cond delay="0"/>
                            </p:stCondLst>
                            <p:childTnLst>
                              <p:par>
                                <p:cTn id="83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40" dur="5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43" dur="5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46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49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2" dur="5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5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8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61" dur="5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64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67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70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73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76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DIFFERENCE OF SQUARES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Case 3 — Take Out a Common Factor First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If the terms are 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not perfect squares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, factor out the HCF first — then use difference of squares.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anim_2_c"/>
          <p:cNvSpPr/>
          <p:nvPr/>
        </p:nvSpPr>
        <p:spPr>
          <a:xfrm>
            <a:off x="548640" y="2377440"/>
            <a:ext cx="5486040" cy="3291480"/>
          </a:xfrm>
          <a:prstGeom prst="roundRect">
            <a:avLst>
              <a:gd name="adj" fmla="val 2778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anim_2_c"/>
          <p:cNvSpPr/>
          <p:nvPr/>
        </p:nvSpPr>
        <p:spPr>
          <a:xfrm>
            <a:off x="868680" y="254196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6261f"/>
                </a:solidFill>
                <a:latin typeface="Cambria"/>
                <a:ea typeface="Cambria"/>
              </a:rPr>
              <a:t>Factorise   27x</a:t>
            </a:r>
            <a:r>
              <a:rPr b="1" lang="en-US" sz="21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100" spc="-1" strike="noStrike">
                <a:solidFill>
                  <a:srgbClr val="16261f"/>
                </a:solidFill>
                <a:latin typeface="Cambria"/>
                <a:ea typeface="Cambria"/>
              </a:rPr>
              <a:t> – 12y</a:t>
            </a:r>
            <a:r>
              <a:rPr b="1" lang="en-US" sz="21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anim_2_c"/>
          <p:cNvSpPr/>
          <p:nvPr/>
        </p:nvSpPr>
        <p:spPr>
          <a:xfrm>
            <a:off x="868680" y="3173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anim_2_c"/>
          <p:cNvSpPr/>
          <p:nvPr/>
        </p:nvSpPr>
        <p:spPr>
          <a:xfrm>
            <a:off x="868680" y="3173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anim_2_c"/>
          <p:cNvSpPr/>
          <p:nvPr/>
        </p:nvSpPr>
        <p:spPr>
          <a:xfrm>
            <a:off x="1417320" y="31089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HCF = 3:   3(9x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– 4y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)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anim_3_c"/>
          <p:cNvSpPr/>
          <p:nvPr/>
        </p:nvSpPr>
        <p:spPr>
          <a:xfrm>
            <a:off x="868680" y="38588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anim_3_c"/>
          <p:cNvSpPr/>
          <p:nvPr/>
        </p:nvSpPr>
        <p:spPr>
          <a:xfrm>
            <a:off x="868680" y="3858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anim_3_c"/>
          <p:cNvSpPr/>
          <p:nvPr/>
        </p:nvSpPr>
        <p:spPr>
          <a:xfrm>
            <a:off x="1417320" y="37947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Now squares:  (3x)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– (2y)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anim_4_c"/>
          <p:cNvSpPr/>
          <p:nvPr/>
        </p:nvSpPr>
        <p:spPr>
          <a:xfrm>
            <a:off x="868680" y="4526280"/>
            <a:ext cx="457164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anim_4_c"/>
          <p:cNvSpPr/>
          <p:nvPr/>
        </p:nvSpPr>
        <p:spPr>
          <a:xfrm>
            <a:off x="1051560" y="4526280"/>
            <a:ext cx="4205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= 3(3x + 2y)(3x – 2y)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anim_5_c"/>
          <p:cNvSpPr/>
          <p:nvPr/>
        </p:nvSpPr>
        <p:spPr>
          <a:xfrm>
            <a:off x="6172200" y="2377440"/>
            <a:ext cx="5467680" cy="3291480"/>
          </a:xfrm>
          <a:prstGeom prst="roundRect">
            <a:avLst>
              <a:gd name="adj" fmla="val 2778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anim_5_c"/>
          <p:cNvSpPr/>
          <p:nvPr/>
        </p:nvSpPr>
        <p:spPr>
          <a:xfrm>
            <a:off x="6492240" y="2541960"/>
            <a:ext cx="5028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6261f"/>
                </a:solidFill>
                <a:latin typeface="Cambria"/>
                <a:ea typeface="Cambria"/>
              </a:rPr>
              <a:t>Factorise fully   2a</a:t>
            </a:r>
            <a:r>
              <a:rPr b="1" lang="en-US" sz="21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100" spc="-1" strike="noStrike">
                <a:solidFill>
                  <a:srgbClr val="16261f"/>
                </a:solidFill>
                <a:latin typeface="Cambria"/>
                <a:ea typeface="Cambria"/>
              </a:rPr>
              <a:t> – 18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anim_5_c"/>
          <p:cNvSpPr/>
          <p:nvPr/>
        </p:nvSpPr>
        <p:spPr>
          <a:xfrm>
            <a:off x="6492240" y="3173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anim_5_c"/>
          <p:cNvSpPr/>
          <p:nvPr/>
        </p:nvSpPr>
        <p:spPr>
          <a:xfrm>
            <a:off x="6492240" y="3173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anim_5_c"/>
          <p:cNvSpPr/>
          <p:nvPr/>
        </p:nvSpPr>
        <p:spPr>
          <a:xfrm>
            <a:off x="7040880" y="31089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HCF = 2:   2(a</a:t>
            </a:r>
            <a:r>
              <a:rPr b="1" lang="en-US" sz="15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 – 9)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anim_5_c"/>
          <p:cNvSpPr/>
          <p:nvPr/>
        </p:nvSpPr>
        <p:spPr>
          <a:xfrm>
            <a:off x="6492240" y="38588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anim_5_c"/>
          <p:cNvSpPr/>
          <p:nvPr/>
        </p:nvSpPr>
        <p:spPr>
          <a:xfrm>
            <a:off x="6492240" y="3858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anim_5_c"/>
          <p:cNvSpPr/>
          <p:nvPr/>
        </p:nvSpPr>
        <p:spPr>
          <a:xfrm>
            <a:off x="7040880" y="37947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a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– 9 = a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– 3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anim_5_c"/>
          <p:cNvSpPr/>
          <p:nvPr/>
        </p:nvSpPr>
        <p:spPr>
          <a:xfrm>
            <a:off x="6492240" y="4526280"/>
            <a:ext cx="457164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anim_5_c"/>
          <p:cNvSpPr/>
          <p:nvPr/>
        </p:nvSpPr>
        <p:spPr>
          <a:xfrm>
            <a:off x="6675120" y="4526280"/>
            <a:ext cx="4205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= 2(a + 3)(a – 3)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77" dur="indefinite" restart="never" nodeType="tmRoot">
          <p:childTnLst>
            <p:seq>
              <p:cTn id="878" dur="indefinite" nodeType="mainSeq">
                <p:childTnLst>
                  <p:par>
                    <p:cTn id="879" fill="hold">
                      <p:stCondLst>
                        <p:cond delay="0"/>
                      </p:stCondLst>
                      <p:childTnLst>
                        <p:par>
                          <p:cTn id="880" fill="hold">
                            <p:stCondLst>
                              <p:cond delay="0"/>
                            </p:stCondLst>
                            <p:childTnLst>
                              <p:par>
                                <p:cTn id="88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83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86" dur="5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7" fill="hold">
                      <p:stCondLst>
                        <p:cond delay="indefinite"/>
                      </p:stCondLst>
                      <p:childTnLst>
                        <p:par>
                          <p:cTn id="888" fill="hold">
                            <p:stCondLst>
                              <p:cond delay="0"/>
                            </p:stCondLst>
                            <p:childTnLst>
                              <p:par>
                                <p:cTn id="88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91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94" dur="5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97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00" dur="5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03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4" fill="hold">
                      <p:stCondLst>
                        <p:cond delay="indefinite"/>
                      </p:stCondLst>
                      <p:childTnLst>
                        <p:par>
                          <p:cTn id="905" fill="hold">
                            <p:stCondLst>
                              <p:cond delay="0"/>
                            </p:stCondLst>
                            <p:childTnLst>
                              <p:par>
                                <p:cTn id="90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08" dur="5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11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14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5" fill="hold">
                      <p:stCondLst>
                        <p:cond delay="indefinite"/>
                      </p:stCondLst>
                      <p:childTnLst>
                        <p:par>
                          <p:cTn id="916" fill="hold">
                            <p:stCondLst>
                              <p:cond delay="0"/>
                            </p:stCondLst>
                            <p:childTnLst>
                              <p:par>
                                <p:cTn id="91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19" dur="5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22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3" fill="hold">
                      <p:stCondLst>
                        <p:cond delay="indefinite"/>
                      </p:stCondLst>
                      <p:childTnLst>
                        <p:par>
                          <p:cTn id="924" fill="hold">
                            <p:stCondLst>
                              <p:cond delay="0"/>
                            </p:stCondLst>
                            <p:childTnLst>
                              <p:par>
                                <p:cTn id="92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27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0" dur="5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3" dur="5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6" dur="5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9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42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45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48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51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54" dur="5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DIFFERENCE OF SQUARES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Binomial Terms — Factorise Completely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Treat each bracket as one square:  </a:t>
            </a: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A</a:t>
            </a:r>
            <a:r>
              <a:rPr b="1" lang="en-US" sz="15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 – B</a:t>
            </a:r>
            <a:r>
              <a:rPr b="1" lang="en-US" sz="15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 = (A + B)(A – B).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anim_1_a"/>
          <p:cNvSpPr/>
          <p:nvPr/>
        </p:nvSpPr>
        <p:spPr>
          <a:xfrm>
            <a:off x="548640" y="2377440"/>
            <a:ext cx="11091240" cy="868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anim_1_a"/>
          <p:cNvSpPr/>
          <p:nvPr/>
        </p:nvSpPr>
        <p:spPr>
          <a:xfrm>
            <a:off x="548640" y="2377440"/>
            <a:ext cx="11091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16261f"/>
                </a:solidFill>
                <a:latin typeface="Cambria"/>
                <a:ea typeface="Cambria"/>
              </a:rPr>
              <a:t>Factorise completely   (12x – y)</a:t>
            </a:r>
            <a:r>
              <a:rPr b="1" lang="en-US" sz="23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300" spc="-1" strike="noStrike">
                <a:solidFill>
                  <a:srgbClr val="16261f"/>
                </a:solidFill>
                <a:latin typeface="Cambria"/>
                <a:ea typeface="Cambria"/>
              </a:rPr>
              <a:t> – (4x – 3y)</a:t>
            </a:r>
            <a:r>
              <a:rPr b="1" lang="en-US" sz="23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anim_2_c"/>
          <p:cNvSpPr/>
          <p:nvPr/>
        </p:nvSpPr>
        <p:spPr>
          <a:xfrm>
            <a:off x="548640" y="3337560"/>
            <a:ext cx="11091240" cy="2605680"/>
          </a:xfrm>
          <a:prstGeom prst="roundRect">
            <a:avLst>
              <a:gd name="adj" fmla="val 3509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anim_2_c"/>
          <p:cNvSpPr/>
          <p:nvPr/>
        </p:nvSpPr>
        <p:spPr>
          <a:xfrm>
            <a:off x="868680" y="35845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anim_2_c"/>
          <p:cNvSpPr/>
          <p:nvPr/>
        </p:nvSpPr>
        <p:spPr>
          <a:xfrm>
            <a:off x="868680" y="3584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anim_2_c"/>
          <p:cNvSpPr/>
          <p:nvPr/>
        </p:nvSpPr>
        <p:spPr>
          <a:xfrm>
            <a:off x="1417320" y="352044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Let  A = (12x – y),   B = (4x – 3y)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anim_3_c"/>
          <p:cNvSpPr/>
          <p:nvPr/>
        </p:nvSpPr>
        <p:spPr>
          <a:xfrm>
            <a:off x="868680" y="42246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anim_3_c"/>
          <p:cNvSpPr/>
          <p:nvPr/>
        </p:nvSpPr>
        <p:spPr>
          <a:xfrm>
            <a:off x="868680" y="42246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anim_3_c"/>
          <p:cNvSpPr/>
          <p:nvPr/>
        </p:nvSpPr>
        <p:spPr>
          <a:xfrm>
            <a:off x="1417320" y="416052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A + B = 16x – 4y          A – B = 8x + 2y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anim_4_c"/>
          <p:cNvSpPr/>
          <p:nvPr/>
        </p:nvSpPr>
        <p:spPr>
          <a:xfrm>
            <a:off x="868680" y="4864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anim_4_c"/>
          <p:cNvSpPr/>
          <p:nvPr/>
        </p:nvSpPr>
        <p:spPr>
          <a:xfrm>
            <a:off x="868680" y="486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anim_4_c"/>
          <p:cNvSpPr/>
          <p:nvPr/>
        </p:nvSpPr>
        <p:spPr>
          <a:xfrm>
            <a:off x="1417320" y="480060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4332d"/>
                </a:solidFill>
                <a:latin typeface="Cambria"/>
                <a:ea typeface="Cambria"/>
              </a:rPr>
              <a:t>= (16x – 4y)(8x + 2y) = 4(4x – y) × 2(4x + y)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anim_5_c"/>
          <p:cNvSpPr/>
          <p:nvPr/>
        </p:nvSpPr>
        <p:spPr>
          <a:xfrm>
            <a:off x="868680" y="5440680"/>
            <a:ext cx="5851800" cy="456840"/>
          </a:xfrm>
          <a:prstGeom prst="roundRect">
            <a:avLst>
              <a:gd name="adj" fmla="val 24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anim_5_c"/>
          <p:cNvSpPr/>
          <p:nvPr/>
        </p:nvSpPr>
        <p:spPr>
          <a:xfrm>
            <a:off x="1051560" y="544068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= 8(4x – y)(4x + y)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55" dur="indefinite" restart="never" nodeType="tmRoot">
          <p:childTnLst>
            <p:seq>
              <p:cTn id="956" dur="indefinite" nodeType="mainSeq">
                <p:childTnLst>
                  <p:par>
                    <p:cTn id="957" fill="hold">
                      <p:stCondLst>
                        <p:cond delay="0"/>
                      </p:stCondLst>
                      <p:childTnLst>
                        <p:par>
                          <p:cTn id="958" fill="hold">
                            <p:stCondLst>
                              <p:cond delay="0"/>
                            </p:stCondLst>
                            <p:childTnLst>
                              <p:par>
                                <p:cTn id="959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61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64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67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70" dur="5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1" fill="hold">
                      <p:stCondLst>
                        <p:cond delay="indefinite"/>
                      </p:stCondLst>
                      <p:childTnLst>
                        <p:par>
                          <p:cTn id="972" fill="hold">
                            <p:stCondLst>
                              <p:cond delay="0"/>
                            </p:stCondLst>
                            <p:childTnLst>
                              <p:par>
                                <p:cTn id="97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75" dur="5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78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81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84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5" fill="hold">
                      <p:stCondLst>
                        <p:cond delay="indefinite"/>
                      </p:stCondLst>
                      <p:childTnLst>
                        <p:par>
                          <p:cTn id="986" fill="hold">
                            <p:stCondLst>
                              <p:cond delay="0"/>
                            </p:stCondLst>
                            <p:childTnLst>
                              <p:par>
                                <p:cTn id="98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89" dur="500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92" dur="5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95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6" fill="hold">
                      <p:stCondLst>
                        <p:cond delay="indefinite"/>
                      </p:stCondLst>
                      <p:childTnLst>
                        <p:par>
                          <p:cTn id="997" fill="hold">
                            <p:stCondLst>
                              <p:cond delay="0"/>
                            </p:stCondLst>
                            <p:childTnLst>
                              <p:par>
                                <p:cTn id="99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00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03" dur="500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06" dur="5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7" fill="hold">
                      <p:stCondLst>
                        <p:cond delay="indefinite"/>
                      </p:stCondLst>
                      <p:childTnLst>
                        <p:par>
                          <p:cTn id="1008" fill="hold">
                            <p:stCondLst>
                              <p:cond delay="0"/>
                            </p:stCondLst>
                            <p:childTnLst>
                              <p:par>
                                <p:cTn id="100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11" dur="5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14" dur="500"/>
                                        <p:tgtEl>
                                          <p:spTgt spid="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 · DIFFERENCE OF SQUARES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Exam Questions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anim_1_a"/>
          <p:cNvSpPr/>
          <p:nvPr/>
        </p:nvSpPr>
        <p:spPr>
          <a:xfrm>
            <a:off x="548640" y="16916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anim_1_a"/>
          <p:cNvSpPr/>
          <p:nvPr/>
        </p:nvSpPr>
        <p:spPr>
          <a:xfrm>
            <a:off x="786240" y="189288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anim_1_a"/>
          <p:cNvSpPr/>
          <p:nvPr/>
        </p:nvSpPr>
        <p:spPr>
          <a:xfrm>
            <a:off x="786240" y="189288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anim_1_a"/>
          <p:cNvSpPr/>
          <p:nvPr/>
        </p:nvSpPr>
        <p:spPr>
          <a:xfrm>
            <a:off x="822960" y="2331720"/>
            <a:ext cx="4937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24332d"/>
                </a:solidFill>
                <a:latin typeface="Cambria"/>
                <a:ea typeface="Cambria"/>
              </a:rPr>
              <a:t>4c</a:t>
            </a:r>
            <a:r>
              <a:rPr b="1" lang="en-US" sz="20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2000" spc="-1" strike="noStrike">
                <a:solidFill>
                  <a:srgbClr val="24332d"/>
                </a:solidFill>
                <a:latin typeface="Cambria"/>
                <a:ea typeface="Cambria"/>
              </a:rPr>
              <a:t> – 9d</a:t>
            </a:r>
            <a:r>
              <a:rPr b="1" lang="en-US" sz="20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anim_1_a"/>
          <p:cNvSpPr/>
          <p:nvPr/>
        </p:nvSpPr>
        <p:spPr>
          <a:xfrm>
            <a:off x="6199560" y="16916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anim_1_a"/>
          <p:cNvSpPr/>
          <p:nvPr/>
        </p:nvSpPr>
        <p:spPr>
          <a:xfrm>
            <a:off x="6437520" y="189288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anim_1_a"/>
          <p:cNvSpPr/>
          <p:nvPr/>
        </p:nvSpPr>
        <p:spPr>
          <a:xfrm>
            <a:off x="6437520" y="189288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anim_1_a"/>
          <p:cNvSpPr/>
          <p:nvPr/>
        </p:nvSpPr>
        <p:spPr>
          <a:xfrm>
            <a:off x="6473880" y="2331720"/>
            <a:ext cx="4937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24332d"/>
                </a:solidFill>
                <a:latin typeface="Cambria"/>
                <a:ea typeface="Cambria"/>
              </a:rPr>
              <a:t>a</a:t>
            </a:r>
            <a:r>
              <a:rPr b="1" lang="en-US" sz="20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4</a:t>
            </a:r>
            <a:r>
              <a:rPr b="1" lang="en-US" sz="2000" spc="-1" strike="noStrike">
                <a:solidFill>
                  <a:srgbClr val="24332d"/>
                </a:solidFill>
                <a:latin typeface="Cambria"/>
                <a:ea typeface="Cambria"/>
              </a:rPr>
              <a:t> – 144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anim_2_c"/>
          <p:cNvSpPr/>
          <p:nvPr/>
        </p:nvSpPr>
        <p:spPr>
          <a:xfrm>
            <a:off x="548640" y="37490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anim_2_c"/>
          <p:cNvSpPr/>
          <p:nvPr/>
        </p:nvSpPr>
        <p:spPr>
          <a:xfrm>
            <a:off x="786240" y="395028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anim_2_c"/>
          <p:cNvSpPr/>
          <p:nvPr/>
        </p:nvSpPr>
        <p:spPr>
          <a:xfrm>
            <a:off x="786240" y="395028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FACTORISE FULLY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anim_2_c"/>
          <p:cNvSpPr/>
          <p:nvPr/>
        </p:nvSpPr>
        <p:spPr>
          <a:xfrm>
            <a:off x="822960" y="4389120"/>
            <a:ext cx="4937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24332d"/>
                </a:solidFill>
                <a:latin typeface="Cambria"/>
                <a:ea typeface="Cambria"/>
              </a:rPr>
              <a:t>2a</a:t>
            </a:r>
            <a:r>
              <a:rPr b="1" lang="en-US" sz="20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2000" spc="-1" strike="noStrike">
                <a:solidFill>
                  <a:srgbClr val="24332d"/>
                </a:solidFill>
                <a:latin typeface="Cambria"/>
                <a:ea typeface="Cambria"/>
              </a:rPr>
              <a:t> – 18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anim_2_c"/>
          <p:cNvSpPr/>
          <p:nvPr/>
        </p:nvSpPr>
        <p:spPr>
          <a:xfrm>
            <a:off x="6199560" y="3749040"/>
            <a:ext cx="5440320" cy="1828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anim_2_c"/>
          <p:cNvSpPr/>
          <p:nvPr/>
        </p:nvSpPr>
        <p:spPr>
          <a:xfrm>
            <a:off x="6437520" y="395028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anim_2_c"/>
          <p:cNvSpPr/>
          <p:nvPr/>
        </p:nvSpPr>
        <p:spPr>
          <a:xfrm>
            <a:off x="6437520" y="395028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49" strike="noStrike">
                <a:solidFill>
                  <a:srgbClr val="ffffff"/>
                </a:solidFill>
                <a:latin typeface="Calibri"/>
                <a:ea typeface="Calibri"/>
              </a:rPr>
              <a:t>FACTORISE FULLY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anim_2_c"/>
          <p:cNvSpPr/>
          <p:nvPr/>
        </p:nvSpPr>
        <p:spPr>
          <a:xfrm>
            <a:off x="6473880" y="4389120"/>
            <a:ext cx="4937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(12x – y)</a:t>
            </a:r>
            <a:r>
              <a:rPr b="1" lang="en-US" sz="17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 – (4x – 3y)</a:t>
            </a:r>
            <a:r>
              <a:rPr b="1" lang="en-US" sz="17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015" dur="indefinite" restart="never" nodeType="tmRoot">
          <p:childTnLst>
            <p:seq>
              <p:cTn id="1016" dur="indefinite" nodeType="mainSeq">
                <p:childTnLst>
                  <p:par>
                    <p:cTn id="1017" fill="hold">
                      <p:stCondLst>
                        <p:cond delay="0"/>
                      </p:stCondLst>
                      <p:childTnLst>
                        <p:par>
                          <p:cTn id="1018" fill="hold">
                            <p:stCondLst>
                              <p:cond delay="0"/>
                            </p:stCondLst>
                            <p:childTnLst>
                              <p:par>
                                <p:cTn id="1019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21" dur="500"/>
                                        <p:tgtEl>
                                          <p:spTgt spid="3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24" dur="500"/>
                                        <p:tgtEl>
                                          <p:spTgt spid="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27" dur="500"/>
                                        <p:tgtEl>
                                          <p:spTgt spid="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0" dur="500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3" dur="500"/>
                                        <p:tgtEl>
                                          <p:spTgt spid="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6" dur="5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9" dur="500"/>
                                        <p:tgtEl>
                                          <p:spTgt spid="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42" dur="500"/>
                                        <p:tgtEl>
                                          <p:spTgt spid="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3" fill="hold">
                      <p:stCondLst>
                        <p:cond delay="indefinite"/>
                      </p:stCondLst>
                      <p:childTnLst>
                        <p:par>
                          <p:cTn id="1044" fill="hold">
                            <p:stCondLst>
                              <p:cond delay="0"/>
                            </p:stCondLst>
                            <p:childTnLst>
                              <p:par>
                                <p:cTn id="104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47" dur="500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50" dur="500"/>
                                        <p:tgtEl>
                                          <p:spTgt spid="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53" dur="500"/>
                                        <p:tgtEl>
                                          <p:spTgt spid="3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56" dur="5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59" dur="50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62" dur="500"/>
                                        <p:tgtEl>
                                          <p:spTgt spid="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65" dur="500"/>
                                        <p:tgtEl>
                                          <p:spTgt spid="3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68" dur="500"/>
                                        <p:tgtEl>
                                          <p:spTgt spid="3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METHOD 5 · SOLVING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Solve by Factorising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1) make it = 0     2) factorise     3) set each bracket = 0     4) solve both.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anim_1_a"/>
          <p:cNvSpPr/>
          <p:nvPr/>
        </p:nvSpPr>
        <p:spPr>
          <a:xfrm>
            <a:off x="548640" y="2377440"/>
            <a:ext cx="11091240" cy="868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anim_1_a"/>
          <p:cNvSpPr/>
          <p:nvPr/>
        </p:nvSpPr>
        <p:spPr>
          <a:xfrm>
            <a:off x="548640" y="2377440"/>
            <a:ext cx="11091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6261f"/>
                </a:solidFill>
                <a:latin typeface="Cambria"/>
                <a:ea typeface="Cambria"/>
              </a:rPr>
              <a:t>Solve   x</a:t>
            </a:r>
            <a:r>
              <a:rPr b="1" lang="en-US" sz="26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600" spc="-1" strike="noStrike">
                <a:solidFill>
                  <a:srgbClr val="16261f"/>
                </a:solidFill>
                <a:latin typeface="Cambria"/>
                <a:ea typeface="Cambria"/>
              </a:rPr>
              <a:t> + 7x + 6 = 0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anim_2_c"/>
          <p:cNvSpPr/>
          <p:nvPr/>
        </p:nvSpPr>
        <p:spPr>
          <a:xfrm>
            <a:off x="548640" y="3337560"/>
            <a:ext cx="11091240" cy="2605680"/>
          </a:xfrm>
          <a:prstGeom prst="roundRect">
            <a:avLst>
              <a:gd name="adj" fmla="val 3509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anim_2_c"/>
          <p:cNvSpPr/>
          <p:nvPr/>
        </p:nvSpPr>
        <p:spPr>
          <a:xfrm>
            <a:off x="868680" y="3602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anim_2_c"/>
          <p:cNvSpPr/>
          <p:nvPr/>
        </p:nvSpPr>
        <p:spPr>
          <a:xfrm>
            <a:off x="868680" y="3602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anim_2_c"/>
          <p:cNvSpPr/>
          <p:nvPr/>
        </p:nvSpPr>
        <p:spPr>
          <a:xfrm>
            <a:off x="1417320" y="353880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Factorise:   (x + 6)(x + 1) = 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anim_3_c"/>
          <p:cNvSpPr/>
          <p:nvPr/>
        </p:nvSpPr>
        <p:spPr>
          <a:xfrm>
            <a:off x="868680" y="4316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anim_3_c"/>
          <p:cNvSpPr/>
          <p:nvPr/>
        </p:nvSpPr>
        <p:spPr>
          <a:xfrm>
            <a:off x="868680" y="4316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anim_3_c"/>
          <p:cNvSpPr/>
          <p:nvPr/>
        </p:nvSpPr>
        <p:spPr>
          <a:xfrm>
            <a:off x="1417320" y="425196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Each bracket = 0:   x + 6 = 0   or   x + 1 = 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anim_4_c"/>
          <p:cNvSpPr/>
          <p:nvPr/>
        </p:nvSpPr>
        <p:spPr>
          <a:xfrm>
            <a:off x="868680" y="5029200"/>
            <a:ext cx="3108600" cy="60300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anim_4_c"/>
          <p:cNvSpPr/>
          <p:nvPr/>
        </p:nvSpPr>
        <p:spPr>
          <a:xfrm>
            <a:off x="1051560" y="5029200"/>
            <a:ext cx="2742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x = –6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anim_4_c"/>
          <p:cNvSpPr/>
          <p:nvPr/>
        </p:nvSpPr>
        <p:spPr>
          <a:xfrm>
            <a:off x="4206240" y="5029200"/>
            <a:ext cx="3108600" cy="603000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anim_4_c"/>
          <p:cNvSpPr/>
          <p:nvPr/>
        </p:nvSpPr>
        <p:spPr>
          <a:xfrm>
            <a:off x="4389120" y="5029200"/>
            <a:ext cx="27428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x = –1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069" dur="indefinite" restart="never" nodeType="tmRoot">
          <p:childTnLst>
            <p:seq>
              <p:cTn id="1070" dur="indefinite" nodeType="mainSeq">
                <p:childTnLst>
                  <p:par>
                    <p:cTn id="1071" fill="hold">
                      <p:stCondLst>
                        <p:cond delay="0"/>
                      </p:stCondLst>
                      <p:childTnLst>
                        <p:par>
                          <p:cTn id="1072" fill="hold">
                            <p:stCondLst>
                              <p:cond delay="0"/>
                            </p:stCondLst>
                            <p:childTnLst>
                              <p:par>
                                <p:cTn id="107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75" dur="500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78" dur="500"/>
                                        <p:tgtEl>
                                          <p:spTgt spid="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1" dur="500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4" dur="500"/>
                                        <p:tgtEl>
                                          <p:spTgt spid="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5" fill="hold">
                      <p:stCondLst>
                        <p:cond delay="indefinite"/>
                      </p:stCondLst>
                      <p:childTnLst>
                        <p:par>
                          <p:cTn id="1086" fill="hold">
                            <p:stCondLst>
                              <p:cond delay="0"/>
                            </p:stCondLst>
                            <p:childTnLst>
                              <p:par>
                                <p:cTn id="108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9" dur="500"/>
                                        <p:tgtEl>
                                          <p:spTgt spid="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92" dur="500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95" dur="500"/>
                                        <p:tgtEl>
                                          <p:spTgt spid="3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98" dur="500"/>
                                        <p:tgtEl>
                                          <p:spTgt spid="3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9" fill="hold">
                      <p:stCondLst>
                        <p:cond delay="indefinite"/>
                      </p:stCondLst>
                      <p:childTnLst>
                        <p:par>
                          <p:cTn id="1100" fill="hold">
                            <p:stCondLst>
                              <p:cond delay="0"/>
                            </p:stCondLst>
                            <p:childTnLst>
                              <p:par>
                                <p:cTn id="110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03" dur="500"/>
                                        <p:tgtEl>
                                          <p:spTgt spid="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06" dur="500"/>
                                        <p:tgtEl>
                                          <p:spTgt spid="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09" dur="5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0" fill="hold">
                      <p:stCondLst>
                        <p:cond delay="indefinite"/>
                      </p:stCondLst>
                      <p:childTnLst>
                        <p:par>
                          <p:cTn id="1111" fill="hold">
                            <p:stCondLst>
                              <p:cond delay="0"/>
                            </p:stCondLst>
                            <p:childTnLst>
                              <p:par>
                                <p:cTn id="111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14" dur="500"/>
                                        <p:tgtEl>
                                          <p:spTgt spid="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17" dur="5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20" dur="5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23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METHOD 5 · SOLVING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Rearrange First, then Solve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anim_1_a"/>
          <p:cNvSpPr/>
          <p:nvPr/>
        </p:nvSpPr>
        <p:spPr>
          <a:xfrm>
            <a:off x="548640" y="1691640"/>
            <a:ext cx="5467680" cy="3931560"/>
          </a:xfrm>
          <a:prstGeom prst="roundRect">
            <a:avLst>
              <a:gd name="adj" fmla="val 2326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anim_1_a"/>
          <p:cNvSpPr/>
          <p:nvPr/>
        </p:nvSpPr>
        <p:spPr>
          <a:xfrm>
            <a:off x="868680" y="187452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Solve   x</a:t>
            </a:r>
            <a:r>
              <a:rPr b="1" lang="en-US" sz="22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 – 5x = –4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anim_1_a"/>
          <p:cNvSpPr/>
          <p:nvPr/>
        </p:nvSpPr>
        <p:spPr>
          <a:xfrm>
            <a:off x="868680" y="24872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anim_1_a"/>
          <p:cNvSpPr/>
          <p:nvPr/>
        </p:nvSpPr>
        <p:spPr>
          <a:xfrm>
            <a:off x="868680" y="24872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anim_1_a"/>
          <p:cNvSpPr/>
          <p:nvPr/>
        </p:nvSpPr>
        <p:spPr>
          <a:xfrm>
            <a:off x="1417320" y="24231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Make = 0:  x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– 5x + 4 = 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anim_2_c"/>
          <p:cNvSpPr/>
          <p:nvPr/>
        </p:nvSpPr>
        <p:spPr>
          <a:xfrm>
            <a:off x="868680" y="3173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anim_2_c"/>
          <p:cNvSpPr/>
          <p:nvPr/>
        </p:nvSpPr>
        <p:spPr>
          <a:xfrm>
            <a:off x="868680" y="3173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anim_2_c"/>
          <p:cNvSpPr/>
          <p:nvPr/>
        </p:nvSpPr>
        <p:spPr>
          <a:xfrm>
            <a:off x="1417320" y="31089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(x – 4)(x – 1) = 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anim_3_c"/>
          <p:cNvSpPr/>
          <p:nvPr/>
        </p:nvSpPr>
        <p:spPr>
          <a:xfrm>
            <a:off x="868680" y="3840480"/>
            <a:ext cx="2194200" cy="502560"/>
          </a:xfrm>
          <a:prstGeom prst="roundRect">
            <a:avLst>
              <a:gd name="adj" fmla="val 21818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anim_3_c"/>
          <p:cNvSpPr/>
          <p:nvPr/>
        </p:nvSpPr>
        <p:spPr>
          <a:xfrm>
            <a:off x="1051560" y="384048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 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anim_3_c"/>
          <p:cNvSpPr/>
          <p:nvPr/>
        </p:nvSpPr>
        <p:spPr>
          <a:xfrm>
            <a:off x="3246120" y="3840480"/>
            <a:ext cx="2194200" cy="502560"/>
          </a:xfrm>
          <a:prstGeom prst="roundRect">
            <a:avLst>
              <a:gd name="adj" fmla="val 21818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anim_3_c"/>
          <p:cNvSpPr/>
          <p:nvPr/>
        </p:nvSpPr>
        <p:spPr>
          <a:xfrm>
            <a:off x="3429000" y="384048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 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anim_4_c"/>
          <p:cNvSpPr/>
          <p:nvPr/>
        </p:nvSpPr>
        <p:spPr>
          <a:xfrm>
            <a:off x="6172200" y="1691640"/>
            <a:ext cx="5467680" cy="3931560"/>
          </a:xfrm>
          <a:prstGeom prst="roundRect">
            <a:avLst>
              <a:gd name="adj" fmla="val 2326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anim_4_c"/>
          <p:cNvSpPr/>
          <p:nvPr/>
        </p:nvSpPr>
        <p:spPr>
          <a:xfrm>
            <a:off x="6492240" y="187452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Solve   x</a:t>
            </a:r>
            <a:r>
              <a:rPr b="1" lang="en-US" sz="22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 = 3x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anim_4_c"/>
          <p:cNvSpPr/>
          <p:nvPr/>
        </p:nvSpPr>
        <p:spPr>
          <a:xfrm>
            <a:off x="6492240" y="24872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anim_4_c"/>
          <p:cNvSpPr/>
          <p:nvPr/>
        </p:nvSpPr>
        <p:spPr>
          <a:xfrm>
            <a:off x="6492240" y="24872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anim_4_c"/>
          <p:cNvSpPr/>
          <p:nvPr/>
        </p:nvSpPr>
        <p:spPr>
          <a:xfrm>
            <a:off x="7040880" y="24231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Make = 0:  x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 – 3x = 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anim_5_c"/>
          <p:cNvSpPr/>
          <p:nvPr/>
        </p:nvSpPr>
        <p:spPr>
          <a:xfrm>
            <a:off x="6492240" y="3173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anim_5_c"/>
          <p:cNvSpPr/>
          <p:nvPr/>
        </p:nvSpPr>
        <p:spPr>
          <a:xfrm>
            <a:off x="6492240" y="3173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anim_5_c"/>
          <p:cNvSpPr/>
          <p:nvPr/>
        </p:nvSpPr>
        <p:spPr>
          <a:xfrm>
            <a:off x="7040880" y="31089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Common factor x:   x(x – 3) = 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anim_6_c"/>
          <p:cNvSpPr/>
          <p:nvPr/>
        </p:nvSpPr>
        <p:spPr>
          <a:xfrm>
            <a:off x="6492240" y="3840480"/>
            <a:ext cx="2194200" cy="502560"/>
          </a:xfrm>
          <a:prstGeom prst="roundRect">
            <a:avLst>
              <a:gd name="adj" fmla="val 21818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anim_6_c"/>
          <p:cNvSpPr/>
          <p:nvPr/>
        </p:nvSpPr>
        <p:spPr>
          <a:xfrm>
            <a:off x="6675120" y="384048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 0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anim_6_c"/>
          <p:cNvSpPr/>
          <p:nvPr/>
        </p:nvSpPr>
        <p:spPr>
          <a:xfrm>
            <a:off x="8869680" y="3840480"/>
            <a:ext cx="2194200" cy="502560"/>
          </a:xfrm>
          <a:prstGeom prst="roundRect">
            <a:avLst>
              <a:gd name="adj" fmla="val 21818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anim_6_c"/>
          <p:cNvSpPr/>
          <p:nvPr/>
        </p:nvSpPr>
        <p:spPr>
          <a:xfrm>
            <a:off x="9052560" y="384048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 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anim_6_c"/>
          <p:cNvSpPr/>
          <p:nvPr/>
        </p:nvSpPr>
        <p:spPr>
          <a:xfrm>
            <a:off x="6172200" y="5074920"/>
            <a:ext cx="5467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c84f2f"/>
                </a:solidFill>
                <a:latin typeface="Calibri"/>
                <a:ea typeface="Calibri"/>
              </a:rPr>
              <a:t>Tip: never divide both sides by x — you would lose the solution x = 0.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24" dur="indefinite" restart="never" nodeType="tmRoot">
          <p:childTnLst>
            <p:seq>
              <p:cTn id="1125" dur="indefinite" nodeType="mainSeq">
                <p:childTnLst>
                  <p:par>
                    <p:cTn id="1126" fill="hold">
                      <p:stCondLst>
                        <p:cond delay="0"/>
                      </p:stCondLst>
                      <p:childTnLst>
                        <p:par>
                          <p:cTn id="1127" fill="hold">
                            <p:stCondLst>
                              <p:cond delay="0"/>
                            </p:stCondLst>
                            <p:childTnLst>
                              <p:par>
                                <p:cTn id="1128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30" dur="500"/>
                                        <p:tgtEl>
                                          <p:spTgt spid="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33" dur="500"/>
                                        <p:tgtEl>
                                          <p:spTgt spid="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36" dur="500"/>
                                        <p:tgtEl>
                                          <p:spTgt spid="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39" dur="500"/>
                                        <p:tgtEl>
                                          <p:spTgt spid="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42" dur="500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3" fill="hold">
                      <p:stCondLst>
                        <p:cond delay="indefinite"/>
                      </p:stCondLst>
                      <p:childTnLst>
                        <p:par>
                          <p:cTn id="1144" fill="hold">
                            <p:stCondLst>
                              <p:cond delay="0"/>
                            </p:stCondLst>
                            <p:childTnLst>
                              <p:par>
                                <p:cTn id="114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47" dur="500"/>
                                        <p:tgtEl>
                                          <p:spTgt spid="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50" dur="500"/>
                                        <p:tgtEl>
                                          <p:spTgt spid="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53" dur="500"/>
                                        <p:tgtEl>
                                          <p:spTgt spid="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4" fill="hold">
                      <p:stCondLst>
                        <p:cond delay="indefinite"/>
                      </p:stCondLst>
                      <p:childTnLst>
                        <p:par>
                          <p:cTn id="1155" fill="hold">
                            <p:stCondLst>
                              <p:cond delay="0"/>
                            </p:stCondLst>
                            <p:childTnLst>
                              <p:par>
                                <p:cTn id="115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58" dur="500"/>
                                        <p:tgtEl>
                                          <p:spTgt spid="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61"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64" dur="500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67" dur="500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8" fill="hold">
                      <p:stCondLst>
                        <p:cond delay="indefinite"/>
                      </p:stCondLst>
                      <p:childTnLst>
                        <p:par>
                          <p:cTn id="1169" fill="hold">
                            <p:stCondLst>
                              <p:cond delay="0"/>
                            </p:stCondLst>
                            <p:childTnLst>
                              <p:par>
                                <p:cTn id="117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72" dur="500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75" dur="500"/>
                                        <p:tgtEl>
                                          <p:spTgt spid="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78" dur="500"/>
                                        <p:tgtEl>
                                          <p:spTgt spid="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81" dur="500"/>
                                        <p:tgtEl>
                                          <p:spTgt spid="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84" dur="500"/>
                                        <p:tgtEl>
                                          <p:spTgt spid="4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5" fill="hold">
                      <p:stCondLst>
                        <p:cond delay="indefinite"/>
                      </p:stCondLst>
                      <p:childTnLst>
                        <p:par>
                          <p:cTn id="1186" fill="hold">
                            <p:stCondLst>
                              <p:cond delay="0"/>
                            </p:stCondLst>
                            <p:childTnLst>
                              <p:par>
                                <p:cTn id="118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89" dur="500"/>
                                        <p:tgtEl>
                                          <p:spTgt spid="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92" dur="500"/>
                                        <p:tgtEl>
                                          <p:spTgt spid="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95" dur="500"/>
                                        <p:tgtEl>
                                          <p:spTgt spid="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6" fill="hold">
                      <p:stCondLst>
                        <p:cond delay="indefinite"/>
                      </p:stCondLst>
                      <p:childTnLst>
                        <p:par>
                          <p:cTn id="1197" fill="hold">
                            <p:stCondLst>
                              <p:cond delay="0"/>
                            </p:stCondLst>
                            <p:childTnLst>
                              <p:par>
                                <p:cTn id="119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00" dur="500"/>
                                        <p:tgtEl>
                                          <p:spTgt spid="4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03" dur="500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06" dur="500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09" dur="500"/>
                                        <p:tgtEl>
                                          <p:spTgt spid="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12" dur="500"/>
                                        <p:tgtEl>
                                          <p:spTgt spid="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METHOD 5 · SOLVING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Special Case — Difference of Squares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anim_1_a"/>
          <p:cNvSpPr/>
          <p:nvPr/>
        </p:nvSpPr>
        <p:spPr>
          <a:xfrm>
            <a:off x="548640" y="1737360"/>
            <a:ext cx="11091240" cy="2285640"/>
          </a:xfrm>
          <a:prstGeom prst="roundRect">
            <a:avLst>
              <a:gd name="adj" fmla="val 4000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anim_1_a"/>
          <p:cNvSpPr/>
          <p:nvPr/>
        </p:nvSpPr>
        <p:spPr>
          <a:xfrm>
            <a:off x="868680" y="1920240"/>
            <a:ext cx="7314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Solve   x</a:t>
            </a:r>
            <a:r>
              <a:rPr b="1" lang="en-US" sz="24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400" spc="-1" strike="noStrike">
                <a:solidFill>
                  <a:srgbClr val="16261f"/>
                </a:solidFill>
                <a:latin typeface="Cambria"/>
                <a:ea typeface="Cambria"/>
              </a:rPr>
              <a:t> – 64 = 0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anim_2_c"/>
          <p:cNvSpPr/>
          <p:nvPr/>
        </p:nvSpPr>
        <p:spPr>
          <a:xfrm>
            <a:off x="868680" y="25329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anim_2_c"/>
          <p:cNvSpPr/>
          <p:nvPr/>
        </p:nvSpPr>
        <p:spPr>
          <a:xfrm>
            <a:off x="868680" y="2532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anim_2_c"/>
          <p:cNvSpPr/>
          <p:nvPr/>
        </p:nvSpPr>
        <p:spPr>
          <a:xfrm>
            <a:off x="1417320" y="246888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Difference of squares:   (x + 8)(x – 8) = 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anim_3_c"/>
          <p:cNvSpPr/>
          <p:nvPr/>
        </p:nvSpPr>
        <p:spPr>
          <a:xfrm>
            <a:off x="868680" y="3246120"/>
            <a:ext cx="310860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anim_3_c"/>
          <p:cNvSpPr/>
          <p:nvPr/>
        </p:nvSpPr>
        <p:spPr>
          <a:xfrm>
            <a:off x="1051560" y="3246120"/>
            <a:ext cx="2742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x = –8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anim_3_c"/>
          <p:cNvSpPr/>
          <p:nvPr/>
        </p:nvSpPr>
        <p:spPr>
          <a:xfrm>
            <a:off x="4206240" y="3246120"/>
            <a:ext cx="310860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anim_3_c"/>
          <p:cNvSpPr/>
          <p:nvPr/>
        </p:nvSpPr>
        <p:spPr>
          <a:xfrm>
            <a:off x="4389120" y="3246120"/>
            <a:ext cx="2742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x = 8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anim_4_c"/>
          <p:cNvSpPr/>
          <p:nvPr/>
        </p:nvSpPr>
        <p:spPr>
          <a:xfrm>
            <a:off x="548640" y="425196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c84f2f"/>
                </a:solidFill>
                <a:latin typeface="Calibri"/>
                <a:ea typeface="Calibri"/>
              </a:rPr>
              <a:t>NOW SOLVE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anim_4_c"/>
          <p:cNvSpPr/>
          <p:nvPr/>
        </p:nvSpPr>
        <p:spPr>
          <a:xfrm>
            <a:off x="548640" y="461772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anim_4_c"/>
          <p:cNvSpPr/>
          <p:nvPr/>
        </p:nvSpPr>
        <p:spPr>
          <a:xfrm>
            <a:off x="749880" y="4864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anim_4_c"/>
          <p:cNvSpPr/>
          <p:nvPr/>
        </p:nvSpPr>
        <p:spPr>
          <a:xfrm>
            <a:off x="749880" y="486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anim_4_c"/>
          <p:cNvSpPr/>
          <p:nvPr/>
        </p:nvSpPr>
        <p:spPr>
          <a:xfrm>
            <a:off x="1225440" y="4617720"/>
            <a:ext cx="2742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+ 8x + 12 =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anim_4_c"/>
          <p:cNvSpPr/>
          <p:nvPr/>
        </p:nvSpPr>
        <p:spPr>
          <a:xfrm>
            <a:off x="4260960" y="461772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anim_4_c"/>
          <p:cNvSpPr/>
          <p:nvPr/>
        </p:nvSpPr>
        <p:spPr>
          <a:xfrm>
            <a:off x="4462200" y="4864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anim_4_c"/>
          <p:cNvSpPr/>
          <p:nvPr/>
        </p:nvSpPr>
        <p:spPr>
          <a:xfrm>
            <a:off x="4462200" y="486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anim_4_c"/>
          <p:cNvSpPr/>
          <p:nvPr/>
        </p:nvSpPr>
        <p:spPr>
          <a:xfrm>
            <a:off x="4937760" y="4617720"/>
            <a:ext cx="2742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7x + 12 =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anim_4_c"/>
          <p:cNvSpPr/>
          <p:nvPr/>
        </p:nvSpPr>
        <p:spPr>
          <a:xfrm>
            <a:off x="7973640" y="4617720"/>
            <a:ext cx="3520080" cy="868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anim_4_c"/>
          <p:cNvSpPr/>
          <p:nvPr/>
        </p:nvSpPr>
        <p:spPr>
          <a:xfrm>
            <a:off x="8174880" y="4864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anim_4_c"/>
          <p:cNvSpPr/>
          <p:nvPr/>
        </p:nvSpPr>
        <p:spPr>
          <a:xfrm>
            <a:off x="8174880" y="486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anim_4_c"/>
          <p:cNvSpPr/>
          <p:nvPr/>
        </p:nvSpPr>
        <p:spPr>
          <a:xfrm>
            <a:off x="8650080" y="4617720"/>
            <a:ext cx="2742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100 =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213" dur="indefinite" restart="never" nodeType="tmRoot">
          <p:childTnLst>
            <p:seq>
              <p:cTn id="1214" dur="indefinite" nodeType="mainSeq">
                <p:childTnLst>
                  <p:par>
                    <p:cTn id="1215" fill="hold">
                      <p:stCondLst>
                        <p:cond delay="0"/>
                      </p:stCondLst>
                      <p:childTnLst>
                        <p:par>
                          <p:cTn id="1216" fill="hold">
                            <p:stCondLst>
                              <p:cond delay="0"/>
                            </p:stCondLst>
                            <p:childTnLst>
                              <p:par>
                                <p:cTn id="1217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19" dur="500"/>
                                        <p:tgtEl>
                                          <p:spTgt spid="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22" dur="500"/>
                                        <p:tgtEl>
                                          <p:spTgt spid="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3" fill="hold">
                      <p:stCondLst>
                        <p:cond delay="indefinite"/>
                      </p:stCondLst>
                      <p:childTnLst>
                        <p:par>
                          <p:cTn id="1224" fill="hold">
                            <p:stCondLst>
                              <p:cond delay="0"/>
                            </p:stCondLst>
                            <p:childTnLst>
                              <p:par>
                                <p:cTn id="122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27" dur="500"/>
                                        <p:tgtEl>
                                          <p:spTgt spid="4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30" dur="500"/>
                                        <p:tgtEl>
                                          <p:spTgt spid="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33" dur="500"/>
                                        <p:tgtEl>
                                          <p:spTgt spid="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4" fill="hold">
                      <p:stCondLst>
                        <p:cond delay="indefinite"/>
                      </p:stCondLst>
                      <p:childTnLst>
                        <p:par>
                          <p:cTn id="1235" fill="hold">
                            <p:stCondLst>
                              <p:cond delay="0"/>
                            </p:stCondLst>
                            <p:childTnLst>
                              <p:par>
                                <p:cTn id="123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38" dur="500"/>
                                        <p:tgtEl>
                                          <p:spTgt spid="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41" dur="500"/>
                                        <p:tgtEl>
                                          <p:spTgt spid="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44" dur="500"/>
                                        <p:tgtEl>
                                          <p:spTgt spid="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47" dur="500"/>
                                        <p:tgtEl>
                                          <p:spTgt spid="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8" fill="hold">
                      <p:stCondLst>
                        <p:cond delay="indefinite"/>
                      </p:stCondLst>
                      <p:childTnLst>
                        <p:par>
                          <p:cTn id="1249" fill="hold">
                            <p:stCondLst>
                              <p:cond delay="0"/>
                            </p:stCondLst>
                            <p:childTnLst>
                              <p:par>
                                <p:cTn id="125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52" dur="5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55" dur="500"/>
                                        <p:tgtEl>
                                          <p:spTgt spid="4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58" dur="500"/>
                                        <p:tgtEl>
                                          <p:spTgt spid="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61" dur="5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64" dur="500"/>
                                        <p:tgtEl>
                                          <p:spTgt spid="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67" dur="500"/>
                                        <p:tgtEl>
                                          <p:spTgt spid="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70" dur="500"/>
                                        <p:tgtEl>
                                          <p:spTgt spid="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73" dur="500"/>
                                        <p:tgtEl>
                                          <p:spTgt spid="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76" dur="500"/>
                                        <p:tgtEl>
                                          <p:spTgt spid="4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79" dur="500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82" dur="500"/>
                                        <p:tgtEl>
                                          <p:spTgt spid="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85" dur="500"/>
                                        <p:tgtEl>
                                          <p:spTgt spid="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88" dur="5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EXAM TECHNIQUE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(a) Factorise   →   (b) Hence Solve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“</a:t>
            </a:r>
            <a:r>
              <a:rPr b="1" lang="en-US" sz="1500" spc="-1" strike="noStrike">
                <a:solidFill>
                  <a:srgbClr val="e0ac2b"/>
                </a:solidFill>
                <a:latin typeface="Calibri"/>
                <a:ea typeface="Calibri"/>
              </a:rPr>
              <a:t>Hence” 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means use your answer to (a): set each bracket = 0 and solve.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anim_2_c"/>
          <p:cNvSpPr/>
          <p:nvPr/>
        </p:nvSpPr>
        <p:spPr>
          <a:xfrm>
            <a:off x="548640" y="2377440"/>
            <a:ext cx="11091240" cy="3565800"/>
          </a:xfrm>
          <a:prstGeom prst="roundRect">
            <a:avLst>
              <a:gd name="adj" fmla="val 2564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anim_2_c"/>
          <p:cNvSpPr/>
          <p:nvPr/>
        </p:nvSpPr>
        <p:spPr>
          <a:xfrm>
            <a:off x="868680" y="256032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(a)  Factorise   x</a:t>
            </a:r>
            <a:r>
              <a:rPr b="1" lang="en-US" sz="22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 + 2x – 24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anim_2_c"/>
          <p:cNvSpPr/>
          <p:nvPr/>
        </p:nvSpPr>
        <p:spPr>
          <a:xfrm>
            <a:off x="868680" y="31730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anim_2_c"/>
          <p:cNvSpPr/>
          <p:nvPr/>
        </p:nvSpPr>
        <p:spPr>
          <a:xfrm>
            <a:off x="868680" y="31730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anim_2_c"/>
          <p:cNvSpPr/>
          <p:nvPr/>
        </p:nvSpPr>
        <p:spPr>
          <a:xfrm>
            <a:off x="1417320" y="3108960"/>
            <a:ext cx="9417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two numbers: 6 and –4   →  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(x + 6)(x – 4)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anim_3_c"/>
          <p:cNvSpPr/>
          <p:nvPr/>
        </p:nvSpPr>
        <p:spPr>
          <a:xfrm>
            <a:off x="868680" y="384048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(b)  Hence solve   x</a:t>
            </a:r>
            <a:r>
              <a:rPr b="1" lang="en-US" sz="22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200" spc="-1" strike="noStrike">
                <a:solidFill>
                  <a:srgbClr val="16261f"/>
                </a:solidFill>
                <a:latin typeface="Cambria"/>
                <a:ea typeface="Cambria"/>
              </a:rPr>
              <a:t> + 2x – 24 = 0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anim_3_c"/>
          <p:cNvSpPr/>
          <p:nvPr/>
        </p:nvSpPr>
        <p:spPr>
          <a:xfrm>
            <a:off x="86868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anim_3_c"/>
          <p:cNvSpPr/>
          <p:nvPr/>
        </p:nvSpPr>
        <p:spPr>
          <a:xfrm>
            <a:off x="86868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anim_3_c"/>
          <p:cNvSpPr/>
          <p:nvPr/>
        </p:nvSpPr>
        <p:spPr>
          <a:xfrm>
            <a:off x="1417320" y="4389120"/>
            <a:ext cx="9417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(x + 6)(x – 4) = 0   →   x + 6 = 0  or  x – 4 = 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anim_4_c"/>
          <p:cNvSpPr/>
          <p:nvPr/>
        </p:nvSpPr>
        <p:spPr>
          <a:xfrm>
            <a:off x="868680" y="5120640"/>
            <a:ext cx="310860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anim_4_c"/>
          <p:cNvSpPr/>
          <p:nvPr/>
        </p:nvSpPr>
        <p:spPr>
          <a:xfrm>
            <a:off x="1051560" y="5120640"/>
            <a:ext cx="2742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x = –6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anim_4_c"/>
          <p:cNvSpPr/>
          <p:nvPr/>
        </p:nvSpPr>
        <p:spPr>
          <a:xfrm>
            <a:off x="4206240" y="5120640"/>
            <a:ext cx="310860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anim_4_c"/>
          <p:cNvSpPr/>
          <p:nvPr/>
        </p:nvSpPr>
        <p:spPr>
          <a:xfrm>
            <a:off x="4389120" y="5120640"/>
            <a:ext cx="2742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0ac2b"/>
                </a:solidFill>
                <a:latin typeface="Cambria"/>
                <a:ea typeface="Cambria"/>
              </a:rPr>
              <a:t>x = 4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289" dur="indefinite" restart="never" nodeType="tmRoot">
          <p:childTnLst>
            <p:seq>
              <p:cTn id="1290" dur="indefinite" nodeType="mainSeq">
                <p:childTnLst>
                  <p:par>
                    <p:cTn id="1291" fill="hold">
                      <p:stCondLst>
                        <p:cond delay="0"/>
                      </p:stCondLst>
                      <p:childTnLst>
                        <p:par>
                          <p:cTn id="1292" fill="hold">
                            <p:stCondLst>
                              <p:cond delay="0"/>
                            </p:stCondLst>
                            <p:childTnLst>
                              <p:par>
                                <p:cTn id="129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95" dur="500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98" dur="500"/>
                                        <p:tgtEl>
                                          <p:spTgt spid="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9" fill="hold">
                      <p:stCondLst>
                        <p:cond delay="indefinite"/>
                      </p:stCondLst>
                      <p:childTnLst>
                        <p:par>
                          <p:cTn id="1300" fill="hold">
                            <p:stCondLst>
                              <p:cond delay="0"/>
                            </p:stCondLst>
                            <p:childTnLst>
                              <p:par>
                                <p:cTn id="130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03" dur="500"/>
                                        <p:tgtEl>
                                          <p:spTgt spid="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06" dur="500"/>
                                        <p:tgtEl>
                                          <p:spTgt spid="4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09" dur="500"/>
                                        <p:tgtEl>
                                          <p:spTgt spid="4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12" dur="500"/>
                                        <p:tgtEl>
                                          <p:spTgt spid="4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15" dur="500"/>
                                        <p:tgtEl>
                                          <p:spTgt spid="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6" fill="hold">
                      <p:stCondLst>
                        <p:cond delay="indefinite"/>
                      </p:stCondLst>
                      <p:childTnLst>
                        <p:par>
                          <p:cTn id="1317" fill="hold">
                            <p:stCondLst>
                              <p:cond delay="0"/>
                            </p:stCondLst>
                            <p:childTnLst>
                              <p:par>
                                <p:cTn id="131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20" dur="500"/>
                                        <p:tgtEl>
                                          <p:spTgt spid="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23" dur="500"/>
                                        <p:tgtEl>
                                          <p:spTgt spid="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26" dur="500"/>
                                        <p:tgtEl>
                                          <p:spTgt spid="4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29" dur="500"/>
                                        <p:tgtEl>
                                          <p:spTgt spid="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0" fill="hold">
                      <p:stCondLst>
                        <p:cond delay="indefinite"/>
                      </p:stCondLst>
                      <p:childTnLst>
                        <p:par>
                          <p:cTn id="1331" fill="hold">
                            <p:stCondLst>
                              <p:cond delay="0"/>
                            </p:stCondLst>
                            <p:childTnLst>
                              <p:par>
                                <p:cTn id="133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34" dur="500"/>
                                        <p:tgtEl>
                                          <p:spTgt spid="4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37" dur="500"/>
                                        <p:tgtEl>
                                          <p:spTgt spid="4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40" dur="500"/>
                                        <p:tgtEl>
                                          <p:spTgt spid="4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43" dur="500"/>
                                        <p:tgtEl>
                                          <p:spTgt spid="4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EXAM TECHNIQUE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More (a)/(b) — and the Combined Question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anim_1_a"/>
          <p:cNvSpPr/>
          <p:nvPr/>
        </p:nvSpPr>
        <p:spPr>
          <a:xfrm>
            <a:off x="548640" y="1691640"/>
            <a:ext cx="5467680" cy="41144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anim_1_a"/>
          <p:cNvSpPr/>
          <p:nvPr/>
        </p:nvSpPr>
        <p:spPr>
          <a:xfrm>
            <a:off x="868680" y="1920240"/>
            <a:ext cx="49374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(a) Factorise   2x</a:t>
            </a:r>
            <a:r>
              <a:rPr b="1" lang="en-US" sz="17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 – 7x + 6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(b) Hence solve   2x</a:t>
            </a:r>
            <a:r>
              <a:rPr b="1" lang="en-US" sz="17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 – 7x + 6 = 0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anim_1_a"/>
          <p:cNvSpPr/>
          <p:nvPr/>
        </p:nvSpPr>
        <p:spPr>
          <a:xfrm>
            <a:off x="868680" y="3657600"/>
            <a:ext cx="49374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a7269"/>
                </a:solidFill>
                <a:latin typeface="Calibri"/>
                <a:ea typeface="Calibri"/>
              </a:rPr>
              <a:t>Answer in the speaker notes — reveal after students attempt it.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anim_2_c"/>
          <p:cNvSpPr/>
          <p:nvPr/>
        </p:nvSpPr>
        <p:spPr>
          <a:xfrm>
            <a:off x="6172200" y="1691640"/>
            <a:ext cx="5467680" cy="4114440"/>
          </a:xfrm>
          <a:prstGeom prst="roundRect">
            <a:avLst>
              <a:gd name="adj" fmla="val 2222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anim_2_c"/>
          <p:cNvSpPr/>
          <p:nvPr/>
        </p:nvSpPr>
        <p:spPr>
          <a:xfrm>
            <a:off x="6492240" y="187452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8" strike="noStrike">
                <a:solidFill>
                  <a:srgbClr val="c84f2f"/>
                </a:solidFill>
                <a:latin typeface="Calibri"/>
                <a:ea typeface="Calibri"/>
              </a:rPr>
              <a:t>COMBINED QUESTION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anim_2_c"/>
          <p:cNvSpPr/>
          <p:nvPr/>
        </p:nvSpPr>
        <p:spPr>
          <a:xfrm>
            <a:off x="6492240" y="224028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6261f"/>
                </a:solidFill>
                <a:latin typeface="Cambria"/>
                <a:ea typeface="Cambria"/>
              </a:rPr>
              <a:t>Solve   6x</a:t>
            </a:r>
            <a:r>
              <a:rPr b="1" lang="en-US" sz="21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100" spc="-1" strike="noStrike">
                <a:solidFill>
                  <a:srgbClr val="16261f"/>
                </a:solidFill>
                <a:latin typeface="Cambria"/>
                <a:ea typeface="Cambria"/>
              </a:rPr>
              <a:t> – x – 12 = 0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anim_3_c"/>
          <p:cNvSpPr/>
          <p:nvPr/>
        </p:nvSpPr>
        <p:spPr>
          <a:xfrm>
            <a:off x="6492240" y="28530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anim_3_c"/>
          <p:cNvSpPr/>
          <p:nvPr/>
        </p:nvSpPr>
        <p:spPr>
          <a:xfrm>
            <a:off x="6492240" y="2853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anim_3_c"/>
          <p:cNvSpPr/>
          <p:nvPr/>
        </p:nvSpPr>
        <p:spPr>
          <a:xfrm>
            <a:off x="7040880" y="27889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Factorise:  (3x + 4)(2x – 3) = 0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anim_4_c"/>
          <p:cNvSpPr/>
          <p:nvPr/>
        </p:nvSpPr>
        <p:spPr>
          <a:xfrm>
            <a:off x="6492240" y="35388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anim_4_c"/>
          <p:cNvSpPr/>
          <p:nvPr/>
        </p:nvSpPr>
        <p:spPr>
          <a:xfrm>
            <a:off x="6492240" y="35388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anim_4_c"/>
          <p:cNvSpPr/>
          <p:nvPr/>
        </p:nvSpPr>
        <p:spPr>
          <a:xfrm>
            <a:off x="7040880" y="34747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3x + 4 = 0   or   2x – 3 = 0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anim_5_c"/>
          <p:cNvSpPr/>
          <p:nvPr/>
        </p:nvSpPr>
        <p:spPr>
          <a:xfrm>
            <a:off x="6858000" y="4142160"/>
            <a:ext cx="1005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–</a:t>
            </a: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anim_5_c"/>
          <p:cNvSpPr/>
          <p:nvPr/>
        </p:nvSpPr>
        <p:spPr>
          <a:xfrm>
            <a:off x="6894360" y="4617720"/>
            <a:ext cx="932760" cy="360"/>
          </a:xfrm>
          <a:prstGeom prst="line">
            <a:avLst/>
          </a:prstGeom>
          <a:ln w="25400">
            <a:solidFill>
              <a:srgbClr val="2433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anim_5_c"/>
          <p:cNvSpPr/>
          <p:nvPr/>
        </p:nvSpPr>
        <p:spPr>
          <a:xfrm>
            <a:off x="6858000" y="4663440"/>
            <a:ext cx="1005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anim_5_c"/>
          <p:cNvSpPr/>
          <p:nvPr/>
        </p:nvSpPr>
        <p:spPr>
          <a:xfrm>
            <a:off x="6355080" y="438912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anim_5_c"/>
          <p:cNvSpPr/>
          <p:nvPr/>
        </p:nvSpPr>
        <p:spPr>
          <a:xfrm>
            <a:off x="8229600" y="438912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or   x = 1.5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44" dur="indefinite" restart="never" nodeType="tmRoot">
          <p:childTnLst>
            <p:seq>
              <p:cTn id="1345" dur="indefinite" nodeType="mainSeq">
                <p:childTnLst>
                  <p:par>
                    <p:cTn id="1346" fill="hold">
                      <p:stCondLst>
                        <p:cond delay="0"/>
                      </p:stCondLst>
                      <p:childTnLst>
                        <p:par>
                          <p:cTn id="1347" fill="hold">
                            <p:stCondLst>
                              <p:cond delay="0"/>
                            </p:stCondLst>
                            <p:childTnLst>
                              <p:par>
                                <p:cTn id="1348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50" dur="500"/>
                                        <p:tgtEl>
                                          <p:spTgt spid="4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53" dur="500"/>
                                        <p:tgtEl>
                                          <p:spTgt spid="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56" dur="500"/>
                                        <p:tgtEl>
                                          <p:spTgt spid="4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7" fill="hold">
                      <p:stCondLst>
                        <p:cond delay="indefinite"/>
                      </p:stCondLst>
                      <p:childTnLst>
                        <p:par>
                          <p:cTn id="1358" fill="hold">
                            <p:stCondLst>
                              <p:cond delay="0"/>
                            </p:stCondLst>
                            <p:childTnLst>
                              <p:par>
                                <p:cTn id="135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61" dur="500"/>
                                        <p:tgtEl>
                                          <p:spTgt spid="4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64" dur="500"/>
                                        <p:tgtEl>
                                          <p:spTgt spid="4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67" dur="500"/>
                                        <p:tgtEl>
                                          <p:spTgt spid="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8" fill="hold">
                      <p:stCondLst>
                        <p:cond delay="indefinite"/>
                      </p:stCondLst>
                      <p:childTnLst>
                        <p:par>
                          <p:cTn id="1369" fill="hold">
                            <p:stCondLst>
                              <p:cond delay="0"/>
                            </p:stCondLst>
                            <p:childTnLst>
                              <p:par>
                                <p:cTn id="137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72" dur="500"/>
                                        <p:tgtEl>
                                          <p:spTgt spid="4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75" dur="500"/>
                                        <p:tgtEl>
                                          <p:spTgt spid="4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78" dur="500"/>
                                        <p:tgtEl>
                                          <p:spTgt spid="4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9" fill="hold">
                      <p:stCondLst>
                        <p:cond delay="indefinite"/>
                      </p:stCondLst>
                      <p:childTnLst>
                        <p:par>
                          <p:cTn id="1380" fill="hold">
                            <p:stCondLst>
                              <p:cond delay="0"/>
                            </p:stCondLst>
                            <p:childTnLst>
                              <p:par>
                                <p:cTn id="138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83" dur="500"/>
                                        <p:tgtEl>
                                          <p:spTgt spid="4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86" dur="500"/>
                                        <p:tgtEl>
                                          <p:spTgt spid="4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89" dur="500"/>
                                        <p:tgtEl>
                                          <p:spTgt spid="4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0" fill="hold">
                      <p:stCondLst>
                        <p:cond delay="indefinite"/>
                      </p:stCondLst>
                      <p:childTnLst>
                        <p:par>
                          <p:cTn id="1391" fill="hold">
                            <p:stCondLst>
                              <p:cond delay="0"/>
                            </p:stCondLst>
                            <p:childTnLst>
                              <p:par>
                                <p:cTn id="139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94" dur="500"/>
                                        <p:tgtEl>
                                          <p:spTgt spid="4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97" dur="500"/>
                                        <p:tgtEl>
                                          <p:spTgt spid="4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00" dur="500"/>
                                        <p:tgtEl>
                                          <p:spTgt spid="4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03" dur="500"/>
                                        <p:tgtEl>
                                          <p:spTgt spid="4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06" dur="500"/>
                                        <p:tgtEl>
                                          <p:spTgt spid="4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METHOD 6 · THE FORMULA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The Quadratic Formula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anim_1_a"/>
          <p:cNvSpPr/>
          <p:nvPr/>
        </p:nvSpPr>
        <p:spPr>
          <a:xfrm>
            <a:off x="548640" y="1600200"/>
            <a:ext cx="11091240" cy="1782720"/>
          </a:xfrm>
          <a:prstGeom prst="roundRect">
            <a:avLst>
              <a:gd name="adj" fmla="val 5128"/>
            </a:avLst>
          </a:prstGeom>
          <a:solidFill>
            <a:srgbClr val="16261f"/>
          </a:solidFill>
          <a:ln w="0">
            <a:noFill/>
          </a:ln>
          <a:effectLst>
            <a:outerShdw algn="bl" blurRad="127080" dir="5400000" dist="507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anim_1_a"/>
          <p:cNvSpPr/>
          <p:nvPr/>
        </p:nvSpPr>
        <p:spPr>
          <a:xfrm>
            <a:off x="868680" y="178308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ac2b"/>
                </a:solidFill>
                <a:latin typeface="Cambria"/>
                <a:ea typeface="Cambria"/>
              </a:rPr>
              <a:t>For   ax² + bx + c =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anim_1_a"/>
          <p:cNvSpPr/>
          <p:nvPr/>
        </p:nvSpPr>
        <p:spPr>
          <a:xfrm>
            <a:off x="4892040" y="2221920"/>
            <a:ext cx="24685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–</a:t>
            </a: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b ± √(b</a:t>
            </a:r>
            <a:r>
              <a:rPr b="1" lang="en-US" sz="2200" spc="-1" strike="noStrike" baseline="30000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 – 4ac)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anim_1_a"/>
          <p:cNvSpPr/>
          <p:nvPr/>
        </p:nvSpPr>
        <p:spPr>
          <a:xfrm>
            <a:off x="4928400" y="2697480"/>
            <a:ext cx="2395800" cy="360"/>
          </a:xfrm>
          <a:prstGeom prst="line">
            <a:avLst/>
          </a:prstGeom>
          <a:ln w="25400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anim_1_a"/>
          <p:cNvSpPr/>
          <p:nvPr/>
        </p:nvSpPr>
        <p:spPr>
          <a:xfrm>
            <a:off x="4892040" y="2743200"/>
            <a:ext cx="24685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2a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anim_1_a"/>
          <p:cNvSpPr/>
          <p:nvPr/>
        </p:nvSpPr>
        <p:spPr>
          <a:xfrm>
            <a:off x="3931920" y="2468880"/>
            <a:ext cx="91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mbria"/>
                <a:ea typeface="Cambria"/>
              </a:rPr>
              <a:t>x = 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anim_2_c"/>
          <p:cNvSpPr/>
          <p:nvPr/>
        </p:nvSpPr>
        <p:spPr>
          <a:xfrm>
            <a:off x="548640" y="3611880"/>
            <a:ext cx="11091240" cy="2331360"/>
          </a:xfrm>
          <a:prstGeom prst="roundRect">
            <a:avLst>
              <a:gd name="adj" fmla="val 3922"/>
            </a:avLst>
          </a:prstGeom>
          <a:solidFill>
            <a:srgbClr val="fbeae3"/>
          </a:solidFill>
          <a:ln w="15875">
            <a:solidFill>
              <a:srgbClr val="c84f2f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anim_2_c"/>
          <p:cNvSpPr/>
          <p:nvPr/>
        </p:nvSpPr>
        <p:spPr>
          <a:xfrm>
            <a:off x="868680" y="3794760"/>
            <a:ext cx="10058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148" strike="noStrike">
                <a:solidFill>
                  <a:srgbClr val="c84f2f"/>
                </a:solidFill>
                <a:latin typeface="Calibri"/>
                <a:ea typeface="Calibri"/>
              </a:rPr>
              <a:t>WHEN DO I USE THE FORMULA?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anim_2_c"/>
          <p:cNvSpPr/>
          <p:nvPr/>
        </p:nvSpPr>
        <p:spPr>
          <a:xfrm>
            <a:off x="868680" y="4160520"/>
            <a:ext cx="1033236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If the quadratic </a:t>
            </a: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won't factorise</a:t>
            </a:r>
            <a:r>
              <a:rPr b="0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— the giveaway is when the question asks you to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“give your answer to 2/3 significant figures”</a:t>
            </a:r>
            <a:r>
              <a:rPr b="0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or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“round your answer”</a:t>
            </a:r>
            <a:r>
              <a:rPr b="0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.  A nice whole-number factorisation never needs rounding, so rounding = use the formula.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407" dur="indefinite" restart="never" nodeType="tmRoot">
          <p:childTnLst>
            <p:seq>
              <p:cTn id="1408" dur="indefinite" nodeType="mainSeq">
                <p:childTnLst>
                  <p:par>
                    <p:cTn id="1409" fill="hold">
                      <p:stCondLst>
                        <p:cond delay="0"/>
                      </p:stCondLst>
                      <p:childTnLst>
                        <p:par>
                          <p:cTn id="1410" fill="hold">
                            <p:stCondLst>
                              <p:cond delay="0"/>
                            </p:stCondLst>
                            <p:childTnLst>
                              <p:par>
                                <p:cTn id="141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13" dur="500"/>
                                        <p:tgtEl>
                                          <p:spTgt spid="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16" dur="500"/>
                                        <p:tgtEl>
                                          <p:spTgt spid="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19" dur="500"/>
                                        <p:tgtEl>
                                          <p:spTgt spid="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22" dur="5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25" dur="500"/>
                                        <p:tgtEl>
                                          <p:spTgt spid="5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28" dur="500"/>
                                        <p:tgtEl>
                                          <p:spTgt spid="5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9" fill="hold">
                      <p:stCondLst>
                        <p:cond delay="indefinite"/>
                      </p:stCondLst>
                      <p:childTnLst>
                        <p:par>
                          <p:cTn id="1430" fill="hold">
                            <p:stCondLst>
                              <p:cond delay="0"/>
                            </p:stCondLst>
                            <p:childTnLst>
                              <p:par>
                                <p:cTn id="143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33" dur="500"/>
                                        <p:tgtEl>
                                          <p:spTgt spid="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36" dur="500"/>
                                        <p:tgtEl>
                                          <p:spTgt spid="5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39" dur="500"/>
                                        <p:tgtEl>
                                          <p:spTgt spid="5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METHOD 6 · THE FORMULA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Worked Example — “give answers to 3 s.f.”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anim_1_a"/>
          <p:cNvSpPr/>
          <p:nvPr/>
        </p:nvSpPr>
        <p:spPr>
          <a:xfrm>
            <a:off x="548640" y="1554480"/>
            <a:ext cx="11091240" cy="822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anim_1_a"/>
          <p:cNvSpPr/>
          <p:nvPr/>
        </p:nvSpPr>
        <p:spPr>
          <a:xfrm>
            <a:off x="548640" y="1554480"/>
            <a:ext cx="1109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6261f"/>
                </a:solidFill>
                <a:latin typeface="Cambria"/>
                <a:ea typeface="Cambria"/>
              </a:rPr>
              <a:t>Solve   x</a:t>
            </a:r>
            <a:r>
              <a:rPr b="1" lang="en-US" sz="21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100" spc="-1" strike="noStrike">
                <a:solidFill>
                  <a:srgbClr val="16261f"/>
                </a:solidFill>
                <a:latin typeface="Cambria"/>
                <a:ea typeface="Cambria"/>
              </a:rPr>
              <a:t> – 7x + 8 = 0 ,  giving answers to 3 s.f.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anim_2_c"/>
          <p:cNvSpPr/>
          <p:nvPr/>
        </p:nvSpPr>
        <p:spPr>
          <a:xfrm>
            <a:off x="548640" y="2514600"/>
            <a:ext cx="11091240" cy="3428640"/>
          </a:xfrm>
          <a:prstGeom prst="roundRect">
            <a:avLst>
              <a:gd name="adj" fmla="val 2667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anim_2_c"/>
          <p:cNvSpPr/>
          <p:nvPr/>
        </p:nvSpPr>
        <p:spPr>
          <a:xfrm>
            <a:off x="868680" y="27615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anim_2_c"/>
          <p:cNvSpPr/>
          <p:nvPr/>
        </p:nvSpPr>
        <p:spPr>
          <a:xfrm>
            <a:off x="868680" y="2761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anim_2_c"/>
          <p:cNvSpPr/>
          <p:nvPr/>
        </p:nvSpPr>
        <p:spPr>
          <a:xfrm>
            <a:off x="1417320" y="269748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Identify:   a = 1,  b = –7,  c = 8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anim_3_c"/>
          <p:cNvSpPr/>
          <p:nvPr/>
        </p:nvSpPr>
        <p:spPr>
          <a:xfrm>
            <a:off x="868680" y="34747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anim_3_c"/>
          <p:cNvSpPr/>
          <p:nvPr/>
        </p:nvSpPr>
        <p:spPr>
          <a:xfrm>
            <a:off x="868680" y="34747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anim_3_c"/>
          <p:cNvSpPr/>
          <p:nvPr/>
        </p:nvSpPr>
        <p:spPr>
          <a:xfrm>
            <a:off x="1417320" y="341064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Substitute:   x = ( 7 ± √( (–7)</a:t>
            </a:r>
            <a:r>
              <a:rPr b="1" lang="en-US" sz="16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 – 4×1×8 ) ) ÷ 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anim_4_c"/>
          <p:cNvSpPr/>
          <p:nvPr/>
        </p:nvSpPr>
        <p:spPr>
          <a:xfrm>
            <a:off x="868680" y="4187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anim_4_c"/>
          <p:cNvSpPr/>
          <p:nvPr/>
        </p:nvSpPr>
        <p:spPr>
          <a:xfrm>
            <a:off x="868680" y="4187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anim_4_c"/>
          <p:cNvSpPr/>
          <p:nvPr/>
        </p:nvSpPr>
        <p:spPr>
          <a:xfrm>
            <a:off x="1417320" y="412380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4332d"/>
                </a:solidFill>
                <a:latin typeface="Cambria"/>
                <a:ea typeface="Cambria"/>
              </a:rPr>
              <a:t>Discriminant:   49 – 32 = 17   →   x = ( 7 ± √17 ) ÷ 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anim_5_c"/>
          <p:cNvSpPr/>
          <p:nvPr/>
        </p:nvSpPr>
        <p:spPr>
          <a:xfrm>
            <a:off x="868680" y="4937760"/>
            <a:ext cx="502884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anim_5_c"/>
          <p:cNvSpPr/>
          <p:nvPr/>
        </p:nvSpPr>
        <p:spPr>
          <a:xfrm>
            <a:off x="1051560" y="4937760"/>
            <a:ext cx="4663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e0ac2b"/>
                </a:solidFill>
                <a:latin typeface="Cambria"/>
                <a:ea typeface="Cambria"/>
              </a:rPr>
              <a:t>x = 5.56   or   x = 1.44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anim_5_c"/>
          <p:cNvSpPr/>
          <p:nvPr/>
        </p:nvSpPr>
        <p:spPr>
          <a:xfrm>
            <a:off x="6126480" y="4937760"/>
            <a:ext cx="2742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6a7269"/>
                </a:solidFill>
                <a:latin typeface="Cambria"/>
                <a:ea typeface="Cambria"/>
              </a:rPr>
              <a:t>(to 3 s.f.)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440" dur="indefinite" restart="never" nodeType="tmRoot">
          <p:childTnLst>
            <p:seq>
              <p:cTn id="1441" dur="indefinite" nodeType="mainSeq">
                <p:childTnLst>
                  <p:par>
                    <p:cTn id="1442" fill="hold">
                      <p:stCondLst>
                        <p:cond delay="0"/>
                      </p:stCondLst>
                      <p:childTnLst>
                        <p:par>
                          <p:cTn id="1443" fill="hold">
                            <p:stCondLst>
                              <p:cond delay="0"/>
                            </p:stCondLst>
                            <p:childTnLst>
                              <p:par>
                                <p:cTn id="1444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46" dur="500"/>
                                        <p:tgtEl>
                                          <p:spTgt spid="5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49" dur="500"/>
                                        <p:tgtEl>
                                          <p:spTgt spid="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0" fill="hold">
                      <p:stCondLst>
                        <p:cond delay="indefinite"/>
                      </p:stCondLst>
                      <p:childTnLst>
                        <p:par>
                          <p:cTn id="1451" fill="hold">
                            <p:stCondLst>
                              <p:cond delay="0"/>
                            </p:stCondLst>
                            <p:childTnLst>
                              <p:par>
                                <p:cTn id="145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54" dur="500"/>
                                        <p:tgtEl>
                                          <p:spTgt spid="5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57" dur="500"/>
                                        <p:tgtEl>
                                          <p:spTgt spid="5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60" dur="500"/>
                                        <p:tgtEl>
                                          <p:spTgt spid="5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63" dur="500"/>
                                        <p:tgtEl>
                                          <p:spTgt spid="5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4" fill="hold">
                      <p:stCondLst>
                        <p:cond delay="indefinite"/>
                      </p:stCondLst>
                      <p:childTnLst>
                        <p:par>
                          <p:cTn id="1465" fill="hold">
                            <p:stCondLst>
                              <p:cond delay="0"/>
                            </p:stCondLst>
                            <p:childTnLst>
                              <p:par>
                                <p:cTn id="146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68" dur="500"/>
                                        <p:tgtEl>
                                          <p:spTgt spid="5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71" dur="500"/>
                                        <p:tgtEl>
                                          <p:spTgt spid="5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74" dur="500"/>
                                        <p:tgtEl>
                                          <p:spTgt spid="5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5" fill="hold">
                      <p:stCondLst>
                        <p:cond delay="indefinite"/>
                      </p:stCondLst>
                      <p:childTnLst>
                        <p:par>
                          <p:cTn id="1476" fill="hold">
                            <p:stCondLst>
                              <p:cond delay="0"/>
                            </p:stCondLst>
                            <p:childTnLst>
                              <p:par>
                                <p:cTn id="147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79" dur="500"/>
                                        <p:tgtEl>
                                          <p:spTgt spid="5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82" dur="500"/>
                                        <p:tgtEl>
                                          <p:spTgt spid="5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85" dur="500"/>
                                        <p:tgtEl>
                                          <p:spTgt spid="5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6" fill="hold">
                      <p:stCondLst>
                        <p:cond delay="indefinite"/>
                      </p:stCondLst>
                      <p:childTnLst>
                        <p:par>
                          <p:cTn id="1487" fill="hold">
                            <p:stCondLst>
                              <p:cond delay="0"/>
                            </p:stCondLst>
                            <p:childTnLst>
                              <p:par>
                                <p:cTn id="148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90" dur="500"/>
                                        <p:tgtEl>
                                          <p:spTgt spid="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93" dur="500"/>
                                        <p:tgtEl>
                                          <p:spTgt spid="5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96" dur="500"/>
                                        <p:tgtEl>
                                          <p:spTgt spid="5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THE FORMULA · EXAM 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Solve Using the Quadratic Formula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anim_1_a"/>
          <p:cNvSpPr/>
          <p:nvPr/>
        </p:nvSpPr>
        <p:spPr>
          <a:xfrm>
            <a:off x="548640" y="1691640"/>
            <a:ext cx="5467680" cy="4114440"/>
          </a:xfrm>
          <a:prstGeom prst="roundRect">
            <a:avLst>
              <a:gd name="adj" fmla="val 2222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anim_1_a"/>
          <p:cNvSpPr/>
          <p:nvPr/>
        </p:nvSpPr>
        <p:spPr>
          <a:xfrm>
            <a:off x="868680" y="187452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6261f"/>
                </a:solidFill>
                <a:latin typeface="Cambria"/>
                <a:ea typeface="Cambria"/>
              </a:rPr>
              <a:t>Solve   2x</a:t>
            </a:r>
            <a:r>
              <a:rPr b="1" lang="en-US" sz="21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100" spc="-1" strike="noStrike">
                <a:solidFill>
                  <a:srgbClr val="16261f"/>
                </a:solidFill>
                <a:latin typeface="Cambria"/>
                <a:ea typeface="Cambria"/>
              </a:rPr>
              <a:t> + 6x – 3 = 0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anim_1_a"/>
          <p:cNvSpPr/>
          <p:nvPr/>
        </p:nvSpPr>
        <p:spPr>
          <a:xfrm>
            <a:off x="868680" y="237744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84f2f"/>
                </a:solidFill>
                <a:latin typeface="Calibri"/>
                <a:ea typeface="Calibri"/>
              </a:rPr>
              <a:t>give your answers to 2 d.p.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anim_2_c"/>
          <p:cNvSpPr/>
          <p:nvPr/>
        </p:nvSpPr>
        <p:spPr>
          <a:xfrm>
            <a:off x="868680" y="28072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anim_2_c"/>
          <p:cNvSpPr/>
          <p:nvPr/>
        </p:nvSpPr>
        <p:spPr>
          <a:xfrm>
            <a:off x="868680" y="28072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anim_2_c"/>
          <p:cNvSpPr/>
          <p:nvPr/>
        </p:nvSpPr>
        <p:spPr>
          <a:xfrm>
            <a:off x="1417320" y="27432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a = 2,  b = 6,  c = –3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anim_2_c"/>
          <p:cNvSpPr/>
          <p:nvPr/>
        </p:nvSpPr>
        <p:spPr>
          <a:xfrm>
            <a:off x="868680" y="34473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anim_2_c"/>
          <p:cNvSpPr/>
          <p:nvPr/>
        </p:nvSpPr>
        <p:spPr>
          <a:xfrm>
            <a:off x="868680" y="3447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anim_2_c"/>
          <p:cNvSpPr/>
          <p:nvPr/>
        </p:nvSpPr>
        <p:spPr>
          <a:xfrm>
            <a:off x="1417320" y="338328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b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–4ac = 36 + 24 = 60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anim_3_c"/>
          <p:cNvSpPr/>
          <p:nvPr/>
        </p:nvSpPr>
        <p:spPr>
          <a:xfrm>
            <a:off x="868680" y="4114800"/>
            <a:ext cx="457164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anim_3_c"/>
          <p:cNvSpPr/>
          <p:nvPr/>
        </p:nvSpPr>
        <p:spPr>
          <a:xfrm>
            <a:off x="1051560" y="4114800"/>
            <a:ext cx="4205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 0.44   or   x = –3.44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anim_4_c"/>
          <p:cNvSpPr/>
          <p:nvPr/>
        </p:nvSpPr>
        <p:spPr>
          <a:xfrm>
            <a:off x="6172200" y="1691640"/>
            <a:ext cx="5467680" cy="4114440"/>
          </a:xfrm>
          <a:prstGeom prst="roundRect">
            <a:avLst>
              <a:gd name="adj" fmla="val 2222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anim_4_c"/>
          <p:cNvSpPr/>
          <p:nvPr/>
        </p:nvSpPr>
        <p:spPr>
          <a:xfrm>
            <a:off x="6492240" y="187452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6261f"/>
                </a:solidFill>
                <a:latin typeface="Cambria"/>
                <a:ea typeface="Cambria"/>
              </a:rPr>
              <a:t>Solve   3x</a:t>
            </a:r>
            <a:r>
              <a:rPr b="1" lang="en-US" sz="21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2100" spc="-1" strike="noStrike">
                <a:solidFill>
                  <a:srgbClr val="16261f"/>
                </a:solidFill>
                <a:latin typeface="Cambria"/>
                <a:ea typeface="Cambria"/>
              </a:rPr>
              <a:t> – 5x – 1 = 0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anim_4_c"/>
          <p:cNvSpPr/>
          <p:nvPr/>
        </p:nvSpPr>
        <p:spPr>
          <a:xfrm>
            <a:off x="6492240" y="237744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84f2f"/>
                </a:solidFill>
                <a:latin typeface="Calibri"/>
                <a:ea typeface="Calibri"/>
              </a:rPr>
              <a:t>give your answers to 3 s.f.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anim_5_c"/>
          <p:cNvSpPr/>
          <p:nvPr/>
        </p:nvSpPr>
        <p:spPr>
          <a:xfrm>
            <a:off x="6492240" y="28072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anim_5_c"/>
          <p:cNvSpPr/>
          <p:nvPr/>
        </p:nvSpPr>
        <p:spPr>
          <a:xfrm>
            <a:off x="6492240" y="28072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anim_5_c"/>
          <p:cNvSpPr/>
          <p:nvPr/>
        </p:nvSpPr>
        <p:spPr>
          <a:xfrm>
            <a:off x="7040880" y="27432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a = 3,  b = –5,  c = –1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anim_5_c"/>
          <p:cNvSpPr/>
          <p:nvPr/>
        </p:nvSpPr>
        <p:spPr>
          <a:xfrm>
            <a:off x="6492240" y="34473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anim_5_c"/>
          <p:cNvSpPr/>
          <p:nvPr/>
        </p:nvSpPr>
        <p:spPr>
          <a:xfrm>
            <a:off x="6492240" y="3447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anim_5_c"/>
          <p:cNvSpPr/>
          <p:nvPr/>
        </p:nvSpPr>
        <p:spPr>
          <a:xfrm>
            <a:off x="7040880" y="338328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b</a:t>
            </a:r>
            <a:r>
              <a:rPr b="1" lang="en-US" sz="15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–4ac = 25 + 12 = 37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anim_6_c"/>
          <p:cNvSpPr/>
          <p:nvPr/>
        </p:nvSpPr>
        <p:spPr>
          <a:xfrm>
            <a:off x="6492240" y="4114800"/>
            <a:ext cx="4571640" cy="548280"/>
          </a:xfrm>
          <a:prstGeom prst="roundRect">
            <a:avLst>
              <a:gd name="adj" fmla="val 200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anim_6_c"/>
          <p:cNvSpPr/>
          <p:nvPr/>
        </p:nvSpPr>
        <p:spPr>
          <a:xfrm>
            <a:off x="6675120" y="4114800"/>
            <a:ext cx="4205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 1.85   or   x = –0.180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497" dur="indefinite" restart="never" nodeType="tmRoot">
          <p:childTnLst>
            <p:seq>
              <p:cTn id="1498" dur="indefinite" nodeType="mainSeq">
                <p:childTnLst>
                  <p:par>
                    <p:cTn id="1499" fill="hold">
                      <p:stCondLst>
                        <p:cond delay="0"/>
                      </p:stCondLst>
                      <p:childTnLst>
                        <p:par>
                          <p:cTn id="1500" fill="hold">
                            <p:stCondLst>
                              <p:cond delay="0"/>
                            </p:stCondLst>
                            <p:childTnLst>
                              <p:par>
                                <p:cTn id="150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03" dur="500"/>
                                        <p:tgtEl>
                                          <p:spTgt spid="5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06" dur="500"/>
                                        <p:tgtEl>
                                          <p:spTgt spid="5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09" dur="500"/>
                                        <p:tgtEl>
                                          <p:spTgt spid="5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0" fill="hold">
                      <p:stCondLst>
                        <p:cond delay="indefinite"/>
                      </p:stCondLst>
                      <p:childTnLst>
                        <p:par>
                          <p:cTn id="1511" fill="hold">
                            <p:stCondLst>
                              <p:cond delay="0"/>
                            </p:stCondLst>
                            <p:childTnLst>
                              <p:par>
                                <p:cTn id="151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14" dur="500"/>
                                        <p:tgtEl>
                                          <p:spTgt spid="5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17" dur="500"/>
                                        <p:tgtEl>
                                          <p:spTgt spid="5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20" dur="500"/>
                                        <p:tgtEl>
                                          <p:spTgt spid="5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23" dur="500"/>
                                        <p:tgtEl>
                                          <p:spTgt spid="5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26" dur="500"/>
                                        <p:tgtEl>
                                          <p:spTgt spid="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29" dur="500"/>
                                        <p:tgtEl>
                                          <p:spTgt spid="5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0" fill="hold">
                      <p:stCondLst>
                        <p:cond delay="indefinite"/>
                      </p:stCondLst>
                      <p:childTnLst>
                        <p:par>
                          <p:cTn id="1531" fill="hold">
                            <p:stCondLst>
                              <p:cond delay="0"/>
                            </p:stCondLst>
                            <p:childTnLst>
                              <p:par>
                                <p:cTn id="153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34" dur="500"/>
                                        <p:tgtEl>
                                          <p:spTgt spid="5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37" dur="500"/>
                                        <p:tgtEl>
                                          <p:spTgt spid="5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8" fill="hold">
                      <p:stCondLst>
                        <p:cond delay="indefinite"/>
                      </p:stCondLst>
                      <p:childTnLst>
                        <p:par>
                          <p:cTn id="1539" fill="hold">
                            <p:stCondLst>
                              <p:cond delay="0"/>
                            </p:stCondLst>
                            <p:childTnLst>
                              <p:par>
                                <p:cTn id="154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42" dur="500"/>
                                        <p:tgtEl>
                                          <p:spTgt spid="5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45" dur="500"/>
                                        <p:tgtEl>
                                          <p:spTgt spid="5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48" dur="500"/>
                                        <p:tgtEl>
                                          <p:spTgt spid="5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9" fill="hold">
                      <p:stCondLst>
                        <p:cond delay="indefinite"/>
                      </p:stCondLst>
                      <p:childTnLst>
                        <p:par>
                          <p:cTn id="1550" fill="hold">
                            <p:stCondLst>
                              <p:cond delay="0"/>
                            </p:stCondLst>
                            <p:childTnLst>
                              <p:par>
                                <p:cTn id="155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53" dur="500"/>
                                        <p:tgtEl>
                                          <p:spTgt spid="5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56" dur="500"/>
                                        <p:tgtEl>
                                          <p:spTgt spid="5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59" dur="500"/>
                                        <p:tgtEl>
                                          <p:spTgt spid="5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62" dur="500"/>
                                        <p:tgtEl>
                                          <p:spTgt spid="5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65" dur="500"/>
                                        <p:tgtEl>
                                          <p:spTgt spid="5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68" dur="500"/>
                                        <p:tgtEl>
                                          <p:spTgt spid="5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9" fill="hold">
                      <p:stCondLst>
                        <p:cond delay="indefinite"/>
                      </p:stCondLst>
                      <p:childTnLst>
                        <p:par>
                          <p:cTn id="1570" fill="hold">
                            <p:stCondLst>
                              <p:cond delay="0"/>
                            </p:stCondLst>
                            <p:childTnLst>
                              <p:par>
                                <p:cTn id="157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73" dur="500"/>
                                        <p:tgtEl>
                                          <p:spTgt spid="5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76" dur="500"/>
                                        <p:tgtEl>
                                          <p:spTgt spid="5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THE DISCRIMINANT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b² – 4ac — How Many Solutions?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anim_1_a"/>
          <p:cNvSpPr/>
          <p:nvPr/>
        </p:nvSpPr>
        <p:spPr>
          <a:xfrm>
            <a:off x="548640" y="1691640"/>
            <a:ext cx="3520080" cy="1416960"/>
          </a:xfrm>
          <a:prstGeom prst="roundRect">
            <a:avLst>
              <a:gd name="adj" fmla="val 6452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anim_1_a"/>
          <p:cNvSpPr/>
          <p:nvPr/>
        </p:nvSpPr>
        <p:spPr>
          <a:xfrm>
            <a:off x="548640" y="196596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b² – 4ac &gt;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anim_1_a"/>
          <p:cNvSpPr/>
          <p:nvPr/>
        </p:nvSpPr>
        <p:spPr>
          <a:xfrm>
            <a:off x="548640" y="2468880"/>
            <a:ext cx="3520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two solutions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anim_1_a"/>
          <p:cNvSpPr/>
          <p:nvPr/>
        </p:nvSpPr>
        <p:spPr>
          <a:xfrm>
            <a:off x="4260960" y="1691640"/>
            <a:ext cx="3520080" cy="1416960"/>
          </a:xfrm>
          <a:prstGeom prst="roundRect">
            <a:avLst>
              <a:gd name="adj" fmla="val 6452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anim_1_a"/>
          <p:cNvSpPr/>
          <p:nvPr/>
        </p:nvSpPr>
        <p:spPr>
          <a:xfrm>
            <a:off x="4260960" y="196596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b² – 4ac =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anim_1_a"/>
          <p:cNvSpPr/>
          <p:nvPr/>
        </p:nvSpPr>
        <p:spPr>
          <a:xfrm>
            <a:off x="4260960" y="2468880"/>
            <a:ext cx="3520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one solution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anim_1_a"/>
          <p:cNvSpPr/>
          <p:nvPr/>
        </p:nvSpPr>
        <p:spPr>
          <a:xfrm>
            <a:off x="7973640" y="1691640"/>
            <a:ext cx="3520080" cy="1416960"/>
          </a:xfrm>
          <a:prstGeom prst="roundRect">
            <a:avLst>
              <a:gd name="adj" fmla="val 6452"/>
            </a:avLst>
          </a:prstGeom>
          <a:solidFill>
            <a:srgbClr val="fbeae3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anim_1_a"/>
          <p:cNvSpPr/>
          <p:nvPr/>
        </p:nvSpPr>
        <p:spPr>
          <a:xfrm>
            <a:off x="7973640" y="196596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b² – 4ac &lt;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anim_1_a"/>
          <p:cNvSpPr/>
          <p:nvPr/>
        </p:nvSpPr>
        <p:spPr>
          <a:xfrm>
            <a:off x="7973640" y="2468880"/>
            <a:ext cx="3520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no real solutions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anim_2_c"/>
          <p:cNvSpPr/>
          <p:nvPr/>
        </p:nvSpPr>
        <p:spPr>
          <a:xfrm>
            <a:off x="548640" y="3383280"/>
            <a:ext cx="5467680" cy="2559960"/>
          </a:xfrm>
          <a:prstGeom prst="roundRect">
            <a:avLst>
              <a:gd name="adj" fmla="val 3571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anim_2_c"/>
          <p:cNvSpPr/>
          <p:nvPr/>
        </p:nvSpPr>
        <p:spPr>
          <a:xfrm>
            <a:off x="868680" y="356616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8" strike="noStrike">
                <a:solidFill>
                  <a:srgbClr val="c84f2f"/>
                </a:solidFill>
                <a:latin typeface="Calibri"/>
                <a:ea typeface="Calibri"/>
              </a:rPr>
              <a:t>ONE SOLUTION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anim_2_c"/>
          <p:cNvSpPr/>
          <p:nvPr/>
        </p:nvSpPr>
        <p:spPr>
          <a:xfrm>
            <a:off x="868680" y="388620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Solve   9x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 – 12x + 4 =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anim_2_c"/>
          <p:cNvSpPr/>
          <p:nvPr/>
        </p:nvSpPr>
        <p:spPr>
          <a:xfrm>
            <a:off x="86868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anim_2_c"/>
          <p:cNvSpPr/>
          <p:nvPr/>
        </p:nvSpPr>
        <p:spPr>
          <a:xfrm>
            <a:off x="86868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anim_2_c"/>
          <p:cNvSpPr/>
          <p:nvPr/>
        </p:nvSpPr>
        <p:spPr>
          <a:xfrm>
            <a:off x="1417320" y="43891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b</a:t>
            </a:r>
            <a:r>
              <a:rPr b="1" lang="en-US" sz="14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–4ac = 144 – 144 = 0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anim_2_c"/>
          <p:cNvSpPr/>
          <p:nvPr/>
        </p:nvSpPr>
        <p:spPr>
          <a:xfrm>
            <a:off x="868680" y="5074920"/>
            <a:ext cx="2742840" cy="502560"/>
          </a:xfrm>
          <a:prstGeom prst="roundRect">
            <a:avLst>
              <a:gd name="adj" fmla="val 21818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anim_2_c"/>
          <p:cNvSpPr/>
          <p:nvPr/>
        </p:nvSpPr>
        <p:spPr>
          <a:xfrm>
            <a:off x="1051560" y="5074920"/>
            <a:ext cx="2377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ac2b"/>
                </a:solidFill>
                <a:latin typeface="Cambria"/>
                <a:ea typeface="Cambria"/>
              </a:rPr>
              <a:t>x =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anim_2_c"/>
          <p:cNvSpPr/>
          <p:nvPr/>
        </p:nvSpPr>
        <p:spPr>
          <a:xfrm>
            <a:off x="1828800" y="4855320"/>
            <a:ext cx="4568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anim_2_c"/>
          <p:cNvSpPr/>
          <p:nvPr/>
        </p:nvSpPr>
        <p:spPr>
          <a:xfrm>
            <a:off x="1865160" y="5330880"/>
            <a:ext cx="384120" cy="360"/>
          </a:xfrm>
          <a:prstGeom prst="line">
            <a:avLst/>
          </a:prstGeom>
          <a:ln w="25400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anim_2_c"/>
          <p:cNvSpPr/>
          <p:nvPr/>
        </p:nvSpPr>
        <p:spPr>
          <a:xfrm>
            <a:off x="1828800" y="5376600"/>
            <a:ext cx="4568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mbria"/>
                <a:ea typeface="Cambria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anim_3_c"/>
          <p:cNvSpPr/>
          <p:nvPr/>
        </p:nvSpPr>
        <p:spPr>
          <a:xfrm>
            <a:off x="6172200" y="3383280"/>
            <a:ext cx="5467680" cy="2559960"/>
          </a:xfrm>
          <a:prstGeom prst="roundRect">
            <a:avLst>
              <a:gd name="adj" fmla="val 3571"/>
            </a:avLst>
          </a:prstGeom>
          <a:solidFill>
            <a:srgbClr val="fbeae3"/>
          </a:solidFill>
          <a:ln w="0">
            <a:noFill/>
          </a:ln>
          <a:effectLst>
            <a:outerShdw algn="bl" blurRad="101520" dir="5400000" dist="2556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anim_3_c"/>
          <p:cNvSpPr/>
          <p:nvPr/>
        </p:nvSpPr>
        <p:spPr>
          <a:xfrm>
            <a:off x="6492240" y="356616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48" strike="noStrike">
                <a:solidFill>
                  <a:srgbClr val="c84f2f"/>
                </a:solidFill>
                <a:latin typeface="Calibri"/>
                <a:ea typeface="Calibri"/>
              </a:rPr>
              <a:t>NO REAL SOLUTIONS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anim_3_c"/>
          <p:cNvSpPr/>
          <p:nvPr/>
        </p:nvSpPr>
        <p:spPr>
          <a:xfrm>
            <a:off x="6492240" y="388620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Solve   x</a:t>
            </a:r>
            <a:r>
              <a:rPr b="1" lang="en-US" sz="18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 + x + 3 =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anim_3_c"/>
          <p:cNvSpPr/>
          <p:nvPr/>
        </p:nvSpPr>
        <p:spPr>
          <a:xfrm>
            <a:off x="6492240" y="4453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anim_3_c"/>
          <p:cNvSpPr/>
          <p:nvPr/>
        </p:nvSpPr>
        <p:spPr>
          <a:xfrm>
            <a:off x="6492240" y="4453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anim_3_c"/>
          <p:cNvSpPr/>
          <p:nvPr/>
        </p:nvSpPr>
        <p:spPr>
          <a:xfrm>
            <a:off x="7040880" y="43891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b</a:t>
            </a:r>
            <a:r>
              <a:rPr b="1" lang="en-US" sz="14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–4ac = 1 – 12 = –11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anim_3_c"/>
          <p:cNvSpPr/>
          <p:nvPr/>
        </p:nvSpPr>
        <p:spPr>
          <a:xfrm>
            <a:off x="6492240" y="512064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16261f"/>
                </a:solidFill>
                <a:latin typeface="Cambria"/>
                <a:ea typeface="Cambria"/>
              </a:rPr>
              <a:t>√</a:t>
            </a:r>
            <a:r>
              <a:rPr b="1" lang="en-US" sz="1400" spc="-1" strike="noStrike">
                <a:solidFill>
                  <a:srgbClr val="16261f"/>
                </a:solidFill>
                <a:latin typeface="Cambria"/>
                <a:ea typeface="Cambria"/>
              </a:rPr>
              <a:t>(–11) has no real value — no solutions.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77" dur="indefinite" restart="never" nodeType="tmRoot">
          <p:childTnLst>
            <p:seq>
              <p:cTn id="1578" dur="indefinite" nodeType="mainSeq">
                <p:childTnLst>
                  <p:par>
                    <p:cTn id="1579" fill="hold">
                      <p:stCondLst>
                        <p:cond delay="0"/>
                      </p:stCondLst>
                      <p:childTnLst>
                        <p:par>
                          <p:cTn id="1580" fill="hold">
                            <p:stCondLst>
                              <p:cond delay="0"/>
                            </p:stCondLst>
                            <p:childTnLst>
                              <p:par>
                                <p:cTn id="158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83" dur="500"/>
                                        <p:tgtEl>
                                          <p:spTgt spid="5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86" dur="500"/>
                                        <p:tgtEl>
                                          <p:spTgt spid="5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89" dur="500"/>
                                        <p:tgtEl>
                                          <p:spTgt spid="5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92" dur="500"/>
                                        <p:tgtEl>
                                          <p:spTgt spid="5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95" dur="500"/>
                                        <p:tgtEl>
                                          <p:spTgt spid="5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98" dur="500"/>
                                        <p:tgtEl>
                                          <p:spTgt spid="5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01" dur="500"/>
                                        <p:tgtEl>
                                          <p:spTgt spid="5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04" dur="500"/>
                                        <p:tgtEl>
                                          <p:spTgt spid="5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07" dur="500"/>
                                        <p:tgtEl>
                                          <p:spTgt spid="5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8" fill="hold">
                      <p:stCondLst>
                        <p:cond delay="indefinite"/>
                      </p:stCondLst>
                      <p:childTnLst>
                        <p:par>
                          <p:cTn id="1609" fill="hold">
                            <p:stCondLst>
                              <p:cond delay="0"/>
                            </p:stCondLst>
                            <p:childTnLst>
                              <p:par>
                                <p:cTn id="1610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12" dur="500"/>
                                        <p:tgtEl>
                                          <p:spTgt spid="5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15" dur="500"/>
                                        <p:tgtEl>
                                          <p:spTgt spid="5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18" dur="500"/>
                                        <p:tgtEl>
                                          <p:spTgt spid="5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21" dur="500"/>
                                        <p:tgtEl>
                                          <p:spTgt spid="5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24" dur="500"/>
                                        <p:tgtEl>
                                          <p:spTgt spid="5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27" dur="500"/>
                                        <p:tgtEl>
                                          <p:spTgt spid="5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30" dur="500"/>
                                        <p:tgtEl>
                                          <p:spTgt spid="5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33" dur="500"/>
                                        <p:tgtEl>
                                          <p:spTgt spid="5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36" dur="500"/>
                                        <p:tgtEl>
                                          <p:spTgt spid="5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39" dur="500"/>
                                        <p:tgtEl>
                                          <p:spTgt spid="5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42" dur="500"/>
                                        <p:tgtEl>
                                          <p:spTgt spid="5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3" fill="hold">
                      <p:stCondLst>
                        <p:cond delay="indefinite"/>
                      </p:stCondLst>
                      <p:childTnLst>
                        <p:par>
                          <p:cTn id="1644" fill="hold">
                            <p:stCondLst>
                              <p:cond delay="0"/>
                            </p:stCondLst>
                            <p:childTnLst>
                              <p:par>
                                <p:cTn id="164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47" dur="500"/>
                                        <p:tgtEl>
                                          <p:spTgt spid="5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50" dur="500"/>
                                        <p:tgtEl>
                                          <p:spTgt spid="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53" dur="500"/>
                                        <p:tgtEl>
                                          <p:spTgt spid="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56" dur="500"/>
                                        <p:tgtEl>
                                          <p:spTgt spid="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59" dur="500"/>
                                        <p:tgtEl>
                                          <p:spTgt spid="5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62" dur="500"/>
                                        <p:tgtEl>
                                          <p:spTgt spid="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65" dur="500"/>
                                        <p:tgtEl>
                                          <p:spTgt spid="5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MIXED 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Past-Paper Mix — Choose Your Method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anim_1_a"/>
          <p:cNvSpPr/>
          <p:nvPr/>
        </p:nvSpPr>
        <p:spPr>
          <a:xfrm>
            <a:off x="548640" y="169164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anim_1_a"/>
          <p:cNvSpPr/>
          <p:nvPr/>
        </p:nvSpPr>
        <p:spPr>
          <a:xfrm>
            <a:off x="786240" y="189288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" name="anim_1_a"/>
          <p:cNvSpPr/>
          <p:nvPr/>
        </p:nvSpPr>
        <p:spPr>
          <a:xfrm>
            <a:off x="786240" y="189288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anim_1_a"/>
          <p:cNvSpPr/>
          <p:nvPr/>
        </p:nvSpPr>
        <p:spPr>
          <a:xfrm>
            <a:off x="822960" y="2350080"/>
            <a:ext cx="3017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16c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y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+ 20cy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anim_1_a"/>
          <p:cNvSpPr/>
          <p:nvPr/>
        </p:nvSpPr>
        <p:spPr>
          <a:xfrm>
            <a:off x="4260960" y="169164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anim_1_a"/>
          <p:cNvSpPr/>
          <p:nvPr/>
        </p:nvSpPr>
        <p:spPr>
          <a:xfrm>
            <a:off x="4498920" y="189288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anim_1_a"/>
          <p:cNvSpPr/>
          <p:nvPr/>
        </p:nvSpPr>
        <p:spPr>
          <a:xfrm>
            <a:off x="4498920" y="189288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anim_1_a"/>
          <p:cNvSpPr/>
          <p:nvPr/>
        </p:nvSpPr>
        <p:spPr>
          <a:xfrm>
            <a:off x="4535280" y="2350080"/>
            <a:ext cx="3017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5x – 36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anim_1_a"/>
          <p:cNvSpPr/>
          <p:nvPr/>
        </p:nvSpPr>
        <p:spPr>
          <a:xfrm>
            <a:off x="7973640" y="169164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anim_1_a"/>
          <p:cNvSpPr/>
          <p:nvPr/>
        </p:nvSpPr>
        <p:spPr>
          <a:xfrm>
            <a:off x="8211240" y="189288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anim_1_a"/>
          <p:cNvSpPr/>
          <p:nvPr/>
        </p:nvSpPr>
        <p:spPr>
          <a:xfrm>
            <a:off x="8211240" y="189288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anim_1_a"/>
          <p:cNvSpPr/>
          <p:nvPr/>
        </p:nvSpPr>
        <p:spPr>
          <a:xfrm>
            <a:off x="8247960" y="2350080"/>
            <a:ext cx="3017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5x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44x + 32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anim_2_c"/>
          <p:cNvSpPr/>
          <p:nvPr/>
        </p:nvSpPr>
        <p:spPr>
          <a:xfrm>
            <a:off x="548640" y="379476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anim_2_c"/>
          <p:cNvSpPr/>
          <p:nvPr/>
        </p:nvSpPr>
        <p:spPr>
          <a:xfrm>
            <a:off x="786240" y="399600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anim_2_c"/>
          <p:cNvSpPr/>
          <p:nvPr/>
        </p:nvSpPr>
        <p:spPr>
          <a:xfrm>
            <a:off x="786240" y="399600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49" strike="noStrike">
                <a:solidFill>
                  <a:srgbClr val="ffffff"/>
                </a:solidFill>
                <a:latin typeface="Calibri"/>
                <a:ea typeface="Calibri"/>
              </a:rPr>
              <a:t>SOLVE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anim_2_c"/>
          <p:cNvSpPr/>
          <p:nvPr/>
        </p:nvSpPr>
        <p:spPr>
          <a:xfrm>
            <a:off x="822960" y="4453200"/>
            <a:ext cx="3017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+ 8x + 12 =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anim_2_c"/>
          <p:cNvSpPr/>
          <p:nvPr/>
        </p:nvSpPr>
        <p:spPr>
          <a:xfrm>
            <a:off x="4260960" y="379476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anim_2_c"/>
          <p:cNvSpPr/>
          <p:nvPr/>
        </p:nvSpPr>
        <p:spPr>
          <a:xfrm>
            <a:off x="4498920" y="399600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anim_2_c"/>
          <p:cNvSpPr/>
          <p:nvPr/>
        </p:nvSpPr>
        <p:spPr>
          <a:xfrm>
            <a:off x="4498920" y="399600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49" strike="noStrike">
                <a:solidFill>
                  <a:srgbClr val="ffffff"/>
                </a:solidFill>
                <a:latin typeface="Calibri"/>
                <a:ea typeface="Calibri"/>
              </a:rPr>
              <a:t>SOLVE (3 s.f.)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anim_2_c"/>
          <p:cNvSpPr/>
          <p:nvPr/>
        </p:nvSpPr>
        <p:spPr>
          <a:xfrm>
            <a:off x="4535280" y="4453200"/>
            <a:ext cx="3017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7x + 8 =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anim_2_c"/>
          <p:cNvSpPr/>
          <p:nvPr/>
        </p:nvSpPr>
        <p:spPr>
          <a:xfrm>
            <a:off x="7973640" y="379476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anim_2_c"/>
          <p:cNvSpPr/>
          <p:nvPr/>
        </p:nvSpPr>
        <p:spPr>
          <a:xfrm>
            <a:off x="8211240" y="399600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anim_2_c"/>
          <p:cNvSpPr/>
          <p:nvPr/>
        </p:nvSpPr>
        <p:spPr>
          <a:xfrm>
            <a:off x="8211240" y="399600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49" strike="noStrike">
                <a:solidFill>
                  <a:srgbClr val="ffffff"/>
                </a:solidFill>
                <a:latin typeface="Calibri"/>
                <a:ea typeface="Calibri"/>
              </a:rPr>
              <a:t>FACTORISE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anim_2_c"/>
          <p:cNvSpPr/>
          <p:nvPr/>
        </p:nvSpPr>
        <p:spPr>
          <a:xfrm>
            <a:off x="8247960" y="4453200"/>
            <a:ext cx="3017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9x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800" spc="-1" strike="noStrike">
                <a:solidFill>
                  <a:srgbClr val="24332d"/>
                </a:solidFill>
                <a:latin typeface="Cambria"/>
                <a:ea typeface="Cambria"/>
              </a:rPr>
              <a:t> – 4y</a:t>
            </a:r>
            <a:r>
              <a:rPr b="1" lang="en-US" sz="18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666" dur="indefinite" restart="never" nodeType="tmRoot">
          <p:childTnLst>
            <p:seq>
              <p:cTn id="1667" dur="indefinite" nodeType="mainSeq">
                <p:childTnLst>
                  <p:par>
                    <p:cTn id="1668" fill="hold">
                      <p:stCondLst>
                        <p:cond delay="0"/>
                      </p:stCondLst>
                      <p:childTnLst>
                        <p:par>
                          <p:cTn id="1669" fill="hold">
                            <p:stCondLst>
                              <p:cond delay="0"/>
                            </p:stCondLst>
                            <p:childTnLst>
                              <p:par>
                                <p:cTn id="167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72" dur="500"/>
                                        <p:tgtEl>
                                          <p:spTgt spid="5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75" dur="500"/>
                                        <p:tgtEl>
                                          <p:spTgt spid="5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78" dur="500"/>
                                        <p:tgtEl>
                                          <p:spTgt spid="5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81" dur="500"/>
                                        <p:tgtEl>
                                          <p:spTgt spid="5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84" dur="500"/>
                                        <p:tgtEl>
                                          <p:spTgt spid="5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87" dur="500"/>
                                        <p:tgtEl>
                                          <p:spTgt spid="5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90" dur="500"/>
                                        <p:tgtEl>
                                          <p:spTgt spid="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93" dur="500"/>
                                        <p:tgtEl>
                                          <p:spTgt spid="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96" dur="500"/>
                                        <p:tgtEl>
                                          <p:spTgt spid="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99" dur="500"/>
                                        <p:tgtEl>
                                          <p:spTgt spid="5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02" dur="500"/>
                                        <p:tgtEl>
                                          <p:spTgt spid="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05" dur="500"/>
                                        <p:tgtEl>
                                          <p:spTgt spid="6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6" fill="hold">
                      <p:stCondLst>
                        <p:cond delay="indefinite"/>
                      </p:stCondLst>
                      <p:childTnLst>
                        <p:par>
                          <p:cTn id="1707" fill="hold">
                            <p:stCondLst>
                              <p:cond delay="0"/>
                            </p:stCondLst>
                            <p:childTnLst>
                              <p:par>
                                <p:cTn id="170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10" dur="500"/>
                                        <p:tgtEl>
                                          <p:spTgt spid="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13" dur="500"/>
                                        <p:tgtEl>
                                          <p:spTgt spid="6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16" dur="500"/>
                                        <p:tgtEl>
                                          <p:spTgt spid="6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19" dur="500"/>
                                        <p:tgtEl>
                                          <p:spTgt spid="6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22" dur="500"/>
                                        <p:tgtEl>
                                          <p:spTgt spid="6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25" dur="500"/>
                                        <p:tgtEl>
                                          <p:spTgt spid="6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28" dur="500"/>
                                        <p:tgtEl>
                                          <p:spTgt spid="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31" dur="500"/>
                                        <p:tgtEl>
                                          <p:spTgt spid="6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34" dur="500"/>
                                        <p:tgtEl>
                                          <p:spTgt spid="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37" dur="500"/>
                                        <p:tgtEl>
                                          <p:spTgt spid="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40" dur="500"/>
                                        <p:tgtEl>
                                          <p:spTgt spid="6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43" dur="500"/>
                                        <p:tgtEl>
                                          <p:spTgt spid="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Text 0"/>
          <p:cNvSpPr/>
          <p:nvPr/>
        </p:nvSpPr>
        <p:spPr>
          <a:xfrm>
            <a:off x="10241280" y="3017520"/>
            <a:ext cx="20113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2000" spc="-1" strike="noStrike">
                <a:solidFill>
                  <a:srgbClr val="283731"/>
                </a:solidFill>
                <a:latin typeface="Cambria"/>
                <a:ea typeface="Cambria"/>
              </a:rPr>
              <a:t>x</a:t>
            </a:r>
            <a:endParaRPr b="0" lang="en-US" sz="1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Shape 1"/>
          <p:cNvSpPr/>
          <p:nvPr/>
        </p:nvSpPr>
        <p:spPr>
          <a:xfrm>
            <a:off x="731520" y="640080"/>
            <a:ext cx="639720" cy="63972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kx="0" ky="0" rotWithShape="0" sx="100000" sy="10000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Text 2"/>
          <p:cNvSpPr/>
          <p:nvPr/>
        </p:nvSpPr>
        <p:spPr>
          <a:xfrm>
            <a:off x="731520" y="62172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4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2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 3"/>
          <p:cNvSpPr/>
          <p:nvPr/>
        </p:nvSpPr>
        <p:spPr>
          <a:xfrm>
            <a:off x="1517760" y="676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48" strike="noStrike">
                <a:solidFill>
                  <a:srgbClr val="e0ac2b"/>
                </a:solidFill>
                <a:latin typeface="Calibri"/>
                <a:ea typeface="Calibri"/>
              </a:rPr>
              <a:t>Zπ MATHS HUB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Text 4"/>
          <p:cNvSpPr/>
          <p:nvPr/>
        </p:nvSpPr>
        <p:spPr>
          <a:xfrm>
            <a:off x="731520" y="12801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e0ac2b"/>
                </a:solidFill>
                <a:latin typeface="Cambria"/>
                <a:ea typeface="Cambria"/>
              </a:rPr>
              <a:t>Recap &amp; Resources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anim_1_a"/>
          <p:cNvSpPr/>
          <p:nvPr/>
        </p:nvSpPr>
        <p:spPr>
          <a:xfrm>
            <a:off x="731520" y="205740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anim_1_a"/>
          <p:cNvSpPr/>
          <p:nvPr/>
        </p:nvSpPr>
        <p:spPr>
          <a:xfrm>
            <a:off x="1005840" y="21672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HCF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anim_1_a"/>
          <p:cNvSpPr/>
          <p:nvPr/>
        </p:nvSpPr>
        <p:spPr>
          <a:xfrm>
            <a:off x="1005840" y="247788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factor out the highest common factor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anim_1_a"/>
          <p:cNvSpPr/>
          <p:nvPr/>
        </p:nvSpPr>
        <p:spPr>
          <a:xfrm>
            <a:off x="6172200" y="205740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anim_1_a"/>
          <p:cNvSpPr/>
          <p:nvPr/>
        </p:nvSpPr>
        <p:spPr>
          <a:xfrm>
            <a:off x="6446520" y="21672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a = 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anim_1_a"/>
          <p:cNvSpPr/>
          <p:nvPr/>
        </p:nvSpPr>
        <p:spPr>
          <a:xfrm>
            <a:off x="6446520" y="247788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product &amp; sum: multiply to c, add to b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anim_2_c"/>
          <p:cNvSpPr/>
          <p:nvPr/>
        </p:nvSpPr>
        <p:spPr>
          <a:xfrm>
            <a:off x="731520" y="301752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anim_2_c"/>
          <p:cNvSpPr/>
          <p:nvPr/>
        </p:nvSpPr>
        <p:spPr>
          <a:xfrm>
            <a:off x="1005840" y="312732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a ≠ 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anim_2_c"/>
          <p:cNvSpPr/>
          <p:nvPr/>
        </p:nvSpPr>
        <p:spPr>
          <a:xfrm>
            <a:off x="1005840" y="343800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ac method: split the middle term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anim_2_c"/>
          <p:cNvSpPr/>
          <p:nvPr/>
        </p:nvSpPr>
        <p:spPr>
          <a:xfrm>
            <a:off x="6172200" y="301752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anim_2_c"/>
          <p:cNvSpPr/>
          <p:nvPr/>
        </p:nvSpPr>
        <p:spPr>
          <a:xfrm>
            <a:off x="6446520" y="312732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Difference of squares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anim_2_c"/>
          <p:cNvSpPr/>
          <p:nvPr/>
        </p:nvSpPr>
        <p:spPr>
          <a:xfrm>
            <a:off x="6446520" y="343800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(√ + √)(√ – √); factor out HCF first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anim_3_c"/>
          <p:cNvSpPr/>
          <p:nvPr/>
        </p:nvSpPr>
        <p:spPr>
          <a:xfrm>
            <a:off x="731520" y="397764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anim_3_c"/>
          <p:cNvSpPr/>
          <p:nvPr/>
        </p:nvSpPr>
        <p:spPr>
          <a:xfrm>
            <a:off x="1005840" y="408744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Solving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anim_3_c"/>
          <p:cNvSpPr/>
          <p:nvPr/>
        </p:nvSpPr>
        <p:spPr>
          <a:xfrm>
            <a:off x="1005840" y="43981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make = 0, factorise, each bracket = 0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anim_3_c"/>
          <p:cNvSpPr/>
          <p:nvPr/>
        </p:nvSpPr>
        <p:spPr>
          <a:xfrm>
            <a:off x="6172200" y="397764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anim_3_c"/>
          <p:cNvSpPr/>
          <p:nvPr/>
        </p:nvSpPr>
        <p:spPr>
          <a:xfrm>
            <a:off x="6446520" y="408744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Formula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anim_3_c"/>
          <p:cNvSpPr/>
          <p:nvPr/>
        </p:nvSpPr>
        <p:spPr>
          <a:xfrm>
            <a:off x="6446520" y="43981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use it when asked to round / s.f.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anim_3_c"/>
          <p:cNvSpPr/>
          <p:nvPr/>
        </p:nvSpPr>
        <p:spPr>
          <a:xfrm>
            <a:off x="731520" y="5074920"/>
            <a:ext cx="10926720" cy="868320"/>
          </a:xfrm>
          <a:prstGeom prst="roundRect">
            <a:avLst>
              <a:gd name="adj" fmla="val 12632"/>
            </a:avLst>
          </a:prstGeom>
          <a:solidFill>
            <a:srgbClr val="16261f"/>
          </a:solidFill>
          <a:ln w="15875">
            <a:solidFill>
              <a:srgbClr val="28373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anim_3_c"/>
          <p:cNvSpPr/>
          <p:nvPr/>
        </p:nvSpPr>
        <p:spPr>
          <a:xfrm>
            <a:off x="1051560" y="5139000"/>
            <a:ext cx="10423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 u="sng">
                <a:solidFill>
                  <a:srgbClr val="e0ac2b"/>
                </a:solidFill>
                <a:uFillTx/>
                <a:latin typeface="Calibri"/>
                <a:ea typeface="Calibri"/>
              </a:rPr>
              <a:t>Practice:  </a:t>
            </a:r>
            <a:r>
              <a:rPr b="0" lang="en-US" sz="1250" spc="-1" strike="noStrike" u="sng">
                <a:solidFill>
                  <a:srgbClr val="edebdd"/>
                </a:solidFill>
                <a:uFillTx/>
                <a:latin typeface="Calibri"/>
                <a:ea typeface="Calibri"/>
              </a:rPr>
              <a:t>wordwall.net — factorising trinomials        ✉ zahraa.sheikhali@outlook.com  ·  ☎ 66613748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anim_3_c"/>
          <p:cNvSpPr/>
          <p:nvPr/>
        </p:nvSpPr>
        <p:spPr>
          <a:xfrm>
            <a:off x="1051560" y="5523120"/>
            <a:ext cx="10058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a7269"/>
                </a:solidFill>
                <a:latin typeface="Calibri"/>
                <a:ea typeface="Calibri"/>
              </a:rPr>
              <a:t>Ms. Zahra Sheikh Ali  ·  Pearson Edexcel IGCSE (9–1) Mathematics A  ·  Higher Tier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744" dur="indefinite" restart="never" nodeType="tmRoot">
          <p:childTnLst>
            <p:seq>
              <p:cTn id="1745" dur="indefinite" nodeType="mainSeq">
                <p:childTnLst>
                  <p:par>
                    <p:cTn id="1746" fill="hold">
                      <p:stCondLst>
                        <p:cond delay="0"/>
                      </p:stCondLst>
                      <p:childTnLst>
                        <p:par>
                          <p:cTn id="1747" fill="hold">
                            <p:stCondLst>
                              <p:cond delay="0"/>
                            </p:stCondLst>
                            <p:childTnLst>
                              <p:par>
                                <p:cTn id="1748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50" dur="500"/>
                                        <p:tgtEl>
                                          <p:spTgt spid="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53" dur="500"/>
                                        <p:tgtEl>
                                          <p:spTgt spid="6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56" dur="500"/>
                                        <p:tgtEl>
                                          <p:spTgt spid="6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59" dur="500"/>
                                        <p:tgtEl>
                                          <p:spTgt spid="6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62" dur="500"/>
                                        <p:tgtEl>
                                          <p:spTgt spid="6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65" dur="50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6" fill="hold">
                      <p:stCondLst>
                        <p:cond delay="indefinite"/>
                      </p:stCondLst>
                      <p:childTnLst>
                        <p:par>
                          <p:cTn id="1767" fill="hold">
                            <p:stCondLst>
                              <p:cond delay="0"/>
                            </p:stCondLst>
                            <p:childTnLst>
                              <p:par>
                                <p:cTn id="176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70" dur="500"/>
                                        <p:tgtEl>
                                          <p:spTgt spid="6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73" dur="500"/>
                                        <p:tgtEl>
                                          <p:spTgt spid="6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76" dur="500"/>
                                        <p:tgtEl>
                                          <p:spTgt spid="6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79" dur="500"/>
                                        <p:tgtEl>
                                          <p:spTgt spid="6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82" dur="500"/>
                                        <p:tgtEl>
                                          <p:spTgt spid="6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85" dur="500"/>
                                        <p:tgtEl>
                                          <p:spTgt spid="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6" fill="hold">
                      <p:stCondLst>
                        <p:cond delay="indefinite"/>
                      </p:stCondLst>
                      <p:childTnLst>
                        <p:par>
                          <p:cTn id="1787" fill="hold">
                            <p:stCondLst>
                              <p:cond delay="0"/>
                            </p:stCondLst>
                            <p:childTnLst>
                              <p:par>
                                <p:cTn id="1788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90" dur="50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93" dur="500"/>
                                        <p:tgtEl>
                                          <p:spTgt spid="6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96" dur="500"/>
                                        <p:tgtEl>
                                          <p:spTgt spid="6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99" dur="500"/>
                                        <p:tgtEl>
                                          <p:spTgt spid="6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02" dur="500"/>
                                        <p:tgtEl>
                                          <p:spTgt spid="6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05" dur="500"/>
                                        <p:tgtEl>
                                          <p:spTgt spid="6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08" dur="500"/>
                                        <p:tgtEl>
                                          <p:spTgt spid="6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11" dur="500"/>
                                        <p:tgtEl>
                                          <p:spTgt spid="6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14" dur="500"/>
                                        <p:tgtEl>
                                          <p:spTgt spid="6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2026-06-28T09:37:02Z</dcterms:created>
  <dc:creator>Zahra Sheikh Ali</dc:creator>
  <dc:description/>
  <dc:language>en-US</dc:language>
  <cp:lastModifiedBy>Zahra Sheikh Ali</cp:lastModifiedBy>
  <dcterms:modified xsi:type="dcterms:W3CDTF">2026-06-28T09:37:02Z</dcterms:modified>
  <cp:revision>1</cp:revision>
  <dc:subject>PptxGenJS Presentation</dc:subject>
  <dc:title>Expanding Brackets — IGCSE Mathematics (Higher Tier)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27</vt:r8>
  </property>
  <property fmtid="{D5CDD505-2E9C-101B-9397-08002B2CF9AE}" pid="3" name="PresentationFormat">
    <vt:lpwstr>On-screen Show (16:9)</vt:lpwstr>
  </property>
  <property fmtid="{D5CDD505-2E9C-101B-9397-08002B2CF9AE}" pid="4" name="Slides">
    <vt:r8>27</vt:r8>
  </property>
</Properties>
</file>