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8x–20 = 4(2x–5).  10x²–15xy = 5x(2x–3y).  9ef–12f = 3f(3e–4).  5y+20y³ = 5y(1+4y²).  10x²+6xy = 2x(5x+3y).  25a⁴c⁷d+45a⁹c³h = 5a⁴c³(5c⁴d+9a⁵h).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— x²+6x–16=(x+8)(x–2); y²–2y–48=(y–8)(y+6); y²–9y+14=(y–7)(y–2).  Now try — 1:(x+3)(x+4). 2:(x–5)(x+4). 3:(x–3)(x–5).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x²+2x–24=(x+6)(x–4).  x²–5x–36=(x–9)(x+4).  x²+6x–16=(x+8)(x–2).  y²–9y+14=(y–7)(y–2).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try — 1: (2x+1)(x+3). 2: (3x+2)(x+2). 3: (2x+1)(x–3).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2x²–7x+6=(2x–3)(x–2).  4x²+x–5=(4x+5)(x–1).  6x²–x–12=(3x+4)(2x–3).  5x²–44x+32=(5x–4)(x–8).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try — 1:(x+3)(x–3). 2:(x+8)(x–8). 3:(x+12)(x–12). 4:(x+20)(x–20).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try — 1:(3x+2y)(3x–2y). 2:(2c+3d³)(2c–3d³). 3:(5m+4)(5m–4).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4c²–9d⁶=(2c+3d³)(2c–3d³).  a⁴–144=(a²+12)(a²–12).  2a²–18=2(a+3)(a–3).  (12x–y)²–(4x–3y)²=(16x–4y)(8x+2y)=8(4x–y)(4x+y).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solve — 1: (x+2)(x+6)=0 → x=–2, x=–6. 2: (x–3)(x–4)=0 → x=3, x=4. 3: (x+10)(x–10)=0 → x=±10.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(a) 2x²–7x+6=(2x–3)(x–2).  (b) x=3/2 (1.5) or x=2.  Combined: 6x²–x–12=(3x+4)(2x–3)=0 → x=–4/3 or x=3/2.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2x²+6x–3=0 → x=(–6±√60)/4 → 0.44 or –3.44 (2 d.p.).  Q2: 3x²–5x–1=0 → x=(5±√37)/6 → 1.85 or –0.180 (3 s.f.).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16c²y³+20cy⁵ = 4cy³(4c+5y²).  x²–5x–36=(x–9)(x+4).  5x²–44x+32=(5x–4)(x–8).  x²+8x+12=0 → x=–2,–6.  x²–7x+8=0 → x=5.56 or 1.44 (3 s.f.).  9x²–4y²=(3x+2y)(3x–2y).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8229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10332720" y="1005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621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496" dirty="0"/>
          </a:p>
        </p:txBody>
      </p:sp>
      <p:sp>
        <p:nvSpPr>
          <p:cNvPr id="6" name="Text 4"/>
          <p:cNvSpPr/>
          <p:nvPr/>
        </p:nvSpPr>
        <p:spPr>
          <a:xfrm>
            <a:off x="1627632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950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8" name="anim_1_a"/>
          <p:cNvSpPr/>
          <p:nvPr/>
        </p:nvSpPr>
        <p:spPr>
          <a:xfrm>
            <a:off x="731520" y="1828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Factorising &amp; Solving Quadratics</a:t>
            </a:r>
            <a:endParaRPr lang="en-US" sz="4000" dirty="0"/>
          </a:p>
        </p:txBody>
      </p:sp>
      <p:sp>
        <p:nvSpPr>
          <p:cNvPr id="9" name="anim_2_a"/>
          <p:cNvSpPr/>
          <p:nvPr/>
        </p:nvSpPr>
        <p:spPr>
          <a:xfrm>
            <a:off x="758952" y="2926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HCF · a = 1 · a ≠ 1 (ac) · Difference of Squares · Solving · The Formula</a:t>
            </a:r>
            <a:endParaRPr lang="en-US" sz="1600" dirty="0"/>
          </a:p>
        </p:txBody>
      </p:sp>
      <p:sp>
        <p:nvSpPr>
          <p:cNvPr id="10" name="anim_3_a"/>
          <p:cNvSpPr/>
          <p:nvPr/>
        </p:nvSpPr>
        <p:spPr>
          <a:xfrm>
            <a:off x="731520" y="4114800"/>
            <a:ext cx="6858000" cy="1627632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anim_3_a"/>
          <p:cNvSpPr/>
          <p:nvPr/>
        </p:nvSpPr>
        <p:spPr>
          <a:xfrm>
            <a:off x="1005840" y="4297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100" dirty="0"/>
          </a:p>
        </p:txBody>
      </p:sp>
      <p:sp>
        <p:nvSpPr>
          <p:cNvPr id="12" name="anim_3_a"/>
          <p:cNvSpPr/>
          <p:nvPr/>
        </p:nvSpPr>
        <p:spPr>
          <a:xfrm>
            <a:off x="1005840" y="46908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 Mathematics Teacher  ·  M.Sc. Differential Geometry &amp; Geometric Control</a:t>
            </a:r>
            <a:endParaRPr lang="en-US" sz="1200" dirty="0"/>
          </a:p>
        </p:txBody>
      </p:sp>
      <p:sp>
        <p:nvSpPr>
          <p:cNvPr id="13" name="anim_3_a"/>
          <p:cNvSpPr/>
          <p:nvPr/>
        </p:nvSpPr>
        <p:spPr>
          <a:xfrm>
            <a:off x="1005840" y="5129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✉  zahraa.sheikhali@outlook.com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Factorising = the Reverse of Expanding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72768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572768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3(x + 2) = 3x + 6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       </a:t>
            </a:r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 + 6 = 3(x + 2)</a:t>
            </a:r>
            <a:endParaRPr lang="en-US" sz="2000" dirty="0"/>
          </a:p>
        </p:txBody>
      </p:sp>
      <p:sp>
        <p:nvSpPr>
          <p:cNvPr id="8" name="anim_2_c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LEARN FIVE METHODS</a:t>
            </a:r>
            <a:endParaRPr lang="en-US" sz="1200" dirty="0"/>
          </a:p>
        </p:txBody>
      </p:sp>
      <p:sp>
        <p:nvSpPr>
          <p:cNvPr id="9" name="anim_2_c"/>
          <p:cNvSpPr/>
          <p:nvPr/>
        </p:nvSpPr>
        <p:spPr>
          <a:xfrm>
            <a:off x="548640" y="32918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anim_2_c"/>
          <p:cNvSpPr/>
          <p:nvPr/>
        </p:nvSpPr>
        <p:spPr>
          <a:xfrm>
            <a:off x="804672" y="3621024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04672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anim_2_c"/>
          <p:cNvSpPr/>
          <p:nvPr/>
        </p:nvSpPr>
        <p:spPr>
          <a:xfrm>
            <a:off x="1463040" y="3291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factor (HCF)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4261104" y="32918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4517136" y="3621024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2_c"/>
          <p:cNvSpPr/>
          <p:nvPr/>
        </p:nvSpPr>
        <p:spPr>
          <a:xfrm>
            <a:off x="4517136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anim_2_c"/>
          <p:cNvSpPr/>
          <p:nvPr/>
        </p:nvSpPr>
        <p:spPr>
          <a:xfrm>
            <a:off x="5175504" y="3291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Quadratics, a = 1 (product &amp; sum)</a:t>
            </a:r>
            <a:endParaRPr lang="en-US" sz="1400" dirty="0"/>
          </a:p>
        </p:txBody>
      </p:sp>
      <p:sp>
        <p:nvSpPr>
          <p:cNvPr id="17" name="anim_2_c"/>
          <p:cNvSpPr/>
          <p:nvPr/>
        </p:nvSpPr>
        <p:spPr>
          <a:xfrm>
            <a:off x="7973568" y="32918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anim_2_c"/>
          <p:cNvSpPr/>
          <p:nvPr/>
        </p:nvSpPr>
        <p:spPr>
          <a:xfrm>
            <a:off x="8229600" y="3621024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2_c"/>
          <p:cNvSpPr/>
          <p:nvPr/>
        </p:nvSpPr>
        <p:spPr>
          <a:xfrm>
            <a:off x="822960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anim_2_c"/>
          <p:cNvSpPr/>
          <p:nvPr/>
        </p:nvSpPr>
        <p:spPr>
          <a:xfrm>
            <a:off x="8887968" y="3291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Quadratics, a ≠ 1 (ac method)</a:t>
            </a:r>
            <a:endParaRPr lang="en-US" sz="1400" dirty="0"/>
          </a:p>
        </p:txBody>
      </p:sp>
      <p:sp>
        <p:nvSpPr>
          <p:cNvPr id="21" name="anim_3_c"/>
          <p:cNvSpPr/>
          <p:nvPr/>
        </p:nvSpPr>
        <p:spPr>
          <a:xfrm>
            <a:off x="548640" y="459028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anim_3_c"/>
          <p:cNvSpPr/>
          <p:nvPr/>
        </p:nvSpPr>
        <p:spPr>
          <a:xfrm>
            <a:off x="804672" y="4919472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3" name="anim_3_c"/>
          <p:cNvSpPr/>
          <p:nvPr/>
        </p:nvSpPr>
        <p:spPr>
          <a:xfrm>
            <a:off x="804672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anim_3_c"/>
          <p:cNvSpPr/>
          <p:nvPr/>
        </p:nvSpPr>
        <p:spPr>
          <a:xfrm>
            <a:off x="1463040" y="4590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of two squares</a:t>
            </a:r>
            <a:endParaRPr lang="en-US" sz="1400" dirty="0"/>
          </a:p>
        </p:txBody>
      </p:sp>
      <p:sp>
        <p:nvSpPr>
          <p:cNvPr id="25" name="anim_3_c"/>
          <p:cNvSpPr/>
          <p:nvPr/>
        </p:nvSpPr>
        <p:spPr>
          <a:xfrm>
            <a:off x="4261104" y="4590288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anim_3_c"/>
          <p:cNvSpPr/>
          <p:nvPr/>
        </p:nvSpPr>
        <p:spPr>
          <a:xfrm>
            <a:off x="4517136" y="4919472"/>
            <a:ext cx="502920" cy="50292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7" name="anim_3_c"/>
          <p:cNvSpPr/>
          <p:nvPr/>
        </p:nvSpPr>
        <p:spPr>
          <a:xfrm>
            <a:off x="4517136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anim_3_c"/>
          <p:cNvSpPr/>
          <p:nvPr/>
        </p:nvSpPr>
        <p:spPr>
          <a:xfrm>
            <a:off x="5175504" y="4590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— factorise &amp; the formula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· HCF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Factor (HCF)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find the HCF of the terms    2) write it outside the bracket    3) divide each term by it.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  3x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+ 9x</a:t>
            </a:r>
            <a:endParaRPr lang="en-US" sz="2800" dirty="0"/>
          </a:p>
        </p:txBody>
      </p:sp>
      <p:sp>
        <p:nvSpPr>
          <p:cNvPr id="10" name="anim_2_c"/>
          <p:cNvSpPr/>
          <p:nvPr/>
        </p:nvSpPr>
        <p:spPr>
          <a:xfrm>
            <a:off x="548640" y="3474720"/>
            <a:ext cx="11091672" cy="2468880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749040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6850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HCF of 3x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9x is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389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each term by 3x:   3x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3x = x,   9x ÷ 3x = 3</a:t>
            </a:r>
            <a:endParaRPr lang="en-US" sz="1600" dirty="0"/>
          </a:p>
        </p:txBody>
      </p:sp>
      <p:sp>
        <p:nvSpPr>
          <p:cNvPr id="17" name="anim_4_c"/>
          <p:cNvSpPr/>
          <p:nvPr/>
        </p:nvSpPr>
        <p:spPr>
          <a:xfrm>
            <a:off x="868680" y="5166360"/>
            <a:ext cx="457200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51663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3x(x + 3)</a:t>
            </a:r>
            <a:endParaRPr lang="en-US" sz="2200" dirty="0"/>
          </a:p>
        </p:txBody>
      </p:sp>
      <p:sp>
        <p:nvSpPr>
          <p:cNvPr id="19" name="anim_4_c"/>
          <p:cNvSpPr/>
          <p:nvPr/>
        </p:nvSpPr>
        <p:spPr>
          <a:xfrm>
            <a:off x="5760720" y="516636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by expanding: 3x(x + 3) = 3x² + 9x ✓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· HCF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Worked Examples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 + 4</a:t>
            </a:r>
            <a:endParaRPr lang="en-US" sz="2200" dirty="0"/>
          </a:p>
        </p:txBody>
      </p:sp>
      <p:sp>
        <p:nvSpPr>
          <p:cNvPr id="8" name="anim_1_a"/>
          <p:cNvSpPr/>
          <p:nvPr/>
        </p:nvSpPr>
        <p:spPr>
          <a:xfrm>
            <a:off x="868680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 = 2</a:t>
            </a:r>
            <a:endParaRPr lang="en-US" sz="1400" dirty="0"/>
          </a:p>
        </p:txBody>
      </p:sp>
      <p:sp>
        <p:nvSpPr>
          <p:cNvPr id="9" name="anim_1_a"/>
          <p:cNvSpPr/>
          <p:nvPr/>
        </p:nvSpPr>
        <p:spPr>
          <a:xfrm>
            <a:off x="868680" y="299008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10" name="anim_1_a"/>
          <p:cNvSpPr/>
          <p:nvPr/>
        </p:nvSpPr>
        <p:spPr>
          <a:xfrm>
            <a:off x="868680" y="2990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2(x + 2)</a:t>
            </a:r>
            <a:endParaRPr lang="en-US" sz="2000" dirty="0"/>
          </a:p>
        </p:txBody>
      </p:sp>
      <p:sp>
        <p:nvSpPr>
          <p:cNvPr id="11" name="anim_2_c"/>
          <p:cNvSpPr/>
          <p:nvPr/>
        </p:nvSpPr>
        <p:spPr>
          <a:xfrm>
            <a:off x="6199632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nim_2_c"/>
          <p:cNvSpPr/>
          <p:nvPr/>
        </p:nvSpPr>
        <p:spPr>
          <a:xfrm>
            <a:off x="6519672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2xy + 4x</a:t>
            </a:r>
            <a:endParaRPr lang="en-US" sz="2200" dirty="0"/>
          </a:p>
        </p:txBody>
      </p:sp>
      <p:sp>
        <p:nvSpPr>
          <p:cNvPr id="13" name="anim_2_c"/>
          <p:cNvSpPr/>
          <p:nvPr/>
        </p:nvSpPr>
        <p:spPr>
          <a:xfrm>
            <a:off x="6519672" y="2624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 = 2x</a:t>
            </a:r>
            <a:endParaRPr lang="en-US" sz="1400" dirty="0"/>
          </a:p>
        </p:txBody>
      </p:sp>
      <p:sp>
        <p:nvSpPr>
          <p:cNvPr id="14" name="anim_2_c"/>
          <p:cNvSpPr/>
          <p:nvPr/>
        </p:nvSpPr>
        <p:spPr>
          <a:xfrm>
            <a:off x="6519672" y="299008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15" name="anim_2_c"/>
          <p:cNvSpPr/>
          <p:nvPr/>
        </p:nvSpPr>
        <p:spPr>
          <a:xfrm>
            <a:off x="6519672" y="2990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2x(y + 2)</a:t>
            </a:r>
            <a:endParaRPr lang="en-US" sz="2000" dirty="0"/>
          </a:p>
        </p:txBody>
      </p:sp>
      <p:sp>
        <p:nvSpPr>
          <p:cNvPr id="16" name="anim_3_c"/>
          <p:cNvSpPr/>
          <p:nvPr/>
        </p:nvSpPr>
        <p:spPr>
          <a:xfrm>
            <a:off x="548640" y="37947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_3_c"/>
          <p:cNvSpPr/>
          <p:nvPr/>
        </p:nvSpPr>
        <p:spPr>
          <a:xfrm>
            <a:off x="86868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+ 6xy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anim_3_c"/>
          <p:cNvSpPr/>
          <p:nvPr/>
        </p:nvSpPr>
        <p:spPr>
          <a:xfrm>
            <a:off x="868680" y="4636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 = 2xy</a:t>
            </a:r>
            <a:endParaRPr lang="en-US" sz="1400" dirty="0"/>
          </a:p>
        </p:txBody>
      </p:sp>
      <p:sp>
        <p:nvSpPr>
          <p:cNvPr id="19" name="anim_3_c"/>
          <p:cNvSpPr/>
          <p:nvPr/>
        </p:nvSpPr>
        <p:spPr>
          <a:xfrm>
            <a:off x="868680" y="500176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20" name="anim_3_c"/>
          <p:cNvSpPr/>
          <p:nvPr/>
        </p:nvSpPr>
        <p:spPr>
          <a:xfrm>
            <a:off x="868680" y="5001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2xy(2x + 3y)</a:t>
            </a:r>
            <a:endParaRPr lang="en-US" sz="1900" dirty="0"/>
          </a:p>
        </p:txBody>
      </p:sp>
      <p:sp>
        <p:nvSpPr>
          <p:cNvPr id="21" name="anim_4_c"/>
          <p:cNvSpPr/>
          <p:nvPr/>
        </p:nvSpPr>
        <p:spPr>
          <a:xfrm>
            <a:off x="6199632" y="37947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anim_4_c"/>
          <p:cNvSpPr/>
          <p:nvPr/>
        </p:nvSpPr>
        <p:spPr>
          <a:xfrm>
            <a:off x="6519672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</a:t>
            </a:r>
            <a:endParaRPr lang="en-US" sz="2200" dirty="0"/>
          </a:p>
        </p:txBody>
      </p:sp>
      <p:sp>
        <p:nvSpPr>
          <p:cNvPr id="23" name="anim_4_c"/>
          <p:cNvSpPr/>
          <p:nvPr/>
        </p:nvSpPr>
        <p:spPr>
          <a:xfrm>
            <a:off x="6519672" y="4636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 = x</a:t>
            </a:r>
            <a:endParaRPr lang="en-US" sz="1400" dirty="0"/>
          </a:p>
        </p:txBody>
      </p:sp>
      <p:sp>
        <p:nvSpPr>
          <p:cNvPr id="24" name="anim_4_c"/>
          <p:cNvSpPr/>
          <p:nvPr/>
        </p:nvSpPr>
        <p:spPr>
          <a:xfrm>
            <a:off x="6519672" y="500176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</p:spPr>
      </p:sp>
      <p:sp>
        <p:nvSpPr>
          <p:cNvPr id="25" name="anim_4_c"/>
          <p:cNvSpPr/>
          <p:nvPr/>
        </p:nvSpPr>
        <p:spPr>
          <a:xfrm>
            <a:off x="6519672" y="5001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x(y + 1)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 · HCF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Fully — 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9" name="anim_1_a"/>
          <p:cNvSpPr/>
          <p:nvPr/>
        </p:nvSpPr>
        <p:spPr>
          <a:xfrm>
            <a:off x="822960" y="229514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8x – 20</a:t>
            </a:r>
            <a:endParaRPr lang="en-US" sz="1900" dirty="0"/>
          </a:p>
        </p:txBody>
      </p:sp>
      <p:sp>
        <p:nvSpPr>
          <p:cNvPr id="10" name="anim_1_a"/>
          <p:cNvSpPr/>
          <p:nvPr/>
        </p:nvSpPr>
        <p:spPr>
          <a:xfrm>
            <a:off x="4261104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4498848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4498848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13" name="anim_1_a"/>
          <p:cNvSpPr/>
          <p:nvPr/>
        </p:nvSpPr>
        <p:spPr>
          <a:xfrm>
            <a:off x="4535424" y="229514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pPr indent="0" marL="0">
              <a:lnSpc>
                <a:spcPct val="110000"/>
              </a:lnSpc>
              <a:buNone/>
            </a:pPr>
            <a:r>
              <a:rPr lang="en-US" sz="19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15xy</a:t>
            </a:r>
            <a:endParaRPr lang="en-US" sz="1900" dirty="0"/>
          </a:p>
        </p:txBody>
      </p:sp>
      <p:sp>
        <p:nvSpPr>
          <p:cNvPr id="14" name="anim_1_a"/>
          <p:cNvSpPr/>
          <p:nvPr/>
        </p:nvSpPr>
        <p:spPr>
          <a:xfrm>
            <a:off x="7973568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_1_a"/>
          <p:cNvSpPr/>
          <p:nvPr/>
        </p:nvSpPr>
        <p:spPr>
          <a:xfrm>
            <a:off x="8211312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1_a"/>
          <p:cNvSpPr/>
          <p:nvPr/>
        </p:nvSpPr>
        <p:spPr>
          <a:xfrm>
            <a:off x="8211312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17" name="anim_1_a"/>
          <p:cNvSpPr/>
          <p:nvPr/>
        </p:nvSpPr>
        <p:spPr>
          <a:xfrm>
            <a:off x="8247888" y="229514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9ef – 12f</a:t>
            </a:r>
            <a:endParaRPr lang="en-US" sz="1900" dirty="0"/>
          </a:p>
        </p:txBody>
      </p:sp>
      <p:sp>
        <p:nvSpPr>
          <p:cNvPr id="18" name="anim_2_c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786384" y="399592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786384" y="3995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21" name="anim_2_c"/>
          <p:cNvSpPr/>
          <p:nvPr/>
        </p:nvSpPr>
        <p:spPr>
          <a:xfrm>
            <a:off x="822960" y="43982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5y + 20y</a:t>
            </a:r>
            <a:pPr indent="0" marL="0">
              <a:lnSpc>
                <a:spcPct val="110000"/>
              </a:lnSpc>
              <a:buNone/>
            </a:pPr>
            <a:r>
              <a:rPr lang="en-US" sz="19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anim_2_c"/>
          <p:cNvSpPr/>
          <p:nvPr/>
        </p:nvSpPr>
        <p:spPr>
          <a:xfrm>
            <a:off x="4261104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nim_2_c"/>
          <p:cNvSpPr/>
          <p:nvPr/>
        </p:nvSpPr>
        <p:spPr>
          <a:xfrm>
            <a:off x="4498848" y="399592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4" name="anim_2_c"/>
          <p:cNvSpPr/>
          <p:nvPr/>
        </p:nvSpPr>
        <p:spPr>
          <a:xfrm>
            <a:off x="4498848" y="3995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25" name="anim_2_c"/>
          <p:cNvSpPr/>
          <p:nvPr/>
        </p:nvSpPr>
        <p:spPr>
          <a:xfrm>
            <a:off x="4535424" y="43982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pPr indent="0" marL="0">
              <a:lnSpc>
                <a:spcPct val="110000"/>
              </a:lnSpc>
              <a:buNone/>
            </a:pPr>
            <a:r>
              <a:rPr lang="en-US" sz="19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+ 6xy</a:t>
            </a:r>
            <a:endParaRPr lang="en-US" sz="1900" dirty="0"/>
          </a:p>
        </p:txBody>
      </p:sp>
      <p:sp>
        <p:nvSpPr>
          <p:cNvPr id="26" name="anim_2_c"/>
          <p:cNvSpPr/>
          <p:nvPr/>
        </p:nvSpPr>
        <p:spPr>
          <a:xfrm>
            <a:off x="7973568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anim_2_c"/>
          <p:cNvSpPr/>
          <p:nvPr/>
        </p:nvSpPr>
        <p:spPr>
          <a:xfrm>
            <a:off x="8211312" y="399592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8211312" y="3995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29" name="anim_2_c"/>
          <p:cNvSpPr/>
          <p:nvPr/>
        </p:nvSpPr>
        <p:spPr>
          <a:xfrm>
            <a:off x="8247888" y="4398264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25a</a:t>
            </a:r>
            <a:pPr indent="0" marL="0">
              <a:lnSpc>
                <a:spcPct val="110000"/>
              </a:lnSpc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lnSpc>
                <a:spcPct val="110000"/>
              </a:lnSpc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+ 45a</a:t>
            </a:r>
            <a:pPr indent="0" marL="0">
              <a:lnSpc>
                <a:spcPct val="110000"/>
              </a:lnSpc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lnSpc>
                <a:spcPct val="110000"/>
              </a:lnSpc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· a =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Quadratics  x² + bx + c  — Product &amp; Sum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two numbers that 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to c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b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then  (x +  )(x +  ).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  x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+ 5x + 6</a:t>
            </a:r>
            <a:endParaRPr lang="en-US" sz="26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60273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387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that multiply to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add to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 2 and 3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315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× 3 = 6  ✓    2 + 3 = 5  ✓)</a:t>
            </a:r>
            <a:endParaRPr lang="en-US" sz="1450" dirty="0"/>
          </a:p>
        </p:txBody>
      </p:sp>
      <p:sp>
        <p:nvSpPr>
          <p:cNvPr id="17" name="anim_4_c"/>
          <p:cNvSpPr/>
          <p:nvPr/>
        </p:nvSpPr>
        <p:spPr>
          <a:xfrm>
            <a:off x="868680" y="5029200"/>
            <a:ext cx="512064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50292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+ 2)(x + 3)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· a =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&amp; Practice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22960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9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– 16</a:t>
            </a:r>
            <a:endParaRPr lang="en-US" sz="1900" dirty="0"/>
          </a:p>
        </p:txBody>
      </p:sp>
      <p:sp>
        <p:nvSpPr>
          <p:cNvPr id="8" name="anim_1_a"/>
          <p:cNvSpPr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8 × (–2)</a:t>
            </a:r>
            <a:endParaRPr lang="en-US" sz="1200" dirty="0"/>
          </a:p>
        </p:txBody>
      </p:sp>
      <p:sp>
        <p:nvSpPr>
          <p:cNvPr id="9" name="anim_1_a"/>
          <p:cNvSpPr/>
          <p:nvPr/>
        </p:nvSpPr>
        <p:spPr>
          <a:xfrm>
            <a:off x="822960" y="2926080"/>
            <a:ext cx="2971800" cy="475488"/>
          </a:xfrm>
          <a:prstGeom prst="roundRect">
            <a:avLst>
              <a:gd name="adj" fmla="val 19231"/>
            </a:avLst>
          </a:prstGeom>
          <a:solidFill>
            <a:srgbClr val="16261F"/>
          </a:solidFill>
          <a:ln/>
        </p:spPr>
      </p:sp>
      <p:sp>
        <p:nvSpPr>
          <p:cNvPr id="10" name="anim_1_a"/>
          <p:cNvSpPr/>
          <p:nvPr/>
        </p:nvSpPr>
        <p:spPr>
          <a:xfrm>
            <a:off x="822960" y="29260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+ 8)(x – 2)</a:t>
            </a:r>
            <a:endParaRPr lang="en-US" sz="1500" dirty="0"/>
          </a:p>
        </p:txBody>
      </p:sp>
      <p:sp>
        <p:nvSpPr>
          <p:cNvPr id="11" name="anim_1_a"/>
          <p:cNvSpPr/>
          <p:nvPr/>
        </p:nvSpPr>
        <p:spPr>
          <a:xfrm>
            <a:off x="4261104" y="17373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nim_1_a"/>
          <p:cNvSpPr/>
          <p:nvPr/>
        </p:nvSpPr>
        <p:spPr>
          <a:xfrm>
            <a:off x="4535424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9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2y – 48</a:t>
            </a:r>
            <a:endParaRPr lang="en-US" sz="1900" dirty="0"/>
          </a:p>
        </p:txBody>
      </p:sp>
      <p:sp>
        <p:nvSpPr>
          <p:cNvPr id="13" name="anim_1_a"/>
          <p:cNvSpPr/>
          <p:nvPr/>
        </p:nvSpPr>
        <p:spPr>
          <a:xfrm>
            <a:off x="4535424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–8 × 6</a:t>
            </a:r>
            <a:endParaRPr lang="en-US" sz="1200" dirty="0"/>
          </a:p>
        </p:txBody>
      </p:sp>
      <p:sp>
        <p:nvSpPr>
          <p:cNvPr id="14" name="anim_1_a"/>
          <p:cNvSpPr/>
          <p:nvPr/>
        </p:nvSpPr>
        <p:spPr>
          <a:xfrm>
            <a:off x="4535424" y="2926080"/>
            <a:ext cx="2971800" cy="475488"/>
          </a:xfrm>
          <a:prstGeom prst="roundRect">
            <a:avLst>
              <a:gd name="adj" fmla="val 19231"/>
            </a:avLst>
          </a:prstGeom>
          <a:solidFill>
            <a:srgbClr val="16261F"/>
          </a:solidFill>
          <a:ln/>
        </p:spPr>
      </p:sp>
      <p:sp>
        <p:nvSpPr>
          <p:cNvPr id="15" name="anim_1_a"/>
          <p:cNvSpPr/>
          <p:nvPr/>
        </p:nvSpPr>
        <p:spPr>
          <a:xfrm>
            <a:off x="4535424" y="29260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(y – 8)(y + 6)</a:t>
            </a:r>
            <a:endParaRPr lang="en-US" sz="1500" dirty="0"/>
          </a:p>
        </p:txBody>
      </p:sp>
      <p:sp>
        <p:nvSpPr>
          <p:cNvPr id="16" name="anim_1_a"/>
          <p:cNvSpPr/>
          <p:nvPr/>
        </p:nvSpPr>
        <p:spPr>
          <a:xfrm>
            <a:off x="7973568" y="17373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nim_1_a"/>
          <p:cNvSpPr/>
          <p:nvPr/>
        </p:nvSpPr>
        <p:spPr>
          <a:xfrm>
            <a:off x="8247888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9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9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9y + 14</a:t>
            </a:r>
            <a:endParaRPr lang="en-US" sz="1900" dirty="0"/>
          </a:p>
        </p:txBody>
      </p:sp>
      <p:sp>
        <p:nvSpPr>
          <p:cNvPr id="18" name="anim_1_a"/>
          <p:cNvSpPr/>
          <p:nvPr/>
        </p:nvSpPr>
        <p:spPr>
          <a:xfrm>
            <a:off x="8247888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–7 × (–2)</a:t>
            </a:r>
            <a:endParaRPr lang="en-US" sz="1200" dirty="0"/>
          </a:p>
        </p:txBody>
      </p:sp>
      <p:sp>
        <p:nvSpPr>
          <p:cNvPr id="19" name="anim_1_a"/>
          <p:cNvSpPr/>
          <p:nvPr/>
        </p:nvSpPr>
        <p:spPr>
          <a:xfrm>
            <a:off x="8247888" y="2926080"/>
            <a:ext cx="2971800" cy="475488"/>
          </a:xfrm>
          <a:prstGeom prst="roundRect">
            <a:avLst>
              <a:gd name="adj" fmla="val 19231"/>
            </a:avLst>
          </a:prstGeom>
          <a:solidFill>
            <a:srgbClr val="16261F"/>
          </a:solidFill>
          <a:ln/>
        </p:spPr>
      </p:sp>
      <p:sp>
        <p:nvSpPr>
          <p:cNvPr id="20" name="anim_1_a"/>
          <p:cNvSpPr/>
          <p:nvPr/>
        </p:nvSpPr>
        <p:spPr>
          <a:xfrm>
            <a:off x="8247888" y="29260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(y – 7)(y – 2)</a:t>
            </a:r>
            <a:endParaRPr lang="en-US" sz="1500" dirty="0"/>
          </a:p>
        </p:txBody>
      </p:sp>
      <p:sp>
        <p:nvSpPr>
          <p:cNvPr id="21" name="anim_2_c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</a:t>
            </a:r>
            <a:endParaRPr lang="en-US" sz="1200" dirty="0"/>
          </a:p>
        </p:txBody>
      </p:sp>
      <p:sp>
        <p:nvSpPr>
          <p:cNvPr id="22" name="anim_2_c"/>
          <p:cNvSpPr/>
          <p:nvPr/>
        </p:nvSpPr>
        <p:spPr>
          <a:xfrm>
            <a:off x="548640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3" name="anim_2_c"/>
          <p:cNvSpPr/>
          <p:nvPr/>
        </p:nvSpPr>
        <p:spPr>
          <a:xfrm>
            <a:off x="749808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2_c"/>
          <p:cNvSpPr/>
          <p:nvPr/>
        </p:nvSpPr>
        <p:spPr>
          <a:xfrm>
            <a:off x="749808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anim_2_c"/>
          <p:cNvSpPr/>
          <p:nvPr/>
        </p:nvSpPr>
        <p:spPr>
          <a:xfrm>
            <a:off x="1225296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+ 7x + 12</a:t>
            </a:r>
            <a:endParaRPr lang="en-US" sz="1800" dirty="0"/>
          </a:p>
        </p:txBody>
      </p:sp>
      <p:sp>
        <p:nvSpPr>
          <p:cNvPr id="26" name="anim_2_c"/>
          <p:cNvSpPr/>
          <p:nvPr/>
        </p:nvSpPr>
        <p:spPr>
          <a:xfrm>
            <a:off x="4261104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7" name="anim_2_c"/>
          <p:cNvSpPr/>
          <p:nvPr/>
        </p:nvSpPr>
        <p:spPr>
          <a:xfrm>
            <a:off x="4462272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4462272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anim_2_c"/>
          <p:cNvSpPr/>
          <p:nvPr/>
        </p:nvSpPr>
        <p:spPr>
          <a:xfrm>
            <a:off x="4937760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x – 20</a:t>
            </a:r>
            <a:endParaRPr lang="en-US" sz="1800" dirty="0"/>
          </a:p>
        </p:txBody>
      </p:sp>
      <p:sp>
        <p:nvSpPr>
          <p:cNvPr id="30" name="anim_2_c"/>
          <p:cNvSpPr/>
          <p:nvPr/>
        </p:nvSpPr>
        <p:spPr>
          <a:xfrm>
            <a:off x="7973568" y="42062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31" name="anim_2_c"/>
          <p:cNvSpPr/>
          <p:nvPr/>
        </p:nvSpPr>
        <p:spPr>
          <a:xfrm>
            <a:off x="8174736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2" name="anim_2_c"/>
          <p:cNvSpPr/>
          <p:nvPr/>
        </p:nvSpPr>
        <p:spPr>
          <a:xfrm>
            <a:off x="8174736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anim_2_c"/>
          <p:cNvSpPr/>
          <p:nvPr/>
        </p:nvSpPr>
        <p:spPr>
          <a:xfrm>
            <a:off x="8650224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8x + 15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 · a =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9" name="anim_1_a"/>
          <p:cNvSpPr/>
          <p:nvPr/>
        </p:nvSpPr>
        <p:spPr>
          <a:xfrm>
            <a:off x="822960" y="22951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10000"/>
              </a:lnSpc>
              <a:buNone/>
            </a:pPr>
            <a:r>
              <a:rPr lang="en-US" sz="22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+ 2x – 24</a:t>
            </a:r>
            <a:endParaRPr lang="en-US" sz="2200" dirty="0"/>
          </a:p>
        </p:txBody>
      </p:sp>
      <p:sp>
        <p:nvSpPr>
          <p:cNvPr id="10" name="anim_2_c"/>
          <p:cNvSpPr/>
          <p:nvPr/>
        </p:nvSpPr>
        <p:spPr>
          <a:xfrm>
            <a:off x="6199632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6437376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6437376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13" name="anim_2_c"/>
          <p:cNvSpPr/>
          <p:nvPr/>
        </p:nvSpPr>
        <p:spPr>
          <a:xfrm>
            <a:off x="6473952" y="22951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10000"/>
              </a:lnSpc>
              <a:buNone/>
            </a:pPr>
            <a:r>
              <a:rPr lang="en-US" sz="22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– 36</a:t>
            </a:r>
            <a:endParaRPr lang="en-US" sz="2200" dirty="0"/>
          </a:p>
        </p:txBody>
      </p:sp>
      <p:sp>
        <p:nvSpPr>
          <p:cNvPr id="14" name="anim_3_c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786384" y="39502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3_c"/>
          <p:cNvSpPr/>
          <p:nvPr/>
        </p:nvSpPr>
        <p:spPr>
          <a:xfrm>
            <a:off x="786384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17" name="anim_3_c"/>
          <p:cNvSpPr/>
          <p:nvPr/>
        </p:nvSpPr>
        <p:spPr>
          <a:xfrm>
            <a:off x="822960" y="43525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lnSpc>
                <a:spcPct val="110000"/>
              </a:lnSpc>
              <a:buNone/>
            </a:pPr>
            <a:r>
              <a:rPr lang="en-US" sz="22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– 16</a:t>
            </a:r>
            <a:endParaRPr lang="en-US" sz="2200" dirty="0"/>
          </a:p>
        </p:txBody>
      </p:sp>
      <p:sp>
        <p:nvSpPr>
          <p:cNvPr id="18" name="anim_4_c"/>
          <p:cNvSpPr/>
          <p:nvPr/>
        </p:nvSpPr>
        <p:spPr>
          <a:xfrm>
            <a:off x="6199632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nim_4_c"/>
          <p:cNvSpPr/>
          <p:nvPr/>
        </p:nvSpPr>
        <p:spPr>
          <a:xfrm>
            <a:off x="6437376" y="39502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4_c"/>
          <p:cNvSpPr/>
          <p:nvPr/>
        </p:nvSpPr>
        <p:spPr>
          <a:xfrm>
            <a:off x="6437376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21" name="anim_4_c"/>
          <p:cNvSpPr/>
          <p:nvPr/>
        </p:nvSpPr>
        <p:spPr>
          <a:xfrm>
            <a:off x="6473952" y="43525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lnSpc>
                <a:spcPct val="110000"/>
              </a:lnSpc>
              <a:buNone/>
            </a:pPr>
            <a:r>
              <a:rPr lang="en-US" sz="22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9y + 14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· a ≠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 Method  (split the middle term)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two numbers that multiply to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× c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add to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split the middle term, then factor by grouping.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  3x</a:t>
            </a:r>
            <a:pPr algn="ctr" indent="0" marL="0">
              <a:buNone/>
            </a:pPr>
            <a:r>
              <a:rPr lang="en-US" sz="25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5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+ 10x + 8</a:t>
            </a:r>
            <a:endParaRPr lang="en-US" sz="2500" dirty="0"/>
          </a:p>
        </p:txBody>
      </p:sp>
      <p:sp>
        <p:nvSpPr>
          <p:cNvPr id="9" name="anim_2_c"/>
          <p:cNvSpPr/>
          <p:nvPr/>
        </p:nvSpPr>
        <p:spPr>
          <a:xfrm>
            <a:off x="548640" y="2971800"/>
            <a:ext cx="3657600" cy="2971800"/>
          </a:xfrm>
          <a:prstGeom prst="roundRect">
            <a:avLst>
              <a:gd name="adj" fmla="val 307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anim_2_c"/>
          <p:cNvSpPr/>
          <p:nvPr/>
        </p:nvSpPr>
        <p:spPr>
          <a:xfrm>
            <a:off x="548640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× c = 24,  b = 10</a:t>
            </a:r>
            <a:endParaRPr lang="en-US" sz="1300" dirty="0"/>
          </a:p>
        </p:txBody>
      </p:sp>
      <p:sp>
        <p:nvSpPr>
          <p:cNvPr id="11" name="anim_2_c"/>
          <p:cNvSpPr/>
          <p:nvPr/>
        </p:nvSpPr>
        <p:spPr>
          <a:xfrm>
            <a:off x="1810512" y="3867912"/>
            <a:ext cx="1133856" cy="1133856"/>
          </a:xfrm>
          <a:prstGeom prst="line">
            <a:avLst/>
          </a:prstGeom>
          <a:noFill/>
          <a:ln w="19050">
            <a:solidFill>
              <a:srgbClr val="C84F2F"/>
            </a:solidFill>
            <a:prstDash val="solid"/>
          </a:ln>
        </p:spPr>
      </p:sp>
      <p:sp>
        <p:nvSpPr>
          <p:cNvPr id="12" name="anim_2_c"/>
          <p:cNvSpPr/>
          <p:nvPr/>
        </p:nvSpPr>
        <p:spPr>
          <a:xfrm flipV="1">
            <a:off x="1810512" y="3867912"/>
            <a:ext cx="1133856" cy="1133856"/>
          </a:xfrm>
          <a:prstGeom prst="line">
            <a:avLst/>
          </a:prstGeom>
          <a:noFill/>
          <a:ln w="19050">
            <a:solidFill>
              <a:srgbClr val="C84F2F"/>
            </a:solidFill>
            <a:prstDash val="solid"/>
          </a:ln>
        </p:spPr>
      </p:sp>
      <p:sp>
        <p:nvSpPr>
          <p:cNvPr id="13" name="anim_2_c"/>
          <p:cNvSpPr/>
          <p:nvPr/>
        </p:nvSpPr>
        <p:spPr>
          <a:xfrm>
            <a:off x="1874520" y="35021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4" name="anim_2_c"/>
          <p:cNvSpPr/>
          <p:nvPr/>
        </p:nvSpPr>
        <p:spPr>
          <a:xfrm>
            <a:off x="1874520" y="50200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800" dirty="0"/>
          </a:p>
        </p:txBody>
      </p:sp>
      <p:sp>
        <p:nvSpPr>
          <p:cNvPr id="15" name="anim_2_c"/>
          <p:cNvSpPr/>
          <p:nvPr/>
        </p:nvSpPr>
        <p:spPr>
          <a:xfrm>
            <a:off x="822960" y="42702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anim_2_c"/>
          <p:cNvSpPr/>
          <p:nvPr/>
        </p:nvSpPr>
        <p:spPr>
          <a:xfrm>
            <a:off x="3063240" y="42702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anim_2_c"/>
          <p:cNvSpPr/>
          <p:nvPr/>
        </p:nvSpPr>
        <p:spPr>
          <a:xfrm>
            <a:off x="548640" y="55321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4 = 24,  6 + 4 = 10</a:t>
            </a:r>
            <a:endParaRPr lang="en-US" sz="1300" dirty="0"/>
          </a:p>
        </p:txBody>
      </p:sp>
      <p:sp>
        <p:nvSpPr>
          <p:cNvPr id="18" name="anim_3_c"/>
          <p:cNvSpPr/>
          <p:nvPr/>
        </p:nvSpPr>
        <p:spPr>
          <a:xfrm>
            <a:off x="452628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3_c"/>
          <p:cNvSpPr/>
          <p:nvPr/>
        </p:nvSpPr>
        <p:spPr>
          <a:xfrm>
            <a:off x="45262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anim_3_c"/>
          <p:cNvSpPr/>
          <p:nvPr/>
        </p:nvSpPr>
        <p:spPr>
          <a:xfrm>
            <a:off x="50749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Split:  3x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+ 4x + 8</a:t>
            </a:r>
            <a:endParaRPr lang="en-US" sz="1600" dirty="0"/>
          </a:p>
        </p:txBody>
      </p:sp>
      <p:sp>
        <p:nvSpPr>
          <p:cNvPr id="21" name="anim_4_c"/>
          <p:cNvSpPr/>
          <p:nvPr/>
        </p:nvSpPr>
        <p:spPr>
          <a:xfrm>
            <a:off x="4526280" y="3904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2" name="anim_4_c"/>
          <p:cNvSpPr/>
          <p:nvPr/>
        </p:nvSpPr>
        <p:spPr>
          <a:xfrm>
            <a:off x="45262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anim_4_c"/>
          <p:cNvSpPr/>
          <p:nvPr/>
        </p:nvSpPr>
        <p:spPr>
          <a:xfrm>
            <a:off x="5074920" y="3840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Group:  3x(x + 2) + 4(x + 2)</a:t>
            </a:r>
            <a:endParaRPr lang="en-US" sz="1600" dirty="0"/>
          </a:p>
        </p:txBody>
      </p:sp>
      <p:sp>
        <p:nvSpPr>
          <p:cNvPr id="24" name="anim_5_c"/>
          <p:cNvSpPr/>
          <p:nvPr/>
        </p:nvSpPr>
        <p:spPr>
          <a:xfrm>
            <a:off x="4526280" y="46360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5_c"/>
          <p:cNvSpPr/>
          <p:nvPr/>
        </p:nvSpPr>
        <p:spPr>
          <a:xfrm>
            <a:off x="45262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anim_5_c"/>
          <p:cNvSpPr/>
          <p:nvPr/>
        </p:nvSpPr>
        <p:spPr>
          <a:xfrm>
            <a:off x="50749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bracket (x + 2):</a:t>
            </a:r>
            <a:endParaRPr lang="en-US" sz="1600" dirty="0"/>
          </a:p>
        </p:txBody>
      </p:sp>
      <p:sp>
        <p:nvSpPr>
          <p:cNvPr id="27" name="anim_5_c"/>
          <p:cNvSpPr/>
          <p:nvPr/>
        </p:nvSpPr>
        <p:spPr>
          <a:xfrm>
            <a:off x="5074920" y="5212080"/>
            <a:ext cx="457200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anim_5_c"/>
          <p:cNvSpPr/>
          <p:nvPr/>
        </p:nvSpPr>
        <p:spPr>
          <a:xfrm>
            <a:off x="5257800" y="52120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(3x + 4)(x + 2)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· a ≠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Worked Examples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2057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pPr indent="0" marL="0">
              <a:buNone/>
            </a:pP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+ 9x + 10</a:t>
            </a:r>
            <a:endParaRPr lang="en-US" sz="2000" dirty="0"/>
          </a:p>
        </p:txBody>
      </p:sp>
      <p:sp>
        <p:nvSpPr>
          <p:cNvPr id="8" name="anim_1_a"/>
          <p:cNvSpPr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= 20, b = 9 → 4, 5</a:t>
            </a:r>
            <a:endParaRPr lang="en-US" sz="1400" dirty="0"/>
          </a:p>
        </p:txBody>
      </p:sp>
      <p:sp>
        <p:nvSpPr>
          <p:cNvPr id="9" name="anim_1_a"/>
          <p:cNvSpPr/>
          <p:nvPr/>
        </p:nvSpPr>
        <p:spPr>
          <a:xfrm>
            <a:off x="868680" y="315468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6261F"/>
          </a:solidFill>
          <a:ln/>
        </p:spPr>
      </p:sp>
      <p:sp>
        <p:nvSpPr>
          <p:cNvPr id="10" name="anim_1_a"/>
          <p:cNvSpPr/>
          <p:nvPr/>
        </p:nvSpPr>
        <p:spPr>
          <a:xfrm>
            <a:off x="86868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(2x + 5)(x + 2)</a:t>
            </a:r>
            <a:endParaRPr lang="en-US" sz="1800" dirty="0"/>
          </a:p>
        </p:txBody>
      </p:sp>
      <p:sp>
        <p:nvSpPr>
          <p:cNvPr id="11" name="anim_2_c"/>
          <p:cNvSpPr/>
          <p:nvPr/>
        </p:nvSpPr>
        <p:spPr>
          <a:xfrm>
            <a:off x="6199632" y="17830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nim_2_c"/>
          <p:cNvSpPr/>
          <p:nvPr/>
        </p:nvSpPr>
        <p:spPr>
          <a:xfrm>
            <a:off x="6519672" y="2057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pPr indent="0" marL="0">
              <a:buNone/>
            </a:pP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+ 16x + 8</a:t>
            </a:r>
            <a:endParaRPr lang="en-US" sz="2000" dirty="0"/>
          </a:p>
        </p:txBody>
      </p:sp>
      <p:sp>
        <p:nvSpPr>
          <p:cNvPr id="13" name="anim_2_c"/>
          <p:cNvSpPr/>
          <p:nvPr/>
        </p:nvSpPr>
        <p:spPr>
          <a:xfrm>
            <a:off x="6519672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= 48, b = 16 → 12, 4</a:t>
            </a:r>
            <a:endParaRPr lang="en-US" sz="1400" dirty="0"/>
          </a:p>
        </p:txBody>
      </p:sp>
      <p:sp>
        <p:nvSpPr>
          <p:cNvPr id="14" name="anim_2_c"/>
          <p:cNvSpPr/>
          <p:nvPr/>
        </p:nvSpPr>
        <p:spPr>
          <a:xfrm>
            <a:off x="6519672" y="315468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6261F"/>
          </a:solidFill>
          <a:ln/>
        </p:spPr>
      </p:sp>
      <p:sp>
        <p:nvSpPr>
          <p:cNvPr id="15" name="anim_2_c"/>
          <p:cNvSpPr/>
          <p:nvPr/>
        </p:nvSpPr>
        <p:spPr>
          <a:xfrm>
            <a:off x="6519672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2(3x + 2)(x + 2)</a:t>
            </a:r>
            <a:endParaRPr lang="en-US" sz="1800" dirty="0"/>
          </a:p>
        </p:txBody>
      </p:sp>
      <p:sp>
        <p:nvSpPr>
          <p:cNvPr id="16" name="anim_3_c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</a:t>
            </a:r>
            <a:endParaRPr lang="en-US" sz="1200" dirty="0"/>
          </a:p>
        </p:txBody>
      </p:sp>
      <p:sp>
        <p:nvSpPr>
          <p:cNvPr id="17" name="anim_3_c"/>
          <p:cNvSpPr/>
          <p:nvPr/>
        </p:nvSpPr>
        <p:spPr>
          <a:xfrm>
            <a:off x="548640" y="47091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8" name="anim_3_c"/>
          <p:cNvSpPr/>
          <p:nvPr/>
        </p:nvSpPr>
        <p:spPr>
          <a:xfrm>
            <a:off x="749808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3_c"/>
          <p:cNvSpPr/>
          <p:nvPr/>
        </p:nvSpPr>
        <p:spPr>
          <a:xfrm>
            <a:off x="74980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anim_3_c"/>
          <p:cNvSpPr/>
          <p:nvPr/>
        </p:nvSpPr>
        <p:spPr>
          <a:xfrm>
            <a:off x="1225296" y="4709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+ 7x + 3</a:t>
            </a:r>
            <a:endParaRPr lang="en-US" sz="1800" dirty="0"/>
          </a:p>
        </p:txBody>
      </p:sp>
      <p:sp>
        <p:nvSpPr>
          <p:cNvPr id="21" name="anim_3_c"/>
          <p:cNvSpPr/>
          <p:nvPr/>
        </p:nvSpPr>
        <p:spPr>
          <a:xfrm>
            <a:off x="4261104" y="47091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2" name="anim_3_c"/>
          <p:cNvSpPr/>
          <p:nvPr/>
        </p:nvSpPr>
        <p:spPr>
          <a:xfrm>
            <a:off x="4462272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3" name="anim_3_c"/>
          <p:cNvSpPr/>
          <p:nvPr/>
        </p:nvSpPr>
        <p:spPr>
          <a:xfrm>
            <a:off x="4462272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anim_3_c"/>
          <p:cNvSpPr/>
          <p:nvPr/>
        </p:nvSpPr>
        <p:spPr>
          <a:xfrm>
            <a:off x="4937760" y="4709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+ 8x + 4</a:t>
            </a:r>
            <a:endParaRPr lang="en-US" sz="1800" dirty="0"/>
          </a:p>
        </p:txBody>
      </p:sp>
      <p:sp>
        <p:nvSpPr>
          <p:cNvPr id="25" name="anim_3_c"/>
          <p:cNvSpPr/>
          <p:nvPr/>
        </p:nvSpPr>
        <p:spPr>
          <a:xfrm>
            <a:off x="7973568" y="470916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EEF1E8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6" name="anim_3_c"/>
          <p:cNvSpPr/>
          <p:nvPr/>
        </p:nvSpPr>
        <p:spPr>
          <a:xfrm>
            <a:off x="8174736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7" name="anim_3_c"/>
          <p:cNvSpPr/>
          <p:nvPr/>
        </p:nvSpPr>
        <p:spPr>
          <a:xfrm>
            <a:off x="8174736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anim_3_c"/>
          <p:cNvSpPr/>
          <p:nvPr/>
        </p:nvSpPr>
        <p:spPr>
          <a:xfrm>
            <a:off x="8650224" y="4709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– 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 · a ≠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9" name="anim_1_a"/>
          <p:cNvSpPr/>
          <p:nvPr/>
        </p:nvSpPr>
        <p:spPr>
          <a:xfrm>
            <a:off x="822960" y="22951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pPr indent="0" marL="0">
              <a:lnSpc>
                <a:spcPct val="110000"/>
              </a:lnSpc>
              <a:buNone/>
            </a:pPr>
            <a:r>
              <a:rPr lang="en-US" sz="21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7x + 6</a:t>
            </a:r>
            <a:endParaRPr lang="en-US" sz="2100" dirty="0"/>
          </a:p>
        </p:txBody>
      </p:sp>
      <p:sp>
        <p:nvSpPr>
          <p:cNvPr id="10" name="anim_1_a"/>
          <p:cNvSpPr/>
          <p:nvPr/>
        </p:nvSpPr>
        <p:spPr>
          <a:xfrm>
            <a:off x="6199632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437376" y="18928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6437376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13" name="anim_1_a"/>
          <p:cNvSpPr/>
          <p:nvPr/>
        </p:nvSpPr>
        <p:spPr>
          <a:xfrm>
            <a:off x="6473952" y="22951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pPr indent="0" marL="0">
              <a:lnSpc>
                <a:spcPct val="110000"/>
              </a:lnSpc>
              <a:buNone/>
            </a:pPr>
            <a:r>
              <a:rPr lang="en-US" sz="21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x – 5</a:t>
            </a:r>
            <a:endParaRPr lang="en-US" sz="2100" dirty="0"/>
          </a:p>
        </p:txBody>
      </p:sp>
      <p:sp>
        <p:nvSpPr>
          <p:cNvPr id="14" name="anim_2_c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_2_c"/>
          <p:cNvSpPr/>
          <p:nvPr/>
        </p:nvSpPr>
        <p:spPr>
          <a:xfrm>
            <a:off x="786384" y="39502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2_c"/>
          <p:cNvSpPr/>
          <p:nvPr/>
        </p:nvSpPr>
        <p:spPr>
          <a:xfrm>
            <a:off x="786384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17" name="anim_2_c"/>
          <p:cNvSpPr/>
          <p:nvPr/>
        </p:nvSpPr>
        <p:spPr>
          <a:xfrm>
            <a:off x="822960" y="43525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pPr indent="0" marL="0">
              <a:lnSpc>
                <a:spcPct val="110000"/>
              </a:lnSpc>
              <a:buNone/>
            </a:pPr>
            <a:r>
              <a:rPr lang="en-US" sz="21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x – 12</a:t>
            </a:r>
            <a:endParaRPr lang="en-US" sz="2100" dirty="0"/>
          </a:p>
        </p:txBody>
      </p:sp>
      <p:sp>
        <p:nvSpPr>
          <p:cNvPr id="18" name="anim_2_c"/>
          <p:cNvSpPr/>
          <p:nvPr/>
        </p:nvSpPr>
        <p:spPr>
          <a:xfrm>
            <a:off x="6199632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6437376" y="395020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6437376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50" dirty="0"/>
          </a:p>
        </p:txBody>
      </p:sp>
      <p:sp>
        <p:nvSpPr>
          <p:cNvPr id="21" name="anim_2_c"/>
          <p:cNvSpPr/>
          <p:nvPr/>
        </p:nvSpPr>
        <p:spPr>
          <a:xfrm>
            <a:off x="6473952" y="4352544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pPr indent="0" marL="0">
              <a:lnSpc>
                <a:spcPct val="110000"/>
              </a:lnSpc>
              <a:buNone/>
            </a:pPr>
            <a:r>
              <a:rPr lang="en-US" sz="21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44x + 32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4 · DIFFERENCE OF SQUARES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 — Coefficient of x² is 1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6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a</a:t>
            </a:r>
            <a:pPr indent="0" marL="0">
              <a:buNone/>
            </a:pPr>
            <a:r>
              <a:rPr lang="en-US" sz="16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(x + a)(x – a)</a:t>
            </a:r>
            <a:endParaRPr lang="en-US" sz="16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  x</a:t>
            </a:r>
            <a:pPr indent="0" marL="0">
              <a:buNone/>
            </a:pP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36</a:t>
            </a:r>
            <a:endParaRPr lang="en-US" sz="2400" dirty="0"/>
          </a:p>
        </p:txBody>
      </p:sp>
      <p:sp>
        <p:nvSpPr>
          <p:cNvPr id="10" name="anim_2_c"/>
          <p:cNvSpPr/>
          <p:nvPr/>
        </p:nvSpPr>
        <p:spPr>
          <a:xfrm>
            <a:off x="86868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089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= 6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so a = 6</a:t>
            </a:r>
            <a:endParaRPr lang="en-US" sz="1600" dirty="0"/>
          </a:p>
        </p:txBody>
      </p:sp>
      <p:sp>
        <p:nvSpPr>
          <p:cNvPr id="13" name="anim_3_c"/>
          <p:cNvSpPr/>
          <p:nvPr/>
        </p:nvSpPr>
        <p:spPr>
          <a:xfrm>
            <a:off x="868680" y="3657600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anim_3_c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+ 6)(x – 6)</a:t>
            </a:r>
            <a:endParaRPr lang="en-US" sz="2000" dirty="0"/>
          </a:p>
        </p:txBody>
      </p:sp>
      <p:sp>
        <p:nvSpPr>
          <p:cNvPr id="15" name="anim_4_c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</a:t>
            </a:r>
            <a:endParaRPr lang="en-US" sz="1200" dirty="0"/>
          </a:p>
        </p:txBody>
      </p:sp>
      <p:sp>
        <p:nvSpPr>
          <p:cNvPr id="16" name="anim_4_c"/>
          <p:cNvSpPr/>
          <p:nvPr/>
        </p:nvSpPr>
        <p:spPr>
          <a:xfrm>
            <a:off x="548640" y="47091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7" name="anim_4_c"/>
          <p:cNvSpPr/>
          <p:nvPr/>
        </p:nvSpPr>
        <p:spPr>
          <a:xfrm>
            <a:off x="731520" y="49103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73152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anim_4_c"/>
          <p:cNvSpPr/>
          <p:nvPr/>
        </p:nvSpPr>
        <p:spPr>
          <a:xfrm>
            <a:off x="1188720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</a:t>
            </a:r>
            <a:endParaRPr lang="en-US" sz="1800" dirty="0"/>
          </a:p>
        </p:txBody>
      </p:sp>
      <p:sp>
        <p:nvSpPr>
          <p:cNvPr id="20" name="anim_4_c"/>
          <p:cNvSpPr/>
          <p:nvPr/>
        </p:nvSpPr>
        <p:spPr>
          <a:xfrm>
            <a:off x="3346704" y="47091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1" name="anim_4_c"/>
          <p:cNvSpPr/>
          <p:nvPr/>
        </p:nvSpPr>
        <p:spPr>
          <a:xfrm>
            <a:off x="3529584" y="49103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2" name="anim_4_c"/>
          <p:cNvSpPr/>
          <p:nvPr/>
        </p:nvSpPr>
        <p:spPr>
          <a:xfrm>
            <a:off x="3529584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anim_4_c"/>
          <p:cNvSpPr/>
          <p:nvPr/>
        </p:nvSpPr>
        <p:spPr>
          <a:xfrm>
            <a:off x="3986784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64</a:t>
            </a:r>
            <a:endParaRPr lang="en-US" sz="1800" dirty="0"/>
          </a:p>
        </p:txBody>
      </p:sp>
      <p:sp>
        <p:nvSpPr>
          <p:cNvPr id="24" name="anim_4_c"/>
          <p:cNvSpPr/>
          <p:nvPr/>
        </p:nvSpPr>
        <p:spPr>
          <a:xfrm>
            <a:off x="6144768" y="47091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5" name="anim_4_c"/>
          <p:cNvSpPr/>
          <p:nvPr/>
        </p:nvSpPr>
        <p:spPr>
          <a:xfrm>
            <a:off x="6327648" y="49103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6" name="anim_4_c"/>
          <p:cNvSpPr/>
          <p:nvPr/>
        </p:nvSpPr>
        <p:spPr>
          <a:xfrm>
            <a:off x="6327648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anim_4_c"/>
          <p:cNvSpPr/>
          <p:nvPr/>
        </p:nvSpPr>
        <p:spPr>
          <a:xfrm>
            <a:off x="6784848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144</a:t>
            </a:r>
            <a:endParaRPr lang="en-US" sz="1800" dirty="0"/>
          </a:p>
        </p:txBody>
      </p:sp>
      <p:sp>
        <p:nvSpPr>
          <p:cNvPr id="28" name="anim_4_c"/>
          <p:cNvSpPr/>
          <p:nvPr/>
        </p:nvSpPr>
        <p:spPr>
          <a:xfrm>
            <a:off x="8942832" y="47091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9" name="anim_4_c"/>
          <p:cNvSpPr/>
          <p:nvPr/>
        </p:nvSpPr>
        <p:spPr>
          <a:xfrm>
            <a:off x="9125712" y="49103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0" name="anim_4_c"/>
          <p:cNvSpPr/>
          <p:nvPr/>
        </p:nvSpPr>
        <p:spPr>
          <a:xfrm>
            <a:off x="9125712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anim_4_c"/>
          <p:cNvSpPr/>
          <p:nvPr/>
        </p:nvSpPr>
        <p:spPr>
          <a:xfrm>
            <a:off x="9582912" y="4709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400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SQUARES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 — Both Coefficients are Perfect Squares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Square-root each term: 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(√ first)² – (√ second)² = (√ first + √ second)(√ first – √ second).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  49x</a:t>
            </a:r>
            <a:pPr indent="0" marL="0">
              <a:buNone/>
            </a:pP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81y</a:t>
            </a:r>
            <a:pPr indent="0" marL="0">
              <a:buNone/>
            </a:pP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anim_2_c"/>
          <p:cNvSpPr/>
          <p:nvPr/>
        </p:nvSpPr>
        <p:spPr>
          <a:xfrm>
            <a:off x="86868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089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49x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(7x)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  81y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(9y)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anim_3_c"/>
          <p:cNvSpPr/>
          <p:nvPr/>
        </p:nvSpPr>
        <p:spPr>
          <a:xfrm>
            <a:off x="868680" y="3703320"/>
            <a:ext cx="58521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anim_3_c"/>
          <p:cNvSpPr/>
          <p:nvPr/>
        </p:nvSpPr>
        <p:spPr>
          <a:xfrm>
            <a:off x="105156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(7x + 9y)(7x – 9y)</a:t>
            </a:r>
            <a:endParaRPr lang="en-US" sz="1900" dirty="0"/>
          </a:p>
        </p:txBody>
      </p:sp>
      <p:sp>
        <p:nvSpPr>
          <p:cNvPr id="15" name="anim_4_c"/>
          <p:cNvSpPr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</a:t>
            </a:r>
            <a:endParaRPr lang="en-US" sz="1200" dirty="0"/>
          </a:p>
        </p:txBody>
      </p:sp>
      <p:sp>
        <p:nvSpPr>
          <p:cNvPr id="16" name="anim_4_c"/>
          <p:cNvSpPr/>
          <p:nvPr/>
        </p:nvSpPr>
        <p:spPr>
          <a:xfrm>
            <a:off x="548640" y="47548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7" name="anim_4_c"/>
          <p:cNvSpPr/>
          <p:nvPr/>
        </p:nvSpPr>
        <p:spPr>
          <a:xfrm>
            <a:off x="731520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73152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anim_4_c"/>
          <p:cNvSpPr/>
          <p:nvPr/>
        </p:nvSpPr>
        <p:spPr>
          <a:xfrm>
            <a:off x="1188720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4y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anim_4_c"/>
          <p:cNvSpPr/>
          <p:nvPr/>
        </p:nvSpPr>
        <p:spPr>
          <a:xfrm>
            <a:off x="4261104" y="47548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1" name="anim_4_c"/>
          <p:cNvSpPr/>
          <p:nvPr/>
        </p:nvSpPr>
        <p:spPr>
          <a:xfrm>
            <a:off x="4443984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2" name="anim_4_c"/>
          <p:cNvSpPr/>
          <p:nvPr/>
        </p:nvSpPr>
        <p:spPr>
          <a:xfrm>
            <a:off x="4443984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anim_4_c"/>
          <p:cNvSpPr/>
          <p:nvPr/>
        </p:nvSpPr>
        <p:spPr>
          <a:xfrm>
            <a:off x="4901184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4c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9d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anim_4_c"/>
          <p:cNvSpPr/>
          <p:nvPr/>
        </p:nvSpPr>
        <p:spPr>
          <a:xfrm>
            <a:off x="7973568" y="47548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5" name="anim_4_c"/>
          <p:cNvSpPr/>
          <p:nvPr/>
        </p:nvSpPr>
        <p:spPr>
          <a:xfrm>
            <a:off x="8156448" y="49560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6" name="anim_4_c"/>
          <p:cNvSpPr/>
          <p:nvPr/>
        </p:nvSpPr>
        <p:spPr>
          <a:xfrm>
            <a:off x="815644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anim_4_c"/>
          <p:cNvSpPr/>
          <p:nvPr/>
        </p:nvSpPr>
        <p:spPr>
          <a:xfrm>
            <a:off x="8613648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25m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16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SQUARES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 — Take Out a Common Factor First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terms are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perfect squares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factor out the HCF first — then use difference of squares.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  27x</a:t>
            </a:r>
            <a:pPr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12y</a:t>
            </a:r>
            <a:pPr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anim_2_c"/>
          <p:cNvSpPr/>
          <p:nvPr/>
        </p:nvSpPr>
        <p:spPr>
          <a:xfrm>
            <a:off x="86868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HCF = 3:   3(9x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4y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50" dirty="0"/>
          </a:p>
        </p:txBody>
      </p:sp>
      <p:sp>
        <p:nvSpPr>
          <p:cNvPr id="13" name="anim_3_c"/>
          <p:cNvSpPr/>
          <p:nvPr/>
        </p:nvSpPr>
        <p:spPr>
          <a:xfrm>
            <a:off x="868680" y="3858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squares:  (3x)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(2y)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anim_4_c"/>
          <p:cNvSpPr/>
          <p:nvPr/>
        </p:nvSpPr>
        <p:spPr>
          <a:xfrm>
            <a:off x="868680" y="452628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anim_4_c"/>
          <p:cNvSpPr/>
          <p:nvPr/>
        </p:nvSpPr>
        <p:spPr>
          <a:xfrm>
            <a:off x="1051560" y="4526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3(3x + 2y)(3x – 2y)</a:t>
            </a:r>
            <a:endParaRPr lang="en-US" sz="1700" dirty="0"/>
          </a:p>
        </p:txBody>
      </p:sp>
      <p:sp>
        <p:nvSpPr>
          <p:cNvPr id="18" name="anim_5_c"/>
          <p:cNvSpPr/>
          <p:nvPr/>
        </p:nvSpPr>
        <p:spPr>
          <a:xfrm>
            <a:off x="6172200" y="2377440"/>
            <a:ext cx="5468112" cy="3291840"/>
          </a:xfrm>
          <a:prstGeom prst="roundRect">
            <a:avLst>
              <a:gd name="adj" fmla="val 2778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anim_5_c"/>
          <p:cNvSpPr/>
          <p:nvPr/>
        </p:nvSpPr>
        <p:spPr>
          <a:xfrm>
            <a:off x="649224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fully   2a</a:t>
            </a:r>
            <a:pPr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18</a:t>
            </a:r>
            <a:endParaRPr lang="en-US" sz="2100" dirty="0"/>
          </a:p>
        </p:txBody>
      </p:sp>
      <p:sp>
        <p:nvSpPr>
          <p:cNvPr id="20" name="anim_5_c"/>
          <p:cNvSpPr/>
          <p:nvPr/>
        </p:nvSpPr>
        <p:spPr>
          <a:xfrm>
            <a:off x="649224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5_c"/>
          <p:cNvSpPr/>
          <p:nvPr/>
        </p:nvSpPr>
        <p:spPr>
          <a:xfrm>
            <a:off x="64922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anim_5_c"/>
          <p:cNvSpPr/>
          <p:nvPr/>
        </p:nvSpPr>
        <p:spPr>
          <a:xfrm>
            <a:off x="704088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HCF = 2:   2(a</a:t>
            </a:r>
            <a:pPr indent="0" marL="0">
              <a:lnSpc>
                <a:spcPct val="105000"/>
              </a:lnSpc>
              <a:buNone/>
            </a:pP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9)</a:t>
            </a:r>
            <a:endParaRPr lang="en-US" sz="1550" dirty="0"/>
          </a:p>
        </p:txBody>
      </p:sp>
      <p:sp>
        <p:nvSpPr>
          <p:cNvPr id="23" name="anim_5_c"/>
          <p:cNvSpPr/>
          <p:nvPr/>
        </p:nvSpPr>
        <p:spPr>
          <a:xfrm>
            <a:off x="6492240" y="38587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5_c"/>
          <p:cNvSpPr/>
          <p:nvPr/>
        </p:nvSpPr>
        <p:spPr>
          <a:xfrm>
            <a:off x="64922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anim_5_c"/>
          <p:cNvSpPr/>
          <p:nvPr/>
        </p:nvSpPr>
        <p:spPr>
          <a:xfrm>
            <a:off x="7040880" y="3794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 = a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anim_5_c"/>
          <p:cNvSpPr/>
          <p:nvPr/>
        </p:nvSpPr>
        <p:spPr>
          <a:xfrm>
            <a:off x="6492240" y="452628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anim_5_c"/>
          <p:cNvSpPr/>
          <p:nvPr/>
        </p:nvSpPr>
        <p:spPr>
          <a:xfrm>
            <a:off x="6675120" y="4526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2(a + 3)(a – 3)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SQUARES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 Terms — Factorise Completely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bracket as one square:  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5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B</a:t>
            </a:r>
            <a:pPr indent="0" marL="0">
              <a:buNone/>
            </a:pPr>
            <a:r>
              <a:rPr lang="en-US" sz="15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(A + B)(A – B).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 completely   (12x – y)</a:t>
            </a:r>
            <a:pPr algn="ctr" indent="0" marL="0">
              <a:buNone/>
            </a:pP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(4x – 3y)</a:t>
            </a:r>
            <a:pPr algn="ctr" indent="0" marL="0">
              <a:buNone/>
            </a:pP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584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 A = (12x – y),   B = (4x – 3y)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2245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160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B = 16x – 4y          A – B = 8x + 2y</a:t>
            </a:r>
            <a:endParaRPr lang="en-US" sz="1600" dirty="0"/>
          </a:p>
        </p:txBody>
      </p:sp>
      <p:sp>
        <p:nvSpPr>
          <p:cNvPr id="17" name="anim_4_c"/>
          <p:cNvSpPr/>
          <p:nvPr/>
        </p:nvSpPr>
        <p:spPr>
          <a:xfrm>
            <a:off x="868680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86868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anim_4_c"/>
          <p:cNvSpPr/>
          <p:nvPr/>
        </p:nvSpPr>
        <p:spPr>
          <a:xfrm>
            <a:off x="141732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(16x – 4y)(8x + 2y) = 4(4x – y) × 2(4x + y)</a:t>
            </a:r>
            <a:endParaRPr lang="en-US" sz="1550" dirty="0"/>
          </a:p>
        </p:txBody>
      </p:sp>
      <p:sp>
        <p:nvSpPr>
          <p:cNvPr id="20" name="anim_5_c"/>
          <p:cNvSpPr/>
          <p:nvPr/>
        </p:nvSpPr>
        <p:spPr>
          <a:xfrm>
            <a:off x="868680" y="5440680"/>
            <a:ext cx="58521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anim_5_c"/>
          <p:cNvSpPr/>
          <p:nvPr/>
        </p:nvSpPr>
        <p:spPr>
          <a:xfrm>
            <a:off x="1051560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8(4x – y)(4x + y)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 · DIFFERENCE OF SQUARES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Questions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8928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00" dirty="0"/>
          </a:p>
        </p:txBody>
      </p:sp>
      <p:sp>
        <p:nvSpPr>
          <p:cNvPr id="9" name="anim_1_a"/>
          <p:cNvSpPr/>
          <p:nvPr/>
        </p:nvSpPr>
        <p:spPr>
          <a:xfrm>
            <a:off x="822960" y="2331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4c</a:t>
            </a:r>
            <a:pPr indent="0" marL="0">
              <a:buNone/>
            </a:pPr>
            <a:r>
              <a:rPr lang="en-US" sz="20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9d</a:t>
            </a:r>
            <a:pPr indent="0" marL="0">
              <a:buNone/>
            </a:pPr>
            <a:r>
              <a:rPr lang="en-US" sz="20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anim_1_a"/>
          <p:cNvSpPr/>
          <p:nvPr/>
        </p:nvSpPr>
        <p:spPr>
          <a:xfrm>
            <a:off x="6199632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437376" y="18928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6437376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1000" dirty="0"/>
          </a:p>
        </p:txBody>
      </p:sp>
      <p:sp>
        <p:nvSpPr>
          <p:cNvPr id="13" name="anim_1_a"/>
          <p:cNvSpPr/>
          <p:nvPr/>
        </p:nvSpPr>
        <p:spPr>
          <a:xfrm>
            <a:off x="6473952" y="2331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20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20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144</a:t>
            </a:r>
            <a:endParaRPr lang="en-US" sz="2000" dirty="0"/>
          </a:p>
        </p:txBody>
      </p:sp>
      <p:sp>
        <p:nvSpPr>
          <p:cNvPr id="14" name="anim_2_c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_2_c"/>
          <p:cNvSpPr/>
          <p:nvPr/>
        </p:nvSpPr>
        <p:spPr>
          <a:xfrm>
            <a:off x="786384" y="39502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2_c"/>
          <p:cNvSpPr/>
          <p:nvPr/>
        </p:nvSpPr>
        <p:spPr>
          <a:xfrm>
            <a:off x="786384" y="3950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 FULLY</a:t>
            </a:r>
            <a:endParaRPr lang="en-US" sz="1000" dirty="0"/>
          </a:p>
        </p:txBody>
      </p:sp>
      <p:sp>
        <p:nvSpPr>
          <p:cNvPr id="17" name="anim_2_c"/>
          <p:cNvSpPr/>
          <p:nvPr/>
        </p:nvSpPr>
        <p:spPr>
          <a:xfrm>
            <a:off x="822960" y="4389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2a</a:t>
            </a:r>
            <a:pPr indent="0" marL="0">
              <a:buNone/>
            </a:pPr>
            <a:r>
              <a:rPr lang="en-US" sz="20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18</a:t>
            </a:r>
            <a:endParaRPr lang="en-US" sz="2000" dirty="0"/>
          </a:p>
        </p:txBody>
      </p:sp>
      <p:sp>
        <p:nvSpPr>
          <p:cNvPr id="18" name="anim_2_c"/>
          <p:cNvSpPr/>
          <p:nvPr/>
        </p:nvSpPr>
        <p:spPr>
          <a:xfrm>
            <a:off x="6199632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6437376" y="39502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6437376" y="3950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 FULLY</a:t>
            </a:r>
            <a:endParaRPr lang="en-US" sz="1000" dirty="0"/>
          </a:p>
        </p:txBody>
      </p:sp>
      <p:sp>
        <p:nvSpPr>
          <p:cNvPr id="21" name="anim_2_c"/>
          <p:cNvSpPr/>
          <p:nvPr/>
        </p:nvSpPr>
        <p:spPr>
          <a:xfrm>
            <a:off x="6473952" y="4389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(12x – y)</a:t>
            </a:r>
            <a:pPr indent="0" marL="0"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(4x – 3y)</a:t>
            </a:r>
            <a:pPr indent="0" marL="0"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5 · SOLVING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by Factorising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make it = 0     2) factorise     3) set each bracket = 0     4) solve both.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+ 7x + 6 = 0</a:t>
            </a:r>
            <a:endParaRPr lang="en-US" sz="26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602736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387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Factorise:   (x + 6)(x + 1) = 0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315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bracket = 0:   x + 6 = 0   or   x + 1 = 0</a:t>
            </a:r>
            <a:endParaRPr lang="en-US" sz="1600" dirty="0"/>
          </a:p>
        </p:txBody>
      </p:sp>
      <p:sp>
        <p:nvSpPr>
          <p:cNvPr id="17" name="anim_4_c"/>
          <p:cNvSpPr/>
          <p:nvPr/>
        </p:nvSpPr>
        <p:spPr>
          <a:xfrm>
            <a:off x="868680" y="5029200"/>
            <a:ext cx="310896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50292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–6</a:t>
            </a:r>
            <a:endParaRPr lang="en-US" sz="2000" dirty="0"/>
          </a:p>
        </p:txBody>
      </p:sp>
      <p:sp>
        <p:nvSpPr>
          <p:cNvPr id="19" name="anim_4_c"/>
          <p:cNvSpPr/>
          <p:nvPr/>
        </p:nvSpPr>
        <p:spPr>
          <a:xfrm>
            <a:off x="4206240" y="5029200"/>
            <a:ext cx="3108960" cy="603504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anim_4_c"/>
          <p:cNvSpPr/>
          <p:nvPr/>
        </p:nvSpPr>
        <p:spPr>
          <a:xfrm>
            <a:off x="4389120" y="50292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–1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5 · SOLVING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 First, then Solve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68112" cy="3931920"/>
          </a:xfrm>
          <a:prstGeom prst="roundRect">
            <a:avLst>
              <a:gd name="adj" fmla="val 2326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= –4</a:t>
            </a:r>
            <a:endParaRPr lang="en-US" sz="2200" dirty="0"/>
          </a:p>
        </p:txBody>
      </p:sp>
      <p:sp>
        <p:nvSpPr>
          <p:cNvPr id="8" name="anim_1_a"/>
          <p:cNvSpPr/>
          <p:nvPr/>
        </p:nvSpPr>
        <p:spPr>
          <a:xfrm>
            <a:off x="868680" y="24871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1_a"/>
          <p:cNvSpPr/>
          <p:nvPr/>
        </p:nvSpPr>
        <p:spPr>
          <a:xfrm>
            <a:off x="141732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= 0:  x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+ 4 = 0</a:t>
            </a:r>
            <a:endParaRPr lang="en-US" sz="1500" dirty="0"/>
          </a:p>
        </p:txBody>
      </p:sp>
      <p:sp>
        <p:nvSpPr>
          <p:cNvPr id="11" name="anim_2_c"/>
          <p:cNvSpPr/>
          <p:nvPr/>
        </p:nvSpPr>
        <p:spPr>
          <a:xfrm>
            <a:off x="86868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– 4)(x – 1) = 0</a:t>
            </a:r>
            <a:endParaRPr lang="en-US" sz="1500" dirty="0"/>
          </a:p>
        </p:txBody>
      </p:sp>
      <p:sp>
        <p:nvSpPr>
          <p:cNvPr id="14" name="anim_3_c"/>
          <p:cNvSpPr/>
          <p:nvPr/>
        </p:nvSpPr>
        <p:spPr>
          <a:xfrm>
            <a:off x="868680" y="3840480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105156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4</a:t>
            </a:r>
            <a:endParaRPr lang="en-US" sz="1700" dirty="0"/>
          </a:p>
        </p:txBody>
      </p:sp>
      <p:sp>
        <p:nvSpPr>
          <p:cNvPr id="16" name="anim_3_c"/>
          <p:cNvSpPr/>
          <p:nvPr/>
        </p:nvSpPr>
        <p:spPr>
          <a:xfrm>
            <a:off x="3246120" y="3840480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anim_3_c"/>
          <p:cNvSpPr/>
          <p:nvPr/>
        </p:nvSpPr>
        <p:spPr>
          <a:xfrm>
            <a:off x="342900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1</a:t>
            </a:r>
            <a:endParaRPr lang="en-US" sz="1700" dirty="0"/>
          </a:p>
        </p:txBody>
      </p:sp>
      <p:sp>
        <p:nvSpPr>
          <p:cNvPr id="18" name="anim_4_c"/>
          <p:cNvSpPr/>
          <p:nvPr/>
        </p:nvSpPr>
        <p:spPr>
          <a:xfrm>
            <a:off x="6172200" y="1691640"/>
            <a:ext cx="5468112" cy="3931920"/>
          </a:xfrm>
          <a:prstGeom prst="roundRect">
            <a:avLst>
              <a:gd name="adj" fmla="val 2326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anim_4_c"/>
          <p:cNvSpPr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3x</a:t>
            </a:r>
            <a:endParaRPr lang="en-US" sz="2200" dirty="0"/>
          </a:p>
        </p:txBody>
      </p:sp>
      <p:sp>
        <p:nvSpPr>
          <p:cNvPr id="20" name="anim_4_c"/>
          <p:cNvSpPr/>
          <p:nvPr/>
        </p:nvSpPr>
        <p:spPr>
          <a:xfrm>
            <a:off x="6492240" y="24871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4_c"/>
          <p:cNvSpPr/>
          <p:nvPr/>
        </p:nvSpPr>
        <p:spPr>
          <a:xfrm>
            <a:off x="64922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anim_4_c"/>
          <p:cNvSpPr/>
          <p:nvPr/>
        </p:nvSpPr>
        <p:spPr>
          <a:xfrm>
            <a:off x="704088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= 0:  x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3x = 0</a:t>
            </a:r>
            <a:endParaRPr lang="en-US" sz="1500" dirty="0"/>
          </a:p>
        </p:txBody>
      </p:sp>
      <p:sp>
        <p:nvSpPr>
          <p:cNvPr id="23" name="anim_5_c"/>
          <p:cNvSpPr/>
          <p:nvPr/>
        </p:nvSpPr>
        <p:spPr>
          <a:xfrm>
            <a:off x="649224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5_c"/>
          <p:cNvSpPr/>
          <p:nvPr/>
        </p:nvSpPr>
        <p:spPr>
          <a:xfrm>
            <a:off x="64922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anim_5_c"/>
          <p:cNvSpPr/>
          <p:nvPr/>
        </p:nvSpPr>
        <p:spPr>
          <a:xfrm>
            <a:off x="7040880" y="3108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factor x:   x(x – 3) = 0</a:t>
            </a:r>
            <a:endParaRPr lang="en-US" sz="1500" dirty="0"/>
          </a:p>
        </p:txBody>
      </p:sp>
      <p:sp>
        <p:nvSpPr>
          <p:cNvPr id="26" name="anim_6_c"/>
          <p:cNvSpPr/>
          <p:nvPr/>
        </p:nvSpPr>
        <p:spPr>
          <a:xfrm>
            <a:off x="6492240" y="3840480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anim_6_c"/>
          <p:cNvSpPr/>
          <p:nvPr/>
        </p:nvSpPr>
        <p:spPr>
          <a:xfrm>
            <a:off x="667512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</a:t>
            </a:r>
            <a:endParaRPr lang="en-US" sz="1700" dirty="0"/>
          </a:p>
        </p:txBody>
      </p:sp>
      <p:sp>
        <p:nvSpPr>
          <p:cNvPr id="28" name="anim_6_c"/>
          <p:cNvSpPr/>
          <p:nvPr/>
        </p:nvSpPr>
        <p:spPr>
          <a:xfrm>
            <a:off x="8869680" y="3840480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anim_6_c"/>
          <p:cNvSpPr/>
          <p:nvPr/>
        </p:nvSpPr>
        <p:spPr>
          <a:xfrm>
            <a:off x="905256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</a:t>
            </a:r>
            <a:endParaRPr lang="en-US" sz="1700" dirty="0"/>
          </a:p>
        </p:txBody>
      </p:sp>
      <p:sp>
        <p:nvSpPr>
          <p:cNvPr id="30" name="anim_6_c"/>
          <p:cNvSpPr/>
          <p:nvPr/>
        </p:nvSpPr>
        <p:spPr>
          <a:xfrm>
            <a:off x="6172200" y="5074920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never divide both sides by x — you would lose the solution x = 0.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5 · SOLVING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Case — Difference of Squares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3736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pPr indent="0" marL="0">
              <a:buNone/>
            </a:pPr>
            <a:r>
              <a:rPr lang="en-US" sz="24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64 = 0</a:t>
            </a:r>
            <a:endParaRPr lang="en-US" sz="2400" dirty="0"/>
          </a:p>
        </p:txBody>
      </p:sp>
      <p:sp>
        <p:nvSpPr>
          <p:cNvPr id="8" name="anim_2_c"/>
          <p:cNvSpPr/>
          <p:nvPr/>
        </p:nvSpPr>
        <p:spPr>
          <a:xfrm>
            <a:off x="868680" y="25328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2_c"/>
          <p:cNvSpPr/>
          <p:nvPr/>
        </p:nvSpPr>
        <p:spPr>
          <a:xfrm>
            <a:off x="86868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2_c"/>
          <p:cNvSpPr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of squares:   (x + 8)(x – 8) = 0</a:t>
            </a:r>
            <a:endParaRPr lang="en-US" sz="1600" dirty="0"/>
          </a:p>
        </p:txBody>
      </p:sp>
      <p:sp>
        <p:nvSpPr>
          <p:cNvPr id="11" name="anim_3_c"/>
          <p:cNvSpPr/>
          <p:nvPr/>
        </p:nvSpPr>
        <p:spPr>
          <a:xfrm>
            <a:off x="868680" y="3246120"/>
            <a:ext cx="310896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anim_3_c"/>
          <p:cNvSpPr/>
          <p:nvPr/>
        </p:nvSpPr>
        <p:spPr>
          <a:xfrm>
            <a:off x="105156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–8</a:t>
            </a:r>
            <a:endParaRPr lang="en-US" sz="1900" dirty="0"/>
          </a:p>
        </p:txBody>
      </p:sp>
      <p:sp>
        <p:nvSpPr>
          <p:cNvPr id="13" name="anim_3_c"/>
          <p:cNvSpPr/>
          <p:nvPr/>
        </p:nvSpPr>
        <p:spPr>
          <a:xfrm>
            <a:off x="4206240" y="3246120"/>
            <a:ext cx="310896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anim_3_c"/>
          <p:cNvSpPr/>
          <p:nvPr/>
        </p:nvSpPr>
        <p:spPr>
          <a:xfrm>
            <a:off x="438912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8</a:t>
            </a:r>
            <a:endParaRPr lang="en-US" sz="1900" dirty="0"/>
          </a:p>
        </p:txBody>
      </p:sp>
      <p:sp>
        <p:nvSpPr>
          <p:cNvPr id="15" name="anim_4_c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SOLVE</a:t>
            </a:r>
            <a:endParaRPr lang="en-US" sz="1200" dirty="0"/>
          </a:p>
        </p:txBody>
      </p:sp>
      <p:sp>
        <p:nvSpPr>
          <p:cNvPr id="16" name="anim_4_c"/>
          <p:cNvSpPr/>
          <p:nvPr/>
        </p:nvSpPr>
        <p:spPr>
          <a:xfrm>
            <a:off x="548640" y="46177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7" name="anim_4_c"/>
          <p:cNvSpPr/>
          <p:nvPr/>
        </p:nvSpPr>
        <p:spPr>
          <a:xfrm>
            <a:off x="749808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74980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anim_4_c"/>
          <p:cNvSpPr/>
          <p:nvPr/>
        </p:nvSpPr>
        <p:spPr>
          <a:xfrm>
            <a:off x="1225296" y="4617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+ 8x + 12 = 0</a:t>
            </a:r>
            <a:endParaRPr lang="en-US" sz="1800" dirty="0"/>
          </a:p>
        </p:txBody>
      </p:sp>
      <p:sp>
        <p:nvSpPr>
          <p:cNvPr id="20" name="anim_4_c"/>
          <p:cNvSpPr/>
          <p:nvPr/>
        </p:nvSpPr>
        <p:spPr>
          <a:xfrm>
            <a:off x="4261104" y="46177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1" name="anim_4_c"/>
          <p:cNvSpPr/>
          <p:nvPr/>
        </p:nvSpPr>
        <p:spPr>
          <a:xfrm>
            <a:off x="4462272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2" name="anim_4_c"/>
          <p:cNvSpPr/>
          <p:nvPr/>
        </p:nvSpPr>
        <p:spPr>
          <a:xfrm>
            <a:off x="4462272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anim_4_c"/>
          <p:cNvSpPr/>
          <p:nvPr/>
        </p:nvSpPr>
        <p:spPr>
          <a:xfrm>
            <a:off x="4937760" y="4617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7x + 12 = 0</a:t>
            </a:r>
            <a:endParaRPr lang="en-US" sz="1800" dirty="0"/>
          </a:p>
        </p:txBody>
      </p:sp>
      <p:sp>
        <p:nvSpPr>
          <p:cNvPr id="24" name="anim_4_c"/>
          <p:cNvSpPr/>
          <p:nvPr/>
        </p:nvSpPr>
        <p:spPr>
          <a:xfrm>
            <a:off x="7973568" y="461772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5" name="anim_4_c"/>
          <p:cNvSpPr/>
          <p:nvPr/>
        </p:nvSpPr>
        <p:spPr>
          <a:xfrm>
            <a:off x="8174736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6" name="anim_4_c"/>
          <p:cNvSpPr/>
          <p:nvPr/>
        </p:nvSpPr>
        <p:spPr>
          <a:xfrm>
            <a:off x="8174736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anim_4_c"/>
          <p:cNvSpPr/>
          <p:nvPr/>
        </p:nvSpPr>
        <p:spPr>
          <a:xfrm>
            <a:off x="8650224" y="4617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100 = 0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TECHNIQUE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Factorise   →   (b) Hence Solve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“Hence”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use your answer to (a): set each bracket = 0 and solve.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37744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 Factorise   x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+ 2x – 24</a:t>
            </a:r>
            <a:endParaRPr lang="en-US" sz="2200" dirty="0"/>
          </a:p>
        </p:txBody>
      </p:sp>
      <p:sp>
        <p:nvSpPr>
          <p:cNvPr id="10" name="anim_2_c"/>
          <p:cNvSpPr/>
          <p:nvPr/>
        </p:nvSpPr>
        <p:spPr>
          <a:xfrm>
            <a:off x="868680" y="3172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1089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numbers: 6 and –4   →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+ 6)(x – 4)</a:t>
            </a:r>
            <a:endParaRPr lang="en-US" sz="1600" dirty="0"/>
          </a:p>
        </p:txBody>
      </p:sp>
      <p:sp>
        <p:nvSpPr>
          <p:cNvPr id="13" name="anim_3_c"/>
          <p:cNvSpPr/>
          <p:nvPr/>
        </p:nvSpPr>
        <p:spPr>
          <a:xfrm>
            <a:off x="8686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 Hence solve   x</a:t>
            </a:r>
            <a:pPr indent="0" marL="0">
              <a:buNone/>
            </a:pPr>
            <a:r>
              <a:rPr lang="en-US" sz="22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+ 2x – 24 = 0</a:t>
            </a:r>
            <a:endParaRPr lang="en-US" sz="2200" dirty="0"/>
          </a:p>
        </p:txBody>
      </p:sp>
      <p:sp>
        <p:nvSpPr>
          <p:cNvPr id="14" name="anim_3_c"/>
          <p:cNvSpPr/>
          <p:nvPr/>
        </p:nvSpPr>
        <p:spPr>
          <a:xfrm>
            <a:off x="868680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3891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+ 6)(x – 4) = 0   →   x + 6 = 0  or  x – 4 = 0</a:t>
            </a:r>
            <a:endParaRPr lang="en-US" sz="1600" dirty="0"/>
          </a:p>
        </p:txBody>
      </p:sp>
      <p:sp>
        <p:nvSpPr>
          <p:cNvPr id="17" name="anim_4_c"/>
          <p:cNvSpPr/>
          <p:nvPr/>
        </p:nvSpPr>
        <p:spPr>
          <a:xfrm>
            <a:off x="868680" y="5120640"/>
            <a:ext cx="310896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–6</a:t>
            </a:r>
            <a:endParaRPr lang="en-US" sz="1900" dirty="0"/>
          </a:p>
        </p:txBody>
      </p:sp>
      <p:sp>
        <p:nvSpPr>
          <p:cNvPr id="19" name="anim_4_c"/>
          <p:cNvSpPr/>
          <p:nvPr/>
        </p:nvSpPr>
        <p:spPr>
          <a:xfrm>
            <a:off x="4206240" y="5120640"/>
            <a:ext cx="310896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anim_4_c"/>
          <p:cNvSpPr/>
          <p:nvPr/>
        </p:nvSpPr>
        <p:spPr>
          <a:xfrm>
            <a:off x="438912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4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TECHNIQUE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(a)/(b) — and the Combined Question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68112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920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Factorise   2x</a:t>
            </a:r>
            <a:pPr indent="0" marL="0">
              <a:lnSpc>
                <a:spcPct val="130000"/>
              </a:lnSpc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7x + 6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Hence solve   2x</a:t>
            </a:r>
            <a:pPr indent="0" marL="0">
              <a:lnSpc>
                <a:spcPct val="130000"/>
              </a:lnSpc>
              <a:buNone/>
            </a:pPr>
            <a:r>
              <a:rPr lang="en-US" sz="17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7x + 6 = 0</a:t>
            </a:r>
            <a:endParaRPr lang="en-US" sz="1700" dirty="0"/>
          </a:p>
        </p:txBody>
      </p:sp>
      <p:sp>
        <p:nvSpPr>
          <p:cNvPr id="8" name="anim_1_a"/>
          <p:cNvSpPr/>
          <p:nvPr/>
        </p:nvSpPr>
        <p:spPr>
          <a:xfrm>
            <a:off x="868680" y="36576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the speaker notes — reveal after students attempt it.</a:t>
            </a:r>
            <a:endParaRPr lang="en-US" sz="1250" dirty="0"/>
          </a:p>
        </p:txBody>
      </p:sp>
      <p:sp>
        <p:nvSpPr>
          <p:cNvPr id="9" name="anim_2_c"/>
          <p:cNvSpPr/>
          <p:nvPr/>
        </p:nvSpPr>
        <p:spPr>
          <a:xfrm>
            <a:off x="6172200" y="1691640"/>
            <a:ext cx="5468112" cy="4114800"/>
          </a:xfrm>
          <a:prstGeom prst="roundRect">
            <a:avLst>
              <a:gd name="adj" fmla="val 2222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nim_2_c"/>
          <p:cNvSpPr/>
          <p:nvPr/>
        </p:nvSpPr>
        <p:spPr>
          <a:xfrm>
            <a:off x="649224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QUESTION</a:t>
            </a:r>
            <a:endParaRPr lang="en-US" sz="1100" dirty="0"/>
          </a:p>
        </p:txBody>
      </p:sp>
      <p:sp>
        <p:nvSpPr>
          <p:cNvPr id="11" name="anim_2_c"/>
          <p:cNvSpPr/>
          <p:nvPr/>
        </p:nvSpPr>
        <p:spPr>
          <a:xfrm>
            <a:off x="649224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6x</a:t>
            </a:r>
            <a:pPr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x – 12 = 0</a:t>
            </a:r>
            <a:endParaRPr lang="en-US" sz="2100" dirty="0"/>
          </a:p>
        </p:txBody>
      </p:sp>
      <p:sp>
        <p:nvSpPr>
          <p:cNvPr id="12" name="anim_3_c"/>
          <p:cNvSpPr/>
          <p:nvPr/>
        </p:nvSpPr>
        <p:spPr>
          <a:xfrm>
            <a:off x="6492240" y="28529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3_c"/>
          <p:cNvSpPr/>
          <p:nvPr/>
        </p:nvSpPr>
        <p:spPr>
          <a:xfrm>
            <a:off x="64922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anim_3_c"/>
          <p:cNvSpPr/>
          <p:nvPr/>
        </p:nvSpPr>
        <p:spPr>
          <a:xfrm>
            <a:off x="7040880" y="2788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Factorise:  (3x + 4)(2x – 3) = 0</a:t>
            </a:r>
            <a:endParaRPr lang="en-US" sz="1450" dirty="0"/>
          </a:p>
        </p:txBody>
      </p:sp>
      <p:sp>
        <p:nvSpPr>
          <p:cNvPr id="15" name="anim_4_c"/>
          <p:cNvSpPr/>
          <p:nvPr/>
        </p:nvSpPr>
        <p:spPr>
          <a:xfrm>
            <a:off x="6492240" y="35387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4_c"/>
          <p:cNvSpPr/>
          <p:nvPr/>
        </p:nvSpPr>
        <p:spPr>
          <a:xfrm>
            <a:off x="649224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anim_4_c"/>
          <p:cNvSpPr/>
          <p:nvPr/>
        </p:nvSpPr>
        <p:spPr>
          <a:xfrm>
            <a:off x="7040880" y="3474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 + 4 = 0   or   2x – 3 = 0</a:t>
            </a:r>
            <a:endParaRPr lang="en-US" sz="1450" dirty="0"/>
          </a:p>
        </p:txBody>
      </p:sp>
      <p:sp>
        <p:nvSpPr>
          <p:cNvPr id="18" name="anim_5_c"/>
          <p:cNvSpPr/>
          <p:nvPr/>
        </p:nvSpPr>
        <p:spPr>
          <a:xfrm>
            <a:off x="6858000" y="41422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</a:t>
            </a:r>
            <a:endParaRPr lang="en-US" sz="1600" dirty="0"/>
          </a:p>
        </p:txBody>
      </p:sp>
      <p:sp>
        <p:nvSpPr>
          <p:cNvPr id="19" name="anim_5_c"/>
          <p:cNvSpPr/>
          <p:nvPr/>
        </p:nvSpPr>
        <p:spPr>
          <a:xfrm>
            <a:off x="6894576" y="4617720"/>
            <a:ext cx="932688" cy="0"/>
          </a:xfrm>
          <a:prstGeom prst="line">
            <a:avLst/>
          </a:prstGeom>
          <a:noFill/>
          <a:ln w="25400">
            <a:solidFill>
              <a:srgbClr val="24332D"/>
            </a:solidFill>
            <a:prstDash val="solid"/>
          </a:ln>
        </p:spPr>
      </p:sp>
      <p:sp>
        <p:nvSpPr>
          <p:cNvPr id="20" name="anim_5_c"/>
          <p:cNvSpPr/>
          <p:nvPr/>
        </p:nvSpPr>
        <p:spPr>
          <a:xfrm>
            <a:off x="6858000" y="46634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anim_5_c"/>
          <p:cNvSpPr/>
          <p:nvPr/>
        </p:nvSpPr>
        <p:spPr>
          <a:xfrm>
            <a:off x="635508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</a:t>
            </a:r>
            <a:endParaRPr lang="en-US" sz="1700" dirty="0"/>
          </a:p>
        </p:txBody>
      </p:sp>
      <p:sp>
        <p:nvSpPr>
          <p:cNvPr id="22" name="anim_5_c"/>
          <p:cNvSpPr/>
          <p:nvPr/>
        </p:nvSpPr>
        <p:spPr>
          <a:xfrm>
            <a:off x="82296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  x = 1.5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6 · THE FORMULA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Quadratic Formula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0020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27000" dist="50800" dir="5400000">
              <a:srgbClr val="000000">
                <a:alpha val="16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  ax² + bx + c = 0</a:t>
            </a:r>
            <a:endParaRPr lang="en-US" sz="1800" dirty="0"/>
          </a:p>
        </p:txBody>
      </p:sp>
      <p:sp>
        <p:nvSpPr>
          <p:cNvPr id="8" name="anim_1_a"/>
          <p:cNvSpPr/>
          <p:nvPr/>
        </p:nvSpPr>
        <p:spPr>
          <a:xfrm>
            <a:off x="4892040" y="22219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–b ± √(b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4ac)</a:t>
            </a:r>
            <a:endParaRPr lang="en-US" sz="2200" dirty="0"/>
          </a:p>
        </p:txBody>
      </p:sp>
      <p:sp>
        <p:nvSpPr>
          <p:cNvPr id="9" name="anim_1_a"/>
          <p:cNvSpPr/>
          <p:nvPr/>
        </p:nvSpPr>
        <p:spPr>
          <a:xfrm>
            <a:off x="4928616" y="2697480"/>
            <a:ext cx="2395728" cy="0"/>
          </a:xfrm>
          <a:prstGeom prst="line">
            <a:avLst/>
          </a:prstGeom>
          <a:noFill/>
          <a:ln w="25400">
            <a:solidFill>
              <a:srgbClr val="E0AC2B"/>
            </a:solidFill>
            <a:prstDash val="solid"/>
          </a:ln>
        </p:spPr>
      </p:sp>
      <p:sp>
        <p:nvSpPr>
          <p:cNvPr id="10" name="anim_1_a"/>
          <p:cNvSpPr/>
          <p:nvPr/>
        </p:nvSpPr>
        <p:spPr>
          <a:xfrm>
            <a:off x="489204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2a</a:t>
            </a:r>
            <a:endParaRPr lang="en-US" sz="2200" dirty="0"/>
          </a:p>
        </p:txBody>
      </p:sp>
      <p:sp>
        <p:nvSpPr>
          <p:cNvPr id="11" name="anim_1_a"/>
          <p:cNvSpPr/>
          <p:nvPr/>
        </p:nvSpPr>
        <p:spPr>
          <a:xfrm>
            <a:off x="393192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</a:t>
            </a:r>
            <a:endParaRPr lang="en-US" sz="2600" dirty="0"/>
          </a:p>
        </p:txBody>
      </p:sp>
      <p:sp>
        <p:nvSpPr>
          <p:cNvPr id="12" name="anim_2_c"/>
          <p:cNvSpPr/>
          <p:nvPr/>
        </p:nvSpPr>
        <p:spPr>
          <a:xfrm>
            <a:off x="548640" y="3611880"/>
            <a:ext cx="11091672" cy="2331720"/>
          </a:xfrm>
          <a:prstGeom prst="roundRect">
            <a:avLst>
              <a:gd name="adj" fmla="val 3922"/>
            </a:avLst>
          </a:prstGeom>
          <a:solidFill>
            <a:srgbClr val="FBEAE3"/>
          </a:solidFill>
          <a:ln w="15875">
            <a:solidFill>
              <a:srgbClr val="C84F2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anim_2_c"/>
          <p:cNvSpPr/>
          <p:nvPr/>
        </p:nvSpPr>
        <p:spPr>
          <a:xfrm>
            <a:off x="868680" y="37947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I USE THE FORMULA?</a:t>
            </a:r>
            <a:endParaRPr lang="en-US" sz="1300" dirty="0"/>
          </a:p>
        </p:txBody>
      </p:sp>
      <p:sp>
        <p:nvSpPr>
          <p:cNvPr id="14" name="anim_2_c"/>
          <p:cNvSpPr/>
          <p:nvPr/>
        </p:nvSpPr>
        <p:spPr>
          <a:xfrm>
            <a:off x="868680" y="4160520"/>
            <a:ext cx="10332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quadratic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 factorise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the giveaway is when the question asks you to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 your answer to 2/3 significant figures”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“round your answer”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A nice whole-number factorisation never needs rounding, so rounding = use the formula.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6 · THE FORMULA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“give answers to 3 s.f.”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548640" y="1554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7x + 8 = 0 ,  giving answers to 3 s.f.</a:t>
            </a:r>
            <a:endParaRPr lang="en-US" sz="2100" dirty="0"/>
          </a:p>
        </p:txBody>
      </p:sp>
      <p:sp>
        <p:nvSpPr>
          <p:cNvPr id="8" name="anim_2_c"/>
          <p:cNvSpPr/>
          <p:nvPr/>
        </p:nvSpPr>
        <p:spPr>
          <a:xfrm>
            <a:off x="548640" y="2514600"/>
            <a:ext cx="11091672" cy="3429000"/>
          </a:xfrm>
          <a:prstGeom prst="roundRect">
            <a:avLst>
              <a:gd name="adj" fmla="val 266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0" name="anim_2_c"/>
          <p:cNvSpPr/>
          <p:nvPr/>
        </p:nvSpPr>
        <p:spPr>
          <a:xfrm>
            <a:off x="8686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1417320" y="26974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Identify:   a = 1,  b = –7,  c = 8</a:t>
            </a:r>
            <a:endParaRPr lang="en-US" sz="1600" dirty="0"/>
          </a:p>
        </p:txBody>
      </p:sp>
      <p:sp>
        <p:nvSpPr>
          <p:cNvPr id="12" name="anim_3_c"/>
          <p:cNvSpPr/>
          <p:nvPr/>
        </p:nvSpPr>
        <p:spPr>
          <a:xfrm>
            <a:off x="868680" y="3474720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3_c"/>
          <p:cNvSpPr/>
          <p:nvPr/>
        </p:nvSpPr>
        <p:spPr>
          <a:xfrm>
            <a:off x="8686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anim_3_c"/>
          <p:cNvSpPr/>
          <p:nvPr/>
        </p:nvSpPr>
        <p:spPr>
          <a:xfrm>
            <a:off x="1417320" y="34107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Substitute:   x = ( 7 ± √( (–7)</a:t>
            </a:r>
            <a:pPr indent="0" marL="0">
              <a:lnSpc>
                <a:spcPct val="105000"/>
              </a:lnSpc>
              <a:buNone/>
            </a:pP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4×1×8 ) ) ÷ 2</a:t>
            </a:r>
            <a:endParaRPr lang="en-US" sz="1600" dirty="0"/>
          </a:p>
        </p:txBody>
      </p:sp>
      <p:sp>
        <p:nvSpPr>
          <p:cNvPr id="15" name="anim_4_c"/>
          <p:cNvSpPr/>
          <p:nvPr/>
        </p:nvSpPr>
        <p:spPr>
          <a:xfrm>
            <a:off x="868680" y="4187952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6" name="anim_4_c"/>
          <p:cNvSpPr/>
          <p:nvPr/>
        </p:nvSpPr>
        <p:spPr>
          <a:xfrm>
            <a:off x="86868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anim_4_c"/>
          <p:cNvSpPr/>
          <p:nvPr/>
        </p:nvSpPr>
        <p:spPr>
          <a:xfrm>
            <a:off x="1417320" y="412394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Discriminant:   49 – 32 = 17   →   x = ( 7 ± √17 ) ÷ 2</a:t>
            </a:r>
            <a:endParaRPr lang="en-US" sz="1600" dirty="0"/>
          </a:p>
        </p:txBody>
      </p:sp>
      <p:sp>
        <p:nvSpPr>
          <p:cNvPr id="18" name="anim_5_c"/>
          <p:cNvSpPr/>
          <p:nvPr/>
        </p:nvSpPr>
        <p:spPr>
          <a:xfrm>
            <a:off x="868680" y="4937760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anim_5_c"/>
          <p:cNvSpPr/>
          <p:nvPr/>
        </p:nvSpPr>
        <p:spPr>
          <a:xfrm>
            <a:off x="1051560" y="4937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5.56   or   x = 1.44</a:t>
            </a:r>
            <a:endParaRPr lang="en-US" sz="2000" dirty="0"/>
          </a:p>
        </p:txBody>
      </p:sp>
      <p:sp>
        <p:nvSpPr>
          <p:cNvPr id="20" name="anim_5_c"/>
          <p:cNvSpPr/>
          <p:nvPr/>
        </p:nvSpPr>
        <p:spPr>
          <a:xfrm>
            <a:off x="612648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(to 3 s.f.)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· EXAM PRACTICE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Using the Quadratic Formula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68112" cy="4114800"/>
          </a:xfrm>
          <a:prstGeom prst="roundRect">
            <a:avLst>
              <a:gd name="adj" fmla="val 2222"/>
            </a:avLst>
          </a:prstGeom>
          <a:solidFill>
            <a:srgbClr val="EEF1E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2x</a:t>
            </a:r>
            <a:pPr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– 3 = 0</a:t>
            </a:r>
            <a:endParaRPr lang="en-US" sz="2100" dirty="0"/>
          </a:p>
        </p:txBody>
      </p:sp>
      <p:sp>
        <p:nvSpPr>
          <p:cNvPr id="8" name="anim_1_a"/>
          <p:cNvSpPr/>
          <p:nvPr/>
        </p:nvSpPr>
        <p:spPr>
          <a:xfrm>
            <a:off x="86868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answers to 2 d.p.</a:t>
            </a:r>
            <a:endParaRPr lang="en-US" sz="1250" dirty="0"/>
          </a:p>
        </p:txBody>
      </p:sp>
      <p:sp>
        <p:nvSpPr>
          <p:cNvPr id="9" name="anim_2_c"/>
          <p:cNvSpPr/>
          <p:nvPr/>
        </p:nvSpPr>
        <p:spPr>
          <a:xfrm>
            <a:off x="868680" y="28072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0" name="anim_2_c"/>
          <p:cNvSpPr/>
          <p:nvPr/>
        </p:nvSpPr>
        <p:spPr>
          <a:xfrm>
            <a:off x="86868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141732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2,  b = 6,  c = –3</a:t>
            </a:r>
            <a:endParaRPr lang="en-US" sz="1500" dirty="0"/>
          </a:p>
        </p:txBody>
      </p:sp>
      <p:sp>
        <p:nvSpPr>
          <p:cNvPr id="12" name="anim_2_c"/>
          <p:cNvSpPr/>
          <p:nvPr/>
        </p:nvSpPr>
        <p:spPr>
          <a:xfrm>
            <a:off x="868680" y="34472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2_c"/>
          <p:cNvSpPr/>
          <p:nvPr/>
        </p:nvSpPr>
        <p:spPr>
          <a:xfrm>
            <a:off x="86868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anim_2_c"/>
          <p:cNvSpPr/>
          <p:nvPr/>
        </p:nvSpPr>
        <p:spPr>
          <a:xfrm>
            <a:off x="1417320" y="3383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–4ac = 36 + 24 = 60</a:t>
            </a:r>
            <a:endParaRPr lang="en-US" sz="1500" dirty="0"/>
          </a:p>
        </p:txBody>
      </p:sp>
      <p:sp>
        <p:nvSpPr>
          <p:cNvPr id="15" name="anim_3_c"/>
          <p:cNvSpPr/>
          <p:nvPr/>
        </p:nvSpPr>
        <p:spPr>
          <a:xfrm>
            <a:off x="868680" y="411480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anim_3_c"/>
          <p:cNvSpPr/>
          <p:nvPr/>
        </p:nvSpPr>
        <p:spPr>
          <a:xfrm>
            <a:off x="105156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0.44   or   x = –3.44</a:t>
            </a:r>
            <a:endParaRPr lang="en-US" sz="1700" dirty="0"/>
          </a:p>
        </p:txBody>
      </p:sp>
      <p:sp>
        <p:nvSpPr>
          <p:cNvPr id="17" name="anim_4_c"/>
          <p:cNvSpPr/>
          <p:nvPr/>
        </p:nvSpPr>
        <p:spPr>
          <a:xfrm>
            <a:off x="6172200" y="1691640"/>
            <a:ext cx="5468112" cy="4114800"/>
          </a:xfrm>
          <a:prstGeom prst="roundRect">
            <a:avLst>
              <a:gd name="adj" fmla="val 2222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3x</a:t>
            </a:r>
            <a:pPr indent="0" marL="0">
              <a:buNone/>
            </a:pPr>
            <a:r>
              <a:rPr lang="en-US" sz="21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1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– 1 = 0</a:t>
            </a:r>
            <a:endParaRPr lang="en-US" sz="2100" dirty="0"/>
          </a:p>
        </p:txBody>
      </p:sp>
      <p:sp>
        <p:nvSpPr>
          <p:cNvPr id="19" name="anim_4_c"/>
          <p:cNvSpPr/>
          <p:nvPr/>
        </p:nvSpPr>
        <p:spPr>
          <a:xfrm>
            <a:off x="6492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answers to 3 s.f.</a:t>
            </a:r>
            <a:endParaRPr lang="en-US" sz="1250" dirty="0"/>
          </a:p>
        </p:txBody>
      </p:sp>
      <p:sp>
        <p:nvSpPr>
          <p:cNvPr id="20" name="anim_5_c"/>
          <p:cNvSpPr/>
          <p:nvPr/>
        </p:nvSpPr>
        <p:spPr>
          <a:xfrm>
            <a:off x="6492240" y="28072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1" name="anim_5_c"/>
          <p:cNvSpPr/>
          <p:nvPr/>
        </p:nvSpPr>
        <p:spPr>
          <a:xfrm>
            <a:off x="64922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anim_5_c"/>
          <p:cNvSpPr/>
          <p:nvPr/>
        </p:nvSpPr>
        <p:spPr>
          <a:xfrm>
            <a:off x="7040880" y="2743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3,  b = –5,  c = –1</a:t>
            </a:r>
            <a:endParaRPr lang="en-US" sz="1500" dirty="0"/>
          </a:p>
        </p:txBody>
      </p:sp>
      <p:sp>
        <p:nvSpPr>
          <p:cNvPr id="23" name="anim_5_c"/>
          <p:cNvSpPr/>
          <p:nvPr/>
        </p:nvSpPr>
        <p:spPr>
          <a:xfrm>
            <a:off x="6492240" y="34472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4" name="anim_5_c"/>
          <p:cNvSpPr/>
          <p:nvPr/>
        </p:nvSpPr>
        <p:spPr>
          <a:xfrm>
            <a:off x="6492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anim_5_c"/>
          <p:cNvSpPr/>
          <p:nvPr/>
        </p:nvSpPr>
        <p:spPr>
          <a:xfrm>
            <a:off x="7040880" y="3383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–4ac = 25 + 12 = 37</a:t>
            </a:r>
            <a:endParaRPr lang="en-US" sz="1500" dirty="0"/>
          </a:p>
        </p:txBody>
      </p:sp>
      <p:sp>
        <p:nvSpPr>
          <p:cNvPr id="26" name="anim_6_c"/>
          <p:cNvSpPr/>
          <p:nvPr/>
        </p:nvSpPr>
        <p:spPr>
          <a:xfrm>
            <a:off x="6492240" y="411480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anim_6_c"/>
          <p:cNvSpPr/>
          <p:nvPr/>
        </p:nvSpPr>
        <p:spPr>
          <a:xfrm>
            <a:off x="667512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1.85   or   x = –0.180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DISCRIMINANT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b² – 4ac — How Many Solutions?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54864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b² – 4ac &gt; 0</a:t>
            </a:r>
            <a:endParaRPr lang="en-US" sz="1800" dirty="0"/>
          </a:p>
        </p:txBody>
      </p:sp>
      <p:sp>
        <p:nvSpPr>
          <p:cNvPr id="8" name="anim_1_a"/>
          <p:cNvSpPr/>
          <p:nvPr/>
        </p:nvSpPr>
        <p:spPr>
          <a:xfrm>
            <a:off x="548640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solutions</a:t>
            </a:r>
            <a:endParaRPr lang="en-US" sz="1400" dirty="0"/>
          </a:p>
        </p:txBody>
      </p:sp>
      <p:sp>
        <p:nvSpPr>
          <p:cNvPr id="9" name="anim_1_a"/>
          <p:cNvSpPr/>
          <p:nvPr/>
        </p:nvSpPr>
        <p:spPr>
          <a:xfrm>
            <a:off x="4261104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anim_1_a"/>
          <p:cNvSpPr/>
          <p:nvPr/>
        </p:nvSpPr>
        <p:spPr>
          <a:xfrm>
            <a:off x="4261104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b² – 4ac = 0</a:t>
            </a:r>
            <a:endParaRPr lang="en-US" sz="1800" dirty="0"/>
          </a:p>
        </p:txBody>
      </p:sp>
      <p:sp>
        <p:nvSpPr>
          <p:cNvPr id="11" name="anim_1_a"/>
          <p:cNvSpPr/>
          <p:nvPr/>
        </p:nvSpPr>
        <p:spPr>
          <a:xfrm>
            <a:off x="4261104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solution</a:t>
            </a:r>
            <a:endParaRPr lang="en-US" sz="1400" dirty="0"/>
          </a:p>
        </p:txBody>
      </p:sp>
      <p:sp>
        <p:nvSpPr>
          <p:cNvPr id="12" name="anim_1_a"/>
          <p:cNvSpPr/>
          <p:nvPr/>
        </p:nvSpPr>
        <p:spPr>
          <a:xfrm>
            <a:off x="7973568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BEAE3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anim_1_a"/>
          <p:cNvSpPr/>
          <p:nvPr/>
        </p:nvSpPr>
        <p:spPr>
          <a:xfrm>
            <a:off x="7973568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b² – 4ac &lt; 0</a:t>
            </a:r>
            <a:endParaRPr lang="en-US" sz="1800" dirty="0"/>
          </a:p>
        </p:txBody>
      </p:sp>
      <p:sp>
        <p:nvSpPr>
          <p:cNvPr id="14" name="anim_1_a"/>
          <p:cNvSpPr/>
          <p:nvPr/>
        </p:nvSpPr>
        <p:spPr>
          <a:xfrm>
            <a:off x="7973568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solutions</a:t>
            </a:r>
            <a:endParaRPr lang="en-US" sz="1400" dirty="0"/>
          </a:p>
        </p:txBody>
      </p:sp>
      <p:sp>
        <p:nvSpPr>
          <p:cNvPr id="15" name="anim_2_c"/>
          <p:cNvSpPr/>
          <p:nvPr/>
        </p:nvSpPr>
        <p:spPr>
          <a:xfrm>
            <a:off x="548640" y="3383280"/>
            <a:ext cx="5468112" cy="2560320"/>
          </a:xfrm>
          <a:prstGeom prst="roundRect">
            <a:avLst>
              <a:gd name="adj" fmla="val 3571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anim_2_c"/>
          <p:cNvSpPr/>
          <p:nvPr/>
        </p:nvSpPr>
        <p:spPr>
          <a:xfrm>
            <a:off x="86868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SOLUTION</a:t>
            </a:r>
            <a:endParaRPr lang="en-US" sz="1100" dirty="0"/>
          </a:p>
        </p:txBody>
      </p:sp>
      <p:sp>
        <p:nvSpPr>
          <p:cNvPr id="17" name="anim_2_c"/>
          <p:cNvSpPr/>
          <p:nvPr/>
        </p:nvSpPr>
        <p:spPr>
          <a:xfrm>
            <a:off x="86868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9x</a:t>
            </a:r>
            <a:pPr indent="0" marL="0">
              <a:buNone/>
            </a:pP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12x + 4 = 0</a:t>
            </a:r>
            <a:endParaRPr lang="en-US" sz="1800" dirty="0"/>
          </a:p>
        </p:txBody>
      </p:sp>
      <p:sp>
        <p:nvSpPr>
          <p:cNvPr id="18" name="anim_2_c"/>
          <p:cNvSpPr/>
          <p:nvPr/>
        </p:nvSpPr>
        <p:spPr>
          <a:xfrm>
            <a:off x="868680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2_c"/>
          <p:cNvSpPr/>
          <p:nvPr/>
        </p:nvSpPr>
        <p:spPr>
          <a:xfrm>
            <a:off x="8686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anim_2_c"/>
          <p:cNvSpPr/>
          <p:nvPr/>
        </p:nvSpPr>
        <p:spPr>
          <a:xfrm>
            <a:off x="141732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4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–4ac = 144 – 144 = 0</a:t>
            </a:r>
            <a:endParaRPr lang="en-US" sz="1450" dirty="0"/>
          </a:p>
        </p:txBody>
      </p:sp>
      <p:sp>
        <p:nvSpPr>
          <p:cNvPr id="21" name="anim_2_c"/>
          <p:cNvSpPr/>
          <p:nvPr/>
        </p:nvSpPr>
        <p:spPr>
          <a:xfrm>
            <a:off x="868680" y="50749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anim_2_c"/>
          <p:cNvSpPr/>
          <p:nvPr/>
        </p:nvSpPr>
        <p:spPr>
          <a:xfrm>
            <a:off x="105156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</a:t>
            </a:r>
            <a:endParaRPr lang="en-US" sz="1600" dirty="0"/>
          </a:p>
        </p:txBody>
      </p:sp>
      <p:sp>
        <p:nvSpPr>
          <p:cNvPr id="23" name="anim_2_c"/>
          <p:cNvSpPr/>
          <p:nvPr/>
        </p:nvSpPr>
        <p:spPr>
          <a:xfrm>
            <a:off x="1828800" y="48554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anim_2_c"/>
          <p:cNvSpPr/>
          <p:nvPr/>
        </p:nvSpPr>
        <p:spPr>
          <a:xfrm>
            <a:off x="1865376" y="5330952"/>
            <a:ext cx="384048" cy="0"/>
          </a:xfrm>
          <a:prstGeom prst="line">
            <a:avLst/>
          </a:prstGeom>
          <a:noFill/>
          <a:ln w="25400">
            <a:solidFill>
              <a:srgbClr val="E0AC2B"/>
            </a:solidFill>
            <a:prstDash val="solid"/>
          </a:ln>
        </p:spPr>
      </p:sp>
      <p:sp>
        <p:nvSpPr>
          <p:cNvPr id="25" name="anim_2_c"/>
          <p:cNvSpPr/>
          <p:nvPr/>
        </p:nvSpPr>
        <p:spPr>
          <a:xfrm>
            <a:off x="1828800" y="53766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anim_3_c"/>
          <p:cNvSpPr/>
          <p:nvPr/>
        </p:nvSpPr>
        <p:spPr>
          <a:xfrm>
            <a:off x="6172200" y="3383280"/>
            <a:ext cx="5468112" cy="2560320"/>
          </a:xfrm>
          <a:prstGeom prst="roundRect">
            <a:avLst>
              <a:gd name="adj" fmla="val 3571"/>
            </a:avLst>
          </a:prstGeom>
          <a:solidFill>
            <a:srgbClr val="FBEAE3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anim_3_c"/>
          <p:cNvSpPr/>
          <p:nvPr/>
        </p:nvSpPr>
        <p:spPr>
          <a:xfrm>
            <a:off x="649224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SOLUTIONS</a:t>
            </a:r>
            <a:endParaRPr lang="en-US" sz="1100" dirty="0"/>
          </a:p>
        </p:txBody>
      </p:sp>
      <p:sp>
        <p:nvSpPr>
          <p:cNvPr id="28" name="anim_3_c"/>
          <p:cNvSpPr/>
          <p:nvPr/>
        </p:nvSpPr>
        <p:spPr>
          <a:xfrm>
            <a:off x="649224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pPr indent="0" marL="0">
              <a:buNone/>
            </a:pP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x + 3 = 0</a:t>
            </a:r>
            <a:endParaRPr lang="en-US" sz="1800" dirty="0"/>
          </a:p>
        </p:txBody>
      </p:sp>
      <p:sp>
        <p:nvSpPr>
          <p:cNvPr id="29" name="anim_3_c"/>
          <p:cNvSpPr/>
          <p:nvPr/>
        </p:nvSpPr>
        <p:spPr>
          <a:xfrm>
            <a:off x="6492240" y="44531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30" name="anim_3_c"/>
          <p:cNvSpPr/>
          <p:nvPr/>
        </p:nvSpPr>
        <p:spPr>
          <a:xfrm>
            <a:off x="64922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anim_3_c"/>
          <p:cNvSpPr/>
          <p:nvPr/>
        </p:nvSpPr>
        <p:spPr>
          <a:xfrm>
            <a:off x="704088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4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–4ac = 1 – 12 = –11</a:t>
            </a:r>
            <a:endParaRPr lang="en-US" sz="1450" dirty="0"/>
          </a:p>
        </p:txBody>
      </p:sp>
      <p:sp>
        <p:nvSpPr>
          <p:cNvPr id="32" name="anim_3_c"/>
          <p:cNvSpPr/>
          <p:nvPr/>
        </p:nvSpPr>
        <p:spPr>
          <a:xfrm>
            <a:off x="649224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√(–11) has no real value — no solutions.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PRACTICE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Mix — Choose Your Method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786384" y="18928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786384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950" dirty="0"/>
          </a:p>
        </p:txBody>
      </p:sp>
      <p:sp>
        <p:nvSpPr>
          <p:cNvPr id="9" name="anim_1_a"/>
          <p:cNvSpPr/>
          <p:nvPr/>
        </p:nvSpPr>
        <p:spPr>
          <a:xfrm>
            <a:off x="822960" y="235000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16c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+ 20cy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anim_1_a"/>
          <p:cNvSpPr/>
          <p:nvPr/>
        </p:nvSpPr>
        <p:spPr>
          <a:xfrm>
            <a:off x="4261104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4498848" y="18928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4498848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950" dirty="0"/>
          </a:p>
        </p:txBody>
      </p:sp>
      <p:sp>
        <p:nvSpPr>
          <p:cNvPr id="13" name="anim_1_a"/>
          <p:cNvSpPr/>
          <p:nvPr/>
        </p:nvSpPr>
        <p:spPr>
          <a:xfrm>
            <a:off x="4535424" y="235000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– 36</a:t>
            </a:r>
            <a:endParaRPr lang="en-US" sz="1800" dirty="0"/>
          </a:p>
        </p:txBody>
      </p:sp>
      <p:sp>
        <p:nvSpPr>
          <p:cNvPr id="14" name="anim_1_a"/>
          <p:cNvSpPr/>
          <p:nvPr/>
        </p:nvSpPr>
        <p:spPr>
          <a:xfrm>
            <a:off x="7973568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nim_1_a"/>
          <p:cNvSpPr/>
          <p:nvPr/>
        </p:nvSpPr>
        <p:spPr>
          <a:xfrm>
            <a:off x="8211312" y="189280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1_a"/>
          <p:cNvSpPr/>
          <p:nvPr/>
        </p:nvSpPr>
        <p:spPr>
          <a:xfrm>
            <a:off x="8211312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950" dirty="0"/>
          </a:p>
        </p:txBody>
      </p:sp>
      <p:sp>
        <p:nvSpPr>
          <p:cNvPr id="17" name="anim_1_a"/>
          <p:cNvSpPr/>
          <p:nvPr/>
        </p:nvSpPr>
        <p:spPr>
          <a:xfrm>
            <a:off x="8247888" y="235000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44x + 32</a:t>
            </a:r>
            <a:endParaRPr lang="en-US" sz="1800" dirty="0"/>
          </a:p>
        </p:txBody>
      </p:sp>
      <p:sp>
        <p:nvSpPr>
          <p:cNvPr id="18" name="anim_2_c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nim_2_c"/>
          <p:cNvSpPr/>
          <p:nvPr/>
        </p:nvSpPr>
        <p:spPr>
          <a:xfrm>
            <a:off x="786384" y="39959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786384" y="3995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950" dirty="0"/>
          </a:p>
        </p:txBody>
      </p:sp>
      <p:sp>
        <p:nvSpPr>
          <p:cNvPr id="21" name="anim_2_c"/>
          <p:cNvSpPr/>
          <p:nvPr/>
        </p:nvSpPr>
        <p:spPr>
          <a:xfrm>
            <a:off x="822960" y="44531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+ 8x + 12 = 0</a:t>
            </a:r>
            <a:endParaRPr lang="en-US" sz="1800" dirty="0"/>
          </a:p>
        </p:txBody>
      </p:sp>
      <p:sp>
        <p:nvSpPr>
          <p:cNvPr id="22" name="anim_2_c"/>
          <p:cNvSpPr/>
          <p:nvPr/>
        </p:nvSpPr>
        <p:spPr>
          <a:xfrm>
            <a:off x="4261104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anim_2_c"/>
          <p:cNvSpPr/>
          <p:nvPr/>
        </p:nvSpPr>
        <p:spPr>
          <a:xfrm>
            <a:off x="4498848" y="39959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4" name="anim_2_c"/>
          <p:cNvSpPr/>
          <p:nvPr/>
        </p:nvSpPr>
        <p:spPr>
          <a:xfrm>
            <a:off x="4498848" y="3995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(3 s.f.)</a:t>
            </a:r>
            <a:endParaRPr lang="en-US" sz="950" dirty="0"/>
          </a:p>
        </p:txBody>
      </p:sp>
      <p:sp>
        <p:nvSpPr>
          <p:cNvPr id="25" name="anim_2_c"/>
          <p:cNvSpPr/>
          <p:nvPr/>
        </p:nvSpPr>
        <p:spPr>
          <a:xfrm>
            <a:off x="4535424" y="44531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7x + 8 = 0</a:t>
            </a:r>
            <a:endParaRPr lang="en-US" sz="1800" dirty="0"/>
          </a:p>
        </p:txBody>
      </p:sp>
      <p:sp>
        <p:nvSpPr>
          <p:cNvPr id="26" name="anim_2_c"/>
          <p:cNvSpPr/>
          <p:nvPr/>
        </p:nvSpPr>
        <p:spPr>
          <a:xfrm>
            <a:off x="7973568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anim_2_c"/>
          <p:cNvSpPr/>
          <p:nvPr/>
        </p:nvSpPr>
        <p:spPr>
          <a:xfrm>
            <a:off x="8211312" y="39959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8211312" y="3995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FACTORISE</a:t>
            </a:r>
            <a:endParaRPr lang="en-US" sz="950" dirty="0"/>
          </a:p>
        </p:txBody>
      </p:sp>
      <p:sp>
        <p:nvSpPr>
          <p:cNvPr id="29" name="anim_2_c"/>
          <p:cNvSpPr/>
          <p:nvPr/>
        </p:nvSpPr>
        <p:spPr>
          <a:xfrm>
            <a:off x="8247888" y="44531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9x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4y</a:t>
            </a:r>
            <a:pPr indent="0" marL="0">
              <a:buNone/>
            </a:pP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3017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sx="100000" sy="100000" kx="0" ky="0" algn="bl" rotWithShape="0" blurRad="889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240" dirty="0"/>
          </a:p>
        </p:txBody>
      </p:sp>
      <p:sp>
        <p:nvSpPr>
          <p:cNvPr id="5" name="Text 3"/>
          <p:cNvSpPr/>
          <p:nvPr/>
        </p:nvSpPr>
        <p:spPr>
          <a:xfrm>
            <a:off x="1517904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Resources</a:t>
            </a:r>
            <a:endParaRPr lang="en-US" sz="3200" dirty="0"/>
          </a:p>
        </p:txBody>
      </p:sp>
      <p:sp>
        <p:nvSpPr>
          <p:cNvPr id="7" name="anim_1_a"/>
          <p:cNvSpPr/>
          <p:nvPr/>
        </p:nvSpPr>
        <p:spPr>
          <a:xfrm>
            <a:off x="73152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anim_1_a"/>
          <p:cNvSpPr/>
          <p:nvPr/>
        </p:nvSpPr>
        <p:spPr>
          <a:xfrm>
            <a:off x="100584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HCF</a:t>
            </a:r>
            <a:endParaRPr lang="en-US" sz="1500" dirty="0"/>
          </a:p>
        </p:txBody>
      </p:sp>
      <p:sp>
        <p:nvSpPr>
          <p:cNvPr id="9" name="anim_1_a"/>
          <p:cNvSpPr/>
          <p:nvPr/>
        </p:nvSpPr>
        <p:spPr>
          <a:xfrm>
            <a:off x="100584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out the highest common factor</a:t>
            </a:r>
            <a:endParaRPr lang="en-US" sz="1150" dirty="0"/>
          </a:p>
        </p:txBody>
      </p:sp>
      <p:sp>
        <p:nvSpPr>
          <p:cNvPr id="10" name="anim_1_a"/>
          <p:cNvSpPr/>
          <p:nvPr/>
        </p:nvSpPr>
        <p:spPr>
          <a:xfrm>
            <a:off x="617220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44652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1</a:t>
            </a:r>
            <a:endParaRPr lang="en-US" sz="1500" dirty="0"/>
          </a:p>
        </p:txBody>
      </p:sp>
      <p:sp>
        <p:nvSpPr>
          <p:cNvPr id="12" name="anim_1_a"/>
          <p:cNvSpPr/>
          <p:nvPr/>
        </p:nvSpPr>
        <p:spPr>
          <a:xfrm>
            <a:off x="644652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sum: multiply to c, add to b</a:t>
            </a:r>
            <a:endParaRPr lang="en-US" sz="1150" dirty="0"/>
          </a:p>
        </p:txBody>
      </p:sp>
      <p:sp>
        <p:nvSpPr>
          <p:cNvPr id="13" name="anim_2_c"/>
          <p:cNvSpPr/>
          <p:nvPr/>
        </p:nvSpPr>
        <p:spPr>
          <a:xfrm>
            <a:off x="73152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100584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≠ 1</a:t>
            </a:r>
            <a:endParaRPr lang="en-US" sz="1500" dirty="0"/>
          </a:p>
        </p:txBody>
      </p:sp>
      <p:sp>
        <p:nvSpPr>
          <p:cNvPr id="15" name="anim_2_c"/>
          <p:cNvSpPr/>
          <p:nvPr/>
        </p:nvSpPr>
        <p:spPr>
          <a:xfrm>
            <a:off x="100584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method: split the middle term</a:t>
            </a:r>
            <a:endParaRPr lang="en-US" sz="1150" dirty="0"/>
          </a:p>
        </p:txBody>
      </p:sp>
      <p:sp>
        <p:nvSpPr>
          <p:cNvPr id="16" name="anim_2_c"/>
          <p:cNvSpPr/>
          <p:nvPr/>
        </p:nvSpPr>
        <p:spPr>
          <a:xfrm>
            <a:off x="617220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644652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of squares</a:t>
            </a:r>
            <a:endParaRPr lang="en-US" sz="1500" dirty="0"/>
          </a:p>
        </p:txBody>
      </p:sp>
      <p:sp>
        <p:nvSpPr>
          <p:cNvPr id="18" name="anim_2_c"/>
          <p:cNvSpPr/>
          <p:nvPr/>
        </p:nvSpPr>
        <p:spPr>
          <a:xfrm>
            <a:off x="644652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(√ + √)(√ – √); factor out HCF first</a:t>
            </a:r>
            <a:endParaRPr lang="en-US" sz="1150" dirty="0"/>
          </a:p>
        </p:txBody>
      </p:sp>
      <p:sp>
        <p:nvSpPr>
          <p:cNvPr id="19" name="anim_3_c"/>
          <p:cNvSpPr/>
          <p:nvPr/>
        </p:nvSpPr>
        <p:spPr>
          <a:xfrm>
            <a:off x="73152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anim_3_c"/>
          <p:cNvSpPr/>
          <p:nvPr/>
        </p:nvSpPr>
        <p:spPr>
          <a:xfrm>
            <a:off x="100584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</a:t>
            </a:r>
            <a:endParaRPr lang="en-US" sz="1500" dirty="0"/>
          </a:p>
        </p:txBody>
      </p:sp>
      <p:sp>
        <p:nvSpPr>
          <p:cNvPr id="21" name="anim_3_c"/>
          <p:cNvSpPr/>
          <p:nvPr/>
        </p:nvSpPr>
        <p:spPr>
          <a:xfrm>
            <a:off x="100584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= 0, factorise, each bracket = 0</a:t>
            </a:r>
            <a:endParaRPr lang="en-US" sz="1150" dirty="0"/>
          </a:p>
        </p:txBody>
      </p:sp>
      <p:sp>
        <p:nvSpPr>
          <p:cNvPr id="22" name="anim_3_c"/>
          <p:cNvSpPr/>
          <p:nvPr/>
        </p:nvSpPr>
        <p:spPr>
          <a:xfrm>
            <a:off x="617220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anim_3_c"/>
          <p:cNvSpPr/>
          <p:nvPr/>
        </p:nvSpPr>
        <p:spPr>
          <a:xfrm>
            <a:off x="644652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500" dirty="0"/>
          </a:p>
        </p:txBody>
      </p:sp>
      <p:sp>
        <p:nvSpPr>
          <p:cNvPr id="24" name="anim_3_c"/>
          <p:cNvSpPr/>
          <p:nvPr/>
        </p:nvSpPr>
        <p:spPr>
          <a:xfrm>
            <a:off x="644652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asked to round / s.f.</a:t>
            </a:r>
            <a:endParaRPr lang="en-US" sz="1150" dirty="0"/>
          </a:p>
        </p:txBody>
      </p:sp>
      <p:sp>
        <p:nvSpPr>
          <p:cNvPr id="25" name="anim_3_c"/>
          <p:cNvSpPr/>
          <p:nvPr/>
        </p:nvSpPr>
        <p:spPr>
          <a:xfrm>
            <a:off x="731520" y="507492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16261F"/>
          </a:solidFill>
          <a:ln w="15875">
            <a:solidFill>
              <a:srgbClr val="283731"/>
            </a:solidFill>
            <a:prstDash val="solid"/>
          </a:ln>
        </p:spPr>
      </p:sp>
      <p:sp>
        <p:nvSpPr>
          <p:cNvPr id="26" name="anim_3_c">
            <a:hlinkClick r:id="rIdundefined" tooltip=""/>
          </p:cNvPr>
          <p:cNvSpPr/>
          <p:nvPr/>
        </p:nvSpPr>
        <p:spPr>
          <a:xfrm>
            <a:off x="105156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Practice:  </a:t>
            </a:r>
            <a:pPr indent="0" marL="0">
              <a:buNone/>
            </a:pPr>
            <a:r>
              <a:rPr lang="en-US" sz="1250" u="sng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wordwall.net — factorising trinomials        ✉ zahraa.sheikhali@outlook.com  ·  ☎ 66613748</a:t>
            </a:r>
            <a:endParaRPr lang="en-US" sz="1250" dirty="0"/>
          </a:p>
        </p:txBody>
      </p:sp>
      <p:sp>
        <p:nvSpPr>
          <p:cNvPr id="27" name="anim_3_c"/>
          <p:cNvSpPr/>
          <p:nvPr/>
        </p:nvSpPr>
        <p:spPr>
          <a:xfrm>
            <a:off x="1051560" y="55229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Zahra Sheikh Ali  ·  Pearson Edexcel IGCSE (9–1) Mathematics A  ·  Higher Tier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Brackets — IGCSE Mathematics (Higher Tier)</dc:title>
  <dc:subject>PptxGenJS Presentation</dc:subject>
  <dc:creator>Zahra Sheikh Ali</dc:creator>
  <cp:lastModifiedBy>Zahra Sheikh Ali</cp:lastModifiedBy>
  <cp:revision>1</cp:revision>
  <dcterms:created xsi:type="dcterms:W3CDTF">2026-06-28T09:37:02Z</dcterms:created>
  <dcterms:modified xsi:type="dcterms:W3CDTF">2026-06-28T09:37:02Z</dcterms:modified>
</cp:coreProperties>
</file>