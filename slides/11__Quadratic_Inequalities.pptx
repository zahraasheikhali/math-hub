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1005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− 3x − 10 &lt; 0</a:t>
            </a:r>
            <a:endParaRPr lang="en-US" sz="4000" dirty="0"/>
          </a:p>
        </p:txBody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 Inequalities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 · Factorise · Critical Values · The Sign Table · Read Off the Solution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</a:t>
            </a:r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Steps, No Sketching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173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1732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quadratic inequality has a curved boundary. </a:t>
            </a:r>
            <a:pPr algn="l" indent="0" marL="0">
              <a:buNone/>
            </a:pPr>
            <a:r>
              <a:rPr lang="en-US" sz="14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it equals zero, then use a sign table to decide which regions make the inequality true.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22960" y="2423160"/>
            <a:ext cx="493776" cy="49377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24231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554480" y="2377440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 so one side is 0 (compare with 0).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822960" y="3136392"/>
            <a:ext cx="493776" cy="49377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554480" y="309067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and find the two CRITICAL VALUES.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822960" y="3849624"/>
            <a:ext cx="493776" cy="49377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3849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1554480" y="38039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SIGN TABLE using those critical values.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822960" y="4562856"/>
            <a:ext cx="493776" cy="49377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4562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1554480" y="4517136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sign as a → OUTSIDE the roots;  opposite sign → BETWEEN them.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822960" y="5276088"/>
            <a:ext cx="493776" cy="49377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22960" y="5276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1554480" y="5230368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solution: one double inequality (between) or two separate ones (outside).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Sign → Outside,  Opposite → Between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&gt; 0 (if not, × by −1 and flip first).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factorising, the expression is POSITIVE outside the roots and NEGATIVE between them.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331720"/>
            <a:ext cx="3108960" cy="54864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inequality is…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3675888" y="2331720"/>
            <a:ext cx="4297680" cy="54864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3767328" y="2331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 to choose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7973568" y="2331720"/>
            <a:ext cx="3657600" cy="54864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8" name="Text 46"/>
          <p:cNvSpPr/>
          <p:nvPr/>
        </p:nvSpPr>
        <p:spPr>
          <a:xfrm>
            <a:off x="8065008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looks like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566928" y="2926080"/>
            <a:ext cx="3108960" cy="14173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292608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0   or   ≥ 0</a:t>
            </a:r>
            <a:endParaRPr lang="en-US" sz="15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(same sign as a)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3675888" y="2926080"/>
            <a:ext cx="4297680" cy="14173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3048" y="292608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 the two roots</a:t>
            </a:r>
            <a:endParaRPr lang="en-US" sz="15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(two separate pieces)</a:t>
            </a:r>
            <a:endParaRPr lang="en-US" sz="1550" dirty="0"/>
          </a:p>
        </p:txBody>
      </p:sp>
      <p:sp>
        <p:nvSpPr>
          <p:cNvPr id="53" name="Shape 51"/>
          <p:cNvSpPr/>
          <p:nvPr/>
        </p:nvSpPr>
        <p:spPr>
          <a:xfrm>
            <a:off x="7973568" y="2926080"/>
            <a:ext cx="3657600" cy="14173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10728" y="29260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&lt; p   or   x &gt; q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566928" y="4416552"/>
            <a:ext cx="3108960" cy="14173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" y="4416552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   or   ≤ 0</a:t>
            </a:r>
            <a:endParaRPr lang="en-US" sz="15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(opposite sign to a)</a:t>
            </a:r>
            <a:endParaRPr lang="en-US" sz="1550" dirty="0"/>
          </a:p>
        </p:txBody>
      </p:sp>
      <p:sp>
        <p:nvSpPr>
          <p:cNvPr id="57" name="Shape 55"/>
          <p:cNvSpPr/>
          <p:nvPr/>
        </p:nvSpPr>
        <p:spPr>
          <a:xfrm>
            <a:off x="3675888" y="4416552"/>
            <a:ext cx="4297680" cy="14173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13048" y="4416552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the two roots</a:t>
            </a:r>
            <a:endParaRPr lang="en-US" sz="15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(one joined piece)</a:t>
            </a:r>
            <a:endParaRPr lang="en-US" sz="1550" dirty="0"/>
          </a:p>
        </p:txBody>
      </p:sp>
      <p:sp>
        <p:nvSpPr>
          <p:cNvPr id="59" name="Shape 57"/>
          <p:cNvSpPr/>
          <p:nvPr/>
        </p:nvSpPr>
        <p:spPr>
          <a:xfrm>
            <a:off x="7973568" y="4416552"/>
            <a:ext cx="3657600" cy="14173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10728" y="441655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x &lt; q</a:t>
            </a:r>
            <a:endParaRPr lang="en-US" sz="1550" dirty="0"/>
          </a:p>
        </p:txBody>
      </p:sp>
      <p:sp>
        <p:nvSpPr>
          <p:cNvPr id="61" name="Text 59"/>
          <p:cNvSpPr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p &lt; q are the two critical values.  Use ≤ / ≥ (closed) when the inequality allows ‘equal to’.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GREATER THAN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‘&gt; 0’ Inequality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Solve:   </a:t>
            </a:r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+ x − 3 &gt; 4x + 1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14400" y="19019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− 3x − 4 &gt; 0</a:t>
            </a:r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Factorise: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+ 1)(x − 4) &gt; 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4400" y="2304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values:  </a:t>
            </a:r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−1 ,   x = 4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880360" y="31638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of   </a:t>
            </a:r>
            <a:pPr algn="ctr"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+ 1)(x − 4)</a:t>
            </a:r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( a &gt; 0 )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653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989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880360" y="3639312"/>
            <a:ext cx="2133600" cy="960120"/>
          </a:xfrm>
          <a:prstGeom prst="rect">
            <a:avLst/>
          </a:prstGeom>
          <a:solidFill>
            <a:srgbClr val="F4E3B6"/>
          </a:solidFill>
          <a:ln w="28575">
            <a:solidFill>
              <a:srgbClr val="E0AC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28803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013960" y="3639312"/>
            <a:ext cx="2133600" cy="96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39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50139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147560" y="3639312"/>
            <a:ext cx="2133600" cy="960120"/>
          </a:xfrm>
          <a:prstGeom prst="rect">
            <a:avLst/>
          </a:prstGeom>
          <a:solidFill>
            <a:srgbClr val="F4E3B6"/>
          </a:solidFill>
          <a:ln w="28575">
            <a:solidFill>
              <a:srgbClr val="E0AC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75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71475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2880360" y="46542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(roots split the line into three regions)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6928" y="47548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&gt; 0 — the SAME sign as a — so take the OUTSIDE (positive) regions.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66928" y="51389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41248" y="51389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&lt; −1    or    x &gt; 4</a:t>
            </a:r>
            <a:endParaRPr lang="en-US" sz="2300" dirty="0"/>
          </a:p>
        </p:txBody>
      </p:sp>
      <p:sp>
        <p:nvSpPr>
          <p:cNvPr id="61" name="Text 59"/>
          <p:cNvSpPr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regions → two separate inequalities.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GREATER OR EQUAL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Source’s Table Example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Solve:   </a:t>
            </a:r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+ x − 6 ≥ 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14400" y="19019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+ x − 6 ≥ 0</a:t>
            </a:r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Factorise: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+ 3)(x − 2) ≥ 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4400" y="2304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values:  </a:t>
            </a:r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−3 ,   x = 2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880360" y="31638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of   </a:t>
            </a:r>
            <a:pPr algn="ctr"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+ 3)(x − 2)</a:t>
            </a:r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( a &gt; 0 )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653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989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880360" y="3639312"/>
            <a:ext cx="2133600" cy="960120"/>
          </a:xfrm>
          <a:prstGeom prst="rect">
            <a:avLst/>
          </a:prstGeom>
          <a:solidFill>
            <a:srgbClr val="F4E3B6"/>
          </a:solidFill>
          <a:ln w="28575">
            <a:solidFill>
              <a:srgbClr val="E0AC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28803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013960" y="3639312"/>
            <a:ext cx="2133600" cy="96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39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50139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147560" y="3639312"/>
            <a:ext cx="2133600" cy="960120"/>
          </a:xfrm>
          <a:prstGeom prst="rect">
            <a:avLst/>
          </a:prstGeom>
          <a:solidFill>
            <a:srgbClr val="F4E3B6"/>
          </a:solidFill>
          <a:ln w="28575">
            <a:solidFill>
              <a:srgbClr val="E0AC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75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71475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2880360" y="46542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(roots split the line into three regions)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6928" y="47548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≥ 0 — same sign as a — take the OUTSIDE regions (include the roots).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66928" y="51389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41248" y="51389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≤ −3    or    x ≥ 2</a:t>
            </a:r>
            <a:endParaRPr lang="en-US" sz="2300" dirty="0"/>
          </a:p>
        </p:txBody>
      </p:sp>
      <p:sp>
        <p:nvSpPr>
          <p:cNvPr id="61" name="Text 59"/>
          <p:cNvSpPr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‘Or equal to’ → the critical values are included (closed).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LESS THAN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‘&lt; 0’ Inequality (Between)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Solve:   </a:t>
            </a:r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− 3x − 10 &lt; 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14400" y="19019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− 3x − 10 &lt; 0</a:t>
            </a:r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Factorise: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+ 2)(x − 5) &lt; 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4400" y="2304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values:  </a:t>
            </a:r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−2 ,   x = 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880360" y="31638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of   </a:t>
            </a:r>
            <a:pPr algn="ctr"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+ 2)(x − 5)</a:t>
            </a:r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( a &gt; 0 )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653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989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880360" y="3639312"/>
            <a:ext cx="2133600" cy="96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28803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013960" y="3639312"/>
            <a:ext cx="2133600" cy="960120"/>
          </a:xfrm>
          <a:prstGeom prst="rect">
            <a:avLst/>
          </a:prstGeom>
          <a:solidFill>
            <a:srgbClr val="F4E3B6"/>
          </a:solidFill>
          <a:ln w="28575">
            <a:solidFill>
              <a:srgbClr val="E0AC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39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50139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147560" y="3639312"/>
            <a:ext cx="2133600" cy="96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75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71475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2880360" y="46542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(roots split the line into three regions)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6928" y="47548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&lt; 0 — the OPPOSITE sign to a — so take the region BETWEEN the roots.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66928" y="51389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41248" y="51389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 &lt; x &lt; 5</a:t>
            </a:r>
            <a:endParaRPr lang="en-US" sz="2300" dirty="0"/>
          </a:p>
        </p:txBody>
      </p:sp>
      <p:sp>
        <p:nvSpPr>
          <p:cNvPr id="61" name="Text 59"/>
          <p:cNvSpPr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joined region → a single double-ended inequality.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WHEN a ≠ 1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Bigger Leading Coefficient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Solve:   </a:t>
            </a:r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4x² − 5x − 6 &gt; 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14400" y="19019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4x² − 5x − 6 &gt; 0</a:t>
            </a:r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Factorise: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(4x + 3)(x − 2) &gt; 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4400" y="2304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values:  </a:t>
            </a:r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−¾ ,   x = 2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880360" y="31638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of   </a:t>
            </a:r>
            <a:pPr algn="ctr"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(4x + 3)(x − 2)</a:t>
            </a:r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( a &gt; 0 )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653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−¾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989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880360" y="3639312"/>
            <a:ext cx="2133600" cy="960120"/>
          </a:xfrm>
          <a:prstGeom prst="rect">
            <a:avLst/>
          </a:prstGeom>
          <a:solidFill>
            <a:srgbClr val="F4E3B6"/>
          </a:solidFill>
          <a:ln w="28575">
            <a:solidFill>
              <a:srgbClr val="E0AC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28803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013960" y="3639312"/>
            <a:ext cx="2133600" cy="96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39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50139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147560" y="3639312"/>
            <a:ext cx="2133600" cy="960120"/>
          </a:xfrm>
          <a:prstGeom prst="rect">
            <a:avLst/>
          </a:prstGeom>
          <a:solidFill>
            <a:srgbClr val="F4E3B6"/>
          </a:solidFill>
          <a:ln w="28575">
            <a:solidFill>
              <a:srgbClr val="E0AC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75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71475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2880360" y="46542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(roots split the line into three regions)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6928" y="47548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4 &gt; 0, and we want &gt; 0 — same sign as a — take the OUTSIDE regions.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66928" y="51389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41248" y="51389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&lt; −¾    or    x &gt; 2</a:t>
            </a:r>
            <a:endParaRPr lang="en-US" sz="2300" dirty="0"/>
          </a:p>
        </p:txBody>
      </p:sp>
      <p:sp>
        <p:nvSpPr>
          <p:cNvPr id="61" name="Text 59"/>
          <p:cNvSpPr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values are −¾ and 2 — the method is identical for any a &gt; 0.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WHEN a IS NEGATIVE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by −1 and Flip First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Solve:   </a:t>
            </a:r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+ 4x − x² &gt; 0       ( a = −1 )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14400" y="19019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×(−1), FLIP:  x² − 4x − 5 &lt; 0</a:t>
            </a:r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Factorise:  </a:t>
            </a:r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− 5)(x + 1) &lt; 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4400" y="2304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values:  </a:t>
            </a:r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−1 ,   x = 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880360" y="31638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of   </a:t>
            </a:r>
            <a:pPr algn="ctr"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− 5)(x + 1)</a:t>
            </a:r>
            <a:pPr algn="ctr"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( a &gt; 0 )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653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98920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880360" y="3639312"/>
            <a:ext cx="2133600" cy="96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28803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013960" y="3639312"/>
            <a:ext cx="2133600" cy="960120"/>
          </a:xfrm>
          <a:prstGeom prst="rect">
            <a:avLst/>
          </a:prstGeom>
          <a:solidFill>
            <a:srgbClr val="F4E3B6"/>
          </a:solidFill>
          <a:ln w="28575">
            <a:solidFill>
              <a:srgbClr val="E0AC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39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50139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147560" y="3639312"/>
            <a:ext cx="2133600" cy="96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7560" y="369417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7147560" y="4242816"/>
            <a:ext cx="213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2880360" y="46542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(roots split the line into three regions)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6928" y="47548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×(−1) the sign flips to &lt; 0 — opposite to a — so take the region BETWEEN the roots.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66928" y="51389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41248" y="51389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 &lt; x &lt; 5</a:t>
            </a:r>
            <a:endParaRPr lang="en-US" sz="2300" dirty="0"/>
          </a:p>
        </p:txBody>
      </p:sp>
      <p:sp>
        <p:nvSpPr>
          <p:cNvPr id="61" name="Text 59"/>
          <p:cNvSpPr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x² term is negative, multiply EVERY term by −1 and reverse the inequality first.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PRACTICE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a — Practice Questions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630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63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x² term is negative: multiply by −1 and flip first, then use the sign table.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6928" y="23317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441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17320" y="2331720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−x² + x + 6 ≥ 0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10607040" y="233172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66928" y="3054096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2960" y="3163824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17320" y="3054096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8 − 2x − x² &lt; 0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10607040" y="305409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3776472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417320" y="3776472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3 − 2x − x² &gt; 0</a:t>
            </a:r>
            <a:endParaRPr lang="en-US" sz="1550" dirty="0"/>
          </a:p>
        </p:txBody>
      </p:sp>
      <p:sp>
        <p:nvSpPr>
          <p:cNvPr id="57" name="Text 55"/>
          <p:cNvSpPr/>
          <p:nvPr/>
        </p:nvSpPr>
        <p:spPr>
          <a:xfrm>
            <a:off x="10607040" y="37764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66928" y="449884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22960" y="460857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82296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417320" y="4498848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−x² + 5x − 6 ≥ 0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10607040" y="449884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566928" y="5221224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22960" y="5330952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2296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417320" y="5221224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10 + 3x − x² &gt; 0</a:t>
            </a:r>
            <a:endParaRPr lang="en-US" sz="1550" dirty="0"/>
          </a:p>
        </p:txBody>
      </p:sp>
      <p:sp>
        <p:nvSpPr>
          <p:cNvPr id="67" name="Text 65"/>
          <p:cNvSpPr/>
          <p:nvPr/>
        </p:nvSpPr>
        <p:spPr>
          <a:xfrm>
            <a:off x="10607040" y="5221224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66928" y="59893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</a:t>
            </a:r>
            <a:pPr indent="0" marL="0">
              <a:buNone/>
            </a:pPr>
            <a:r>
              <a:rPr lang="en-US" sz="12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−2 ≤ x ≤ 3     2) x &lt; −4 or x &gt; 2     3) −3 &lt; x &lt; 1     4) 2 ≤ x ≤ 3     5) −2 &lt; x &lt; 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PRACTICE (1 of 2)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— Exam Questions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630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63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Factorise, build the sign table, then read off. Give your answer as an inequality.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6928" y="23317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441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17320" y="2331720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x² + 3x − 10 ≤ 0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10607040" y="233172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66928" y="3054096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2960" y="3163824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17320" y="3054096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x² + 2x &gt; 6x + 5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10607040" y="305409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3776472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417320" y="3776472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5y² − 17y ≤ 40</a:t>
            </a:r>
            <a:endParaRPr lang="en-US" sz="1550" dirty="0"/>
          </a:p>
        </p:txBody>
      </p:sp>
      <p:sp>
        <p:nvSpPr>
          <p:cNvPr id="57" name="Text 55"/>
          <p:cNvSpPr/>
          <p:nvPr/>
        </p:nvSpPr>
        <p:spPr>
          <a:xfrm>
            <a:off x="10607040" y="37764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66928" y="449884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22960" y="460857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82296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417320" y="4498848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2x² + 5x − 3 &lt; 0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10607040" y="449884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566928" y="5221224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22960" y="5330952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2296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417320" y="5221224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x² ≥ 9</a:t>
            </a:r>
            <a:endParaRPr lang="en-US" sz="1550" dirty="0"/>
          </a:p>
        </p:txBody>
      </p:sp>
      <p:sp>
        <p:nvSpPr>
          <p:cNvPr id="67" name="Text 65"/>
          <p:cNvSpPr/>
          <p:nvPr/>
        </p:nvSpPr>
        <p:spPr>
          <a:xfrm>
            <a:off x="10607040" y="5221224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66928" y="59893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</a:t>
            </a:r>
            <a:pPr indent="0" marL="0">
              <a:buNone/>
            </a:pPr>
            <a:r>
              <a:rPr lang="en-US" sz="12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−5 ≤ x ≤ 2     2) x &lt; −1 or x &gt; 5     3) −8/5 ≤ y ≤ 5     4) −3 &lt; x &lt; ½     5) x ≤ −3 or x ≥ 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PRACTICE (2 of 2)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&amp; Harder — Exam Questions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630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63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need rearranging or combining with another inequality first.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6928" y="23317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441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17320" y="2331720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x² − 3x − 10 &lt; 0,  and show it on a number line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10607040" y="233172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66928" y="3054096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2960" y="3163824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17320" y="3054096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4x² − 5x − 6 &gt; 0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10607040" y="305409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3776472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417320" y="3776472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is an integer:  3n + 2 ≤ 14  and  6n / (n² + 5) &gt; 1.  Find all n</a:t>
            </a:r>
            <a:endParaRPr lang="en-US" sz="1550" dirty="0"/>
          </a:p>
        </p:txBody>
      </p:sp>
      <p:sp>
        <p:nvSpPr>
          <p:cNvPr id="57" name="Text 55"/>
          <p:cNvSpPr/>
          <p:nvPr/>
        </p:nvSpPr>
        <p:spPr>
          <a:xfrm>
            <a:off x="10607040" y="37764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66928" y="449884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22960" y="460857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82296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417320" y="4498848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rectangle is x cm by (x + 3) cm. Its area is less than 10 cm². Find the range of x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10607040" y="449884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566928" y="5221224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22960" y="5330952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2296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417320" y="5221224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x² − 7x + 10 ≥ 0</a:t>
            </a:r>
            <a:endParaRPr lang="en-US" sz="1550" dirty="0"/>
          </a:p>
        </p:txBody>
      </p:sp>
      <p:sp>
        <p:nvSpPr>
          <p:cNvPr id="67" name="Text 65"/>
          <p:cNvSpPr/>
          <p:nvPr/>
        </p:nvSpPr>
        <p:spPr>
          <a:xfrm>
            <a:off x="10607040" y="5221224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66928" y="59893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</a:t>
            </a:r>
            <a:pPr indent="0" marL="0">
              <a:buNone/>
            </a:pPr>
            <a:r>
              <a:rPr lang="en-US" sz="12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−2 &lt; x &lt; 5     2) x &lt; −¾ or x &gt; 2     3) n = 2, 3, 4     4) 0 &lt; x &lt; 2     5) x ≤ 2 or x ≥ 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to compare with 0, then factorise to get the two critical values.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sign table — with a &gt; 0 the expression is + outside the roots, − between.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 as a → take the OUTSIDE → x &lt; p or x &gt; q (two parts).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sign to a → take BETWEEN → p &lt; x &lt; q (one part).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≤ / ≥ (closed) when the inequality allows ‘equal to’; − sign in a means ×−1 and flip first.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sketch needed:  </a:t>
            </a:r>
            <a:pPr algn="ctr" indent="0" marL="0">
              <a:buNone/>
            </a:pP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 table tells you exactly which regions to keep.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 Sheikh Ali</cp:lastModifiedBy>
  <cp:revision>1</cp:revision>
  <dcterms:created xsi:type="dcterms:W3CDTF">2026-06-29T12:17:57Z</dcterms:created>
  <dcterms:modified xsi:type="dcterms:W3CDTF">2026-06-29T12:17:57Z</dcterms:modified>
</cp:coreProperties>
</file>