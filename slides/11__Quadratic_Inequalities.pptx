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A6A99A02-C8CD-4978-AB63-C1AAB5B3F3E5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C8386C7-F9F6-4D60-A78D-92FE2033858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DC2E63E-F262-4A78-86E9-605175347B8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B47A060-2EEA-4DE4-B405-8AC8EA7CCBD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7EB7B12-27ED-402C-A6FB-6ED2EC570F2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509FDB9-C072-4E6D-968E-134DB8BF051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4F8293B-4B8E-4634-9BE6-BC35CE41181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F9930E7-EE96-4E77-93B0-677A57181A7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B64A7F2-D462-47AF-A906-5EBB11EC333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9E1FA5B-8BE3-419A-AE28-603BBC1ED56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BD366DD-C25E-405D-B935-25E70D2B628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E800217-779D-4730-A2D5-C454B4864F5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7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0B6EC0C-3016-4CD3-BD49-4D07F7D9370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35"/>
          <p:cNvSpPr/>
          <p:nvPr/>
        </p:nvSpPr>
        <p:spPr>
          <a:xfrm>
            <a:off x="7315200" y="1005840"/>
            <a:ext cx="43887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4000" spc="-1" strike="noStrike">
                <a:solidFill>
                  <a:srgbClr val="33463a"/>
                </a:solidFill>
                <a:latin typeface="Cambria"/>
                <a:ea typeface="Cambria"/>
              </a:rPr>
              <a:t>x² − 3x − 10 &lt; 0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Shape 36"/>
          <p:cNvSpPr/>
          <p:nvPr/>
        </p:nvSpPr>
        <p:spPr>
          <a:xfrm>
            <a:off x="777240" y="640080"/>
            <a:ext cx="658080" cy="658080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Text 37"/>
          <p:cNvSpPr/>
          <p:nvPr/>
        </p:nvSpPr>
        <p:spPr>
          <a:xfrm>
            <a:off x="777240" y="64008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6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1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38"/>
          <p:cNvSpPr/>
          <p:nvPr/>
        </p:nvSpPr>
        <p:spPr>
          <a:xfrm>
            <a:off x="1600200" y="60336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99" strike="noStrike">
                <a:solidFill>
                  <a:srgbClr val="e0ac2b"/>
                </a:solidFill>
                <a:latin typeface="Calibri"/>
                <a:ea typeface="Calibri"/>
              </a:rPr>
              <a:t>Zπ  MATHS HUB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39"/>
          <p:cNvSpPr/>
          <p:nvPr/>
        </p:nvSpPr>
        <p:spPr>
          <a:xfrm>
            <a:off x="1600200" y="9144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9d2c5"/>
                </a:solidFill>
                <a:latin typeface="Calibri"/>
                <a:ea typeface="Calibri"/>
              </a:rPr>
              <a:t>Pearson Edexcel IGCSE (9–1) · Higher Tier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40"/>
          <p:cNvSpPr/>
          <p:nvPr/>
        </p:nvSpPr>
        <p:spPr>
          <a:xfrm>
            <a:off x="777240" y="2240280"/>
            <a:ext cx="107895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200" spc="-1" strike="noStrike">
                <a:solidFill>
                  <a:srgbClr val="e0ac2b"/>
                </a:solidFill>
                <a:latin typeface="Cambria"/>
                <a:ea typeface="Cambria"/>
              </a:rPr>
              <a:t>Quadratic Inequalities</a:t>
            </a:r>
            <a:endParaRPr b="0" lang="en-US" sz="4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41"/>
          <p:cNvSpPr/>
          <p:nvPr/>
        </p:nvSpPr>
        <p:spPr>
          <a:xfrm>
            <a:off x="804600" y="3310200"/>
            <a:ext cx="10789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edebdd"/>
                </a:solidFill>
                <a:latin typeface="Cambria"/>
                <a:ea typeface="Cambria"/>
              </a:rPr>
              <a:t>Rearrange · Factorise · Critical Values · The Sign Table · Read Off the Solution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Shape 42"/>
          <p:cNvSpPr/>
          <p:nvPr/>
        </p:nvSpPr>
        <p:spPr>
          <a:xfrm>
            <a:off x="777240" y="4297680"/>
            <a:ext cx="6766200" cy="169128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43"/>
          <p:cNvSpPr/>
          <p:nvPr/>
        </p:nvSpPr>
        <p:spPr>
          <a:xfrm>
            <a:off x="1097280" y="4498920"/>
            <a:ext cx="6126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0ac2b"/>
                </a:solidFill>
                <a:latin typeface="Cambria"/>
                <a:ea typeface="Cambria"/>
              </a:rPr>
              <a:t>Zahra Sheikh Ali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44"/>
          <p:cNvSpPr/>
          <p:nvPr/>
        </p:nvSpPr>
        <p:spPr>
          <a:xfrm>
            <a:off x="1097280" y="495612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c9d2c5"/>
                </a:solidFill>
                <a:latin typeface="Cambria"/>
                <a:ea typeface="Cambria"/>
              </a:rPr>
              <a:t>IGCSE Mathematics Teacher  ·  M.Sc. Differential Geometry &amp; Geometric Control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45"/>
          <p:cNvSpPr/>
          <p:nvPr/>
        </p:nvSpPr>
        <p:spPr>
          <a:xfrm>
            <a:off x="1097280" y="539496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☎  </a:t>
            </a: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66613748      ✉  zahraa.sheikhali@outlook.com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 METHOD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Five Steps, No Sketching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39"/>
          <p:cNvSpPr/>
          <p:nvPr/>
        </p:nvSpPr>
        <p:spPr>
          <a:xfrm>
            <a:off x="567000" y="1417320"/>
            <a:ext cx="11063880" cy="749520"/>
          </a:xfrm>
          <a:prstGeom prst="roundRect">
            <a:avLst>
              <a:gd name="adj" fmla="val 731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40"/>
          <p:cNvSpPr/>
          <p:nvPr/>
        </p:nvSpPr>
        <p:spPr>
          <a:xfrm>
            <a:off x="887040" y="1417320"/>
            <a:ext cx="104238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0ac2b"/>
                </a:solidFill>
                <a:latin typeface="Calibri"/>
                <a:ea typeface="Calibri"/>
              </a:rPr>
              <a:t>A quadratic inequality has a curved boundary. </a:t>
            </a:r>
            <a:r>
              <a:rPr b="0" lang="en-US" sz="1400" spc="-1" strike="noStrike">
                <a:solidFill>
                  <a:srgbClr val="edebdd"/>
                </a:solidFill>
                <a:latin typeface="Calibri"/>
                <a:ea typeface="Calibri"/>
              </a:rPr>
              <a:t>Find where it equals zero, then use a sign table to decide which regions make the inequality true.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Shape 41"/>
          <p:cNvSpPr/>
          <p:nvPr/>
        </p:nvSpPr>
        <p:spPr>
          <a:xfrm>
            <a:off x="822960" y="2423160"/>
            <a:ext cx="493560" cy="4935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 42"/>
          <p:cNvSpPr/>
          <p:nvPr/>
        </p:nvSpPr>
        <p:spPr>
          <a:xfrm>
            <a:off x="822960" y="2423160"/>
            <a:ext cx="4935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43"/>
          <p:cNvSpPr/>
          <p:nvPr/>
        </p:nvSpPr>
        <p:spPr>
          <a:xfrm>
            <a:off x="1554480" y="2377440"/>
            <a:ext cx="99666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50" spc="-1" strike="noStrike">
                <a:solidFill>
                  <a:srgbClr val="1c2a22"/>
                </a:solidFill>
                <a:latin typeface="Cambria"/>
                <a:ea typeface="Cambria"/>
              </a:rPr>
              <a:t>Rearrange so one side is 0 (compare with 0).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Shape 44"/>
          <p:cNvSpPr/>
          <p:nvPr/>
        </p:nvSpPr>
        <p:spPr>
          <a:xfrm>
            <a:off x="822960" y="3136320"/>
            <a:ext cx="493560" cy="4935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 45"/>
          <p:cNvSpPr/>
          <p:nvPr/>
        </p:nvSpPr>
        <p:spPr>
          <a:xfrm>
            <a:off x="822960" y="3136320"/>
            <a:ext cx="4935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46"/>
          <p:cNvSpPr/>
          <p:nvPr/>
        </p:nvSpPr>
        <p:spPr>
          <a:xfrm>
            <a:off x="1554480" y="3090600"/>
            <a:ext cx="99666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50" spc="-1" strike="noStrike">
                <a:solidFill>
                  <a:srgbClr val="1c2a22"/>
                </a:solidFill>
                <a:latin typeface="Cambria"/>
                <a:ea typeface="Cambria"/>
              </a:rPr>
              <a:t>Factorise and find the two CRITICAL VALUES.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Shape 47"/>
          <p:cNvSpPr/>
          <p:nvPr/>
        </p:nvSpPr>
        <p:spPr>
          <a:xfrm>
            <a:off x="822960" y="3849480"/>
            <a:ext cx="493560" cy="4935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Text 48"/>
          <p:cNvSpPr/>
          <p:nvPr/>
        </p:nvSpPr>
        <p:spPr>
          <a:xfrm>
            <a:off x="822960" y="3849480"/>
            <a:ext cx="4935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49"/>
          <p:cNvSpPr/>
          <p:nvPr/>
        </p:nvSpPr>
        <p:spPr>
          <a:xfrm>
            <a:off x="1554480" y="3803760"/>
            <a:ext cx="99666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50" spc="-1" strike="noStrike">
                <a:solidFill>
                  <a:srgbClr val="1c2a22"/>
                </a:solidFill>
                <a:latin typeface="Cambria"/>
                <a:ea typeface="Cambria"/>
              </a:rPr>
              <a:t>Build a SIGN TABLE using those critical values.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50"/>
          <p:cNvSpPr/>
          <p:nvPr/>
        </p:nvSpPr>
        <p:spPr>
          <a:xfrm>
            <a:off x="822960" y="4563000"/>
            <a:ext cx="493560" cy="4935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Text 51"/>
          <p:cNvSpPr/>
          <p:nvPr/>
        </p:nvSpPr>
        <p:spPr>
          <a:xfrm>
            <a:off x="822960" y="4563000"/>
            <a:ext cx="4935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52"/>
          <p:cNvSpPr/>
          <p:nvPr/>
        </p:nvSpPr>
        <p:spPr>
          <a:xfrm>
            <a:off x="1554480" y="4517280"/>
            <a:ext cx="99666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50" spc="-1" strike="noStrike">
                <a:solidFill>
                  <a:srgbClr val="1c2a22"/>
                </a:solidFill>
                <a:latin typeface="Cambria"/>
                <a:ea typeface="Cambria"/>
              </a:rPr>
              <a:t>Same sign as a → OUTSIDE the roots;  opposite sign → BETWEEN them.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53"/>
          <p:cNvSpPr/>
          <p:nvPr/>
        </p:nvSpPr>
        <p:spPr>
          <a:xfrm>
            <a:off x="822960" y="5276160"/>
            <a:ext cx="493560" cy="4935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Text 54"/>
          <p:cNvSpPr/>
          <p:nvPr/>
        </p:nvSpPr>
        <p:spPr>
          <a:xfrm>
            <a:off x="822960" y="5276160"/>
            <a:ext cx="4935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55"/>
          <p:cNvSpPr/>
          <p:nvPr/>
        </p:nvSpPr>
        <p:spPr>
          <a:xfrm>
            <a:off x="1554480" y="5230440"/>
            <a:ext cx="9966600" cy="58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50" spc="-1" strike="noStrike">
                <a:solidFill>
                  <a:srgbClr val="1c2a22"/>
                </a:solidFill>
                <a:latin typeface="Cambria"/>
                <a:ea typeface="Cambria"/>
              </a:rPr>
              <a:t>Write the solution: one double inequality (between) or two separate ones (outside).</a:t>
            </a:r>
            <a:endParaRPr b="0" lang="en-US" sz="16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 RULE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Same Sign → Outside,  Opposite → Between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39"/>
          <p:cNvSpPr/>
          <p:nvPr/>
        </p:nvSpPr>
        <p:spPr>
          <a:xfrm>
            <a:off x="567000" y="1371600"/>
            <a:ext cx="11063880" cy="776880"/>
          </a:xfrm>
          <a:prstGeom prst="roundRect">
            <a:avLst>
              <a:gd name="adj" fmla="val 7059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0" name="Text 40"/>
          <p:cNvSpPr/>
          <p:nvPr/>
        </p:nvSpPr>
        <p:spPr>
          <a:xfrm>
            <a:off x="887040" y="1371600"/>
            <a:ext cx="104238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Take a &gt; 0 (if not, × by −1 and flip first).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After factorising, the expression is POSITIVE outside the roots and NEGATIVE between them.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41"/>
          <p:cNvSpPr/>
          <p:nvPr/>
        </p:nvSpPr>
        <p:spPr>
          <a:xfrm>
            <a:off x="567000" y="2331720"/>
            <a:ext cx="3108600" cy="548280"/>
          </a:xfrm>
          <a:prstGeom prst="rect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Text 42"/>
          <p:cNvSpPr/>
          <p:nvPr/>
        </p:nvSpPr>
        <p:spPr>
          <a:xfrm>
            <a:off x="658440" y="2331720"/>
            <a:ext cx="292572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e0ac2b"/>
                </a:solidFill>
                <a:latin typeface="Cambria"/>
                <a:ea typeface="Cambria"/>
              </a:rPr>
              <a:t>If the inequality is…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43"/>
          <p:cNvSpPr/>
          <p:nvPr/>
        </p:nvSpPr>
        <p:spPr>
          <a:xfrm>
            <a:off x="3675960" y="2331720"/>
            <a:ext cx="4297320" cy="548280"/>
          </a:xfrm>
          <a:prstGeom prst="rect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Text 44"/>
          <p:cNvSpPr/>
          <p:nvPr/>
        </p:nvSpPr>
        <p:spPr>
          <a:xfrm>
            <a:off x="3767400" y="2331720"/>
            <a:ext cx="4114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e0ac2b"/>
                </a:solidFill>
                <a:latin typeface="Cambria"/>
                <a:ea typeface="Cambria"/>
              </a:rPr>
              <a:t>Region to choose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45"/>
          <p:cNvSpPr/>
          <p:nvPr/>
        </p:nvSpPr>
        <p:spPr>
          <a:xfrm>
            <a:off x="7973640" y="2331720"/>
            <a:ext cx="3657240" cy="548280"/>
          </a:xfrm>
          <a:prstGeom prst="rect">
            <a:avLst/>
          </a:prstGeom>
          <a:solidFill>
            <a:srgbClr val="162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 46"/>
          <p:cNvSpPr/>
          <p:nvPr/>
        </p:nvSpPr>
        <p:spPr>
          <a:xfrm>
            <a:off x="8065080" y="2331720"/>
            <a:ext cx="3474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50" spc="-1" strike="noStrike">
                <a:solidFill>
                  <a:srgbClr val="e0ac2b"/>
                </a:solidFill>
                <a:latin typeface="Cambria"/>
                <a:ea typeface="Cambria"/>
              </a:rPr>
              <a:t>Solution looks like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Shape 47"/>
          <p:cNvSpPr/>
          <p:nvPr/>
        </p:nvSpPr>
        <p:spPr>
          <a:xfrm>
            <a:off x="567000" y="2926080"/>
            <a:ext cx="3108600" cy="141696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48"/>
          <p:cNvSpPr/>
          <p:nvPr/>
        </p:nvSpPr>
        <p:spPr>
          <a:xfrm>
            <a:off x="704160" y="2926080"/>
            <a:ext cx="283428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550" spc="-1" strike="noStrike">
                <a:solidFill>
                  <a:srgbClr val="1c2a22"/>
                </a:solidFill>
                <a:latin typeface="Cambria"/>
                <a:ea typeface="Cambria"/>
              </a:rPr>
              <a:t>&gt; 0   or   ≥ 0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mbria"/>
                <a:ea typeface="Cambria"/>
              </a:rPr>
              <a:t>(same sign as a)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Shape 49"/>
          <p:cNvSpPr/>
          <p:nvPr/>
        </p:nvSpPr>
        <p:spPr>
          <a:xfrm>
            <a:off x="3675960" y="2926080"/>
            <a:ext cx="4297320" cy="141696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Text 50"/>
          <p:cNvSpPr/>
          <p:nvPr/>
        </p:nvSpPr>
        <p:spPr>
          <a:xfrm>
            <a:off x="3813120" y="2926080"/>
            <a:ext cx="402300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550" spc="-1" strike="noStrike">
                <a:solidFill>
                  <a:srgbClr val="1c2a22"/>
                </a:solidFill>
                <a:latin typeface="Cambria"/>
                <a:ea typeface="Cambria"/>
              </a:rPr>
              <a:t>OUTSIDE the two roots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mbria"/>
                <a:ea typeface="Cambria"/>
              </a:rPr>
              <a:t>(two separate pieces)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hape 51"/>
          <p:cNvSpPr/>
          <p:nvPr/>
        </p:nvSpPr>
        <p:spPr>
          <a:xfrm>
            <a:off x="7973640" y="2926080"/>
            <a:ext cx="3657240" cy="141696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52"/>
          <p:cNvSpPr/>
          <p:nvPr/>
        </p:nvSpPr>
        <p:spPr>
          <a:xfrm>
            <a:off x="8110800" y="2926080"/>
            <a:ext cx="338292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c84f2f"/>
                </a:solidFill>
                <a:latin typeface="Cambria"/>
                <a:ea typeface="Cambria"/>
              </a:rPr>
              <a:t>x &lt; p   or   x &gt; q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Shape 53"/>
          <p:cNvSpPr/>
          <p:nvPr/>
        </p:nvSpPr>
        <p:spPr>
          <a:xfrm>
            <a:off x="567000" y="4416480"/>
            <a:ext cx="3108600" cy="141696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 54"/>
          <p:cNvSpPr/>
          <p:nvPr/>
        </p:nvSpPr>
        <p:spPr>
          <a:xfrm>
            <a:off x="704160" y="4416480"/>
            <a:ext cx="283428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550" spc="-1" strike="noStrike">
                <a:solidFill>
                  <a:srgbClr val="1c2a22"/>
                </a:solidFill>
                <a:latin typeface="Cambria"/>
                <a:ea typeface="Cambria"/>
              </a:rPr>
              <a:t>&lt; 0   or   ≤ 0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mbria"/>
                <a:ea typeface="Cambria"/>
              </a:rPr>
              <a:t>(opposite sign to a)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Shape 55"/>
          <p:cNvSpPr/>
          <p:nvPr/>
        </p:nvSpPr>
        <p:spPr>
          <a:xfrm>
            <a:off x="3675960" y="4416480"/>
            <a:ext cx="4297320" cy="141696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56"/>
          <p:cNvSpPr/>
          <p:nvPr/>
        </p:nvSpPr>
        <p:spPr>
          <a:xfrm>
            <a:off x="3813120" y="4416480"/>
            <a:ext cx="402300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1" lang="en-US" sz="1550" spc="-1" strike="noStrike">
                <a:solidFill>
                  <a:srgbClr val="1c2a22"/>
                </a:solidFill>
                <a:latin typeface="Cambria"/>
                <a:ea typeface="Cambria"/>
              </a:rPr>
              <a:t>BETWEEN the two roots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mbria"/>
                <a:ea typeface="Cambria"/>
              </a:rPr>
              <a:t>(one joined piece)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Shape 57"/>
          <p:cNvSpPr/>
          <p:nvPr/>
        </p:nvSpPr>
        <p:spPr>
          <a:xfrm>
            <a:off x="7973640" y="4416480"/>
            <a:ext cx="3657240" cy="1416960"/>
          </a:xfrm>
          <a:prstGeom prst="rect">
            <a:avLst/>
          </a:prstGeom>
          <a:solidFill>
            <a:srgbClr val="fbf3dd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58"/>
          <p:cNvSpPr/>
          <p:nvPr/>
        </p:nvSpPr>
        <p:spPr>
          <a:xfrm>
            <a:off x="8110800" y="4416480"/>
            <a:ext cx="338292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c84f2f"/>
                </a:solidFill>
                <a:latin typeface="Cambria"/>
                <a:ea typeface="Cambria"/>
              </a:rPr>
              <a:t>p &lt; x &lt; q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 59"/>
          <p:cNvSpPr/>
          <p:nvPr/>
        </p:nvSpPr>
        <p:spPr>
          <a:xfrm>
            <a:off x="567000" y="59893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Here p &lt; q are the two critical values.  Use ≤ / ≥ (closed) when the inequality allows ‘equal to’.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WORKED · GREATER THAN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 ‘&gt; 0’ Inequality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39"/>
          <p:cNvSpPr/>
          <p:nvPr/>
        </p:nvSpPr>
        <p:spPr>
          <a:xfrm>
            <a:off x="567000" y="1371600"/>
            <a:ext cx="11063880" cy="1371240"/>
          </a:xfrm>
          <a:prstGeom prst="roundRect">
            <a:avLst>
              <a:gd name="adj" fmla="val 400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Text 40"/>
          <p:cNvSpPr/>
          <p:nvPr/>
        </p:nvSpPr>
        <p:spPr>
          <a:xfrm>
            <a:off x="914400" y="1481400"/>
            <a:ext cx="10332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c84f2f"/>
                </a:solidFill>
                <a:latin typeface="Cambria"/>
                <a:ea typeface="Cambria"/>
              </a:rPr>
              <a:t>Solve:   </a:t>
            </a:r>
            <a:r>
              <a:rPr b="1" lang="en-US" sz="1800" spc="-1" strike="noStrike">
                <a:solidFill>
                  <a:srgbClr val="1c2a22"/>
                </a:solidFill>
                <a:latin typeface="Cambria"/>
                <a:ea typeface="Cambria"/>
              </a:rPr>
              <a:t>x² + x − 3 &gt; 4x + 1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Text 41"/>
          <p:cNvSpPr/>
          <p:nvPr/>
        </p:nvSpPr>
        <p:spPr>
          <a:xfrm>
            <a:off x="914400" y="1901880"/>
            <a:ext cx="10332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5c6b60"/>
                </a:solidFill>
                <a:latin typeface="Cambria"/>
                <a:ea typeface="Cambria"/>
              </a:rPr>
              <a:t>Rearrange:  </a:t>
            </a: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x² − 3x − 4 &gt; 0</a:t>
            </a:r>
            <a:r>
              <a:rPr b="0" lang="en-US" sz="1500" spc="-1" strike="noStrike">
                <a:solidFill>
                  <a:srgbClr val="5c6b60"/>
                </a:solidFill>
                <a:latin typeface="Cambria"/>
                <a:ea typeface="Cambria"/>
              </a:rPr>
              <a:t>        Factorise:  </a:t>
            </a: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(x + 1)(x − 4) &gt; 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 42"/>
          <p:cNvSpPr/>
          <p:nvPr/>
        </p:nvSpPr>
        <p:spPr>
          <a:xfrm>
            <a:off x="914400" y="2304360"/>
            <a:ext cx="103323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5c6b60"/>
                </a:solidFill>
                <a:latin typeface="Cambria"/>
                <a:ea typeface="Cambria"/>
              </a:rPr>
              <a:t>Critical values:  </a:t>
            </a: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x = −1 ,   x = 4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Text 43"/>
          <p:cNvSpPr/>
          <p:nvPr/>
        </p:nvSpPr>
        <p:spPr>
          <a:xfrm>
            <a:off x="2880360" y="3163680"/>
            <a:ext cx="64004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5c6b60"/>
                </a:solidFill>
                <a:latin typeface="Cambria"/>
                <a:ea typeface="Cambria"/>
              </a:rPr>
              <a:t>Sign of   </a:t>
            </a: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(x + 1)(x − 4)</a:t>
            </a:r>
            <a:r>
              <a:rPr b="0" lang="en-US" sz="1400" spc="-1" strike="noStrike">
                <a:solidFill>
                  <a:srgbClr val="5c6b60"/>
                </a:solidFill>
                <a:latin typeface="Cambria"/>
                <a:ea typeface="Cambria"/>
              </a:rPr>
              <a:t>      ( a &gt; 0 )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 44"/>
          <p:cNvSpPr/>
          <p:nvPr/>
        </p:nvSpPr>
        <p:spPr>
          <a:xfrm>
            <a:off x="4465440" y="3364920"/>
            <a:ext cx="10969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mbria"/>
                <a:ea typeface="Cambria"/>
              </a:rPr>
              <a:t>−</a:t>
            </a:r>
            <a:r>
              <a:rPr b="1" lang="en-US" sz="1300" spc="-1" strike="noStrike">
                <a:solidFill>
                  <a:srgbClr val="c84f2f"/>
                </a:solidFill>
                <a:latin typeface="Cambria"/>
                <a:ea typeface="Cambria"/>
              </a:rPr>
              <a:t>1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 45"/>
          <p:cNvSpPr/>
          <p:nvPr/>
        </p:nvSpPr>
        <p:spPr>
          <a:xfrm>
            <a:off x="6598800" y="3364920"/>
            <a:ext cx="10969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mbria"/>
                <a:ea typeface="Cambria"/>
              </a:rPr>
              <a:t>4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46"/>
          <p:cNvSpPr/>
          <p:nvPr/>
        </p:nvSpPr>
        <p:spPr>
          <a:xfrm>
            <a:off x="2880360" y="3639240"/>
            <a:ext cx="2133360" cy="959760"/>
          </a:xfrm>
          <a:prstGeom prst="rect">
            <a:avLst/>
          </a:prstGeom>
          <a:solidFill>
            <a:srgbClr val="f4e3b6"/>
          </a:solidFill>
          <a:ln w="28575">
            <a:solidFill>
              <a:srgbClr val="e0ac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Text 47"/>
          <p:cNvSpPr/>
          <p:nvPr/>
        </p:nvSpPr>
        <p:spPr>
          <a:xfrm>
            <a:off x="2880360" y="3694320"/>
            <a:ext cx="2133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c84f2f"/>
                </a:solidFill>
                <a:latin typeface="Cambria"/>
                <a:ea typeface="Cambria"/>
              </a:rPr>
              <a:t>+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 48"/>
          <p:cNvSpPr/>
          <p:nvPr/>
        </p:nvSpPr>
        <p:spPr>
          <a:xfrm>
            <a:off x="2880360" y="4242960"/>
            <a:ext cx="2133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1c2a22"/>
                </a:solidFill>
                <a:latin typeface="Calibri"/>
                <a:ea typeface="Calibri"/>
              </a:rPr>
              <a:t>positive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Shape 49"/>
          <p:cNvSpPr/>
          <p:nvPr/>
        </p:nvSpPr>
        <p:spPr>
          <a:xfrm>
            <a:off x="5014080" y="3639240"/>
            <a:ext cx="2133360" cy="95976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Text 50"/>
          <p:cNvSpPr/>
          <p:nvPr/>
        </p:nvSpPr>
        <p:spPr>
          <a:xfrm>
            <a:off x="5014080" y="3694320"/>
            <a:ext cx="2133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5c6b60"/>
                </a:solidFill>
                <a:latin typeface="Cambria"/>
                <a:ea typeface="Cambria"/>
              </a:rPr>
              <a:t>−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 51"/>
          <p:cNvSpPr/>
          <p:nvPr/>
        </p:nvSpPr>
        <p:spPr>
          <a:xfrm>
            <a:off x="5014080" y="4242960"/>
            <a:ext cx="2133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negative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Shape 52"/>
          <p:cNvSpPr/>
          <p:nvPr/>
        </p:nvSpPr>
        <p:spPr>
          <a:xfrm>
            <a:off x="7147440" y="3639240"/>
            <a:ext cx="2133360" cy="959760"/>
          </a:xfrm>
          <a:prstGeom prst="rect">
            <a:avLst/>
          </a:prstGeom>
          <a:solidFill>
            <a:srgbClr val="f4e3b6"/>
          </a:solidFill>
          <a:ln w="28575">
            <a:solidFill>
              <a:srgbClr val="e0ac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 53"/>
          <p:cNvSpPr/>
          <p:nvPr/>
        </p:nvSpPr>
        <p:spPr>
          <a:xfrm>
            <a:off x="7147440" y="3694320"/>
            <a:ext cx="2133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c84f2f"/>
                </a:solidFill>
                <a:latin typeface="Cambria"/>
                <a:ea typeface="Cambria"/>
              </a:rPr>
              <a:t>+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 54"/>
          <p:cNvSpPr/>
          <p:nvPr/>
        </p:nvSpPr>
        <p:spPr>
          <a:xfrm>
            <a:off x="7147440" y="4242960"/>
            <a:ext cx="2133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1c2a22"/>
                </a:solidFill>
                <a:latin typeface="Calibri"/>
                <a:ea typeface="Calibri"/>
              </a:rPr>
              <a:t>positive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 55"/>
          <p:cNvSpPr/>
          <p:nvPr/>
        </p:nvSpPr>
        <p:spPr>
          <a:xfrm>
            <a:off x="2880360" y="4654440"/>
            <a:ext cx="6400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5c6b60"/>
                </a:solidFill>
                <a:latin typeface="Calibri"/>
                <a:ea typeface="Calibri"/>
              </a:rPr>
              <a:t>(roots split the line into three regions)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 56"/>
          <p:cNvSpPr/>
          <p:nvPr/>
        </p:nvSpPr>
        <p:spPr>
          <a:xfrm>
            <a:off x="567000" y="4754880"/>
            <a:ext cx="110638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We want &gt; 0 — the SAME sign as a — so take the OUTSIDE (positive) regions.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Shape 57"/>
          <p:cNvSpPr/>
          <p:nvPr/>
        </p:nvSpPr>
        <p:spPr>
          <a:xfrm>
            <a:off x="567000" y="5139000"/>
            <a:ext cx="11063880" cy="914040"/>
          </a:xfrm>
          <a:prstGeom prst="roundRect">
            <a:avLst>
              <a:gd name="adj" fmla="val 6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Text 58"/>
          <p:cNvSpPr/>
          <p:nvPr/>
        </p:nvSpPr>
        <p:spPr>
          <a:xfrm>
            <a:off x="841320" y="5139000"/>
            <a:ext cx="10515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x &lt; −1    or    x &gt; 4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 59"/>
          <p:cNvSpPr/>
          <p:nvPr/>
        </p:nvSpPr>
        <p:spPr>
          <a:xfrm>
            <a:off x="567000" y="635508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Two separate regions → two separate inequalities.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WORKED · GREATER OR EQUAL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The Source’s Table Example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Shape 39"/>
          <p:cNvSpPr/>
          <p:nvPr/>
        </p:nvSpPr>
        <p:spPr>
          <a:xfrm>
            <a:off x="567000" y="1371600"/>
            <a:ext cx="11063880" cy="1371240"/>
          </a:xfrm>
          <a:prstGeom prst="roundRect">
            <a:avLst>
              <a:gd name="adj" fmla="val 400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Text 40"/>
          <p:cNvSpPr/>
          <p:nvPr/>
        </p:nvSpPr>
        <p:spPr>
          <a:xfrm>
            <a:off x="914400" y="1481400"/>
            <a:ext cx="10332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c84f2f"/>
                </a:solidFill>
                <a:latin typeface="Cambria"/>
                <a:ea typeface="Cambria"/>
              </a:rPr>
              <a:t>Solve:   </a:t>
            </a:r>
            <a:r>
              <a:rPr b="1" lang="en-US" sz="1800" spc="-1" strike="noStrike">
                <a:solidFill>
                  <a:srgbClr val="1c2a22"/>
                </a:solidFill>
                <a:latin typeface="Cambria"/>
                <a:ea typeface="Cambria"/>
              </a:rPr>
              <a:t>x² + x − 6 ≥ 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Text 41"/>
          <p:cNvSpPr/>
          <p:nvPr/>
        </p:nvSpPr>
        <p:spPr>
          <a:xfrm>
            <a:off x="914400" y="1901880"/>
            <a:ext cx="10332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5c6b60"/>
                </a:solidFill>
                <a:latin typeface="Cambria"/>
                <a:ea typeface="Cambria"/>
              </a:rPr>
              <a:t>Rearrange:  </a:t>
            </a: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x² + x − 6 ≥ 0</a:t>
            </a:r>
            <a:r>
              <a:rPr b="0" lang="en-US" sz="1500" spc="-1" strike="noStrike">
                <a:solidFill>
                  <a:srgbClr val="5c6b60"/>
                </a:solidFill>
                <a:latin typeface="Cambria"/>
                <a:ea typeface="Cambria"/>
              </a:rPr>
              <a:t>        Factorise:  </a:t>
            </a: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(x + 3)(x − 2) ≥ 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Text 42"/>
          <p:cNvSpPr/>
          <p:nvPr/>
        </p:nvSpPr>
        <p:spPr>
          <a:xfrm>
            <a:off x="914400" y="2304360"/>
            <a:ext cx="103323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5c6b60"/>
                </a:solidFill>
                <a:latin typeface="Cambria"/>
                <a:ea typeface="Cambria"/>
              </a:rPr>
              <a:t>Critical values:  </a:t>
            </a: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x = −3 ,   x = 2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Text 43"/>
          <p:cNvSpPr/>
          <p:nvPr/>
        </p:nvSpPr>
        <p:spPr>
          <a:xfrm>
            <a:off x="2880360" y="3163680"/>
            <a:ext cx="64004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5c6b60"/>
                </a:solidFill>
                <a:latin typeface="Cambria"/>
                <a:ea typeface="Cambria"/>
              </a:rPr>
              <a:t>Sign of   </a:t>
            </a: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(x + 3)(x − 2)</a:t>
            </a:r>
            <a:r>
              <a:rPr b="0" lang="en-US" sz="1400" spc="-1" strike="noStrike">
                <a:solidFill>
                  <a:srgbClr val="5c6b60"/>
                </a:solidFill>
                <a:latin typeface="Cambria"/>
                <a:ea typeface="Cambria"/>
              </a:rPr>
              <a:t>      ( a &gt; 0 )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Text 44"/>
          <p:cNvSpPr/>
          <p:nvPr/>
        </p:nvSpPr>
        <p:spPr>
          <a:xfrm>
            <a:off x="4465440" y="3364920"/>
            <a:ext cx="10969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mbria"/>
                <a:ea typeface="Cambria"/>
              </a:rPr>
              <a:t>−</a:t>
            </a:r>
            <a:r>
              <a:rPr b="1" lang="en-US" sz="1300" spc="-1" strike="noStrike">
                <a:solidFill>
                  <a:srgbClr val="c84f2f"/>
                </a:solidFill>
                <a:latin typeface="Cambria"/>
                <a:ea typeface="Cambria"/>
              </a:rPr>
              <a:t>3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 45"/>
          <p:cNvSpPr/>
          <p:nvPr/>
        </p:nvSpPr>
        <p:spPr>
          <a:xfrm>
            <a:off x="6598800" y="3364920"/>
            <a:ext cx="10969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mbria"/>
                <a:ea typeface="Cambria"/>
              </a:rPr>
              <a:t>2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Shape 46"/>
          <p:cNvSpPr/>
          <p:nvPr/>
        </p:nvSpPr>
        <p:spPr>
          <a:xfrm>
            <a:off x="2880360" y="3639240"/>
            <a:ext cx="2133360" cy="959760"/>
          </a:xfrm>
          <a:prstGeom prst="rect">
            <a:avLst/>
          </a:prstGeom>
          <a:solidFill>
            <a:srgbClr val="f4e3b6"/>
          </a:solidFill>
          <a:ln w="28575">
            <a:solidFill>
              <a:srgbClr val="e0ac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Text 47"/>
          <p:cNvSpPr/>
          <p:nvPr/>
        </p:nvSpPr>
        <p:spPr>
          <a:xfrm>
            <a:off x="2880360" y="3694320"/>
            <a:ext cx="2133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c84f2f"/>
                </a:solidFill>
                <a:latin typeface="Cambria"/>
                <a:ea typeface="Cambria"/>
              </a:rPr>
              <a:t>+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Text 48"/>
          <p:cNvSpPr/>
          <p:nvPr/>
        </p:nvSpPr>
        <p:spPr>
          <a:xfrm>
            <a:off x="2880360" y="4242960"/>
            <a:ext cx="2133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1c2a22"/>
                </a:solidFill>
                <a:latin typeface="Calibri"/>
                <a:ea typeface="Calibri"/>
              </a:rPr>
              <a:t>positive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Shape 49"/>
          <p:cNvSpPr/>
          <p:nvPr/>
        </p:nvSpPr>
        <p:spPr>
          <a:xfrm>
            <a:off x="5014080" y="3639240"/>
            <a:ext cx="2133360" cy="95976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 50"/>
          <p:cNvSpPr/>
          <p:nvPr/>
        </p:nvSpPr>
        <p:spPr>
          <a:xfrm>
            <a:off x="5014080" y="3694320"/>
            <a:ext cx="2133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5c6b60"/>
                </a:solidFill>
                <a:latin typeface="Cambria"/>
                <a:ea typeface="Cambria"/>
              </a:rPr>
              <a:t>−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 51"/>
          <p:cNvSpPr/>
          <p:nvPr/>
        </p:nvSpPr>
        <p:spPr>
          <a:xfrm>
            <a:off x="5014080" y="4242960"/>
            <a:ext cx="2133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negative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Shape 52"/>
          <p:cNvSpPr/>
          <p:nvPr/>
        </p:nvSpPr>
        <p:spPr>
          <a:xfrm>
            <a:off x="7147440" y="3639240"/>
            <a:ext cx="2133360" cy="959760"/>
          </a:xfrm>
          <a:prstGeom prst="rect">
            <a:avLst/>
          </a:prstGeom>
          <a:solidFill>
            <a:srgbClr val="f4e3b6"/>
          </a:solidFill>
          <a:ln w="28575">
            <a:solidFill>
              <a:srgbClr val="e0ac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Text 53"/>
          <p:cNvSpPr/>
          <p:nvPr/>
        </p:nvSpPr>
        <p:spPr>
          <a:xfrm>
            <a:off x="7147440" y="3694320"/>
            <a:ext cx="2133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c84f2f"/>
                </a:solidFill>
                <a:latin typeface="Cambria"/>
                <a:ea typeface="Cambria"/>
              </a:rPr>
              <a:t>+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Text 54"/>
          <p:cNvSpPr/>
          <p:nvPr/>
        </p:nvSpPr>
        <p:spPr>
          <a:xfrm>
            <a:off x="7147440" y="4242960"/>
            <a:ext cx="2133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1c2a22"/>
                </a:solidFill>
                <a:latin typeface="Calibri"/>
                <a:ea typeface="Calibri"/>
              </a:rPr>
              <a:t>positive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Text 55"/>
          <p:cNvSpPr/>
          <p:nvPr/>
        </p:nvSpPr>
        <p:spPr>
          <a:xfrm>
            <a:off x="2880360" y="4654440"/>
            <a:ext cx="6400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5c6b60"/>
                </a:solidFill>
                <a:latin typeface="Calibri"/>
                <a:ea typeface="Calibri"/>
              </a:rPr>
              <a:t>(roots split the line into three regions)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 56"/>
          <p:cNvSpPr/>
          <p:nvPr/>
        </p:nvSpPr>
        <p:spPr>
          <a:xfrm>
            <a:off x="567000" y="4754880"/>
            <a:ext cx="110638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We want ≥ 0 — same sign as a — take the OUTSIDE regions (include the roots).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Shape 57"/>
          <p:cNvSpPr/>
          <p:nvPr/>
        </p:nvSpPr>
        <p:spPr>
          <a:xfrm>
            <a:off x="567000" y="5139000"/>
            <a:ext cx="11063880" cy="914040"/>
          </a:xfrm>
          <a:prstGeom prst="roundRect">
            <a:avLst>
              <a:gd name="adj" fmla="val 6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Text 58"/>
          <p:cNvSpPr/>
          <p:nvPr/>
        </p:nvSpPr>
        <p:spPr>
          <a:xfrm>
            <a:off x="841320" y="5139000"/>
            <a:ext cx="10515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x ≤ −3    or    x ≥ 2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Text 59"/>
          <p:cNvSpPr/>
          <p:nvPr/>
        </p:nvSpPr>
        <p:spPr>
          <a:xfrm>
            <a:off x="567000" y="635508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‘</a:t>
            </a: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Or equal to’ → the critical values are included (closed).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WORKED · LESS THAN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 ‘&lt; 0’ Inequality (Between)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Shape 39"/>
          <p:cNvSpPr/>
          <p:nvPr/>
        </p:nvSpPr>
        <p:spPr>
          <a:xfrm>
            <a:off x="567000" y="1371600"/>
            <a:ext cx="11063880" cy="1371240"/>
          </a:xfrm>
          <a:prstGeom prst="roundRect">
            <a:avLst>
              <a:gd name="adj" fmla="val 400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Text 40"/>
          <p:cNvSpPr/>
          <p:nvPr/>
        </p:nvSpPr>
        <p:spPr>
          <a:xfrm>
            <a:off x="914400" y="1481400"/>
            <a:ext cx="10332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c84f2f"/>
                </a:solidFill>
                <a:latin typeface="Cambria"/>
                <a:ea typeface="Cambria"/>
              </a:rPr>
              <a:t>Solve:   </a:t>
            </a:r>
            <a:r>
              <a:rPr b="1" lang="en-US" sz="1800" spc="-1" strike="noStrike">
                <a:solidFill>
                  <a:srgbClr val="1c2a22"/>
                </a:solidFill>
                <a:latin typeface="Cambria"/>
                <a:ea typeface="Cambria"/>
              </a:rPr>
              <a:t>x² − 3x − 10 &lt; 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 41"/>
          <p:cNvSpPr/>
          <p:nvPr/>
        </p:nvSpPr>
        <p:spPr>
          <a:xfrm>
            <a:off x="914400" y="1901880"/>
            <a:ext cx="10332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5c6b60"/>
                </a:solidFill>
                <a:latin typeface="Cambria"/>
                <a:ea typeface="Cambria"/>
              </a:rPr>
              <a:t>Rearrange:  </a:t>
            </a: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x² − 3x − 10 &lt; 0</a:t>
            </a:r>
            <a:r>
              <a:rPr b="0" lang="en-US" sz="1500" spc="-1" strike="noStrike">
                <a:solidFill>
                  <a:srgbClr val="5c6b60"/>
                </a:solidFill>
                <a:latin typeface="Cambria"/>
                <a:ea typeface="Cambria"/>
              </a:rPr>
              <a:t>        Factorise:  </a:t>
            </a: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(x + 2)(x − 5) &lt; 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Text 42"/>
          <p:cNvSpPr/>
          <p:nvPr/>
        </p:nvSpPr>
        <p:spPr>
          <a:xfrm>
            <a:off x="914400" y="2304360"/>
            <a:ext cx="103323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5c6b60"/>
                </a:solidFill>
                <a:latin typeface="Cambria"/>
                <a:ea typeface="Cambria"/>
              </a:rPr>
              <a:t>Critical values:  </a:t>
            </a: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x = −2 ,   x = 5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Text 43"/>
          <p:cNvSpPr/>
          <p:nvPr/>
        </p:nvSpPr>
        <p:spPr>
          <a:xfrm>
            <a:off x="2880360" y="3163680"/>
            <a:ext cx="64004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5c6b60"/>
                </a:solidFill>
                <a:latin typeface="Cambria"/>
                <a:ea typeface="Cambria"/>
              </a:rPr>
              <a:t>Sign of   </a:t>
            </a: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(x + 2)(x − 5)</a:t>
            </a:r>
            <a:r>
              <a:rPr b="0" lang="en-US" sz="1400" spc="-1" strike="noStrike">
                <a:solidFill>
                  <a:srgbClr val="5c6b60"/>
                </a:solidFill>
                <a:latin typeface="Cambria"/>
                <a:ea typeface="Cambria"/>
              </a:rPr>
              <a:t>      ( a &gt; 0 )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 44"/>
          <p:cNvSpPr/>
          <p:nvPr/>
        </p:nvSpPr>
        <p:spPr>
          <a:xfrm>
            <a:off x="4465440" y="3364920"/>
            <a:ext cx="10969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mbria"/>
                <a:ea typeface="Cambria"/>
              </a:rPr>
              <a:t>−</a:t>
            </a:r>
            <a:r>
              <a:rPr b="1" lang="en-US" sz="1300" spc="-1" strike="noStrike">
                <a:solidFill>
                  <a:srgbClr val="c84f2f"/>
                </a:solidFill>
                <a:latin typeface="Cambria"/>
                <a:ea typeface="Cambria"/>
              </a:rPr>
              <a:t>2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Text 45"/>
          <p:cNvSpPr/>
          <p:nvPr/>
        </p:nvSpPr>
        <p:spPr>
          <a:xfrm>
            <a:off x="6598800" y="3364920"/>
            <a:ext cx="10969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mbria"/>
                <a:ea typeface="Cambria"/>
              </a:rPr>
              <a:t>5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Shape 46"/>
          <p:cNvSpPr/>
          <p:nvPr/>
        </p:nvSpPr>
        <p:spPr>
          <a:xfrm>
            <a:off x="2880360" y="3639240"/>
            <a:ext cx="2133360" cy="95976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Text 47"/>
          <p:cNvSpPr/>
          <p:nvPr/>
        </p:nvSpPr>
        <p:spPr>
          <a:xfrm>
            <a:off x="2880360" y="3694320"/>
            <a:ext cx="2133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5c6b60"/>
                </a:solidFill>
                <a:latin typeface="Cambria"/>
                <a:ea typeface="Cambria"/>
              </a:rPr>
              <a:t>+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Text 48"/>
          <p:cNvSpPr/>
          <p:nvPr/>
        </p:nvSpPr>
        <p:spPr>
          <a:xfrm>
            <a:off x="2880360" y="4242960"/>
            <a:ext cx="2133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positive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Shape 49"/>
          <p:cNvSpPr/>
          <p:nvPr/>
        </p:nvSpPr>
        <p:spPr>
          <a:xfrm>
            <a:off x="5014080" y="3639240"/>
            <a:ext cx="2133360" cy="959760"/>
          </a:xfrm>
          <a:prstGeom prst="rect">
            <a:avLst/>
          </a:prstGeom>
          <a:solidFill>
            <a:srgbClr val="f4e3b6"/>
          </a:solidFill>
          <a:ln w="28575">
            <a:solidFill>
              <a:srgbClr val="e0ac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Text 50"/>
          <p:cNvSpPr/>
          <p:nvPr/>
        </p:nvSpPr>
        <p:spPr>
          <a:xfrm>
            <a:off x="5014080" y="3694320"/>
            <a:ext cx="2133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c84f2f"/>
                </a:solidFill>
                <a:latin typeface="Cambria"/>
                <a:ea typeface="Cambria"/>
              </a:rPr>
              <a:t>−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Text 51"/>
          <p:cNvSpPr/>
          <p:nvPr/>
        </p:nvSpPr>
        <p:spPr>
          <a:xfrm>
            <a:off x="5014080" y="4242960"/>
            <a:ext cx="2133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1c2a22"/>
                </a:solidFill>
                <a:latin typeface="Calibri"/>
                <a:ea typeface="Calibri"/>
              </a:rPr>
              <a:t>negative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Shape 52"/>
          <p:cNvSpPr/>
          <p:nvPr/>
        </p:nvSpPr>
        <p:spPr>
          <a:xfrm>
            <a:off x="7147440" y="3639240"/>
            <a:ext cx="2133360" cy="95976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Text 53"/>
          <p:cNvSpPr/>
          <p:nvPr/>
        </p:nvSpPr>
        <p:spPr>
          <a:xfrm>
            <a:off x="7147440" y="3694320"/>
            <a:ext cx="2133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5c6b60"/>
                </a:solidFill>
                <a:latin typeface="Cambria"/>
                <a:ea typeface="Cambria"/>
              </a:rPr>
              <a:t>+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Text 54"/>
          <p:cNvSpPr/>
          <p:nvPr/>
        </p:nvSpPr>
        <p:spPr>
          <a:xfrm>
            <a:off x="7147440" y="4242960"/>
            <a:ext cx="2133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positive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 55"/>
          <p:cNvSpPr/>
          <p:nvPr/>
        </p:nvSpPr>
        <p:spPr>
          <a:xfrm>
            <a:off x="2880360" y="4654440"/>
            <a:ext cx="6400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5c6b60"/>
                </a:solidFill>
                <a:latin typeface="Calibri"/>
                <a:ea typeface="Calibri"/>
              </a:rPr>
              <a:t>(roots split the line into three regions)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xt 56"/>
          <p:cNvSpPr/>
          <p:nvPr/>
        </p:nvSpPr>
        <p:spPr>
          <a:xfrm>
            <a:off x="567000" y="4754880"/>
            <a:ext cx="110638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We want &lt; 0 — the OPPOSITE sign to a — so take the region BETWEEN the roots.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Shape 57"/>
          <p:cNvSpPr/>
          <p:nvPr/>
        </p:nvSpPr>
        <p:spPr>
          <a:xfrm>
            <a:off x="567000" y="5139000"/>
            <a:ext cx="11063880" cy="914040"/>
          </a:xfrm>
          <a:prstGeom prst="roundRect">
            <a:avLst>
              <a:gd name="adj" fmla="val 6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Text 58"/>
          <p:cNvSpPr/>
          <p:nvPr/>
        </p:nvSpPr>
        <p:spPr>
          <a:xfrm>
            <a:off x="841320" y="5139000"/>
            <a:ext cx="10515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−</a:t>
            </a: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2 &lt; x &lt; 5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Text 59"/>
          <p:cNvSpPr/>
          <p:nvPr/>
        </p:nvSpPr>
        <p:spPr>
          <a:xfrm>
            <a:off x="567000" y="635508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One joined region → a single double-ended inequality.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WORKED · WHEN a ≠ 1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 Bigger Leading Coefficient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Shape 39"/>
          <p:cNvSpPr/>
          <p:nvPr/>
        </p:nvSpPr>
        <p:spPr>
          <a:xfrm>
            <a:off x="567000" y="1371600"/>
            <a:ext cx="11063880" cy="1371240"/>
          </a:xfrm>
          <a:prstGeom prst="roundRect">
            <a:avLst>
              <a:gd name="adj" fmla="val 400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Text 40"/>
          <p:cNvSpPr/>
          <p:nvPr/>
        </p:nvSpPr>
        <p:spPr>
          <a:xfrm>
            <a:off x="914400" y="1481400"/>
            <a:ext cx="10332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c84f2f"/>
                </a:solidFill>
                <a:latin typeface="Cambria"/>
                <a:ea typeface="Cambria"/>
              </a:rPr>
              <a:t>Solve:   </a:t>
            </a:r>
            <a:r>
              <a:rPr b="1" lang="en-US" sz="1800" spc="-1" strike="noStrike">
                <a:solidFill>
                  <a:srgbClr val="1c2a22"/>
                </a:solidFill>
                <a:latin typeface="Cambria"/>
                <a:ea typeface="Cambria"/>
              </a:rPr>
              <a:t>4x² − 5x − 6 &gt; 0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Text 41"/>
          <p:cNvSpPr/>
          <p:nvPr/>
        </p:nvSpPr>
        <p:spPr>
          <a:xfrm>
            <a:off x="914400" y="1901880"/>
            <a:ext cx="10332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5c6b60"/>
                </a:solidFill>
                <a:latin typeface="Cambria"/>
                <a:ea typeface="Cambria"/>
              </a:rPr>
              <a:t>Rearrange:  </a:t>
            </a: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4x² − 5x − 6 &gt; 0</a:t>
            </a:r>
            <a:r>
              <a:rPr b="0" lang="en-US" sz="1500" spc="-1" strike="noStrike">
                <a:solidFill>
                  <a:srgbClr val="5c6b60"/>
                </a:solidFill>
                <a:latin typeface="Cambria"/>
                <a:ea typeface="Cambria"/>
              </a:rPr>
              <a:t>        Factorise:  </a:t>
            </a: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(4x + 3)(x − 2) &gt; 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Text 42"/>
          <p:cNvSpPr/>
          <p:nvPr/>
        </p:nvSpPr>
        <p:spPr>
          <a:xfrm>
            <a:off x="914400" y="2304360"/>
            <a:ext cx="103323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5c6b60"/>
                </a:solidFill>
                <a:latin typeface="Cambria"/>
                <a:ea typeface="Cambria"/>
              </a:rPr>
              <a:t>Critical values:  </a:t>
            </a: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x = −¾ ,   x = 2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Text 43"/>
          <p:cNvSpPr/>
          <p:nvPr/>
        </p:nvSpPr>
        <p:spPr>
          <a:xfrm>
            <a:off x="2880360" y="3163680"/>
            <a:ext cx="64004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5c6b60"/>
                </a:solidFill>
                <a:latin typeface="Cambria"/>
                <a:ea typeface="Cambria"/>
              </a:rPr>
              <a:t>Sign of   </a:t>
            </a: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(4x + 3)(x − 2)</a:t>
            </a:r>
            <a:r>
              <a:rPr b="0" lang="en-US" sz="1400" spc="-1" strike="noStrike">
                <a:solidFill>
                  <a:srgbClr val="5c6b60"/>
                </a:solidFill>
                <a:latin typeface="Cambria"/>
                <a:ea typeface="Cambria"/>
              </a:rPr>
              <a:t>      ( a &gt; 0 )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 44"/>
          <p:cNvSpPr/>
          <p:nvPr/>
        </p:nvSpPr>
        <p:spPr>
          <a:xfrm>
            <a:off x="4465440" y="3364920"/>
            <a:ext cx="10969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mbria"/>
                <a:ea typeface="Cambria"/>
              </a:rPr>
              <a:t>−</a:t>
            </a:r>
            <a:r>
              <a:rPr b="1" lang="en-US" sz="1300" spc="-1" strike="noStrike">
                <a:solidFill>
                  <a:srgbClr val="c84f2f"/>
                </a:solidFill>
                <a:latin typeface="Cambria"/>
                <a:ea typeface="Cambria"/>
              </a:rPr>
              <a:t>¾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Text 45"/>
          <p:cNvSpPr/>
          <p:nvPr/>
        </p:nvSpPr>
        <p:spPr>
          <a:xfrm>
            <a:off x="6598800" y="3364920"/>
            <a:ext cx="10969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mbria"/>
                <a:ea typeface="Cambria"/>
              </a:rPr>
              <a:t>2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Shape 46"/>
          <p:cNvSpPr/>
          <p:nvPr/>
        </p:nvSpPr>
        <p:spPr>
          <a:xfrm>
            <a:off x="2880360" y="3639240"/>
            <a:ext cx="2133360" cy="959760"/>
          </a:xfrm>
          <a:prstGeom prst="rect">
            <a:avLst/>
          </a:prstGeom>
          <a:solidFill>
            <a:srgbClr val="f4e3b6"/>
          </a:solidFill>
          <a:ln w="28575">
            <a:solidFill>
              <a:srgbClr val="e0ac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 47"/>
          <p:cNvSpPr/>
          <p:nvPr/>
        </p:nvSpPr>
        <p:spPr>
          <a:xfrm>
            <a:off x="2880360" y="3694320"/>
            <a:ext cx="2133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c84f2f"/>
                </a:solidFill>
                <a:latin typeface="Cambria"/>
                <a:ea typeface="Cambria"/>
              </a:rPr>
              <a:t>+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Text 48"/>
          <p:cNvSpPr/>
          <p:nvPr/>
        </p:nvSpPr>
        <p:spPr>
          <a:xfrm>
            <a:off x="2880360" y="4242960"/>
            <a:ext cx="2133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1c2a22"/>
                </a:solidFill>
                <a:latin typeface="Calibri"/>
                <a:ea typeface="Calibri"/>
              </a:rPr>
              <a:t>positive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Shape 49"/>
          <p:cNvSpPr/>
          <p:nvPr/>
        </p:nvSpPr>
        <p:spPr>
          <a:xfrm>
            <a:off x="5014080" y="3639240"/>
            <a:ext cx="2133360" cy="95976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Text 50"/>
          <p:cNvSpPr/>
          <p:nvPr/>
        </p:nvSpPr>
        <p:spPr>
          <a:xfrm>
            <a:off x="5014080" y="3694320"/>
            <a:ext cx="2133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5c6b60"/>
                </a:solidFill>
                <a:latin typeface="Cambria"/>
                <a:ea typeface="Cambria"/>
              </a:rPr>
              <a:t>−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Text 51"/>
          <p:cNvSpPr/>
          <p:nvPr/>
        </p:nvSpPr>
        <p:spPr>
          <a:xfrm>
            <a:off x="5014080" y="4242960"/>
            <a:ext cx="2133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negative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Shape 52"/>
          <p:cNvSpPr/>
          <p:nvPr/>
        </p:nvSpPr>
        <p:spPr>
          <a:xfrm>
            <a:off x="7147440" y="3639240"/>
            <a:ext cx="2133360" cy="959760"/>
          </a:xfrm>
          <a:prstGeom prst="rect">
            <a:avLst/>
          </a:prstGeom>
          <a:solidFill>
            <a:srgbClr val="f4e3b6"/>
          </a:solidFill>
          <a:ln w="28575">
            <a:solidFill>
              <a:srgbClr val="e0ac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Text 53"/>
          <p:cNvSpPr/>
          <p:nvPr/>
        </p:nvSpPr>
        <p:spPr>
          <a:xfrm>
            <a:off x="7147440" y="3694320"/>
            <a:ext cx="2133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c84f2f"/>
                </a:solidFill>
                <a:latin typeface="Cambria"/>
                <a:ea typeface="Cambria"/>
              </a:rPr>
              <a:t>+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Text 54"/>
          <p:cNvSpPr/>
          <p:nvPr/>
        </p:nvSpPr>
        <p:spPr>
          <a:xfrm>
            <a:off x="7147440" y="4242960"/>
            <a:ext cx="2133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1c2a22"/>
                </a:solidFill>
                <a:latin typeface="Calibri"/>
                <a:ea typeface="Calibri"/>
              </a:rPr>
              <a:t>positive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Text 55"/>
          <p:cNvSpPr/>
          <p:nvPr/>
        </p:nvSpPr>
        <p:spPr>
          <a:xfrm>
            <a:off x="2880360" y="4654440"/>
            <a:ext cx="6400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5c6b60"/>
                </a:solidFill>
                <a:latin typeface="Calibri"/>
                <a:ea typeface="Calibri"/>
              </a:rPr>
              <a:t>(roots split the line into three regions)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Text 56"/>
          <p:cNvSpPr/>
          <p:nvPr/>
        </p:nvSpPr>
        <p:spPr>
          <a:xfrm>
            <a:off x="567000" y="4754880"/>
            <a:ext cx="110638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a = 4 &gt; 0, and we want &gt; 0 — same sign as a — take the OUTSIDE regions.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Shape 57"/>
          <p:cNvSpPr/>
          <p:nvPr/>
        </p:nvSpPr>
        <p:spPr>
          <a:xfrm>
            <a:off x="567000" y="5139000"/>
            <a:ext cx="11063880" cy="914040"/>
          </a:xfrm>
          <a:prstGeom prst="roundRect">
            <a:avLst>
              <a:gd name="adj" fmla="val 6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Text 58"/>
          <p:cNvSpPr/>
          <p:nvPr/>
        </p:nvSpPr>
        <p:spPr>
          <a:xfrm>
            <a:off x="841320" y="5139000"/>
            <a:ext cx="10515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x &lt; −¾    or    x &gt; 2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 59"/>
          <p:cNvSpPr/>
          <p:nvPr/>
        </p:nvSpPr>
        <p:spPr>
          <a:xfrm>
            <a:off x="567000" y="635508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Critical values are −¾ and 2 — the method is identical for any a &gt; 0.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WORKED · WHEN a IS NEGATIVE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Multiply by −1 and Flip First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Shape 39"/>
          <p:cNvSpPr/>
          <p:nvPr/>
        </p:nvSpPr>
        <p:spPr>
          <a:xfrm>
            <a:off x="567000" y="1371600"/>
            <a:ext cx="11063880" cy="1371240"/>
          </a:xfrm>
          <a:prstGeom prst="roundRect">
            <a:avLst>
              <a:gd name="adj" fmla="val 400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Text 40"/>
          <p:cNvSpPr/>
          <p:nvPr/>
        </p:nvSpPr>
        <p:spPr>
          <a:xfrm>
            <a:off x="914400" y="1481400"/>
            <a:ext cx="103323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c84f2f"/>
                </a:solidFill>
                <a:latin typeface="Cambria"/>
                <a:ea typeface="Cambria"/>
              </a:rPr>
              <a:t>Solve:   </a:t>
            </a:r>
            <a:r>
              <a:rPr b="1" lang="en-US" sz="1800" spc="-1" strike="noStrike">
                <a:solidFill>
                  <a:srgbClr val="1c2a22"/>
                </a:solidFill>
                <a:latin typeface="Cambria"/>
                <a:ea typeface="Cambria"/>
              </a:rPr>
              <a:t>5 + 4x − x² &gt; 0       ( a = −1 )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Text 41"/>
          <p:cNvSpPr/>
          <p:nvPr/>
        </p:nvSpPr>
        <p:spPr>
          <a:xfrm>
            <a:off x="914400" y="1901880"/>
            <a:ext cx="10332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5c6b60"/>
                </a:solidFill>
                <a:latin typeface="Cambria"/>
                <a:ea typeface="Cambria"/>
              </a:rPr>
              <a:t>Rearrange:  </a:t>
            </a: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×(−1), FLIP:  x² − 4x − 5 &lt; 0</a:t>
            </a:r>
            <a:r>
              <a:rPr b="0" lang="en-US" sz="1500" spc="-1" strike="noStrike">
                <a:solidFill>
                  <a:srgbClr val="5c6b60"/>
                </a:solidFill>
                <a:latin typeface="Cambria"/>
                <a:ea typeface="Cambria"/>
              </a:rPr>
              <a:t>        Factorise:  </a:t>
            </a:r>
            <a:r>
              <a:rPr b="1" lang="en-US" sz="1500" spc="-1" strike="noStrike">
                <a:solidFill>
                  <a:srgbClr val="1c2a22"/>
                </a:solidFill>
                <a:latin typeface="Cambria"/>
                <a:ea typeface="Cambria"/>
              </a:rPr>
              <a:t>(x − 5)(x + 1) &lt; 0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Text 42"/>
          <p:cNvSpPr/>
          <p:nvPr/>
        </p:nvSpPr>
        <p:spPr>
          <a:xfrm>
            <a:off x="914400" y="2304360"/>
            <a:ext cx="103323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5c6b60"/>
                </a:solidFill>
                <a:latin typeface="Cambria"/>
                <a:ea typeface="Cambria"/>
              </a:rPr>
              <a:t>Critical values:  </a:t>
            </a:r>
            <a:r>
              <a:rPr b="1" lang="en-US" sz="1500" spc="-1" strike="noStrike">
                <a:solidFill>
                  <a:srgbClr val="c84f2f"/>
                </a:solidFill>
                <a:latin typeface="Cambria"/>
                <a:ea typeface="Cambria"/>
              </a:rPr>
              <a:t>x = −1 ,   x = 5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Text 43"/>
          <p:cNvSpPr/>
          <p:nvPr/>
        </p:nvSpPr>
        <p:spPr>
          <a:xfrm>
            <a:off x="2880360" y="3163680"/>
            <a:ext cx="640044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5c6b60"/>
                </a:solidFill>
                <a:latin typeface="Cambria"/>
                <a:ea typeface="Cambria"/>
              </a:rPr>
              <a:t>Sign of   </a:t>
            </a:r>
            <a:r>
              <a:rPr b="1" lang="en-US" sz="1400" spc="-1" strike="noStrike">
                <a:solidFill>
                  <a:srgbClr val="1c2a22"/>
                </a:solidFill>
                <a:latin typeface="Cambria"/>
                <a:ea typeface="Cambria"/>
              </a:rPr>
              <a:t>(x − 5)(x + 1)</a:t>
            </a:r>
            <a:r>
              <a:rPr b="0" lang="en-US" sz="1400" spc="-1" strike="noStrike">
                <a:solidFill>
                  <a:srgbClr val="5c6b60"/>
                </a:solidFill>
                <a:latin typeface="Cambria"/>
                <a:ea typeface="Cambria"/>
              </a:rPr>
              <a:t>      ( a &gt; 0 )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Text 44"/>
          <p:cNvSpPr/>
          <p:nvPr/>
        </p:nvSpPr>
        <p:spPr>
          <a:xfrm>
            <a:off x="4465440" y="3364920"/>
            <a:ext cx="10969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mbria"/>
                <a:ea typeface="Cambria"/>
              </a:rPr>
              <a:t>−</a:t>
            </a:r>
            <a:r>
              <a:rPr b="1" lang="en-US" sz="1300" spc="-1" strike="noStrike">
                <a:solidFill>
                  <a:srgbClr val="c84f2f"/>
                </a:solidFill>
                <a:latin typeface="Cambria"/>
                <a:ea typeface="Cambria"/>
              </a:rPr>
              <a:t>1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Text 45"/>
          <p:cNvSpPr/>
          <p:nvPr/>
        </p:nvSpPr>
        <p:spPr>
          <a:xfrm>
            <a:off x="6598800" y="3364920"/>
            <a:ext cx="10969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mbria"/>
                <a:ea typeface="Cambria"/>
              </a:rPr>
              <a:t>5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Shape 46"/>
          <p:cNvSpPr/>
          <p:nvPr/>
        </p:nvSpPr>
        <p:spPr>
          <a:xfrm>
            <a:off x="2880360" y="3639240"/>
            <a:ext cx="2133360" cy="95976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Text 47"/>
          <p:cNvSpPr/>
          <p:nvPr/>
        </p:nvSpPr>
        <p:spPr>
          <a:xfrm>
            <a:off x="2880360" y="3694320"/>
            <a:ext cx="2133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5c6b60"/>
                </a:solidFill>
                <a:latin typeface="Cambria"/>
                <a:ea typeface="Cambria"/>
              </a:rPr>
              <a:t>+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Text 48"/>
          <p:cNvSpPr/>
          <p:nvPr/>
        </p:nvSpPr>
        <p:spPr>
          <a:xfrm>
            <a:off x="2880360" y="4242960"/>
            <a:ext cx="2133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positive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Shape 49"/>
          <p:cNvSpPr/>
          <p:nvPr/>
        </p:nvSpPr>
        <p:spPr>
          <a:xfrm>
            <a:off x="5014080" y="3639240"/>
            <a:ext cx="2133360" cy="959760"/>
          </a:xfrm>
          <a:prstGeom prst="rect">
            <a:avLst/>
          </a:prstGeom>
          <a:solidFill>
            <a:srgbClr val="f4e3b6"/>
          </a:solidFill>
          <a:ln w="28575">
            <a:solidFill>
              <a:srgbClr val="e0ac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Text 50"/>
          <p:cNvSpPr/>
          <p:nvPr/>
        </p:nvSpPr>
        <p:spPr>
          <a:xfrm>
            <a:off x="5014080" y="3694320"/>
            <a:ext cx="2133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c84f2f"/>
                </a:solidFill>
                <a:latin typeface="Cambria"/>
                <a:ea typeface="Cambria"/>
              </a:rPr>
              <a:t>−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 51"/>
          <p:cNvSpPr/>
          <p:nvPr/>
        </p:nvSpPr>
        <p:spPr>
          <a:xfrm>
            <a:off x="5014080" y="4242960"/>
            <a:ext cx="2133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1c2a22"/>
                </a:solidFill>
                <a:latin typeface="Calibri"/>
                <a:ea typeface="Calibri"/>
              </a:rPr>
              <a:t>negative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Shape 52"/>
          <p:cNvSpPr/>
          <p:nvPr/>
        </p:nvSpPr>
        <p:spPr>
          <a:xfrm>
            <a:off x="7147440" y="3639240"/>
            <a:ext cx="2133360" cy="959760"/>
          </a:xfrm>
          <a:prstGeom prst="rect">
            <a:avLst/>
          </a:prstGeom>
          <a:solidFill>
            <a:srgbClr val="eef1e8"/>
          </a:solidFill>
          <a:ln w="1270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Text 53"/>
          <p:cNvSpPr/>
          <p:nvPr/>
        </p:nvSpPr>
        <p:spPr>
          <a:xfrm>
            <a:off x="7147440" y="3694320"/>
            <a:ext cx="2133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200" spc="-1" strike="noStrike">
                <a:solidFill>
                  <a:srgbClr val="5c6b60"/>
                </a:solidFill>
                <a:latin typeface="Cambria"/>
                <a:ea typeface="Cambria"/>
              </a:rPr>
              <a:t>+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 54"/>
          <p:cNvSpPr/>
          <p:nvPr/>
        </p:nvSpPr>
        <p:spPr>
          <a:xfrm>
            <a:off x="7147440" y="4242960"/>
            <a:ext cx="21333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positive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Text 55"/>
          <p:cNvSpPr/>
          <p:nvPr/>
        </p:nvSpPr>
        <p:spPr>
          <a:xfrm>
            <a:off x="2880360" y="4654440"/>
            <a:ext cx="6400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5c6b60"/>
                </a:solidFill>
                <a:latin typeface="Calibri"/>
                <a:ea typeface="Calibri"/>
              </a:rPr>
              <a:t>(roots split the line into three regions)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Text 56"/>
          <p:cNvSpPr/>
          <p:nvPr/>
        </p:nvSpPr>
        <p:spPr>
          <a:xfrm>
            <a:off x="567000" y="4754880"/>
            <a:ext cx="110638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After ×(−1) the sign flips to &lt; 0 — opposite to a — so take the region BETWEEN the roots.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Shape 57"/>
          <p:cNvSpPr/>
          <p:nvPr/>
        </p:nvSpPr>
        <p:spPr>
          <a:xfrm>
            <a:off x="567000" y="5139000"/>
            <a:ext cx="11063880" cy="914040"/>
          </a:xfrm>
          <a:prstGeom prst="roundRect">
            <a:avLst>
              <a:gd name="adj" fmla="val 6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 58"/>
          <p:cNvSpPr/>
          <p:nvPr/>
        </p:nvSpPr>
        <p:spPr>
          <a:xfrm>
            <a:off x="841320" y="5139000"/>
            <a:ext cx="105152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−</a:t>
            </a: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1 &lt; x &lt; 5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Text 59"/>
          <p:cNvSpPr/>
          <p:nvPr/>
        </p:nvSpPr>
        <p:spPr>
          <a:xfrm>
            <a:off x="567000" y="635508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When the x² term is negative, multiply EVERY term by −1 and reverse the inequality first.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YOUR TURN · PRACTICE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Negative a — Practice Questions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Shape 39"/>
          <p:cNvSpPr/>
          <p:nvPr/>
        </p:nvSpPr>
        <p:spPr>
          <a:xfrm>
            <a:off x="567000" y="1463040"/>
            <a:ext cx="11063880" cy="63972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" name="Text 40"/>
          <p:cNvSpPr/>
          <p:nvPr/>
        </p:nvSpPr>
        <p:spPr>
          <a:xfrm>
            <a:off x="887040" y="146304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debdd"/>
                </a:solidFill>
                <a:latin typeface="Calibri"/>
                <a:ea typeface="Calibri"/>
              </a:rPr>
              <a:t>The x² term is negative: multiply by −1 and flip first, then use the sign table.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Shape 41"/>
          <p:cNvSpPr/>
          <p:nvPr/>
        </p:nvSpPr>
        <p:spPr>
          <a:xfrm>
            <a:off x="567000" y="2331720"/>
            <a:ext cx="11063880" cy="603000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Shape 42"/>
          <p:cNvSpPr/>
          <p:nvPr/>
        </p:nvSpPr>
        <p:spPr>
          <a:xfrm>
            <a:off x="822960" y="24415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3" name="Text 43"/>
          <p:cNvSpPr/>
          <p:nvPr/>
        </p:nvSpPr>
        <p:spPr>
          <a:xfrm>
            <a:off x="822960" y="24415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Text 44"/>
          <p:cNvSpPr/>
          <p:nvPr/>
        </p:nvSpPr>
        <p:spPr>
          <a:xfrm>
            <a:off x="1417320" y="2331720"/>
            <a:ext cx="92350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1c2a22"/>
                </a:solidFill>
                <a:latin typeface="Cambria"/>
                <a:ea typeface="Cambria"/>
              </a:rPr>
              <a:t>Solve   −x² + x + 6 ≥ 0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Text 45"/>
          <p:cNvSpPr/>
          <p:nvPr/>
        </p:nvSpPr>
        <p:spPr>
          <a:xfrm>
            <a:off x="10607040" y="2331720"/>
            <a:ext cx="8226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[3]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Shape 46"/>
          <p:cNvSpPr/>
          <p:nvPr/>
        </p:nvSpPr>
        <p:spPr>
          <a:xfrm>
            <a:off x="567000" y="3054240"/>
            <a:ext cx="11063880" cy="603000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Shape 47"/>
          <p:cNvSpPr/>
          <p:nvPr/>
        </p:nvSpPr>
        <p:spPr>
          <a:xfrm>
            <a:off x="822960" y="31636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Text 48"/>
          <p:cNvSpPr/>
          <p:nvPr/>
        </p:nvSpPr>
        <p:spPr>
          <a:xfrm>
            <a:off x="822960" y="3163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Text 49"/>
          <p:cNvSpPr/>
          <p:nvPr/>
        </p:nvSpPr>
        <p:spPr>
          <a:xfrm>
            <a:off x="1417320" y="3054240"/>
            <a:ext cx="92350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1c2a22"/>
                </a:solidFill>
                <a:latin typeface="Cambria"/>
                <a:ea typeface="Cambria"/>
              </a:rPr>
              <a:t>Solve   8 − 2x − x² &lt; 0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Text 50"/>
          <p:cNvSpPr/>
          <p:nvPr/>
        </p:nvSpPr>
        <p:spPr>
          <a:xfrm>
            <a:off x="10607040" y="3054240"/>
            <a:ext cx="8226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[3]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Shape 51"/>
          <p:cNvSpPr/>
          <p:nvPr/>
        </p:nvSpPr>
        <p:spPr>
          <a:xfrm>
            <a:off x="567000" y="3776400"/>
            <a:ext cx="11063880" cy="603000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Shape 52"/>
          <p:cNvSpPr/>
          <p:nvPr/>
        </p:nvSpPr>
        <p:spPr>
          <a:xfrm>
            <a:off x="822960" y="38862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 53"/>
          <p:cNvSpPr/>
          <p:nvPr/>
        </p:nvSpPr>
        <p:spPr>
          <a:xfrm>
            <a:off x="822960" y="38862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Text 54"/>
          <p:cNvSpPr/>
          <p:nvPr/>
        </p:nvSpPr>
        <p:spPr>
          <a:xfrm>
            <a:off x="1417320" y="3776400"/>
            <a:ext cx="92350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1c2a22"/>
                </a:solidFill>
                <a:latin typeface="Cambria"/>
                <a:ea typeface="Cambria"/>
              </a:rPr>
              <a:t>Solve   3 − 2x − x² &gt; 0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Text 55"/>
          <p:cNvSpPr/>
          <p:nvPr/>
        </p:nvSpPr>
        <p:spPr>
          <a:xfrm>
            <a:off x="10607040" y="3776400"/>
            <a:ext cx="8226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[3]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Shape 56"/>
          <p:cNvSpPr/>
          <p:nvPr/>
        </p:nvSpPr>
        <p:spPr>
          <a:xfrm>
            <a:off x="567000" y="4498920"/>
            <a:ext cx="11063880" cy="603000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Shape 57"/>
          <p:cNvSpPr/>
          <p:nvPr/>
        </p:nvSpPr>
        <p:spPr>
          <a:xfrm>
            <a:off x="822960" y="46087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8" name="Text 58"/>
          <p:cNvSpPr/>
          <p:nvPr/>
        </p:nvSpPr>
        <p:spPr>
          <a:xfrm>
            <a:off x="822960" y="46087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Text 59"/>
          <p:cNvSpPr/>
          <p:nvPr/>
        </p:nvSpPr>
        <p:spPr>
          <a:xfrm>
            <a:off x="1417320" y="4498920"/>
            <a:ext cx="92350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1c2a22"/>
                </a:solidFill>
                <a:latin typeface="Cambria"/>
                <a:ea typeface="Cambria"/>
              </a:rPr>
              <a:t>Solve   −x² + 5x − 6 ≥ 0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Text 60"/>
          <p:cNvSpPr/>
          <p:nvPr/>
        </p:nvSpPr>
        <p:spPr>
          <a:xfrm>
            <a:off x="10607040" y="4498920"/>
            <a:ext cx="8226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[3]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Shape 61"/>
          <p:cNvSpPr/>
          <p:nvPr/>
        </p:nvSpPr>
        <p:spPr>
          <a:xfrm>
            <a:off x="567000" y="5221080"/>
            <a:ext cx="11063880" cy="603000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Shape 62"/>
          <p:cNvSpPr/>
          <p:nvPr/>
        </p:nvSpPr>
        <p:spPr>
          <a:xfrm>
            <a:off x="822960" y="53308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" name="Text 63"/>
          <p:cNvSpPr/>
          <p:nvPr/>
        </p:nvSpPr>
        <p:spPr>
          <a:xfrm>
            <a:off x="822960" y="5330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Text 64"/>
          <p:cNvSpPr/>
          <p:nvPr/>
        </p:nvSpPr>
        <p:spPr>
          <a:xfrm>
            <a:off x="1417320" y="5221080"/>
            <a:ext cx="92350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1c2a22"/>
                </a:solidFill>
                <a:latin typeface="Cambria"/>
                <a:ea typeface="Cambria"/>
              </a:rPr>
              <a:t>Solve   10 + 3x − x² &gt; 0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Text 65"/>
          <p:cNvSpPr/>
          <p:nvPr/>
        </p:nvSpPr>
        <p:spPr>
          <a:xfrm>
            <a:off x="10607040" y="5221080"/>
            <a:ext cx="8226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[3]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Shape 66"/>
          <p:cNvSpPr/>
          <p:nvPr/>
        </p:nvSpPr>
        <p:spPr>
          <a:xfrm>
            <a:off x="567000" y="5989320"/>
            <a:ext cx="11063880" cy="45684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7" name="Text 67"/>
          <p:cNvSpPr/>
          <p:nvPr/>
        </p:nvSpPr>
        <p:spPr>
          <a:xfrm>
            <a:off x="822960" y="598932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e0ac2b"/>
                </a:solidFill>
                <a:latin typeface="Calibri"/>
                <a:ea typeface="Calibri"/>
              </a:rPr>
              <a:t>Answers:  </a:t>
            </a:r>
            <a:r>
              <a:rPr b="0" lang="en-US" sz="1200" spc="-1" strike="noStrike">
                <a:solidFill>
                  <a:srgbClr val="edebdd"/>
                </a:solidFill>
                <a:latin typeface="Calibri"/>
                <a:ea typeface="Calibri"/>
              </a:rPr>
              <a:t>1) −2 ≤ x ≤ 3     2) x &lt; −4 or x &gt; 2     3) −3 &lt; x &lt; 1     4) 2 ≤ x ≤ 3     5) −2 &lt; x &lt; 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PRACTICE (1 of 2)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Solving — Exam Questions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Shape 39"/>
          <p:cNvSpPr/>
          <p:nvPr/>
        </p:nvSpPr>
        <p:spPr>
          <a:xfrm>
            <a:off x="567000" y="1463040"/>
            <a:ext cx="11063880" cy="63972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Text 40"/>
          <p:cNvSpPr/>
          <p:nvPr/>
        </p:nvSpPr>
        <p:spPr>
          <a:xfrm>
            <a:off x="887040" y="146304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debdd"/>
                </a:solidFill>
                <a:latin typeface="Calibri"/>
                <a:ea typeface="Calibri"/>
              </a:rPr>
              <a:t>Factorise, build the sign table, then read off. Give your answer as an inequality.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Shape 41"/>
          <p:cNvSpPr/>
          <p:nvPr/>
        </p:nvSpPr>
        <p:spPr>
          <a:xfrm>
            <a:off x="567000" y="2331720"/>
            <a:ext cx="11063880" cy="603000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Shape 42"/>
          <p:cNvSpPr/>
          <p:nvPr/>
        </p:nvSpPr>
        <p:spPr>
          <a:xfrm>
            <a:off x="822960" y="24415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1" name="Text 43"/>
          <p:cNvSpPr/>
          <p:nvPr/>
        </p:nvSpPr>
        <p:spPr>
          <a:xfrm>
            <a:off x="822960" y="24415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Text 44"/>
          <p:cNvSpPr/>
          <p:nvPr/>
        </p:nvSpPr>
        <p:spPr>
          <a:xfrm>
            <a:off x="1417320" y="2331720"/>
            <a:ext cx="92350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1c2a22"/>
                </a:solidFill>
                <a:latin typeface="Cambria"/>
                <a:ea typeface="Cambria"/>
              </a:rPr>
              <a:t>Solve   x² + 3x − 10 ≤ 0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Text 45"/>
          <p:cNvSpPr/>
          <p:nvPr/>
        </p:nvSpPr>
        <p:spPr>
          <a:xfrm>
            <a:off x="10607040" y="2331720"/>
            <a:ext cx="8226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[3]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Shape 46"/>
          <p:cNvSpPr/>
          <p:nvPr/>
        </p:nvSpPr>
        <p:spPr>
          <a:xfrm>
            <a:off x="567000" y="3054240"/>
            <a:ext cx="11063880" cy="603000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Shape 47"/>
          <p:cNvSpPr/>
          <p:nvPr/>
        </p:nvSpPr>
        <p:spPr>
          <a:xfrm>
            <a:off x="822960" y="31636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" name="Text 48"/>
          <p:cNvSpPr/>
          <p:nvPr/>
        </p:nvSpPr>
        <p:spPr>
          <a:xfrm>
            <a:off x="822960" y="3163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Text 49"/>
          <p:cNvSpPr/>
          <p:nvPr/>
        </p:nvSpPr>
        <p:spPr>
          <a:xfrm>
            <a:off x="1417320" y="3054240"/>
            <a:ext cx="92350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1c2a22"/>
                </a:solidFill>
                <a:latin typeface="Cambria"/>
                <a:ea typeface="Cambria"/>
              </a:rPr>
              <a:t>Solve   x² + 2x &gt; 6x + 5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Text 50"/>
          <p:cNvSpPr/>
          <p:nvPr/>
        </p:nvSpPr>
        <p:spPr>
          <a:xfrm>
            <a:off x="10607040" y="3054240"/>
            <a:ext cx="8226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[3]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Shape 51"/>
          <p:cNvSpPr/>
          <p:nvPr/>
        </p:nvSpPr>
        <p:spPr>
          <a:xfrm>
            <a:off x="567000" y="3776400"/>
            <a:ext cx="11063880" cy="603000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Shape 52"/>
          <p:cNvSpPr/>
          <p:nvPr/>
        </p:nvSpPr>
        <p:spPr>
          <a:xfrm>
            <a:off x="822960" y="38862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1" name="Text 53"/>
          <p:cNvSpPr/>
          <p:nvPr/>
        </p:nvSpPr>
        <p:spPr>
          <a:xfrm>
            <a:off x="822960" y="38862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Text 54"/>
          <p:cNvSpPr/>
          <p:nvPr/>
        </p:nvSpPr>
        <p:spPr>
          <a:xfrm>
            <a:off x="1417320" y="3776400"/>
            <a:ext cx="92350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1c2a22"/>
                </a:solidFill>
                <a:latin typeface="Cambria"/>
                <a:ea typeface="Cambria"/>
              </a:rPr>
              <a:t>Solve   5y² − 17y ≤ 40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Text 55"/>
          <p:cNvSpPr/>
          <p:nvPr/>
        </p:nvSpPr>
        <p:spPr>
          <a:xfrm>
            <a:off x="10607040" y="3776400"/>
            <a:ext cx="8226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[3]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Shape 56"/>
          <p:cNvSpPr/>
          <p:nvPr/>
        </p:nvSpPr>
        <p:spPr>
          <a:xfrm>
            <a:off x="567000" y="4498920"/>
            <a:ext cx="11063880" cy="603000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Shape 57"/>
          <p:cNvSpPr/>
          <p:nvPr/>
        </p:nvSpPr>
        <p:spPr>
          <a:xfrm>
            <a:off x="822960" y="46087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Text 58"/>
          <p:cNvSpPr/>
          <p:nvPr/>
        </p:nvSpPr>
        <p:spPr>
          <a:xfrm>
            <a:off x="822960" y="46087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Text 59"/>
          <p:cNvSpPr/>
          <p:nvPr/>
        </p:nvSpPr>
        <p:spPr>
          <a:xfrm>
            <a:off x="1417320" y="4498920"/>
            <a:ext cx="92350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1c2a22"/>
                </a:solidFill>
                <a:latin typeface="Cambria"/>
                <a:ea typeface="Cambria"/>
              </a:rPr>
              <a:t>Solve   2x² + 5x − 3 &lt; 0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Text 60"/>
          <p:cNvSpPr/>
          <p:nvPr/>
        </p:nvSpPr>
        <p:spPr>
          <a:xfrm>
            <a:off x="10607040" y="4498920"/>
            <a:ext cx="8226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[3]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Shape 61"/>
          <p:cNvSpPr/>
          <p:nvPr/>
        </p:nvSpPr>
        <p:spPr>
          <a:xfrm>
            <a:off x="567000" y="5221080"/>
            <a:ext cx="11063880" cy="603000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Shape 62"/>
          <p:cNvSpPr/>
          <p:nvPr/>
        </p:nvSpPr>
        <p:spPr>
          <a:xfrm>
            <a:off x="822960" y="53308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1" name="Text 63"/>
          <p:cNvSpPr/>
          <p:nvPr/>
        </p:nvSpPr>
        <p:spPr>
          <a:xfrm>
            <a:off x="822960" y="5330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Text 64"/>
          <p:cNvSpPr/>
          <p:nvPr/>
        </p:nvSpPr>
        <p:spPr>
          <a:xfrm>
            <a:off x="1417320" y="5221080"/>
            <a:ext cx="92350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1c2a22"/>
                </a:solidFill>
                <a:latin typeface="Cambria"/>
                <a:ea typeface="Cambria"/>
              </a:rPr>
              <a:t>Solve   x² ≥ 9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Text 65"/>
          <p:cNvSpPr/>
          <p:nvPr/>
        </p:nvSpPr>
        <p:spPr>
          <a:xfrm>
            <a:off x="10607040" y="5221080"/>
            <a:ext cx="8226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[2]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Shape 66"/>
          <p:cNvSpPr/>
          <p:nvPr/>
        </p:nvSpPr>
        <p:spPr>
          <a:xfrm>
            <a:off x="567000" y="5989320"/>
            <a:ext cx="11063880" cy="45684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5" name="Text 67"/>
          <p:cNvSpPr/>
          <p:nvPr/>
        </p:nvSpPr>
        <p:spPr>
          <a:xfrm>
            <a:off x="822960" y="598932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e0ac2b"/>
                </a:solidFill>
                <a:latin typeface="Calibri"/>
                <a:ea typeface="Calibri"/>
              </a:rPr>
              <a:t>Answers:  </a:t>
            </a:r>
            <a:r>
              <a:rPr b="0" lang="en-US" sz="1200" spc="-1" strike="noStrike">
                <a:solidFill>
                  <a:srgbClr val="edebdd"/>
                </a:solidFill>
                <a:latin typeface="Calibri"/>
                <a:ea typeface="Calibri"/>
              </a:rPr>
              <a:t>1) −5 ≤ x ≤ 2     2) x &lt; −1 or x &gt; 5     3) −8/5 ≤ y ≤ 5     4) −3 &lt; x &lt; ½     5) x ≤ −3 or x ≥ 3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PRACTICE (2 of 2)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Applied &amp; Harder — Exam Questions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Shape 39"/>
          <p:cNvSpPr/>
          <p:nvPr/>
        </p:nvSpPr>
        <p:spPr>
          <a:xfrm>
            <a:off x="567000" y="1463040"/>
            <a:ext cx="11063880" cy="639720"/>
          </a:xfrm>
          <a:prstGeom prst="roundRect">
            <a:avLst>
              <a:gd name="adj" fmla="val 8571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Text 40"/>
          <p:cNvSpPr/>
          <p:nvPr/>
        </p:nvSpPr>
        <p:spPr>
          <a:xfrm>
            <a:off x="887040" y="1463040"/>
            <a:ext cx="104238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debdd"/>
                </a:solidFill>
                <a:latin typeface="Calibri"/>
                <a:ea typeface="Calibri"/>
              </a:rPr>
              <a:t>Some need rearranging or combining with another inequality first.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Shape 41"/>
          <p:cNvSpPr/>
          <p:nvPr/>
        </p:nvSpPr>
        <p:spPr>
          <a:xfrm>
            <a:off x="567000" y="2331720"/>
            <a:ext cx="11063880" cy="603000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Shape 42"/>
          <p:cNvSpPr/>
          <p:nvPr/>
        </p:nvSpPr>
        <p:spPr>
          <a:xfrm>
            <a:off x="822960" y="24415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" name="Text 43"/>
          <p:cNvSpPr/>
          <p:nvPr/>
        </p:nvSpPr>
        <p:spPr>
          <a:xfrm>
            <a:off x="822960" y="24415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Text 44"/>
          <p:cNvSpPr/>
          <p:nvPr/>
        </p:nvSpPr>
        <p:spPr>
          <a:xfrm>
            <a:off x="1417320" y="2331720"/>
            <a:ext cx="92350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1c2a22"/>
                </a:solidFill>
                <a:latin typeface="Cambria"/>
                <a:ea typeface="Cambria"/>
              </a:rPr>
              <a:t>Solve   x² − 3x − 10 &lt; 0,  and show it on a number line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Text 45"/>
          <p:cNvSpPr/>
          <p:nvPr/>
        </p:nvSpPr>
        <p:spPr>
          <a:xfrm>
            <a:off x="10607040" y="2331720"/>
            <a:ext cx="8226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[4]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Shape 46"/>
          <p:cNvSpPr/>
          <p:nvPr/>
        </p:nvSpPr>
        <p:spPr>
          <a:xfrm>
            <a:off x="567000" y="3054240"/>
            <a:ext cx="11063880" cy="603000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Shape 47"/>
          <p:cNvSpPr/>
          <p:nvPr/>
        </p:nvSpPr>
        <p:spPr>
          <a:xfrm>
            <a:off x="822960" y="31636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4" name="Text 48"/>
          <p:cNvSpPr/>
          <p:nvPr/>
        </p:nvSpPr>
        <p:spPr>
          <a:xfrm>
            <a:off x="822960" y="31636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Text 49"/>
          <p:cNvSpPr/>
          <p:nvPr/>
        </p:nvSpPr>
        <p:spPr>
          <a:xfrm>
            <a:off x="1417320" y="3054240"/>
            <a:ext cx="92350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1c2a22"/>
                </a:solidFill>
                <a:latin typeface="Cambria"/>
                <a:ea typeface="Cambria"/>
              </a:rPr>
              <a:t>Solve   4x² − 5x − 6 &gt; 0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Text 50"/>
          <p:cNvSpPr/>
          <p:nvPr/>
        </p:nvSpPr>
        <p:spPr>
          <a:xfrm>
            <a:off x="10607040" y="3054240"/>
            <a:ext cx="8226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[3]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Shape 51"/>
          <p:cNvSpPr/>
          <p:nvPr/>
        </p:nvSpPr>
        <p:spPr>
          <a:xfrm>
            <a:off x="567000" y="3776400"/>
            <a:ext cx="11063880" cy="603000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Shape 52"/>
          <p:cNvSpPr/>
          <p:nvPr/>
        </p:nvSpPr>
        <p:spPr>
          <a:xfrm>
            <a:off x="822960" y="388620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9" name="Text 53"/>
          <p:cNvSpPr/>
          <p:nvPr/>
        </p:nvSpPr>
        <p:spPr>
          <a:xfrm>
            <a:off x="822960" y="388620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Text 54"/>
          <p:cNvSpPr/>
          <p:nvPr/>
        </p:nvSpPr>
        <p:spPr>
          <a:xfrm>
            <a:off x="1417320" y="3776400"/>
            <a:ext cx="92350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1c2a22"/>
                </a:solidFill>
                <a:latin typeface="Cambria"/>
                <a:ea typeface="Cambria"/>
              </a:rPr>
              <a:t>n is an integer:  3n + 2 ≤ 14  and  6n / (n² + 5) &gt; 1.  Find all n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Text 55"/>
          <p:cNvSpPr/>
          <p:nvPr/>
        </p:nvSpPr>
        <p:spPr>
          <a:xfrm>
            <a:off x="10607040" y="3776400"/>
            <a:ext cx="8226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[4]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Shape 56"/>
          <p:cNvSpPr/>
          <p:nvPr/>
        </p:nvSpPr>
        <p:spPr>
          <a:xfrm>
            <a:off x="567000" y="4498920"/>
            <a:ext cx="11063880" cy="603000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Shape 57"/>
          <p:cNvSpPr/>
          <p:nvPr/>
        </p:nvSpPr>
        <p:spPr>
          <a:xfrm>
            <a:off x="822960" y="460872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4" name="Text 58"/>
          <p:cNvSpPr/>
          <p:nvPr/>
        </p:nvSpPr>
        <p:spPr>
          <a:xfrm>
            <a:off x="822960" y="460872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Text 59"/>
          <p:cNvSpPr/>
          <p:nvPr/>
        </p:nvSpPr>
        <p:spPr>
          <a:xfrm>
            <a:off x="1417320" y="4498920"/>
            <a:ext cx="92350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1c2a22"/>
                </a:solidFill>
                <a:latin typeface="Cambria"/>
                <a:ea typeface="Cambria"/>
              </a:rPr>
              <a:t>A rectangle is x cm by (x + 3) cm. Its area is less than 10 cm². Find the range of x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Text 60"/>
          <p:cNvSpPr/>
          <p:nvPr/>
        </p:nvSpPr>
        <p:spPr>
          <a:xfrm>
            <a:off x="10607040" y="4498920"/>
            <a:ext cx="8226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[4]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Shape 61"/>
          <p:cNvSpPr/>
          <p:nvPr/>
        </p:nvSpPr>
        <p:spPr>
          <a:xfrm>
            <a:off x="567000" y="5221080"/>
            <a:ext cx="11063880" cy="603000"/>
          </a:xfrm>
          <a:prstGeom prst="roundRect">
            <a:avLst>
              <a:gd name="adj" fmla="val 9091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Shape 62"/>
          <p:cNvSpPr/>
          <p:nvPr/>
        </p:nvSpPr>
        <p:spPr>
          <a:xfrm>
            <a:off x="822960" y="5330880"/>
            <a:ext cx="383760" cy="38376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9" name="Text 63"/>
          <p:cNvSpPr/>
          <p:nvPr/>
        </p:nvSpPr>
        <p:spPr>
          <a:xfrm>
            <a:off x="822960" y="5330880"/>
            <a:ext cx="38376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Text 64"/>
          <p:cNvSpPr/>
          <p:nvPr/>
        </p:nvSpPr>
        <p:spPr>
          <a:xfrm>
            <a:off x="1417320" y="5221080"/>
            <a:ext cx="923508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1c2a22"/>
                </a:solidFill>
                <a:latin typeface="Cambria"/>
                <a:ea typeface="Cambria"/>
              </a:rPr>
              <a:t>Solve   x² − 7x + 10 ≥ 0</a:t>
            </a:r>
            <a:endParaRPr b="0" lang="en-US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Text 65"/>
          <p:cNvSpPr/>
          <p:nvPr/>
        </p:nvSpPr>
        <p:spPr>
          <a:xfrm>
            <a:off x="10607040" y="5221080"/>
            <a:ext cx="8226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5c6b60"/>
                </a:solidFill>
                <a:latin typeface="Calibri"/>
                <a:ea typeface="Calibri"/>
              </a:rPr>
              <a:t>[3]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Shape 66"/>
          <p:cNvSpPr/>
          <p:nvPr/>
        </p:nvSpPr>
        <p:spPr>
          <a:xfrm>
            <a:off x="567000" y="5989320"/>
            <a:ext cx="11063880" cy="456840"/>
          </a:xfrm>
          <a:prstGeom prst="roundRect">
            <a:avLst>
              <a:gd name="adj" fmla="val 12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3" name="Text 67"/>
          <p:cNvSpPr/>
          <p:nvPr/>
        </p:nvSpPr>
        <p:spPr>
          <a:xfrm>
            <a:off x="822960" y="598932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e0ac2b"/>
                </a:solidFill>
                <a:latin typeface="Calibri"/>
                <a:ea typeface="Calibri"/>
              </a:rPr>
              <a:t>Answers:  </a:t>
            </a:r>
            <a:r>
              <a:rPr b="0" lang="en-US" sz="1200" spc="-1" strike="noStrike">
                <a:solidFill>
                  <a:srgbClr val="edebdd"/>
                </a:solidFill>
                <a:latin typeface="Calibri"/>
                <a:ea typeface="Calibri"/>
              </a:rPr>
              <a:t>1) −2 &lt; x &lt; 5     2) x &lt; −¾ or x &gt; 2     3) n = 2, 3, 4     4) 0 &lt; x &lt; 2     5) x ≤ 2 or x ≥ 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9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0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1" name="Text 37"/>
          <p:cNvSpPr/>
          <p:nvPr/>
        </p:nvSpPr>
        <p:spPr>
          <a:xfrm>
            <a:off x="1554480" y="67680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RECAP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2" name="Text 38"/>
          <p:cNvSpPr/>
          <p:nvPr/>
        </p:nvSpPr>
        <p:spPr>
          <a:xfrm>
            <a:off x="777240" y="1371600"/>
            <a:ext cx="10606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e0ac2b"/>
                </a:solidFill>
                <a:latin typeface="Cambria"/>
                <a:ea typeface="Cambria"/>
              </a:rPr>
              <a:t>Key Takeaways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3" name="Shape 39"/>
          <p:cNvSpPr/>
          <p:nvPr/>
        </p:nvSpPr>
        <p:spPr>
          <a:xfrm>
            <a:off x="868680" y="236844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4" name="Text 40"/>
          <p:cNvSpPr/>
          <p:nvPr/>
        </p:nvSpPr>
        <p:spPr>
          <a:xfrm>
            <a:off x="1234440" y="2331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Rearrange to compare with 0, then factorise to get the two critical values.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5" name="Shape 41"/>
          <p:cNvSpPr/>
          <p:nvPr/>
        </p:nvSpPr>
        <p:spPr>
          <a:xfrm>
            <a:off x="868680" y="2935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6" name="Text 42"/>
          <p:cNvSpPr/>
          <p:nvPr/>
        </p:nvSpPr>
        <p:spPr>
          <a:xfrm>
            <a:off x="1234440" y="2898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Build a sign table — with a &gt; 0 the expression is + outside the roots, − between.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7" name="Shape 43"/>
          <p:cNvSpPr/>
          <p:nvPr/>
        </p:nvSpPr>
        <p:spPr>
          <a:xfrm>
            <a:off x="868680" y="3502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8" name="Text 44"/>
          <p:cNvSpPr/>
          <p:nvPr/>
        </p:nvSpPr>
        <p:spPr>
          <a:xfrm>
            <a:off x="1234440" y="3465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SAME sign as a → take the OUTSIDE → x &lt; p or x &gt; q (two parts).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9" name="Shape 45"/>
          <p:cNvSpPr/>
          <p:nvPr/>
        </p:nvSpPr>
        <p:spPr>
          <a:xfrm>
            <a:off x="868680" y="4069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0" name="Text 46"/>
          <p:cNvSpPr/>
          <p:nvPr/>
        </p:nvSpPr>
        <p:spPr>
          <a:xfrm>
            <a:off x="1234440" y="4032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OPPOSITE sign to a → take BETWEEN → p &lt; x &lt; q (one part).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1" name="Shape 47"/>
          <p:cNvSpPr/>
          <p:nvPr/>
        </p:nvSpPr>
        <p:spPr>
          <a:xfrm>
            <a:off x="868680" y="4636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2" name="Text 48"/>
          <p:cNvSpPr/>
          <p:nvPr/>
        </p:nvSpPr>
        <p:spPr>
          <a:xfrm>
            <a:off x="1234440" y="4599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Use ≤ / ≥ (closed) when the inequality allows ‘equal to’; − sign in a means ×−1 and flip first.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3" name="Shape 49"/>
          <p:cNvSpPr/>
          <p:nvPr/>
        </p:nvSpPr>
        <p:spPr>
          <a:xfrm>
            <a:off x="777240" y="5440680"/>
            <a:ext cx="106066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4" name="Text 50"/>
          <p:cNvSpPr/>
          <p:nvPr/>
        </p:nvSpPr>
        <p:spPr>
          <a:xfrm>
            <a:off x="777240" y="5440680"/>
            <a:ext cx="10606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No sketch needed:  </a:t>
            </a:r>
            <a:r>
              <a:rPr b="0" lang="en-US" sz="1700" spc="-1" strike="noStrike">
                <a:solidFill>
                  <a:srgbClr val="edebdd"/>
                </a:solidFill>
                <a:latin typeface="Cambria"/>
                <a:ea typeface="Cambria"/>
              </a:rPr>
              <a:t>the sign table tells you exactly which regions to keep.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2026-06-29T12:17:57Z</dcterms:created>
  <dc:creator>Zahra Sheikh Ali</dc:creator>
  <dc:description/>
  <dc:language>en-US</dc:language>
  <cp:lastModifiedBy>Zahra Sheikh Ali</cp:lastModifiedBy>
  <dcterms:modified xsi:type="dcterms:W3CDTF">2026-06-29T12:17:57Z</dcterms:modified>
  <cp:revision>1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12</vt:r8>
  </property>
  <property fmtid="{D5CDD505-2E9C-101B-9397-08002B2CF9AE}" pid="3" name="PresentationFormat">
    <vt:lpwstr>On-screen Show (16:9)</vt:lpwstr>
  </property>
  <property fmtid="{D5CDD505-2E9C-101B-9397-08002B2CF9AE}" pid="4" name="Slides">
    <vt:r8>12</vt:r8>
  </property>
</Properties>
</file>