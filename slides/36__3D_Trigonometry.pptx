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23563C-5B24-482D-BCDD-89EB69D8173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7D5DEC-61AA-4620-980E-6869F007FB5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DCB255-AAC1-41A4-B320-C473F155A95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7CA80A-96B6-46E0-8FB7-03220809979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695856A-ADA2-4FED-BE92-FF7486A50DF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F7EBD7-923C-4BBD-9FC9-B77657246E0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A7C5D3A-C23F-46A2-8AD9-48A842AC71E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F58F956-1F14-4FF1-975D-579958B610E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07A362D-D97F-4197-912F-143A8B20521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EE81217-6C0B-43CD-99DE-215423BFFDF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A03579-D9D2-424C-9779-D7B676DC6F3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258D9E-28FA-48E9-BE3A-0596FE44FBE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D55168F-A8D8-47B2-8E77-5CDF4C1C578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A9AAEE5-BA30-4BDF-8AEB-FB2A3D7BC45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CACD12D-0766-4030-A027-B19424BAE71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DBCBCDD-856A-4295-A6FA-3D2B556BB81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C22F51-C7E1-46A1-81B0-C94B2680999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7E9C4B-6870-4513-B9B2-13E56FF2E47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503911B-19FD-4910-AE8C-DDEBE4F2225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01F68F0-AD0A-4CAF-81B8-82B12BB5311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389E51-83C9-4F72-A1C9-0B2AA5705DB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778240" y="1371600"/>
            <a:ext cx="2011320" cy="1371240"/>
          </a:xfrm>
          <a:prstGeom prst="rect">
            <a:avLst/>
          </a:prstGeom>
          <a:solidFill>
            <a:srgbClr val="eef1e8">
              <a:alpha val="60000"/>
            </a:srgbClr>
          </a:solidFill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778240" y="822960"/>
            <a:ext cx="2559960" cy="548280"/>
          </a:xfrm>
          <a:custGeom>
            <a:avLst/>
            <a:gdLst>
              <a:gd name="textAreaLeft" fmla="*/ 0 w 2559960"/>
              <a:gd name="textAreaRight" fmla="*/ 2560320 w 2559960"/>
              <a:gd name="textAreaTop" fmla="*/ 0 h 548280"/>
              <a:gd name="textAreaBottom" fmla="*/ 548640 h 548280"/>
            </a:gdLst>
            <a:ahLst/>
            <a:rect l="textAreaLeft" t="textAreaTop" r="textAreaRight" b="textAreaBottom"/>
            <a:pathLst>
              <a:path w="2560320" h="548640">
                <a:moveTo>
                  <a:pt x="0" y="548640"/>
                </a:moveTo>
                <a:lnTo>
                  <a:pt x="548640" y="0"/>
                </a:lnTo>
                <a:lnTo>
                  <a:pt x="2560320" y="0"/>
                </a:lnTo>
                <a:lnTo>
                  <a:pt x="2011680" y="548640"/>
                </a:lnTo>
                <a:close/>
              </a:path>
            </a:pathLst>
          </a:custGeom>
          <a:solidFill>
            <a:srgbClr val="fbf3dd">
              <a:alpha val="60000"/>
            </a:srgbClr>
          </a:solidFill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10789920" y="822960"/>
            <a:ext cx="548280" cy="1919880"/>
          </a:xfrm>
          <a:custGeom>
            <a:avLst/>
            <a:gdLst>
              <a:gd name="textAreaLeft" fmla="*/ 0 w 548280"/>
              <a:gd name="textAreaRight" fmla="*/ 548640 w 548280"/>
              <a:gd name="textAreaTop" fmla="*/ 0 h 1919880"/>
              <a:gd name="textAreaBottom" fmla="*/ 1920240 h 1919880"/>
            </a:gdLst>
            <a:ahLst/>
            <a:rect l="textAreaLeft" t="textAreaTop" r="textAreaRight" b="textAreaBottom"/>
            <a:pathLst>
              <a:path w="548640" h="1920240">
                <a:moveTo>
                  <a:pt x="0" y="548640"/>
                </a:moveTo>
                <a:lnTo>
                  <a:pt x="548640" y="0"/>
                </a:lnTo>
                <a:lnTo>
                  <a:pt x="548640" y="1371600"/>
                </a:lnTo>
                <a:lnTo>
                  <a:pt x="0" y="1920240"/>
                </a:lnTo>
                <a:close/>
              </a:path>
            </a:pathLst>
          </a:custGeom>
          <a:solidFill>
            <a:srgbClr val="eef1e8">
              <a:alpha val="45000"/>
            </a:srgbClr>
          </a:solidFill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Trigonometry in 3D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Finding the Right-Angled Triangle · Space Diagonals · Angle Between a Line and a Plane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3D Is Just 2D — Twice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There is NO new formula.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You find a right-angled triangle INSIDE the 3D shape, draw it flat, and use Pythagoras or SOHCAHTOA — usually twice.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Spotting the triangle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Draw it out FLAT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Pythagoras first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Then SOHCAHTOA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Angle: line &amp; plane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cuboid · prism · pyramid · plane · space diagonal · base · vertical height · midpoint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THE METHOD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Four Steps Every Time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The whole topic is this routine — learn it and every question becomes the same.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the right-angled triangle in the 3D shape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Draw that triangle FLAT, on its own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Missing a side? Use PYTHAGORAS on the base first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Then use SOHCAHTOA for the angle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Almost Always TWO Triangles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side you need is usually a DIAGONAL of the base.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You cannot see its length — so find it with Pythagoras first.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41"/>
          <p:cNvSpPr/>
          <p:nvPr/>
        </p:nvSpPr>
        <p:spPr>
          <a:xfrm>
            <a:off x="567000" y="2103120"/>
            <a:ext cx="5440320" cy="3748680"/>
          </a:xfrm>
          <a:prstGeom prst="roundRect">
            <a:avLst>
              <a:gd name="adj" fmla="val 146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42"/>
          <p:cNvSpPr/>
          <p:nvPr/>
        </p:nvSpPr>
        <p:spPr>
          <a:xfrm>
            <a:off x="932760" y="23407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Triangle 1 — in the BASE (flat)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43"/>
          <p:cNvSpPr/>
          <p:nvPr/>
        </p:nvSpPr>
        <p:spPr>
          <a:xfrm>
            <a:off x="914400" y="283464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Use PYTHAGORAS to find the base diagonal.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c6b60"/>
                </a:solidFill>
                <a:latin typeface="Cambria"/>
                <a:ea typeface="Cambria"/>
              </a:rPr>
              <a:t>e.g. base 8 cm by 6 cm: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d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= 8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+ 6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= 100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d = 10 cm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44"/>
          <p:cNvSpPr/>
          <p:nvPr/>
        </p:nvSpPr>
        <p:spPr>
          <a:xfrm>
            <a:off x="914400" y="525780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This diagonal is the link between the two triangles.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5"/>
          <p:cNvSpPr/>
          <p:nvPr/>
        </p:nvSpPr>
        <p:spPr>
          <a:xfrm>
            <a:off x="6190560" y="2103120"/>
            <a:ext cx="5440320" cy="3748680"/>
          </a:xfrm>
          <a:prstGeom prst="roundRect">
            <a:avLst>
              <a:gd name="adj" fmla="val 146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46"/>
          <p:cNvSpPr/>
          <p:nvPr/>
        </p:nvSpPr>
        <p:spPr>
          <a:xfrm>
            <a:off x="6556320" y="23407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Triangle 2 — the UPRIGHT one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47"/>
          <p:cNvSpPr/>
          <p:nvPr/>
        </p:nvSpPr>
        <p:spPr>
          <a:xfrm>
            <a:off x="6537960" y="283464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Now use SOHCAHTOA with the diagonal.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c6b60"/>
                </a:solidFill>
                <a:latin typeface="Cambria"/>
                <a:ea typeface="Cambria"/>
              </a:rPr>
              <a:t>e.g. height 5 cm, diagonal 10 cm: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tan θ = 5 ÷ 10 = 0.5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θ = tan⁻¹(0.5) = 26.6°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48"/>
          <p:cNvSpPr/>
          <p:nvPr/>
        </p:nvSpPr>
        <p:spPr>
          <a:xfrm>
            <a:off x="6537960" y="525780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The diagonal from step 1 is the ADJACENT side here.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9"/>
          <p:cNvSpPr/>
          <p:nvPr/>
        </p:nvSpPr>
        <p:spPr>
          <a:xfrm>
            <a:off x="567000" y="603504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50"/>
          <p:cNvSpPr/>
          <p:nvPr/>
        </p:nvSpPr>
        <p:spPr>
          <a:xfrm>
            <a:off x="841320" y="60350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Pythagoras in the base  →  then SOHCAHTOA going up.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Picture 52" descr="d4L.png"/>
          <p:cNvPicPr/>
          <p:nvPr/>
        </p:nvPicPr>
        <p:blipFill>
          <a:blip r:embed="rId1"/>
          <a:stretch/>
        </p:blipFill>
        <p:spPr>
          <a:xfrm>
            <a:off x="2688840" y="4023360"/>
            <a:ext cx="1388880" cy="1188360"/>
          </a:xfrm>
          <a:prstGeom prst="rect">
            <a:avLst/>
          </a:prstGeom>
          <a:ln w="0">
            <a:noFill/>
          </a:ln>
        </p:spPr>
      </p:pic>
      <p:pic>
        <p:nvPicPr>
          <p:cNvPr id="226" name="Picture 53" descr="d4R.png"/>
          <p:cNvPicPr/>
          <p:nvPr/>
        </p:nvPicPr>
        <p:blipFill>
          <a:blip r:embed="rId2"/>
          <a:stretch/>
        </p:blipFill>
        <p:spPr>
          <a:xfrm>
            <a:off x="8060040" y="4023360"/>
            <a:ext cx="1892880" cy="118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SPACE DIAGONAL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Longest Line in a Cuboid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space diagonal goes corner-to-opposite-corner THROUGH the solid.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It uses all three dimensions.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46"/>
          <p:cNvSpPr/>
          <p:nvPr/>
        </p:nvSpPr>
        <p:spPr>
          <a:xfrm>
            <a:off x="6035040" y="2194560"/>
            <a:ext cx="559584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47"/>
          <p:cNvSpPr/>
          <p:nvPr/>
        </p:nvSpPr>
        <p:spPr>
          <a:xfrm>
            <a:off x="6400800" y="2432160"/>
            <a:ext cx="486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formula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48"/>
          <p:cNvSpPr/>
          <p:nvPr/>
        </p:nvSpPr>
        <p:spPr>
          <a:xfrm>
            <a:off x="6355080" y="292608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d  =  √( l</a:t>
            </a:r>
            <a:r>
              <a:rPr b="1" lang="en-US" sz="2000" spc="-1" strike="noStrike" baseline="30000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 + w</a:t>
            </a:r>
            <a:r>
              <a:rPr b="1" lang="en-US" sz="2000" spc="-1" strike="noStrike" baseline="30000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 + h</a:t>
            </a:r>
            <a:r>
              <a:rPr b="1" lang="en-US" sz="2000" spc="-1" strike="noStrike" baseline="30000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 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49"/>
          <p:cNvSpPr/>
          <p:nvPr/>
        </p:nvSpPr>
        <p:spPr>
          <a:xfrm>
            <a:off x="6355080" y="3657600"/>
            <a:ext cx="50288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Why? Pythagoras TWICE: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1.  base diagonal:  b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 = l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 + w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2.  space diagonal:  d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 = b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 + h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 = l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 + w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 + h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50"/>
          <p:cNvSpPr/>
          <p:nvPr/>
        </p:nvSpPr>
        <p:spPr>
          <a:xfrm>
            <a:off x="6355080" y="52578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e.g. 3 × 4 × 12 cuboid:  d = √(9 + 16 + 144) = √169 = 13 cm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51"/>
          <p:cNvSpPr/>
          <p:nvPr/>
        </p:nvSpPr>
        <p:spPr>
          <a:xfrm>
            <a:off x="567000" y="6080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You do not have to memorise it — doing Pythagoras twice gives the same answer.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4" name="Picture 53" descr="d5.png"/>
          <p:cNvPicPr/>
          <p:nvPr/>
        </p:nvPicPr>
        <p:blipFill>
          <a:blip r:embed="rId1"/>
          <a:stretch/>
        </p:blipFill>
        <p:spPr>
          <a:xfrm>
            <a:off x="1097280" y="2348640"/>
            <a:ext cx="4388760" cy="302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HARD PART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Angle Between a Line and a Plane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‘</a:t>
            </a: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angle between AH and the base’ — what does that mean?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Drop the line down onto the plane.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41"/>
          <p:cNvSpPr/>
          <p:nvPr/>
        </p:nvSpPr>
        <p:spPr>
          <a:xfrm>
            <a:off x="567000" y="214884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42"/>
          <p:cNvSpPr/>
          <p:nvPr/>
        </p:nvSpPr>
        <p:spPr>
          <a:xfrm>
            <a:off x="868680" y="23407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43"/>
          <p:cNvSpPr/>
          <p:nvPr/>
        </p:nvSpPr>
        <p:spPr>
          <a:xfrm>
            <a:off x="868680" y="2340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44"/>
          <p:cNvSpPr/>
          <p:nvPr/>
        </p:nvSpPr>
        <p:spPr>
          <a:xfrm>
            <a:off x="1508760" y="2148840"/>
            <a:ext cx="9875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Take the line (e.g. AH). Find the point where it MEETS the plane (A).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45"/>
          <p:cNvSpPr/>
          <p:nvPr/>
        </p:nvSpPr>
        <p:spPr>
          <a:xfrm>
            <a:off x="567000" y="310896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46"/>
          <p:cNvSpPr/>
          <p:nvPr/>
        </p:nvSpPr>
        <p:spPr>
          <a:xfrm>
            <a:off x="868680" y="3300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47"/>
          <p:cNvSpPr/>
          <p:nvPr/>
        </p:nvSpPr>
        <p:spPr>
          <a:xfrm>
            <a:off x="868680" y="3300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48"/>
          <p:cNvSpPr/>
          <p:nvPr/>
        </p:nvSpPr>
        <p:spPr>
          <a:xfrm>
            <a:off x="1508760" y="3108960"/>
            <a:ext cx="9875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From the other end (H), drop straight DOWN onto the plane. Call that point D.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49"/>
          <p:cNvSpPr/>
          <p:nvPr/>
        </p:nvSpPr>
        <p:spPr>
          <a:xfrm>
            <a:off x="567000" y="406908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50"/>
          <p:cNvSpPr/>
          <p:nvPr/>
        </p:nvSpPr>
        <p:spPr>
          <a:xfrm>
            <a:off x="868680" y="426096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51"/>
          <p:cNvSpPr/>
          <p:nvPr/>
        </p:nvSpPr>
        <p:spPr>
          <a:xfrm>
            <a:off x="868680" y="4260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52"/>
          <p:cNvSpPr/>
          <p:nvPr/>
        </p:nvSpPr>
        <p:spPr>
          <a:xfrm>
            <a:off x="1508760" y="4069080"/>
            <a:ext cx="9875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The angle you want is between the line AH and its ‘shadow’ AD on the plane.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53"/>
          <p:cNvSpPr/>
          <p:nvPr/>
        </p:nvSpPr>
        <p:spPr>
          <a:xfrm>
            <a:off x="567000" y="502920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54"/>
          <p:cNvSpPr/>
          <p:nvPr/>
        </p:nvSpPr>
        <p:spPr>
          <a:xfrm>
            <a:off x="868680" y="522108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55"/>
          <p:cNvSpPr/>
          <p:nvPr/>
        </p:nvSpPr>
        <p:spPr>
          <a:xfrm>
            <a:off x="868680" y="5221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56"/>
          <p:cNvSpPr/>
          <p:nvPr/>
        </p:nvSpPr>
        <p:spPr>
          <a:xfrm>
            <a:off x="1508760" y="5029200"/>
            <a:ext cx="9875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Triangle AHD is right-angled at D — now use SOHCAHTOA.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57"/>
          <p:cNvSpPr/>
          <p:nvPr/>
        </p:nvSpPr>
        <p:spPr>
          <a:xfrm>
            <a:off x="567000" y="603504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58"/>
          <p:cNvSpPr/>
          <p:nvPr/>
        </p:nvSpPr>
        <p:spPr>
          <a:xfrm>
            <a:off x="841320" y="603504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The ‘shadow’ of the line on the plane is nearly always a DIAGONAL of the base.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Picture 60" descr="d6.png"/>
          <p:cNvPicPr/>
          <p:nvPr/>
        </p:nvPicPr>
        <p:blipFill>
          <a:blip r:embed="rId1"/>
          <a:stretch/>
        </p:blipFill>
        <p:spPr>
          <a:xfrm>
            <a:off x="7543800" y="2214720"/>
            <a:ext cx="4023000" cy="357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Cuboid: Angle Between AH and the Base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out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Use the BASE DIAGONAL, not a base edge.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Draw the triangle flat before substituting.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Keep full accuracy — round only at the end.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Check: the angle should be less than 90°.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Same routine for pyramids: find the base diagonal (or half of it) first.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Cuboid with base 8 cm × 6 cm and height 5 cm.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Base diagonal (Pythagoras):  d = √(8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+ 6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) = √100 = 10 cm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Upright triangle: opposite = 5 (height), adjacent = 10 (diagonal)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tan θ = 5 ÷ 10  →  θ = tan⁻¹(0.5)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26.6°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Angle between AH and the base = 26.6°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Picture 59" descr="d7.png"/>
          <p:cNvPicPr/>
          <p:nvPr/>
        </p:nvPicPr>
        <p:blipFill>
          <a:blip r:embed="rId1"/>
          <a:stretch/>
        </p:blipFill>
        <p:spPr>
          <a:xfrm>
            <a:off x="4504320" y="3730680"/>
            <a:ext cx="1872360" cy="120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PYRAMIDS &amp; PRISMS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Small Differences to Watch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Same method — but be careful WHICH length you need.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41"/>
          <p:cNvSpPr/>
          <p:nvPr/>
        </p:nvSpPr>
        <p:spPr>
          <a:xfrm>
            <a:off x="567000" y="214884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42"/>
          <p:cNvSpPr/>
          <p:nvPr/>
        </p:nvSpPr>
        <p:spPr>
          <a:xfrm>
            <a:off x="914400" y="2221920"/>
            <a:ext cx="420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PYRAMID — apex above the CENTRE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43"/>
          <p:cNvSpPr/>
          <p:nvPr/>
        </p:nvSpPr>
        <p:spPr>
          <a:xfrm>
            <a:off x="5212080" y="2148840"/>
            <a:ext cx="6217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vertical height meets the base at the CENTRE, so you use HALF the base diagonal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44"/>
          <p:cNvSpPr/>
          <p:nvPr/>
        </p:nvSpPr>
        <p:spPr>
          <a:xfrm>
            <a:off x="567000" y="312732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45"/>
          <p:cNvSpPr/>
          <p:nvPr/>
        </p:nvSpPr>
        <p:spPr>
          <a:xfrm>
            <a:off x="914400" y="3200400"/>
            <a:ext cx="420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SLANT EDGE vs SLANT HEIGHT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46"/>
          <p:cNvSpPr/>
          <p:nvPr/>
        </p:nvSpPr>
        <p:spPr>
          <a:xfrm>
            <a:off x="5212080" y="3127320"/>
            <a:ext cx="6217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edge → use half the diagonal;  face height → use half the base EDGE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47"/>
          <p:cNvSpPr/>
          <p:nvPr/>
        </p:nvSpPr>
        <p:spPr>
          <a:xfrm>
            <a:off x="567000" y="41058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48"/>
          <p:cNvSpPr/>
          <p:nvPr/>
        </p:nvSpPr>
        <p:spPr>
          <a:xfrm>
            <a:off x="914400" y="4178880"/>
            <a:ext cx="420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MIDPOINTS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49"/>
          <p:cNvSpPr/>
          <p:nvPr/>
        </p:nvSpPr>
        <p:spPr>
          <a:xfrm>
            <a:off x="5212080" y="4105800"/>
            <a:ext cx="6217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‘</a:t>
            </a: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 is the midpoint of GH’ — halve that length before you start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50"/>
          <p:cNvSpPr/>
          <p:nvPr/>
        </p:nvSpPr>
        <p:spPr>
          <a:xfrm>
            <a:off x="567000" y="508392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51"/>
          <p:cNvSpPr/>
          <p:nvPr/>
        </p:nvSpPr>
        <p:spPr>
          <a:xfrm>
            <a:off x="914400" y="5157360"/>
            <a:ext cx="420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PRISM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52"/>
          <p:cNvSpPr/>
          <p:nvPr/>
        </p:nvSpPr>
        <p:spPr>
          <a:xfrm>
            <a:off x="5212080" y="5083920"/>
            <a:ext cx="6217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cross-section is a flat 2D shape — work in that plane first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53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Always sketch the 2D triangle separately — it is the single best habit in this topic.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TASK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Trig in 3D Shapes — Worksheet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39"/>
          <p:cNvSpPr/>
          <p:nvPr/>
        </p:nvSpPr>
        <p:spPr>
          <a:xfrm>
            <a:off x="3014280" y="1141560"/>
            <a:ext cx="6739200" cy="48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40"/>
          <p:cNvSpPr/>
          <p:nvPr/>
        </p:nvSpPr>
        <p:spPr>
          <a:xfrm>
            <a:off x="681840" y="635328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41"/>
          <p:cNvSpPr/>
          <p:nvPr/>
        </p:nvSpPr>
        <p:spPr>
          <a:xfrm>
            <a:off x="887040" y="6119640"/>
            <a:ext cx="11399040" cy="5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Find the right-angled triangle, draw it flat, then Pythagoras → SOHCAHTOA.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ectangle 44"/>
          <p:cNvSpPr/>
          <p:nvPr/>
        </p:nvSpPr>
        <p:spPr>
          <a:xfrm>
            <a:off x="2116080" y="1048680"/>
            <a:ext cx="8463960" cy="5309280"/>
          </a:xfrm>
          <a:prstGeom prst="rect">
            <a:avLst/>
          </a:prstGeom>
          <a:solidFill>
            <a:schemeClr val="bg1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491" name="Group 45"/>
          <p:cNvGrpSpPr/>
          <p:nvPr/>
        </p:nvGrpSpPr>
        <p:grpSpPr>
          <a:xfrm>
            <a:off x="2223360" y="1134000"/>
            <a:ext cx="8267760" cy="5158440"/>
            <a:chOff x="2223360" y="1134000"/>
            <a:chExt cx="8267760" cy="5158440"/>
          </a:xfrm>
        </p:grpSpPr>
        <p:pic>
          <p:nvPicPr>
            <p:cNvPr id="492" name="Picture 2" descr=""/>
            <p:cNvPicPr/>
            <p:nvPr/>
          </p:nvPicPr>
          <p:blipFill>
            <a:blip r:embed="rId1"/>
            <a:stretch/>
          </p:blipFill>
          <p:spPr>
            <a:xfrm>
              <a:off x="2223360" y="1134000"/>
              <a:ext cx="4068720" cy="161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3" name="Picture 2" descr=""/>
            <p:cNvPicPr/>
            <p:nvPr/>
          </p:nvPicPr>
          <p:blipFill>
            <a:blip r:embed="rId2"/>
            <a:stretch/>
          </p:blipFill>
          <p:spPr>
            <a:xfrm>
              <a:off x="2223360" y="2886840"/>
              <a:ext cx="4068720" cy="170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4" name="Picture 3" descr=""/>
            <p:cNvPicPr/>
            <p:nvPr/>
          </p:nvPicPr>
          <p:blipFill>
            <a:blip r:embed="rId3"/>
            <a:stretch/>
          </p:blipFill>
          <p:spPr>
            <a:xfrm>
              <a:off x="2223360" y="4688280"/>
              <a:ext cx="4068720" cy="1597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5" name="Picture 4" descr=""/>
            <p:cNvPicPr/>
            <p:nvPr/>
          </p:nvPicPr>
          <p:blipFill>
            <a:blip r:embed="rId4"/>
            <a:stretch/>
          </p:blipFill>
          <p:spPr>
            <a:xfrm>
              <a:off x="6292440" y="1134000"/>
              <a:ext cx="4198680" cy="1915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6" name="Picture 5" descr=""/>
            <p:cNvPicPr/>
            <p:nvPr/>
          </p:nvPicPr>
          <p:blipFill>
            <a:blip r:embed="rId5"/>
            <a:stretch/>
          </p:blipFill>
          <p:spPr>
            <a:xfrm>
              <a:off x="6292440" y="3049920"/>
              <a:ext cx="4198680" cy="1650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7" name="Picture 6" descr=""/>
            <p:cNvPicPr/>
            <p:nvPr/>
          </p:nvPicPr>
          <p:blipFill>
            <a:blip r:embed="rId6"/>
            <a:stretch/>
          </p:blipFill>
          <p:spPr>
            <a:xfrm>
              <a:off x="6292440" y="4703400"/>
              <a:ext cx="4198680" cy="15890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498" name="Picture 2" descr=""/>
          <p:cNvPicPr/>
          <p:nvPr/>
        </p:nvPicPr>
        <p:blipFill>
          <a:blip r:embed="rId7"/>
          <a:stretch/>
        </p:blipFill>
        <p:spPr>
          <a:xfrm>
            <a:off x="1900080" y="2202840"/>
            <a:ext cx="4763160" cy="841320"/>
          </a:xfrm>
          <a:prstGeom prst="rect">
            <a:avLst/>
          </a:prstGeom>
          <a:ln w="0">
            <a:noFill/>
          </a:ln>
        </p:spPr>
      </p:pic>
      <p:pic>
        <p:nvPicPr>
          <p:cNvPr id="499" name="Picture 3" descr=""/>
          <p:cNvPicPr/>
          <p:nvPr/>
        </p:nvPicPr>
        <p:blipFill>
          <a:blip r:embed="rId8"/>
          <a:stretch/>
        </p:blipFill>
        <p:spPr>
          <a:xfrm>
            <a:off x="1900080" y="3864600"/>
            <a:ext cx="4717440" cy="822600"/>
          </a:xfrm>
          <a:prstGeom prst="rect">
            <a:avLst/>
          </a:prstGeom>
          <a:ln w="0">
            <a:noFill/>
          </a:ln>
        </p:spPr>
      </p:pic>
      <p:pic>
        <p:nvPicPr>
          <p:cNvPr id="500" name="Picture 4" descr=""/>
          <p:cNvPicPr/>
          <p:nvPr/>
        </p:nvPicPr>
        <p:blipFill>
          <a:blip r:embed="rId9"/>
          <a:stretch/>
        </p:blipFill>
        <p:spPr>
          <a:xfrm>
            <a:off x="1900080" y="5386320"/>
            <a:ext cx="4717440" cy="894600"/>
          </a:xfrm>
          <a:prstGeom prst="rect">
            <a:avLst/>
          </a:prstGeom>
          <a:ln w="0">
            <a:noFill/>
          </a:ln>
        </p:spPr>
      </p:pic>
      <p:pic>
        <p:nvPicPr>
          <p:cNvPr id="501" name="Picture 5" descr=""/>
          <p:cNvPicPr/>
          <p:nvPr/>
        </p:nvPicPr>
        <p:blipFill>
          <a:blip r:embed="rId10"/>
          <a:stretch/>
        </p:blipFill>
        <p:spPr>
          <a:xfrm>
            <a:off x="6435360" y="2202840"/>
            <a:ext cx="3189600" cy="841320"/>
          </a:xfrm>
          <a:prstGeom prst="rect">
            <a:avLst/>
          </a:prstGeom>
          <a:ln w="0">
            <a:noFill/>
          </a:ln>
        </p:spPr>
      </p:pic>
      <p:pic>
        <p:nvPicPr>
          <p:cNvPr id="502" name="Picture 6" descr=""/>
          <p:cNvPicPr/>
          <p:nvPr/>
        </p:nvPicPr>
        <p:blipFill>
          <a:blip r:embed="rId11"/>
          <a:stretch/>
        </p:blipFill>
        <p:spPr>
          <a:xfrm>
            <a:off x="6435360" y="3864600"/>
            <a:ext cx="3476520" cy="822600"/>
          </a:xfrm>
          <a:prstGeom prst="rect">
            <a:avLst/>
          </a:prstGeom>
          <a:ln w="0">
            <a:noFill/>
          </a:ln>
        </p:spPr>
      </p:pic>
      <p:pic>
        <p:nvPicPr>
          <p:cNvPr id="503" name="Picture 7" descr=""/>
          <p:cNvPicPr/>
          <p:nvPr/>
        </p:nvPicPr>
        <p:blipFill>
          <a:blip r:embed="rId12"/>
          <a:stretch/>
        </p:blipFill>
        <p:spPr>
          <a:xfrm>
            <a:off x="6435360" y="5401800"/>
            <a:ext cx="3332520" cy="87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Cuboids, cubes, prisms, pyramids and cones — same routine every time.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Sketch the right-angled triangle FLAT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Pythagoras for the hidden diagonal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SOHCAHTOA for the angle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Round as asked (usually 3 s.f. or 1 d.p.)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9"/>
          <p:cNvSpPr/>
          <p:nvPr/>
        </p:nvSpPr>
        <p:spPr>
          <a:xfrm>
            <a:off x="1276920" y="1398960"/>
            <a:ext cx="9637560" cy="4701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6" name="Image 0" descr="/tmp/work/clean3/td-04.png"/>
          <p:cNvPicPr/>
          <p:nvPr/>
        </p:nvPicPr>
        <p:blipFill>
          <a:blip r:embed="rId1"/>
          <a:stretch/>
        </p:blipFill>
        <p:spPr>
          <a:xfrm>
            <a:off x="1341000" y="1463040"/>
            <a:ext cx="9509400" cy="457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9"/>
          <p:cNvSpPr/>
          <p:nvPr/>
        </p:nvSpPr>
        <p:spPr>
          <a:xfrm>
            <a:off x="1805040" y="1398960"/>
            <a:ext cx="858168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7" name="Image 0" descr="/tmp/work/clean3/td-05.png"/>
          <p:cNvPicPr/>
          <p:nvPr/>
        </p:nvPicPr>
        <p:blipFill>
          <a:blip r:embed="rId1"/>
          <a:stretch/>
        </p:blipFill>
        <p:spPr>
          <a:xfrm>
            <a:off x="1868760" y="1463040"/>
            <a:ext cx="845352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39"/>
          <p:cNvSpPr/>
          <p:nvPr/>
        </p:nvSpPr>
        <p:spPr>
          <a:xfrm>
            <a:off x="2352600" y="1398960"/>
            <a:ext cx="74858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8" name="Image 0" descr="/tmp/work/clean3/td-06.png"/>
          <p:cNvPicPr/>
          <p:nvPr/>
        </p:nvPicPr>
        <p:blipFill>
          <a:blip r:embed="rId1"/>
          <a:stretch/>
        </p:blipFill>
        <p:spPr>
          <a:xfrm>
            <a:off x="2416680" y="1463040"/>
            <a:ext cx="735804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39"/>
          <p:cNvSpPr/>
          <p:nvPr/>
        </p:nvSpPr>
        <p:spPr>
          <a:xfrm>
            <a:off x="1505520" y="1398960"/>
            <a:ext cx="918036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9" name="Image 0" descr="/tmp/work/clean3/td-07.png"/>
          <p:cNvPicPr/>
          <p:nvPr/>
        </p:nvPicPr>
        <p:blipFill>
          <a:blip r:embed="rId1"/>
          <a:stretch/>
        </p:blipFill>
        <p:spPr>
          <a:xfrm>
            <a:off x="1569600" y="1463040"/>
            <a:ext cx="905220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39"/>
          <p:cNvSpPr/>
          <p:nvPr/>
        </p:nvSpPr>
        <p:spPr>
          <a:xfrm>
            <a:off x="2602440" y="1398960"/>
            <a:ext cx="69865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0" name="Image 0" descr="/tmp/work/clean3/td-08.png"/>
          <p:cNvPicPr/>
          <p:nvPr/>
        </p:nvPicPr>
        <p:blipFill>
          <a:blip r:embed="rId1"/>
          <a:stretch/>
        </p:blipFill>
        <p:spPr>
          <a:xfrm>
            <a:off x="2666520" y="1463040"/>
            <a:ext cx="68583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39"/>
          <p:cNvSpPr/>
          <p:nvPr/>
        </p:nvSpPr>
        <p:spPr>
          <a:xfrm>
            <a:off x="1942920" y="1398960"/>
            <a:ext cx="830520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1" name="Image 0" descr="/tmp/work/clean3/td-09.png"/>
          <p:cNvPicPr/>
          <p:nvPr/>
        </p:nvPicPr>
        <p:blipFill>
          <a:blip r:embed="rId1"/>
          <a:stretch/>
        </p:blipFill>
        <p:spPr>
          <a:xfrm>
            <a:off x="2007000" y="1463040"/>
            <a:ext cx="817740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39"/>
          <p:cNvSpPr/>
          <p:nvPr/>
        </p:nvSpPr>
        <p:spPr>
          <a:xfrm>
            <a:off x="3247920" y="1398960"/>
            <a:ext cx="569520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2" name="Image 0" descr="/tmp/work/clean3/td-10.png"/>
          <p:cNvPicPr/>
          <p:nvPr/>
        </p:nvPicPr>
        <p:blipFill>
          <a:blip r:embed="rId1"/>
          <a:stretch/>
        </p:blipFill>
        <p:spPr>
          <a:xfrm>
            <a:off x="3312000" y="1463040"/>
            <a:ext cx="556704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39"/>
          <p:cNvSpPr/>
          <p:nvPr/>
        </p:nvSpPr>
        <p:spPr>
          <a:xfrm>
            <a:off x="2328840" y="1398960"/>
            <a:ext cx="753336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3" name="Image 0" descr="/tmp/work/clean3/td-11.png"/>
          <p:cNvPicPr/>
          <p:nvPr/>
        </p:nvPicPr>
        <p:blipFill>
          <a:blip r:embed="rId1"/>
          <a:stretch/>
        </p:blipFill>
        <p:spPr>
          <a:xfrm>
            <a:off x="2392920" y="1463040"/>
            <a:ext cx="740520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39"/>
          <p:cNvSpPr/>
          <p:nvPr/>
        </p:nvSpPr>
        <p:spPr>
          <a:xfrm>
            <a:off x="3084120" y="1398960"/>
            <a:ext cx="602316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4" name="Image 0" descr="/tmp/work/clean3/td-12.png"/>
          <p:cNvPicPr/>
          <p:nvPr/>
        </p:nvPicPr>
        <p:blipFill>
          <a:blip r:embed="rId1"/>
          <a:stretch/>
        </p:blipFill>
        <p:spPr>
          <a:xfrm>
            <a:off x="3148200" y="1463040"/>
            <a:ext cx="589500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3D trigonometry uses NO new formulas — find a right-angled triangle inside the shape.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Draw that triangle FLAT on its own before substituting anything.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The hidden length is usually a base DIAGONAL — find it with Pythagoras first.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Then use SOHCAHTOA (or the sine/cosine rule) in the upright triangle.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Angle between a line and a plane = the angle between the line and its ‘shadow’ on the plane.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Pythagoras in the base, then SOHCAHTOA going up.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1048</Words>
  <Paragraphs>181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2026-07-14T17:18:52Z</dcterms:created>
  <dc:creator>Zahra Sheikh Ali</dc:creator>
  <dc:description/>
  <dc:language>en-US</dc:language>
  <cp:lastModifiedBy>zahraa sheik ali</cp:lastModifiedBy>
  <dcterms:modified xsi:type="dcterms:W3CDTF">2026-07-25T10:28:13Z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20</vt:r8>
  </property>
  <property fmtid="{D5CDD505-2E9C-101B-9397-08002B2CF9AE}" pid="3" name="PresentationFormat">
    <vt:lpwstr>Custom</vt:lpwstr>
  </property>
  <property fmtid="{D5CDD505-2E9C-101B-9397-08002B2CF9AE}" pid="4" name="Slides">
    <vt:r8>20</vt:r8>
  </property>
</Properties>
</file>