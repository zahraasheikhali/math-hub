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95" d="100"/>
          <a:sy n="95" d="100"/>
        </p:scale>
        <p:origin x="-178" y="24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13802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778240" y="1371600"/>
            <a:ext cx="2011680" cy="1371600"/>
          </a:xfrm>
          <a:prstGeom prst="rect">
            <a:avLst/>
          </a:prstGeom>
          <a:solidFill>
            <a:srgbClr val="EEF1E8">
              <a:alpha val="60000"/>
            </a:srgbClr>
          </a:solidFill>
          <a:ln w="22860">
            <a:solidFill>
              <a:srgbClr val="1C2A2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78240" y="822960"/>
            <a:ext cx="2560320" cy="548640"/>
          </a:xfrm>
          <a:custGeom>
            <a:avLst/>
            <a:gdLst/>
            <a:ahLst/>
            <a:cxnLst/>
            <a:rect l="l" t="t" r="r" b="b"/>
            <a:pathLst>
              <a:path w="2560320" h="548640">
                <a:moveTo>
                  <a:pt x="0" y="548640"/>
                </a:moveTo>
                <a:lnTo>
                  <a:pt x="548640" y="0"/>
                </a:lnTo>
                <a:lnTo>
                  <a:pt x="2560320" y="0"/>
                </a:lnTo>
                <a:lnTo>
                  <a:pt x="2011680" y="548640"/>
                </a:lnTo>
                <a:close/>
              </a:path>
            </a:pathLst>
          </a:custGeom>
          <a:solidFill>
            <a:srgbClr val="FBF3DD">
              <a:alpha val="60000"/>
            </a:srgbClr>
          </a:solidFill>
          <a:ln w="22860">
            <a:solidFill>
              <a:srgbClr val="1C2A2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789920" y="822960"/>
            <a:ext cx="548640" cy="1920240"/>
          </a:xfrm>
          <a:custGeom>
            <a:avLst/>
            <a:gdLst/>
            <a:ahLst/>
            <a:cxnLst/>
            <a:rect l="l" t="t" r="r" b="b"/>
            <a:pathLst>
              <a:path w="548640" h="1920240">
                <a:moveTo>
                  <a:pt x="0" y="548640"/>
                </a:moveTo>
                <a:lnTo>
                  <a:pt x="548640" y="0"/>
                </a:lnTo>
                <a:lnTo>
                  <a:pt x="548640" y="1371600"/>
                </a:lnTo>
                <a:lnTo>
                  <a:pt x="0" y="1920240"/>
                </a:lnTo>
                <a:close/>
              </a:path>
            </a:pathLst>
          </a:custGeom>
          <a:solidFill>
            <a:srgbClr val="EEF1E8">
              <a:alpha val="45000"/>
            </a:srgbClr>
          </a:solidFill>
          <a:ln w="22860">
            <a:solidFill>
              <a:srgbClr val="1C2A2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41" name="Text 39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42" name="Text 40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Trigonometry in 3D</a:t>
            </a:r>
            <a:endParaRPr lang="en-US" sz="3800" dirty="0"/>
          </a:p>
        </p:txBody>
      </p:sp>
      <p:sp>
        <p:nvSpPr>
          <p:cNvPr id="45" name="Text 43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the Right-Angled Triangle · Space Diagonals · Angle Between a Line and a Plane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Is Just 2D — Twice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new formula. </a:t>
            </a: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find a right-angled triangle INSIDE the 3D shape, draw it flat, and use Pythagoras or SOHCAHTOA — usually twice.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Spotting the triangle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 it out FLAT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Pythagoras first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SOHCAHTOA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Angle: line &amp; plane</a:t>
            </a:r>
            <a:endParaRPr lang="en-US" sz="135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135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cuboid · prism · pyramid · plane · space diagonal · base · vertical height · midpoint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Steps Every Time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topic is this routine — learn it and every question becomes the same.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right-angled triangle in the 3D shape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 that triangle FLAT, on its own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a side? Use PYTHAGORAS on the base first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use SOHCAHTOA for the angle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Almost Always TWO Triangles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side you need is usually a DIAGONAL of the base.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see its length — so find it with Pythagoras first.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03120"/>
            <a:ext cx="5440680" cy="3749040"/>
          </a:xfrm>
          <a:prstGeom prst="roundRect">
            <a:avLst>
              <a:gd name="adj" fmla="val 1463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32688" y="234086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Triangle 1 — in the BASE (flat)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14400" y="283464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PYTHAGORAS to find the base diagonal.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e.g. base 8 cm by 6 cm: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150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8</a:t>
            </a:r>
            <a:r>
              <a:rPr lang="en-US" sz="150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+ 6</a:t>
            </a:r>
            <a:r>
              <a:rPr lang="en-US" sz="150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100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= 10 cm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914400" y="5257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diagonal is the link between the two triangles.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190488" y="2103120"/>
            <a:ext cx="5440680" cy="3749040"/>
          </a:xfrm>
          <a:prstGeom prst="roundRect">
            <a:avLst>
              <a:gd name="adj" fmla="val 1463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6556248" y="234086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Triangle 2 — the UPRIGHT one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6537960" y="283464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use SOHCAHTOA with the diagonal.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5C6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e.g. height 5 cm, diagonal 10 cm: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 θ = 5 ÷ 10 = 0.5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 = tan⁻¹(0.5) = 26.6°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6537960" y="5257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diagonal from step 1 is the ADJACENT side here.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66928" y="603504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41248" y="6035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Pythagoras in the base  →  then SOHCAHTOA going up.</a:t>
            </a:r>
            <a:endParaRPr lang="en-US" sz="2300" dirty="0"/>
          </a:p>
        </p:txBody>
      </p:sp>
      <p:pic>
        <p:nvPicPr>
          <p:cNvPr id="53" name="Picture 52" descr="d4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8746" y="4023360"/>
            <a:ext cx="1389066" cy="1188720"/>
          </a:xfrm>
          <a:prstGeom prst="rect">
            <a:avLst/>
          </a:prstGeom>
        </p:spPr>
      </p:pic>
      <p:pic>
        <p:nvPicPr>
          <p:cNvPr id="54" name="Picture 53" descr="d4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0199" y="4023360"/>
            <a:ext cx="189328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SPACE DIAGONAL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Longest Line in a Cuboid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space diagonal goes corner-to-opposite-corner THROUGH the solid.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uses all three dimensions.</a:t>
            </a:r>
            <a:endParaRPr lang="en-US" sz="1350" dirty="0"/>
          </a:p>
        </p:txBody>
      </p:sp>
      <p:sp>
        <p:nvSpPr>
          <p:cNvPr id="48" name="Shape 46"/>
          <p:cNvSpPr/>
          <p:nvPr/>
        </p:nvSpPr>
        <p:spPr>
          <a:xfrm>
            <a:off x="6035040" y="2194560"/>
            <a:ext cx="5596128" cy="3657600"/>
          </a:xfrm>
          <a:prstGeom prst="roundRect">
            <a:avLst>
              <a:gd name="adj" fmla="val 150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6400800" y="2432304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formula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6355080" y="29260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 =  √( l</a:t>
            </a:r>
            <a:r>
              <a:rPr lang="en-US" sz="2000" b="1" baseline="3000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0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w</a:t>
            </a:r>
            <a:r>
              <a:rPr lang="en-US" sz="2000" b="1" baseline="3000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0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h</a:t>
            </a:r>
            <a:r>
              <a:rPr lang="en-US" sz="2000" b="1" baseline="30000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0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</a:t>
            </a:r>
            <a:endParaRPr lang="en-US" sz="2000" dirty="0"/>
          </a:p>
        </p:txBody>
      </p:sp>
      <p:sp>
        <p:nvSpPr>
          <p:cNvPr id="51" name="Text 49"/>
          <p:cNvSpPr/>
          <p:nvPr/>
        </p:nvSpPr>
        <p:spPr>
          <a:xfrm>
            <a:off x="6355080" y="365760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Why? Pythagoras TWICE: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 base diagonal:  b</a:t>
            </a:r>
            <a:r>
              <a:rPr lang="en-US" sz="140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l</a:t>
            </a:r>
            <a:r>
              <a:rPr lang="en-US" sz="140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w</a:t>
            </a:r>
            <a:r>
              <a:rPr lang="en-US" sz="140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 space diagonal:  d</a:t>
            </a:r>
            <a:r>
              <a:rPr lang="en-US" sz="140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b</a:t>
            </a:r>
            <a:r>
              <a:rPr lang="en-US" sz="140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h</a:t>
            </a:r>
            <a:r>
              <a:rPr lang="en-US" sz="140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l</a:t>
            </a:r>
            <a:r>
              <a:rPr lang="en-US" sz="140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w</a:t>
            </a:r>
            <a:r>
              <a:rPr lang="en-US" sz="140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h</a:t>
            </a:r>
            <a:r>
              <a:rPr lang="en-US" sz="1400" baseline="300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355080" y="5257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e.g. 3 × 4 × 12 cuboid:  d = √(9 + 16 + 144) = √169 = 13 cm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66928" y="6080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have to memorise it — doing Pythagoras twice gives the same answer.</a:t>
            </a:r>
            <a:endParaRPr lang="en-US" sz="1250" dirty="0"/>
          </a:p>
        </p:txBody>
      </p:sp>
      <p:pic>
        <p:nvPicPr>
          <p:cNvPr id="54" name="Picture 53" descr="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348595"/>
            <a:ext cx="4389120" cy="30294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PART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Angle Between a Line and a Plane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‘The angle between AH and the base’ — what does that mean? </a:t>
            </a:r>
            <a:r>
              <a:rPr lang="en-US" sz="13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line down onto the plane.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48840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68680" y="2340864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68680" y="2340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1508760" y="2148840"/>
            <a:ext cx="9875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the line (e.g. AH). Find the point where it MEETS the plane (A).</a:t>
            </a:r>
            <a:endParaRPr lang="en-US" sz="1450" dirty="0"/>
          </a:p>
        </p:txBody>
      </p:sp>
      <p:sp>
        <p:nvSpPr>
          <p:cNvPr id="47" name="Shape 45"/>
          <p:cNvSpPr/>
          <p:nvPr/>
        </p:nvSpPr>
        <p:spPr>
          <a:xfrm>
            <a:off x="566928" y="3108960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68680" y="3300984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3300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1508760" y="3108960"/>
            <a:ext cx="9875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other end (H), drop straight DOWN onto the plane. Call that point D.</a:t>
            </a:r>
            <a:endParaRPr lang="en-US" sz="1450" dirty="0"/>
          </a:p>
        </p:txBody>
      </p:sp>
      <p:sp>
        <p:nvSpPr>
          <p:cNvPr id="51" name="Shape 49"/>
          <p:cNvSpPr/>
          <p:nvPr/>
        </p:nvSpPr>
        <p:spPr>
          <a:xfrm>
            <a:off x="566928" y="4069080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68680" y="4261104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1508760" y="4069080"/>
            <a:ext cx="9875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angle you want is between the line AH and its ‘shadow’ AD on the plane.</a:t>
            </a:r>
            <a:endParaRPr lang="en-US" sz="1450" dirty="0"/>
          </a:p>
        </p:txBody>
      </p:sp>
      <p:sp>
        <p:nvSpPr>
          <p:cNvPr id="55" name="Shape 53"/>
          <p:cNvSpPr/>
          <p:nvPr/>
        </p:nvSpPr>
        <p:spPr>
          <a:xfrm>
            <a:off x="566928" y="5029200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68680" y="5221224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68680" y="5221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1508760" y="5029200"/>
            <a:ext cx="9875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Triangle AHD is right-angled at D — now use SOHCAHTOA.</a:t>
            </a:r>
            <a:endParaRPr lang="en-US" sz="1450" dirty="0"/>
          </a:p>
        </p:txBody>
      </p:sp>
      <p:sp>
        <p:nvSpPr>
          <p:cNvPr id="59" name="Shape 57"/>
          <p:cNvSpPr/>
          <p:nvPr/>
        </p:nvSpPr>
        <p:spPr>
          <a:xfrm>
            <a:off x="566928" y="60350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841248" y="60350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‘shadow’ of the line on the plane is nearly always a DIAGONAL of the base.</a:t>
            </a:r>
            <a:endParaRPr lang="en-US" sz="2300" dirty="0"/>
          </a:p>
        </p:txBody>
      </p:sp>
      <p:pic>
        <p:nvPicPr>
          <p:cNvPr id="61" name="Picture 60" descr="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214851"/>
            <a:ext cx="4023360" cy="357129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Cuboid: Angle Between AH and the Base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out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BASE DIAGONAL, not a base edge.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triangle flat before substituting.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full accuracy — round only at the end.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the angle should be less than 90°.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routine for pyramids: find the base diagonal (or half of it) first.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68680" y="184708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362456" y="181051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Cuboid with base 8 cm × 6 cm and height 5 cm.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68680" y="25786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362456" y="254203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diagonal (Pythagoras):  d = √(8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+ 6</a:t>
            </a:r>
            <a:r>
              <a:rPr lang="en-US" sz="1400" baseline="300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= √100 = 10 cm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" y="331012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3310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362456" y="327355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Upright triangle: opposite = 5 (height), adjacent = 10 (diagonal)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868680" y="404164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6" name="Text 54"/>
          <p:cNvSpPr/>
          <p:nvPr/>
        </p:nvSpPr>
        <p:spPr>
          <a:xfrm>
            <a:off x="86868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1362456" y="40050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 θ = 5 ÷ 10  →  θ = tan⁻¹(0.5) = </a:t>
            </a: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26.6°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41248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Angle between AH and the base = 26.6°</a:t>
            </a:r>
            <a:endParaRPr lang="en-US" sz="2300" dirty="0"/>
          </a:p>
        </p:txBody>
      </p:sp>
      <p:pic>
        <p:nvPicPr>
          <p:cNvPr id="60" name="Picture 59" descr="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4402" y="3730752"/>
            <a:ext cx="1872554" cy="12070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PYRAMIDS &amp; PRISMS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Differences to Watch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298448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29844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method — but be careful WHICH length you need.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66928" y="214884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14400" y="222199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PYRAMID — apex above the CENTRE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5212080" y="214884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vertical height meets the base at the CENTRE, so you use HALF the base diagonal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66928" y="3127248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914400" y="320040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SLANT EDGE vs SLANT HEIGHT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5212080" y="3127248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→ use half the diagonal;  face height → use half the base EDGE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66928" y="4105656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914400" y="417880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MIDPOINTS</a:t>
            </a:r>
            <a:endParaRPr lang="en-US" sz="1350" dirty="0"/>
          </a:p>
        </p:txBody>
      </p:sp>
      <p:sp>
        <p:nvSpPr>
          <p:cNvPr id="51" name="Text 49"/>
          <p:cNvSpPr/>
          <p:nvPr/>
        </p:nvSpPr>
        <p:spPr>
          <a:xfrm>
            <a:off x="5212080" y="4105656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‘M is the midpoint of GH’ — halve that length before you start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66928" y="5084064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14400" y="51572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PRISM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5212080" y="5084064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cross-section is a flat 2D shape — work in that plane first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sketch the 2D triangle separately — it is the single best habit in this topic.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Trig in 3D Shapes — Worksheet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14319" y="1141473"/>
            <a:ext cx="6739571" cy="4866135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681964" y="6353315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/>
          <p:nvPr/>
        </p:nvSpPr>
        <p:spPr>
          <a:xfrm>
            <a:off x="886967" y="6119797"/>
            <a:ext cx="11399275" cy="573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right-angled triangle, draw it flat, then Pythagoras → SOHCAHTOA.</a:t>
            </a:r>
            <a:endParaRPr lang="en-US" sz="1300" dirty="0"/>
          </a:p>
        </p:txBody>
      </p:sp>
      <p:sp>
        <p:nvSpPr>
          <p:cNvPr id="45" name="Rectangle 44"/>
          <p:cNvSpPr/>
          <p:nvPr/>
        </p:nvSpPr>
        <p:spPr>
          <a:xfrm>
            <a:off x="2115924" y="1048736"/>
            <a:ext cx="8464413" cy="5309779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/>
          <p:cNvGrpSpPr/>
          <p:nvPr/>
        </p:nvGrpSpPr>
        <p:grpSpPr>
          <a:xfrm>
            <a:off x="2223429" y="1133857"/>
            <a:ext cx="8268108" cy="5159208"/>
            <a:chOff x="1" y="28367"/>
            <a:chExt cx="9143999" cy="6829633"/>
          </a:xfrm>
        </p:grpSpPr>
        <p:pic>
          <p:nvPicPr>
            <p:cNvPr id="47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" y="28367"/>
              <a:ext cx="4499992" cy="21343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48" name="Picture 2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" y="2348880"/>
              <a:ext cx="4499992" cy="22535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49" name="Picture 3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" y="4733748"/>
              <a:ext cx="4499992" cy="21154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50" name="Picture 4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99994" y="28367"/>
              <a:ext cx="4644006" cy="2536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51" name="Picture 5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99994" y="2564904"/>
              <a:ext cx="4644006" cy="21858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52" name="Picture 6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99993" y="4753800"/>
              <a:ext cx="4644007" cy="2104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53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9901" y="2202827"/>
            <a:ext cx="4763450" cy="841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4" name="Picture 3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9901" y="3864439"/>
            <a:ext cx="4717748" cy="822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5" name="Picture 4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9901" y="5386347"/>
            <a:ext cx="4717748" cy="8950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6" name="Picture 5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5242" y="2202828"/>
            <a:ext cx="3189844" cy="8415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7" name="Picture 6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5242" y="3864439"/>
            <a:ext cx="3476782" cy="822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8" name="Picture 7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5242" y="5401643"/>
            <a:ext cx="3332851" cy="879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Past-Paper Questions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Cuboids, cubes, prisms, pyramids and cones — same routine every time.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Sketch the right-angled triangle FLAT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Pythagoras for the hidden diagonal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SOHCAHTOA for the angle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 as asked (usually 3 s.f. or 1 d.p.)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276960" y="1399032"/>
            <a:ext cx="9637776" cy="470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3/td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968" y="1463040"/>
            <a:ext cx="9509760" cy="45736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804896" y="1399032"/>
            <a:ext cx="8581903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3/td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8904" y="1463040"/>
            <a:ext cx="845388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3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352667" y="1399032"/>
            <a:ext cx="7486362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3/td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6675" y="1463040"/>
            <a:ext cx="7358346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4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505560" y="1399032"/>
            <a:ext cx="9180576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3/td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9568" y="1463040"/>
            <a:ext cx="90525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5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602449" y="1399032"/>
            <a:ext cx="6986798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3/td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6457" y="1463040"/>
            <a:ext cx="685878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6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1943028" y="1399032"/>
            <a:ext cx="8305640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3/td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7036" y="1463040"/>
            <a:ext cx="8177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7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248073" y="1399032"/>
            <a:ext cx="5695548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3/td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081" y="1463040"/>
            <a:ext cx="556753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8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2328991" y="1399032"/>
            <a:ext cx="7533713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3/td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2999" y="1463040"/>
            <a:ext cx="740569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QUESTION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9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3084175" y="1399032"/>
            <a:ext cx="6023345" cy="5248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prstDash val="solid"/>
          </a:ln>
          <a:effectLst>
            <a:outerShdw blurRad="762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42" name="Image 0" descr="/tmp/work/clean3/td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8183" y="1463040"/>
            <a:ext cx="5895329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trigonometry uses NO new formulas — find a right-angled triangle inside the shape.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that triangle FLAT on its own before substituting anything.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length is usually a base DIAGONAL — find it with Pythagoras first.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use SOHCAHTOA (or the sine/cosine rule) in the upright triangle.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between a line and a plane = the angle between the line and its ‘shadow’ on the plane.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rule: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Pythagoras in the base, then SOHCAHTOA going up.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1048</Words>
  <Application>Microsoft Office PowerPoint</Application>
  <PresentationFormat>Custom</PresentationFormat>
  <Paragraphs>181</Paragraphs>
  <Slides>20</Slides>
  <Notes>20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zahraa sheik ali</cp:lastModifiedBy>
  <cp:revision>2</cp:revision>
  <dcterms:created xsi:type="dcterms:W3CDTF">2026-07-14T17:18:52Z</dcterms:created>
  <dcterms:modified xsi:type="dcterms:W3CDTF">2026-07-25T10:28:13Z</dcterms:modified>
</cp:coreProperties>
</file>