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125ECCB-BA44-43E4-8DE9-146268E0723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6F521C-7040-4927-BD66-370C1DA103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0C11D3-6BF5-4BCD-B551-59501B3820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5917F0-CC3A-4A33-B69D-6132701C01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0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13E438-3D3A-4235-A124-A308D4D753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B8D288-6590-4C0C-B61B-0D3F73EA8E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BAABC0-0611-484A-85F9-E6B612B7CA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9685A-0B44-42C7-98A1-F0239C2EF9C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6E5A0C-888C-4657-B084-4EBB1CC677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582618-D5CE-404B-A6AE-588ED5654B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A70197-E01C-4537-BC3E-5AAA3FEEFF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sldNum" idx="1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196789-C310-45AD-82DC-13F4538519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3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1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FC0CB9-B7F7-4A29-88BE-40483D7254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sldNum" idx="1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A618FF-737D-4152-900A-70BB57AE46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1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4493CD-CD48-43A6-AA3F-4B1FA74729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PlaceHolder 3"/>
          <p:cNvSpPr>
            <a:spLocks noGrp="1"/>
          </p:cNvSpPr>
          <p:nvPr>
            <p:ph type="sldNum" idx="1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8AD25A-A8EF-4997-A136-A66B48A8F7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 type="sldNum" idx="1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9CB764-7787-479D-B987-6921D3F71C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2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7FE4AD-FCD4-45BD-858B-0D40ACAFD4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sldNum" idx="2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4D5531-5DE6-4692-8155-81C1F322A9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7498080" y="1005840"/>
            <a:ext cx="4205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800" spc="-1" strike="noStrike">
                <a:solidFill>
                  <a:srgbClr val="33463a"/>
                </a:solidFill>
                <a:latin typeface="Cambria"/>
                <a:ea typeface="Cambria"/>
              </a:rPr>
              <a:t>LB ≤ x &lt; UB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e0ac2b"/>
                </a:solidFill>
                <a:latin typeface="Cambria"/>
                <a:ea typeface="Cambria"/>
              </a:rPr>
              <a:t>Bounds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Upper &amp; Lower Bounds · Error Intervals · Calculating with Bounds · Speed &amp; Area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How Far Could It Really Be?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rounded measurement is never exact.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Every value has a lower and an upper bound. Find them by halving the rounding unit, then use the right combination for a calculation.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What is a bound?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Finding bounds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Error intervals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Adding &amp; subtracting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Multiplying &amp; dividing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upper bound · lower bound · error interval · rounding unit · significant figures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PART 1 · FINDING BOUNDS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Halve the Rounding Unit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The 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Decide what it was rounded to.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Cut that amount in half.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Add it on for the UPPER bound, take it off for the LOWER bound.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The upper bound is the value you never quite reach — use &lt; there.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 weight is 4.3 kg, correct to 1 decimal place.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Rounding unit = 0.1  →  half of it = 0.05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Lower bound = 4.3 − 0.05 = 4.25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Upper bound = 4.3 + 0.05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4.35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4.25 ≤ weight &lt; 4.35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ERROR INTERVALS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Writing the Range as an Inequality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9"/>
          <p:cNvSpPr/>
          <p:nvPr/>
        </p:nvSpPr>
        <p:spPr>
          <a:xfrm>
            <a:off x="567000" y="1371600"/>
            <a:ext cx="11063880" cy="73116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40"/>
          <p:cNvSpPr/>
          <p:nvPr/>
        </p:nvSpPr>
        <p:spPr>
          <a:xfrm>
            <a:off x="887040" y="137160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Measurements are continuous, so we write an interval: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LB ≤ x &lt; UB.  The lower bound is included; the upper bound is not.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41"/>
          <p:cNvSpPr/>
          <p:nvPr/>
        </p:nvSpPr>
        <p:spPr>
          <a:xfrm>
            <a:off x="567000" y="2331720"/>
            <a:ext cx="4845960" cy="50256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42"/>
          <p:cNvSpPr/>
          <p:nvPr/>
        </p:nvSpPr>
        <p:spPr>
          <a:xfrm>
            <a:off x="704160" y="233172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0ac2b"/>
                </a:solidFill>
                <a:latin typeface="Cambria"/>
                <a:ea typeface="Cambria"/>
              </a:rPr>
              <a:t>Rounded value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3"/>
          <p:cNvSpPr/>
          <p:nvPr/>
        </p:nvSpPr>
        <p:spPr>
          <a:xfrm>
            <a:off x="5486400" y="2331720"/>
            <a:ext cx="6144480" cy="50256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44"/>
          <p:cNvSpPr/>
          <p:nvPr/>
        </p:nvSpPr>
        <p:spPr>
          <a:xfrm>
            <a:off x="5623560" y="2331720"/>
            <a:ext cx="587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0ac2b"/>
                </a:solidFill>
                <a:latin typeface="Cambria"/>
                <a:ea typeface="Cambria"/>
              </a:rPr>
              <a:t>Error interval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45"/>
          <p:cNvSpPr/>
          <p:nvPr/>
        </p:nvSpPr>
        <p:spPr>
          <a:xfrm>
            <a:off x="567000" y="2862000"/>
            <a:ext cx="4845960" cy="6213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6"/>
          <p:cNvSpPr/>
          <p:nvPr/>
        </p:nvSpPr>
        <p:spPr>
          <a:xfrm>
            <a:off x="749880" y="2862000"/>
            <a:ext cx="44802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60, to the nearest 10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47"/>
          <p:cNvSpPr/>
          <p:nvPr/>
        </p:nvSpPr>
        <p:spPr>
          <a:xfrm>
            <a:off x="5486400" y="2862000"/>
            <a:ext cx="6144480" cy="6213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48"/>
          <p:cNvSpPr/>
          <p:nvPr/>
        </p:nvSpPr>
        <p:spPr>
          <a:xfrm>
            <a:off x="5669280" y="2862000"/>
            <a:ext cx="5778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c84f2f"/>
                </a:solidFill>
                <a:latin typeface="Cambria"/>
                <a:ea typeface="Cambria"/>
              </a:rPr>
              <a:t>55 ≤ x &lt; 65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9"/>
          <p:cNvSpPr/>
          <p:nvPr/>
        </p:nvSpPr>
        <p:spPr>
          <a:xfrm>
            <a:off x="567000" y="3520440"/>
            <a:ext cx="4845960" cy="6213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50"/>
          <p:cNvSpPr/>
          <p:nvPr/>
        </p:nvSpPr>
        <p:spPr>
          <a:xfrm>
            <a:off x="749880" y="3520440"/>
            <a:ext cx="44802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4.3, to 1 decimal place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51"/>
          <p:cNvSpPr/>
          <p:nvPr/>
        </p:nvSpPr>
        <p:spPr>
          <a:xfrm>
            <a:off x="5486400" y="3520440"/>
            <a:ext cx="6144480" cy="6213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52"/>
          <p:cNvSpPr/>
          <p:nvPr/>
        </p:nvSpPr>
        <p:spPr>
          <a:xfrm>
            <a:off x="5669280" y="3520440"/>
            <a:ext cx="5778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c84f2f"/>
                </a:solidFill>
                <a:latin typeface="Cambria"/>
                <a:ea typeface="Cambria"/>
              </a:rPr>
              <a:t>4.25 ≤ x &lt; 4.35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53"/>
          <p:cNvSpPr/>
          <p:nvPr/>
        </p:nvSpPr>
        <p:spPr>
          <a:xfrm>
            <a:off x="567000" y="4178880"/>
            <a:ext cx="4845960" cy="6213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54"/>
          <p:cNvSpPr/>
          <p:nvPr/>
        </p:nvSpPr>
        <p:spPr>
          <a:xfrm>
            <a:off x="749880" y="4178880"/>
            <a:ext cx="44802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250, to the nearest 10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55"/>
          <p:cNvSpPr/>
          <p:nvPr/>
        </p:nvSpPr>
        <p:spPr>
          <a:xfrm>
            <a:off x="5486400" y="4178880"/>
            <a:ext cx="6144480" cy="6213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56"/>
          <p:cNvSpPr/>
          <p:nvPr/>
        </p:nvSpPr>
        <p:spPr>
          <a:xfrm>
            <a:off x="5669280" y="4178880"/>
            <a:ext cx="5778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c84f2f"/>
                </a:solidFill>
                <a:latin typeface="Cambria"/>
                <a:ea typeface="Cambria"/>
              </a:rPr>
              <a:t>245 ≤ x &lt; 255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57"/>
          <p:cNvSpPr/>
          <p:nvPr/>
        </p:nvSpPr>
        <p:spPr>
          <a:xfrm>
            <a:off x="567000" y="4837320"/>
            <a:ext cx="4845960" cy="6213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58"/>
          <p:cNvSpPr/>
          <p:nvPr/>
        </p:nvSpPr>
        <p:spPr>
          <a:xfrm>
            <a:off x="749880" y="4837320"/>
            <a:ext cx="44802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17, to the nearest integer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59"/>
          <p:cNvSpPr/>
          <p:nvPr/>
        </p:nvSpPr>
        <p:spPr>
          <a:xfrm>
            <a:off x="5486400" y="4837320"/>
            <a:ext cx="6144480" cy="6213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60"/>
          <p:cNvSpPr/>
          <p:nvPr/>
        </p:nvSpPr>
        <p:spPr>
          <a:xfrm>
            <a:off x="5669280" y="4837320"/>
            <a:ext cx="57787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c84f2f"/>
                </a:solidFill>
                <a:latin typeface="Cambria"/>
                <a:ea typeface="Cambria"/>
              </a:rPr>
              <a:t>16.5 ≤ x &lt; 17.5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61"/>
          <p:cNvSpPr/>
          <p:nvPr/>
        </p:nvSpPr>
        <p:spPr>
          <a:xfrm>
            <a:off x="567000" y="58064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Same idea whatever the rounding: nearest 10, decimal places, significant figures, or nearest 5.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OTHER ROUNDINGS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Significant Figures &amp; Nearest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Watch the unit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unit is the place value of the LAST significant figure.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‘</a:t>
            </a: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Nearest 5’ → halve the 5 (use 2.5).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Always halve the rounding unit, then ±.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For 2 s.f., 4.8 has unit 0.1 but 0.26 has unit 0.01 — look at the last figure.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4.8 to 2 s.f.:  unit 0.1  →  4.75 ≤ x &lt; 4.85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0.26 to 2 s.f.:  unit 0.01  →  0.255 ≤ x &lt; 0.265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15 to the nearest 5:  half of 5 = 2.5  →  12.5 ≤ x &lt; 17.5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20 to 2 s.f.:  unit 1  →  19.5 ≤ x &lt; 20.5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Rounding unit ÷ 2 gives the ± amount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Calculating with Bounds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To make a result as BIG or as SMALL as possible, pick the right bound of each value.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ADD: UB+UB for upper,  LB+LB for lower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SUBTRACT: UB−LB for upper,  LB−UB for lower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MULTIPLY: UB×UB for upper,  LB×LB for lower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DIVIDE: UB÷LB for upper,  LB÷UB for lower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ADD &amp; SUBTRACT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Same Sign or Opposite?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Why swap for subtract?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To make a difference BIGGEST, take the biggest minus the SMALLEST.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So upper of a − b uses UB(a) − LB(b).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Lower uses LB(a) − UB(b).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Adding keeps the same bound; subtracting swaps to the opposite bound.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ADD:  upper = UB + UB,   lower = LB + LB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e.g. UB (33+49) 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to the nearest integer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, 33.5 + 49.5 = 83  (both upper bounds)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SUBTRACT:  upper = UB − LB,   lower = LB − UB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e.g. UB (33+49) 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to the nearest integer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, 33.5 − 48.5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−15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Upper of a − b = UB(a) − LB(b)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MULTIPLY &amp; DIVIDE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Biggest over Smallest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Why swap for divide?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To make a quotient BIGGEST, divide the biggest by the SMALLEST.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So upper of a ÷ b uses UB(a) ÷ LB(b).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Lower uses LB(a) ÷ UB(b).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Multiplying keeps the same bound; dividing swaps to the opposite bound.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MULTIPLY:  upper = UB × UB,   lower = LB × LB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e.g. UB (2 +5.3) correct to 1 d.p, 2.05 × 5.35 = 10.9675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DIVIDE:  upper = UB ÷ LB,   lower = LB ÷ UB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e.g. UB (2 +5.3) correct to 1 d.p, 1.95 ÷ 5.25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0.37142857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Upper of a ÷ b = UB(a) ÷ LB(b)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WORKED · IN CONTEXT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Bounds for a Perimeter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Find the bounds of each measurement first.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For the largest perimeter, use the upper bounds.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Speed = distance ÷ time works the same way — biggest over smallest.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For a maximum area or perimeter, combine the upper bounds; for a minimum, the lower bounds.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Rectangle 12 cm by 15 cm, each to the nearest cm.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Length: 11.5–12.5,   Width: 14.5–15.5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Perimeter = 2(L + W).  Upper = 2(12.5 + 15.5) = 56 cm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Lower = 2(11.5 + 14.5)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52 cm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52 cm ≤ perimeter ≤ 56 cm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3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Substitute the right bound of each value; geometry questions are shown as they appear in the exam.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Find each value’s bounds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Choose UB or LB for the result you want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Substitute carefully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Round only at the end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QUESTIONS (1 of 4)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Bounds of a Value &amp; a Difference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39"/>
          <p:cNvSpPr/>
          <p:nvPr/>
        </p:nvSpPr>
        <p:spPr>
          <a:xfrm>
            <a:off x="567000" y="169164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40"/>
          <p:cNvSpPr/>
          <p:nvPr/>
        </p:nvSpPr>
        <p:spPr>
          <a:xfrm>
            <a:off x="868680" y="2148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 41"/>
          <p:cNvSpPr/>
          <p:nvPr/>
        </p:nvSpPr>
        <p:spPr>
          <a:xfrm>
            <a:off x="868680" y="2148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42"/>
          <p:cNvSpPr/>
          <p:nvPr/>
        </p:nvSpPr>
        <p:spPr>
          <a:xfrm>
            <a:off x="1481400" y="180144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The weight of a cat is 4.3 kg, correct to 2 significant figures. Write down the upper bound of the weight.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43"/>
          <p:cNvSpPr/>
          <p:nvPr/>
        </p:nvSpPr>
        <p:spPr>
          <a:xfrm>
            <a:off x="9326880" y="207576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44"/>
          <p:cNvSpPr/>
          <p:nvPr/>
        </p:nvSpPr>
        <p:spPr>
          <a:xfrm>
            <a:off x="9326880" y="207576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mbria"/>
                <a:ea typeface="Cambria"/>
              </a:rPr>
              <a:t>4.35 kg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45"/>
          <p:cNvSpPr/>
          <p:nvPr/>
        </p:nvSpPr>
        <p:spPr>
          <a:xfrm>
            <a:off x="567000" y="324612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46"/>
          <p:cNvSpPr/>
          <p:nvPr/>
        </p:nvSpPr>
        <p:spPr>
          <a:xfrm>
            <a:off x="868680" y="37033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47"/>
          <p:cNvSpPr/>
          <p:nvPr/>
        </p:nvSpPr>
        <p:spPr>
          <a:xfrm>
            <a:off x="868680" y="3703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48"/>
          <p:cNvSpPr/>
          <p:nvPr/>
        </p:nvSpPr>
        <p:spPr>
          <a:xfrm>
            <a:off x="1481400" y="335592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G = e − f, where e = 17 (nearest integer) and f = 9.4 (1 d.p.). Work out the upper bound for G.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49"/>
          <p:cNvSpPr/>
          <p:nvPr/>
        </p:nvSpPr>
        <p:spPr>
          <a:xfrm>
            <a:off x="9326880" y="363024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Text 50"/>
          <p:cNvSpPr/>
          <p:nvPr/>
        </p:nvSpPr>
        <p:spPr>
          <a:xfrm>
            <a:off x="9326880" y="363024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mbria"/>
                <a:ea typeface="Cambria"/>
              </a:rPr>
              <a:t>8.15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51"/>
          <p:cNvSpPr/>
          <p:nvPr/>
        </p:nvSpPr>
        <p:spPr>
          <a:xfrm>
            <a:off x="567000" y="480060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52"/>
          <p:cNvSpPr/>
          <p:nvPr/>
        </p:nvSpPr>
        <p:spPr>
          <a:xfrm>
            <a:off x="868680" y="52578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53"/>
          <p:cNvSpPr/>
          <p:nvPr/>
        </p:nvSpPr>
        <p:spPr>
          <a:xfrm>
            <a:off x="868680" y="5257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54"/>
          <p:cNvSpPr/>
          <p:nvPr/>
        </p:nvSpPr>
        <p:spPr>
          <a:xfrm>
            <a:off x="1481400" y="491040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C = b − a, where a = 6 (nearest integer) and b = 15 (nearest 5). Work out the upper bound for C.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55"/>
          <p:cNvSpPr/>
          <p:nvPr/>
        </p:nvSpPr>
        <p:spPr>
          <a:xfrm>
            <a:off x="9326880" y="518472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 56"/>
          <p:cNvSpPr/>
          <p:nvPr/>
        </p:nvSpPr>
        <p:spPr>
          <a:xfrm>
            <a:off x="9326880" y="518472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mbria"/>
                <a:ea typeface="Cambria"/>
              </a:rPr>
              <a:t>12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5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8"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3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6"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21"/>
          <p:cNvSpPr/>
          <p:nvPr/>
        </p:nvSpPr>
        <p:spPr>
          <a:xfrm>
            <a:off x="11338560" y="79308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QUESTIONS (2 of 4)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Products, Formulae &amp; Speed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39"/>
          <p:cNvSpPr/>
          <p:nvPr/>
        </p:nvSpPr>
        <p:spPr>
          <a:xfrm>
            <a:off x="567000" y="169164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40"/>
          <p:cNvSpPr/>
          <p:nvPr/>
        </p:nvSpPr>
        <p:spPr>
          <a:xfrm>
            <a:off x="868680" y="2148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Text 41"/>
          <p:cNvSpPr/>
          <p:nvPr/>
        </p:nvSpPr>
        <p:spPr>
          <a:xfrm>
            <a:off x="868680" y="2148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 42"/>
          <p:cNvSpPr/>
          <p:nvPr/>
        </p:nvSpPr>
        <p:spPr>
          <a:xfrm>
            <a:off x="1481400" y="180144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P = ef, where e = 4.8 and f = 0.26 (both 2 s.f.). Work out the lower bound for P (3 s.f.).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43"/>
          <p:cNvSpPr/>
          <p:nvPr/>
        </p:nvSpPr>
        <p:spPr>
          <a:xfrm>
            <a:off x="9326880" y="207576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Text 44"/>
          <p:cNvSpPr/>
          <p:nvPr/>
        </p:nvSpPr>
        <p:spPr>
          <a:xfrm>
            <a:off x="9326880" y="207576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mbria"/>
                <a:ea typeface="Cambria"/>
              </a:rPr>
              <a:t>1.21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45"/>
          <p:cNvSpPr/>
          <p:nvPr/>
        </p:nvSpPr>
        <p:spPr>
          <a:xfrm>
            <a:off x="567000" y="324612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46"/>
          <p:cNvSpPr/>
          <p:nvPr/>
        </p:nvSpPr>
        <p:spPr>
          <a:xfrm>
            <a:off x="868680" y="37033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Text 47"/>
          <p:cNvSpPr/>
          <p:nvPr/>
        </p:nvSpPr>
        <p:spPr>
          <a:xfrm>
            <a:off x="868680" y="3703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Text 48"/>
          <p:cNvSpPr/>
          <p:nvPr/>
        </p:nvSpPr>
        <p:spPr>
          <a:xfrm>
            <a:off x="1481400" y="3401640"/>
            <a:ext cx="89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P 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49"/>
          <p:cNvSpPr/>
          <p:nvPr/>
        </p:nvSpPr>
        <p:spPr>
          <a:xfrm>
            <a:off x="2377440" y="33465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2a − 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50"/>
          <p:cNvSpPr/>
          <p:nvPr/>
        </p:nvSpPr>
        <p:spPr>
          <a:xfrm>
            <a:off x="2377440" y="3629880"/>
            <a:ext cx="14173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51"/>
          <p:cNvSpPr/>
          <p:nvPr/>
        </p:nvSpPr>
        <p:spPr>
          <a:xfrm>
            <a:off x="2377440" y="365760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 52"/>
          <p:cNvSpPr/>
          <p:nvPr/>
        </p:nvSpPr>
        <p:spPr>
          <a:xfrm>
            <a:off x="1481400" y="3996000"/>
            <a:ext cx="76806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a = 58.4 (3 s.f.), c = 20 (2 s.f.), d = 3.6 (2 s.f.).   Upper bound for P (2 d.p.).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53"/>
          <p:cNvSpPr/>
          <p:nvPr/>
        </p:nvSpPr>
        <p:spPr>
          <a:xfrm>
            <a:off x="9326880" y="363024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Text 54"/>
          <p:cNvSpPr/>
          <p:nvPr/>
        </p:nvSpPr>
        <p:spPr>
          <a:xfrm>
            <a:off x="9326880" y="363024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mbria"/>
                <a:ea typeface="Cambria"/>
              </a:rPr>
              <a:t>27.44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55"/>
          <p:cNvSpPr/>
          <p:nvPr/>
        </p:nvSpPr>
        <p:spPr>
          <a:xfrm>
            <a:off x="567000" y="480060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56"/>
          <p:cNvSpPr/>
          <p:nvPr/>
        </p:nvSpPr>
        <p:spPr>
          <a:xfrm>
            <a:off x="868680" y="52578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57"/>
          <p:cNvSpPr/>
          <p:nvPr/>
        </p:nvSpPr>
        <p:spPr>
          <a:xfrm>
            <a:off x="868680" y="5257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58"/>
          <p:cNvSpPr/>
          <p:nvPr/>
        </p:nvSpPr>
        <p:spPr>
          <a:xfrm>
            <a:off x="1481400" y="491040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A train travels 487 km (nearest km) in 3 hours (nearest minute). Find the average speed in km/min to a suitable accuracy.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59"/>
          <p:cNvSpPr/>
          <p:nvPr/>
        </p:nvSpPr>
        <p:spPr>
          <a:xfrm>
            <a:off x="9326880" y="518472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60"/>
          <p:cNvSpPr/>
          <p:nvPr/>
        </p:nvSpPr>
        <p:spPr>
          <a:xfrm>
            <a:off x="9326880" y="518472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mbria"/>
                <a:ea typeface="Cambria"/>
              </a:rPr>
              <a:t>2.7 km/min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3"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6"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41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44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49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2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QUESTIONS (3 of 4)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Formulae with Division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39"/>
          <p:cNvSpPr/>
          <p:nvPr/>
        </p:nvSpPr>
        <p:spPr>
          <a:xfrm>
            <a:off x="567000" y="169164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40"/>
          <p:cNvSpPr/>
          <p:nvPr/>
        </p:nvSpPr>
        <p:spPr>
          <a:xfrm>
            <a:off x="868680" y="2148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Text 41"/>
          <p:cNvSpPr/>
          <p:nvPr/>
        </p:nvSpPr>
        <p:spPr>
          <a:xfrm>
            <a:off x="868680" y="2148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Text 42"/>
          <p:cNvSpPr/>
          <p:nvPr/>
        </p:nvSpPr>
        <p:spPr>
          <a:xfrm>
            <a:off x="1481400" y="1847160"/>
            <a:ext cx="89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a 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Text 43"/>
          <p:cNvSpPr/>
          <p:nvPr/>
        </p:nvSpPr>
        <p:spPr>
          <a:xfrm>
            <a:off x="2377440" y="1792080"/>
            <a:ext cx="123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v − 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44"/>
          <p:cNvSpPr/>
          <p:nvPr/>
        </p:nvSpPr>
        <p:spPr>
          <a:xfrm>
            <a:off x="2377440" y="2075400"/>
            <a:ext cx="12344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Text 45"/>
          <p:cNvSpPr/>
          <p:nvPr/>
        </p:nvSpPr>
        <p:spPr>
          <a:xfrm>
            <a:off x="2377440" y="2103120"/>
            <a:ext cx="123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Text 46"/>
          <p:cNvSpPr/>
          <p:nvPr/>
        </p:nvSpPr>
        <p:spPr>
          <a:xfrm>
            <a:off x="1481400" y="2441520"/>
            <a:ext cx="76806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v = 9.6, u = 3.8 (1 d.p.),  t = 1.84 (2 d.p.).   Upper bound for a (2 d.p.).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47"/>
          <p:cNvSpPr/>
          <p:nvPr/>
        </p:nvSpPr>
        <p:spPr>
          <a:xfrm>
            <a:off x="9326880" y="207576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48"/>
          <p:cNvSpPr/>
          <p:nvPr/>
        </p:nvSpPr>
        <p:spPr>
          <a:xfrm>
            <a:off x="9326880" y="207576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mbria"/>
                <a:ea typeface="Cambria"/>
              </a:rPr>
              <a:t>3.22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49"/>
          <p:cNvSpPr/>
          <p:nvPr/>
        </p:nvSpPr>
        <p:spPr>
          <a:xfrm>
            <a:off x="567000" y="324612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50"/>
          <p:cNvSpPr/>
          <p:nvPr/>
        </p:nvSpPr>
        <p:spPr>
          <a:xfrm>
            <a:off x="868680" y="37033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Text 51"/>
          <p:cNvSpPr/>
          <p:nvPr/>
        </p:nvSpPr>
        <p:spPr>
          <a:xfrm>
            <a:off x="868680" y="3703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Text 52"/>
          <p:cNvSpPr/>
          <p:nvPr/>
        </p:nvSpPr>
        <p:spPr>
          <a:xfrm>
            <a:off x="1481400" y="3401640"/>
            <a:ext cx="89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53"/>
          <p:cNvSpPr/>
          <p:nvPr/>
        </p:nvSpPr>
        <p:spPr>
          <a:xfrm>
            <a:off x="2377440" y="33465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2a − 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54"/>
          <p:cNvSpPr/>
          <p:nvPr/>
        </p:nvSpPr>
        <p:spPr>
          <a:xfrm>
            <a:off x="2377440" y="3629880"/>
            <a:ext cx="14173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55"/>
          <p:cNvSpPr/>
          <p:nvPr/>
        </p:nvSpPr>
        <p:spPr>
          <a:xfrm>
            <a:off x="2377440" y="365760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Text 56"/>
          <p:cNvSpPr/>
          <p:nvPr/>
        </p:nvSpPr>
        <p:spPr>
          <a:xfrm>
            <a:off x="1481400" y="3996000"/>
            <a:ext cx="76806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a = 7.5 (1 d.p.), b = 3.42 (2 d.p.), f = 2 (nearest whole).   Upper bound for 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57"/>
          <p:cNvSpPr/>
          <p:nvPr/>
        </p:nvSpPr>
        <p:spPr>
          <a:xfrm>
            <a:off x="9326880" y="363024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Text 58"/>
          <p:cNvSpPr/>
          <p:nvPr/>
        </p:nvSpPr>
        <p:spPr>
          <a:xfrm>
            <a:off x="9326880" y="363024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mbria"/>
                <a:ea typeface="Cambria"/>
              </a:rPr>
              <a:t>7.79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59"/>
          <p:cNvSpPr/>
          <p:nvPr/>
        </p:nvSpPr>
        <p:spPr>
          <a:xfrm>
            <a:off x="567000" y="480060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60"/>
          <p:cNvSpPr/>
          <p:nvPr/>
        </p:nvSpPr>
        <p:spPr>
          <a:xfrm>
            <a:off x="868680" y="52578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61"/>
          <p:cNvSpPr/>
          <p:nvPr/>
        </p:nvSpPr>
        <p:spPr>
          <a:xfrm>
            <a:off x="868680" y="5257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9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 62"/>
          <p:cNvSpPr/>
          <p:nvPr/>
        </p:nvSpPr>
        <p:spPr>
          <a:xfrm>
            <a:off x="1481400" y="4956120"/>
            <a:ext cx="89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p 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63"/>
          <p:cNvSpPr/>
          <p:nvPr/>
        </p:nvSpPr>
        <p:spPr>
          <a:xfrm>
            <a:off x="2377440" y="49010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64"/>
          <p:cNvSpPr/>
          <p:nvPr/>
        </p:nvSpPr>
        <p:spPr>
          <a:xfrm>
            <a:off x="2377440" y="5184360"/>
            <a:ext cx="14630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 65"/>
          <p:cNvSpPr/>
          <p:nvPr/>
        </p:nvSpPr>
        <p:spPr>
          <a:xfrm>
            <a:off x="2377440" y="521208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a − 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 66"/>
          <p:cNvSpPr/>
          <p:nvPr/>
        </p:nvSpPr>
        <p:spPr>
          <a:xfrm>
            <a:off x="1481400" y="5550480"/>
            <a:ext cx="76806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t = 14, a = 7.8, h = 3.4 (all 2 s.f.).   Work out the lower bound for p.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67"/>
          <p:cNvSpPr/>
          <p:nvPr/>
        </p:nvSpPr>
        <p:spPr>
          <a:xfrm>
            <a:off x="9326880" y="518472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Text 68"/>
          <p:cNvSpPr/>
          <p:nvPr/>
        </p:nvSpPr>
        <p:spPr>
          <a:xfrm>
            <a:off x="9326880" y="518472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mbria"/>
                <a:ea typeface="Cambria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9"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62"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67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0"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5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8"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QUESTIONS (4 of 4)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Harder Formulae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39"/>
          <p:cNvSpPr/>
          <p:nvPr/>
        </p:nvSpPr>
        <p:spPr>
          <a:xfrm>
            <a:off x="567000" y="169164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40"/>
          <p:cNvSpPr/>
          <p:nvPr/>
        </p:nvSpPr>
        <p:spPr>
          <a:xfrm>
            <a:off x="868680" y="2148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41"/>
          <p:cNvSpPr/>
          <p:nvPr/>
        </p:nvSpPr>
        <p:spPr>
          <a:xfrm>
            <a:off x="868680" y="2148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Text 42"/>
          <p:cNvSpPr/>
          <p:nvPr/>
        </p:nvSpPr>
        <p:spPr>
          <a:xfrm>
            <a:off x="1481400" y="1847160"/>
            <a:ext cx="194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A  =  w  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Text 43"/>
          <p:cNvSpPr/>
          <p:nvPr/>
        </p:nvSpPr>
        <p:spPr>
          <a:xfrm>
            <a:off x="3429000" y="179208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x²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44"/>
          <p:cNvSpPr/>
          <p:nvPr/>
        </p:nvSpPr>
        <p:spPr>
          <a:xfrm>
            <a:off x="3429000" y="2075400"/>
            <a:ext cx="82296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Text 45"/>
          <p:cNvSpPr/>
          <p:nvPr/>
        </p:nvSpPr>
        <p:spPr>
          <a:xfrm>
            <a:off x="3429000" y="210312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Text 46"/>
          <p:cNvSpPr/>
          <p:nvPr/>
        </p:nvSpPr>
        <p:spPr>
          <a:xfrm>
            <a:off x="1481400" y="2441520"/>
            <a:ext cx="76806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w = 3.45 (2 d.p.), x = 1.9 (1 d.p.), y = 5 (nearest whole).   Lower bound for 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47"/>
          <p:cNvSpPr/>
          <p:nvPr/>
        </p:nvSpPr>
        <p:spPr>
          <a:xfrm>
            <a:off x="9326880" y="207576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Text 48"/>
          <p:cNvSpPr/>
          <p:nvPr/>
        </p:nvSpPr>
        <p:spPr>
          <a:xfrm>
            <a:off x="9326880" y="207576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mbria"/>
                <a:ea typeface="Cambria"/>
              </a:rPr>
              <a:t>2.6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49"/>
          <p:cNvSpPr/>
          <p:nvPr/>
        </p:nvSpPr>
        <p:spPr>
          <a:xfrm>
            <a:off x="567000" y="324612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50"/>
          <p:cNvSpPr/>
          <p:nvPr/>
        </p:nvSpPr>
        <p:spPr>
          <a:xfrm>
            <a:off x="868680" y="37033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Text 51"/>
          <p:cNvSpPr/>
          <p:nvPr/>
        </p:nvSpPr>
        <p:spPr>
          <a:xfrm>
            <a:off x="868680" y="3703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Text 52"/>
          <p:cNvSpPr/>
          <p:nvPr/>
        </p:nvSpPr>
        <p:spPr>
          <a:xfrm>
            <a:off x="1481400" y="3401640"/>
            <a:ext cx="89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G 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Text 53"/>
          <p:cNvSpPr/>
          <p:nvPr/>
        </p:nvSpPr>
        <p:spPr>
          <a:xfrm>
            <a:off x="2377440" y="3346560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54"/>
          <p:cNvSpPr/>
          <p:nvPr/>
        </p:nvSpPr>
        <p:spPr>
          <a:xfrm>
            <a:off x="2377440" y="3629880"/>
            <a:ext cx="17830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Text 55"/>
          <p:cNvSpPr/>
          <p:nvPr/>
        </p:nvSpPr>
        <p:spPr>
          <a:xfrm>
            <a:off x="2377440" y="3657600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2f − 3h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Text 56"/>
          <p:cNvSpPr/>
          <p:nvPr/>
        </p:nvSpPr>
        <p:spPr>
          <a:xfrm>
            <a:off x="1481400" y="3996000"/>
            <a:ext cx="76806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c = 8 (nearest whole), f = 6.62 (2 d.p.), h = 1.2 (1 d.p.).   Lower bound for G (3 d.p.).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57"/>
          <p:cNvSpPr/>
          <p:nvPr/>
        </p:nvSpPr>
        <p:spPr>
          <a:xfrm>
            <a:off x="9326880" y="363024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Text 58"/>
          <p:cNvSpPr/>
          <p:nvPr/>
        </p:nvSpPr>
        <p:spPr>
          <a:xfrm>
            <a:off x="9326880" y="363024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mbria"/>
                <a:ea typeface="Cambria"/>
              </a:rPr>
              <a:t>0.765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85"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88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93"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96"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· GEOMETRY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12 — Regular Octagon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39"/>
          <p:cNvSpPr/>
          <p:nvPr/>
        </p:nvSpPr>
        <p:spPr>
          <a:xfrm>
            <a:off x="1942920" y="1458360"/>
            <a:ext cx="83055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2" name="Image 0" descr="/tmp/work/bndq-33.png"/>
          <p:cNvPicPr/>
          <p:nvPr/>
        </p:nvPicPr>
        <p:blipFill>
          <a:blip r:embed="rId1"/>
          <a:stretch/>
        </p:blipFill>
        <p:spPr>
          <a:xfrm>
            <a:off x="2016000" y="1531800"/>
            <a:ext cx="81594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· GEOMETRY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13 — Triangle XYZ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39"/>
          <p:cNvSpPr/>
          <p:nvPr/>
        </p:nvSpPr>
        <p:spPr>
          <a:xfrm>
            <a:off x="1217520" y="1458360"/>
            <a:ext cx="975600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3" name="Image 0" descr="/tmp/work/bndq-38.png"/>
          <p:cNvPicPr/>
          <p:nvPr/>
        </p:nvPicPr>
        <p:blipFill>
          <a:blip r:embed="rId1"/>
          <a:stretch/>
        </p:blipFill>
        <p:spPr>
          <a:xfrm>
            <a:off x="1290600" y="1531800"/>
            <a:ext cx="96098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· EXAM IMAGE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14 — As Printed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39"/>
          <p:cNvSpPr/>
          <p:nvPr/>
        </p:nvSpPr>
        <p:spPr>
          <a:xfrm>
            <a:off x="429840" y="1356480"/>
            <a:ext cx="8256600" cy="290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4" name="Image 0" descr="/tmp/work/bndq-31.png"/>
          <p:cNvPicPr/>
          <p:nvPr/>
        </p:nvPicPr>
        <p:blipFill>
          <a:blip r:embed="rId1"/>
          <a:stretch/>
        </p:blipFill>
        <p:spPr>
          <a:xfrm>
            <a:off x="502920" y="1429560"/>
            <a:ext cx="8234280" cy="314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 rounded value has bounds: halve the rounding unit, then ±.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7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Error interval:  LB ≤ x &lt; UB  (lower included, upper not).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ADD / MULTIPLY keep the same bound; SUBTRACT / DIVIDE swap to the opposite.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For the biggest result: biggest ÷ smallest, biggest − smallest.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3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Watch the rounding: s.f., decimal places, nearest 5 — the unit changes.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4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5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to make a result as big as possible, make the top big and the bottom small.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LibreOffice/24.2.7.2$Linux_X86_64 LibreOffice_project/420$Build-2</Application>
  <AppVersion>15.0000</AppVersion>
  <Words>1545</Words>
  <Paragraphs>260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2026-07-11T19:36:53Z</dcterms:created>
  <dc:creator>Zahra Sheikh Ali</dc:creator>
  <dc:description/>
  <dc:language>en-US</dc:language>
  <cp:lastModifiedBy>zahraa sheik ali</cp:lastModifiedBy>
  <dcterms:modified xsi:type="dcterms:W3CDTF">2026-07-23T19:08:26Z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18</vt:r8>
  </property>
  <property fmtid="{D5CDD505-2E9C-101B-9397-08002B2CF9AE}" pid="3" name="PresentationFormat">
    <vt:lpwstr>Custom</vt:lpwstr>
  </property>
  <property fmtid="{D5CDD505-2E9C-101B-9397-08002B2CF9AE}" pid="4" name="Slides">
    <vt:r8>18</vt:r8>
  </property>
</Properties>
</file>