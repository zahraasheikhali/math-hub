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2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EE2058-06EC-498B-8F1A-314D195E34F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33CBFA-5C5B-412D-B479-5FE6EF88C0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30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0" y="1005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 ≤ x &lt; UB</a:t>
            </a:r>
            <a:endParaRPr lang="en-US" sz="38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Bounds</a:t>
            </a:r>
            <a:endParaRPr lang="en-US" sz="48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&amp; Lower Bounds · Error Intervals · Calculating with Bounds · Speed &amp; Area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Far Could It Really Be?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rounded measurement is never exact.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has a lower and an upper bound. Find them by halving the rounding unit, then use the right combination for a calculation.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bound?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bounds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intervals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&amp; subtracting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&amp; dividing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 · lower bound · error interval · rounding unit · significant figures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FINDING BOUNDS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Halve the Rounding Unit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it was rounded to.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that amount in half.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it on for the UPPER bound, take it off for the LOWER bound.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upper bound is the value you never quite reach — use &lt; there.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 is 4.3 kg, correct to 1 decimal place.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unit = 0.1  →  half of it = 0.05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 = 4.3 − 0.05 = 4.25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 = 4.3 + 0.05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4.35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4.25 ≤ weight &lt; 4.35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INTERVALS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Writing the Range as an Inequality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are continuous, so we write an interval: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≤ x &lt; UB.  The lower bound is included; the upper bound is not.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4846320" cy="50292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704088" y="2331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Rounded value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5486400" y="2331720"/>
            <a:ext cx="6144768" cy="50292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5623560" y="2331720"/>
            <a:ext cx="5870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interval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566928" y="2862072"/>
            <a:ext cx="4846320" cy="62179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9808" y="2862072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 to the nearest 10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5486400" y="2862072"/>
            <a:ext cx="6144768" cy="62179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69280" y="2862072"/>
            <a:ext cx="577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 ≤ x &lt; 65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566928" y="3520440"/>
            <a:ext cx="4846320" cy="62179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9808" y="352044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4.3, to 1 decimal place</a:t>
            </a:r>
            <a:endParaRPr lang="en-US" sz="1450" dirty="0"/>
          </a:p>
        </p:txBody>
      </p:sp>
      <p:sp>
        <p:nvSpPr>
          <p:cNvPr id="53" name="Shape 51"/>
          <p:cNvSpPr/>
          <p:nvPr/>
        </p:nvSpPr>
        <p:spPr>
          <a:xfrm>
            <a:off x="5486400" y="3520440"/>
            <a:ext cx="6144768" cy="62179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69280" y="3520440"/>
            <a:ext cx="577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4.25 ≤ x &lt; 4.35</a:t>
            </a:r>
            <a:endParaRPr lang="en-US" sz="1550" dirty="0"/>
          </a:p>
        </p:txBody>
      </p:sp>
      <p:sp>
        <p:nvSpPr>
          <p:cNvPr id="55" name="Shape 53"/>
          <p:cNvSpPr/>
          <p:nvPr/>
        </p:nvSpPr>
        <p:spPr>
          <a:xfrm>
            <a:off x="566928" y="4178808"/>
            <a:ext cx="4846320" cy="62179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9808" y="41788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250, to the nearest 10</a:t>
            </a:r>
            <a:endParaRPr lang="en-US" sz="1450" dirty="0"/>
          </a:p>
        </p:txBody>
      </p:sp>
      <p:sp>
        <p:nvSpPr>
          <p:cNvPr id="57" name="Shape 55"/>
          <p:cNvSpPr/>
          <p:nvPr/>
        </p:nvSpPr>
        <p:spPr>
          <a:xfrm>
            <a:off x="5486400" y="4178808"/>
            <a:ext cx="6144768" cy="62179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69280" y="4178808"/>
            <a:ext cx="577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245 ≤ x &lt; 255</a:t>
            </a:r>
            <a:endParaRPr lang="en-US" sz="1550" dirty="0"/>
          </a:p>
        </p:txBody>
      </p:sp>
      <p:sp>
        <p:nvSpPr>
          <p:cNvPr id="59" name="Shape 57"/>
          <p:cNvSpPr/>
          <p:nvPr/>
        </p:nvSpPr>
        <p:spPr>
          <a:xfrm>
            <a:off x="566928" y="4837176"/>
            <a:ext cx="4846320" cy="62179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49808" y="483717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 to the nearest integer</a:t>
            </a:r>
            <a:endParaRPr lang="en-US" sz="1450" dirty="0"/>
          </a:p>
        </p:txBody>
      </p:sp>
      <p:sp>
        <p:nvSpPr>
          <p:cNvPr id="61" name="Shape 59"/>
          <p:cNvSpPr/>
          <p:nvPr/>
        </p:nvSpPr>
        <p:spPr>
          <a:xfrm>
            <a:off x="5486400" y="4837176"/>
            <a:ext cx="6144768" cy="62179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669280" y="4837176"/>
            <a:ext cx="577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 ≤ x &lt; 17.5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whatever the rounding: nearest 10, decimal places, significant figures, or nearest 5.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ROUNDINGS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Significant Figures &amp; Nearest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unit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is the place value of the LAST significant figure.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‘Nearest 5’ → halve the 5 (use 2.5).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halve the rounding unit, then ±.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2 s.f., 4.8 has unit 0.1 but 0.26 has unit 0.01 — look at the last figure.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to 2 s.f.:  unit 0.1  →  4.75 ≤ x &lt; 4.85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 to 2 s.f.:  unit 0.01  →  0.255 ≤ x &lt; 0.265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to the nearest 5:  half of 5 = 2.5  →  12.5 ≤ x &lt; 17.5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to 2 s.f.:  unit 1  →  19.5 ≤ x &lt; 20.5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Rounding unit ÷ 2 gives the ± amount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Calculating with Bounds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make a result as BIG or as SMALL as possible, pick the right bound of each value.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ADD: UB+UB for upper,  LB+LB for lower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SUBTRACT: UB−LB for upper,  LB−UB for lower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MULTIPLY: UB×UB for upper,  LB×LB for lower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DIVIDE: UB÷LB for upper,  LB÷UB for lower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&amp; SUBTRACT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Sign or Opposite?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swap for subtract?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difference BIGGEST, take the biggest minus the SMALLEST.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upper of a − b uses UB(a) − LB(b).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uses LB(a) − UB(b).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keeps the same bound; subtracting swaps to the opposite bound.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 upper = UB + UB,   lower = LB + LB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 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(33+49)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the nearest </a:t>
            </a:r>
            <a:r>
              <a:rPr lang="en-US" sz="1400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integer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33.5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+ 49.5 = 83  (both upper bounds)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SUBTRACT:  upper = UB − LB,   lower = LB − UB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UB (33+49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the nearest integer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33.5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48.5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1400" b="1" dirty="0" smtClean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of a − b = UB(a) − LB(b)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&amp; DIVIDE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Biggest over Smallest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swap for divide?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quotient BIGGEST, divide the biggest by the SMALLEST.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upper of a ÷ b uses UB(a) ÷ LB(b).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uses LB(a) ÷ UB(b).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keeps the same bound; dividing swaps to the opposite bound.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MULTIPLY:  upper = UB × UB,   lower = LB × LB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UB 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+5.3)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to 1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d.p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 × 5.35 = 10.9675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DIVIDE:  upper = UB ÷ LB,   lower = LB ÷ UB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 (2 +5.3) correct to 1 </a:t>
            </a:r>
            <a:r>
              <a:rPr lang="en-US" sz="1400" dirty="0" err="1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d.p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1.95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5.25</a:t>
            </a:r>
            <a:r>
              <a:rPr lang="en-US" sz="140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1400" b="1" dirty="0" smtClean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0.37142857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of a ÷ b = UB(a) ÷ LB(b)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· IN CONTEXT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Bounds for a Perimeter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bounds of each measurement first.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largest perimeter, use the upper bounds.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= distance ÷ time works the same way — biggest over smallest.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maximum area or perimeter, combine the upper bounds; for a minimum, the lower bounds.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 12 cm by 15 cm, each to the nearest cm.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Length: 11.5–12.5,   Width: 14.5–15.5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= 2(L + W).  Upper = 2(12.5 + 15.5) = 56 cm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= 2(11.5 + 14.5)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cm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cm ≤ perimeter ≤ 56 cm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the right bound of each value; geometry questions are shown as they appear in the exam.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each value’s bounds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UB or LB for the result you want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carefully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only at the end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QUESTIONS (1 of 4)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Bounds of a Value &amp; a Difference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69164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81328" y="180136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weight of a cat is 4.3 kg, correct to 2 significant figures. Write down the upper bound of the weight.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326880" y="207568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9326880" y="20756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4.35 kg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66928" y="324612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481328" y="335584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= e − f, where e = 17 (nearest integer) and f = 9.4 (1 d.p.). Work out the upper bound for G.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9326880" y="363016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2" name="Text 50"/>
          <p:cNvSpPr/>
          <p:nvPr/>
        </p:nvSpPr>
        <p:spPr>
          <a:xfrm>
            <a:off x="9326880" y="36301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8.15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66928" y="48006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81328" y="491032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= b − a, where a = 6 (nearest integer) and b = 15 (nearest 5). Work out the upper bound for C.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9326880" y="518464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8" name="Text 56"/>
          <p:cNvSpPr/>
          <p:nvPr/>
        </p:nvSpPr>
        <p:spPr>
          <a:xfrm>
            <a:off x="9326880" y="518464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2" grpId="0" animBg="1"/>
      <p:bldP spid="5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38560" y="793282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QUESTIONS (2 of 4)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Products, Formulae &amp; Speed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69164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81328" y="180136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ef, where e = 4.8 and f = 0.26 (both 2 s.f.). Work out the lower bound for P (3 s.f.).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326880" y="207568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9326880" y="20756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1.21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66928" y="324612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481328" y="3401568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 =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2377440" y="334670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2a − c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377440" y="3630168"/>
            <a:ext cx="141732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377440" y="36576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481328" y="3995928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58.4 (3 s.f.), c = 20 (2 s.f.), d = 3.6 (2 s.f.).   Upper bound for P (2 d.p.).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326880" y="363016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6" name="Text 54"/>
          <p:cNvSpPr/>
          <p:nvPr/>
        </p:nvSpPr>
        <p:spPr>
          <a:xfrm>
            <a:off x="9326880" y="36301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27.44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66928" y="48006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9" name="Text 57"/>
          <p:cNvSpPr/>
          <p:nvPr/>
        </p:nvSpPr>
        <p:spPr>
          <a:xfrm>
            <a:off x="86868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1481328" y="491032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train travels 487 km (nearest km) in 3 hours (nearest minute). Find the average speed in km/min to a suitable accuracy.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9326880" y="518464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62" name="Text 60"/>
          <p:cNvSpPr/>
          <p:nvPr/>
        </p:nvSpPr>
        <p:spPr>
          <a:xfrm>
            <a:off x="9326880" y="518464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 km/min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6" grpId="0" animBg="1"/>
      <p:bldP spid="6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QUESTIONS (3 of 4)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Formulae with Division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69164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81328" y="1847088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2377440" y="179222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− u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377440" y="2075688"/>
            <a:ext cx="12344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377440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481328" y="2441448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= 9.6, u = 3.8 (1 d.p.),  t = 1.84 (2 d.p.).   Upper bound for a (2 d.p.).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326880" y="207568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0" name="Text 48"/>
          <p:cNvSpPr/>
          <p:nvPr/>
        </p:nvSpPr>
        <p:spPr>
          <a:xfrm>
            <a:off x="9326880" y="20756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3.22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66928" y="324612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481328" y="3401568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 =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2377440" y="334670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2a − b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2377440" y="3630168"/>
            <a:ext cx="141732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377440" y="36576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1481328" y="3995928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7.5 (1 d.p.), b = 3.42 (2 d.p.), f = 2 (nearest whole).   Upper bound for y.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326880" y="363016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60" name="Text 58"/>
          <p:cNvSpPr/>
          <p:nvPr/>
        </p:nvSpPr>
        <p:spPr>
          <a:xfrm>
            <a:off x="9326880" y="36301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7.79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66928" y="48006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3" name="Text 61"/>
          <p:cNvSpPr/>
          <p:nvPr/>
        </p:nvSpPr>
        <p:spPr>
          <a:xfrm>
            <a:off x="86868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481328" y="4956048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 =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2377440" y="49011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2377440" y="5184648"/>
            <a:ext cx="14630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377440" y="52120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− h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1481328" y="5550408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14, a = 7.8, h = 3.4 (all 2 s.f.).   Work out the lower bound for p.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9326880" y="518464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70" name="Text 68"/>
          <p:cNvSpPr/>
          <p:nvPr/>
        </p:nvSpPr>
        <p:spPr>
          <a:xfrm>
            <a:off x="9326880" y="518464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60" grpId="0" animBg="1"/>
      <p:bldP spid="7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QUESTIONS (4 of 4)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Harder Formulae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69164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81328" y="1847088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w  −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3429000" y="179222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x²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429000" y="2075688"/>
            <a:ext cx="82296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29000" y="2103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481328" y="2441448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3.45 (2 d.p.), x = 1.9 (1 d.p.), y = 5 (nearest whole).   Lower bound for A.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326880" y="207568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0" name="Text 48"/>
          <p:cNvSpPr/>
          <p:nvPr/>
        </p:nvSpPr>
        <p:spPr>
          <a:xfrm>
            <a:off x="9326880" y="20756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66928" y="324612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481328" y="3401568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 =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2377440" y="334670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2377440" y="3630168"/>
            <a:ext cx="178308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377440" y="36576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2f − 3h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1481328" y="3995928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= 8 (nearest whole), f = 6.62 (2 d.p.), h = 1.2 (1 d.p.).   Lower bound for G (3 d.p.).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326880" y="363016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60" name="Text 58"/>
          <p:cNvSpPr/>
          <p:nvPr/>
        </p:nvSpPr>
        <p:spPr>
          <a:xfrm>
            <a:off x="9326880" y="36301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0.765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6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· GEOMETRY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 — Regular Octagon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942805" y="1458468"/>
            <a:ext cx="8306085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bndq-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5957" y="1531620"/>
            <a:ext cx="8159781" cy="5074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· GEOMETRY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13 — Triangle XYZ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217581" y="1458468"/>
            <a:ext cx="9756532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bndq-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733" y="1531620"/>
            <a:ext cx="9610228" cy="5074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· EXAM IMAGE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14 — As Printed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29768" y="1356446"/>
            <a:ext cx="8257032" cy="290273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bndq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29598"/>
            <a:ext cx="8234466" cy="314304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rounded value has bounds: halve the rounding unit, then ±.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interval:  LB ≤ x &lt; UB  (lower included, upper not).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MULTIPLY keep the same bound; SUBTRACT / DIVIDE swap to the opposite.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biggest result: biggest ÷ smallest, biggest − smallest.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rounding: s.f., decimal places, nearest 5 — the unit changes.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make a result as big as possible, make the top big and the bottom small.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1545</Words>
  <Application>Microsoft Office PowerPoint</Application>
  <PresentationFormat>Custom</PresentationFormat>
  <Paragraphs>260</Paragraphs>
  <Slides>18</Slides>
  <Notes>18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4</cp:revision>
  <dcterms:created xsi:type="dcterms:W3CDTF">2026-07-11T19:36:53Z</dcterms:created>
  <dcterms:modified xsi:type="dcterms:W3CDTF">2026-07-23T19:08:26Z</dcterms:modified>
</cp:coreProperties>
</file>