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395672F-03FD-41C3-873B-278BE150327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67D937-432E-43E2-9EED-27AA95EB9EB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C905D9-D696-4CE5-9ADF-A879A5495B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5FEF3A-F686-4CDD-BC85-404EAF56D9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AEDB83-5BF2-4446-92B2-A6E04CACA8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035EC2-959B-4E47-B90A-9D9265DC514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D52289-7064-417C-97AF-75A68528C47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EFE150-57AB-4C21-AB6A-CE35A68729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DEF10F-A99F-47F0-913B-7D9436A179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64915D-7CB8-4F6E-86A9-42F71850E2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E53989-C248-418D-851C-676A7DDEF09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4BA486-88AE-49B9-AFD0-8CB23FC909C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B3BEA8-3CCB-4073-9ACD-DADAA278FE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FFF608-F754-43EB-BF64-863F81837F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2D79B3-0BE2-4576-BF49-C2E2A15B8D6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99BBEC-92A9-4CAE-AE91-3ACBF49159A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D2E3A3-B392-43CB-BEB9-65DD976D3E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8138160" y="1051560"/>
            <a:ext cx="57312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400" spc="-1" strike="noStrike">
                <a:solidFill>
                  <a:srgbClr val="33463a"/>
                </a:solidFill>
                <a:latin typeface="Cambria"/>
                <a:ea typeface="Cambria"/>
              </a:rPr>
              <a:t>0</a:t>
            </a:r>
            <a:endParaRPr b="0" lang="en-US" sz="6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8711640" y="1051560"/>
            <a:ext cx="29232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400" spc="-1" strike="noStrike">
                <a:solidFill>
                  <a:srgbClr val="33463a"/>
                </a:solidFill>
                <a:latin typeface="Cambria"/>
                <a:ea typeface="Cambria"/>
              </a:rPr>
              <a:t>.</a:t>
            </a:r>
            <a:endParaRPr b="0" lang="en-US" sz="6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9004320" y="1051560"/>
            <a:ext cx="57312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400" spc="-1" strike="noStrike">
                <a:solidFill>
                  <a:srgbClr val="33463a"/>
                </a:solidFill>
                <a:latin typeface="Cambria"/>
                <a:ea typeface="Cambria"/>
              </a:rPr>
              <a:t>3</a:t>
            </a:r>
            <a:endParaRPr b="0" lang="en-US" sz="6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9173880" y="981360"/>
            <a:ext cx="233640" cy="233640"/>
          </a:xfrm>
          <a:prstGeom prst="ellipse">
            <a:avLst/>
          </a:prstGeom>
          <a:solidFill>
            <a:srgbClr val="3346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9714960" y="960120"/>
            <a:ext cx="29257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6400" spc="-1" strike="noStrike">
                <a:solidFill>
                  <a:srgbClr val="33463a"/>
                </a:solidFill>
                <a:latin typeface="Cambria"/>
                <a:ea typeface="Cambria"/>
              </a:rPr>
              <a:t>= ?</a:t>
            </a:r>
            <a:endParaRPr b="0" lang="en-US" sz="6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777240" y="2286000"/>
            <a:ext cx="106066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600" spc="-1" strike="noStrike">
                <a:solidFill>
                  <a:srgbClr val="e0ac2b"/>
                </a:solidFill>
                <a:latin typeface="Cambria"/>
                <a:ea typeface="Cambria"/>
              </a:rPr>
              <a:t>Recurring Decimals</a:t>
            </a:r>
            <a:endParaRPr b="0" lang="en-US" sz="5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804600" y="33102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50" spc="-1" strike="noStrike">
                <a:solidFill>
                  <a:srgbClr val="edebdd"/>
                </a:solidFill>
                <a:latin typeface="Cambria"/>
                <a:ea typeface="Cambria"/>
              </a:rPr>
              <a:t>Converting to Fractions — Notation · Terminating vs Recurring · The Algebraic Method · Proof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46"/>
          <p:cNvSpPr/>
          <p:nvPr/>
        </p:nvSpPr>
        <p:spPr>
          <a:xfrm>
            <a:off x="777240" y="4297680"/>
            <a:ext cx="658332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47"/>
          <p:cNvSpPr/>
          <p:nvPr/>
        </p:nvSpPr>
        <p:spPr>
          <a:xfrm>
            <a:off x="1097280" y="4498920"/>
            <a:ext cx="5943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48"/>
          <p:cNvSpPr/>
          <p:nvPr/>
        </p:nvSpPr>
        <p:spPr>
          <a:xfrm>
            <a:off x="1097280" y="4956120"/>
            <a:ext cx="6034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49"/>
          <p:cNvSpPr/>
          <p:nvPr/>
        </p:nvSpPr>
        <p:spPr>
          <a:xfrm>
            <a:off x="1097280" y="5394960"/>
            <a:ext cx="6034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Recurring Decimals → Fractions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39"/>
          <p:cNvSpPr/>
          <p:nvPr/>
        </p:nvSpPr>
        <p:spPr>
          <a:xfrm>
            <a:off x="567000" y="148140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0"/>
          <p:cNvSpPr/>
          <p:nvPr/>
        </p:nvSpPr>
        <p:spPr>
          <a:xfrm>
            <a:off x="887040" y="148140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libri"/>
                <a:ea typeface="Calibri"/>
              </a:rPr>
              <a:t>By the end of this lesson you can:  </a:t>
            </a:r>
            <a:r>
              <a:rPr b="0" lang="en-US" sz="1450" spc="-1" strike="noStrike">
                <a:solidFill>
                  <a:srgbClr val="edebdd"/>
                </a:solidFill>
                <a:latin typeface="Calibri"/>
                <a:ea typeface="Calibri"/>
              </a:rPr>
              <a:t>read and use dot notation, decide whether a fraction terminates or recurs, convert any recurring decimal into a fraction, and prove a recurring decimal equals a given fraction.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1"/>
          <p:cNvSpPr/>
          <p:nvPr/>
        </p:nvSpPr>
        <p:spPr>
          <a:xfrm>
            <a:off x="567000" y="269748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2"/>
          <p:cNvSpPr/>
          <p:nvPr/>
        </p:nvSpPr>
        <p:spPr>
          <a:xfrm>
            <a:off x="822960" y="2994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3"/>
          <p:cNvSpPr/>
          <p:nvPr/>
        </p:nvSpPr>
        <p:spPr>
          <a:xfrm>
            <a:off x="822960" y="2994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4"/>
          <p:cNvSpPr/>
          <p:nvPr/>
        </p:nvSpPr>
        <p:spPr>
          <a:xfrm>
            <a:off x="1435680" y="2697480"/>
            <a:ext cx="24958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Notation &amp; vocabulary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5"/>
          <p:cNvSpPr/>
          <p:nvPr/>
        </p:nvSpPr>
        <p:spPr>
          <a:xfrm>
            <a:off x="4343400" y="269748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6"/>
          <p:cNvSpPr/>
          <p:nvPr/>
        </p:nvSpPr>
        <p:spPr>
          <a:xfrm>
            <a:off x="4599360" y="2994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47"/>
          <p:cNvSpPr/>
          <p:nvPr/>
        </p:nvSpPr>
        <p:spPr>
          <a:xfrm>
            <a:off x="4599360" y="2994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48"/>
          <p:cNvSpPr/>
          <p:nvPr/>
        </p:nvSpPr>
        <p:spPr>
          <a:xfrm>
            <a:off x="5212080" y="2697480"/>
            <a:ext cx="24958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Terminating vs recurring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49"/>
          <p:cNvSpPr/>
          <p:nvPr/>
        </p:nvSpPr>
        <p:spPr>
          <a:xfrm>
            <a:off x="8119800" y="269748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0"/>
          <p:cNvSpPr/>
          <p:nvPr/>
        </p:nvSpPr>
        <p:spPr>
          <a:xfrm>
            <a:off x="8375760" y="2994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1"/>
          <p:cNvSpPr/>
          <p:nvPr/>
        </p:nvSpPr>
        <p:spPr>
          <a:xfrm>
            <a:off x="8375760" y="2994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2"/>
          <p:cNvSpPr/>
          <p:nvPr/>
        </p:nvSpPr>
        <p:spPr>
          <a:xfrm>
            <a:off x="8988480" y="2697480"/>
            <a:ext cx="24958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Which fractions recur?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3"/>
          <p:cNvSpPr/>
          <p:nvPr/>
        </p:nvSpPr>
        <p:spPr>
          <a:xfrm>
            <a:off x="567000" y="404172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4"/>
          <p:cNvSpPr/>
          <p:nvPr/>
        </p:nvSpPr>
        <p:spPr>
          <a:xfrm>
            <a:off x="822960" y="43387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5"/>
          <p:cNvSpPr/>
          <p:nvPr/>
        </p:nvSpPr>
        <p:spPr>
          <a:xfrm>
            <a:off x="822960" y="43387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56"/>
          <p:cNvSpPr/>
          <p:nvPr/>
        </p:nvSpPr>
        <p:spPr>
          <a:xfrm>
            <a:off x="1435680" y="4041720"/>
            <a:ext cx="24958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The algebraic method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57"/>
          <p:cNvSpPr/>
          <p:nvPr/>
        </p:nvSpPr>
        <p:spPr>
          <a:xfrm>
            <a:off x="4343400" y="404172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58"/>
          <p:cNvSpPr/>
          <p:nvPr/>
        </p:nvSpPr>
        <p:spPr>
          <a:xfrm>
            <a:off x="4599360" y="43387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59"/>
          <p:cNvSpPr/>
          <p:nvPr/>
        </p:nvSpPr>
        <p:spPr>
          <a:xfrm>
            <a:off x="4599360" y="43387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0"/>
          <p:cNvSpPr/>
          <p:nvPr/>
        </p:nvSpPr>
        <p:spPr>
          <a:xfrm>
            <a:off x="5212080" y="4041720"/>
            <a:ext cx="24958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A non-repeating start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61"/>
          <p:cNvSpPr/>
          <p:nvPr/>
        </p:nvSpPr>
        <p:spPr>
          <a:xfrm>
            <a:off x="8119800" y="404172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62"/>
          <p:cNvSpPr/>
          <p:nvPr/>
        </p:nvSpPr>
        <p:spPr>
          <a:xfrm>
            <a:off x="8375760" y="43387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63"/>
          <p:cNvSpPr/>
          <p:nvPr/>
        </p:nvSpPr>
        <p:spPr>
          <a:xfrm>
            <a:off x="8375760" y="43387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64"/>
          <p:cNvSpPr/>
          <p:nvPr/>
        </p:nvSpPr>
        <p:spPr>
          <a:xfrm>
            <a:off x="8988480" y="4041720"/>
            <a:ext cx="24958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Proof &amp; exam questions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50" spc="-1" strike="noStrike">
                <a:solidFill>
                  <a:srgbClr val="5c6b60"/>
                </a:solidFill>
                <a:latin typeface="Calibri"/>
                <a:ea typeface="Calibri"/>
              </a:rPr>
              <a:t>recurring  ·  terminating  ·  convert  ·  proof  ·  simplest form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PART 1 · NOTATION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The Dot Notation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39"/>
          <p:cNvSpPr/>
          <p:nvPr/>
        </p:nvSpPr>
        <p:spPr>
          <a:xfrm>
            <a:off x="567000" y="148140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40"/>
          <p:cNvSpPr/>
          <p:nvPr/>
        </p:nvSpPr>
        <p:spPr>
          <a:xfrm>
            <a:off x="887040" y="148140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debdd"/>
                </a:solidFill>
                <a:latin typeface="Calibri"/>
                <a:ea typeface="Calibri"/>
              </a:rPr>
              <a:t>A dot over a digit means it repeats forever.  </a:t>
            </a:r>
            <a:r>
              <a:rPr b="1" lang="en-US" sz="1450" spc="-1" strike="noStrike">
                <a:solidFill>
                  <a:srgbClr val="e0ac2b"/>
                </a:solidFill>
                <a:latin typeface="Calibri"/>
                <a:ea typeface="Calibri"/>
              </a:rPr>
              <a:t>A dot over the first and last digit of a block</a:t>
            </a:r>
            <a:r>
              <a:rPr b="0" lang="en-US" sz="1450" spc="-1" strike="noStrike">
                <a:solidFill>
                  <a:srgbClr val="edebdd"/>
                </a:solidFill>
                <a:latin typeface="Calibri"/>
                <a:ea typeface="Calibri"/>
              </a:rPr>
              <a:t> means the whole block repeats.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41"/>
          <p:cNvSpPr/>
          <p:nvPr/>
        </p:nvSpPr>
        <p:spPr>
          <a:xfrm>
            <a:off x="567000" y="2697480"/>
            <a:ext cx="3501720" cy="2377080"/>
          </a:xfrm>
          <a:prstGeom prst="roundRect">
            <a:avLst>
              <a:gd name="adj" fmla="val 230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2"/>
          <p:cNvSpPr/>
          <p:nvPr/>
        </p:nvSpPr>
        <p:spPr>
          <a:xfrm>
            <a:off x="186804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0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3"/>
          <p:cNvSpPr/>
          <p:nvPr/>
        </p:nvSpPr>
        <p:spPr>
          <a:xfrm>
            <a:off x="2226600" y="3200400"/>
            <a:ext cx="182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4"/>
          <p:cNvSpPr/>
          <p:nvPr/>
        </p:nvSpPr>
        <p:spPr>
          <a:xfrm>
            <a:off x="240948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5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5"/>
          <p:cNvSpPr/>
          <p:nvPr/>
        </p:nvSpPr>
        <p:spPr>
          <a:xfrm>
            <a:off x="2515680" y="3156480"/>
            <a:ext cx="145800" cy="14580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46"/>
          <p:cNvSpPr/>
          <p:nvPr/>
        </p:nvSpPr>
        <p:spPr>
          <a:xfrm>
            <a:off x="567000" y="3886200"/>
            <a:ext cx="3501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= 0.5555…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47"/>
          <p:cNvSpPr/>
          <p:nvPr/>
        </p:nvSpPr>
        <p:spPr>
          <a:xfrm>
            <a:off x="841320" y="4453200"/>
            <a:ext cx="295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one digit repeats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48"/>
          <p:cNvSpPr/>
          <p:nvPr/>
        </p:nvSpPr>
        <p:spPr>
          <a:xfrm>
            <a:off x="4343400" y="2697480"/>
            <a:ext cx="3501720" cy="2377080"/>
          </a:xfrm>
          <a:prstGeom prst="roundRect">
            <a:avLst>
              <a:gd name="adj" fmla="val 230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49"/>
          <p:cNvSpPr/>
          <p:nvPr/>
        </p:nvSpPr>
        <p:spPr>
          <a:xfrm>
            <a:off x="546552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0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50"/>
          <p:cNvSpPr/>
          <p:nvPr/>
        </p:nvSpPr>
        <p:spPr>
          <a:xfrm>
            <a:off x="5823720" y="3200400"/>
            <a:ext cx="182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1"/>
          <p:cNvSpPr/>
          <p:nvPr/>
        </p:nvSpPr>
        <p:spPr>
          <a:xfrm>
            <a:off x="600660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52"/>
          <p:cNvSpPr/>
          <p:nvPr/>
        </p:nvSpPr>
        <p:spPr>
          <a:xfrm>
            <a:off x="6112800" y="3156480"/>
            <a:ext cx="145800" cy="14580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53"/>
          <p:cNvSpPr/>
          <p:nvPr/>
        </p:nvSpPr>
        <p:spPr>
          <a:xfrm>
            <a:off x="636516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7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54"/>
          <p:cNvSpPr/>
          <p:nvPr/>
        </p:nvSpPr>
        <p:spPr>
          <a:xfrm>
            <a:off x="6471360" y="3156480"/>
            <a:ext cx="145800" cy="14580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55"/>
          <p:cNvSpPr/>
          <p:nvPr/>
        </p:nvSpPr>
        <p:spPr>
          <a:xfrm>
            <a:off x="4343400" y="3886200"/>
            <a:ext cx="3501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= 0.272727…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56"/>
          <p:cNvSpPr/>
          <p:nvPr/>
        </p:nvSpPr>
        <p:spPr>
          <a:xfrm>
            <a:off x="4617720" y="4453200"/>
            <a:ext cx="295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 block of two repeats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57"/>
          <p:cNvSpPr/>
          <p:nvPr/>
        </p:nvSpPr>
        <p:spPr>
          <a:xfrm>
            <a:off x="8119800" y="2697480"/>
            <a:ext cx="3501720" cy="2377080"/>
          </a:xfrm>
          <a:prstGeom prst="roundRect">
            <a:avLst>
              <a:gd name="adj" fmla="val 230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58"/>
          <p:cNvSpPr/>
          <p:nvPr/>
        </p:nvSpPr>
        <p:spPr>
          <a:xfrm>
            <a:off x="924192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0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59"/>
          <p:cNvSpPr/>
          <p:nvPr/>
        </p:nvSpPr>
        <p:spPr>
          <a:xfrm>
            <a:off x="9600120" y="3200400"/>
            <a:ext cx="182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60"/>
          <p:cNvSpPr/>
          <p:nvPr/>
        </p:nvSpPr>
        <p:spPr>
          <a:xfrm>
            <a:off x="978300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61"/>
          <p:cNvSpPr/>
          <p:nvPr/>
        </p:nvSpPr>
        <p:spPr>
          <a:xfrm>
            <a:off x="10141560" y="3200400"/>
            <a:ext cx="35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1c2a22"/>
                </a:solidFill>
                <a:latin typeface="Cambria"/>
                <a:ea typeface="Cambria"/>
              </a:rPr>
              <a:t>6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62"/>
          <p:cNvSpPr/>
          <p:nvPr/>
        </p:nvSpPr>
        <p:spPr>
          <a:xfrm>
            <a:off x="10247760" y="3156480"/>
            <a:ext cx="145800" cy="14580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63"/>
          <p:cNvSpPr/>
          <p:nvPr/>
        </p:nvSpPr>
        <p:spPr>
          <a:xfrm>
            <a:off x="8119800" y="3886200"/>
            <a:ext cx="3501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= 0.16666…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64"/>
          <p:cNvSpPr/>
          <p:nvPr/>
        </p:nvSpPr>
        <p:spPr>
          <a:xfrm>
            <a:off x="8394120" y="4453200"/>
            <a:ext cx="295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the 1 is fixed, the 6 repeats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65"/>
          <p:cNvSpPr/>
          <p:nvPr/>
        </p:nvSpPr>
        <p:spPr>
          <a:xfrm>
            <a:off x="567000" y="534924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The repeating part is called the </a:t>
            </a:r>
            <a:r>
              <a:rPr b="1" i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period</a:t>
            </a: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.  Anything before it does not repeat.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PART 2 · TWO TYPES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Terminating or Recurring?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39"/>
          <p:cNvSpPr/>
          <p:nvPr/>
        </p:nvSpPr>
        <p:spPr>
          <a:xfrm>
            <a:off x="567000" y="1600200"/>
            <a:ext cx="5394600" cy="3702960"/>
          </a:xfrm>
          <a:prstGeom prst="roundRect">
            <a:avLst>
              <a:gd name="adj" fmla="val 148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40"/>
          <p:cNvSpPr/>
          <p:nvPr/>
        </p:nvSpPr>
        <p:spPr>
          <a:xfrm>
            <a:off x="932760" y="185616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Terminating — it stops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41"/>
          <p:cNvSpPr/>
          <p:nvPr/>
        </p:nvSpPr>
        <p:spPr>
          <a:xfrm>
            <a:off x="978480" y="2514600"/>
            <a:ext cx="45716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0.25  =  1/4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0.4  =  2/5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0.52  =  13/25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0.3875  =  31/80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42"/>
          <p:cNvSpPr/>
          <p:nvPr/>
        </p:nvSpPr>
        <p:spPr>
          <a:xfrm>
            <a:off x="6236280" y="1600200"/>
            <a:ext cx="5394600" cy="3702960"/>
          </a:xfrm>
          <a:prstGeom prst="roundRect">
            <a:avLst>
              <a:gd name="adj" fmla="val 148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43"/>
          <p:cNvSpPr/>
          <p:nvPr/>
        </p:nvSpPr>
        <p:spPr>
          <a:xfrm>
            <a:off x="6602040" y="185616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Recurring — it repeats forever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44"/>
          <p:cNvSpPr/>
          <p:nvPr/>
        </p:nvSpPr>
        <p:spPr>
          <a:xfrm>
            <a:off x="6647760" y="2541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45"/>
          <p:cNvSpPr/>
          <p:nvPr/>
        </p:nvSpPr>
        <p:spPr>
          <a:xfrm>
            <a:off x="6809040" y="2541960"/>
            <a:ext cx="8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46"/>
          <p:cNvSpPr/>
          <p:nvPr/>
        </p:nvSpPr>
        <p:spPr>
          <a:xfrm>
            <a:off x="6891120" y="2541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47"/>
          <p:cNvSpPr/>
          <p:nvPr/>
        </p:nvSpPr>
        <p:spPr>
          <a:xfrm>
            <a:off x="6939000" y="2522160"/>
            <a:ext cx="65520" cy="6552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48"/>
          <p:cNvSpPr/>
          <p:nvPr/>
        </p:nvSpPr>
        <p:spPr>
          <a:xfrm>
            <a:off x="7180560" y="25236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=  1/3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49"/>
          <p:cNvSpPr/>
          <p:nvPr/>
        </p:nvSpPr>
        <p:spPr>
          <a:xfrm>
            <a:off x="6647760" y="3108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50"/>
          <p:cNvSpPr/>
          <p:nvPr/>
        </p:nvSpPr>
        <p:spPr>
          <a:xfrm>
            <a:off x="6809040" y="3108960"/>
            <a:ext cx="8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51"/>
          <p:cNvSpPr/>
          <p:nvPr/>
        </p:nvSpPr>
        <p:spPr>
          <a:xfrm>
            <a:off x="6891120" y="3108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52"/>
          <p:cNvSpPr/>
          <p:nvPr/>
        </p:nvSpPr>
        <p:spPr>
          <a:xfrm>
            <a:off x="7052760" y="3108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53"/>
          <p:cNvSpPr/>
          <p:nvPr/>
        </p:nvSpPr>
        <p:spPr>
          <a:xfrm>
            <a:off x="7100280" y="3089160"/>
            <a:ext cx="65520" cy="6552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54"/>
          <p:cNvSpPr/>
          <p:nvPr/>
        </p:nvSpPr>
        <p:spPr>
          <a:xfrm>
            <a:off x="7341840" y="30906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=  1/6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55"/>
          <p:cNvSpPr/>
          <p:nvPr/>
        </p:nvSpPr>
        <p:spPr>
          <a:xfrm>
            <a:off x="6647760" y="3675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56"/>
          <p:cNvSpPr/>
          <p:nvPr/>
        </p:nvSpPr>
        <p:spPr>
          <a:xfrm>
            <a:off x="6809040" y="3675960"/>
            <a:ext cx="8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57"/>
          <p:cNvSpPr/>
          <p:nvPr/>
        </p:nvSpPr>
        <p:spPr>
          <a:xfrm>
            <a:off x="6891120" y="3675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8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58"/>
          <p:cNvSpPr/>
          <p:nvPr/>
        </p:nvSpPr>
        <p:spPr>
          <a:xfrm>
            <a:off x="7052760" y="3675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59"/>
          <p:cNvSpPr/>
          <p:nvPr/>
        </p:nvSpPr>
        <p:spPr>
          <a:xfrm>
            <a:off x="7100280" y="3656160"/>
            <a:ext cx="65520" cy="6552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60"/>
          <p:cNvSpPr/>
          <p:nvPr/>
        </p:nvSpPr>
        <p:spPr>
          <a:xfrm>
            <a:off x="7341840" y="36576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=  5/6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 61"/>
          <p:cNvSpPr/>
          <p:nvPr/>
        </p:nvSpPr>
        <p:spPr>
          <a:xfrm>
            <a:off x="6647760" y="4242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62"/>
          <p:cNvSpPr/>
          <p:nvPr/>
        </p:nvSpPr>
        <p:spPr>
          <a:xfrm>
            <a:off x="6809040" y="4242960"/>
            <a:ext cx="8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63"/>
          <p:cNvSpPr/>
          <p:nvPr/>
        </p:nvSpPr>
        <p:spPr>
          <a:xfrm>
            <a:off x="6891120" y="4242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64"/>
          <p:cNvSpPr/>
          <p:nvPr/>
        </p:nvSpPr>
        <p:spPr>
          <a:xfrm>
            <a:off x="6939000" y="4223160"/>
            <a:ext cx="65520" cy="6552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65"/>
          <p:cNvSpPr/>
          <p:nvPr/>
        </p:nvSpPr>
        <p:spPr>
          <a:xfrm>
            <a:off x="7052760" y="4242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8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66"/>
          <p:cNvSpPr/>
          <p:nvPr/>
        </p:nvSpPr>
        <p:spPr>
          <a:xfrm>
            <a:off x="7214040" y="4242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67"/>
          <p:cNvSpPr/>
          <p:nvPr/>
        </p:nvSpPr>
        <p:spPr>
          <a:xfrm>
            <a:off x="7375320" y="4242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68"/>
          <p:cNvSpPr/>
          <p:nvPr/>
        </p:nvSpPr>
        <p:spPr>
          <a:xfrm>
            <a:off x="7536600" y="4242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69"/>
          <p:cNvSpPr/>
          <p:nvPr/>
        </p:nvSpPr>
        <p:spPr>
          <a:xfrm>
            <a:off x="7697880" y="424296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70"/>
          <p:cNvSpPr/>
          <p:nvPr/>
        </p:nvSpPr>
        <p:spPr>
          <a:xfrm>
            <a:off x="7745400" y="4223160"/>
            <a:ext cx="65520" cy="65520"/>
          </a:xfrm>
          <a:prstGeom prst="ellipse">
            <a:avLst/>
          </a:prstGeom>
          <a:solidFill>
            <a:srgbClr val="1c2a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71"/>
          <p:cNvSpPr/>
          <p:nvPr/>
        </p:nvSpPr>
        <p:spPr>
          <a:xfrm>
            <a:off x="7986960" y="42246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libri"/>
                <a:ea typeface="Calibri"/>
              </a:rPr>
              <a:t>=  2/7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72"/>
          <p:cNvSpPr/>
          <p:nvPr/>
        </p:nvSpPr>
        <p:spPr>
          <a:xfrm>
            <a:off x="567000" y="548640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73"/>
          <p:cNvSpPr/>
          <p:nvPr/>
        </p:nvSpPr>
        <p:spPr>
          <a:xfrm>
            <a:off x="887040" y="548640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libri"/>
                <a:ea typeface="Calibri"/>
              </a:rPr>
              <a:t>Every terminating or recurring decimal is an exact fraction.  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Numbers like π and √2 never repeat or stop — they are irrational and cannot be written as a fraction.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PART 3 · THE TEST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Which Fractions Recur?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39"/>
          <p:cNvSpPr/>
          <p:nvPr/>
        </p:nvSpPr>
        <p:spPr>
          <a:xfrm>
            <a:off x="567000" y="148140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40"/>
          <p:cNvSpPr/>
          <p:nvPr/>
        </p:nvSpPr>
        <p:spPr>
          <a:xfrm>
            <a:off x="887040" y="148140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First write the fraction in its simplest form, then look only at the denominator.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41"/>
          <p:cNvSpPr/>
          <p:nvPr/>
        </p:nvSpPr>
        <p:spPr>
          <a:xfrm>
            <a:off x="567000" y="2423160"/>
            <a:ext cx="5394600" cy="2788560"/>
          </a:xfrm>
          <a:prstGeom prst="roundRect">
            <a:avLst>
              <a:gd name="adj" fmla="val 196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42"/>
          <p:cNvSpPr/>
          <p:nvPr/>
        </p:nvSpPr>
        <p:spPr>
          <a:xfrm>
            <a:off x="932760" y="26791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Only 2s and / or 5s  →  terminates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43"/>
          <p:cNvSpPr/>
          <p:nvPr/>
        </p:nvSpPr>
        <p:spPr>
          <a:xfrm>
            <a:off x="978480" y="3291840"/>
            <a:ext cx="45716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libri"/>
                <a:ea typeface="Calibri"/>
              </a:rPr>
              <a:t>1/8  =  1/2³  →  0.125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libri"/>
                <a:ea typeface="Calibri"/>
              </a:rPr>
              <a:t>7/40  =  7/(2³×5)  →  0.175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libri"/>
                <a:ea typeface="Calibri"/>
              </a:rPr>
              <a:t>9/20  =  9/(2²×5)  →  0.45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44"/>
          <p:cNvSpPr/>
          <p:nvPr/>
        </p:nvSpPr>
        <p:spPr>
          <a:xfrm>
            <a:off x="6236280" y="2423160"/>
            <a:ext cx="5394600" cy="2788560"/>
          </a:xfrm>
          <a:prstGeom prst="roundRect">
            <a:avLst>
              <a:gd name="adj" fmla="val 196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45"/>
          <p:cNvSpPr/>
          <p:nvPr/>
        </p:nvSpPr>
        <p:spPr>
          <a:xfrm>
            <a:off x="6602040" y="26791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Any other prime factor  →  recurs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46"/>
          <p:cNvSpPr/>
          <p:nvPr/>
        </p:nvSpPr>
        <p:spPr>
          <a:xfrm>
            <a:off x="6647760" y="3291840"/>
            <a:ext cx="45716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libri"/>
                <a:ea typeface="Calibri"/>
              </a:rPr>
              <a:t>5/12  =  5/(2²×3)  →  0.4166…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libri"/>
                <a:ea typeface="Calibri"/>
              </a:rPr>
              <a:t>2/7  →  0.285714…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libri"/>
                <a:ea typeface="Calibri"/>
              </a:rPr>
              <a:t>7/15  =  7/(3×5)  →  0.4666…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47"/>
          <p:cNvSpPr/>
          <p:nvPr/>
        </p:nvSpPr>
        <p:spPr>
          <a:xfrm>
            <a:off x="567000" y="544068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5c6b60"/>
                </a:solidFill>
                <a:latin typeface="Calibri"/>
                <a:ea typeface="Calibri"/>
              </a:rPr>
              <a:t>The numerator never matters — only the denominator's prime factors, and only once the fraction is in simplest form.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THE CORE TECHNIQUE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38"/>
          <p:cNvSpPr/>
          <p:nvPr/>
        </p:nvSpPr>
        <p:spPr>
          <a:xfrm>
            <a:off x="777240" y="173736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pc="-1" strike="noStrike">
                <a:solidFill>
                  <a:srgbClr val="e0ac2b"/>
                </a:solidFill>
                <a:latin typeface="Cambria"/>
                <a:ea typeface="Cambria"/>
              </a:rPr>
              <a:t>The Algebraic Method</a:t>
            </a:r>
            <a:endParaRPr b="0" lang="en-US" sz="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 39"/>
          <p:cNvSpPr/>
          <p:nvPr/>
        </p:nvSpPr>
        <p:spPr>
          <a:xfrm>
            <a:off x="804600" y="2697480"/>
            <a:ext cx="9600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Multiply to line up the repeating tails, then subtract to make them vanish.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edebdd"/>
                </a:solidFill>
                <a:latin typeface="Cambria"/>
                <a:ea typeface="Cambria"/>
              </a:rPr>
              <a:t>Let  x  =  the decimal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edebdd"/>
                </a:solidFill>
                <a:latin typeface="Cambria"/>
                <a:ea typeface="Cambria"/>
              </a:rPr>
              <a:t>Multiply by 10ⁿ so the repeating tails line up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edebdd"/>
                </a:solidFill>
                <a:latin typeface="Cambria"/>
                <a:ea typeface="Cambria"/>
              </a:rPr>
              <a:t>Subtract — the tail cancels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edebdd"/>
                </a:solidFill>
                <a:latin typeface="Cambria"/>
                <a:ea typeface="Cambria"/>
              </a:rPr>
              <a:t>Solve for x, then simplify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CASE 1 · ONE REPEATING DIGIT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Convert  0.4444…  to a fraction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40"/>
          <p:cNvSpPr/>
          <p:nvPr/>
        </p:nvSpPr>
        <p:spPr>
          <a:xfrm>
            <a:off x="868680" y="18745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41"/>
          <p:cNvSpPr/>
          <p:nvPr/>
        </p:nvSpPr>
        <p:spPr>
          <a:xfrm>
            <a:off x="868680" y="1874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42"/>
          <p:cNvSpPr/>
          <p:nvPr/>
        </p:nvSpPr>
        <p:spPr>
          <a:xfrm>
            <a:off x="1362600" y="18378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Let  </a:t>
            </a: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x = 0.4444…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43"/>
          <p:cNvSpPr/>
          <p:nvPr/>
        </p:nvSpPr>
        <p:spPr>
          <a:xfrm>
            <a:off x="868680" y="2587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44"/>
          <p:cNvSpPr/>
          <p:nvPr/>
        </p:nvSpPr>
        <p:spPr>
          <a:xfrm>
            <a:off x="868680" y="2587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45"/>
          <p:cNvSpPr/>
          <p:nvPr/>
        </p:nvSpPr>
        <p:spPr>
          <a:xfrm>
            <a:off x="1362600" y="255132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One repeating digit → multiply by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10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46"/>
          <p:cNvSpPr/>
          <p:nvPr/>
        </p:nvSpPr>
        <p:spPr>
          <a:xfrm>
            <a:off x="868680" y="330084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47"/>
          <p:cNvSpPr/>
          <p:nvPr/>
        </p:nvSpPr>
        <p:spPr>
          <a:xfrm>
            <a:off x="868680" y="33008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 48"/>
          <p:cNvSpPr/>
          <p:nvPr/>
        </p:nvSpPr>
        <p:spPr>
          <a:xfrm>
            <a:off x="1362600" y="3264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10x = 4.4444…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49"/>
          <p:cNvSpPr/>
          <p:nvPr/>
        </p:nvSpPr>
        <p:spPr>
          <a:xfrm>
            <a:off x="868680" y="40143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 50"/>
          <p:cNvSpPr/>
          <p:nvPr/>
        </p:nvSpPr>
        <p:spPr>
          <a:xfrm>
            <a:off x="868680" y="4014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 51"/>
          <p:cNvSpPr/>
          <p:nvPr/>
        </p:nvSpPr>
        <p:spPr>
          <a:xfrm>
            <a:off x="1362600" y="39776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Subtract:  10x − x  gives 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9x = 4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52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53"/>
          <p:cNvSpPr/>
          <p:nvPr/>
        </p:nvSpPr>
        <p:spPr>
          <a:xfrm>
            <a:off x="7178040" y="175572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Line up and subtract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54"/>
          <p:cNvSpPr/>
          <p:nvPr/>
        </p:nvSpPr>
        <p:spPr>
          <a:xfrm>
            <a:off x="726948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10x = 4.444…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−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x = 0.444…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—————————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9x = 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55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56"/>
          <p:cNvSpPr/>
          <p:nvPr/>
        </p:nvSpPr>
        <p:spPr>
          <a:xfrm>
            <a:off x="523440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0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 57"/>
          <p:cNvSpPr/>
          <p:nvPr/>
        </p:nvSpPr>
        <p:spPr>
          <a:xfrm>
            <a:off x="5431680" y="544536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 58"/>
          <p:cNvSpPr/>
          <p:nvPr/>
        </p:nvSpPr>
        <p:spPr>
          <a:xfrm>
            <a:off x="553212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59"/>
          <p:cNvSpPr/>
          <p:nvPr/>
        </p:nvSpPr>
        <p:spPr>
          <a:xfrm>
            <a:off x="559044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60"/>
          <p:cNvSpPr/>
          <p:nvPr/>
        </p:nvSpPr>
        <p:spPr>
          <a:xfrm>
            <a:off x="5875560" y="5074920"/>
            <a:ext cx="402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61"/>
          <p:cNvSpPr/>
          <p:nvPr/>
        </p:nvSpPr>
        <p:spPr>
          <a:xfrm>
            <a:off x="6424200" y="5308200"/>
            <a:ext cx="539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4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62"/>
          <p:cNvSpPr/>
          <p:nvPr/>
        </p:nvSpPr>
        <p:spPr>
          <a:xfrm>
            <a:off x="6549840" y="5646240"/>
            <a:ext cx="28800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 63"/>
          <p:cNvSpPr/>
          <p:nvPr/>
        </p:nvSpPr>
        <p:spPr>
          <a:xfrm>
            <a:off x="6424200" y="5673960"/>
            <a:ext cx="539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9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 64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Multiply by 10 because exactly one digit repeats.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CASE 2 · TWO REPEATING DIGITS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Convert  0.3636…  to a fraction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40"/>
          <p:cNvSpPr/>
          <p:nvPr/>
        </p:nvSpPr>
        <p:spPr>
          <a:xfrm>
            <a:off x="868680" y="18745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 41"/>
          <p:cNvSpPr/>
          <p:nvPr/>
        </p:nvSpPr>
        <p:spPr>
          <a:xfrm>
            <a:off x="868680" y="1874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42"/>
          <p:cNvSpPr/>
          <p:nvPr/>
        </p:nvSpPr>
        <p:spPr>
          <a:xfrm>
            <a:off x="1362600" y="18378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Let  </a:t>
            </a: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x = 0.3636…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43"/>
          <p:cNvSpPr/>
          <p:nvPr/>
        </p:nvSpPr>
        <p:spPr>
          <a:xfrm>
            <a:off x="868680" y="2587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44"/>
          <p:cNvSpPr/>
          <p:nvPr/>
        </p:nvSpPr>
        <p:spPr>
          <a:xfrm>
            <a:off x="868680" y="2587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45"/>
          <p:cNvSpPr/>
          <p:nvPr/>
        </p:nvSpPr>
        <p:spPr>
          <a:xfrm>
            <a:off x="1362600" y="255132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Two repeating digits → multiply by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100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46"/>
          <p:cNvSpPr/>
          <p:nvPr/>
        </p:nvSpPr>
        <p:spPr>
          <a:xfrm>
            <a:off x="868680" y="330084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 47"/>
          <p:cNvSpPr/>
          <p:nvPr/>
        </p:nvSpPr>
        <p:spPr>
          <a:xfrm>
            <a:off x="868680" y="33008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48"/>
          <p:cNvSpPr/>
          <p:nvPr/>
        </p:nvSpPr>
        <p:spPr>
          <a:xfrm>
            <a:off x="1362600" y="3264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100x = 36.3636…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49"/>
          <p:cNvSpPr/>
          <p:nvPr/>
        </p:nvSpPr>
        <p:spPr>
          <a:xfrm>
            <a:off x="868680" y="40143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 50"/>
          <p:cNvSpPr/>
          <p:nvPr/>
        </p:nvSpPr>
        <p:spPr>
          <a:xfrm>
            <a:off x="868680" y="4014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51"/>
          <p:cNvSpPr/>
          <p:nvPr/>
        </p:nvSpPr>
        <p:spPr>
          <a:xfrm>
            <a:off x="1362600" y="39776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Subtract: 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99x = 36</a:t>
            </a: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,  so  x = 36/99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52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 53"/>
          <p:cNvSpPr/>
          <p:nvPr/>
        </p:nvSpPr>
        <p:spPr>
          <a:xfrm>
            <a:off x="7178040" y="175572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Line up and subtract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54"/>
          <p:cNvSpPr/>
          <p:nvPr/>
        </p:nvSpPr>
        <p:spPr>
          <a:xfrm>
            <a:off x="726948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100x = 36.3636…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− 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x =  0.3636…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——————————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99x = 36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55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 56"/>
          <p:cNvSpPr/>
          <p:nvPr/>
        </p:nvSpPr>
        <p:spPr>
          <a:xfrm>
            <a:off x="505800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0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 57"/>
          <p:cNvSpPr/>
          <p:nvPr/>
        </p:nvSpPr>
        <p:spPr>
          <a:xfrm>
            <a:off x="5255280" y="544536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 58"/>
          <p:cNvSpPr/>
          <p:nvPr/>
        </p:nvSpPr>
        <p:spPr>
          <a:xfrm>
            <a:off x="535572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59"/>
          <p:cNvSpPr/>
          <p:nvPr/>
        </p:nvSpPr>
        <p:spPr>
          <a:xfrm>
            <a:off x="541404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 60"/>
          <p:cNvSpPr/>
          <p:nvPr/>
        </p:nvSpPr>
        <p:spPr>
          <a:xfrm>
            <a:off x="555300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61"/>
          <p:cNvSpPr/>
          <p:nvPr/>
        </p:nvSpPr>
        <p:spPr>
          <a:xfrm>
            <a:off x="561132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 62"/>
          <p:cNvSpPr/>
          <p:nvPr/>
        </p:nvSpPr>
        <p:spPr>
          <a:xfrm>
            <a:off x="5896440" y="5074920"/>
            <a:ext cx="402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Text 63"/>
          <p:cNvSpPr/>
          <p:nvPr/>
        </p:nvSpPr>
        <p:spPr>
          <a:xfrm>
            <a:off x="6445080" y="5308200"/>
            <a:ext cx="694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4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64"/>
          <p:cNvSpPr/>
          <p:nvPr/>
        </p:nvSpPr>
        <p:spPr>
          <a:xfrm>
            <a:off x="6586560" y="5646240"/>
            <a:ext cx="41148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 65"/>
          <p:cNvSpPr/>
          <p:nvPr/>
        </p:nvSpPr>
        <p:spPr>
          <a:xfrm>
            <a:off x="6445080" y="5673960"/>
            <a:ext cx="694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11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66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n repeating digits → multiply by 10ⁿ.  Here 36/99 simplifies to 4/11.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CASE 3 · THREE REPEATING DIGITS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Convert  0.411411…  to a fraction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40"/>
          <p:cNvSpPr/>
          <p:nvPr/>
        </p:nvSpPr>
        <p:spPr>
          <a:xfrm>
            <a:off x="868680" y="18745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 41"/>
          <p:cNvSpPr/>
          <p:nvPr/>
        </p:nvSpPr>
        <p:spPr>
          <a:xfrm>
            <a:off x="868680" y="1874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 42"/>
          <p:cNvSpPr/>
          <p:nvPr/>
        </p:nvSpPr>
        <p:spPr>
          <a:xfrm>
            <a:off x="1362600" y="18378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Let  </a:t>
            </a: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x = 0.411411…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43"/>
          <p:cNvSpPr/>
          <p:nvPr/>
        </p:nvSpPr>
        <p:spPr>
          <a:xfrm>
            <a:off x="868680" y="2587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Text 44"/>
          <p:cNvSpPr/>
          <p:nvPr/>
        </p:nvSpPr>
        <p:spPr>
          <a:xfrm>
            <a:off x="868680" y="2587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 45"/>
          <p:cNvSpPr/>
          <p:nvPr/>
        </p:nvSpPr>
        <p:spPr>
          <a:xfrm>
            <a:off x="1362600" y="255132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Three repeating digits → multiply by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1000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46"/>
          <p:cNvSpPr/>
          <p:nvPr/>
        </p:nvSpPr>
        <p:spPr>
          <a:xfrm>
            <a:off x="868680" y="330084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Text 47"/>
          <p:cNvSpPr/>
          <p:nvPr/>
        </p:nvSpPr>
        <p:spPr>
          <a:xfrm>
            <a:off x="868680" y="33008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 48"/>
          <p:cNvSpPr/>
          <p:nvPr/>
        </p:nvSpPr>
        <p:spPr>
          <a:xfrm>
            <a:off x="1362600" y="3264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1000x = 411.411…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49"/>
          <p:cNvSpPr/>
          <p:nvPr/>
        </p:nvSpPr>
        <p:spPr>
          <a:xfrm>
            <a:off x="868680" y="40143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 50"/>
          <p:cNvSpPr/>
          <p:nvPr/>
        </p:nvSpPr>
        <p:spPr>
          <a:xfrm>
            <a:off x="868680" y="4014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 51"/>
          <p:cNvSpPr/>
          <p:nvPr/>
        </p:nvSpPr>
        <p:spPr>
          <a:xfrm>
            <a:off x="1362600" y="39776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Subtract: 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999x = 411</a:t>
            </a: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,  then simplify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52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 53"/>
          <p:cNvSpPr/>
          <p:nvPr/>
        </p:nvSpPr>
        <p:spPr>
          <a:xfrm>
            <a:off x="7178040" y="175572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Line up and subtract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 54"/>
          <p:cNvSpPr/>
          <p:nvPr/>
        </p:nvSpPr>
        <p:spPr>
          <a:xfrm>
            <a:off x="726948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1000x = 411.411…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−  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x =   0.411…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——————————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999x = 411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55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 56"/>
          <p:cNvSpPr/>
          <p:nvPr/>
        </p:nvSpPr>
        <p:spPr>
          <a:xfrm>
            <a:off x="488196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0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57"/>
          <p:cNvSpPr/>
          <p:nvPr/>
        </p:nvSpPr>
        <p:spPr>
          <a:xfrm>
            <a:off x="5078880" y="544536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 58"/>
          <p:cNvSpPr/>
          <p:nvPr/>
        </p:nvSpPr>
        <p:spPr>
          <a:xfrm>
            <a:off x="517968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59"/>
          <p:cNvSpPr/>
          <p:nvPr/>
        </p:nvSpPr>
        <p:spPr>
          <a:xfrm>
            <a:off x="523800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 60"/>
          <p:cNvSpPr/>
          <p:nvPr/>
        </p:nvSpPr>
        <p:spPr>
          <a:xfrm>
            <a:off x="537660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 61"/>
          <p:cNvSpPr/>
          <p:nvPr/>
        </p:nvSpPr>
        <p:spPr>
          <a:xfrm>
            <a:off x="557388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62"/>
          <p:cNvSpPr/>
          <p:nvPr/>
        </p:nvSpPr>
        <p:spPr>
          <a:xfrm>
            <a:off x="563220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 63"/>
          <p:cNvSpPr/>
          <p:nvPr/>
        </p:nvSpPr>
        <p:spPr>
          <a:xfrm>
            <a:off x="5917320" y="5074920"/>
            <a:ext cx="402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 64"/>
          <p:cNvSpPr/>
          <p:nvPr/>
        </p:nvSpPr>
        <p:spPr>
          <a:xfrm>
            <a:off x="6465960" y="530820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137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65"/>
          <p:cNvSpPr/>
          <p:nvPr/>
        </p:nvSpPr>
        <p:spPr>
          <a:xfrm>
            <a:off x="6623280" y="5646240"/>
            <a:ext cx="53496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 66"/>
          <p:cNvSpPr/>
          <p:nvPr/>
        </p:nvSpPr>
        <p:spPr>
          <a:xfrm>
            <a:off x="6465960" y="567396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333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 67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411/999 ÷ 3 = 137/333.  Pattern: /9, /99, /999 … (one 9 per repeating digit).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CASE 4 · A NON-REPEATING START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When Some Digits Don't Repeat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39"/>
          <p:cNvSpPr/>
          <p:nvPr/>
        </p:nvSpPr>
        <p:spPr>
          <a:xfrm>
            <a:off x="567000" y="148140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 40"/>
          <p:cNvSpPr/>
          <p:nvPr/>
        </p:nvSpPr>
        <p:spPr>
          <a:xfrm>
            <a:off x="887040" y="148140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libri"/>
                <a:ea typeface="Calibri"/>
              </a:rPr>
              <a:t>Multiply twice:  </a:t>
            </a:r>
            <a:r>
              <a:rPr b="0" lang="en-US" sz="1450" spc="-1" strike="noStrike">
                <a:solidFill>
                  <a:srgbClr val="edebdd"/>
                </a:solidFill>
                <a:latin typeface="Calibri"/>
                <a:ea typeface="Calibri"/>
              </a:rPr>
              <a:t>once to step past the fixed digits, once more to line up the repeating tail — then subtract.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41"/>
          <p:cNvSpPr/>
          <p:nvPr/>
        </p:nvSpPr>
        <p:spPr>
          <a:xfrm>
            <a:off x="567000" y="2606040"/>
            <a:ext cx="5394600" cy="2742840"/>
          </a:xfrm>
          <a:prstGeom prst="roundRect">
            <a:avLst>
              <a:gd name="adj" fmla="val 2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 42"/>
          <p:cNvSpPr/>
          <p:nvPr/>
        </p:nvSpPr>
        <p:spPr>
          <a:xfrm>
            <a:off x="932760" y="283464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Convert  0.1666…  to a fraction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 43"/>
          <p:cNvSpPr/>
          <p:nvPr/>
        </p:nvSpPr>
        <p:spPr>
          <a:xfrm>
            <a:off x="978480" y="3337560"/>
            <a:ext cx="45716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 </a:t>
            </a: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100x = 16.666…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− </a:t>
            </a: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10x =  1.666…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—————————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  </a:t>
            </a: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90x = 15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44"/>
          <p:cNvSpPr/>
          <p:nvPr/>
        </p:nvSpPr>
        <p:spPr>
          <a:xfrm>
            <a:off x="932760" y="4663440"/>
            <a:ext cx="4663080" cy="548280"/>
          </a:xfrm>
          <a:prstGeom prst="roundRect">
            <a:avLst>
              <a:gd name="adj" fmla="val 11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Text 45"/>
          <p:cNvSpPr/>
          <p:nvPr/>
        </p:nvSpPr>
        <p:spPr>
          <a:xfrm>
            <a:off x="2400840" y="477324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 46"/>
          <p:cNvSpPr/>
          <p:nvPr/>
        </p:nvSpPr>
        <p:spPr>
          <a:xfrm>
            <a:off x="2562120" y="4773240"/>
            <a:ext cx="8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 47"/>
          <p:cNvSpPr/>
          <p:nvPr/>
        </p:nvSpPr>
        <p:spPr>
          <a:xfrm>
            <a:off x="2644200" y="477324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 48"/>
          <p:cNvSpPr/>
          <p:nvPr/>
        </p:nvSpPr>
        <p:spPr>
          <a:xfrm>
            <a:off x="2805480" y="477324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49"/>
          <p:cNvSpPr/>
          <p:nvPr/>
        </p:nvSpPr>
        <p:spPr>
          <a:xfrm>
            <a:off x="2853360" y="4753440"/>
            <a:ext cx="65520" cy="655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 50"/>
          <p:cNvSpPr/>
          <p:nvPr/>
        </p:nvSpPr>
        <p:spPr>
          <a:xfrm>
            <a:off x="3113280" y="4663440"/>
            <a:ext cx="32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=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 51"/>
          <p:cNvSpPr/>
          <p:nvPr/>
        </p:nvSpPr>
        <p:spPr>
          <a:xfrm>
            <a:off x="3588480" y="4599360"/>
            <a:ext cx="539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52"/>
          <p:cNvSpPr/>
          <p:nvPr/>
        </p:nvSpPr>
        <p:spPr>
          <a:xfrm>
            <a:off x="3714120" y="4937760"/>
            <a:ext cx="28800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 53"/>
          <p:cNvSpPr/>
          <p:nvPr/>
        </p:nvSpPr>
        <p:spPr>
          <a:xfrm>
            <a:off x="3588480" y="4965120"/>
            <a:ext cx="539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54"/>
          <p:cNvSpPr/>
          <p:nvPr/>
        </p:nvSpPr>
        <p:spPr>
          <a:xfrm>
            <a:off x="6236280" y="2606040"/>
            <a:ext cx="5394600" cy="2742840"/>
          </a:xfrm>
          <a:prstGeom prst="roundRect">
            <a:avLst>
              <a:gd name="adj" fmla="val 200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 55"/>
          <p:cNvSpPr/>
          <p:nvPr/>
        </p:nvSpPr>
        <p:spPr>
          <a:xfrm>
            <a:off x="6602040" y="283464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Convert  0.41616…  to a fraction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 56"/>
          <p:cNvSpPr/>
          <p:nvPr/>
        </p:nvSpPr>
        <p:spPr>
          <a:xfrm>
            <a:off x="6647760" y="3337560"/>
            <a:ext cx="45716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1000x = 416.16…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− </a:t>
            </a: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10x =   4.16…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—————————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 </a:t>
            </a:r>
            <a:r>
              <a:rPr b="0" lang="en-US" sz="1550" spc="-1" strike="noStrike">
                <a:solidFill>
                  <a:srgbClr val="1c2a22"/>
                </a:solidFill>
                <a:latin typeface="Courier New"/>
                <a:ea typeface="Courier New"/>
              </a:rPr>
              <a:t>990x = 412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57"/>
          <p:cNvSpPr/>
          <p:nvPr/>
        </p:nvSpPr>
        <p:spPr>
          <a:xfrm>
            <a:off x="6602040" y="4663440"/>
            <a:ext cx="4663080" cy="548280"/>
          </a:xfrm>
          <a:prstGeom prst="roundRect">
            <a:avLst>
              <a:gd name="adj" fmla="val 11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Text 58"/>
          <p:cNvSpPr/>
          <p:nvPr/>
        </p:nvSpPr>
        <p:spPr>
          <a:xfrm>
            <a:off x="7833960" y="477324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 59"/>
          <p:cNvSpPr/>
          <p:nvPr/>
        </p:nvSpPr>
        <p:spPr>
          <a:xfrm>
            <a:off x="7995240" y="4773240"/>
            <a:ext cx="8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 60"/>
          <p:cNvSpPr/>
          <p:nvPr/>
        </p:nvSpPr>
        <p:spPr>
          <a:xfrm>
            <a:off x="8077320" y="477324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 61"/>
          <p:cNvSpPr/>
          <p:nvPr/>
        </p:nvSpPr>
        <p:spPr>
          <a:xfrm>
            <a:off x="8238600" y="477324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62"/>
          <p:cNvSpPr/>
          <p:nvPr/>
        </p:nvSpPr>
        <p:spPr>
          <a:xfrm>
            <a:off x="8286480" y="4753440"/>
            <a:ext cx="65520" cy="655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 63"/>
          <p:cNvSpPr/>
          <p:nvPr/>
        </p:nvSpPr>
        <p:spPr>
          <a:xfrm>
            <a:off x="8399880" y="4773240"/>
            <a:ext cx="1609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64"/>
          <p:cNvSpPr/>
          <p:nvPr/>
        </p:nvSpPr>
        <p:spPr>
          <a:xfrm>
            <a:off x="8447760" y="4753440"/>
            <a:ext cx="65520" cy="655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" bIns="1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 65"/>
          <p:cNvSpPr/>
          <p:nvPr/>
        </p:nvSpPr>
        <p:spPr>
          <a:xfrm>
            <a:off x="8707680" y="4663440"/>
            <a:ext cx="32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=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 66"/>
          <p:cNvSpPr/>
          <p:nvPr/>
        </p:nvSpPr>
        <p:spPr>
          <a:xfrm>
            <a:off x="9183240" y="459936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206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67"/>
          <p:cNvSpPr/>
          <p:nvPr/>
        </p:nvSpPr>
        <p:spPr>
          <a:xfrm>
            <a:off x="9340560" y="4937760"/>
            <a:ext cx="53496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68"/>
          <p:cNvSpPr/>
          <p:nvPr/>
        </p:nvSpPr>
        <p:spPr>
          <a:xfrm>
            <a:off x="9183240" y="496512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495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 69"/>
          <p:cNvSpPr/>
          <p:nvPr/>
        </p:nvSpPr>
        <p:spPr>
          <a:xfrm>
            <a:off x="567000" y="553212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5c6b60"/>
                </a:solidFill>
                <a:latin typeface="Calibri"/>
                <a:ea typeface="Calibri"/>
              </a:rPr>
              <a:t>The two multipliers differ by the length of the repeating block; subtracting removes the tail exactly.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CASE 5 · PROOF &amp; WHOLE NUMBERS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Showing a Decimal Equals a Fraction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39"/>
          <p:cNvSpPr/>
          <p:nvPr/>
        </p:nvSpPr>
        <p:spPr>
          <a:xfrm>
            <a:off x="567000" y="1600200"/>
            <a:ext cx="5394600" cy="3382920"/>
          </a:xfrm>
          <a:prstGeom prst="roundRect">
            <a:avLst>
              <a:gd name="adj" fmla="val 162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 40"/>
          <p:cNvSpPr/>
          <p:nvPr/>
        </p:nvSpPr>
        <p:spPr>
          <a:xfrm>
            <a:off x="932760" y="185616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c84f2f"/>
                </a:solidFill>
                <a:latin typeface="Cambria"/>
                <a:ea typeface="Cambria"/>
              </a:rPr>
              <a:t>Prove that  0.2323…  =  23/99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 41"/>
          <p:cNvSpPr/>
          <p:nvPr/>
        </p:nvSpPr>
        <p:spPr>
          <a:xfrm>
            <a:off x="978480" y="2468880"/>
            <a:ext cx="45716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Let  x = 0.2323…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100x = 23.2323…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100x − x = 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99x = 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x = 23/99    ∎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42"/>
          <p:cNvSpPr/>
          <p:nvPr/>
        </p:nvSpPr>
        <p:spPr>
          <a:xfrm>
            <a:off x="6236280" y="1600200"/>
            <a:ext cx="5394600" cy="3382920"/>
          </a:xfrm>
          <a:prstGeom prst="roundRect">
            <a:avLst>
              <a:gd name="adj" fmla="val 162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 43"/>
          <p:cNvSpPr/>
          <p:nvPr/>
        </p:nvSpPr>
        <p:spPr>
          <a:xfrm>
            <a:off x="6602040" y="185616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c84f2f"/>
                </a:solidFill>
                <a:latin typeface="Cambria"/>
                <a:ea typeface="Cambria"/>
              </a:rPr>
              <a:t>Convert  2.4545…  to a fraction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 44"/>
          <p:cNvSpPr/>
          <p:nvPr/>
        </p:nvSpPr>
        <p:spPr>
          <a:xfrm>
            <a:off x="6647760" y="2468880"/>
            <a:ext cx="45716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Let  x = 2.4545…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100x = 245.4545…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100x − x = 243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99x = 243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ourier New"/>
                <a:ea typeface="Courier New"/>
              </a:rPr>
              <a:t>x = 243/99 = 27/11    ∎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45"/>
          <p:cNvSpPr/>
          <p:nvPr/>
        </p:nvSpPr>
        <p:spPr>
          <a:xfrm>
            <a:off x="567000" y="521208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46"/>
          <p:cNvSpPr/>
          <p:nvPr/>
        </p:nvSpPr>
        <p:spPr>
          <a:xfrm>
            <a:off x="887040" y="521208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libri"/>
                <a:ea typeface="Calibri"/>
              </a:rPr>
              <a:t>Keep the whole number in — don’t split it off. 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The same multiply-and-subtract method works and gives an improper fraction (here 27/11).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CASE 6 · A WHOLE-NUMBER PART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Convert  1.373737…  to a fraction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40"/>
          <p:cNvSpPr/>
          <p:nvPr/>
        </p:nvSpPr>
        <p:spPr>
          <a:xfrm>
            <a:off x="868680" y="18745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Text 41"/>
          <p:cNvSpPr/>
          <p:nvPr/>
        </p:nvSpPr>
        <p:spPr>
          <a:xfrm>
            <a:off x="868680" y="1874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 42"/>
          <p:cNvSpPr/>
          <p:nvPr/>
        </p:nvSpPr>
        <p:spPr>
          <a:xfrm>
            <a:off x="1362600" y="18378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Let  </a:t>
            </a: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x = 1.373737…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43"/>
          <p:cNvSpPr/>
          <p:nvPr/>
        </p:nvSpPr>
        <p:spPr>
          <a:xfrm>
            <a:off x="868680" y="2587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 44"/>
          <p:cNvSpPr/>
          <p:nvPr/>
        </p:nvSpPr>
        <p:spPr>
          <a:xfrm>
            <a:off x="868680" y="2587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Text 45"/>
          <p:cNvSpPr/>
          <p:nvPr/>
        </p:nvSpPr>
        <p:spPr>
          <a:xfrm>
            <a:off x="1362600" y="255132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Two repeating digits → multiply by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100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46"/>
          <p:cNvSpPr/>
          <p:nvPr/>
        </p:nvSpPr>
        <p:spPr>
          <a:xfrm>
            <a:off x="868680" y="330084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 47"/>
          <p:cNvSpPr/>
          <p:nvPr/>
        </p:nvSpPr>
        <p:spPr>
          <a:xfrm>
            <a:off x="868680" y="33008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 48"/>
          <p:cNvSpPr/>
          <p:nvPr/>
        </p:nvSpPr>
        <p:spPr>
          <a:xfrm>
            <a:off x="1362600" y="3264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100x = 137.3737…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49"/>
          <p:cNvSpPr/>
          <p:nvPr/>
        </p:nvSpPr>
        <p:spPr>
          <a:xfrm>
            <a:off x="868680" y="40143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 50"/>
          <p:cNvSpPr/>
          <p:nvPr/>
        </p:nvSpPr>
        <p:spPr>
          <a:xfrm>
            <a:off x="868680" y="4014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 51"/>
          <p:cNvSpPr/>
          <p:nvPr/>
        </p:nvSpPr>
        <p:spPr>
          <a:xfrm>
            <a:off x="1362600" y="39776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Subtract: 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99x = 136</a:t>
            </a: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  (the 1 stays in)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52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 53"/>
          <p:cNvSpPr/>
          <p:nvPr/>
        </p:nvSpPr>
        <p:spPr>
          <a:xfrm>
            <a:off x="7178040" y="175572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Line up and subtract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 54"/>
          <p:cNvSpPr/>
          <p:nvPr/>
        </p:nvSpPr>
        <p:spPr>
          <a:xfrm>
            <a:off x="726948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100x = 137.3737…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− 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x =   1.3737…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——————————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99x = 136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55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Text 56"/>
          <p:cNvSpPr/>
          <p:nvPr/>
        </p:nvSpPr>
        <p:spPr>
          <a:xfrm>
            <a:off x="498024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 57"/>
          <p:cNvSpPr/>
          <p:nvPr/>
        </p:nvSpPr>
        <p:spPr>
          <a:xfrm>
            <a:off x="5177520" y="544536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Text 58"/>
          <p:cNvSpPr/>
          <p:nvPr/>
        </p:nvSpPr>
        <p:spPr>
          <a:xfrm>
            <a:off x="527796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59"/>
          <p:cNvSpPr/>
          <p:nvPr/>
        </p:nvSpPr>
        <p:spPr>
          <a:xfrm>
            <a:off x="533628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 60"/>
          <p:cNvSpPr/>
          <p:nvPr/>
        </p:nvSpPr>
        <p:spPr>
          <a:xfrm>
            <a:off x="547524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7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61"/>
          <p:cNvSpPr/>
          <p:nvPr/>
        </p:nvSpPr>
        <p:spPr>
          <a:xfrm>
            <a:off x="553356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Text 62"/>
          <p:cNvSpPr/>
          <p:nvPr/>
        </p:nvSpPr>
        <p:spPr>
          <a:xfrm>
            <a:off x="5818680" y="5074920"/>
            <a:ext cx="402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Text 63"/>
          <p:cNvSpPr/>
          <p:nvPr/>
        </p:nvSpPr>
        <p:spPr>
          <a:xfrm>
            <a:off x="6367320" y="530820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136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64"/>
          <p:cNvSpPr/>
          <p:nvPr/>
        </p:nvSpPr>
        <p:spPr>
          <a:xfrm>
            <a:off x="6525000" y="5646240"/>
            <a:ext cx="53496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 65"/>
          <p:cNvSpPr/>
          <p:nvPr/>
        </p:nvSpPr>
        <p:spPr>
          <a:xfrm>
            <a:off x="6367320" y="567396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99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 66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Don’t split off the whole number — the same method gives an improper fraction.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CASE 6 · WHOLE PART + FIXED START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Convert  2.9135135…  to a fraction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40"/>
          <p:cNvSpPr/>
          <p:nvPr/>
        </p:nvSpPr>
        <p:spPr>
          <a:xfrm>
            <a:off x="868680" y="18745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ext 41"/>
          <p:cNvSpPr/>
          <p:nvPr/>
        </p:nvSpPr>
        <p:spPr>
          <a:xfrm>
            <a:off x="868680" y="1874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Text 42"/>
          <p:cNvSpPr/>
          <p:nvPr/>
        </p:nvSpPr>
        <p:spPr>
          <a:xfrm>
            <a:off x="1362600" y="18378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Let  </a:t>
            </a:r>
            <a:r>
              <a:rPr b="1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x = 2.9135135…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43"/>
          <p:cNvSpPr/>
          <p:nvPr/>
        </p:nvSpPr>
        <p:spPr>
          <a:xfrm>
            <a:off x="868680" y="2587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Text 44"/>
          <p:cNvSpPr/>
          <p:nvPr/>
        </p:nvSpPr>
        <p:spPr>
          <a:xfrm>
            <a:off x="868680" y="2587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 45"/>
          <p:cNvSpPr/>
          <p:nvPr/>
        </p:nvSpPr>
        <p:spPr>
          <a:xfrm>
            <a:off x="1362600" y="255132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Block 135 repeats (3 digits) → multiply by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1000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46"/>
          <p:cNvSpPr/>
          <p:nvPr/>
        </p:nvSpPr>
        <p:spPr>
          <a:xfrm>
            <a:off x="868680" y="330084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 47"/>
          <p:cNvSpPr/>
          <p:nvPr/>
        </p:nvSpPr>
        <p:spPr>
          <a:xfrm>
            <a:off x="868680" y="33008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ext 48"/>
          <p:cNvSpPr/>
          <p:nvPr/>
        </p:nvSpPr>
        <p:spPr>
          <a:xfrm>
            <a:off x="1362600" y="3264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1000x = 2913.5135…,  then subtract x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49"/>
          <p:cNvSpPr/>
          <p:nvPr/>
        </p:nvSpPr>
        <p:spPr>
          <a:xfrm>
            <a:off x="868680" y="40143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 50"/>
          <p:cNvSpPr/>
          <p:nvPr/>
        </p:nvSpPr>
        <p:spPr>
          <a:xfrm>
            <a:off x="868680" y="4014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 51"/>
          <p:cNvSpPr/>
          <p:nvPr/>
        </p:nvSpPr>
        <p:spPr>
          <a:xfrm>
            <a:off x="1362600" y="39776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libri"/>
                <a:ea typeface="Calibri"/>
              </a:rPr>
              <a:t>999x = 2910.6  →  ×10:  </a:t>
            </a:r>
            <a:r>
              <a:rPr b="1" lang="en-US" sz="1450" spc="-1" strike="noStrike">
                <a:solidFill>
                  <a:srgbClr val="c84f2f"/>
                </a:solidFill>
                <a:latin typeface="Calibri"/>
                <a:ea typeface="Calibri"/>
              </a:rPr>
              <a:t>9990x = 29106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52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 53"/>
          <p:cNvSpPr/>
          <p:nvPr/>
        </p:nvSpPr>
        <p:spPr>
          <a:xfrm>
            <a:off x="7178040" y="175572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Line up and subtract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 54"/>
          <p:cNvSpPr/>
          <p:nvPr/>
        </p:nvSpPr>
        <p:spPr>
          <a:xfrm>
            <a:off x="726948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1000x = 2913.5135…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−   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x =    2.9135…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——————————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c2a22"/>
                </a:solidFill>
                <a:latin typeface="Courier New"/>
                <a:ea typeface="Courier New"/>
              </a:rPr>
              <a:t>999x = 2910.6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55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Text 56"/>
          <p:cNvSpPr/>
          <p:nvPr/>
        </p:nvSpPr>
        <p:spPr>
          <a:xfrm>
            <a:off x="478332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 57"/>
          <p:cNvSpPr/>
          <p:nvPr/>
        </p:nvSpPr>
        <p:spPr>
          <a:xfrm>
            <a:off x="4980240" y="544536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 58"/>
          <p:cNvSpPr/>
          <p:nvPr/>
        </p:nvSpPr>
        <p:spPr>
          <a:xfrm>
            <a:off x="508104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9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 59"/>
          <p:cNvSpPr/>
          <p:nvPr/>
        </p:nvSpPr>
        <p:spPr>
          <a:xfrm>
            <a:off x="527796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60"/>
          <p:cNvSpPr/>
          <p:nvPr/>
        </p:nvSpPr>
        <p:spPr>
          <a:xfrm>
            <a:off x="533628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ext 61"/>
          <p:cNvSpPr/>
          <p:nvPr/>
        </p:nvSpPr>
        <p:spPr>
          <a:xfrm>
            <a:off x="547524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Text 62"/>
          <p:cNvSpPr/>
          <p:nvPr/>
        </p:nvSpPr>
        <p:spPr>
          <a:xfrm>
            <a:off x="5672520" y="544536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63"/>
          <p:cNvSpPr/>
          <p:nvPr/>
        </p:nvSpPr>
        <p:spPr>
          <a:xfrm>
            <a:off x="5730840" y="5421240"/>
            <a:ext cx="80280" cy="80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 64"/>
          <p:cNvSpPr/>
          <p:nvPr/>
        </p:nvSpPr>
        <p:spPr>
          <a:xfrm>
            <a:off x="6015960" y="5074920"/>
            <a:ext cx="402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 65"/>
          <p:cNvSpPr/>
          <p:nvPr/>
        </p:nvSpPr>
        <p:spPr>
          <a:xfrm>
            <a:off x="6564600" y="530820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539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66"/>
          <p:cNvSpPr/>
          <p:nvPr/>
        </p:nvSpPr>
        <p:spPr>
          <a:xfrm>
            <a:off x="6721920" y="5646240"/>
            <a:ext cx="53496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ext 67"/>
          <p:cNvSpPr/>
          <p:nvPr/>
        </p:nvSpPr>
        <p:spPr>
          <a:xfrm>
            <a:off x="6564600" y="567396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185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ext 68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Multiply by 1000, subtract x, clear the .6 by ×10, then simplify (÷54).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PART 6 · EXAM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Exam-Style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39"/>
          <p:cNvSpPr/>
          <p:nvPr/>
        </p:nvSpPr>
        <p:spPr>
          <a:xfrm>
            <a:off x="567000" y="1572840"/>
            <a:ext cx="11063880" cy="712800"/>
          </a:xfrm>
          <a:prstGeom prst="roundRect">
            <a:avLst>
              <a:gd name="adj" fmla="val 641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40"/>
          <p:cNvSpPr/>
          <p:nvPr/>
        </p:nvSpPr>
        <p:spPr>
          <a:xfrm>
            <a:off x="841320" y="171900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 41"/>
          <p:cNvSpPr/>
          <p:nvPr/>
        </p:nvSpPr>
        <p:spPr>
          <a:xfrm>
            <a:off x="841320" y="1719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 42"/>
          <p:cNvSpPr/>
          <p:nvPr/>
        </p:nvSpPr>
        <p:spPr>
          <a:xfrm>
            <a:off x="1463040" y="1572840"/>
            <a:ext cx="9143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Express the recurring decimal  0.4545…  as a fraction in its simplest form.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Text 43"/>
          <p:cNvSpPr/>
          <p:nvPr/>
        </p:nvSpPr>
        <p:spPr>
          <a:xfrm>
            <a:off x="10607040" y="1572840"/>
            <a:ext cx="822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[2]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44"/>
          <p:cNvSpPr/>
          <p:nvPr/>
        </p:nvSpPr>
        <p:spPr>
          <a:xfrm>
            <a:off x="567000" y="2432160"/>
            <a:ext cx="11063880" cy="712800"/>
          </a:xfrm>
          <a:prstGeom prst="roundRect">
            <a:avLst>
              <a:gd name="adj" fmla="val 641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45"/>
          <p:cNvSpPr/>
          <p:nvPr/>
        </p:nvSpPr>
        <p:spPr>
          <a:xfrm>
            <a:off x="841320" y="257868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Text 46"/>
          <p:cNvSpPr/>
          <p:nvPr/>
        </p:nvSpPr>
        <p:spPr>
          <a:xfrm>
            <a:off x="841320" y="25786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 47"/>
          <p:cNvSpPr/>
          <p:nvPr/>
        </p:nvSpPr>
        <p:spPr>
          <a:xfrm>
            <a:off x="1463040" y="2432160"/>
            <a:ext cx="9143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Prove that  0.1818…  =  2/11.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 48"/>
          <p:cNvSpPr/>
          <p:nvPr/>
        </p:nvSpPr>
        <p:spPr>
          <a:xfrm>
            <a:off x="10607040" y="2432160"/>
            <a:ext cx="822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[2]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49"/>
          <p:cNvSpPr/>
          <p:nvPr/>
        </p:nvSpPr>
        <p:spPr>
          <a:xfrm>
            <a:off x="567000" y="3291840"/>
            <a:ext cx="11063880" cy="712800"/>
          </a:xfrm>
          <a:prstGeom prst="roundRect">
            <a:avLst>
              <a:gd name="adj" fmla="val 641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50"/>
          <p:cNvSpPr/>
          <p:nvPr/>
        </p:nvSpPr>
        <p:spPr>
          <a:xfrm>
            <a:off x="841320" y="343800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 51"/>
          <p:cNvSpPr/>
          <p:nvPr/>
        </p:nvSpPr>
        <p:spPr>
          <a:xfrm>
            <a:off x="841320" y="3438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 52"/>
          <p:cNvSpPr/>
          <p:nvPr/>
        </p:nvSpPr>
        <p:spPr>
          <a:xfrm>
            <a:off x="1463040" y="3291840"/>
            <a:ext cx="9143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Write  0.8333…  as a fraction in its simplest form.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 53"/>
          <p:cNvSpPr/>
          <p:nvPr/>
        </p:nvSpPr>
        <p:spPr>
          <a:xfrm>
            <a:off x="10607040" y="3291840"/>
            <a:ext cx="822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54"/>
          <p:cNvSpPr/>
          <p:nvPr/>
        </p:nvSpPr>
        <p:spPr>
          <a:xfrm>
            <a:off x="567000" y="4151520"/>
            <a:ext cx="11063880" cy="712800"/>
          </a:xfrm>
          <a:prstGeom prst="roundRect">
            <a:avLst>
              <a:gd name="adj" fmla="val 641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55"/>
          <p:cNvSpPr/>
          <p:nvPr/>
        </p:nvSpPr>
        <p:spPr>
          <a:xfrm>
            <a:off x="841320" y="429768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 56"/>
          <p:cNvSpPr/>
          <p:nvPr/>
        </p:nvSpPr>
        <p:spPr>
          <a:xfrm>
            <a:off x="841320" y="42976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Text 57"/>
          <p:cNvSpPr/>
          <p:nvPr/>
        </p:nvSpPr>
        <p:spPr>
          <a:xfrm>
            <a:off x="1463040" y="4151520"/>
            <a:ext cx="9143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Show that  0.04545…  =  1/22.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 58"/>
          <p:cNvSpPr/>
          <p:nvPr/>
        </p:nvSpPr>
        <p:spPr>
          <a:xfrm>
            <a:off x="10607040" y="4151520"/>
            <a:ext cx="822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59"/>
          <p:cNvSpPr/>
          <p:nvPr/>
        </p:nvSpPr>
        <p:spPr>
          <a:xfrm>
            <a:off x="567000" y="5010840"/>
            <a:ext cx="11063880" cy="712800"/>
          </a:xfrm>
          <a:prstGeom prst="roundRect">
            <a:avLst>
              <a:gd name="adj" fmla="val 641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60"/>
          <p:cNvSpPr/>
          <p:nvPr/>
        </p:nvSpPr>
        <p:spPr>
          <a:xfrm>
            <a:off x="841320" y="515736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Text 61"/>
          <p:cNvSpPr/>
          <p:nvPr/>
        </p:nvSpPr>
        <p:spPr>
          <a:xfrm>
            <a:off x="841320" y="51573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Text 62"/>
          <p:cNvSpPr/>
          <p:nvPr/>
        </p:nvSpPr>
        <p:spPr>
          <a:xfrm>
            <a:off x="1463040" y="5010840"/>
            <a:ext cx="9143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Convert  2.9135135…  (the block 135 repeats) to a fraction.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 63"/>
          <p:cNvSpPr/>
          <p:nvPr/>
        </p:nvSpPr>
        <p:spPr>
          <a:xfrm>
            <a:off x="10607040" y="5010840"/>
            <a:ext cx="822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64"/>
          <p:cNvSpPr/>
          <p:nvPr/>
        </p:nvSpPr>
        <p:spPr>
          <a:xfrm>
            <a:off x="567000" y="6199560"/>
            <a:ext cx="11063880" cy="4568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 65"/>
          <p:cNvSpPr/>
          <p:nvPr/>
        </p:nvSpPr>
        <p:spPr>
          <a:xfrm>
            <a:off x="822960" y="619956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Answers: 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1)  5/11      2)  proof      3)  5/6      4)  proof      5)  539/185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a22"/>
                </a:solidFill>
                <a:latin typeface="Cambria"/>
                <a:ea typeface="Cambria"/>
              </a:rPr>
              <a:t>Whole-Number Recurring Decimals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39"/>
          <p:cNvSpPr/>
          <p:nvPr/>
        </p:nvSpPr>
        <p:spPr>
          <a:xfrm>
            <a:off x="567000" y="148140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Text 40"/>
          <p:cNvSpPr/>
          <p:nvPr/>
        </p:nvSpPr>
        <p:spPr>
          <a:xfrm>
            <a:off x="887040" y="148140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Same method — keep the whole number in, multiply, subtract, simplify.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41"/>
          <p:cNvSpPr/>
          <p:nvPr/>
        </p:nvSpPr>
        <p:spPr>
          <a:xfrm>
            <a:off x="567000" y="2286000"/>
            <a:ext cx="11063880" cy="658080"/>
          </a:xfrm>
          <a:prstGeom prst="roundRect">
            <a:avLst>
              <a:gd name="adj" fmla="val 694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42"/>
          <p:cNvSpPr/>
          <p:nvPr/>
        </p:nvSpPr>
        <p:spPr>
          <a:xfrm>
            <a:off x="841320" y="2414160"/>
            <a:ext cx="402120" cy="402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Text 43"/>
          <p:cNvSpPr/>
          <p:nvPr/>
        </p:nvSpPr>
        <p:spPr>
          <a:xfrm>
            <a:off x="841320" y="241416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 44"/>
          <p:cNvSpPr/>
          <p:nvPr/>
        </p:nvSpPr>
        <p:spPr>
          <a:xfrm>
            <a:off x="1463040" y="2286000"/>
            <a:ext cx="9143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Convert  1.3333…  to a fraction.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 45"/>
          <p:cNvSpPr/>
          <p:nvPr/>
        </p:nvSpPr>
        <p:spPr>
          <a:xfrm>
            <a:off x="10607040" y="228600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[2]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46"/>
          <p:cNvSpPr/>
          <p:nvPr/>
        </p:nvSpPr>
        <p:spPr>
          <a:xfrm>
            <a:off x="567000" y="3072240"/>
            <a:ext cx="11063880" cy="658080"/>
          </a:xfrm>
          <a:prstGeom prst="roundRect">
            <a:avLst>
              <a:gd name="adj" fmla="val 694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47"/>
          <p:cNvSpPr/>
          <p:nvPr/>
        </p:nvSpPr>
        <p:spPr>
          <a:xfrm>
            <a:off x="841320" y="3200400"/>
            <a:ext cx="402120" cy="402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" name="Text 48"/>
          <p:cNvSpPr/>
          <p:nvPr/>
        </p:nvSpPr>
        <p:spPr>
          <a:xfrm>
            <a:off x="841320" y="32004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Text 49"/>
          <p:cNvSpPr/>
          <p:nvPr/>
        </p:nvSpPr>
        <p:spPr>
          <a:xfrm>
            <a:off x="1463040" y="3072240"/>
            <a:ext cx="9143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Convert  1.373737…  to a fraction.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Text 50"/>
          <p:cNvSpPr/>
          <p:nvPr/>
        </p:nvSpPr>
        <p:spPr>
          <a:xfrm>
            <a:off x="10607040" y="307224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51"/>
          <p:cNvSpPr/>
          <p:nvPr/>
        </p:nvSpPr>
        <p:spPr>
          <a:xfrm>
            <a:off x="567000" y="3858840"/>
            <a:ext cx="11063880" cy="658080"/>
          </a:xfrm>
          <a:prstGeom prst="roundRect">
            <a:avLst>
              <a:gd name="adj" fmla="val 694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52"/>
          <p:cNvSpPr/>
          <p:nvPr/>
        </p:nvSpPr>
        <p:spPr>
          <a:xfrm>
            <a:off x="841320" y="3986640"/>
            <a:ext cx="402120" cy="402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 53"/>
          <p:cNvSpPr/>
          <p:nvPr/>
        </p:nvSpPr>
        <p:spPr>
          <a:xfrm>
            <a:off x="841320" y="398664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 54"/>
          <p:cNvSpPr/>
          <p:nvPr/>
        </p:nvSpPr>
        <p:spPr>
          <a:xfrm>
            <a:off x="1463040" y="3858840"/>
            <a:ext cx="9143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Convert  2.5666…  (the 6 repeats) to a fraction.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 55"/>
          <p:cNvSpPr/>
          <p:nvPr/>
        </p:nvSpPr>
        <p:spPr>
          <a:xfrm>
            <a:off x="10607040" y="385884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56"/>
          <p:cNvSpPr/>
          <p:nvPr/>
        </p:nvSpPr>
        <p:spPr>
          <a:xfrm>
            <a:off x="567000" y="4645080"/>
            <a:ext cx="11063880" cy="658080"/>
          </a:xfrm>
          <a:prstGeom prst="roundRect">
            <a:avLst>
              <a:gd name="adj" fmla="val 694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57"/>
          <p:cNvSpPr/>
          <p:nvPr/>
        </p:nvSpPr>
        <p:spPr>
          <a:xfrm>
            <a:off x="841320" y="4773240"/>
            <a:ext cx="402120" cy="402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Text 58"/>
          <p:cNvSpPr/>
          <p:nvPr/>
        </p:nvSpPr>
        <p:spPr>
          <a:xfrm>
            <a:off x="841320" y="477324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 59"/>
          <p:cNvSpPr/>
          <p:nvPr/>
        </p:nvSpPr>
        <p:spPr>
          <a:xfrm>
            <a:off x="1463040" y="4645080"/>
            <a:ext cx="9143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Convert  3.1818…  to a fraction.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 60"/>
          <p:cNvSpPr/>
          <p:nvPr/>
        </p:nvSpPr>
        <p:spPr>
          <a:xfrm>
            <a:off x="10607040" y="464508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61"/>
          <p:cNvSpPr/>
          <p:nvPr/>
        </p:nvSpPr>
        <p:spPr>
          <a:xfrm>
            <a:off x="567000" y="5431680"/>
            <a:ext cx="11063880" cy="658080"/>
          </a:xfrm>
          <a:prstGeom prst="roundRect">
            <a:avLst>
              <a:gd name="adj" fmla="val 694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62"/>
          <p:cNvSpPr/>
          <p:nvPr/>
        </p:nvSpPr>
        <p:spPr>
          <a:xfrm>
            <a:off x="841320" y="5559480"/>
            <a:ext cx="402120" cy="402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 63"/>
          <p:cNvSpPr/>
          <p:nvPr/>
        </p:nvSpPr>
        <p:spPr>
          <a:xfrm>
            <a:off x="841320" y="555948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 64"/>
          <p:cNvSpPr/>
          <p:nvPr/>
        </p:nvSpPr>
        <p:spPr>
          <a:xfrm>
            <a:off x="1463040" y="5431680"/>
            <a:ext cx="9143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Convert  2.9135135…  (block 135 repeats) to a fraction.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 65"/>
          <p:cNvSpPr/>
          <p:nvPr/>
        </p:nvSpPr>
        <p:spPr>
          <a:xfrm>
            <a:off x="10607040" y="543168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66"/>
          <p:cNvSpPr/>
          <p:nvPr/>
        </p:nvSpPr>
        <p:spPr>
          <a:xfrm>
            <a:off x="567000" y="6172200"/>
            <a:ext cx="11063880" cy="4568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Text 67"/>
          <p:cNvSpPr/>
          <p:nvPr/>
        </p:nvSpPr>
        <p:spPr>
          <a:xfrm>
            <a:off x="822960" y="617220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Answers: 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1)  4/3      2)  136/99      3)  77/30      4)  35/11      5)  539/185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9" name="Text 38"/>
          <p:cNvSpPr/>
          <p:nvPr/>
        </p:nvSpPr>
        <p:spPr>
          <a:xfrm>
            <a:off x="777240" y="141732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Shape 39"/>
          <p:cNvSpPr/>
          <p:nvPr/>
        </p:nvSpPr>
        <p:spPr>
          <a:xfrm>
            <a:off x="868680" y="241416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1" name="Text 40"/>
          <p:cNvSpPr/>
          <p:nvPr/>
        </p:nvSpPr>
        <p:spPr>
          <a:xfrm>
            <a:off x="1234440" y="237744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debdd"/>
                </a:solidFill>
                <a:latin typeface="Calibri"/>
                <a:ea typeface="Calibri"/>
              </a:rPr>
              <a:t>Dot notation: a dot marks a repeating digit; dots on the first &amp; last digit mark a repeating block.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Shape 41"/>
          <p:cNvSpPr/>
          <p:nvPr/>
        </p:nvSpPr>
        <p:spPr>
          <a:xfrm>
            <a:off x="868680" y="298080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3" name="Text 42"/>
          <p:cNvSpPr/>
          <p:nvPr/>
        </p:nvSpPr>
        <p:spPr>
          <a:xfrm>
            <a:off x="1234440" y="294444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debdd"/>
                </a:solidFill>
                <a:latin typeface="Calibri"/>
                <a:ea typeface="Calibri"/>
              </a:rPr>
              <a:t>Test for recurring: simplify first — a denominator of only 2s and 5s terminates; any other prime recurs.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4" name="Shape 43"/>
          <p:cNvSpPr/>
          <p:nvPr/>
        </p:nvSpPr>
        <p:spPr>
          <a:xfrm>
            <a:off x="868680" y="354780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5" name="Text 44"/>
          <p:cNvSpPr/>
          <p:nvPr/>
        </p:nvSpPr>
        <p:spPr>
          <a:xfrm>
            <a:off x="1234440" y="351144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debdd"/>
                </a:solidFill>
                <a:latin typeface="Calibri"/>
                <a:ea typeface="Calibri"/>
              </a:rPr>
              <a:t>Method: let x = the decimal, multiply by 10ⁿ to line up the tail, subtract, then simplify.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Shape 45"/>
          <p:cNvSpPr/>
          <p:nvPr/>
        </p:nvSpPr>
        <p:spPr>
          <a:xfrm>
            <a:off x="868680" y="411480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7" name="Text 46"/>
          <p:cNvSpPr/>
          <p:nvPr/>
        </p:nvSpPr>
        <p:spPr>
          <a:xfrm>
            <a:off x="1234440" y="407808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debdd"/>
                </a:solidFill>
                <a:latin typeface="Calibri"/>
                <a:ea typeface="Calibri"/>
              </a:rPr>
              <a:t>Non-repeating start: multiply twice so only the repeating tails line up before subtracting.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Shape 47"/>
          <p:cNvSpPr/>
          <p:nvPr/>
        </p:nvSpPr>
        <p:spPr>
          <a:xfrm>
            <a:off x="868680" y="468180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Text 48"/>
          <p:cNvSpPr/>
          <p:nvPr/>
        </p:nvSpPr>
        <p:spPr>
          <a:xfrm>
            <a:off x="1234440" y="464508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debdd"/>
                </a:solidFill>
                <a:latin typeface="Calibri"/>
                <a:ea typeface="Calibri"/>
              </a:rPr>
              <a:t>In ‘prove that’ questions, show every line of working.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Text 50"/>
          <p:cNvSpPr/>
          <p:nvPr/>
        </p:nvSpPr>
        <p:spPr>
          <a:xfrm>
            <a:off x="1097280" y="55321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148" strike="noStrike">
                <a:solidFill>
                  <a:srgbClr val="e0ac2b"/>
                </a:solidFill>
                <a:latin typeface="Calibri"/>
                <a:ea typeface="Calibri"/>
              </a:rPr>
              <a:t>Quick patterns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Text 51"/>
          <p:cNvSpPr/>
          <p:nvPr/>
        </p:nvSpPr>
        <p:spPr>
          <a:xfrm>
            <a:off x="184500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0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 52"/>
          <p:cNvSpPr/>
          <p:nvPr/>
        </p:nvSpPr>
        <p:spPr>
          <a:xfrm>
            <a:off x="2042280" y="594360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 53"/>
          <p:cNvSpPr/>
          <p:nvPr/>
        </p:nvSpPr>
        <p:spPr>
          <a:xfrm>
            <a:off x="214272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a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Shape 54"/>
          <p:cNvSpPr/>
          <p:nvPr/>
        </p:nvSpPr>
        <p:spPr>
          <a:xfrm>
            <a:off x="2201040" y="5919480"/>
            <a:ext cx="80280" cy="80280"/>
          </a:xfrm>
          <a:prstGeom prst="ellipse">
            <a:avLst/>
          </a:prstGeom>
          <a:solidFill>
            <a:srgbClr val="edeb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Text 55"/>
          <p:cNvSpPr/>
          <p:nvPr/>
        </p:nvSpPr>
        <p:spPr>
          <a:xfrm>
            <a:off x="2449440" y="5852160"/>
            <a:ext cx="402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Text 56"/>
          <p:cNvSpPr/>
          <p:nvPr/>
        </p:nvSpPr>
        <p:spPr>
          <a:xfrm>
            <a:off x="2961720" y="5733360"/>
            <a:ext cx="282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a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Shape 57"/>
          <p:cNvSpPr/>
          <p:nvPr/>
        </p:nvSpPr>
        <p:spPr>
          <a:xfrm>
            <a:off x="2961360" y="6071400"/>
            <a:ext cx="28368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Text 58"/>
          <p:cNvSpPr/>
          <p:nvPr/>
        </p:nvSpPr>
        <p:spPr>
          <a:xfrm>
            <a:off x="2961720" y="6099120"/>
            <a:ext cx="282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9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Text 59"/>
          <p:cNvSpPr/>
          <p:nvPr/>
        </p:nvSpPr>
        <p:spPr>
          <a:xfrm>
            <a:off x="522252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0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Text 60"/>
          <p:cNvSpPr/>
          <p:nvPr/>
        </p:nvSpPr>
        <p:spPr>
          <a:xfrm>
            <a:off x="5419800" y="594360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Text 61"/>
          <p:cNvSpPr/>
          <p:nvPr/>
        </p:nvSpPr>
        <p:spPr>
          <a:xfrm>
            <a:off x="552024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a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Shape 62"/>
          <p:cNvSpPr/>
          <p:nvPr/>
        </p:nvSpPr>
        <p:spPr>
          <a:xfrm>
            <a:off x="5578920" y="5919480"/>
            <a:ext cx="80280" cy="80280"/>
          </a:xfrm>
          <a:prstGeom prst="ellipse">
            <a:avLst/>
          </a:prstGeom>
          <a:solidFill>
            <a:srgbClr val="edeb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 63"/>
          <p:cNvSpPr/>
          <p:nvPr/>
        </p:nvSpPr>
        <p:spPr>
          <a:xfrm>
            <a:off x="571752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b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Shape 64"/>
          <p:cNvSpPr/>
          <p:nvPr/>
        </p:nvSpPr>
        <p:spPr>
          <a:xfrm>
            <a:off x="5775840" y="5919480"/>
            <a:ext cx="80280" cy="80280"/>
          </a:xfrm>
          <a:prstGeom prst="ellipse">
            <a:avLst/>
          </a:prstGeom>
          <a:solidFill>
            <a:srgbClr val="edeb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 65"/>
          <p:cNvSpPr/>
          <p:nvPr/>
        </p:nvSpPr>
        <p:spPr>
          <a:xfrm>
            <a:off x="6024600" y="5852160"/>
            <a:ext cx="402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Text 66"/>
          <p:cNvSpPr/>
          <p:nvPr/>
        </p:nvSpPr>
        <p:spPr>
          <a:xfrm>
            <a:off x="6536520" y="5733360"/>
            <a:ext cx="402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ab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Shape 67"/>
          <p:cNvSpPr/>
          <p:nvPr/>
        </p:nvSpPr>
        <p:spPr>
          <a:xfrm>
            <a:off x="6536160" y="6071400"/>
            <a:ext cx="40248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Text 68"/>
          <p:cNvSpPr/>
          <p:nvPr/>
        </p:nvSpPr>
        <p:spPr>
          <a:xfrm>
            <a:off x="6536520" y="6099120"/>
            <a:ext cx="402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99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 69"/>
          <p:cNvSpPr/>
          <p:nvPr/>
        </p:nvSpPr>
        <p:spPr>
          <a:xfrm>
            <a:off x="860040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0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 70"/>
          <p:cNvSpPr/>
          <p:nvPr/>
        </p:nvSpPr>
        <p:spPr>
          <a:xfrm>
            <a:off x="8797680" y="5943600"/>
            <a:ext cx="100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Text 71"/>
          <p:cNvSpPr/>
          <p:nvPr/>
        </p:nvSpPr>
        <p:spPr>
          <a:xfrm>
            <a:off x="889812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a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3" name="Shape 72"/>
          <p:cNvSpPr/>
          <p:nvPr/>
        </p:nvSpPr>
        <p:spPr>
          <a:xfrm>
            <a:off x="8956440" y="5919480"/>
            <a:ext cx="80280" cy="80280"/>
          </a:xfrm>
          <a:prstGeom prst="ellipse">
            <a:avLst/>
          </a:prstGeom>
          <a:solidFill>
            <a:srgbClr val="edeb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Text 73"/>
          <p:cNvSpPr/>
          <p:nvPr/>
        </p:nvSpPr>
        <p:spPr>
          <a:xfrm>
            <a:off x="909540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b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Shape 74"/>
          <p:cNvSpPr/>
          <p:nvPr/>
        </p:nvSpPr>
        <p:spPr>
          <a:xfrm>
            <a:off x="9153720" y="5919480"/>
            <a:ext cx="80280" cy="80280"/>
          </a:xfrm>
          <a:prstGeom prst="ellipse">
            <a:avLst/>
          </a:prstGeom>
          <a:solidFill>
            <a:srgbClr val="edeb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 75"/>
          <p:cNvSpPr/>
          <p:nvPr/>
        </p:nvSpPr>
        <p:spPr>
          <a:xfrm>
            <a:off x="9292320" y="5943600"/>
            <a:ext cx="196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c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76"/>
          <p:cNvSpPr/>
          <p:nvPr/>
        </p:nvSpPr>
        <p:spPr>
          <a:xfrm>
            <a:off x="9350640" y="5919480"/>
            <a:ext cx="80280" cy="80280"/>
          </a:xfrm>
          <a:prstGeom prst="ellipse">
            <a:avLst/>
          </a:prstGeom>
          <a:solidFill>
            <a:srgbClr val="edeb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Text 77"/>
          <p:cNvSpPr/>
          <p:nvPr/>
        </p:nvSpPr>
        <p:spPr>
          <a:xfrm>
            <a:off x="9599400" y="5852160"/>
            <a:ext cx="402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debdd"/>
                </a:solidFill>
                <a:latin typeface="Cambria"/>
                <a:ea typeface="Cambria"/>
              </a:rPr>
              <a:t>=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Text 78"/>
          <p:cNvSpPr/>
          <p:nvPr/>
        </p:nvSpPr>
        <p:spPr>
          <a:xfrm>
            <a:off x="10111320" y="5733360"/>
            <a:ext cx="520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abc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Shape 79"/>
          <p:cNvSpPr/>
          <p:nvPr/>
        </p:nvSpPr>
        <p:spPr>
          <a:xfrm>
            <a:off x="10110960" y="6071400"/>
            <a:ext cx="521280" cy="360"/>
          </a:xfrm>
          <a:prstGeom prst="line">
            <a:avLst/>
          </a:prstGeom>
          <a:ln w="1905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Text 80"/>
          <p:cNvSpPr/>
          <p:nvPr/>
        </p:nvSpPr>
        <p:spPr>
          <a:xfrm>
            <a:off x="10111320" y="6099120"/>
            <a:ext cx="520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999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2026-07-02T12:39:16Z</dcterms:created>
  <dc:creator>Zahra Sheikh Ali</dc:creator>
  <dc:description/>
  <dc:language>en-US</dc:language>
  <cp:lastModifiedBy>Zahra Sheikh Ali</cp:lastModifiedBy>
  <dcterms:modified xsi:type="dcterms:W3CDTF">2026-07-02T12:39:16Z</dcterms:modified>
  <cp:revision>1</cp:revision>
  <dc:subject>PptxGenJS Presentation</dc:subject>
  <dc:title>Recurring Decimals — Converting to Fractions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