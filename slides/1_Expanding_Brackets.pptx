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1: 6x+18.  2: 20x²+7xy–6y².  3: 10x³y+11x²y²–6xy³.  4: 8x+8.  5: t³+12t²+48t+64.  6: t³–3t²+3t–1.  7: 2x³–2x²+x²y+xy+y².  8: 7x²–32x+2.  9: 4x²+4x+1.  10: x³–3x²y+3xy²–y³.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(x+m)(x+n)=x²+(m+n)x+mn.  3x(2x–5y)=6x²–15xy.  (3x+2y)(3x–4y)=9x²–6xy–8y².  Show: (x²+14x+49)–(x²–6x+9)=20x+40=20(x+2).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9144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283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 )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503920" y="13716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i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731520" y="640080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62179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9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249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2496" dirty="0"/>
          </a:p>
        </p:txBody>
      </p:sp>
      <p:sp>
        <p:nvSpPr>
          <p:cNvPr id="6" name="Text 4"/>
          <p:cNvSpPr/>
          <p:nvPr/>
        </p:nvSpPr>
        <p:spPr>
          <a:xfrm>
            <a:off x="1627632" y="6766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Zπ MATHS HUB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27632" y="9509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IGCSE (9–1) · Higher Tier</a:t>
            </a:r>
            <a:endParaRPr lang="en-US" sz="1150" dirty="0"/>
          </a:p>
        </p:txBody>
      </p:sp>
      <p:sp>
        <p:nvSpPr>
          <p:cNvPr id="8" name="anim_1_a"/>
          <p:cNvSpPr/>
          <p:nvPr/>
        </p:nvSpPr>
        <p:spPr>
          <a:xfrm>
            <a:off x="731520" y="1920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Expanding Brackets</a:t>
            </a:r>
            <a:endParaRPr lang="en-US" sz="5600" dirty="0"/>
          </a:p>
        </p:txBody>
      </p:sp>
      <p:sp>
        <p:nvSpPr>
          <p:cNvPr id="9" name="anim_2_a"/>
          <p:cNvSpPr/>
          <p:nvPr/>
        </p:nvSpPr>
        <p:spPr>
          <a:xfrm>
            <a:off x="758952" y="30632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 ·  Double  ·  Triple  ·  Squaring a Bracket</a:t>
            </a:r>
            <a:endParaRPr lang="en-US" sz="2100" dirty="0"/>
          </a:p>
        </p:txBody>
      </p:sp>
      <p:sp>
        <p:nvSpPr>
          <p:cNvPr id="10" name="anim_3_a"/>
          <p:cNvSpPr/>
          <p:nvPr/>
        </p:nvSpPr>
        <p:spPr>
          <a:xfrm>
            <a:off x="758952" y="356616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step-by-step lesson with worked examples and exam practice.</a:t>
            </a:r>
            <a:endParaRPr lang="en-US" sz="1350" dirty="0"/>
          </a:p>
        </p:txBody>
      </p:sp>
      <p:sp>
        <p:nvSpPr>
          <p:cNvPr id="11" name="anim_4_a"/>
          <p:cNvSpPr/>
          <p:nvPr/>
        </p:nvSpPr>
        <p:spPr>
          <a:xfrm>
            <a:off x="731520" y="4343400"/>
            <a:ext cx="6858000" cy="1627632"/>
          </a:xfrm>
          <a:prstGeom prst="roundRect">
            <a:avLst>
              <a:gd name="adj" fmla="val 6742"/>
            </a:avLst>
          </a:prstGeom>
          <a:solidFill>
            <a:srgbClr val="283731"/>
          </a:solidFill>
          <a:ln/>
          <a:effectLst>
            <a:outerShdw sx="100000" sy="100000" kx="0" ky="0" algn="bl" rotWithShape="0" blurRad="152400" dist="50800" dir="5400000">
              <a:srgbClr val="000000">
                <a:alpha val="28000"/>
              </a:srgbClr>
            </a:outerShdw>
          </a:effectLst>
        </p:spPr>
      </p:sp>
      <p:sp>
        <p:nvSpPr>
          <p:cNvPr id="12" name="anim_4_a"/>
          <p:cNvSpPr/>
          <p:nvPr/>
        </p:nvSpPr>
        <p:spPr>
          <a:xfrm>
            <a:off x="1005840" y="45262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Zahra Sheikh Ali</a:t>
            </a:r>
            <a:endParaRPr lang="en-US" sz="2100" dirty="0"/>
          </a:p>
        </p:txBody>
      </p:sp>
      <p:sp>
        <p:nvSpPr>
          <p:cNvPr id="13" name="anim_4_a"/>
          <p:cNvSpPr/>
          <p:nvPr/>
        </p:nvSpPr>
        <p:spPr>
          <a:xfrm>
            <a:off x="1005840" y="491947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IGCSE Mathematics Teacher  ·  M.Sc. Differential Geometry &amp; Geometric Control</a:t>
            </a:r>
            <a:endParaRPr lang="en-US" sz="1200" dirty="0"/>
          </a:p>
        </p:txBody>
      </p:sp>
      <p:sp>
        <p:nvSpPr>
          <p:cNvPr id="14" name="anim_4_a"/>
          <p:cNvSpPr/>
          <p:nvPr/>
        </p:nvSpPr>
        <p:spPr>
          <a:xfrm>
            <a:off x="1005840" y="5358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  66613748</a:t>
            </a:r>
            <a:pPr indent="0" marL="0">
              <a:buNone/>
            </a:pPr>
            <a:r>
              <a:rPr lang="en-US" sz="12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✉  zahraa.sheikhali@outlook.com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Expanding = Multiplying Out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572768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143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755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8" name="anim_1_a"/>
          <p:cNvSpPr/>
          <p:nvPr/>
        </p:nvSpPr>
        <p:spPr>
          <a:xfrm>
            <a:off x="868680" y="204825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 expand and simplify single, double and triple brackets — and square a bracket.</a:t>
            </a:r>
            <a:endParaRPr lang="en-US" sz="2100" dirty="0"/>
          </a:p>
        </p:txBody>
      </p:sp>
      <p:sp>
        <p:nvSpPr>
          <p:cNvPr id="9" name="anim_2_c"/>
          <p:cNvSpPr/>
          <p:nvPr/>
        </p:nvSpPr>
        <p:spPr>
          <a:xfrm>
            <a:off x="548640" y="3200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200" dirty="0"/>
          </a:p>
        </p:txBody>
      </p:sp>
      <p:sp>
        <p:nvSpPr>
          <p:cNvPr id="10" name="anim_2_c"/>
          <p:cNvSpPr/>
          <p:nvPr/>
        </p:nvSpPr>
        <p:spPr>
          <a:xfrm>
            <a:off x="548640" y="3529584"/>
            <a:ext cx="544068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anim_2_c"/>
          <p:cNvSpPr/>
          <p:nvPr/>
        </p:nvSpPr>
        <p:spPr>
          <a:xfrm>
            <a:off x="804672" y="367588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</a:t>
            </a:r>
            <a:endParaRPr lang="en-US" sz="1800" dirty="0"/>
          </a:p>
        </p:txBody>
      </p:sp>
      <p:sp>
        <p:nvSpPr>
          <p:cNvPr id="12" name="anim_2_c"/>
          <p:cNvSpPr/>
          <p:nvPr/>
        </p:nvSpPr>
        <p:spPr>
          <a:xfrm>
            <a:off x="804672" y="407822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4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brackets by multiplying everything out</a:t>
            </a:r>
            <a:endParaRPr lang="en-US" sz="1350" dirty="0"/>
          </a:p>
        </p:txBody>
      </p:sp>
      <p:sp>
        <p:nvSpPr>
          <p:cNvPr id="13" name="anim_2_c"/>
          <p:cNvSpPr/>
          <p:nvPr/>
        </p:nvSpPr>
        <p:spPr>
          <a:xfrm>
            <a:off x="6199632" y="3529584"/>
            <a:ext cx="544068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anim_2_c"/>
          <p:cNvSpPr/>
          <p:nvPr/>
        </p:nvSpPr>
        <p:spPr>
          <a:xfrm>
            <a:off x="6455664" y="367588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</a:t>
            </a:r>
            <a:endParaRPr lang="en-US" sz="1800" dirty="0"/>
          </a:p>
        </p:txBody>
      </p:sp>
      <p:sp>
        <p:nvSpPr>
          <p:cNvPr id="15" name="anim_2_c"/>
          <p:cNvSpPr/>
          <p:nvPr/>
        </p:nvSpPr>
        <p:spPr>
          <a:xfrm>
            <a:off x="6455664" y="407822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4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 of an expression, e.g. 3x, –4, x²</a:t>
            </a:r>
            <a:endParaRPr lang="en-US" sz="1350" dirty="0"/>
          </a:p>
        </p:txBody>
      </p:sp>
      <p:sp>
        <p:nvSpPr>
          <p:cNvPr id="16" name="anim_2_c"/>
          <p:cNvSpPr/>
          <p:nvPr/>
        </p:nvSpPr>
        <p:spPr>
          <a:xfrm>
            <a:off x="548640" y="4919472"/>
            <a:ext cx="544068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anim_2_c"/>
          <p:cNvSpPr/>
          <p:nvPr/>
        </p:nvSpPr>
        <p:spPr>
          <a:xfrm>
            <a:off x="804672" y="506577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 terms</a:t>
            </a:r>
            <a:endParaRPr lang="en-US" sz="1800" dirty="0"/>
          </a:p>
        </p:txBody>
      </p:sp>
      <p:sp>
        <p:nvSpPr>
          <p:cNvPr id="18" name="anim_2_c"/>
          <p:cNvSpPr/>
          <p:nvPr/>
        </p:nvSpPr>
        <p:spPr>
          <a:xfrm>
            <a:off x="804672" y="546811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4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with the same letters &amp; powers, e.g. 6n and 9n</a:t>
            </a:r>
            <a:endParaRPr lang="en-US" sz="1350" dirty="0"/>
          </a:p>
        </p:txBody>
      </p:sp>
      <p:sp>
        <p:nvSpPr>
          <p:cNvPr id="19" name="anim_2_c"/>
          <p:cNvSpPr/>
          <p:nvPr/>
        </p:nvSpPr>
        <p:spPr>
          <a:xfrm>
            <a:off x="6199632" y="4919472"/>
            <a:ext cx="544068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anim_2_c"/>
          <p:cNvSpPr/>
          <p:nvPr/>
        </p:nvSpPr>
        <p:spPr>
          <a:xfrm>
            <a:off x="6455664" y="506577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Simplify</a:t>
            </a:r>
            <a:endParaRPr lang="en-US" sz="1800" dirty="0"/>
          </a:p>
        </p:txBody>
      </p:sp>
      <p:sp>
        <p:nvSpPr>
          <p:cNvPr id="21" name="anim_2_c"/>
          <p:cNvSpPr/>
          <p:nvPr/>
        </p:nvSpPr>
        <p:spPr>
          <a:xfrm>
            <a:off x="6455664" y="546811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4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like terms together after expanding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· 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Bracket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46304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463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</a:t>
            </a:r>
            <a:pPr indent="0" marL="0">
              <a:buNone/>
            </a:pPr>
            <a:r>
              <a:rPr lang="en-US" sz="16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term inside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bracket by the term </a:t>
            </a:r>
            <a:pPr indent="0" marL="0">
              <a:buNone/>
            </a:pPr>
            <a:r>
              <a:rPr lang="en-US" sz="16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it.</a:t>
            </a:r>
            <a:endParaRPr lang="en-US" sz="1600" dirty="0"/>
          </a:p>
        </p:txBody>
      </p:sp>
      <p:sp>
        <p:nvSpPr>
          <p:cNvPr id="8" name="anim_1_a"/>
          <p:cNvSpPr/>
          <p:nvPr/>
        </p:nvSpPr>
        <p:spPr>
          <a:xfrm>
            <a:off x="548640" y="237744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anim_1_a"/>
          <p:cNvSpPr/>
          <p:nvPr/>
        </p:nvSpPr>
        <p:spPr>
          <a:xfrm>
            <a:off x="548640" y="237744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    3(2x + 4)</a:t>
            </a:r>
            <a:endParaRPr lang="en-US" sz="3000" dirty="0"/>
          </a:p>
        </p:txBody>
      </p:sp>
      <p:sp>
        <p:nvSpPr>
          <p:cNvPr id="10" name="anim_2_c"/>
          <p:cNvSpPr/>
          <p:nvPr/>
        </p:nvSpPr>
        <p:spPr>
          <a:xfrm>
            <a:off x="548640" y="3886200"/>
            <a:ext cx="11091672" cy="1828800"/>
          </a:xfrm>
          <a:prstGeom prst="roundRect">
            <a:avLst>
              <a:gd name="adj" fmla="val 5000"/>
            </a:avLst>
          </a:prstGeom>
          <a:solidFill>
            <a:srgbClr val="EEF1E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anim_2_c"/>
          <p:cNvSpPr/>
          <p:nvPr/>
        </p:nvSpPr>
        <p:spPr>
          <a:xfrm>
            <a:off x="868680" y="413308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2" name="anim_2_c"/>
          <p:cNvSpPr/>
          <p:nvPr/>
        </p:nvSpPr>
        <p:spPr>
          <a:xfrm>
            <a:off x="868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anim_2_c"/>
          <p:cNvSpPr/>
          <p:nvPr/>
        </p:nvSpPr>
        <p:spPr>
          <a:xfrm>
            <a:off x="1417320" y="40690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the 3 by the first term:  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× 2x = 6x</a:t>
            </a:r>
            <a:endParaRPr lang="en-US" sz="1600" dirty="0"/>
          </a:p>
        </p:txBody>
      </p:sp>
      <p:sp>
        <p:nvSpPr>
          <p:cNvPr id="14" name="anim_3_c"/>
          <p:cNvSpPr/>
          <p:nvPr/>
        </p:nvSpPr>
        <p:spPr>
          <a:xfrm>
            <a:off x="868680" y="481888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5" name="anim_3_c"/>
          <p:cNvSpPr/>
          <p:nvPr/>
        </p:nvSpPr>
        <p:spPr>
          <a:xfrm>
            <a:off x="868680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anim_3_c"/>
          <p:cNvSpPr/>
          <p:nvPr/>
        </p:nvSpPr>
        <p:spPr>
          <a:xfrm>
            <a:off x="1417320" y="47548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the 3 by the second term:  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× 4 = 12</a:t>
            </a:r>
            <a:endParaRPr lang="en-US" sz="1600" dirty="0"/>
          </a:p>
        </p:txBody>
      </p:sp>
      <p:sp>
        <p:nvSpPr>
          <p:cNvPr id="17" name="anim_4_c"/>
          <p:cNvSpPr/>
          <p:nvPr/>
        </p:nvSpPr>
        <p:spPr>
          <a:xfrm>
            <a:off x="868680" y="5440680"/>
            <a:ext cx="6583680" cy="640080"/>
          </a:xfrm>
          <a:prstGeom prst="roundRect">
            <a:avLst>
              <a:gd name="adj" fmla="val 17143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anim_4_c"/>
          <p:cNvSpPr/>
          <p:nvPr/>
        </p:nvSpPr>
        <p:spPr>
          <a:xfrm>
            <a:off x="1051560" y="544068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3(2x + 4) = 6x + 12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· 1b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 &amp; Simplify (collect like terms)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481328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548640" y="1481328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 &amp; simplify    2(3n – 4) + 3(3n + 5)</a:t>
            </a:r>
            <a:endParaRPr lang="en-US" sz="2400" dirty="0"/>
          </a:p>
        </p:txBody>
      </p:sp>
      <p:sp>
        <p:nvSpPr>
          <p:cNvPr id="8" name="anim_2_c"/>
          <p:cNvSpPr/>
          <p:nvPr/>
        </p:nvSpPr>
        <p:spPr>
          <a:xfrm>
            <a:off x="548640" y="2670048"/>
            <a:ext cx="11091672" cy="3291840"/>
          </a:xfrm>
          <a:prstGeom prst="roundRect">
            <a:avLst>
              <a:gd name="adj" fmla="val 2778"/>
            </a:avLst>
          </a:prstGeom>
          <a:solidFill>
            <a:srgbClr val="EEF1E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anim_2_c"/>
          <p:cNvSpPr/>
          <p:nvPr/>
        </p:nvSpPr>
        <p:spPr>
          <a:xfrm>
            <a:off x="868680" y="294436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0" name="anim_2_c"/>
          <p:cNvSpPr/>
          <p:nvPr/>
        </p:nvSpPr>
        <p:spPr>
          <a:xfrm>
            <a:off x="86868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anim_2_c"/>
          <p:cNvSpPr/>
          <p:nvPr/>
        </p:nvSpPr>
        <p:spPr>
          <a:xfrm>
            <a:off x="1417320" y="28803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 both brackets:  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6n – 8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F6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9n + 15</a:t>
            </a:r>
            <a:endParaRPr lang="en-US" sz="1600" dirty="0"/>
          </a:p>
        </p:txBody>
      </p:sp>
      <p:sp>
        <p:nvSpPr>
          <p:cNvPr id="12" name="anim_3_c"/>
          <p:cNvSpPr/>
          <p:nvPr/>
        </p:nvSpPr>
        <p:spPr>
          <a:xfrm>
            <a:off x="868680" y="372160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3" name="anim_3_c"/>
          <p:cNvSpPr/>
          <p:nvPr/>
        </p:nvSpPr>
        <p:spPr>
          <a:xfrm>
            <a:off x="86868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anim_3_c"/>
          <p:cNvSpPr/>
          <p:nvPr/>
        </p:nvSpPr>
        <p:spPr>
          <a:xfrm>
            <a:off x="1417320" y="36576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 terms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  ( 6n + 9n )  +  ( –8 + 15 )</a:t>
            </a:r>
            <a:endParaRPr lang="en-US" sz="1600" dirty="0"/>
          </a:p>
        </p:txBody>
      </p:sp>
      <p:sp>
        <p:nvSpPr>
          <p:cNvPr id="15" name="anim_4_c"/>
          <p:cNvSpPr/>
          <p:nvPr/>
        </p:nvSpPr>
        <p:spPr>
          <a:xfrm>
            <a:off x="868680" y="449884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6" name="anim_4_c"/>
          <p:cNvSpPr/>
          <p:nvPr/>
        </p:nvSpPr>
        <p:spPr>
          <a:xfrm>
            <a:off x="868680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anim_4_c"/>
          <p:cNvSpPr/>
          <p:nvPr/>
        </p:nvSpPr>
        <p:spPr>
          <a:xfrm>
            <a:off x="1417320" y="44348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them up:   15n  +  7</a:t>
            </a:r>
            <a:endParaRPr lang="en-US" sz="1600" dirty="0"/>
          </a:p>
        </p:txBody>
      </p:sp>
      <p:sp>
        <p:nvSpPr>
          <p:cNvPr id="18" name="anim_5_c"/>
          <p:cNvSpPr/>
          <p:nvPr/>
        </p:nvSpPr>
        <p:spPr>
          <a:xfrm>
            <a:off x="868680" y="5166360"/>
            <a:ext cx="6949440" cy="640080"/>
          </a:xfrm>
          <a:prstGeom prst="roundRect">
            <a:avLst>
              <a:gd name="adj" fmla="val 17143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anim_5_c"/>
          <p:cNvSpPr/>
          <p:nvPr/>
        </p:nvSpPr>
        <p:spPr>
          <a:xfrm>
            <a:off x="1051560" y="516636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2(3n – 4) + 3(3n + 5) = 15n + 7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· 2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Brackets — Grid or FOIL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46304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463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term in the first bracket multiplies every term in the second — use the </a:t>
            </a:r>
            <a:pPr indent="0" marL="0">
              <a:buNone/>
            </a:pPr>
            <a:r>
              <a:rPr lang="en-US" sz="15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pPr indent="0" marL="0">
              <a:buNone/>
            </a:pPr>
            <a:r>
              <a:rPr lang="en-US" sz="15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FOIL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anim_1_a"/>
          <p:cNvSpPr/>
          <p:nvPr/>
        </p:nvSpPr>
        <p:spPr>
          <a:xfrm>
            <a:off x="548640" y="2267712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 &amp; simplify   (x + 2)(x + 5)</a:t>
            </a:r>
            <a:endParaRPr lang="en-US" sz="2300" dirty="0"/>
          </a:p>
        </p:txBody>
      </p:sp>
      <p:sp>
        <p:nvSpPr>
          <p:cNvPr id="9" name="anim_2_c"/>
          <p:cNvSpPr/>
          <p:nvPr/>
        </p:nvSpPr>
        <p:spPr>
          <a:xfrm>
            <a:off x="1005840" y="2788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METHOD</a:t>
            </a:r>
            <a:endParaRPr lang="en-US" sz="1150" dirty="0"/>
          </a:p>
        </p:txBody>
      </p:sp>
      <p:graphicFrame>
        <p:nvGraphicFramePr>
          <p:cNvPr id="6" name="anim_2_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3108960"/>
          <a:ext cx="393192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394460"/>
                <a:gridCol w="13944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E0AC2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×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626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x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3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626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+ 5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3D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626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x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3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84F2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x²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84F2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5x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626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+ 2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3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84F2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2x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84F2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anim_3_c"/>
          <p:cNvSpPr/>
          <p:nvPr/>
        </p:nvSpPr>
        <p:spPr>
          <a:xfrm>
            <a:off x="5943600" y="2788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FOIL METHOD</a:t>
            </a:r>
            <a:endParaRPr lang="en-US" sz="1150" dirty="0"/>
          </a:p>
        </p:txBody>
      </p:sp>
      <p:sp>
        <p:nvSpPr>
          <p:cNvPr id="12" name="anim_3_c"/>
          <p:cNvSpPr/>
          <p:nvPr/>
        </p:nvSpPr>
        <p:spPr>
          <a:xfrm>
            <a:off x="5943600" y="312724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E0AC2B"/>
          </a:solidFill>
          <a:ln/>
        </p:spPr>
      </p:sp>
      <p:sp>
        <p:nvSpPr>
          <p:cNvPr id="13" name="anim_3_c"/>
          <p:cNvSpPr/>
          <p:nvPr/>
        </p:nvSpPr>
        <p:spPr>
          <a:xfrm>
            <a:off x="594360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600" dirty="0"/>
          </a:p>
        </p:txBody>
      </p:sp>
      <p:sp>
        <p:nvSpPr>
          <p:cNvPr id="14" name="anim_3_c"/>
          <p:cNvSpPr/>
          <p:nvPr/>
        </p:nvSpPr>
        <p:spPr>
          <a:xfrm>
            <a:off x="6446520" y="3099816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A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First:   </a:t>
            </a:r>
            <a:pPr indent="0" marL="0"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× x = x²</a:t>
            </a:r>
            <a:endParaRPr lang="en-US" sz="1350" dirty="0"/>
          </a:p>
        </p:txBody>
      </p:sp>
      <p:sp>
        <p:nvSpPr>
          <p:cNvPr id="15" name="anim_3_c"/>
          <p:cNvSpPr/>
          <p:nvPr/>
        </p:nvSpPr>
        <p:spPr>
          <a:xfrm>
            <a:off x="5943600" y="358444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E0AC2B"/>
          </a:solidFill>
          <a:ln/>
        </p:spPr>
      </p:sp>
      <p:sp>
        <p:nvSpPr>
          <p:cNvPr id="16" name="anim_3_c"/>
          <p:cNvSpPr/>
          <p:nvPr/>
        </p:nvSpPr>
        <p:spPr>
          <a:xfrm>
            <a:off x="594360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600" dirty="0"/>
          </a:p>
        </p:txBody>
      </p:sp>
      <p:sp>
        <p:nvSpPr>
          <p:cNvPr id="17" name="anim_3_c"/>
          <p:cNvSpPr/>
          <p:nvPr/>
        </p:nvSpPr>
        <p:spPr>
          <a:xfrm>
            <a:off x="6446520" y="3557016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A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Outer:   </a:t>
            </a:r>
            <a:pPr indent="0" marL="0"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× 5 = 5x</a:t>
            </a:r>
            <a:endParaRPr lang="en-US" sz="1350" dirty="0"/>
          </a:p>
        </p:txBody>
      </p:sp>
      <p:sp>
        <p:nvSpPr>
          <p:cNvPr id="18" name="anim_3_c"/>
          <p:cNvSpPr/>
          <p:nvPr/>
        </p:nvSpPr>
        <p:spPr>
          <a:xfrm>
            <a:off x="5943600" y="404164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E0AC2B"/>
          </a:solidFill>
          <a:ln/>
        </p:spPr>
      </p:sp>
      <p:sp>
        <p:nvSpPr>
          <p:cNvPr id="19" name="anim_3_c"/>
          <p:cNvSpPr/>
          <p:nvPr/>
        </p:nvSpPr>
        <p:spPr>
          <a:xfrm>
            <a:off x="594360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600" dirty="0"/>
          </a:p>
        </p:txBody>
      </p:sp>
      <p:sp>
        <p:nvSpPr>
          <p:cNvPr id="20" name="anim_3_c"/>
          <p:cNvSpPr/>
          <p:nvPr/>
        </p:nvSpPr>
        <p:spPr>
          <a:xfrm>
            <a:off x="6446520" y="4014216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A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Inner:   </a:t>
            </a:r>
            <a:pPr indent="0" marL="0"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× x = 2x</a:t>
            </a:r>
            <a:endParaRPr lang="en-US" sz="1350" dirty="0"/>
          </a:p>
        </p:txBody>
      </p:sp>
      <p:sp>
        <p:nvSpPr>
          <p:cNvPr id="21" name="anim_3_c"/>
          <p:cNvSpPr/>
          <p:nvPr/>
        </p:nvSpPr>
        <p:spPr>
          <a:xfrm>
            <a:off x="5943600" y="449884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E0AC2B"/>
          </a:solidFill>
          <a:ln/>
        </p:spPr>
      </p:sp>
      <p:sp>
        <p:nvSpPr>
          <p:cNvPr id="22" name="anim_3_c"/>
          <p:cNvSpPr/>
          <p:nvPr/>
        </p:nvSpPr>
        <p:spPr>
          <a:xfrm>
            <a:off x="5943600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600" dirty="0"/>
          </a:p>
        </p:txBody>
      </p:sp>
      <p:sp>
        <p:nvSpPr>
          <p:cNvPr id="23" name="anim_3_c"/>
          <p:cNvSpPr/>
          <p:nvPr/>
        </p:nvSpPr>
        <p:spPr>
          <a:xfrm>
            <a:off x="6446520" y="4471416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A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Last:   </a:t>
            </a:r>
            <a:pPr indent="0" marL="0"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× 5 = 10</a:t>
            </a:r>
            <a:endParaRPr lang="en-US" sz="1350" dirty="0"/>
          </a:p>
        </p:txBody>
      </p:sp>
      <p:sp>
        <p:nvSpPr>
          <p:cNvPr id="24" name="anim_4_c"/>
          <p:cNvSpPr/>
          <p:nvPr/>
        </p:nvSpPr>
        <p:spPr>
          <a:xfrm>
            <a:off x="1005840" y="50292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methods give the same four products:   x</a:t>
            </a:r>
            <a:pPr indent="0" marL="0">
              <a:buNone/>
            </a:pPr>
            <a:r>
              <a:rPr lang="en-US" sz="155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55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+ 5x + 2x + 10</a:t>
            </a:r>
            <a:endParaRPr lang="en-US" sz="1550" dirty="0"/>
          </a:p>
        </p:txBody>
      </p:sp>
      <p:sp>
        <p:nvSpPr>
          <p:cNvPr id="25" name="anim_4_c"/>
          <p:cNvSpPr/>
          <p:nvPr/>
        </p:nvSpPr>
        <p:spPr>
          <a:xfrm>
            <a:off x="1005840" y="5532120"/>
            <a:ext cx="6400800" cy="603504"/>
          </a:xfrm>
          <a:prstGeom prst="roundRect">
            <a:avLst>
              <a:gd name="adj" fmla="val 18182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6" name="anim_4_c"/>
          <p:cNvSpPr/>
          <p:nvPr/>
        </p:nvSpPr>
        <p:spPr>
          <a:xfrm>
            <a:off x="1188720" y="5532120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 + 2)(x + 5) = x</a:t>
            </a:r>
            <a:pPr algn="ctr" indent="0" marL="0">
              <a:buNone/>
            </a:pPr>
            <a:r>
              <a:rPr lang="en-US" sz="2000" b="1" baseline="300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20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+ 7x + 10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· 3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Triple Brackets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46304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463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</a:t>
            </a:r>
            <a:pPr indent="0" marL="0">
              <a:buNone/>
            </a:pPr>
            <a:r>
              <a:rPr lang="en-US" sz="16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brackets first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multiply the result by the third.</a:t>
            </a:r>
            <a:endParaRPr lang="en-US" sz="1600" dirty="0"/>
          </a:p>
        </p:txBody>
      </p:sp>
      <p:sp>
        <p:nvSpPr>
          <p:cNvPr id="8" name="anim_1_a"/>
          <p:cNvSpPr/>
          <p:nvPr/>
        </p:nvSpPr>
        <p:spPr>
          <a:xfrm>
            <a:off x="548640" y="23317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   (x + 1)(x + 2)(x + 3)</a:t>
            </a:r>
            <a:endParaRPr lang="en-US" sz="2400" dirty="0"/>
          </a:p>
        </p:txBody>
      </p:sp>
      <p:sp>
        <p:nvSpPr>
          <p:cNvPr id="9" name="anim_2_c"/>
          <p:cNvSpPr/>
          <p:nvPr/>
        </p:nvSpPr>
        <p:spPr>
          <a:xfrm>
            <a:off x="548640" y="2971800"/>
            <a:ext cx="11091672" cy="2971800"/>
          </a:xfrm>
          <a:prstGeom prst="roundRect">
            <a:avLst>
              <a:gd name="adj" fmla="val 3077"/>
            </a:avLst>
          </a:prstGeom>
          <a:solidFill>
            <a:srgbClr val="EEF1E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anim_2_c"/>
          <p:cNvSpPr/>
          <p:nvPr/>
        </p:nvSpPr>
        <p:spPr>
          <a:xfrm>
            <a:off x="868680" y="321868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1" name="anim_2_c"/>
          <p:cNvSpPr/>
          <p:nvPr/>
        </p:nvSpPr>
        <p:spPr>
          <a:xfrm>
            <a:off x="8686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anim_2_c"/>
          <p:cNvSpPr/>
          <p:nvPr/>
        </p:nvSpPr>
        <p:spPr>
          <a:xfrm>
            <a:off x="1417320" y="31546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 the first two:   (x + 1)(x + 2) =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600" b="1" baseline="30000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+ 3x + 2</a:t>
            </a:r>
            <a:endParaRPr lang="en-US" sz="1600" dirty="0"/>
          </a:p>
        </p:txBody>
      </p:sp>
      <p:sp>
        <p:nvSpPr>
          <p:cNvPr id="13" name="anim_3_c"/>
          <p:cNvSpPr/>
          <p:nvPr/>
        </p:nvSpPr>
        <p:spPr>
          <a:xfrm>
            <a:off x="868680" y="399592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4" name="anim_3_c"/>
          <p:cNvSpPr/>
          <p:nvPr/>
        </p:nvSpPr>
        <p:spPr>
          <a:xfrm>
            <a:off x="868680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anim_3_c"/>
          <p:cNvSpPr/>
          <p:nvPr/>
        </p:nvSpPr>
        <p:spPr>
          <a:xfrm>
            <a:off x="1417320" y="39319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multiply by (x + 3):   (x</a:t>
            </a:r>
            <a:pPr indent="0" marL="0">
              <a:lnSpc>
                <a:spcPct val="105000"/>
              </a:lnSpc>
              <a:buNone/>
            </a:pP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+ 3x + 2)(x + 3)</a:t>
            </a:r>
            <a:endParaRPr lang="en-US" sz="1600" dirty="0"/>
          </a:p>
        </p:txBody>
      </p:sp>
      <p:sp>
        <p:nvSpPr>
          <p:cNvPr id="16" name="anim_4_c"/>
          <p:cNvSpPr/>
          <p:nvPr/>
        </p:nvSpPr>
        <p:spPr>
          <a:xfrm>
            <a:off x="868680" y="463600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7" name="anim_4_c"/>
          <p:cNvSpPr/>
          <p:nvPr/>
        </p:nvSpPr>
        <p:spPr>
          <a:xfrm>
            <a:off x="868680" y="4636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anim_4_c"/>
          <p:cNvSpPr/>
          <p:nvPr/>
        </p:nvSpPr>
        <p:spPr>
          <a:xfrm>
            <a:off x="1417320" y="45720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x</a:t>
            </a:r>
            <a:pPr indent="0" marL="0">
              <a:lnSpc>
                <a:spcPct val="105000"/>
              </a:lnSpc>
              <a:buNone/>
            </a:pPr>
            <a:r>
              <a:rPr lang="en-US" sz="15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+ 3x</a:t>
            </a:r>
            <a:pPr indent="0" marL="0">
              <a:lnSpc>
                <a:spcPct val="105000"/>
              </a:lnSpc>
              <a:buNone/>
            </a:pPr>
            <a:r>
              <a:rPr lang="en-US" sz="15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+ 3x</a:t>
            </a:r>
            <a:pPr indent="0" marL="0">
              <a:lnSpc>
                <a:spcPct val="105000"/>
              </a:lnSpc>
              <a:buNone/>
            </a:pPr>
            <a:r>
              <a:rPr lang="en-US" sz="15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+ 9x + 2x + 6</a:t>
            </a:r>
            <a:endParaRPr lang="en-US" sz="1550" dirty="0"/>
          </a:p>
        </p:txBody>
      </p:sp>
      <p:sp>
        <p:nvSpPr>
          <p:cNvPr id="19" name="anim_5_c"/>
          <p:cNvSpPr/>
          <p:nvPr/>
        </p:nvSpPr>
        <p:spPr>
          <a:xfrm>
            <a:off x="868680" y="5257800"/>
            <a:ext cx="8686800" cy="603504"/>
          </a:xfrm>
          <a:prstGeom prst="roundRect">
            <a:avLst>
              <a:gd name="adj" fmla="val 18182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anim_5_c"/>
          <p:cNvSpPr/>
          <p:nvPr/>
        </p:nvSpPr>
        <p:spPr>
          <a:xfrm>
            <a:off x="1051560" y="5257800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 + 1)(x + 2)(x + 3) = x</a:t>
            </a:r>
            <a:pPr algn="ctr" indent="0" marL="0">
              <a:buNone/>
            </a:pPr>
            <a:r>
              <a:rPr lang="en-US" sz="1900" b="1" baseline="300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ctr" indent="0" marL="0">
              <a:buNone/>
            </a:pPr>
            <a:r>
              <a:rPr lang="en-US" sz="19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+ 6x</a:t>
            </a:r>
            <a:pPr algn="ctr" indent="0" marL="0">
              <a:buNone/>
            </a:pPr>
            <a:r>
              <a:rPr lang="en-US" sz="1900" b="1" baseline="300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19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+ 11x + 6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· 4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Squaring a Bracket  —  (a + b)²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46304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463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means repeated multiplication —   (x + 3)</a:t>
            </a:r>
            <a:pPr indent="0" marL="0">
              <a:buNone/>
            </a:pPr>
            <a:r>
              <a:rPr lang="en-US" sz="1600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(x + 3)(x + 3).</a:t>
            </a:r>
            <a:endParaRPr lang="en-US" sz="1600" dirty="0"/>
          </a:p>
        </p:txBody>
      </p:sp>
      <p:sp>
        <p:nvSpPr>
          <p:cNvPr id="8" name="anim_2_c"/>
          <p:cNvSpPr/>
          <p:nvPr/>
        </p:nvSpPr>
        <p:spPr>
          <a:xfrm>
            <a:off x="548640" y="2377440"/>
            <a:ext cx="7040880" cy="3566160"/>
          </a:xfrm>
          <a:prstGeom prst="roundRect">
            <a:avLst>
              <a:gd name="adj" fmla="val 2564"/>
            </a:avLst>
          </a:prstGeom>
          <a:solidFill>
            <a:srgbClr val="EEF1E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anim_2_c"/>
          <p:cNvSpPr/>
          <p:nvPr/>
        </p:nvSpPr>
        <p:spPr>
          <a:xfrm>
            <a:off x="868680" y="25420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   (x + 3)</a:t>
            </a:r>
            <a:pPr indent="0" marL="0">
              <a:buNone/>
            </a:pPr>
            <a:r>
              <a:rPr lang="en-US" sz="22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anim_2_c"/>
          <p:cNvSpPr/>
          <p:nvPr/>
        </p:nvSpPr>
        <p:spPr>
          <a:xfrm>
            <a:off x="868680" y="321868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1" name="anim_2_c"/>
          <p:cNvSpPr/>
          <p:nvPr/>
        </p:nvSpPr>
        <p:spPr>
          <a:xfrm>
            <a:off x="8686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anim_2_c"/>
          <p:cNvSpPr/>
          <p:nvPr/>
        </p:nvSpPr>
        <p:spPr>
          <a:xfrm>
            <a:off x="1417320" y="31546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it out:  (x + 3)(x + 3)</a:t>
            </a:r>
            <a:endParaRPr lang="en-US" sz="1550" dirty="0"/>
          </a:p>
        </p:txBody>
      </p:sp>
      <p:sp>
        <p:nvSpPr>
          <p:cNvPr id="13" name="anim_3_c"/>
          <p:cNvSpPr/>
          <p:nvPr/>
        </p:nvSpPr>
        <p:spPr>
          <a:xfrm>
            <a:off x="868680" y="390448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4" name="anim_3_c"/>
          <p:cNvSpPr/>
          <p:nvPr/>
        </p:nvSpPr>
        <p:spPr>
          <a:xfrm>
            <a:off x="868680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anim_3_c"/>
          <p:cNvSpPr/>
          <p:nvPr/>
        </p:nvSpPr>
        <p:spPr>
          <a:xfrm>
            <a:off x="1417320" y="38404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Expand:  x</a:t>
            </a:r>
            <a:pPr indent="0" marL="0">
              <a:lnSpc>
                <a:spcPct val="105000"/>
              </a:lnSpc>
              <a:buNone/>
            </a:pPr>
            <a:r>
              <a:rPr lang="en-US" sz="15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+ 3x + 3x + 9</a:t>
            </a:r>
            <a:endParaRPr lang="en-US" sz="1550" dirty="0"/>
          </a:p>
        </p:txBody>
      </p:sp>
      <p:sp>
        <p:nvSpPr>
          <p:cNvPr id="16" name="anim_4_c"/>
          <p:cNvSpPr/>
          <p:nvPr/>
        </p:nvSpPr>
        <p:spPr>
          <a:xfrm>
            <a:off x="868680" y="4663440"/>
            <a:ext cx="4937760" cy="603504"/>
          </a:xfrm>
          <a:prstGeom prst="roundRect">
            <a:avLst>
              <a:gd name="adj" fmla="val 18182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anim_4_c"/>
          <p:cNvSpPr/>
          <p:nvPr/>
        </p:nvSpPr>
        <p:spPr>
          <a:xfrm>
            <a:off x="1051560" y="4663440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x</a:t>
            </a:r>
            <a:pPr algn="ctr" indent="0" marL="0">
              <a:buNone/>
            </a:pPr>
            <a:r>
              <a:rPr lang="en-US" sz="2000" b="1" baseline="300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20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+ 6x + 9</a:t>
            </a:r>
            <a:endParaRPr lang="en-US" sz="2000" dirty="0"/>
          </a:p>
        </p:txBody>
      </p:sp>
      <p:sp>
        <p:nvSpPr>
          <p:cNvPr id="18" name="anim_4_c"/>
          <p:cNvSpPr/>
          <p:nvPr/>
        </p:nvSpPr>
        <p:spPr>
          <a:xfrm>
            <a:off x="868680" y="54132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7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General:  (a + b)</a:t>
            </a:r>
            <a:pPr indent="0" marL="0">
              <a:buNone/>
            </a:pPr>
            <a:r>
              <a:rPr lang="en-US" sz="1300" b="1" baseline="30000" dirty="0">
                <a:solidFill>
                  <a:srgbClr val="6A7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300" b="1" dirty="0">
                <a:solidFill>
                  <a:srgbClr val="6A7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a</a:t>
            </a:r>
            <a:pPr indent="0" marL="0">
              <a:buNone/>
            </a:pPr>
            <a:r>
              <a:rPr lang="en-US" sz="1300" b="1" baseline="30000" dirty="0">
                <a:solidFill>
                  <a:srgbClr val="6A7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300" b="1" dirty="0">
                <a:solidFill>
                  <a:srgbClr val="6A7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+ 2ab + b</a:t>
            </a:r>
            <a:pPr indent="0" marL="0">
              <a:buNone/>
            </a:pPr>
            <a:r>
              <a:rPr lang="en-US" sz="1300" b="1" baseline="30000" dirty="0">
                <a:solidFill>
                  <a:srgbClr val="6A7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anim_3_c"/>
          <p:cNvSpPr/>
          <p:nvPr/>
        </p:nvSpPr>
        <p:spPr>
          <a:xfrm>
            <a:off x="7818120" y="2377440"/>
            <a:ext cx="3822192" cy="3566160"/>
          </a:xfrm>
          <a:prstGeom prst="roundRect">
            <a:avLst>
              <a:gd name="adj" fmla="val 3077"/>
            </a:avLst>
          </a:prstGeom>
          <a:solidFill>
            <a:srgbClr val="FBEAE3"/>
          </a:solidFill>
          <a:ln w="15875">
            <a:solidFill>
              <a:srgbClr val="C84F2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anim_3_c"/>
          <p:cNvSpPr/>
          <p:nvPr/>
        </p:nvSpPr>
        <p:spPr>
          <a:xfrm>
            <a:off x="8092440" y="2578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200" dirty="0"/>
          </a:p>
        </p:txBody>
      </p:sp>
      <p:sp>
        <p:nvSpPr>
          <p:cNvPr id="21" name="anim_3_c"/>
          <p:cNvSpPr/>
          <p:nvPr/>
        </p:nvSpPr>
        <p:spPr>
          <a:xfrm>
            <a:off x="8092440" y="3108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 + 3)</a:t>
            </a:r>
            <a:pPr indent="0" marL="0">
              <a:buNone/>
            </a:pPr>
            <a:r>
              <a:rPr lang="en-US" sz="2100" b="1" baseline="30000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21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≠  x</a:t>
            </a:r>
            <a:pPr indent="0" marL="0">
              <a:buNone/>
            </a:pPr>
            <a:r>
              <a:rPr lang="en-US" sz="2100" b="1" baseline="30000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21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+ 9</a:t>
            </a:r>
            <a:endParaRPr lang="en-US" sz="2100" dirty="0"/>
          </a:p>
        </p:txBody>
      </p:sp>
      <p:sp>
        <p:nvSpPr>
          <p:cNvPr id="22" name="anim_3_c"/>
          <p:cNvSpPr/>
          <p:nvPr/>
        </p:nvSpPr>
        <p:spPr>
          <a:xfrm>
            <a:off x="8092440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4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not just square each term.</a:t>
            </a:r>
            <a:endParaRPr lang="en-US" sz="1350" dirty="0"/>
          </a:p>
        </p:txBody>
      </p:sp>
      <p:sp>
        <p:nvSpPr>
          <p:cNvPr id="23" name="anim_3_c"/>
          <p:cNvSpPr/>
          <p:nvPr/>
        </p:nvSpPr>
        <p:spPr>
          <a:xfrm>
            <a:off x="8092440" y="4572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forget the middle term:  2 × 3 × x = 6x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Exercises — Expand &amp; Simplify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640080" y="1691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84F2F"/>
          </a:solidFill>
          <a:ln/>
        </p:spPr>
      </p:sp>
      <p:sp>
        <p:nvSpPr>
          <p:cNvPr id="7" name="anim_1_a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anim_1_a"/>
          <p:cNvSpPr/>
          <p:nvPr/>
        </p:nvSpPr>
        <p:spPr>
          <a:xfrm>
            <a:off x="1243584" y="16459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4(2x + 3) – 2(x – 3)</a:t>
            </a:r>
            <a:endParaRPr lang="en-US" sz="1800" dirty="0"/>
          </a:p>
        </p:txBody>
      </p:sp>
      <p:sp>
        <p:nvSpPr>
          <p:cNvPr id="9" name="anim_1_a"/>
          <p:cNvSpPr/>
          <p:nvPr/>
        </p:nvSpPr>
        <p:spPr>
          <a:xfrm>
            <a:off x="640080" y="2624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84F2F"/>
          </a:solidFill>
          <a:ln/>
        </p:spPr>
      </p:sp>
      <p:sp>
        <p:nvSpPr>
          <p:cNvPr id="10" name="anim_1_a"/>
          <p:cNvSpPr/>
          <p:nvPr/>
        </p:nvSpPr>
        <p:spPr>
          <a:xfrm>
            <a:off x="64008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anim_1_a"/>
          <p:cNvSpPr/>
          <p:nvPr/>
        </p:nvSpPr>
        <p:spPr>
          <a:xfrm>
            <a:off x="1243584" y="25786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(5x – 2y)(4x + 3y)</a:t>
            </a:r>
            <a:endParaRPr lang="en-US" sz="1800" dirty="0"/>
          </a:p>
        </p:txBody>
      </p:sp>
      <p:sp>
        <p:nvSpPr>
          <p:cNvPr id="12" name="anim_1_a"/>
          <p:cNvSpPr/>
          <p:nvPr/>
        </p:nvSpPr>
        <p:spPr>
          <a:xfrm>
            <a:off x="640080" y="355701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84F2F"/>
          </a:solidFill>
          <a:ln/>
        </p:spPr>
      </p:sp>
      <p:sp>
        <p:nvSpPr>
          <p:cNvPr id="13" name="anim_1_a"/>
          <p:cNvSpPr/>
          <p:nvPr/>
        </p:nvSpPr>
        <p:spPr>
          <a:xfrm>
            <a:off x="64008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anim_1_a"/>
          <p:cNvSpPr/>
          <p:nvPr/>
        </p:nvSpPr>
        <p:spPr>
          <a:xfrm>
            <a:off x="1243584" y="351129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xy(2x + 3y)(5x – 2y)</a:t>
            </a:r>
            <a:endParaRPr lang="en-US" sz="1800" dirty="0"/>
          </a:p>
        </p:txBody>
      </p:sp>
      <p:sp>
        <p:nvSpPr>
          <p:cNvPr id="15" name="anim_1_a"/>
          <p:cNvSpPr/>
          <p:nvPr/>
        </p:nvSpPr>
        <p:spPr>
          <a:xfrm>
            <a:off x="640080" y="448970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84F2F"/>
          </a:solidFill>
          <a:ln/>
        </p:spPr>
      </p:sp>
      <p:sp>
        <p:nvSpPr>
          <p:cNvPr id="16" name="anim_1_a"/>
          <p:cNvSpPr/>
          <p:nvPr/>
        </p:nvSpPr>
        <p:spPr>
          <a:xfrm>
            <a:off x="640080" y="4489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anim_1_a"/>
          <p:cNvSpPr/>
          <p:nvPr/>
        </p:nvSpPr>
        <p:spPr>
          <a:xfrm>
            <a:off x="1243584" y="444398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 + 3)</a:t>
            </a:r>
            <a:pPr indent="0" marL="0">
              <a:buNone/>
            </a:pP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(x – 1)</a:t>
            </a:r>
            <a:pPr indent="0" marL="0">
              <a:buNone/>
            </a:pP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anim_1_a"/>
          <p:cNvSpPr/>
          <p:nvPr/>
        </p:nvSpPr>
        <p:spPr>
          <a:xfrm>
            <a:off x="640080" y="54223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84F2F"/>
          </a:solidFill>
          <a:ln/>
        </p:spPr>
      </p:sp>
      <p:sp>
        <p:nvSpPr>
          <p:cNvPr id="19" name="anim_1_a"/>
          <p:cNvSpPr/>
          <p:nvPr/>
        </p:nvSpPr>
        <p:spPr>
          <a:xfrm>
            <a:off x="640080" y="5422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anim_1_a"/>
          <p:cNvSpPr/>
          <p:nvPr/>
        </p:nvSpPr>
        <p:spPr>
          <a:xfrm>
            <a:off x="1243584" y="537667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(t + 4)</a:t>
            </a:r>
            <a:pPr indent="0" marL="0">
              <a:buNone/>
            </a:pP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indent="0" marL="0">
              <a:buNone/>
            </a:pPr>
            <a:r>
              <a:rPr lang="en-US" sz="1800" i="1" dirty="0">
                <a:solidFill>
                  <a:srgbClr val="6A7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[June 2012]</a:t>
            </a:r>
            <a:endParaRPr lang="en-US" sz="1800" dirty="0"/>
          </a:p>
        </p:txBody>
      </p:sp>
      <p:sp>
        <p:nvSpPr>
          <p:cNvPr id="21" name="anim_2_c"/>
          <p:cNvSpPr/>
          <p:nvPr/>
        </p:nvSpPr>
        <p:spPr>
          <a:xfrm>
            <a:off x="6355080" y="1691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84F2F"/>
          </a:solidFill>
          <a:ln/>
        </p:spPr>
      </p:sp>
      <p:sp>
        <p:nvSpPr>
          <p:cNvPr id="22" name="anim_2_c"/>
          <p:cNvSpPr/>
          <p:nvPr/>
        </p:nvSpPr>
        <p:spPr>
          <a:xfrm>
            <a:off x="6355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3" name="anim_2_c"/>
          <p:cNvSpPr/>
          <p:nvPr/>
        </p:nvSpPr>
        <p:spPr>
          <a:xfrm>
            <a:off x="6958584" y="16459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(t – 1)</a:t>
            </a:r>
            <a:pPr indent="0" marL="0">
              <a:buNone/>
            </a:pP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anim_2_c"/>
          <p:cNvSpPr/>
          <p:nvPr/>
        </p:nvSpPr>
        <p:spPr>
          <a:xfrm>
            <a:off x="6355080" y="2624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84F2F"/>
          </a:solidFill>
          <a:ln/>
        </p:spPr>
      </p:sp>
      <p:sp>
        <p:nvSpPr>
          <p:cNvPr id="25" name="anim_2_c"/>
          <p:cNvSpPr/>
          <p:nvPr/>
        </p:nvSpPr>
        <p:spPr>
          <a:xfrm>
            <a:off x="635508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6" name="anim_2_c"/>
          <p:cNvSpPr/>
          <p:nvPr/>
        </p:nvSpPr>
        <p:spPr>
          <a:xfrm>
            <a:off x="6958584" y="25786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(2x + y)(x</a:t>
            </a:r>
            <a:pPr indent="0" marL="0">
              <a:buNone/>
            </a:pP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x + y)</a:t>
            </a:r>
            <a:endParaRPr lang="en-US" sz="1800" dirty="0"/>
          </a:p>
        </p:txBody>
      </p:sp>
      <p:sp>
        <p:nvSpPr>
          <p:cNvPr id="27" name="anim_2_c"/>
          <p:cNvSpPr/>
          <p:nvPr/>
        </p:nvSpPr>
        <p:spPr>
          <a:xfrm>
            <a:off x="6355080" y="355701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84F2F"/>
          </a:solidFill>
          <a:ln/>
        </p:spPr>
      </p:sp>
      <p:sp>
        <p:nvSpPr>
          <p:cNvPr id="28" name="anim_2_c"/>
          <p:cNvSpPr/>
          <p:nvPr/>
        </p:nvSpPr>
        <p:spPr>
          <a:xfrm>
            <a:off x="635508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9" name="anim_2_c"/>
          <p:cNvSpPr/>
          <p:nvPr/>
        </p:nvSpPr>
        <p:spPr>
          <a:xfrm>
            <a:off x="6958584" y="351129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2(2x – 3)</a:t>
            </a:r>
            <a:pPr indent="0" marL="0">
              <a:buNone/>
            </a:pP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(x + 4)</a:t>
            </a:r>
            <a:pPr indent="0" marL="0">
              <a:buNone/>
            </a:pP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30" name="anim_2_c"/>
          <p:cNvSpPr/>
          <p:nvPr/>
        </p:nvSpPr>
        <p:spPr>
          <a:xfrm>
            <a:off x="6355080" y="448970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84F2F"/>
          </a:solidFill>
          <a:ln/>
        </p:spPr>
      </p:sp>
      <p:sp>
        <p:nvSpPr>
          <p:cNvPr id="31" name="anim_2_c"/>
          <p:cNvSpPr/>
          <p:nvPr/>
        </p:nvSpPr>
        <p:spPr>
          <a:xfrm>
            <a:off x="6355080" y="4489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32" name="anim_2_c"/>
          <p:cNvSpPr/>
          <p:nvPr/>
        </p:nvSpPr>
        <p:spPr>
          <a:xfrm>
            <a:off x="6958584" y="444398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(2x + 1)</a:t>
            </a:r>
            <a:pPr indent="0" marL="0">
              <a:buNone/>
            </a:pP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33" name="anim_2_c"/>
          <p:cNvSpPr/>
          <p:nvPr/>
        </p:nvSpPr>
        <p:spPr>
          <a:xfrm>
            <a:off x="6355080" y="54223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84F2F"/>
          </a:solidFill>
          <a:ln/>
        </p:spPr>
      </p:sp>
      <p:sp>
        <p:nvSpPr>
          <p:cNvPr id="34" name="anim_2_c"/>
          <p:cNvSpPr/>
          <p:nvPr/>
        </p:nvSpPr>
        <p:spPr>
          <a:xfrm>
            <a:off x="6355080" y="5422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35" name="anim_2_c"/>
          <p:cNvSpPr/>
          <p:nvPr/>
        </p:nvSpPr>
        <p:spPr>
          <a:xfrm>
            <a:off x="6958584" y="537667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 – y)</a:t>
            </a:r>
            <a:pPr indent="0" marL="0">
              <a:buNone/>
            </a:pP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AQA PAST PAPER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Questions — Algebra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60020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04672" y="1837944"/>
            <a:ext cx="2468880" cy="420624"/>
          </a:xfrm>
          <a:prstGeom prst="roundRect">
            <a:avLst>
              <a:gd name="adj" fmla="val 17391"/>
            </a:avLst>
          </a:prstGeom>
          <a:solidFill>
            <a:srgbClr val="16261F"/>
          </a:solidFill>
          <a:ln/>
        </p:spPr>
      </p:sp>
      <p:sp>
        <p:nvSpPr>
          <p:cNvPr id="8" name="anim_1_a"/>
          <p:cNvSpPr/>
          <p:nvPr/>
        </p:nvSpPr>
        <p:spPr>
          <a:xfrm>
            <a:off x="804672" y="183794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AQA Jan 2013 · P2</a:t>
            </a:r>
            <a:endParaRPr lang="en-US" sz="1100" dirty="0"/>
          </a:p>
        </p:txBody>
      </p:sp>
      <p:sp>
        <p:nvSpPr>
          <p:cNvPr id="9" name="anim_1_a"/>
          <p:cNvSpPr/>
          <p:nvPr/>
        </p:nvSpPr>
        <p:spPr>
          <a:xfrm>
            <a:off x="841248" y="2368296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   (x + m)(x + n).</a:t>
            </a:r>
            <a:endParaRPr lang="en-US" sz="1900" dirty="0"/>
          </a:p>
        </p:txBody>
      </p:sp>
      <p:sp>
        <p:nvSpPr>
          <p:cNvPr id="10" name="anim_1_a"/>
          <p:cNvSpPr/>
          <p:nvPr/>
        </p:nvSpPr>
        <p:spPr>
          <a:xfrm>
            <a:off x="841248" y="3172968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A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your answer in terms of m and n.</a:t>
            </a:r>
            <a:endParaRPr lang="en-US" sz="1150" dirty="0"/>
          </a:p>
        </p:txBody>
      </p:sp>
      <p:sp>
        <p:nvSpPr>
          <p:cNvPr id="11" name="anim_2_c"/>
          <p:cNvSpPr/>
          <p:nvPr/>
        </p:nvSpPr>
        <p:spPr>
          <a:xfrm>
            <a:off x="6199632" y="160020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anim_2_c"/>
          <p:cNvSpPr/>
          <p:nvPr/>
        </p:nvSpPr>
        <p:spPr>
          <a:xfrm>
            <a:off x="6455664" y="1837944"/>
            <a:ext cx="2468880" cy="420624"/>
          </a:xfrm>
          <a:prstGeom prst="roundRect">
            <a:avLst>
              <a:gd name="adj" fmla="val 17391"/>
            </a:avLst>
          </a:prstGeom>
          <a:solidFill>
            <a:srgbClr val="16261F"/>
          </a:solidFill>
          <a:ln/>
        </p:spPr>
      </p:sp>
      <p:sp>
        <p:nvSpPr>
          <p:cNvPr id="13" name="anim_2_c"/>
          <p:cNvSpPr/>
          <p:nvPr/>
        </p:nvSpPr>
        <p:spPr>
          <a:xfrm>
            <a:off x="6455664" y="183794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AQA Jun 2012 · P2</a:t>
            </a:r>
            <a:endParaRPr lang="en-US" sz="1100" dirty="0"/>
          </a:p>
        </p:txBody>
      </p:sp>
      <p:sp>
        <p:nvSpPr>
          <p:cNvPr id="14" name="anim_2_c"/>
          <p:cNvSpPr/>
          <p:nvPr/>
        </p:nvSpPr>
        <p:spPr>
          <a:xfrm>
            <a:off x="6492240" y="2368296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(a)  Expand   3x(2x – 5y)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(b)  Expand &amp; simplify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(3x + 2y)(3x – 4y)</a:t>
            </a:r>
            <a:endParaRPr lang="en-US" sz="1700" dirty="0"/>
          </a:p>
        </p:txBody>
      </p:sp>
      <p:sp>
        <p:nvSpPr>
          <p:cNvPr id="15" name="anim_3_c"/>
          <p:cNvSpPr/>
          <p:nvPr/>
        </p:nvSpPr>
        <p:spPr>
          <a:xfrm>
            <a:off x="548640" y="3840480"/>
            <a:ext cx="11091672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anim_3_c"/>
          <p:cNvSpPr/>
          <p:nvPr/>
        </p:nvSpPr>
        <p:spPr>
          <a:xfrm>
            <a:off x="804672" y="4078224"/>
            <a:ext cx="2468880" cy="420624"/>
          </a:xfrm>
          <a:prstGeom prst="roundRect">
            <a:avLst>
              <a:gd name="adj" fmla="val 17391"/>
            </a:avLst>
          </a:prstGeom>
          <a:solidFill>
            <a:srgbClr val="16261F"/>
          </a:solidFill>
          <a:ln/>
        </p:spPr>
      </p:sp>
      <p:sp>
        <p:nvSpPr>
          <p:cNvPr id="17" name="anim_3_c"/>
          <p:cNvSpPr/>
          <p:nvPr/>
        </p:nvSpPr>
        <p:spPr>
          <a:xfrm>
            <a:off x="804672" y="407822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AQA Jun 2012 · P2</a:t>
            </a:r>
            <a:endParaRPr lang="en-US" sz="1100" dirty="0"/>
          </a:p>
        </p:txBody>
      </p:sp>
      <p:sp>
        <p:nvSpPr>
          <p:cNvPr id="18" name="anim_3_c"/>
          <p:cNvSpPr/>
          <p:nvPr/>
        </p:nvSpPr>
        <p:spPr>
          <a:xfrm>
            <a:off x="841248" y="4608576"/>
            <a:ext cx="105430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that   (x + 7)</a:t>
            </a:r>
            <a:pPr indent="0" marL="0">
              <a:lnSpc>
                <a:spcPct val="125000"/>
              </a:lnSpc>
              <a:buNone/>
            </a:pPr>
            <a:r>
              <a:rPr lang="en-US" sz="19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(x – 3)</a:t>
            </a:r>
            <a:pPr indent="0" marL="0">
              <a:lnSpc>
                <a:spcPct val="125000"/>
              </a:lnSpc>
              <a:buNone/>
            </a:pPr>
            <a:r>
              <a:rPr lang="en-US" sz="19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simplifies to   20(x + 2).</a:t>
            </a:r>
            <a:endParaRPr lang="en-US" sz="1900" dirty="0"/>
          </a:p>
        </p:txBody>
      </p:sp>
      <p:sp>
        <p:nvSpPr>
          <p:cNvPr id="19" name="anim_3_c"/>
          <p:cNvSpPr/>
          <p:nvPr/>
        </p:nvSpPr>
        <p:spPr>
          <a:xfrm>
            <a:off x="841248" y="5596128"/>
            <a:ext cx="10543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A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full working.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PAPER · GEOMETRY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Trapezium — Form &amp; Show an Equation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572768"/>
            <a:ext cx="566928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1828800" y="2788920"/>
            <a:ext cx="3108960" cy="1828800"/>
          </a:xfrm>
          <a:prstGeom prst="trapezoid">
            <a:avLst/>
          </a:prstGeom>
          <a:solidFill>
            <a:srgbClr val="EEF1E8"/>
          </a:solidFill>
          <a:ln w="25400">
            <a:solidFill>
              <a:srgbClr val="24332D"/>
            </a:solidFill>
            <a:prstDash val="solid"/>
          </a:ln>
        </p:spPr>
      </p:sp>
      <p:sp>
        <p:nvSpPr>
          <p:cNvPr id="8" name="anim_1_a"/>
          <p:cNvSpPr/>
          <p:nvPr/>
        </p:nvSpPr>
        <p:spPr>
          <a:xfrm>
            <a:off x="3383280" y="2788920"/>
            <a:ext cx="0" cy="1828800"/>
          </a:xfrm>
          <a:prstGeom prst="line">
            <a:avLst/>
          </a:prstGeom>
          <a:noFill/>
          <a:ln w="15875">
            <a:solidFill>
              <a:srgbClr val="6A7269"/>
            </a:solidFill>
            <a:prstDash val="dash"/>
          </a:ln>
        </p:spPr>
      </p:sp>
      <p:sp>
        <p:nvSpPr>
          <p:cNvPr id="9" name="anim_1_a"/>
          <p:cNvSpPr/>
          <p:nvPr/>
        </p:nvSpPr>
        <p:spPr>
          <a:xfrm>
            <a:off x="2194560" y="23957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 + 5)</a:t>
            </a:r>
            <a:endParaRPr lang="en-US" sz="1500" dirty="0"/>
          </a:p>
        </p:txBody>
      </p:sp>
      <p:sp>
        <p:nvSpPr>
          <p:cNvPr id="10" name="anim_1_a"/>
          <p:cNvSpPr/>
          <p:nvPr/>
        </p:nvSpPr>
        <p:spPr>
          <a:xfrm>
            <a:off x="1463040" y="464515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(3x – 2)</a:t>
            </a:r>
            <a:endParaRPr lang="en-US" sz="1500" dirty="0"/>
          </a:p>
        </p:txBody>
      </p:sp>
      <p:sp>
        <p:nvSpPr>
          <p:cNvPr id="11" name="anim_1_a"/>
          <p:cNvSpPr/>
          <p:nvPr/>
        </p:nvSpPr>
        <p:spPr>
          <a:xfrm>
            <a:off x="3493008" y="35661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(2x – 3)</a:t>
            </a:r>
            <a:endParaRPr lang="en-US" sz="1350" dirty="0"/>
          </a:p>
        </p:txBody>
      </p:sp>
      <p:sp>
        <p:nvSpPr>
          <p:cNvPr id="12" name="anim_1_a"/>
          <p:cNvSpPr/>
          <p:nvPr/>
        </p:nvSpPr>
        <p:spPr>
          <a:xfrm>
            <a:off x="868680" y="52852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A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not accurately drawn</a:t>
            </a:r>
            <a:endParaRPr lang="en-US" sz="1050" dirty="0"/>
          </a:p>
        </p:txBody>
      </p:sp>
      <p:sp>
        <p:nvSpPr>
          <p:cNvPr id="13" name="anim_1_a"/>
          <p:cNvSpPr/>
          <p:nvPr/>
        </p:nvSpPr>
        <p:spPr>
          <a:xfrm>
            <a:off x="6400800" y="1572768"/>
            <a:ext cx="5239512" cy="1234440"/>
          </a:xfrm>
          <a:prstGeom prst="roundRect">
            <a:avLst>
              <a:gd name="adj" fmla="val 7407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anim_1_a"/>
          <p:cNvSpPr/>
          <p:nvPr/>
        </p:nvSpPr>
        <p:spPr>
          <a:xfrm>
            <a:off x="6675120" y="1572768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area of the trapezium is 133 cm².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that   8x² – 6x – 275 = 0</a:t>
            </a:r>
            <a:endParaRPr lang="en-US" sz="1600" dirty="0"/>
          </a:p>
        </p:txBody>
      </p:sp>
      <p:sp>
        <p:nvSpPr>
          <p:cNvPr id="15" name="anim_2_c"/>
          <p:cNvSpPr/>
          <p:nvPr/>
        </p:nvSpPr>
        <p:spPr>
          <a:xfrm>
            <a:off x="6400800" y="312724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6" name="anim_2_c"/>
          <p:cNvSpPr/>
          <p:nvPr/>
        </p:nvSpPr>
        <p:spPr>
          <a:xfrm>
            <a:off x="640080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anim_2_c"/>
          <p:cNvSpPr/>
          <p:nvPr/>
        </p:nvSpPr>
        <p:spPr>
          <a:xfrm>
            <a:off x="6949440" y="3063240"/>
            <a:ext cx="4599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= ½(a + b)h</a:t>
            </a:r>
            <a:endParaRPr lang="en-US" sz="1500" dirty="0"/>
          </a:p>
        </p:txBody>
      </p:sp>
      <p:sp>
        <p:nvSpPr>
          <p:cNvPr id="18" name="anim_2_c"/>
          <p:cNvSpPr/>
          <p:nvPr/>
        </p:nvSpPr>
        <p:spPr>
          <a:xfrm>
            <a:off x="6949440" y="36118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½((x+5)+(3x–2))(2x–3)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½(4x + 3)(2x – 3)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½(8x</a:t>
            </a:r>
            <a:pPr indent="0" marL="0">
              <a:lnSpc>
                <a:spcPct val="120000"/>
              </a:lnSpc>
              <a:buNone/>
            </a:pPr>
            <a:r>
              <a:rPr lang="en-US" sz="15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6x – 9)</a:t>
            </a:r>
            <a:endParaRPr lang="en-US" sz="1500" dirty="0"/>
          </a:p>
        </p:txBody>
      </p:sp>
      <p:sp>
        <p:nvSpPr>
          <p:cNvPr id="19" name="anim_3_c"/>
          <p:cNvSpPr/>
          <p:nvPr/>
        </p:nvSpPr>
        <p:spPr>
          <a:xfrm>
            <a:off x="6400800" y="4882896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0" name="anim_3_c"/>
          <p:cNvSpPr/>
          <p:nvPr/>
        </p:nvSpPr>
        <p:spPr>
          <a:xfrm>
            <a:off x="6400800" y="4882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anim_3_c"/>
          <p:cNvSpPr/>
          <p:nvPr/>
        </p:nvSpPr>
        <p:spPr>
          <a:xfrm>
            <a:off x="6949440" y="4818888"/>
            <a:ext cx="4599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= 133:  8x</a:t>
            </a:r>
            <a:pPr indent="0" marL="0">
              <a:lnSpc>
                <a:spcPct val="105000"/>
              </a:lnSpc>
              <a:buNone/>
            </a:pPr>
            <a:r>
              <a:rPr lang="en-US" sz="1400" b="1" baseline="30000" dirty="0">
                <a:solidFill>
                  <a:srgbClr val="24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–6x–9 = 266</a:t>
            </a:r>
            <a:endParaRPr lang="en-US" sz="1400" dirty="0"/>
          </a:p>
        </p:txBody>
      </p:sp>
      <p:sp>
        <p:nvSpPr>
          <p:cNvPr id="22" name="anim_3_c"/>
          <p:cNvSpPr/>
          <p:nvPr/>
        </p:nvSpPr>
        <p:spPr>
          <a:xfrm>
            <a:off x="6949440" y="5440680"/>
            <a:ext cx="4663440" cy="502920"/>
          </a:xfrm>
          <a:prstGeom prst="roundRect">
            <a:avLst>
              <a:gd name="adj" fmla="val 21818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anim_3_c"/>
          <p:cNvSpPr/>
          <p:nvPr/>
        </p:nvSpPr>
        <p:spPr>
          <a:xfrm>
            <a:off x="7132320" y="54406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8x</a:t>
            </a:r>
            <a:pPr algn="ctr" indent="0" marL="0">
              <a:buNone/>
            </a:pPr>
            <a:r>
              <a:rPr lang="en-US" sz="1700" b="1" baseline="300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6x – 275 = 0   ✓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PAPER · GEOMETRY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Compound Shape — Form &amp; Show an Equation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572768"/>
            <a:ext cx="566928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1828800" y="4343400"/>
            <a:ext cx="2743200" cy="0"/>
          </a:xfrm>
          <a:prstGeom prst="line">
            <a:avLst/>
          </a:prstGeom>
          <a:noFill/>
          <a:ln w="25400">
            <a:solidFill>
              <a:srgbClr val="24332D"/>
            </a:solidFill>
            <a:prstDash val="solid"/>
          </a:ln>
        </p:spPr>
      </p:sp>
      <p:sp>
        <p:nvSpPr>
          <p:cNvPr id="8" name="anim_1_a"/>
          <p:cNvSpPr/>
          <p:nvPr/>
        </p:nvSpPr>
        <p:spPr>
          <a:xfrm>
            <a:off x="4572000" y="2331720"/>
            <a:ext cx="0" cy="2011680"/>
          </a:xfrm>
          <a:prstGeom prst="line">
            <a:avLst/>
          </a:prstGeom>
          <a:noFill/>
          <a:ln w="25400">
            <a:solidFill>
              <a:srgbClr val="24332D"/>
            </a:solidFill>
            <a:prstDash val="solid"/>
          </a:ln>
        </p:spPr>
      </p:sp>
      <p:sp>
        <p:nvSpPr>
          <p:cNvPr id="9" name="anim_1_a"/>
          <p:cNvSpPr/>
          <p:nvPr/>
        </p:nvSpPr>
        <p:spPr>
          <a:xfrm>
            <a:off x="3291840" y="2331720"/>
            <a:ext cx="1280160" cy="0"/>
          </a:xfrm>
          <a:prstGeom prst="line">
            <a:avLst/>
          </a:prstGeom>
          <a:noFill/>
          <a:ln w="25400">
            <a:solidFill>
              <a:srgbClr val="24332D"/>
            </a:solidFill>
            <a:prstDash val="solid"/>
          </a:ln>
        </p:spPr>
      </p:sp>
      <p:sp>
        <p:nvSpPr>
          <p:cNvPr id="10" name="anim_1_a"/>
          <p:cNvSpPr/>
          <p:nvPr/>
        </p:nvSpPr>
        <p:spPr>
          <a:xfrm>
            <a:off x="3291840" y="2331720"/>
            <a:ext cx="0" cy="1097280"/>
          </a:xfrm>
          <a:prstGeom prst="line">
            <a:avLst/>
          </a:prstGeom>
          <a:noFill/>
          <a:ln w="25400">
            <a:solidFill>
              <a:srgbClr val="24332D"/>
            </a:solidFill>
            <a:prstDash val="solid"/>
          </a:ln>
        </p:spPr>
      </p:sp>
      <p:sp>
        <p:nvSpPr>
          <p:cNvPr id="11" name="anim_1_a"/>
          <p:cNvSpPr/>
          <p:nvPr/>
        </p:nvSpPr>
        <p:spPr>
          <a:xfrm>
            <a:off x="1828800" y="3429000"/>
            <a:ext cx="1463040" cy="0"/>
          </a:xfrm>
          <a:prstGeom prst="line">
            <a:avLst/>
          </a:prstGeom>
          <a:noFill/>
          <a:ln w="25400">
            <a:solidFill>
              <a:srgbClr val="24332D"/>
            </a:solidFill>
            <a:prstDash val="solid"/>
          </a:ln>
        </p:spPr>
      </p:sp>
      <p:sp>
        <p:nvSpPr>
          <p:cNvPr id="12" name="anim_1_a"/>
          <p:cNvSpPr/>
          <p:nvPr/>
        </p:nvSpPr>
        <p:spPr>
          <a:xfrm>
            <a:off x="1828800" y="3429000"/>
            <a:ext cx="0" cy="914400"/>
          </a:xfrm>
          <a:prstGeom prst="line">
            <a:avLst/>
          </a:prstGeom>
          <a:noFill/>
          <a:ln w="25400">
            <a:solidFill>
              <a:srgbClr val="24332D"/>
            </a:solidFill>
            <a:prstDash val="solid"/>
          </a:ln>
        </p:spPr>
      </p:sp>
      <p:sp>
        <p:nvSpPr>
          <p:cNvPr id="13" name="anim_1_a"/>
          <p:cNvSpPr/>
          <p:nvPr/>
        </p:nvSpPr>
        <p:spPr>
          <a:xfrm>
            <a:off x="3657600" y="2002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anim_1_a"/>
          <p:cNvSpPr/>
          <p:nvPr/>
        </p:nvSpPr>
        <p:spPr>
          <a:xfrm>
            <a:off x="4681728" y="3108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3x</a:t>
            </a:r>
            <a:endParaRPr lang="en-US" sz="1400" dirty="0"/>
          </a:p>
        </p:txBody>
      </p:sp>
      <p:sp>
        <p:nvSpPr>
          <p:cNvPr id="15" name="anim_1_a"/>
          <p:cNvSpPr/>
          <p:nvPr/>
        </p:nvSpPr>
        <p:spPr>
          <a:xfrm>
            <a:off x="2194560" y="44165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(4x – 3)</a:t>
            </a:r>
            <a:endParaRPr lang="en-US" sz="1400" dirty="0"/>
          </a:p>
        </p:txBody>
      </p:sp>
      <p:sp>
        <p:nvSpPr>
          <p:cNvPr id="16" name="anim_1_a"/>
          <p:cNvSpPr/>
          <p:nvPr/>
        </p:nvSpPr>
        <p:spPr>
          <a:xfrm>
            <a:off x="640080" y="3749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 + 1)</a:t>
            </a:r>
            <a:endParaRPr lang="en-US" sz="1400" dirty="0"/>
          </a:p>
        </p:txBody>
      </p:sp>
      <p:sp>
        <p:nvSpPr>
          <p:cNvPr id="17" name="anim_1_a"/>
          <p:cNvSpPr/>
          <p:nvPr/>
        </p:nvSpPr>
        <p:spPr>
          <a:xfrm>
            <a:off x="868680" y="5440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A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corners right angles · not accurately drawn</a:t>
            </a:r>
            <a:endParaRPr lang="en-US" sz="1050" dirty="0"/>
          </a:p>
        </p:txBody>
      </p:sp>
      <p:sp>
        <p:nvSpPr>
          <p:cNvPr id="18" name="anim_1_a"/>
          <p:cNvSpPr/>
          <p:nvPr/>
        </p:nvSpPr>
        <p:spPr>
          <a:xfrm>
            <a:off x="6400800" y="1572768"/>
            <a:ext cx="5239512" cy="1234440"/>
          </a:xfrm>
          <a:prstGeom prst="roundRect">
            <a:avLst>
              <a:gd name="adj" fmla="val 7407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anim_1_a"/>
          <p:cNvSpPr/>
          <p:nvPr/>
        </p:nvSpPr>
        <p:spPr>
          <a:xfrm>
            <a:off x="6675120" y="1572768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area of the shape is 40 cm².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that   4x² + 9x – 47 = 0</a:t>
            </a:r>
            <a:endParaRPr lang="en-US" sz="1600" dirty="0"/>
          </a:p>
        </p:txBody>
      </p:sp>
      <p:sp>
        <p:nvSpPr>
          <p:cNvPr id="20" name="anim_2_c"/>
          <p:cNvSpPr/>
          <p:nvPr/>
        </p:nvSpPr>
        <p:spPr>
          <a:xfrm>
            <a:off x="6400800" y="312724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1" name="anim_2_c"/>
          <p:cNvSpPr/>
          <p:nvPr/>
        </p:nvSpPr>
        <p:spPr>
          <a:xfrm>
            <a:off x="640080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anim_2_c"/>
          <p:cNvSpPr/>
          <p:nvPr/>
        </p:nvSpPr>
        <p:spPr>
          <a:xfrm>
            <a:off x="6949440" y="3063240"/>
            <a:ext cx="4599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two rectangles:</a:t>
            </a:r>
            <a:endParaRPr lang="en-US" sz="1500" dirty="0"/>
          </a:p>
        </p:txBody>
      </p:sp>
      <p:sp>
        <p:nvSpPr>
          <p:cNvPr id="23" name="anim_2_c"/>
          <p:cNvSpPr/>
          <p:nvPr/>
        </p:nvSpPr>
        <p:spPr>
          <a:xfrm>
            <a:off x="6949440" y="361188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Bottom: (4x – 3)(x + 1)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Top: 4 × (2x – 1)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= 4x</a:t>
            </a:r>
            <a:pPr indent="0" marL="0">
              <a:lnSpc>
                <a:spcPct val="125000"/>
              </a:lnSpc>
              <a:buNone/>
            </a:pPr>
            <a:r>
              <a:rPr lang="en-US" sz="15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+ 9x – 7</a:t>
            </a:r>
            <a:endParaRPr lang="en-US" sz="1500" dirty="0"/>
          </a:p>
        </p:txBody>
      </p:sp>
      <p:sp>
        <p:nvSpPr>
          <p:cNvPr id="24" name="anim_3_c"/>
          <p:cNvSpPr/>
          <p:nvPr/>
        </p:nvSpPr>
        <p:spPr>
          <a:xfrm>
            <a:off x="6400800" y="4882896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5" name="anim_3_c"/>
          <p:cNvSpPr/>
          <p:nvPr/>
        </p:nvSpPr>
        <p:spPr>
          <a:xfrm>
            <a:off x="6400800" y="4882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anim_3_c"/>
          <p:cNvSpPr/>
          <p:nvPr/>
        </p:nvSpPr>
        <p:spPr>
          <a:xfrm>
            <a:off x="6949440" y="4818888"/>
            <a:ext cx="4599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= 40:</a:t>
            </a:r>
            <a:endParaRPr lang="en-US" sz="1400" dirty="0"/>
          </a:p>
        </p:txBody>
      </p:sp>
      <p:sp>
        <p:nvSpPr>
          <p:cNvPr id="27" name="anim_3_c"/>
          <p:cNvSpPr/>
          <p:nvPr/>
        </p:nvSpPr>
        <p:spPr>
          <a:xfrm>
            <a:off x="6949440" y="5440680"/>
            <a:ext cx="4663440" cy="502920"/>
          </a:xfrm>
          <a:prstGeom prst="roundRect">
            <a:avLst>
              <a:gd name="adj" fmla="val 21818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8" name="anim_3_c"/>
          <p:cNvSpPr/>
          <p:nvPr/>
        </p:nvSpPr>
        <p:spPr>
          <a:xfrm>
            <a:off x="7132320" y="54406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4x</a:t>
            </a:r>
            <a:pPr algn="ctr" indent="0" marL="0">
              <a:buNone/>
            </a:pPr>
            <a:r>
              <a:rPr lang="en-US" sz="1700" b="1" baseline="300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+ 9x – 47 = 0   ✓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84080" y="310896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3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731520" y="64008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6217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22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2240" dirty="0"/>
          </a:p>
        </p:txBody>
      </p:sp>
      <p:sp>
        <p:nvSpPr>
          <p:cNvPr id="5" name="Text 3"/>
          <p:cNvSpPr/>
          <p:nvPr/>
        </p:nvSpPr>
        <p:spPr>
          <a:xfrm>
            <a:off x="1517904" y="6766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Zπ MATHS HUB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Resources</a:t>
            </a:r>
            <a:endParaRPr lang="en-US" sz="3400" dirty="0"/>
          </a:p>
        </p:txBody>
      </p:sp>
      <p:sp>
        <p:nvSpPr>
          <p:cNvPr id="7" name="anim_1_a"/>
          <p:cNvSpPr/>
          <p:nvPr/>
        </p:nvSpPr>
        <p:spPr>
          <a:xfrm>
            <a:off x="731520" y="2240280"/>
            <a:ext cx="5440680" cy="1051560"/>
          </a:xfrm>
          <a:prstGeom prst="roundRect">
            <a:avLst>
              <a:gd name="adj" fmla="val 8696"/>
            </a:avLst>
          </a:prstGeom>
          <a:solidFill>
            <a:srgbClr val="283731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anim_1_a"/>
          <p:cNvSpPr/>
          <p:nvPr/>
        </p:nvSpPr>
        <p:spPr>
          <a:xfrm>
            <a:off x="1005840" y="238658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</a:t>
            </a:r>
            <a:endParaRPr lang="en-US" sz="1700" dirty="0"/>
          </a:p>
        </p:txBody>
      </p:sp>
      <p:sp>
        <p:nvSpPr>
          <p:cNvPr id="9" name="anim_1_a"/>
          <p:cNvSpPr/>
          <p:nvPr/>
        </p:nvSpPr>
        <p:spPr>
          <a:xfrm>
            <a:off x="1005840" y="275234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every inside term by the outside term</a:t>
            </a:r>
            <a:endParaRPr lang="en-US" sz="1250" dirty="0"/>
          </a:p>
        </p:txBody>
      </p:sp>
      <p:sp>
        <p:nvSpPr>
          <p:cNvPr id="10" name="anim_1_a"/>
          <p:cNvSpPr/>
          <p:nvPr/>
        </p:nvSpPr>
        <p:spPr>
          <a:xfrm>
            <a:off x="6355080" y="2240280"/>
            <a:ext cx="5440680" cy="1051560"/>
          </a:xfrm>
          <a:prstGeom prst="roundRect">
            <a:avLst>
              <a:gd name="adj" fmla="val 8696"/>
            </a:avLst>
          </a:prstGeom>
          <a:solidFill>
            <a:srgbClr val="283731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anim_1_a"/>
          <p:cNvSpPr/>
          <p:nvPr/>
        </p:nvSpPr>
        <p:spPr>
          <a:xfrm>
            <a:off x="6629400" y="238658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</a:t>
            </a:r>
            <a:endParaRPr lang="en-US" sz="1700" dirty="0"/>
          </a:p>
        </p:txBody>
      </p:sp>
      <p:sp>
        <p:nvSpPr>
          <p:cNvPr id="12" name="anim_1_a"/>
          <p:cNvSpPr/>
          <p:nvPr/>
        </p:nvSpPr>
        <p:spPr>
          <a:xfrm>
            <a:off x="6629400" y="275234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term × every term (grid / FOIL), then simplify</a:t>
            </a:r>
            <a:endParaRPr lang="en-US" sz="1250" dirty="0"/>
          </a:p>
        </p:txBody>
      </p:sp>
      <p:sp>
        <p:nvSpPr>
          <p:cNvPr id="13" name="anim_2_c"/>
          <p:cNvSpPr/>
          <p:nvPr/>
        </p:nvSpPr>
        <p:spPr>
          <a:xfrm>
            <a:off x="731520" y="3456432"/>
            <a:ext cx="5440680" cy="1051560"/>
          </a:xfrm>
          <a:prstGeom prst="roundRect">
            <a:avLst>
              <a:gd name="adj" fmla="val 8696"/>
            </a:avLst>
          </a:prstGeom>
          <a:solidFill>
            <a:srgbClr val="283731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14" name="anim_2_c"/>
          <p:cNvSpPr/>
          <p:nvPr/>
        </p:nvSpPr>
        <p:spPr>
          <a:xfrm>
            <a:off x="1005840" y="360273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Triple</a:t>
            </a:r>
            <a:endParaRPr lang="en-US" sz="1700" dirty="0"/>
          </a:p>
        </p:txBody>
      </p:sp>
      <p:sp>
        <p:nvSpPr>
          <p:cNvPr id="15" name="anim_2_c"/>
          <p:cNvSpPr/>
          <p:nvPr/>
        </p:nvSpPr>
        <p:spPr>
          <a:xfrm>
            <a:off x="1005840" y="396849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two brackets first, then multiply by the third</a:t>
            </a:r>
            <a:endParaRPr lang="en-US" sz="1250" dirty="0"/>
          </a:p>
        </p:txBody>
      </p:sp>
      <p:sp>
        <p:nvSpPr>
          <p:cNvPr id="16" name="anim_2_c"/>
          <p:cNvSpPr/>
          <p:nvPr/>
        </p:nvSpPr>
        <p:spPr>
          <a:xfrm>
            <a:off x="6355080" y="3456432"/>
            <a:ext cx="5440680" cy="1051560"/>
          </a:xfrm>
          <a:prstGeom prst="roundRect">
            <a:avLst>
              <a:gd name="adj" fmla="val 8696"/>
            </a:avLst>
          </a:prstGeom>
          <a:solidFill>
            <a:srgbClr val="283731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anim_2_c"/>
          <p:cNvSpPr/>
          <p:nvPr/>
        </p:nvSpPr>
        <p:spPr>
          <a:xfrm>
            <a:off x="6629400" y="360273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Square</a:t>
            </a:r>
            <a:endParaRPr lang="en-US" sz="1700" dirty="0"/>
          </a:p>
        </p:txBody>
      </p:sp>
      <p:sp>
        <p:nvSpPr>
          <p:cNvPr id="18" name="anim_2_c"/>
          <p:cNvSpPr/>
          <p:nvPr/>
        </p:nvSpPr>
        <p:spPr>
          <a:xfrm>
            <a:off x="6629400" y="396849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+ b)² = a² + 2ab + b² — keep the middle term</a:t>
            </a:r>
            <a:endParaRPr lang="en-US" sz="1250" dirty="0"/>
          </a:p>
        </p:txBody>
      </p:sp>
      <p:sp>
        <p:nvSpPr>
          <p:cNvPr id="19" name="anim_3_c"/>
          <p:cNvSpPr/>
          <p:nvPr/>
        </p:nvSpPr>
        <p:spPr>
          <a:xfrm>
            <a:off x="731520" y="4754880"/>
            <a:ext cx="10927080" cy="1005840"/>
          </a:xfrm>
          <a:prstGeom prst="roundRect">
            <a:avLst>
              <a:gd name="adj" fmla="val 10909"/>
            </a:avLst>
          </a:prstGeom>
          <a:solidFill>
            <a:srgbClr val="16261F"/>
          </a:solidFill>
          <a:ln w="15875">
            <a:solidFill>
              <a:srgbClr val="283731"/>
            </a:solidFill>
            <a:prstDash val="solid"/>
          </a:ln>
        </p:spPr>
      </p:sp>
      <p:sp>
        <p:nvSpPr>
          <p:cNvPr id="20" name="anim_3_c">
            <a:hlinkClick r:id="rIdundefined" tooltip=""/>
          </p:cNvPr>
          <p:cNvSpPr/>
          <p:nvPr/>
        </p:nvSpPr>
        <p:spPr>
          <a:xfrm>
            <a:off x="1051560" y="488289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Practice:  </a:t>
            </a:r>
            <a:pPr indent="0" marL="0">
              <a:buNone/>
            </a:pPr>
            <a:r>
              <a:rPr lang="en-US" sz="1300" u="sng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wordwall.net — expanding single brackets        ✉  zahraa.sheikhali@outlook.com</a:t>
            </a:r>
            <a:endParaRPr lang="en-US" sz="1300" dirty="0"/>
          </a:p>
        </p:txBody>
      </p:sp>
      <p:sp>
        <p:nvSpPr>
          <p:cNvPr id="21" name="anim_3_c"/>
          <p:cNvSpPr/>
          <p:nvPr/>
        </p:nvSpPr>
        <p:spPr>
          <a:xfrm>
            <a:off x="1051560" y="5303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Zahra Sheikh Ali  ·  Pearson Edexcel IGCSE (9–1) Mathematics A  ·  Higher Tier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Expanding Brackets — IGCSE Mathematics (Higher Tier)</dc:title>
  <dc:subject>PptxGenJS Presentation</dc:subject>
  <dc:creator>Zahra Sheikh Ali</dc:creator>
  <cp:lastModifiedBy>Zahra Sheikh Ali</cp:lastModifiedBy>
  <cp:revision>1</cp:revision>
  <dcterms:created xsi:type="dcterms:W3CDTF">2026-06-28T08:26:36Z</dcterms:created>
  <dcterms:modified xsi:type="dcterms:W3CDTF">2026-06-28T08:26:36Z</dcterms:modified>
</cp:coreProperties>
</file>