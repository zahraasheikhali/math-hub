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-562" y="-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425CA-51CB-40C3-A635-F8AFF62B19E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0F920-C906-49DE-915E-AFF6F3AB5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73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4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.wmf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3.wmf"/><Relationship Id="rId5" Type="http://schemas.openxmlformats.org/officeDocument/2006/relationships/audio" Target="../media/audio2.wav"/><Relationship Id="rId15" Type="http://schemas.openxmlformats.org/officeDocument/2006/relationships/image" Target="../media/image5.wmf"/><Relationship Id="rId10" Type="http://schemas.openxmlformats.org/officeDocument/2006/relationships/oleObject" Target="../embeddings/oleObject3.bin"/><Relationship Id="rId4" Type="http://schemas.openxmlformats.org/officeDocument/2006/relationships/audio" Target="../media/audio1.wav"/><Relationship Id="rId9" Type="http://schemas.openxmlformats.org/officeDocument/2006/relationships/image" Target="../media/image2.wmf"/><Relationship Id="rId1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95360" y="1371600"/>
            <a:ext cx="1005840" cy="914400"/>
          </a:xfrm>
          <a:prstGeom prst="triangle">
            <a:avLst/>
          </a:prstGeom>
          <a:ln w="38100">
            <a:solidFill>
              <a:srgbClr val="3346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868680"/>
            <a:ext cx="1554480" cy="1417320"/>
          </a:xfrm>
          <a:prstGeom prst="triangle">
            <a:avLst/>
          </a:prstGeom>
          <a:ln w="38100">
            <a:solidFill>
              <a:srgbClr val="3346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1" name="Text 39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Shapes</a:t>
            </a:r>
            <a:endParaRPr lang="en-US" sz="4200" dirty="0"/>
          </a:p>
        </p:txBody>
      </p:sp>
      <p:sp>
        <p:nvSpPr>
          <p:cNvPr id="44" name="Text 42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· Scale Factor · Finding Missing Lengths · Similar Triangles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Shape, Different Size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shapes are SIMILAR if one is an enlargement of the other.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angles are equal and their sides are in the same ratio — the SCALE FACTOR.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‘similar’ means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angles, sides in ratio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factor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missing lengths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triangles &amp; parallel lines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· enlargement · scale factor · ratio · corresponding sides · corresponding angles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Two Shapes Similar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= same shape, different size.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enlargement keeps the shape identical but changes the size.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Corresponding ANGLES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30175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EQUAL.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does not change — only the size — so every angle stays the same.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90488" y="228600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Corresponding SIDES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30175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IN PROPORTION.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side is multiplied by the SAME number — the scale factor.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66928" y="54864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 similar: all corresponding angles equal AND all corresponding sides in the same ratio.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FACTOR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Times Bigger?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factor k links the two shapes.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by dividing a pair of corresponding sides.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920240" y="2194560"/>
            <a:ext cx="83210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94560" y="21945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factor  k  =  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035040" y="24871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length on the BIG shape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35040" y="2761488"/>
            <a:ext cx="2651760" cy="0"/>
          </a:xfrm>
          <a:prstGeom prst="line">
            <a:avLst/>
          </a:prstGeom>
          <a:noFill/>
          <a:ln w="19050">
            <a:solidFill>
              <a:srgbClr val="EDEB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2788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length on the SMALL shape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66928" y="36118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32688" y="384962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BIGGER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914400" y="4297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→ big:  MULTIPLY by k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k = 3, side 4 cm  →  4 × 3 = 12 cm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190488" y="36118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556248" y="384962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SMALLER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6537960" y="4297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→ small:  DIVIDE by k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k = 3, side 12 cm  →  12 ÷ 3 = 4 cm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divide big by small to get the scale factor — it should be greater than 1.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Missing Length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pair of sides you know BOTH of.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big ÷ small to get the scale factor k.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k to enlarge; divide by k to reduce.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angles are equal first.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 pair CORRESPONDING sides — the ones in the same position.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similar shapes. Matching sides: 5 cm (small) and 15 cm (big).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factor k = 15 ÷ 5 = 3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small side is 4 cm. Find the matching big side.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3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cm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side = 12 cm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TRIANGLES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Lines Make Similar Triangles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parallel to one side of a triangle creates a smaller, SIMILAR triangle.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angles prove it.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035040" y="2194560"/>
            <a:ext cx="4937760" cy="3383280"/>
          </a:xfrm>
          <a:prstGeom prst="triangle">
            <a:avLst/>
          </a:prstGeom>
          <a:solidFill>
            <a:srgbClr val="EEF1E8">
              <a:alpha val="45000"/>
            </a:srgbClr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69480" y="3886200"/>
            <a:ext cx="2468880" cy="0"/>
          </a:xfrm>
          <a:prstGeom prst="line">
            <a:avLst/>
          </a:prstGeom>
          <a:noFill/>
          <a:ln w="27940">
            <a:solidFill>
              <a:srgbClr val="C84F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6676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49440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92640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760720" y="5440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881360" y="5440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66928" y="219456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32688" y="24323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they are similar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914400" y="288036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parallel to CD, so: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angle A is shared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equal corresponding angles (parallel lines)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triangle ABE is similar to triangle ACD.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sides are in proportion: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AB/AC = AE/AD = BE/CD.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shared angles and parallel sides — they signal similar triangles.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-164573" y="16459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-164573" y="73152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-164573" y="129844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55" y="182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402355" y="18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61307" y="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TRIANGLES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61307" y="2743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Lines Make Similar Triangles</a:t>
            </a:r>
            <a:endParaRPr lang="en-US" sz="2700" dirty="0"/>
          </a:p>
        </p:txBody>
      </p:sp>
      <p:sp>
        <p:nvSpPr>
          <p:cNvPr id="50" name="Shape 48"/>
          <p:cNvSpPr/>
          <p:nvPr/>
        </p:nvSpPr>
        <p:spPr>
          <a:xfrm>
            <a:off x="453212" y="746611"/>
            <a:ext cx="11000232" cy="5614416"/>
          </a:xfrm>
          <a:prstGeom prst="roundRect">
            <a:avLst>
              <a:gd name="adj" fmla="val 153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963841" y="658543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shared angles and parallel sides — they signal similar triangles.</a:t>
            </a:r>
            <a:endParaRPr lang="en-US" sz="1250" dirty="0"/>
          </a:p>
        </p:txBody>
      </p:sp>
      <p:sp>
        <p:nvSpPr>
          <p:cNvPr id="81" name="Text Placeholder 2"/>
          <p:cNvSpPr txBox="1">
            <a:spLocks/>
          </p:cNvSpPr>
          <p:nvPr/>
        </p:nvSpPr>
        <p:spPr>
          <a:xfrm>
            <a:off x="2544073" y="1315344"/>
            <a:ext cx="9144000" cy="55895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grpSp>
        <p:nvGrpSpPr>
          <p:cNvPr id="82" name="Group 50"/>
          <p:cNvGrpSpPr>
            <a:grpSpLocks/>
          </p:cNvGrpSpPr>
          <p:nvPr/>
        </p:nvGrpSpPr>
        <p:grpSpPr bwMode="auto">
          <a:xfrm>
            <a:off x="3523455" y="818470"/>
            <a:ext cx="6359527" cy="4308476"/>
            <a:chOff x="631" y="390"/>
            <a:chExt cx="4006" cy="2714"/>
          </a:xfrm>
        </p:grpSpPr>
        <p:sp>
          <p:nvSpPr>
            <p:cNvPr id="83" name="Freeform 2"/>
            <p:cNvSpPr>
              <a:spLocks/>
            </p:cNvSpPr>
            <p:nvPr/>
          </p:nvSpPr>
          <p:spPr bwMode="auto">
            <a:xfrm>
              <a:off x="923" y="1573"/>
              <a:ext cx="1953" cy="1344"/>
            </a:xfrm>
            <a:custGeom>
              <a:avLst/>
              <a:gdLst>
                <a:gd name="T0" fmla="*/ 0 w 1408"/>
                <a:gd name="T1" fmla="*/ 969 h 969"/>
                <a:gd name="T2" fmla="*/ 1408 w 1408"/>
                <a:gd name="T3" fmla="*/ 969 h 969"/>
                <a:gd name="T4" fmla="*/ 512 w 1408"/>
                <a:gd name="T5" fmla="*/ 0 h 969"/>
                <a:gd name="T6" fmla="*/ 0 w 1408"/>
                <a:gd name="T7" fmla="*/ 969 h 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08" h="969">
                  <a:moveTo>
                    <a:pt x="0" y="969"/>
                  </a:moveTo>
                  <a:lnTo>
                    <a:pt x="1408" y="969"/>
                  </a:lnTo>
                  <a:lnTo>
                    <a:pt x="512" y="0"/>
                  </a:lnTo>
                  <a:lnTo>
                    <a:pt x="0" y="9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84" name="Line 3"/>
            <p:cNvSpPr>
              <a:spLocks noChangeShapeType="1"/>
            </p:cNvSpPr>
            <p:nvPr/>
          </p:nvSpPr>
          <p:spPr bwMode="auto">
            <a:xfrm>
              <a:off x="1217" y="2350"/>
              <a:ext cx="1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85" name="Text Box 4"/>
            <p:cNvSpPr txBox="1">
              <a:spLocks noChangeArrowheads="1"/>
            </p:cNvSpPr>
            <p:nvPr/>
          </p:nvSpPr>
          <p:spPr bwMode="auto">
            <a:xfrm>
              <a:off x="1490" y="1273"/>
              <a:ext cx="2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400">
                  <a:solidFill>
                    <a:srgbClr val="000000"/>
                  </a:solidFill>
                  <a:latin typeface="Calibri" pitchFamily="34" charset="0"/>
                </a:rPr>
                <a:t>A</a:t>
              </a:r>
            </a:p>
          </p:txBody>
        </p:sp>
        <p:sp>
          <p:nvSpPr>
            <p:cNvPr id="86" name="Text Box 5"/>
            <p:cNvSpPr txBox="1">
              <a:spLocks noChangeArrowheads="1"/>
            </p:cNvSpPr>
            <p:nvPr/>
          </p:nvSpPr>
          <p:spPr bwMode="auto">
            <a:xfrm>
              <a:off x="877" y="2181"/>
              <a:ext cx="2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400">
                  <a:solidFill>
                    <a:srgbClr val="000000"/>
                  </a:solidFill>
                  <a:latin typeface="Calibri" pitchFamily="34" charset="0"/>
                </a:rPr>
                <a:t>B</a:t>
              </a:r>
            </a:p>
          </p:txBody>
        </p:sp>
        <p:sp>
          <p:nvSpPr>
            <p:cNvPr id="87" name="Text Box 6"/>
            <p:cNvSpPr txBox="1">
              <a:spLocks noChangeArrowheads="1"/>
            </p:cNvSpPr>
            <p:nvPr/>
          </p:nvSpPr>
          <p:spPr bwMode="auto">
            <a:xfrm>
              <a:off x="631" y="2816"/>
              <a:ext cx="2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400">
                  <a:solidFill>
                    <a:srgbClr val="000000"/>
                  </a:solidFill>
                  <a:latin typeface="Calibri" pitchFamily="34" charset="0"/>
                </a:rPr>
                <a:t>C</a:t>
              </a:r>
            </a:p>
          </p:txBody>
        </p:sp>
        <p:sp>
          <p:nvSpPr>
            <p:cNvPr id="88" name="Text Box 7"/>
            <p:cNvSpPr txBox="1">
              <a:spLocks noChangeArrowheads="1"/>
            </p:cNvSpPr>
            <p:nvPr/>
          </p:nvSpPr>
          <p:spPr bwMode="auto">
            <a:xfrm>
              <a:off x="2893" y="2784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400">
                  <a:solidFill>
                    <a:srgbClr val="000000"/>
                  </a:solidFill>
                  <a:latin typeface="Calibri" pitchFamily="34" charset="0"/>
                </a:rPr>
                <a:t>D</a:t>
              </a:r>
            </a:p>
          </p:txBody>
        </p:sp>
        <p:sp>
          <p:nvSpPr>
            <p:cNvPr id="89" name="Text Box 8"/>
            <p:cNvSpPr txBox="1">
              <a:spLocks noChangeArrowheads="1"/>
            </p:cNvSpPr>
            <p:nvPr/>
          </p:nvSpPr>
          <p:spPr bwMode="auto">
            <a:xfrm>
              <a:off x="2469" y="2134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400">
                  <a:solidFill>
                    <a:srgbClr val="000000"/>
                  </a:solidFill>
                  <a:latin typeface="Calibri" pitchFamily="34" charset="0"/>
                </a:rPr>
                <a:t>E</a:t>
              </a:r>
            </a:p>
          </p:txBody>
        </p:sp>
        <p:sp>
          <p:nvSpPr>
            <p:cNvPr id="90" name="Text Box 9"/>
            <p:cNvSpPr txBox="1">
              <a:spLocks noChangeArrowheads="1"/>
            </p:cNvSpPr>
            <p:nvPr/>
          </p:nvSpPr>
          <p:spPr bwMode="auto">
            <a:xfrm>
              <a:off x="989" y="390"/>
              <a:ext cx="3648" cy="9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1800" dirty="0">
                  <a:solidFill>
                    <a:srgbClr val="000000"/>
                  </a:solidFill>
                  <a:latin typeface="Calibri" pitchFamily="34" charset="0"/>
                </a:rPr>
                <a:t>In the diagram below BE is parallel to CD and all measurements are as shown. 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AutoNum type="alphaLcParenBoth"/>
              </a:pPr>
              <a:r>
                <a:rPr lang="en-GB" sz="1800" dirty="0">
                  <a:solidFill>
                    <a:srgbClr val="000000"/>
                  </a:solidFill>
                  <a:latin typeface="Calibri" pitchFamily="34" charset="0"/>
                </a:rPr>
                <a:t>Calculate the length CD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FontTx/>
                <a:buAutoNum type="alphaLcParenBoth"/>
              </a:pPr>
              <a:r>
                <a:rPr lang="en-GB" sz="1800" dirty="0">
                  <a:solidFill>
                    <a:srgbClr val="000000"/>
                  </a:solidFill>
                  <a:latin typeface="Calibri" pitchFamily="34" charset="0"/>
                </a:rPr>
                <a:t>Calculate the perimeter of the Trapezium EBCD</a:t>
              </a:r>
            </a:p>
          </p:txBody>
        </p:sp>
        <p:grpSp>
          <p:nvGrpSpPr>
            <p:cNvPr id="91" name="Group 90"/>
            <p:cNvGrpSpPr>
              <a:grpSpLocks/>
            </p:cNvGrpSpPr>
            <p:nvPr/>
          </p:nvGrpSpPr>
          <p:grpSpPr bwMode="auto">
            <a:xfrm>
              <a:off x="1722" y="2313"/>
              <a:ext cx="63" cy="81"/>
              <a:chOff x="1722" y="2313"/>
              <a:chExt cx="63" cy="81"/>
            </a:xfrm>
          </p:grpSpPr>
          <p:sp>
            <p:nvSpPr>
              <p:cNvPr id="107" name="Line 10"/>
              <p:cNvSpPr>
                <a:spLocks noChangeShapeType="1"/>
              </p:cNvSpPr>
              <p:nvPr/>
            </p:nvSpPr>
            <p:spPr bwMode="auto">
              <a:xfrm>
                <a:off x="1722" y="2313"/>
                <a:ext cx="63" cy="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08" name="Line 11"/>
              <p:cNvSpPr>
                <a:spLocks noChangeShapeType="1"/>
              </p:cNvSpPr>
              <p:nvPr/>
            </p:nvSpPr>
            <p:spPr bwMode="auto">
              <a:xfrm flipH="1">
                <a:off x="1722" y="2349"/>
                <a:ext cx="63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</p:grpSp>
        <p:grpSp>
          <p:nvGrpSpPr>
            <p:cNvPr id="92" name="Group 91"/>
            <p:cNvGrpSpPr>
              <a:grpSpLocks/>
            </p:cNvGrpSpPr>
            <p:nvPr/>
          </p:nvGrpSpPr>
          <p:grpSpPr bwMode="auto">
            <a:xfrm>
              <a:off x="1704" y="2880"/>
              <a:ext cx="63" cy="81"/>
              <a:chOff x="1722" y="2313"/>
              <a:chExt cx="63" cy="81"/>
            </a:xfrm>
          </p:grpSpPr>
          <p:sp>
            <p:nvSpPr>
              <p:cNvPr id="105" name="Line 14"/>
              <p:cNvSpPr>
                <a:spLocks noChangeShapeType="1"/>
              </p:cNvSpPr>
              <p:nvPr/>
            </p:nvSpPr>
            <p:spPr bwMode="auto">
              <a:xfrm>
                <a:off x="1722" y="2313"/>
                <a:ext cx="63" cy="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106" name="Line 15"/>
              <p:cNvSpPr>
                <a:spLocks noChangeShapeType="1"/>
              </p:cNvSpPr>
              <p:nvPr/>
            </p:nvSpPr>
            <p:spPr bwMode="auto">
              <a:xfrm flipH="1">
                <a:off x="1722" y="2349"/>
                <a:ext cx="63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</p:grpSp>
        <p:sp>
          <p:nvSpPr>
            <p:cNvPr id="93" name="Text Box 16"/>
            <p:cNvSpPr txBox="1">
              <a:spLocks noChangeArrowheads="1"/>
            </p:cNvSpPr>
            <p:nvPr/>
          </p:nvSpPr>
          <p:spPr bwMode="auto">
            <a:xfrm>
              <a:off x="1545" y="2360"/>
              <a:ext cx="45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1600">
                  <a:solidFill>
                    <a:srgbClr val="000000"/>
                  </a:solidFill>
                  <a:latin typeface="Calibri" pitchFamily="34" charset="0"/>
                </a:rPr>
                <a:t>4.8 m</a:t>
              </a:r>
            </a:p>
          </p:txBody>
        </p:sp>
        <p:sp>
          <p:nvSpPr>
            <p:cNvPr id="94" name="Line 17"/>
            <p:cNvSpPr>
              <a:spLocks noChangeShapeType="1"/>
            </p:cNvSpPr>
            <p:nvPr/>
          </p:nvSpPr>
          <p:spPr bwMode="auto">
            <a:xfrm>
              <a:off x="1953" y="2463"/>
              <a:ext cx="4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95" name="Line 18"/>
            <p:cNvSpPr>
              <a:spLocks noChangeShapeType="1"/>
            </p:cNvSpPr>
            <p:nvPr/>
          </p:nvSpPr>
          <p:spPr bwMode="auto">
            <a:xfrm flipH="1">
              <a:off x="1215" y="2466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96" name="Text Box 19"/>
            <p:cNvSpPr txBox="1">
              <a:spLocks noChangeArrowheads="1"/>
            </p:cNvSpPr>
            <p:nvPr/>
          </p:nvSpPr>
          <p:spPr bwMode="auto">
            <a:xfrm>
              <a:off x="1965" y="1800"/>
              <a:ext cx="3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1600">
                  <a:solidFill>
                    <a:srgbClr val="000000"/>
                  </a:solidFill>
                  <a:latin typeface="Calibri" pitchFamily="34" charset="0"/>
                </a:rPr>
                <a:t>6 m</a:t>
              </a:r>
            </a:p>
          </p:txBody>
        </p:sp>
        <p:sp>
          <p:nvSpPr>
            <p:cNvPr id="97" name="Line 20"/>
            <p:cNvSpPr>
              <a:spLocks noChangeShapeType="1"/>
            </p:cNvSpPr>
            <p:nvPr/>
          </p:nvSpPr>
          <p:spPr bwMode="auto">
            <a:xfrm>
              <a:off x="2180" y="2012"/>
              <a:ext cx="26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98" name="Line 21"/>
            <p:cNvSpPr>
              <a:spLocks noChangeShapeType="1"/>
            </p:cNvSpPr>
            <p:nvPr/>
          </p:nvSpPr>
          <p:spPr bwMode="auto">
            <a:xfrm flipH="1" flipV="1">
              <a:off x="1732" y="1528"/>
              <a:ext cx="296" cy="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99" name="Text Box 22"/>
            <p:cNvSpPr txBox="1">
              <a:spLocks noChangeArrowheads="1"/>
            </p:cNvSpPr>
            <p:nvPr/>
          </p:nvSpPr>
          <p:spPr bwMode="auto">
            <a:xfrm>
              <a:off x="2525" y="2448"/>
              <a:ext cx="3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1600">
                  <a:solidFill>
                    <a:srgbClr val="000000"/>
                  </a:solidFill>
                  <a:latin typeface="Calibri" pitchFamily="34" charset="0"/>
                </a:rPr>
                <a:t>3 m</a:t>
              </a:r>
            </a:p>
          </p:txBody>
        </p:sp>
        <p:sp>
          <p:nvSpPr>
            <p:cNvPr id="100" name="Line 23"/>
            <p:cNvSpPr>
              <a:spLocks noChangeShapeType="1"/>
            </p:cNvSpPr>
            <p:nvPr/>
          </p:nvSpPr>
          <p:spPr bwMode="auto">
            <a:xfrm>
              <a:off x="2704" y="2624"/>
              <a:ext cx="244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01" name="Line 24"/>
            <p:cNvSpPr>
              <a:spLocks noChangeShapeType="1"/>
            </p:cNvSpPr>
            <p:nvPr/>
          </p:nvSpPr>
          <p:spPr bwMode="auto">
            <a:xfrm flipH="1" flipV="1">
              <a:off x="2440" y="2340"/>
              <a:ext cx="160" cy="1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02" name="Text Box 25"/>
            <p:cNvSpPr txBox="1">
              <a:spLocks noChangeArrowheads="1"/>
            </p:cNvSpPr>
            <p:nvPr/>
          </p:nvSpPr>
          <p:spPr bwMode="auto">
            <a:xfrm>
              <a:off x="1005" y="1852"/>
              <a:ext cx="45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1600">
                  <a:solidFill>
                    <a:srgbClr val="000000"/>
                  </a:solidFill>
                  <a:latin typeface="Calibri" pitchFamily="34" charset="0"/>
                </a:rPr>
                <a:t>4.2 m</a:t>
              </a:r>
            </a:p>
          </p:txBody>
        </p:sp>
        <p:sp>
          <p:nvSpPr>
            <p:cNvPr id="103" name="Line 27"/>
            <p:cNvSpPr>
              <a:spLocks noChangeShapeType="1"/>
            </p:cNvSpPr>
            <p:nvPr/>
          </p:nvSpPr>
          <p:spPr bwMode="auto">
            <a:xfrm flipV="1">
              <a:off x="1332" y="1548"/>
              <a:ext cx="216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04" name="Line 29"/>
            <p:cNvSpPr>
              <a:spLocks noChangeShapeType="1"/>
            </p:cNvSpPr>
            <p:nvPr/>
          </p:nvSpPr>
          <p:spPr bwMode="auto">
            <a:xfrm flipH="1">
              <a:off x="1108" y="2020"/>
              <a:ext cx="172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</p:grpSp>
      <p:grpSp>
        <p:nvGrpSpPr>
          <p:cNvPr id="109" name="Group 60"/>
          <p:cNvGrpSpPr>
            <a:grpSpLocks/>
          </p:cNvGrpSpPr>
          <p:nvPr/>
        </p:nvGrpSpPr>
        <p:grpSpPr bwMode="auto">
          <a:xfrm>
            <a:off x="7646187" y="2104344"/>
            <a:ext cx="3676650" cy="3200400"/>
            <a:chOff x="3228" y="1200"/>
            <a:chExt cx="2316" cy="2016"/>
          </a:xfrm>
        </p:grpSpPr>
        <p:sp>
          <p:nvSpPr>
            <p:cNvPr id="110" name="Freeform 45"/>
            <p:cNvSpPr>
              <a:spLocks/>
            </p:cNvSpPr>
            <p:nvPr/>
          </p:nvSpPr>
          <p:spPr bwMode="auto">
            <a:xfrm>
              <a:off x="3383" y="1525"/>
              <a:ext cx="1953" cy="1344"/>
            </a:xfrm>
            <a:custGeom>
              <a:avLst/>
              <a:gdLst>
                <a:gd name="T0" fmla="*/ 0 w 1408"/>
                <a:gd name="T1" fmla="*/ 969 h 969"/>
                <a:gd name="T2" fmla="*/ 1408 w 1408"/>
                <a:gd name="T3" fmla="*/ 969 h 969"/>
                <a:gd name="T4" fmla="*/ 512 w 1408"/>
                <a:gd name="T5" fmla="*/ 0 h 969"/>
                <a:gd name="T6" fmla="*/ 0 w 1408"/>
                <a:gd name="T7" fmla="*/ 969 h 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08" h="969">
                  <a:moveTo>
                    <a:pt x="0" y="969"/>
                  </a:moveTo>
                  <a:lnTo>
                    <a:pt x="1408" y="969"/>
                  </a:lnTo>
                  <a:lnTo>
                    <a:pt x="512" y="0"/>
                  </a:lnTo>
                  <a:lnTo>
                    <a:pt x="0" y="9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11" name="Text Box 46"/>
            <p:cNvSpPr txBox="1">
              <a:spLocks noChangeArrowheads="1"/>
            </p:cNvSpPr>
            <p:nvPr/>
          </p:nvSpPr>
          <p:spPr bwMode="auto">
            <a:xfrm>
              <a:off x="4677" y="1992"/>
              <a:ext cx="46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1600">
                  <a:solidFill>
                    <a:srgbClr val="000000"/>
                  </a:solidFill>
                  <a:latin typeface="Calibri" pitchFamily="34" charset="0"/>
                </a:rPr>
                <a:t>9 m</a:t>
              </a:r>
            </a:p>
          </p:txBody>
        </p:sp>
        <p:sp>
          <p:nvSpPr>
            <p:cNvPr id="112" name="Line 47"/>
            <p:cNvSpPr>
              <a:spLocks noChangeShapeType="1"/>
            </p:cNvSpPr>
            <p:nvPr/>
          </p:nvSpPr>
          <p:spPr bwMode="auto">
            <a:xfrm flipH="1" flipV="1">
              <a:off x="4200" y="1476"/>
              <a:ext cx="492" cy="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13" name="Line 48"/>
            <p:cNvSpPr>
              <a:spLocks noChangeShapeType="1"/>
            </p:cNvSpPr>
            <p:nvPr/>
          </p:nvSpPr>
          <p:spPr bwMode="auto">
            <a:xfrm>
              <a:off x="4908" y="2172"/>
              <a:ext cx="540" cy="6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14" name="Text Box 57"/>
            <p:cNvSpPr txBox="1">
              <a:spLocks noChangeArrowheads="1"/>
            </p:cNvSpPr>
            <p:nvPr/>
          </p:nvSpPr>
          <p:spPr bwMode="auto">
            <a:xfrm>
              <a:off x="3936" y="120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400">
                  <a:solidFill>
                    <a:srgbClr val="000000"/>
                  </a:solidFill>
                  <a:latin typeface="Calibri" pitchFamily="34" charset="0"/>
                </a:rPr>
                <a:t>A</a:t>
              </a:r>
            </a:p>
          </p:txBody>
        </p:sp>
        <p:sp>
          <p:nvSpPr>
            <p:cNvPr id="115" name="Text Box 58"/>
            <p:cNvSpPr txBox="1">
              <a:spLocks noChangeArrowheads="1"/>
            </p:cNvSpPr>
            <p:nvPr/>
          </p:nvSpPr>
          <p:spPr bwMode="auto">
            <a:xfrm>
              <a:off x="3228" y="2904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400">
                  <a:solidFill>
                    <a:srgbClr val="000000"/>
                  </a:solidFill>
                  <a:latin typeface="Calibri" pitchFamily="34" charset="0"/>
                </a:rPr>
                <a:t>C</a:t>
              </a:r>
            </a:p>
          </p:txBody>
        </p:sp>
        <p:sp>
          <p:nvSpPr>
            <p:cNvPr id="116" name="Text Box 59"/>
            <p:cNvSpPr txBox="1">
              <a:spLocks noChangeArrowheads="1"/>
            </p:cNvSpPr>
            <p:nvPr/>
          </p:nvSpPr>
          <p:spPr bwMode="auto">
            <a:xfrm>
              <a:off x="5268" y="2928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400">
                  <a:solidFill>
                    <a:srgbClr val="000000"/>
                  </a:solidFill>
                  <a:latin typeface="Calibri" pitchFamily="34" charset="0"/>
                </a:rPr>
                <a:t>D</a:t>
              </a:r>
            </a:p>
          </p:txBody>
        </p:sp>
      </p:grpSp>
      <p:grpSp>
        <p:nvGrpSpPr>
          <p:cNvPr id="117" name="Group 63"/>
          <p:cNvGrpSpPr>
            <a:grpSpLocks/>
          </p:cNvGrpSpPr>
          <p:nvPr/>
        </p:nvGrpSpPr>
        <p:grpSpPr bwMode="auto">
          <a:xfrm>
            <a:off x="5017287" y="4771344"/>
            <a:ext cx="4838700" cy="473075"/>
            <a:chOff x="1572" y="2880"/>
            <a:chExt cx="3048" cy="298"/>
          </a:xfrm>
        </p:grpSpPr>
        <p:sp>
          <p:nvSpPr>
            <p:cNvPr id="118" name="Text Box 52"/>
            <p:cNvSpPr txBox="1">
              <a:spLocks noChangeArrowheads="1"/>
            </p:cNvSpPr>
            <p:nvPr/>
          </p:nvSpPr>
          <p:spPr bwMode="auto">
            <a:xfrm>
              <a:off x="1572" y="292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000">
                  <a:solidFill>
                    <a:srgbClr val="3333CC"/>
                  </a:solidFill>
                  <a:latin typeface="Calibri" pitchFamily="34" charset="0"/>
                </a:rPr>
                <a:t>7.2m</a:t>
              </a:r>
            </a:p>
          </p:txBody>
        </p:sp>
        <p:sp>
          <p:nvSpPr>
            <p:cNvPr id="119" name="Text Box 61"/>
            <p:cNvSpPr txBox="1">
              <a:spLocks noChangeArrowheads="1"/>
            </p:cNvSpPr>
            <p:nvPr/>
          </p:nvSpPr>
          <p:spPr bwMode="auto">
            <a:xfrm>
              <a:off x="3996" y="288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sz="2000">
                  <a:solidFill>
                    <a:srgbClr val="3333CC"/>
                  </a:solidFill>
                  <a:latin typeface="Calibri" pitchFamily="34" charset="0"/>
                </a:rPr>
                <a:t>7.2m</a:t>
              </a:r>
            </a:p>
          </p:txBody>
        </p:sp>
      </p:grpSp>
      <p:sp>
        <p:nvSpPr>
          <p:cNvPr id="120" name="Text Box 55"/>
          <p:cNvSpPr txBox="1">
            <a:spLocks noChangeArrowheads="1"/>
          </p:cNvSpPr>
          <p:nvPr/>
        </p:nvSpPr>
        <p:spPr bwMode="auto">
          <a:xfrm>
            <a:off x="3493287" y="4142694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000">
                <a:solidFill>
                  <a:srgbClr val="FF0066"/>
                </a:solidFill>
                <a:latin typeface="Calibri" pitchFamily="34" charset="0"/>
              </a:rPr>
              <a:t>2.1 m</a:t>
            </a:r>
          </a:p>
        </p:txBody>
      </p:sp>
      <p:sp>
        <p:nvSpPr>
          <p:cNvPr id="121" name="Text Box 62"/>
          <p:cNvSpPr txBox="1">
            <a:spLocks noChangeArrowheads="1"/>
          </p:cNvSpPr>
          <p:nvPr/>
        </p:nvSpPr>
        <p:spPr bwMode="auto">
          <a:xfrm>
            <a:off x="7589037" y="3380694"/>
            <a:ext cx="99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000">
                <a:solidFill>
                  <a:srgbClr val="FF0066"/>
                </a:solidFill>
                <a:latin typeface="Calibri" pitchFamily="34" charset="0"/>
              </a:rPr>
              <a:t>6.3m</a:t>
            </a:r>
          </a:p>
        </p:txBody>
      </p:sp>
      <p:graphicFrame>
        <p:nvGraphicFramePr>
          <p:cNvPr id="122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157643"/>
              </p:ext>
            </p:extLst>
          </p:nvPr>
        </p:nvGraphicFramePr>
        <p:xfrm>
          <a:off x="3075775" y="5068504"/>
          <a:ext cx="17478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6" imgW="1117440" imgH="406080" progId="Equation.DSMT4">
                  <p:embed/>
                </p:oleObj>
              </mc:Choice>
              <mc:Fallback>
                <p:oleObj name="Equation" r:id="rId6" imgW="1117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5775" y="5068504"/>
                        <a:ext cx="17478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78532"/>
              </p:ext>
            </p:extLst>
          </p:nvPr>
        </p:nvGraphicFramePr>
        <p:xfrm>
          <a:off x="3163087" y="5836854"/>
          <a:ext cx="2676525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8" imgW="1714320" imgH="177480" progId="Equation.DSMT4">
                  <p:embed/>
                </p:oleObj>
              </mc:Choice>
              <mc:Fallback>
                <p:oleObj name="Equation" r:id="rId8" imgW="1714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087" y="5836854"/>
                        <a:ext cx="2676525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99886"/>
              </p:ext>
            </p:extLst>
          </p:nvPr>
        </p:nvGraphicFramePr>
        <p:xfrm>
          <a:off x="7061987" y="5206617"/>
          <a:ext cx="275113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10" imgW="1854000" imgH="190440" progId="Equation.DSMT4">
                  <p:embed/>
                </p:oleObj>
              </mc:Choice>
              <mc:Fallback>
                <p:oleObj name="Equation" r:id="rId10" imgW="18540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987" y="5206617"/>
                        <a:ext cx="2751138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238232"/>
              </p:ext>
            </p:extLst>
          </p:nvPr>
        </p:nvGraphicFramePr>
        <p:xfrm>
          <a:off x="7260425" y="5676517"/>
          <a:ext cx="24320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12" imgW="1638000" imgH="190440" progId="Equation.DSMT4">
                  <p:embed/>
                </p:oleObj>
              </mc:Choice>
              <mc:Fallback>
                <p:oleObj name="Equation" r:id="rId12" imgW="16380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0425" y="5676517"/>
                        <a:ext cx="24320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6597"/>
              </p:ext>
            </p:extLst>
          </p:nvPr>
        </p:nvGraphicFramePr>
        <p:xfrm>
          <a:off x="6900063" y="5973379"/>
          <a:ext cx="409257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4" imgW="2755800" imgH="190440" progId="Equation.DSMT4">
                  <p:embed/>
                </p:oleObj>
              </mc:Choice>
              <mc:Fallback>
                <p:oleObj name="Equation" r:id="rId14" imgW="27558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063" y="5973379"/>
                        <a:ext cx="4092575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352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utoUpdateAnimBg="0"/>
      <p:bldP spid="12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TECHNIQUE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Reliable Method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same four steps every time.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508760" y="2194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corresponding sides (same position in each shape).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566928" y="312724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3101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508760" y="312724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scale factor: divide a BIG side by its matching SMALL side.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566928" y="4059936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1508760" y="405993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(to enlarge) or divide (to reduce) to find the missing length.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566928" y="4992624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68680" y="5175504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6868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1508760" y="499262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triangles, redraw them the same way up so the pairs line up.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sides are OPPOSITE equal angles — that is how you pair them correctly.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corresponding sides, find the scale factor, then multiply or divide.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corresponding sides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factor = big ÷ small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to enlarge, divide to reduce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triangles, use equal angles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300792" y="1408176"/>
            <a:ext cx="759011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944" y="1481328"/>
            <a:ext cx="744380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47742" y="1408176"/>
            <a:ext cx="6096210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894" y="1481328"/>
            <a:ext cx="594990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824512" y="1408176"/>
            <a:ext cx="654267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664" y="1481328"/>
            <a:ext cx="639636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987128" y="1408176"/>
            <a:ext cx="6217439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280" y="1481328"/>
            <a:ext cx="607113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772692" y="1408176"/>
            <a:ext cx="4646310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844" y="1481328"/>
            <a:ext cx="450000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643531" y="1408176"/>
            <a:ext cx="8904634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683" y="1481328"/>
            <a:ext cx="875833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436155" y="1408176"/>
            <a:ext cx="5319385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307" y="1481328"/>
            <a:ext cx="5173081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401869" y="1408176"/>
            <a:ext cx="538795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021" y="1481328"/>
            <a:ext cx="524165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450696" y="1408176"/>
            <a:ext cx="9290304" cy="480439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848" y="1481328"/>
            <a:ext cx="9144000" cy="46580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10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03450" y="1408176"/>
            <a:ext cx="698479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602" y="1481328"/>
            <a:ext cx="683849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202931" y="1408176"/>
            <a:ext cx="5785833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083" y="1481328"/>
            <a:ext cx="563952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shapes: same shape, different size — an enlargement.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angles are EQUAL; corresponding sides are IN PROPORTION.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factor k = a big length ÷ its matching small length.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 by multiplying by k; reduce by dividing by k.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parallel to one side of a triangle makes a smaller SIMILAR triangle.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corresponding sides, find the scale factor, then multiply or divide.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906</Words>
  <Application>Microsoft Office PowerPoint</Application>
  <PresentationFormat>Custom</PresentationFormat>
  <Paragraphs>197</Paragraphs>
  <Slides>21</Slides>
  <Notes>21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2</cp:revision>
  <dcterms:created xsi:type="dcterms:W3CDTF">2026-07-15T21:31:29Z</dcterms:created>
  <dcterms:modified xsi:type="dcterms:W3CDTF">2026-07-27T10:41:48Z</dcterms:modified>
</cp:coreProperties>
</file>