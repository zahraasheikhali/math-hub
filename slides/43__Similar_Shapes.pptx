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media/audio1.wav" ContentType="audio/x-wav"/>
  <Override PartName="/ppt/media/image8.png" ContentType="image/png"/>
  <Override PartName="/ppt/media/audio2.wav" ContentType="audio/x-wav"/>
  <Override PartName="/ppt/media/image9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019E85E-10B4-4B30-B2A7-DF36E458516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69D2F0-529E-4210-A8F0-E606AC332F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3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63D108-9AEE-452D-B10D-9BD72D16278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3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C7D961-DD19-4226-97A5-02ADCFBD147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41D4D5-BEA9-4140-B804-AAF1DF78BAA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4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F5B9CD-4371-455A-A446-C11A43A4B5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4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C6DBA9-869C-48E0-9D8E-5056E834512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9BD03E-2A06-4F01-AD1E-A1FBF9E9B4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5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3AD532-DE42-41B0-B9E5-7BD6542665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5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47F571-58B0-4BDB-8836-04AC594E356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5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3F6B4E-03CC-475F-AF77-C72B9A944D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6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97AD6F-C8CF-4E70-80D8-7E86C1B1723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6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078C46-B96C-4FA1-B6B5-B3C0828C02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6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10E00D-0A45-4F43-A1B7-F9CF9091FE6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7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2A0C6D-793B-438B-8D40-09AD9DAE2B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7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2DC0DE-13B3-48BC-9BC5-143EB48E571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7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721D19-4875-421B-9D73-4C7C02B955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8D4FF8-E8DB-4769-9322-43F17258A4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DD1443-2F94-481C-9FEB-5702345B82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083852-1099-4479-989B-E070881BDE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48FF0F-C837-4560-89BA-60D3395324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ADDFFA-A40D-4735-A5EE-8A28D7D30C8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oleObject" Target="../embeddings/oleObject2.bin"/><Relationship Id="rId3" Type="http://schemas.openxmlformats.org/officeDocument/2006/relationships/oleObject" Target="../embeddings/oleObject3.bin"/><Relationship Id="rId4" Type="http://schemas.openxmlformats.org/officeDocument/2006/relationships/oleObject" Target="../embeddings/oleObject4.bin"/><Relationship Id="rId5" Type="http://schemas.openxmlformats.org/officeDocument/2006/relationships/oleObject" Target="../embeddings/oleObject5.bin"/><Relationship Id="rId6" Type="http://schemas.openxmlformats.org/officeDocument/2006/relationships/audio" Target="../media/audio1.wav"/><Relationship Id="rId7" Type="http://schemas.openxmlformats.org/officeDocument/2006/relationships/audio" Target="../media/audio1.wav"/><Relationship Id="rId8" Type="http://schemas.openxmlformats.org/officeDocument/2006/relationships/audio" Target="../media/audio2.wav"/><Relationship Id="rId9" Type="http://schemas.openxmlformats.org/officeDocument/2006/relationships/audio" Target="../media/audio1.wav"/><Relationship Id="rId10" Type="http://schemas.openxmlformats.org/officeDocument/2006/relationships/audio" Target="../media/audio2.wav"/><Relationship Id="rId11" Type="http://schemas.openxmlformats.org/officeDocument/2006/relationships/audio" Target="../media/audio1.wav"/><Relationship Id="rId12" Type="http://schemas.openxmlformats.org/officeDocument/2006/relationships/audio" Target="../media/audio2.wav"/><Relationship Id="rId13" Type="http://schemas.openxmlformats.org/officeDocument/2006/relationships/audio" Target="../media/audio1.wav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595360" y="1371600"/>
            <a:ext cx="1005480" cy="914040"/>
          </a:xfrm>
          <a:prstGeom prst="triangle">
            <a:avLst>
              <a:gd name="adj" fmla="val 50000"/>
            </a:avLst>
          </a:prstGeom>
          <a:noFill/>
          <a:ln w="381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9784080" y="868680"/>
            <a:ext cx="1554120" cy="1416960"/>
          </a:xfrm>
          <a:prstGeom prst="triangle">
            <a:avLst>
              <a:gd name="adj" fmla="val 50000"/>
            </a:avLst>
          </a:prstGeom>
          <a:noFill/>
          <a:ln w="381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e0ac2b"/>
                </a:solidFill>
                <a:latin typeface="Cambria"/>
                <a:ea typeface="Cambria"/>
              </a:rPr>
              <a:t>Similar Shapes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Similarity · Scale Factor · Finding Missing Lengths · Similar Triangles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Same Shape, Different Size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Two shapes are SIMILAR if one is an enlargement of the other.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Their angles are equal and their sides are in the same ratio — the SCALE FACTOR.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What ‘similar’ means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Equal angles, sides in ratio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scale factor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Finding missing lengths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Similar triangles &amp; parallel lines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similar · enlargement · scale factor · ratio · corresponding sides · corresponding angles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What Makes Two Shapes Similar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Similar = same shape, different size.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An enlargement keeps the shape identical but changes the size.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567000" y="2286000"/>
            <a:ext cx="5440320" cy="301716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Corresponding ANGLES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3"/>
          <p:cNvSpPr/>
          <p:nvPr/>
        </p:nvSpPr>
        <p:spPr>
          <a:xfrm>
            <a:off x="914400" y="3017520"/>
            <a:ext cx="47545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are EQUAL.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The shape does not change — only the size — so every angle stays the same.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4"/>
          <p:cNvSpPr/>
          <p:nvPr/>
        </p:nvSpPr>
        <p:spPr>
          <a:xfrm>
            <a:off x="6190560" y="2286000"/>
            <a:ext cx="5440320" cy="301716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5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Corresponding SIDES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6"/>
          <p:cNvSpPr/>
          <p:nvPr/>
        </p:nvSpPr>
        <p:spPr>
          <a:xfrm>
            <a:off x="6537960" y="3017520"/>
            <a:ext cx="47545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are IN PROPORTION.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Every side is multiplied by the SAME number — the scale factor.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7"/>
          <p:cNvSpPr/>
          <p:nvPr/>
        </p:nvSpPr>
        <p:spPr>
          <a:xfrm>
            <a:off x="567000" y="5486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48"/>
          <p:cNvSpPr/>
          <p:nvPr/>
        </p:nvSpPr>
        <p:spPr>
          <a:xfrm>
            <a:off x="841320" y="54864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To be similar: all corresponding angles equal AND all corresponding sides in the same ratio.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SCALE FACTOR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How Many Times Bigger?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scale factor k links the two shapes.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Find it by dividing a pair of corresponding sides.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41"/>
          <p:cNvSpPr/>
          <p:nvPr/>
        </p:nvSpPr>
        <p:spPr>
          <a:xfrm>
            <a:off x="1920240" y="2194560"/>
            <a:ext cx="83206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42"/>
          <p:cNvSpPr/>
          <p:nvPr/>
        </p:nvSpPr>
        <p:spPr>
          <a:xfrm>
            <a:off x="2194560" y="2194560"/>
            <a:ext cx="3840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scale factor  k  =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43"/>
          <p:cNvSpPr/>
          <p:nvPr/>
        </p:nvSpPr>
        <p:spPr>
          <a:xfrm>
            <a:off x="6035040" y="2487240"/>
            <a:ext cx="2651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debdd"/>
                </a:solidFill>
                <a:latin typeface="Cambria"/>
                <a:ea typeface="Cambria"/>
              </a:rPr>
              <a:t>a length on the BIG shape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44"/>
          <p:cNvSpPr/>
          <p:nvPr/>
        </p:nvSpPr>
        <p:spPr>
          <a:xfrm>
            <a:off x="6035040" y="2761200"/>
            <a:ext cx="2651760" cy="360"/>
          </a:xfrm>
          <a:prstGeom prst="line">
            <a:avLst/>
          </a:prstGeom>
          <a:ln w="19050">
            <a:solidFill>
              <a:srgbClr val="ede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5"/>
          <p:cNvSpPr/>
          <p:nvPr/>
        </p:nvSpPr>
        <p:spPr>
          <a:xfrm>
            <a:off x="6035040" y="2788920"/>
            <a:ext cx="2651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debdd"/>
                </a:solidFill>
                <a:latin typeface="Cambria"/>
                <a:ea typeface="Cambria"/>
              </a:rPr>
              <a:t>matching length on the SMALL shape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46"/>
          <p:cNvSpPr/>
          <p:nvPr/>
        </p:nvSpPr>
        <p:spPr>
          <a:xfrm>
            <a:off x="567000" y="3611880"/>
            <a:ext cx="5440320" cy="2148480"/>
          </a:xfrm>
          <a:prstGeom prst="roundRect">
            <a:avLst>
              <a:gd name="adj" fmla="val 255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47"/>
          <p:cNvSpPr/>
          <p:nvPr/>
        </p:nvSpPr>
        <p:spPr>
          <a:xfrm>
            <a:off x="932760" y="38494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Making it BIGGER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48"/>
          <p:cNvSpPr/>
          <p:nvPr/>
        </p:nvSpPr>
        <p:spPr>
          <a:xfrm>
            <a:off x="914400" y="4297680"/>
            <a:ext cx="475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small → big:  MULTIPLY by k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e.g. k = 3, side 4 cm  →  4 × 3 = 12 cm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9"/>
          <p:cNvSpPr/>
          <p:nvPr/>
        </p:nvSpPr>
        <p:spPr>
          <a:xfrm>
            <a:off x="6190560" y="3611880"/>
            <a:ext cx="5440320" cy="2148480"/>
          </a:xfrm>
          <a:prstGeom prst="roundRect">
            <a:avLst>
              <a:gd name="adj" fmla="val 255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50"/>
          <p:cNvSpPr/>
          <p:nvPr/>
        </p:nvSpPr>
        <p:spPr>
          <a:xfrm>
            <a:off x="6556320" y="38494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Making it SMALLER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51"/>
          <p:cNvSpPr/>
          <p:nvPr/>
        </p:nvSpPr>
        <p:spPr>
          <a:xfrm>
            <a:off x="6537960" y="4297680"/>
            <a:ext cx="475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big → small:  DIVIDE by k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e.g. k = 3, side 12 cm  →  12 ÷ 3 = 4 cm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52"/>
          <p:cNvSpPr/>
          <p:nvPr/>
        </p:nvSpPr>
        <p:spPr>
          <a:xfrm>
            <a:off x="567000" y="58978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Always divide big by small to get the scale factor — it should be greater than 1.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Finding a Missing Length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Match a pair of sides you know BOTH of.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Divide big ÷ small to get the scale factor k.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Multiply by k to enlarge; divide by k to reduce.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Check the angles are equal first.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Make sure you pair CORRESPONDING sides — the ones in the same position.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Two similar shapes. Matching sides: 5 cm (small) and 15 cm (big).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Scale factor k = 15 ÷ 5 = 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Another small side is 4 cm. Find the matching big side.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4 × 3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12 cm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Missing side = 12 cm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SIMILAR TRIANGLES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Parallel Lines Make Similar Triangles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line parallel to one side of a triangle creates a smaller, SIMILAR triangle.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Equal angles prove it.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41"/>
          <p:cNvSpPr/>
          <p:nvPr/>
        </p:nvSpPr>
        <p:spPr>
          <a:xfrm>
            <a:off x="6035040" y="2194560"/>
            <a:ext cx="4937400" cy="3382920"/>
          </a:xfrm>
          <a:prstGeom prst="triangle">
            <a:avLst>
              <a:gd name="adj" fmla="val 50000"/>
            </a:avLst>
          </a:prstGeom>
          <a:solidFill>
            <a:srgbClr val="eef1e8">
              <a:alpha val="45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42"/>
          <p:cNvSpPr/>
          <p:nvPr/>
        </p:nvSpPr>
        <p:spPr>
          <a:xfrm>
            <a:off x="7269480" y="3886200"/>
            <a:ext cx="2468880" cy="360"/>
          </a:xfrm>
          <a:prstGeom prst="line">
            <a:avLst/>
          </a:prstGeom>
          <a:ln w="2794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43"/>
          <p:cNvSpPr/>
          <p:nvPr/>
        </p:nvSpPr>
        <p:spPr>
          <a:xfrm>
            <a:off x="8366760" y="187452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44"/>
          <p:cNvSpPr/>
          <p:nvPr/>
        </p:nvSpPr>
        <p:spPr>
          <a:xfrm>
            <a:off x="6949440" y="36576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45"/>
          <p:cNvSpPr/>
          <p:nvPr/>
        </p:nvSpPr>
        <p:spPr>
          <a:xfrm>
            <a:off x="9692640" y="36576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f2f"/>
                </a:solidFill>
                <a:latin typeface="Cambria"/>
                <a:ea typeface="Cambria"/>
              </a:rPr>
              <a:t>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46"/>
          <p:cNvSpPr/>
          <p:nvPr/>
        </p:nvSpPr>
        <p:spPr>
          <a:xfrm>
            <a:off x="5760720" y="544068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47"/>
          <p:cNvSpPr/>
          <p:nvPr/>
        </p:nvSpPr>
        <p:spPr>
          <a:xfrm>
            <a:off x="10881360" y="544068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48"/>
          <p:cNvSpPr/>
          <p:nvPr/>
        </p:nvSpPr>
        <p:spPr>
          <a:xfrm>
            <a:off x="567000" y="2194560"/>
            <a:ext cx="5120280" cy="356580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49"/>
          <p:cNvSpPr/>
          <p:nvPr/>
        </p:nvSpPr>
        <p:spPr>
          <a:xfrm>
            <a:off x="932760" y="243216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Why they are similar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50"/>
          <p:cNvSpPr/>
          <p:nvPr/>
        </p:nvSpPr>
        <p:spPr>
          <a:xfrm>
            <a:off x="914400" y="2880360"/>
            <a:ext cx="44802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BE parallel to CD, so: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• </a:t>
            </a: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angle A is shared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• </a:t>
            </a: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equal corresponding angles (parallel lines)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350" spc="-1" strike="noStrike">
                <a:solidFill>
                  <a:srgbClr val="c84f2f"/>
                </a:solidFill>
                <a:latin typeface="Cambria"/>
                <a:ea typeface="Cambria"/>
              </a:rPr>
              <a:t>→ </a:t>
            </a:r>
            <a:r>
              <a:rPr b="1" lang="en-US" sz="1350" spc="-1" strike="noStrike">
                <a:solidFill>
                  <a:srgbClr val="c84f2f"/>
                </a:solidFill>
                <a:latin typeface="Cambria"/>
                <a:ea typeface="Cambria"/>
              </a:rPr>
              <a:t>triangle ABE is similar to triangle ACD.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So the sides are in proportion: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AB/AC = AE/AD = BE/CD.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51"/>
          <p:cNvSpPr/>
          <p:nvPr/>
        </p:nvSpPr>
        <p:spPr>
          <a:xfrm>
            <a:off x="567000" y="59436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Watch for shared angles and parallel sides — they signal similar triangles.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3"/>
          <p:cNvSpPr/>
          <p:nvPr/>
        </p:nvSpPr>
        <p:spPr>
          <a:xfrm>
            <a:off x="-164520" y="1645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24"/>
          <p:cNvSpPr/>
          <p:nvPr/>
        </p:nvSpPr>
        <p:spPr>
          <a:xfrm>
            <a:off x="-164520" y="7315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25"/>
          <p:cNvSpPr/>
          <p:nvPr/>
        </p:nvSpPr>
        <p:spPr>
          <a:xfrm>
            <a:off x="-164520" y="129816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35"/>
          <p:cNvSpPr/>
          <p:nvPr/>
        </p:nvSpPr>
        <p:spPr>
          <a:xfrm>
            <a:off x="402480" y="1836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36"/>
          <p:cNvSpPr/>
          <p:nvPr/>
        </p:nvSpPr>
        <p:spPr>
          <a:xfrm>
            <a:off x="402480" y="183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37"/>
          <p:cNvSpPr/>
          <p:nvPr/>
        </p:nvSpPr>
        <p:spPr>
          <a:xfrm>
            <a:off x="1161360" y="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SIMILAR TRIANGLES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38"/>
          <p:cNvSpPr/>
          <p:nvPr/>
        </p:nvSpPr>
        <p:spPr>
          <a:xfrm>
            <a:off x="1161360" y="27432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Parallel Lines Make Similar Triangles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48"/>
          <p:cNvSpPr/>
          <p:nvPr/>
        </p:nvSpPr>
        <p:spPr>
          <a:xfrm>
            <a:off x="453240" y="746640"/>
            <a:ext cx="10999800" cy="561420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51"/>
          <p:cNvSpPr/>
          <p:nvPr/>
        </p:nvSpPr>
        <p:spPr>
          <a:xfrm>
            <a:off x="1963800" y="65854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Watch for shared angles and parallel sides — they signal similar triangles.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Placeholder 2"/>
          <p:cNvSpPr/>
          <p:nvPr/>
        </p:nvSpPr>
        <p:spPr>
          <a:xfrm>
            <a:off x="2544120" y="131544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</a:pPr>
            <a:endParaRPr b="0" lang="en-GB" sz="32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374" name="Group 50"/>
          <p:cNvGrpSpPr/>
          <p:nvPr/>
        </p:nvGrpSpPr>
        <p:grpSpPr>
          <a:xfrm>
            <a:off x="3523320" y="818640"/>
            <a:ext cx="6359400" cy="4306680"/>
            <a:chOff x="3523320" y="818640"/>
            <a:chExt cx="6359400" cy="4306680"/>
          </a:xfrm>
        </p:grpSpPr>
        <p:sp>
          <p:nvSpPr>
            <p:cNvPr id="375" name="Freeform 2"/>
            <p:cNvSpPr/>
            <p:nvPr/>
          </p:nvSpPr>
          <p:spPr>
            <a:xfrm>
              <a:off x="3987000" y="2696400"/>
              <a:ext cx="3099960" cy="2133360"/>
            </a:xfrm>
            <a:custGeom>
              <a:avLst/>
              <a:gdLst>
                <a:gd name="textAreaLeft" fmla="*/ 0 w 3099960"/>
                <a:gd name="textAreaRight" fmla="*/ 3100320 w 3099960"/>
                <a:gd name="textAreaTop" fmla="*/ 0 h 2133360"/>
                <a:gd name="textAreaBottom" fmla="*/ 2133720 h 2133360"/>
              </a:gdLst>
              <a:ahLst/>
              <a:rect l="textAreaLeft" t="textAreaTop" r="textAreaRight" b="textAreaBottom"/>
              <a:pathLst>
                <a:path w="1408" h="969">
                  <a:moveTo>
                    <a:pt x="0" y="969"/>
                  </a:moveTo>
                  <a:lnTo>
                    <a:pt x="1408" y="969"/>
                  </a:lnTo>
                  <a:lnTo>
                    <a:pt x="512" y="0"/>
                  </a:lnTo>
                  <a:lnTo>
                    <a:pt x="0" y="969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76" name="Line 3"/>
            <p:cNvSpPr/>
            <p:nvPr/>
          </p:nvSpPr>
          <p:spPr>
            <a:xfrm>
              <a:off x="4453560" y="3929760"/>
              <a:ext cx="1805040" cy="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77" name="Text Box 4"/>
            <p:cNvSpPr/>
            <p:nvPr/>
          </p:nvSpPr>
          <p:spPr>
            <a:xfrm>
              <a:off x="4887000" y="2220120"/>
              <a:ext cx="3776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A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" name="Text Box 5"/>
            <p:cNvSpPr/>
            <p:nvPr/>
          </p:nvSpPr>
          <p:spPr>
            <a:xfrm>
              <a:off x="3913920" y="3661560"/>
              <a:ext cx="3776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B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9" name="Text Box 6"/>
            <p:cNvSpPr/>
            <p:nvPr/>
          </p:nvSpPr>
          <p:spPr>
            <a:xfrm>
              <a:off x="3523320" y="4669920"/>
              <a:ext cx="3776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C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0" name="Text Box 7"/>
            <p:cNvSpPr/>
            <p:nvPr/>
          </p:nvSpPr>
          <p:spPr>
            <a:xfrm>
              <a:off x="7114320" y="4618800"/>
              <a:ext cx="420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D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1" name="Text Box 8"/>
            <p:cNvSpPr/>
            <p:nvPr/>
          </p:nvSpPr>
          <p:spPr>
            <a:xfrm>
              <a:off x="6441120" y="3587040"/>
              <a:ext cx="420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2" name="Text Box 9"/>
            <p:cNvSpPr/>
            <p:nvPr/>
          </p:nvSpPr>
          <p:spPr>
            <a:xfrm>
              <a:off x="4091760" y="818640"/>
              <a:ext cx="5790960" cy="141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457200" indent="-457200" defTabSz="914400">
                <a:lnSpc>
                  <a:spcPct val="100000"/>
                </a:lnSpc>
                <a:spcBef>
                  <a:spcPts val="901"/>
                </a:spcBef>
                <a:tabLst>
                  <a:tab algn="l" pos="0"/>
                </a:tabLst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In the diagram below BE is parallel to CD and all measurements are as shown. 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  <a:p>
              <a:pPr marL="457200" indent="-457200" defTabSz="914400">
                <a:lnSpc>
                  <a:spcPct val="100000"/>
                </a:lnSpc>
                <a:spcBef>
                  <a:spcPts val="901"/>
                </a:spcBef>
                <a:buClr>
                  <a:srgbClr val="000000"/>
                </a:buClr>
                <a:buFont typeface="OpenSymbol"/>
                <a:buAutoNum type="alphaLcParenR"/>
                <a:tabLst>
                  <a:tab algn="l" pos="0"/>
                </a:tabLst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Calculate the length CD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  <a:p>
              <a:pPr marL="457200" indent="-457200" defTabSz="914400">
                <a:lnSpc>
                  <a:spcPct val="100000"/>
                </a:lnSpc>
                <a:spcBef>
                  <a:spcPts val="901"/>
                </a:spcBef>
                <a:buClr>
                  <a:srgbClr val="000000"/>
                </a:buClr>
                <a:buFont typeface="OpenSymbol"/>
                <a:buAutoNum type="alphaLcParenR"/>
                <a:tabLst>
                  <a:tab algn="l" pos="0"/>
                </a:tabLst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Calculate the perimeter of the Trapezium EBCD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383" name="Group 90"/>
            <p:cNvGrpSpPr/>
            <p:nvPr/>
          </p:nvGrpSpPr>
          <p:grpSpPr>
            <a:xfrm>
              <a:off x="5255280" y="3871080"/>
              <a:ext cx="100080" cy="128520"/>
              <a:chOff x="5255280" y="3871080"/>
              <a:chExt cx="100080" cy="128520"/>
            </a:xfrm>
          </p:grpSpPr>
          <p:sp>
            <p:nvSpPr>
              <p:cNvPr id="384" name="Line 10"/>
              <p:cNvSpPr/>
              <p:nvPr/>
            </p:nvSpPr>
            <p:spPr>
              <a:xfrm>
                <a:off x="5255280" y="3871080"/>
                <a:ext cx="100080" cy="5724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2240" bIns="12240" anchor="t">
                <a:noAutofit/>
              </a:bodyPr>
              <a:p>
                <a:endParaRPr b="0" lang="en-GB" sz="24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385" name="Line 11"/>
              <p:cNvSpPr/>
              <p:nvPr/>
            </p:nvSpPr>
            <p:spPr>
              <a:xfrm flipH="1">
                <a:off x="5255280" y="3928320"/>
                <a:ext cx="100080" cy="7128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6280" bIns="26280" anchor="t">
                <a:noAutofit/>
              </a:bodyPr>
              <a:p>
                <a:endParaRPr b="0" lang="en-GB" sz="24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386" name="Group 91"/>
            <p:cNvGrpSpPr/>
            <p:nvPr/>
          </p:nvGrpSpPr>
          <p:grpSpPr>
            <a:xfrm>
              <a:off x="5226840" y="4771080"/>
              <a:ext cx="99720" cy="128520"/>
              <a:chOff x="5226840" y="4771080"/>
              <a:chExt cx="99720" cy="128520"/>
            </a:xfrm>
          </p:grpSpPr>
          <p:sp>
            <p:nvSpPr>
              <p:cNvPr id="387" name="Line 14"/>
              <p:cNvSpPr/>
              <p:nvPr/>
            </p:nvSpPr>
            <p:spPr>
              <a:xfrm>
                <a:off x="5226840" y="4771080"/>
                <a:ext cx="99720" cy="5724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2240" bIns="12240" anchor="t">
                <a:noAutofit/>
              </a:bodyPr>
              <a:p>
                <a:endParaRPr b="0" lang="en-GB" sz="24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388" name="Line 15"/>
              <p:cNvSpPr/>
              <p:nvPr/>
            </p:nvSpPr>
            <p:spPr>
              <a:xfrm flipH="1">
                <a:off x="5226840" y="4828320"/>
                <a:ext cx="99720" cy="71280"/>
              </a:xfrm>
              <a:prstGeom prst="line">
                <a:avLst/>
              </a:prstGeom>
              <a:ln w="952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6280" bIns="26280" anchor="t">
                <a:noAutofit/>
              </a:bodyPr>
              <a:p>
                <a:endParaRPr b="0" lang="en-GB" sz="24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sp>
          <p:nvSpPr>
            <p:cNvPr id="389" name="Text Box 16"/>
            <p:cNvSpPr/>
            <p:nvPr/>
          </p:nvSpPr>
          <p:spPr>
            <a:xfrm>
              <a:off x="4974480" y="3945960"/>
              <a:ext cx="72360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4.8 m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" name="Line 17"/>
            <p:cNvSpPr/>
            <p:nvPr/>
          </p:nvSpPr>
          <p:spPr>
            <a:xfrm>
              <a:off x="5622120" y="4109040"/>
              <a:ext cx="637920" cy="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1" name="Line 18"/>
            <p:cNvSpPr/>
            <p:nvPr/>
          </p:nvSpPr>
          <p:spPr>
            <a:xfrm flipH="1">
              <a:off x="4450320" y="4114080"/>
              <a:ext cx="581040" cy="3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2" name="Text Box 19"/>
            <p:cNvSpPr/>
            <p:nvPr/>
          </p:nvSpPr>
          <p:spPr>
            <a:xfrm>
              <a:off x="5641200" y="3056760"/>
              <a:ext cx="52668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6 m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3" name="Line 20"/>
            <p:cNvSpPr/>
            <p:nvPr/>
          </p:nvSpPr>
          <p:spPr>
            <a:xfrm>
              <a:off x="5982480" y="3393360"/>
              <a:ext cx="425160" cy="45720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4" name="Line 21"/>
            <p:cNvSpPr/>
            <p:nvPr/>
          </p:nvSpPr>
          <p:spPr>
            <a:xfrm flipH="1" flipV="1">
              <a:off x="5271120" y="2624760"/>
              <a:ext cx="469800" cy="4701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5" name="Text Box 22"/>
            <p:cNvSpPr/>
            <p:nvPr/>
          </p:nvSpPr>
          <p:spPr>
            <a:xfrm>
              <a:off x="6530040" y="4085640"/>
              <a:ext cx="52668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3 m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6" name="Line 23"/>
            <p:cNvSpPr/>
            <p:nvPr/>
          </p:nvSpPr>
          <p:spPr>
            <a:xfrm>
              <a:off x="6814080" y="4364640"/>
              <a:ext cx="387360" cy="43812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7" name="Line 24"/>
            <p:cNvSpPr/>
            <p:nvPr/>
          </p:nvSpPr>
          <p:spPr>
            <a:xfrm flipH="1" flipV="1">
              <a:off x="6395040" y="3913920"/>
              <a:ext cx="254160" cy="2919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8" name="Text Box 25"/>
            <p:cNvSpPr/>
            <p:nvPr/>
          </p:nvSpPr>
          <p:spPr>
            <a:xfrm>
              <a:off x="4117320" y="3139560"/>
              <a:ext cx="72360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4.2 m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9" name="Line 27"/>
            <p:cNvSpPr/>
            <p:nvPr/>
          </p:nvSpPr>
          <p:spPr>
            <a:xfrm flipV="1">
              <a:off x="4636080" y="2656440"/>
              <a:ext cx="343080" cy="5907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00" name="Line 29"/>
            <p:cNvSpPr/>
            <p:nvPr/>
          </p:nvSpPr>
          <p:spPr>
            <a:xfrm flipH="1">
              <a:off x="4280400" y="3405960"/>
              <a:ext cx="273240" cy="50796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401" name="Group 60"/>
          <p:cNvGrpSpPr/>
          <p:nvPr/>
        </p:nvGrpSpPr>
        <p:grpSpPr>
          <a:xfrm>
            <a:off x="7646040" y="2104200"/>
            <a:ext cx="3676320" cy="3198600"/>
            <a:chOff x="7646040" y="2104200"/>
            <a:chExt cx="3676320" cy="3198600"/>
          </a:xfrm>
        </p:grpSpPr>
        <p:sp>
          <p:nvSpPr>
            <p:cNvPr id="402" name="Freeform 45"/>
            <p:cNvSpPr/>
            <p:nvPr/>
          </p:nvSpPr>
          <p:spPr>
            <a:xfrm>
              <a:off x="7892280" y="2620440"/>
              <a:ext cx="3099960" cy="2133360"/>
            </a:xfrm>
            <a:custGeom>
              <a:avLst/>
              <a:gdLst>
                <a:gd name="textAreaLeft" fmla="*/ 0 w 3099960"/>
                <a:gd name="textAreaRight" fmla="*/ 3100320 w 3099960"/>
                <a:gd name="textAreaTop" fmla="*/ 0 h 2133360"/>
                <a:gd name="textAreaBottom" fmla="*/ 2133720 h 2133360"/>
              </a:gdLst>
              <a:ahLst/>
              <a:rect l="textAreaLeft" t="textAreaTop" r="textAreaRight" b="textAreaBottom"/>
              <a:pathLst>
                <a:path w="1408" h="969">
                  <a:moveTo>
                    <a:pt x="0" y="969"/>
                  </a:moveTo>
                  <a:lnTo>
                    <a:pt x="1408" y="969"/>
                  </a:lnTo>
                  <a:lnTo>
                    <a:pt x="512" y="0"/>
                  </a:lnTo>
                  <a:lnTo>
                    <a:pt x="0" y="969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03" name="Text Box 46"/>
            <p:cNvSpPr/>
            <p:nvPr/>
          </p:nvSpPr>
          <p:spPr>
            <a:xfrm>
              <a:off x="9946440" y="3361680"/>
              <a:ext cx="73620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9 m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4" name="Line 47"/>
            <p:cNvSpPr/>
            <p:nvPr/>
          </p:nvSpPr>
          <p:spPr>
            <a:xfrm flipH="1" flipV="1">
              <a:off x="9189000" y="2542320"/>
              <a:ext cx="781200" cy="79992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05" name="Line 48"/>
            <p:cNvSpPr/>
            <p:nvPr/>
          </p:nvSpPr>
          <p:spPr>
            <a:xfrm>
              <a:off x="10312920" y="3647160"/>
              <a:ext cx="857160" cy="971640"/>
            </a:xfrm>
            <a:prstGeom prst="line">
              <a:avLst/>
            </a:prstGeom>
            <a:ln w="9525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06" name="Text Box 57"/>
            <p:cNvSpPr/>
            <p:nvPr/>
          </p:nvSpPr>
          <p:spPr>
            <a:xfrm>
              <a:off x="8769960" y="2104200"/>
              <a:ext cx="4377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A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7" name="Text Box 58"/>
            <p:cNvSpPr/>
            <p:nvPr/>
          </p:nvSpPr>
          <p:spPr>
            <a:xfrm>
              <a:off x="7646040" y="4809600"/>
              <a:ext cx="4377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C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8" name="Text Box 59"/>
            <p:cNvSpPr/>
            <p:nvPr/>
          </p:nvSpPr>
          <p:spPr>
            <a:xfrm>
              <a:off x="10884600" y="4847400"/>
              <a:ext cx="4377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D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9" name="Group 63"/>
          <p:cNvGrpSpPr/>
          <p:nvPr/>
        </p:nvGrpSpPr>
        <p:grpSpPr>
          <a:xfrm>
            <a:off x="5017320" y="4771440"/>
            <a:ext cx="4838400" cy="470520"/>
            <a:chOff x="5017320" y="4771440"/>
            <a:chExt cx="4838400" cy="470520"/>
          </a:xfrm>
        </p:grpSpPr>
        <p:sp>
          <p:nvSpPr>
            <p:cNvPr id="410" name="Text Box 52"/>
            <p:cNvSpPr/>
            <p:nvPr/>
          </p:nvSpPr>
          <p:spPr>
            <a:xfrm>
              <a:off x="5017320" y="4847400"/>
              <a:ext cx="99036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001"/>
                </a:spcBef>
              </a:pPr>
              <a:r>
                <a:rPr b="0" lang="en-GB" sz="2000" spc="-1" strike="noStrike">
                  <a:solidFill>
                    <a:srgbClr val="3333cc"/>
                  </a:solidFill>
                  <a:latin typeface="Calibri"/>
                </a:rPr>
                <a:t>7.2m</a:t>
              </a:r>
              <a:endParaRPr b="0" lang="en-US" sz="2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1" name="Text Box 61"/>
            <p:cNvSpPr/>
            <p:nvPr/>
          </p:nvSpPr>
          <p:spPr>
            <a:xfrm>
              <a:off x="8865360" y="4771440"/>
              <a:ext cx="99036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001"/>
                </a:spcBef>
              </a:pPr>
              <a:r>
                <a:rPr b="0" lang="en-GB" sz="2000" spc="-1" strike="noStrike">
                  <a:solidFill>
                    <a:srgbClr val="3333cc"/>
                  </a:solidFill>
                  <a:latin typeface="Calibri"/>
                </a:rPr>
                <a:t>7.2m</a:t>
              </a:r>
              <a:endParaRPr b="0" lang="en-US" sz="2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12" name="Text Box 55"/>
          <p:cNvSpPr/>
          <p:nvPr/>
        </p:nvSpPr>
        <p:spPr>
          <a:xfrm>
            <a:off x="3493440" y="4142520"/>
            <a:ext cx="9903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ff0066"/>
                </a:solidFill>
                <a:latin typeface="Calibri"/>
              </a:rPr>
              <a:t>2.1 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Box 62"/>
          <p:cNvSpPr/>
          <p:nvPr/>
        </p:nvSpPr>
        <p:spPr>
          <a:xfrm>
            <a:off x="7589160" y="3380760"/>
            <a:ext cx="9903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ff0066"/>
                </a:solidFill>
                <a:latin typeface="Calibri"/>
              </a:rPr>
              <a:t>6.3m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14" name="Object 66"/>
          <p:cNvGraphicFramePr/>
          <p:nvPr/>
        </p:nvGraphicFramePr>
        <p:xfrm>
          <a:off x="3075840" y="5068440"/>
          <a:ext cx="1747440" cy="634680"/>
        </p:xfrm>
        <a:graphic>
          <a:graphicData uri="http://schemas.openxmlformats.org/presentationml/2006/ole">
            <p:oleObj progId="Equation.DSMT4" r:id="rId1" spid="">
              <p:embed/>
            </p:oleObj>
          </a:graphicData>
        </a:graphic>
      </p:graphicFrame>
      <p:graphicFrame>
        <p:nvGraphicFramePr>
          <p:cNvPr id="415" name="Object 67"/>
          <p:cNvGraphicFramePr/>
          <p:nvPr/>
        </p:nvGraphicFramePr>
        <p:xfrm>
          <a:off x="3162960" y="5836680"/>
          <a:ext cx="2676240" cy="277560"/>
        </p:xfrm>
        <a:graphic>
          <a:graphicData uri="http://schemas.openxmlformats.org/presentationml/2006/ole">
            <p:oleObj progId="Equation.DSMT4" r:id="rId2" spid="">
              <p:embed/>
            </p:oleObj>
          </a:graphicData>
        </a:graphic>
      </p:graphicFrame>
      <p:graphicFrame>
        <p:nvGraphicFramePr>
          <p:cNvPr id="416" name="Object 70"/>
          <p:cNvGraphicFramePr/>
          <p:nvPr/>
        </p:nvGraphicFramePr>
        <p:xfrm>
          <a:off x="7062120" y="5206680"/>
          <a:ext cx="2750760" cy="282240"/>
        </p:xfrm>
        <a:graphic>
          <a:graphicData uri="http://schemas.openxmlformats.org/presentationml/2006/ole">
            <p:oleObj progId="Equation.DSMT4" r:id="rId3" spid="">
              <p:embed/>
            </p:oleObj>
          </a:graphicData>
        </a:graphic>
      </p:graphicFrame>
      <p:graphicFrame>
        <p:nvGraphicFramePr>
          <p:cNvPr id="417" name="Object 71"/>
          <p:cNvGraphicFramePr/>
          <p:nvPr/>
        </p:nvGraphicFramePr>
        <p:xfrm>
          <a:off x="7260480" y="5676480"/>
          <a:ext cx="2431800" cy="282240"/>
        </p:xfrm>
        <a:graphic>
          <a:graphicData uri="http://schemas.openxmlformats.org/presentationml/2006/ole">
            <p:oleObj progId="Equation.DSMT4" r:id="rId4" spid="">
              <p:embed/>
            </p:oleObj>
          </a:graphicData>
        </a:graphic>
      </p:graphicFrame>
      <p:graphicFrame>
        <p:nvGraphicFramePr>
          <p:cNvPr id="418" name="Object 73"/>
          <p:cNvGraphicFramePr/>
          <p:nvPr/>
        </p:nvGraphicFramePr>
        <p:xfrm>
          <a:off x="6900120" y="5973480"/>
          <a:ext cx="4092120" cy="282240"/>
        </p:xfrm>
        <a:graphic>
          <a:graphicData uri="http://schemas.openxmlformats.org/presentationml/2006/ole">
            <p:oleObj progId="Equation.DSMT4" r:id="rId5" spid="">
              <p:embed/>
            </p:oleObj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7" dur="5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2" dur="5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7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6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22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7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27" dur="5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8" name="audi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32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9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37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10" name="audi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42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40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11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47" dur="5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45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12" name="audi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52" dur="50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50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13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EXAM TECHNIQUE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Reliable Method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39"/>
          <p:cNvSpPr/>
          <p:nvPr/>
        </p:nvSpPr>
        <p:spPr>
          <a:xfrm>
            <a:off x="567000" y="129852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40"/>
          <p:cNvSpPr/>
          <p:nvPr/>
        </p:nvSpPr>
        <p:spPr>
          <a:xfrm>
            <a:off x="887040" y="129852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Follow the same four steps every time.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41"/>
          <p:cNvSpPr/>
          <p:nvPr/>
        </p:nvSpPr>
        <p:spPr>
          <a:xfrm>
            <a:off x="567000" y="219456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42"/>
          <p:cNvSpPr/>
          <p:nvPr/>
        </p:nvSpPr>
        <p:spPr>
          <a:xfrm>
            <a:off x="868680" y="237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Text 43"/>
          <p:cNvSpPr/>
          <p:nvPr/>
        </p:nvSpPr>
        <p:spPr>
          <a:xfrm>
            <a:off x="868680" y="237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44"/>
          <p:cNvSpPr/>
          <p:nvPr/>
        </p:nvSpPr>
        <p:spPr>
          <a:xfrm>
            <a:off x="1508760" y="219456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Identify the corresponding sides (same position in each shape).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45"/>
          <p:cNvSpPr/>
          <p:nvPr/>
        </p:nvSpPr>
        <p:spPr>
          <a:xfrm>
            <a:off x="567000" y="312732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46"/>
          <p:cNvSpPr/>
          <p:nvPr/>
        </p:nvSpPr>
        <p:spPr>
          <a:xfrm>
            <a:off x="868680" y="33102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 47"/>
          <p:cNvSpPr/>
          <p:nvPr/>
        </p:nvSpPr>
        <p:spPr>
          <a:xfrm>
            <a:off x="868680" y="3310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48"/>
          <p:cNvSpPr/>
          <p:nvPr/>
        </p:nvSpPr>
        <p:spPr>
          <a:xfrm>
            <a:off x="1508760" y="31273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Find the scale factor: divide a BIG side by its matching SMALL side.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49"/>
          <p:cNvSpPr/>
          <p:nvPr/>
        </p:nvSpPr>
        <p:spPr>
          <a:xfrm>
            <a:off x="567000" y="406008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50"/>
          <p:cNvSpPr/>
          <p:nvPr/>
        </p:nvSpPr>
        <p:spPr>
          <a:xfrm>
            <a:off x="868680" y="424296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 51"/>
          <p:cNvSpPr/>
          <p:nvPr/>
        </p:nvSpPr>
        <p:spPr>
          <a:xfrm>
            <a:off x="868680" y="4242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52"/>
          <p:cNvSpPr/>
          <p:nvPr/>
        </p:nvSpPr>
        <p:spPr>
          <a:xfrm>
            <a:off x="1508760" y="406008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Multiply (to enlarge) or divide (to reduce) to find the missing length.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53"/>
          <p:cNvSpPr/>
          <p:nvPr/>
        </p:nvSpPr>
        <p:spPr>
          <a:xfrm>
            <a:off x="567000" y="499248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54"/>
          <p:cNvSpPr/>
          <p:nvPr/>
        </p:nvSpPr>
        <p:spPr>
          <a:xfrm>
            <a:off x="868680" y="517536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 55"/>
          <p:cNvSpPr/>
          <p:nvPr/>
        </p:nvSpPr>
        <p:spPr>
          <a:xfrm>
            <a:off x="868680" y="5175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56"/>
          <p:cNvSpPr/>
          <p:nvPr/>
        </p:nvSpPr>
        <p:spPr>
          <a:xfrm>
            <a:off x="1508760" y="499248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For triangles, redraw them the same way up so the pairs line up.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57"/>
          <p:cNvSpPr/>
          <p:nvPr/>
        </p:nvSpPr>
        <p:spPr>
          <a:xfrm>
            <a:off x="567000" y="61264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Corresponding sides are OPPOSITE equal angles — that is how you pair them correctly.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Pair corresponding sides, find the scale factor, then multiply or divide.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Match corresponding sides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Scale factor = big ÷ small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Multiply to enlarge, divide to reduce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For triangles, use equal angles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9"/>
          <p:cNvSpPr/>
          <p:nvPr/>
        </p:nvSpPr>
        <p:spPr>
          <a:xfrm>
            <a:off x="2300760" y="1408320"/>
            <a:ext cx="75898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9" name="Image 0" descr="/tmp/work/smq/q-16.png"/>
          <p:cNvPicPr/>
          <p:nvPr/>
        </p:nvPicPr>
        <p:blipFill>
          <a:blip r:embed="rId1"/>
          <a:stretch/>
        </p:blipFill>
        <p:spPr>
          <a:xfrm>
            <a:off x="2373840" y="1481400"/>
            <a:ext cx="74433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39"/>
          <p:cNvSpPr/>
          <p:nvPr/>
        </p:nvSpPr>
        <p:spPr>
          <a:xfrm>
            <a:off x="3047760" y="1408320"/>
            <a:ext cx="60958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0" name="Image 0" descr="/tmp/work/smq/q-17.png"/>
          <p:cNvPicPr/>
          <p:nvPr/>
        </p:nvPicPr>
        <p:blipFill>
          <a:blip r:embed="rId1"/>
          <a:stretch/>
        </p:blipFill>
        <p:spPr>
          <a:xfrm>
            <a:off x="3120840" y="1481400"/>
            <a:ext cx="59497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39"/>
          <p:cNvSpPr/>
          <p:nvPr/>
        </p:nvSpPr>
        <p:spPr>
          <a:xfrm>
            <a:off x="2824560" y="1408320"/>
            <a:ext cx="65422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1" name="Image 0" descr="/tmp/work/smq/q-18.png"/>
          <p:cNvPicPr/>
          <p:nvPr/>
        </p:nvPicPr>
        <p:blipFill>
          <a:blip r:embed="rId1"/>
          <a:stretch/>
        </p:blipFill>
        <p:spPr>
          <a:xfrm>
            <a:off x="2897640" y="1481400"/>
            <a:ext cx="63961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39"/>
          <p:cNvSpPr/>
          <p:nvPr/>
        </p:nvSpPr>
        <p:spPr>
          <a:xfrm>
            <a:off x="2987280" y="1408320"/>
            <a:ext cx="62172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2" name="Image 0" descr="/tmp/work/smq/q-19.png"/>
          <p:cNvPicPr/>
          <p:nvPr/>
        </p:nvPicPr>
        <p:blipFill>
          <a:blip r:embed="rId1"/>
          <a:stretch/>
        </p:blipFill>
        <p:spPr>
          <a:xfrm>
            <a:off x="3060360" y="1481400"/>
            <a:ext cx="60706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39"/>
          <p:cNvSpPr/>
          <p:nvPr/>
        </p:nvSpPr>
        <p:spPr>
          <a:xfrm>
            <a:off x="3772800" y="1408320"/>
            <a:ext cx="4645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3" name="Image 0" descr="/tmp/work/smq/q-20.png"/>
          <p:cNvPicPr/>
          <p:nvPr/>
        </p:nvPicPr>
        <p:blipFill>
          <a:blip r:embed="rId1"/>
          <a:stretch/>
        </p:blipFill>
        <p:spPr>
          <a:xfrm>
            <a:off x="3845880" y="1481400"/>
            <a:ext cx="44996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39"/>
          <p:cNvSpPr/>
          <p:nvPr/>
        </p:nvSpPr>
        <p:spPr>
          <a:xfrm>
            <a:off x="1643400" y="1408320"/>
            <a:ext cx="89042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4" name="Image 0" descr="/tmp/work/smq/q-21.png"/>
          <p:cNvPicPr/>
          <p:nvPr/>
        </p:nvPicPr>
        <p:blipFill>
          <a:blip r:embed="rId1"/>
          <a:stretch/>
        </p:blipFill>
        <p:spPr>
          <a:xfrm>
            <a:off x="1716840" y="1481400"/>
            <a:ext cx="87580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39"/>
          <p:cNvSpPr/>
          <p:nvPr/>
        </p:nvSpPr>
        <p:spPr>
          <a:xfrm>
            <a:off x="3436200" y="1408320"/>
            <a:ext cx="53190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5" name="Image 0" descr="/tmp/work/smq/q-22.png"/>
          <p:cNvPicPr/>
          <p:nvPr/>
        </p:nvPicPr>
        <p:blipFill>
          <a:blip r:embed="rId1"/>
          <a:stretch/>
        </p:blipFill>
        <p:spPr>
          <a:xfrm>
            <a:off x="3509280" y="1481400"/>
            <a:ext cx="51728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39"/>
          <p:cNvSpPr/>
          <p:nvPr/>
        </p:nvSpPr>
        <p:spPr>
          <a:xfrm>
            <a:off x="3402000" y="1408320"/>
            <a:ext cx="53877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6" name="Image 0" descr="/tmp/work/smq/q-23.png"/>
          <p:cNvPicPr/>
          <p:nvPr/>
        </p:nvPicPr>
        <p:blipFill>
          <a:blip r:embed="rId1"/>
          <a:stretch/>
        </p:blipFill>
        <p:spPr>
          <a:xfrm>
            <a:off x="3475080" y="1481400"/>
            <a:ext cx="52412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39"/>
          <p:cNvSpPr/>
          <p:nvPr/>
        </p:nvSpPr>
        <p:spPr>
          <a:xfrm>
            <a:off x="1450800" y="1408320"/>
            <a:ext cx="9289800" cy="480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7" name="Image 0" descr="/tmp/work/smq/q-24.png"/>
          <p:cNvPicPr/>
          <p:nvPr/>
        </p:nvPicPr>
        <p:blipFill>
          <a:blip r:embed="rId1"/>
          <a:stretch/>
        </p:blipFill>
        <p:spPr>
          <a:xfrm>
            <a:off x="1523880" y="1481400"/>
            <a:ext cx="9143640" cy="4657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39"/>
          <p:cNvSpPr/>
          <p:nvPr/>
        </p:nvSpPr>
        <p:spPr>
          <a:xfrm>
            <a:off x="2603520" y="1408320"/>
            <a:ext cx="69843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8" name="Image 0" descr="/tmp/work/smq/q-25.png"/>
          <p:cNvPicPr/>
          <p:nvPr/>
        </p:nvPicPr>
        <p:blipFill>
          <a:blip r:embed="rId1"/>
          <a:stretch/>
        </p:blipFill>
        <p:spPr>
          <a:xfrm>
            <a:off x="2676600" y="1481400"/>
            <a:ext cx="68382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39"/>
          <p:cNvSpPr/>
          <p:nvPr/>
        </p:nvSpPr>
        <p:spPr>
          <a:xfrm>
            <a:off x="3202920" y="1408320"/>
            <a:ext cx="57855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9" name="Image 0" descr="/tmp/work/smq/q-26.png"/>
          <p:cNvPicPr/>
          <p:nvPr/>
        </p:nvPicPr>
        <p:blipFill>
          <a:blip r:embed="rId1"/>
          <a:stretch/>
        </p:blipFill>
        <p:spPr>
          <a:xfrm>
            <a:off x="3276000" y="1481400"/>
            <a:ext cx="56390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Similar shapes: same shape, different size — an enlargement.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Corresponding angles are EQUAL; corresponding sides are IN PROPORTION.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Scale factor k = a big length ÷ its matching small length.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Enlarge by multiplying by k; reduce by dividing by k.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line parallel to one side of a triangle makes a smaller SIMILAR triangle.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pair corresponding sides, find the scale factor, then multiply or divide.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906</Words>
  <Paragraphs>197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2026-07-15T21:31:29Z</dcterms:created>
  <dc:creator>Zahra Sheikh Ali</dc:creator>
  <dc:description/>
  <dc:language>en-US</dc:language>
  <cp:lastModifiedBy>zahraa sheik ali</cp:lastModifiedBy>
  <dcterms:modified xsi:type="dcterms:W3CDTF">2026-07-27T10:41:48Z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Custom</vt:lpwstr>
  </property>
  <property fmtid="{D5CDD505-2E9C-101B-9397-08002B2CF9AE}" pid="4" name="Slides">
    <vt:r8>21</vt:r8>
  </property>
</Properties>
</file>