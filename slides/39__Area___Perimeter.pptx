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1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2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4FF34-A907-4E37-AC52-D637A1836EC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E1A44-561E-44EE-8A9A-4D9A1C156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9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0" y="822960"/>
            <a:ext cx="2377440" cy="1554480"/>
          </a:xfrm>
          <a:prstGeom prst="rect">
            <a:avLst/>
          </a:prstGeom>
          <a:ln w="50800">
            <a:solidFill>
              <a:srgbClr val="3346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40" name="Text 38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&amp; Perimeter</a:t>
            </a:r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Perimeter · Rectangles · Triangles · Parallelograms · Trapezia · Circles · Compound Shapes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vs Perimeter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is the distance AROUND a shape (add up the sides).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is the space INSIDE it. Perimeter is a length (cm); area is square units (cm²).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Perimeter of any shape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Rectangles &amp; triangles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Parallelograms &amp; trapezia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Circles: circumference &amp; area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shapes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· area · base · height · π · radius · diameter · compound shape · units²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Formulas at a Glance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these five — every compound shape is built from them.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103120"/>
            <a:ext cx="5303520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" y="2103120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126480" y="2103120"/>
            <a:ext cx="5504688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6236208" y="210312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formula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66928" y="2596896"/>
            <a:ext cx="530352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259689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Rectangle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6126480" y="2596896"/>
            <a:ext cx="5504688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2596896"/>
            <a:ext cx="5138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× height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566928" y="3163824"/>
            <a:ext cx="530352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" y="316382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Triangle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6126480" y="3163824"/>
            <a:ext cx="5504688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3163824"/>
            <a:ext cx="5138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½ × base × height</a:t>
            </a:r>
            <a:endParaRPr lang="en-US" sz="1450" dirty="0"/>
          </a:p>
        </p:txBody>
      </p:sp>
      <p:sp>
        <p:nvSpPr>
          <p:cNvPr id="55" name="Shape 53"/>
          <p:cNvSpPr/>
          <p:nvPr/>
        </p:nvSpPr>
        <p:spPr>
          <a:xfrm>
            <a:off x="566928" y="3730752"/>
            <a:ext cx="530352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9808" y="373075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Parallelogram</a:t>
            </a:r>
            <a:endParaRPr lang="en-US" sz="1450" dirty="0"/>
          </a:p>
        </p:txBody>
      </p:sp>
      <p:sp>
        <p:nvSpPr>
          <p:cNvPr id="57" name="Shape 55"/>
          <p:cNvSpPr/>
          <p:nvPr/>
        </p:nvSpPr>
        <p:spPr>
          <a:xfrm>
            <a:off x="6126480" y="3730752"/>
            <a:ext cx="5504688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3730752"/>
            <a:ext cx="5138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× height</a:t>
            </a:r>
            <a:endParaRPr lang="en-US" sz="1450" dirty="0"/>
          </a:p>
        </p:txBody>
      </p:sp>
      <p:sp>
        <p:nvSpPr>
          <p:cNvPr id="59" name="Shape 57"/>
          <p:cNvSpPr/>
          <p:nvPr/>
        </p:nvSpPr>
        <p:spPr>
          <a:xfrm>
            <a:off x="566928" y="4297680"/>
            <a:ext cx="530352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9808" y="429768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Trapezium</a:t>
            </a:r>
            <a:endParaRPr lang="en-US" sz="1450" dirty="0"/>
          </a:p>
        </p:txBody>
      </p:sp>
      <p:sp>
        <p:nvSpPr>
          <p:cNvPr id="61" name="Shape 59"/>
          <p:cNvSpPr/>
          <p:nvPr/>
        </p:nvSpPr>
        <p:spPr>
          <a:xfrm>
            <a:off x="6126480" y="4297680"/>
            <a:ext cx="5504688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4297680"/>
            <a:ext cx="5138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½ (a + b) × height</a:t>
            </a:r>
            <a:endParaRPr lang="en-US" sz="1450" dirty="0"/>
          </a:p>
        </p:txBody>
      </p:sp>
      <p:sp>
        <p:nvSpPr>
          <p:cNvPr id="63" name="Shape 61"/>
          <p:cNvSpPr/>
          <p:nvPr/>
        </p:nvSpPr>
        <p:spPr>
          <a:xfrm>
            <a:off x="566928" y="4864608"/>
            <a:ext cx="530352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86460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Kite</a:t>
            </a:r>
            <a:endParaRPr lang="en-US" sz="1450" dirty="0"/>
          </a:p>
        </p:txBody>
      </p:sp>
      <p:sp>
        <p:nvSpPr>
          <p:cNvPr id="65" name="Shape 63"/>
          <p:cNvSpPr/>
          <p:nvPr/>
        </p:nvSpPr>
        <p:spPr>
          <a:xfrm>
            <a:off x="6126480" y="4864608"/>
            <a:ext cx="5504688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09360" y="4864608"/>
            <a:ext cx="5138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½ × diagonal₁ × diagonal₂</a:t>
            </a:r>
            <a:endParaRPr lang="en-US" sz="1450" dirty="0"/>
          </a:p>
        </p:txBody>
      </p:sp>
      <p:sp>
        <p:nvSpPr>
          <p:cNvPr id="67" name="Shape 65"/>
          <p:cNvSpPr/>
          <p:nvPr/>
        </p:nvSpPr>
        <p:spPr>
          <a:xfrm>
            <a:off x="566928" y="5431536"/>
            <a:ext cx="530352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9808" y="543153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Circle</a:t>
            </a:r>
            <a:endParaRPr lang="en-US" sz="1450" dirty="0"/>
          </a:p>
        </p:txBody>
      </p:sp>
      <p:sp>
        <p:nvSpPr>
          <p:cNvPr id="69" name="Shape 67"/>
          <p:cNvSpPr/>
          <p:nvPr/>
        </p:nvSpPr>
        <p:spPr>
          <a:xfrm>
            <a:off x="6126480" y="5431536"/>
            <a:ext cx="5504688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09360" y="5431536"/>
            <a:ext cx="5138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 × radius²</a:t>
            </a:r>
            <a:endParaRPr lang="en-US" sz="1450" dirty="0"/>
          </a:p>
        </p:txBody>
      </p:sp>
      <p:sp>
        <p:nvSpPr>
          <p:cNvPr id="71" name="Text 69"/>
          <p:cNvSpPr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is always just the total distance round the edge — add every side.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Distance Around a Shape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688440" y="1353312"/>
            <a:ext cx="8814816" cy="4019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lean6/ap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448" y="1417320"/>
            <a:ext cx="8686800" cy="3891686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 every side.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Dashes mean sides are equal — use that to find missing lengths.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= base × height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37130" y="1353312"/>
            <a:ext cx="691743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base × height.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= 2 × (base + height).</a:t>
            </a:r>
            <a:endParaRPr lang="en-US" sz="1300" dirty="0"/>
          </a:p>
        </p:txBody>
      </p:sp>
      <p:sp>
        <p:nvSpPr>
          <p:cNvPr id="46" name="Rectangle 45"/>
          <p:cNvSpPr/>
          <p:nvPr/>
        </p:nvSpPr>
        <p:spPr>
          <a:xfrm>
            <a:off x="4949348" y="2546085"/>
            <a:ext cx="3312336" cy="192966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5381148" y="2187309"/>
            <a:ext cx="13430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smtClean="0">
                <a:solidFill>
                  <a:prstClr val="black"/>
                </a:solidFill>
                <a:latin typeface="+mn-lt"/>
              </a:rPr>
              <a:t>9cm</a:t>
            </a:r>
            <a:endParaRPr lang="en-US" altLang="en-US" smtClean="0">
              <a:solidFill>
                <a:prstClr val="black"/>
              </a:solidFill>
              <a:latin typeface="+mn-lt"/>
            </a:endParaRP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4300061" y="2835009"/>
            <a:ext cx="13430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smtClean="0">
                <a:solidFill>
                  <a:prstClr val="black"/>
                </a:solidFill>
                <a:latin typeface="+mn-lt"/>
              </a:rPr>
              <a:t>4cm</a:t>
            </a:r>
            <a:endParaRPr lang="en-US" altLang="en-US" smtClean="0">
              <a:solidFill>
                <a:prstClr val="black"/>
              </a:solidFill>
              <a:latin typeface="+mn-lt"/>
            </a:endParaRPr>
          </a:p>
        </p:txBody>
      </p:sp>
      <p:sp>
        <p:nvSpPr>
          <p:cNvPr id="49" name="TextBox 46"/>
          <p:cNvSpPr txBox="1">
            <a:spLocks noChangeArrowheads="1"/>
          </p:cNvSpPr>
          <p:nvPr/>
        </p:nvSpPr>
        <p:spPr bwMode="auto">
          <a:xfrm>
            <a:off x="5236686" y="2834739"/>
            <a:ext cx="2242819" cy="461665"/>
          </a:xfrm>
          <a:prstGeom prst="rect">
            <a:avLst/>
          </a:prstGeom>
          <a:ln/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sz="2400" dirty="0" smtClean="0">
                <a:latin typeface="+mn-lt"/>
              </a:rPr>
              <a:t>36cm</a:t>
            </a:r>
            <a:r>
              <a:rPr lang="en-GB" altLang="en-US" sz="2400" baseline="30000" dirty="0" smtClean="0">
                <a:latin typeface="+mn-lt"/>
              </a:rPr>
              <a:t>2</a:t>
            </a:r>
            <a:endParaRPr lang="en-US" altLang="en-US" sz="2400" baseline="30000" dirty="0" smtClean="0"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= ½ × base × height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230372" y="1330468"/>
            <a:ext cx="7730950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PERPENDICULAR height,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slant side — the height must be at 90° to the base.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 Box 7"/>
              <p:cNvSpPr txBox="1">
                <a:spLocks noChangeArrowheads="1"/>
              </p:cNvSpPr>
              <p:nvPr/>
            </p:nvSpPr>
            <p:spPr bwMode="auto">
              <a:xfrm>
                <a:off x="3968496" y="3608660"/>
                <a:ext cx="3758978" cy="876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400" dirty="0" smtClean="0"/>
                  <a:t>Area of a triangle =  </a:t>
                </a:r>
                <a:r>
                  <a:rPr lang="en-US" altLang="en-US" sz="36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36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altLang="en-US" sz="3600" b="0" i="1" smtClean="0">
                            <a:latin typeface="Cambria Math"/>
                          </a:rPr>
                          <m:t>𝐵</m:t>
                        </m:r>
                        <m:r>
                          <a:rPr lang="en-GB" altLang="en-US" sz="3600" b="0" i="1" smtClean="0">
                            <a:latin typeface="Cambria Math"/>
                          </a:rPr>
                          <m:t> × </m:t>
                        </m:r>
                        <m:r>
                          <a:rPr lang="en-GB" altLang="en-US" sz="3600" b="0" i="1" smtClean="0">
                            <a:latin typeface="Cambria Math"/>
                            <a:ea typeface="Cambria Math"/>
                          </a:rPr>
                          <m:t>𝐻</m:t>
                        </m:r>
                      </m:num>
                      <m:den>
                        <m:r>
                          <a:rPr lang="en-GB" altLang="en-US" sz="3600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 sz="2400" dirty="0" smtClean="0"/>
                  <a:t> </a:t>
                </a:r>
                <a:endParaRPr lang="en-GB" altLang="en-US" sz="2400" i="1" dirty="0" smtClean="0">
                  <a:latin typeface="Times New Roman" pitchFamily="18" charset="0"/>
                </a:endParaRPr>
              </a:p>
            </p:txBody>
          </p:sp>
        </mc:Choice>
        <mc:Fallback>
          <p:sp>
            <p:nvSpPr>
              <p:cNvPr id="45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8496" y="3608660"/>
                <a:ext cx="3758978" cy="876137"/>
              </a:xfrm>
              <a:prstGeom prst="rect">
                <a:avLst/>
              </a:prstGeom>
              <a:blipFill rotWithShape="1">
                <a:blip r:embed="rId3"/>
                <a:stretch>
                  <a:fillRect l="-243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Freeform 12"/>
          <p:cNvSpPr>
            <a:spLocks/>
          </p:cNvSpPr>
          <p:nvPr/>
        </p:nvSpPr>
        <p:spPr bwMode="auto">
          <a:xfrm>
            <a:off x="5711448" y="1566341"/>
            <a:ext cx="4032250" cy="1512887"/>
          </a:xfrm>
          <a:custGeom>
            <a:avLst/>
            <a:gdLst>
              <a:gd name="T0" fmla="*/ 771 w 2494"/>
              <a:gd name="T1" fmla="*/ 953 h 953"/>
              <a:gd name="T2" fmla="*/ 2494 w 2494"/>
              <a:gd name="T3" fmla="*/ 953 h 953"/>
              <a:gd name="T4" fmla="*/ 0 w 2494"/>
              <a:gd name="T5" fmla="*/ 0 h 953"/>
              <a:gd name="T6" fmla="*/ 771 w 2494"/>
              <a:gd name="T7" fmla="*/ 953 h 9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94" h="953">
                <a:moveTo>
                  <a:pt x="771" y="953"/>
                </a:moveTo>
                <a:lnTo>
                  <a:pt x="2494" y="953"/>
                </a:lnTo>
                <a:lnTo>
                  <a:pt x="0" y="0"/>
                </a:lnTo>
                <a:lnTo>
                  <a:pt x="771" y="953"/>
                </a:lnTo>
                <a:close/>
              </a:path>
            </a:pathLst>
          </a:custGeom>
          <a:gradFill rotWithShape="1">
            <a:gsLst>
              <a:gs pos="0">
                <a:srgbClr val="FFCC00"/>
              </a:gs>
              <a:gs pos="100000">
                <a:srgbClr val="FFEC9B"/>
              </a:gs>
            </a:gsLst>
            <a:lin ang="18900000" scaled="1"/>
          </a:gradFill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47" name="Line 13"/>
          <p:cNvSpPr>
            <a:spLocks noChangeShapeType="1"/>
          </p:cNvSpPr>
          <p:nvPr/>
        </p:nvSpPr>
        <p:spPr bwMode="auto">
          <a:xfrm>
            <a:off x="7008436" y="3223691"/>
            <a:ext cx="27352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48" name="Line 14"/>
          <p:cNvSpPr>
            <a:spLocks noChangeShapeType="1"/>
          </p:cNvSpPr>
          <p:nvPr/>
        </p:nvSpPr>
        <p:spPr bwMode="auto">
          <a:xfrm>
            <a:off x="5711448" y="1566341"/>
            <a:ext cx="0" cy="15113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49" name="Line 15"/>
          <p:cNvSpPr>
            <a:spLocks noChangeShapeType="1"/>
          </p:cNvSpPr>
          <p:nvPr/>
        </p:nvSpPr>
        <p:spPr bwMode="auto">
          <a:xfrm>
            <a:off x="5711448" y="3079228"/>
            <a:ext cx="1368425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50" name="Rectangle 16"/>
          <p:cNvSpPr>
            <a:spLocks noChangeArrowheads="1"/>
          </p:cNvSpPr>
          <p:nvPr/>
        </p:nvSpPr>
        <p:spPr bwMode="auto">
          <a:xfrm>
            <a:off x="5711448" y="2934766"/>
            <a:ext cx="144463" cy="1444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51" name="Text Box 17"/>
          <p:cNvSpPr txBox="1">
            <a:spLocks noChangeArrowheads="1"/>
          </p:cNvSpPr>
          <p:nvPr/>
        </p:nvSpPr>
        <p:spPr bwMode="auto">
          <a:xfrm>
            <a:off x="7995861" y="3198291"/>
            <a:ext cx="7841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smtClean="0"/>
              <a:t>7 cm</a:t>
            </a:r>
            <a:endParaRPr lang="en-GB" altLang="en-US" sz="2400" smtClean="0"/>
          </a:p>
        </p:txBody>
      </p:sp>
      <p:sp>
        <p:nvSpPr>
          <p:cNvPr id="52" name="Text Box 18"/>
          <p:cNvSpPr txBox="1">
            <a:spLocks noChangeArrowheads="1"/>
          </p:cNvSpPr>
          <p:nvPr/>
        </p:nvSpPr>
        <p:spPr bwMode="auto">
          <a:xfrm>
            <a:off x="4703386" y="2142603"/>
            <a:ext cx="7841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smtClean="0"/>
              <a:t>6 cm</a:t>
            </a:r>
            <a:endParaRPr lang="en-GB" altLang="en-US" sz="240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 Box 20"/>
              <p:cNvSpPr txBox="1">
                <a:spLocks noChangeArrowheads="1"/>
              </p:cNvSpPr>
              <p:nvPr/>
            </p:nvSpPr>
            <p:spPr bwMode="auto">
              <a:xfrm>
                <a:off x="6206697" y="4538940"/>
                <a:ext cx="1462260" cy="8757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400" dirty="0" smtClean="0"/>
                  <a:t>=  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3600" i="1">
                            <a:latin typeface="Cambria Math"/>
                          </a:rPr>
                        </m:ctrlPr>
                      </m:fPr>
                      <m:num>
                        <m:r>
                          <a:rPr lang="en-GB" altLang="en-US" sz="3600" b="0" i="1" smtClean="0">
                            <a:latin typeface="Cambria Math"/>
                          </a:rPr>
                          <m:t>7</m:t>
                        </m:r>
                        <m:r>
                          <a:rPr lang="en-GB" altLang="en-US" sz="3600" i="1">
                            <a:latin typeface="Cambria Math"/>
                          </a:rPr>
                          <m:t> ×</m:t>
                        </m:r>
                        <m:r>
                          <a:rPr lang="en-GB" altLang="en-US" sz="3600" b="0" i="1" smtClean="0">
                            <a:latin typeface="Cambria Math"/>
                          </a:rPr>
                          <m:t> 6</m:t>
                        </m:r>
                      </m:num>
                      <m:den>
                        <m:r>
                          <a:rPr lang="en-GB" altLang="en-US" sz="36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 sz="2400" dirty="0" smtClean="0"/>
                  <a:t>  </a:t>
                </a:r>
                <a:endParaRPr lang="en-GB" altLang="en-US" sz="2400" dirty="0" smtClean="0"/>
              </a:p>
            </p:txBody>
          </p:sp>
        </mc:Choice>
        <mc:Fallback>
          <p:sp>
            <p:nvSpPr>
              <p:cNvPr id="53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06697" y="4538940"/>
                <a:ext cx="1462260" cy="875753"/>
              </a:xfrm>
              <a:prstGeom prst="rect">
                <a:avLst/>
              </a:prstGeom>
              <a:blipFill rotWithShape="1">
                <a:blip r:embed="rId4"/>
                <a:stretch>
                  <a:fillRect l="-625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 Box 26"/>
          <p:cNvSpPr txBox="1">
            <a:spLocks noChangeArrowheads="1"/>
          </p:cNvSpPr>
          <p:nvPr/>
        </p:nvSpPr>
        <p:spPr bwMode="auto">
          <a:xfrm>
            <a:off x="6149979" y="5484388"/>
            <a:ext cx="15392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/>
              <a:t>=  </a:t>
            </a:r>
            <a:r>
              <a:rPr lang="en-US" altLang="en-US" sz="2800" b="1" dirty="0" smtClean="0">
                <a:solidFill>
                  <a:schemeClr val="accent6">
                    <a:lumMod val="75000"/>
                  </a:schemeClr>
                </a:solidFill>
              </a:rPr>
              <a:t>21 cm</a:t>
            </a:r>
            <a:r>
              <a:rPr lang="en-US" altLang="en-US" sz="2800" b="1" baseline="30000" dirty="0" smtClean="0">
                <a:solidFill>
                  <a:schemeClr val="accent6">
                    <a:lumMod val="75000"/>
                  </a:schemeClr>
                </a:solidFill>
              </a:rPr>
              <a:t>2</a:t>
            </a:r>
            <a:endParaRPr lang="en-GB" altLang="en-US" sz="2800" b="1" baseline="30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241494" y="1381675"/>
            <a:ext cx="32460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What is the area of this triangle?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3" grpId="0"/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PARALLELOGRAMS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= base × height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734738" y="1353312"/>
            <a:ext cx="8722219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a rectangle: base × perpendicular height.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the slant length.</a:t>
            </a:r>
            <a:endParaRPr lang="en-US" sz="1300" dirty="0"/>
          </a:p>
        </p:txBody>
      </p:sp>
      <p:sp>
        <p:nvSpPr>
          <p:cNvPr id="45" name="Text Box 6"/>
          <p:cNvSpPr txBox="1">
            <a:spLocks noChangeArrowheads="1"/>
          </p:cNvSpPr>
          <p:nvPr/>
        </p:nvSpPr>
        <p:spPr bwMode="auto">
          <a:xfrm>
            <a:off x="1721955" y="4347193"/>
            <a:ext cx="44849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/>
              <a:t>Area of a </a:t>
            </a:r>
            <a:r>
              <a:rPr lang="en-GB" altLang="en-US" sz="2400" dirty="0" smtClean="0"/>
              <a:t>parallelogram</a:t>
            </a:r>
            <a:r>
              <a:rPr lang="en-US" altLang="en-US" sz="2400" dirty="0" smtClean="0"/>
              <a:t>      = </a:t>
            </a:r>
            <a:r>
              <a:rPr lang="en-US" altLang="en-US" sz="2400" i="1" dirty="0" smtClean="0">
                <a:latin typeface="Times New Roman" pitchFamily="18" charset="0"/>
              </a:rPr>
              <a:t>b × h</a:t>
            </a:r>
            <a:endParaRPr lang="en-GB" altLang="en-US" sz="2400" i="1" dirty="0" smtClean="0">
              <a:latin typeface="Times New Roman" pitchFamily="18" charset="0"/>
            </a:endParaRPr>
          </a:p>
        </p:txBody>
      </p:sp>
      <p:sp>
        <p:nvSpPr>
          <p:cNvPr id="46" name="Line 7"/>
          <p:cNvSpPr>
            <a:spLocks noChangeShapeType="1"/>
          </p:cNvSpPr>
          <p:nvPr/>
        </p:nvSpPr>
        <p:spPr bwMode="auto">
          <a:xfrm>
            <a:off x="4657243" y="3662980"/>
            <a:ext cx="2409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47" name="Line 8"/>
          <p:cNvSpPr>
            <a:spLocks noChangeShapeType="1"/>
          </p:cNvSpPr>
          <p:nvPr/>
        </p:nvSpPr>
        <p:spPr bwMode="auto">
          <a:xfrm>
            <a:off x="3865080" y="2005630"/>
            <a:ext cx="0" cy="151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48" name="Line 9"/>
          <p:cNvSpPr>
            <a:spLocks noChangeShapeType="1"/>
          </p:cNvSpPr>
          <p:nvPr/>
        </p:nvSpPr>
        <p:spPr bwMode="auto">
          <a:xfrm>
            <a:off x="3865080" y="3518518"/>
            <a:ext cx="969963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49" name="Rectangle 10"/>
          <p:cNvSpPr>
            <a:spLocks noChangeArrowheads="1"/>
          </p:cNvSpPr>
          <p:nvPr/>
        </p:nvSpPr>
        <p:spPr bwMode="auto">
          <a:xfrm>
            <a:off x="3865080" y="3374055"/>
            <a:ext cx="144463" cy="1444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50" name="Text Box 11"/>
          <p:cNvSpPr txBox="1">
            <a:spLocks noChangeArrowheads="1"/>
          </p:cNvSpPr>
          <p:nvPr/>
        </p:nvSpPr>
        <p:spPr bwMode="auto">
          <a:xfrm>
            <a:off x="5449405" y="3637580"/>
            <a:ext cx="7841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smtClean="0"/>
              <a:t>7 cm</a:t>
            </a:r>
            <a:endParaRPr lang="en-GB" altLang="en-US" sz="2400" smtClean="0"/>
          </a:p>
        </p:txBody>
      </p:sp>
      <p:sp>
        <p:nvSpPr>
          <p:cNvPr id="51" name="Text Box 12"/>
          <p:cNvSpPr txBox="1">
            <a:spLocks noChangeArrowheads="1"/>
          </p:cNvSpPr>
          <p:nvPr/>
        </p:nvSpPr>
        <p:spPr bwMode="auto">
          <a:xfrm>
            <a:off x="2757005" y="2581893"/>
            <a:ext cx="10166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smtClean="0"/>
              <a:t>4.5 cm</a:t>
            </a:r>
            <a:endParaRPr lang="en-GB" altLang="en-US" sz="2400" smtClean="0"/>
          </a:p>
        </p:txBody>
      </p:sp>
      <p:sp>
        <p:nvSpPr>
          <p:cNvPr id="52" name="Text Box 13"/>
          <p:cNvSpPr txBox="1">
            <a:spLocks noChangeArrowheads="1"/>
          </p:cNvSpPr>
          <p:nvPr/>
        </p:nvSpPr>
        <p:spPr bwMode="auto">
          <a:xfrm>
            <a:off x="4996968" y="4891705"/>
            <a:ext cx="12426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smtClean="0"/>
              <a:t>= 7 × 4.5</a:t>
            </a:r>
            <a:endParaRPr lang="en-GB" altLang="en-US" sz="2400" smtClean="0"/>
          </a:p>
        </p:txBody>
      </p:sp>
      <p:sp>
        <p:nvSpPr>
          <p:cNvPr id="53" name="Text Box 14"/>
          <p:cNvSpPr txBox="1">
            <a:spLocks noChangeArrowheads="1"/>
          </p:cNvSpPr>
          <p:nvPr/>
        </p:nvSpPr>
        <p:spPr bwMode="auto">
          <a:xfrm>
            <a:off x="4996968" y="5437805"/>
            <a:ext cx="1507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/>
              <a:t>= </a:t>
            </a:r>
            <a:r>
              <a:rPr lang="en-US" altLang="en-US" sz="2400" b="1" dirty="0" smtClean="0"/>
              <a:t>31.5 cm</a:t>
            </a:r>
            <a:r>
              <a:rPr lang="en-US" altLang="en-US" sz="2400" b="1" baseline="30000" dirty="0" smtClean="0"/>
              <a:t>2</a:t>
            </a:r>
            <a:endParaRPr lang="en-GB" altLang="en-US" sz="2400" b="1" baseline="30000" dirty="0" smtClean="0"/>
          </a:p>
        </p:txBody>
      </p:sp>
      <p:sp>
        <p:nvSpPr>
          <p:cNvPr id="54" name="AutoShape 15"/>
          <p:cNvSpPr>
            <a:spLocks noChangeArrowheads="1"/>
          </p:cNvSpPr>
          <p:nvPr/>
        </p:nvSpPr>
        <p:spPr bwMode="auto">
          <a:xfrm flipV="1">
            <a:off x="3865080" y="2005630"/>
            <a:ext cx="3201988" cy="1511300"/>
          </a:xfrm>
          <a:prstGeom prst="parallelogram">
            <a:avLst>
              <a:gd name="adj" fmla="val 52967"/>
            </a:avLst>
          </a:prstGeom>
          <a:ln>
            <a:headEnd/>
            <a:tailEnd/>
          </a:ln>
          <a:ex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55" name="Line 16"/>
          <p:cNvSpPr>
            <a:spLocks noChangeShapeType="1"/>
          </p:cNvSpPr>
          <p:nvPr/>
        </p:nvSpPr>
        <p:spPr bwMode="auto">
          <a:xfrm>
            <a:off x="6455880" y="2005630"/>
            <a:ext cx="793750" cy="15128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56" name="Text Box 17"/>
          <p:cNvSpPr txBox="1">
            <a:spLocks noChangeArrowheads="1"/>
          </p:cNvSpPr>
          <p:nvPr/>
        </p:nvSpPr>
        <p:spPr bwMode="auto">
          <a:xfrm>
            <a:off x="6889268" y="2439018"/>
            <a:ext cx="10166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smtClean="0"/>
              <a:t>4.9 cm</a:t>
            </a:r>
            <a:endParaRPr lang="en-GB" altLang="en-US" sz="2400" smtClean="0"/>
          </a:p>
        </p:txBody>
      </p:sp>
      <p:sp>
        <p:nvSpPr>
          <p:cNvPr id="57" name="Text Box 18"/>
          <p:cNvSpPr txBox="1">
            <a:spLocks noChangeArrowheads="1"/>
          </p:cNvSpPr>
          <p:nvPr/>
        </p:nvSpPr>
        <p:spPr bwMode="auto">
          <a:xfrm>
            <a:off x="8094180" y="1808780"/>
            <a:ext cx="21764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smtClean="0">
                <a:solidFill>
                  <a:schemeClr val="accent2"/>
                </a:solidFill>
              </a:rPr>
              <a:t>We can ignore this length</a:t>
            </a:r>
            <a:endParaRPr lang="en-GB" altLang="en-US" sz="2400" b="1" dirty="0" smtClean="0">
              <a:solidFill>
                <a:schemeClr val="accent2"/>
              </a:solidFill>
            </a:endParaRPr>
          </a:p>
        </p:txBody>
      </p:sp>
      <p:sp>
        <p:nvSpPr>
          <p:cNvPr id="58" name="Line 19"/>
          <p:cNvSpPr>
            <a:spLocks noChangeShapeType="1"/>
          </p:cNvSpPr>
          <p:nvPr/>
        </p:nvSpPr>
        <p:spPr bwMode="auto">
          <a:xfrm flipH="1">
            <a:off x="7552843" y="2156443"/>
            <a:ext cx="541337" cy="3587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utoUpdateAnimBg="0"/>
      <p:bldP spid="52" grpId="0" autoUpdateAnimBg="0"/>
      <p:bldP spid="53" grpId="0" autoUpdateAnimBg="0"/>
      <p:bldP spid="57" grpId="0" autoUpdateAnimBg="0"/>
      <p:bldP spid="5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TRAPEZIA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= ½ (a + b) × height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688440" y="1353312"/>
            <a:ext cx="8814816" cy="382280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the two parallel sides,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multiply by the height between them.</a:t>
            </a:r>
            <a:endParaRPr lang="en-US" sz="1300" dirty="0"/>
          </a:p>
        </p:txBody>
      </p:sp>
      <p:sp>
        <p:nvSpPr>
          <p:cNvPr id="45" name="Rectangle 44"/>
          <p:cNvSpPr/>
          <p:nvPr/>
        </p:nvSpPr>
        <p:spPr>
          <a:xfrm>
            <a:off x="1700784" y="1373183"/>
            <a:ext cx="3061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Find the area of this trapezium</a:t>
            </a:r>
            <a:endParaRPr lang="en-GB" dirty="0"/>
          </a:p>
        </p:txBody>
      </p:sp>
      <p:sp>
        <p:nvSpPr>
          <p:cNvPr id="46" name="Freeform 5"/>
          <p:cNvSpPr>
            <a:spLocks/>
          </p:cNvSpPr>
          <p:nvPr/>
        </p:nvSpPr>
        <p:spPr bwMode="auto">
          <a:xfrm rot="-969268">
            <a:off x="1642035" y="2571803"/>
            <a:ext cx="3027363" cy="1697037"/>
          </a:xfrm>
          <a:custGeom>
            <a:avLst/>
            <a:gdLst>
              <a:gd name="T0" fmla="*/ 0 w 2087"/>
              <a:gd name="T1" fmla="*/ 953 h 953"/>
              <a:gd name="T2" fmla="*/ 2087 w 2087"/>
              <a:gd name="T3" fmla="*/ 953 h 953"/>
              <a:gd name="T4" fmla="*/ 1588 w 2087"/>
              <a:gd name="T5" fmla="*/ 0 h 953"/>
              <a:gd name="T6" fmla="*/ 817 w 2087"/>
              <a:gd name="T7" fmla="*/ 0 h 953"/>
              <a:gd name="T8" fmla="*/ 0 w 2087"/>
              <a:gd name="T9" fmla="*/ 953 h 9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87" h="953">
                <a:moveTo>
                  <a:pt x="0" y="953"/>
                </a:moveTo>
                <a:lnTo>
                  <a:pt x="2087" y="953"/>
                </a:lnTo>
                <a:lnTo>
                  <a:pt x="1588" y="0"/>
                </a:lnTo>
                <a:lnTo>
                  <a:pt x="817" y="0"/>
                </a:lnTo>
                <a:lnTo>
                  <a:pt x="0" y="953"/>
                </a:lnTo>
                <a:close/>
              </a:path>
            </a:pathLst>
          </a:custGeom>
          <a:gradFill rotWithShape="1">
            <a:gsLst>
              <a:gs pos="0">
                <a:srgbClr val="35B3DB"/>
              </a:gs>
              <a:gs pos="100000">
                <a:srgbClr val="80D0E8"/>
              </a:gs>
            </a:gsLst>
            <a:lin ang="18900000" scaled="1"/>
          </a:gradFill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47" name="Line 6"/>
          <p:cNvSpPr>
            <a:spLocks noChangeShapeType="1"/>
          </p:cNvSpPr>
          <p:nvPr/>
        </p:nvSpPr>
        <p:spPr bwMode="auto">
          <a:xfrm rot="-969268">
            <a:off x="3037448" y="2552753"/>
            <a:ext cx="1254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48" name="Line 7"/>
          <p:cNvSpPr>
            <a:spLocks noChangeShapeType="1"/>
          </p:cNvSpPr>
          <p:nvPr/>
        </p:nvSpPr>
        <p:spPr bwMode="auto">
          <a:xfrm rot="-969268">
            <a:off x="3327960" y="4233915"/>
            <a:ext cx="1254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49" name="Line 8"/>
          <p:cNvSpPr>
            <a:spLocks noChangeShapeType="1"/>
          </p:cNvSpPr>
          <p:nvPr/>
        </p:nvSpPr>
        <p:spPr bwMode="auto">
          <a:xfrm rot="-969268">
            <a:off x="4609073" y="2149528"/>
            <a:ext cx="0" cy="16970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50" name="Line 9"/>
          <p:cNvSpPr>
            <a:spLocks noChangeShapeType="1"/>
          </p:cNvSpPr>
          <p:nvPr/>
        </p:nvSpPr>
        <p:spPr bwMode="auto">
          <a:xfrm rot="-969268">
            <a:off x="3629585" y="2289228"/>
            <a:ext cx="757238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51" name="Rectangle 10"/>
          <p:cNvSpPr>
            <a:spLocks noChangeArrowheads="1"/>
          </p:cNvSpPr>
          <p:nvPr/>
        </p:nvSpPr>
        <p:spPr bwMode="auto">
          <a:xfrm rot="-969268">
            <a:off x="4212198" y="2205090"/>
            <a:ext cx="188912" cy="1873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52" name="Text Box 11"/>
          <p:cNvSpPr txBox="1">
            <a:spLocks noChangeArrowheads="1"/>
          </p:cNvSpPr>
          <p:nvPr/>
        </p:nvSpPr>
        <p:spPr bwMode="auto">
          <a:xfrm>
            <a:off x="4610660" y="2571803"/>
            <a:ext cx="6543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smtClean="0"/>
              <a:t>9 m</a:t>
            </a:r>
            <a:endParaRPr lang="en-GB" altLang="en-US" sz="2400" smtClean="0"/>
          </a:p>
        </p:txBody>
      </p:sp>
      <p:sp>
        <p:nvSpPr>
          <p:cNvPr id="53" name="Text Box 12"/>
          <p:cNvSpPr txBox="1">
            <a:spLocks noChangeArrowheads="1"/>
          </p:cNvSpPr>
          <p:nvPr/>
        </p:nvSpPr>
        <p:spPr bwMode="auto">
          <a:xfrm>
            <a:off x="2823135" y="1978078"/>
            <a:ext cx="6543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smtClean="0"/>
              <a:t>6 m</a:t>
            </a:r>
            <a:endParaRPr lang="en-GB" altLang="en-US" sz="2400" smtClean="0"/>
          </a:p>
        </p:txBody>
      </p:sp>
      <p:sp>
        <p:nvSpPr>
          <p:cNvPr id="54" name="Text Box 13"/>
          <p:cNvSpPr txBox="1">
            <a:spLocks noChangeArrowheads="1"/>
          </p:cNvSpPr>
          <p:nvPr/>
        </p:nvSpPr>
        <p:spPr bwMode="auto">
          <a:xfrm>
            <a:off x="3281923" y="4240265"/>
            <a:ext cx="809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smtClean="0"/>
              <a:t>14 m</a:t>
            </a:r>
            <a:endParaRPr lang="en-GB" altLang="en-US" sz="240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 Box 15"/>
              <p:cNvSpPr txBox="1">
                <a:spLocks noChangeArrowheads="1"/>
              </p:cNvSpPr>
              <p:nvPr/>
            </p:nvSpPr>
            <p:spPr bwMode="auto">
              <a:xfrm>
                <a:off x="5358587" y="1812984"/>
                <a:ext cx="3991157" cy="6967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400" dirty="0" smtClean="0"/>
                  <a:t>Area of a trapezium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 smtClean="0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altLang="en-US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GB" altLang="en-US" sz="2400" b="0" i="0" smtClean="0">
                                <a:latin typeface="Cambria Math"/>
                              </a:rPr>
                              <m:t>a</m:t>
                            </m:r>
                            <m:r>
                              <m:rPr>
                                <m:nor/>
                              </m:rPr>
                              <a:rPr lang="en-GB" altLang="en-US" sz="2400" b="0" i="0" smtClean="0">
                                <a:latin typeface="Cambria Math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GB" altLang="en-US" sz="2400" b="0" i="0" smtClean="0">
                                <a:latin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GB" altLang="en-US" sz="2400" b="0" i="0" smtClean="0">
                            <a:latin typeface="Cambria Math"/>
                          </a:rPr>
                          <m:t>h</m:t>
                        </m:r>
                      </m:num>
                      <m:den>
                        <m:r>
                          <m:rPr>
                            <m:nor/>
                          </m:rPr>
                          <a:rPr lang="en-GB" altLang="en-US" sz="2400" b="0" i="0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 sz="2400" dirty="0" smtClean="0"/>
                  <a:t> </a:t>
                </a:r>
                <a:endParaRPr lang="en-GB" altLang="en-US" sz="2400" i="1" dirty="0" smtClean="0">
                  <a:latin typeface="Times New Roman" pitchFamily="18" charset="0"/>
                </a:endParaRPr>
              </a:p>
            </p:txBody>
          </p:sp>
        </mc:Choice>
        <mc:Fallback>
          <p:sp>
            <p:nvSpPr>
              <p:cNvPr id="55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58587" y="1812984"/>
                <a:ext cx="3991157" cy="696794"/>
              </a:xfrm>
              <a:prstGeom prst="rect">
                <a:avLst/>
              </a:prstGeom>
              <a:blipFill rotWithShape="1">
                <a:blip r:embed="rId3"/>
                <a:stretch>
                  <a:fillRect l="-2290" b="-782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 Box 21"/>
              <p:cNvSpPr txBox="1">
                <a:spLocks noChangeArrowheads="1"/>
              </p:cNvSpPr>
              <p:nvPr/>
            </p:nvSpPr>
            <p:spPr bwMode="auto">
              <a:xfrm>
                <a:off x="7855300" y="2700396"/>
                <a:ext cx="1782476" cy="7319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400" dirty="0" smtClean="0"/>
                  <a:t>=</a:t>
                </a:r>
                <a:r>
                  <a:rPr lang="en-US" altLang="en-US" sz="2800" dirty="0" smtClean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800" i="1" smtClean="0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altLang="en-US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GB" altLang="en-US" sz="2800" b="0" i="1" smtClean="0">
                                <a:latin typeface="Cambria Math"/>
                              </a:rPr>
                              <m:t>6+14</m:t>
                            </m:r>
                          </m:e>
                        </m:d>
                        <m:r>
                          <a:rPr lang="en-GB" altLang="en-US" sz="2800" b="0" i="1" smtClean="0">
                            <a:latin typeface="Cambria Math"/>
                          </a:rPr>
                          <m:t> </m:t>
                        </m:r>
                        <m:r>
                          <a:rPr lang="en-GB" altLang="en-US" sz="2800" b="0" i="1" smtClean="0">
                            <a:latin typeface="Cambria Math"/>
                            <a:ea typeface="Cambria Math"/>
                          </a:rPr>
                          <m:t>×9</m:t>
                        </m:r>
                      </m:num>
                      <m:den>
                        <m:r>
                          <a:rPr lang="en-GB" altLang="en-US" sz="2800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GB" altLang="en-US" sz="2400" dirty="0" smtClean="0"/>
              </a:p>
            </p:txBody>
          </p:sp>
        </mc:Choice>
        <mc:Fallback>
          <p:sp>
            <p:nvSpPr>
              <p:cNvPr id="56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55300" y="2700396"/>
                <a:ext cx="1782476" cy="731932"/>
              </a:xfrm>
              <a:prstGeom prst="rect">
                <a:avLst/>
              </a:prstGeom>
              <a:blipFill rotWithShape="1">
                <a:blip r:embed="rId4"/>
                <a:stretch>
                  <a:fillRect l="-5479" b="-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 Box 27"/>
              <p:cNvSpPr txBox="1">
                <a:spLocks noChangeArrowheads="1"/>
              </p:cNvSpPr>
              <p:nvPr/>
            </p:nvSpPr>
            <p:spPr bwMode="auto">
              <a:xfrm>
                <a:off x="7915499" y="3625906"/>
                <a:ext cx="1002197" cy="7016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400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altLang="en-US" sz="2800" b="0" i="1" smtClean="0">
                            <a:latin typeface="Cambria Math"/>
                          </a:rPr>
                          <m:t>180</m:t>
                        </m:r>
                      </m:num>
                      <m:den>
                        <m:r>
                          <a:rPr lang="en-GB" altLang="en-US" sz="2800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 sz="2400" dirty="0" smtClean="0"/>
                  <a:t>  </a:t>
                </a:r>
                <a:endParaRPr lang="en-GB" altLang="en-US" sz="2400" dirty="0" smtClean="0"/>
              </a:p>
            </p:txBody>
          </p:sp>
        </mc:Choice>
        <mc:Fallback>
          <p:sp>
            <p:nvSpPr>
              <p:cNvPr id="57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15499" y="3625906"/>
                <a:ext cx="1002197" cy="701602"/>
              </a:xfrm>
              <a:prstGeom prst="rect">
                <a:avLst/>
              </a:prstGeom>
              <a:blipFill rotWithShape="1">
                <a:blip r:embed="rId5"/>
                <a:stretch>
                  <a:fillRect l="-9091" b="-521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 Box 32"/>
          <p:cNvSpPr txBox="1">
            <a:spLocks noChangeArrowheads="1"/>
          </p:cNvSpPr>
          <p:nvPr/>
        </p:nvSpPr>
        <p:spPr bwMode="auto">
          <a:xfrm>
            <a:off x="7920053" y="4354565"/>
            <a:ext cx="11416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/>
              <a:t>= </a:t>
            </a:r>
            <a:r>
              <a:rPr lang="en-US" altLang="en-US" sz="2400" b="1" dirty="0" smtClean="0">
                <a:solidFill>
                  <a:schemeClr val="accent6">
                    <a:lumMod val="75000"/>
                  </a:schemeClr>
                </a:solidFill>
              </a:rPr>
              <a:t>90 m</a:t>
            </a:r>
            <a:r>
              <a:rPr lang="en-US" altLang="en-US" sz="2400" b="1" baseline="30000" dirty="0" smtClean="0">
                <a:solidFill>
                  <a:schemeClr val="accent6">
                    <a:lumMod val="75000"/>
                  </a:schemeClr>
                </a:solidFill>
              </a:rPr>
              <a:t>2</a:t>
            </a:r>
            <a:endParaRPr lang="en-GB" altLang="en-US" sz="2400" b="1" baseline="30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  <p:bldP spid="5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= ½ × diagonal₁ × diagonal₂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855546" y="1353312"/>
            <a:ext cx="6480603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lean6/ap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554" y="1417320"/>
            <a:ext cx="6352587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kite is half of the rectangle around it —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two diagonals and halve.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Circumference &amp; Area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25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258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r is centre to edge; diameter d = 2r.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formulas — do not mix them up.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28600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CIRCUMFERENCE (perimeter)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30175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π × d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 C = 2 × π × r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“Cherry Pie’s Delicious” → C = πd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0488" y="228600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56248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537960" y="30175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π × r</a:t>
            </a:r>
            <a:r>
              <a:rPr lang="en-US" sz="2400" b="1" baseline="300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 the radius FIRST, then × π.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“Apple Pies are Too” → A = πr²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66928" y="548640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41248" y="5486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given the diameter, halve it to get r before using A = πr².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Circumference &amp; Area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1390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3767" y="121390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r is centre to edge; diameter d = 2r.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formulas — do not mix them up.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208547" y="2001238"/>
            <a:ext cx="5648451" cy="4652613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10214" y="2001238"/>
            <a:ext cx="6122021" cy="4681649"/>
          </a:xfrm>
          <a:prstGeom prst="roundRect">
            <a:avLst>
              <a:gd name="adj" fmla="val 181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Text Box 14"/>
          <p:cNvSpPr txBox="1">
            <a:spLocks noChangeArrowheads="1"/>
          </p:cNvSpPr>
          <p:nvPr/>
        </p:nvSpPr>
        <p:spPr bwMode="auto">
          <a:xfrm>
            <a:off x="2054225" y="2520975"/>
            <a:ext cx="9492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smtClean="0"/>
              <a:t>C = </a:t>
            </a:r>
            <a:r>
              <a:rPr lang="el-GR" altLang="en-US" sz="2400" smtClean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altLang="en-US" sz="2400" i="1" smtClean="0">
                <a:latin typeface="Times New Roman" pitchFamily="18" charset="0"/>
              </a:rPr>
              <a:t>d</a:t>
            </a:r>
            <a:endParaRPr lang="el-GR" altLang="en-US" sz="2400" i="1" smtClean="0">
              <a:latin typeface="Times New Roman" pitchFamily="18" charset="0"/>
            </a:endParaRPr>
          </a:p>
        </p:txBody>
      </p:sp>
      <p:grpSp>
        <p:nvGrpSpPr>
          <p:cNvPr id="52" name="Group 62"/>
          <p:cNvGrpSpPr>
            <a:grpSpLocks/>
          </p:cNvGrpSpPr>
          <p:nvPr/>
        </p:nvGrpSpPr>
        <p:grpSpPr bwMode="auto">
          <a:xfrm>
            <a:off x="541338" y="2449537"/>
            <a:ext cx="1439862" cy="1439863"/>
            <a:chOff x="341" y="1356"/>
            <a:chExt cx="907" cy="907"/>
          </a:xfrm>
          <a:solidFill>
            <a:srgbClr val="FFFF66"/>
          </a:solidFill>
        </p:grpSpPr>
        <p:grpSp>
          <p:nvGrpSpPr>
            <p:cNvPr id="53" name="Group 37"/>
            <p:cNvGrpSpPr>
              <a:grpSpLocks/>
            </p:cNvGrpSpPr>
            <p:nvPr/>
          </p:nvGrpSpPr>
          <p:grpSpPr bwMode="auto">
            <a:xfrm>
              <a:off x="341" y="1356"/>
              <a:ext cx="907" cy="907"/>
              <a:chOff x="340" y="1253"/>
              <a:chExt cx="1225" cy="1225"/>
            </a:xfrm>
            <a:grpFill/>
          </p:grpSpPr>
          <p:sp>
            <p:nvSpPr>
              <p:cNvPr id="55" name="Oval 23"/>
              <p:cNvSpPr>
                <a:spLocks noChangeArrowheads="1"/>
              </p:cNvSpPr>
              <p:nvPr/>
            </p:nvSpPr>
            <p:spPr bwMode="auto">
              <a:xfrm rot="1800000">
                <a:off x="340" y="1253"/>
                <a:ext cx="1225" cy="1225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/>
              </a:p>
            </p:txBody>
          </p:sp>
          <p:sp>
            <p:nvSpPr>
              <p:cNvPr id="56" name="Line 27"/>
              <p:cNvSpPr>
                <a:spLocks noChangeShapeType="1"/>
              </p:cNvSpPr>
              <p:nvPr/>
            </p:nvSpPr>
            <p:spPr bwMode="auto">
              <a:xfrm rot="1800000">
                <a:off x="341" y="1866"/>
                <a:ext cx="1224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/>
              </a:p>
            </p:txBody>
          </p:sp>
        </p:grpSp>
        <p:sp>
          <p:nvSpPr>
            <p:cNvPr id="54" name="Text Box 28"/>
            <p:cNvSpPr txBox="1">
              <a:spLocks noChangeArrowheads="1"/>
            </p:cNvSpPr>
            <p:nvPr/>
          </p:nvSpPr>
          <p:spPr bwMode="auto">
            <a:xfrm>
              <a:off x="704" y="1474"/>
              <a:ext cx="432" cy="25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smtClean="0"/>
                <a:t>4 cm</a:t>
              </a:r>
              <a:endParaRPr lang="en-GB" altLang="en-US" sz="2000" smtClean="0"/>
            </a:p>
          </p:txBody>
        </p:sp>
      </p:grpSp>
      <p:sp>
        <p:nvSpPr>
          <p:cNvPr id="57" name="Text Box 29"/>
          <p:cNvSpPr txBox="1">
            <a:spLocks noChangeArrowheads="1"/>
          </p:cNvSpPr>
          <p:nvPr/>
        </p:nvSpPr>
        <p:spPr bwMode="auto">
          <a:xfrm>
            <a:off x="2357438" y="3070250"/>
            <a:ext cx="13981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smtClean="0"/>
              <a:t>= 3.14 × 4</a:t>
            </a:r>
            <a:endParaRPr lang="en-GB" altLang="en-US" sz="2400" smtClean="0"/>
          </a:p>
        </p:txBody>
      </p:sp>
      <p:sp>
        <p:nvSpPr>
          <p:cNvPr id="58" name="Text Box 30"/>
          <p:cNvSpPr txBox="1">
            <a:spLocks noChangeArrowheads="1"/>
          </p:cNvSpPr>
          <p:nvPr/>
        </p:nvSpPr>
        <p:spPr bwMode="auto">
          <a:xfrm>
            <a:off x="2357438" y="3619525"/>
            <a:ext cx="1558440" cy="461665"/>
          </a:xfrm>
          <a:prstGeom prst="rect">
            <a:avLst/>
          </a:prstGeom>
          <a:ln/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/>
              <a:t>= </a:t>
            </a:r>
            <a:r>
              <a:rPr lang="en-US" altLang="en-US" sz="2400" b="1" dirty="0" smtClean="0"/>
              <a:t>12.56 </a:t>
            </a:r>
            <a:r>
              <a:rPr lang="en-US" altLang="en-US" sz="2400" b="1" dirty="0" smtClean="0"/>
              <a:t>cm</a:t>
            </a:r>
            <a:endParaRPr lang="en-GB" altLang="en-US" sz="2400" b="1" dirty="0" smtClean="0"/>
          </a:p>
        </p:txBody>
      </p:sp>
      <p:grpSp>
        <p:nvGrpSpPr>
          <p:cNvPr id="60" name="Group 60"/>
          <p:cNvGrpSpPr>
            <a:grpSpLocks/>
          </p:cNvGrpSpPr>
          <p:nvPr/>
        </p:nvGrpSpPr>
        <p:grpSpPr bwMode="auto">
          <a:xfrm>
            <a:off x="541338" y="4679390"/>
            <a:ext cx="1439862" cy="1439863"/>
            <a:chOff x="2925" y="1356"/>
            <a:chExt cx="1031" cy="1031"/>
          </a:xfrm>
        </p:grpSpPr>
        <p:sp>
          <p:nvSpPr>
            <p:cNvPr id="61" name="Oval 40"/>
            <p:cNvSpPr>
              <a:spLocks noChangeArrowheads="1"/>
            </p:cNvSpPr>
            <p:nvPr/>
          </p:nvSpPr>
          <p:spPr bwMode="auto">
            <a:xfrm rot="1800000">
              <a:off x="2925" y="1356"/>
              <a:ext cx="1031" cy="1031"/>
            </a:xfrm>
            <a:prstGeom prst="ellipse">
              <a:avLst/>
            </a:prstGeom>
            <a:solidFill>
              <a:schemeClr val="accent4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2" name="Line 41"/>
            <p:cNvSpPr>
              <a:spLocks noChangeShapeType="1"/>
            </p:cNvSpPr>
            <p:nvPr/>
          </p:nvSpPr>
          <p:spPr bwMode="auto">
            <a:xfrm rot="4200000">
              <a:off x="3095" y="1630"/>
              <a:ext cx="5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3" name="Text Box 42"/>
            <p:cNvSpPr txBox="1">
              <a:spLocks noChangeArrowheads="1"/>
            </p:cNvSpPr>
            <p:nvPr/>
          </p:nvSpPr>
          <p:spPr bwMode="auto">
            <a:xfrm>
              <a:off x="3354" y="1489"/>
              <a:ext cx="413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smtClean="0"/>
                <a:t>9 m</a:t>
              </a:r>
              <a:endParaRPr lang="en-GB" altLang="en-US" sz="2000" smtClean="0"/>
            </a:p>
          </p:txBody>
        </p:sp>
      </p:grpSp>
      <p:sp>
        <p:nvSpPr>
          <p:cNvPr id="67" name="Text Box 38"/>
          <p:cNvSpPr txBox="1">
            <a:spLocks noChangeArrowheads="1"/>
          </p:cNvSpPr>
          <p:nvPr/>
        </p:nvSpPr>
        <p:spPr bwMode="auto">
          <a:xfrm>
            <a:off x="2357438" y="4793293"/>
            <a:ext cx="10711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/>
              <a:t>C = 2</a:t>
            </a:r>
            <a:r>
              <a:rPr lang="el-GR" altLang="en-US" sz="2400" dirty="0" smtClean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altLang="en-US" sz="2400" i="1" dirty="0" smtClean="0">
                <a:latin typeface="Times New Roman" pitchFamily="18" charset="0"/>
              </a:rPr>
              <a:t>r</a:t>
            </a:r>
            <a:endParaRPr lang="el-GR" altLang="en-US" sz="2400" i="1" dirty="0" smtClean="0">
              <a:latin typeface="Times New Roman" pitchFamily="18" charset="0"/>
            </a:endParaRPr>
          </a:p>
        </p:txBody>
      </p:sp>
      <p:sp>
        <p:nvSpPr>
          <p:cNvPr id="68" name="Text Box 43"/>
          <p:cNvSpPr txBox="1">
            <a:spLocks noChangeArrowheads="1"/>
          </p:cNvSpPr>
          <p:nvPr/>
        </p:nvSpPr>
        <p:spPr bwMode="auto">
          <a:xfrm>
            <a:off x="2276603" y="5209946"/>
            <a:ext cx="18453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/>
              <a:t>= 2 × 3.14 × 9</a:t>
            </a:r>
            <a:endParaRPr lang="en-GB" altLang="en-US" sz="2400" dirty="0" smtClean="0"/>
          </a:p>
        </p:txBody>
      </p:sp>
      <p:sp>
        <p:nvSpPr>
          <p:cNvPr id="69" name="Text Box 44"/>
          <p:cNvSpPr txBox="1">
            <a:spLocks noChangeArrowheads="1"/>
          </p:cNvSpPr>
          <p:nvPr/>
        </p:nvSpPr>
        <p:spPr bwMode="auto">
          <a:xfrm>
            <a:off x="2276603" y="5759221"/>
            <a:ext cx="1430200" cy="461665"/>
          </a:xfrm>
          <a:prstGeom prst="rect">
            <a:avLst/>
          </a:prstGeom>
          <a:ln/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/>
              <a:t>= </a:t>
            </a:r>
            <a:r>
              <a:rPr lang="en-US" altLang="en-US" sz="2400" b="1" dirty="0" smtClean="0"/>
              <a:t>56.52 m</a:t>
            </a:r>
            <a:endParaRPr lang="en-GB" altLang="en-US" sz="2400" b="1" dirty="0" smtClean="0"/>
          </a:p>
        </p:txBody>
      </p:sp>
      <p:sp>
        <p:nvSpPr>
          <p:cNvPr id="70" name="Oval 3"/>
          <p:cNvSpPr>
            <a:spLocks noChangeArrowheads="1"/>
          </p:cNvSpPr>
          <p:nvPr/>
        </p:nvSpPr>
        <p:spPr bwMode="auto">
          <a:xfrm>
            <a:off x="8330301" y="2267712"/>
            <a:ext cx="2070100" cy="1935162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71" name="Oval 6"/>
          <p:cNvSpPr>
            <a:spLocks noChangeArrowheads="1"/>
          </p:cNvSpPr>
          <p:nvPr/>
        </p:nvSpPr>
        <p:spPr bwMode="auto">
          <a:xfrm>
            <a:off x="8710355" y="4627813"/>
            <a:ext cx="2070100" cy="1935163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GB" sz="2400" b="1" smtClean="0"/>
          </a:p>
        </p:txBody>
      </p:sp>
      <p:sp>
        <p:nvSpPr>
          <p:cNvPr id="72" name="Text Box 9"/>
          <p:cNvSpPr txBox="1">
            <a:spLocks noChangeArrowheads="1"/>
          </p:cNvSpPr>
          <p:nvPr/>
        </p:nvSpPr>
        <p:spPr bwMode="auto">
          <a:xfrm>
            <a:off x="7687637" y="2400309"/>
            <a:ext cx="540000" cy="338554"/>
          </a:xfrm>
          <a:prstGeom prst="rect">
            <a:avLst/>
          </a:prstGeom>
          <a:ln/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1600" dirty="0" smtClean="0"/>
              <a:t>1)</a:t>
            </a:r>
            <a:endParaRPr lang="en-US" altLang="en-US" sz="1600" dirty="0" smtClean="0"/>
          </a:p>
        </p:txBody>
      </p:sp>
      <p:sp>
        <p:nvSpPr>
          <p:cNvPr id="73" name="Text Box 12"/>
          <p:cNvSpPr txBox="1">
            <a:spLocks noChangeArrowheads="1"/>
          </p:cNvSpPr>
          <p:nvPr/>
        </p:nvSpPr>
        <p:spPr bwMode="auto">
          <a:xfrm>
            <a:off x="7944537" y="4717646"/>
            <a:ext cx="369715" cy="338554"/>
          </a:xfrm>
          <a:prstGeom prst="rect">
            <a:avLst/>
          </a:prstGeom>
          <a:ln/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1600" dirty="0"/>
              <a:t>2</a:t>
            </a:r>
            <a:r>
              <a:rPr lang="en-GB" altLang="en-US" sz="1600" dirty="0" smtClean="0"/>
              <a:t>)</a:t>
            </a:r>
            <a:endParaRPr lang="en-US" altLang="en-US" sz="1600" dirty="0" smtClean="0"/>
          </a:p>
        </p:txBody>
      </p:sp>
      <p:sp>
        <p:nvSpPr>
          <p:cNvPr id="74" name="Line 15"/>
          <p:cNvSpPr>
            <a:spLocks noChangeShapeType="1"/>
          </p:cNvSpPr>
          <p:nvPr/>
        </p:nvSpPr>
        <p:spPr bwMode="auto">
          <a:xfrm flipV="1">
            <a:off x="8420788" y="2763012"/>
            <a:ext cx="1846263" cy="855662"/>
          </a:xfrm>
          <a:prstGeom prst="line">
            <a:avLst/>
          </a:prstGeom>
          <a:ln>
            <a:headEnd type="triangle" w="med" len="med"/>
            <a:tailEnd type="triangl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75" name="Line 18"/>
          <p:cNvSpPr>
            <a:spLocks noChangeShapeType="1"/>
          </p:cNvSpPr>
          <p:nvPr/>
        </p:nvSpPr>
        <p:spPr bwMode="auto">
          <a:xfrm>
            <a:off x="9070717" y="4851651"/>
            <a:ext cx="1395413" cy="1395412"/>
          </a:xfrm>
          <a:prstGeom prst="line">
            <a:avLst/>
          </a:prstGeom>
          <a:ln>
            <a:headEnd type="triangle" w="med" len="med"/>
            <a:tailEnd type="triangl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GB" sz="2400" b="1" smtClean="0"/>
          </a:p>
        </p:txBody>
      </p:sp>
      <p:sp>
        <p:nvSpPr>
          <p:cNvPr id="76" name="Text Box 21"/>
          <p:cNvSpPr txBox="1">
            <a:spLocks noChangeArrowheads="1"/>
          </p:cNvSpPr>
          <p:nvPr/>
        </p:nvSpPr>
        <p:spPr bwMode="auto">
          <a:xfrm rot="-1526710">
            <a:off x="8825601" y="2718562"/>
            <a:ext cx="1350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000" smtClean="0"/>
              <a:t>16 cm</a:t>
            </a:r>
            <a:endParaRPr lang="en-US" altLang="en-US" sz="2000" smtClean="0"/>
          </a:p>
        </p:txBody>
      </p:sp>
      <p:sp>
        <p:nvSpPr>
          <p:cNvPr id="77" name="Text Box 24"/>
          <p:cNvSpPr txBox="1">
            <a:spLocks noChangeArrowheads="1"/>
          </p:cNvSpPr>
          <p:nvPr/>
        </p:nvSpPr>
        <p:spPr bwMode="auto">
          <a:xfrm rot="2688438">
            <a:off x="9566017" y="5302501"/>
            <a:ext cx="944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000" b="1" smtClean="0"/>
              <a:t>13 cm</a:t>
            </a:r>
            <a:endParaRPr lang="en-US" altLang="en-US" sz="2000" b="1" smtClean="0"/>
          </a:p>
        </p:txBody>
      </p:sp>
      <p:sp>
        <p:nvSpPr>
          <p:cNvPr id="78" name="AutoShape 27"/>
          <p:cNvSpPr>
            <a:spLocks noChangeArrowheads="1"/>
          </p:cNvSpPr>
          <p:nvPr/>
        </p:nvSpPr>
        <p:spPr bwMode="auto">
          <a:xfrm>
            <a:off x="8511276" y="2942399"/>
            <a:ext cx="2160587" cy="1620838"/>
          </a:xfrm>
          <a:prstGeom prst="irregularSeal1">
            <a:avLst/>
          </a:prstGeom>
          <a:ln>
            <a:headEnd/>
            <a:tailEnd/>
          </a:ln>
          <a:ex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000" smtClean="0"/>
              <a:t>201.09 cm</a:t>
            </a:r>
            <a:r>
              <a:rPr lang="en-GB" altLang="en-US" sz="2000" baseline="60000" smtClean="0"/>
              <a:t>2</a:t>
            </a:r>
            <a:endParaRPr lang="en-US" altLang="en-US" sz="2000" baseline="60000" smtClean="0"/>
          </a:p>
        </p:txBody>
      </p:sp>
      <p:sp>
        <p:nvSpPr>
          <p:cNvPr id="79" name="AutoShape 30"/>
          <p:cNvSpPr>
            <a:spLocks noChangeArrowheads="1"/>
          </p:cNvSpPr>
          <p:nvPr/>
        </p:nvSpPr>
        <p:spPr bwMode="auto">
          <a:xfrm>
            <a:off x="8330301" y="4988165"/>
            <a:ext cx="2160588" cy="1620837"/>
          </a:xfrm>
          <a:prstGeom prst="irregularSeal1">
            <a:avLst/>
          </a:prstGeom>
          <a:ln>
            <a:headEnd/>
            <a:tailEnd/>
          </a:ln>
          <a:ex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000" dirty="0" smtClean="0"/>
              <a:t>132.75 cm</a:t>
            </a:r>
            <a:r>
              <a:rPr lang="en-GB" altLang="en-US" sz="2000" baseline="60000" dirty="0" smtClean="0"/>
              <a:t>2</a:t>
            </a:r>
            <a:endParaRPr lang="en-US" altLang="en-US" sz="2000" baseline="60000" dirty="0" smtClean="0"/>
          </a:p>
        </p:txBody>
      </p:sp>
      <p:sp>
        <p:nvSpPr>
          <p:cNvPr id="80" name="Rectangle 79"/>
          <p:cNvSpPr/>
          <p:nvPr/>
        </p:nvSpPr>
        <p:spPr>
          <a:xfrm>
            <a:off x="192385" y="2016747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600" dirty="0"/>
              <a:t>Task – Find the circumference of these circles WITHOUT a calculator</a:t>
            </a:r>
            <a:endParaRPr lang="en-GB" sz="1600" dirty="0"/>
          </a:p>
        </p:txBody>
      </p:sp>
      <p:sp>
        <p:nvSpPr>
          <p:cNvPr id="81" name="Rectangle 80"/>
          <p:cNvSpPr/>
          <p:nvPr/>
        </p:nvSpPr>
        <p:spPr>
          <a:xfrm>
            <a:off x="6036236" y="1997140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600" dirty="0"/>
              <a:t>Task – Find the AREA of these circles using a calculator. Give </a:t>
            </a:r>
            <a:r>
              <a:rPr lang="en-GB" sz="1600" dirty="0" smtClean="0"/>
              <a:t>your answers </a:t>
            </a:r>
            <a:r>
              <a:rPr lang="en-GB" sz="1600" dirty="0"/>
              <a:t>to 2 </a:t>
            </a:r>
            <a:r>
              <a:rPr lang="en-GB" sz="1600" dirty="0" err="1"/>
              <a:t>d.p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1525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7" grpId="0"/>
      <p:bldP spid="58" grpId="0" animBg="1"/>
      <p:bldP spid="67" grpId="0"/>
      <p:bldP spid="68" grpId="0"/>
      <p:bldP spid="69" grpId="0" animBg="1"/>
      <p:bldP spid="78" grpId="0" animBg="1"/>
      <p:bldP spid="7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SHAPES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Into Simple Shapes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313647" y="1353312"/>
            <a:ext cx="7564402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lean6/ap-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655" y="1417320"/>
            <a:ext cx="7436386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shape into rectangles, triangles and parts of circles,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each area, then add (or subtract).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SHAPES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329866" y="1353312"/>
            <a:ext cx="7531964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lean6/ap-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874" y="1417320"/>
            <a:ext cx="7403948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each piece separately, then combine.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units — area is always squared.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SHAPES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Errors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688440" y="1353312"/>
            <a:ext cx="8814816" cy="407182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lean6/ap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448" y="1417320"/>
            <a:ext cx="8686800" cy="3943807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slips: using slant height, forgetting to halve, or mixing up area and perimeter.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SHAPES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25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258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try to do it in one go.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solve, combine.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19456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508760" y="2194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the shape into simple parts (rectangle, triangle, semicircle).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566928" y="312724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8680" y="331012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508760" y="312724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 any MISSING lengths from the ones you are given.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566928" y="4059936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68680" y="4242816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1508760" y="405993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area of EACH part separately.</a:t>
            </a:r>
            <a:endParaRPr lang="en-US" sz="1450" dirty="0"/>
          </a:p>
        </p:txBody>
      </p:sp>
      <p:sp>
        <p:nvSpPr>
          <p:cNvPr id="55" name="Shape 53"/>
          <p:cNvSpPr/>
          <p:nvPr/>
        </p:nvSpPr>
        <p:spPr>
          <a:xfrm>
            <a:off x="566928" y="4992624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68680" y="5175504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68680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1508760" y="4992624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parts — or SUBTRACT if a piece is cut out.</a:t>
            </a:r>
            <a:endParaRPr lang="en-US" sz="1450" dirty="0"/>
          </a:p>
        </p:txBody>
      </p:sp>
      <p:sp>
        <p:nvSpPr>
          <p:cNvPr id="59" name="Text 57"/>
          <p:cNvSpPr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PERIMETER of a compound shape, add only the OUTSIDE edges — not the split lines.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compound shapes, use the right formula, watch the units.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simple shapes make it up?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missing lengths first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or subtract the areas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in units², perimeter in units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267816" y="1408176"/>
            <a:ext cx="9656064" cy="3922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ppq/q-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68" y="1481328"/>
            <a:ext cx="9509760" cy="37757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267816" y="1408176"/>
            <a:ext cx="9656064" cy="5185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ppq/q-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68" y="1481328"/>
            <a:ext cx="9509760" cy="50393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975025" y="1408176"/>
            <a:ext cx="8241645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ppq/q-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177" y="1481328"/>
            <a:ext cx="8095341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267816" y="1408176"/>
            <a:ext cx="9656064" cy="505772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ppq/q-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68" y="1481328"/>
            <a:ext cx="9509760" cy="491141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820960" y="1408176"/>
            <a:ext cx="8549774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ppq/q-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112" y="1481328"/>
            <a:ext cx="840347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6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318994" y="1408176"/>
            <a:ext cx="7553708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ppq/q-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146" y="1481328"/>
            <a:ext cx="740740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7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267816" y="1408176"/>
            <a:ext cx="9656064" cy="49095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ppq/q-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68" y="1481328"/>
            <a:ext cx="9509760" cy="476320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8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256361" y="1408176"/>
            <a:ext cx="7678973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ppq/q-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9513" y="1481328"/>
            <a:ext cx="7532669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= distance around (a length);  Area = space inside (square units).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&amp; parallelogram: base × height.  Triangle: ½ base × height.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Trapezium: ½(a + b) × height.  Kite: ½ × diagonal₁ × diagonal₂.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circumference C = πd,  area A = πr² (square the radius first).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shapes: split into simple parts, then add or subtract.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use the PERPENDICULAR height, and keep area in square units.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1034</Words>
  <Application>Microsoft Office PowerPoint</Application>
  <PresentationFormat>Custom</PresentationFormat>
  <Paragraphs>220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3</cp:revision>
  <dcterms:created xsi:type="dcterms:W3CDTF">2026-07-15T08:33:25Z</dcterms:created>
  <dcterms:modified xsi:type="dcterms:W3CDTF">2026-07-27T10:11:57Z</dcterms:modified>
</cp:coreProperties>
</file>