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9.png" ContentType="image/png"/>
  <Override PartName="/ppt/media/image18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13.png" ContentType="image/png"/>
  <Override PartName="/ppt/media/image4.png" ContentType="image/png"/>
  <Override PartName="/ppt/media/audio1.wav" ContentType="audio/x-wav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F785BB2-8F11-44C9-9722-41CCCA5F438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2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53FCD7-A4F2-4871-B69F-4C01222181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2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62940F-4111-4977-866C-D4536CEE38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3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1C4DF6-044B-48C4-9E95-B92D3B6592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3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BBB52E-8380-47F6-AD87-5097F344EF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3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F49A7F-4F27-47E7-9666-3455E13761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C26625-C9AA-4F1B-90FD-C08A07320F1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4BAE31-16BC-461F-838C-E4BDBA3698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026B3A-65E0-4231-971C-B8980058E97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4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CD95BF-C7A6-456F-A3F8-7ECA1EFD9FB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5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B69750-1D40-4BC3-9245-EC6053658E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5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A94D7B-F798-4F5E-BCF6-0CAA49ED3C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5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447D5C-C170-4F63-ABF5-CE74A2D96C9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66A9B6-646E-4298-813B-74CBD6C007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3640E9-0839-49B3-9E34-1225601D15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6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C94CC6-1AAA-4847-8D13-0E890082A44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4457B8-0685-4FC7-83A0-990A2CB240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9807E6-7707-4476-9DB2-3C7CEBA711F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694EAD-2E3F-4AC5-BF48-393B2C2FA7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7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D62034-F8A8-4E76-92BB-AE204C69D6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8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52C1BB-8FF8-4068-A7E0-DB06DD2FF5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8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B81E8-61CE-4582-9035-D0CC1F5AC5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8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47E7D2-44F4-4B2C-9E1D-2FB7B0F49AB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22EA5F-E7DB-4491-80E3-1079CDC6C7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037274-6E70-41C4-9C88-0AE60887C5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29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2B00A8-BF3D-4657-A45A-2DF036A60E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audio" Target="../media/audio1.wav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778240" y="822960"/>
            <a:ext cx="2377080" cy="1554120"/>
          </a:xfrm>
          <a:prstGeom prst="rect">
            <a:avLst/>
          </a:prstGeom>
          <a:noFill/>
          <a:ln w="508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Area &amp; Perimeter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Perimeter · Rectangles · Triangles · Parallelograms · Trapezia · Circles · Compound Shapes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vs Perimeter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PERIMETER is the distance AROUND a shape (add up the sides).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AREA is the space INSIDE it. Perimeter is a length (cm); area is square units (cm²).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Perimeter of any shape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Rectangles &amp; triangles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Parallelograms &amp; trapezia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Circles: circumference &amp; area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Compound shapes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perimeter · area · base · height · π · radius · diameter · compound shape · units²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Formulas at a Glance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29852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29852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Learn these five — every compound shape is built from them.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567000" y="2103120"/>
            <a:ext cx="530316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676800" y="2103120"/>
            <a:ext cx="5083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Shape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3"/>
          <p:cNvSpPr/>
          <p:nvPr/>
        </p:nvSpPr>
        <p:spPr>
          <a:xfrm>
            <a:off x="6126480" y="2103120"/>
            <a:ext cx="550440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44"/>
          <p:cNvSpPr/>
          <p:nvPr/>
        </p:nvSpPr>
        <p:spPr>
          <a:xfrm>
            <a:off x="6236280" y="2103120"/>
            <a:ext cx="5284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Area formula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5"/>
          <p:cNvSpPr/>
          <p:nvPr/>
        </p:nvSpPr>
        <p:spPr>
          <a:xfrm>
            <a:off x="567000" y="2597040"/>
            <a:ext cx="53031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6"/>
          <p:cNvSpPr/>
          <p:nvPr/>
        </p:nvSpPr>
        <p:spPr>
          <a:xfrm>
            <a:off x="749880" y="2597040"/>
            <a:ext cx="49374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Rectangle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7"/>
          <p:cNvSpPr/>
          <p:nvPr/>
        </p:nvSpPr>
        <p:spPr>
          <a:xfrm>
            <a:off x="6126480" y="2597040"/>
            <a:ext cx="550440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6309360" y="2597040"/>
            <a:ext cx="5138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base × height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9"/>
          <p:cNvSpPr/>
          <p:nvPr/>
        </p:nvSpPr>
        <p:spPr>
          <a:xfrm>
            <a:off x="567000" y="3163680"/>
            <a:ext cx="53031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50"/>
          <p:cNvSpPr/>
          <p:nvPr/>
        </p:nvSpPr>
        <p:spPr>
          <a:xfrm>
            <a:off x="749880" y="3163680"/>
            <a:ext cx="49374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Triangle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1"/>
          <p:cNvSpPr/>
          <p:nvPr/>
        </p:nvSpPr>
        <p:spPr>
          <a:xfrm>
            <a:off x="6126480" y="3163680"/>
            <a:ext cx="550440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52"/>
          <p:cNvSpPr/>
          <p:nvPr/>
        </p:nvSpPr>
        <p:spPr>
          <a:xfrm>
            <a:off x="6309360" y="3163680"/>
            <a:ext cx="5138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½ × base × height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3"/>
          <p:cNvSpPr/>
          <p:nvPr/>
        </p:nvSpPr>
        <p:spPr>
          <a:xfrm>
            <a:off x="567000" y="3730680"/>
            <a:ext cx="53031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4"/>
          <p:cNvSpPr/>
          <p:nvPr/>
        </p:nvSpPr>
        <p:spPr>
          <a:xfrm>
            <a:off x="749880" y="3730680"/>
            <a:ext cx="49374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Parallelogram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5"/>
          <p:cNvSpPr/>
          <p:nvPr/>
        </p:nvSpPr>
        <p:spPr>
          <a:xfrm>
            <a:off x="6126480" y="3730680"/>
            <a:ext cx="550440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6"/>
          <p:cNvSpPr/>
          <p:nvPr/>
        </p:nvSpPr>
        <p:spPr>
          <a:xfrm>
            <a:off x="6309360" y="3730680"/>
            <a:ext cx="5138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base × height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57"/>
          <p:cNvSpPr/>
          <p:nvPr/>
        </p:nvSpPr>
        <p:spPr>
          <a:xfrm>
            <a:off x="567000" y="4297680"/>
            <a:ext cx="53031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8"/>
          <p:cNvSpPr/>
          <p:nvPr/>
        </p:nvSpPr>
        <p:spPr>
          <a:xfrm>
            <a:off x="749880" y="4297680"/>
            <a:ext cx="49374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Trapezium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9"/>
          <p:cNvSpPr/>
          <p:nvPr/>
        </p:nvSpPr>
        <p:spPr>
          <a:xfrm>
            <a:off x="6126480" y="4297680"/>
            <a:ext cx="550440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60"/>
          <p:cNvSpPr/>
          <p:nvPr/>
        </p:nvSpPr>
        <p:spPr>
          <a:xfrm>
            <a:off x="6309360" y="4297680"/>
            <a:ext cx="5138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½ (a + b) × height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61"/>
          <p:cNvSpPr/>
          <p:nvPr/>
        </p:nvSpPr>
        <p:spPr>
          <a:xfrm>
            <a:off x="567000" y="4864680"/>
            <a:ext cx="53031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2"/>
          <p:cNvSpPr/>
          <p:nvPr/>
        </p:nvSpPr>
        <p:spPr>
          <a:xfrm>
            <a:off x="749880" y="4864680"/>
            <a:ext cx="49374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Kite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63"/>
          <p:cNvSpPr/>
          <p:nvPr/>
        </p:nvSpPr>
        <p:spPr>
          <a:xfrm>
            <a:off x="6126480" y="4864680"/>
            <a:ext cx="550440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64"/>
          <p:cNvSpPr/>
          <p:nvPr/>
        </p:nvSpPr>
        <p:spPr>
          <a:xfrm>
            <a:off x="6309360" y="4864680"/>
            <a:ext cx="5138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½ × diagonal₁ × diagonal₂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65"/>
          <p:cNvSpPr/>
          <p:nvPr/>
        </p:nvSpPr>
        <p:spPr>
          <a:xfrm>
            <a:off x="567000" y="5431680"/>
            <a:ext cx="53031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66"/>
          <p:cNvSpPr/>
          <p:nvPr/>
        </p:nvSpPr>
        <p:spPr>
          <a:xfrm>
            <a:off x="749880" y="5431680"/>
            <a:ext cx="49374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Circle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67"/>
          <p:cNvSpPr/>
          <p:nvPr/>
        </p:nvSpPr>
        <p:spPr>
          <a:xfrm>
            <a:off x="6126480" y="5431680"/>
            <a:ext cx="550440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68"/>
          <p:cNvSpPr/>
          <p:nvPr/>
        </p:nvSpPr>
        <p:spPr>
          <a:xfrm>
            <a:off x="6309360" y="5431680"/>
            <a:ext cx="5138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π × radius²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69"/>
          <p:cNvSpPr/>
          <p:nvPr/>
        </p:nvSpPr>
        <p:spPr>
          <a:xfrm>
            <a:off x="567000" y="61264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Perimeter is always just the total distance round the edge — add every side.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PERIMETER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Distance Around a Shape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39"/>
          <p:cNvSpPr/>
          <p:nvPr/>
        </p:nvSpPr>
        <p:spPr>
          <a:xfrm>
            <a:off x="1688400" y="1353240"/>
            <a:ext cx="8814600" cy="401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0" name="Image 0" descr="/tmp/work/clean6/ap-03.png"/>
          <p:cNvPicPr/>
          <p:nvPr/>
        </p:nvPicPr>
        <p:blipFill>
          <a:blip r:embed="rId1"/>
          <a:stretch/>
        </p:blipFill>
        <p:spPr>
          <a:xfrm>
            <a:off x="1752480" y="1417320"/>
            <a:ext cx="8686440" cy="3891240"/>
          </a:xfrm>
          <a:prstGeom prst="rect">
            <a:avLst/>
          </a:prstGeom>
          <a:ln w="0">
            <a:noFill/>
          </a:ln>
        </p:spPr>
      </p:pic>
      <p:sp>
        <p:nvSpPr>
          <p:cNvPr id="231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Add up every side.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Dashes mean sides are equal — use that to find missing lengths.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RECTANGLES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= base × height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9"/>
          <p:cNvSpPr/>
          <p:nvPr/>
        </p:nvSpPr>
        <p:spPr>
          <a:xfrm>
            <a:off x="2637000" y="1353240"/>
            <a:ext cx="69170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Area = base × height.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Perimeter = 2 × (base + height).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Rectangle 45"/>
          <p:cNvSpPr/>
          <p:nvPr/>
        </p:nvSpPr>
        <p:spPr>
          <a:xfrm>
            <a:off x="4949280" y="2545920"/>
            <a:ext cx="3312000" cy="192924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6" name="TextBox 46"/>
          <p:cNvSpPr/>
          <p:nvPr/>
        </p:nvSpPr>
        <p:spPr>
          <a:xfrm>
            <a:off x="5381280" y="2187360"/>
            <a:ext cx="134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9cm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47"/>
          <p:cNvSpPr/>
          <p:nvPr/>
        </p:nvSpPr>
        <p:spPr>
          <a:xfrm>
            <a:off x="4300200" y="2835000"/>
            <a:ext cx="134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4cm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46"/>
          <p:cNvSpPr/>
          <p:nvPr/>
        </p:nvSpPr>
        <p:spPr>
          <a:xfrm>
            <a:off x="5236560" y="2834640"/>
            <a:ext cx="2242440" cy="45540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36cm</a:t>
            </a:r>
            <a:r>
              <a:rPr b="0" lang="en-GB" sz="2400" spc="-1" strike="noStrike" baseline="30000">
                <a:solidFill>
                  <a:schemeClr val="dk1"/>
                </a:solidFill>
                <a:latin typeface="Calibri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TRIANGLES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= ½ × base × height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39"/>
          <p:cNvSpPr/>
          <p:nvPr/>
        </p:nvSpPr>
        <p:spPr>
          <a:xfrm>
            <a:off x="2230200" y="1330560"/>
            <a:ext cx="77306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Use the PERPENDICULAR height,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not the slant side — the height must be at 90° to the base.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Box 7"/>
          <p:cNvSpPr/>
          <p:nvPr/>
        </p:nvSpPr>
        <p:spPr>
          <a:xfrm>
            <a:off x="3968640" y="3608640"/>
            <a:ext cx="3758760" cy="8758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Freeform 12"/>
          <p:cNvSpPr/>
          <p:nvPr/>
        </p:nvSpPr>
        <p:spPr>
          <a:xfrm>
            <a:off x="5711400" y="1566360"/>
            <a:ext cx="4032000" cy="1512360"/>
          </a:xfrm>
          <a:custGeom>
            <a:avLst/>
            <a:gdLst>
              <a:gd name="textAreaLeft" fmla="*/ 0 w 4032000"/>
              <a:gd name="textAreaRight" fmla="*/ 4032360 w 4032000"/>
              <a:gd name="textAreaTop" fmla="*/ 0 h 1512360"/>
              <a:gd name="textAreaBottom" fmla="*/ 1512720 h 1512360"/>
            </a:gdLst>
            <a:ahLst/>
            <a:rect l="textAreaLeft" t="textAreaTop" r="textAreaRight" b="textAreaBottom"/>
            <a:pathLst>
              <a:path w="2494" h="953">
                <a:moveTo>
                  <a:pt x="771" y="953"/>
                </a:moveTo>
                <a:lnTo>
                  <a:pt x="2494" y="953"/>
                </a:lnTo>
                <a:lnTo>
                  <a:pt x="0" y="0"/>
                </a:lnTo>
                <a:lnTo>
                  <a:pt x="771" y="953"/>
                </a:lnTo>
                <a:close/>
              </a:path>
            </a:pathLst>
          </a:custGeom>
          <a:gradFill rotWithShape="0">
            <a:gsLst>
              <a:gs pos="0">
                <a:srgbClr val="ffcc00"/>
              </a:gs>
              <a:gs pos="100000">
                <a:srgbClr val="ffec9b"/>
              </a:gs>
            </a:gsLst>
            <a:lin ang="18900000"/>
          </a:gra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3" name="Line 13"/>
          <p:cNvSpPr/>
          <p:nvPr/>
        </p:nvSpPr>
        <p:spPr>
          <a:xfrm>
            <a:off x="7008120" y="3223440"/>
            <a:ext cx="2735280" cy="360"/>
          </a:xfrm>
          <a:prstGeom prst="line">
            <a:avLst/>
          </a:prstGeom>
          <a:ln w="19050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4" name="Line 14"/>
          <p:cNvSpPr/>
          <p:nvPr/>
        </p:nvSpPr>
        <p:spPr>
          <a:xfrm>
            <a:off x="5711400" y="1566000"/>
            <a:ext cx="360" cy="1511640"/>
          </a:xfrm>
          <a:prstGeom prst="line">
            <a:avLst/>
          </a:prstGeom>
          <a:ln w="28575">
            <a:solidFill>
              <a:srgbClr val="000000"/>
            </a:solidFill>
            <a:prstDash val="sysDot"/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5" name="Line 15"/>
          <p:cNvSpPr/>
          <p:nvPr/>
        </p:nvSpPr>
        <p:spPr>
          <a:xfrm>
            <a:off x="5711400" y="3079080"/>
            <a:ext cx="1368360" cy="360"/>
          </a:xfrm>
          <a:prstGeom prst="line">
            <a:avLst/>
          </a:prstGeom>
          <a:ln w="28575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6" name="Rectangle 16"/>
          <p:cNvSpPr/>
          <p:nvPr/>
        </p:nvSpPr>
        <p:spPr>
          <a:xfrm>
            <a:off x="5711400" y="2934720"/>
            <a:ext cx="144000" cy="144000"/>
          </a:xfrm>
          <a:prstGeom prst="rect">
            <a:avLst/>
          </a:prstGeom>
          <a:noFill/>
          <a:ln w="1905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7" name="Text Box 17"/>
          <p:cNvSpPr/>
          <p:nvPr/>
        </p:nvSpPr>
        <p:spPr>
          <a:xfrm>
            <a:off x="7999920" y="3198240"/>
            <a:ext cx="77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7 cm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Box 18"/>
          <p:cNvSpPr/>
          <p:nvPr/>
        </p:nvSpPr>
        <p:spPr>
          <a:xfrm>
            <a:off x="4707360" y="2142720"/>
            <a:ext cx="77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6 cm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Box 20"/>
          <p:cNvSpPr/>
          <p:nvPr/>
        </p:nvSpPr>
        <p:spPr>
          <a:xfrm>
            <a:off x="6206760" y="4538880"/>
            <a:ext cx="1461960" cy="8755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Box 26"/>
          <p:cNvSpPr/>
          <p:nvPr/>
        </p:nvSpPr>
        <p:spPr>
          <a:xfrm>
            <a:off x="6170400" y="5484240"/>
            <a:ext cx="14979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=  </a:t>
            </a:r>
            <a:r>
              <a:rPr b="1" lang="en-US" sz="28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21 cm</a:t>
            </a:r>
            <a:r>
              <a:rPr b="1" lang="en-US" sz="2800" spc="-1" strike="noStrike" baseline="30000">
                <a:solidFill>
                  <a:schemeClr val="accent6">
                    <a:lumMod val="75000"/>
                  </a:schemeClr>
                </a:solidFill>
                <a:latin typeface="Calibri"/>
              </a:rPr>
              <a:t>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ectangle 54"/>
          <p:cNvSpPr/>
          <p:nvPr/>
        </p:nvSpPr>
        <p:spPr>
          <a:xfrm>
            <a:off x="2261160" y="1381680"/>
            <a:ext cx="3206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What is the area of this triangle?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PARALLELOGRAMS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= base × height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39"/>
          <p:cNvSpPr/>
          <p:nvPr/>
        </p:nvSpPr>
        <p:spPr>
          <a:xfrm>
            <a:off x="1734840" y="1353240"/>
            <a:ext cx="872172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Same as a rectangle: base × perpendicular height.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Ignore the slant length.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Box 6"/>
          <p:cNvSpPr/>
          <p:nvPr/>
        </p:nvSpPr>
        <p:spPr>
          <a:xfrm>
            <a:off x="1781280" y="4347360"/>
            <a:ext cx="4365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Area of a 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parallelogram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   = </a:t>
            </a:r>
            <a:r>
              <a:rPr b="0" i="1" lang="en-US" sz="2400" spc="-1" strike="noStrike">
                <a:solidFill>
                  <a:schemeClr val="dk1"/>
                </a:solidFill>
                <a:latin typeface="Times New Roman"/>
              </a:rPr>
              <a:t>b × h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Line 7"/>
          <p:cNvSpPr/>
          <p:nvPr/>
        </p:nvSpPr>
        <p:spPr>
          <a:xfrm>
            <a:off x="4656960" y="3662640"/>
            <a:ext cx="2409840" cy="360"/>
          </a:xfrm>
          <a:prstGeom prst="line">
            <a:avLst/>
          </a:prstGeom>
          <a:ln w="19050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6" name="Line 8"/>
          <p:cNvSpPr/>
          <p:nvPr/>
        </p:nvSpPr>
        <p:spPr>
          <a:xfrm>
            <a:off x="3864960" y="2005560"/>
            <a:ext cx="360" cy="1511280"/>
          </a:xfrm>
          <a:prstGeom prst="line">
            <a:avLst/>
          </a:prstGeom>
          <a:ln w="19050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7" name="Line 9"/>
          <p:cNvSpPr/>
          <p:nvPr/>
        </p:nvSpPr>
        <p:spPr>
          <a:xfrm>
            <a:off x="3864960" y="3518280"/>
            <a:ext cx="969840" cy="360"/>
          </a:xfrm>
          <a:prstGeom prst="line">
            <a:avLst/>
          </a:prstGeom>
          <a:ln w="28575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8" name="Rectangle 10"/>
          <p:cNvSpPr/>
          <p:nvPr/>
        </p:nvSpPr>
        <p:spPr>
          <a:xfrm>
            <a:off x="3864960" y="3373920"/>
            <a:ext cx="144000" cy="144000"/>
          </a:xfrm>
          <a:prstGeom prst="rect">
            <a:avLst/>
          </a:prstGeom>
          <a:noFill/>
          <a:ln w="1905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9" name="Text Box 11"/>
          <p:cNvSpPr/>
          <p:nvPr/>
        </p:nvSpPr>
        <p:spPr>
          <a:xfrm>
            <a:off x="5453280" y="3637440"/>
            <a:ext cx="775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7 cm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Box 12"/>
          <p:cNvSpPr/>
          <p:nvPr/>
        </p:nvSpPr>
        <p:spPr>
          <a:xfrm>
            <a:off x="2761560" y="2581920"/>
            <a:ext cx="100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4.5 cm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Box 13"/>
          <p:cNvSpPr/>
          <p:nvPr/>
        </p:nvSpPr>
        <p:spPr>
          <a:xfrm>
            <a:off x="5002200" y="4891680"/>
            <a:ext cx="1231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7 × 4.5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Box 14"/>
          <p:cNvSpPr/>
          <p:nvPr/>
        </p:nvSpPr>
        <p:spPr>
          <a:xfrm>
            <a:off x="5011200" y="5437800"/>
            <a:ext cx="1478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31.5 cm</a:t>
            </a:r>
            <a:r>
              <a:rPr b="1" lang="en-US" sz="2400" spc="-1" strike="noStrike" baseline="30000">
                <a:solidFill>
                  <a:schemeClr val="dk1"/>
                </a:solidFill>
                <a:latin typeface="Calibri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AutoShape 15"/>
          <p:cNvSpPr/>
          <p:nvPr/>
        </p:nvSpPr>
        <p:spPr>
          <a:xfrm flipV="1">
            <a:off x="3864960" y="2004480"/>
            <a:ext cx="3201480" cy="1510920"/>
          </a:xfrm>
          <a:prstGeom prst="parallelogram">
            <a:avLst>
              <a:gd name="adj" fmla="val 52967"/>
            </a:avLst>
          </a:prstGeom>
          <a:solidFill>
            <a:srgbClr val="70ad47"/>
          </a:solidFill>
          <a:ln>
            <a:solidFill>
              <a:srgbClr val="527f34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Line 16"/>
          <p:cNvSpPr/>
          <p:nvPr/>
        </p:nvSpPr>
        <p:spPr>
          <a:xfrm>
            <a:off x="6455880" y="2005560"/>
            <a:ext cx="793440" cy="1512720"/>
          </a:xfrm>
          <a:prstGeom prst="line">
            <a:avLst/>
          </a:prstGeom>
          <a:ln w="19050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5" name="Text Box 17"/>
          <p:cNvSpPr/>
          <p:nvPr/>
        </p:nvSpPr>
        <p:spPr>
          <a:xfrm>
            <a:off x="6894000" y="2439000"/>
            <a:ext cx="100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4.9 cm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Box 18"/>
          <p:cNvSpPr/>
          <p:nvPr/>
        </p:nvSpPr>
        <p:spPr>
          <a:xfrm>
            <a:off x="8094240" y="1808640"/>
            <a:ext cx="21762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accent2"/>
                </a:solidFill>
                <a:latin typeface="Calibri"/>
              </a:rPr>
              <a:t>We can ignore this length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Line 19"/>
          <p:cNvSpPr/>
          <p:nvPr/>
        </p:nvSpPr>
        <p:spPr>
          <a:xfrm flipH="1">
            <a:off x="7552800" y="2156400"/>
            <a:ext cx="541080" cy="358560"/>
          </a:xfrm>
          <a:prstGeom prst="line">
            <a:avLst/>
          </a:prstGeom>
          <a:ln w="28575">
            <a:solidFill>
              <a:srgbClr val="ed7d3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nodeType="afterEffect" fill="hold" presetClass="entr" presetID="1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nodeType="afterEffect" fill="hold" presetClass="entr" presetID="2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right)" transition="in">
                                      <p:cBhvr additive="repl">
                                        <p:cTn id="27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TRAPEZIA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= ½ (a + b) × height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39"/>
          <p:cNvSpPr/>
          <p:nvPr/>
        </p:nvSpPr>
        <p:spPr>
          <a:xfrm>
            <a:off x="1688400" y="1353240"/>
            <a:ext cx="8814600" cy="3822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Average the two parallel sides,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multiply by the height between them.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ectangle 44"/>
          <p:cNvSpPr/>
          <p:nvPr/>
        </p:nvSpPr>
        <p:spPr>
          <a:xfrm>
            <a:off x="1719720" y="1373040"/>
            <a:ext cx="3023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Find the area of this trapezium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Freeform 5"/>
          <p:cNvSpPr/>
          <p:nvPr/>
        </p:nvSpPr>
        <p:spPr>
          <a:xfrm rot="20631600">
            <a:off x="1641600" y="2571840"/>
            <a:ext cx="3026880" cy="1696680"/>
          </a:xfrm>
          <a:custGeom>
            <a:avLst/>
            <a:gdLst>
              <a:gd name="textAreaLeft" fmla="*/ 0 w 3026880"/>
              <a:gd name="textAreaRight" fmla="*/ 3027240 w 3026880"/>
              <a:gd name="textAreaTop" fmla="*/ 0 h 1696680"/>
              <a:gd name="textAreaBottom" fmla="*/ 1697040 h 1696680"/>
            </a:gdLst>
            <a:ahLst/>
            <a:rect l="textAreaLeft" t="textAreaTop" r="textAreaRight" b="textAreaBottom"/>
            <a:pathLst>
              <a:path w="2087" h="953">
                <a:moveTo>
                  <a:pt x="0" y="953"/>
                </a:moveTo>
                <a:lnTo>
                  <a:pt x="2087" y="953"/>
                </a:lnTo>
                <a:lnTo>
                  <a:pt x="1588" y="0"/>
                </a:lnTo>
                <a:lnTo>
                  <a:pt x="817" y="0"/>
                </a:lnTo>
                <a:lnTo>
                  <a:pt x="0" y="953"/>
                </a:lnTo>
                <a:close/>
              </a:path>
            </a:pathLst>
          </a:custGeom>
          <a:gradFill rotWithShape="0">
            <a:gsLst>
              <a:gs pos="0">
                <a:srgbClr val="35b3db"/>
              </a:gs>
              <a:gs pos="100000">
                <a:srgbClr val="80d0e8"/>
              </a:gs>
            </a:gsLst>
            <a:lin ang="17928000"/>
          </a:gra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2" name="Line 6"/>
          <p:cNvSpPr/>
          <p:nvPr/>
        </p:nvSpPr>
        <p:spPr>
          <a:xfrm flipV="1">
            <a:off x="3039840" y="2535120"/>
            <a:ext cx="120240" cy="34920"/>
          </a:xfrm>
          <a:prstGeom prst="line">
            <a:avLst/>
          </a:prstGeom>
          <a:ln w="28575">
            <a:solidFill>
              <a:srgbClr val="000000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0080" bIns="-1008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3" name="Line 7"/>
          <p:cNvSpPr/>
          <p:nvPr/>
        </p:nvSpPr>
        <p:spPr>
          <a:xfrm flipV="1">
            <a:off x="3330360" y="4216320"/>
            <a:ext cx="120240" cy="34920"/>
          </a:xfrm>
          <a:prstGeom prst="line">
            <a:avLst/>
          </a:prstGeom>
          <a:ln w="28575">
            <a:solidFill>
              <a:srgbClr val="000000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10080" bIns="-1008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4" name="Line 8"/>
          <p:cNvSpPr/>
          <p:nvPr/>
        </p:nvSpPr>
        <p:spPr>
          <a:xfrm>
            <a:off x="4372920" y="2182680"/>
            <a:ext cx="471960" cy="1630080"/>
          </a:xfrm>
          <a:prstGeom prst="line">
            <a:avLst/>
          </a:prstGeom>
          <a:ln w="19050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5" name="Line 9"/>
          <p:cNvSpPr/>
          <p:nvPr/>
        </p:nvSpPr>
        <p:spPr>
          <a:xfrm flipV="1">
            <a:off x="3644280" y="2183760"/>
            <a:ext cx="727560" cy="210600"/>
          </a:xfrm>
          <a:prstGeom prst="line">
            <a:avLst/>
          </a:prstGeom>
          <a:ln w="28575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6" name="Rectangle 10"/>
          <p:cNvSpPr/>
          <p:nvPr/>
        </p:nvSpPr>
        <p:spPr>
          <a:xfrm rot="20631600">
            <a:off x="4212000" y="2205000"/>
            <a:ext cx="188640" cy="186840"/>
          </a:xfrm>
          <a:prstGeom prst="rect">
            <a:avLst/>
          </a:prstGeom>
          <a:noFill/>
          <a:ln w="2857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7" name="Text Box 11"/>
          <p:cNvSpPr/>
          <p:nvPr/>
        </p:nvSpPr>
        <p:spPr>
          <a:xfrm>
            <a:off x="4613760" y="2571840"/>
            <a:ext cx="647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9 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Box 12"/>
          <p:cNvSpPr/>
          <p:nvPr/>
        </p:nvSpPr>
        <p:spPr>
          <a:xfrm>
            <a:off x="2826360" y="1978200"/>
            <a:ext cx="647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6 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Box 13"/>
          <p:cNvSpPr/>
          <p:nvPr/>
        </p:nvSpPr>
        <p:spPr>
          <a:xfrm>
            <a:off x="3285720" y="4240440"/>
            <a:ext cx="801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14 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Box 15"/>
          <p:cNvSpPr/>
          <p:nvPr/>
        </p:nvSpPr>
        <p:spPr>
          <a:xfrm>
            <a:off x="5358600" y="1812960"/>
            <a:ext cx="3990960" cy="6966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Box 21"/>
          <p:cNvSpPr/>
          <p:nvPr/>
        </p:nvSpPr>
        <p:spPr>
          <a:xfrm>
            <a:off x="7855200" y="2700360"/>
            <a:ext cx="1782000" cy="7315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Box 27"/>
          <p:cNvSpPr/>
          <p:nvPr/>
        </p:nvSpPr>
        <p:spPr>
          <a:xfrm>
            <a:off x="7915320" y="3625920"/>
            <a:ext cx="1001880" cy="7012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Box 32"/>
          <p:cNvSpPr/>
          <p:nvPr/>
        </p:nvSpPr>
        <p:spPr>
          <a:xfrm>
            <a:off x="7933320" y="4354560"/>
            <a:ext cx="1114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</a:t>
            </a:r>
            <a:r>
              <a:rPr b="1" lang="en-US" sz="24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90 m</a:t>
            </a:r>
            <a:r>
              <a:rPr b="1" lang="en-US" sz="2400" spc="-1" strike="noStrike" baseline="30000">
                <a:solidFill>
                  <a:schemeClr val="accent6">
                    <a:lumMod val="75000"/>
                  </a:schemeClr>
                </a:solidFill>
                <a:latin typeface="Calibri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" dur="indefinite" restart="never" nodeType="tmRoot">
          <p:childTnLst>
            <p:seq>
              <p:cTn id="37" dur="indefinite" nodeType="mainSeq">
                <p:childTnLst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KITES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Area = ½ × diagonal₁ × diagonal₂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39"/>
          <p:cNvSpPr/>
          <p:nvPr/>
        </p:nvSpPr>
        <p:spPr>
          <a:xfrm>
            <a:off x="2855520" y="1353240"/>
            <a:ext cx="64803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4" name="Image 0" descr="/tmp/work/clean6/ap-17.png"/>
          <p:cNvPicPr/>
          <p:nvPr/>
        </p:nvPicPr>
        <p:blipFill>
          <a:blip r:embed="rId1"/>
          <a:stretch/>
        </p:blipFill>
        <p:spPr>
          <a:xfrm>
            <a:off x="2919600" y="1417320"/>
            <a:ext cx="6352200" cy="4525920"/>
          </a:xfrm>
          <a:prstGeom prst="rect">
            <a:avLst/>
          </a:prstGeom>
          <a:ln w="0">
            <a:noFill/>
          </a:ln>
        </p:spPr>
      </p:pic>
      <p:sp>
        <p:nvSpPr>
          <p:cNvPr id="485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 kite is half of the rectangle around it —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multiply the two diagonals and halve.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CIRCLES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Circumference &amp; Area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Radius r is centre to edge; diameter d = 2r.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Two formulas — do not mix them up.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41"/>
          <p:cNvSpPr/>
          <p:nvPr/>
        </p:nvSpPr>
        <p:spPr>
          <a:xfrm>
            <a:off x="567000" y="2286000"/>
            <a:ext cx="5440320" cy="301716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CIRCUMFERENCE (perimeter)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43"/>
          <p:cNvSpPr/>
          <p:nvPr/>
        </p:nvSpPr>
        <p:spPr>
          <a:xfrm>
            <a:off x="914400" y="3017520"/>
            <a:ext cx="4754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2400" spc="-1" strike="noStrike">
                <a:solidFill>
                  <a:srgbClr val="c84f2f"/>
                </a:solidFill>
                <a:latin typeface="Cambria"/>
                <a:ea typeface="Cambria"/>
              </a:rPr>
              <a:t>C = π × 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or  C = 2 × π × 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“</a:t>
            </a: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Cherry Pie’s Delicious” → C = πd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44"/>
          <p:cNvSpPr/>
          <p:nvPr/>
        </p:nvSpPr>
        <p:spPr>
          <a:xfrm>
            <a:off x="6190560" y="2286000"/>
            <a:ext cx="5440320" cy="301716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 45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AREA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46"/>
          <p:cNvSpPr/>
          <p:nvPr/>
        </p:nvSpPr>
        <p:spPr>
          <a:xfrm>
            <a:off x="6537960" y="3017520"/>
            <a:ext cx="4754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c84f2f"/>
                </a:solidFill>
                <a:latin typeface="Cambria"/>
                <a:ea typeface="Cambria"/>
              </a:rPr>
              <a:t>A = π × r</a:t>
            </a:r>
            <a:r>
              <a:rPr b="1" lang="en-US" sz="24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Square the radius FIRST, then × π.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“</a:t>
            </a: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Apple Pies are Too” → A = πr²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47"/>
          <p:cNvSpPr/>
          <p:nvPr/>
        </p:nvSpPr>
        <p:spPr>
          <a:xfrm>
            <a:off x="567000" y="5486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 48"/>
          <p:cNvSpPr/>
          <p:nvPr/>
        </p:nvSpPr>
        <p:spPr>
          <a:xfrm>
            <a:off x="841320" y="54864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If given the diameter, halve it to get r before using A = πr².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CIRCLES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Circumference &amp; Area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39"/>
          <p:cNvSpPr/>
          <p:nvPr/>
        </p:nvSpPr>
        <p:spPr>
          <a:xfrm>
            <a:off x="567000" y="12139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40"/>
          <p:cNvSpPr/>
          <p:nvPr/>
        </p:nvSpPr>
        <p:spPr>
          <a:xfrm>
            <a:off x="883800" y="12139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Radius r is centre to edge; diameter d = 2r.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Two formulas — do not mix them up.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41"/>
          <p:cNvSpPr/>
          <p:nvPr/>
        </p:nvSpPr>
        <p:spPr>
          <a:xfrm>
            <a:off x="208440" y="2001240"/>
            <a:ext cx="5648040" cy="465228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44"/>
          <p:cNvSpPr/>
          <p:nvPr/>
        </p:nvSpPr>
        <p:spPr>
          <a:xfrm>
            <a:off x="6010200" y="2001240"/>
            <a:ext cx="6121800" cy="468144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Box 14"/>
          <p:cNvSpPr/>
          <p:nvPr/>
        </p:nvSpPr>
        <p:spPr>
          <a:xfrm>
            <a:off x="2060280" y="2521080"/>
            <a:ext cx="93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 = </a:t>
            </a:r>
            <a:r>
              <a:rPr b="0" lang="el-GR" sz="2400" spc="-1" strike="noStrike">
                <a:solidFill>
                  <a:schemeClr val="dk1"/>
                </a:solidFill>
                <a:latin typeface="Times New Roman"/>
              </a:rPr>
              <a:t>π</a:t>
            </a:r>
            <a:r>
              <a:rPr b="0" i="1" lang="en-US" sz="2400" spc="-1" strike="noStrike">
                <a:solidFill>
                  <a:schemeClr val="dk1"/>
                </a:solidFill>
                <a:latin typeface="Times New Roman"/>
              </a:rPr>
              <a:t>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80" name="Group 62"/>
          <p:cNvGrpSpPr/>
          <p:nvPr/>
        </p:nvGrpSpPr>
        <p:grpSpPr>
          <a:xfrm>
            <a:off x="277920" y="2185920"/>
            <a:ext cx="1966680" cy="1966680"/>
            <a:chOff x="277920" y="2185920"/>
            <a:chExt cx="1966680" cy="1966680"/>
          </a:xfrm>
        </p:grpSpPr>
        <p:grpSp>
          <p:nvGrpSpPr>
            <p:cNvPr id="581" name="Group 37"/>
            <p:cNvGrpSpPr/>
            <p:nvPr/>
          </p:nvGrpSpPr>
          <p:grpSpPr>
            <a:xfrm>
              <a:off x="277920" y="2185920"/>
              <a:ext cx="1966680" cy="1966680"/>
              <a:chOff x="277920" y="2185920"/>
              <a:chExt cx="1966680" cy="1966680"/>
            </a:xfrm>
          </p:grpSpPr>
          <p:sp>
            <p:nvSpPr>
              <p:cNvPr id="582" name="Oval 23"/>
              <p:cNvSpPr/>
              <p:nvPr/>
            </p:nvSpPr>
            <p:spPr>
              <a:xfrm rot="1800000">
                <a:off x="541440" y="2449080"/>
                <a:ext cx="1439640" cy="1439640"/>
              </a:xfrm>
              <a:prstGeom prst="ellipse">
                <a:avLst/>
              </a:prstGeom>
              <a:solidFill>
                <a:srgbClr val="ffff66"/>
              </a:solidFill>
              <a:ln w="28575">
                <a:solidFill>
                  <a:srgbClr val="000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24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583" name="Line 27"/>
              <p:cNvSpPr/>
              <p:nvPr/>
            </p:nvSpPr>
            <p:spPr>
              <a:xfrm>
                <a:off x="638640" y="2810160"/>
                <a:ext cx="1245960" cy="719280"/>
              </a:xfrm>
              <a:prstGeom prst="line">
                <a:avLst/>
              </a:prstGeom>
              <a:ln w="28575">
                <a:solidFill>
                  <a:srgbClr val="000000"/>
                </a:solidFill>
                <a:round/>
                <a:headEnd len="med" type="arrow" w="med"/>
                <a:tailEnd len="med" type="arrow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24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sp>
          <p:nvSpPr>
            <p:cNvPr id="584" name="Text Box 28"/>
            <p:cNvSpPr/>
            <p:nvPr/>
          </p:nvSpPr>
          <p:spPr>
            <a:xfrm>
              <a:off x="1121040" y="2637000"/>
              <a:ext cx="677880" cy="394560"/>
            </a:xfrm>
            <a:prstGeom prst="rect">
              <a:avLst/>
            </a:prstGeom>
            <a:solidFill>
              <a:srgbClr val="ffff6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2000" spc="-1" strike="noStrike">
                  <a:solidFill>
                    <a:schemeClr val="dk1"/>
                  </a:solidFill>
                  <a:latin typeface="Calibri"/>
                </a:rPr>
                <a:t>4 cm</a:t>
              </a:r>
              <a:endParaRPr b="0" lang="en-US" sz="2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5" name="Text Box 29"/>
          <p:cNvSpPr/>
          <p:nvPr/>
        </p:nvSpPr>
        <p:spPr>
          <a:xfrm>
            <a:off x="2363760" y="3070080"/>
            <a:ext cx="138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3.14 × 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 Box 30"/>
          <p:cNvSpPr/>
          <p:nvPr/>
        </p:nvSpPr>
        <p:spPr>
          <a:xfrm>
            <a:off x="2364480" y="3619440"/>
            <a:ext cx="1543680" cy="455400"/>
          </a:xfrm>
          <a:prstGeom prst="rect">
            <a:avLst/>
          </a:prstGeom>
          <a:solidFill>
            <a:srgbClr val="ffffff"/>
          </a:solidFill>
          <a:ln>
            <a:solidFill>
              <a:srgbClr val="a5a5a5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12.56 cm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87" name="Group 60"/>
          <p:cNvGrpSpPr/>
          <p:nvPr/>
        </p:nvGrpSpPr>
        <p:grpSpPr>
          <a:xfrm>
            <a:off x="277920" y="4415760"/>
            <a:ext cx="1966680" cy="1966680"/>
            <a:chOff x="277920" y="4415760"/>
            <a:chExt cx="1966680" cy="1966680"/>
          </a:xfrm>
        </p:grpSpPr>
        <p:sp>
          <p:nvSpPr>
            <p:cNvPr id="588" name="Oval 40"/>
            <p:cNvSpPr/>
            <p:nvPr/>
          </p:nvSpPr>
          <p:spPr>
            <a:xfrm rot="1800000">
              <a:off x="541440" y="4678920"/>
              <a:ext cx="1439640" cy="1439640"/>
            </a:xfrm>
            <a:prstGeom prst="ellipse">
              <a:avLst/>
            </a:prstGeom>
            <a:solidFill>
              <a:schemeClr val="accent4"/>
            </a:solidFill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589" name="Line 41"/>
            <p:cNvSpPr/>
            <p:nvPr/>
          </p:nvSpPr>
          <p:spPr>
            <a:xfrm>
              <a:off x="1015200" y="4723920"/>
              <a:ext cx="245880" cy="675720"/>
            </a:xfrm>
            <a:prstGeom prst="line">
              <a:avLst/>
            </a:prstGeom>
            <a:ln w="28575">
              <a:solidFill>
                <a:srgbClr val="000000"/>
              </a:solidFill>
              <a:round/>
              <a:headEnd len="med" type="arrow" w="med"/>
              <a:tailEnd len="med" type="arrow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24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590" name="Text Box 42"/>
            <p:cNvSpPr/>
            <p:nvPr/>
          </p:nvSpPr>
          <p:spPr>
            <a:xfrm>
              <a:off x="1143720" y="4865040"/>
              <a:ext cx="56988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2000" spc="-1" strike="noStrike">
                  <a:solidFill>
                    <a:schemeClr val="dk1"/>
                  </a:solidFill>
                  <a:latin typeface="Calibri"/>
                </a:rPr>
                <a:t>9 m</a:t>
              </a:r>
              <a:endParaRPr b="0" lang="en-US" sz="2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91" name="Text Box 38"/>
          <p:cNvSpPr/>
          <p:nvPr/>
        </p:nvSpPr>
        <p:spPr>
          <a:xfrm>
            <a:off x="2363760" y="4793400"/>
            <a:ext cx="1057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 = 2</a:t>
            </a:r>
            <a:r>
              <a:rPr b="0" lang="el-GR" sz="2400" spc="-1" strike="noStrike">
                <a:solidFill>
                  <a:schemeClr val="dk1"/>
                </a:solidFill>
                <a:latin typeface="Times New Roman"/>
              </a:rPr>
              <a:t>π</a:t>
            </a:r>
            <a:r>
              <a:rPr b="0" i="1" lang="en-US" sz="2400" spc="-1" strike="noStrike">
                <a:solidFill>
                  <a:schemeClr val="dk1"/>
                </a:solidFill>
                <a:latin typeface="Times New Roman"/>
              </a:rPr>
              <a:t>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 Box 43"/>
          <p:cNvSpPr/>
          <p:nvPr/>
        </p:nvSpPr>
        <p:spPr>
          <a:xfrm>
            <a:off x="2284200" y="5209920"/>
            <a:ext cx="182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2 × 3.14 × 9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Box 44"/>
          <p:cNvSpPr/>
          <p:nvPr/>
        </p:nvSpPr>
        <p:spPr>
          <a:xfrm>
            <a:off x="2283840" y="5759280"/>
            <a:ext cx="1415520" cy="455400"/>
          </a:xfrm>
          <a:prstGeom prst="rect">
            <a:avLst/>
          </a:prstGeom>
          <a:solidFill>
            <a:srgbClr val="ffffff"/>
          </a:solidFill>
          <a:ln>
            <a:solidFill>
              <a:srgbClr val="a5a5a5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56.52 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Oval 3"/>
          <p:cNvSpPr/>
          <p:nvPr/>
        </p:nvSpPr>
        <p:spPr>
          <a:xfrm>
            <a:off x="8330400" y="2267640"/>
            <a:ext cx="2069640" cy="1934640"/>
          </a:xfrm>
          <a:prstGeom prst="ellipse">
            <a:avLst/>
          </a:prstGeom>
          <a:solidFill>
            <a:srgbClr val="ffff66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5" name="Oval 6"/>
          <p:cNvSpPr/>
          <p:nvPr/>
        </p:nvSpPr>
        <p:spPr>
          <a:xfrm>
            <a:off x="8710200" y="4627800"/>
            <a:ext cx="2069640" cy="1934640"/>
          </a:xfrm>
          <a:prstGeom prst="ellipse">
            <a:avLst/>
          </a:prstGeom>
          <a:solidFill>
            <a:schemeClr val="accent4"/>
          </a:soli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1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6" name="Text Box 9"/>
          <p:cNvSpPr/>
          <p:nvPr/>
        </p:nvSpPr>
        <p:spPr>
          <a:xfrm>
            <a:off x="7687800" y="2400480"/>
            <a:ext cx="539640" cy="3333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1)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Box 12"/>
          <p:cNvSpPr/>
          <p:nvPr/>
        </p:nvSpPr>
        <p:spPr>
          <a:xfrm>
            <a:off x="7944480" y="4717800"/>
            <a:ext cx="369360" cy="3333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799"/>
              </a:spcBef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Line 15"/>
          <p:cNvSpPr/>
          <p:nvPr/>
        </p:nvSpPr>
        <p:spPr>
          <a:xfrm flipV="1">
            <a:off x="8420760" y="2763000"/>
            <a:ext cx="1846080" cy="855360"/>
          </a:xfrm>
          <a:prstGeom prst="line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9" name="Line 18"/>
          <p:cNvSpPr/>
          <p:nvPr/>
        </p:nvSpPr>
        <p:spPr>
          <a:xfrm>
            <a:off x="9070560" y="4851360"/>
            <a:ext cx="1395360" cy="1395360"/>
          </a:xfrm>
          <a:prstGeom prst="line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1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0" name="Text Box 21"/>
          <p:cNvSpPr/>
          <p:nvPr/>
        </p:nvSpPr>
        <p:spPr>
          <a:xfrm rot="20073000">
            <a:off x="8825040" y="2718360"/>
            <a:ext cx="13507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16 cm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 Box 24"/>
          <p:cNvSpPr/>
          <p:nvPr/>
        </p:nvSpPr>
        <p:spPr>
          <a:xfrm rot="2688600">
            <a:off x="9566640" y="5302800"/>
            <a:ext cx="944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b="1" lang="en-GB" sz="2000" spc="-1" strike="noStrike">
                <a:solidFill>
                  <a:schemeClr val="dk1"/>
                </a:solidFill>
                <a:latin typeface="Calibri"/>
              </a:rPr>
              <a:t>13 cm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AutoShape 27"/>
          <p:cNvSpPr/>
          <p:nvPr/>
        </p:nvSpPr>
        <p:spPr>
          <a:xfrm>
            <a:off x="8511120" y="2942280"/>
            <a:ext cx="2160360" cy="1620360"/>
          </a:xfrm>
          <a:prstGeom prst="irregularSeal1">
            <a:avLst/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201.09 cm</a:t>
            </a:r>
            <a:r>
              <a:rPr b="0" lang="en-GB" sz="2000" spc="-1" strike="noStrike" baseline="60000">
                <a:solidFill>
                  <a:schemeClr val="dk1"/>
                </a:solidFill>
                <a:latin typeface="Calibri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AutoShape 30"/>
          <p:cNvSpPr/>
          <p:nvPr/>
        </p:nvSpPr>
        <p:spPr>
          <a:xfrm>
            <a:off x="8330400" y="4988160"/>
            <a:ext cx="2160360" cy="1620360"/>
          </a:xfrm>
          <a:prstGeom prst="irregularSeal1">
            <a:avLst/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132.75 cm</a:t>
            </a:r>
            <a:r>
              <a:rPr b="0" lang="en-GB" sz="2000" spc="-1" strike="noStrike" baseline="60000">
                <a:solidFill>
                  <a:schemeClr val="dk1"/>
                </a:solidFill>
                <a:latin typeface="Calibri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Rectangle 79"/>
          <p:cNvSpPr/>
          <p:nvPr/>
        </p:nvSpPr>
        <p:spPr>
          <a:xfrm>
            <a:off x="192240" y="2016720"/>
            <a:ext cx="6095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Task – Find the circumference of these circles WITHOUT a calculator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ectangle 80"/>
          <p:cNvSpPr/>
          <p:nvPr/>
        </p:nvSpPr>
        <p:spPr>
          <a:xfrm>
            <a:off x="6036120" y="1997280"/>
            <a:ext cx="6095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Task – Find the AREA of these circles using a calculator. Give your answers to 2 d.p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0" dur="indefinite" restart="never" nodeType="tmRoot">
          <p:childTnLst>
            <p:seq>
              <p:cTn id="51" dur="indefinite" nodeType="mainSeq">
                <p:childTnLst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nodeType="clickEffect" fill="hold" presetClass="entr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80" dur="500"/>
                                        <p:tgtEl>
                                          <p:spTgt spid="60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78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1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85" dur="5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83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2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COMPOUND SHAPES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Split Into Simple Shapes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39"/>
          <p:cNvSpPr/>
          <p:nvPr/>
        </p:nvSpPr>
        <p:spPr>
          <a:xfrm>
            <a:off x="2313720" y="1353240"/>
            <a:ext cx="75639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6" name="Image 0" descr="/tmp/work/clean6/ap-27.png"/>
          <p:cNvPicPr/>
          <p:nvPr/>
        </p:nvPicPr>
        <p:blipFill>
          <a:blip r:embed="rId1"/>
          <a:stretch/>
        </p:blipFill>
        <p:spPr>
          <a:xfrm>
            <a:off x="2377800" y="1417320"/>
            <a:ext cx="7436160" cy="4525920"/>
          </a:xfrm>
          <a:prstGeom prst="rect">
            <a:avLst/>
          </a:prstGeom>
          <a:ln w="0">
            <a:noFill/>
          </a:ln>
        </p:spPr>
      </p:pic>
      <p:sp>
        <p:nvSpPr>
          <p:cNvPr id="647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Break the shape into rectangles, triangles and parts of circles,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work out each area, then add (or subtract).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COMPOUND SHAPES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Worked Example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9"/>
          <p:cNvSpPr/>
          <p:nvPr/>
        </p:nvSpPr>
        <p:spPr>
          <a:xfrm>
            <a:off x="2329920" y="1353240"/>
            <a:ext cx="75315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9" name="Image 0" descr="/tmp/work/clean6/ap-28.png"/>
          <p:cNvPicPr/>
          <p:nvPr/>
        </p:nvPicPr>
        <p:blipFill>
          <a:blip r:embed="rId1"/>
          <a:stretch/>
        </p:blipFill>
        <p:spPr>
          <a:xfrm>
            <a:off x="2394000" y="1417320"/>
            <a:ext cx="7403760" cy="4525920"/>
          </a:xfrm>
          <a:prstGeom prst="rect">
            <a:avLst/>
          </a:prstGeom>
          <a:ln w="0">
            <a:noFill/>
          </a:ln>
        </p:spPr>
      </p:pic>
      <p:sp>
        <p:nvSpPr>
          <p:cNvPr id="69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Find each piece separately, then combine.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Watch the units — area is always squared.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COMPOUND SHAPES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Spot the Errors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9"/>
          <p:cNvSpPr/>
          <p:nvPr/>
        </p:nvSpPr>
        <p:spPr>
          <a:xfrm>
            <a:off x="1688400" y="1353240"/>
            <a:ext cx="8814600" cy="40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2" name="Image 0" descr="/tmp/work/clean6/ap-29.png"/>
          <p:cNvPicPr/>
          <p:nvPr/>
        </p:nvPicPr>
        <p:blipFill>
          <a:blip r:embed="rId1"/>
          <a:stretch/>
        </p:blipFill>
        <p:spPr>
          <a:xfrm>
            <a:off x="1752480" y="1417320"/>
            <a:ext cx="8686440" cy="3943440"/>
          </a:xfrm>
          <a:prstGeom prst="rect">
            <a:avLst/>
          </a:prstGeom>
          <a:ln w="0">
            <a:noFill/>
          </a:ln>
        </p:spPr>
      </p:pic>
      <p:sp>
        <p:nvSpPr>
          <p:cNvPr id="733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Common slips: using slant height, forgetting to halve, or mixing up area and perimeter.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COMPOUND SHAPES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Method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Never try to do it in one go.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Split, solve, combine.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41"/>
          <p:cNvSpPr/>
          <p:nvPr/>
        </p:nvSpPr>
        <p:spPr>
          <a:xfrm>
            <a:off x="567000" y="219456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42"/>
          <p:cNvSpPr/>
          <p:nvPr/>
        </p:nvSpPr>
        <p:spPr>
          <a:xfrm>
            <a:off x="868680" y="23774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43"/>
          <p:cNvSpPr/>
          <p:nvPr/>
        </p:nvSpPr>
        <p:spPr>
          <a:xfrm>
            <a:off x="868680" y="23774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 44"/>
          <p:cNvSpPr/>
          <p:nvPr/>
        </p:nvSpPr>
        <p:spPr>
          <a:xfrm>
            <a:off x="1508760" y="219456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SPLIT the shape into simple parts (rectangle, triangle, semicircle).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45"/>
          <p:cNvSpPr/>
          <p:nvPr/>
        </p:nvSpPr>
        <p:spPr>
          <a:xfrm>
            <a:off x="567000" y="312732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46"/>
          <p:cNvSpPr/>
          <p:nvPr/>
        </p:nvSpPr>
        <p:spPr>
          <a:xfrm>
            <a:off x="868680" y="33102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 47"/>
          <p:cNvSpPr/>
          <p:nvPr/>
        </p:nvSpPr>
        <p:spPr>
          <a:xfrm>
            <a:off x="868680" y="3310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 48"/>
          <p:cNvSpPr/>
          <p:nvPr/>
        </p:nvSpPr>
        <p:spPr>
          <a:xfrm>
            <a:off x="1508760" y="31273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Work out any MISSING lengths from the ones you are given.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49"/>
          <p:cNvSpPr/>
          <p:nvPr/>
        </p:nvSpPr>
        <p:spPr>
          <a:xfrm>
            <a:off x="567000" y="406008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50"/>
          <p:cNvSpPr/>
          <p:nvPr/>
        </p:nvSpPr>
        <p:spPr>
          <a:xfrm>
            <a:off x="868680" y="424296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Text 51"/>
          <p:cNvSpPr/>
          <p:nvPr/>
        </p:nvSpPr>
        <p:spPr>
          <a:xfrm>
            <a:off x="868680" y="4242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 52"/>
          <p:cNvSpPr/>
          <p:nvPr/>
        </p:nvSpPr>
        <p:spPr>
          <a:xfrm>
            <a:off x="1508760" y="406008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Find the area of EACH part separately.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53"/>
          <p:cNvSpPr/>
          <p:nvPr/>
        </p:nvSpPr>
        <p:spPr>
          <a:xfrm>
            <a:off x="567000" y="499248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54"/>
          <p:cNvSpPr/>
          <p:nvPr/>
        </p:nvSpPr>
        <p:spPr>
          <a:xfrm>
            <a:off x="868680" y="517536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 55"/>
          <p:cNvSpPr/>
          <p:nvPr/>
        </p:nvSpPr>
        <p:spPr>
          <a:xfrm>
            <a:off x="868680" y="5175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 56"/>
          <p:cNvSpPr/>
          <p:nvPr/>
        </p:nvSpPr>
        <p:spPr>
          <a:xfrm>
            <a:off x="1508760" y="499248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ADD the parts — or SUBTRACT if a piece is cut out.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 57"/>
          <p:cNvSpPr/>
          <p:nvPr/>
        </p:nvSpPr>
        <p:spPr>
          <a:xfrm>
            <a:off x="567000" y="61264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For the PERIMETER of a compound shape, add only the OUTSIDE edges — not the split lines.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Split compound shapes, use the right formula, watch the units.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Which simple shapes make it up?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Find missing lengths first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Add or subtract the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Area in units², perimeter in units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39"/>
          <p:cNvSpPr/>
          <p:nvPr/>
        </p:nvSpPr>
        <p:spPr>
          <a:xfrm>
            <a:off x="1267920" y="1408320"/>
            <a:ext cx="9655560" cy="39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5" name="Image 0" descr="/tmp/work/ppq/q-31.png"/>
          <p:cNvPicPr/>
          <p:nvPr/>
        </p:nvPicPr>
        <p:blipFill>
          <a:blip r:embed="rId1"/>
          <a:stretch/>
        </p:blipFill>
        <p:spPr>
          <a:xfrm>
            <a:off x="1341000" y="1481400"/>
            <a:ext cx="9509400" cy="377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39"/>
          <p:cNvSpPr/>
          <p:nvPr/>
        </p:nvSpPr>
        <p:spPr>
          <a:xfrm>
            <a:off x="1267920" y="1408320"/>
            <a:ext cx="9655560" cy="51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6" name="Image 0" descr="/tmp/work/ppq/q-32.png"/>
          <p:cNvPicPr/>
          <p:nvPr/>
        </p:nvPicPr>
        <p:blipFill>
          <a:blip r:embed="rId1"/>
          <a:stretch/>
        </p:blipFill>
        <p:spPr>
          <a:xfrm>
            <a:off x="1341000" y="1481400"/>
            <a:ext cx="9509400" cy="503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39"/>
          <p:cNvSpPr/>
          <p:nvPr/>
        </p:nvSpPr>
        <p:spPr>
          <a:xfrm>
            <a:off x="1974960" y="1408320"/>
            <a:ext cx="82411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7" name="Image 0" descr="/tmp/work/ppq/q-33.png"/>
          <p:cNvPicPr/>
          <p:nvPr/>
        </p:nvPicPr>
        <p:blipFill>
          <a:blip r:embed="rId1"/>
          <a:stretch/>
        </p:blipFill>
        <p:spPr>
          <a:xfrm>
            <a:off x="2048040" y="1481400"/>
            <a:ext cx="80949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39"/>
          <p:cNvSpPr/>
          <p:nvPr/>
        </p:nvSpPr>
        <p:spPr>
          <a:xfrm>
            <a:off x="1267920" y="1408320"/>
            <a:ext cx="9655560" cy="505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8" name="Image 0" descr="/tmp/work/ppq/q-34.png"/>
          <p:cNvPicPr/>
          <p:nvPr/>
        </p:nvPicPr>
        <p:blipFill>
          <a:blip r:embed="rId1"/>
          <a:stretch/>
        </p:blipFill>
        <p:spPr>
          <a:xfrm>
            <a:off x="1341000" y="1481400"/>
            <a:ext cx="9509400" cy="491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39"/>
          <p:cNvSpPr/>
          <p:nvPr/>
        </p:nvSpPr>
        <p:spPr>
          <a:xfrm>
            <a:off x="1820880" y="1408320"/>
            <a:ext cx="85492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9" name="Image 0" descr="/tmp/work/ppq/q-35.png"/>
          <p:cNvPicPr/>
          <p:nvPr/>
        </p:nvPicPr>
        <p:blipFill>
          <a:blip r:embed="rId1"/>
          <a:stretch/>
        </p:blipFill>
        <p:spPr>
          <a:xfrm>
            <a:off x="1893960" y="1481400"/>
            <a:ext cx="84031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39"/>
          <p:cNvSpPr/>
          <p:nvPr/>
        </p:nvSpPr>
        <p:spPr>
          <a:xfrm>
            <a:off x="2319120" y="1408320"/>
            <a:ext cx="75535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0" name="Image 0" descr="/tmp/work/ppq/q-36.png"/>
          <p:cNvPicPr/>
          <p:nvPr/>
        </p:nvPicPr>
        <p:blipFill>
          <a:blip r:embed="rId1"/>
          <a:stretch/>
        </p:blipFill>
        <p:spPr>
          <a:xfrm>
            <a:off x="2392200" y="1481400"/>
            <a:ext cx="74070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Shape 39"/>
          <p:cNvSpPr/>
          <p:nvPr/>
        </p:nvSpPr>
        <p:spPr>
          <a:xfrm>
            <a:off x="1267920" y="1408320"/>
            <a:ext cx="9655560" cy="490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1" name="Image 0" descr="/tmp/work/ppq/q-37.png"/>
          <p:cNvPicPr/>
          <p:nvPr/>
        </p:nvPicPr>
        <p:blipFill>
          <a:blip r:embed="rId1"/>
          <a:stretch/>
        </p:blipFill>
        <p:spPr>
          <a:xfrm>
            <a:off x="1341000" y="1481400"/>
            <a:ext cx="9509400" cy="476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Shape 39"/>
          <p:cNvSpPr/>
          <p:nvPr/>
        </p:nvSpPr>
        <p:spPr>
          <a:xfrm>
            <a:off x="2256480" y="1408320"/>
            <a:ext cx="76784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2" name="Image 0" descr="/tmp/work/ppq/q-38.png"/>
          <p:cNvPicPr/>
          <p:nvPr/>
        </p:nvPicPr>
        <p:blipFill>
          <a:blip r:embed="rId1"/>
          <a:stretch/>
        </p:blipFill>
        <p:spPr>
          <a:xfrm>
            <a:off x="2329560" y="1481400"/>
            <a:ext cx="7532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0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2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3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Perimeter = distance around (a length);  Area = space inside (square units).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4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Rectangle &amp; parallelogram: base × height.  Triangle: ½ base × height.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Trapezium: ½(a + b) × height.  Kite: ½ × diagonal₁ × diagonal₂.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Circle: circumference C = πd,  area A = πr² (square the radius first).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0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1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Compound shapes: split into simple parts, then add or subtract.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2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3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always use the PERPENDICULAR height, and keep area in square units.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LibreOffice/24.2.7.2$Linux_X86_64 LibreOffice_project/420$Build-2</Application>
  <AppVersion>15.0000</AppVersion>
  <Words>1034</Words>
  <Paragraphs>220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2026-07-15T08:33:25Z</dcterms:created>
  <dc:creator>Zahra Sheikh Ali</dc:creator>
  <dc:description/>
  <dc:language>en-US</dc:language>
  <cp:lastModifiedBy>zahraa sheik ali</cp:lastModifiedBy>
  <dcterms:modified xsi:type="dcterms:W3CDTF">2026-07-27T10:11:57Z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25</vt:r8>
  </property>
  <property fmtid="{D5CDD505-2E9C-101B-9397-08002B2CF9AE}" pid="3" name="PresentationFormat">
    <vt:lpwstr>Custom</vt:lpwstr>
  </property>
  <property fmtid="{D5CDD505-2E9C-101B-9397-08002B2CF9AE}" pid="4" name="Slides">
    <vt:r8>25</vt:r8>
  </property>
</Properties>
</file>