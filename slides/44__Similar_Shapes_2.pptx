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C3C81C8-373C-4D03-BCE5-30C8AB5FC02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FC27F2-6F2D-4534-AE7A-FDC80AF043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B14F60-608B-40F5-B12E-C744C0DDA88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80B979-7C74-4B2C-8F9B-603916A589F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7C9D31-7B98-4AF4-A644-A970A333E6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A7C41C-BFC1-4C97-9081-7D0FF634A59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DF07C8-11B3-42C3-9CDF-7F3502F24FF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C794FA0-1B43-4E30-BD0D-918E9F19B65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BABD65-F041-4F94-B354-B85FAF4949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94964B-BF72-4D9B-AA1A-B61D25A7AC8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7D8AF5-DC6A-4593-ABB4-3FEB6D9520B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4F13BE-0902-45D8-8B4E-1C40EEFA724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2B5DAF-1FDF-4644-AA06-B329E3E862A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44B650-F1D9-481B-B891-444B1AFAC73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E87826-AD73-4EA9-B6D3-59A66331DD5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256F13-B8A9-4C01-93B8-F6E83286B2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42873D-4C7B-4827-B078-3AAF4BF0FE5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2F0D5D-7AD7-4B32-8E37-AD46F0D90E7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B54B25-6391-4899-B10B-99B45E55D5B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DCC057-48C2-4185-B951-7810BE9C577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E01D04-2366-402B-B8D5-3BAAE48631A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87C56D-F9C3-4007-B26E-853837D1B59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6E067F-95F7-40EC-B744-8C398CB2BDE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8686800" y="1554480"/>
            <a:ext cx="822600" cy="822600"/>
          </a:xfrm>
          <a:prstGeom prst="rect">
            <a:avLst/>
          </a:prstGeom>
          <a:noFill/>
          <a:ln w="38100">
            <a:solidFill>
              <a:srgbClr val="3346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9784080" y="914400"/>
            <a:ext cx="1554120" cy="1554120"/>
          </a:xfrm>
          <a:prstGeom prst="rect">
            <a:avLst/>
          </a:prstGeom>
          <a:noFill/>
          <a:ln w="38100">
            <a:solidFill>
              <a:srgbClr val="3346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e0ac2b"/>
                </a:solidFill>
                <a:latin typeface="Cambria"/>
                <a:ea typeface="Cambria"/>
              </a:rPr>
              <a:t>Similar Shapes: Area &amp; Volume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Area Scale Factor k² · Volume Scale Factor k³ · Working Backwards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43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6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Length, Area &amp; Volume Grow Differently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When you enlarge a shape by a scale factor k, the AREA and VOLUME grow FASTER.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Area by k², volume by k³. This one idea answers every question here.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Length × k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Area × k²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Volume × k³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Working backwards (roots)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The summary table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linear scale factor · area scale factor · volume scale factor · k² · k³ · square root · cube root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Length ×k, Area ×k², Volume ×k³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Enlarge a cube by scale factor k = 3.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The lengths triple, but the area and volume grow much faster.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41"/>
          <p:cNvSpPr/>
          <p:nvPr/>
        </p:nvSpPr>
        <p:spPr>
          <a:xfrm>
            <a:off x="1371600" y="2651760"/>
            <a:ext cx="1142640" cy="36540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365400"/>
              <a:gd name="textAreaBottom" fmla="*/ 365760 h 365400"/>
            </a:gdLst>
            <a:ahLst/>
            <a:rect l="textAreaLeft" t="textAreaTop" r="textAreaRight" b="textAreaBottom"/>
            <a:pathLst>
              <a:path w="1143000" h="365760">
                <a:moveTo>
                  <a:pt x="0" y="365760"/>
                </a:moveTo>
                <a:lnTo>
                  <a:pt x="365760" y="0"/>
                </a:lnTo>
                <a:lnTo>
                  <a:pt x="1143000" y="0"/>
                </a:lnTo>
                <a:lnTo>
                  <a:pt x="777240" y="365760"/>
                </a:lnTo>
                <a:close/>
              </a:path>
            </a:pathLst>
          </a:custGeom>
          <a:solidFill>
            <a:srgbClr val="fbf3dd">
              <a:alpha val="80000"/>
            </a:srgbClr>
          </a:solidFill>
          <a:ln w="2286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42"/>
          <p:cNvSpPr/>
          <p:nvPr/>
        </p:nvSpPr>
        <p:spPr>
          <a:xfrm>
            <a:off x="2148840" y="2651760"/>
            <a:ext cx="365400" cy="1142640"/>
          </a:xfrm>
          <a:custGeom>
            <a:avLst/>
            <a:gdLst>
              <a:gd name="textAreaLeft" fmla="*/ 0 w 365400"/>
              <a:gd name="textAreaRight" fmla="*/ 365760 w 36540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365760" h="1143000">
                <a:moveTo>
                  <a:pt x="0" y="365760"/>
                </a:moveTo>
                <a:lnTo>
                  <a:pt x="365760" y="0"/>
                </a:lnTo>
                <a:lnTo>
                  <a:pt x="365760" y="777240"/>
                </a:lnTo>
                <a:lnTo>
                  <a:pt x="0" y="1143000"/>
                </a:lnTo>
                <a:close/>
              </a:path>
            </a:pathLst>
          </a:custGeom>
          <a:solidFill>
            <a:srgbClr val="eef1e8">
              <a:alpha val="65000"/>
            </a:srgbClr>
          </a:solidFill>
          <a:ln w="2286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43"/>
          <p:cNvSpPr/>
          <p:nvPr/>
        </p:nvSpPr>
        <p:spPr>
          <a:xfrm>
            <a:off x="1371600" y="3017520"/>
            <a:ext cx="776880" cy="776880"/>
          </a:xfrm>
          <a:prstGeom prst="rect">
            <a:avLst/>
          </a:prstGeom>
          <a:solidFill>
            <a:srgbClr val="eef1e8">
              <a:alpha val="85000"/>
            </a:srgbClr>
          </a:solidFill>
          <a:ln w="2413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44"/>
          <p:cNvSpPr/>
          <p:nvPr/>
        </p:nvSpPr>
        <p:spPr>
          <a:xfrm>
            <a:off x="1097280" y="3886200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1 cm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45"/>
          <p:cNvSpPr/>
          <p:nvPr/>
        </p:nvSpPr>
        <p:spPr>
          <a:xfrm>
            <a:off x="1097280" y="2331720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7" strike="noStrike">
                <a:solidFill>
                  <a:srgbClr val="5c6b60"/>
                </a:solidFill>
                <a:latin typeface="Calibri"/>
                <a:ea typeface="Calibri"/>
              </a:rPr>
              <a:t>SMALL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46"/>
          <p:cNvSpPr/>
          <p:nvPr/>
        </p:nvSpPr>
        <p:spPr>
          <a:xfrm>
            <a:off x="3063240" y="3246120"/>
            <a:ext cx="1051560" cy="360"/>
          </a:xfrm>
          <a:prstGeom prst="line">
            <a:avLst/>
          </a:prstGeom>
          <a:ln w="38100">
            <a:solidFill>
              <a:srgbClr val="e0ac2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47"/>
          <p:cNvSpPr/>
          <p:nvPr/>
        </p:nvSpPr>
        <p:spPr>
          <a:xfrm>
            <a:off x="3063240" y="2788920"/>
            <a:ext cx="1051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× 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48"/>
          <p:cNvSpPr/>
          <p:nvPr/>
        </p:nvSpPr>
        <p:spPr>
          <a:xfrm>
            <a:off x="4297680" y="2148840"/>
            <a:ext cx="2468520" cy="776880"/>
          </a:xfrm>
          <a:custGeom>
            <a:avLst/>
            <a:gdLst>
              <a:gd name="textAreaLeft" fmla="*/ 0 w 2468520"/>
              <a:gd name="textAreaRight" fmla="*/ 2468880 w 2468520"/>
              <a:gd name="textAreaTop" fmla="*/ 0 h 776880"/>
              <a:gd name="textAreaBottom" fmla="*/ 777240 h 776880"/>
            </a:gdLst>
            <a:ahLst/>
            <a:rect l="textAreaLeft" t="textAreaTop" r="textAreaRight" b="textAreaBottom"/>
            <a:pathLst>
              <a:path w="2468880" h="777240">
                <a:moveTo>
                  <a:pt x="0" y="777240"/>
                </a:moveTo>
                <a:lnTo>
                  <a:pt x="777240" y="0"/>
                </a:lnTo>
                <a:lnTo>
                  <a:pt x="2468880" y="0"/>
                </a:lnTo>
                <a:lnTo>
                  <a:pt x="1691640" y="777240"/>
                </a:lnTo>
                <a:close/>
              </a:path>
            </a:pathLst>
          </a:custGeom>
          <a:solidFill>
            <a:srgbClr val="fbf3dd">
              <a:alpha val="80000"/>
            </a:srgbClr>
          </a:solidFill>
          <a:ln w="2286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49"/>
          <p:cNvSpPr/>
          <p:nvPr/>
        </p:nvSpPr>
        <p:spPr>
          <a:xfrm>
            <a:off x="5989320" y="2148840"/>
            <a:ext cx="776880" cy="2468520"/>
          </a:xfrm>
          <a:custGeom>
            <a:avLst/>
            <a:gdLst>
              <a:gd name="textAreaLeft" fmla="*/ 0 w 776880"/>
              <a:gd name="textAreaRight" fmla="*/ 777240 w 776880"/>
              <a:gd name="textAreaTop" fmla="*/ 0 h 2468520"/>
              <a:gd name="textAreaBottom" fmla="*/ 2468880 h 2468520"/>
            </a:gdLst>
            <a:ahLst/>
            <a:rect l="textAreaLeft" t="textAreaTop" r="textAreaRight" b="textAreaBottom"/>
            <a:pathLst>
              <a:path w="777240" h="2468880">
                <a:moveTo>
                  <a:pt x="0" y="777240"/>
                </a:moveTo>
                <a:lnTo>
                  <a:pt x="777240" y="0"/>
                </a:lnTo>
                <a:lnTo>
                  <a:pt x="777240" y="1691640"/>
                </a:lnTo>
                <a:lnTo>
                  <a:pt x="0" y="2468880"/>
                </a:lnTo>
                <a:close/>
              </a:path>
            </a:pathLst>
          </a:custGeom>
          <a:solidFill>
            <a:srgbClr val="fbf3dd">
              <a:alpha val="65000"/>
            </a:srgbClr>
          </a:solidFill>
          <a:ln w="2286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50"/>
          <p:cNvSpPr/>
          <p:nvPr/>
        </p:nvSpPr>
        <p:spPr>
          <a:xfrm>
            <a:off x="4297680" y="2926080"/>
            <a:ext cx="1691280" cy="1691280"/>
          </a:xfrm>
          <a:prstGeom prst="rect">
            <a:avLst/>
          </a:prstGeom>
          <a:solidFill>
            <a:srgbClr val="fbf3dd">
              <a:alpha val="85000"/>
            </a:srgbClr>
          </a:solidFill>
          <a:ln w="2413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51"/>
          <p:cNvSpPr/>
          <p:nvPr/>
        </p:nvSpPr>
        <p:spPr>
          <a:xfrm>
            <a:off x="4114800" y="475488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3 cm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52"/>
          <p:cNvSpPr/>
          <p:nvPr/>
        </p:nvSpPr>
        <p:spPr>
          <a:xfrm>
            <a:off x="4114800" y="182880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7" strike="noStrike">
                <a:solidFill>
                  <a:srgbClr val="5c6b60"/>
                </a:solidFill>
                <a:latin typeface="Calibri"/>
                <a:ea typeface="Calibri"/>
              </a:rPr>
              <a:t>LARGE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53"/>
          <p:cNvSpPr/>
          <p:nvPr/>
        </p:nvSpPr>
        <p:spPr>
          <a:xfrm>
            <a:off x="7315200" y="2194560"/>
            <a:ext cx="4297320" cy="1371240"/>
          </a:xfrm>
          <a:prstGeom prst="roundRect">
            <a:avLst>
              <a:gd name="adj" fmla="val 40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54"/>
          <p:cNvSpPr/>
          <p:nvPr/>
        </p:nvSpPr>
        <p:spPr>
          <a:xfrm>
            <a:off x="7315200" y="2340720"/>
            <a:ext cx="4297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LENGTH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55"/>
          <p:cNvSpPr/>
          <p:nvPr/>
        </p:nvSpPr>
        <p:spPr>
          <a:xfrm>
            <a:off x="7315200" y="2651760"/>
            <a:ext cx="4297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c84f2f"/>
                </a:solidFill>
                <a:latin typeface="Cambria"/>
                <a:ea typeface="Cambria"/>
              </a:rPr>
              <a:t>× 3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56"/>
          <p:cNvSpPr/>
          <p:nvPr/>
        </p:nvSpPr>
        <p:spPr>
          <a:xfrm>
            <a:off x="7315200" y="3218760"/>
            <a:ext cx="4297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5c6b60"/>
                </a:solidFill>
                <a:latin typeface="Calibri"/>
                <a:ea typeface="Calibri"/>
              </a:rPr>
              <a:t>each length triples (k)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57"/>
          <p:cNvSpPr/>
          <p:nvPr/>
        </p:nvSpPr>
        <p:spPr>
          <a:xfrm>
            <a:off x="7315200" y="3657600"/>
            <a:ext cx="4297320" cy="1371240"/>
          </a:xfrm>
          <a:prstGeom prst="roundRect">
            <a:avLst>
              <a:gd name="adj" fmla="val 400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58"/>
          <p:cNvSpPr/>
          <p:nvPr/>
        </p:nvSpPr>
        <p:spPr>
          <a:xfrm>
            <a:off x="7315200" y="3803760"/>
            <a:ext cx="4297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AREA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59"/>
          <p:cNvSpPr/>
          <p:nvPr/>
        </p:nvSpPr>
        <p:spPr>
          <a:xfrm>
            <a:off x="7315200" y="4114800"/>
            <a:ext cx="4297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c84f2f"/>
                </a:solidFill>
                <a:latin typeface="Cambria"/>
                <a:ea typeface="Cambria"/>
              </a:rPr>
              <a:t>× 9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60"/>
          <p:cNvSpPr/>
          <p:nvPr/>
        </p:nvSpPr>
        <p:spPr>
          <a:xfrm>
            <a:off x="7315200" y="4681800"/>
            <a:ext cx="4297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5c6b60"/>
                </a:solidFill>
                <a:latin typeface="Calibri"/>
                <a:ea typeface="Calibri"/>
              </a:rPr>
              <a:t>each face: 3² = 9 (k²)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61"/>
          <p:cNvSpPr/>
          <p:nvPr/>
        </p:nvSpPr>
        <p:spPr>
          <a:xfrm>
            <a:off x="7315200" y="5120640"/>
            <a:ext cx="4297320" cy="1371240"/>
          </a:xfrm>
          <a:prstGeom prst="roundRect">
            <a:avLst>
              <a:gd name="adj" fmla="val 40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62"/>
          <p:cNvSpPr/>
          <p:nvPr/>
        </p:nvSpPr>
        <p:spPr>
          <a:xfrm>
            <a:off x="7315200" y="5266800"/>
            <a:ext cx="4297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VOLUME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63"/>
          <p:cNvSpPr/>
          <p:nvPr/>
        </p:nvSpPr>
        <p:spPr>
          <a:xfrm>
            <a:off x="7315200" y="5577840"/>
            <a:ext cx="4297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c84f2f"/>
                </a:solidFill>
                <a:latin typeface="Cambria"/>
                <a:ea typeface="Cambria"/>
              </a:rPr>
              <a:t>× 27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64"/>
          <p:cNvSpPr/>
          <p:nvPr/>
        </p:nvSpPr>
        <p:spPr>
          <a:xfrm>
            <a:off x="7315200" y="6144840"/>
            <a:ext cx="4297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5c6b60"/>
                </a:solidFill>
                <a:latin typeface="Calibri"/>
                <a:ea typeface="Calibri"/>
              </a:rPr>
              <a:t>the whole solid: 3³ = 27 (k³)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65"/>
          <p:cNvSpPr/>
          <p:nvPr/>
        </p:nvSpPr>
        <p:spPr>
          <a:xfrm>
            <a:off x="567000" y="6172200"/>
            <a:ext cx="6583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So a shape 3 times as long has 9 times the area and 27 times the volume.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RULE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Three Scale Factors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39"/>
          <p:cNvSpPr/>
          <p:nvPr/>
        </p:nvSpPr>
        <p:spPr>
          <a:xfrm>
            <a:off x="567000" y="129852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40"/>
          <p:cNvSpPr/>
          <p:nvPr/>
        </p:nvSpPr>
        <p:spPr>
          <a:xfrm>
            <a:off x="887040" y="129852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If the LENGTH scale factor is k, then…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41"/>
          <p:cNvSpPr/>
          <p:nvPr/>
        </p:nvSpPr>
        <p:spPr>
          <a:xfrm>
            <a:off x="567000" y="2148840"/>
            <a:ext cx="3520080" cy="320004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42"/>
          <p:cNvSpPr/>
          <p:nvPr/>
        </p:nvSpPr>
        <p:spPr>
          <a:xfrm>
            <a:off x="567000" y="23774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1c2a22"/>
                </a:solidFill>
                <a:latin typeface="Cambria"/>
                <a:ea typeface="Cambria"/>
              </a:rPr>
              <a:t>LENGTH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43"/>
          <p:cNvSpPr/>
          <p:nvPr/>
        </p:nvSpPr>
        <p:spPr>
          <a:xfrm>
            <a:off x="567000" y="2971800"/>
            <a:ext cx="35200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c84f2f"/>
                </a:solidFill>
                <a:latin typeface="Cambria"/>
                <a:ea typeface="Cambria"/>
              </a:rPr>
              <a:t>× k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44"/>
          <p:cNvSpPr/>
          <p:nvPr/>
        </p:nvSpPr>
        <p:spPr>
          <a:xfrm>
            <a:off x="841320" y="4069080"/>
            <a:ext cx="2971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libri"/>
                <a:ea typeface="Calibri"/>
              </a:rPr>
              <a:t>sides, heights, radii, perimeters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45"/>
          <p:cNvSpPr/>
          <p:nvPr/>
        </p:nvSpPr>
        <p:spPr>
          <a:xfrm>
            <a:off x="4316040" y="2148840"/>
            <a:ext cx="3520080" cy="320004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46"/>
          <p:cNvSpPr/>
          <p:nvPr/>
        </p:nvSpPr>
        <p:spPr>
          <a:xfrm>
            <a:off x="4316040" y="23774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1c2a22"/>
                </a:solidFill>
                <a:latin typeface="Cambria"/>
                <a:ea typeface="Cambria"/>
              </a:rPr>
              <a:t>AREA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47"/>
          <p:cNvSpPr/>
          <p:nvPr/>
        </p:nvSpPr>
        <p:spPr>
          <a:xfrm>
            <a:off x="4316040" y="2971800"/>
            <a:ext cx="35200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c84f2f"/>
                </a:solidFill>
                <a:latin typeface="Cambria"/>
                <a:ea typeface="Cambria"/>
              </a:rPr>
              <a:t>× k²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48"/>
          <p:cNvSpPr/>
          <p:nvPr/>
        </p:nvSpPr>
        <p:spPr>
          <a:xfrm>
            <a:off x="4590360" y="4069080"/>
            <a:ext cx="2971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libri"/>
                <a:ea typeface="Calibri"/>
              </a:rPr>
              <a:t>surface area, cross-section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49"/>
          <p:cNvSpPr/>
          <p:nvPr/>
        </p:nvSpPr>
        <p:spPr>
          <a:xfrm>
            <a:off x="8065080" y="2148840"/>
            <a:ext cx="3520080" cy="320004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50"/>
          <p:cNvSpPr/>
          <p:nvPr/>
        </p:nvSpPr>
        <p:spPr>
          <a:xfrm>
            <a:off x="8065080" y="23774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1c2a22"/>
                </a:solidFill>
                <a:latin typeface="Cambria"/>
                <a:ea typeface="Cambria"/>
              </a:rPr>
              <a:t>VOLUME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51"/>
          <p:cNvSpPr/>
          <p:nvPr/>
        </p:nvSpPr>
        <p:spPr>
          <a:xfrm>
            <a:off x="8065080" y="2971800"/>
            <a:ext cx="35200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c84f2f"/>
                </a:solidFill>
                <a:latin typeface="Cambria"/>
                <a:ea typeface="Cambria"/>
              </a:rPr>
              <a:t>× k³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52"/>
          <p:cNvSpPr/>
          <p:nvPr/>
        </p:nvSpPr>
        <p:spPr>
          <a:xfrm>
            <a:off x="8339400" y="4069080"/>
            <a:ext cx="2971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libri"/>
                <a:ea typeface="Calibri"/>
              </a:rPr>
              <a:t>capacity, mass (same material)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53"/>
          <p:cNvSpPr/>
          <p:nvPr/>
        </p:nvSpPr>
        <p:spPr>
          <a:xfrm>
            <a:off x="567000" y="5532120"/>
            <a:ext cx="110638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54"/>
          <p:cNvSpPr/>
          <p:nvPr/>
        </p:nvSpPr>
        <p:spPr>
          <a:xfrm>
            <a:off x="841320" y="5532120"/>
            <a:ext cx="10515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Length × k    →    Area × k²    →    Volume × k³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AREA SCALE FACTOR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Worked Example: Area × k²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39"/>
          <p:cNvSpPr/>
          <p:nvPr/>
        </p:nvSpPr>
        <p:spPr>
          <a:xfrm>
            <a:off x="567000" y="1325880"/>
            <a:ext cx="110638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40"/>
          <p:cNvSpPr/>
          <p:nvPr/>
        </p:nvSpPr>
        <p:spPr>
          <a:xfrm>
            <a:off x="868680" y="1325880"/>
            <a:ext cx="10515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e0ac2b"/>
                </a:solidFill>
                <a:latin typeface="Cambria"/>
                <a:ea typeface="Cambria"/>
              </a:rPr>
              <a:t>Q:  </a:t>
            </a:r>
            <a:r>
              <a:rPr b="0" lang="en-US" sz="1450" spc="-1" strike="noStrike">
                <a:solidFill>
                  <a:srgbClr val="edebdd"/>
                </a:solidFill>
                <a:latin typeface="Cambria"/>
                <a:ea typeface="Cambria"/>
              </a:rPr>
              <a:t>Two rectangles are similar. Their matching sides are 5 cm and 15 cm. The small rectangle has area 8 cm</a:t>
            </a:r>
            <a:r>
              <a:rPr b="0" lang="en-US" sz="1450" spc="-1" strike="noStrike" baseline="30000">
                <a:solidFill>
                  <a:srgbClr val="edebdd"/>
                </a:solidFill>
                <a:latin typeface="Cambria"/>
                <a:ea typeface="Cambria"/>
              </a:rPr>
              <a:t>2</a:t>
            </a:r>
            <a:r>
              <a:rPr b="0" lang="en-US" sz="1450" spc="-1" strike="noStrike">
                <a:solidFill>
                  <a:srgbClr val="edebdd"/>
                </a:solidFill>
                <a:latin typeface="Cambria"/>
                <a:ea typeface="Cambria"/>
              </a:rPr>
              <a:t>.  Work out the area of the large rectangle.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41"/>
          <p:cNvSpPr/>
          <p:nvPr/>
        </p:nvSpPr>
        <p:spPr>
          <a:xfrm>
            <a:off x="1188720" y="3017520"/>
            <a:ext cx="1462680" cy="1142640"/>
          </a:xfrm>
          <a:prstGeom prst="rect">
            <a:avLst/>
          </a:prstGeom>
          <a:solidFill>
            <a:srgbClr val="eef1e8">
              <a:alpha val="85000"/>
            </a:srgbClr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42"/>
          <p:cNvSpPr/>
          <p:nvPr/>
        </p:nvSpPr>
        <p:spPr>
          <a:xfrm>
            <a:off x="1188720" y="420624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5 cm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43"/>
          <p:cNvSpPr/>
          <p:nvPr/>
        </p:nvSpPr>
        <p:spPr>
          <a:xfrm>
            <a:off x="1188720" y="3200400"/>
            <a:ext cx="1462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Area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8 cm²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44"/>
          <p:cNvSpPr/>
          <p:nvPr/>
        </p:nvSpPr>
        <p:spPr>
          <a:xfrm>
            <a:off x="2971800" y="3749040"/>
            <a:ext cx="640080" cy="360"/>
          </a:xfrm>
          <a:prstGeom prst="line">
            <a:avLst/>
          </a:prstGeom>
          <a:ln w="31750">
            <a:solidFill>
              <a:srgbClr val="e0ac2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45"/>
          <p:cNvSpPr/>
          <p:nvPr/>
        </p:nvSpPr>
        <p:spPr>
          <a:xfrm>
            <a:off x="3931920" y="2788920"/>
            <a:ext cx="2285640" cy="1782720"/>
          </a:xfrm>
          <a:prstGeom prst="rect">
            <a:avLst/>
          </a:prstGeom>
          <a:solidFill>
            <a:srgbClr val="fbf3dd">
              <a:alpha val="85000"/>
            </a:srgbClr>
          </a:solidFill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46"/>
          <p:cNvSpPr/>
          <p:nvPr/>
        </p:nvSpPr>
        <p:spPr>
          <a:xfrm>
            <a:off x="3931920" y="46177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15 cm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 47"/>
          <p:cNvSpPr/>
          <p:nvPr/>
        </p:nvSpPr>
        <p:spPr>
          <a:xfrm>
            <a:off x="3931920" y="3063240"/>
            <a:ext cx="22856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Area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= ?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48"/>
          <p:cNvSpPr/>
          <p:nvPr/>
        </p:nvSpPr>
        <p:spPr>
          <a:xfrm>
            <a:off x="6766560" y="2743200"/>
            <a:ext cx="4864320" cy="2834280"/>
          </a:xfrm>
          <a:prstGeom prst="roundRect">
            <a:avLst>
              <a:gd name="adj" fmla="val 193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49"/>
          <p:cNvSpPr/>
          <p:nvPr/>
        </p:nvSpPr>
        <p:spPr>
          <a:xfrm>
            <a:off x="7132320" y="2980800"/>
            <a:ext cx="4132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Solution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50"/>
          <p:cNvSpPr/>
          <p:nvPr/>
        </p:nvSpPr>
        <p:spPr>
          <a:xfrm>
            <a:off x="7086600" y="3429000"/>
            <a:ext cx="42973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1.  Length scale factor: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     </a:t>
            </a: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k = 15 ÷ 5 = 3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2.  Area scale factor: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     </a:t>
            </a: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k² = 3² = 9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3.  Large area = 8 × 9 = </a:t>
            </a:r>
            <a:r>
              <a:rPr b="1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72 cm²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51"/>
          <p:cNvSpPr/>
          <p:nvPr/>
        </p:nvSpPr>
        <p:spPr>
          <a:xfrm>
            <a:off x="567000" y="5806440"/>
            <a:ext cx="11063880" cy="77688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 52"/>
          <p:cNvSpPr/>
          <p:nvPr/>
        </p:nvSpPr>
        <p:spPr>
          <a:xfrm>
            <a:off x="841320" y="5806440"/>
            <a:ext cx="10515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Square the length scale factor to get the AREA scale factor:  area × k².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VOLUME SCALE FACTOR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Worked Example: Volume × k³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39"/>
          <p:cNvSpPr/>
          <p:nvPr/>
        </p:nvSpPr>
        <p:spPr>
          <a:xfrm>
            <a:off x="567000" y="1325880"/>
            <a:ext cx="110638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40"/>
          <p:cNvSpPr/>
          <p:nvPr/>
        </p:nvSpPr>
        <p:spPr>
          <a:xfrm>
            <a:off x="868680" y="1325880"/>
            <a:ext cx="10515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e0ac2b"/>
                </a:solidFill>
                <a:latin typeface="Cambria"/>
                <a:ea typeface="Cambria"/>
              </a:rPr>
              <a:t>Q:  </a:t>
            </a:r>
            <a:r>
              <a:rPr b="0" lang="en-US" sz="1450" spc="-1" strike="noStrike">
                <a:solidFill>
                  <a:srgbClr val="edebdd"/>
                </a:solidFill>
                <a:latin typeface="Cambria"/>
                <a:ea typeface="Cambria"/>
              </a:rPr>
              <a:t>Two solids are mathematically similar. Their matching edges are 2 cm and 6 cm. The small solid has volume 8 cm</a:t>
            </a:r>
            <a:r>
              <a:rPr b="0" lang="en-US" sz="1450" spc="-1" strike="noStrike" baseline="30000">
                <a:solidFill>
                  <a:srgbClr val="edebdd"/>
                </a:solidFill>
                <a:latin typeface="Cambria"/>
                <a:ea typeface="Cambria"/>
              </a:rPr>
              <a:t>3</a:t>
            </a:r>
            <a:r>
              <a:rPr b="0" lang="en-US" sz="1450" spc="-1" strike="noStrike">
                <a:solidFill>
                  <a:srgbClr val="edebdd"/>
                </a:solidFill>
                <a:latin typeface="Cambria"/>
                <a:ea typeface="Cambria"/>
              </a:rPr>
              <a:t>.  Work out the volume of the large solid.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41"/>
          <p:cNvSpPr/>
          <p:nvPr/>
        </p:nvSpPr>
        <p:spPr>
          <a:xfrm>
            <a:off x="1280160" y="3063240"/>
            <a:ext cx="1234080" cy="411120"/>
          </a:xfrm>
          <a:custGeom>
            <a:avLst/>
            <a:gdLst>
              <a:gd name="textAreaLeft" fmla="*/ 0 w 1234080"/>
              <a:gd name="textAreaRight" fmla="*/ 1234440 w 1234080"/>
              <a:gd name="textAreaTop" fmla="*/ 0 h 411120"/>
              <a:gd name="textAreaBottom" fmla="*/ 411480 h 411120"/>
            </a:gdLst>
            <a:ahLst/>
            <a:rect l="textAreaLeft" t="textAreaTop" r="textAreaRight" b="textAreaBottom"/>
            <a:pathLst>
              <a:path w="1234440" h="411480">
                <a:moveTo>
                  <a:pt x="0" y="411480"/>
                </a:moveTo>
                <a:lnTo>
                  <a:pt x="411480" y="0"/>
                </a:lnTo>
                <a:lnTo>
                  <a:pt x="1234440" y="0"/>
                </a:lnTo>
                <a:lnTo>
                  <a:pt x="822960" y="411480"/>
                </a:lnTo>
                <a:close/>
              </a:path>
            </a:pathLst>
          </a:custGeom>
          <a:solidFill>
            <a:srgbClr val="fbf3dd">
              <a:alpha val="80000"/>
            </a:srgbClr>
          </a:solidFill>
          <a:ln w="2286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42"/>
          <p:cNvSpPr/>
          <p:nvPr/>
        </p:nvSpPr>
        <p:spPr>
          <a:xfrm>
            <a:off x="2103120" y="3063240"/>
            <a:ext cx="411120" cy="1234080"/>
          </a:xfrm>
          <a:custGeom>
            <a:avLst/>
            <a:gdLst>
              <a:gd name="textAreaLeft" fmla="*/ 0 w 411120"/>
              <a:gd name="textAreaRight" fmla="*/ 411480 w 411120"/>
              <a:gd name="textAreaTop" fmla="*/ 0 h 1234080"/>
              <a:gd name="textAreaBottom" fmla="*/ 1234440 h 1234080"/>
            </a:gdLst>
            <a:ahLst/>
            <a:rect l="textAreaLeft" t="textAreaTop" r="textAreaRight" b="textAreaBottom"/>
            <a:pathLst>
              <a:path w="411480" h="1234440">
                <a:moveTo>
                  <a:pt x="0" y="411480"/>
                </a:moveTo>
                <a:lnTo>
                  <a:pt x="411480" y="0"/>
                </a:lnTo>
                <a:lnTo>
                  <a:pt x="411480" y="822960"/>
                </a:lnTo>
                <a:lnTo>
                  <a:pt x="0" y="1234440"/>
                </a:lnTo>
                <a:close/>
              </a:path>
            </a:pathLst>
          </a:custGeom>
          <a:solidFill>
            <a:srgbClr val="eef1e8">
              <a:alpha val="65000"/>
            </a:srgbClr>
          </a:solidFill>
          <a:ln w="2286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43"/>
          <p:cNvSpPr/>
          <p:nvPr/>
        </p:nvSpPr>
        <p:spPr>
          <a:xfrm>
            <a:off x="1280160" y="3474720"/>
            <a:ext cx="822600" cy="822600"/>
          </a:xfrm>
          <a:prstGeom prst="rect">
            <a:avLst/>
          </a:prstGeom>
          <a:solidFill>
            <a:srgbClr val="eef1e8">
              <a:alpha val="85000"/>
            </a:srgbClr>
          </a:solidFill>
          <a:ln w="2413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44"/>
          <p:cNvSpPr/>
          <p:nvPr/>
        </p:nvSpPr>
        <p:spPr>
          <a:xfrm>
            <a:off x="1097280" y="4343400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2 cm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45"/>
          <p:cNvSpPr/>
          <p:nvPr/>
        </p:nvSpPr>
        <p:spPr>
          <a:xfrm>
            <a:off x="914400" y="46177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V = 8 cm³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46"/>
          <p:cNvSpPr/>
          <p:nvPr/>
        </p:nvSpPr>
        <p:spPr>
          <a:xfrm>
            <a:off x="3017520" y="3657600"/>
            <a:ext cx="640080" cy="360"/>
          </a:xfrm>
          <a:prstGeom prst="line">
            <a:avLst/>
          </a:prstGeom>
          <a:ln w="31750">
            <a:solidFill>
              <a:srgbClr val="e0ac2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47"/>
          <p:cNvSpPr/>
          <p:nvPr/>
        </p:nvSpPr>
        <p:spPr>
          <a:xfrm>
            <a:off x="4023360" y="2606040"/>
            <a:ext cx="2331360" cy="731160"/>
          </a:xfrm>
          <a:custGeom>
            <a:avLst/>
            <a:gdLst>
              <a:gd name="textAreaLeft" fmla="*/ 0 w 2331360"/>
              <a:gd name="textAreaRight" fmla="*/ 2331720 w 2331360"/>
              <a:gd name="textAreaTop" fmla="*/ 0 h 731160"/>
              <a:gd name="textAreaBottom" fmla="*/ 731520 h 731160"/>
            </a:gdLst>
            <a:ahLst/>
            <a:rect l="textAreaLeft" t="textAreaTop" r="textAreaRight" b="textAreaBottom"/>
            <a:pathLst>
              <a:path w="2331720" h="731520">
                <a:moveTo>
                  <a:pt x="0" y="731520"/>
                </a:moveTo>
                <a:lnTo>
                  <a:pt x="731520" y="0"/>
                </a:lnTo>
                <a:lnTo>
                  <a:pt x="2331720" y="0"/>
                </a:lnTo>
                <a:lnTo>
                  <a:pt x="1600200" y="731520"/>
                </a:lnTo>
                <a:close/>
              </a:path>
            </a:pathLst>
          </a:custGeom>
          <a:solidFill>
            <a:srgbClr val="fbf3dd">
              <a:alpha val="80000"/>
            </a:srgbClr>
          </a:solidFill>
          <a:ln w="2286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48"/>
          <p:cNvSpPr/>
          <p:nvPr/>
        </p:nvSpPr>
        <p:spPr>
          <a:xfrm>
            <a:off x="5623560" y="2606040"/>
            <a:ext cx="731160" cy="2331360"/>
          </a:xfrm>
          <a:custGeom>
            <a:avLst/>
            <a:gdLst>
              <a:gd name="textAreaLeft" fmla="*/ 0 w 731160"/>
              <a:gd name="textAreaRight" fmla="*/ 731520 w 731160"/>
              <a:gd name="textAreaTop" fmla="*/ 0 h 2331360"/>
              <a:gd name="textAreaBottom" fmla="*/ 2331720 h 2331360"/>
            </a:gdLst>
            <a:ahLst/>
            <a:rect l="textAreaLeft" t="textAreaTop" r="textAreaRight" b="textAreaBottom"/>
            <a:pathLst>
              <a:path w="731520" h="2331720">
                <a:moveTo>
                  <a:pt x="0" y="731520"/>
                </a:moveTo>
                <a:lnTo>
                  <a:pt x="731520" y="0"/>
                </a:lnTo>
                <a:lnTo>
                  <a:pt x="731520" y="1600200"/>
                </a:lnTo>
                <a:lnTo>
                  <a:pt x="0" y="2331720"/>
                </a:lnTo>
                <a:close/>
              </a:path>
            </a:pathLst>
          </a:custGeom>
          <a:solidFill>
            <a:srgbClr val="fbf3dd">
              <a:alpha val="65000"/>
            </a:srgbClr>
          </a:solidFill>
          <a:ln w="2286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49"/>
          <p:cNvSpPr/>
          <p:nvPr/>
        </p:nvSpPr>
        <p:spPr>
          <a:xfrm>
            <a:off x="4023360" y="3337560"/>
            <a:ext cx="1599840" cy="1599840"/>
          </a:xfrm>
          <a:prstGeom prst="rect">
            <a:avLst/>
          </a:prstGeom>
          <a:solidFill>
            <a:srgbClr val="fbf3dd">
              <a:alpha val="85000"/>
            </a:srgbClr>
          </a:solidFill>
          <a:ln w="2413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 50"/>
          <p:cNvSpPr/>
          <p:nvPr/>
        </p:nvSpPr>
        <p:spPr>
          <a:xfrm>
            <a:off x="3931920" y="489204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a22"/>
                </a:solidFill>
                <a:latin typeface="Cambria"/>
                <a:ea typeface="Cambria"/>
              </a:rPr>
              <a:t>6 cm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 51"/>
          <p:cNvSpPr/>
          <p:nvPr/>
        </p:nvSpPr>
        <p:spPr>
          <a:xfrm>
            <a:off x="3931920" y="306324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V = ?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52"/>
          <p:cNvSpPr/>
          <p:nvPr/>
        </p:nvSpPr>
        <p:spPr>
          <a:xfrm>
            <a:off x="6766560" y="2743200"/>
            <a:ext cx="4864320" cy="2834280"/>
          </a:xfrm>
          <a:prstGeom prst="roundRect">
            <a:avLst>
              <a:gd name="adj" fmla="val 1935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53"/>
          <p:cNvSpPr/>
          <p:nvPr/>
        </p:nvSpPr>
        <p:spPr>
          <a:xfrm>
            <a:off x="7132320" y="2980800"/>
            <a:ext cx="4132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Solution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 54"/>
          <p:cNvSpPr/>
          <p:nvPr/>
        </p:nvSpPr>
        <p:spPr>
          <a:xfrm>
            <a:off x="7086600" y="3429000"/>
            <a:ext cx="42973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1.  Length scale factor: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     </a:t>
            </a: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k = 6 ÷ 2 = 3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2.  Volume scale factor: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     </a:t>
            </a: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k³ = 3³ = 27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3.  Large volume = 8 × 27 = </a:t>
            </a:r>
            <a:r>
              <a:rPr b="1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216 cm³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55"/>
          <p:cNvSpPr/>
          <p:nvPr/>
        </p:nvSpPr>
        <p:spPr>
          <a:xfrm>
            <a:off x="567000" y="5806440"/>
            <a:ext cx="11063880" cy="77688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 56"/>
          <p:cNvSpPr/>
          <p:nvPr/>
        </p:nvSpPr>
        <p:spPr>
          <a:xfrm>
            <a:off x="841320" y="5806440"/>
            <a:ext cx="10515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Cube the length scale factor to get the VOLUME scale factor:  volume × k³.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WORKING BACKWARDS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From Area or Volume to Length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Given the AREA or VOLUME ratio, find the LENGTH scale factor by taking a ROOT.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Undo the power.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41"/>
          <p:cNvSpPr/>
          <p:nvPr/>
        </p:nvSpPr>
        <p:spPr>
          <a:xfrm>
            <a:off x="567000" y="219456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42"/>
          <p:cNvSpPr/>
          <p:nvPr/>
        </p:nvSpPr>
        <p:spPr>
          <a:xfrm>
            <a:off x="932760" y="243216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From AREA → length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43"/>
          <p:cNvSpPr/>
          <p:nvPr/>
        </p:nvSpPr>
        <p:spPr>
          <a:xfrm>
            <a:off x="914400" y="2926080"/>
            <a:ext cx="475452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Area scale factor = 9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50" spc="-1" strike="noStrike">
                <a:solidFill>
                  <a:srgbClr val="c84f2f"/>
                </a:solidFill>
                <a:latin typeface="Cambria"/>
                <a:ea typeface="Cambria"/>
              </a:rPr>
              <a:t>Length k = √9 = 3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Take the SQUARE ROOT of the area ratio to get the length ratio.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44"/>
          <p:cNvSpPr/>
          <p:nvPr/>
        </p:nvSpPr>
        <p:spPr>
          <a:xfrm>
            <a:off x="6190560" y="219456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6556320" y="243216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From VOLUME → length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 46"/>
          <p:cNvSpPr/>
          <p:nvPr/>
        </p:nvSpPr>
        <p:spPr>
          <a:xfrm>
            <a:off x="6537960" y="2926080"/>
            <a:ext cx="475452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Volume scale factor = 27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50" spc="-1" strike="noStrike">
                <a:solidFill>
                  <a:srgbClr val="c84f2f"/>
                </a:solidFill>
                <a:latin typeface="Cambria"/>
                <a:ea typeface="Cambria"/>
              </a:rPr>
              <a:t>Length k = ³√27 = 3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Take the CUBE ROOT of the volume ratio to get the length ratio.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47"/>
          <p:cNvSpPr/>
          <p:nvPr/>
        </p:nvSpPr>
        <p:spPr>
          <a:xfrm>
            <a:off x="567000" y="553212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 48"/>
          <p:cNvSpPr/>
          <p:nvPr/>
        </p:nvSpPr>
        <p:spPr>
          <a:xfrm>
            <a:off x="841320" y="553212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Length ← √(area)   ·   Length ← ³√(volume).   Find the length SF first, then go where you need.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SUMMARY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One Table to Remember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39"/>
          <p:cNvSpPr/>
          <p:nvPr/>
        </p:nvSpPr>
        <p:spPr>
          <a:xfrm>
            <a:off x="567000" y="129852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Text 40"/>
          <p:cNvSpPr/>
          <p:nvPr/>
        </p:nvSpPr>
        <p:spPr>
          <a:xfrm>
            <a:off x="887040" y="129852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Everything flows from the LENGTH scale factor k.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41"/>
          <p:cNvSpPr/>
          <p:nvPr/>
        </p:nvSpPr>
        <p:spPr>
          <a:xfrm>
            <a:off x="567000" y="2148840"/>
            <a:ext cx="3337200" cy="50256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Text 42"/>
          <p:cNvSpPr/>
          <p:nvPr/>
        </p:nvSpPr>
        <p:spPr>
          <a:xfrm>
            <a:off x="676800" y="2148840"/>
            <a:ext cx="3117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mbria"/>
                <a:ea typeface="Cambria"/>
              </a:rPr>
              <a:t>Quantity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43"/>
          <p:cNvSpPr/>
          <p:nvPr/>
        </p:nvSpPr>
        <p:spPr>
          <a:xfrm>
            <a:off x="4114800" y="2148840"/>
            <a:ext cx="3337200" cy="50256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 44"/>
          <p:cNvSpPr/>
          <p:nvPr/>
        </p:nvSpPr>
        <p:spPr>
          <a:xfrm>
            <a:off x="4224600" y="2148840"/>
            <a:ext cx="3117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mbria"/>
                <a:ea typeface="Cambria"/>
              </a:rPr>
              <a:t>Scale factor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45"/>
          <p:cNvSpPr/>
          <p:nvPr/>
        </p:nvSpPr>
        <p:spPr>
          <a:xfrm>
            <a:off x="7680960" y="2148840"/>
            <a:ext cx="3949920" cy="50256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Text 46"/>
          <p:cNvSpPr/>
          <p:nvPr/>
        </p:nvSpPr>
        <p:spPr>
          <a:xfrm>
            <a:off x="7790760" y="2148840"/>
            <a:ext cx="3730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mbria"/>
                <a:ea typeface="Cambria"/>
              </a:rPr>
              <a:t>To go backwards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47"/>
          <p:cNvSpPr/>
          <p:nvPr/>
        </p:nvSpPr>
        <p:spPr>
          <a:xfrm>
            <a:off x="567000" y="2679120"/>
            <a:ext cx="333720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 48"/>
          <p:cNvSpPr/>
          <p:nvPr/>
        </p:nvSpPr>
        <p:spPr>
          <a:xfrm>
            <a:off x="704160" y="2679120"/>
            <a:ext cx="30628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Length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49"/>
          <p:cNvSpPr/>
          <p:nvPr/>
        </p:nvSpPr>
        <p:spPr>
          <a:xfrm>
            <a:off x="4114800" y="2679120"/>
            <a:ext cx="333720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 50"/>
          <p:cNvSpPr/>
          <p:nvPr/>
        </p:nvSpPr>
        <p:spPr>
          <a:xfrm>
            <a:off x="4251960" y="2679120"/>
            <a:ext cx="30628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× 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51"/>
          <p:cNvSpPr/>
          <p:nvPr/>
        </p:nvSpPr>
        <p:spPr>
          <a:xfrm>
            <a:off x="7680960" y="2679120"/>
            <a:ext cx="394992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 52"/>
          <p:cNvSpPr/>
          <p:nvPr/>
        </p:nvSpPr>
        <p:spPr>
          <a:xfrm>
            <a:off x="7818120" y="2679120"/>
            <a:ext cx="3675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—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53"/>
          <p:cNvSpPr/>
          <p:nvPr/>
        </p:nvSpPr>
        <p:spPr>
          <a:xfrm>
            <a:off x="567000" y="3429000"/>
            <a:ext cx="333720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 54"/>
          <p:cNvSpPr/>
          <p:nvPr/>
        </p:nvSpPr>
        <p:spPr>
          <a:xfrm>
            <a:off x="704160" y="3429000"/>
            <a:ext cx="30628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Area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55"/>
          <p:cNvSpPr/>
          <p:nvPr/>
        </p:nvSpPr>
        <p:spPr>
          <a:xfrm>
            <a:off x="4114800" y="3429000"/>
            <a:ext cx="333720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 56"/>
          <p:cNvSpPr/>
          <p:nvPr/>
        </p:nvSpPr>
        <p:spPr>
          <a:xfrm>
            <a:off x="4251960" y="3429000"/>
            <a:ext cx="30628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× k²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57"/>
          <p:cNvSpPr/>
          <p:nvPr/>
        </p:nvSpPr>
        <p:spPr>
          <a:xfrm>
            <a:off x="7680960" y="3429000"/>
            <a:ext cx="394992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 58"/>
          <p:cNvSpPr/>
          <p:nvPr/>
        </p:nvSpPr>
        <p:spPr>
          <a:xfrm>
            <a:off x="7818120" y="3429000"/>
            <a:ext cx="3675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take the square root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59"/>
          <p:cNvSpPr/>
          <p:nvPr/>
        </p:nvSpPr>
        <p:spPr>
          <a:xfrm>
            <a:off x="567000" y="4178880"/>
            <a:ext cx="333720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 60"/>
          <p:cNvSpPr/>
          <p:nvPr/>
        </p:nvSpPr>
        <p:spPr>
          <a:xfrm>
            <a:off x="704160" y="4178880"/>
            <a:ext cx="30628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Volume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61"/>
          <p:cNvSpPr/>
          <p:nvPr/>
        </p:nvSpPr>
        <p:spPr>
          <a:xfrm>
            <a:off x="4114800" y="4178880"/>
            <a:ext cx="333720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 62"/>
          <p:cNvSpPr/>
          <p:nvPr/>
        </p:nvSpPr>
        <p:spPr>
          <a:xfrm>
            <a:off x="4251960" y="4178880"/>
            <a:ext cx="30628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× k³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63"/>
          <p:cNvSpPr/>
          <p:nvPr/>
        </p:nvSpPr>
        <p:spPr>
          <a:xfrm>
            <a:off x="7680960" y="4178880"/>
            <a:ext cx="394992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 64"/>
          <p:cNvSpPr/>
          <p:nvPr/>
        </p:nvSpPr>
        <p:spPr>
          <a:xfrm>
            <a:off x="7818120" y="4178880"/>
            <a:ext cx="3675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take the cube root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 65"/>
          <p:cNvSpPr/>
          <p:nvPr/>
        </p:nvSpPr>
        <p:spPr>
          <a:xfrm>
            <a:off x="567000" y="512064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Most mistakes: using k for area or volume. Always square for area, cube for volume.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66"/>
          <p:cNvSpPr/>
          <p:nvPr/>
        </p:nvSpPr>
        <p:spPr>
          <a:xfrm>
            <a:off x="567000" y="5623560"/>
            <a:ext cx="11063880" cy="77688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 67"/>
          <p:cNvSpPr/>
          <p:nvPr/>
        </p:nvSpPr>
        <p:spPr>
          <a:xfrm>
            <a:off x="841320" y="5623560"/>
            <a:ext cx="10515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Same material? Then mass scales like volume — × k³.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Find the length scale factor, then square for area or cube for volume.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Length SF from a pair of sides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Area → × k²  (or √ to reverse)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Volume/capacity/mass → × k³  (or ³√)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Show the power clearly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39"/>
          <p:cNvSpPr/>
          <p:nvPr/>
        </p:nvSpPr>
        <p:spPr>
          <a:xfrm>
            <a:off x="1450800" y="1408320"/>
            <a:ext cx="9289800" cy="4355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1" name="Image 0" descr="/tmp/work/smq/q-36.png"/>
          <p:cNvPicPr/>
          <p:nvPr/>
        </p:nvPicPr>
        <p:blipFill>
          <a:blip r:embed="rId1"/>
          <a:stretch/>
        </p:blipFill>
        <p:spPr>
          <a:xfrm>
            <a:off x="1523880" y="1481400"/>
            <a:ext cx="9143640" cy="4209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39"/>
          <p:cNvSpPr/>
          <p:nvPr/>
        </p:nvSpPr>
        <p:spPr>
          <a:xfrm>
            <a:off x="1612080" y="1408320"/>
            <a:ext cx="89668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02" name="Image 0" descr="/tmp/work/smq/q-37.png"/>
          <p:cNvPicPr/>
          <p:nvPr/>
        </p:nvPicPr>
        <p:blipFill>
          <a:blip r:embed="rId1"/>
          <a:stretch/>
        </p:blipFill>
        <p:spPr>
          <a:xfrm>
            <a:off x="1685520" y="1481400"/>
            <a:ext cx="88203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39"/>
          <p:cNvSpPr/>
          <p:nvPr/>
        </p:nvSpPr>
        <p:spPr>
          <a:xfrm>
            <a:off x="4265280" y="1408320"/>
            <a:ext cx="36604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3" name="Image 0" descr="/tmp/work/smq/q-38.png"/>
          <p:cNvPicPr/>
          <p:nvPr/>
        </p:nvPicPr>
        <p:blipFill>
          <a:blip r:embed="rId1"/>
          <a:stretch/>
        </p:blipFill>
        <p:spPr>
          <a:xfrm>
            <a:off x="4338720" y="1481400"/>
            <a:ext cx="35139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39"/>
          <p:cNvSpPr/>
          <p:nvPr/>
        </p:nvSpPr>
        <p:spPr>
          <a:xfrm>
            <a:off x="1783440" y="1408320"/>
            <a:ext cx="86241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4" name="Image 0" descr="/tmp/work/smq/q-39.png"/>
          <p:cNvPicPr/>
          <p:nvPr/>
        </p:nvPicPr>
        <p:blipFill>
          <a:blip r:embed="rId1"/>
          <a:stretch/>
        </p:blipFill>
        <p:spPr>
          <a:xfrm>
            <a:off x="1856880" y="1481400"/>
            <a:ext cx="84780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39"/>
          <p:cNvSpPr/>
          <p:nvPr/>
        </p:nvSpPr>
        <p:spPr>
          <a:xfrm>
            <a:off x="2472120" y="1408320"/>
            <a:ext cx="72468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5" name="Image 0" descr="/tmp/work/smq/q-40.png"/>
          <p:cNvPicPr/>
          <p:nvPr/>
        </p:nvPicPr>
        <p:blipFill>
          <a:blip r:embed="rId1"/>
          <a:stretch/>
        </p:blipFill>
        <p:spPr>
          <a:xfrm>
            <a:off x="2545560" y="1481400"/>
            <a:ext cx="71006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39"/>
          <p:cNvSpPr/>
          <p:nvPr/>
        </p:nvSpPr>
        <p:spPr>
          <a:xfrm>
            <a:off x="2524320" y="1408320"/>
            <a:ext cx="71424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6" name="Image 0" descr="/tmp/work/smq/q-41.png"/>
          <p:cNvPicPr/>
          <p:nvPr/>
        </p:nvPicPr>
        <p:blipFill>
          <a:blip r:embed="rId1"/>
          <a:stretch/>
        </p:blipFill>
        <p:spPr>
          <a:xfrm>
            <a:off x="2597760" y="1481400"/>
            <a:ext cx="69962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Shape 39"/>
          <p:cNvSpPr/>
          <p:nvPr/>
        </p:nvSpPr>
        <p:spPr>
          <a:xfrm>
            <a:off x="1679040" y="1408320"/>
            <a:ext cx="88333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7" name="Image 0" descr="/tmp/work/smq/q-42.png"/>
          <p:cNvPicPr/>
          <p:nvPr/>
        </p:nvPicPr>
        <p:blipFill>
          <a:blip r:embed="rId1"/>
          <a:stretch/>
        </p:blipFill>
        <p:spPr>
          <a:xfrm>
            <a:off x="1752120" y="1481400"/>
            <a:ext cx="86871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39"/>
          <p:cNvSpPr/>
          <p:nvPr/>
        </p:nvSpPr>
        <p:spPr>
          <a:xfrm>
            <a:off x="3105720" y="1408320"/>
            <a:ext cx="59799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8" name="Image 0" descr="/tmp/work/smq/q-43.png"/>
          <p:cNvPicPr/>
          <p:nvPr/>
        </p:nvPicPr>
        <p:blipFill>
          <a:blip r:embed="rId1"/>
          <a:stretch/>
        </p:blipFill>
        <p:spPr>
          <a:xfrm>
            <a:off x="3178800" y="1481400"/>
            <a:ext cx="58334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9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39"/>
          <p:cNvSpPr/>
          <p:nvPr/>
        </p:nvSpPr>
        <p:spPr>
          <a:xfrm>
            <a:off x="2627280" y="1408320"/>
            <a:ext cx="69364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9" name="Image 0" descr="/tmp/work/smq/q-44.png"/>
          <p:cNvPicPr/>
          <p:nvPr/>
        </p:nvPicPr>
        <p:blipFill>
          <a:blip r:embed="rId1"/>
          <a:stretch/>
        </p:blipFill>
        <p:spPr>
          <a:xfrm>
            <a:off x="2700720" y="1481400"/>
            <a:ext cx="67903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10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39"/>
          <p:cNvSpPr/>
          <p:nvPr/>
        </p:nvSpPr>
        <p:spPr>
          <a:xfrm>
            <a:off x="1450800" y="1408320"/>
            <a:ext cx="9289800" cy="510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0" name="Image 0" descr="/tmp/work/smq/q-45.png"/>
          <p:cNvPicPr/>
          <p:nvPr/>
        </p:nvPicPr>
        <p:blipFill>
          <a:blip r:embed="rId1"/>
          <a:stretch/>
        </p:blipFill>
        <p:spPr>
          <a:xfrm>
            <a:off x="1523880" y="1481400"/>
            <a:ext cx="9143640" cy="4959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39"/>
          <p:cNvSpPr/>
          <p:nvPr/>
        </p:nvSpPr>
        <p:spPr>
          <a:xfrm>
            <a:off x="1789920" y="1408320"/>
            <a:ext cx="86115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1" name="Image 0" descr="/tmp/work/smq/q-46.png"/>
          <p:cNvPicPr/>
          <p:nvPr/>
        </p:nvPicPr>
        <p:blipFill>
          <a:blip r:embed="rId1"/>
          <a:stretch/>
        </p:blipFill>
        <p:spPr>
          <a:xfrm>
            <a:off x="1863000" y="1481400"/>
            <a:ext cx="84650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39"/>
          <p:cNvSpPr/>
          <p:nvPr/>
        </p:nvSpPr>
        <p:spPr>
          <a:xfrm>
            <a:off x="1903320" y="1408320"/>
            <a:ext cx="83851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2" name="Image 0" descr="/tmp/work/smq/q-47.png"/>
          <p:cNvPicPr/>
          <p:nvPr/>
        </p:nvPicPr>
        <p:blipFill>
          <a:blip r:embed="rId1"/>
          <a:stretch/>
        </p:blipFill>
        <p:spPr>
          <a:xfrm>
            <a:off x="1976400" y="1481400"/>
            <a:ext cx="82386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9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3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Enlarging by length scale factor k: area × k² and volume × k³.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Always find the LENGTH scale factor first, then square or cube it.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Surface area scales by k²;  capacity and mass (same material) scale by k³.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8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9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Working backwards: length = √(area ratio) = ³√(volume ratio).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1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Never use k by itself for an area or a volume — that is the classic mistake.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2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3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length ×k, area ×k², volume ×k³ — and take roots to reverse it.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2026-07-16T10:12:27Z</dcterms:created>
  <dc:creator>Zahra Sheikh Ali</dc:creator>
  <dc:description/>
  <dc:language>en-US</dc:language>
  <cp:lastModifiedBy>Zahra Sheikh Ali</cp:lastModifiedBy>
  <dcterms:modified xsi:type="dcterms:W3CDTF">2026-07-16T10:12:27Z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22</vt:r8>
  </property>
  <property fmtid="{D5CDD505-2E9C-101B-9397-08002B2CF9AE}" pid="3" name="PresentationFormat">
    <vt:lpwstr>On-screen Show (16:9)</vt:lpwstr>
  </property>
  <property fmtid="{D5CDD505-2E9C-101B-9397-08002B2CF9AE}" pid="4" name="Slides">
    <vt:r8>22</vt:r8>
  </property>
</Properties>
</file>