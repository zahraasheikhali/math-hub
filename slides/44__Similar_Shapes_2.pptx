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1554480"/>
            <a:ext cx="822960" cy="822960"/>
          </a:xfrm>
          <a:prstGeom prst="rect">
            <a:avLst/>
          </a:prstGeom>
          <a:ln w="38100">
            <a:solidFill>
              <a:srgbClr val="3346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4080" y="914400"/>
            <a:ext cx="1554480" cy="1554480"/>
          </a:xfrm>
          <a:prstGeom prst="rect">
            <a:avLst/>
          </a:prstGeom>
          <a:ln w="38100">
            <a:solidFill>
              <a:srgbClr val="3346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Shapes: Area &amp; Volume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Scale Factor k² · Volume Scale Factor k³ · Working Backwards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</a:t>
            </a:r>
            <a:pPr indent="0" marL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Length, Area &amp; Volume Grow Differently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enlarge a shape by a scale factor k, the AREA and VOLUME grow FASTER.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by k², volume by k³. This one idea answers every question here.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× k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× k²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× k³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backwards (roots)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summary table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pPr algn="ctr"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scale factor · area scale factor · volume scale factor · k² · k³ · square root · cube root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×k, Area ×k², Volume ×k³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258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a cube by scale factor k = 3.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lengths triple, but the area and volume grow much faster.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371600" y="2651760"/>
            <a:ext cx="1143000" cy="365760"/>
          </a:xfrm>
          <a:custGeom>
            <a:avLst/>
            <a:gdLst/>
            <a:ahLst/>
            <a:cxnLst/>
            <a:rect l="l" t="t" r="r" b="b"/>
            <a:pathLst>
              <a:path w="1143000" h="365760">
                <a:moveTo>
                  <a:pt x="0" y="365760"/>
                </a:moveTo>
                <a:lnTo>
                  <a:pt x="365760" y="0"/>
                </a:lnTo>
                <a:lnTo>
                  <a:pt x="1143000" y="0"/>
                </a:lnTo>
                <a:lnTo>
                  <a:pt x="777240" y="365760"/>
                </a:lnTo>
                <a:close/>
              </a:path>
            </a:pathLst>
          </a:custGeom>
          <a:solidFill>
            <a:srgbClr val="FBF3DD">
              <a:alpha val="80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2651760"/>
            <a:ext cx="365760" cy="1143000"/>
          </a:xfrm>
          <a:custGeom>
            <a:avLst/>
            <a:gdLst/>
            <a:ahLst/>
            <a:cxnLst/>
            <a:rect l="l" t="t" r="r" b="b"/>
            <a:pathLst>
              <a:path w="365760" h="1143000">
                <a:moveTo>
                  <a:pt x="0" y="365760"/>
                </a:moveTo>
                <a:lnTo>
                  <a:pt x="365760" y="0"/>
                </a:lnTo>
                <a:lnTo>
                  <a:pt x="365760" y="777240"/>
                </a:lnTo>
                <a:lnTo>
                  <a:pt x="0" y="1143000"/>
                </a:lnTo>
                <a:close/>
              </a:path>
            </a:pathLst>
          </a:custGeom>
          <a:solidFill>
            <a:srgbClr val="EEF1E8">
              <a:alpha val="65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3017520"/>
            <a:ext cx="777240" cy="777240"/>
          </a:xfrm>
          <a:prstGeom prst="rect">
            <a:avLst/>
          </a:prstGeom>
          <a:solidFill>
            <a:srgbClr val="EEF1E8">
              <a:alpha val="85000"/>
            </a:srgbClr>
          </a:solidFill>
          <a:ln w="2413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cm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9728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063240" y="3246120"/>
            <a:ext cx="1051560" cy="0"/>
          </a:xfrm>
          <a:prstGeom prst="line">
            <a:avLst/>
          </a:prstGeom>
          <a:noFill/>
          <a:ln w="381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06324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297680" y="2148840"/>
            <a:ext cx="2468880" cy="777240"/>
          </a:xfrm>
          <a:custGeom>
            <a:avLst/>
            <a:gdLst/>
            <a:ahLst/>
            <a:cxnLst/>
            <a:rect l="l" t="t" r="r" b="b"/>
            <a:pathLst>
              <a:path w="2468880" h="777240">
                <a:moveTo>
                  <a:pt x="0" y="777240"/>
                </a:moveTo>
                <a:lnTo>
                  <a:pt x="777240" y="0"/>
                </a:lnTo>
                <a:lnTo>
                  <a:pt x="2468880" y="0"/>
                </a:lnTo>
                <a:lnTo>
                  <a:pt x="1691640" y="777240"/>
                </a:lnTo>
                <a:close/>
              </a:path>
            </a:pathLst>
          </a:custGeom>
          <a:solidFill>
            <a:srgbClr val="FBF3DD">
              <a:alpha val="80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2148840"/>
            <a:ext cx="777240" cy="2468880"/>
          </a:xfrm>
          <a:custGeom>
            <a:avLst/>
            <a:gdLst/>
            <a:ahLst/>
            <a:cxnLst/>
            <a:rect l="l" t="t" r="r" b="b"/>
            <a:pathLst>
              <a:path w="777240" h="2468880">
                <a:moveTo>
                  <a:pt x="0" y="777240"/>
                </a:moveTo>
                <a:lnTo>
                  <a:pt x="777240" y="0"/>
                </a:lnTo>
                <a:lnTo>
                  <a:pt x="777240" y="1691640"/>
                </a:lnTo>
                <a:lnTo>
                  <a:pt x="0" y="2468880"/>
                </a:lnTo>
                <a:close/>
              </a:path>
            </a:pathLst>
          </a:custGeom>
          <a:solidFill>
            <a:srgbClr val="FBF3DD">
              <a:alpha val="65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97680" y="2926080"/>
            <a:ext cx="1691640" cy="1691640"/>
          </a:xfrm>
          <a:prstGeom prst="rect">
            <a:avLst/>
          </a:prstGeom>
          <a:solidFill>
            <a:srgbClr val="FBF3DD">
              <a:alpha val="85000"/>
            </a:srgbClr>
          </a:solidFill>
          <a:ln w="24130">
            <a:solidFill>
              <a:srgbClr val="1C2A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114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0" y="219456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23408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315200" y="2651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3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7315200" y="32186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length triples (k)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315200" y="365760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15200" y="380390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315200" y="41148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9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7315200" y="46817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face: 3² = 9 (k²)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315200" y="512064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315200" y="52669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315200" y="55778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27</a:t>
            </a:r>
            <a:endParaRPr lang="en-US" sz="3000" dirty="0"/>
          </a:p>
        </p:txBody>
      </p:sp>
      <p:sp>
        <p:nvSpPr>
          <p:cNvPr id="66" name="Text 64"/>
          <p:cNvSpPr/>
          <p:nvPr/>
        </p:nvSpPr>
        <p:spPr>
          <a:xfrm>
            <a:off x="7315200" y="6144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solid: 3³ = 27 (k³)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shape 3 times as long has 9 times the area and 27 times the volume.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Scale Factors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LENGTH scale factor is k, then…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6928" y="2377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566928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841248" y="4069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sides, heights, radii, perimeters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15968" y="21488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315968" y="2377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4315968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k²</a:t>
            </a:r>
            <a:endParaRPr lang="en-US" sz="4400" dirty="0"/>
          </a:p>
        </p:txBody>
      </p:sp>
      <p:sp>
        <p:nvSpPr>
          <p:cNvPr id="50" name="Text 48"/>
          <p:cNvSpPr/>
          <p:nvPr/>
        </p:nvSpPr>
        <p:spPr>
          <a:xfrm>
            <a:off x="4590288" y="4069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area, cross-section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65008" y="214884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065008" y="2377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8065008" y="29718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k³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8339328" y="40690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mass (same material)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5532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41248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× k    →    Area × k²    →    Volume × k³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SCALE FACTOR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Area × k²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 </a:t>
            </a:r>
            <a:pPr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rectangles are similar. Their matching sides are 5 cm and 15 cm. The small rectangle has area 8 cm</a:t>
            </a:r>
            <a:pPr indent="0" marL="0">
              <a:buNone/>
            </a:pPr>
            <a:r>
              <a:rPr lang="en-US" sz="1450" baseline="300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Work out the area of the large rectangle.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1188720" y="3017520"/>
            <a:ext cx="1463040" cy="1143000"/>
          </a:xfrm>
          <a:prstGeom prst="rect">
            <a:avLst/>
          </a:prstGeom>
          <a:solidFill>
            <a:srgbClr val="EEF1E8">
              <a:alpha val="85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4206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88720" y="32004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cm²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971800" y="3749040"/>
            <a:ext cx="640080" cy="0"/>
          </a:xfrm>
          <a:prstGeom prst="line">
            <a:avLst/>
          </a:prstGeom>
          <a:noFill/>
          <a:ln w="3175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931920" y="2788920"/>
            <a:ext cx="2286000" cy="1783080"/>
          </a:xfrm>
          <a:prstGeom prst="rect">
            <a:avLst/>
          </a:prstGeom>
          <a:solidFill>
            <a:srgbClr val="FBF3DD">
              <a:alpha val="85000"/>
            </a:srgbClr>
          </a:solidFill>
          <a:ln w="25400">
            <a:solidFill>
              <a:srgbClr val="1C2A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cm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30632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?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766560" y="2743200"/>
            <a:ext cx="4864608" cy="2834640"/>
          </a:xfrm>
          <a:prstGeom prst="roundRect">
            <a:avLst>
              <a:gd name="adj" fmla="val 1935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132320" y="29809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7086600" y="342900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Length scale factor: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 = 15 ÷ 5 = 3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Area scale factor: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k² = 3² = 9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Large area = 8 × 9 =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cm²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566928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841248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Square the length scale factor to get the AREA scale factor:  area × k².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SCALE FACTOR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Volume × k³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258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Q:  </a:t>
            </a:r>
            <a:pPr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solids are mathematically similar. Their matching edges are 2 cm and 6 cm. The small solid has volume 8 cm</a:t>
            </a:r>
            <a:pPr indent="0" marL="0">
              <a:buNone/>
            </a:pPr>
            <a:r>
              <a:rPr lang="en-US" sz="1450" baseline="300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pPr indent="0" marL="0">
              <a:buNone/>
            </a:pPr>
            <a:r>
              <a:rPr lang="en-US" sz="145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 Work out the volume of the large solid.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1280160" y="3063240"/>
            <a:ext cx="1234440" cy="411480"/>
          </a:xfrm>
          <a:custGeom>
            <a:avLst/>
            <a:gdLst/>
            <a:ahLst/>
            <a:cxnLst/>
            <a:rect l="l" t="t" r="r" b="b"/>
            <a:pathLst>
              <a:path w="1234440" h="411480">
                <a:moveTo>
                  <a:pt x="0" y="411480"/>
                </a:moveTo>
                <a:lnTo>
                  <a:pt x="411480" y="0"/>
                </a:lnTo>
                <a:lnTo>
                  <a:pt x="1234440" y="0"/>
                </a:lnTo>
                <a:lnTo>
                  <a:pt x="822960" y="411480"/>
                </a:lnTo>
                <a:close/>
              </a:path>
            </a:pathLst>
          </a:custGeom>
          <a:solidFill>
            <a:srgbClr val="FBF3DD">
              <a:alpha val="80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3063240"/>
            <a:ext cx="411480" cy="1234440"/>
          </a:xfrm>
          <a:custGeom>
            <a:avLst/>
            <a:gdLst/>
            <a:ahLst/>
            <a:cxnLst/>
            <a:rect l="l" t="t" r="r" b="b"/>
            <a:pathLst>
              <a:path w="411480" h="1234440">
                <a:moveTo>
                  <a:pt x="0" y="411480"/>
                </a:moveTo>
                <a:lnTo>
                  <a:pt x="411480" y="0"/>
                </a:lnTo>
                <a:lnTo>
                  <a:pt x="411480" y="822960"/>
                </a:lnTo>
                <a:lnTo>
                  <a:pt x="0" y="1234440"/>
                </a:lnTo>
                <a:close/>
              </a:path>
            </a:pathLst>
          </a:custGeom>
          <a:solidFill>
            <a:srgbClr val="EEF1E8">
              <a:alpha val="65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0160" y="3474720"/>
            <a:ext cx="822960" cy="822960"/>
          </a:xfrm>
          <a:prstGeom prst="rect">
            <a:avLst/>
          </a:prstGeom>
          <a:solidFill>
            <a:srgbClr val="EEF1E8">
              <a:alpha val="85000"/>
            </a:srgbClr>
          </a:solidFill>
          <a:ln w="24130">
            <a:solidFill>
              <a:srgbClr val="1C2A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4343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617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8 cm³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17520" y="3657600"/>
            <a:ext cx="640080" cy="0"/>
          </a:xfrm>
          <a:prstGeom prst="line">
            <a:avLst/>
          </a:prstGeom>
          <a:noFill/>
          <a:ln w="3175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023360" y="2606040"/>
            <a:ext cx="2331720" cy="731520"/>
          </a:xfrm>
          <a:custGeom>
            <a:avLst/>
            <a:gdLst/>
            <a:ahLst/>
            <a:cxnLst/>
            <a:rect l="l" t="t" r="r" b="b"/>
            <a:pathLst>
              <a:path w="2331720" h="731520">
                <a:moveTo>
                  <a:pt x="0" y="731520"/>
                </a:moveTo>
                <a:lnTo>
                  <a:pt x="731520" y="0"/>
                </a:lnTo>
                <a:lnTo>
                  <a:pt x="2331720" y="0"/>
                </a:lnTo>
                <a:lnTo>
                  <a:pt x="1600200" y="731520"/>
                </a:lnTo>
                <a:close/>
              </a:path>
            </a:pathLst>
          </a:custGeom>
          <a:solidFill>
            <a:srgbClr val="FBF3DD">
              <a:alpha val="80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23560" y="2606040"/>
            <a:ext cx="731520" cy="2331720"/>
          </a:xfrm>
          <a:custGeom>
            <a:avLst/>
            <a:gdLst/>
            <a:ahLst/>
            <a:cxnLst/>
            <a:rect l="l" t="t" r="r" b="b"/>
            <a:pathLst>
              <a:path w="731520" h="2331720">
                <a:moveTo>
                  <a:pt x="0" y="731520"/>
                </a:moveTo>
                <a:lnTo>
                  <a:pt x="731520" y="0"/>
                </a:lnTo>
                <a:lnTo>
                  <a:pt x="731520" y="1600200"/>
                </a:lnTo>
                <a:lnTo>
                  <a:pt x="0" y="2331720"/>
                </a:lnTo>
                <a:close/>
              </a:path>
            </a:pathLst>
          </a:custGeom>
          <a:solidFill>
            <a:srgbClr val="FBF3DD">
              <a:alpha val="65000"/>
            </a:srgbClr>
          </a:solidFill>
          <a:ln w="22860">
            <a:solidFill>
              <a:srgbClr val="1C2A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23360" y="3337560"/>
            <a:ext cx="1600200" cy="1600200"/>
          </a:xfrm>
          <a:prstGeom prst="rect">
            <a:avLst/>
          </a:prstGeom>
          <a:solidFill>
            <a:srgbClr val="FBF3DD">
              <a:alpha val="85000"/>
            </a:srgbClr>
          </a:solidFill>
          <a:ln w="24130">
            <a:solidFill>
              <a:srgbClr val="1C2A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4892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cm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9319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= ?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766560" y="2743200"/>
            <a:ext cx="4864608" cy="2834640"/>
          </a:xfrm>
          <a:prstGeom prst="roundRect">
            <a:avLst>
              <a:gd name="adj" fmla="val 1935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132320" y="2980944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7086600" y="342900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Length scale factor: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 = 6 ÷ 2 = 3</a:t>
            </a:r>
            <a:endParaRPr lang="en-US" sz="14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Volume scale factor: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k³ = 3³ = 27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Large volume = 8 × 27 = </a:t>
            </a:r>
            <a:pPr indent="0" marL="0">
              <a:buNone/>
            </a:pPr>
            <a:r>
              <a:rPr lang="en-US" sz="14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 cm³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566928" y="5806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41248" y="5806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Cube the length scale factor to get the VOLUME scale factor:  volume × k³.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Area or Volume to Length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AREA or VOLUME ratio, find the LENGTH scale factor by taking a ROOT. </a:t>
            </a:r>
            <a:pPr algn="l" indent="0" marL="0">
              <a:buNone/>
            </a:pP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the power.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AREA → length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scale factor = 9</a:t>
            </a:r>
            <a:endParaRPr lang="en-US" sz="15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k = √9 = 3</a:t>
            </a:r>
            <a:endParaRPr lang="en-US" sz="1550" dirty="0"/>
          </a:p>
          <a:p>
            <a:pPr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SQUARE ROOT of the area ratio to get the length ratio.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6190488" y="219456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VOLUME → length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scale factor = 27</a:t>
            </a:r>
            <a:endParaRPr lang="en-US" sz="15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k = ³√27 = 3</a:t>
            </a:r>
            <a:endParaRPr lang="en-US" sz="1550" dirty="0"/>
          </a:p>
          <a:p>
            <a:pPr indent="0" marL="0">
              <a:buNone/>
            </a:pPr>
            <a:r>
              <a:rPr lang="en-US" sz="130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CUBE ROOT of the volume ratio to get the length ratio.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566928" y="553212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← √(area)   ·   Length ← ³√(volume).   Find the length SF first, then go where you need.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Table to Remember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flows from the LENGTH scale factor k.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333756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1488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4114800" y="2148840"/>
            <a:ext cx="333756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4224528" y="21488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factor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680960" y="2148840"/>
            <a:ext cx="3950208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7790688" y="214884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go backwards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566928" y="2679192"/>
            <a:ext cx="333756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267919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4114800" y="2679192"/>
            <a:ext cx="333756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1960" y="267919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680960" y="2679192"/>
            <a:ext cx="395020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18120" y="267919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66928" y="3429000"/>
            <a:ext cx="333756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" y="342900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4114800" y="3429000"/>
            <a:ext cx="3337560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51960" y="342900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k²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680960" y="3429000"/>
            <a:ext cx="3950208" cy="71323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18120" y="342900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square root</a:t>
            </a:r>
            <a:endParaRPr lang="en-US" sz="1450" dirty="0"/>
          </a:p>
        </p:txBody>
      </p:sp>
      <p:sp>
        <p:nvSpPr>
          <p:cNvPr id="61" name="Shape 59"/>
          <p:cNvSpPr/>
          <p:nvPr/>
        </p:nvSpPr>
        <p:spPr>
          <a:xfrm>
            <a:off x="566928" y="4178808"/>
            <a:ext cx="333756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4088" y="417880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450" dirty="0"/>
          </a:p>
        </p:txBody>
      </p:sp>
      <p:sp>
        <p:nvSpPr>
          <p:cNvPr id="63" name="Shape 61"/>
          <p:cNvSpPr/>
          <p:nvPr/>
        </p:nvSpPr>
        <p:spPr>
          <a:xfrm>
            <a:off x="4114800" y="4178808"/>
            <a:ext cx="3337560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51960" y="417880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k³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7680960" y="4178808"/>
            <a:ext cx="3950208" cy="71323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18120" y="417880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cube root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566928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mistakes: using k for area or volume. Always square for area, cube for volume.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66928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41248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material? Then mass scales like volume — × k³.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length scale factor, then square for area or cube for volume.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SF from a pair of sides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→ × k²  (or √ to reverse)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Volume/capacity/mass → × k³  (or ³√)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power clearly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50696" y="1408176"/>
            <a:ext cx="9290304" cy="4355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481328"/>
            <a:ext cx="9144000" cy="42093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12250" y="1408176"/>
            <a:ext cx="89671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402" y="1481328"/>
            <a:ext cx="88208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265452" y="1408176"/>
            <a:ext cx="3660792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8604" y="1481328"/>
            <a:ext cx="351448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783601" y="1408176"/>
            <a:ext cx="8624494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753" y="1481328"/>
            <a:ext cx="847819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5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72244" y="1408176"/>
            <a:ext cx="724720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396" y="1481328"/>
            <a:ext cx="710090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6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24482" y="1408176"/>
            <a:ext cx="7142731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634" y="1481328"/>
            <a:ext cx="6996427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7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678969" y="1408176"/>
            <a:ext cx="883375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121" y="1481328"/>
            <a:ext cx="868745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8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105775" y="1408176"/>
            <a:ext cx="5980145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927" y="1481328"/>
            <a:ext cx="5833841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27401" y="1408176"/>
            <a:ext cx="6936893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553" y="1481328"/>
            <a:ext cx="6790589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10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450696" y="1408176"/>
            <a:ext cx="9290304" cy="510641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481328"/>
            <a:ext cx="9144000" cy="4960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789950" y="1408176"/>
            <a:ext cx="8611796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102" y="1481328"/>
            <a:ext cx="846549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903163" y="1408176"/>
            <a:ext cx="8385369" cy="5221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2" name="Image 0" descr="/tmp/work/smq/q-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315" y="1481328"/>
            <a:ext cx="823906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Enlarging by length scale factor k: area × k² and volume × k³.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find the LENGTH scale factor first, then square or cube it.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 scales by k²;  capacity and mass (same material) scale by k³.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backwards: length = √(area ratio) = ³√(volume ratio).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k by itself for an area or a volume — that is the classic mistake.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pPr algn="ctr" indent="0" marL="0">
              <a:buNone/>
            </a:pP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×k, area ×k², volume ×k³ — and take roots to reverse 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 Sheikh Ali</cp:lastModifiedBy>
  <cp:revision>1</cp:revision>
  <dcterms:created xsi:type="dcterms:W3CDTF">2026-07-16T10:12:27Z</dcterms:created>
  <dcterms:modified xsi:type="dcterms:W3CDTF">2026-07-16T10:12:27Z</dcterms:modified>
</cp:coreProperties>
</file>