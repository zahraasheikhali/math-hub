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2.png" ContentType="image/png"/>
  <Override PartName="/ppt/media/image23.jpeg" ContentType="image/jpeg"/>
  <Override PartName="/ppt/media/image10.png" ContentType="image/png"/>
  <Override PartName="/ppt/media/image47.png" ContentType="image/png"/>
  <Override PartName="/ppt/media/image21.png" ContentType="image/png"/>
  <Override PartName="/ppt/media/image19.png" ContentType="image/png"/>
  <Override PartName="/ppt/media/image16.wmf" ContentType="image/x-wmf"/>
  <Override PartName="/ppt/media/image15.wmf" ContentType="image/x-wmf"/>
  <Override PartName="/ppt/media/image14.png" ContentType="image/png"/>
  <Override PartName="/ppt/media/image5.png" ContentType="image/png"/>
  <Override PartName="/ppt/media/image37.png" ContentType="image/png"/>
  <Override PartName="/ppt/media/image6.png" ContentType="image/png"/>
  <Override PartName="/ppt/media/image38.png" ContentType="image/png"/>
  <Override PartName="/ppt/media/image1.png" ContentType="image/png"/>
  <Override PartName="/ppt/media/image33.png" ContentType="image/png"/>
  <Override PartName="/ppt/media/image13.png" ContentType="image/png"/>
  <Override PartName="/ppt/media/image50.png" ContentType="image/png"/>
  <Override PartName="/ppt/media/image40.png" ContentType="image/png"/>
  <Override PartName="/ppt/media/image41.png" ContentType="image/png"/>
  <Override PartName="/ppt/media/image7.png" ContentType="image/png"/>
  <Override PartName="/ppt/media/image39.png" ContentType="image/png"/>
  <Override PartName="/ppt/media/image30.png" ContentType="image/png"/>
  <Override PartName="/ppt/media/image42.png" ContentType="image/png"/>
  <Override PartName="/ppt/media/image31.png" ContentType="image/png"/>
  <Override PartName="/ppt/media/image43.png" ContentType="image/png"/>
  <Override PartName="/ppt/media/image32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8.png" ContentType="image/png"/>
  <Override PartName="/ppt/media/image11.png" ContentType="image/png"/>
  <Override PartName="/ppt/media/image51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49.png" ContentType="image/png"/>
  <Override PartName="/ppt/media/image12.png" ContentType="image/png"/>
  <Override PartName="/ppt/media/image3.png" ContentType="image/png"/>
  <Override PartName="/ppt/media/image35.png" ContentType="image/png"/>
  <Override PartName="/ppt/media/image8.png" ContentType="image/png"/>
  <Override PartName="/ppt/media/image17.png" ContentType="image/png"/>
  <Override PartName="/ppt/media/image2.png" ContentType="image/png"/>
  <Override PartName="/ppt/media/image34.png" ContentType="image/p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notesSlides/_rels/notesSlide24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DFA207C-8E2D-4FBF-86C9-AC21C41A4AD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7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1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614A2C-9268-47FF-A60F-2277B0018C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7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4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F14CA6-B7D3-4F04-8AFC-B6000722C7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7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7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E79038-3448-437F-9F95-D469BEE5B0B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7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0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FFD22-BD01-4901-B937-8FB344A88E4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8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05B5BB-3224-48A7-B067-586790CBE9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8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118D58-DC41-4206-89CF-4792241BAA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8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9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DC29A9-D7ED-4832-943F-A2F196A3CC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9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6E299A-10CB-405D-BC3B-56864A8369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9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9F7A69-47C9-4C34-A989-CB92DB5A962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59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8" name="PlaceHolder 3"/>
          <p:cNvSpPr>
            <a:spLocks noGrp="1"/>
          </p:cNvSpPr>
          <p:nvPr>
            <p:ph type="sldNum" idx="1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83C6BE-2B21-404A-80BA-A531903402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0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1" name="PlaceHolder 3"/>
          <p:cNvSpPr>
            <a:spLocks noGrp="1"/>
          </p:cNvSpPr>
          <p:nvPr>
            <p:ph type="sldNum" idx="1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75B2E4-B998-4DA4-9F69-6AE6A79F00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0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4" name="PlaceHolder 3"/>
          <p:cNvSpPr>
            <a:spLocks noGrp="1"/>
          </p:cNvSpPr>
          <p:nvPr>
            <p:ph type="sldNum" idx="1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530CC0-8A16-4FAB-85D9-D0045FE1F52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0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7" name="PlaceHolder 3"/>
          <p:cNvSpPr>
            <a:spLocks noGrp="1"/>
          </p:cNvSpPr>
          <p:nvPr>
            <p:ph type="sldNum" idx="1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5FBAAA-19F3-46A0-B859-05F6BEEC63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0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" name="PlaceHolder 3"/>
          <p:cNvSpPr>
            <a:spLocks noGrp="1"/>
          </p:cNvSpPr>
          <p:nvPr>
            <p:ph type="sldNum" idx="1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FBE23C-F0F2-41EF-8DD9-2AFF8D3231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1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3" name="PlaceHolder 3"/>
          <p:cNvSpPr>
            <a:spLocks noGrp="1"/>
          </p:cNvSpPr>
          <p:nvPr>
            <p:ph type="sldNum" idx="1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247BCA-2477-42F3-A671-AFFF8C47056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1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6" name="PlaceHolder 3"/>
          <p:cNvSpPr>
            <a:spLocks noGrp="1"/>
          </p:cNvSpPr>
          <p:nvPr>
            <p:ph type="sldNum" idx="1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178302-4CCB-4B11-ACCB-F762CBD0FC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1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9" name="PlaceHolder 3"/>
          <p:cNvSpPr>
            <a:spLocks noGrp="1"/>
          </p:cNvSpPr>
          <p:nvPr>
            <p:ph type="sldNum" idx="2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2F09E-F68B-4A31-BE72-21CF0E421E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2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2" name="PlaceHolder 3"/>
          <p:cNvSpPr>
            <a:spLocks noGrp="1"/>
          </p:cNvSpPr>
          <p:nvPr>
            <p:ph type="sldNum" idx="2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1FE316-EE52-425F-AC5B-8AFF03E36AD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2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5" name="PlaceHolder 3"/>
          <p:cNvSpPr>
            <a:spLocks noGrp="1"/>
          </p:cNvSpPr>
          <p:nvPr>
            <p:ph type="sldNum" idx="2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21FC04-32E5-4F0A-8F3C-B37A8D0C2C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2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8" name="PlaceHolder 3"/>
          <p:cNvSpPr>
            <a:spLocks noGrp="1"/>
          </p:cNvSpPr>
          <p:nvPr>
            <p:ph type="sldNum" idx="2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71F52E-F3FE-4231-836F-91626D56F2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3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1" name="PlaceHolder 3"/>
          <p:cNvSpPr>
            <a:spLocks noGrp="1"/>
          </p:cNvSpPr>
          <p:nvPr>
            <p:ph type="sldNum" idx="2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728A47-5C8F-43FB-99C5-C036129E02B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3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" name="PlaceHolder 3"/>
          <p:cNvSpPr>
            <a:spLocks noGrp="1"/>
          </p:cNvSpPr>
          <p:nvPr>
            <p:ph type="sldNum" idx="2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A4DC57-FF72-42CF-A73C-711318567CF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36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7" name="PlaceHolder 3"/>
          <p:cNvSpPr>
            <a:spLocks noGrp="1"/>
          </p:cNvSpPr>
          <p:nvPr>
            <p:ph type="sldNum" idx="26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9DF371-9A9F-4CEB-BE8F-4267EE9717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39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0" name="PlaceHolder 3"/>
          <p:cNvSpPr>
            <a:spLocks noGrp="1"/>
          </p:cNvSpPr>
          <p:nvPr>
            <p:ph type="sldNum" idx="27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3C0E86-5BF5-4A2D-9747-F7CDCE26ECE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42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" name="PlaceHolder 3"/>
          <p:cNvSpPr>
            <a:spLocks noGrp="1"/>
          </p:cNvSpPr>
          <p:nvPr>
            <p:ph type="sldNum" idx="28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07EBDE-0F31-4A98-9F5A-901B1EEBC2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45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" name="PlaceHolder 3"/>
          <p:cNvSpPr>
            <a:spLocks noGrp="1"/>
          </p:cNvSpPr>
          <p:nvPr>
            <p:ph type="sldNum" idx="29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A4A9AC-7D99-4121-85F6-D8AAD8D57C9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48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9" name="PlaceHolder 3"/>
          <p:cNvSpPr>
            <a:spLocks noGrp="1"/>
          </p:cNvSpPr>
          <p:nvPr>
            <p:ph type="sldNum" idx="30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C71F3B-CDC3-480C-864C-F73D1B6708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51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2" name="PlaceHolder 3"/>
          <p:cNvSpPr>
            <a:spLocks noGrp="1"/>
          </p:cNvSpPr>
          <p:nvPr>
            <p:ph type="sldNum" idx="31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A1F611-6913-4742-9631-DE1A5C788F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54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5" name="PlaceHolder 3"/>
          <p:cNvSpPr>
            <a:spLocks noGrp="1"/>
          </p:cNvSpPr>
          <p:nvPr>
            <p:ph type="sldNum" idx="32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D2B210-D7A8-4772-8957-98BE6D3141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57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8" name="PlaceHolder 3"/>
          <p:cNvSpPr>
            <a:spLocks noGrp="1"/>
          </p:cNvSpPr>
          <p:nvPr>
            <p:ph type="sldNum" idx="33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D8B582-52B9-41AB-A415-E760F1ED72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60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1" name="PlaceHolder 3"/>
          <p:cNvSpPr>
            <a:spLocks noGrp="1"/>
          </p:cNvSpPr>
          <p:nvPr>
            <p:ph type="sldNum" idx="34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B0920C3-7F15-47A1-A236-FB740E0BB3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PlaceHolder 1"/>
          <p:cNvSpPr>
            <a:spLocks noGrp="1"/>
          </p:cNvSpPr>
          <p:nvPr>
            <p:ph type="sldImg"/>
          </p:nvPr>
        </p:nvSpPr>
        <p:spPr>
          <a:xfrm>
            <a:off x="-635040" y="914400"/>
            <a:ext cx="8127720" cy="4571640"/>
          </a:xfrm>
          <a:prstGeom prst="rect">
            <a:avLst/>
          </a:prstGeom>
          <a:ln w="0">
            <a:noFill/>
          </a:ln>
        </p:spPr>
      </p:sp>
      <p:sp>
        <p:nvSpPr>
          <p:cNvPr id="1663" name="PlaceHolder 2"/>
          <p:cNvSpPr>
            <a:spLocks noGrp="1"/>
          </p:cNvSpPr>
          <p:nvPr>
            <p:ph type="body"/>
          </p:nvPr>
        </p:nvSpPr>
        <p:spPr>
          <a:xfrm>
            <a:off x="685800" y="579132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4" name="PlaceHolder 3"/>
          <p:cNvSpPr>
            <a:spLocks noGrp="1"/>
          </p:cNvSpPr>
          <p:nvPr>
            <p:ph type="sldNum" idx="35"/>
          </p:nvPr>
        </p:nvSpPr>
        <p:spPr>
          <a:xfrm>
            <a:off x="3884760" y="11580840"/>
            <a:ext cx="2971440" cy="60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06984E-611B-4CD7-8A61-2A849147CB6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wmf"/><Relationship Id="rId2" Type="http://schemas.openxmlformats.org/officeDocument/2006/relationships/image" Target="../media/image16.wmf"/><Relationship Id="rId3" Type="http://schemas.openxmlformats.org/officeDocument/2006/relationships/oleObject" Target="../embeddings/oleObject1.bin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3.bin"/><Relationship Id="rId6" Type="http://schemas.openxmlformats.org/officeDocument/2006/relationships/oleObject" Target="../embeddings/oleObject4.bin"/><Relationship Id="rId7" Type="http://schemas.openxmlformats.org/officeDocument/2006/relationships/oleObject" Target="../embeddings/oleObject5.bin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6035040" y="1051560"/>
            <a:ext cx="5668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33463a"/>
                </a:solidFill>
                <a:latin typeface="Cambria"/>
                <a:ea typeface="Cambria"/>
              </a:rPr>
              <a:t>a² = b² + c² − 2bc cos A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Shape 36"/>
          <p:cNvSpPr/>
          <p:nvPr/>
        </p:nvSpPr>
        <p:spPr>
          <a:xfrm>
            <a:off x="777240" y="640080"/>
            <a:ext cx="658080" cy="658080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7"/>
          <p:cNvSpPr/>
          <p:nvPr/>
        </p:nvSpPr>
        <p:spPr>
          <a:xfrm>
            <a:off x="777240" y="640080"/>
            <a:ext cx="6580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6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38"/>
          <p:cNvSpPr/>
          <p:nvPr/>
        </p:nvSpPr>
        <p:spPr>
          <a:xfrm>
            <a:off x="1600200" y="60336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9" strike="noStrike">
                <a:solidFill>
                  <a:srgbClr val="e0ac2b"/>
                </a:solidFill>
                <a:latin typeface="Calibri"/>
                <a:ea typeface="Calibri"/>
              </a:rPr>
              <a:t>Zπ 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9"/>
          <p:cNvSpPr/>
          <p:nvPr/>
        </p:nvSpPr>
        <p:spPr>
          <a:xfrm>
            <a:off x="1600200" y="9144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c9d2c5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0"/>
          <p:cNvSpPr/>
          <p:nvPr/>
        </p:nvSpPr>
        <p:spPr>
          <a:xfrm>
            <a:off x="777240" y="2240280"/>
            <a:ext cx="10789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e0ac2b"/>
                </a:solidFill>
                <a:latin typeface="Cambria"/>
                <a:ea typeface="Cambria"/>
              </a:rPr>
              <a:t>Advanced Trigonometry</a:t>
            </a:r>
            <a:endParaRPr b="0" lang="en-US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1"/>
          <p:cNvSpPr/>
          <p:nvPr/>
        </p:nvSpPr>
        <p:spPr>
          <a:xfrm>
            <a:off x="804600" y="331020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debdd"/>
                </a:solidFill>
                <a:latin typeface="Cambria"/>
                <a:ea typeface="Cambria"/>
              </a:rPr>
              <a:t>The Sine Rule · The Cosine Rule · Area of a Triangle · Choosing the Right Rule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42"/>
          <p:cNvSpPr/>
          <p:nvPr/>
        </p:nvSpPr>
        <p:spPr>
          <a:xfrm>
            <a:off x="777240" y="4297680"/>
            <a:ext cx="6766200" cy="169128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43"/>
          <p:cNvSpPr/>
          <p:nvPr/>
        </p:nvSpPr>
        <p:spPr>
          <a:xfrm>
            <a:off x="1097280" y="4498920"/>
            <a:ext cx="6126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44"/>
          <p:cNvSpPr/>
          <p:nvPr/>
        </p:nvSpPr>
        <p:spPr>
          <a:xfrm>
            <a:off x="1097280" y="495612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c9d2c5"/>
                </a:solidFill>
                <a:latin typeface="Cambria"/>
                <a:ea typeface="Cambria"/>
              </a:rPr>
              <a:t>IGCSE Mathematics Teacher  ·  M.Sc. Differential Geometry &amp; Geometric Control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45"/>
          <p:cNvSpPr/>
          <p:nvPr/>
        </p:nvSpPr>
        <p:spPr>
          <a:xfrm>
            <a:off x="1097280" y="5394960"/>
            <a:ext cx="6217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8623d"/>
                </a:solidFill>
                <a:latin typeface="Calibri"/>
                <a:ea typeface="Calibri"/>
              </a:rPr>
              <a:t>66613748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LESSON OVERVIEW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For ANY Triangle — Not Just Right-Angled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9"/>
          <p:cNvSpPr/>
          <p:nvPr/>
        </p:nvSpPr>
        <p:spPr>
          <a:xfrm>
            <a:off x="567000" y="14814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40"/>
          <p:cNvSpPr/>
          <p:nvPr/>
        </p:nvSpPr>
        <p:spPr>
          <a:xfrm>
            <a:off x="887040" y="1481400"/>
            <a:ext cx="104238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SOHCAHTOA only works in right-angled triangles.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sine and cosine rules work in ANY triangle. The hardest part is choosing which one — that is the next slide.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41"/>
          <p:cNvSpPr/>
          <p:nvPr/>
        </p:nvSpPr>
        <p:spPr>
          <a:xfrm>
            <a:off x="5670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42"/>
          <p:cNvSpPr/>
          <p:nvPr/>
        </p:nvSpPr>
        <p:spPr>
          <a:xfrm>
            <a:off x="8229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43"/>
          <p:cNvSpPr/>
          <p:nvPr/>
        </p:nvSpPr>
        <p:spPr>
          <a:xfrm>
            <a:off x="8229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44"/>
          <p:cNvSpPr/>
          <p:nvPr/>
        </p:nvSpPr>
        <p:spPr>
          <a:xfrm>
            <a:off x="14356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Labelling a, b, c / A, B, 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45"/>
          <p:cNvSpPr/>
          <p:nvPr/>
        </p:nvSpPr>
        <p:spPr>
          <a:xfrm>
            <a:off x="43434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6"/>
          <p:cNvSpPr/>
          <p:nvPr/>
        </p:nvSpPr>
        <p:spPr>
          <a:xfrm>
            <a:off x="45993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7"/>
          <p:cNvSpPr/>
          <p:nvPr/>
        </p:nvSpPr>
        <p:spPr>
          <a:xfrm>
            <a:off x="45993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48"/>
          <p:cNvSpPr/>
          <p:nvPr/>
        </p:nvSpPr>
        <p:spPr>
          <a:xfrm>
            <a:off x="52120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WHICH rule to use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49"/>
          <p:cNvSpPr/>
          <p:nvPr/>
        </p:nvSpPr>
        <p:spPr>
          <a:xfrm>
            <a:off x="8119800" y="265176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50"/>
          <p:cNvSpPr/>
          <p:nvPr/>
        </p:nvSpPr>
        <p:spPr>
          <a:xfrm>
            <a:off x="8375760" y="294912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51"/>
          <p:cNvSpPr/>
          <p:nvPr/>
        </p:nvSpPr>
        <p:spPr>
          <a:xfrm>
            <a:off x="8375760" y="29491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52"/>
          <p:cNvSpPr/>
          <p:nvPr/>
        </p:nvSpPr>
        <p:spPr>
          <a:xfrm>
            <a:off x="8988480" y="265176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sine rule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53"/>
          <p:cNvSpPr/>
          <p:nvPr/>
        </p:nvSpPr>
        <p:spPr>
          <a:xfrm>
            <a:off x="5670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54"/>
          <p:cNvSpPr/>
          <p:nvPr/>
        </p:nvSpPr>
        <p:spPr>
          <a:xfrm>
            <a:off x="8229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55"/>
          <p:cNvSpPr/>
          <p:nvPr/>
        </p:nvSpPr>
        <p:spPr>
          <a:xfrm>
            <a:off x="8229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56"/>
          <p:cNvSpPr/>
          <p:nvPr/>
        </p:nvSpPr>
        <p:spPr>
          <a:xfrm>
            <a:off x="14356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cosine rule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57"/>
          <p:cNvSpPr/>
          <p:nvPr/>
        </p:nvSpPr>
        <p:spPr>
          <a:xfrm>
            <a:off x="43434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58"/>
          <p:cNvSpPr/>
          <p:nvPr/>
        </p:nvSpPr>
        <p:spPr>
          <a:xfrm>
            <a:off x="45993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59"/>
          <p:cNvSpPr/>
          <p:nvPr/>
        </p:nvSpPr>
        <p:spPr>
          <a:xfrm>
            <a:off x="45993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60"/>
          <p:cNvSpPr/>
          <p:nvPr/>
        </p:nvSpPr>
        <p:spPr>
          <a:xfrm>
            <a:off x="52120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Area = ½ ab sin 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Shape 61"/>
          <p:cNvSpPr/>
          <p:nvPr/>
        </p:nvSpPr>
        <p:spPr>
          <a:xfrm>
            <a:off x="8119800" y="3996000"/>
            <a:ext cx="3501720" cy="105120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62"/>
          <p:cNvSpPr/>
          <p:nvPr/>
        </p:nvSpPr>
        <p:spPr>
          <a:xfrm>
            <a:off x="8375760" y="4293000"/>
            <a:ext cx="456840" cy="45684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63"/>
          <p:cNvSpPr/>
          <p:nvPr/>
        </p:nvSpPr>
        <p:spPr>
          <a:xfrm>
            <a:off x="8375760" y="42930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4"/>
          <p:cNvSpPr/>
          <p:nvPr/>
        </p:nvSpPr>
        <p:spPr>
          <a:xfrm>
            <a:off x="8988480" y="3996000"/>
            <a:ext cx="25416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Past-paper questions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65"/>
          <p:cNvSpPr/>
          <p:nvPr/>
        </p:nvSpPr>
        <p:spPr>
          <a:xfrm>
            <a:off x="567000" y="617220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Key words:  </a:t>
            </a:r>
            <a:r>
              <a:rPr b="0" lang="en-US" sz="1300" spc="-1" strike="noStrike">
                <a:solidFill>
                  <a:srgbClr val="5c6b60"/>
                </a:solidFill>
                <a:latin typeface="Calibri"/>
                <a:ea typeface="Calibri"/>
              </a:rPr>
              <a:t>sine rule · cosine rule · included angle · opposite · inverse · 3 significant figures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STEP 1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Labelling a Triangle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9"/>
          <p:cNvSpPr/>
          <p:nvPr/>
        </p:nvSpPr>
        <p:spPr>
          <a:xfrm>
            <a:off x="2773800" y="1353240"/>
            <a:ext cx="664344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0" descr="/tmp/work/clean2/cx-05.png"/>
          <p:cNvPicPr/>
          <p:nvPr/>
        </p:nvPicPr>
        <p:blipFill>
          <a:blip r:embed="rId1"/>
          <a:stretch/>
        </p:blipFill>
        <p:spPr>
          <a:xfrm>
            <a:off x="2837880" y="1417320"/>
            <a:ext cx="6515280" cy="4525920"/>
          </a:xfrm>
          <a:prstGeom prst="rect">
            <a:avLst/>
          </a:prstGeom>
          <a:ln w="0">
            <a:noFill/>
          </a:ln>
        </p:spPr>
      </p:pic>
      <p:sp>
        <p:nvSpPr>
          <p:cNvPr id="161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Side a is OPPOSITE angle A, side b is opposite B, side c is opposite C.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Capital = angle, small = side.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KEY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Which Rule Do I Use?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39"/>
          <p:cNvSpPr/>
          <p:nvPr/>
        </p:nvSpPr>
        <p:spPr>
          <a:xfrm>
            <a:off x="567000" y="1298520"/>
            <a:ext cx="1106388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40"/>
          <p:cNvSpPr/>
          <p:nvPr/>
        </p:nvSpPr>
        <p:spPr>
          <a:xfrm>
            <a:off x="887040" y="129852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Count what you have.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The pattern of what is given tells you the rule.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41"/>
          <p:cNvSpPr/>
          <p:nvPr/>
        </p:nvSpPr>
        <p:spPr>
          <a:xfrm>
            <a:off x="567000" y="2057400"/>
            <a:ext cx="5440320" cy="3748680"/>
          </a:xfrm>
          <a:prstGeom prst="roundRect">
            <a:avLst>
              <a:gd name="adj" fmla="val 1463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42"/>
          <p:cNvSpPr/>
          <p:nvPr/>
        </p:nvSpPr>
        <p:spPr>
          <a:xfrm>
            <a:off x="868680" y="2240280"/>
            <a:ext cx="4845960" cy="566640"/>
          </a:xfrm>
          <a:prstGeom prst="roundRect">
            <a:avLst>
              <a:gd name="adj" fmla="val 806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43"/>
          <p:cNvSpPr/>
          <p:nvPr/>
        </p:nvSpPr>
        <p:spPr>
          <a:xfrm>
            <a:off x="868680" y="224028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USE THE SINE RULE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44"/>
          <p:cNvSpPr/>
          <p:nvPr/>
        </p:nvSpPr>
        <p:spPr>
          <a:xfrm>
            <a:off x="914400" y="2971800"/>
            <a:ext cx="4860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When you have TWO SIDES and TWO OPPOSITE ANGLES ,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and ONE of them is missing.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The sides and angles come in OPPOSITE PAIRS — you know a pair, and half of another pair.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45"/>
          <p:cNvSpPr/>
          <p:nvPr/>
        </p:nvSpPr>
        <p:spPr>
          <a:xfrm>
            <a:off x="914400" y="452628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a</a:t>
            </a:r>
            <a:r>
              <a:rPr b="0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  ↔  </a:t>
            </a: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A</a:t>
            </a:r>
            <a:r>
              <a:rPr b="0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     and     </a:t>
            </a: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b</a:t>
            </a:r>
            <a:r>
              <a:rPr b="0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  ↔  </a:t>
            </a:r>
            <a:r>
              <a:rPr b="1" lang="en-US" sz="1800" spc="-1" strike="noStrike">
                <a:solidFill>
                  <a:srgbClr val="c84f2f"/>
                </a:solidFill>
                <a:latin typeface="Cambria"/>
                <a:ea typeface="Cambria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46"/>
          <p:cNvSpPr/>
          <p:nvPr/>
        </p:nvSpPr>
        <p:spPr>
          <a:xfrm>
            <a:off x="914400" y="50292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6b60"/>
                </a:solidFill>
                <a:latin typeface="Calibri"/>
                <a:ea typeface="Calibri"/>
              </a:rPr>
              <a:t>(a side and the angle facing it)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47"/>
          <p:cNvSpPr/>
          <p:nvPr/>
        </p:nvSpPr>
        <p:spPr>
          <a:xfrm>
            <a:off x="914400" y="5394960"/>
            <a:ext cx="4754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Find a SIDE or an ANGLE.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48"/>
          <p:cNvSpPr/>
          <p:nvPr/>
        </p:nvSpPr>
        <p:spPr>
          <a:xfrm>
            <a:off x="6190560" y="2057400"/>
            <a:ext cx="5440320" cy="3748680"/>
          </a:xfrm>
          <a:prstGeom prst="roundRect">
            <a:avLst>
              <a:gd name="adj" fmla="val 1463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49"/>
          <p:cNvSpPr/>
          <p:nvPr/>
        </p:nvSpPr>
        <p:spPr>
          <a:xfrm>
            <a:off x="6492240" y="2240280"/>
            <a:ext cx="4845960" cy="566640"/>
          </a:xfrm>
          <a:prstGeom prst="roundRect">
            <a:avLst>
              <a:gd name="adj" fmla="val 806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50"/>
          <p:cNvSpPr/>
          <p:nvPr/>
        </p:nvSpPr>
        <p:spPr>
          <a:xfrm>
            <a:off x="6492240" y="2240280"/>
            <a:ext cx="4845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USE THE COSINE RULE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51"/>
          <p:cNvSpPr/>
          <p:nvPr/>
        </p:nvSpPr>
        <p:spPr>
          <a:xfrm>
            <a:off x="6537960" y="2971800"/>
            <a:ext cx="47545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When you have THREE SIDES and ONE ANGLE,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en-US" sz="1450" spc="-1" strike="noStrike">
                <a:solidFill>
                  <a:srgbClr val="1c2a22"/>
                </a:solidFill>
                <a:latin typeface="Cambria"/>
                <a:ea typeface="Cambria"/>
              </a:rPr>
              <a:t>and ONE of them is missing.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c6b60"/>
                </a:solidFill>
                <a:latin typeface="Cambria"/>
                <a:ea typeface="Cambria"/>
              </a:rPr>
              <a:t>No opposite pair is complete — the angle sits BETWEEN two known sides, or you know all three sides.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52"/>
          <p:cNvSpPr/>
          <p:nvPr/>
        </p:nvSpPr>
        <p:spPr>
          <a:xfrm>
            <a:off x="6537960" y="4572000"/>
            <a:ext cx="4754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spcAft>
                <a:spcPts val="499"/>
              </a:spcAft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2 sides + the angle BETWEEN them  →  find the 3rd side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3 sides  →  find any angle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53"/>
          <p:cNvSpPr/>
          <p:nvPr/>
        </p:nvSpPr>
        <p:spPr>
          <a:xfrm>
            <a:off x="567000" y="5989320"/>
            <a:ext cx="11063880" cy="776880"/>
          </a:xfrm>
          <a:prstGeom prst="roundRect">
            <a:avLst>
              <a:gd name="adj" fmla="val 7059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54"/>
          <p:cNvSpPr/>
          <p:nvPr/>
        </p:nvSpPr>
        <p:spPr>
          <a:xfrm>
            <a:off x="841320" y="598932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Sine: a side and the angle opposite it.    Cosine: no complete pair — 3 sides, or 2 sides + the angle between.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SINE RULE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Two Versions — Same Rule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9"/>
          <p:cNvSpPr/>
          <p:nvPr/>
        </p:nvSpPr>
        <p:spPr>
          <a:xfrm>
            <a:off x="567000" y="1325880"/>
            <a:ext cx="566892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40"/>
          <p:cNvSpPr/>
          <p:nvPr/>
        </p:nvSpPr>
        <p:spPr>
          <a:xfrm>
            <a:off x="887040" y="132588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Put the thing you WANT on top.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That keeps the algebra easy.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41"/>
          <p:cNvSpPr/>
          <p:nvPr/>
        </p:nvSpPr>
        <p:spPr>
          <a:xfrm>
            <a:off x="150840" y="2895480"/>
            <a:ext cx="5440320" cy="2487600"/>
          </a:xfrm>
          <a:prstGeom prst="roundRect">
            <a:avLst>
              <a:gd name="adj" fmla="val 1714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42"/>
          <p:cNvSpPr/>
          <p:nvPr/>
        </p:nvSpPr>
        <p:spPr>
          <a:xfrm>
            <a:off x="1046880" y="31730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Finding a SIDE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43"/>
          <p:cNvSpPr/>
          <p:nvPr/>
        </p:nvSpPr>
        <p:spPr>
          <a:xfrm>
            <a:off x="1234440" y="3703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44"/>
          <p:cNvSpPr/>
          <p:nvPr/>
        </p:nvSpPr>
        <p:spPr>
          <a:xfrm>
            <a:off x="1234440" y="3977640"/>
            <a:ext cx="77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45"/>
          <p:cNvSpPr/>
          <p:nvPr/>
        </p:nvSpPr>
        <p:spPr>
          <a:xfrm>
            <a:off x="1234440" y="40050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sin 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46"/>
          <p:cNvSpPr/>
          <p:nvPr/>
        </p:nvSpPr>
        <p:spPr>
          <a:xfrm>
            <a:off x="2194560" y="37490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47"/>
          <p:cNvSpPr/>
          <p:nvPr/>
        </p:nvSpPr>
        <p:spPr>
          <a:xfrm>
            <a:off x="2651760" y="3703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48"/>
          <p:cNvSpPr/>
          <p:nvPr/>
        </p:nvSpPr>
        <p:spPr>
          <a:xfrm>
            <a:off x="2651760" y="3977640"/>
            <a:ext cx="77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49"/>
          <p:cNvSpPr/>
          <p:nvPr/>
        </p:nvSpPr>
        <p:spPr>
          <a:xfrm>
            <a:off x="2651760" y="40050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sin B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50"/>
          <p:cNvSpPr/>
          <p:nvPr/>
        </p:nvSpPr>
        <p:spPr>
          <a:xfrm>
            <a:off x="3611880" y="37490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51"/>
          <p:cNvSpPr/>
          <p:nvPr/>
        </p:nvSpPr>
        <p:spPr>
          <a:xfrm>
            <a:off x="4069080" y="3703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Shape 52"/>
          <p:cNvSpPr/>
          <p:nvPr/>
        </p:nvSpPr>
        <p:spPr>
          <a:xfrm>
            <a:off x="4069080" y="3977640"/>
            <a:ext cx="77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53"/>
          <p:cNvSpPr/>
          <p:nvPr/>
        </p:nvSpPr>
        <p:spPr>
          <a:xfrm>
            <a:off x="4069080" y="40050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sin 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54"/>
          <p:cNvSpPr/>
          <p:nvPr/>
        </p:nvSpPr>
        <p:spPr>
          <a:xfrm>
            <a:off x="914400" y="48006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Sides on top — multiply to find the side.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55"/>
          <p:cNvSpPr/>
          <p:nvPr/>
        </p:nvSpPr>
        <p:spPr>
          <a:xfrm>
            <a:off x="5783760" y="2895480"/>
            <a:ext cx="5440320" cy="2455920"/>
          </a:xfrm>
          <a:prstGeom prst="roundRect">
            <a:avLst>
              <a:gd name="adj" fmla="val 1714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56"/>
          <p:cNvSpPr/>
          <p:nvPr/>
        </p:nvSpPr>
        <p:spPr>
          <a:xfrm>
            <a:off x="6515280" y="32461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Finding an ANGLE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57"/>
          <p:cNvSpPr/>
          <p:nvPr/>
        </p:nvSpPr>
        <p:spPr>
          <a:xfrm>
            <a:off x="6858000" y="3703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sin 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58"/>
          <p:cNvSpPr/>
          <p:nvPr/>
        </p:nvSpPr>
        <p:spPr>
          <a:xfrm>
            <a:off x="6858000" y="3977640"/>
            <a:ext cx="77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59"/>
          <p:cNvSpPr/>
          <p:nvPr/>
        </p:nvSpPr>
        <p:spPr>
          <a:xfrm>
            <a:off x="6858000" y="40050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60"/>
          <p:cNvSpPr/>
          <p:nvPr/>
        </p:nvSpPr>
        <p:spPr>
          <a:xfrm>
            <a:off x="7818120" y="37490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61"/>
          <p:cNvSpPr/>
          <p:nvPr/>
        </p:nvSpPr>
        <p:spPr>
          <a:xfrm>
            <a:off x="8275320" y="3703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sin B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62"/>
          <p:cNvSpPr/>
          <p:nvPr/>
        </p:nvSpPr>
        <p:spPr>
          <a:xfrm>
            <a:off x="8275320" y="3977640"/>
            <a:ext cx="77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63"/>
          <p:cNvSpPr/>
          <p:nvPr/>
        </p:nvSpPr>
        <p:spPr>
          <a:xfrm>
            <a:off x="8275320" y="40050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64"/>
          <p:cNvSpPr/>
          <p:nvPr/>
        </p:nvSpPr>
        <p:spPr>
          <a:xfrm>
            <a:off x="9235440" y="3749040"/>
            <a:ext cx="365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5c6b60"/>
                </a:solidFill>
                <a:latin typeface="Cambria"/>
                <a:ea typeface="Cambria"/>
              </a:rPr>
              <a:t>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65"/>
          <p:cNvSpPr/>
          <p:nvPr/>
        </p:nvSpPr>
        <p:spPr>
          <a:xfrm>
            <a:off x="9692640" y="3703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sin 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66"/>
          <p:cNvSpPr/>
          <p:nvPr/>
        </p:nvSpPr>
        <p:spPr>
          <a:xfrm>
            <a:off x="9692640" y="3977640"/>
            <a:ext cx="77724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67"/>
          <p:cNvSpPr/>
          <p:nvPr/>
        </p:nvSpPr>
        <p:spPr>
          <a:xfrm>
            <a:off x="9692640" y="40050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c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68"/>
          <p:cNvSpPr/>
          <p:nvPr/>
        </p:nvSpPr>
        <p:spPr>
          <a:xfrm>
            <a:off x="6537960" y="48006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Sines on top — then use sin⁻¹ at the end.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69"/>
          <p:cNvSpPr/>
          <p:nvPr/>
        </p:nvSpPr>
        <p:spPr>
          <a:xfrm>
            <a:off x="567000" y="5669280"/>
            <a:ext cx="110638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70"/>
          <p:cNvSpPr/>
          <p:nvPr/>
        </p:nvSpPr>
        <p:spPr>
          <a:xfrm>
            <a:off x="841320" y="566928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You only ever need TWO of the three fractions — the pair you know and the pair you want.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9" name="Picture 2" descr=""/>
          <p:cNvPicPr/>
          <p:nvPr/>
        </p:nvPicPr>
        <p:blipFill>
          <a:blip r:embed="rId1"/>
          <a:stretch/>
        </p:blipFill>
        <p:spPr>
          <a:xfrm>
            <a:off x="9718560" y="1150200"/>
            <a:ext cx="2514240" cy="1676160"/>
          </a:xfrm>
          <a:prstGeom prst="rect">
            <a:avLst/>
          </a:prstGeom>
          <a:ln w="0">
            <a:noFill/>
          </a:ln>
        </p:spPr>
      </p:pic>
      <p:sp>
        <p:nvSpPr>
          <p:cNvPr id="290" name="Rectangle 72"/>
          <p:cNvSpPr/>
          <p:nvPr/>
        </p:nvSpPr>
        <p:spPr>
          <a:xfrm>
            <a:off x="6324480" y="1325880"/>
            <a:ext cx="3312720" cy="13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When you have: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400"/>
              </a:spcAft>
              <a:buClr>
                <a:srgbClr val="1c2a22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TWO SIDES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400"/>
              </a:spcAft>
              <a:buClr>
                <a:srgbClr val="1c2a22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 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TWO OPPOSITE ANGLES 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and ONE of them is missing.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SINE RULE ·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a Side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39"/>
          <p:cNvSpPr/>
          <p:nvPr/>
        </p:nvSpPr>
        <p:spPr>
          <a:xfrm>
            <a:off x="1866600" y="1353240"/>
            <a:ext cx="845820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Two angles and one side given → sine rule.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Match each side with the angle opposite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3" name="Picture 1" descr=""/>
          <p:cNvPicPr/>
          <p:nvPr/>
        </p:nvPicPr>
        <p:blipFill>
          <a:blip r:embed="rId1"/>
          <a:stretch/>
        </p:blipFill>
        <p:spPr>
          <a:xfrm>
            <a:off x="4192920" y="2834640"/>
            <a:ext cx="2736000" cy="2668320"/>
          </a:xfrm>
          <a:prstGeom prst="rect">
            <a:avLst/>
          </a:prstGeom>
          <a:ln w="38100">
            <a:solidFill>
              <a:srgbClr val="ffc000"/>
            </a:solidFill>
            <a:miter/>
          </a:ln>
        </p:spPr>
      </p:pic>
      <p:pic>
        <p:nvPicPr>
          <p:cNvPr id="334" name="Picture 2" descr=""/>
          <p:cNvPicPr/>
          <p:nvPr/>
        </p:nvPicPr>
        <p:blipFill>
          <a:blip r:embed="rId2"/>
          <a:stretch/>
        </p:blipFill>
        <p:spPr>
          <a:xfrm>
            <a:off x="7774200" y="2834640"/>
            <a:ext cx="2476080" cy="685440"/>
          </a:xfrm>
          <a:prstGeom prst="rect">
            <a:avLst/>
          </a:prstGeom>
          <a:ln w="0">
            <a:noFill/>
          </a:ln>
        </p:spPr>
      </p:pic>
      <p:pic>
        <p:nvPicPr>
          <p:cNvPr id="335" name="Picture 46" descr=""/>
          <p:cNvPicPr/>
          <p:nvPr/>
        </p:nvPicPr>
        <p:blipFill>
          <a:blip r:embed="rId3"/>
          <a:stretch/>
        </p:blipFill>
        <p:spPr>
          <a:xfrm>
            <a:off x="7793280" y="3770640"/>
            <a:ext cx="1780920" cy="676080"/>
          </a:xfrm>
          <a:prstGeom prst="rect">
            <a:avLst/>
          </a:prstGeom>
          <a:ln w="0">
            <a:noFill/>
          </a:ln>
        </p:spPr>
      </p:pic>
      <p:pic>
        <p:nvPicPr>
          <p:cNvPr id="336" name="Picture 8" descr=""/>
          <p:cNvPicPr/>
          <p:nvPr/>
        </p:nvPicPr>
        <p:blipFill>
          <a:blip r:embed="rId4"/>
          <a:stretch/>
        </p:blipFill>
        <p:spPr>
          <a:xfrm>
            <a:off x="7793280" y="4635000"/>
            <a:ext cx="1944000" cy="713880"/>
          </a:xfrm>
          <a:prstGeom prst="rect">
            <a:avLst/>
          </a:prstGeom>
          <a:ln w="0">
            <a:noFill/>
          </a:ln>
        </p:spPr>
      </p:pic>
      <p:pic>
        <p:nvPicPr>
          <p:cNvPr id="337" name="Picture 14" descr=""/>
          <p:cNvPicPr/>
          <p:nvPr/>
        </p:nvPicPr>
        <p:blipFill>
          <a:blip r:embed="rId5"/>
          <a:stretch/>
        </p:blipFill>
        <p:spPr>
          <a:xfrm>
            <a:off x="7836480" y="5525640"/>
            <a:ext cx="2188800" cy="405000"/>
          </a:xfrm>
          <a:prstGeom prst="rect">
            <a:avLst/>
          </a:prstGeom>
          <a:ln w="0">
            <a:noFill/>
          </a:ln>
        </p:spPr>
      </p:pic>
      <p:sp>
        <p:nvSpPr>
          <p:cNvPr id="338" name="Rectangle 49"/>
          <p:cNvSpPr/>
          <p:nvPr/>
        </p:nvSpPr>
        <p:spPr>
          <a:xfrm>
            <a:off x="2228760" y="1616040"/>
            <a:ext cx="796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SINE RULE ·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an Angle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39"/>
          <p:cNvSpPr/>
          <p:nvPr/>
        </p:nvSpPr>
        <p:spPr>
          <a:xfrm>
            <a:off x="1368360" y="1353240"/>
            <a:ext cx="9454680" cy="4405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Flip the formula so the sines are on top,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then finish with sin⁻¹.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Rectangle 44"/>
          <p:cNvSpPr/>
          <p:nvPr/>
        </p:nvSpPr>
        <p:spPr>
          <a:xfrm>
            <a:off x="2228400" y="1616040"/>
            <a:ext cx="78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c.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2" name="Picture 1" descr=""/>
          <p:cNvPicPr/>
          <p:nvPr/>
        </p:nvPicPr>
        <p:blipFill>
          <a:blip r:embed="rId1"/>
          <a:stretch/>
        </p:blipFill>
        <p:spPr>
          <a:xfrm>
            <a:off x="6485040" y="2227320"/>
            <a:ext cx="2476080" cy="676080"/>
          </a:xfrm>
          <a:prstGeom prst="rect">
            <a:avLst/>
          </a:prstGeom>
          <a:ln w="0">
            <a:noFill/>
          </a:ln>
        </p:spPr>
      </p:pic>
      <p:pic>
        <p:nvPicPr>
          <p:cNvPr id="383" name="Picture 46" descr=""/>
          <p:cNvPicPr/>
          <p:nvPr/>
        </p:nvPicPr>
        <p:blipFill>
          <a:blip r:embed="rId2"/>
          <a:stretch/>
        </p:blipFill>
        <p:spPr>
          <a:xfrm>
            <a:off x="2308320" y="2152800"/>
            <a:ext cx="3540960" cy="2183760"/>
          </a:xfrm>
          <a:prstGeom prst="rect">
            <a:avLst/>
          </a:prstGeom>
          <a:ln w="38100">
            <a:solidFill>
              <a:srgbClr val="ff66ff"/>
            </a:solidFill>
            <a:miter/>
          </a:ln>
        </p:spPr>
      </p:pic>
      <p:pic>
        <p:nvPicPr>
          <p:cNvPr id="384" name="Picture 8" descr=""/>
          <p:cNvPicPr/>
          <p:nvPr/>
        </p:nvPicPr>
        <p:blipFill>
          <a:blip r:embed="rId3"/>
          <a:stretch/>
        </p:blipFill>
        <p:spPr>
          <a:xfrm>
            <a:off x="6485040" y="2906640"/>
            <a:ext cx="1714320" cy="676080"/>
          </a:xfrm>
          <a:prstGeom prst="rect">
            <a:avLst/>
          </a:prstGeom>
          <a:ln w="0">
            <a:noFill/>
          </a:ln>
        </p:spPr>
      </p:pic>
      <p:pic>
        <p:nvPicPr>
          <p:cNvPr id="385" name="Picture 11" descr=""/>
          <p:cNvPicPr/>
          <p:nvPr/>
        </p:nvPicPr>
        <p:blipFill>
          <a:blip r:embed="rId4"/>
          <a:stretch/>
        </p:blipFill>
        <p:spPr>
          <a:xfrm>
            <a:off x="6581520" y="3738960"/>
            <a:ext cx="2495160" cy="676080"/>
          </a:xfrm>
          <a:prstGeom prst="rect">
            <a:avLst/>
          </a:prstGeom>
          <a:ln w="0">
            <a:noFill/>
          </a:ln>
        </p:spPr>
      </p:pic>
      <p:pic>
        <p:nvPicPr>
          <p:cNvPr id="386" name="Picture 14" descr=""/>
          <p:cNvPicPr/>
          <p:nvPr/>
        </p:nvPicPr>
        <p:blipFill>
          <a:blip r:embed="rId5"/>
          <a:stretch/>
        </p:blipFill>
        <p:spPr>
          <a:xfrm>
            <a:off x="6561360" y="4631400"/>
            <a:ext cx="2542680" cy="380520"/>
          </a:xfrm>
          <a:prstGeom prst="rect">
            <a:avLst/>
          </a:prstGeom>
          <a:ln w="0">
            <a:noFill/>
          </a:ln>
        </p:spPr>
      </p:pic>
      <p:pic>
        <p:nvPicPr>
          <p:cNvPr id="387" name="Picture 17" descr=""/>
          <p:cNvPicPr/>
          <p:nvPr/>
        </p:nvPicPr>
        <p:blipFill>
          <a:blip r:embed="rId6"/>
          <a:stretch/>
        </p:blipFill>
        <p:spPr>
          <a:xfrm>
            <a:off x="6917040" y="5207400"/>
            <a:ext cx="2440800" cy="43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9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4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39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4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49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SINE RULE · EXAM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Your Turn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39"/>
          <p:cNvSpPr/>
          <p:nvPr/>
        </p:nvSpPr>
        <p:spPr>
          <a:xfrm>
            <a:off x="2647080" y="1134000"/>
            <a:ext cx="7106400" cy="487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Identify the opposite pairs first, then substitute.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Rectangle 44"/>
          <p:cNvSpPr/>
          <p:nvPr/>
        </p:nvSpPr>
        <p:spPr>
          <a:xfrm>
            <a:off x="2681640" y="1154880"/>
            <a:ext cx="1539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Exam question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1" name="Picture 2" descr=""/>
          <p:cNvPicPr/>
          <p:nvPr/>
        </p:nvPicPr>
        <p:blipFill>
          <a:blip r:embed="rId1"/>
          <a:srcRect l="0" t="7161" r="0" b="0"/>
          <a:stretch/>
        </p:blipFill>
        <p:spPr>
          <a:xfrm>
            <a:off x="4275000" y="1399320"/>
            <a:ext cx="5362560" cy="4483440"/>
          </a:xfrm>
          <a:prstGeom prst="rect">
            <a:avLst/>
          </a:prstGeom>
          <a:ln w="9525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SINE RULE · EXAM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Your Turn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39"/>
          <p:cNvSpPr/>
          <p:nvPr/>
        </p:nvSpPr>
        <p:spPr>
          <a:xfrm>
            <a:off x="1623240" y="1134000"/>
            <a:ext cx="8931960" cy="487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Identify the opposite pairs first, then substitute.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4" name="Group 72"/>
          <p:cNvGrpSpPr/>
          <p:nvPr/>
        </p:nvGrpSpPr>
        <p:grpSpPr>
          <a:xfrm>
            <a:off x="1623240" y="1145160"/>
            <a:ext cx="8769240" cy="4640400"/>
            <a:chOff x="1623240" y="1145160"/>
            <a:chExt cx="8769240" cy="4640400"/>
          </a:xfrm>
        </p:grpSpPr>
        <p:grpSp>
          <p:nvGrpSpPr>
            <p:cNvPr id="475" name="Group 29"/>
            <p:cNvGrpSpPr/>
            <p:nvPr/>
          </p:nvGrpSpPr>
          <p:grpSpPr>
            <a:xfrm>
              <a:off x="2142000" y="2338920"/>
              <a:ext cx="8250480" cy="3446640"/>
              <a:chOff x="2142000" y="2338920"/>
              <a:chExt cx="8250480" cy="3446640"/>
            </a:xfrm>
          </p:grpSpPr>
          <p:grpSp>
            <p:nvGrpSpPr>
              <p:cNvPr id="476" name="Group 49"/>
              <p:cNvGrpSpPr/>
              <p:nvPr/>
            </p:nvGrpSpPr>
            <p:grpSpPr>
              <a:xfrm>
                <a:off x="9557640" y="2338920"/>
                <a:ext cx="626760" cy="3182400"/>
                <a:chOff x="9557640" y="2338920"/>
                <a:chExt cx="626760" cy="3182400"/>
              </a:xfrm>
            </p:grpSpPr>
            <p:pic>
              <p:nvPicPr>
                <p:cNvPr id="477" name="Picture 3" descr="Column 11"/>
                <p:cNvPicPr/>
                <p:nvPr/>
              </p:nvPicPr>
              <p:blipFill>
                <a:blip r:embed="rId1"/>
                <a:stretch/>
              </p:blipFill>
              <p:spPr>
                <a:xfrm>
                  <a:off x="9557640" y="2932560"/>
                  <a:ext cx="626760" cy="258876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478" name="Picture 5" descr="Saluting"/>
                <p:cNvPicPr/>
                <p:nvPr/>
              </p:nvPicPr>
              <p:blipFill>
                <a:blip r:embed="rId2"/>
                <a:stretch/>
              </p:blipFill>
              <p:spPr>
                <a:xfrm>
                  <a:off x="9732240" y="2338920"/>
                  <a:ext cx="228240" cy="61776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479" name="Line 12"/>
              <p:cNvSpPr/>
              <p:nvPr/>
            </p:nvSpPr>
            <p:spPr>
              <a:xfrm flipH="1">
                <a:off x="2142000" y="5513760"/>
                <a:ext cx="8250480" cy="360"/>
              </a:xfrm>
              <a:prstGeom prst="line">
                <a:avLst/>
              </a:prstGeom>
              <a:ln w="9525">
                <a:solidFill>
                  <a:srgbClr val="00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4640" bIns="-44640" anchor="t">
                <a:noAutofit/>
              </a:bodyPr>
              <a:p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graphicFrame>
            <p:nvGraphicFramePr>
              <p:cNvPr id="480" name="Object 16"/>
              <p:cNvGraphicFramePr/>
              <p:nvPr/>
            </p:nvGraphicFramePr>
            <p:xfrm>
              <a:off x="2323440" y="5225040"/>
              <a:ext cx="123480" cy="299520"/>
            </p:xfrm>
            <a:graphic>
              <a:graphicData uri="http://schemas.openxmlformats.org/presentationml/2006/ole">
                <p:oleObj progId="CorelDRAW.Graphic.9" r:id="rId3" spid="">
                  <p:embed/>
                </p:oleObj>
              </a:graphicData>
            </a:graphic>
          </p:graphicFrame>
          <p:sp>
            <p:nvSpPr>
              <p:cNvPr id="481" name="Text Box 20"/>
              <p:cNvSpPr/>
              <p:nvPr/>
            </p:nvSpPr>
            <p:spPr>
              <a:xfrm>
                <a:off x="2307600" y="5482440"/>
                <a:ext cx="374400" cy="30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700"/>
                  </a:spcBef>
                </a:pPr>
                <a:r>
                  <a:rPr b="0" lang="en-GB" sz="1400" spc="-1" strike="noStrike">
                    <a:solidFill>
                      <a:schemeClr val="dk1"/>
                    </a:solidFill>
                    <a:latin typeface="Calibri"/>
                  </a:rPr>
                  <a:t>A</a:t>
                </a: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482" name="Text Box 22"/>
            <p:cNvSpPr/>
            <p:nvPr/>
          </p:nvSpPr>
          <p:spPr>
            <a:xfrm>
              <a:off x="1623240" y="1145160"/>
              <a:ext cx="8607240" cy="912600"/>
            </a:xfrm>
            <a:prstGeom prst="rect">
              <a:avLst/>
            </a:prstGeom>
            <a:solidFill>
              <a:srgbClr val="ffffff"/>
            </a:solidFill>
            <a:ln>
              <a:solidFill>
                <a:srgbClr val="70ad47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901"/>
                </a:spcBef>
              </a:pPr>
              <a:r>
                <a:rPr b="0" lang="en-GB" sz="1800" spc="-1" strike="noStrike">
                  <a:solidFill>
                    <a:schemeClr val="dk1"/>
                  </a:solidFill>
                  <a:latin typeface="Calibri"/>
                </a:rPr>
                <a:t>The angle of elevation of the top of a column measured from point A, is 20</a:t>
              </a:r>
              <a:r>
                <a:rPr b="0" lang="en-GB" sz="1800" spc="-1" strike="noStrike" baseline="30000">
                  <a:solidFill>
                    <a:schemeClr val="dk1"/>
                  </a:solidFill>
                  <a:latin typeface="Calibri"/>
                </a:rPr>
                <a:t>o</a:t>
              </a:r>
              <a:r>
                <a:rPr b="0" lang="en-GB" sz="1800" spc="-1" strike="noStrike">
                  <a:solidFill>
                    <a:schemeClr val="dk1"/>
                  </a:solidFill>
                  <a:latin typeface="Calibri"/>
                </a:rPr>
                <a:t>. The angle of elevation of the top of the statue is 25</a:t>
              </a:r>
              <a:r>
                <a:rPr b="0" lang="en-GB" sz="1800" spc="-1" strike="noStrike" baseline="30000">
                  <a:solidFill>
                    <a:schemeClr val="dk1"/>
                  </a:solidFill>
                  <a:latin typeface="Calibri"/>
                </a:rPr>
                <a:t>o</a:t>
              </a:r>
              <a:r>
                <a:rPr b="0" lang="en-GB" sz="1800" spc="-1" strike="noStrike">
                  <a:solidFill>
                    <a:schemeClr val="dk1"/>
                  </a:solidFill>
                  <a:latin typeface="Calibri"/>
                </a:rPr>
                <a:t>. Find the height of the statue when the measurements are taken 50 m from its base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83" name="Group 37"/>
          <p:cNvGrpSpPr/>
          <p:nvPr/>
        </p:nvGrpSpPr>
        <p:grpSpPr>
          <a:xfrm>
            <a:off x="2520000" y="5555160"/>
            <a:ext cx="7074000" cy="303120"/>
            <a:chOff x="2520000" y="5555160"/>
            <a:chExt cx="7074000" cy="303120"/>
          </a:xfrm>
        </p:grpSpPr>
        <p:sp>
          <p:nvSpPr>
            <p:cNvPr id="484" name="Text Box 34"/>
            <p:cNvSpPr/>
            <p:nvPr/>
          </p:nvSpPr>
          <p:spPr>
            <a:xfrm>
              <a:off x="5720400" y="5555160"/>
              <a:ext cx="68220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700"/>
                </a:spcBef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50 m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5" name="Line 35"/>
            <p:cNvSpPr/>
            <p:nvPr/>
          </p:nvSpPr>
          <p:spPr>
            <a:xfrm>
              <a:off x="6314040" y="5701320"/>
              <a:ext cx="3279960" cy="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486" name="Line 36"/>
            <p:cNvSpPr/>
            <p:nvPr/>
          </p:nvSpPr>
          <p:spPr>
            <a:xfrm flipH="1">
              <a:off x="2520000" y="5721840"/>
              <a:ext cx="3164040" cy="360"/>
            </a:xfrm>
            <a:prstGeom prst="line">
              <a:avLst/>
            </a:prstGeom>
            <a:ln w="38100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487" name="Text Box 43"/>
          <p:cNvSpPr/>
          <p:nvPr/>
        </p:nvSpPr>
        <p:spPr>
          <a:xfrm>
            <a:off x="1710360" y="2216880"/>
            <a:ext cx="2671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Angle BCA =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Box 44"/>
          <p:cNvSpPr/>
          <p:nvPr/>
        </p:nvSpPr>
        <p:spPr>
          <a:xfrm>
            <a:off x="9289080" y="3175560"/>
            <a:ext cx="568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70</a:t>
            </a:r>
            <a:r>
              <a:rPr b="0" lang="en-GB" sz="1400" spc="-1" strike="noStrike" baseline="30000">
                <a:solidFill>
                  <a:schemeClr val="dk1"/>
                </a:solidFill>
                <a:latin typeface="Calibri"/>
              </a:rPr>
              <a:t>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Box 45"/>
          <p:cNvSpPr/>
          <p:nvPr/>
        </p:nvSpPr>
        <p:spPr>
          <a:xfrm>
            <a:off x="4244040" y="2210400"/>
            <a:ext cx="2960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Angle ACT =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Box 46"/>
          <p:cNvSpPr/>
          <p:nvPr/>
        </p:nvSpPr>
        <p:spPr>
          <a:xfrm>
            <a:off x="6806520" y="2172240"/>
            <a:ext cx="2611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Angle ATC =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Box 47"/>
          <p:cNvSpPr/>
          <p:nvPr/>
        </p:nvSpPr>
        <p:spPr>
          <a:xfrm>
            <a:off x="9216360" y="2739240"/>
            <a:ext cx="63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110</a:t>
            </a:r>
            <a:r>
              <a:rPr b="0" lang="en-GB" sz="1400" spc="-1" strike="noStrike" baseline="30000">
                <a:solidFill>
                  <a:schemeClr val="dk1"/>
                </a:solidFill>
                <a:latin typeface="Calibri"/>
              </a:rPr>
              <a:t>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 Box 48"/>
          <p:cNvSpPr/>
          <p:nvPr/>
        </p:nvSpPr>
        <p:spPr>
          <a:xfrm>
            <a:off x="9281160" y="2485080"/>
            <a:ext cx="639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65</a:t>
            </a:r>
            <a:r>
              <a:rPr b="0" lang="en-GB" sz="1400" spc="-1" strike="noStrike" baseline="30000">
                <a:solidFill>
                  <a:schemeClr val="dk1"/>
                </a:solidFill>
                <a:latin typeface="Calibri"/>
              </a:rPr>
              <a:t>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3" name="Object 49"/>
          <p:cNvGraphicFramePr/>
          <p:nvPr/>
        </p:nvGraphicFramePr>
        <p:xfrm>
          <a:off x="1840680" y="2655000"/>
          <a:ext cx="1323720" cy="564840"/>
        </p:xfrm>
        <a:graphic>
          <a:graphicData uri="http://schemas.openxmlformats.org/presentationml/2006/ole">
            <p:oleObj progId="Equation.DSMT4" r:id="rId4" spid="">
              <p:embed/>
            </p:oleObj>
          </a:graphicData>
        </a:graphic>
      </p:graphicFrame>
      <p:graphicFrame>
        <p:nvGraphicFramePr>
          <p:cNvPr id="494" name="Object 50"/>
          <p:cNvGraphicFramePr/>
          <p:nvPr/>
        </p:nvGraphicFramePr>
        <p:xfrm>
          <a:off x="1721520" y="3205800"/>
          <a:ext cx="1547280" cy="860040"/>
        </p:xfrm>
        <a:graphic>
          <a:graphicData uri="http://schemas.openxmlformats.org/presentationml/2006/ole">
            <p:oleObj progId="Equation.DSMT4" r:id="rId5" spid="">
              <p:embed/>
            </p:oleObj>
          </a:graphicData>
        </a:graphic>
      </p:graphicFrame>
      <p:sp>
        <p:nvSpPr>
          <p:cNvPr id="495" name="Text Box 51"/>
          <p:cNvSpPr/>
          <p:nvPr/>
        </p:nvSpPr>
        <p:spPr>
          <a:xfrm rot="20353200">
            <a:off x="6093000" y="4132800"/>
            <a:ext cx="1072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901"/>
              </a:spcBef>
            </a:pPr>
            <a:r>
              <a:rPr b="1" lang="en-GB" sz="1800" spc="-1" strike="noStrike">
                <a:solidFill>
                  <a:schemeClr val="dk1"/>
                </a:solidFill>
                <a:latin typeface="Calibri"/>
              </a:rPr>
              <a:t>53.2 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6" name="Object 52"/>
          <p:cNvGraphicFramePr/>
          <p:nvPr/>
        </p:nvGraphicFramePr>
        <p:xfrm>
          <a:off x="3979080" y="2666160"/>
          <a:ext cx="1452240" cy="547200"/>
        </p:xfrm>
        <a:graphic>
          <a:graphicData uri="http://schemas.openxmlformats.org/presentationml/2006/ole">
            <p:oleObj progId="Equation.DSMT4" r:id="rId6" spid="">
              <p:embed/>
            </p:oleObj>
          </a:graphicData>
        </a:graphic>
      </p:graphicFrame>
      <p:graphicFrame>
        <p:nvGraphicFramePr>
          <p:cNvPr id="497" name="Object 53"/>
          <p:cNvGraphicFramePr/>
          <p:nvPr/>
        </p:nvGraphicFramePr>
        <p:xfrm>
          <a:off x="3693240" y="3359880"/>
          <a:ext cx="2514240" cy="541080"/>
        </p:xfrm>
        <a:graphic>
          <a:graphicData uri="http://schemas.openxmlformats.org/presentationml/2006/ole">
            <p:oleObj progId="Equation.DSMT4" r:id="rId7" spid="">
              <p:embed/>
            </p:oleObj>
          </a:graphicData>
        </a:graphic>
      </p:graphicFrame>
      <p:grpSp>
        <p:nvGrpSpPr>
          <p:cNvPr id="498" name="Group 56"/>
          <p:cNvGrpSpPr/>
          <p:nvPr/>
        </p:nvGrpSpPr>
        <p:grpSpPr>
          <a:xfrm>
            <a:off x="9460800" y="2078640"/>
            <a:ext cx="693360" cy="3765600"/>
            <a:chOff x="9460800" y="2078640"/>
            <a:chExt cx="693360" cy="3765600"/>
          </a:xfrm>
        </p:grpSpPr>
        <p:grpSp>
          <p:nvGrpSpPr>
            <p:cNvPr id="499" name="Group 42"/>
            <p:cNvGrpSpPr/>
            <p:nvPr/>
          </p:nvGrpSpPr>
          <p:grpSpPr>
            <a:xfrm>
              <a:off x="9460800" y="2078640"/>
              <a:ext cx="693360" cy="3765600"/>
              <a:chOff x="9460800" y="2078640"/>
              <a:chExt cx="693360" cy="3765600"/>
            </a:xfrm>
          </p:grpSpPr>
          <p:sp>
            <p:nvSpPr>
              <p:cNvPr id="500" name="Text Box 38"/>
              <p:cNvSpPr/>
              <p:nvPr/>
            </p:nvSpPr>
            <p:spPr>
              <a:xfrm>
                <a:off x="9551160" y="5541120"/>
                <a:ext cx="464760" cy="30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700"/>
                  </a:spcBef>
                </a:pPr>
                <a:r>
                  <a:rPr b="0" lang="en-GB" sz="1400" spc="-1" strike="noStrike">
                    <a:solidFill>
                      <a:schemeClr val="dk1"/>
                    </a:solidFill>
                    <a:latin typeface="Calibri"/>
                  </a:rPr>
                  <a:t>B</a:t>
                </a: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1" name="Text Box 39"/>
              <p:cNvSpPr/>
              <p:nvPr/>
            </p:nvSpPr>
            <p:spPr>
              <a:xfrm>
                <a:off x="9689400" y="2078640"/>
                <a:ext cx="464760" cy="30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700"/>
                  </a:spcBef>
                </a:pPr>
                <a:r>
                  <a:rPr b="0" lang="en-GB" sz="1400" spc="-1" strike="noStrike">
                    <a:solidFill>
                      <a:schemeClr val="dk1"/>
                    </a:solidFill>
                    <a:latin typeface="Calibri"/>
                  </a:rPr>
                  <a:t>T</a:t>
                </a: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502" name="Line 40"/>
              <p:cNvSpPr/>
              <p:nvPr/>
            </p:nvSpPr>
            <p:spPr>
              <a:xfrm>
                <a:off x="9681120" y="2351520"/>
                <a:ext cx="360" cy="601560"/>
              </a:xfrm>
              <a:prstGeom prst="line">
                <a:avLst/>
              </a:prstGeom>
              <a:ln w="12700">
                <a:solidFill>
                  <a:srgbClr val="ff0000"/>
                </a:solidFill>
                <a:prstDash val="sysDot"/>
                <a:round/>
                <a:headEnd len="med" type="triangle" w="med"/>
                <a:tailEnd len="med" type="triangle" w="med"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Autofit/>
              </a:bodyPr>
              <a:p>
                <a:endParaRPr b="0" lang="en-GB" sz="2400" spc="-1" strike="noStrike">
                  <a:solidFill>
                    <a:schemeClr val="dk1"/>
                  </a:solidFill>
                  <a:latin typeface="Calibri"/>
                </a:endParaRPr>
              </a:p>
            </p:txBody>
          </p:sp>
          <p:sp>
            <p:nvSpPr>
              <p:cNvPr id="503" name="Text Box 41"/>
              <p:cNvSpPr/>
              <p:nvPr/>
            </p:nvSpPr>
            <p:spPr>
              <a:xfrm>
                <a:off x="9460800" y="2964600"/>
                <a:ext cx="464760" cy="303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spAutoFit/>
              </a:bodyPr>
              <a:p>
                <a:pPr defTabSz="914400">
                  <a:lnSpc>
                    <a:spcPct val="100000"/>
                  </a:lnSpc>
                  <a:spcBef>
                    <a:spcPts val="700"/>
                  </a:spcBef>
                </a:pPr>
                <a:r>
                  <a:rPr b="0" lang="en-GB" sz="1400" spc="-1" strike="noStrike">
                    <a:solidFill>
                      <a:schemeClr val="dk1"/>
                    </a:solidFill>
                    <a:latin typeface="Calibri"/>
                  </a:rPr>
                  <a:t>C</a:t>
                </a: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sp>
          <p:nvSpPr>
            <p:cNvPr id="504" name="Line 55"/>
            <p:cNvSpPr/>
            <p:nvPr/>
          </p:nvSpPr>
          <p:spPr>
            <a:xfrm>
              <a:off x="9671760" y="2958120"/>
              <a:ext cx="360" cy="2543040"/>
            </a:xfrm>
            <a:prstGeom prst="line">
              <a:avLst/>
            </a:prstGeom>
            <a:ln cap="rnd" w="9525">
              <a:solidFill>
                <a:srgbClr val="ff0000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sp>
        <p:nvSpPr>
          <p:cNvPr id="505" name="Rectangle 60"/>
          <p:cNvSpPr/>
          <p:nvPr/>
        </p:nvSpPr>
        <p:spPr>
          <a:xfrm>
            <a:off x="2855160" y="2199240"/>
            <a:ext cx="1294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180 – 110 = 70</a:t>
            </a:r>
            <a:r>
              <a:rPr b="0" lang="en-GB" sz="1400" spc="-1" strike="noStrike" baseline="30000">
                <a:solidFill>
                  <a:schemeClr val="dk1"/>
                </a:solidFill>
                <a:latin typeface="Calibri"/>
              </a:rPr>
              <a:t>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Rectangle 61"/>
          <p:cNvSpPr/>
          <p:nvPr/>
        </p:nvSpPr>
        <p:spPr>
          <a:xfrm>
            <a:off x="5407920" y="2186640"/>
            <a:ext cx="1294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180 – 70 = 110</a:t>
            </a:r>
            <a:r>
              <a:rPr b="0" lang="en-GB" sz="1400" spc="-1" strike="noStrike" baseline="30000">
                <a:solidFill>
                  <a:schemeClr val="dk1"/>
                </a:solidFill>
                <a:latin typeface="Calibri"/>
              </a:rPr>
              <a:t>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Rectangle 62"/>
          <p:cNvSpPr/>
          <p:nvPr/>
        </p:nvSpPr>
        <p:spPr>
          <a:xfrm>
            <a:off x="8024040" y="2148480"/>
            <a:ext cx="1294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700"/>
              </a:spcBef>
            </a:pPr>
            <a:r>
              <a:rPr b="0" lang="en-GB" sz="1400" spc="-1" strike="noStrike">
                <a:solidFill>
                  <a:schemeClr val="dk1"/>
                </a:solidFill>
                <a:latin typeface="Calibri"/>
              </a:rPr>
              <a:t>180 – 115 = 65</a:t>
            </a:r>
            <a:r>
              <a:rPr b="0" lang="en-GB" sz="1400" spc="-1" strike="noStrike" baseline="30000">
                <a:solidFill>
                  <a:schemeClr val="dk1"/>
                </a:solidFill>
                <a:latin typeface="Calibri"/>
              </a:rPr>
              <a:t>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8" name="Group 64"/>
          <p:cNvGrpSpPr/>
          <p:nvPr/>
        </p:nvGrpSpPr>
        <p:grpSpPr>
          <a:xfrm>
            <a:off x="2475720" y="2948760"/>
            <a:ext cx="7233840" cy="2589120"/>
            <a:chOff x="2475720" y="2948760"/>
            <a:chExt cx="7233840" cy="2589120"/>
          </a:xfrm>
        </p:grpSpPr>
        <p:sp>
          <p:nvSpPr>
            <p:cNvPr id="509" name="Freeform 26"/>
            <p:cNvSpPr/>
            <p:nvPr/>
          </p:nvSpPr>
          <p:spPr>
            <a:xfrm>
              <a:off x="2475720" y="2948760"/>
              <a:ext cx="7233840" cy="2576160"/>
            </a:xfrm>
            <a:custGeom>
              <a:avLst/>
              <a:gdLst>
                <a:gd name="textAreaLeft" fmla="*/ 0 w 7233840"/>
                <a:gd name="textAreaRight" fmla="*/ 7234200 w 7233840"/>
                <a:gd name="textAreaTop" fmla="*/ 0 h 2576160"/>
                <a:gd name="textAreaBottom" fmla="*/ 2576520 h 2576160"/>
              </a:gdLst>
              <a:ahLst/>
              <a:rect l="textAreaLeft" t="textAreaTop" r="textAreaRight" b="textAreaBottom"/>
              <a:pathLst>
                <a:path w="4557" h="1623">
                  <a:moveTo>
                    <a:pt x="0" y="1623"/>
                  </a:moveTo>
                  <a:lnTo>
                    <a:pt x="4557" y="0"/>
                  </a:lnTo>
                </a:path>
              </a:pathLst>
            </a:custGeom>
            <a:noFill/>
            <a:ln w="9525">
              <a:solidFill>
                <a:srgbClr val="ed7d3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0" name="Text Box 28"/>
            <p:cNvSpPr/>
            <p:nvPr/>
          </p:nvSpPr>
          <p:spPr>
            <a:xfrm>
              <a:off x="3052080" y="5234760"/>
              <a:ext cx="59004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700"/>
                </a:spcBef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20</a:t>
              </a:r>
              <a:r>
                <a:rPr b="0" lang="en-GB" sz="1400" spc="-1" strike="noStrike" baseline="30000">
                  <a:solidFill>
                    <a:schemeClr val="dk1"/>
                  </a:solidFill>
                  <a:latin typeface="Calibri"/>
                </a:rPr>
                <a:t>o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1" name="Freeform 63"/>
            <p:cNvSpPr/>
            <p:nvPr/>
          </p:nvSpPr>
          <p:spPr>
            <a:xfrm>
              <a:off x="3617280" y="5117040"/>
              <a:ext cx="115560" cy="39636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396360"/>
                <a:gd name="textAreaBottom" fmla="*/ 396720 h 396360"/>
              </a:gdLst>
              <a:ahLst/>
              <a:rect l="textAreaLeft" t="textAreaTop" r="textAreaRight" b="textAreaBottom"/>
              <a:pathLst>
                <a:path w="75" h="246">
                  <a:moveTo>
                    <a:pt x="0" y="0"/>
                  </a:moveTo>
                  <a:cubicBezTo>
                    <a:pt x="11" y="20"/>
                    <a:pt x="57" y="81"/>
                    <a:pt x="66" y="122"/>
                  </a:cubicBezTo>
                  <a:cubicBezTo>
                    <a:pt x="75" y="163"/>
                    <a:pt x="56" y="220"/>
                    <a:pt x="54" y="24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  <p:grpSp>
        <p:nvGrpSpPr>
          <p:cNvPr id="512" name="Group 71"/>
          <p:cNvGrpSpPr/>
          <p:nvPr/>
        </p:nvGrpSpPr>
        <p:grpSpPr>
          <a:xfrm>
            <a:off x="2490120" y="2338920"/>
            <a:ext cx="7372080" cy="3171600"/>
            <a:chOff x="2490120" y="2338920"/>
            <a:chExt cx="7372080" cy="3171600"/>
          </a:xfrm>
        </p:grpSpPr>
        <p:sp>
          <p:nvSpPr>
            <p:cNvPr id="513" name="Freeform 27"/>
            <p:cNvSpPr/>
            <p:nvPr/>
          </p:nvSpPr>
          <p:spPr>
            <a:xfrm>
              <a:off x="2490120" y="2338920"/>
              <a:ext cx="7372080" cy="3171600"/>
            </a:xfrm>
            <a:custGeom>
              <a:avLst/>
              <a:gdLst>
                <a:gd name="textAreaLeft" fmla="*/ 0 w 7372080"/>
                <a:gd name="textAreaRight" fmla="*/ 7372440 w 7372080"/>
                <a:gd name="textAreaTop" fmla="*/ 0 h 3171600"/>
                <a:gd name="textAreaBottom" fmla="*/ 3171960 h 3171600"/>
              </a:gdLst>
              <a:ahLst/>
              <a:rect l="textAreaLeft" t="textAreaTop" r="textAreaRight" b="textAreaBottom"/>
              <a:pathLst>
                <a:path w="4644" h="1998">
                  <a:moveTo>
                    <a:pt x="0" y="1998"/>
                  </a:moveTo>
                  <a:lnTo>
                    <a:pt x="4644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4" name="Freeform 66"/>
            <p:cNvSpPr/>
            <p:nvPr/>
          </p:nvSpPr>
          <p:spPr>
            <a:xfrm>
              <a:off x="3883680" y="4917240"/>
              <a:ext cx="244080" cy="593280"/>
            </a:xfrm>
            <a:custGeom>
              <a:avLst/>
              <a:gdLst>
                <a:gd name="textAreaLeft" fmla="*/ 0 w 244080"/>
                <a:gd name="textAreaRight" fmla="*/ 244440 w 244080"/>
                <a:gd name="textAreaTop" fmla="*/ 0 h 593280"/>
                <a:gd name="textAreaBottom" fmla="*/ 593640 h 593280"/>
              </a:gdLst>
              <a:ahLst/>
              <a:rect l="textAreaLeft" t="textAreaTop" r="textAreaRight" b="textAreaBottom"/>
              <a:pathLst>
                <a:path w="154" h="374">
                  <a:moveTo>
                    <a:pt x="0" y="0"/>
                  </a:moveTo>
                  <a:cubicBezTo>
                    <a:pt x="22" y="28"/>
                    <a:pt x="114" y="104"/>
                    <a:pt x="134" y="166"/>
                  </a:cubicBezTo>
                  <a:cubicBezTo>
                    <a:pt x="154" y="228"/>
                    <a:pt x="123" y="331"/>
                    <a:pt x="120" y="374"/>
                  </a:cubicBezTo>
                </a:path>
              </a:pathLst>
            </a:custGeom>
            <a:noFill/>
            <a:ln w="9525">
              <a:solidFill>
                <a:srgbClr val="4472c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  <p:sp>
          <p:nvSpPr>
            <p:cNvPr id="515" name="Text Box 68"/>
            <p:cNvSpPr/>
            <p:nvPr/>
          </p:nvSpPr>
          <p:spPr>
            <a:xfrm>
              <a:off x="3674160" y="5063040"/>
              <a:ext cx="4791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spcBef>
                  <a:spcPts val="700"/>
                </a:spcBef>
              </a:pPr>
              <a:r>
                <a:rPr b="1" lang="en-GB" sz="1400" spc="-1" strike="noStrike">
                  <a:solidFill>
                    <a:schemeClr val="dk1"/>
                  </a:solidFill>
                  <a:latin typeface="Calibri"/>
                </a:rPr>
                <a:t>25</a:t>
              </a:r>
              <a:r>
                <a:rPr b="1" lang="en-GB" sz="1400" spc="-1" strike="noStrike" baseline="30000">
                  <a:solidFill>
                    <a:schemeClr val="dk1"/>
                  </a:solidFill>
                  <a:latin typeface="Calibri"/>
                </a:rPr>
                <a:t>o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6" name="Group 70"/>
          <p:cNvGrpSpPr/>
          <p:nvPr/>
        </p:nvGrpSpPr>
        <p:grpSpPr>
          <a:xfrm>
            <a:off x="3104640" y="4653720"/>
            <a:ext cx="496440" cy="418680"/>
            <a:chOff x="3104640" y="4653720"/>
            <a:chExt cx="496440" cy="418680"/>
          </a:xfrm>
        </p:grpSpPr>
        <p:sp>
          <p:nvSpPr>
            <p:cNvPr id="517" name="Text Box 31"/>
            <p:cNvSpPr/>
            <p:nvPr/>
          </p:nvSpPr>
          <p:spPr>
            <a:xfrm>
              <a:off x="3104640" y="4653720"/>
              <a:ext cx="324360" cy="30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GB" sz="1400" spc="-1" strike="noStrike">
                  <a:solidFill>
                    <a:schemeClr val="dk1"/>
                  </a:solidFill>
                  <a:latin typeface="Calibri"/>
                </a:rPr>
                <a:t>5</a:t>
              </a:r>
              <a:r>
                <a:rPr b="0" lang="en-GB" sz="1400" spc="-1" strike="noStrike" baseline="30000">
                  <a:solidFill>
                    <a:schemeClr val="dk1"/>
                  </a:solidFill>
                  <a:latin typeface="Calibri"/>
                </a:rPr>
                <a:t>o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Line 69"/>
            <p:cNvSpPr/>
            <p:nvPr/>
          </p:nvSpPr>
          <p:spPr>
            <a:xfrm>
              <a:off x="3340800" y="4859640"/>
              <a:ext cx="260280" cy="21276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GB" sz="2400" spc="-1" strike="noStrike">
                <a:solidFill>
                  <a:schemeClr val="dk1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" dur="indefinite" restart="never" nodeType="tmRoot">
          <p:childTnLst>
            <p:seq>
              <p:cTn id="51" dur="indefinite" nodeType="mainSeq">
                <p:childTnLst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56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4" presetSubtype="3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 additive="repl">
                                        <p:cTn id="61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66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71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76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nodeType="clickEffect" fill="hold" presetClass="entr" presetID="2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 additive="repl">
                                        <p:cTn id="81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86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91" dur="5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96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1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06" dur="5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11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16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21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26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1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36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1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46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 additive="repl">
                                        <p:cTn id="151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THE COSINE RULE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Two Forms — Side or Angle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39"/>
          <p:cNvSpPr/>
          <p:nvPr/>
        </p:nvSpPr>
        <p:spPr>
          <a:xfrm>
            <a:off x="567000" y="1325880"/>
            <a:ext cx="6235920" cy="621360"/>
          </a:xfrm>
          <a:prstGeom prst="roundRect">
            <a:avLst>
              <a:gd name="adj" fmla="val 8824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40"/>
          <p:cNvSpPr/>
          <p:nvPr/>
        </p:nvSpPr>
        <p:spPr>
          <a:xfrm>
            <a:off x="887040" y="1325880"/>
            <a:ext cx="1042380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libri"/>
                <a:ea typeface="Calibri"/>
              </a:rPr>
              <a:t>The angle A always sits opposite the side a. </a:t>
            </a:r>
            <a:r>
              <a:rPr b="0" lang="en-US" sz="1350" spc="-1" strike="noStrike">
                <a:solidFill>
                  <a:srgbClr val="edebdd"/>
                </a:solidFill>
                <a:latin typeface="Calibri"/>
                <a:ea typeface="Calibri"/>
              </a:rPr>
              <a:t>Label the triangle before you substitute.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41"/>
          <p:cNvSpPr/>
          <p:nvPr/>
        </p:nvSpPr>
        <p:spPr>
          <a:xfrm>
            <a:off x="567000" y="3080160"/>
            <a:ext cx="5440320" cy="2451600"/>
          </a:xfrm>
          <a:prstGeom prst="roundRect">
            <a:avLst>
              <a:gd name="adj" fmla="val 1667"/>
            </a:avLst>
          </a:prstGeom>
          <a:solidFill>
            <a:srgbClr val="eef1e8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42"/>
          <p:cNvSpPr/>
          <p:nvPr/>
        </p:nvSpPr>
        <p:spPr>
          <a:xfrm>
            <a:off x="949680" y="331632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Finding a SIDE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43"/>
          <p:cNvSpPr/>
          <p:nvPr/>
        </p:nvSpPr>
        <p:spPr>
          <a:xfrm>
            <a:off x="871560" y="3819240"/>
            <a:ext cx="4754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</a:t>
            </a:r>
            <a:r>
              <a:rPr b="1" lang="en-US" sz="18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  =  b</a:t>
            </a:r>
            <a:r>
              <a:rPr b="1" lang="en-US" sz="18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  +  c</a:t>
            </a:r>
            <a:r>
              <a:rPr b="1" lang="en-US" sz="18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  −  2bc cos 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44"/>
          <p:cNvSpPr/>
          <p:nvPr/>
        </p:nvSpPr>
        <p:spPr>
          <a:xfrm>
            <a:off x="914400" y="45720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You know: </a:t>
            </a: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two sides (b, c) and the angle BETWEEN them (A).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Text 45"/>
          <p:cNvSpPr/>
          <p:nvPr/>
        </p:nvSpPr>
        <p:spPr>
          <a:xfrm>
            <a:off x="1024200" y="516636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Don't forget the square root at the end!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46"/>
          <p:cNvSpPr/>
          <p:nvPr/>
        </p:nvSpPr>
        <p:spPr>
          <a:xfrm>
            <a:off x="6190560" y="3080160"/>
            <a:ext cx="5440320" cy="2451600"/>
          </a:xfrm>
          <a:prstGeom prst="roundRect">
            <a:avLst>
              <a:gd name="adj" fmla="val 1667"/>
            </a:avLst>
          </a:prstGeom>
          <a:solidFill>
            <a:srgbClr val="fbf3dd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47"/>
          <p:cNvSpPr/>
          <p:nvPr/>
        </p:nvSpPr>
        <p:spPr>
          <a:xfrm>
            <a:off x="6482520" y="3362040"/>
            <a:ext cx="4708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1c2a22"/>
                </a:solidFill>
                <a:latin typeface="Cambria"/>
                <a:ea typeface="Cambria"/>
              </a:rPr>
              <a:t>Finding an ANGLE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48"/>
          <p:cNvSpPr/>
          <p:nvPr/>
        </p:nvSpPr>
        <p:spPr>
          <a:xfrm>
            <a:off x="6446520" y="3773520"/>
            <a:ext cx="1554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cos A  =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Text 49"/>
          <p:cNvSpPr/>
          <p:nvPr/>
        </p:nvSpPr>
        <p:spPr>
          <a:xfrm>
            <a:off x="8046720" y="381924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b</a:t>
            </a:r>
            <a:r>
              <a:rPr b="1" lang="en-US" sz="16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 + c</a:t>
            </a:r>
            <a:r>
              <a:rPr b="1" lang="en-US" sz="16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 − a</a:t>
            </a:r>
            <a:r>
              <a:rPr b="1" lang="en-US" sz="1600" spc="-1" strike="noStrike" baseline="30000">
                <a:solidFill>
                  <a:srgbClr val="1c2a22"/>
                </a:solidFill>
                <a:latin typeface="Cambria"/>
                <a:ea typeface="Cambria"/>
              </a:rPr>
              <a:t>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50"/>
          <p:cNvSpPr/>
          <p:nvPr/>
        </p:nvSpPr>
        <p:spPr>
          <a:xfrm>
            <a:off x="8046720" y="4093200"/>
            <a:ext cx="2468880" cy="360"/>
          </a:xfrm>
          <a:prstGeom prst="line">
            <a:avLst/>
          </a:prstGeom>
          <a:ln w="19050">
            <a:solidFill>
              <a:srgbClr val="1c2a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51"/>
          <p:cNvSpPr/>
          <p:nvPr/>
        </p:nvSpPr>
        <p:spPr>
          <a:xfrm>
            <a:off x="8046720" y="4120920"/>
            <a:ext cx="2468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a22"/>
                </a:solidFill>
                <a:latin typeface="Cambria"/>
                <a:ea typeface="Cambria"/>
              </a:rPr>
              <a:t>2bc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52"/>
          <p:cNvSpPr/>
          <p:nvPr/>
        </p:nvSpPr>
        <p:spPr>
          <a:xfrm>
            <a:off x="6537960" y="4427640"/>
            <a:ext cx="4754520" cy="50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You know: </a:t>
            </a: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all THREE sides. Then use cos⁻¹.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53"/>
          <p:cNvSpPr/>
          <p:nvPr/>
        </p:nvSpPr>
        <p:spPr>
          <a:xfrm>
            <a:off x="6537960" y="5104800"/>
            <a:ext cx="4754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6b60"/>
                </a:solidFill>
                <a:latin typeface="Calibri"/>
                <a:ea typeface="Calibri"/>
              </a:rPr>
              <a:t>The angle you find is opposite the side a.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54"/>
          <p:cNvSpPr/>
          <p:nvPr/>
        </p:nvSpPr>
        <p:spPr>
          <a:xfrm>
            <a:off x="567000" y="5715000"/>
            <a:ext cx="11063880" cy="82260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55"/>
          <p:cNvSpPr/>
          <p:nvPr/>
        </p:nvSpPr>
        <p:spPr>
          <a:xfrm>
            <a:off x="841320" y="5715000"/>
            <a:ext cx="10515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e0ac2b"/>
                </a:solidFill>
                <a:latin typeface="Cambria"/>
                <a:ea typeface="Cambria"/>
              </a:rPr>
              <a:t>Largest angle is always opposite the LONGEST side — useful for checking.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Rectangle 57"/>
          <p:cNvSpPr/>
          <p:nvPr/>
        </p:nvSpPr>
        <p:spPr>
          <a:xfrm>
            <a:off x="6847200" y="1374480"/>
            <a:ext cx="3312720" cy="13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When you have: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400"/>
              </a:spcAft>
              <a:buClr>
                <a:srgbClr val="1c2a22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Three SIDES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Aft>
                <a:spcPts val="400"/>
              </a:spcAft>
              <a:buClr>
                <a:srgbClr val="1c2a22"/>
              </a:buClr>
              <a:buFont typeface="Arial"/>
              <a:buChar char="•"/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 </a:t>
            </a: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One ANGLE 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b="1" lang="en-US" sz="1800" spc="-1" strike="noStrike">
                <a:solidFill>
                  <a:srgbClr val="1c2a22"/>
                </a:solidFill>
                <a:latin typeface="Cambria"/>
                <a:ea typeface="Cambria"/>
              </a:rPr>
              <a:t>and ONE of them is missing.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6" name="Picture 2" descr=""/>
          <p:cNvPicPr/>
          <p:nvPr/>
        </p:nvPicPr>
        <p:blipFill>
          <a:blip r:embed="rId1"/>
          <a:stretch/>
        </p:blipFill>
        <p:spPr>
          <a:xfrm>
            <a:off x="9637920" y="676800"/>
            <a:ext cx="2514240" cy="167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COSINE RULE ·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a Side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Shape 39"/>
          <p:cNvSpPr/>
          <p:nvPr/>
        </p:nvSpPr>
        <p:spPr>
          <a:xfrm>
            <a:off x="1368360" y="1353240"/>
            <a:ext cx="9454680" cy="441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Two sides and the angle BETWEEN them → cosine rule.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19" name="Picture 2" descr=""/>
          <p:cNvPicPr/>
          <p:nvPr/>
        </p:nvPicPr>
        <p:blipFill>
          <a:blip r:embed="rId1"/>
          <a:stretch/>
        </p:blipFill>
        <p:spPr>
          <a:xfrm>
            <a:off x="2111760" y="2376720"/>
            <a:ext cx="3600000" cy="3183120"/>
          </a:xfrm>
          <a:prstGeom prst="rect">
            <a:avLst/>
          </a:prstGeom>
          <a:ln w="38100">
            <a:solidFill>
              <a:srgbClr val="5b9bd5"/>
            </a:solidFill>
            <a:miter/>
          </a:ln>
        </p:spPr>
      </p:pic>
      <p:pic>
        <p:nvPicPr>
          <p:cNvPr id="620" name="Picture 1" descr=""/>
          <p:cNvPicPr/>
          <p:nvPr/>
        </p:nvPicPr>
        <p:blipFill>
          <a:blip r:embed="rId2"/>
          <a:stretch/>
        </p:blipFill>
        <p:spPr>
          <a:xfrm>
            <a:off x="6593400" y="2410200"/>
            <a:ext cx="3230640" cy="415440"/>
          </a:xfrm>
          <a:prstGeom prst="rect">
            <a:avLst/>
          </a:prstGeom>
          <a:ln w="0">
            <a:noFill/>
          </a:ln>
        </p:spPr>
      </p:pic>
      <p:pic>
        <p:nvPicPr>
          <p:cNvPr id="621" name="Picture 7" descr=""/>
          <p:cNvPicPr/>
          <p:nvPr/>
        </p:nvPicPr>
        <p:blipFill>
          <a:blip r:embed="rId3"/>
          <a:stretch/>
        </p:blipFill>
        <p:spPr>
          <a:xfrm>
            <a:off x="6720480" y="3141720"/>
            <a:ext cx="4067640" cy="297000"/>
          </a:xfrm>
          <a:prstGeom prst="rect">
            <a:avLst/>
          </a:prstGeom>
          <a:ln w="0">
            <a:noFill/>
          </a:ln>
        </p:spPr>
      </p:pic>
      <p:pic>
        <p:nvPicPr>
          <p:cNvPr id="622" name="Picture 10" descr=""/>
          <p:cNvPicPr/>
          <p:nvPr/>
        </p:nvPicPr>
        <p:blipFill>
          <a:blip r:embed="rId4"/>
          <a:stretch/>
        </p:blipFill>
        <p:spPr>
          <a:xfrm>
            <a:off x="6593400" y="3754800"/>
            <a:ext cx="2257200" cy="380520"/>
          </a:xfrm>
          <a:prstGeom prst="rect">
            <a:avLst/>
          </a:prstGeom>
          <a:ln w="0">
            <a:noFill/>
          </a:ln>
        </p:spPr>
      </p:pic>
      <p:pic>
        <p:nvPicPr>
          <p:cNvPr id="623" name="Picture 13" descr=""/>
          <p:cNvPicPr/>
          <p:nvPr/>
        </p:nvPicPr>
        <p:blipFill>
          <a:blip r:embed="rId5"/>
          <a:stretch/>
        </p:blipFill>
        <p:spPr>
          <a:xfrm>
            <a:off x="6762600" y="4451400"/>
            <a:ext cx="2088000" cy="372600"/>
          </a:xfrm>
          <a:prstGeom prst="rect">
            <a:avLst/>
          </a:prstGeom>
          <a:ln w="0">
            <a:noFill/>
          </a:ln>
        </p:spPr>
      </p:pic>
      <p:pic>
        <p:nvPicPr>
          <p:cNvPr id="624" name="Picture 16" descr=""/>
          <p:cNvPicPr/>
          <p:nvPr/>
        </p:nvPicPr>
        <p:blipFill>
          <a:blip r:embed="rId6"/>
          <a:stretch/>
        </p:blipFill>
        <p:spPr>
          <a:xfrm>
            <a:off x="6744960" y="5140080"/>
            <a:ext cx="2123640" cy="380520"/>
          </a:xfrm>
          <a:prstGeom prst="rect">
            <a:avLst/>
          </a:prstGeom>
          <a:ln w="0">
            <a:noFill/>
          </a:ln>
        </p:spPr>
      </p:pic>
      <p:sp>
        <p:nvSpPr>
          <p:cNvPr id="625" name="Rectangle 50"/>
          <p:cNvSpPr/>
          <p:nvPr/>
        </p:nvSpPr>
        <p:spPr>
          <a:xfrm>
            <a:off x="1762560" y="1548720"/>
            <a:ext cx="796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a.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2" dur="indefinite" restart="never" nodeType="tmRoot">
          <p:childTnLst>
            <p:seq>
              <p:cTn id="153" dur="indefinite" nodeType="mainSeq">
                <p:childTnLst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58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3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68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3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78"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COSINE RULE ·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an Angle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5" name="Shape 39"/>
          <p:cNvSpPr/>
          <p:nvPr/>
        </p:nvSpPr>
        <p:spPr>
          <a:xfrm>
            <a:off x="2085480" y="1353240"/>
            <a:ext cx="882288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All three sides given → rearrange for cos A, then use cos⁻¹.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8" name="Picture 17" descr="http://www.s-cool.co.uk/assets/test_its/alevel/maths/trigonometry/quest210.jpg"/>
          <p:cNvPicPr/>
          <p:nvPr/>
        </p:nvPicPr>
        <p:blipFill>
          <a:blip r:embed="rId1"/>
          <a:stretch/>
        </p:blipFill>
        <p:spPr>
          <a:xfrm>
            <a:off x="3100680" y="2007000"/>
            <a:ext cx="3384000" cy="2414880"/>
          </a:xfrm>
          <a:prstGeom prst="rect">
            <a:avLst/>
          </a:prstGeom>
          <a:ln w="38100">
            <a:solidFill>
              <a:srgbClr val="ffc000"/>
            </a:solidFill>
            <a:round/>
          </a:ln>
        </p:spPr>
      </p:pic>
      <p:sp>
        <p:nvSpPr>
          <p:cNvPr id="669" name="TextBox 45"/>
          <p:cNvSpPr/>
          <p:nvPr/>
        </p:nvSpPr>
        <p:spPr>
          <a:xfrm>
            <a:off x="6942240" y="1348920"/>
            <a:ext cx="3276720" cy="83340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TextBox 46"/>
          <p:cNvSpPr/>
          <p:nvPr/>
        </p:nvSpPr>
        <p:spPr>
          <a:xfrm>
            <a:off x="6989040" y="2315520"/>
            <a:ext cx="3274920" cy="8985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TextBox 47"/>
          <p:cNvSpPr/>
          <p:nvPr/>
        </p:nvSpPr>
        <p:spPr>
          <a:xfrm>
            <a:off x="6995160" y="3314520"/>
            <a:ext cx="1573200" cy="7844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2" name="TextBox 48"/>
          <p:cNvSpPr/>
          <p:nvPr/>
        </p:nvSpPr>
        <p:spPr>
          <a:xfrm>
            <a:off x="7549920" y="4229280"/>
            <a:ext cx="2175120" cy="92196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TextBox 49"/>
          <p:cNvSpPr/>
          <p:nvPr/>
        </p:nvSpPr>
        <p:spPr>
          <a:xfrm>
            <a:off x="7565040" y="5165280"/>
            <a:ext cx="2443680" cy="46116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Box 50"/>
          <p:cNvSpPr/>
          <p:nvPr/>
        </p:nvSpPr>
        <p:spPr>
          <a:xfrm>
            <a:off x="7565040" y="5692680"/>
            <a:ext cx="2225880" cy="46116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Rectangle 51"/>
          <p:cNvSpPr/>
          <p:nvPr/>
        </p:nvSpPr>
        <p:spPr>
          <a:xfrm>
            <a:off x="2284560" y="1515960"/>
            <a:ext cx="2555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the size of angle BAC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9" dur="indefinite" restart="never" nodeType="tmRoot">
          <p:childTnLst>
            <p:seq>
              <p:cTn id="180" dur="indefinite" nodeType="mainSeq">
                <p:childTnLst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COSINE RULE · PROBLEM SOLVING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In Context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Shape 39"/>
          <p:cNvSpPr/>
          <p:nvPr/>
        </p:nvSpPr>
        <p:spPr>
          <a:xfrm>
            <a:off x="2710080" y="1353240"/>
            <a:ext cx="749412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Draw the triangle, label it, then decide the rule.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8" name="Picture 2" descr=""/>
          <p:cNvPicPr/>
          <p:nvPr/>
        </p:nvPicPr>
        <p:blipFill>
          <a:blip r:embed="rId1"/>
          <a:stretch/>
        </p:blipFill>
        <p:spPr>
          <a:xfrm>
            <a:off x="2710080" y="1353240"/>
            <a:ext cx="7207920" cy="3487320"/>
          </a:xfrm>
          <a:prstGeom prst="rect">
            <a:avLst/>
          </a:prstGeom>
          <a:ln w="38100">
            <a:solidFill>
              <a:srgbClr val="ff66ff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AREA OF A TRIANGLE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Area = ½ ab sin C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Shape 39"/>
          <p:cNvSpPr/>
          <p:nvPr/>
        </p:nvSpPr>
        <p:spPr>
          <a:xfrm>
            <a:off x="2783160" y="1353240"/>
            <a:ext cx="662472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0ac2b"/>
                </a:solidFill>
                <a:latin typeface="Calibri"/>
                <a:ea typeface="Calibri"/>
              </a:rPr>
              <a:t>Use when you know TWO SIDES and the angle BETWEEN them. </a:t>
            </a:r>
            <a:r>
              <a:rPr b="0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The angle must be between the two sides.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Rectangle 44"/>
          <p:cNvSpPr/>
          <p:nvPr/>
        </p:nvSpPr>
        <p:spPr>
          <a:xfrm>
            <a:off x="2834640" y="1377720"/>
            <a:ext cx="60955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Discussion – Is it possible to find the area of this triangle from the information given, using methods you already know?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2" name="Picture 2" descr=""/>
          <p:cNvPicPr/>
          <p:nvPr/>
        </p:nvPicPr>
        <p:blipFill>
          <a:blip r:embed="rId1"/>
          <a:stretch/>
        </p:blipFill>
        <p:spPr>
          <a:xfrm>
            <a:off x="2834640" y="2189160"/>
            <a:ext cx="5784120" cy="2982600"/>
          </a:xfrm>
          <a:prstGeom prst="rect">
            <a:avLst/>
          </a:prstGeom>
          <a:ln w="38100">
            <a:solidFill>
              <a:srgbClr val="ffc000"/>
            </a:solidFill>
            <a:miter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AREA ·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Finding the Area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Shape 39"/>
          <p:cNvSpPr/>
          <p:nvPr/>
        </p:nvSpPr>
        <p:spPr>
          <a:xfrm>
            <a:off x="1777680" y="1353240"/>
            <a:ext cx="863568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3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Two sides and the included angle → ½ ab sin C.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5" name="Picture 2" descr=""/>
          <p:cNvPicPr/>
          <p:nvPr/>
        </p:nvPicPr>
        <p:blipFill>
          <a:blip r:embed="rId1"/>
          <a:stretch/>
        </p:blipFill>
        <p:spPr>
          <a:xfrm>
            <a:off x="2228760" y="2090880"/>
            <a:ext cx="7733880" cy="308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AREA · EXAMPLE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Working Backwards from the Area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5" name="Shape 39"/>
          <p:cNvSpPr/>
          <p:nvPr/>
        </p:nvSpPr>
        <p:spPr>
          <a:xfrm>
            <a:off x="2329920" y="1353240"/>
            <a:ext cx="7531560" cy="4654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6" name="Shape 40"/>
          <p:cNvSpPr/>
          <p:nvPr/>
        </p:nvSpPr>
        <p:spPr>
          <a:xfrm>
            <a:off x="567000" y="6144840"/>
            <a:ext cx="11063880" cy="548280"/>
          </a:xfrm>
          <a:prstGeom prst="roundRect">
            <a:avLst>
              <a:gd name="adj" fmla="val 10000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7" name="Text 41"/>
          <p:cNvSpPr/>
          <p:nvPr/>
        </p:nvSpPr>
        <p:spPr>
          <a:xfrm>
            <a:off x="887040" y="6144840"/>
            <a:ext cx="104238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Given the area, substitute and solve for the missing side or angle.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8" name="Picture 2" descr=""/>
          <p:cNvPicPr/>
          <p:nvPr/>
        </p:nvPicPr>
        <p:blipFill>
          <a:blip r:embed="rId1"/>
          <a:stretch/>
        </p:blipFill>
        <p:spPr>
          <a:xfrm>
            <a:off x="2574000" y="3035160"/>
            <a:ext cx="3851640" cy="2605320"/>
          </a:xfrm>
          <a:prstGeom prst="rect">
            <a:avLst/>
          </a:prstGeom>
          <a:ln w="38100">
            <a:solidFill>
              <a:srgbClr val="70ad47"/>
            </a:solidFill>
            <a:miter/>
          </a:ln>
        </p:spPr>
      </p:pic>
      <p:pic>
        <p:nvPicPr>
          <p:cNvPr id="849" name="Picture 1" descr=""/>
          <p:cNvPicPr/>
          <p:nvPr/>
        </p:nvPicPr>
        <p:blipFill>
          <a:blip r:embed="rId2"/>
          <a:stretch/>
        </p:blipFill>
        <p:spPr>
          <a:xfrm>
            <a:off x="6732360" y="1700640"/>
            <a:ext cx="2088000" cy="680040"/>
          </a:xfrm>
          <a:prstGeom prst="rect">
            <a:avLst/>
          </a:prstGeom>
          <a:ln w="0">
            <a:noFill/>
          </a:ln>
        </p:spPr>
      </p:pic>
      <p:pic>
        <p:nvPicPr>
          <p:cNvPr id="850" name="Picture 4" descr=""/>
          <p:cNvPicPr/>
          <p:nvPr/>
        </p:nvPicPr>
        <p:blipFill>
          <a:blip r:embed="rId3"/>
          <a:stretch/>
        </p:blipFill>
        <p:spPr>
          <a:xfrm>
            <a:off x="6804360" y="2491200"/>
            <a:ext cx="3168000" cy="667440"/>
          </a:xfrm>
          <a:prstGeom prst="rect">
            <a:avLst/>
          </a:prstGeom>
          <a:ln w="0">
            <a:noFill/>
          </a:ln>
        </p:spPr>
      </p:pic>
      <p:pic>
        <p:nvPicPr>
          <p:cNvPr id="851" name="Picture 47" descr=""/>
          <p:cNvPicPr/>
          <p:nvPr/>
        </p:nvPicPr>
        <p:blipFill>
          <a:blip r:embed="rId4"/>
          <a:stretch/>
        </p:blipFill>
        <p:spPr>
          <a:xfrm>
            <a:off x="6804360" y="3334320"/>
            <a:ext cx="2736000" cy="376560"/>
          </a:xfrm>
          <a:prstGeom prst="rect">
            <a:avLst/>
          </a:prstGeom>
          <a:ln w="0">
            <a:noFill/>
          </a:ln>
        </p:spPr>
      </p:pic>
      <p:pic>
        <p:nvPicPr>
          <p:cNvPr id="852" name="Picture 8" descr=""/>
          <p:cNvPicPr/>
          <p:nvPr/>
        </p:nvPicPr>
        <p:blipFill>
          <a:blip r:embed="rId5"/>
          <a:stretch/>
        </p:blipFill>
        <p:spPr>
          <a:xfrm>
            <a:off x="7236360" y="3846600"/>
            <a:ext cx="1872000" cy="688680"/>
          </a:xfrm>
          <a:prstGeom prst="rect">
            <a:avLst/>
          </a:prstGeom>
          <a:ln w="0">
            <a:noFill/>
          </a:ln>
        </p:spPr>
      </p:pic>
      <p:pic>
        <p:nvPicPr>
          <p:cNvPr id="853" name="Picture 10" descr=""/>
          <p:cNvPicPr/>
          <p:nvPr/>
        </p:nvPicPr>
        <p:blipFill>
          <a:blip r:embed="rId6"/>
          <a:stretch/>
        </p:blipFill>
        <p:spPr>
          <a:xfrm>
            <a:off x="7452360" y="4797720"/>
            <a:ext cx="1439640" cy="380520"/>
          </a:xfrm>
          <a:prstGeom prst="rect">
            <a:avLst/>
          </a:prstGeom>
          <a:ln w="0">
            <a:solidFill>
              <a:srgbClr val="70ad47"/>
            </a:solidFill>
          </a:ln>
        </p:spPr>
      </p:pic>
      <p:sp>
        <p:nvSpPr>
          <p:cNvPr id="854" name="Rectangle 50"/>
          <p:cNvSpPr/>
          <p:nvPr/>
        </p:nvSpPr>
        <p:spPr>
          <a:xfrm>
            <a:off x="2350800" y="1515960"/>
            <a:ext cx="4347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GB" sz="1800" spc="-1" strike="noStrike">
                <a:solidFill>
                  <a:schemeClr val="dk1"/>
                </a:solidFill>
                <a:latin typeface="Calibri"/>
              </a:rPr>
              <a:t>Find the missing side or angle, given the area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5" dur="indefinite" restart="never" nodeType="tmRoot">
          <p:childTnLst>
            <p:seq>
              <p:cTn id="206" dur="indefinite" nodeType="mainSeq">
                <p:childTnLst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1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16"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1" dur="500"/>
                                        <p:tgtEl>
                                          <p:spTgt spid="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26" dur="5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231" dur="500"/>
                                        <p:tgtEl>
                                          <p:spTgt spid="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SUMMARY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The Decision Table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4" name="Shape 39"/>
          <p:cNvSpPr/>
          <p:nvPr/>
        </p:nvSpPr>
        <p:spPr>
          <a:xfrm>
            <a:off x="567000" y="1325880"/>
            <a:ext cx="11063880" cy="566640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 40"/>
          <p:cNvSpPr/>
          <p:nvPr/>
        </p:nvSpPr>
        <p:spPr>
          <a:xfrm>
            <a:off x="887040" y="1325880"/>
            <a:ext cx="104238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debdd"/>
                </a:solidFill>
                <a:latin typeface="Calibri"/>
                <a:ea typeface="Calibri"/>
              </a:rPr>
              <a:t>Look at what the question GIVES you, then pick the rule.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6" name="Shape 41"/>
          <p:cNvSpPr/>
          <p:nvPr/>
        </p:nvSpPr>
        <p:spPr>
          <a:xfrm>
            <a:off x="567000" y="2148840"/>
            <a:ext cx="434304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Text 42"/>
          <p:cNvSpPr/>
          <p:nvPr/>
        </p:nvSpPr>
        <p:spPr>
          <a:xfrm>
            <a:off x="676800" y="2148840"/>
            <a:ext cx="4123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mbria"/>
                <a:ea typeface="Cambria"/>
              </a:rPr>
              <a:t>What you are given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Shape 43"/>
          <p:cNvSpPr/>
          <p:nvPr/>
        </p:nvSpPr>
        <p:spPr>
          <a:xfrm>
            <a:off x="5120640" y="2148840"/>
            <a:ext cx="342864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Text 44"/>
          <p:cNvSpPr/>
          <p:nvPr/>
        </p:nvSpPr>
        <p:spPr>
          <a:xfrm>
            <a:off x="5230440" y="2148840"/>
            <a:ext cx="3209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mbria"/>
                <a:ea typeface="Cambria"/>
              </a:rPr>
              <a:t>Rule to use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Shape 45"/>
          <p:cNvSpPr/>
          <p:nvPr/>
        </p:nvSpPr>
        <p:spPr>
          <a:xfrm>
            <a:off x="8778240" y="2148840"/>
            <a:ext cx="2852640" cy="502560"/>
          </a:xfrm>
          <a:prstGeom prst="rect">
            <a:avLst/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Text 46"/>
          <p:cNvSpPr/>
          <p:nvPr/>
        </p:nvSpPr>
        <p:spPr>
          <a:xfrm>
            <a:off x="8888040" y="2148840"/>
            <a:ext cx="2633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0ac2b"/>
                </a:solidFill>
                <a:latin typeface="Cambria"/>
                <a:ea typeface="Cambria"/>
              </a:rPr>
              <a:t>Find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2" name="Shape 47"/>
          <p:cNvSpPr/>
          <p:nvPr/>
        </p:nvSpPr>
        <p:spPr>
          <a:xfrm>
            <a:off x="567000" y="2679120"/>
            <a:ext cx="43430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3" name="Text 48"/>
          <p:cNvSpPr/>
          <p:nvPr/>
        </p:nvSpPr>
        <p:spPr>
          <a:xfrm>
            <a:off x="704160" y="2679120"/>
            <a:ext cx="4068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2 angles + 1 side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4" name="Shape 49"/>
          <p:cNvSpPr/>
          <p:nvPr/>
        </p:nvSpPr>
        <p:spPr>
          <a:xfrm>
            <a:off x="5120640" y="2679120"/>
            <a:ext cx="34286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Text 50"/>
          <p:cNvSpPr/>
          <p:nvPr/>
        </p:nvSpPr>
        <p:spPr>
          <a:xfrm>
            <a:off x="5257800" y="2679120"/>
            <a:ext cx="3154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SINE RULE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6" name="Shape 51"/>
          <p:cNvSpPr/>
          <p:nvPr/>
        </p:nvSpPr>
        <p:spPr>
          <a:xfrm>
            <a:off x="8778240" y="2679120"/>
            <a:ext cx="28526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" name="Text 52"/>
          <p:cNvSpPr/>
          <p:nvPr/>
        </p:nvSpPr>
        <p:spPr>
          <a:xfrm>
            <a:off x="8915400" y="2679120"/>
            <a:ext cx="2578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 side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8" name="Shape 53"/>
          <p:cNvSpPr/>
          <p:nvPr/>
        </p:nvSpPr>
        <p:spPr>
          <a:xfrm>
            <a:off x="567000" y="3392280"/>
            <a:ext cx="4343040" cy="6764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9" name="Text 54"/>
          <p:cNvSpPr/>
          <p:nvPr/>
        </p:nvSpPr>
        <p:spPr>
          <a:xfrm>
            <a:off x="704160" y="3392280"/>
            <a:ext cx="4068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2 sides + 1 angle opposite one of them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0" name="Shape 55"/>
          <p:cNvSpPr/>
          <p:nvPr/>
        </p:nvSpPr>
        <p:spPr>
          <a:xfrm>
            <a:off x="5120640" y="3392280"/>
            <a:ext cx="3428640" cy="6764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1" name="Text 56"/>
          <p:cNvSpPr/>
          <p:nvPr/>
        </p:nvSpPr>
        <p:spPr>
          <a:xfrm>
            <a:off x="5257800" y="3392280"/>
            <a:ext cx="3154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SINE RULE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2" name="Shape 57"/>
          <p:cNvSpPr/>
          <p:nvPr/>
        </p:nvSpPr>
        <p:spPr>
          <a:xfrm>
            <a:off x="8778240" y="3392280"/>
            <a:ext cx="2852640" cy="6764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3" name="Text 58"/>
          <p:cNvSpPr/>
          <p:nvPr/>
        </p:nvSpPr>
        <p:spPr>
          <a:xfrm>
            <a:off x="8915400" y="3392280"/>
            <a:ext cx="2578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an angle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" name="Shape 59"/>
          <p:cNvSpPr/>
          <p:nvPr/>
        </p:nvSpPr>
        <p:spPr>
          <a:xfrm>
            <a:off x="567000" y="4105800"/>
            <a:ext cx="43430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Text 60"/>
          <p:cNvSpPr/>
          <p:nvPr/>
        </p:nvSpPr>
        <p:spPr>
          <a:xfrm>
            <a:off x="704160" y="4105800"/>
            <a:ext cx="4068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2 sides + the angle BETWEEN them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6" name="Shape 61"/>
          <p:cNvSpPr/>
          <p:nvPr/>
        </p:nvSpPr>
        <p:spPr>
          <a:xfrm>
            <a:off x="5120640" y="4105800"/>
            <a:ext cx="34286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Text 62"/>
          <p:cNvSpPr/>
          <p:nvPr/>
        </p:nvSpPr>
        <p:spPr>
          <a:xfrm>
            <a:off x="5257800" y="4105800"/>
            <a:ext cx="3154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COSINE RULE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8" name="Shape 63"/>
          <p:cNvSpPr/>
          <p:nvPr/>
        </p:nvSpPr>
        <p:spPr>
          <a:xfrm>
            <a:off x="8778240" y="4105800"/>
            <a:ext cx="28526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9" name="Text 64"/>
          <p:cNvSpPr/>
          <p:nvPr/>
        </p:nvSpPr>
        <p:spPr>
          <a:xfrm>
            <a:off x="8915400" y="4105800"/>
            <a:ext cx="2578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3rd side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65"/>
          <p:cNvSpPr/>
          <p:nvPr/>
        </p:nvSpPr>
        <p:spPr>
          <a:xfrm>
            <a:off x="567000" y="4818960"/>
            <a:ext cx="4343040" cy="6764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Text 66"/>
          <p:cNvSpPr/>
          <p:nvPr/>
        </p:nvSpPr>
        <p:spPr>
          <a:xfrm>
            <a:off x="704160" y="4818960"/>
            <a:ext cx="4068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3 sides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2" name="Shape 67"/>
          <p:cNvSpPr/>
          <p:nvPr/>
        </p:nvSpPr>
        <p:spPr>
          <a:xfrm>
            <a:off x="5120640" y="4818960"/>
            <a:ext cx="3428640" cy="6764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Text 68"/>
          <p:cNvSpPr/>
          <p:nvPr/>
        </p:nvSpPr>
        <p:spPr>
          <a:xfrm>
            <a:off x="5257800" y="4818960"/>
            <a:ext cx="3154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COSINE RULE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4" name="Shape 69"/>
          <p:cNvSpPr/>
          <p:nvPr/>
        </p:nvSpPr>
        <p:spPr>
          <a:xfrm>
            <a:off x="8778240" y="4818960"/>
            <a:ext cx="2852640" cy="676440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5" name="Text 70"/>
          <p:cNvSpPr/>
          <p:nvPr/>
        </p:nvSpPr>
        <p:spPr>
          <a:xfrm>
            <a:off x="8915400" y="4818960"/>
            <a:ext cx="2578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any angle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6" name="Shape 71"/>
          <p:cNvSpPr/>
          <p:nvPr/>
        </p:nvSpPr>
        <p:spPr>
          <a:xfrm>
            <a:off x="567000" y="5532120"/>
            <a:ext cx="43430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7" name="Text 72"/>
          <p:cNvSpPr/>
          <p:nvPr/>
        </p:nvSpPr>
        <p:spPr>
          <a:xfrm>
            <a:off x="704160" y="5532120"/>
            <a:ext cx="40687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2 sides + the angle BETWEEN them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8" name="Shape 73"/>
          <p:cNvSpPr/>
          <p:nvPr/>
        </p:nvSpPr>
        <p:spPr>
          <a:xfrm>
            <a:off x="5120640" y="5532120"/>
            <a:ext cx="34286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Text 74"/>
          <p:cNvSpPr/>
          <p:nvPr/>
        </p:nvSpPr>
        <p:spPr>
          <a:xfrm>
            <a:off x="5257800" y="5532120"/>
            <a:ext cx="3154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AREA = ½ ab sin 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0" name="Shape 75"/>
          <p:cNvSpPr/>
          <p:nvPr/>
        </p:nvSpPr>
        <p:spPr>
          <a:xfrm>
            <a:off x="8778240" y="5532120"/>
            <a:ext cx="2852640" cy="676440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1" name="Text 76"/>
          <p:cNvSpPr/>
          <p:nvPr/>
        </p:nvSpPr>
        <p:spPr>
          <a:xfrm>
            <a:off x="8915400" y="5532120"/>
            <a:ext cx="2578320" cy="67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a22"/>
                </a:solidFill>
                <a:latin typeface="Cambria"/>
                <a:ea typeface="Cambria"/>
              </a:rPr>
              <a:t>the area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2" name="Text 77"/>
          <p:cNvSpPr/>
          <p:nvPr/>
        </p:nvSpPr>
        <p:spPr>
          <a:xfrm>
            <a:off x="567000" y="6355080"/>
            <a:ext cx="11063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mbria"/>
                <a:ea typeface="Cambria"/>
              </a:rPr>
              <a:t>Ask yourself: do I have a SIDE and the ANGLE OPPOSITE it?  Yes → sine rule.  No → cosine rule.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Text 37"/>
          <p:cNvSpPr/>
          <p:nvPr/>
        </p:nvSpPr>
        <p:spPr>
          <a:xfrm>
            <a:off x="1554480" y="6768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PART 2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38"/>
          <p:cNvSpPr/>
          <p:nvPr/>
        </p:nvSpPr>
        <p:spPr>
          <a:xfrm>
            <a:off x="777240" y="1691640"/>
            <a:ext cx="107895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e0ac2b"/>
                </a:solidFill>
                <a:latin typeface="Cambria"/>
                <a:ea typeface="Cambria"/>
              </a:rPr>
              <a:t>Past-Paper Questions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Text 39"/>
          <p:cNvSpPr/>
          <p:nvPr/>
        </p:nvSpPr>
        <p:spPr>
          <a:xfrm>
            <a:off x="804600" y="26974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Decide the rule first — then label, substitute and solve.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40"/>
          <p:cNvSpPr/>
          <p:nvPr/>
        </p:nvSpPr>
        <p:spPr>
          <a:xfrm>
            <a:off x="868680" y="361188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41"/>
          <p:cNvSpPr/>
          <p:nvPr/>
        </p:nvSpPr>
        <p:spPr>
          <a:xfrm>
            <a:off x="868680" y="3611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42"/>
          <p:cNvSpPr/>
          <p:nvPr/>
        </p:nvSpPr>
        <p:spPr>
          <a:xfrm>
            <a:off x="1554480" y="361188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Label a, b, c and A, B, 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Shape 43"/>
          <p:cNvSpPr/>
          <p:nvPr/>
        </p:nvSpPr>
        <p:spPr>
          <a:xfrm>
            <a:off x="868680" y="432504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Text 44"/>
          <p:cNvSpPr/>
          <p:nvPr/>
        </p:nvSpPr>
        <p:spPr>
          <a:xfrm>
            <a:off x="868680" y="43250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8" name="Text 45"/>
          <p:cNvSpPr/>
          <p:nvPr/>
        </p:nvSpPr>
        <p:spPr>
          <a:xfrm>
            <a:off x="1554480" y="432504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Complete opposite pair? → SINE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Shape 46"/>
          <p:cNvSpPr/>
          <p:nvPr/>
        </p:nvSpPr>
        <p:spPr>
          <a:xfrm>
            <a:off x="868680" y="503820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Text 47"/>
          <p:cNvSpPr/>
          <p:nvPr/>
        </p:nvSpPr>
        <p:spPr>
          <a:xfrm>
            <a:off x="868680" y="503820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48"/>
          <p:cNvSpPr/>
          <p:nvPr/>
        </p:nvSpPr>
        <p:spPr>
          <a:xfrm>
            <a:off x="1554480" y="503820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3 sides, or 2 sides + included angle? → COSINE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49"/>
          <p:cNvSpPr/>
          <p:nvPr/>
        </p:nvSpPr>
        <p:spPr>
          <a:xfrm>
            <a:off x="868680" y="5751720"/>
            <a:ext cx="475200" cy="47520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Text 50"/>
          <p:cNvSpPr/>
          <p:nvPr/>
        </p:nvSpPr>
        <p:spPr>
          <a:xfrm>
            <a:off x="868680" y="575172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51"/>
          <p:cNvSpPr/>
          <p:nvPr/>
        </p:nvSpPr>
        <p:spPr>
          <a:xfrm>
            <a:off x="1554480" y="5751720"/>
            <a:ext cx="10058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edebdd"/>
                </a:solidFill>
                <a:latin typeface="Cambria"/>
                <a:ea typeface="Cambria"/>
              </a:rPr>
              <a:t>Area wanted? → ½ ab sin C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4" name="Shape 39"/>
          <p:cNvSpPr/>
          <p:nvPr/>
        </p:nvSpPr>
        <p:spPr>
          <a:xfrm>
            <a:off x="3538440" y="1398960"/>
            <a:ext cx="51145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5" name="Image 0" descr="/tmp/work/clean2/cx-34.png"/>
          <p:cNvPicPr/>
          <p:nvPr/>
        </p:nvPicPr>
        <p:blipFill>
          <a:blip r:embed="rId1"/>
          <a:stretch/>
        </p:blipFill>
        <p:spPr>
          <a:xfrm>
            <a:off x="3602520" y="1463040"/>
            <a:ext cx="49863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5" name="Shape 39"/>
          <p:cNvSpPr/>
          <p:nvPr/>
        </p:nvSpPr>
        <p:spPr>
          <a:xfrm>
            <a:off x="4272480" y="1398960"/>
            <a:ext cx="36464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6" name="Image 0" descr="/tmp/work/clean2/cx-35.png"/>
          <p:cNvPicPr/>
          <p:nvPr/>
        </p:nvPicPr>
        <p:blipFill>
          <a:blip r:embed="rId1"/>
          <a:stretch/>
        </p:blipFill>
        <p:spPr>
          <a:xfrm>
            <a:off x="4336560" y="1463040"/>
            <a:ext cx="35182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6" name="Shape 39"/>
          <p:cNvSpPr/>
          <p:nvPr/>
        </p:nvSpPr>
        <p:spPr>
          <a:xfrm>
            <a:off x="3869280" y="1398960"/>
            <a:ext cx="445284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7" name="Image 0" descr="/tmp/work/clean2/cx-36.png"/>
          <p:cNvPicPr/>
          <p:nvPr/>
        </p:nvPicPr>
        <p:blipFill>
          <a:blip r:embed="rId1"/>
          <a:stretch/>
        </p:blipFill>
        <p:spPr>
          <a:xfrm>
            <a:off x="3933360" y="1463040"/>
            <a:ext cx="432468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3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4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5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6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4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7" name="Shape 39"/>
          <p:cNvSpPr/>
          <p:nvPr/>
        </p:nvSpPr>
        <p:spPr>
          <a:xfrm>
            <a:off x="1185480" y="1398960"/>
            <a:ext cx="9820440" cy="456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8" name="Image 0" descr="/tmp/work/clean2/cx-37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444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0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1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2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3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4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5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6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8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9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0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1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2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3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6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7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8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9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0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1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2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3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4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5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7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8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9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0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1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2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3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4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5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6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7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5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8" name="Shape 39"/>
          <p:cNvSpPr/>
          <p:nvPr/>
        </p:nvSpPr>
        <p:spPr>
          <a:xfrm>
            <a:off x="1185480" y="1398960"/>
            <a:ext cx="9820440" cy="4965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9" name="Image 0" descr="/tmp/work/clean2/cx-54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483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1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2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3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4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5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6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8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9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0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1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2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3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5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6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7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9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0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1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2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4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5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6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7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8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9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0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1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2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4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5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6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7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8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6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9" name="Shape 39"/>
          <p:cNvSpPr/>
          <p:nvPr/>
        </p:nvSpPr>
        <p:spPr>
          <a:xfrm>
            <a:off x="4411440" y="1398960"/>
            <a:ext cx="33685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0" name="Image 0" descr="/tmp/work/clean2/cx-55.png"/>
          <p:cNvPicPr/>
          <p:nvPr/>
        </p:nvPicPr>
        <p:blipFill>
          <a:blip r:embed="rId1"/>
          <a:stretch/>
        </p:blipFill>
        <p:spPr>
          <a:xfrm>
            <a:off x="4475520" y="1463040"/>
            <a:ext cx="324036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2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3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4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5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6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7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8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9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0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1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2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4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5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6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8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9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1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2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3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4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5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6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7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8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9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0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2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3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4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5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6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7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8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9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7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0" name="Shape 39"/>
          <p:cNvSpPr/>
          <p:nvPr/>
        </p:nvSpPr>
        <p:spPr>
          <a:xfrm>
            <a:off x="2671920" y="1398960"/>
            <a:ext cx="684756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71" name="Image 0" descr="/tmp/work/clean2/cx-56.png"/>
          <p:cNvPicPr/>
          <p:nvPr/>
        </p:nvPicPr>
        <p:blipFill>
          <a:blip r:embed="rId1"/>
          <a:stretch/>
        </p:blipFill>
        <p:spPr>
          <a:xfrm>
            <a:off x="2736000" y="1463040"/>
            <a:ext cx="671940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3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4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5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6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7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8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9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0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1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3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4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5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6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7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9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0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1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2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3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4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6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7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9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0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1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2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3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4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5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6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7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0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8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1" name="Shape 39"/>
          <p:cNvSpPr/>
          <p:nvPr/>
        </p:nvSpPr>
        <p:spPr>
          <a:xfrm>
            <a:off x="3626280" y="1398960"/>
            <a:ext cx="493920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12" name="Image 0" descr="/tmp/work/clean2/cx-57.png"/>
          <p:cNvPicPr/>
          <p:nvPr/>
        </p:nvPicPr>
        <p:blipFill>
          <a:blip r:embed="rId1"/>
          <a:stretch/>
        </p:blipFill>
        <p:spPr>
          <a:xfrm>
            <a:off x="3690000" y="1463040"/>
            <a:ext cx="481104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4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5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6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7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8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9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0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1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2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3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4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5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6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8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9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0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1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2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3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4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5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6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7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8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9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0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1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3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4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5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6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7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8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1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9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2" name="Shape 39"/>
          <p:cNvSpPr/>
          <p:nvPr/>
        </p:nvSpPr>
        <p:spPr>
          <a:xfrm>
            <a:off x="1185480" y="1398960"/>
            <a:ext cx="9820440" cy="497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3" name="Image 0" descr="/tmp/work/clean2/cx-58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485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5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6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7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8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0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1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2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3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4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5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6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7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8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9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0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1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2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3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4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5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6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7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8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9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1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2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3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4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5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6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7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8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9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0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1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2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10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3" name="Shape 39"/>
          <p:cNvSpPr/>
          <p:nvPr/>
        </p:nvSpPr>
        <p:spPr>
          <a:xfrm>
            <a:off x="2172240" y="1398960"/>
            <a:ext cx="78469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4" name="Image 0" descr="/tmp/work/clean2/cx-59.png"/>
          <p:cNvPicPr/>
          <p:nvPr/>
        </p:nvPicPr>
        <p:blipFill>
          <a:blip r:embed="rId1"/>
          <a:stretch/>
        </p:blipFill>
        <p:spPr>
          <a:xfrm>
            <a:off x="2236320" y="1463040"/>
            <a:ext cx="771912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6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8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9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1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2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3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4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5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6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7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8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9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0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1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2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3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4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5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6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7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8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9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0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1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2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3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5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6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7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8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0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1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2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4" name="Shape 39"/>
          <p:cNvSpPr/>
          <p:nvPr/>
        </p:nvSpPr>
        <p:spPr>
          <a:xfrm>
            <a:off x="1185480" y="1398960"/>
            <a:ext cx="9820440" cy="435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5" name="Image 0" descr="/tmp/work/clean2/cx-60.png"/>
          <p:cNvPicPr/>
          <p:nvPr/>
        </p:nvPicPr>
        <p:blipFill>
          <a:blip r:embed="rId1"/>
          <a:stretch/>
        </p:blipFill>
        <p:spPr>
          <a:xfrm>
            <a:off x="1249560" y="1463040"/>
            <a:ext cx="9692280" cy="422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7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8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9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1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2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4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5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6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7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8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9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0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1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2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3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4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6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7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8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9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0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1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2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4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5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6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8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9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0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2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3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4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12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" name="Shape 39"/>
          <p:cNvSpPr/>
          <p:nvPr/>
        </p:nvSpPr>
        <p:spPr>
          <a:xfrm>
            <a:off x="1770840" y="1398960"/>
            <a:ext cx="864972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6" name="Image 0" descr="/tmp/work/clean2/cx-61.png"/>
          <p:cNvPicPr/>
          <p:nvPr/>
        </p:nvPicPr>
        <p:blipFill>
          <a:blip r:embed="rId1"/>
          <a:stretch/>
        </p:blipFill>
        <p:spPr>
          <a:xfrm>
            <a:off x="1834920" y="1463040"/>
            <a:ext cx="852192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8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9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0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1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2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3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4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5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6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7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8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9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0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1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2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3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4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5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6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7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8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0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1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2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3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4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5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6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7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8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9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0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1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e4e2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2" name="Shape 35"/>
          <p:cNvSpPr/>
          <p:nvPr/>
        </p:nvSpPr>
        <p:spPr>
          <a:xfrm>
            <a:off x="567000" y="420480"/>
            <a:ext cx="548280" cy="54828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3" name="Text 36"/>
          <p:cNvSpPr/>
          <p:nvPr/>
        </p:nvSpPr>
        <p:spPr>
          <a:xfrm>
            <a:off x="567000" y="420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4" name="Text 37"/>
          <p:cNvSpPr/>
          <p:nvPr/>
        </p:nvSpPr>
        <p:spPr>
          <a:xfrm>
            <a:off x="1325880" y="402480"/>
            <a:ext cx="10240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248" strike="noStrike">
                <a:solidFill>
                  <a:srgbClr val="c84f2f"/>
                </a:solidFill>
                <a:latin typeface="Calibri"/>
                <a:ea typeface="Calibri"/>
              </a:rPr>
              <a:t>PAST-PAPER QUESTION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5" name="Text 38"/>
          <p:cNvSpPr/>
          <p:nvPr/>
        </p:nvSpPr>
        <p:spPr>
          <a:xfrm>
            <a:off x="1325880" y="676800"/>
            <a:ext cx="102409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c2a22"/>
                </a:solidFill>
                <a:latin typeface="Cambria"/>
                <a:ea typeface="Cambria"/>
              </a:rPr>
              <a:t>Question 13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6" name="Shape 39"/>
          <p:cNvSpPr/>
          <p:nvPr/>
        </p:nvSpPr>
        <p:spPr>
          <a:xfrm>
            <a:off x="2227680" y="1398960"/>
            <a:ext cx="7736400" cy="524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2d6"/>
            </a:solidFill>
            <a:round/>
          </a:ln>
          <a:effectLst>
            <a:outerShdw algn="bl" blurRad="76320" dir="5400000" dist="3816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7" name="Image 0" descr="/tmp/work/clean2/cx-62.png"/>
          <p:cNvPicPr/>
          <p:nvPr/>
        </p:nvPicPr>
        <p:blipFill>
          <a:blip r:embed="rId1"/>
          <a:stretch/>
        </p:blipFill>
        <p:spPr>
          <a:xfrm>
            <a:off x="2291400" y="1463040"/>
            <a:ext cx="7608240" cy="512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Shape 0"/>
          <p:cNvSpPr/>
          <p:nvPr/>
        </p:nvSpPr>
        <p:spPr>
          <a:xfrm>
            <a:off x="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9" name="Shape 1"/>
          <p:cNvSpPr/>
          <p:nvPr/>
        </p:nvSpPr>
        <p:spPr>
          <a:xfrm>
            <a:off x="566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0" name="Shape 2"/>
          <p:cNvSpPr/>
          <p:nvPr/>
        </p:nvSpPr>
        <p:spPr>
          <a:xfrm>
            <a:off x="1133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1" name="Shape 3"/>
          <p:cNvSpPr/>
          <p:nvPr/>
        </p:nvSpPr>
        <p:spPr>
          <a:xfrm>
            <a:off x="1700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2" name="Shape 4"/>
          <p:cNvSpPr/>
          <p:nvPr/>
        </p:nvSpPr>
        <p:spPr>
          <a:xfrm>
            <a:off x="2267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3" name="Shape 5"/>
          <p:cNvSpPr/>
          <p:nvPr/>
        </p:nvSpPr>
        <p:spPr>
          <a:xfrm>
            <a:off x="283464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4" name="Shape 6"/>
          <p:cNvSpPr/>
          <p:nvPr/>
        </p:nvSpPr>
        <p:spPr>
          <a:xfrm>
            <a:off x="3401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5" name="Shape 7"/>
          <p:cNvSpPr/>
          <p:nvPr/>
        </p:nvSpPr>
        <p:spPr>
          <a:xfrm>
            <a:off x="3968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6" name="Shape 8"/>
          <p:cNvSpPr/>
          <p:nvPr/>
        </p:nvSpPr>
        <p:spPr>
          <a:xfrm>
            <a:off x="4535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7" name="Shape 9"/>
          <p:cNvSpPr/>
          <p:nvPr/>
        </p:nvSpPr>
        <p:spPr>
          <a:xfrm>
            <a:off x="5102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8" name="Shape 10"/>
          <p:cNvSpPr/>
          <p:nvPr/>
        </p:nvSpPr>
        <p:spPr>
          <a:xfrm>
            <a:off x="566928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9" name="Shape 11"/>
          <p:cNvSpPr/>
          <p:nvPr/>
        </p:nvSpPr>
        <p:spPr>
          <a:xfrm>
            <a:off x="6235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0" name="Shape 12"/>
          <p:cNvSpPr/>
          <p:nvPr/>
        </p:nvSpPr>
        <p:spPr>
          <a:xfrm>
            <a:off x="6802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1" name="Shape 13"/>
          <p:cNvSpPr/>
          <p:nvPr/>
        </p:nvSpPr>
        <p:spPr>
          <a:xfrm>
            <a:off x="7369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2" name="Shape 14"/>
          <p:cNvSpPr/>
          <p:nvPr/>
        </p:nvSpPr>
        <p:spPr>
          <a:xfrm>
            <a:off x="7936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3" name="Shape 15"/>
          <p:cNvSpPr/>
          <p:nvPr/>
        </p:nvSpPr>
        <p:spPr>
          <a:xfrm>
            <a:off x="850392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4" name="Shape 16"/>
          <p:cNvSpPr/>
          <p:nvPr/>
        </p:nvSpPr>
        <p:spPr>
          <a:xfrm>
            <a:off x="9070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5" name="Shape 17"/>
          <p:cNvSpPr/>
          <p:nvPr/>
        </p:nvSpPr>
        <p:spPr>
          <a:xfrm>
            <a:off x="9637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6" name="Shape 18"/>
          <p:cNvSpPr/>
          <p:nvPr/>
        </p:nvSpPr>
        <p:spPr>
          <a:xfrm>
            <a:off x="10204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7" name="Shape 19"/>
          <p:cNvSpPr/>
          <p:nvPr/>
        </p:nvSpPr>
        <p:spPr>
          <a:xfrm>
            <a:off x="10771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" name="Shape 20"/>
          <p:cNvSpPr/>
          <p:nvPr/>
        </p:nvSpPr>
        <p:spPr>
          <a:xfrm>
            <a:off x="1133856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9" name="Shape 21"/>
          <p:cNvSpPr/>
          <p:nvPr/>
        </p:nvSpPr>
        <p:spPr>
          <a:xfrm>
            <a:off x="11905200" y="0"/>
            <a:ext cx="360" cy="685800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" name="Shape 22"/>
          <p:cNvSpPr/>
          <p:nvPr/>
        </p:nvSpPr>
        <p:spPr>
          <a:xfrm>
            <a:off x="0" y="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1" name="Shape 23"/>
          <p:cNvSpPr/>
          <p:nvPr/>
        </p:nvSpPr>
        <p:spPr>
          <a:xfrm>
            <a:off x="0" y="566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Shape 24"/>
          <p:cNvSpPr/>
          <p:nvPr/>
        </p:nvSpPr>
        <p:spPr>
          <a:xfrm>
            <a:off x="0" y="1133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3" name="Shape 25"/>
          <p:cNvSpPr/>
          <p:nvPr/>
        </p:nvSpPr>
        <p:spPr>
          <a:xfrm>
            <a:off x="0" y="1700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4" name="Shape 26"/>
          <p:cNvSpPr/>
          <p:nvPr/>
        </p:nvSpPr>
        <p:spPr>
          <a:xfrm>
            <a:off x="0" y="2267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5" name="Shape 27"/>
          <p:cNvSpPr/>
          <p:nvPr/>
        </p:nvSpPr>
        <p:spPr>
          <a:xfrm>
            <a:off x="0" y="283464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6" name="Shape 28"/>
          <p:cNvSpPr/>
          <p:nvPr/>
        </p:nvSpPr>
        <p:spPr>
          <a:xfrm>
            <a:off x="0" y="3401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7" name="Shape 29"/>
          <p:cNvSpPr/>
          <p:nvPr/>
        </p:nvSpPr>
        <p:spPr>
          <a:xfrm>
            <a:off x="0" y="3968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8" name="Shape 30"/>
          <p:cNvSpPr/>
          <p:nvPr/>
        </p:nvSpPr>
        <p:spPr>
          <a:xfrm>
            <a:off x="0" y="4535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9" name="Shape 31"/>
          <p:cNvSpPr/>
          <p:nvPr/>
        </p:nvSpPr>
        <p:spPr>
          <a:xfrm>
            <a:off x="0" y="5102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0" name="Shape 32"/>
          <p:cNvSpPr/>
          <p:nvPr/>
        </p:nvSpPr>
        <p:spPr>
          <a:xfrm>
            <a:off x="0" y="566928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1" name="Shape 33"/>
          <p:cNvSpPr/>
          <p:nvPr/>
        </p:nvSpPr>
        <p:spPr>
          <a:xfrm>
            <a:off x="0" y="6235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2" name="Shape 34"/>
          <p:cNvSpPr/>
          <p:nvPr/>
        </p:nvSpPr>
        <p:spPr>
          <a:xfrm>
            <a:off x="0" y="6802920"/>
            <a:ext cx="12191400" cy="360"/>
          </a:xfrm>
          <a:prstGeom prst="line">
            <a:avLst/>
          </a:prstGeom>
          <a:ln w="6350">
            <a:solidFill>
              <a:srgbClr val="2634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3" name="Shape 35"/>
          <p:cNvSpPr/>
          <p:nvPr/>
        </p:nvSpPr>
        <p:spPr>
          <a:xfrm>
            <a:off x="777240" y="640080"/>
            <a:ext cx="603000" cy="603000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4" name="Text 36"/>
          <p:cNvSpPr/>
          <p:nvPr/>
        </p:nvSpPr>
        <p:spPr>
          <a:xfrm>
            <a:off x="777240" y="640080"/>
            <a:ext cx="60300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79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7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5" name="Text 37"/>
          <p:cNvSpPr/>
          <p:nvPr/>
        </p:nvSpPr>
        <p:spPr>
          <a:xfrm>
            <a:off x="1554480" y="676800"/>
            <a:ext cx="7314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299" strike="noStrike">
                <a:solidFill>
                  <a:srgbClr val="e0ac2b"/>
                </a:solidFill>
                <a:latin typeface="Calibri"/>
                <a:ea typeface="Calibri"/>
              </a:rPr>
              <a:t>RECAP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6" name="Text 38"/>
          <p:cNvSpPr/>
          <p:nvPr/>
        </p:nvSpPr>
        <p:spPr>
          <a:xfrm>
            <a:off x="777240" y="1371600"/>
            <a:ext cx="10606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e0ac2b"/>
                </a:solidFill>
                <a:latin typeface="Cambria"/>
                <a:ea typeface="Cambria"/>
              </a:rPr>
              <a:t>Key Takeaways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7" name="Shape 39"/>
          <p:cNvSpPr/>
          <p:nvPr/>
        </p:nvSpPr>
        <p:spPr>
          <a:xfrm>
            <a:off x="868680" y="236844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8" name="Text 40"/>
          <p:cNvSpPr/>
          <p:nvPr/>
        </p:nvSpPr>
        <p:spPr>
          <a:xfrm>
            <a:off x="1234440" y="2331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Both rules work in ANY triangle — not just right-angled ones.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9" name="Shape 41"/>
          <p:cNvSpPr/>
          <p:nvPr/>
        </p:nvSpPr>
        <p:spPr>
          <a:xfrm>
            <a:off x="868680" y="2935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0" name="Text 42"/>
          <p:cNvSpPr/>
          <p:nvPr/>
        </p:nvSpPr>
        <p:spPr>
          <a:xfrm>
            <a:off x="1234440" y="2898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SINE RULE: use when you have a SIDE and the ANGLE OPPOSITE it (two angles and two sides, one missing).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1" name="Shape 43"/>
          <p:cNvSpPr/>
          <p:nvPr/>
        </p:nvSpPr>
        <p:spPr>
          <a:xfrm>
            <a:off x="868680" y="3502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2" name="Text 44"/>
          <p:cNvSpPr/>
          <p:nvPr/>
        </p:nvSpPr>
        <p:spPr>
          <a:xfrm>
            <a:off x="1234440" y="346572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COSINE RULE: use when there is no complete pair — three sides, or two sides and the angle BETWEEN them.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3" name="Shape 45"/>
          <p:cNvSpPr/>
          <p:nvPr/>
        </p:nvSpPr>
        <p:spPr>
          <a:xfrm>
            <a:off x="868680" y="4069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4" name="Text 46"/>
          <p:cNvSpPr/>
          <p:nvPr/>
        </p:nvSpPr>
        <p:spPr>
          <a:xfrm>
            <a:off x="1234440" y="4032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Finding an angle? Rearrange, then use sin⁻¹ or cos⁻¹ — in DEGREE mode.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5" name="Shape 47"/>
          <p:cNvSpPr/>
          <p:nvPr/>
        </p:nvSpPr>
        <p:spPr>
          <a:xfrm>
            <a:off x="868680" y="4636080"/>
            <a:ext cx="182520" cy="182520"/>
          </a:xfrm>
          <a:prstGeom prst="ellipse">
            <a:avLst/>
          </a:prstGeom>
          <a:solidFill>
            <a:srgbClr val="e862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6" name="Text 48"/>
          <p:cNvSpPr/>
          <p:nvPr/>
        </p:nvSpPr>
        <p:spPr>
          <a:xfrm>
            <a:off x="1234440" y="4599360"/>
            <a:ext cx="10423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edebdd"/>
                </a:solidFill>
                <a:latin typeface="Calibri"/>
                <a:ea typeface="Calibri"/>
              </a:rPr>
              <a:t>Area of any triangle = ½ ab sin C — the angle must be BETWEEN the two sides.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7" name="Shape 49"/>
          <p:cNvSpPr/>
          <p:nvPr/>
        </p:nvSpPr>
        <p:spPr>
          <a:xfrm>
            <a:off x="777240" y="5440680"/>
            <a:ext cx="10606680" cy="86832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 w="0">
            <a:noFill/>
          </a:ln>
          <a:effectLst>
            <a:outerShdw algn="bl" blurRad="88920" dir="5400000" dist="38160" rotWithShape="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8" name="Text 50"/>
          <p:cNvSpPr/>
          <p:nvPr/>
        </p:nvSpPr>
        <p:spPr>
          <a:xfrm>
            <a:off x="777240" y="5440680"/>
            <a:ext cx="10606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Golden rule:  </a:t>
            </a:r>
            <a:r>
              <a:rPr b="0" lang="en-US" sz="1700" spc="-1" strike="noStrike">
                <a:solidFill>
                  <a:srgbClr val="edebdd"/>
                </a:solidFill>
                <a:latin typeface="Cambria"/>
                <a:ea typeface="Cambria"/>
              </a:rPr>
              <a:t>a side with its opposite angle → SINE.  Otherwise → COSINE.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LibreOffice/24.2.7.2$Linux_X86_64 LibreOffice_project/420$Build-2</Application>
  <AppVersion>15.0000</AppVersion>
  <Words>1428</Words>
  <Paragraphs>283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2026-07-14T13:18:18Z</dcterms:created>
  <dc:creator>Zahra Sheikh Ali</dc:creator>
  <dc:description/>
  <dc:language>en-US</dc:language>
  <cp:lastModifiedBy>zahraa sheik ali</cp:lastModifiedBy>
  <dcterms:modified xsi:type="dcterms:W3CDTF">2026-07-25T10:07:55Z</dcterms:modified>
  <cp:revision>7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32</vt:r8>
  </property>
  <property fmtid="{D5CDD505-2E9C-101B-9397-08002B2CF9AE}" pid="3" name="PresentationFormat">
    <vt:lpwstr>Custom</vt:lpwstr>
  </property>
  <property fmtid="{D5CDD505-2E9C-101B-9397-08002B2CF9AE}" pid="4" name="Slides">
    <vt:r8>32</vt:r8>
  </property>
</Properties>
</file>