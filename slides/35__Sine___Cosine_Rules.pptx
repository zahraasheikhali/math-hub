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90" r:id="rId10"/>
    <p:sldId id="266" r:id="rId11"/>
    <p:sldId id="267" r:id="rId12"/>
    <p:sldId id="268" r:id="rId13"/>
    <p:sldId id="269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5" d="100"/>
          <a:sy n="95" d="100"/>
        </p:scale>
        <p:origin x="-178" y="24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image" Target="../media/image15.wmf"/><Relationship Id="rId5" Type="http://schemas.openxmlformats.org/officeDocument/2006/relationships/image" Target="../media/image19.wmf"/><Relationship Id="rId4" Type="http://schemas.openxmlformats.org/officeDocument/2006/relationships/image" Target="../media/image18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989265-0E93-4C2B-82CE-9717C1E62ED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D00124-781D-424C-BBA5-0F31FE075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109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.bin"/><Relationship Id="rId13" Type="http://schemas.openxmlformats.org/officeDocument/2006/relationships/image" Target="../media/image18.wmf"/><Relationship Id="rId3" Type="http://schemas.openxmlformats.org/officeDocument/2006/relationships/notesSlide" Target="../notesSlides/notesSlide9.xml"/><Relationship Id="rId7" Type="http://schemas.openxmlformats.org/officeDocument/2006/relationships/image" Target="../media/image15.wmf"/><Relationship Id="rId12" Type="http://schemas.openxmlformats.org/officeDocument/2006/relationships/oleObject" Target="../embeddings/oleObject4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1.bin"/><Relationship Id="rId11" Type="http://schemas.openxmlformats.org/officeDocument/2006/relationships/image" Target="../media/image17.wmf"/><Relationship Id="rId5" Type="http://schemas.openxmlformats.org/officeDocument/2006/relationships/image" Target="../media/image21.wmf"/><Relationship Id="rId15" Type="http://schemas.openxmlformats.org/officeDocument/2006/relationships/image" Target="../media/image19.wmf"/><Relationship Id="rId10" Type="http://schemas.openxmlformats.org/officeDocument/2006/relationships/oleObject" Target="../embeddings/oleObject3.bin"/><Relationship Id="rId4" Type="http://schemas.openxmlformats.org/officeDocument/2006/relationships/image" Target="../media/image20.wmf"/><Relationship Id="rId9" Type="http://schemas.openxmlformats.org/officeDocument/2006/relationships/image" Target="../media/image16.wmf"/><Relationship Id="rId14" Type="http://schemas.openxmlformats.org/officeDocument/2006/relationships/oleObject" Target="../embeddings/oleObject5.bin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jpe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35040" y="10515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i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a² = b² + c² − 2bc cos A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39" name="Text 37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0" name="Text 38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Advanced Trigonometry</a:t>
            </a:r>
            <a:endParaRPr lang="en-US" sz="4000" dirty="0"/>
          </a:p>
        </p:txBody>
      </p:sp>
      <p:sp>
        <p:nvSpPr>
          <p:cNvPr id="43" name="Text 41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Sine Rule · The Cosine Rule · Area of a Triangle · Choosing the Right Rule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ANY Triangle — Not Just Right-Angled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SOHCAHTOA only works in right-angled triangles.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sine and cosine rules work in ANY triangle. The hardest part is choosing which one — that is the next slide.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Labelling a, b, c / A, B, C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rule to use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sine rule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cosine rule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 = ½ ab sin C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sine rule · cosine rule · included angle · opposite · inverse · 3 significant figures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Labelling a Triangle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773961" y="1353312"/>
            <a:ext cx="6643774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2/cx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7969" y="1417320"/>
            <a:ext cx="6515758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a is OPPOSITE angle A, side b is opposite B, side c is opposite C.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= angle, small = side.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Rule Do I Use?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what you have.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of what is given tells you the rule.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057400"/>
            <a:ext cx="5440680" cy="3749040"/>
          </a:xfrm>
          <a:prstGeom prst="roundRect">
            <a:avLst>
              <a:gd name="adj" fmla="val 1463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68680" y="2240280"/>
            <a:ext cx="4846320" cy="566928"/>
          </a:xfrm>
          <a:prstGeom prst="roundRect">
            <a:avLst>
              <a:gd name="adj" fmla="val 8065"/>
            </a:avLst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68680" y="224028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SINE RULE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914400" y="2971800"/>
            <a:ext cx="48607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 </a:t>
            </a:r>
            <a:r>
              <a:rPr lang="en-US" sz="1450" b="1" dirty="0" smtClean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have </a:t>
            </a: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</a:t>
            </a: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SIDES and TWO OPPOSITE ANGLES ,</a:t>
            </a:r>
            <a:endParaRPr lang="en-US" sz="14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ONE of them is missing.</a:t>
            </a:r>
            <a:endParaRPr lang="en-US" sz="1450" dirty="0"/>
          </a:p>
          <a:p>
            <a:pPr marL="0" indent="0">
              <a:buNone/>
            </a:pPr>
            <a:r>
              <a:rPr lang="en-US" sz="13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sides and angles come in OPPOSITE PAIRS — you know a pair, and half of another pair.</a:t>
            </a:r>
            <a:endParaRPr lang="en-US" sz="1450" dirty="0"/>
          </a:p>
        </p:txBody>
      </p:sp>
      <p:sp>
        <p:nvSpPr>
          <p:cNvPr id="47" name="Text 45"/>
          <p:cNvSpPr/>
          <p:nvPr/>
        </p:nvSpPr>
        <p:spPr>
          <a:xfrm>
            <a:off x="914400" y="4526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8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↔  </a:t>
            </a:r>
            <a:r>
              <a:rPr lang="en-US" sz="18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8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and     </a:t>
            </a:r>
            <a:r>
              <a:rPr lang="en-US" sz="18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8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↔  </a:t>
            </a:r>
            <a:r>
              <a:rPr lang="en-US" sz="18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914400" y="5029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side and the angle facing it)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914400" y="53949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a SIDE or an ANGLE.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6190488" y="2057400"/>
            <a:ext cx="5440680" cy="3749040"/>
          </a:xfrm>
          <a:prstGeom prst="roundRect">
            <a:avLst>
              <a:gd name="adj" fmla="val 1463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6492240" y="2240280"/>
            <a:ext cx="4846320" cy="566928"/>
          </a:xfrm>
          <a:prstGeom prst="roundRect">
            <a:avLst>
              <a:gd name="adj" fmla="val 8065"/>
            </a:avLst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0" y="224028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COSINE RULE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6537960" y="29718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 have THREE SIDES and ONE ANGLE,</a:t>
            </a:r>
            <a:endParaRPr lang="en-US" sz="14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ONE of them is missing.</a:t>
            </a:r>
            <a:endParaRPr lang="en-US" sz="1450" dirty="0"/>
          </a:p>
          <a:p>
            <a:pPr marL="0" indent="0">
              <a:buNone/>
            </a:pPr>
            <a:r>
              <a:rPr lang="en-US" sz="13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opposite pair is complete — the angle sits BETWEEN two known sides, or you know all three sides.</a:t>
            </a:r>
            <a:endParaRPr lang="en-US" sz="1450" dirty="0"/>
          </a:p>
        </p:txBody>
      </p:sp>
      <p:sp>
        <p:nvSpPr>
          <p:cNvPr id="54" name="Text 52"/>
          <p:cNvSpPr/>
          <p:nvPr/>
        </p:nvSpPr>
        <p:spPr>
          <a:xfrm>
            <a:off x="6537960" y="45720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sides + the angle BETWEEN them  →  find the 3rd side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sides  →  find any angle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598932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841248" y="59893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Sine: a side and the angle opposite it.    Cosine: no complete pair — 3 sides, or 2 sides + the angle between.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SINE RULE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Versions — Same Rule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5669280" cy="621792"/>
          </a:xfrm>
          <a:prstGeom prst="roundRect">
            <a:avLst>
              <a:gd name="adj" fmla="val 8824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 thing you WANT on top.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keeps the algebra easy.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150796" y="2895600"/>
            <a:ext cx="5440680" cy="248797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046988" y="317296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 SIDE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1234440" y="370332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700" dirty="0"/>
          </a:p>
        </p:txBody>
      </p:sp>
      <p:sp>
        <p:nvSpPr>
          <p:cNvPr id="46" name="Shape 44"/>
          <p:cNvSpPr/>
          <p:nvPr/>
        </p:nvSpPr>
        <p:spPr>
          <a:xfrm>
            <a:off x="1234440" y="3977640"/>
            <a:ext cx="77724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234440" y="40050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A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2194560" y="37490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2651760" y="370332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700" dirty="0"/>
          </a:p>
        </p:txBody>
      </p:sp>
      <p:sp>
        <p:nvSpPr>
          <p:cNvPr id="50" name="Shape 48"/>
          <p:cNvSpPr/>
          <p:nvPr/>
        </p:nvSpPr>
        <p:spPr>
          <a:xfrm>
            <a:off x="2651760" y="3977640"/>
            <a:ext cx="77724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51760" y="40050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B</a:t>
            </a:r>
            <a:endParaRPr lang="en-US" sz="1700" dirty="0"/>
          </a:p>
        </p:txBody>
      </p:sp>
      <p:sp>
        <p:nvSpPr>
          <p:cNvPr id="52" name="Text 50"/>
          <p:cNvSpPr/>
          <p:nvPr/>
        </p:nvSpPr>
        <p:spPr>
          <a:xfrm>
            <a:off x="3611880" y="37490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4069080" y="370332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700" dirty="0"/>
          </a:p>
        </p:txBody>
      </p:sp>
      <p:sp>
        <p:nvSpPr>
          <p:cNvPr id="54" name="Shape 52"/>
          <p:cNvSpPr/>
          <p:nvPr/>
        </p:nvSpPr>
        <p:spPr>
          <a:xfrm>
            <a:off x="4069080" y="3977640"/>
            <a:ext cx="77724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069080" y="40050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C</a:t>
            </a:r>
            <a:endParaRPr lang="en-US" sz="1700" dirty="0"/>
          </a:p>
        </p:txBody>
      </p:sp>
      <p:sp>
        <p:nvSpPr>
          <p:cNvPr id="56" name="Text 54"/>
          <p:cNvSpPr/>
          <p:nvPr/>
        </p:nvSpPr>
        <p:spPr>
          <a:xfrm>
            <a:off x="914400" y="4800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Sides on top — multiply to find the side.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5783580" y="2895599"/>
            <a:ext cx="5440680" cy="2456367"/>
          </a:xfrm>
          <a:prstGeom prst="roundRect">
            <a:avLst>
              <a:gd name="adj" fmla="val 1714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6515100" y="32461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an ANGLE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6858000" y="370332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A</a:t>
            </a:r>
            <a:endParaRPr lang="en-US" sz="1700" dirty="0"/>
          </a:p>
        </p:txBody>
      </p:sp>
      <p:sp>
        <p:nvSpPr>
          <p:cNvPr id="60" name="Shape 58"/>
          <p:cNvSpPr/>
          <p:nvPr/>
        </p:nvSpPr>
        <p:spPr>
          <a:xfrm>
            <a:off x="6858000" y="3977640"/>
            <a:ext cx="77724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8000" y="40050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700" dirty="0"/>
          </a:p>
        </p:txBody>
      </p:sp>
      <p:sp>
        <p:nvSpPr>
          <p:cNvPr id="62" name="Text 60"/>
          <p:cNvSpPr/>
          <p:nvPr/>
        </p:nvSpPr>
        <p:spPr>
          <a:xfrm>
            <a:off x="7818120" y="37490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8275320" y="370332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B</a:t>
            </a:r>
            <a:endParaRPr lang="en-US" sz="1700" dirty="0"/>
          </a:p>
        </p:txBody>
      </p:sp>
      <p:sp>
        <p:nvSpPr>
          <p:cNvPr id="64" name="Shape 62"/>
          <p:cNvSpPr/>
          <p:nvPr/>
        </p:nvSpPr>
        <p:spPr>
          <a:xfrm>
            <a:off x="8275320" y="3977640"/>
            <a:ext cx="77724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275320" y="40050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700" dirty="0"/>
          </a:p>
        </p:txBody>
      </p:sp>
      <p:sp>
        <p:nvSpPr>
          <p:cNvPr id="66" name="Text 64"/>
          <p:cNvSpPr/>
          <p:nvPr/>
        </p:nvSpPr>
        <p:spPr>
          <a:xfrm>
            <a:off x="9235440" y="37490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800" dirty="0"/>
          </a:p>
        </p:txBody>
      </p:sp>
      <p:sp>
        <p:nvSpPr>
          <p:cNvPr id="67" name="Text 65"/>
          <p:cNvSpPr/>
          <p:nvPr/>
        </p:nvSpPr>
        <p:spPr>
          <a:xfrm>
            <a:off x="9692640" y="370332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C</a:t>
            </a:r>
            <a:endParaRPr lang="en-US" sz="1700" dirty="0"/>
          </a:p>
        </p:txBody>
      </p:sp>
      <p:sp>
        <p:nvSpPr>
          <p:cNvPr id="68" name="Shape 66"/>
          <p:cNvSpPr/>
          <p:nvPr/>
        </p:nvSpPr>
        <p:spPr>
          <a:xfrm>
            <a:off x="9692640" y="3977640"/>
            <a:ext cx="77724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692640" y="40050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700" dirty="0"/>
          </a:p>
        </p:txBody>
      </p:sp>
      <p:sp>
        <p:nvSpPr>
          <p:cNvPr id="70" name="Text 68"/>
          <p:cNvSpPr/>
          <p:nvPr/>
        </p:nvSpPr>
        <p:spPr>
          <a:xfrm>
            <a:off x="6537960" y="4800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Sines on top — then use sin⁻¹ at the end.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566928" y="566928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841248" y="56692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only ever need TWO of the three fractions — the pair you know and the pair you want.</a:t>
            </a:r>
            <a:endParaRPr lang="en-US" sz="23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8628" y="1150379"/>
            <a:ext cx="2514600" cy="167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3" name="Rectangle 72"/>
          <p:cNvSpPr/>
          <p:nvPr/>
        </p:nvSpPr>
        <p:spPr>
          <a:xfrm>
            <a:off x="6324600" y="1325880"/>
            <a:ext cx="3313176" cy="13542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 </a:t>
            </a:r>
            <a:r>
              <a:rPr lang="en-US" b="1" dirty="0" smtClean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have: </a:t>
            </a:r>
          </a:p>
          <a:p>
            <a:pPr marL="285750" indent="-285750">
              <a:spcAft>
                <a:spcPts val="400"/>
              </a:spcAft>
              <a:buFont typeface="Arial" pitchFamily="34" charset="0"/>
              <a:buChar char="•"/>
            </a:pPr>
            <a:r>
              <a:rPr lang="en-US" b="1" dirty="0" smtClean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</a:t>
            </a:r>
            <a:r>
              <a:rPr lang="en-US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SIDES </a:t>
            </a:r>
          </a:p>
          <a:p>
            <a:pPr marL="285750" indent="-285750">
              <a:spcAft>
                <a:spcPts val="400"/>
              </a:spcAft>
              <a:buFont typeface="Arial" pitchFamily="34" charset="0"/>
              <a:buChar char="•"/>
            </a:pPr>
            <a:r>
              <a:rPr lang="en-US" b="1" dirty="0" smtClean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OPPOSITE ANGLES ,</a:t>
            </a:r>
            <a:endParaRPr lang="en-US" dirty="0"/>
          </a:p>
          <a:p>
            <a:pPr>
              <a:spcAft>
                <a:spcPts val="1000"/>
              </a:spcAft>
            </a:pPr>
            <a:r>
              <a:rPr lang="en-US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ONE of them is missing.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SINE RULE · EXAMPLE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 Side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866551" y="1353312"/>
            <a:ext cx="8458593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angles and one side given → sine rule.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each side with the angle opposite it.</a:t>
            </a:r>
            <a:endParaRPr lang="en-US" sz="1300" dirty="0"/>
          </a:p>
        </p:txBody>
      </p:sp>
      <p:pic>
        <p:nvPicPr>
          <p:cNvPr id="45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192935" y="2834640"/>
            <a:ext cx="2736304" cy="2668622"/>
          </a:xfrm>
          <a:prstGeom prst="rect">
            <a:avLst/>
          </a:prstGeom>
          <a:noFill/>
          <a:ln w="38100">
            <a:solidFill>
              <a:schemeClr val="accent4"/>
            </a:solidFill>
            <a:miter lim="800000"/>
            <a:headEnd/>
            <a:tailEnd/>
          </a:ln>
        </p:spPr>
      </p:pic>
      <p:pic>
        <p:nvPicPr>
          <p:cNvPr id="46" name="Picture 2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7774310" y="2834640"/>
            <a:ext cx="2476500" cy="685800"/>
          </a:xfrm>
          <a:prstGeom prst="rect">
            <a:avLst/>
          </a:prstGeom>
          <a:noFill/>
        </p:spPr>
      </p:pic>
      <p:pic>
        <p:nvPicPr>
          <p:cNvPr id="47" name="Picture 46"/>
          <p:cNvPicPr>
            <a:picLocks noChangeAspect="1" noChangeArrowheads="1"/>
          </p:cNvPicPr>
          <p:nvPr/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7793335" y="3770744"/>
            <a:ext cx="1781175" cy="676275"/>
          </a:xfrm>
          <a:prstGeom prst="rect">
            <a:avLst/>
          </a:prstGeom>
          <a:noFill/>
        </p:spPr>
      </p:pic>
      <p:pic>
        <p:nvPicPr>
          <p:cNvPr id="48" name="Picture 8"/>
          <p:cNvPicPr>
            <a:picLocks noChangeAspect="1" noChangeArrowheads="1"/>
          </p:cNvPicPr>
          <p:nvPr/>
        </p:nvPicPr>
        <p:blipFill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7793335" y="4634840"/>
            <a:ext cx="1944216" cy="714202"/>
          </a:xfrm>
          <a:prstGeom prst="rect">
            <a:avLst/>
          </a:prstGeom>
          <a:noFill/>
        </p:spPr>
      </p:pic>
      <p:pic>
        <p:nvPicPr>
          <p:cNvPr id="49" name="Picture 14"/>
          <p:cNvPicPr>
            <a:picLocks noChangeAspect="1" noChangeArrowheads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7836540" y="5525606"/>
            <a:ext cx="2189043" cy="405378"/>
          </a:xfrm>
          <a:prstGeom prst="rect">
            <a:avLst/>
          </a:prstGeom>
          <a:noFill/>
        </p:spPr>
      </p:pic>
      <p:sp>
        <p:nvSpPr>
          <p:cNvPr id="50" name="Rectangle 49"/>
          <p:cNvSpPr/>
          <p:nvPr/>
        </p:nvSpPr>
        <p:spPr>
          <a:xfrm>
            <a:off x="2223436" y="1616061"/>
            <a:ext cx="8082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Find </a:t>
            </a:r>
            <a:r>
              <a:rPr lang="en-GB" dirty="0" smtClean="0"/>
              <a:t>a.</a:t>
            </a:r>
            <a:endParaRPr lang="en-GB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SINE RULE · EXAMPLE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an Angle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68400" y="1353312"/>
            <a:ext cx="9454896" cy="4405945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the formula so the sines are on top,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finish with sin⁻¹.</a:t>
            </a:r>
            <a:endParaRPr lang="en-US" sz="1300" dirty="0"/>
          </a:p>
        </p:txBody>
      </p:sp>
      <p:sp>
        <p:nvSpPr>
          <p:cNvPr id="45" name="Rectangle 44"/>
          <p:cNvSpPr/>
          <p:nvPr/>
        </p:nvSpPr>
        <p:spPr>
          <a:xfrm>
            <a:off x="2223436" y="1616061"/>
            <a:ext cx="7954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Find </a:t>
            </a:r>
            <a:r>
              <a:rPr lang="en-GB" dirty="0" smtClean="0"/>
              <a:t>c.</a:t>
            </a:r>
            <a:endParaRPr lang="en-GB" dirty="0"/>
          </a:p>
        </p:txBody>
      </p:sp>
      <p:pic>
        <p:nvPicPr>
          <p:cNvPr id="46" name="Picture 1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484923" y="2227395"/>
            <a:ext cx="2476500" cy="676275"/>
          </a:xfrm>
          <a:prstGeom prst="rect">
            <a:avLst/>
          </a:prstGeom>
          <a:noFill/>
        </p:spPr>
      </p:pic>
      <p:pic>
        <p:nvPicPr>
          <p:cNvPr id="47" name="Picture 46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308459" y="2152688"/>
            <a:ext cx="3541390" cy="2184211"/>
          </a:xfrm>
          <a:prstGeom prst="rect">
            <a:avLst/>
          </a:prstGeom>
          <a:noFill/>
          <a:ln w="38100">
            <a:solidFill>
              <a:srgbClr val="FF66FF"/>
            </a:solidFill>
            <a:miter lim="800000"/>
            <a:headEnd/>
            <a:tailEnd/>
          </a:ln>
        </p:spPr>
      </p:pic>
      <p:pic>
        <p:nvPicPr>
          <p:cNvPr id="48" name="Picture 8"/>
          <p:cNvPicPr>
            <a:picLocks noChangeAspect="1" noChangeArrowheads="1"/>
          </p:cNvPicPr>
          <p:nvPr/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484923" y="2906655"/>
            <a:ext cx="1714500" cy="676275"/>
          </a:xfrm>
          <a:prstGeom prst="rect">
            <a:avLst/>
          </a:prstGeom>
          <a:noFill/>
        </p:spPr>
      </p:pic>
      <p:pic>
        <p:nvPicPr>
          <p:cNvPr id="49" name="Picture 11"/>
          <p:cNvPicPr>
            <a:picLocks noChangeAspect="1" noChangeArrowheads="1"/>
          </p:cNvPicPr>
          <p:nvPr/>
        </p:nvPicPr>
        <p:blipFill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581661" y="3738933"/>
            <a:ext cx="2495550" cy="676275"/>
          </a:xfrm>
          <a:prstGeom prst="rect">
            <a:avLst/>
          </a:prstGeom>
          <a:noFill/>
        </p:spPr>
      </p:pic>
      <p:pic>
        <p:nvPicPr>
          <p:cNvPr id="50" name="Picture 14"/>
          <p:cNvPicPr>
            <a:picLocks noChangeAspect="1" noChangeArrowheads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561285" y="4631232"/>
            <a:ext cx="2543175" cy="381000"/>
          </a:xfrm>
          <a:prstGeom prst="rect">
            <a:avLst/>
          </a:prstGeom>
          <a:noFill/>
        </p:spPr>
      </p:pic>
      <p:pic>
        <p:nvPicPr>
          <p:cNvPr id="51" name="Picture 17"/>
          <p:cNvPicPr>
            <a:picLocks noChangeAspect="1" noChangeArrowheads="1"/>
          </p:cNvPicPr>
          <p:nvPr/>
        </p:nvPicPr>
        <p:blipFill>
          <a:blip r:embed="rId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916971" y="5207296"/>
            <a:ext cx="2441071" cy="432048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SINE RULE · EXAM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Turn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646948" y="1133856"/>
            <a:ext cx="7106652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opposite pairs first, then substitute.</a:t>
            </a:r>
            <a:endParaRPr lang="en-US" sz="1300" dirty="0"/>
          </a:p>
        </p:txBody>
      </p:sp>
      <p:sp>
        <p:nvSpPr>
          <p:cNvPr id="45" name="Rectangle 44"/>
          <p:cNvSpPr/>
          <p:nvPr/>
        </p:nvSpPr>
        <p:spPr>
          <a:xfrm>
            <a:off x="2671653" y="1154946"/>
            <a:ext cx="155972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Exam question</a:t>
            </a:r>
            <a:endParaRPr lang="en-GB" dirty="0"/>
          </a:p>
        </p:txBody>
      </p:sp>
      <p:pic>
        <p:nvPicPr>
          <p:cNvPr id="46" name="Picture 2"/>
          <p:cNvPicPr>
            <a:picLocks noChangeAspect="1" noChangeArrowheads="1"/>
          </p:cNvPicPr>
          <p:nvPr/>
        </p:nvPicPr>
        <p:blipFill rotWithShape="1">
          <a:blip r:embed="rId3" cstate="print"/>
          <a:srcRect t="7162"/>
          <a:stretch/>
        </p:blipFill>
        <p:spPr bwMode="auto">
          <a:xfrm>
            <a:off x="4274922" y="1399402"/>
            <a:ext cx="5362854" cy="4483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SINE RULE · EXAM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Turn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623219" y="1133856"/>
            <a:ext cx="8932486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opposite pairs first, then substitute.</a:t>
            </a:r>
            <a:endParaRPr lang="en-US" sz="1300" dirty="0"/>
          </a:p>
        </p:txBody>
      </p:sp>
      <p:grpSp>
        <p:nvGrpSpPr>
          <p:cNvPr id="47" name="Group 72"/>
          <p:cNvGrpSpPr>
            <a:grpSpLocks/>
          </p:cNvGrpSpPr>
          <p:nvPr/>
        </p:nvGrpSpPr>
        <p:grpSpPr bwMode="auto">
          <a:xfrm>
            <a:off x="1623219" y="1145210"/>
            <a:ext cx="8769350" cy="4641850"/>
            <a:chOff x="126" y="760"/>
            <a:chExt cx="5524" cy="2924"/>
          </a:xfrm>
        </p:grpSpPr>
        <p:grpSp>
          <p:nvGrpSpPr>
            <p:cNvPr id="48" name="Group 29"/>
            <p:cNvGrpSpPr>
              <a:grpSpLocks/>
            </p:cNvGrpSpPr>
            <p:nvPr/>
          </p:nvGrpSpPr>
          <p:grpSpPr bwMode="auto">
            <a:xfrm>
              <a:off x="453" y="1512"/>
              <a:ext cx="5197" cy="2172"/>
              <a:chOff x="453" y="1512"/>
              <a:chExt cx="5197" cy="2172"/>
            </a:xfrm>
          </p:grpSpPr>
          <p:grpSp>
            <p:nvGrpSpPr>
              <p:cNvPr id="50" name="Group 49"/>
              <p:cNvGrpSpPr>
                <a:grpSpLocks/>
              </p:cNvGrpSpPr>
              <p:nvPr/>
            </p:nvGrpSpPr>
            <p:grpSpPr bwMode="auto">
              <a:xfrm>
                <a:off x="5124" y="1512"/>
                <a:ext cx="395" cy="2005"/>
                <a:chOff x="804" y="276"/>
                <a:chExt cx="535" cy="2713"/>
              </a:xfrm>
            </p:grpSpPr>
            <p:pic>
              <p:nvPicPr>
                <p:cNvPr id="54" name="Picture 3" descr="Column 11"/>
                <p:cNvPicPr>
                  <a:picLocks noChangeAspect="1" noChangeArrowheads="1"/>
                </p:cNvPicPr>
                <p:nvPr/>
              </p:nvPicPr>
              <p:blipFill>
                <a:blip r:embed="rId4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04" y="782"/>
                  <a:ext cx="535" cy="2207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5" name="Picture 5" descr="Saluting"/>
                <p:cNvPicPr>
                  <a:picLocks noChangeAspect="1" noChangeArrowheads="1"/>
                </p:cNvPicPr>
                <p:nvPr/>
              </p:nvPicPr>
              <p:blipFill>
                <a:blip r:embed="rId5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53" y="276"/>
                  <a:ext cx="195" cy="527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sp>
            <p:nvSpPr>
              <p:cNvPr id="51" name="Line 12"/>
              <p:cNvSpPr>
                <a:spLocks noChangeShapeType="1"/>
              </p:cNvSpPr>
              <p:nvPr/>
            </p:nvSpPr>
            <p:spPr bwMode="auto">
              <a:xfrm flipH="1">
                <a:off x="453" y="3512"/>
                <a:ext cx="519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 sz="2400"/>
              </a:p>
            </p:txBody>
          </p:sp>
          <p:graphicFrame>
            <p:nvGraphicFramePr>
              <p:cNvPr id="52" name="Object 16"/>
              <p:cNvGraphicFramePr>
                <a:graphicFrameLocks noChangeAspect="1"/>
              </p:cNvGraphicFramePr>
              <p:nvPr/>
            </p:nvGraphicFramePr>
            <p:xfrm>
              <a:off x="567" y="3330"/>
              <a:ext cx="78" cy="189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2070" name="CorelDRAW" r:id="rId6" imgW="124560" imgH="300600" progId="CorelDRAW.Graphic.9">
                      <p:embed/>
                    </p:oleObj>
                  </mc:Choice>
                  <mc:Fallback>
                    <p:oleObj name="CorelDRAW" r:id="rId6" imgW="124560" imgH="300600" progId="CorelDRAW.Graphic.9">
                      <p:embed/>
                      <p:pic>
                        <p:nvPicPr>
                          <p:cNvPr id="0" name="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67" y="3330"/>
                            <a:ext cx="78" cy="189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accent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chemeClr val="tx1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chemeClr val="bg2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53" name="Text Box 20"/>
              <p:cNvSpPr txBox="1">
                <a:spLocks noChangeArrowheads="1"/>
              </p:cNvSpPr>
              <p:nvPr/>
            </p:nvSpPr>
            <p:spPr bwMode="auto">
              <a:xfrm>
                <a:off x="557" y="3492"/>
                <a:ext cx="236" cy="19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pPr fontAlgn="base">
                  <a:spcBef>
                    <a:spcPct val="50000"/>
                  </a:spcBef>
                  <a:spcAft>
                    <a:spcPct val="0"/>
                  </a:spcAft>
                </a:pPr>
                <a:r>
                  <a:rPr lang="en-GB" altLang="en-US" sz="1400"/>
                  <a:t>A</a:t>
                </a:r>
              </a:p>
            </p:txBody>
          </p:sp>
        </p:grpSp>
        <p:sp>
          <p:nvSpPr>
            <p:cNvPr id="49" name="Text Box 22"/>
            <p:cNvSpPr txBox="1">
              <a:spLocks noChangeArrowheads="1"/>
            </p:cNvSpPr>
            <p:nvPr/>
          </p:nvSpPr>
          <p:spPr bwMode="auto">
            <a:xfrm>
              <a:off x="126" y="760"/>
              <a:ext cx="5422" cy="583"/>
            </a:xfrm>
            <a:prstGeom prst="rect">
              <a:avLst/>
            </a:prstGeom>
            <a:ln>
              <a:headEnd/>
              <a:tailEnd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dirty="0"/>
                <a:t>The angle of elevation of the top of a column measured from point A, is 20</a:t>
              </a:r>
              <a:r>
                <a:rPr lang="en-GB" altLang="en-US" baseline="30000" dirty="0"/>
                <a:t>o</a:t>
              </a:r>
              <a:r>
                <a:rPr lang="en-GB" altLang="en-US" dirty="0"/>
                <a:t>. The angle of elevation of the top of the statue is 25</a:t>
              </a:r>
              <a:r>
                <a:rPr lang="en-GB" altLang="en-US" baseline="30000" dirty="0"/>
                <a:t>o</a:t>
              </a:r>
              <a:r>
                <a:rPr lang="en-GB" altLang="en-US" dirty="0"/>
                <a:t>. Find the height of the statue when the measurements are taken 50 m from its base</a:t>
              </a:r>
            </a:p>
          </p:txBody>
        </p:sp>
      </p:grpSp>
      <p:grpSp>
        <p:nvGrpSpPr>
          <p:cNvPr id="56" name="Group 37"/>
          <p:cNvGrpSpPr>
            <a:grpSpLocks/>
          </p:cNvGrpSpPr>
          <p:nvPr/>
        </p:nvGrpSpPr>
        <p:grpSpPr bwMode="auto">
          <a:xfrm>
            <a:off x="2520157" y="5555285"/>
            <a:ext cx="7073900" cy="304800"/>
            <a:chOff x="691" y="3538"/>
            <a:chExt cx="4456" cy="192"/>
          </a:xfrm>
        </p:grpSpPr>
        <p:sp>
          <p:nvSpPr>
            <p:cNvPr id="57" name="Text Box 34"/>
            <p:cNvSpPr txBox="1">
              <a:spLocks noChangeArrowheads="1"/>
            </p:cNvSpPr>
            <p:nvPr/>
          </p:nvSpPr>
          <p:spPr bwMode="auto">
            <a:xfrm>
              <a:off x="2707" y="3538"/>
              <a:ext cx="430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1400"/>
                <a:t>50 m</a:t>
              </a:r>
            </a:p>
          </p:txBody>
        </p:sp>
        <p:sp>
          <p:nvSpPr>
            <p:cNvPr id="58" name="Line 35"/>
            <p:cNvSpPr>
              <a:spLocks noChangeShapeType="1"/>
            </p:cNvSpPr>
            <p:nvPr/>
          </p:nvSpPr>
          <p:spPr bwMode="auto">
            <a:xfrm>
              <a:off x="3081" y="3630"/>
              <a:ext cx="206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  <p:sp>
          <p:nvSpPr>
            <p:cNvPr id="59" name="Line 36"/>
            <p:cNvSpPr>
              <a:spLocks noChangeShapeType="1"/>
            </p:cNvSpPr>
            <p:nvPr/>
          </p:nvSpPr>
          <p:spPr bwMode="auto">
            <a:xfrm rot="10800000">
              <a:off x="691" y="3643"/>
              <a:ext cx="1993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</p:grpSp>
      <p:sp>
        <p:nvSpPr>
          <p:cNvPr id="60" name="Text Box 43"/>
          <p:cNvSpPr txBox="1">
            <a:spLocks noChangeArrowheads="1"/>
          </p:cNvSpPr>
          <p:nvPr/>
        </p:nvSpPr>
        <p:spPr bwMode="auto">
          <a:xfrm>
            <a:off x="1710532" y="2216773"/>
            <a:ext cx="267176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GB" altLang="en-US" sz="1400"/>
              <a:t>Angle BCA =</a:t>
            </a:r>
          </a:p>
        </p:txBody>
      </p:sp>
      <p:sp>
        <p:nvSpPr>
          <p:cNvPr id="61" name="Text Box 44"/>
          <p:cNvSpPr txBox="1">
            <a:spLocks noChangeArrowheads="1"/>
          </p:cNvSpPr>
          <p:nvPr/>
        </p:nvSpPr>
        <p:spPr bwMode="auto">
          <a:xfrm>
            <a:off x="9289257" y="3175623"/>
            <a:ext cx="568325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GB" altLang="en-US" sz="1400"/>
              <a:t>70</a:t>
            </a:r>
            <a:r>
              <a:rPr lang="en-GB" altLang="en-US" sz="1400" baseline="30000"/>
              <a:t>o</a:t>
            </a:r>
            <a:endParaRPr lang="en-GB" altLang="en-US" sz="1400"/>
          </a:p>
        </p:txBody>
      </p:sp>
      <p:sp>
        <p:nvSpPr>
          <p:cNvPr id="62" name="Text Box 45"/>
          <p:cNvSpPr txBox="1">
            <a:spLocks noChangeArrowheads="1"/>
          </p:cNvSpPr>
          <p:nvPr/>
        </p:nvSpPr>
        <p:spPr bwMode="auto">
          <a:xfrm>
            <a:off x="4244182" y="2210423"/>
            <a:ext cx="296068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GB" altLang="en-US" sz="1400"/>
              <a:t>Angle ACT =</a:t>
            </a:r>
          </a:p>
        </p:txBody>
      </p:sp>
      <p:sp>
        <p:nvSpPr>
          <p:cNvPr id="63" name="Text Box 46"/>
          <p:cNvSpPr txBox="1">
            <a:spLocks noChangeArrowheads="1"/>
          </p:cNvSpPr>
          <p:nvPr/>
        </p:nvSpPr>
        <p:spPr bwMode="auto">
          <a:xfrm>
            <a:off x="6806407" y="2172323"/>
            <a:ext cx="261143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GB" altLang="en-US" sz="1400"/>
              <a:t>Angle ATC =</a:t>
            </a:r>
          </a:p>
        </p:txBody>
      </p:sp>
      <p:sp>
        <p:nvSpPr>
          <p:cNvPr id="64" name="Text Box 47"/>
          <p:cNvSpPr txBox="1">
            <a:spLocks noChangeArrowheads="1"/>
          </p:cNvSpPr>
          <p:nvPr/>
        </p:nvSpPr>
        <p:spPr bwMode="auto">
          <a:xfrm>
            <a:off x="9216232" y="2739060"/>
            <a:ext cx="63976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GB" altLang="en-US" sz="1400"/>
              <a:t>110</a:t>
            </a:r>
            <a:r>
              <a:rPr lang="en-GB" altLang="en-US" sz="1400" baseline="30000"/>
              <a:t>o</a:t>
            </a:r>
            <a:endParaRPr lang="en-GB" altLang="en-US" sz="1400"/>
          </a:p>
        </p:txBody>
      </p:sp>
      <p:sp>
        <p:nvSpPr>
          <p:cNvPr id="65" name="Text Box 48"/>
          <p:cNvSpPr txBox="1">
            <a:spLocks noChangeArrowheads="1"/>
          </p:cNvSpPr>
          <p:nvPr/>
        </p:nvSpPr>
        <p:spPr bwMode="auto">
          <a:xfrm>
            <a:off x="9281319" y="2485060"/>
            <a:ext cx="6397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GB" altLang="en-US" sz="1400"/>
              <a:t>65</a:t>
            </a:r>
            <a:r>
              <a:rPr lang="en-GB" altLang="en-US" sz="1400" baseline="30000"/>
              <a:t>o</a:t>
            </a:r>
            <a:endParaRPr lang="en-GB" altLang="en-US" sz="1400"/>
          </a:p>
        </p:txBody>
      </p:sp>
      <p:graphicFrame>
        <p:nvGraphicFramePr>
          <p:cNvPr id="66" name="Object 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6429239"/>
              </p:ext>
            </p:extLst>
          </p:nvPr>
        </p:nvGraphicFramePr>
        <p:xfrm>
          <a:off x="1840707" y="2654923"/>
          <a:ext cx="132397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1" name="Equation" r:id="rId8" imgW="952200" imgH="406080" progId="Equation.DSMT4">
                  <p:embed/>
                </p:oleObj>
              </mc:Choice>
              <mc:Fallback>
                <p:oleObj name="Equation" r:id="rId8" imgW="952200" imgH="4060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40707" y="2654923"/>
                        <a:ext cx="1323975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Object 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75243316"/>
              </p:ext>
            </p:extLst>
          </p:nvPr>
        </p:nvGraphicFramePr>
        <p:xfrm>
          <a:off x="1721644" y="3205785"/>
          <a:ext cx="1547813" cy="860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2" name="Equation" r:id="rId10" imgW="1143000" imgH="634680" progId="Equation.DSMT4">
                  <p:embed/>
                </p:oleObj>
              </mc:Choice>
              <mc:Fallback>
                <p:oleObj name="Equation" r:id="rId10" imgW="1143000" imgH="6346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21644" y="3205785"/>
                        <a:ext cx="1547813" cy="860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8" name="Text Box 51"/>
          <p:cNvSpPr txBox="1">
            <a:spLocks noChangeArrowheads="1"/>
          </p:cNvSpPr>
          <p:nvPr/>
        </p:nvSpPr>
        <p:spPr bwMode="auto">
          <a:xfrm rot="20353091">
            <a:off x="6093619" y="4132885"/>
            <a:ext cx="1073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GB" altLang="en-US" b="1"/>
              <a:t>53.2 m</a:t>
            </a:r>
          </a:p>
        </p:txBody>
      </p:sp>
      <p:graphicFrame>
        <p:nvGraphicFramePr>
          <p:cNvPr id="69" name="Object 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01348664"/>
              </p:ext>
            </p:extLst>
          </p:nvPr>
        </p:nvGraphicFramePr>
        <p:xfrm>
          <a:off x="3979069" y="2666035"/>
          <a:ext cx="1452563" cy="547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3" name="Equation" r:id="rId12" imgW="1079280" imgH="406080" progId="Equation.DSMT4">
                  <p:embed/>
                </p:oleObj>
              </mc:Choice>
              <mc:Fallback>
                <p:oleObj name="Equation" r:id="rId12" imgW="1079280" imgH="4060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79069" y="2666035"/>
                        <a:ext cx="1452563" cy="547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Object 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0421411"/>
              </p:ext>
            </p:extLst>
          </p:nvPr>
        </p:nvGraphicFramePr>
        <p:xfrm>
          <a:off x="3693319" y="3359773"/>
          <a:ext cx="2514600" cy="541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4" name="Equation" r:id="rId14" imgW="1892160" imgH="406080" progId="Equation.DSMT4">
                  <p:embed/>
                </p:oleObj>
              </mc:Choice>
              <mc:Fallback>
                <p:oleObj name="Equation" r:id="rId14" imgW="1892160" imgH="4060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93319" y="3359773"/>
                        <a:ext cx="2514600" cy="5413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1" name="Group 56"/>
          <p:cNvGrpSpPr>
            <a:grpSpLocks/>
          </p:cNvGrpSpPr>
          <p:nvPr/>
        </p:nvGrpSpPr>
        <p:grpSpPr bwMode="auto">
          <a:xfrm>
            <a:off x="9460707" y="2078660"/>
            <a:ext cx="693737" cy="3767138"/>
            <a:chOff x="5063" y="1348"/>
            <a:chExt cx="437" cy="2373"/>
          </a:xfrm>
        </p:grpSpPr>
        <p:grpSp>
          <p:nvGrpSpPr>
            <p:cNvPr id="72" name="Group 42"/>
            <p:cNvGrpSpPr>
              <a:grpSpLocks/>
            </p:cNvGrpSpPr>
            <p:nvPr/>
          </p:nvGrpSpPr>
          <p:grpSpPr bwMode="auto">
            <a:xfrm>
              <a:off x="5063" y="1348"/>
              <a:ext cx="437" cy="2373"/>
              <a:chOff x="5063" y="1348"/>
              <a:chExt cx="437" cy="2373"/>
            </a:xfrm>
          </p:grpSpPr>
          <p:sp>
            <p:nvSpPr>
              <p:cNvPr id="74" name="Text Box 38"/>
              <p:cNvSpPr txBox="1">
                <a:spLocks noChangeArrowheads="1"/>
              </p:cNvSpPr>
              <p:nvPr/>
            </p:nvSpPr>
            <p:spPr bwMode="auto">
              <a:xfrm>
                <a:off x="5120" y="3529"/>
                <a:ext cx="293" cy="19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pPr fontAlgn="base">
                  <a:spcBef>
                    <a:spcPct val="50000"/>
                  </a:spcBef>
                  <a:spcAft>
                    <a:spcPct val="0"/>
                  </a:spcAft>
                </a:pPr>
                <a:r>
                  <a:rPr lang="en-GB" altLang="en-US" sz="1400"/>
                  <a:t>B</a:t>
                </a:r>
              </a:p>
            </p:txBody>
          </p:sp>
          <p:sp>
            <p:nvSpPr>
              <p:cNvPr id="75" name="Text Box 39"/>
              <p:cNvSpPr txBox="1">
                <a:spLocks noChangeArrowheads="1"/>
              </p:cNvSpPr>
              <p:nvPr/>
            </p:nvSpPr>
            <p:spPr bwMode="auto">
              <a:xfrm>
                <a:off x="5207" y="1348"/>
                <a:ext cx="293" cy="19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pPr fontAlgn="base">
                  <a:spcBef>
                    <a:spcPct val="50000"/>
                  </a:spcBef>
                  <a:spcAft>
                    <a:spcPct val="0"/>
                  </a:spcAft>
                </a:pPr>
                <a:r>
                  <a:rPr lang="en-GB" altLang="en-US" sz="1400"/>
                  <a:t>T</a:t>
                </a:r>
              </a:p>
            </p:txBody>
          </p:sp>
          <p:sp>
            <p:nvSpPr>
              <p:cNvPr id="76" name="Line 40"/>
              <p:cNvSpPr>
                <a:spLocks noChangeShapeType="1"/>
              </p:cNvSpPr>
              <p:nvPr/>
            </p:nvSpPr>
            <p:spPr bwMode="auto">
              <a:xfrm>
                <a:off x="5202" y="1520"/>
                <a:ext cx="0" cy="379"/>
              </a:xfrm>
              <a:prstGeom prst="line">
                <a:avLst/>
              </a:prstGeom>
              <a:noFill/>
              <a:ln w="12700">
                <a:solidFill>
                  <a:srgbClr val="FF0000"/>
                </a:solidFill>
                <a:prstDash val="sysDot"/>
                <a:round/>
                <a:headEnd type="triangle" w="med" len="med"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 sz="2400"/>
              </a:p>
            </p:txBody>
          </p:sp>
          <p:sp>
            <p:nvSpPr>
              <p:cNvPr id="77" name="Text Box 41"/>
              <p:cNvSpPr txBox="1">
                <a:spLocks noChangeArrowheads="1"/>
              </p:cNvSpPr>
              <p:nvPr/>
            </p:nvSpPr>
            <p:spPr bwMode="auto">
              <a:xfrm>
                <a:off x="5063" y="1906"/>
                <a:ext cx="293" cy="19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pPr fontAlgn="base">
                  <a:spcBef>
                    <a:spcPct val="50000"/>
                  </a:spcBef>
                  <a:spcAft>
                    <a:spcPct val="0"/>
                  </a:spcAft>
                </a:pPr>
                <a:r>
                  <a:rPr lang="en-GB" altLang="en-US" sz="1400"/>
                  <a:t>C</a:t>
                </a:r>
              </a:p>
            </p:txBody>
          </p:sp>
        </p:grpSp>
        <p:sp>
          <p:nvSpPr>
            <p:cNvPr id="73" name="Line 55"/>
            <p:cNvSpPr>
              <a:spLocks noChangeShapeType="1"/>
            </p:cNvSpPr>
            <p:nvPr/>
          </p:nvSpPr>
          <p:spPr bwMode="auto">
            <a:xfrm>
              <a:off x="5196" y="1902"/>
              <a:ext cx="0" cy="1602"/>
            </a:xfrm>
            <a:prstGeom prst="line">
              <a:avLst/>
            </a:prstGeom>
            <a:noFill/>
            <a:ln w="9525" cap="rnd">
              <a:solidFill>
                <a:srgbClr val="FF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</p:grpSp>
      <p:sp>
        <p:nvSpPr>
          <p:cNvPr id="78" name="Rectangle 60"/>
          <p:cNvSpPr>
            <a:spLocks noChangeArrowheads="1"/>
          </p:cNvSpPr>
          <p:nvPr/>
        </p:nvSpPr>
        <p:spPr bwMode="auto">
          <a:xfrm>
            <a:off x="2844007" y="2199310"/>
            <a:ext cx="131799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 sz="1400"/>
              <a:t>180 – 110 = 70</a:t>
            </a:r>
            <a:r>
              <a:rPr lang="en-GB" altLang="en-US" sz="1400" baseline="30000"/>
              <a:t>o</a:t>
            </a:r>
          </a:p>
        </p:txBody>
      </p:sp>
      <p:sp>
        <p:nvSpPr>
          <p:cNvPr id="79" name="Rectangle 61"/>
          <p:cNvSpPr>
            <a:spLocks noChangeArrowheads="1"/>
          </p:cNvSpPr>
          <p:nvPr/>
        </p:nvSpPr>
        <p:spPr bwMode="auto">
          <a:xfrm>
            <a:off x="5396707" y="2186610"/>
            <a:ext cx="131799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GB" altLang="en-US" sz="1400"/>
              <a:t>180 – 70 = 110</a:t>
            </a:r>
            <a:r>
              <a:rPr lang="en-GB" altLang="en-US" sz="1400" baseline="30000"/>
              <a:t>o</a:t>
            </a:r>
          </a:p>
        </p:txBody>
      </p:sp>
      <p:sp>
        <p:nvSpPr>
          <p:cNvPr id="80" name="Rectangle 62"/>
          <p:cNvSpPr>
            <a:spLocks noChangeArrowheads="1"/>
          </p:cNvSpPr>
          <p:nvPr/>
        </p:nvSpPr>
        <p:spPr bwMode="auto">
          <a:xfrm>
            <a:off x="8012907" y="2148510"/>
            <a:ext cx="131799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GB" altLang="en-US" sz="1400"/>
              <a:t>180 – 115 = 65</a:t>
            </a:r>
            <a:r>
              <a:rPr lang="en-GB" altLang="en-US" sz="1400" baseline="30000"/>
              <a:t>o</a:t>
            </a:r>
          </a:p>
        </p:txBody>
      </p:sp>
      <p:grpSp>
        <p:nvGrpSpPr>
          <p:cNvPr id="81" name="Group 64"/>
          <p:cNvGrpSpPr>
            <a:grpSpLocks/>
          </p:cNvGrpSpPr>
          <p:nvPr/>
        </p:nvGrpSpPr>
        <p:grpSpPr bwMode="auto">
          <a:xfrm>
            <a:off x="2475707" y="2948610"/>
            <a:ext cx="7234237" cy="2590800"/>
            <a:chOff x="663" y="1896"/>
            <a:chExt cx="4557" cy="1632"/>
          </a:xfrm>
        </p:grpSpPr>
        <p:sp>
          <p:nvSpPr>
            <p:cNvPr id="82" name="Freeform 26"/>
            <p:cNvSpPr>
              <a:spLocks/>
            </p:cNvSpPr>
            <p:nvPr/>
          </p:nvSpPr>
          <p:spPr bwMode="auto">
            <a:xfrm>
              <a:off x="663" y="1896"/>
              <a:ext cx="4557" cy="1623"/>
            </a:xfrm>
            <a:custGeom>
              <a:avLst/>
              <a:gdLst>
                <a:gd name="T0" fmla="*/ 0 w 4557"/>
                <a:gd name="T1" fmla="*/ 1623 h 1623"/>
                <a:gd name="T2" fmla="*/ 4557 w 4557"/>
                <a:gd name="T3" fmla="*/ 0 h 16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557" h="1623">
                  <a:moveTo>
                    <a:pt x="0" y="1623"/>
                  </a:moveTo>
                  <a:lnTo>
                    <a:pt x="4557" y="0"/>
                  </a:lnTo>
                </a:path>
              </a:pathLst>
            </a:custGeom>
            <a:noFill/>
            <a:ln w="9525" cap="flat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  <p:sp>
          <p:nvSpPr>
            <p:cNvPr id="83" name="Text Box 28"/>
            <p:cNvSpPr txBox="1">
              <a:spLocks noChangeArrowheads="1"/>
            </p:cNvSpPr>
            <p:nvPr/>
          </p:nvSpPr>
          <p:spPr bwMode="auto">
            <a:xfrm>
              <a:off x="1026" y="3336"/>
              <a:ext cx="372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1400"/>
                <a:t>20</a:t>
              </a:r>
              <a:r>
                <a:rPr lang="en-GB" altLang="en-US" sz="1400" baseline="30000"/>
                <a:t>o</a:t>
              </a:r>
              <a:endParaRPr lang="en-GB" altLang="en-US" sz="1400"/>
            </a:p>
          </p:txBody>
        </p:sp>
        <p:sp>
          <p:nvSpPr>
            <p:cNvPr id="84" name="Freeform 63"/>
            <p:cNvSpPr>
              <a:spLocks/>
            </p:cNvSpPr>
            <p:nvPr/>
          </p:nvSpPr>
          <p:spPr bwMode="auto">
            <a:xfrm>
              <a:off x="1382" y="3262"/>
              <a:ext cx="73" cy="250"/>
            </a:xfrm>
            <a:custGeom>
              <a:avLst/>
              <a:gdLst>
                <a:gd name="T0" fmla="*/ 0 w 75"/>
                <a:gd name="T1" fmla="*/ 0 h 246"/>
                <a:gd name="T2" fmla="*/ 66 w 75"/>
                <a:gd name="T3" fmla="*/ 122 h 246"/>
                <a:gd name="T4" fmla="*/ 54 w 75"/>
                <a:gd name="T5" fmla="*/ 246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75" h="246">
                  <a:moveTo>
                    <a:pt x="0" y="0"/>
                  </a:moveTo>
                  <a:cubicBezTo>
                    <a:pt x="11" y="20"/>
                    <a:pt x="57" y="81"/>
                    <a:pt x="66" y="122"/>
                  </a:cubicBezTo>
                  <a:cubicBezTo>
                    <a:pt x="75" y="163"/>
                    <a:pt x="56" y="220"/>
                    <a:pt x="54" y="246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</p:grpSp>
      <p:grpSp>
        <p:nvGrpSpPr>
          <p:cNvPr id="85" name="Group 71"/>
          <p:cNvGrpSpPr>
            <a:grpSpLocks/>
          </p:cNvGrpSpPr>
          <p:nvPr/>
        </p:nvGrpSpPr>
        <p:grpSpPr bwMode="auto">
          <a:xfrm>
            <a:off x="2489994" y="2339010"/>
            <a:ext cx="7372350" cy="3171825"/>
            <a:chOff x="672" y="1512"/>
            <a:chExt cx="4644" cy="1998"/>
          </a:xfrm>
        </p:grpSpPr>
        <p:sp>
          <p:nvSpPr>
            <p:cNvPr id="86" name="Freeform 27"/>
            <p:cNvSpPr>
              <a:spLocks/>
            </p:cNvSpPr>
            <p:nvPr/>
          </p:nvSpPr>
          <p:spPr bwMode="auto">
            <a:xfrm>
              <a:off x="672" y="1512"/>
              <a:ext cx="4644" cy="1998"/>
            </a:xfrm>
            <a:custGeom>
              <a:avLst/>
              <a:gdLst>
                <a:gd name="T0" fmla="*/ 0 w 4644"/>
                <a:gd name="T1" fmla="*/ 1998 h 1998"/>
                <a:gd name="T2" fmla="*/ 4644 w 4644"/>
                <a:gd name="T3" fmla="*/ 0 h 19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644" h="1998">
                  <a:moveTo>
                    <a:pt x="0" y="1998"/>
                  </a:moveTo>
                  <a:lnTo>
                    <a:pt x="4644" y="0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  <p:sp>
          <p:nvSpPr>
            <p:cNvPr id="87" name="Freeform 66"/>
            <p:cNvSpPr>
              <a:spLocks/>
            </p:cNvSpPr>
            <p:nvPr/>
          </p:nvSpPr>
          <p:spPr bwMode="auto">
            <a:xfrm>
              <a:off x="1550" y="3136"/>
              <a:ext cx="154" cy="374"/>
            </a:xfrm>
            <a:custGeom>
              <a:avLst/>
              <a:gdLst>
                <a:gd name="T0" fmla="*/ 0 w 154"/>
                <a:gd name="T1" fmla="*/ 0 h 374"/>
                <a:gd name="T2" fmla="*/ 134 w 154"/>
                <a:gd name="T3" fmla="*/ 166 h 374"/>
                <a:gd name="T4" fmla="*/ 120 w 154"/>
                <a:gd name="T5" fmla="*/ 374 h 3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4" h="374">
                  <a:moveTo>
                    <a:pt x="0" y="0"/>
                  </a:moveTo>
                  <a:cubicBezTo>
                    <a:pt x="22" y="28"/>
                    <a:pt x="114" y="104"/>
                    <a:pt x="134" y="166"/>
                  </a:cubicBezTo>
                  <a:cubicBezTo>
                    <a:pt x="154" y="228"/>
                    <a:pt x="123" y="331"/>
                    <a:pt x="120" y="374"/>
                  </a:cubicBezTo>
                </a:path>
              </a:pathLst>
            </a:custGeom>
            <a:noFill/>
            <a:ln w="952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  <p:sp>
          <p:nvSpPr>
            <p:cNvPr id="88" name="Text Box 68"/>
            <p:cNvSpPr txBox="1">
              <a:spLocks noChangeArrowheads="1"/>
            </p:cNvSpPr>
            <p:nvPr/>
          </p:nvSpPr>
          <p:spPr bwMode="auto">
            <a:xfrm>
              <a:off x="1418" y="3228"/>
              <a:ext cx="302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1400" b="1"/>
                <a:t>25</a:t>
              </a:r>
              <a:r>
                <a:rPr lang="en-GB" altLang="en-US" sz="1400" b="1" baseline="30000"/>
                <a:t>o</a:t>
              </a:r>
              <a:endParaRPr lang="en-GB" altLang="en-US" sz="1400" b="1"/>
            </a:p>
          </p:txBody>
        </p:sp>
      </p:grpSp>
      <p:grpSp>
        <p:nvGrpSpPr>
          <p:cNvPr id="89" name="Group 70"/>
          <p:cNvGrpSpPr>
            <a:grpSpLocks/>
          </p:cNvGrpSpPr>
          <p:nvPr/>
        </p:nvGrpSpPr>
        <p:grpSpPr bwMode="auto">
          <a:xfrm>
            <a:off x="3098007" y="4653585"/>
            <a:ext cx="503237" cy="419100"/>
            <a:chOff x="1055" y="2970"/>
            <a:chExt cx="317" cy="264"/>
          </a:xfrm>
        </p:grpSpPr>
        <p:sp>
          <p:nvSpPr>
            <p:cNvPr id="90" name="Text Box 31"/>
            <p:cNvSpPr txBox="1">
              <a:spLocks noChangeArrowheads="1"/>
            </p:cNvSpPr>
            <p:nvPr/>
          </p:nvSpPr>
          <p:spPr bwMode="auto">
            <a:xfrm>
              <a:off x="1055" y="2970"/>
              <a:ext cx="213" cy="1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GB" altLang="en-US" sz="1400"/>
                <a:t>5</a:t>
              </a:r>
              <a:r>
                <a:rPr lang="en-GB" altLang="en-US" sz="1400" baseline="30000"/>
                <a:t>o</a:t>
              </a:r>
              <a:endParaRPr lang="en-GB" altLang="en-US" sz="1400"/>
            </a:p>
          </p:txBody>
        </p:sp>
        <p:sp>
          <p:nvSpPr>
            <p:cNvPr id="91" name="Line 69"/>
            <p:cNvSpPr>
              <a:spLocks noChangeShapeType="1"/>
            </p:cNvSpPr>
            <p:nvPr/>
          </p:nvSpPr>
          <p:spPr bwMode="auto">
            <a:xfrm>
              <a:off x="1208" y="3100"/>
              <a:ext cx="164" cy="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</p:grpSp>
    </p:spTree>
    <p:extLst>
      <p:ext uri="{BB962C8B-B14F-4D97-AF65-F5344CB8AC3E}">
        <p14:creationId xmlns:p14="http://schemas.microsoft.com/office/powerpoint/2010/main" val="265008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autoUpdateAnimBg="0"/>
      <p:bldP spid="61" grpId="0" autoUpdateAnimBg="0"/>
      <p:bldP spid="62" grpId="0" autoUpdateAnimBg="0"/>
      <p:bldP spid="63" grpId="0" autoUpdateAnimBg="0"/>
      <p:bldP spid="64" grpId="0" autoUpdateAnimBg="0"/>
      <p:bldP spid="65" grpId="0" autoUpdateAnimBg="0"/>
      <p:bldP spid="68" grpId="0" autoUpdateAnimBg="0"/>
      <p:bldP spid="78" grpId="0" autoUpdateAnimBg="0"/>
      <p:bldP spid="79" grpId="0" autoUpdateAnimBg="0"/>
      <p:bldP spid="80" grpId="0" autoUpdateAnimBg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COSINE RULE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Forms — Side or Angle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6236208" cy="621792"/>
          </a:xfrm>
          <a:prstGeom prst="roundRect">
            <a:avLst>
              <a:gd name="adj" fmla="val 8824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angle A always sits opposite the side a.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the triangle before you substitute.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3080084"/>
            <a:ext cx="5440680" cy="2452036"/>
          </a:xfrm>
          <a:prstGeom prst="roundRect">
            <a:avLst>
              <a:gd name="adj" fmla="val 166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49853" y="3316223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 SIDE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871407" y="3819143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800" b="1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=  b</a:t>
            </a:r>
            <a:r>
              <a:rPr lang="en-US" sz="1800" b="1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+  c</a:t>
            </a:r>
            <a:r>
              <a:rPr lang="en-US" sz="1800" b="1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−  2bc cos A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914400" y="4572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know: </a:t>
            </a: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sides (b, c) and the angle BETWEEN them (A).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1024128" y="5166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forget the square root at the end!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6190488" y="3080084"/>
            <a:ext cx="5440680" cy="2452036"/>
          </a:xfrm>
          <a:prstGeom prst="roundRect">
            <a:avLst>
              <a:gd name="adj" fmla="val 166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482614" y="3361943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an ANGLE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6446520" y="3773423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 A  =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8046720" y="3819143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600" b="1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c</a:t>
            </a:r>
            <a:r>
              <a:rPr lang="en-US" sz="1600" b="1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a</a:t>
            </a:r>
            <a:r>
              <a:rPr lang="en-US" sz="1600" b="1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8046720" y="4093463"/>
            <a:ext cx="246888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046720" y="4120895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2bc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6537960" y="4427620"/>
            <a:ext cx="4754880" cy="510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know: </a:t>
            </a: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THREE sides. Then use cos⁻¹.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6537960" y="510475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angle you find is opposite the side a.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566928" y="571500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841248" y="5715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Largest angle is always opposite the LONGEST side — useful for checking.</a:t>
            </a:r>
            <a:endParaRPr lang="en-US" sz="2300" dirty="0"/>
          </a:p>
        </p:txBody>
      </p:sp>
      <p:sp>
        <p:nvSpPr>
          <p:cNvPr id="58" name="Rectangle 57"/>
          <p:cNvSpPr/>
          <p:nvPr/>
        </p:nvSpPr>
        <p:spPr>
          <a:xfrm>
            <a:off x="6847332" y="1374458"/>
            <a:ext cx="3313176" cy="13542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 </a:t>
            </a:r>
            <a:r>
              <a:rPr lang="en-US" b="1" dirty="0" smtClean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have: </a:t>
            </a:r>
          </a:p>
          <a:p>
            <a:pPr marL="285750" indent="-285750">
              <a:spcAft>
                <a:spcPts val="400"/>
              </a:spcAft>
              <a:buFont typeface="Arial" pitchFamily="34" charset="0"/>
              <a:buChar char="•"/>
            </a:pPr>
            <a:r>
              <a:rPr lang="en-US" b="1" dirty="0" smtClean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</a:t>
            </a:r>
            <a:r>
              <a:rPr lang="en-US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SIDES </a:t>
            </a:r>
          </a:p>
          <a:p>
            <a:pPr marL="285750" indent="-285750">
              <a:spcAft>
                <a:spcPts val="400"/>
              </a:spcAft>
              <a:buFont typeface="Arial" pitchFamily="34" charset="0"/>
              <a:buChar char="•"/>
            </a:pPr>
            <a:r>
              <a:rPr lang="en-US" b="1" dirty="0" smtClean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One ANGLE </a:t>
            </a:r>
            <a:r>
              <a:rPr lang="en-US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</a:t>
            </a:r>
            <a:endParaRPr lang="en-US" dirty="0"/>
          </a:p>
          <a:p>
            <a:pPr>
              <a:spcAft>
                <a:spcPts val="1000"/>
              </a:spcAft>
            </a:pPr>
            <a:r>
              <a:rPr lang="en-US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ONE of them is missing.</a:t>
            </a:r>
            <a:endParaRPr lang="en-US" dirty="0"/>
          </a:p>
        </p:txBody>
      </p:sp>
      <p:pic>
        <p:nvPicPr>
          <p:cNvPr id="59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7776" y="676656"/>
            <a:ext cx="2514600" cy="167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RULE · EXAMPLE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 Side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68400" y="1353312"/>
            <a:ext cx="9454896" cy="441216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and the angle BETWEEN them → cosine rule.</a:t>
            </a:r>
            <a:endParaRPr lang="en-US" sz="1300" dirty="0"/>
          </a:p>
        </p:txBody>
      </p:sp>
      <p:pic>
        <p:nvPicPr>
          <p:cNvPr id="4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11860" y="2376813"/>
            <a:ext cx="3600400" cy="3183365"/>
          </a:xfrm>
          <a:prstGeom prst="rect">
            <a:avLst/>
          </a:prstGeom>
          <a:noFill/>
          <a:ln w="38100">
            <a:solidFill>
              <a:schemeClr val="accent5"/>
            </a:solidFill>
            <a:miter lim="800000"/>
            <a:headEnd/>
            <a:tailEnd/>
          </a:ln>
        </p:spPr>
      </p:pic>
      <p:pic>
        <p:nvPicPr>
          <p:cNvPr id="46" name="Picture 1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593545" y="2410242"/>
            <a:ext cx="3231157" cy="415704"/>
          </a:xfrm>
          <a:prstGeom prst="rect">
            <a:avLst/>
          </a:prstGeom>
          <a:noFill/>
        </p:spPr>
      </p:pic>
      <p:pic>
        <p:nvPicPr>
          <p:cNvPr id="47" name="Picture 7"/>
          <p:cNvPicPr>
            <a:picLocks noChangeAspect="1" noChangeArrowheads="1"/>
          </p:cNvPicPr>
          <p:nvPr/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720372" y="3141658"/>
            <a:ext cx="4067944" cy="297473"/>
          </a:xfrm>
          <a:prstGeom prst="rect">
            <a:avLst/>
          </a:prstGeom>
          <a:noFill/>
        </p:spPr>
      </p:pic>
      <p:pic>
        <p:nvPicPr>
          <p:cNvPr id="48" name="Picture 10"/>
          <p:cNvPicPr>
            <a:picLocks noChangeAspect="1" noChangeArrowheads="1"/>
          </p:cNvPicPr>
          <p:nvPr/>
        </p:nvPicPr>
        <p:blipFill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593545" y="3754843"/>
            <a:ext cx="2257425" cy="381000"/>
          </a:xfrm>
          <a:prstGeom prst="rect">
            <a:avLst/>
          </a:prstGeom>
          <a:noFill/>
        </p:spPr>
      </p:pic>
      <p:pic>
        <p:nvPicPr>
          <p:cNvPr id="49" name="Picture 13"/>
          <p:cNvPicPr>
            <a:picLocks noChangeAspect="1" noChangeArrowheads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762738" y="4451555"/>
            <a:ext cx="2088232" cy="372899"/>
          </a:xfrm>
          <a:prstGeom prst="rect">
            <a:avLst/>
          </a:prstGeom>
          <a:noFill/>
        </p:spPr>
      </p:pic>
      <p:pic>
        <p:nvPicPr>
          <p:cNvPr id="50" name="Picture 16"/>
          <p:cNvPicPr>
            <a:picLocks noChangeAspect="1" noChangeArrowheads="1"/>
          </p:cNvPicPr>
          <p:nvPr/>
        </p:nvPicPr>
        <p:blipFill>
          <a:blip r:embed="rId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744816" y="5140167"/>
            <a:ext cx="2124075" cy="381000"/>
          </a:xfrm>
          <a:prstGeom prst="rect">
            <a:avLst/>
          </a:prstGeom>
          <a:noFill/>
        </p:spPr>
      </p:pic>
      <p:sp>
        <p:nvSpPr>
          <p:cNvPr id="51" name="Rectangle 50"/>
          <p:cNvSpPr/>
          <p:nvPr/>
        </p:nvSpPr>
        <p:spPr>
          <a:xfrm>
            <a:off x="1757253" y="1548619"/>
            <a:ext cx="8082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 smtClean="0"/>
              <a:t>Find a.</a:t>
            </a:r>
            <a:endParaRPr lang="en-GB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RULE · EXAMPLE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an Angle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085474" y="1353312"/>
            <a:ext cx="8823158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sides given → rearrange for cos A, then use cos⁻¹.</a:t>
            </a:r>
            <a:endParaRPr lang="en-US" sz="1300" dirty="0"/>
          </a:p>
        </p:txBody>
      </p:sp>
      <p:pic>
        <p:nvPicPr>
          <p:cNvPr id="45" name="Picture 17" descr="http://www.s-cool.co.uk/assets/test_its/alevel/maths/trigonometry/quest210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00635" y="2006983"/>
            <a:ext cx="3384376" cy="2415064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/>
              <p:cNvSpPr txBox="1"/>
              <p:nvPr/>
            </p:nvSpPr>
            <p:spPr>
              <a:xfrm>
                <a:off x="6942138" y="1348977"/>
                <a:ext cx="3277244" cy="8336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cos</m:t>
                          </m:r>
                        </m:fName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𝐴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= </m:t>
                          </m:r>
                          <m:f>
                            <m:f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+ </m:t>
                              </m:r>
                              <m:sSup>
                                <m:sSup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𝑐</m:t>
                                  </m:r>
                                </m:e>
                                <m:sup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 − </m:t>
                              </m:r>
                              <m:sSup>
                                <m:sSup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2</m:t>
                              </m:r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𝑏𝑐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2138" y="1348977"/>
                <a:ext cx="3277244" cy="833626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/>
              <p:cNvSpPr txBox="1"/>
              <p:nvPr/>
            </p:nvSpPr>
            <p:spPr>
              <a:xfrm>
                <a:off x="6989067" y="2315551"/>
                <a:ext cx="3275448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cos</m:t>
                          </m:r>
                        </m:fName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𝐴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= </m:t>
                          </m:r>
                          <m:f>
                            <m:f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8</m:t>
                                  </m:r>
                                </m:e>
                                <m:sup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+ </m:t>
                              </m:r>
                              <m:sSup>
                                <m:sSup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7</m:t>
                                  </m:r>
                                </m:e>
                                <m:sup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 − </m:t>
                              </m:r>
                              <m:sSup>
                                <m:sSup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9</m:t>
                                  </m:r>
                                </m:e>
                                <m:sup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2</m:t>
                              </m:r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(8)(</m:t>
                              </m:r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)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9067" y="2315551"/>
                <a:ext cx="3275448" cy="898964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/>
              <p:cNvSpPr txBox="1"/>
              <p:nvPr/>
            </p:nvSpPr>
            <p:spPr>
              <a:xfrm>
                <a:off x="6995301" y="3314559"/>
                <a:ext cx="1573700" cy="7848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cos</m:t>
                          </m:r>
                        </m:fName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𝐴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= </m:t>
                          </m:r>
                          <m:f>
                            <m:f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</m:ctrlPr>
                            </m:fPr>
                            <m:num>
                              <m:r>
                                <a:rPr lang="en-GB" sz="2400" i="1" smtClean="0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5301" y="3314559"/>
                <a:ext cx="1573700" cy="78489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/>
              <p:cNvSpPr txBox="1"/>
              <p:nvPr/>
            </p:nvSpPr>
            <p:spPr>
              <a:xfrm>
                <a:off x="7549968" y="4229297"/>
                <a:ext cx="2175404" cy="9221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uncPr>
                        <m:fName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𝐴</m:t>
                          </m:r>
                        </m:fName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=</m:t>
                          </m:r>
                          <m:func>
                            <m:funcPr>
                              <m:ctrlPr>
                                <a:rPr lang="en-GB" sz="2400" i="1" smtClean="0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GB" sz="2400" i="1" smtClean="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400" i="0" smtClean="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en-GB" sz="2400" i="1" smtClean="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−1</m:t>
                                  </m:r>
                                </m:sup>
                              </m:sSup>
                            </m:fName>
                            <m:e>
                              <m:d>
                                <m:dPr>
                                  <m:ctrlPr>
                                    <a:rPr lang="en-GB" sz="2400" i="1" smtClean="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4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/>
                                        </a:rPr>
                                        <m:t>2</m:t>
                                      </m:r>
                                    </m:num>
                                    <m:den>
                                      <m: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7</m:t>
                                      </m:r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49" name="Text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9968" y="4229297"/>
                <a:ext cx="2175404" cy="922176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/>
              <p:cNvSpPr txBox="1"/>
              <p:nvPr/>
            </p:nvSpPr>
            <p:spPr>
              <a:xfrm>
                <a:off x="7565131" y="5165401"/>
                <a:ext cx="244413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uncPr>
                        <m:fName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𝐴</m:t>
                          </m:r>
                        </m:fName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=</m:t>
                          </m:r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7</m:t>
                          </m:r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3.3984504</m:t>
                          </m:r>
                        </m:e>
                      </m:func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50" name="TextBox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5131" y="5165401"/>
                <a:ext cx="2444131" cy="461665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/>
              <p:cNvSpPr txBox="1"/>
              <p:nvPr/>
            </p:nvSpPr>
            <p:spPr>
              <a:xfrm>
                <a:off x="7565131" y="5692710"/>
                <a:ext cx="22261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GB" sz="2400" i="1" smtClean="0">
                            <a:solidFill>
                              <a:prstClr val="black"/>
                            </a:solidFill>
                            <a:latin typeface="Cambria Math"/>
                          </a:rPr>
                        </m:ctrlPr>
                      </m:funcPr>
                      <m:fName>
                        <m:r>
                          <a:rPr lang="en-GB" sz="2400" b="0" i="1" smtClean="0">
                            <a:solidFill>
                              <a:prstClr val="black"/>
                            </a:solidFill>
                            <a:latin typeface="Cambria Math"/>
                          </a:rPr>
                          <m:t>𝐴</m:t>
                        </m:r>
                      </m:fName>
                      <m:e>
                        <m:r>
                          <a:rPr lang="en-GB" sz="24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GB" sz="2400" b="0" i="1" smtClean="0">
                            <a:solidFill>
                              <a:prstClr val="black"/>
                            </a:solidFill>
                            <a:latin typeface="Cambria Math"/>
                          </a:rPr>
                          <m:t>7</m:t>
                        </m:r>
                        <m:r>
                          <a:rPr lang="en-GB" sz="24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3.4</m:t>
                        </m:r>
                        <m:r>
                          <a:rPr lang="en-GB" sz="2400" b="0" i="1" smtClean="0">
                            <a:solidFill>
                              <a:prstClr val="black"/>
                            </a:solidFill>
                            <a:latin typeface="Cambria Math"/>
                          </a:rPr>
                          <m:t> </m:t>
                        </m:r>
                      </m:e>
                    </m:func>
                    <m:r>
                      <a:rPr lang="en-GB" sz="2400" b="0" i="1" smtClean="0">
                        <a:solidFill>
                          <a:prstClr val="black"/>
                        </a:solidFill>
                        <a:latin typeface="Cambria Math"/>
                      </a:rPr>
                      <m:t> </m:t>
                    </m:r>
                  </m:oMath>
                </a14:m>
                <a:r>
                  <a:rPr lang="en-GB" sz="2400" i="1" dirty="0"/>
                  <a:t>(1d.p)</a:t>
                </a:r>
              </a:p>
            </p:txBody>
          </p:sp>
        </mc:Choice>
        <mc:Fallback>
          <p:sp>
            <p:nvSpPr>
              <p:cNvPr id="51" name="TextBox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5131" y="5692710"/>
                <a:ext cx="2226122" cy="461665"/>
              </a:xfrm>
              <a:prstGeom prst="rect">
                <a:avLst/>
              </a:prstGeom>
              <a:blipFill rotWithShape="1">
                <a:blip r:embed="rId9"/>
                <a:stretch>
                  <a:fillRect l="-548" t="-10526" r="-3288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Rectangle 51"/>
          <p:cNvSpPr/>
          <p:nvPr/>
        </p:nvSpPr>
        <p:spPr>
          <a:xfrm>
            <a:off x="2267712" y="1516118"/>
            <a:ext cx="25896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Find the size of angle BAC</a:t>
            </a:r>
            <a:endParaRPr lang="en-GB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47" grpId="0"/>
      <p:bldP spid="48" grpId="0"/>
      <p:bldP spid="49" grpId="0"/>
      <p:bldP spid="50" grpId="0"/>
      <p:bldP spid="5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RULE · PROBLEM SOLVING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Context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710206" y="1353312"/>
            <a:ext cx="7494498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triangle, label it, then decide the rule.</a:t>
            </a:r>
            <a:endParaRPr lang="en-US" sz="1300" dirty="0"/>
          </a:p>
        </p:txBody>
      </p:sp>
      <p:pic>
        <p:nvPicPr>
          <p:cNvPr id="4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10206" y="1353312"/>
            <a:ext cx="7208300" cy="3487511"/>
          </a:xfrm>
          <a:prstGeom prst="rect">
            <a:avLst/>
          </a:prstGeom>
          <a:noFill/>
          <a:ln w="38100">
            <a:solidFill>
              <a:srgbClr val="FF66FF"/>
            </a:solidFill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OF A TRIANGLE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 = ½ ab sin C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783313" y="1353312"/>
            <a:ext cx="6625069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you know TWO SIDES and the angle BETWEEN them.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angle must be between the two sides.</a:t>
            </a:r>
            <a:endParaRPr lang="en-US" sz="1300" dirty="0"/>
          </a:p>
        </p:txBody>
      </p:sp>
      <p:sp>
        <p:nvSpPr>
          <p:cNvPr id="45" name="Rectangle 44"/>
          <p:cNvSpPr/>
          <p:nvPr/>
        </p:nvSpPr>
        <p:spPr>
          <a:xfrm>
            <a:off x="2834640" y="1377618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/>
              <a:t>Discussion – Is it possible to find the area of this triangle from the information given, using methods you already know?</a:t>
            </a:r>
            <a:endParaRPr lang="en-GB" dirty="0"/>
          </a:p>
        </p:txBody>
      </p:sp>
      <p:pic>
        <p:nvPicPr>
          <p:cNvPr id="4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34640" y="2189042"/>
            <a:ext cx="5784525" cy="2982835"/>
          </a:xfrm>
          <a:prstGeom prst="rect">
            <a:avLst/>
          </a:prstGeom>
          <a:noFill/>
          <a:ln w="38100">
            <a:solidFill>
              <a:schemeClr val="accent4"/>
            </a:solidFill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· EXAMPLE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Area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777817" y="1353312"/>
            <a:ext cx="8636061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and the included angle → ½ ab sin C.</a:t>
            </a:r>
            <a:endParaRPr lang="en-US" sz="13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8850" y="2090738"/>
            <a:ext cx="7734300" cy="3086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· EXAMPLE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Backwards from the Area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329866" y="1353312"/>
            <a:ext cx="7531964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the area, substitute and solve for the missing side or angle.</a:t>
            </a:r>
            <a:endParaRPr lang="en-US" sz="1300" dirty="0"/>
          </a:p>
        </p:txBody>
      </p:sp>
      <p:pic>
        <p:nvPicPr>
          <p:cNvPr id="4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74066" y="3035315"/>
            <a:ext cx="3851920" cy="2605710"/>
          </a:xfrm>
          <a:prstGeom prst="rect">
            <a:avLst/>
          </a:prstGeom>
          <a:noFill/>
          <a:ln w="38100">
            <a:solidFill>
              <a:schemeClr val="accent6"/>
            </a:solidFill>
            <a:miter lim="800000"/>
            <a:headEnd/>
            <a:tailEnd/>
          </a:ln>
        </p:spPr>
      </p:pic>
      <p:pic>
        <p:nvPicPr>
          <p:cNvPr id="46" name="Picture 1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732240" y="1700784"/>
            <a:ext cx="2088232" cy="680435"/>
          </a:xfrm>
          <a:prstGeom prst="rect">
            <a:avLst/>
          </a:prstGeom>
          <a:noFill/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804248" y="2491079"/>
            <a:ext cx="3168352" cy="667803"/>
          </a:xfrm>
          <a:prstGeom prst="rect">
            <a:avLst/>
          </a:prstGeom>
          <a:noFill/>
        </p:spPr>
      </p:pic>
      <p:pic>
        <p:nvPicPr>
          <p:cNvPr id="48" name="Picture 47"/>
          <p:cNvPicPr>
            <a:picLocks noChangeAspect="1" noChangeArrowheads="1"/>
          </p:cNvPicPr>
          <p:nvPr/>
        </p:nvPicPr>
        <p:blipFill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804249" y="3334148"/>
            <a:ext cx="2736303" cy="376902"/>
          </a:xfrm>
          <a:prstGeom prst="rect">
            <a:avLst/>
          </a:prstGeom>
          <a:noFill/>
        </p:spPr>
      </p:pic>
      <p:pic>
        <p:nvPicPr>
          <p:cNvPr id="49" name="Picture 8"/>
          <p:cNvPicPr>
            <a:picLocks noChangeAspect="1" noChangeArrowheads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7236296" y="3846451"/>
            <a:ext cx="1872208" cy="688973"/>
          </a:xfrm>
          <a:prstGeom prst="rect">
            <a:avLst/>
          </a:prstGeom>
          <a:noFill/>
        </p:spPr>
      </p:pic>
      <p:pic>
        <p:nvPicPr>
          <p:cNvPr id="50" name="Picture 10"/>
          <p:cNvPicPr>
            <a:picLocks noChangeAspect="1" noChangeArrowheads="1"/>
          </p:cNvPicPr>
          <p:nvPr/>
        </p:nvPicPr>
        <p:blipFill>
          <a:blip r:embed="rId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7452319" y="4797648"/>
            <a:ext cx="1440161" cy="38099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</p:pic>
      <p:sp>
        <p:nvSpPr>
          <p:cNvPr id="51" name="Rectangle 50"/>
          <p:cNvSpPr/>
          <p:nvPr/>
        </p:nvSpPr>
        <p:spPr>
          <a:xfrm>
            <a:off x="2323475" y="1516118"/>
            <a:ext cx="44033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Find the missing side or angle, given the area</a:t>
            </a:r>
            <a:endParaRPr lang="en-GB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Table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what the question GIVES you, then pick the rule.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148840"/>
            <a:ext cx="4343400" cy="50292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4" name="Text 42"/>
          <p:cNvSpPr/>
          <p:nvPr/>
        </p:nvSpPr>
        <p:spPr>
          <a:xfrm>
            <a:off x="676656" y="2148840"/>
            <a:ext cx="4123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are given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5120640" y="2148840"/>
            <a:ext cx="3429000" cy="50292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6" name="Text 44"/>
          <p:cNvSpPr/>
          <p:nvPr/>
        </p:nvSpPr>
        <p:spPr>
          <a:xfrm>
            <a:off x="5230368" y="2148840"/>
            <a:ext cx="3209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to use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8778240" y="2148840"/>
            <a:ext cx="2852928" cy="50292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8" name="Text 46"/>
          <p:cNvSpPr/>
          <p:nvPr/>
        </p:nvSpPr>
        <p:spPr>
          <a:xfrm>
            <a:off x="8887968" y="2148840"/>
            <a:ext cx="2633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566928" y="2679192"/>
            <a:ext cx="4343400" cy="676656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4088" y="2679192"/>
            <a:ext cx="4069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angles + 1 side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5120640" y="2679192"/>
            <a:ext cx="3429000" cy="676656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7800" y="2679192"/>
            <a:ext cx="3154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SINE RULE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8778240" y="2679192"/>
            <a:ext cx="2852928" cy="676656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915400" y="2679192"/>
            <a:ext cx="25786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side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392424"/>
            <a:ext cx="4343400" cy="676656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4088" y="3392424"/>
            <a:ext cx="4069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sides + 1 angle opposite one of them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5120640" y="3392424"/>
            <a:ext cx="3429000" cy="676656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7800" y="3392424"/>
            <a:ext cx="3154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SINE RULE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8778240" y="3392424"/>
            <a:ext cx="2852928" cy="676656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915400" y="3392424"/>
            <a:ext cx="25786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angle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66928" y="4105656"/>
            <a:ext cx="4343400" cy="676656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04088" y="4105656"/>
            <a:ext cx="4069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sides + the angle BETWEEN them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5120640" y="4105656"/>
            <a:ext cx="3429000" cy="676656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257800" y="4105656"/>
            <a:ext cx="3154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COSINE RULE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8778240" y="4105656"/>
            <a:ext cx="2852928" cy="676656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915400" y="4105656"/>
            <a:ext cx="25786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3rd side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566928" y="4818888"/>
            <a:ext cx="4343400" cy="676656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04088" y="4818888"/>
            <a:ext cx="4069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sides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5120640" y="4818888"/>
            <a:ext cx="3429000" cy="676656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257800" y="4818888"/>
            <a:ext cx="3154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COSINE RULE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8778240" y="4818888"/>
            <a:ext cx="2852928" cy="676656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915400" y="4818888"/>
            <a:ext cx="25786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angle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566928" y="5532120"/>
            <a:ext cx="4343400" cy="676656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04088" y="5532120"/>
            <a:ext cx="4069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sides + the angle BETWEEN them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5120640" y="5532120"/>
            <a:ext cx="3429000" cy="676656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257800" y="5532120"/>
            <a:ext cx="3154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 = ½ ab sin C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8778240" y="5532120"/>
            <a:ext cx="2852928" cy="676656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915400" y="5532120"/>
            <a:ext cx="25786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area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566928" y="6355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yourself: do I have a SIDE and the ANGLE OPPOSITE it?  Yes → sine rule.  No → cosine rule.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 the rule first — then label, substitute and solve.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a, b, c and A, B, C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opposite pair? → SINE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sides, or 2 sides + included angle? → COSINE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 wanted? → ½ ab sin C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538404" y="1399032"/>
            <a:ext cx="5114888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2/cx-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2412" y="1463040"/>
            <a:ext cx="498687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4272475" y="1399032"/>
            <a:ext cx="3646745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2/cx-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6483" y="1463040"/>
            <a:ext cx="3518729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869329" y="1399032"/>
            <a:ext cx="4453037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2/cx-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3337" y="1463040"/>
            <a:ext cx="4325021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185520" y="1399032"/>
            <a:ext cx="9820656" cy="456922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2/cx-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528" y="1463040"/>
            <a:ext cx="9692640" cy="444121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185520" y="1399032"/>
            <a:ext cx="9820656" cy="4965849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2/cx-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528" y="1463040"/>
            <a:ext cx="9692640" cy="483783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4411442" y="1399032"/>
            <a:ext cx="3368812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2/cx-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450" y="1463040"/>
            <a:ext cx="3240796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7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671900" y="1399032"/>
            <a:ext cx="6847895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2/cx-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5908" y="1463040"/>
            <a:ext cx="6719879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8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626135" y="1399032"/>
            <a:ext cx="4939426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2/cx-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0143" y="1463040"/>
            <a:ext cx="481141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9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185520" y="1399032"/>
            <a:ext cx="9820656" cy="49787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2/cx-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528" y="1463040"/>
            <a:ext cx="9692640" cy="485077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10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172138" y="1399032"/>
            <a:ext cx="7847419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2/cx-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6146" y="1463040"/>
            <a:ext cx="771940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185520" y="1399032"/>
            <a:ext cx="9820656" cy="4353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2/cx-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528" y="1463040"/>
            <a:ext cx="9692640" cy="422524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770768" y="1399032"/>
            <a:ext cx="8650158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2/cx-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776" y="1463040"/>
            <a:ext cx="85221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227548" y="1399032"/>
            <a:ext cx="7736599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2/cx-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1556" y="1463040"/>
            <a:ext cx="760858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rules work in ANY triangle — not just right-angled ones.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SINE RULE: use when you have a SIDE and the ANGLE OPPOSITE it (two angles and two sides, one missing).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RULE: use when there is no complete pair — three sides, or two sides and the angle BETWEEN them.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an angle? Rearrange, then use sin⁻¹ or cos⁻¹ — in DEGREE mode.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of any triangle = ½ ab sin C — the angle must be BETWEEN the two sides.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side with its opposite angle → SINE.  Otherwise → COSINE.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1428</Words>
  <Application>Microsoft Office PowerPoint</Application>
  <PresentationFormat>Custom</PresentationFormat>
  <Paragraphs>283</Paragraphs>
  <Slides>32</Slides>
  <Notes>32</Notes>
  <HiddenSlides>0</HiddenSlides>
  <MMClips>0</MMClips>
  <ScaleCrop>false</ScaleCrop>
  <HeadingPairs>
    <vt:vector size="6" baseType="variant"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Office Theme</vt:lpstr>
      <vt:lpstr>CorelDRAW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7</cp:revision>
  <dcterms:created xsi:type="dcterms:W3CDTF">2026-07-14T13:18:18Z</dcterms:created>
  <dcterms:modified xsi:type="dcterms:W3CDTF">2026-07-25T10:07:55Z</dcterms:modified>
</cp:coreProperties>
</file>