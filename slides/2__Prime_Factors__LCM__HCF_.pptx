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3" r:id="rId17"/>
    <p:sldId id="274" r:id="rId18"/>
    <p:sldId id="275" r:id="rId19"/>
    <p:sldId id="276" r:id="rId20"/>
    <p:sldId id="277" r:id="rId21"/>
    <p:sldId id="278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-499" y="-8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1DA617-FAEF-45D6-AE2C-B95C053B5597}" type="datetimeFigureOut">
              <a:rPr lang="en-US" smtClean="0"/>
              <a:t>6/28/2026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0621ED-63B9-43E9-8B6A-B90D14122F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312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— Q8: powers must be even, n = 2 × 3 × 7 = 42 (168×42 = 84²). Q9: product = HCF×LCM = 8×240 = 1920, other = 1920/48 = 40. Q10: LCM(20,30) = 60 seconds. Q11: HCF(24,40) = 8 cm.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hyperlink" Target="mathsgenie.co.uk/resources/4-HCF-and-LCM.pdf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hyperlink" Target="pmt.physicsandmathstutor.com%20&#8212;%20HCF%20and%20LCM%20(QP)" TargetMode="External"/><Relationship Id="rId5" Type="http://schemas.openxmlformats.org/officeDocument/2006/relationships/hyperlink" Target="wordwall.net/resource/98053136/product-of-primes-hcf-and-lcm" TargetMode="External"/><Relationship Id="rId4" Type="http://schemas.openxmlformats.org/officeDocument/2006/relationships/hyperlink" Target="transum.org/software/SW/Starter_of_the_day/Students/HCF_LCM.asp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0" y="548640"/>
            <a:ext cx="29260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0" b="1" dirty="0">
                <a:solidFill>
                  <a:srgbClr val="2837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9509760" y="2194560"/>
            <a:ext cx="2743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0" b="1" dirty="0">
                <a:solidFill>
                  <a:srgbClr val="2837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10424160" y="822960"/>
            <a:ext cx="20116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0" b="1" dirty="0">
                <a:solidFill>
                  <a:srgbClr val="2837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∫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731520" y="640080"/>
            <a:ext cx="713232" cy="713232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621792"/>
            <a:ext cx="713232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9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496" dirty="0"/>
          </a:p>
        </p:txBody>
      </p:sp>
      <p:sp>
        <p:nvSpPr>
          <p:cNvPr id="7" name="Text 5"/>
          <p:cNvSpPr/>
          <p:nvPr/>
        </p:nvSpPr>
        <p:spPr>
          <a:xfrm>
            <a:off x="1627632" y="6766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MATHS HUB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27632" y="95097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Edexcel IGCSE (9–1) · Higher Tier</a:t>
            </a:r>
            <a:endParaRPr lang="en-US" sz="1150" dirty="0"/>
          </a:p>
        </p:txBody>
      </p:sp>
      <p:sp>
        <p:nvSpPr>
          <p:cNvPr id="9" name="anim_1_a"/>
          <p:cNvSpPr/>
          <p:nvPr/>
        </p:nvSpPr>
        <p:spPr>
          <a:xfrm>
            <a:off x="731520" y="1828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 &amp; LCM</a:t>
            </a:r>
            <a:endParaRPr lang="en-US" sz="6200" dirty="0"/>
          </a:p>
        </p:txBody>
      </p:sp>
      <p:sp>
        <p:nvSpPr>
          <p:cNvPr id="10" name="anim_2_a"/>
          <p:cNvSpPr/>
          <p:nvPr/>
        </p:nvSpPr>
        <p:spPr>
          <a:xfrm>
            <a:off x="758952" y="2971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 Factorisation · a complete lesson with worked examples</a:t>
            </a:r>
            <a:endParaRPr lang="en-US" sz="2000" dirty="0"/>
          </a:p>
        </p:txBody>
      </p:sp>
      <p:sp>
        <p:nvSpPr>
          <p:cNvPr id="11" name="anim_3_a"/>
          <p:cNvSpPr/>
          <p:nvPr/>
        </p:nvSpPr>
        <p:spPr>
          <a:xfrm>
            <a:off x="758952" y="3493008"/>
            <a:ext cx="10515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Primes  ·  Factor Trees  ·  Writing in Prime Form  ·  HCF  ·  LCM  ·  Exam Practice</a:t>
            </a:r>
            <a:endParaRPr lang="en-US" sz="1300" dirty="0"/>
          </a:p>
        </p:txBody>
      </p:sp>
      <p:sp>
        <p:nvSpPr>
          <p:cNvPr id="12" name="anim_4_a"/>
          <p:cNvSpPr/>
          <p:nvPr/>
        </p:nvSpPr>
        <p:spPr>
          <a:xfrm>
            <a:off x="731520" y="4343400"/>
            <a:ext cx="6858000" cy="1627632"/>
          </a:xfrm>
          <a:prstGeom prst="roundRect">
            <a:avLst>
              <a:gd name="adj" fmla="val 6742"/>
            </a:avLst>
          </a:prstGeom>
          <a:solidFill>
            <a:srgbClr val="283731"/>
          </a:solidFill>
          <a:ln/>
          <a:effectLst>
            <a:outerShdw blurRad="152400" dist="50800" dir="5400000" algn="bl" rotWithShape="0">
              <a:srgbClr val="000000">
                <a:alpha val="28000"/>
              </a:srgbClr>
            </a:outerShdw>
          </a:effectLst>
        </p:spPr>
      </p:sp>
      <p:sp>
        <p:nvSpPr>
          <p:cNvPr id="13" name="anim_4_a"/>
          <p:cNvSpPr/>
          <p:nvPr/>
        </p:nvSpPr>
        <p:spPr>
          <a:xfrm>
            <a:off x="1005840" y="4526280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Zahra Sheikh Ali</a:t>
            </a:r>
            <a:endParaRPr lang="en-US" sz="2100" dirty="0"/>
          </a:p>
        </p:txBody>
      </p:sp>
      <p:sp>
        <p:nvSpPr>
          <p:cNvPr id="14" name="anim_4_a"/>
          <p:cNvSpPr/>
          <p:nvPr/>
        </p:nvSpPr>
        <p:spPr>
          <a:xfrm>
            <a:off x="1005840" y="491947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IGCSE Mathematics Teacher  ·  M.Sc. Differential Geometry &amp; Geometric Control</a:t>
            </a:r>
            <a:endParaRPr lang="en-US" sz="1200" dirty="0"/>
          </a:p>
        </p:txBody>
      </p:sp>
      <p:sp>
        <p:nvSpPr>
          <p:cNvPr id="15" name="anim_4_a"/>
          <p:cNvSpPr/>
          <p:nvPr/>
        </p:nvSpPr>
        <p:spPr>
          <a:xfrm>
            <a:off x="1005840" y="5358384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☎  66613748        ✉  zahraa.sheikhali@outlook.com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31520" y="62636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 &amp; edited for 2026–2027</a:t>
            </a:r>
            <a:endParaRPr lang="en-US" sz="10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0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Lesson</a:t>
            </a:r>
            <a:endParaRPr lang="en-US" sz="2700" dirty="0"/>
          </a:p>
        </p:txBody>
      </p:sp>
      <p:sp>
        <p:nvSpPr>
          <p:cNvPr id="6" name="anim_1_a"/>
          <p:cNvSpPr/>
          <p:nvPr/>
        </p:nvSpPr>
        <p:spPr>
          <a:xfrm>
            <a:off x="548640" y="1572768"/>
            <a:ext cx="11091672" cy="1371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/>
          <a:effectLst>
            <a:outerShdw blurRad="114300" dist="381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6868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200" dirty="0"/>
          </a:p>
        </p:txBody>
      </p:sp>
      <p:sp>
        <p:nvSpPr>
          <p:cNvPr id="8" name="anim_1_a"/>
          <p:cNvSpPr/>
          <p:nvPr/>
        </p:nvSpPr>
        <p:spPr>
          <a:xfrm>
            <a:off x="868680" y="208483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can find the HCF and LCM of two or more numbers.</a:t>
            </a:r>
            <a:endParaRPr lang="en-US" sz="2300" dirty="0"/>
          </a:p>
        </p:txBody>
      </p:sp>
      <p:sp>
        <p:nvSpPr>
          <p:cNvPr id="9" name="anim_2_c"/>
          <p:cNvSpPr/>
          <p:nvPr/>
        </p:nvSpPr>
        <p:spPr>
          <a:xfrm>
            <a:off x="548640" y="3200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VOCABULARY</a:t>
            </a:r>
            <a:endParaRPr lang="en-US" sz="1200" dirty="0"/>
          </a:p>
        </p:txBody>
      </p:sp>
      <p:sp>
        <p:nvSpPr>
          <p:cNvPr id="10" name="anim_2_c"/>
          <p:cNvSpPr/>
          <p:nvPr/>
        </p:nvSpPr>
        <p:spPr>
          <a:xfrm>
            <a:off x="548640" y="3529584"/>
            <a:ext cx="3593592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anim_2_c"/>
          <p:cNvSpPr/>
          <p:nvPr/>
        </p:nvSpPr>
        <p:spPr>
          <a:xfrm>
            <a:off x="786384" y="3694176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</a:t>
            </a:r>
            <a:endParaRPr lang="en-US" sz="1700" dirty="0"/>
          </a:p>
        </p:txBody>
      </p:sp>
      <p:sp>
        <p:nvSpPr>
          <p:cNvPr id="12" name="anim_2_c"/>
          <p:cNvSpPr/>
          <p:nvPr/>
        </p:nvSpPr>
        <p:spPr>
          <a:xfrm>
            <a:off x="786384" y="4096512"/>
            <a:ext cx="3136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that divides exactly into another (no remainder)</a:t>
            </a:r>
            <a:endParaRPr lang="en-US" sz="1200" dirty="0"/>
          </a:p>
        </p:txBody>
      </p:sp>
      <p:sp>
        <p:nvSpPr>
          <p:cNvPr id="13" name="anim_2_c"/>
          <p:cNvSpPr/>
          <p:nvPr/>
        </p:nvSpPr>
        <p:spPr>
          <a:xfrm>
            <a:off x="4297680" y="3529584"/>
            <a:ext cx="3593592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anim_2_c"/>
          <p:cNvSpPr/>
          <p:nvPr/>
        </p:nvSpPr>
        <p:spPr>
          <a:xfrm>
            <a:off x="4535424" y="3694176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</a:t>
            </a:r>
            <a:endParaRPr lang="en-US" sz="1700" dirty="0"/>
          </a:p>
        </p:txBody>
      </p:sp>
      <p:sp>
        <p:nvSpPr>
          <p:cNvPr id="15" name="anim_2_c"/>
          <p:cNvSpPr/>
          <p:nvPr/>
        </p:nvSpPr>
        <p:spPr>
          <a:xfrm>
            <a:off x="4535424" y="4096512"/>
            <a:ext cx="3136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of multiplying a number by 1, 2, 3, …</a:t>
            </a:r>
            <a:endParaRPr lang="en-US" sz="1200" dirty="0"/>
          </a:p>
        </p:txBody>
      </p:sp>
      <p:sp>
        <p:nvSpPr>
          <p:cNvPr id="16" name="anim_2_c"/>
          <p:cNvSpPr/>
          <p:nvPr/>
        </p:nvSpPr>
        <p:spPr>
          <a:xfrm>
            <a:off x="8046720" y="3529584"/>
            <a:ext cx="3593592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anim_2_c"/>
          <p:cNvSpPr/>
          <p:nvPr/>
        </p:nvSpPr>
        <p:spPr>
          <a:xfrm>
            <a:off x="8284464" y="3694176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factor</a:t>
            </a:r>
            <a:endParaRPr lang="en-US" sz="1700" dirty="0"/>
          </a:p>
        </p:txBody>
      </p:sp>
      <p:sp>
        <p:nvSpPr>
          <p:cNvPr id="18" name="anim_2_c"/>
          <p:cNvSpPr/>
          <p:nvPr/>
        </p:nvSpPr>
        <p:spPr>
          <a:xfrm>
            <a:off x="8284464" y="4096512"/>
            <a:ext cx="3136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factor shared by two or more numbers</a:t>
            </a:r>
            <a:endParaRPr lang="en-US" sz="1200" dirty="0"/>
          </a:p>
        </p:txBody>
      </p:sp>
      <p:sp>
        <p:nvSpPr>
          <p:cNvPr id="19" name="anim_2_c"/>
          <p:cNvSpPr/>
          <p:nvPr/>
        </p:nvSpPr>
        <p:spPr>
          <a:xfrm>
            <a:off x="548640" y="4928616"/>
            <a:ext cx="3593592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anim_2_c"/>
          <p:cNvSpPr/>
          <p:nvPr/>
        </p:nvSpPr>
        <p:spPr>
          <a:xfrm>
            <a:off x="786384" y="5093208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</a:t>
            </a:r>
            <a:endParaRPr lang="en-US" sz="1700" dirty="0"/>
          </a:p>
        </p:txBody>
      </p:sp>
      <p:sp>
        <p:nvSpPr>
          <p:cNvPr id="21" name="anim_2_c"/>
          <p:cNvSpPr/>
          <p:nvPr/>
        </p:nvSpPr>
        <p:spPr>
          <a:xfrm>
            <a:off x="786384" y="5495544"/>
            <a:ext cx="3136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Common Factor — the largest shared factor</a:t>
            </a:r>
            <a:endParaRPr lang="en-US" sz="1200" dirty="0"/>
          </a:p>
        </p:txBody>
      </p:sp>
      <p:sp>
        <p:nvSpPr>
          <p:cNvPr id="22" name="anim_2_c"/>
          <p:cNvSpPr/>
          <p:nvPr/>
        </p:nvSpPr>
        <p:spPr>
          <a:xfrm>
            <a:off x="4297680" y="4928616"/>
            <a:ext cx="3593592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anim_2_c"/>
          <p:cNvSpPr/>
          <p:nvPr/>
        </p:nvSpPr>
        <p:spPr>
          <a:xfrm>
            <a:off x="4535424" y="5093208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LCM</a:t>
            </a:r>
            <a:endParaRPr lang="en-US" sz="1700" dirty="0"/>
          </a:p>
        </p:txBody>
      </p:sp>
      <p:sp>
        <p:nvSpPr>
          <p:cNvPr id="24" name="anim_2_c"/>
          <p:cNvSpPr/>
          <p:nvPr/>
        </p:nvSpPr>
        <p:spPr>
          <a:xfrm>
            <a:off x="4535424" y="5495544"/>
            <a:ext cx="3136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Common Multiple — the smallest shared multiple</a:t>
            </a:r>
            <a:endParaRPr lang="en-US" sz="1200" dirty="0"/>
          </a:p>
        </p:txBody>
      </p:sp>
      <p:sp>
        <p:nvSpPr>
          <p:cNvPr id="25" name="anim_2_c"/>
          <p:cNvSpPr/>
          <p:nvPr/>
        </p:nvSpPr>
        <p:spPr>
          <a:xfrm>
            <a:off x="8046720" y="4928616"/>
            <a:ext cx="3593592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anim_2_c"/>
          <p:cNvSpPr/>
          <p:nvPr/>
        </p:nvSpPr>
        <p:spPr>
          <a:xfrm>
            <a:off x="8284464" y="5093208"/>
            <a:ext cx="3136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</a:t>
            </a:r>
            <a:endParaRPr lang="en-US" sz="1700" dirty="0"/>
          </a:p>
        </p:txBody>
      </p:sp>
      <p:sp>
        <p:nvSpPr>
          <p:cNvPr id="27" name="anim_2_c"/>
          <p:cNvSpPr/>
          <p:nvPr/>
        </p:nvSpPr>
        <p:spPr>
          <a:xfrm>
            <a:off x="8284464" y="5495544"/>
            <a:ext cx="3136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with exactly two factors: 1 and itself</a:t>
            </a:r>
            <a:endParaRPr lang="en-US" sz="1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BLOCKS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Primes &amp; the Sieve of Eratosthenes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6126480" cy="4160520"/>
        </p:xfrm>
        <a:graphic>
          <a:graphicData uri="http://schemas.openxmlformats.org/drawingml/2006/table">
            <a:tbl>
              <a:tblPr/>
              <a:tblGrid>
                <a:gridCol w="612648"/>
                <a:gridCol w="612648"/>
                <a:gridCol w="612648"/>
                <a:gridCol w="612648"/>
                <a:gridCol w="612648"/>
                <a:gridCol w="612648"/>
                <a:gridCol w="612648"/>
                <a:gridCol w="612648"/>
                <a:gridCol w="612648"/>
                <a:gridCol w="612648"/>
              </a:tblGrid>
              <a:tr h="4160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60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1626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AC2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433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6C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797296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numbers up to 100 are highlighted in gold.</a:t>
            </a:r>
            <a:endParaRPr lang="en-US" sz="1100" dirty="0"/>
          </a:p>
        </p:txBody>
      </p:sp>
      <p:sp>
        <p:nvSpPr>
          <p:cNvPr id="8" name="anim_1_a"/>
          <p:cNvSpPr/>
          <p:nvPr/>
        </p:nvSpPr>
        <p:spPr>
          <a:xfrm>
            <a:off x="6995160" y="1572768"/>
            <a:ext cx="4663440" cy="1417320"/>
          </a:xfrm>
          <a:prstGeom prst="roundRect">
            <a:avLst>
              <a:gd name="adj" fmla="val 6452"/>
            </a:avLst>
          </a:prstGeom>
          <a:solidFill>
            <a:srgbClr val="EEF1E8"/>
          </a:solidFill>
          <a:ln/>
          <a:effectLst>
            <a:outerShdw blurRad="889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anim_1_a"/>
          <p:cNvSpPr/>
          <p:nvPr/>
        </p:nvSpPr>
        <p:spPr>
          <a:xfrm>
            <a:off x="7269480" y="17556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PRIME?</a:t>
            </a:r>
            <a:endParaRPr lang="en-US" sz="1100" dirty="0"/>
          </a:p>
        </p:txBody>
      </p:sp>
      <p:sp>
        <p:nvSpPr>
          <p:cNvPr id="10" name="anim_1_a"/>
          <p:cNvSpPr/>
          <p:nvPr/>
        </p:nvSpPr>
        <p:spPr>
          <a:xfrm>
            <a:off x="7269480" y="2048256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 number can be divided evenly only by 1 and itself — it has exactly two factors.</a:t>
            </a:r>
            <a:endParaRPr lang="en-US" sz="1450" dirty="0"/>
          </a:p>
        </p:txBody>
      </p:sp>
      <p:sp>
        <p:nvSpPr>
          <p:cNvPr id="11" name="anim_2_c"/>
          <p:cNvSpPr/>
          <p:nvPr/>
        </p:nvSpPr>
        <p:spPr>
          <a:xfrm>
            <a:off x="6995160" y="3200400"/>
            <a:ext cx="4663440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anim_2_c"/>
          <p:cNvSpPr/>
          <p:nvPr/>
        </p:nvSpPr>
        <p:spPr>
          <a:xfrm>
            <a:off x="6995160" y="320040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C84F2F"/>
          </a:solidFill>
          <a:ln/>
        </p:spPr>
      </p:sp>
      <p:sp>
        <p:nvSpPr>
          <p:cNvPr id="13" name="anim_2_c"/>
          <p:cNvSpPr/>
          <p:nvPr/>
        </p:nvSpPr>
        <p:spPr>
          <a:xfrm>
            <a:off x="6995160" y="32004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300" dirty="0"/>
          </a:p>
        </p:txBody>
      </p:sp>
      <p:sp>
        <p:nvSpPr>
          <p:cNvPr id="14" name="anim_2_c"/>
          <p:cNvSpPr/>
          <p:nvPr/>
        </p:nvSpPr>
        <p:spPr>
          <a:xfrm>
            <a:off x="7287768" y="37673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sieve yourself:</a:t>
            </a:r>
            <a:endParaRPr lang="en-US" sz="1300" dirty="0"/>
          </a:p>
        </p:txBody>
      </p:sp>
      <p:sp>
        <p:nvSpPr>
          <p:cNvPr id="15" name="anim_3_c"/>
          <p:cNvSpPr/>
          <p:nvPr/>
        </p:nvSpPr>
        <p:spPr>
          <a:xfrm>
            <a:off x="7360920" y="4078224"/>
            <a:ext cx="4023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2, cross out every number in the 2 times table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3, cross out every multiple of 3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5, cross out every multiple of 5</a:t>
            </a:r>
            <a:endParaRPr lang="en-US" sz="1300" dirty="0"/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en-US" sz="13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7, cross out every multiple of 7</a:t>
            </a:r>
            <a:endParaRPr lang="en-US" sz="1300" dirty="0"/>
          </a:p>
        </p:txBody>
      </p:sp>
      <p:sp>
        <p:nvSpPr>
          <p:cNvPr id="16" name="anim_4_c"/>
          <p:cNvSpPr/>
          <p:nvPr/>
        </p:nvSpPr>
        <p:spPr>
          <a:xfrm>
            <a:off x="7287768" y="55412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i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survives is prime.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SKILL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 Factorisation — Factor Trees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4068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8836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tree of 48</a:t>
            </a:r>
            <a:endParaRPr lang="en-US" sz="1250" dirty="0"/>
          </a:p>
        </p:txBody>
      </p:sp>
      <p:sp>
        <p:nvSpPr>
          <p:cNvPr id="8" name="anim_2_c"/>
          <p:cNvSpPr/>
          <p:nvPr/>
        </p:nvSpPr>
        <p:spPr>
          <a:xfrm flipH="1">
            <a:off x="2377440" y="2547518"/>
            <a:ext cx="891540" cy="482803"/>
          </a:xfrm>
          <a:prstGeom prst="line">
            <a:avLst/>
          </a:prstGeom>
          <a:noFill/>
          <a:ln w="19050">
            <a:solidFill>
              <a:srgbClr val="6A7269"/>
            </a:solidFill>
            <a:prstDash val="solid"/>
          </a:ln>
        </p:spPr>
      </p:sp>
      <p:sp>
        <p:nvSpPr>
          <p:cNvPr id="9" name="anim_2_c"/>
          <p:cNvSpPr/>
          <p:nvPr/>
        </p:nvSpPr>
        <p:spPr>
          <a:xfrm>
            <a:off x="3268980" y="2547518"/>
            <a:ext cx="891540" cy="482803"/>
          </a:xfrm>
          <a:prstGeom prst="line">
            <a:avLst/>
          </a:prstGeom>
          <a:noFill/>
          <a:ln w="19050">
            <a:solidFill>
              <a:srgbClr val="6A7269"/>
            </a:solidFill>
            <a:prstDash val="solid"/>
          </a:ln>
        </p:spPr>
      </p:sp>
      <p:sp>
        <p:nvSpPr>
          <p:cNvPr id="10" name="anim_3_c"/>
          <p:cNvSpPr/>
          <p:nvPr/>
        </p:nvSpPr>
        <p:spPr>
          <a:xfrm flipH="1">
            <a:off x="3474720" y="3370478"/>
            <a:ext cx="685800" cy="482803"/>
          </a:xfrm>
          <a:prstGeom prst="line">
            <a:avLst/>
          </a:prstGeom>
          <a:noFill/>
          <a:ln w="19050">
            <a:solidFill>
              <a:srgbClr val="6A7269"/>
            </a:solidFill>
            <a:prstDash val="solid"/>
          </a:ln>
        </p:spPr>
      </p:sp>
      <p:sp>
        <p:nvSpPr>
          <p:cNvPr id="11" name="anim_3_c"/>
          <p:cNvSpPr/>
          <p:nvPr/>
        </p:nvSpPr>
        <p:spPr>
          <a:xfrm>
            <a:off x="4160520" y="3370478"/>
            <a:ext cx="685800" cy="482803"/>
          </a:xfrm>
          <a:prstGeom prst="line">
            <a:avLst/>
          </a:prstGeom>
          <a:noFill/>
          <a:ln w="19050">
            <a:solidFill>
              <a:srgbClr val="6A7269"/>
            </a:solidFill>
            <a:prstDash val="solid"/>
          </a:ln>
        </p:spPr>
      </p:sp>
      <p:sp>
        <p:nvSpPr>
          <p:cNvPr id="12" name="anim_4_c"/>
          <p:cNvSpPr/>
          <p:nvPr/>
        </p:nvSpPr>
        <p:spPr>
          <a:xfrm flipH="1">
            <a:off x="3154680" y="4193438"/>
            <a:ext cx="320040" cy="437083"/>
          </a:xfrm>
          <a:prstGeom prst="line">
            <a:avLst/>
          </a:prstGeom>
          <a:noFill/>
          <a:ln w="19050">
            <a:solidFill>
              <a:srgbClr val="6A7269"/>
            </a:solidFill>
            <a:prstDash val="solid"/>
          </a:ln>
        </p:spPr>
      </p:sp>
      <p:sp>
        <p:nvSpPr>
          <p:cNvPr id="13" name="anim_4_c"/>
          <p:cNvSpPr/>
          <p:nvPr/>
        </p:nvSpPr>
        <p:spPr>
          <a:xfrm>
            <a:off x="3474720" y="4193438"/>
            <a:ext cx="320040" cy="437083"/>
          </a:xfrm>
          <a:prstGeom prst="line">
            <a:avLst/>
          </a:prstGeom>
          <a:noFill/>
          <a:ln w="19050">
            <a:solidFill>
              <a:srgbClr val="6A7269"/>
            </a:solidFill>
            <a:prstDash val="solid"/>
          </a:ln>
        </p:spPr>
      </p:sp>
      <p:sp>
        <p:nvSpPr>
          <p:cNvPr id="14" name="anim_4_c"/>
          <p:cNvSpPr/>
          <p:nvPr/>
        </p:nvSpPr>
        <p:spPr>
          <a:xfrm flipH="1">
            <a:off x="4526280" y="4193438"/>
            <a:ext cx="320040" cy="437083"/>
          </a:xfrm>
          <a:prstGeom prst="line">
            <a:avLst/>
          </a:prstGeom>
          <a:noFill/>
          <a:ln w="19050">
            <a:solidFill>
              <a:srgbClr val="6A7269"/>
            </a:solidFill>
            <a:prstDash val="solid"/>
          </a:ln>
        </p:spPr>
      </p:sp>
      <p:sp>
        <p:nvSpPr>
          <p:cNvPr id="15" name="anim_4_c"/>
          <p:cNvSpPr/>
          <p:nvPr/>
        </p:nvSpPr>
        <p:spPr>
          <a:xfrm>
            <a:off x="4846320" y="4193438"/>
            <a:ext cx="320040" cy="437083"/>
          </a:xfrm>
          <a:prstGeom prst="line">
            <a:avLst/>
          </a:prstGeom>
          <a:noFill/>
          <a:ln w="19050">
            <a:solidFill>
              <a:srgbClr val="6A7269"/>
            </a:solidFill>
            <a:prstDash val="solid"/>
          </a:ln>
        </p:spPr>
      </p:sp>
      <p:sp>
        <p:nvSpPr>
          <p:cNvPr id="16" name="anim_1_a"/>
          <p:cNvSpPr/>
          <p:nvPr/>
        </p:nvSpPr>
        <p:spPr>
          <a:xfrm>
            <a:off x="2985516" y="2093976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D6C6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anim_1_a"/>
          <p:cNvSpPr/>
          <p:nvPr/>
        </p:nvSpPr>
        <p:spPr>
          <a:xfrm>
            <a:off x="2894076" y="209397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50" dirty="0"/>
          </a:p>
        </p:txBody>
      </p:sp>
      <p:sp>
        <p:nvSpPr>
          <p:cNvPr id="18" name="anim_2_c"/>
          <p:cNvSpPr/>
          <p:nvPr/>
        </p:nvSpPr>
        <p:spPr>
          <a:xfrm>
            <a:off x="2093976" y="2916936"/>
            <a:ext cx="566928" cy="566928"/>
          </a:xfrm>
          <a:prstGeom prst="ellipse">
            <a:avLst/>
          </a:prstGeom>
          <a:solidFill>
            <a:srgbClr val="E0AC2B"/>
          </a:solidFill>
          <a:ln w="12700">
            <a:solidFill>
              <a:srgbClr val="E0AC2B"/>
            </a:solidFill>
            <a:prstDash val="solid"/>
          </a:ln>
          <a:effectLst>
            <a:outerShdw blurRad="63500" dist="127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19" name="anim_2_c"/>
          <p:cNvSpPr/>
          <p:nvPr/>
        </p:nvSpPr>
        <p:spPr>
          <a:xfrm>
            <a:off x="2002536" y="291693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20" name="anim_2_c"/>
          <p:cNvSpPr/>
          <p:nvPr/>
        </p:nvSpPr>
        <p:spPr>
          <a:xfrm>
            <a:off x="3877056" y="2916936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D6C6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anim_2_c"/>
          <p:cNvSpPr/>
          <p:nvPr/>
        </p:nvSpPr>
        <p:spPr>
          <a:xfrm>
            <a:off x="3785616" y="291693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350" dirty="0"/>
          </a:p>
        </p:txBody>
      </p:sp>
      <p:sp>
        <p:nvSpPr>
          <p:cNvPr id="22" name="anim_3_c"/>
          <p:cNvSpPr/>
          <p:nvPr/>
        </p:nvSpPr>
        <p:spPr>
          <a:xfrm>
            <a:off x="3191256" y="3739896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D6C6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anim_3_c"/>
          <p:cNvSpPr/>
          <p:nvPr/>
        </p:nvSpPr>
        <p:spPr>
          <a:xfrm>
            <a:off x="3099816" y="373989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24" name="anim_3_c"/>
          <p:cNvSpPr/>
          <p:nvPr/>
        </p:nvSpPr>
        <p:spPr>
          <a:xfrm>
            <a:off x="4562856" y="3739896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D6C6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anim_3_c"/>
          <p:cNvSpPr/>
          <p:nvPr/>
        </p:nvSpPr>
        <p:spPr>
          <a:xfrm>
            <a:off x="4471416" y="373989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50" dirty="0"/>
          </a:p>
        </p:txBody>
      </p:sp>
      <p:sp>
        <p:nvSpPr>
          <p:cNvPr id="26" name="anim_4_c"/>
          <p:cNvSpPr/>
          <p:nvPr/>
        </p:nvSpPr>
        <p:spPr>
          <a:xfrm>
            <a:off x="2871216" y="4517136"/>
            <a:ext cx="566928" cy="566928"/>
          </a:xfrm>
          <a:prstGeom prst="ellipse">
            <a:avLst/>
          </a:prstGeom>
          <a:solidFill>
            <a:srgbClr val="E0AC2B"/>
          </a:solidFill>
          <a:ln w="12700">
            <a:solidFill>
              <a:srgbClr val="E0AC2B"/>
            </a:solidFill>
            <a:prstDash val="solid"/>
          </a:ln>
          <a:effectLst>
            <a:outerShdw blurRad="63500" dist="127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7" name="anim_4_c"/>
          <p:cNvSpPr/>
          <p:nvPr/>
        </p:nvSpPr>
        <p:spPr>
          <a:xfrm>
            <a:off x="2779776" y="451713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28" name="anim_4_c"/>
          <p:cNvSpPr/>
          <p:nvPr/>
        </p:nvSpPr>
        <p:spPr>
          <a:xfrm>
            <a:off x="3511296" y="4517136"/>
            <a:ext cx="566928" cy="566928"/>
          </a:xfrm>
          <a:prstGeom prst="ellipse">
            <a:avLst/>
          </a:prstGeom>
          <a:solidFill>
            <a:srgbClr val="E0AC2B"/>
          </a:solidFill>
          <a:ln w="12700">
            <a:solidFill>
              <a:srgbClr val="E0AC2B"/>
            </a:solidFill>
            <a:prstDash val="solid"/>
          </a:ln>
          <a:effectLst>
            <a:outerShdw blurRad="63500" dist="127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29" name="anim_4_c"/>
          <p:cNvSpPr/>
          <p:nvPr/>
        </p:nvSpPr>
        <p:spPr>
          <a:xfrm>
            <a:off x="3419856" y="451713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30" name="anim_4_c"/>
          <p:cNvSpPr/>
          <p:nvPr/>
        </p:nvSpPr>
        <p:spPr>
          <a:xfrm>
            <a:off x="4242816" y="4517136"/>
            <a:ext cx="566928" cy="566928"/>
          </a:xfrm>
          <a:prstGeom prst="ellipse">
            <a:avLst/>
          </a:prstGeom>
          <a:solidFill>
            <a:srgbClr val="E0AC2B"/>
          </a:solidFill>
          <a:ln w="12700">
            <a:solidFill>
              <a:srgbClr val="E0AC2B"/>
            </a:solidFill>
            <a:prstDash val="solid"/>
          </a:ln>
          <a:effectLst>
            <a:outerShdw blurRad="63500" dist="127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1" name="anim_4_c"/>
          <p:cNvSpPr/>
          <p:nvPr/>
        </p:nvSpPr>
        <p:spPr>
          <a:xfrm>
            <a:off x="4151376" y="451713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32" name="anim_4_c"/>
          <p:cNvSpPr/>
          <p:nvPr/>
        </p:nvSpPr>
        <p:spPr>
          <a:xfrm>
            <a:off x="4882896" y="4517136"/>
            <a:ext cx="566928" cy="566928"/>
          </a:xfrm>
          <a:prstGeom prst="ellipse">
            <a:avLst/>
          </a:prstGeom>
          <a:solidFill>
            <a:srgbClr val="E0AC2B"/>
          </a:solidFill>
          <a:ln w="12700">
            <a:solidFill>
              <a:srgbClr val="E0AC2B"/>
            </a:solidFill>
            <a:prstDash val="solid"/>
          </a:ln>
          <a:effectLst>
            <a:outerShdw blurRad="63500" dist="127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33" name="anim_4_c"/>
          <p:cNvSpPr/>
          <p:nvPr/>
        </p:nvSpPr>
        <p:spPr>
          <a:xfrm>
            <a:off x="4791456" y="451713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6199632" y="1783080"/>
            <a:ext cx="544068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473952" y="188366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tree of 150</a:t>
            </a:r>
            <a:endParaRPr lang="en-US" sz="1250" dirty="0"/>
          </a:p>
        </p:txBody>
      </p:sp>
      <p:sp>
        <p:nvSpPr>
          <p:cNvPr id="36" name="anim_2_c"/>
          <p:cNvSpPr/>
          <p:nvPr/>
        </p:nvSpPr>
        <p:spPr>
          <a:xfrm flipH="1">
            <a:off x="8183880" y="2547518"/>
            <a:ext cx="902970" cy="482803"/>
          </a:xfrm>
          <a:prstGeom prst="line">
            <a:avLst/>
          </a:prstGeom>
          <a:noFill/>
          <a:ln w="19050">
            <a:solidFill>
              <a:srgbClr val="6A7269"/>
            </a:solidFill>
            <a:prstDash val="solid"/>
          </a:ln>
        </p:spPr>
      </p:sp>
      <p:sp>
        <p:nvSpPr>
          <p:cNvPr id="37" name="anim_2_c"/>
          <p:cNvSpPr/>
          <p:nvPr/>
        </p:nvSpPr>
        <p:spPr>
          <a:xfrm>
            <a:off x="9086850" y="2547518"/>
            <a:ext cx="902970" cy="482803"/>
          </a:xfrm>
          <a:prstGeom prst="line">
            <a:avLst/>
          </a:prstGeom>
          <a:noFill/>
          <a:ln w="19050">
            <a:solidFill>
              <a:srgbClr val="6A7269"/>
            </a:solidFill>
            <a:prstDash val="solid"/>
          </a:ln>
        </p:spPr>
      </p:sp>
      <p:sp>
        <p:nvSpPr>
          <p:cNvPr id="38" name="anim_3_c"/>
          <p:cNvSpPr/>
          <p:nvPr/>
        </p:nvSpPr>
        <p:spPr>
          <a:xfrm flipH="1">
            <a:off x="9418320" y="3370478"/>
            <a:ext cx="571500" cy="482803"/>
          </a:xfrm>
          <a:prstGeom prst="line">
            <a:avLst/>
          </a:prstGeom>
          <a:noFill/>
          <a:ln w="19050">
            <a:solidFill>
              <a:srgbClr val="6A7269"/>
            </a:solidFill>
            <a:prstDash val="solid"/>
          </a:ln>
        </p:spPr>
      </p:sp>
      <p:sp>
        <p:nvSpPr>
          <p:cNvPr id="39" name="anim_3_c"/>
          <p:cNvSpPr/>
          <p:nvPr/>
        </p:nvSpPr>
        <p:spPr>
          <a:xfrm>
            <a:off x="9989820" y="3370478"/>
            <a:ext cx="571500" cy="482803"/>
          </a:xfrm>
          <a:prstGeom prst="line">
            <a:avLst/>
          </a:prstGeom>
          <a:noFill/>
          <a:ln w="19050">
            <a:solidFill>
              <a:srgbClr val="6A7269"/>
            </a:solidFill>
            <a:prstDash val="solid"/>
          </a:ln>
        </p:spPr>
      </p:sp>
      <p:sp>
        <p:nvSpPr>
          <p:cNvPr id="40" name="anim_4_c"/>
          <p:cNvSpPr/>
          <p:nvPr/>
        </p:nvSpPr>
        <p:spPr>
          <a:xfrm flipH="1">
            <a:off x="9098280" y="4193438"/>
            <a:ext cx="320040" cy="437083"/>
          </a:xfrm>
          <a:prstGeom prst="line">
            <a:avLst/>
          </a:prstGeom>
          <a:noFill/>
          <a:ln w="19050">
            <a:solidFill>
              <a:srgbClr val="6A7269"/>
            </a:solidFill>
            <a:prstDash val="solid"/>
          </a:ln>
        </p:spPr>
      </p:sp>
      <p:sp>
        <p:nvSpPr>
          <p:cNvPr id="41" name="anim_4_c"/>
          <p:cNvSpPr/>
          <p:nvPr/>
        </p:nvSpPr>
        <p:spPr>
          <a:xfrm>
            <a:off x="9418320" y="4193438"/>
            <a:ext cx="320040" cy="437083"/>
          </a:xfrm>
          <a:prstGeom prst="line">
            <a:avLst/>
          </a:prstGeom>
          <a:noFill/>
          <a:ln w="19050">
            <a:solidFill>
              <a:srgbClr val="6A7269"/>
            </a:solidFill>
            <a:prstDash val="solid"/>
          </a:ln>
        </p:spPr>
      </p:sp>
      <p:sp>
        <p:nvSpPr>
          <p:cNvPr id="42" name="anim_1_a"/>
          <p:cNvSpPr/>
          <p:nvPr/>
        </p:nvSpPr>
        <p:spPr>
          <a:xfrm>
            <a:off x="8803386" y="2093976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D6C6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3" name="anim_1_a"/>
          <p:cNvSpPr/>
          <p:nvPr/>
        </p:nvSpPr>
        <p:spPr>
          <a:xfrm>
            <a:off x="8711946" y="209397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350" dirty="0"/>
          </a:p>
        </p:txBody>
      </p:sp>
      <p:sp>
        <p:nvSpPr>
          <p:cNvPr id="44" name="anim_2_c"/>
          <p:cNvSpPr/>
          <p:nvPr/>
        </p:nvSpPr>
        <p:spPr>
          <a:xfrm>
            <a:off x="7900416" y="2916936"/>
            <a:ext cx="566928" cy="566928"/>
          </a:xfrm>
          <a:prstGeom prst="ellipse">
            <a:avLst/>
          </a:prstGeom>
          <a:solidFill>
            <a:srgbClr val="E0AC2B"/>
          </a:solidFill>
          <a:ln w="12700">
            <a:solidFill>
              <a:srgbClr val="E0AC2B"/>
            </a:solidFill>
            <a:prstDash val="solid"/>
          </a:ln>
          <a:effectLst>
            <a:outerShdw blurRad="63500" dist="127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45" name="anim_2_c"/>
          <p:cNvSpPr/>
          <p:nvPr/>
        </p:nvSpPr>
        <p:spPr>
          <a:xfrm>
            <a:off x="7808976" y="291693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50" dirty="0"/>
          </a:p>
        </p:txBody>
      </p:sp>
      <p:sp>
        <p:nvSpPr>
          <p:cNvPr id="46" name="anim_2_c"/>
          <p:cNvSpPr/>
          <p:nvPr/>
        </p:nvSpPr>
        <p:spPr>
          <a:xfrm>
            <a:off x="9706356" y="2916936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D6C6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7" name="anim_2_c"/>
          <p:cNvSpPr/>
          <p:nvPr/>
        </p:nvSpPr>
        <p:spPr>
          <a:xfrm>
            <a:off x="9614916" y="291693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350" dirty="0"/>
          </a:p>
        </p:txBody>
      </p:sp>
      <p:sp>
        <p:nvSpPr>
          <p:cNvPr id="48" name="anim_3_c"/>
          <p:cNvSpPr/>
          <p:nvPr/>
        </p:nvSpPr>
        <p:spPr>
          <a:xfrm>
            <a:off x="9134856" y="3739896"/>
            <a:ext cx="566928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9D6C6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49" name="anim_3_c"/>
          <p:cNvSpPr/>
          <p:nvPr/>
        </p:nvSpPr>
        <p:spPr>
          <a:xfrm>
            <a:off x="9043416" y="373989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50" dirty="0"/>
          </a:p>
        </p:txBody>
      </p:sp>
      <p:sp>
        <p:nvSpPr>
          <p:cNvPr id="50" name="anim_3_c"/>
          <p:cNvSpPr/>
          <p:nvPr/>
        </p:nvSpPr>
        <p:spPr>
          <a:xfrm>
            <a:off x="10277856" y="3739896"/>
            <a:ext cx="566928" cy="566928"/>
          </a:xfrm>
          <a:prstGeom prst="ellipse">
            <a:avLst/>
          </a:prstGeom>
          <a:solidFill>
            <a:srgbClr val="E0AC2B"/>
          </a:solidFill>
          <a:ln w="12700">
            <a:solidFill>
              <a:srgbClr val="E0AC2B"/>
            </a:solidFill>
            <a:prstDash val="solid"/>
          </a:ln>
          <a:effectLst>
            <a:outerShdw blurRad="63500" dist="127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1" name="anim_3_c"/>
          <p:cNvSpPr/>
          <p:nvPr/>
        </p:nvSpPr>
        <p:spPr>
          <a:xfrm>
            <a:off x="10186416" y="373989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50" dirty="0"/>
          </a:p>
        </p:txBody>
      </p:sp>
      <p:sp>
        <p:nvSpPr>
          <p:cNvPr id="52" name="anim_4_c"/>
          <p:cNvSpPr/>
          <p:nvPr/>
        </p:nvSpPr>
        <p:spPr>
          <a:xfrm>
            <a:off x="8814816" y="4517136"/>
            <a:ext cx="566928" cy="566928"/>
          </a:xfrm>
          <a:prstGeom prst="ellipse">
            <a:avLst/>
          </a:prstGeom>
          <a:solidFill>
            <a:srgbClr val="E0AC2B"/>
          </a:solidFill>
          <a:ln w="12700">
            <a:solidFill>
              <a:srgbClr val="E0AC2B"/>
            </a:solidFill>
            <a:prstDash val="solid"/>
          </a:ln>
          <a:effectLst>
            <a:outerShdw blurRad="63500" dist="127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3" name="anim_4_c"/>
          <p:cNvSpPr/>
          <p:nvPr/>
        </p:nvSpPr>
        <p:spPr>
          <a:xfrm>
            <a:off x="8723376" y="451713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54" name="anim_4_c"/>
          <p:cNvSpPr/>
          <p:nvPr/>
        </p:nvSpPr>
        <p:spPr>
          <a:xfrm>
            <a:off x="9454896" y="4517136"/>
            <a:ext cx="566928" cy="566928"/>
          </a:xfrm>
          <a:prstGeom prst="ellipse">
            <a:avLst/>
          </a:prstGeom>
          <a:solidFill>
            <a:srgbClr val="E0AC2B"/>
          </a:solidFill>
          <a:ln w="12700">
            <a:solidFill>
              <a:srgbClr val="E0AC2B"/>
            </a:solidFill>
            <a:prstDash val="solid"/>
          </a:ln>
          <a:effectLst>
            <a:outerShdw blurRad="63500" dist="127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55" name="anim_4_c"/>
          <p:cNvSpPr/>
          <p:nvPr/>
        </p:nvSpPr>
        <p:spPr>
          <a:xfrm>
            <a:off x="9363456" y="4517136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50" dirty="0"/>
          </a:p>
        </p:txBody>
      </p:sp>
      <p:sp>
        <p:nvSpPr>
          <p:cNvPr id="56" name="anim_5_c"/>
          <p:cNvSpPr/>
          <p:nvPr/>
        </p:nvSpPr>
        <p:spPr>
          <a:xfrm>
            <a:off x="548640" y="5440680"/>
            <a:ext cx="5440680" cy="713232"/>
          </a:xfrm>
          <a:prstGeom prst="roundRect">
            <a:avLst>
              <a:gd name="adj" fmla="val 12821"/>
            </a:avLst>
          </a:prstGeom>
          <a:solidFill>
            <a:srgbClr val="FBF3DD"/>
          </a:solidFill>
          <a:ln/>
        </p:spPr>
      </p:sp>
      <p:sp>
        <p:nvSpPr>
          <p:cNvPr id="57" name="anim_5_c"/>
          <p:cNvSpPr/>
          <p:nvPr/>
        </p:nvSpPr>
        <p:spPr>
          <a:xfrm>
            <a:off x="548640" y="5440680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= 2</a:t>
            </a:r>
            <a:r>
              <a:rPr lang="en-US" sz="19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en-US" sz="19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endParaRPr lang="en-US" sz="1900" dirty="0"/>
          </a:p>
        </p:txBody>
      </p:sp>
      <p:sp>
        <p:nvSpPr>
          <p:cNvPr id="58" name="anim_5_c"/>
          <p:cNvSpPr/>
          <p:nvPr/>
        </p:nvSpPr>
        <p:spPr>
          <a:xfrm>
            <a:off x="6199632" y="5440680"/>
            <a:ext cx="5440680" cy="713232"/>
          </a:xfrm>
          <a:prstGeom prst="roundRect">
            <a:avLst>
              <a:gd name="adj" fmla="val 12821"/>
            </a:avLst>
          </a:prstGeom>
          <a:solidFill>
            <a:srgbClr val="FBF3DD"/>
          </a:solidFill>
          <a:ln/>
        </p:spPr>
      </p:sp>
      <p:sp>
        <p:nvSpPr>
          <p:cNvPr id="59" name="anim_5_c"/>
          <p:cNvSpPr/>
          <p:nvPr/>
        </p:nvSpPr>
        <p:spPr>
          <a:xfrm>
            <a:off x="6199632" y="5440680"/>
            <a:ext cx="5440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 = 2 × 3 × 5</a:t>
            </a:r>
            <a:r>
              <a:rPr lang="en-US" sz="19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METHOD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HCF &amp; LCM from Prime Factors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both numbers are written as products of prime powers, the HCF and LCM follow two simple rules.</a:t>
            </a:r>
            <a:endParaRPr lang="en-US" sz="1350" dirty="0"/>
          </a:p>
        </p:txBody>
      </p:sp>
      <p:sp>
        <p:nvSpPr>
          <p:cNvPr id="7" name="anim_1_a"/>
          <p:cNvSpPr/>
          <p:nvPr/>
        </p:nvSpPr>
        <p:spPr>
          <a:xfrm>
            <a:off x="548640" y="192024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EEF1E8"/>
          </a:solidFill>
          <a:ln/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anim_1_a"/>
          <p:cNvSpPr/>
          <p:nvPr/>
        </p:nvSpPr>
        <p:spPr>
          <a:xfrm>
            <a:off x="868680" y="21214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</a:t>
            </a:r>
            <a:endParaRPr lang="en-US" sz="2600" dirty="0"/>
          </a:p>
        </p:txBody>
      </p:sp>
      <p:sp>
        <p:nvSpPr>
          <p:cNvPr id="9" name="anim_1_a"/>
          <p:cNvSpPr/>
          <p:nvPr/>
        </p:nvSpPr>
        <p:spPr>
          <a:xfrm>
            <a:off x="868680" y="26151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Common Factor</a:t>
            </a:r>
            <a:endParaRPr lang="en-US" sz="1400" dirty="0"/>
          </a:p>
        </p:txBody>
      </p:sp>
      <p:sp>
        <p:nvSpPr>
          <p:cNvPr id="10" name="anim_1_a"/>
          <p:cNvSpPr/>
          <p:nvPr/>
        </p:nvSpPr>
        <p:spPr>
          <a:xfrm>
            <a:off x="868680" y="305409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of the </a:t>
            </a:r>
            <a:r>
              <a:rPr lang="en-US" sz="145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</a:t>
            </a:r>
            <a:r>
              <a:rPr lang="en-US" sz="14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prime factors, each to its </a:t>
            </a:r>
            <a:r>
              <a:rPr lang="en-US" sz="145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</a:t>
            </a:r>
            <a:r>
              <a:rPr lang="en-US" sz="14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power.</a:t>
            </a:r>
            <a:endParaRPr lang="en-US" sz="1450" dirty="0"/>
          </a:p>
        </p:txBody>
      </p:sp>
      <p:sp>
        <p:nvSpPr>
          <p:cNvPr id="11" name="anim_1_a"/>
          <p:cNvSpPr/>
          <p:nvPr/>
        </p:nvSpPr>
        <p:spPr>
          <a:xfrm>
            <a:off x="868680" y="4160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e.g.  2</a:t>
            </a:r>
            <a:r>
              <a:rPr lang="en-US" sz="1500" b="1" baseline="30000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r>
              <a:rPr lang="en-US" sz="1500" b="1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×3  &amp;  2</a:t>
            </a:r>
            <a:r>
              <a:rPr lang="en-US" sz="1500" b="1" baseline="30000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500" b="1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×3</a:t>
            </a:r>
            <a:r>
              <a:rPr lang="en-US" sz="1500" b="1" baseline="30000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5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HCF = 2</a:t>
            </a:r>
            <a:r>
              <a:rPr lang="en-US" sz="15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5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×3</a:t>
            </a:r>
            <a:endParaRPr lang="en-US" sz="1500" dirty="0"/>
          </a:p>
        </p:txBody>
      </p:sp>
      <p:sp>
        <p:nvSpPr>
          <p:cNvPr id="12" name="anim_2_c"/>
          <p:cNvSpPr/>
          <p:nvPr/>
        </p:nvSpPr>
        <p:spPr>
          <a:xfrm>
            <a:off x="6199632" y="192024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FBF3DD"/>
          </a:solidFill>
          <a:ln/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anim_2_c"/>
          <p:cNvSpPr/>
          <p:nvPr/>
        </p:nvSpPr>
        <p:spPr>
          <a:xfrm>
            <a:off x="6519672" y="21214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LCM</a:t>
            </a:r>
            <a:endParaRPr lang="en-US" sz="2600" dirty="0"/>
          </a:p>
        </p:txBody>
      </p:sp>
      <p:sp>
        <p:nvSpPr>
          <p:cNvPr id="14" name="anim_2_c"/>
          <p:cNvSpPr/>
          <p:nvPr/>
        </p:nvSpPr>
        <p:spPr>
          <a:xfrm>
            <a:off x="6519672" y="2615184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Common Multiple</a:t>
            </a:r>
            <a:endParaRPr lang="en-US" sz="1400" dirty="0"/>
          </a:p>
        </p:txBody>
      </p:sp>
      <p:sp>
        <p:nvSpPr>
          <p:cNvPr id="15" name="anim_2_c"/>
          <p:cNvSpPr/>
          <p:nvPr/>
        </p:nvSpPr>
        <p:spPr>
          <a:xfrm>
            <a:off x="6519672" y="3054096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of </a:t>
            </a:r>
            <a:r>
              <a:rPr lang="en-US" sz="145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r>
              <a:rPr lang="en-US" sz="14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prime factors, each to its </a:t>
            </a:r>
            <a:r>
              <a:rPr lang="en-US" sz="145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</a:t>
            </a:r>
            <a:r>
              <a:rPr lang="en-US" sz="14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power.</a:t>
            </a:r>
            <a:endParaRPr lang="en-US" sz="1450" dirty="0"/>
          </a:p>
        </p:txBody>
      </p:sp>
      <p:sp>
        <p:nvSpPr>
          <p:cNvPr id="16" name="anim_2_c"/>
          <p:cNvSpPr/>
          <p:nvPr/>
        </p:nvSpPr>
        <p:spPr>
          <a:xfrm>
            <a:off x="6519672" y="4160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e.g.  2</a:t>
            </a:r>
            <a:r>
              <a:rPr lang="en-US" sz="1500" b="1" baseline="30000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r>
              <a:rPr lang="en-US" sz="1500" b="1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×3  &amp;  2</a:t>
            </a:r>
            <a:r>
              <a:rPr lang="en-US" sz="1500" b="1" baseline="30000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500" b="1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×3</a:t>
            </a:r>
            <a:r>
              <a:rPr lang="en-US" sz="1500" b="1" baseline="30000" dirty="0">
                <a:solidFill>
                  <a:srgbClr val="6A72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5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LCM = 2</a:t>
            </a:r>
            <a:r>
              <a:rPr lang="en-US" sz="15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r>
              <a:rPr lang="en-US" sz="15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×3</a:t>
            </a:r>
            <a:r>
              <a:rPr lang="en-US" sz="15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anim_3_c"/>
          <p:cNvSpPr/>
          <p:nvPr/>
        </p:nvSpPr>
        <p:spPr>
          <a:xfrm>
            <a:off x="548640" y="525780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16261F"/>
          </a:solidFill>
          <a:ln/>
        </p:spPr>
      </p:sp>
      <p:sp>
        <p:nvSpPr>
          <p:cNvPr id="18" name="anim_3_c"/>
          <p:cNvSpPr/>
          <p:nvPr/>
        </p:nvSpPr>
        <p:spPr>
          <a:xfrm>
            <a:off x="868680" y="52578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HCF takes only the shared primes (smallest powers); LCM takes every prime (biggest powers).</a:t>
            </a:r>
            <a:endParaRPr lang="en-US" sz="14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· EXAMPLE 1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2A as a Product of Prime Factors</a:t>
            </a:r>
            <a:endParaRPr lang="en-US" sz="2700" dirty="0"/>
          </a:p>
        </p:txBody>
      </p:sp>
      <p:sp>
        <p:nvSpPr>
          <p:cNvPr id="6" name="anim_1_a"/>
          <p:cNvSpPr/>
          <p:nvPr/>
        </p:nvSpPr>
        <p:spPr>
          <a:xfrm>
            <a:off x="548640" y="146304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548640" y="1463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 × 5</a:t>
            </a: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    B = 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7</a:t>
            </a:r>
            <a:endParaRPr lang="en-US" sz="2100" dirty="0"/>
          </a:p>
        </p:txBody>
      </p:sp>
      <p:sp>
        <p:nvSpPr>
          <p:cNvPr id="8" name="anim_2_c"/>
          <p:cNvSpPr/>
          <p:nvPr/>
        </p:nvSpPr>
        <p:spPr>
          <a:xfrm>
            <a:off x="548640" y="2514600"/>
            <a:ext cx="11091672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anim_2_c"/>
          <p:cNvSpPr/>
          <p:nvPr/>
        </p:nvSpPr>
        <p:spPr>
          <a:xfrm>
            <a:off x="868680" y="280720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0" name="anim_2_c"/>
          <p:cNvSpPr/>
          <p:nvPr/>
        </p:nvSpPr>
        <p:spPr>
          <a:xfrm>
            <a:off x="86868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anim_2_c"/>
          <p:cNvSpPr/>
          <p:nvPr/>
        </p:nvSpPr>
        <p:spPr>
          <a:xfrm>
            <a:off x="1417320" y="274320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2A means 2 × A — you multiply A by one more factor of 2.</a:t>
            </a:r>
            <a:endParaRPr lang="en-US" sz="1500" dirty="0"/>
          </a:p>
        </p:txBody>
      </p:sp>
      <p:sp>
        <p:nvSpPr>
          <p:cNvPr id="12" name="anim_3_c"/>
          <p:cNvSpPr/>
          <p:nvPr/>
        </p:nvSpPr>
        <p:spPr>
          <a:xfrm>
            <a:off x="868680" y="367588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3" name="anim_3_c"/>
          <p:cNvSpPr/>
          <p:nvPr/>
        </p:nvSpPr>
        <p:spPr>
          <a:xfrm>
            <a:off x="868680" y="3675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anim_3_c"/>
          <p:cNvSpPr/>
          <p:nvPr/>
        </p:nvSpPr>
        <p:spPr>
          <a:xfrm>
            <a:off x="1417320" y="361188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1 to the power of 2:  </a:t>
            </a: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b="1" baseline="30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2</a:t>
            </a:r>
            <a:r>
              <a:rPr lang="en-US" sz="1500" b="1" baseline="30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5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The 3 and 5 are unchanged.</a:t>
            </a:r>
            <a:endParaRPr lang="en-US" sz="1500" dirty="0"/>
          </a:p>
        </p:txBody>
      </p:sp>
      <p:sp>
        <p:nvSpPr>
          <p:cNvPr id="15" name="anim_4_c"/>
          <p:cNvSpPr/>
          <p:nvPr/>
        </p:nvSpPr>
        <p:spPr>
          <a:xfrm>
            <a:off x="868680" y="5166360"/>
            <a:ext cx="6583680" cy="777240"/>
          </a:xfrm>
          <a:prstGeom prst="roundRect">
            <a:avLst>
              <a:gd name="adj" fmla="val 14118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anim_4_c"/>
          <p:cNvSpPr/>
          <p:nvPr/>
        </p:nvSpPr>
        <p:spPr>
          <a:xfrm>
            <a:off x="1051560" y="516636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2A = </a:t>
            </a: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200" b="1" baseline="300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 × 5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· EXAMPLE 2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A² as a Product of Prime Factors</a:t>
            </a:r>
            <a:endParaRPr lang="en-US" sz="2700" dirty="0"/>
          </a:p>
        </p:txBody>
      </p:sp>
      <p:sp>
        <p:nvSpPr>
          <p:cNvPr id="6" name="anim_1_a"/>
          <p:cNvSpPr/>
          <p:nvPr/>
        </p:nvSpPr>
        <p:spPr>
          <a:xfrm>
            <a:off x="548640" y="146304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548640" y="1463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 × 5</a:t>
            </a: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    B = 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7</a:t>
            </a:r>
            <a:endParaRPr lang="en-US" sz="2100" dirty="0"/>
          </a:p>
        </p:txBody>
      </p:sp>
      <p:sp>
        <p:nvSpPr>
          <p:cNvPr id="8" name="anim_2_c"/>
          <p:cNvSpPr/>
          <p:nvPr/>
        </p:nvSpPr>
        <p:spPr>
          <a:xfrm>
            <a:off x="548640" y="2514600"/>
            <a:ext cx="11091672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anim_2_c"/>
          <p:cNvSpPr/>
          <p:nvPr/>
        </p:nvSpPr>
        <p:spPr>
          <a:xfrm>
            <a:off x="868680" y="280720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0" name="anim_2_c"/>
          <p:cNvSpPr/>
          <p:nvPr/>
        </p:nvSpPr>
        <p:spPr>
          <a:xfrm>
            <a:off x="86868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anim_2_c"/>
          <p:cNvSpPr/>
          <p:nvPr/>
        </p:nvSpPr>
        <p:spPr>
          <a:xfrm>
            <a:off x="1417320" y="274320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en-US" sz="1500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A × A.</a:t>
            </a:r>
            <a:endParaRPr lang="en-US" sz="1500" dirty="0"/>
          </a:p>
        </p:txBody>
      </p:sp>
      <p:sp>
        <p:nvSpPr>
          <p:cNvPr id="12" name="anim_3_c"/>
          <p:cNvSpPr/>
          <p:nvPr/>
        </p:nvSpPr>
        <p:spPr>
          <a:xfrm>
            <a:off x="868680" y="367588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3" name="anim_3_c"/>
          <p:cNvSpPr/>
          <p:nvPr/>
        </p:nvSpPr>
        <p:spPr>
          <a:xfrm>
            <a:off x="868680" y="3675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anim_3_c"/>
          <p:cNvSpPr/>
          <p:nvPr/>
        </p:nvSpPr>
        <p:spPr>
          <a:xfrm>
            <a:off x="1417320" y="361188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Squaring multiplies every power by 2:  </a:t>
            </a: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b="1" baseline="30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→2</a:t>
            </a:r>
            <a:r>
              <a:rPr lang="en-US" sz="1500" b="1" baseline="30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3→3</a:t>
            </a:r>
            <a:r>
              <a:rPr lang="en-US" sz="1500" b="1" baseline="30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 5→5</a:t>
            </a:r>
            <a:r>
              <a:rPr lang="en-US" sz="1500" b="1" baseline="30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15" name="anim_4_c"/>
          <p:cNvSpPr/>
          <p:nvPr/>
        </p:nvSpPr>
        <p:spPr>
          <a:xfrm>
            <a:off x="868680" y="5166360"/>
            <a:ext cx="6583680" cy="777240"/>
          </a:xfrm>
          <a:prstGeom prst="roundRect">
            <a:avLst>
              <a:gd name="adj" fmla="val 14118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anim_4_c"/>
          <p:cNvSpPr/>
          <p:nvPr/>
        </p:nvSpPr>
        <p:spPr>
          <a:xfrm>
            <a:off x="1051560" y="516636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A² = </a:t>
            </a: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200" b="1" baseline="300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2200" b="1" baseline="300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5</a:t>
            </a:r>
            <a:r>
              <a:rPr lang="en-US" sz="2200" b="1" baseline="300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· EXAMPLE 3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A × B as a Product of Prime Factors</a:t>
            </a:r>
            <a:endParaRPr lang="en-US" sz="2700" dirty="0"/>
          </a:p>
        </p:txBody>
      </p:sp>
      <p:sp>
        <p:nvSpPr>
          <p:cNvPr id="6" name="anim_1_a"/>
          <p:cNvSpPr/>
          <p:nvPr/>
        </p:nvSpPr>
        <p:spPr>
          <a:xfrm>
            <a:off x="548640" y="146304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548640" y="1463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 × 5</a:t>
            </a: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    B = 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7</a:t>
            </a:r>
            <a:endParaRPr lang="en-US" sz="2100" dirty="0"/>
          </a:p>
        </p:txBody>
      </p:sp>
      <p:sp>
        <p:nvSpPr>
          <p:cNvPr id="8" name="anim_2_c"/>
          <p:cNvSpPr/>
          <p:nvPr/>
        </p:nvSpPr>
        <p:spPr>
          <a:xfrm>
            <a:off x="548640" y="2514600"/>
            <a:ext cx="11091672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anim_2_c"/>
          <p:cNvSpPr/>
          <p:nvPr/>
        </p:nvSpPr>
        <p:spPr>
          <a:xfrm>
            <a:off x="868680" y="280720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0" name="anim_2_c"/>
          <p:cNvSpPr/>
          <p:nvPr/>
        </p:nvSpPr>
        <p:spPr>
          <a:xfrm>
            <a:off x="86868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anim_2_c"/>
          <p:cNvSpPr/>
          <p:nvPr/>
        </p:nvSpPr>
        <p:spPr>
          <a:xfrm>
            <a:off x="1417320" y="274320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Multiplying </a:t>
            </a:r>
            <a:r>
              <a:rPr lang="en-US" sz="150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</a:t>
            </a:r>
            <a:r>
              <a:rPr lang="en-US" sz="15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powers of matching primes.</a:t>
            </a:r>
            <a:endParaRPr lang="en-US" sz="1500" dirty="0"/>
          </a:p>
        </p:txBody>
      </p:sp>
      <p:sp>
        <p:nvSpPr>
          <p:cNvPr id="12" name="anim_3_c"/>
          <p:cNvSpPr/>
          <p:nvPr/>
        </p:nvSpPr>
        <p:spPr>
          <a:xfrm>
            <a:off x="868680" y="367588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3" name="anim_3_c"/>
          <p:cNvSpPr/>
          <p:nvPr/>
        </p:nvSpPr>
        <p:spPr>
          <a:xfrm>
            <a:off x="868680" y="3675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anim_3_c"/>
          <p:cNvSpPr/>
          <p:nvPr/>
        </p:nvSpPr>
        <p:spPr>
          <a:xfrm>
            <a:off x="1417320" y="361188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  3 + 2 = 5      3:  1 + 2 = 3      5:  in A only      7:  in B only.</a:t>
            </a:r>
            <a:endParaRPr lang="en-US" sz="1500" dirty="0"/>
          </a:p>
        </p:txBody>
      </p:sp>
      <p:sp>
        <p:nvSpPr>
          <p:cNvPr id="15" name="anim_4_c"/>
          <p:cNvSpPr/>
          <p:nvPr/>
        </p:nvSpPr>
        <p:spPr>
          <a:xfrm>
            <a:off x="868680" y="5166360"/>
            <a:ext cx="6583680" cy="777240"/>
          </a:xfrm>
          <a:prstGeom prst="roundRect">
            <a:avLst>
              <a:gd name="adj" fmla="val 14118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anim_4_c"/>
          <p:cNvSpPr/>
          <p:nvPr/>
        </p:nvSpPr>
        <p:spPr>
          <a:xfrm>
            <a:off x="1051560" y="516636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× B = </a:t>
            </a: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200" b="1" baseline="300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2200" b="1" baseline="300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5 × 7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· EXAMPLE 4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Write A × B³ as a Product of Prime Factors</a:t>
            </a:r>
            <a:endParaRPr lang="en-US" sz="2700" dirty="0"/>
          </a:p>
        </p:txBody>
      </p:sp>
      <p:sp>
        <p:nvSpPr>
          <p:cNvPr id="6" name="anim_1_a"/>
          <p:cNvSpPr/>
          <p:nvPr/>
        </p:nvSpPr>
        <p:spPr>
          <a:xfrm>
            <a:off x="548640" y="146304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548640" y="1463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 × 5</a:t>
            </a: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    B = 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7</a:t>
            </a:r>
            <a:endParaRPr lang="en-US" sz="2100" dirty="0"/>
          </a:p>
        </p:txBody>
      </p:sp>
      <p:sp>
        <p:nvSpPr>
          <p:cNvPr id="8" name="anim_2_c"/>
          <p:cNvSpPr/>
          <p:nvPr/>
        </p:nvSpPr>
        <p:spPr>
          <a:xfrm>
            <a:off x="548640" y="2514600"/>
            <a:ext cx="11091672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anim_2_c"/>
          <p:cNvSpPr/>
          <p:nvPr/>
        </p:nvSpPr>
        <p:spPr>
          <a:xfrm>
            <a:off x="868680" y="280720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0" name="anim_2_c"/>
          <p:cNvSpPr/>
          <p:nvPr/>
        </p:nvSpPr>
        <p:spPr>
          <a:xfrm>
            <a:off x="868680" y="2807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anim_2_c"/>
          <p:cNvSpPr/>
          <p:nvPr/>
        </p:nvSpPr>
        <p:spPr>
          <a:xfrm>
            <a:off x="1417320" y="274320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cube B — multiply each of B's powers by 3:  </a:t>
            </a: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en-US" sz="1500" b="1" baseline="30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2</a:t>
            </a:r>
            <a:r>
              <a:rPr lang="en-US" sz="1500" b="1" baseline="30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3</a:t>
            </a:r>
            <a:r>
              <a:rPr lang="en-US" sz="1500" b="1" baseline="30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7</a:t>
            </a:r>
            <a:r>
              <a:rPr lang="en-US" sz="1500" b="1" baseline="30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</p:txBody>
      </p:sp>
      <p:sp>
        <p:nvSpPr>
          <p:cNvPr id="12" name="anim_3_c"/>
          <p:cNvSpPr/>
          <p:nvPr/>
        </p:nvSpPr>
        <p:spPr>
          <a:xfrm>
            <a:off x="868680" y="3675888"/>
            <a:ext cx="384048" cy="384048"/>
          </a:xfrm>
          <a:prstGeom prst="ellipse">
            <a:avLst/>
          </a:prstGeom>
          <a:solidFill>
            <a:srgbClr val="C84F2F"/>
          </a:solidFill>
          <a:ln/>
        </p:spPr>
      </p:sp>
      <p:sp>
        <p:nvSpPr>
          <p:cNvPr id="13" name="anim_3_c"/>
          <p:cNvSpPr/>
          <p:nvPr/>
        </p:nvSpPr>
        <p:spPr>
          <a:xfrm>
            <a:off x="868680" y="3675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anim_3_c"/>
          <p:cNvSpPr/>
          <p:nvPr/>
        </p:nvSpPr>
        <p:spPr>
          <a:xfrm>
            <a:off x="1417320" y="3611880"/>
            <a:ext cx="9784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multiply by A — add the powers:  2: 3+6=9   3: 1+6=7   5: 1   7: 3.</a:t>
            </a:r>
            <a:endParaRPr lang="en-US" sz="1500" dirty="0"/>
          </a:p>
        </p:txBody>
      </p:sp>
      <p:sp>
        <p:nvSpPr>
          <p:cNvPr id="15" name="anim_4_c"/>
          <p:cNvSpPr/>
          <p:nvPr/>
        </p:nvSpPr>
        <p:spPr>
          <a:xfrm>
            <a:off x="868680" y="5166360"/>
            <a:ext cx="6583680" cy="777240"/>
          </a:xfrm>
          <a:prstGeom prst="roundRect">
            <a:avLst>
              <a:gd name="adj" fmla="val 14118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anim_4_c"/>
          <p:cNvSpPr/>
          <p:nvPr/>
        </p:nvSpPr>
        <p:spPr>
          <a:xfrm>
            <a:off x="1051560" y="516636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× B³ = </a:t>
            </a: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200" b="1" baseline="300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2200" b="1" baseline="300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r>
              <a:rPr lang="en-US" sz="22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5 × 7</a:t>
            </a:r>
            <a:r>
              <a:rPr lang="en-US" sz="2200" b="1" baseline="300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· EXAMPLE 1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 &amp; LCM of Two Numbers — 24 and 36</a:t>
            </a:r>
            <a:endParaRPr lang="en-US" sz="2700" dirty="0"/>
          </a:p>
        </p:txBody>
      </p:sp>
      <p:sp>
        <p:nvSpPr>
          <p:cNvPr id="6" name="anim_1_a"/>
          <p:cNvSpPr/>
          <p:nvPr/>
        </p:nvSpPr>
        <p:spPr>
          <a:xfrm>
            <a:off x="548640" y="1481328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68680" y="162763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write each number as a product of primes (use factor trees):</a:t>
            </a:r>
            <a:endParaRPr lang="en-US" sz="1350" dirty="0"/>
          </a:p>
        </p:txBody>
      </p:sp>
      <p:sp>
        <p:nvSpPr>
          <p:cNvPr id="8" name="anim_2_c"/>
          <p:cNvSpPr/>
          <p:nvPr/>
        </p:nvSpPr>
        <p:spPr>
          <a:xfrm>
            <a:off x="868680" y="199339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= </a:t>
            </a:r>
            <a:r>
              <a:rPr lang="en-US" sz="19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9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r>
              <a:rPr lang="en-US" sz="19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19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    36 = </a:t>
            </a:r>
            <a:r>
              <a:rPr lang="en-US" sz="19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9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9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19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9" name="anim_3_c"/>
          <p:cNvSpPr/>
          <p:nvPr/>
        </p:nvSpPr>
        <p:spPr>
          <a:xfrm>
            <a:off x="548640" y="297180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EEF1E8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anim_3_c"/>
          <p:cNvSpPr/>
          <p:nvPr/>
        </p:nvSpPr>
        <p:spPr>
          <a:xfrm>
            <a:off x="841248" y="3136392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</a:t>
            </a:r>
            <a:endParaRPr lang="en-US" sz="2100" dirty="0"/>
          </a:p>
        </p:txBody>
      </p:sp>
      <p:sp>
        <p:nvSpPr>
          <p:cNvPr id="11" name="anim_3_c"/>
          <p:cNvSpPr/>
          <p:nvPr/>
        </p:nvSpPr>
        <p:spPr>
          <a:xfrm>
            <a:off x="841248" y="35570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primes · lowest power</a:t>
            </a:r>
            <a:endParaRPr lang="en-US" sz="1200" dirty="0"/>
          </a:p>
        </p:txBody>
      </p:sp>
      <p:sp>
        <p:nvSpPr>
          <p:cNvPr id="12" name="anim_3_c"/>
          <p:cNvSpPr/>
          <p:nvPr/>
        </p:nvSpPr>
        <p:spPr>
          <a:xfrm>
            <a:off x="841248" y="38862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 lower of 3,2 → 2</a:t>
            </a:r>
            <a:r>
              <a:rPr lang="en-US" sz="135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3: lower of 1,2 → 3</a:t>
            </a:r>
            <a:endParaRPr lang="en-US" sz="1350" dirty="0"/>
          </a:p>
        </p:txBody>
      </p:sp>
      <p:sp>
        <p:nvSpPr>
          <p:cNvPr id="13" name="anim_3_c"/>
          <p:cNvSpPr/>
          <p:nvPr/>
        </p:nvSpPr>
        <p:spPr>
          <a:xfrm>
            <a:off x="841248" y="4544568"/>
            <a:ext cx="4892040" cy="603504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anim_3_c"/>
          <p:cNvSpPr/>
          <p:nvPr/>
        </p:nvSpPr>
        <p:spPr>
          <a:xfrm>
            <a:off x="1024128" y="454456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 = </a:t>
            </a: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8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1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12</a:t>
            </a:r>
            <a:endParaRPr lang="en-US" sz="1700" dirty="0"/>
          </a:p>
        </p:txBody>
      </p:sp>
      <p:sp>
        <p:nvSpPr>
          <p:cNvPr id="15" name="anim_4_c"/>
          <p:cNvSpPr/>
          <p:nvPr/>
        </p:nvSpPr>
        <p:spPr>
          <a:xfrm>
            <a:off x="6199632" y="297180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FBF3DD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anim_4_c"/>
          <p:cNvSpPr/>
          <p:nvPr/>
        </p:nvSpPr>
        <p:spPr>
          <a:xfrm>
            <a:off x="6492240" y="3136392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LCM</a:t>
            </a:r>
            <a:endParaRPr lang="en-US" sz="2100" dirty="0"/>
          </a:p>
        </p:txBody>
      </p:sp>
      <p:sp>
        <p:nvSpPr>
          <p:cNvPr id="17" name="anim_4_c"/>
          <p:cNvSpPr/>
          <p:nvPr/>
        </p:nvSpPr>
        <p:spPr>
          <a:xfrm>
            <a:off x="6492240" y="35570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primes · highest power</a:t>
            </a:r>
            <a:endParaRPr lang="en-US" sz="1200" dirty="0"/>
          </a:p>
        </p:txBody>
      </p:sp>
      <p:sp>
        <p:nvSpPr>
          <p:cNvPr id="18" name="anim_4_c"/>
          <p:cNvSpPr/>
          <p:nvPr/>
        </p:nvSpPr>
        <p:spPr>
          <a:xfrm>
            <a:off x="6492240" y="38862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 higher → 2</a:t>
            </a:r>
            <a:r>
              <a:rPr lang="en-US" sz="135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3: higher → 3</a:t>
            </a:r>
            <a:r>
              <a:rPr lang="en-US" sz="135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9" name="anim_4_c"/>
          <p:cNvSpPr/>
          <p:nvPr/>
        </p:nvSpPr>
        <p:spPr>
          <a:xfrm>
            <a:off x="6492240" y="4544568"/>
            <a:ext cx="4892040" cy="603504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anim_4_c"/>
          <p:cNvSpPr/>
          <p:nvPr/>
        </p:nvSpPr>
        <p:spPr>
          <a:xfrm>
            <a:off x="6675120" y="454456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LCM = </a:t>
            </a: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8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18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72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· EXAMPLE 2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 &amp; LCM of Three Numbers — 12, 18 and 30</a:t>
            </a:r>
            <a:endParaRPr lang="en-US" sz="2700" dirty="0"/>
          </a:p>
        </p:txBody>
      </p:sp>
      <p:sp>
        <p:nvSpPr>
          <p:cNvPr id="6" name="anim_1_a"/>
          <p:cNvSpPr/>
          <p:nvPr/>
        </p:nvSpPr>
        <p:spPr>
          <a:xfrm>
            <a:off x="548640" y="1481328"/>
            <a:ext cx="11091672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016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68680" y="1627632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write all three as products of primes:</a:t>
            </a:r>
            <a:endParaRPr lang="en-US" sz="1350" dirty="0"/>
          </a:p>
        </p:txBody>
      </p:sp>
      <p:sp>
        <p:nvSpPr>
          <p:cNvPr id="8" name="anim_2_c"/>
          <p:cNvSpPr/>
          <p:nvPr/>
        </p:nvSpPr>
        <p:spPr>
          <a:xfrm>
            <a:off x="868680" y="199339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= </a:t>
            </a:r>
            <a:r>
              <a:rPr lang="en-US" sz="1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8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18 = </a:t>
            </a:r>
            <a:r>
              <a:rPr lang="en-US" sz="1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× 3</a:t>
            </a:r>
            <a:r>
              <a:rPr lang="en-US" sz="18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8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30 = </a:t>
            </a:r>
            <a:r>
              <a:rPr lang="en-US" sz="1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× 3 × 5</a:t>
            </a:r>
            <a:endParaRPr lang="en-US" sz="1800" dirty="0"/>
          </a:p>
        </p:txBody>
      </p:sp>
      <p:sp>
        <p:nvSpPr>
          <p:cNvPr id="9" name="anim_3_c"/>
          <p:cNvSpPr/>
          <p:nvPr/>
        </p:nvSpPr>
        <p:spPr>
          <a:xfrm>
            <a:off x="548640" y="297180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EEF1E8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anim_3_c"/>
          <p:cNvSpPr/>
          <p:nvPr/>
        </p:nvSpPr>
        <p:spPr>
          <a:xfrm>
            <a:off x="841248" y="3136392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</a:t>
            </a:r>
            <a:endParaRPr lang="en-US" sz="2100" dirty="0"/>
          </a:p>
        </p:txBody>
      </p:sp>
      <p:sp>
        <p:nvSpPr>
          <p:cNvPr id="11" name="anim_3_c"/>
          <p:cNvSpPr/>
          <p:nvPr/>
        </p:nvSpPr>
        <p:spPr>
          <a:xfrm>
            <a:off x="841248" y="35570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primes · lowest power</a:t>
            </a:r>
            <a:endParaRPr lang="en-US" sz="1200" dirty="0"/>
          </a:p>
        </p:txBody>
      </p:sp>
      <p:sp>
        <p:nvSpPr>
          <p:cNvPr id="12" name="anim_3_c"/>
          <p:cNvSpPr/>
          <p:nvPr/>
        </p:nvSpPr>
        <p:spPr>
          <a:xfrm>
            <a:off x="841248" y="38862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Primes shared by </a:t>
            </a:r>
            <a:r>
              <a:rPr lang="en-US" sz="135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</a:t>
            </a:r>
            <a:r>
              <a:rPr lang="en-US" sz="13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2 and 3, lowest power.</a:t>
            </a:r>
            <a:endParaRPr lang="en-US" sz="1350" dirty="0"/>
          </a:p>
        </p:txBody>
      </p:sp>
      <p:sp>
        <p:nvSpPr>
          <p:cNvPr id="13" name="anim_3_c"/>
          <p:cNvSpPr/>
          <p:nvPr/>
        </p:nvSpPr>
        <p:spPr>
          <a:xfrm>
            <a:off x="841248" y="4544568"/>
            <a:ext cx="4892040" cy="603504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anim_3_c"/>
          <p:cNvSpPr/>
          <p:nvPr/>
        </p:nvSpPr>
        <p:spPr>
          <a:xfrm>
            <a:off x="1024128" y="454456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 = </a:t>
            </a: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× 3</a:t>
            </a:r>
            <a:r>
              <a:rPr lang="en-US" sz="1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6</a:t>
            </a:r>
            <a:endParaRPr lang="en-US" sz="1700" dirty="0"/>
          </a:p>
        </p:txBody>
      </p:sp>
      <p:sp>
        <p:nvSpPr>
          <p:cNvPr id="15" name="anim_4_c"/>
          <p:cNvSpPr/>
          <p:nvPr/>
        </p:nvSpPr>
        <p:spPr>
          <a:xfrm>
            <a:off x="6199632" y="297180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FBF3DD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anim_4_c"/>
          <p:cNvSpPr/>
          <p:nvPr/>
        </p:nvSpPr>
        <p:spPr>
          <a:xfrm>
            <a:off x="6492240" y="3136392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LCM</a:t>
            </a:r>
            <a:endParaRPr lang="en-US" sz="2100" dirty="0"/>
          </a:p>
        </p:txBody>
      </p:sp>
      <p:sp>
        <p:nvSpPr>
          <p:cNvPr id="17" name="anim_4_c"/>
          <p:cNvSpPr/>
          <p:nvPr/>
        </p:nvSpPr>
        <p:spPr>
          <a:xfrm>
            <a:off x="6492240" y="355701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primes · highest power</a:t>
            </a:r>
            <a:endParaRPr lang="en-US" sz="1200" dirty="0"/>
          </a:p>
        </p:txBody>
      </p:sp>
      <p:sp>
        <p:nvSpPr>
          <p:cNvPr id="18" name="anim_4_c"/>
          <p:cNvSpPr/>
          <p:nvPr/>
        </p:nvSpPr>
        <p:spPr>
          <a:xfrm>
            <a:off x="6492240" y="38862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prime that appears, highest power:  2</a:t>
            </a:r>
            <a:r>
              <a:rPr lang="en-US" sz="1350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3</a:t>
            </a:r>
            <a:r>
              <a:rPr lang="en-US" sz="1350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5.</a:t>
            </a:r>
            <a:endParaRPr lang="en-US" sz="1350" dirty="0"/>
          </a:p>
        </p:txBody>
      </p:sp>
      <p:sp>
        <p:nvSpPr>
          <p:cNvPr id="19" name="anim_4_c"/>
          <p:cNvSpPr/>
          <p:nvPr/>
        </p:nvSpPr>
        <p:spPr>
          <a:xfrm>
            <a:off x="6492240" y="4544568"/>
            <a:ext cx="4892040" cy="603504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anim_4_c"/>
          <p:cNvSpPr/>
          <p:nvPr/>
        </p:nvSpPr>
        <p:spPr>
          <a:xfrm>
            <a:off x="6675120" y="454456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LCM = </a:t>
            </a: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8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18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5</a:t>
            </a:r>
            <a:r>
              <a:rPr lang="en-US" sz="1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180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· EXAMPLE 3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 &amp; LCM of A and B</a:t>
            </a:r>
            <a:endParaRPr lang="en-US" sz="2700" dirty="0"/>
          </a:p>
        </p:txBody>
      </p:sp>
      <p:sp>
        <p:nvSpPr>
          <p:cNvPr id="6" name="anim_1_a"/>
          <p:cNvSpPr/>
          <p:nvPr/>
        </p:nvSpPr>
        <p:spPr>
          <a:xfrm>
            <a:off x="548640" y="146304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548640" y="1463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 × 5</a:t>
            </a: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    B = 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7</a:t>
            </a:r>
            <a:endParaRPr lang="en-US" sz="2100" dirty="0"/>
          </a:p>
        </p:txBody>
      </p:sp>
      <p:sp>
        <p:nvSpPr>
          <p:cNvPr id="8" name="anim_2_c"/>
          <p:cNvSpPr/>
          <p:nvPr/>
        </p:nvSpPr>
        <p:spPr>
          <a:xfrm>
            <a:off x="548640" y="269748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EEF1E8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anim_2_c"/>
          <p:cNvSpPr/>
          <p:nvPr/>
        </p:nvSpPr>
        <p:spPr>
          <a:xfrm>
            <a:off x="841248" y="2862072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</a:t>
            </a:r>
            <a:endParaRPr lang="en-US" sz="2100" dirty="0"/>
          </a:p>
        </p:txBody>
      </p:sp>
      <p:sp>
        <p:nvSpPr>
          <p:cNvPr id="10" name="anim_2_c"/>
          <p:cNvSpPr/>
          <p:nvPr/>
        </p:nvSpPr>
        <p:spPr>
          <a:xfrm>
            <a:off x="841248" y="328269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primes · lowest power</a:t>
            </a:r>
            <a:endParaRPr lang="en-US" sz="1200" dirty="0"/>
          </a:p>
        </p:txBody>
      </p:sp>
      <p:sp>
        <p:nvSpPr>
          <p:cNvPr id="11" name="anim_2_c"/>
          <p:cNvSpPr/>
          <p:nvPr/>
        </p:nvSpPr>
        <p:spPr>
          <a:xfrm>
            <a:off x="841248" y="36118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 min(3,2)→2</a:t>
            </a:r>
            <a:r>
              <a:rPr lang="en-US" sz="13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3: min(1,2)→3   (5, 7 not shared)</a:t>
            </a:r>
            <a:endParaRPr lang="en-US" sz="1300" dirty="0"/>
          </a:p>
        </p:txBody>
      </p:sp>
      <p:sp>
        <p:nvSpPr>
          <p:cNvPr id="12" name="anim_2_c"/>
          <p:cNvSpPr/>
          <p:nvPr/>
        </p:nvSpPr>
        <p:spPr>
          <a:xfrm>
            <a:off x="841248" y="4270248"/>
            <a:ext cx="4892040" cy="603504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anim_2_c"/>
          <p:cNvSpPr/>
          <p:nvPr/>
        </p:nvSpPr>
        <p:spPr>
          <a:xfrm>
            <a:off x="1024128" y="427024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 = 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15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(= 12)</a:t>
            </a:r>
            <a:endParaRPr lang="en-US" sz="1600" dirty="0"/>
          </a:p>
        </p:txBody>
      </p:sp>
      <p:sp>
        <p:nvSpPr>
          <p:cNvPr id="14" name="anim_3_c"/>
          <p:cNvSpPr/>
          <p:nvPr/>
        </p:nvSpPr>
        <p:spPr>
          <a:xfrm>
            <a:off x="6199632" y="269748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FBF3DD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anim_3_c"/>
          <p:cNvSpPr/>
          <p:nvPr/>
        </p:nvSpPr>
        <p:spPr>
          <a:xfrm>
            <a:off x="6492240" y="2862072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LCM</a:t>
            </a:r>
            <a:endParaRPr lang="en-US" sz="2100" dirty="0"/>
          </a:p>
        </p:txBody>
      </p:sp>
      <p:sp>
        <p:nvSpPr>
          <p:cNvPr id="16" name="anim_3_c"/>
          <p:cNvSpPr/>
          <p:nvPr/>
        </p:nvSpPr>
        <p:spPr>
          <a:xfrm>
            <a:off x="6492240" y="328269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primes · highest power</a:t>
            </a:r>
            <a:endParaRPr lang="en-US" sz="1200" dirty="0"/>
          </a:p>
        </p:txBody>
      </p:sp>
      <p:sp>
        <p:nvSpPr>
          <p:cNvPr id="17" name="anim_3_c"/>
          <p:cNvSpPr/>
          <p:nvPr/>
        </p:nvSpPr>
        <p:spPr>
          <a:xfrm>
            <a:off x="6492240" y="36118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 max→2</a:t>
            </a:r>
            <a:r>
              <a:rPr lang="en-US" sz="13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3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3: max→3</a:t>
            </a:r>
            <a:r>
              <a:rPr lang="en-US" sz="13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3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5   7</a:t>
            </a:r>
            <a:endParaRPr lang="en-US" sz="1300" dirty="0"/>
          </a:p>
        </p:txBody>
      </p:sp>
      <p:sp>
        <p:nvSpPr>
          <p:cNvPr id="18" name="anim_3_c"/>
          <p:cNvSpPr/>
          <p:nvPr/>
        </p:nvSpPr>
        <p:spPr>
          <a:xfrm>
            <a:off x="6492240" y="4270248"/>
            <a:ext cx="4892040" cy="603504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anim_3_c"/>
          <p:cNvSpPr/>
          <p:nvPr/>
        </p:nvSpPr>
        <p:spPr>
          <a:xfrm>
            <a:off x="6675120" y="427024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LCM = 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17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5 × 7</a:t>
            </a:r>
            <a:r>
              <a:rPr lang="en-US" sz="1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(= 2520)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· EXAMPLE 4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 &amp; LCM of 2A and B²</a:t>
            </a:r>
            <a:endParaRPr lang="en-US" sz="2700" dirty="0"/>
          </a:p>
        </p:txBody>
      </p:sp>
      <p:sp>
        <p:nvSpPr>
          <p:cNvPr id="6" name="anim_1_a"/>
          <p:cNvSpPr/>
          <p:nvPr/>
        </p:nvSpPr>
        <p:spPr>
          <a:xfrm>
            <a:off x="548640" y="146304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548640" y="1463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 × 5</a:t>
            </a: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    B = 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7</a:t>
            </a:r>
            <a:endParaRPr lang="en-US" sz="2100" dirty="0"/>
          </a:p>
        </p:txBody>
      </p:sp>
      <p:sp>
        <p:nvSpPr>
          <p:cNvPr id="8" name="anim_2_c"/>
          <p:cNvSpPr/>
          <p:nvPr/>
        </p:nvSpPr>
        <p:spPr>
          <a:xfrm>
            <a:off x="548640" y="2450592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anim_2_c"/>
          <p:cNvSpPr/>
          <p:nvPr/>
        </p:nvSpPr>
        <p:spPr>
          <a:xfrm>
            <a:off x="868680" y="245059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rewrite:   </a:t>
            </a:r>
            <a:r>
              <a:rPr lang="en-US" sz="17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2A = </a:t>
            </a: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 × 5</a:t>
            </a:r>
            <a:r>
              <a:rPr lang="en-US" sz="17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B</a:t>
            </a:r>
            <a:r>
              <a:rPr lang="en-US" sz="1700" b="1" baseline="30000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17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7</a:t>
            </a:r>
            <a:r>
              <a:rPr lang="en-US" sz="17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anim_3_c"/>
          <p:cNvSpPr/>
          <p:nvPr/>
        </p:nvSpPr>
        <p:spPr>
          <a:xfrm>
            <a:off x="548640" y="329184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EEF1E8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anim_3_c"/>
          <p:cNvSpPr/>
          <p:nvPr/>
        </p:nvSpPr>
        <p:spPr>
          <a:xfrm>
            <a:off x="841248" y="3456432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</a:t>
            </a:r>
            <a:endParaRPr lang="en-US" sz="2100" dirty="0"/>
          </a:p>
        </p:txBody>
      </p:sp>
      <p:sp>
        <p:nvSpPr>
          <p:cNvPr id="12" name="anim_3_c"/>
          <p:cNvSpPr/>
          <p:nvPr/>
        </p:nvSpPr>
        <p:spPr>
          <a:xfrm>
            <a:off x="841248" y="38770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primes · lowest power</a:t>
            </a:r>
            <a:endParaRPr lang="en-US" sz="1200" dirty="0"/>
          </a:p>
        </p:txBody>
      </p:sp>
      <p:sp>
        <p:nvSpPr>
          <p:cNvPr id="13" name="anim_3_c"/>
          <p:cNvSpPr/>
          <p:nvPr/>
        </p:nvSpPr>
        <p:spPr>
          <a:xfrm>
            <a:off x="841248" y="42062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 min(4,4)→2</a:t>
            </a:r>
            <a:r>
              <a:rPr lang="en-US" sz="13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3: min(1,4)→3   (5, 7 not shared)</a:t>
            </a:r>
            <a:endParaRPr lang="en-US" sz="1300" dirty="0"/>
          </a:p>
        </p:txBody>
      </p:sp>
      <p:sp>
        <p:nvSpPr>
          <p:cNvPr id="14" name="anim_3_c"/>
          <p:cNvSpPr/>
          <p:nvPr/>
        </p:nvSpPr>
        <p:spPr>
          <a:xfrm>
            <a:off x="841248" y="4864608"/>
            <a:ext cx="4892040" cy="603504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anim_3_c"/>
          <p:cNvSpPr/>
          <p:nvPr/>
        </p:nvSpPr>
        <p:spPr>
          <a:xfrm>
            <a:off x="1024128" y="486460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 = 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15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(= 48)</a:t>
            </a:r>
            <a:endParaRPr lang="en-US" sz="1600" dirty="0"/>
          </a:p>
        </p:txBody>
      </p:sp>
      <p:sp>
        <p:nvSpPr>
          <p:cNvPr id="16" name="anim_4_c"/>
          <p:cNvSpPr/>
          <p:nvPr/>
        </p:nvSpPr>
        <p:spPr>
          <a:xfrm>
            <a:off x="6199632" y="329184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FBF3DD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anim_4_c"/>
          <p:cNvSpPr/>
          <p:nvPr/>
        </p:nvSpPr>
        <p:spPr>
          <a:xfrm>
            <a:off x="6492240" y="3456432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LCM</a:t>
            </a:r>
            <a:endParaRPr lang="en-US" sz="2100" dirty="0"/>
          </a:p>
        </p:txBody>
      </p:sp>
      <p:sp>
        <p:nvSpPr>
          <p:cNvPr id="18" name="anim_4_c"/>
          <p:cNvSpPr/>
          <p:nvPr/>
        </p:nvSpPr>
        <p:spPr>
          <a:xfrm>
            <a:off x="6492240" y="38770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primes · highest power</a:t>
            </a:r>
            <a:endParaRPr lang="en-US" sz="1200" dirty="0"/>
          </a:p>
        </p:txBody>
      </p:sp>
      <p:sp>
        <p:nvSpPr>
          <p:cNvPr id="19" name="anim_4_c"/>
          <p:cNvSpPr/>
          <p:nvPr/>
        </p:nvSpPr>
        <p:spPr>
          <a:xfrm>
            <a:off x="6492240" y="42062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 2</a:t>
            </a:r>
            <a:r>
              <a:rPr lang="en-US" sz="13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3: 3</a:t>
            </a:r>
            <a:r>
              <a:rPr lang="en-US" sz="13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5   7</a:t>
            </a:r>
            <a:r>
              <a:rPr lang="en-US" sz="13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anim_4_c"/>
          <p:cNvSpPr/>
          <p:nvPr/>
        </p:nvSpPr>
        <p:spPr>
          <a:xfrm>
            <a:off x="6492240" y="4864608"/>
            <a:ext cx="4892040" cy="603504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anim_4_c"/>
          <p:cNvSpPr/>
          <p:nvPr/>
        </p:nvSpPr>
        <p:spPr>
          <a:xfrm>
            <a:off x="6675120" y="486460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LCM = 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17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5 × 7</a:t>
            </a:r>
            <a:r>
              <a:rPr lang="en-US" sz="17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· EXAMPLE 5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 &amp; LCM of A × B and B²</a:t>
            </a:r>
            <a:endParaRPr lang="en-US" sz="2700" dirty="0"/>
          </a:p>
        </p:txBody>
      </p:sp>
      <p:sp>
        <p:nvSpPr>
          <p:cNvPr id="6" name="anim_1_a"/>
          <p:cNvSpPr/>
          <p:nvPr/>
        </p:nvSpPr>
        <p:spPr>
          <a:xfrm>
            <a:off x="548640" y="146304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4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548640" y="14630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= 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 × 5</a:t>
            </a:r>
            <a:r>
              <a:rPr lang="en-US" sz="21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    B = 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21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7</a:t>
            </a:r>
            <a:endParaRPr lang="en-US" sz="2100" dirty="0"/>
          </a:p>
        </p:txBody>
      </p:sp>
      <p:sp>
        <p:nvSpPr>
          <p:cNvPr id="8" name="anim_2_c"/>
          <p:cNvSpPr/>
          <p:nvPr/>
        </p:nvSpPr>
        <p:spPr>
          <a:xfrm>
            <a:off x="548640" y="2450592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anim_2_c"/>
          <p:cNvSpPr/>
          <p:nvPr/>
        </p:nvSpPr>
        <p:spPr>
          <a:xfrm>
            <a:off x="868680" y="2450592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rewrite:   </a:t>
            </a:r>
            <a:r>
              <a:rPr lang="en-US" sz="17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A×B = </a:t>
            </a: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17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5 × 7</a:t>
            </a:r>
            <a:r>
              <a:rPr lang="en-US" sz="17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  B</a:t>
            </a:r>
            <a:r>
              <a:rPr lang="en-US" sz="1700" b="1" baseline="30000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</a:t>
            </a: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17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7</a:t>
            </a:r>
            <a:r>
              <a:rPr lang="en-US" sz="17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anim_3_c"/>
          <p:cNvSpPr/>
          <p:nvPr/>
        </p:nvSpPr>
        <p:spPr>
          <a:xfrm>
            <a:off x="548640" y="329184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EEF1E8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anim_3_c"/>
          <p:cNvSpPr/>
          <p:nvPr/>
        </p:nvSpPr>
        <p:spPr>
          <a:xfrm>
            <a:off x="841248" y="3456432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</a:t>
            </a:r>
            <a:endParaRPr lang="en-US" sz="2100" dirty="0"/>
          </a:p>
        </p:txBody>
      </p:sp>
      <p:sp>
        <p:nvSpPr>
          <p:cNvPr id="12" name="anim_3_c"/>
          <p:cNvSpPr/>
          <p:nvPr/>
        </p:nvSpPr>
        <p:spPr>
          <a:xfrm>
            <a:off x="841248" y="38770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primes · lowest power</a:t>
            </a:r>
            <a:endParaRPr lang="en-US" sz="1200" dirty="0"/>
          </a:p>
        </p:txBody>
      </p:sp>
      <p:sp>
        <p:nvSpPr>
          <p:cNvPr id="13" name="anim_3_c"/>
          <p:cNvSpPr/>
          <p:nvPr/>
        </p:nvSpPr>
        <p:spPr>
          <a:xfrm>
            <a:off x="841248" y="42062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 min(5,4)→2</a:t>
            </a:r>
            <a:r>
              <a:rPr lang="en-US" sz="125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2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3: min(3,4)→3</a:t>
            </a:r>
            <a:r>
              <a:rPr lang="en-US" sz="125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2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7: min(1,2)→7</a:t>
            </a:r>
            <a:endParaRPr lang="en-US" sz="1250" dirty="0"/>
          </a:p>
        </p:txBody>
      </p:sp>
      <p:sp>
        <p:nvSpPr>
          <p:cNvPr id="14" name="anim_3_c"/>
          <p:cNvSpPr/>
          <p:nvPr/>
        </p:nvSpPr>
        <p:spPr>
          <a:xfrm>
            <a:off x="841248" y="4864608"/>
            <a:ext cx="4892040" cy="603504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anim_3_c"/>
          <p:cNvSpPr/>
          <p:nvPr/>
        </p:nvSpPr>
        <p:spPr>
          <a:xfrm>
            <a:off x="1024128" y="486460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 = 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17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7</a:t>
            </a:r>
            <a:endParaRPr lang="en-US" sz="1600" dirty="0"/>
          </a:p>
        </p:txBody>
      </p:sp>
      <p:sp>
        <p:nvSpPr>
          <p:cNvPr id="16" name="anim_4_c"/>
          <p:cNvSpPr/>
          <p:nvPr/>
        </p:nvSpPr>
        <p:spPr>
          <a:xfrm>
            <a:off x="6199632" y="329184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FBF3DD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anim_4_c"/>
          <p:cNvSpPr/>
          <p:nvPr/>
        </p:nvSpPr>
        <p:spPr>
          <a:xfrm>
            <a:off x="6492240" y="3456432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LCM</a:t>
            </a:r>
            <a:endParaRPr lang="en-US" sz="2100" dirty="0"/>
          </a:p>
        </p:txBody>
      </p:sp>
      <p:sp>
        <p:nvSpPr>
          <p:cNvPr id="18" name="anim_4_c"/>
          <p:cNvSpPr/>
          <p:nvPr/>
        </p:nvSpPr>
        <p:spPr>
          <a:xfrm>
            <a:off x="6492240" y="387705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primes · highest power</a:t>
            </a:r>
            <a:endParaRPr lang="en-US" sz="1200" dirty="0"/>
          </a:p>
        </p:txBody>
      </p:sp>
      <p:sp>
        <p:nvSpPr>
          <p:cNvPr id="19" name="anim_4_c"/>
          <p:cNvSpPr/>
          <p:nvPr/>
        </p:nvSpPr>
        <p:spPr>
          <a:xfrm>
            <a:off x="6492240" y="42062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2: 2</a:t>
            </a:r>
            <a:r>
              <a:rPr lang="en-US" sz="13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3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3: 3</a:t>
            </a:r>
            <a:r>
              <a:rPr lang="en-US" sz="13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3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5   7</a:t>
            </a:r>
            <a:r>
              <a:rPr lang="en-US" sz="13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anim_4_c"/>
          <p:cNvSpPr/>
          <p:nvPr/>
        </p:nvSpPr>
        <p:spPr>
          <a:xfrm>
            <a:off x="6492240" y="4864608"/>
            <a:ext cx="4892040" cy="603504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anim_4_c"/>
          <p:cNvSpPr/>
          <p:nvPr/>
        </p:nvSpPr>
        <p:spPr>
          <a:xfrm>
            <a:off x="6675120" y="4864608"/>
            <a:ext cx="4526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LCM = 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17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5 × 7</a:t>
            </a:r>
            <a:r>
              <a:rPr lang="en-US" sz="17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METHOD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 Factorisation with Algebra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each term into prime factors and variables, then take the common parts.</a:t>
            </a:r>
            <a:endParaRPr lang="en-US" sz="1350" dirty="0"/>
          </a:p>
        </p:txBody>
      </p:sp>
      <p:sp>
        <p:nvSpPr>
          <p:cNvPr id="7" name="anim_1_a"/>
          <p:cNvSpPr/>
          <p:nvPr/>
        </p:nvSpPr>
        <p:spPr>
          <a:xfrm>
            <a:off x="548640" y="187452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anim_1_a"/>
          <p:cNvSpPr/>
          <p:nvPr/>
        </p:nvSpPr>
        <p:spPr>
          <a:xfrm>
            <a:off x="841248" y="202996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 120x²y</a:t>
            </a:r>
            <a:endParaRPr lang="en-US" sz="1300" dirty="0"/>
          </a:p>
        </p:txBody>
      </p:sp>
      <p:sp>
        <p:nvSpPr>
          <p:cNvPr id="9" name="anim_1_a"/>
          <p:cNvSpPr/>
          <p:nvPr/>
        </p:nvSpPr>
        <p:spPr>
          <a:xfrm>
            <a:off x="841248" y="24688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= 2</a:t>
            </a:r>
            <a:r>
              <a:rPr lang="en-US" sz="16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3 × 5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120x</a:t>
            </a:r>
            <a:r>
              <a:rPr lang="en-US" sz="1600" b="1" baseline="30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= 2</a:t>
            </a:r>
            <a:r>
              <a:rPr lang="en-US" sz="1600" b="1" baseline="30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3 × 5 × x</a:t>
            </a:r>
            <a:r>
              <a:rPr lang="en-US" sz="1600" b="1" baseline="30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y</a:t>
            </a:r>
            <a:endParaRPr lang="en-US" sz="1600" dirty="0"/>
          </a:p>
        </p:txBody>
      </p:sp>
      <p:sp>
        <p:nvSpPr>
          <p:cNvPr id="10" name="anim_2_c"/>
          <p:cNvSpPr/>
          <p:nvPr/>
        </p:nvSpPr>
        <p:spPr>
          <a:xfrm>
            <a:off x="6199632" y="187452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anim_2_c"/>
          <p:cNvSpPr/>
          <p:nvPr/>
        </p:nvSpPr>
        <p:spPr>
          <a:xfrm>
            <a:off x="6492240" y="2029968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Factorise 200x</a:t>
            </a:r>
            <a:endParaRPr lang="en-US" sz="1300" dirty="0"/>
          </a:p>
        </p:txBody>
      </p:sp>
      <p:sp>
        <p:nvSpPr>
          <p:cNvPr id="12" name="anim_2_c"/>
          <p:cNvSpPr/>
          <p:nvPr/>
        </p:nvSpPr>
        <p:spPr>
          <a:xfrm>
            <a:off x="6492240" y="24688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= 2</a:t>
            </a:r>
            <a:r>
              <a:rPr lang="en-US" sz="16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5</a:t>
            </a:r>
            <a:r>
              <a:rPr lang="en-US" sz="16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 200x = 2</a:t>
            </a:r>
            <a:r>
              <a:rPr lang="en-US" sz="1600" b="1" baseline="30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5</a:t>
            </a:r>
            <a:r>
              <a:rPr lang="en-US" sz="1600" b="1" baseline="30000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6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x</a:t>
            </a:r>
            <a:endParaRPr lang="en-US" sz="1600" dirty="0"/>
          </a:p>
        </p:txBody>
      </p:sp>
      <p:sp>
        <p:nvSpPr>
          <p:cNvPr id="13" name="anim_3_c"/>
          <p:cNvSpPr/>
          <p:nvPr/>
        </p:nvSpPr>
        <p:spPr>
          <a:xfrm>
            <a:off x="548640" y="3794760"/>
            <a:ext cx="11091672" cy="2331720"/>
          </a:xfrm>
          <a:prstGeom prst="roundRect">
            <a:avLst>
              <a:gd name="adj" fmla="val 3922"/>
            </a:avLst>
          </a:prstGeom>
          <a:solidFill>
            <a:srgbClr val="EEF1E8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anim_3_c"/>
          <p:cNvSpPr/>
          <p:nvPr/>
        </p:nvSpPr>
        <p:spPr>
          <a:xfrm>
            <a:off x="868680" y="3968496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HCF of 120x²y and 200x</a:t>
            </a:r>
            <a:endParaRPr lang="en-US" sz="1700" dirty="0"/>
          </a:p>
        </p:txBody>
      </p:sp>
      <p:sp>
        <p:nvSpPr>
          <p:cNvPr id="15" name="anim_3_c"/>
          <p:cNvSpPr/>
          <p:nvPr/>
        </p:nvSpPr>
        <p:spPr>
          <a:xfrm>
            <a:off x="868680" y="438912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lowest power of each </a:t>
            </a:r>
            <a:r>
              <a:rPr lang="en-US" sz="1350" b="1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</a:t>
            </a:r>
            <a:r>
              <a:rPr lang="en-US" sz="13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factor:</a:t>
            </a:r>
            <a:endParaRPr lang="en-US" sz="1350" dirty="0"/>
          </a:p>
        </p:txBody>
      </p:sp>
      <p:sp>
        <p:nvSpPr>
          <p:cNvPr id="16" name="anim_3_c"/>
          <p:cNvSpPr/>
          <p:nvPr/>
        </p:nvSpPr>
        <p:spPr>
          <a:xfrm>
            <a:off x="868680" y="47548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primes:  2</a:t>
            </a:r>
            <a:r>
              <a:rPr lang="en-US" sz="15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and  5        Common variable:  x</a:t>
            </a:r>
            <a:endParaRPr lang="en-US" sz="1500" dirty="0"/>
          </a:p>
        </p:txBody>
      </p:sp>
      <p:sp>
        <p:nvSpPr>
          <p:cNvPr id="17" name="anim_4_c"/>
          <p:cNvSpPr/>
          <p:nvPr/>
        </p:nvSpPr>
        <p:spPr>
          <a:xfrm>
            <a:off x="868680" y="5303520"/>
            <a:ext cx="5852160" cy="603504"/>
          </a:xfrm>
          <a:prstGeom prst="roundRect">
            <a:avLst>
              <a:gd name="adj" fmla="val 18182"/>
            </a:avLst>
          </a:prstGeom>
          <a:solidFill>
            <a:srgbClr val="16261F"/>
          </a:solidFill>
          <a:ln/>
        </p:spPr>
      </p:sp>
      <p:sp>
        <p:nvSpPr>
          <p:cNvPr id="18" name="anim_4_c"/>
          <p:cNvSpPr/>
          <p:nvPr/>
        </p:nvSpPr>
        <p:spPr>
          <a:xfrm>
            <a:off x="868680" y="5303520"/>
            <a:ext cx="5852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 = 2</a:t>
            </a:r>
            <a:r>
              <a:rPr lang="en-US" sz="1800" b="1" baseline="300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r>
              <a:rPr lang="en-US" sz="1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5 × x  =  </a:t>
            </a: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40x</a:t>
            </a:r>
            <a:endParaRPr lang="en-US" sz="1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 It — Problem Solving</a:t>
            </a:r>
            <a:endParaRPr lang="en-US" sz="2700" dirty="0"/>
          </a:p>
        </p:txBody>
      </p:sp>
      <p:sp>
        <p:nvSpPr>
          <p:cNvPr id="6" name="anim_1_a"/>
          <p:cNvSpPr/>
          <p:nvPr/>
        </p:nvSpPr>
        <p:spPr>
          <a:xfrm>
            <a:off x="548640" y="1572768"/>
            <a:ext cx="704088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68680" y="1792224"/>
            <a:ext cx="6400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GARDEN PROBLEM</a:t>
            </a:r>
            <a:endParaRPr lang="en-US" sz="1200" dirty="0"/>
          </a:p>
        </p:txBody>
      </p:sp>
      <p:sp>
        <p:nvSpPr>
          <p:cNvPr id="8" name="anim_1_a"/>
          <p:cNvSpPr/>
          <p:nvPr/>
        </p:nvSpPr>
        <p:spPr>
          <a:xfrm>
            <a:off x="868680" y="2157984"/>
            <a:ext cx="6446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2433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rectangular garden in Al Wakrah measures 84 m by 56 m. It is to be divided into the smallest possible number of equal square plots for traditional Qatari plants.</a:t>
            </a:r>
            <a:endParaRPr lang="en-US" sz="1800" dirty="0"/>
          </a:p>
        </p:txBody>
      </p:sp>
      <p:sp>
        <p:nvSpPr>
          <p:cNvPr id="9" name="anim_1_a"/>
          <p:cNvSpPr/>
          <p:nvPr/>
        </p:nvSpPr>
        <p:spPr>
          <a:xfrm>
            <a:off x="868680" y="3611880"/>
            <a:ext cx="6446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the side length of each square plot?</a:t>
            </a:r>
            <a:endParaRPr lang="en-US" sz="1800" dirty="0"/>
          </a:p>
        </p:txBody>
      </p:sp>
      <p:sp>
        <p:nvSpPr>
          <p:cNvPr id="10" name="anim_2_c"/>
          <p:cNvSpPr/>
          <p:nvPr/>
        </p:nvSpPr>
        <p:spPr>
          <a:xfrm>
            <a:off x="868680" y="4297680"/>
            <a:ext cx="6400800" cy="1234440"/>
          </a:xfrm>
          <a:prstGeom prst="roundRect">
            <a:avLst>
              <a:gd name="adj" fmla="val 7407"/>
            </a:avLst>
          </a:prstGeom>
          <a:solidFill>
            <a:srgbClr val="EEF1E8"/>
          </a:solidFill>
          <a:ln/>
        </p:spPr>
      </p:sp>
      <p:sp>
        <p:nvSpPr>
          <p:cNvPr id="11" name="anim_2_c"/>
          <p:cNvSpPr/>
          <p:nvPr/>
        </p:nvSpPr>
        <p:spPr>
          <a:xfrm>
            <a:off x="1097280" y="4425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HINT</a:t>
            </a:r>
            <a:endParaRPr lang="en-US" sz="1100" dirty="0"/>
          </a:p>
        </p:txBody>
      </p:sp>
      <p:sp>
        <p:nvSpPr>
          <p:cNvPr id="12" name="anim_2_c"/>
          <p:cNvSpPr/>
          <p:nvPr/>
        </p:nvSpPr>
        <p:spPr>
          <a:xfrm>
            <a:off x="1097280" y="4681728"/>
            <a:ext cx="5943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square that tiles both sides → the HCF of 84 and 56.</a:t>
            </a:r>
            <a:endParaRPr lang="en-US" sz="1450" dirty="0"/>
          </a:p>
        </p:txBody>
      </p:sp>
      <p:sp>
        <p:nvSpPr>
          <p:cNvPr id="13" name="anim_3_c"/>
          <p:cNvSpPr/>
          <p:nvPr/>
        </p:nvSpPr>
        <p:spPr>
          <a:xfrm>
            <a:off x="7818120" y="1572768"/>
            <a:ext cx="3822192" cy="4206240"/>
          </a:xfrm>
          <a:prstGeom prst="roundRect">
            <a:avLst>
              <a:gd name="adj" fmla="val 2871"/>
            </a:avLst>
          </a:prstGeom>
          <a:solidFill>
            <a:srgbClr val="16261F"/>
          </a:solidFill>
          <a:ln/>
          <a:effectLst>
            <a:outerShdw blurRad="127000" dist="38100" dir="54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anim_3_c"/>
          <p:cNvSpPr/>
          <p:nvPr/>
        </p:nvSpPr>
        <p:spPr>
          <a:xfrm>
            <a:off x="8092440" y="18105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200" dirty="0"/>
          </a:p>
        </p:txBody>
      </p:sp>
      <p:sp>
        <p:nvSpPr>
          <p:cNvPr id="15" name="anim_3_c"/>
          <p:cNvSpPr/>
          <p:nvPr/>
        </p:nvSpPr>
        <p:spPr>
          <a:xfrm>
            <a:off x="8092440" y="228600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 = 2</a:t>
            </a:r>
            <a:r>
              <a:rPr lang="en-US" sz="17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 × 7</a:t>
            </a:r>
            <a:endParaRPr lang="en-US" sz="17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 = 2</a:t>
            </a:r>
            <a:r>
              <a:rPr lang="en-US" sz="1700" b="1" baseline="300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7</a:t>
            </a:r>
            <a:endParaRPr lang="en-US" sz="1700" dirty="0"/>
          </a:p>
        </p:txBody>
      </p:sp>
      <p:sp>
        <p:nvSpPr>
          <p:cNvPr id="16" name="anim_3_c"/>
          <p:cNvSpPr/>
          <p:nvPr/>
        </p:nvSpPr>
        <p:spPr>
          <a:xfrm>
            <a:off x="809244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HCF = 2</a:t>
            </a:r>
            <a:r>
              <a:rPr lang="en-US" sz="1800" b="1" baseline="30000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8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7</a:t>
            </a:r>
            <a:endParaRPr lang="en-US" sz="1800" dirty="0"/>
          </a:p>
        </p:txBody>
      </p:sp>
      <p:sp>
        <p:nvSpPr>
          <p:cNvPr id="17" name="anim_3_c"/>
          <p:cNvSpPr/>
          <p:nvPr/>
        </p:nvSpPr>
        <p:spPr>
          <a:xfrm>
            <a:off x="8092440" y="3977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square plot has side</a:t>
            </a:r>
            <a:endParaRPr lang="en-US" sz="1250" dirty="0"/>
          </a:p>
        </p:txBody>
      </p:sp>
      <p:sp>
        <p:nvSpPr>
          <p:cNvPr id="18" name="anim_3_c"/>
          <p:cNvSpPr/>
          <p:nvPr/>
        </p:nvSpPr>
        <p:spPr>
          <a:xfrm>
            <a:off x="8092440" y="42611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m</a:t>
            </a:r>
            <a:endParaRPr lang="en-US" sz="4000" dirty="0"/>
          </a:p>
        </p:txBody>
      </p:sp>
      <p:sp>
        <p:nvSpPr>
          <p:cNvPr id="19" name="anim_3_c"/>
          <p:cNvSpPr/>
          <p:nvPr/>
        </p:nvSpPr>
        <p:spPr>
          <a:xfrm>
            <a:off x="8092440" y="5029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3 × 2 = 6 equal plots.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EDEXCEL IGCSE · HIGHER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 Practice — Set 1</a:t>
            </a:r>
            <a:endParaRPr lang="en-US" sz="2700" dirty="0"/>
          </a:p>
        </p:txBody>
      </p:sp>
      <p:sp>
        <p:nvSpPr>
          <p:cNvPr id="6" name="anim_1_a"/>
          <p:cNvSpPr/>
          <p:nvPr/>
        </p:nvSpPr>
        <p:spPr>
          <a:xfrm>
            <a:off x="548640" y="160020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22960" y="1856232"/>
            <a:ext cx="566928" cy="566928"/>
          </a:xfrm>
          <a:prstGeom prst="ellipse">
            <a:avLst/>
          </a:prstGeom>
          <a:solidFill>
            <a:srgbClr val="C84F2F"/>
          </a:solidFill>
          <a:ln/>
          <a:effectLst>
            <a:outerShdw blurRad="63500" dist="127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anim_1_a"/>
          <p:cNvSpPr/>
          <p:nvPr/>
        </p:nvSpPr>
        <p:spPr>
          <a:xfrm>
            <a:off x="822960" y="1856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anim_1_a"/>
          <p:cNvSpPr/>
          <p:nvPr/>
        </p:nvSpPr>
        <p:spPr>
          <a:xfrm>
            <a:off x="1536192" y="1837944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highest common factor (HCF) of</a:t>
            </a:r>
            <a:endParaRPr lang="en-US" sz="16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 and  420.</a:t>
            </a:r>
            <a:endParaRPr lang="en-US" sz="1600" dirty="0"/>
          </a:p>
        </p:txBody>
      </p:sp>
      <p:sp>
        <p:nvSpPr>
          <p:cNvPr id="10" name="anim_1_a"/>
          <p:cNvSpPr/>
          <p:nvPr/>
        </p:nvSpPr>
        <p:spPr>
          <a:xfrm>
            <a:off x="859536" y="3054096"/>
            <a:ext cx="4818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answer as an integer.</a:t>
            </a:r>
            <a:endParaRPr lang="en-US" sz="1250" dirty="0"/>
          </a:p>
        </p:txBody>
      </p:sp>
      <p:sp>
        <p:nvSpPr>
          <p:cNvPr id="11" name="anim_2_c"/>
          <p:cNvSpPr/>
          <p:nvPr/>
        </p:nvSpPr>
        <p:spPr>
          <a:xfrm>
            <a:off x="6199632" y="160020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anim_2_c"/>
          <p:cNvSpPr/>
          <p:nvPr/>
        </p:nvSpPr>
        <p:spPr>
          <a:xfrm>
            <a:off x="6473952" y="1856232"/>
            <a:ext cx="566928" cy="566928"/>
          </a:xfrm>
          <a:prstGeom prst="ellipse">
            <a:avLst/>
          </a:prstGeom>
          <a:solidFill>
            <a:srgbClr val="C84F2F"/>
          </a:solidFill>
          <a:ln/>
          <a:effectLst>
            <a:outerShdw blurRad="63500" dist="127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anim_2_c"/>
          <p:cNvSpPr/>
          <p:nvPr/>
        </p:nvSpPr>
        <p:spPr>
          <a:xfrm>
            <a:off x="6473952" y="1856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anim_2_c"/>
          <p:cNvSpPr/>
          <p:nvPr/>
        </p:nvSpPr>
        <p:spPr>
          <a:xfrm>
            <a:off x="7187184" y="1837944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2</a:t>
            </a:r>
            <a:r>
              <a:rPr lang="en-US" sz="15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3 × 5 × 7</a:t>
            </a:r>
            <a:r>
              <a:rPr lang="en-US" sz="15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2 × 3</a:t>
            </a:r>
            <a:r>
              <a:rPr lang="en-US" sz="15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7</a:t>
            </a:r>
            <a:endParaRPr lang="en-US" sz="15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= 3 × 5</a:t>
            </a:r>
            <a:r>
              <a:rPr lang="en-US" sz="15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11</a:t>
            </a:r>
            <a:endParaRPr lang="en-US" sz="1500" dirty="0"/>
          </a:p>
        </p:txBody>
      </p:sp>
      <p:sp>
        <p:nvSpPr>
          <p:cNvPr id="15" name="anim_2_c"/>
          <p:cNvSpPr/>
          <p:nvPr/>
        </p:nvSpPr>
        <p:spPr>
          <a:xfrm>
            <a:off x="6510528" y="3054096"/>
            <a:ext cx="4818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LCM of A, B and C as a product of powers of primes.</a:t>
            </a:r>
            <a:endParaRPr lang="en-US" sz="1250" dirty="0"/>
          </a:p>
        </p:txBody>
      </p:sp>
      <p:sp>
        <p:nvSpPr>
          <p:cNvPr id="16" name="anim_3_c"/>
          <p:cNvSpPr/>
          <p:nvPr/>
        </p:nvSpPr>
        <p:spPr>
          <a:xfrm>
            <a:off x="548640" y="3840480"/>
            <a:ext cx="11091672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anim_3_c"/>
          <p:cNvSpPr/>
          <p:nvPr/>
        </p:nvSpPr>
        <p:spPr>
          <a:xfrm>
            <a:off x="822960" y="4096512"/>
            <a:ext cx="566928" cy="566928"/>
          </a:xfrm>
          <a:prstGeom prst="ellipse">
            <a:avLst/>
          </a:prstGeom>
          <a:solidFill>
            <a:srgbClr val="C84F2F"/>
          </a:solidFill>
          <a:ln/>
          <a:effectLst>
            <a:outerShdw blurRad="63500" dist="127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anim_3_c"/>
          <p:cNvSpPr/>
          <p:nvPr/>
        </p:nvSpPr>
        <p:spPr>
          <a:xfrm>
            <a:off x="822960" y="40965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anim_3_c"/>
          <p:cNvSpPr/>
          <p:nvPr/>
        </p:nvSpPr>
        <p:spPr>
          <a:xfrm>
            <a:off x="1536192" y="4078224"/>
            <a:ext cx="98115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3</a:t>
            </a:r>
            <a:r>
              <a:rPr lang="en-US" sz="17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5</a:t>
            </a:r>
            <a:r>
              <a:rPr lang="en-US" sz="17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7          B = 3</a:t>
            </a:r>
            <a:r>
              <a:rPr lang="en-US" sz="17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7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5</a:t>
            </a:r>
            <a:r>
              <a:rPr lang="en-US" sz="17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7 × 11</a:t>
            </a:r>
            <a:endParaRPr lang="en-US" sz="1700" dirty="0"/>
          </a:p>
        </p:txBody>
      </p:sp>
      <p:sp>
        <p:nvSpPr>
          <p:cNvPr id="20" name="anim_3_c"/>
          <p:cNvSpPr/>
          <p:nvPr/>
        </p:nvSpPr>
        <p:spPr>
          <a:xfrm>
            <a:off x="859536" y="5568696"/>
            <a:ext cx="10469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 Find the HCF of A and B.        (b)  Find the LCM of A and B.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EDEXCEL IGCSE · HIGHER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 Practice — Set 2</a:t>
            </a:r>
            <a:endParaRPr lang="en-US" sz="2700" dirty="0"/>
          </a:p>
        </p:txBody>
      </p:sp>
      <p:sp>
        <p:nvSpPr>
          <p:cNvPr id="6" name="anim_1_a"/>
          <p:cNvSpPr/>
          <p:nvPr/>
        </p:nvSpPr>
        <p:spPr>
          <a:xfrm>
            <a:off x="548640" y="1600200"/>
            <a:ext cx="544068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22960" y="1856232"/>
            <a:ext cx="566928" cy="566928"/>
          </a:xfrm>
          <a:prstGeom prst="ellipse">
            <a:avLst/>
          </a:prstGeom>
          <a:solidFill>
            <a:srgbClr val="C84F2F"/>
          </a:solidFill>
          <a:ln/>
          <a:effectLst>
            <a:outerShdw blurRad="63500" dist="127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anim_1_a"/>
          <p:cNvSpPr/>
          <p:nvPr/>
        </p:nvSpPr>
        <p:spPr>
          <a:xfrm>
            <a:off x="822960" y="1856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9" name="anim_1_a"/>
          <p:cNvSpPr/>
          <p:nvPr/>
        </p:nvSpPr>
        <p:spPr>
          <a:xfrm>
            <a:off x="1536192" y="1837944"/>
            <a:ext cx="4160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2</a:t>
            </a:r>
            <a:r>
              <a:rPr lang="en-US" sz="16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6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3</a:t>
            </a:r>
            <a:r>
              <a:rPr lang="en-US" sz="16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5 × 11</a:t>
            </a:r>
            <a:r>
              <a:rPr lang="en-US" sz="16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6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2</a:t>
            </a:r>
            <a:r>
              <a:rPr lang="en-US" sz="16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3</a:t>
            </a:r>
            <a:r>
              <a:rPr lang="en-US" sz="16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6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5</a:t>
            </a:r>
            <a:endParaRPr lang="en-US" sz="1600" dirty="0"/>
          </a:p>
        </p:txBody>
      </p:sp>
      <p:sp>
        <p:nvSpPr>
          <p:cNvPr id="10" name="anim_1_a"/>
          <p:cNvSpPr/>
          <p:nvPr/>
        </p:nvSpPr>
        <p:spPr>
          <a:xfrm>
            <a:off x="859536" y="3465576"/>
            <a:ext cx="4818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HCF of 2A and 3B as a product of powers of primes.</a:t>
            </a:r>
            <a:endParaRPr lang="en-US" sz="1250" dirty="0"/>
          </a:p>
        </p:txBody>
      </p:sp>
      <p:sp>
        <p:nvSpPr>
          <p:cNvPr id="11" name="anim_2_c"/>
          <p:cNvSpPr/>
          <p:nvPr/>
        </p:nvSpPr>
        <p:spPr>
          <a:xfrm>
            <a:off x="6199632" y="1600200"/>
            <a:ext cx="5440680" cy="246888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anim_2_c"/>
          <p:cNvSpPr/>
          <p:nvPr/>
        </p:nvSpPr>
        <p:spPr>
          <a:xfrm>
            <a:off x="6473952" y="1856232"/>
            <a:ext cx="566928" cy="566928"/>
          </a:xfrm>
          <a:prstGeom prst="ellipse">
            <a:avLst/>
          </a:prstGeom>
          <a:solidFill>
            <a:srgbClr val="C84F2F"/>
          </a:solidFill>
          <a:ln/>
          <a:effectLst>
            <a:outerShdw blurRad="63500" dist="127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anim_2_c"/>
          <p:cNvSpPr/>
          <p:nvPr/>
        </p:nvSpPr>
        <p:spPr>
          <a:xfrm>
            <a:off x="6473952" y="1856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4" name="anim_2_c"/>
          <p:cNvSpPr/>
          <p:nvPr/>
        </p:nvSpPr>
        <p:spPr>
          <a:xfrm>
            <a:off x="7187184" y="1837944"/>
            <a:ext cx="4160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5</a:t>
            </a:r>
            <a:r>
              <a:rPr lang="en-US" sz="15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5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7</a:t>
            </a:r>
            <a:r>
              <a:rPr lang="en-US" sz="15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5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11</a:t>
            </a:r>
            <a:r>
              <a:rPr lang="en-US" sz="1500" b="1" i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endParaRPr lang="en-US" sz="15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5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5</a:t>
            </a:r>
            <a:r>
              <a:rPr lang="en-US" sz="1500" b="1" i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r>
              <a:rPr lang="en-US" sz="15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7</a:t>
            </a:r>
            <a:r>
              <a:rPr lang="en-US" sz="1500" b="1" i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n−5</a:t>
            </a:r>
            <a:r>
              <a:rPr lang="en-US" sz="15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11</a:t>
            </a:r>
            <a:endParaRPr lang="en-US" sz="15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50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&gt; 2,  n &gt; 10,  p &gt; 1</a:t>
            </a:r>
            <a:endParaRPr lang="en-US" sz="1500" dirty="0"/>
          </a:p>
        </p:txBody>
      </p:sp>
      <p:sp>
        <p:nvSpPr>
          <p:cNvPr id="15" name="anim_2_c"/>
          <p:cNvSpPr/>
          <p:nvPr/>
        </p:nvSpPr>
        <p:spPr>
          <a:xfrm>
            <a:off x="6510528" y="3465576"/>
            <a:ext cx="4818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HCF of A and B as a product of powers of primes.</a:t>
            </a:r>
            <a:endParaRPr lang="en-US" sz="1250" dirty="0"/>
          </a:p>
        </p:txBody>
      </p:sp>
      <p:sp>
        <p:nvSpPr>
          <p:cNvPr id="16" name="anim_3_c"/>
          <p:cNvSpPr/>
          <p:nvPr/>
        </p:nvSpPr>
        <p:spPr>
          <a:xfrm>
            <a:off x="548640" y="4251960"/>
            <a:ext cx="11091672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anim_3_c"/>
          <p:cNvSpPr/>
          <p:nvPr/>
        </p:nvSpPr>
        <p:spPr>
          <a:xfrm>
            <a:off x="822960" y="4507992"/>
            <a:ext cx="566928" cy="566928"/>
          </a:xfrm>
          <a:prstGeom prst="ellipse">
            <a:avLst/>
          </a:prstGeom>
          <a:solidFill>
            <a:srgbClr val="C84F2F"/>
          </a:solidFill>
          <a:ln/>
          <a:effectLst>
            <a:outerShdw blurRad="63500" dist="127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anim_3_c"/>
          <p:cNvSpPr/>
          <p:nvPr/>
        </p:nvSpPr>
        <p:spPr>
          <a:xfrm>
            <a:off x="822960" y="45079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19" name="anim_3_c"/>
          <p:cNvSpPr/>
          <p:nvPr/>
        </p:nvSpPr>
        <p:spPr>
          <a:xfrm>
            <a:off x="1536192" y="4489704"/>
            <a:ext cx="98115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4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3</a:t>
            </a:r>
            <a:r>
              <a:rPr lang="en-US" sz="145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4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5 × 7</a:t>
            </a:r>
            <a:r>
              <a:rPr lang="en-US" sz="145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B = 2</a:t>
            </a:r>
            <a:r>
              <a:rPr lang="en-US" sz="145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3 × 7</a:t>
            </a:r>
            <a:r>
              <a:rPr lang="en-US" sz="145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C = 2</a:t>
            </a:r>
            <a:r>
              <a:rPr lang="en-US" sz="1450" b="1" i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5</a:t>
            </a:r>
            <a:r>
              <a:rPr lang="en-US" sz="1450" b="1" i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14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7</a:t>
            </a:r>
            <a:r>
              <a:rPr lang="en-US" sz="1450" b="1" i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endParaRPr lang="en-US" sz="14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45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HCF of B and C = 2</a:t>
            </a:r>
            <a:r>
              <a:rPr lang="en-US" sz="1450" i="1" baseline="30000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45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7      LCM of A and C = 2</a:t>
            </a:r>
            <a:r>
              <a:rPr lang="en-US" sz="1450" i="1" baseline="30000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r>
              <a:rPr lang="en-US" sz="145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3</a:t>
            </a:r>
            <a:r>
              <a:rPr lang="en-US" sz="1450" i="1" baseline="30000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45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5</a:t>
            </a:r>
            <a:r>
              <a:rPr lang="en-US" sz="1450" i="1" baseline="30000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450" i="1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7</a:t>
            </a:r>
            <a:r>
              <a:rPr lang="en-US" sz="1450" i="1" baseline="30000" dirty="0">
                <a:solidFill>
                  <a:srgbClr val="6A72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50" dirty="0"/>
          </a:p>
        </p:txBody>
      </p:sp>
      <p:sp>
        <p:nvSpPr>
          <p:cNvPr id="20" name="anim_3_c"/>
          <p:cNvSpPr/>
          <p:nvPr/>
        </p:nvSpPr>
        <p:spPr>
          <a:xfrm>
            <a:off x="859536" y="5568696"/>
            <a:ext cx="10469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value of p, the value of q and the value of r.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EDEXCEL IGCSE · HIGHER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 Practice — Set 3</a:t>
            </a:r>
            <a:endParaRPr lang="en-US" sz="2700" dirty="0"/>
          </a:p>
        </p:txBody>
      </p:sp>
      <p:sp>
        <p:nvSpPr>
          <p:cNvPr id="6" name="anim_1_a"/>
          <p:cNvSpPr/>
          <p:nvPr/>
        </p:nvSpPr>
        <p:spPr>
          <a:xfrm>
            <a:off x="548640" y="1645920"/>
            <a:ext cx="11091672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22960" y="1901952"/>
            <a:ext cx="566928" cy="566928"/>
          </a:xfrm>
          <a:prstGeom prst="ellipse">
            <a:avLst/>
          </a:prstGeom>
          <a:solidFill>
            <a:srgbClr val="C84F2F"/>
          </a:solidFill>
          <a:ln/>
          <a:effectLst>
            <a:outerShdw blurRad="63500" dist="127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anim_1_a"/>
          <p:cNvSpPr/>
          <p:nvPr/>
        </p:nvSpPr>
        <p:spPr>
          <a:xfrm>
            <a:off x="822960" y="19019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800" dirty="0"/>
          </a:p>
        </p:txBody>
      </p:sp>
      <p:sp>
        <p:nvSpPr>
          <p:cNvPr id="9" name="anim_1_a"/>
          <p:cNvSpPr/>
          <p:nvPr/>
        </p:nvSpPr>
        <p:spPr>
          <a:xfrm>
            <a:off x="1536192" y="1883664"/>
            <a:ext cx="98115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= 2</a:t>
            </a:r>
            <a:r>
              <a:rPr lang="en-US" sz="17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7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3</a:t>
            </a:r>
            <a:r>
              <a:rPr lang="en-US" sz="1700" b="1" i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r>
              <a:rPr lang="en-US" sz="17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B = 2</a:t>
            </a:r>
            <a:r>
              <a:rPr lang="en-US" sz="1700" b="1" i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r>
              <a:rPr lang="en-US" sz="17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3</a:t>
            </a:r>
            <a:r>
              <a:rPr lang="en-US" sz="170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7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</a:t>
            </a:r>
            <a:endParaRPr lang="en-US" sz="170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7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HCF of A and B is 12.</a:t>
            </a:r>
            <a:endParaRPr lang="en-US" sz="1700" dirty="0"/>
          </a:p>
        </p:txBody>
      </p:sp>
      <p:sp>
        <p:nvSpPr>
          <p:cNvPr id="10" name="anim_1_a"/>
          <p:cNvSpPr/>
          <p:nvPr/>
        </p:nvSpPr>
        <p:spPr>
          <a:xfrm>
            <a:off x="859536" y="3236976"/>
            <a:ext cx="10469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value of x and the value of y.</a:t>
            </a:r>
            <a:endParaRPr lang="en-US" sz="1250" dirty="0"/>
          </a:p>
        </p:txBody>
      </p:sp>
      <p:sp>
        <p:nvSpPr>
          <p:cNvPr id="11" name="anim_2_c"/>
          <p:cNvSpPr/>
          <p:nvPr/>
        </p:nvSpPr>
        <p:spPr>
          <a:xfrm>
            <a:off x="548640" y="4069080"/>
            <a:ext cx="11091672" cy="2057400"/>
          </a:xfrm>
          <a:prstGeom prst="roundRect">
            <a:avLst>
              <a:gd name="adj" fmla="val 4444"/>
            </a:avLst>
          </a:prstGeom>
          <a:solidFill>
            <a:srgbClr val="EEF1E8"/>
          </a:solidFill>
          <a:ln/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anim_2_c"/>
          <p:cNvSpPr/>
          <p:nvPr/>
        </p:nvSpPr>
        <p:spPr>
          <a:xfrm>
            <a:off x="868680" y="42428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200" dirty="0"/>
          </a:p>
        </p:txBody>
      </p:sp>
      <p:sp>
        <p:nvSpPr>
          <p:cNvPr id="13" name="anim_2_c"/>
          <p:cNvSpPr/>
          <p:nvPr/>
        </p:nvSpPr>
        <p:spPr>
          <a:xfrm>
            <a:off x="868680" y="455371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powers of each prime with HCF = 12 = </a:t>
            </a:r>
            <a:r>
              <a:rPr lang="en-US" sz="15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500" b="1" baseline="30000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r>
              <a:rPr lang="en-US" sz="15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× 3</a:t>
            </a:r>
            <a:r>
              <a:rPr lang="en-US" sz="14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:</a:t>
            </a:r>
            <a:endParaRPr lang="en-US" sz="1450" dirty="0"/>
          </a:p>
        </p:txBody>
      </p:sp>
      <p:sp>
        <p:nvSpPr>
          <p:cNvPr id="14" name="anim_3_c"/>
          <p:cNvSpPr/>
          <p:nvPr/>
        </p:nvSpPr>
        <p:spPr>
          <a:xfrm>
            <a:off x="868680" y="50292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of 2:  min(3, y) = 2  ⇒  </a:t>
            </a: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 = 2</a:t>
            </a:r>
            <a:r>
              <a:rPr lang="en-US" sz="150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power of 3:  min(x, 2) = 1  ⇒  </a:t>
            </a:r>
            <a:r>
              <a:rPr lang="en-US" sz="1600" b="1" dirty="0">
                <a:solidFill>
                  <a:srgbClr val="C84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1</a:t>
            </a:r>
            <a:endParaRPr lang="en-US" sz="1500" dirty="0"/>
          </a:p>
        </p:txBody>
      </p:sp>
      <p:sp>
        <p:nvSpPr>
          <p:cNvPr id="15" name="anim_3_c"/>
          <p:cNvSpPr/>
          <p:nvPr/>
        </p:nvSpPr>
        <p:spPr>
          <a:xfrm>
            <a:off x="868680" y="5532120"/>
            <a:ext cx="4206240" cy="457200"/>
          </a:xfrm>
          <a:prstGeom prst="roundRect">
            <a:avLst>
              <a:gd name="adj" fmla="val 24000"/>
            </a:avLst>
          </a:prstGeom>
          <a:solidFill>
            <a:srgbClr val="16261F"/>
          </a:solidFill>
          <a:ln/>
          <a:effectLst>
            <a:outerShdw blurRad="101600" dist="381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anim_3_c"/>
          <p:cNvSpPr/>
          <p:nvPr/>
        </p:nvSpPr>
        <p:spPr>
          <a:xfrm>
            <a:off x="1051560" y="553212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 = 1,   y = 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20624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548640" y="40233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1920" dirty="0"/>
          </a:p>
        </p:txBody>
      </p:sp>
      <p:sp>
        <p:nvSpPr>
          <p:cNvPr id="4" name="Text 2"/>
          <p:cNvSpPr/>
          <p:nvPr/>
        </p:nvSpPr>
        <p:spPr>
          <a:xfrm>
            <a:off x="1243584" y="420624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kern="0" spc="200" dirty="0">
                <a:solidFill>
                  <a:srgbClr val="C84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EDEXCEL IGCSE · HIGHER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1225296" y="658368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626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 Practice — Set 4 · Applying HCF &amp; LCM</a:t>
            </a:r>
            <a:endParaRPr lang="en-US" sz="2700" dirty="0"/>
          </a:p>
        </p:txBody>
      </p:sp>
      <p:sp>
        <p:nvSpPr>
          <p:cNvPr id="6" name="anim_1_a"/>
          <p:cNvSpPr/>
          <p:nvPr/>
        </p:nvSpPr>
        <p:spPr>
          <a:xfrm>
            <a:off x="548640" y="160020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anim_1_a"/>
          <p:cNvSpPr/>
          <p:nvPr/>
        </p:nvSpPr>
        <p:spPr>
          <a:xfrm>
            <a:off x="822960" y="1856232"/>
            <a:ext cx="566928" cy="566928"/>
          </a:xfrm>
          <a:prstGeom prst="ellipse">
            <a:avLst/>
          </a:prstGeom>
          <a:solidFill>
            <a:srgbClr val="C84F2F"/>
          </a:solidFill>
          <a:ln/>
          <a:effectLst>
            <a:outerShdw blurRad="63500" dist="127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anim_1_a"/>
          <p:cNvSpPr/>
          <p:nvPr/>
        </p:nvSpPr>
        <p:spPr>
          <a:xfrm>
            <a:off x="822960" y="1856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9" name="anim_1_a"/>
          <p:cNvSpPr/>
          <p:nvPr/>
        </p:nvSpPr>
        <p:spPr>
          <a:xfrm>
            <a:off x="1536192" y="1837944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168 = 2</a:t>
            </a:r>
            <a:r>
              <a:rPr lang="en-US" sz="1550" b="1" baseline="3000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15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3 × 7</a:t>
            </a:r>
            <a:endParaRPr lang="en-US" sz="15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550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is a positive integer.</a:t>
            </a:r>
            <a:endParaRPr lang="en-US" sz="1550" dirty="0"/>
          </a:p>
        </p:txBody>
      </p:sp>
      <p:sp>
        <p:nvSpPr>
          <p:cNvPr id="10" name="anim_1_a"/>
          <p:cNvSpPr/>
          <p:nvPr/>
        </p:nvSpPr>
        <p:spPr>
          <a:xfrm>
            <a:off x="859536" y="3054096"/>
            <a:ext cx="4818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smallest n such that 168n is a square number.</a:t>
            </a:r>
            <a:endParaRPr lang="en-US" sz="1250" dirty="0"/>
          </a:p>
        </p:txBody>
      </p:sp>
      <p:sp>
        <p:nvSpPr>
          <p:cNvPr id="11" name="anim_2_c"/>
          <p:cNvSpPr/>
          <p:nvPr/>
        </p:nvSpPr>
        <p:spPr>
          <a:xfrm>
            <a:off x="6199632" y="1600200"/>
            <a:ext cx="5440680" cy="20574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anim_2_c"/>
          <p:cNvSpPr/>
          <p:nvPr/>
        </p:nvSpPr>
        <p:spPr>
          <a:xfrm>
            <a:off x="6473952" y="1856232"/>
            <a:ext cx="566928" cy="566928"/>
          </a:xfrm>
          <a:prstGeom prst="ellipse">
            <a:avLst/>
          </a:prstGeom>
          <a:solidFill>
            <a:srgbClr val="C84F2F"/>
          </a:solidFill>
          <a:ln/>
          <a:effectLst>
            <a:outerShdw blurRad="63500" dist="127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anim_2_c"/>
          <p:cNvSpPr/>
          <p:nvPr/>
        </p:nvSpPr>
        <p:spPr>
          <a:xfrm>
            <a:off x="6473952" y="1856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800" dirty="0"/>
          </a:p>
        </p:txBody>
      </p:sp>
      <p:sp>
        <p:nvSpPr>
          <p:cNvPr id="14" name="anim_2_c"/>
          <p:cNvSpPr/>
          <p:nvPr/>
        </p:nvSpPr>
        <p:spPr>
          <a:xfrm>
            <a:off x="7187184" y="1837944"/>
            <a:ext cx="4160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numbers have HCF 8 and LCM 240.</a:t>
            </a:r>
            <a:endParaRPr lang="en-US" sz="15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numbers is 48.</a:t>
            </a:r>
            <a:endParaRPr lang="en-US" sz="1550" dirty="0"/>
          </a:p>
        </p:txBody>
      </p:sp>
      <p:sp>
        <p:nvSpPr>
          <p:cNvPr id="15" name="anim_2_c"/>
          <p:cNvSpPr/>
          <p:nvPr/>
        </p:nvSpPr>
        <p:spPr>
          <a:xfrm>
            <a:off x="6510528" y="3054096"/>
            <a:ext cx="4818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other number.</a:t>
            </a:r>
            <a:endParaRPr lang="en-US" sz="1250" dirty="0"/>
          </a:p>
        </p:txBody>
      </p:sp>
      <p:sp>
        <p:nvSpPr>
          <p:cNvPr id="16" name="anim_3_c"/>
          <p:cNvSpPr/>
          <p:nvPr/>
        </p:nvSpPr>
        <p:spPr>
          <a:xfrm>
            <a:off x="548640" y="384048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7" name="anim_3_c"/>
          <p:cNvSpPr/>
          <p:nvPr/>
        </p:nvSpPr>
        <p:spPr>
          <a:xfrm>
            <a:off x="822960" y="4096512"/>
            <a:ext cx="566928" cy="566928"/>
          </a:xfrm>
          <a:prstGeom prst="ellipse">
            <a:avLst/>
          </a:prstGeom>
          <a:solidFill>
            <a:srgbClr val="C84F2F"/>
          </a:solidFill>
          <a:ln/>
          <a:effectLst>
            <a:outerShdw blurRad="63500" dist="127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8" name="anim_3_c"/>
          <p:cNvSpPr/>
          <p:nvPr/>
        </p:nvSpPr>
        <p:spPr>
          <a:xfrm>
            <a:off x="822960" y="40965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19" name="anim_3_c"/>
          <p:cNvSpPr/>
          <p:nvPr/>
        </p:nvSpPr>
        <p:spPr>
          <a:xfrm>
            <a:off x="1536192" y="4078224"/>
            <a:ext cx="4160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A flashes every 20 seconds.</a:t>
            </a:r>
            <a:endParaRPr lang="en-US" sz="15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 B flashes every 30 seconds.</a:t>
            </a:r>
            <a:endParaRPr lang="en-US" sz="15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flash together now.</a:t>
            </a:r>
            <a:endParaRPr lang="en-US" sz="1550" dirty="0"/>
          </a:p>
        </p:txBody>
      </p:sp>
      <p:sp>
        <p:nvSpPr>
          <p:cNvPr id="20" name="anim_3_c"/>
          <p:cNvSpPr/>
          <p:nvPr/>
        </p:nvSpPr>
        <p:spPr>
          <a:xfrm>
            <a:off x="859536" y="5568696"/>
            <a:ext cx="4818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how many seconds do they next flash together?</a:t>
            </a:r>
            <a:endParaRPr lang="en-US" sz="1250" dirty="0"/>
          </a:p>
        </p:txBody>
      </p:sp>
      <p:sp>
        <p:nvSpPr>
          <p:cNvPr id="21" name="anim_4_c"/>
          <p:cNvSpPr/>
          <p:nvPr/>
        </p:nvSpPr>
        <p:spPr>
          <a:xfrm>
            <a:off x="6199632" y="3840480"/>
            <a:ext cx="544068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D9D6C6"/>
            </a:solidFill>
            <a:prstDash val="solid"/>
          </a:ln>
          <a:effectLst>
            <a:outerShdw blurRad="1143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anim_4_c"/>
          <p:cNvSpPr/>
          <p:nvPr/>
        </p:nvSpPr>
        <p:spPr>
          <a:xfrm>
            <a:off x="6473952" y="4096512"/>
            <a:ext cx="566928" cy="566928"/>
          </a:xfrm>
          <a:prstGeom prst="ellipse">
            <a:avLst/>
          </a:prstGeom>
          <a:solidFill>
            <a:srgbClr val="C84F2F"/>
          </a:solidFill>
          <a:ln/>
          <a:effectLst>
            <a:outerShdw blurRad="63500" dist="127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anim_4_c"/>
          <p:cNvSpPr/>
          <p:nvPr/>
        </p:nvSpPr>
        <p:spPr>
          <a:xfrm>
            <a:off x="6473952" y="40965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800" dirty="0"/>
          </a:p>
        </p:txBody>
      </p:sp>
      <p:sp>
        <p:nvSpPr>
          <p:cNvPr id="24" name="anim_4_c"/>
          <p:cNvSpPr/>
          <p:nvPr/>
        </p:nvSpPr>
        <p:spPr>
          <a:xfrm>
            <a:off x="7187184" y="4078224"/>
            <a:ext cx="4160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ribbons measure 24 cm and 40 cm.</a:t>
            </a:r>
            <a:endParaRPr lang="en-US" sz="15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is cut into equal whole-cm pieces</a:t>
            </a:r>
            <a:endParaRPr lang="en-US" sz="1550" dirty="0"/>
          </a:p>
          <a:p>
            <a:pPr marL="0" indent="0">
              <a:lnSpc>
                <a:spcPct val="118000"/>
              </a:lnSpc>
              <a:buNone/>
            </a:pPr>
            <a:r>
              <a:rPr lang="en-US" sz="1550" b="1" dirty="0">
                <a:solidFill>
                  <a:srgbClr val="2433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none left over.</a:t>
            </a:r>
            <a:endParaRPr lang="en-US" sz="1550" dirty="0"/>
          </a:p>
        </p:txBody>
      </p:sp>
      <p:sp>
        <p:nvSpPr>
          <p:cNvPr id="25" name="anim_4_c"/>
          <p:cNvSpPr/>
          <p:nvPr/>
        </p:nvSpPr>
        <p:spPr>
          <a:xfrm>
            <a:off x="6510528" y="5568696"/>
            <a:ext cx="48188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greatest possible length of each piece.</a:t>
            </a:r>
            <a:endParaRPr lang="en-US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84080" y="274320"/>
            <a:ext cx="2743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0" b="1" dirty="0">
                <a:solidFill>
                  <a:srgbClr val="2837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</a:t>
            </a:r>
            <a:endParaRPr lang="en-US" sz="13000" dirty="0"/>
          </a:p>
        </p:txBody>
      </p:sp>
      <p:sp>
        <p:nvSpPr>
          <p:cNvPr id="3" name="Shape 1"/>
          <p:cNvSpPr/>
          <p:nvPr/>
        </p:nvSpPr>
        <p:spPr>
          <a:xfrm>
            <a:off x="731520" y="640080"/>
            <a:ext cx="640080" cy="640080"/>
          </a:xfrm>
          <a:prstGeom prst="roundRect">
            <a:avLst>
              <a:gd name="adj" fmla="val 22000"/>
            </a:avLst>
          </a:prstGeom>
          <a:solidFill>
            <a:srgbClr val="E8623D"/>
          </a:solidFill>
          <a:ln/>
          <a:effectLst>
            <a:outerShdw blurRad="88900" dist="25400" dir="5400000" algn="bl" rotWithShape="0">
              <a:srgbClr val="000000">
                <a:alpha val="2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31520" y="62179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Zπ</a:t>
            </a:r>
            <a:endParaRPr lang="en-US" sz="2240" dirty="0"/>
          </a:p>
        </p:txBody>
      </p:sp>
      <p:sp>
        <p:nvSpPr>
          <p:cNvPr id="5" name="Text 3"/>
          <p:cNvSpPr/>
          <p:nvPr/>
        </p:nvSpPr>
        <p:spPr>
          <a:xfrm>
            <a:off x="1517904" y="67665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50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Zπ MATHS HUB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298448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0A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Resources &amp; Reflection</a:t>
            </a:r>
            <a:endParaRPr lang="en-US" sz="3400" dirty="0"/>
          </a:p>
        </p:txBody>
      </p:sp>
      <p:sp>
        <p:nvSpPr>
          <p:cNvPr id="7" name="anim_1_a"/>
          <p:cNvSpPr/>
          <p:nvPr/>
        </p:nvSpPr>
        <p:spPr>
          <a:xfrm>
            <a:off x="731520" y="21488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283731"/>
          </a:solidFill>
          <a:ln/>
          <a:effectLst>
            <a:outerShdw blurRad="152400" dist="50800" dir="5400000" algn="bl" rotWithShape="0">
              <a:srgbClr val="000000">
                <a:alpha val="30000"/>
              </a:srgbClr>
            </a:outerShdw>
          </a:effectLst>
        </p:spPr>
      </p:sp>
      <p:sp>
        <p:nvSpPr>
          <p:cNvPr id="8" name="anim_1_a"/>
          <p:cNvSpPr/>
          <p:nvPr/>
        </p:nvSpPr>
        <p:spPr>
          <a:xfrm>
            <a:off x="987552" y="2386584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E8623D"/>
          </a:solidFill>
          <a:ln/>
        </p:spPr>
      </p:sp>
      <p:sp>
        <p:nvSpPr>
          <p:cNvPr id="9" name="anim_1_a"/>
          <p:cNvSpPr/>
          <p:nvPr/>
        </p:nvSpPr>
        <p:spPr>
          <a:xfrm>
            <a:off x="987552" y="23865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PLENARY</a:t>
            </a:r>
            <a:endParaRPr lang="en-US" sz="1050" dirty="0"/>
          </a:p>
        </p:txBody>
      </p:sp>
      <p:sp>
        <p:nvSpPr>
          <p:cNvPr id="10" name="anim_1_a"/>
          <p:cNvSpPr/>
          <p:nvPr/>
        </p:nvSpPr>
        <p:spPr>
          <a:xfrm>
            <a:off x="1005840" y="280720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Transum — HCF &amp; LCM starter</a:t>
            </a:r>
            <a:endParaRPr lang="en-US" sz="1500" dirty="0"/>
          </a:p>
        </p:txBody>
      </p:sp>
      <p:sp>
        <p:nvSpPr>
          <p:cNvPr id="11" name="anim_1_a">
            <a:hlinkClick r:id="rId4"/>
          </p:cNvPr>
          <p:cNvSpPr/>
          <p:nvPr/>
        </p:nvSpPr>
        <p:spPr>
          <a:xfrm>
            <a:off x="1005840" y="317296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u="sng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transum.org/software/SW/Starter_of_the_day/Students/HCF_LCM.asp</a:t>
            </a:r>
            <a:endParaRPr lang="en-US" sz="1050" dirty="0"/>
          </a:p>
        </p:txBody>
      </p:sp>
      <p:sp>
        <p:nvSpPr>
          <p:cNvPr id="12" name="anim_1_a"/>
          <p:cNvSpPr/>
          <p:nvPr/>
        </p:nvSpPr>
        <p:spPr>
          <a:xfrm>
            <a:off x="6355080" y="2148840"/>
            <a:ext cx="5120640" cy="1600200"/>
          </a:xfrm>
          <a:prstGeom prst="roundRect">
            <a:avLst>
              <a:gd name="adj" fmla="val 6857"/>
            </a:avLst>
          </a:prstGeom>
          <a:solidFill>
            <a:srgbClr val="283731"/>
          </a:solidFill>
          <a:ln/>
          <a:effectLst>
            <a:outerShdw blurRad="152400" dist="50800" dir="54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3" name="anim_1_a"/>
          <p:cNvSpPr/>
          <p:nvPr/>
        </p:nvSpPr>
        <p:spPr>
          <a:xfrm>
            <a:off x="6611112" y="2386584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E8623D"/>
          </a:solidFill>
          <a:ln/>
        </p:spPr>
      </p:sp>
      <p:sp>
        <p:nvSpPr>
          <p:cNvPr id="14" name="anim_1_a"/>
          <p:cNvSpPr/>
          <p:nvPr/>
        </p:nvSpPr>
        <p:spPr>
          <a:xfrm>
            <a:off x="6611112" y="23865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</a:t>
            </a:r>
            <a:endParaRPr lang="en-US" sz="1050" dirty="0"/>
          </a:p>
        </p:txBody>
      </p:sp>
      <p:sp>
        <p:nvSpPr>
          <p:cNvPr id="15" name="anim_1_a"/>
          <p:cNvSpPr/>
          <p:nvPr/>
        </p:nvSpPr>
        <p:spPr>
          <a:xfrm>
            <a:off x="6629400" y="280720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Wordwall — Product of primes</a:t>
            </a:r>
            <a:endParaRPr lang="en-US" sz="1500" dirty="0"/>
          </a:p>
        </p:txBody>
      </p:sp>
      <p:sp>
        <p:nvSpPr>
          <p:cNvPr id="16" name="anim_1_a">
            <a:hlinkClick r:id="rId5"/>
          </p:cNvPr>
          <p:cNvSpPr/>
          <p:nvPr/>
        </p:nvSpPr>
        <p:spPr>
          <a:xfrm>
            <a:off x="6629400" y="317296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u="sng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wordwall.net/resource/98053136/product-of-primes-hcf-and-lcm</a:t>
            </a:r>
            <a:endParaRPr lang="en-US" sz="1050" dirty="0"/>
          </a:p>
        </p:txBody>
      </p:sp>
      <p:sp>
        <p:nvSpPr>
          <p:cNvPr id="17" name="anim_2_a"/>
          <p:cNvSpPr/>
          <p:nvPr/>
        </p:nvSpPr>
        <p:spPr>
          <a:xfrm>
            <a:off x="731520" y="38862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83731"/>
          </a:solidFill>
          <a:ln/>
          <a:effectLst>
            <a:outerShdw blurRad="152400" dist="50800" dir="5400000" algn="bl" rotWithShape="0">
              <a:srgbClr val="000000">
                <a:alpha val="30000"/>
              </a:srgbClr>
            </a:outerShdw>
          </a:effectLst>
        </p:spPr>
      </p:sp>
      <p:sp>
        <p:nvSpPr>
          <p:cNvPr id="18" name="anim_2_a"/>
          <p:cNvSpPr/>
          <p:nvPr/>
        </p:nvSpPr>
        <p:spPr>
          <a:xfrm>
            <a:off x="987552" y="4123944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E8623D"/>
          </a:solidFill>
          <a:ln/>
        </p:spPr>
      </p:sp>
      <p:sp>
        <p:nvSpPr>
          <p:cNvPr id="19" name="anim_2_a"/>
          <p:cNvSpPr/>
          <p:nvPr/>
        </p:nvSpPr>
        <p:spPr>
          <a:xfrm>
            <a:off x="987552" y="41239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PAPERS</a:t>
            </a:r>
            <a:endParaRPr lang="en-US" sz="1050" dirty="0"/>
          </a:p>
        </p:txBody>
      </p:sp>
      <p:sp>
        <p:nvSpPr>
          <p:cNvPr id="20" name="anim_2_a"/>
          <p:cNvSpPr/>
          <p:nvPr/>
        </p:nvSpPr>
        <p:spPr>
          <a:xfrm>
            <a:off x="1005840" y="45445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 &amp; Maths Tutor</a:t>
            </a:r>
            <a:endParaRPr lang="en-US" sz="1500" dirty="0"/>
          </a:p>
        </p:txBody>
      </p:sp>
      <p:sp>
        <p:nvSpPr>
          <p:cNvPr id="21" name="anim_2_a">
            <a:hlinkClick r:id="rId6"/>
          </p:cNvPr>
          <p:cNvSpPr/>
          <p:nvPr/>
        </p:nvSpPr>
        <p:spPr>
          <a:xfrm>
            <a:off x="1005840" y="491032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u="sng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pmt.physicsandmathstutor.com — HCF and LCM (QP)</a:t>
            </a:r>
            <a:endParaRPr lang="en-US" sz="1050" dirty="0"/>
          </a:p>
        </p:txBody>
      </p:sp>
      <p:sp>
        <p:nvSpPr>
          <p:cNvPr id="22" name="anim_2_a"/>
          <p:cNvSpPr/>
          <p:nvPr/>
        </p:nvSpPr>
        <p:spPr>
          <a:xfrm>
            <a:off x="6355080" y="3886200"/>
            <a:ext cx="5120640" cy="1554480"/>
          </a:xfrm>
          <a:prstGeom prst="roundRect">
            <a:avLst>
              <a:gd name="adj" fmla="val 7059"/>
            </a:avLst>
          </a:prstGeom>
          <a:solidFill>
            <a:srgbClr val="283731"/>
          </a:solidFill>
          <a:ln/>
          <a:effectLst>
            <a:outerShdw blurRad="152400" dist="50800" dir="5400000" algn="bl" rotWithShape="0">
              <a:srgbClr val="000000">
                <a:alpha val="30000"/>
              </a:srgbClr>
            </a:outerShdw>
          </a:effectLst>
        </p:spPr>
      </p:sp>
      <p:sp>
        <p:nvSpPr>
          <p:cNvPr id="23" name="anim_2_a"/>
          <p:cNvSpPr/>
          <p:nvPr/>
        </p:nvSpPr>
        <p:spPr>
          <a:xfrm>
            <a:off x="6611112" y="4123944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E8623D"/>
          </a:solidFill>
          <a:ln/>
        </p:spPr>
      </p:sp>
      <p:sp>
        <p:nvSpPr>
          <p:cNvPr id="24" name="anim_2_a"/>
          <p:cNvSpPr/>
          <p:nvPr/>
        </p:nvSpPr>
        <p:spPr>
          <a:xfrm>
            <a:off x="6611112" y="412394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kern="0" spc="12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PAPERS</a:t>
            </a:r>
            <a:endParaRPr lang="en-US" sz="1050" dirty="0"/>
          </a:p>
        </p:txBody>
      </p:sp>
      <p:sp>
        <p:nvSpPr>
          <p:cNvPr id="25" name="anim_2_a"/>
          <p:cNvSpPr/>
          <p:nvPr/>
        </p:nvSpPr>
        <p:spPr>
          <a:xfrm>
            <a:off x="6629400" y="454456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Maths Genie</a:t>
            </a:r>
            <a:endParaRPr lang="en-US" sz="1500" dirty="0"/>
          </a:p>
        </p:txBody>
      </p:sp>
      <p:sp>
        <p:nvSpPr>
          <p:cNvPr id="26" name="anim_2_a">
            <a:hlinkClick r:id="rId7"/>
          </p:cNvPr>
          <p:cNvSpPr/>
          <p:nvPr/>
        </p:nvSpPr>
        <p:spPr>
          <a:xfrm>
            <a:off x="6629400" y="491032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u="sng" dirty="0">
                <a:solidFill>
                  <a:srgbClr val="E0AC2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mathsgenie.co.uk/resources/4-HCF-and-LCM.pdf</a:t>
            </a:r>
            <a:endParaRPr lang="en-US" sz="1050" dirty="0"/>
          </a:p>
        </p:txBody>
      </p:sp>
      <p:sp>
        <p:nvSpPr>
          <p:cNvPr id="27" name="anim_3_a"/>
          <p:cNvSpPr/>
          <p:nvPr/>
        </p:nvSpPr>
        <p:spPr>
          <a:xfrm>
            <a:off x="731520" y="55961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100" dirty="0">
                <a:solidFill>
                  <a:srgbClr val="EDE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&amp; REFLECT — how do you feel about today's lesson?</a:t>
            </a:r>
            <a:endParaRPr lang="en-US" sz="1250" dirty="0"/>
          </a:p>
        </p:txBody>
      </p:sp>
      <p:sp>
        <p:nvSpPr>
          <p:cNvPr id="28" name="anim_3_a"/>
          <p:cNvSpPr/>
          <p:nvPr/>
        </p:nvSpPr>
        <p:spPr>
          <a:xfrm>
            <a:off x="731520" y="5943600"/>
            <a:ext cx="3456432" cy="566928"/>
          </a:xfrm>
          <a:prstGeom prst="roundRect">
            <a:avLst>
              <a:gd name="adj" fmla="val 48387"/>
            </a:avLst>
          </a:prstGeom>
          <a:solidFill>
            <a:srgbClr val="C84F2F"/>
          </a:solidFill>
          <a:ln/>
        </p:spPr>
      </p:sp>
      <p:sp>
        <p:nvSpPr>
          <p:cNvPr id="29" name="anim_3_a"/>
          <p:cNvSpPr/>
          <p:nvPr/>
        </p:nvSpPr>
        <p:spPr>
          <a:xfrm>
            <a:off x="731520" y="5943600"/>
            <a:ext cx="3456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don't understand yet</a:t>
            </a:r>
            <a:endParaRPr lang="en-US" sz="1300" dirty="0"/>
          </a:p>
        </p:txBody>
      </p:sp>
      <p:sp>
        <p:nvSpPr>
          <p:cNvPr id="30" name="anim_3_a"/>
          <p:cNvSpPr/>
          <p:nvPr/>
        </p:nvSpPr>
        <p:spPr>
          <a:xfrm>
            <a:off x="4370832" y="5943600"/>
            <a:ext cx="3456432" cy="566928"/>
          </a:xfrm>
          <a:prstGeom prst="roundRect">
            <a:avLst>
              <a:gd name="adj" fmla="val 48387"/>
            </a:avLst>
          </a:prstGeom>
          <a:solidFill>
            <a:srgbClr val="E0AC2B"/>
          </a:solidFill>
          <a:ln/>
        </p:spPr>
      </p:sp>
      <p:sp>
        <p:nvSpPr>
          <p:cNvPr id="31" name="anim_3_a"/>
          <p:cNvSpPr/>
          <p:nvPr/>
        </p:nvSpPr>
        <p:spPr>
          <a:xfrm>
            <a:off x="4370832" y="5943600"/>
            <a:ext cx="3456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626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nearly understand</a:t>
            </a:r>
            <a:endParaRPr lang="en-US" sz="1300" dirty="0"/>
          </a:p>
        </p:txBody>
      </p:sp>
      <p:sp>
        <p:nvSpPr>
          <p:cNvPr id="32" name="anim_3_a"/>
          <p:cNvSpPr/>
          <p:nvPr/>
        </p:nvSpPr>
        <p:spPr>
          <a:xfrm>
            <a:off x="8010144" y="5943600"/>
            <a:ext cx="3456432" cy="566928"/>
          </a:xfrm>
          <a:prstGeom prst="roundRect">
            <a:avLst>
              <a:gd name="adj" fmla="val 48387"/>
            </a:avLst>
          </a:prstGeom>
          <a:solidFill>
            <a:srgbClr val="283731"/>
          </a:solidFill>
          <a:ln/>
        </p:spPr>
      </p:sp>
      <p:sp>
        <p:nvSpPr>
          <p:cNvPr id="33" name="anim_3_a"/>
          <p:cNvSpPr/>
          <p:nvPr/>
        </p:nvSpPr>
        <p:spPr>
          <a:xfrm>
            <a:off x="8010144" y="5943600"/>
            <a:ext cx="3456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fully understand</a:t>
            </a:r>
            <a:endParaRPr lang="en-US" sz="13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0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2083</Words>
  <Application>Microsoft Office PowerPoint</Application>
  <PresentationFormat>Custom</PresentationFormat>
  <Paragraphs>414</Paragraphs>
  <Slides>21</Slides>
  <Notes>21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HCF &amp; LCM with Prime Factorisation — Worked Examples</dc:title>
  <dc:subject>PptxGenJS Presentation</dc:subject>
  <dc:creator>Zahra Sheikh Ali</dc:creator>
  <cp:lastModifiedBy>zahraa sheik ali</cp:lastModifiedBy>
  <cp:revision>2</cp:revision>
  <dcterms:created xsi:type="dcterms:W3CDTF">2026-06-27T18:50:11Z</dcterms:created>
  <dcterms:modified xsi:type="dcterms:W3CDTF">2026-06-28T08:05:27Z</dcterms:modified>
</cp:coreProperties>
</file>