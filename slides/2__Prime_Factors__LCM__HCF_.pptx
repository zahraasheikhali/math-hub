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18CEA58-9CF2-4079-877D-21087E7674F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1D586B-EE61-4232-B08A-7F3A62D54C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BE854A-8D1A-4864-ACE1-028D787020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CC37C1-AF71-4100-B1D5-8C3DE3EB0E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63E333-7827-496A-B441-149C044B21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C526A7-2124-45EC-8559-0CD52B9567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18F329-9ECF-46E3-85A6-4C13F3AF3F3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E0DC6A-8C80-415F-A634-298B9D98F3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F4A9B3-FB05-4823-9D4E-5BD95408B4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A36BDD-1B00-4153-B3D0-99C00C3B9C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CEB73F-A174-4053-83A5-D6A86F79AD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1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EABA00-60E7-41A8-8ECD-74DD2A623F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1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0F65E6-AC31-4F91-9C7E-43580EFE74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1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28E66E-6A19-448E-9D7F-C40379FD69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1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E6DF78-1524-4548-AA3B-4B812C1B80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1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C6E7FB-BE06-47B0-A5E2-FC8F531300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1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8D269A-0B97-4660-92C6-D2248BED27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2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CE9331-A10C-42D9-B8B4-4D88D5F5D2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2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6B49C7-F1C4-4A2B-BA80-486922A642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2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27B873-8C5A-4494-A446-A967F09725E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Answers — Q8: powers must be even, n = 2 × 3 × 7 = 42 (168×42 = 84²). Q9: product = HCF×LCM = 8×240 = 1920, other = 1920/48 = 40. Q10: LCM(20,30) = 60 seconds. Q11: HCF(24,40) = 8 cm.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2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3357D6-AFF8-4985-B4EB-BB11376D96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2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99012B-A046-4FA4-A2CC-9D31F893B2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file:///tmp/src58/transum.org/software/SW/Starter_of_the_day/Students/HCF_LCM.asp" TargetMode="External"/><Relationship Id="rId3" Type="http://schemas.openxmlformats.org/officeDocument/2006/relationships/hyperlink" Target="file:///tmp/src58/transum.org/software/SW/Starter_of_the_day/Students/HCF_LCM.asp" TargetMode="External"/><Relationship Id="rId4" Type="http://schemas.openxmlformats.org/officeDocument/2006/relationships/hyperlink" Target="file:///tmp/src58/wordwall.net/resource/98053136/product-of-primes-hcf-and-lcm" TargetMode="External"/><Relationship Id="rId5" Type="http://schemas.openxmlformats.org/officeDocument/2006/relationships/hyperlink" Target="file:///tmp/src58/wordwall.net/resource/98053136/product-of-primes-hcf-and-lcm" TargetMode="External"/><Relationship Id="rId6" Type="http://schemas.openxmlformats.org/officeDocument/2006/relationships/hyperlink" Target="file:///tmp/src58/pmt.physicsandmathstutor.com%20&#8212;%20HCF%20and%20LCM%20(QP)" TargetMode="External"/><Relationship Id="rId7" Type="http://schemas.openxmlformats.org/officeDocument/2006/relationships/hyperlink" Target="file:///tmp/src58/pmt.physicsandmathstutor.com%20&#8212;%20HCF%20and%20LCM%20(QP)" TargetMode="External"/><Relationship Id="rId8" Type="http://schemas.openxmlformats.org/officeDocument/2006/relationships/hyperlink" Target="file:///tmp/src58/mathsgenie.co.uk/resources/4-HCF-and-LCM.pdf" TargetMode="External"/><Relationship Id="rId9" Type="http://schemas.openxmlformats.org/officeDocument/2006/relationships/hyperlink" Target="file:///tmp/src58/mathsgenie.co.uk/resources/4-HCF-and-LCM.pdf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8229600" y="548640"/>
            <a:ext cx="29257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0" spc="-1" strike="noStrike">
                <a:solidFill>
                  <a:srgbClr val="283731"/>
                </a:solidFill>
                <a:latin typeface="Cambria"/>
                <a:ea typeface="Cambria"/>
              </a:rPr>
              <a:t>π</a:t>
            </a:r>
            <a:endParaRPr b="0" lang="en-US" sz="1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9509760" y="2194560"/>
            <a:ext cx="2742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0" spc="-1" strike="noStrike">
                <a:solidFill>
                  <a:srgbClr val="283731"/>
                </a:solidFill>
                <a:latin typeface="Cambria"/>
                <a:ea typeface="Cambria"/>
              </a:rPr>
              <a:t>Σ</a:t>
            </a:r>
            <a:endParaRPr b="0" lang="en-US" sz="1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0424160" y="822960"/>
            <a:ext cx="201132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0" spc="-1" strike="noStrike">
                <a:solidFill>
                  <a:srgbClr val="283731"/>
                </a:solidFill>
                <a:latin typeface="Cambria"/>
                <a:ea typeface="Cambria"/>
              </a:rPr>
              <a:t>∫</a:t>
            </a:r>
            <a:endParaRPr b="0" lang="en-US" sz="1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31520" y="640080"/>
            <a:ext cx="712800" cy="71280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31520" y="6217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4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627560" y="676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8" strike="noStrike">
                <a:solidFill>
                  <a:srgbClr val="e0ac2b"/>
                </a:solidFill>
                <a:latin typeface="Calibri"/>
                <a:ea typeface="Calibri"/>
              </a:rPr>
              <a:t>Zπ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627560" y="951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bdd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anim_1_a"/>
          <p:cNvSpPr/>
          <p:nvPr/>
        </p:nvSpPr>
        <p:spPr>
          <a:xfrm>
            <a:off x="731520" y="18288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0" spc="-1" strike="noStrike">
                <a:solidFill>
                  <a:srgbClr val="e0ac2b"/>
                </a:solidFill>
                <a:latin typeface="Cambria"/>
                <a:ea typeface="Cambria"/>
              </a:rPr>
              <a:t>HCF &amp; LCM</a:t>
            </a:r>
            <a:endParaRPr b="0" lang="en-US" sz="6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anim_2_a"/>
          <p:cNvSpPr/>
          <p:nvPr/>
        </p:nvSpPr>
        <p:spPr>
          <a:xfrm>
            <a:off x="758880" y="29718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Prime Factorisation · a complete lesson with worked examples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anim_3_a"/>
          <p:cNvSpPr/>
          <p:nvPr/>
        </p:nvSpPr>
        <p:spPr>
          <a:xfrm>
            <a:off x="758880" y="3493080"/>
            <a:ext cx="10515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Primes  ·  Factor Trees  ·  Writing in Prime Form  ·  HCF  ·  LCM  ·  Exam Practice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anim_4_a"/>
          <p:cNvSpPr/>
          <p:nvPr/>
        </p:nvSpPr>
        <p:spPr>
          <a:xfrm>
            <a:off x="731520" y="4343400"/>
            <a:ext cx="6857640" cy="1627200"/>
          </a:xfrm>
          <a:prstGeom prst="roundRect">
            <a:avLst>
              <a:gd name="adj" fmla="val 6742"/>
            </a:avLst>
          </a:prstGeom>
          <a:solidFill>
            <a:srgbClr val="283731"/>
          </a:solidFill>
          <a:ln w="0">
            <a:noFill/>
          </a:ln>
          <a:effectLst>
            <a:outerShdw algn="bl" blurRad="152280" dir="5400000" dist="50760" rotWithShape="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anim_4_a"/>
          <p:cNvSpPr/>
          <p:nvPr/>
        </p:nvSpPr>
        <p:spPr>
          <a:xfrm>
            <a:off x="1005840" y="4526280"/>
            <a:ext cx="6400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anim_4_a"/>
          <p:cNvSpPr/>
          <p:nvPr/>
        </p:nvSpPr>
        <p:spPr>
          <a:xfrm>
            <a:off x="1005840" y="4919400"/>
            <a:ext cx="6400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edebdd"/>
                </a:solidFill>
                <a:latin typeface="Calibri"/>
                <a:ea typeface="Calibri"/>
              </a:rPr>
              <a:t>IGCSE Mathematics Teacher  ·  M.Sc. Differential Geometry &amp; Geometric Control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anim_4_a"/>
          <p:cNvSpPr/>
          <p:nvPr/>
        </p:nvSpPr>
        <p:spPr>
          <a:xfrm>
            <a:off x="1005840" y="535824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66613748  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31520" y="626364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a7269"/>
                </a:solidFill>
                <a:latin typeface="Calibri"/>
                <a:ea typeface="Calibri"/>
              </a:rPr>
              <a:t>Compiled &amp; edited for 2026–2027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LEARNING OBJECTIVE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Today's Lesson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anim_1_a"/>
          <p:cNvSpPr/>
          <p:nvPr/>
        </p:nvSpPr>
        <p:spPr>
          <a:xfrm>
            <a:off x="548640" y="1572840"/>
            <a:ext cx="11091240" cy="137124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114480" dir="5400000" dist="3816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anim_1_a"/>
          <p:cNvSpPr/>
          <p:nvPr/>
        </p:nvSpPr>
        <p:spPr>
          <a:xfrm>
            <a:off x="868680" y="1783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e0ac2b"/>
                </a:solidFill>
                <a:latin typeface="Calibri"/>
                <a:ea typeface="Calibri"/>
              </a:rPr>
              <a:t>OBJECTIVE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anim_1_a"/>
          <p:cNvSpPr/>
          <p:nvPr/>
        </p:nvSpPr>
        <p:spPr>
          <a:xfrm>
            <a:off x="868680" y="208476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mbria"/>
                <a:ea typeface="Cambria"/>
              </a:rPr>
              <a:t>I can find the HCF and LCM of two or more numbers.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anim_2_c"/>
          <p:cNvSpPr/>
          <p:nvPr/>
        </p:nvSpPr>
        <p:spPr>
          <a:xfrm>
            <a:off x="548640" y="3200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84f2f"/>
                </a:solidFill>
                <a:latin typeface="Calibri"/>
                <a:ea typeface="Calibri"/>
              </a:rPr>
              <a:t>KEY VOCABULARY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anim_2_c"/>
          <p:cNvSpPr/>
          <p:nvPr/>
        </p:nvSpPr>
        <p:spPr>
          <a:xfrm>
            <a:off x="548640" y="3529440"/>
            <a:ext cx="359316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anim_2_c"/>
          <p:cNvSpPr/>
          <p:nvPr/>
        </p:nvSpPr>
        <p:spPr>
          <a:xfrm>
            <a:off x="786240" y="369432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Factor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anim_2_c"/>
          <p:cNvSpPr/>
          <p:nvPr/>
        </p:nvSpPr>
        <p:spPr>
          <a:xfrm>
            <a:off x="786240" y="4096440"/>
            <a:ext cx="3135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4332d"/>
                </a:solidFill>
                <a:latin typeface="Calibri"/>
                <a:ea typeface="Calibri"/>
              </a:rPr>
              <a:t>a number that divides exactly into another (no remainder)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anim_2_c"/>
          <p:cNvSpPr/>
          <p:nvPr/>
        </p:nvSpPr>
        <p:spPr>
          <a:xfrm>
            <a:off x="4297680" y="3529440"/>
            <a:ext cx="359316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anim_2_c"/>
          <p:cNvSpPr/>
          <p:nvPr/>
        </p:nvSpPr>
        <p:spPr>
          <a:xfrm>
            <a:off x="4535280" y="369432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Multiple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anim_2_c"/>
          <p:cNvSpPr/>
          <p:nvPr/>
        </p:nvSpPr>
        <p:spPr>
          <a:xfrm>
            <a:off x="4535280" y="4096440"/>
            <a:ext cx="3135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4332d"/>
                </a:solidFill>
                <a:latin typeface="Calibri"/>
                <a:ea typeface="Calibri"/>
              </a:rPr>
              <a:t>the result of multiplying a number by 1, 2, 3, 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anim_2_c"/>
          <p:cNvSpPr/>
          <p:nvPr/>
        </p:nvSpPr>
        <p:spPr>
          <a:xfrm>
            <a:off x="8046720" y="3529440"/>
            <a:ext cx="359316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anim_2_c"/>
          <p:cNvSpPr/>
          <p:nvPr/>
        </p:nvSpPr>
        <p:spPr>
          <a:xfrm>
            <a:off x="8284320" y="369432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Common factor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anim_2_c"/>
          <p:cNvSpPr/>
          <p:nvPr/>
        </p:nvSpPr>
        <p:spPr>
          <a:xfrm>
            <a:off x="8284320" y="4096440"/>
            <a:ext cx="3135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4332d"/>
                </a:solidFill>
                <a:latin typeface="Calibri"/>
                <a:ea typeface="Calibri"/>
              </a:rPr>
              <a:t>a factor shared by two or more numbers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anim_2_c"/>
          <p:cNvSpPr/>
          <p:nvPr/>
        </p:nvSpPr>
        <p:spPr>
          <a:xfrm>
            <a:off x="548640" y="4928760"/>
            <a:ext cx="359316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anim_2_c"/>
          <p:cNvSpPr/>
          <p:nvPr/>
        </p:nvSpPr>
        <p:spPr>
          <a:xfrm>
            <a:off x="786240" y="509328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HCF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anim_2_c"/>
          <p:cNvSpPr/>
          <p:nvPr/>
        </p:nvSpPr>
        <p:spPr>
          <a:xfrm>
            <a:off x="786240" y="5495400"/>
            <a:ext cx="3135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4332d"/>
                </a:solidFill>
                <a:latin typeface="Calibri"/>
                <a:ea typeface="Calibri"/>
              </a:rPr>
              <a:t>Highest Common Factor — the largest shared factor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anim_2_c"/>
          <p:cNvSpPr/>
          <p:nvPr/>
        </p:nvSpPr>
        <p:spPr>
          <a:xfrm>
            <a:off x="4297680" y="4928760"/>
            <a:ext cx="359316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anim_2_c"/>
          <p:cNvSpPr/>
          <p:nvPr/>
        </p:nvSpPr>
        <p:spPr>
          <a:xfrm>
            <a:off x="4535280" y="509328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LCM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anim_2_c"/>
          <p:cNvSpPr/>
          <p:nvPr/>
        </p:nvSpPr>
        <p:spPr>
          <a:xfrm>
            <a:off x="4535280" y="5495400"/>
            <a:ext cx="3135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4332d"/>
                </a:solidFill>
                <a:latin typeface="Calibri"/>
                <a:ea typeface="Calibri"/>
              </a:rPr>
              <a:t>Lowest Common Multiple — the smallest shared multiple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anim_2_c"/>
          <p:cNvSpPr/>
          <p:nvPr/>
        </p:nvSpPr>
        <p:spPr>
          <a:xfrm>
            <a:off x="8046720" y="4928760"/>
            <a:ext cx="3593160" cy="1234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anim_2_c"/>
          <p:cNvSpPr/>
          <p:nvPr/>
        </p:nvSpPr>
        <p:spPr>
          <a:xfrm>
            <a:off x="8284320" y="509328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Prime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anim_2_c"/>
          <p:cNvSpPr/>
          <p:nvPr/>
        </p:nvSpPr>
        <p:spPr>
          <a:xfrm>
            <a:off x="8284320" y="5495400"/>
            <a:ext cx="3135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4332d"/>
                </a:solidFill>
                <a:latin typeface="Calibri"/>
                <a:ea typeface="Calibri"/>
              </a:rPr>
              <a:t>a number with exactly two factors: 1 and itself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" dur="indefinite" restart="never" nodeType="tmRoot">
          <p:childTnLst>
            <p:seq>
              <p:cTn id="33" dur="indefinite" nodeType="mainSeq"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BUILDING BLOCKS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Primes &amp; the Sieve of Eratosthenes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3" name="Table 0"/>
          <p:cNvGraphicFramePr/>
          <p:nvPr/>
        </p:nvGraphicFramePr>
        <p:xfrm>
          <a:off x="548640" y="1572840"/>
          <a:ext cx="6126120" cy="4160160"/>
        </p:xfrm>
        <a:graphic>
          <a:graphicData uri="http://schemas.openxmlformats.org/drawingml/2006/table">
            <a:tbl>
              <a:tblPr/>
              <a:tblGrid>
                <a:gridCol w="612360"/>
                <a:gridCol w="612360"/>
                <a:gridCol w="612360"/>
                <a:gridCol w="612360"/>
                <a:gridCol w="612360"/>
                <a:gridCol w="612360"/>
                <a:gridCol w="612360"/>
                <a:gridCol w="612360"/>
                <a:gridCol w="612360"/>
                <a:gridCol w="612360"/>
              </a:tblGrid>
              <a:tr h="415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5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6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7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8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9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10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11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12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13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14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15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16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17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18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19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20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21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22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23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24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25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26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27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28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29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30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31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32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33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34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35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36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37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38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39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40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41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42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43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44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45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46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47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48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49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50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51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52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53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54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55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56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57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58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59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60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61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62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63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64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65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66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67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68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69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70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71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72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73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74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75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76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77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78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79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80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81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82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83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84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85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86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87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88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89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90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91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92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93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94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95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96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16261f"/>
                          </a:solidFill>
                          <a:latin typeface="Calibri"/>
                          <a:ea typeface="Calibri"/>
                        </a:rPr>
                        <a:t>97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e0ac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98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99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24332d"/>
                          </a:solidFill>
                          <a:latin typeface="Calibri"/>
                          <a:ea typeface="Calibri"/>
                        </a:rPr>
                        <a:t>100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9d6c6"/>
                      </a:solidFill>
                      <a:prstDash val="solid"/>
                    </a:lnL>
                    <a:lnR w="12240">
                      <a:solidFill>
                        <a:srgbClr val="d9d6c6"/>
                      </a:solidFill>
                      <a:prstDash val="solid"/>
                    </a:lnR>
                    <a:lnT w="12240">
                      <a:solidFill>
                        <a:srgbClr val="d9d6c6"/>
                      </a:solidFill>
                      <a:prstDash val="solid"/>
                    </a:lnT>
                    <a:lnB w="12240">
                      <a:solidFill>
                        <a:srgbClr val="d9d6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Text 4"/>
          <p:cNvSpPr/>
          <p:nvPr/>
        </p:nvSpPr>
        <p:spPr>
          <a:xfrm>
            <a:off x="548640" y="5797440"/>
            <a:ext cx="6126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a7269"/>
                </a:solidFill>
                <a:latin typeface="Calibri"/>
                <a:ea typeface="Calibri"/>
              </a:rPr>
              <a:t>Prime numbers up to 100 are highlighted in gold.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anim_1_a"/>
          <p:cNvSpPr/>
          <p:nvPr/>
        </p:nvSpPr>
        <p:spPr>
          <a:xfrm>
            <a:off x="6995160" y="1572840"/>
            <a:ext cx="4663080" cy="1416960"/>
          </a:xfrm>
          <a:prstGeom prst="roundRect">
            <a:avLst>
              <a:gd name="adj" fmla="val 645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anim_1_a"/>
          <p:cNvSpPr/>
          <p:nvPr/>
        </p:nvSpPr>
        <p:spPr>
          <a:xfrm>
            <a:off x="7269480" y="17557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c84f2f"/>
                </a:solidFill>
                <a:latin typeface="Calibri"/>
                <a:ea typeface="Calibri"/>
              </a:rPr>
              <a:t>WHAT IS A PRIME?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anim_1_a"/>
          <p:cNvSpPr/>
          <p:nvPr/>
        </p:nvSpPr>
        <p:spPr>
          <a:xfrm>
            <a:off x="7269480" y="2048400"/>
            <a:ext cx="4114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A prime number can be divided evenly only by 1 and itself — it has exactly two factors.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anim_2_c"/>
          <p:cNvSpPr/>
          <p:nvPr/>
        </p:nvSpPr>
        <p:spPr>
          <a:xfrm>
            <a:off x="6995160" y="3200400"/>
            <a:ext cx="4663080" cy="2697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anim_2_c"/>
          <p:cNvSpPr/>
          <p:nvPr/>
        </p:nvSpPr>
        <p:spPr>
          <a:xfrm>
            <a:off x="6995160" y="3200400"/>
            <a:ext cx="1279800" cy="456840"/>
          </a:xfrm>
          <a:prstGeom prst="roundRect">
            <a:avLst>
              <a:gd name="adj" fmla="val 20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anim_2_c"/>
          <p:cNvSpPr/>
          <p:nvPr/>
        </p:nvSpPr>
        <p:spPr>
          <a:xfrm>
            <a:off x="6995160" y="320040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Calibri"/>
                <a:ea typeface="Calibri"/>
              </a:rPr>
              <a:t>TASK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anim_2_c"/>
          <p:cNvSpPr/>
          <p:nvPr/>
        </p:nvSpPr>
        <p:spPr>
          <a:xfrm>
            <a:off x="7287840" y="37674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61f"/>
                </a:solidFill>
                <a:latin typeface="Calibri"/>
                <a:ea typeface="Calibri"/>
              </a:rPr>
              <a:t>Build the sieve yourself: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anim_3_c"/>
          <p:cNvSpPr/>
          <p:nvPr/>
        </p:nvSpPr>
        <p:spPr>
          <a:xfrm>
            <a:off x="7360920" y="4078080"/>
            <a:ext cx="40230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24332d"/>
              </a:buClr>
              <a:buFont typeface="Calibri Light"/>
              <a:buAutoNum type="arabicPeriod"/>
            </a:pPr>
            <a:r>
              <a:rPr b="0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Leave 2, cross out every number in the 2 times 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24332d"/>
              </a:buClr>
              <a:buFont typeface="Calibri Light"/>
              <a:buAutoNum type="arabicPeriod"/>
            </a:pPr>
            <a:r>
              <a:rPr b="0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Leave 3, cross out every multiple of 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24332d"/>
              </a:buClr>
              <a:buFont typeface="Calibri Light"/>
              <a:buAutoNum type="arabicPeriod"/>
            </a:pPr>
            <a:r>
              <a:rPr b="0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Leave 5, cross out every multiple of 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4332d"/>
              </a:buClr>
              <a:buFont typeface="Calibri Light"/>
              <a:buAutoNum type="arabicPeriod"/>
            </a:pPr>
            <a:r>
              <a:rPr b="0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Leave 7, cross out every multiple of 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anim_4_c"/>
          <p:cNvSpPr/>
          <p:nvPr/>
        </p:nvSpPr>
        <p:spPr>
          <a:xfrm>
            <a:off x="7287840" y="55411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50" spc="-1" strike="noStrike">
                <a:solidFill>
                  <a:srgbClr val="c84f2f"/>
                </a:solidFill>
                <a:latin typeface="Calibri"/>
                <a:ea typeface="Calibri"/>
              </a:rPr>
              <a:t>Whatever survives is prime.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4" dur="indefinite" restart="never" nodeType="tmRoot">
          <p:childTnLst>
            <p:seq>
              <p:cTn id="105" dur="indefinite" nodeType="mainSeq"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THE KEY SKILL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Prime Factorisation — Factor Trees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548640" y="1783080"/>
            <a:ext cx="5440320" cy="33829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2960" y="18835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97" strike="noStrike">
                <a:solidFill>
                  <a:srgbClr val="c84f2f"/>
                </a:solidFill>
                <a:latin typeface="Calibri"/>
                <a:ea typeface="Calibri"/>
              </a:rPr>
              <a:t>Factor tree of 48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anim_2_c"/>
          <p:cNvSpPr/>
          <p:nvPr/>
        </p:nvSpPr>
        <p:spPr>
          <a:xfrm flipH="1">
            <a:off x="2377440" y="2547360"/>
            <a:ext cx="891360" cy="48276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anim_2_c"/>
          <p:cNvSpPr/>
          <p:nvPr/>
        </p:nvSpPr>
        <p:spPr>
          <a:xfrm>
            <a:off x="3268800" y="2547360"/>
            <a:ext cx="891720" cy="48276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anim_3_c"/>
          <p:cNvSpPr/>
          <p:nvPr/>
        </p:nvSpPr>
        <p:spPr>
          <a:xfrm flipH="1">
            <a:off x="3474720" y="3370320"/>
            <a:ext cx="685800" cy="48276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anim_3_c"/>
          <p:cNvSpPr/>
          <p:nvPr/>
        </p:nvSpPr>
        <p:spPr>
          <a:xfrm>
            <a:off x="4160520" y="3370320"/>
            <a:ext cx="685800" cy="48276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anim_4_c"/>
          <p:cNvSpPr/>
          <p:nvPr/>
        </p:nvSpPr>
        <p:spPr>
          <a:xfrm flipH="1">
            <a:off x="3154680" y="4193280"/>
            <a:ext cx="320040" cy="43704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anim_4_c"/>
          <p:cNvSpPr/>
          <p:nvPr/>
        </p:nvSpPr>
        <p:spPr>
          <a:xfrm>
            <a:off x="3474720" y="4193280"/>
            <a:ext cx="320040" cy="43704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anim_4_c"/>
          <p:cNvSpPr/>
          <p:nvPr/>
        </p:nvSpPr>
        <p:spPr>
          <a:xfrm flipH="1">
            <a:off x="4526280" y="4193280"/>
            <a:ext cx="320040" cy="43704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anim_4_c"/>
          <p:cNvSpPr/>
          <p:nvPr/>
        </p:nvSpPr>
        <p:spPr>
          <a:xfrm>
            <a:off x="4846320" y="4193280"/>
            <a:ext cx="320040" cy="43704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anim_1_a"/>
          <p:cNvSpPr/>
          <p:nvPr/>
        </p:nvSpPr>
        <p:spPr>
          <a:xfrm>
            <a:off x="2985480" y="2094120"/>
            <a:ext cx="566640" cy="566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d6c6"/>
            </a:solidFill>
            <a:round/>
          </a:ln>
          <a:effectLst>
            <a:outerShdw algn="bl" blurRad="50760" dir="5400000" dist="1260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anim_1_a"/>
          <p:cNvSpPr/>
          <p:nvPr/>
        </p:nvSpPr>
        <p:spPr>
          <a:xfrm>
            <a:off x="2894040" y="209412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48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anim_2_c"/>
          <p:cNvSpPr/>
          <p:nvPr/>
        </p:nvSpPr>
        <p:spPr>
          <a:xfrm>
            <a:off x="2094120" y="2917080"/>
            <a:ext cx="566640" cy="56664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round/>
          </a:ln>
          <a:effectLst>
            <a:outerShdw algn="bl" blurRad="63360" dir="5400000" dist="1260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anim_2_c"/>
          <p:cNvSpPr/>
          <p:nvPr/>
        </p:nvSpPr>
        <p:spPr>
          <a:xfrm>
            <a:off x="2002680" y="291708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anim_2_c"/>
          <p:cNvSpPr/>
          <p:nvPr/>
        </p:nvSpPr>
        <p:spPr>
          <a:xfrm>
            <a:off x="3877200" y="2917080"/>
            <a:ext cx="566640" cy="566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d6c6"/>
            </a:solidFill>
            <a:round/>
          </a:ln>
          <a:effectLst>
            <a:outerShdw algn="bl" blurRad="50760" dir="5400000" dist="1260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anim_2_c"/>
          <p:cNvSpPr/>
          <p:nvPr/>
        </p:nvSpPr>
        <p:spPr>
          <a:xfrm>
            <a:off x="3785760" y="291708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24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anim_3_c"/>
          <p:cNvSpPr/>
          <p:nvPr/>
        </p:nvSpPr>
        <p:spPr>
          <a:xfrm>
            <a:off x="3191400" y="3740040"/>
            <a:ext cx="566640" cy="566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d6c6"/>
            </a:solidFill>
            <a:round/>
          </a:ln>
          <a:effectLst>
            <a:outerShdw algn="bl" blurRad="50760" dir="5400000" dist="1260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anim_3_c"/>
          <p:cNvSpPr/>
          <p:nvPr/>
        </p:nvSpPr>
        <p:spPr>
          <a:xfrm>
            <a:off x="3099960" y="374004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4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anim_3_c"/>
          <p:cNvSpPr/>
          <p:nvPr/>
        </p:nvSpPr>
        <p:spPr>
          <a:xfrm>
            <a:off x="4563000" y="3740040"/>
            <a:ext cx="566640" cy="566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d6c6"/>
            </a:solidFill>
            <a:round/>
          </a:ln>
          <a:effectLst>
            <a:outerShdw algn="bl" blurRad="50760" dir="5400000" dist="1260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anim_3_c"/>
          <p:cNvSpPr/>
          <p:nvPr/>
        </p:nvSpPr>
        <p:spPr>
          <a:xfrm>
            <a:off x="4471560" y="374004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6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anim_4_c"/>
          <p:cNvSpPr/>
          <p:nvPr/>
        </p:nvSpPr>
        <p:spPr>
          <a:xfrm>
            <a:off x="2871360" y="4517280"/>
            <a:ext cx="566640" cy="56664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round/>
          </a:ln>
          <a:effectLst>
            <a:outerShdw algn="bl" blurRad="63360" dir="5400000" dist="1260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anim_4_c"/>
          <p:cNvSpPr/>
          <p:nvPr/>
        </p:nvSpPr>
        <p:spPr>
          <a:xfrm>
            <a:off x="2779920" y="451728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anim_4_c"/>
          <p:cNvSpPr/>
          <p:nvPr/>
        </p:nvSpPr>
        <p:spPr>
          <a:xfrm>
            <a:off x="3511440" y="4517280"/>
            <a:ext cx="566640" cy="56664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round/>
          </a:ln>
          <a:effectLst>
            <a:outerShdw algn="bl" blurRad="63360" dir="5400000" dist="1260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anim_4_c"/>
          <p:cNvSpPr/>
          <p:nvPr/>
        </p:nvSpPr>
        <p:spPr>
          <a:xfrm>
            <a:off x="3420000" y="451728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anim_4_c"/>
          <p:cNvSpPr/>
          <p:nvPr/>
        </p:nvSpPr>
        <p:spPr>
          <a:xfrm>
            <a:off x="4242960" y="4517280"/>
            <a:ext cx="566640" cy="56664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round/>
          </a:ln>
          <a:effectLst>
            <a:outerShdw algn="bl" blurRad="63360" dir="5400000" dist="1260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anim_4_c"/>
          <p:cNvSpPr/>
          <p:nvPr/>
        </p:nvSpPr>
        <p:spPr>
          <a:xfrm>
            <a:off x="4151520" y="451728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anim_4_c"/>
          <p:cNvSpPr/>
          <p:nvPr/>
        </p:nvSpPr>
        <p:spPr>
          <a:xfrm>
            <a:off x="4883040" y="4517280"/>
            <a:ext cx="566640" cy="56664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round/>
          </a:ln>
          <a:effectLst>
            <a:outerShdw algn="bl" blurRad="63360" dir="5400000" dist="1260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anim_4_c"/>
          <p:cNvSpPr/>
          <p:nvPr/>
        </p:nvSpPr>
        <p:spPr>
          <a:xfrm>
            <a:off x="4791600" y="451728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3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32"/>
          <p:cNvSpPr/>
          <p:nvPr/>
        </p:nvSpPr>
        <p:spPr>
          <a:xfrm>
            <a:off x="6199560" y="1783080"/>
            <a:ext cx="5440320" cy="33829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3"/>
          <p:cNvSpPr/>
          <p:nvPr/>
        </p:nvSpPr>
        <p:spPr>
          <a:xfrm>
            <a:off x="6473880" y="18835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97" strike="noStrike">
                <a:solidFill>
                  <a:srgbClr val="c84f2f"/>
                </a:solidFill>
                <a:latin typeface="Calibri"/>
                <a:ea typeface="Calibri"/>
              </a:rPr>
              <a:t>Factor tree of 150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anim_2_c"/>
          <p:cNvSpPr/>
          <p:nvPr/>
        </p:nvSpPr>
        <p:spPr>
          <a:xfrm flipH="1">
            <a:off x="8183880" y="2547360"/>
            <a:ext cx="902880" cy="48276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anim_2_c"/>
          <p:cNvSpPr/>
          <p:nvPr/>
        </p:nvSpPr>
        <p:spPr>
          <a:xfrm>
            <a:off x="9086760" y="2547360"/>
            <a:ext cx="902880" cy="48276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anim_3_c"/>
          <p:cNvSpPr/>
          <p:nvPr/>
        </p:nvSpPr>
        <p:spPr>
          <a:xfrm flipH="1">
            <a:off x="9418320" y="3370320"/>
            <a:ext cx="571320" cy="48276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anim_3_c"/>
          <p:cNvSpPr/>
          <p:nvPr/>
        </p:nvSpPr>
        <p:spPr>
          <a:xfrm>
            <a:off x="9989640" y="3370320"/>
            <a:ext cx="571680" cy="48276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anim_4_c"/>
          <p:cNvSpPr/>
          <p:nvPr/>
        </p:nvSpPr>
        <p:spPr>
          <a:xfrm flipH="1">
            <a:off x="9098280" y="4193280"/>
            <a:ext cx="320040" cy="43704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anim_4_c"/>
          <p:cNvSpPr/>
          <p:nvPr/>
        </p:nvSpPr>
        <p:spPr>
          <a:xfrm>
            <a:off x="9418320" y="4193280"/>
            <a:ext cx="320040" cy="437040"/>
          </a:xfrm>
          <a:prstGeom prst="line">
            <a:avLst/>
          </a:prstGeom>
          <a:ln w="19050">
            <a:solidFill>
              <a:srgbClr val="6a72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anim_1_a"/>
          <p:cNvSpPr/>
          <p:nvPr/>
        </p:nvSpPr>
        <p:spPr>
          <a:xfrm>
            <a:off x="8803440" y="2094120"/>
            <a:ext cx="566640" cy="566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d6c6"/>
            </a:solidFill>
            <a:round/>
          </a:ln>
          <a:effectLst>
            <a:outerShdw algn="bl" blurRad="50760" dir="5400000" dist="1260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anim_1_a"/>
          <p:cNvSpPr/>
          <p:nvPr/>
        </p:nvSpPr>
        <p:spPr>
          <a:xfrm>
            <a:off x="8712000" y="209412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150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anim_2_c"/>
          <p:cNvSpPr/>
          <p:nvPr/>
        </p:nvSpPr>
        <p:spPr>
          <a:xfrm>
            <a:off x="7900560" y="2917080"/>
            <a:ext cx="566640" cy="56664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round/>
          </a:ln>
          <a:effectLst>
            <a:outerShdw algn="bl" blurRad="63360" dir="5400000" dist="1260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anim_2_c"/>
          <p:cNvSpPr/>
          <p:nvPr/>
        </p:nvSpPr>
        <p:spPr>
          <a:xfrm>
            <a:off x="7809120" y="291708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5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anim_2_c"/>
          <p:cNvSpPr/>
          <p:nvPr/>
        </p:nvSpPr>
        <p:spPr>
          <a:xfrm>
            <a:off x="9706320" y="2917080"/>
            <a:ext cx="566640" cy="566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d6c6"/>
            </a:solidFill>
            <a:round/>
          </a:ln>
          <a:effectLst>
            <a:outerShdw algn="bl" blurRad="50760" dir="5400000" dist="1260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anim_2_c"/>
          <p:cNvSpPr/>
          <p:nvPr/>
        </p:nvSpPr>
        <p:spPr>
          <a:xfrm>
            <a:off x="9614880" y="291708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30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anim_3_c"/>
          <p:cNvSpPr/>
          <p:nvPr/>
        </p:nvSpPr>
        <p:spPr>
          <a:xfrm>
            <a:off x="9135000" y="3740040"/>
            <a:ext cx="566640" cy="566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d6c6"/>
            </a:solidFill>
            <a:round/>
          </a:ln>
          <a:effectLst>
            <a:outerShdw algn="bl" blurRad="50760" dir="5400000" dist="1260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anim_3_c"/>
          <p:cNvSpPr/>
          <p:nvPr/>
        </p:nvSpPr>
        <p:spPr>
          <a:xfrm>
            <a:off x="9043560" y="374004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6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anim_3_c"/>
          <p:cNvSpPr/>
          <p:nvPr/>
        </p:nvSpPr>
        <p:spPr>
          <a:xfrm>
            <a:off x="10278000" y="3740040"/>
            <a:ext cx="566640" cy="56664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round/>
          </a:ln>
          <a:effectLst>
            <a:outerShdw algn="bl" blurRad="63360" dir="5400000" dist="1260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anim_3_c"/>
          <p:cNvSpPr/>
          <p:nvPr/>
        </p:nvSpPr>
        <p:spPr>
          <a:xfrm>
            <a:off x="10186560" y="374004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5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anim_4_c"/>
          <p:cNvSpPr/>
          <p:nvPr/>
        </p:nvSpPr>
        <p:spPr>
          <a:xfrm>
            <a:off x="8814960" y="4517280"/>
            <a:ext cx="566640" cy="56664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round/>
          </a:ln>
          <a:effectLst>
            <a:outerShdw algn="bl" blurRad="63360" dir="5400000" dist="1260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anim_4_c"/>
          <p:cNvSpPr/>
          <p:nvPr/>
        </p:nvSpPr>
        <p:spPr>
          <a:xfrm>
            <a:off x="8723520" y="451728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anim_4_c"/>
          <p:cNvSpPr/>
          <p:nvPr/>
        </p:nvSpPr>
        <p:spPr>
          <a:xfrm>
            <a:off x="9455040" y="4517280"/>
            <a:ext cx="566640" cy="56664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round/>
          </a:ln>
          <a:effectLst>
            <a:outerShdw algn="bl" blurRad="63360" dir="5400000" dist="1260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anim_4_c"/>
          <p:cNvSpPr/>
          <p:nvPr/>
        </p:nvSpPr>
        <p:spPr>
          <a:xfrm>
            <a:off x="9363600" y="4517280"/>
            <a:ext cx="749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3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anim_5_c"/>
          <p:cNvSpPr/>
          <p:nvPr/>
        </p:nvSpPr>
        <p:spPr>
          <a:xfrm>
            <a:off x="548640" y="5440680"/>
            <a:ext cx="5440320" cy="712800"/>
          </a:xfrm>
          <a:prstGeom prst="roundRect">
            <a:avLst>
              <a:gd name="adj" fmla="val 12821"/>
            </a:avLst>
          </a:prstGeom>
          <a:solidFill>
            <a:srgbClr val="fbf3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anim_5_c"/>
          <p:cNvSpPr/>
          <p:nvPr/>
        </p:nvSpPr>
        <p:spPr>
          <a:xfrm>
            <a:off x="548640" y="5440680"/>
            <a:ext cx="5440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6261f"/>
                </a:solidFill>
                <a:latin typeface="Cambria"/>
                <a:ea typeface="Cambria"/>
              </a:rPr>
              <a:t>48 = 2</a:t>
            </a:r>
            <a:r>
              <a:rPr b="1" lang="en-US" sz="19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4</a:t>
            </a:r>
            <a:r>
              <a:rPr b="1" lang="en-US" sz="1900" spc="-1" strike="noStrike">
                <a:solidFill>
                  <a:srgbClr val="16261f"/>
                </a:solidFill>
                <a:latin typeface="Cambria"/>
                <a:ea typeface="Cambria"/>
              </a:rPr>
              <a:t> × 3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anim_5_c"/>
          <p:cNvSpPr/>
          <p:nvPr/>
        </p:nvSpPr>
        <p:spPr>
          <a:xfrm>
            <a:off x="6199560" y="5440680"/>
            <a:ext cx="5440320" cy="712800"/>
          </a:xfrm>
          <a:prstGeom prst="roundRect">
            <a:avLst>
              <a:gd name="adj" fmla="val 12821"/>
            </a:avLst>
          </a:prstGeom>
          <a:solidFill>
            <a:srgbClr val="fbf3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anim_5_c"/>
          <p:cNvSpPr/>
          <p:nvPr/>
        </p:nvSpPr>
        <p:spPr>
          <a:xfrm>
            <a:off x="6199560" y="5440680"/>
            <a:ext cx="5440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6261f"/>
                </a:solidFill>
                <a:latin typeface="Cambria"/>
                <a:ea typeface="Cambria"/>
              </a:rPr>
              <a:t>150 = 2 × 3 × 5</a:t>
            </a:r>
            <a:r>
              <a:rPr b="1" lang="en-US" sz="19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1" dur="indefinite" restart="never" nodeType="tmRoot">
          <p:childTnLst>
            <p:seq>
              <p:cTn id="142" dur="indefinite" nodeType="mainSeq"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THE METHOD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Finding HCF &amp; LCM from Prime Factors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"/>
          <p:cNvSpPr/>
          <p:nvPr/>
        </p:nvSpPr>
        <p:spPr>
          <a:xfrm>
            <a:off x="548640" y="141732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6a7269"/>
                </a:solidFill>
                <a:latin typeface="Calibri"/>
                <a:ea typeface="Calibri"/>
              </a:rPr>
              <a:t>Once both numbers are written as products of prime powers, the HCF and LCM follow two simple rules.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anim_1_a"/>
          <p:cNvSpPr/>
          <p:nvPr/>
        </p:nvSpPr>
        <p:spPr>
          <a:xfrm>
            <a:off x="548640" y="1920240"/>
            <a:ext cx="5440320" cy="3108600"/>
          </a:xfrm>
          <a:prstGeom prst="roundRect">
            <a:avLst>
              <a:gd name="adj" fmla="val 3529"/>
            </a:avLst>
          </a:prstGeom>
          <a:solidFill>
            <a:srgbClr val="eef1e8"/>
          </a:solidFill>
          <a:ln w="0">
            <a:noFill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anim_1_a"/>
          <p:cNvSpPr/>
          <p:nvPr/>
        </p:nvSpPr>
        <p:spPr>
          <a:xfrm>
            <a:off x="868680" y="21214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c84f2f"/>
                </a:solidFill>
                <a:latin typeface="Cambria"/>
                <a:ea typeface="Cambria"/>
              </a:rPr>
              <a:t>HCF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anim_1_a"/>
          <p:cNvSpPr/>
          <p:nvPr/>
        </p:nvSpPr>
        <p:spPr>
          <a:xfrm>
            <a:off x="868680" y="2615040"/>
            <a:ext cx="4845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61f"/>
                </a:solidFill>
                <a:latin typeface="Calibri"/>
                <a:ea typeface="Calibri"/>
              </a:rPr>
              <a:t>Highest Common Factor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anim_1_a"/>
          <p:cNvSpPr/>
          <p:nvPr/>
        </p:nvSpPr>
        <p:spPr>
          <a:xfrm>
            <a:off x="868680" y="3054240"/>
            <a:ext cx="4845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The product of the </a:t>
            </a:r>
            <a:r>
              <a:rPr b="1" lang="en-US" sz="1450" spc="-1" strike="noStrike">
                <a:solidFill>
                  <a:srgbClr val="c84f2f"/>
                </a:solidFill>
                <a:latin typeface="Calibri"/>
                <a:ea typeface="Calibri"/>
              </a:rPr>
              <a:t>common</a:t>
            </a:r>
            <a:r>
              <a:rPr b="0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prime factors, each to its </a:t>
            </a:r>
            <a:r>
              <a:rPr b="1" lang="en-US" sz="1450" spc="-1" strike="noStrike">
                <a:solidFill>
                  <a:srgbClr val="c84f2f"/>
                </a:solidFill>
                <a:latin typeface="Calibri"/>
                <a:ea typeface="Calibri"/>
              </a:rPr>
              <a:t>lowest</a:t>
            </a:r>
            <a:r>
              <a:rPr b="0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power.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nim_1_a"/>
          <p:cNvSpPr/>
          <p:nvPr/>
        </p:nvSpPr>
        <p:spPr>
          <a:xfrm>
            <a:off x="868680" y="41605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6a7269"/>
                </a:solidFill>
                <a:latin typeface="Cambria"/>
                <a:ea typeface="Cambria"/>
              </a:rPr>
              <a:t>e.g.  2</a:t>
            </a:r>
            <a:r>
              <a:rPr b="1" lang="en-US" sz="1500" spc="-1" strike="noStrike" baseline="30000">
                <a:solidFill>
                  <a:srgbClr val="6a7269"/>
                </a:solidFill>
                <a:latin typeface="Cambria"/>
                <a:ea typeface="Cambria"/>
              </a:rPr>
              <a:t>3</a:t>
            </a:r>
            <a:r>
              <a:rPr b="1" lang="en-US" sz="1500" spc="-1" strike="noStrike">
                <a:solidFill>
                  <a:srgbClr val="6a7269"/>
                </a:solidFill>
                <a:latin typeface="Cambria"/>
                <a:ea typeface="Cambria"/>
              </a:rPr>
              <a:t>×3  &amp;  2</a:t>
            </a:r>
            <a:r>
              <a:rPr b="1" lang="en-US" sz="1500" spc="-1" strike="noStrike" baseline="30000">
                <a:solidFill>
                  <a:srgbClr val="6a7269"/>
                </a:solidFill>
                <a:latin typeface="Cambria"/>
                <a:ea typeface="Cambria"/>
              </a:rPr>
              <a:t>2</a:t>
            </a:r>
            <a:r>
              <a:rPr b="1" lang="en-US" sz="1500" spc="-1" strike="noStrike">
                <a:solidFill>
                  <a:srgbClr val="6a7269"/>
                </a:solidFill>
                <a:latin typeface="Cambria"/>
                <a:ea typeface="Cambria"/>
              </a:rPr>
              <a:t>×3</a:t>
            </a:r>
            <a:r>
              <a:rPr b="1" lang="en-US" sz="1500" spc="-1" strike="noStrike" baseline="30000">
                <a:solidFill>
                  <a:srgbClr val="6a7269"/>
                </a:solidFill>
                <a:latin typeface="Cambria"/>
                <a:ea typeface="Cambria"/>
              </a:rPr>
              <a:t>2</a:t>
            </a: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  →  HCF = 2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×3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anim_2_c"/>
          <p:cNvSpPr/>
          <p:nvPr/>
        </p:nvSpPr>
        <p:spPr>
          <a:xfrm>
            <a:off x="6199560" y="1920240"/>
            <a:ext cx="5440320" cy="3108600"/>
          </a:xfrm>
          <a:prstGeom prst="roundRect">
            <a:avLst>
              <a:gd name="adj" fmla="val 3529"/>
            </a:avLst>
          </a:prstGeom>
          <a:solidFill>
            <a:srgbClr val="fbf3dd"/>
          </a:solidFill>
          <a:ln w="0">
            <a:noFill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anim_2_c"/>
          <p:cNvSpPr/>
          <p:nvPr/>
        </p:nvSpPr>
        <p:spPr>
          <a:xfrm>
            <a:off x="6519600" y="21214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c84f2f"/>
                </a:solidFill>
                <a:latin typeface="Cambria"/>
                <a:ea typeface="Cambria"/>
              </a:rPr>
              <a:t>LCM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anim_2_c"/>
          <p:cNvSpPr/>
          <p:nvPr/>
        </p:nvSpPr>
        <p:spPr>
          <a:xfrm>
            <a:off x="6519600" y="2615040"/>
            <a:ext cx="4845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61f"/>
                </a:solidFill>
                <a:latin typeface="Calibri"/>
                <a:ea typeface="Calibri"/>
              </a:rPr>
              <a:t>Lowest Common Multiple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anim_2_c"/>
          <p:cNvSpPr/>
          <p:nvPr/>
        </p:nvSpPr>
        <p:spPr>
          <a:xfrm>
            <a:off x="6519600" y="3054240"/>
            <a:ext cx="4845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The product of </a:t>
            </a:r>
            <a:r>
              <a:rPr b="1" lang="en-US" sz="1450" spc="-1" strike="noStrike">
                <a:solidFill>
                  <a:srgbClr val="c84f2f"/>
                </a:solidFill>
                <a:latin typeface="Calibri"/>
                <a:ea typeface="Calibri"/>
              </a:rPr>
              <a:t>all</a:t>
            </a:r>
            <a:r>
              <a:rPr b="0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the prime factors, each to its </a:t>
            </a:r>
            <a:r>
              <a:rPr b="1" lang="en-US" sz="1450" spc="-1" strike="noStrike">
                <a:solidFill>
                  <a:srgbClr val="c84f2f"/>
                </a:solidFill>
                <a:latin typeface="Calibri"/>
                <a:ea typeface="Calibri"/>
              </a:rPr>
              <a:t>highest</a:t>
            </a:r>
            <a:r>
              <a:rPr b="0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power.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anim_2_c"/>
          <p:cNvSpPr/>
          <p:nvPr/>
        </p:nvSpPr>
        <p:spPr>
          <a:xfrm>
            <a:off x="6519600" y="41605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6a7269"/>
                </a:solidFill>
                <a:latin typeface="Cambria"/>
                <a:ea typeface="Cambria"/>
              </a:rPr>
              <a:t>e.g.  2</a:t>
            </a:r>
            <a:r>
              <a:rPr b="1" lang="en-US" sz="1500" spc="-1" strike="noStrike" baseline="30000">
                <a:solidFill>
                  <a:srgbClr val="6a7269"/>
                </a:solidFill>
                <a:latin typeface="Cambria"/>
                <a:ea typeface="Cambria"/>
              </a:rPr>
              <a:t>3</a:t>
            </a:r>
            <a:r>
              <a:rPr b="1" lang="en-US" sz="1500" spc="-1" strike="noStrike">
                <a:solidFill>
                  <a:srgbClr val="6a7269"/>
                </a:solidFill>
                <a:latin typeface="Cambria"/>
                <a:ea typeface="Cambria"/>
              </a:rPr>
              <a:t>×3  &amp;  2</a:t>
            </a:r>
            <a:r>
              <a:rPr b="1" lang="en-US" sz="1500" spc="-1" strike="noStrike" baseline="30000">
                <a:solidFill>
                  <a:srgbClr val="6a7269"/>
                </a:solidFill>
                <a:latin typeface="Cambria"/>
                <a:ea typeface="Cambria"/>
              </a:rPr>
              <a:t>2</a:t>
            </a:r>
            <a:r>
              <a:rPr b="1" lang="en-US" sz="1500" spc="-1" strike="noStrike">
                <a:solidFill>
                  <a:srgbClr val="6a7269"/>
                </a:solidFill>
                <a:latin typeface="Cambria"/>
                <a:ea typeface="Cambria"/>
              </a:rPr>
              <a:t>×3</a:t>
            </a:r>
            <a:r>
              <a:rPr b="1" lang="en-US" sz="1500" spc="-1" strike="noStrike" baseline="30000">
                <a:solidFill>
                  <a:srgbClr val="6a7269"/>
                </a:solidFill>
                <a:latin typeface="Cambria"/>
                <a:ea typeface="Cambria"/>
              </a:rPr>
              <a:t>2</a:t>
            </a: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  →  LCM = 2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3</a:t>
            </a: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×3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anim_3_c"/>
          <p:cNvSpPr/>
          <p:nvPr/>
        </p:nvSpPr>
        <p:spPr>
          <a:xfrm>
            <a:off x="548640" y="5257800"/>
            <a:ext cx="11091240" cy="639720"/>
          </a:xfrm>
          <a:prstGeom prst="roundRect">
            <a:avLst>
              <a:gd name="adj" fmla="val 14286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anim_3_c"/>
          <p:cNvSpPr/>
          <p:nvPr/>
        </p:nvSpPr>
        <p:spPr>
          <a:xfrm>
            <a:off x="868680" y="52578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Tip: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HCF takes only the shared primes (smallest powers); LCM takes every prime (biggest powers).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3" dur="indefinite" restart="never" nodeType="tmRoot">
          <p:childTnLst>
            <p:seq>
              <p:cTn id="304" dur="indefinite" nodeType="mainSeq">
                <p:childTnLst>
                  <p:par>
                    <p:cTn id="305" fill="hold">
                      <p:stCondLst>
                        <p:cond delay="0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PART A · EXAMPLE 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Write 2A as a Product of Prime Factors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anim_1_a"/>
          <p:cNvSpPr/>
          <p:nvPr/>
        </p:nvSpPr>
        <p:spPr>
          <a:xfrm>
            <a:off x="548640" y="1463040"/>
            <a:ext cx="11091240" cy="868320"/>
          </a:xfrm>
          <a:prstGeom prst="roundRect">
            <a:avLst>
              <a:gd name="adj" fmla="val 10526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anim_1_a"/>
          <p:cNvSpPr/>
          <p:nvPr/>
        </p:nvSpPr>
        <p:spPr>
          <a:xfrm>
            <a:off x="548640" y="1463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A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 × 5</a:t>
            </a: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          B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7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anim_2_c"/>
          <p:cNvSpPr/>
          <p:nvPr/>
        </p:nvSpPr>
        <p:spPr>
          <a:xfrm>
            <a:off x="548640" y="2514600"/>
            <a:ext cx="11091240" cy="2468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anim_2_c"/>
          <p:cNvSpPr/>
          <p:nvPr/>
        </p:nvSpPr>
        <p:spPr>
          <a:xfrm>
            <a:off x="868680" y="28072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anim_2_c"/>
          <p:cNvSpPr/>
          <p:nvPr/>
        </p:nvSpPr>
        <p:spPr>
          <a:xfrm>
            <a:off x="86868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anim_2_c"/>
          <p:cNvSpPr/>
          <p:nvPr/>
        </p:nvSpPr>
        <p:spPr>
          <a:xfrm>
            <a:off x="1417320" y="2743200"/>
            <a:ext cx="978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2A means 2 × A — you multiply A by one more factor of 2.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anim_3_c"/>
          <p:cNvSpPr/>
          <p:nvPr/>
        </p:nvSpPr>
        <p:spPr>
          <a:xfrm>
            <a:off x="868680" y="36759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anim_3_c"/>
          <p:cNvSpPr/>
          <p:nvPr/>
        </p:nvSpPr>
        <p:spPr>
          <a:xfrm>
            <a:off x="868680" y="3675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anim_3_c"/>
          <p:cNvSpPr/>
          <p:nvPr/>
        </p:nvSpPr>
        <p:spPr>
          <a:xfrm>
            <a:off x="1417320" y="3611880"/>
            <a:ext cx="978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Add 1 to the power of 2:  </a:t>
            </a: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3</a:t>
            </a: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 → 2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4</a:t>
            </a:r>
            <a:r>
              <a:rPr b="0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.   The 3 and 5 are unchanged.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anim_4_c"/>
          <p:cNvSpPr/>
          <p:nvPr/>
        </p:nvSpPr>
        <p:spPr>
          <a:xfrm>
            <a:off x="868680" y="5166360"/>
            <a:ext cx="6583320" cy="776880"/>
          </a:xfrm>
          <a:prstGeom prst="roundRect">
            <a:avLst>
              <a:gd name="adj" fmla="val 14118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anim_4_c"/>
          <p:cNvSpPr/>
          <p:nvPr/>
        </p:nvSpPr>
        <p:spPr>
          <a:xfrm>
            <a:off x="1051560" y="5166360"/>
            <a:ext cx="6217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2A = 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r>
              <a:rPr b="1" lang="en-US" sz="22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4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 × 3 × 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7" dur="indefinite" restart="never" nodeType="tmRoot">
          <p:childTnLst>
            <p:seq>
              <p:cTn id="348" dur="indefinite" nodeType="mainSeq"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PART A · EXAMPLE 2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Write A² as a Product of Prime Factors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anim_1_a"/>
          <p:cNvSpPr/>
          <p:nvPr/>
        </p:nvSpPr>
        <p:spPr>
          <a:xfrm>
            <a:off x="548640" y="1463040"/>
            <a:ext cx="11091240" cy="868320"/>
          </a:xfrm>
          <a:prstGeom prst="roundRect">
            <a:avLst>
              <a:gd name="adj" fmla="val 10526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anim_1_a"/>
          <p:cNvSpPr/>
          <p:nvPr/>
        </p:nvSpPr>
        <p:spPr>
          <a:xfrm>
            <a:off x="548640" y="1463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A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 × 5</a:t>
            </a: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          B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7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anim_2_c"/>
          <p:cNvSpPr/>
          <p:nvPr/>
        </p:nvSpPr>
        <p:spPr>
          <a:xfrm>
            <a:off x="548640" y="2514600"/>
            <a:ext cx="11091240" cy="2468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anim_2_c"/>
          <p:cNvSpPr/>
          <p:nvPr/>
        </p:nvSpPr>
        <p:spPr>
          <a:xfrm>
            <a:off x="868680" y="28072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anim_2_c"/>
          <p:cNvSpPr/>
          <p:nvPr/>
        </p:nvSpPr>
        <p:spPr>
          <a:xfrm>
            <a:off x="86868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anim_2_c"/>
          <p:cNvSpPr/>
          <p:nvPr/>
        </p:nvSpPr>
        <p:spPr>
          <a:xfrm>
            <a:off x="1417320" y="2743200"/>
            <a:ext cx="978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A</a:t>
            </a:r>
            <a:r>
              <a:rPr b="0" lang="en-US" sz="15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0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 means A × A.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anim_3_c"/>
          <p:cNvSpPr/>
          <p:nvPr/>
        </p:nvSpPr>
        <p:spPr>
          <a:xfrm>
            <a:off x="868680" y="36759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anim_3_c"/>
          <p:cNvSpPr/>
          <p:nvPr/>
        </p:nvSpPr>
        <p:spPr>
          <a:xfrm>
            <a:off x="868680" y="3675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anim_3_c"/>
          <p:cNvSpPr/>
          <p:nvPr/>
        </p:nvSpPr>
        <p:spPr>
          <a:xfrm>
            <a:off x="1417320" y="3611880"/>
            <a:ext cx="978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Squaring multiplies every power by 2:  </a:t>
            </a: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3</a:t>
            </a: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→2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6</a:t>
            </a: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,  3→3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,  5→5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r>
              <a:rPr b="0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anim_4_c"/>
          <p:cNvSpPr/>
          <p:nvPr/>
        </p:nvSpPr>
        <p:spPr>
          <a:xfrm>
            <a:off x="868680" y="5166360"/>
            <a:ext cx="6583320" cy="776880"/>
          </a:xfrm>
          <a:prstGeom prst="roundRect">
            <a:avLst>
              <a:gd name="adj" fmla="val 14118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anim_4_c"/>
          <p:cNvSpPr/>
          <p:nvPr/>
        </p:nvSpPr>
        <p:spPr>
          <a:xfrm>
            <a:off x="1051560" y="5166360"/>
            <a:ext cx="6217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A² = 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r>
              <a:rPr b="1" lang="en-US" sz="22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6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 × 3</a:t>
            </a:r>
            <a:r>
              <a:rPr b="1" lang="en-US" sz="22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 × 5</a:t>
            </a:r>
            <a:r>
              <a:rPr b="1" lang="en-US" sz="22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0" dur="indefinite" restart="never" nodeType="tmRoot">
          <p:childTnLst>
            <p:seq>
              <p:cTn id="391" dur="indefinite" nodeType="mainSeq">
                <p:childTnLst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PART A · EXAMPLE 3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Write A × B as a Product of Prime Factors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anim_1_a"/>
          <p:cNvSpPr/>
          <p:nvPr/>
        </p:nvSpPr>
        <p:spPr>
          <a:xfrm>
            <a:off x="548640" y="1463040"/>
            <a:ext cx="11091240" cy="868320"/>
          </a:xfrm>
          <a:prstGeom prst="roundRect">
            <a:avLst>
              <a:gd name="adj" fmla="val 10526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anim_1_a"/>
          <p:cNvSpPr/>
          <p:nvPr/>
        </p:nvSpPr>
        <p:spPr>
          <a:xfrm>
            <a:off x="548640" y="1463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A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 × 5</a:t>
            </a: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          B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7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anim_2_c"/>
          <p:cNvSpPr/>
          <p:nvPr/>
        </p:nvSpPr>
        <p:spPr>
          <a:xfrm>
            <a:off x="548640" y="2514600"/>
            <a:ext cx="11091240" cy="2468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anim_2_c"/>
          <p:cNvSpPr/>
          <p:nvPr/>
        </p:nvSpPr>
        <p:spPr>
          <a:xfrm>
            <a:off x="868680" y="28072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anim_2_c"/>
          <p:cNvSpPr/>
          <p:nvPr/>
        </p:nvSpPr>
        <p:spPr>
          <a:xfrm>
            <a:off x="86868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anim_2_c"/>
          <p:cNvSpPr/>
          <p:nvPr/>
        </p:nvSpPr>
        <p:spPr>
          <a:xfrm>
            <a:off x="1417320" y="2743200"/>
            <a:ext cx="978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Multiplying </a:t>
            </a:r>
            <a:r>
              <a:rPr b="1" lang="en-US" sz="1500" spc="-1" strike="noStrike">
                <a:solidFill>
                  <a:srgbClr val="c84f2f"/>
                </a:solidFill>
                <a:latin typeface="Calibri"/>
                <a:ea typeface="Calibri"/>
              </a:rPr>
              <a:t>adds</a:t>
            </a:r>
            <a:r>
              <a:rPr b="0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 the powers of matching primes.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anim_3_c"/>
          <p:cNvSpPr/>
          <p:nvPr/>
        </p:nvSpPr>
        <p:spPr>
          <a:xfrm>
            <a:off x="868680" y="36759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anim_3_c"/>
          <p:cNvSpPr/>
          <p:nvPr/>
        </p:nvSpPr>
        <p:spPr>
          <a:xfrm>
            <a:off x="868680" y="3675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anim_3_c"/>
          <p:cNvSpPr/>
          <p:nvPr/>
        </p:nvSpPr>
        <p:spPr>
          <a:xfrm>
            <a:off x="1417320" y="3611880"/>
            <a:ext cx="978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2:  3 + 2 = 5      3:  1 + 2 = 3      5:  in A only      7:  in B only.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anim_4_c"/>
          <p:cNvSpPr/>
          <p:nvPr/>
        </p:nvSpPr>
        <p:spPr>
          <a:xfrm>
            <a:off x="868680" y="5166360"/>
            <a:ext cx="6583320" cy="776880"/>
          </a:xfrm>
          <a:prstGeom prst="roundRect">
            <a:avLst>
              <a:gd name="adj" fmla="val 14118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anim_4_c"/>
          <p:cNvSpPr/>
          <p:nvPr/>
        </p:nvSpPr>
        <p:spPr>
          <a:xfrm>
            <a:off x="1051560" y="5166360"/>
            <a:ext cx="6217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A × B = 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r>
              <a:rPr b="1" lang="en-US" sz="22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5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 × 3</a:t>
            </a:r>
            <a:r>
              <a:rPr b="1" lang="en-US" sz="22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3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 × 5 × 7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3" dur="indefinite" restart="never" nodeType="tmRoot">
          <p:childTnLst>
            <p:seq>
              <p:cTn id="434" dur="indefinite" nodeType="mainSeq"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PART A · EXAMPLE 4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Write A × B³ as a Product of Prime Factors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anim_1_a"/>
          <p:cNvSpPr/>
          <p:nvPr/>
        </p:nvSpPr>
        <p:spPr>
          <a:xfrm>
            <a:off x="548640" y="1463040"/>
            <a:ext cx="11091240" cy="868320"/>
          </a:xfrm>
          <a:prstGeom prst="roundRect">
            <a:avLst>
              <a:gd name="adj" fmla="val 10526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anim_1_a"/>
          <p:cNvSpPr/>
          <p:nvPr/>
        </p:nvSpPr>
        <p:spPr>
          <a:xfrm>
            <a:off x="548640" y="1463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A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 × 5</a:t>
            </a: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          B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7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anim_2_c"/>
          <p:cNvSpPr/>
          <p:nvPr/>
        </p:nvSpPr>
        <p:spPr>
          <a:xfrm>
            <a:off x="548640" y="2514600"/>
            <a:ext cx="11091240" cy="2468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anim_2_c"/>
          <p:cNvSpPr/>
          <p:nvPr/>
        </p:nvSpPr>
        <p:spPr>
          <a:xfrm>
            <a:off x="868680" y="28072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anim_2_c"/>
          <p:cNvSpPr/>
          <p:nvPr/>
        </p:nvSpPr>
        <p:spPr>
          <a:xfrm>
            <a:off x="868680" y="280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anim_2_c"/>
          <p:cNvSpPr/>
          <p:nvPr/>
        </p:nvSpPr>
        <p:spPr>
          <a:xfrm>
            <a:off x="1417320" y="2743200"/>
            <a:ext cx="978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First cube B — multiply each of B's powers by 3:  </a:t>
            </a: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B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3</a:t>
            </a: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 = 2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6</a:t>
            </a: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 × 3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6</a:t>
            </a: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 × 7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3</a:t>
            </a:r>
            <a:r>
              <a:rPr b="0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anim_3_c"/>
          <p:cNvSpPr/>
          <p:nvPr/>
        </p:nvSpPr>
        <p:spPr>
          <a:xfrm>
            <a:off x="868680" y="36759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anim_3_c"/>
          <p:cNvSpPr/>
          <p:nvPr/>
        </p:nvSpPr>
        <p:spPr>
          <a:xfrm>
            <a:off x="868680" y="3675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anim_3_c"/>
          <p:cNvSpPr/>
          <p:nvPr/>
        </p:nvSpPr>
        <p:spPr>
          <a:xfrm>
            <a:off x="1417320" y="3611880"/>
            <a:ext cx="978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61f"/>
                </a:solidFill>
                <a:latin typeface="Calibri"/>
                <a:ea typeface="Calibri"/>
              </a:rPr>
              <a:t>Now multiply by A — add the powers:  2: 3+6=9   3: 1+6=7   5: 1   7: 3.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anim_4_c"/>
          <p:cNvSpPr/>
          <p:nvPr/>
        </p:nvSpPr>
        <p:spPr>
          <a:xfrm>
            <a:off x="868680" y="5166360"/>
            <a:ext cx="6583320" cy="776880"/>
          </a:xfrm>
          <a:prstGeom prst="roundRect">
            <a:avLst>
              <a:gd name="adj" fmla="val 14118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anim_4_c"/>
          <p:cNvSpPr/>
          <p:nvPr/>
        </p:nvSpPr>
        <p:spPr>
          <a:xfrm>
            <a:off x="1051560" y="5166360"/>
            <a:ext cx="6217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A × B³ = 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r>
              <a:rPr b="1" lang="en-US" sz="22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9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 × 3</a:t>
            </a:r>
            <a:r>
              <a:rPr b="1" lang="en-US" sz="22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7</a:t>
            </a: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 × 5 × 7</a:t>
            </a:r>
            <a:r>
              <a:rPr b="1" lang="en-US" sz="22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6" dur="indefinite" restart="never" nodeType="tmRoot">
          <p:childTnLst>
            <p:seq>
              <p:cTn id="477" dur="indefinite" nodeType="mainSeq">
                <p:childTnLst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0" fill="hold">
                      <p:stCondLst>
                        <p:cond delay="indefinite"/>
                      </p:stCondLst>
                      <p:childTnLst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par>
                                <p:cTn id="5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5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8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PART B · EXAMPLE 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HCF &amp; LCM of Two Numbers — 24 and 36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anim_1_a"/>
          <p:cNvSpPr/>
          <p:nvPr/>
        </p:nvSpPr>
        <p:spPr>
          <a:xfrm>
            <a:off x="548640" y="1481400"/>
            <a:ext cx="11091240" cy="12340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anim_1_a"/>
          <p:cNvSpPr/>
          <p:nvPr/>
        </p:nvSpPr>
        <p:spPr>
          <a:xfrm>
            <a:off x="868680" y="1627560"/>
            <a:ext cx="10332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Step 1 — write each number as a product of primes (use factor trees):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anim_2_c"/>
          <p:cNvSpPr/>
          <p:nvPr/>
        </p:nvSpPr>
        <p:spPr>
          <a:xfrm>
            <a:off x="868680" y="199332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24332d"/>
                </a:solidFill>
                <a:latin typeface="Cambria"/>
                <a:ea typeface="Cambria"/>
              </a:rPr>
              <a:t>24 = </a:t>
            </a:r>
            <a:r>
              <a:rPr b="1" lang="en-US" sz="1900" spc="-1" strike="noStrike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9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3</a:t>
            </a:r>
            <a:r>
              <a:rPr b="1" lang="en-US" sz="1900" spc="-1" strike="noStrike">
                <a:solidFill>
                  <a:srgbClr val="16261f"/>
                </a:solidFill>
                <a:latin typeface="Cambria"/>
                <a:ea typeface="Cambria"/>
              </a:rPr>
              <a:t> × 3</a:t>
            </a:r>
            <a:r>
              <a:rPr b="1" lang="en-US" sz="1900" spc="-1" strike="noStrike">
                <a:solidFill>
                  <a:srgbClr val="24332d"/>
                </a:solidFill>
                <a:latin typeface="Cambria"/>
                <a:ea typeface="Cambria"/>
              </a:rPr>
              <a:t>          36 = </a:t>
            </a:r>
            <a:r>
              <a:rPr b="1" lang="en-US" sz="1900" spc="-1" strike="noStrike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9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900" spc="-1" strike="noStrike">
                <a:solidFill>
                  <a:srgbClr val="16261f"/>
                </a:solidFill>
                <a:latin typeface="Cambria"/>
                <a:ea typeface="Cambria"/>
              </a:rPr>
              <a:t> × 3</a:t>
            </a:r>
            <a:r>
              <a:rPr b="1" lang="en-US" sz="19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anim_3_c"/>
          <p:cNvSpPr/>
          <p:nvPr/>
        </p:nvSpPr>
        <p:spPr>
          <a:xfrm>
            <a:off x="548640" y="297180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anim_3_c"/>
          <p:cNvSpPr/>
          <p:nvPr/>
        </p:nvSpPr>
        <p:spPr>
          <a:xfrm>
            <a:off x="841320" y="3136320"/>
            <a:ext cx="4571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HCF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anim_3_c"/>
          <p:cNvSpPr/>
          <p:nvPr/>
        </p:nvSpPr>
        <p:spPr>
          <a:xfrm>
            <a:off x="841320" y="355716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a7269"/>
                </a:solidFill>
                <a:latin typeface="Calibri"/>
                <a:ea typeface="Calibri"/>
              </a:rPr>
              <a:t>common primes · lowest power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anim_3_c"/>
          <p:cNvSpPr/>
          <p:nvPr/>
        </p:nvSpPr>
        <p:spPr>
          <a:xfrm>
            <a:off x="841320" y="388620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2: lower of 3,2 → 2</a:t>
            </a:r>
            <a:r>
              <a:rPr b="1" lang="en-US" sz="13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    3: lower of 1,2 → 3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anim_3_c"/>
          <p:cNvSpPr/>
          <p:nvPr/>
        </p:nvSpPr>
        <p:spPr>
          <a:xfrm>
            <a:off x="841320" y="4544640"/>
            <a:ext cx="489168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anim_3_c"/>
          <p:cNvSpPr/>
          <p:nvPr/>
        </p:nvSpPr>
        <p:spPr>
          <a:xfrm>
            <a:off x="1024200" y="4544640"/>
            <a:ext cx="4525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HCF = 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1800" spc="-1" strike="noStrike">
                <a:solidFill>
                  <a:srgbClr val="e0ac2b"/>
                </a:solidFill>
                <a:latin typeface="Cambria"/>
                <a:ea typeface="Cambria"/>
              </a:rPr>
              <a:t> = 12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anim_4_c"/>
          <p:cNvSpPr/>
          <p:nvPr/>
        </p:nvSpPr>
        <p:spPr>
          <a:xfrm>
            <a:off x="6199560" y="297180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fbf3dd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anim_4_c"/>
          <p:cNvSpPr/>
          <p:nvPr/>
        </p:nvSpPr>
        <p:spPr>
          <a:xfrm>
            <a:off x="6492240" y="3136320"/>
            <a:ext cx="4571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LCM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anim_4_c"/>
          <p:cNvSpPr/>
          <p:nvPr/>
        </p:nvSpPr>
        <p:spPr>
          <a:xfrm>
            <a:off x="6492240" y="355716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a7269"/>
                </a:solidFill>
                <a:latin typeface="Calibri"/>
                <a:ea typeface="Calibri"/>
              </a:rPr>
              <a:t>all primes · highest power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anim_4_c"/>
          <p:cNvSpPr/>
          <p:nvPr/>
        </p:nvSpPr>
        <p:spPr>
          <a:xfrm>
            <a:off x="6492240" y="388620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2: higher → 2</a:t>
            </a:r>
            <a:r>
              <a:rPr b="1" lang="en-US" sz="13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    3: higher → 3</a:t>
            </a:r>
            <a:r>
              <a:rPr b="1" lang="en-US" sz="13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anim_4_c"/>
          <p:cNvSpPr/>
          <p:nvPr/>
        </p:nvSpPr>
        <p:spPr>
          <a:xfrm>
            <a:off x="6492240" y="4544640"/>
            <a:ext cx="489168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anim_4_c"/>
          <p:cNvSpPr/>
          <p:nvPr/>
        </p:nvSpPr>
        <p:spPr>
          <a:xfrm>
            <a:off x="6675120" y="4544640"/>
            <a:ext cx="4525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LCM = 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18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e0ac2b"/>
                </a:solidFill>
                <a:latin typeface="Cambria"/>
                <a:ea typeface="Cambria"/>
              </a:rPr>
              <a:t> = 72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9" dur="indefinite" restart="never" nodeType="tmRoot">
          <p:childTnLst>
            <p:seq>
              <p:cTn id="520" dur="indefinite" nodeType="mainSeq">
                <p:childTnLst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3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indefinite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3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PART B · EXAMPLE 2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HCF &amp; LCM of Three Numbers — 12, 18 and 30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anim_1_a"/>
          <p:cNvSpPr/>
          <p:nvPr/>
        </p:nvSpPr>
        <p:spPr>
          <a:xfrm>
            <a:off x="548640" y="1481400"/>
            <a:ext cx="11091240" cy="12340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anim_1_a"/>
          <p:cNvSpPr/>
          <p:nvPr/>
        </p:nvSpPr>
        <p:spPr>
          <a:xfrm>
            <a:off x="868680" y="1627560"/>
            <a:ext cx="10332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61f"/>
                </a:solidFill>
                <a:latin typeface="Calibri"/>
                <a:ea typeface="Calibri"/>
              </a:rPr>
              <a:t>Step 1 — write all three as products of primes: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anim_2_c"/>
          <p:cNvSpPr/>
          <p:nvPr/>
        </p:nvSpPr>
        <p:spPr>
          <a:xfrm>
            <a:off x="868680" y="199332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12 = </a:t>
            </a: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 × 3</a:t>
            </a: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      18 = </a:t>
            </a: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2 × 3</a:t>
            </a:r>
            <a:r>
              <a:rPr b="1" lang="en-US" sz="18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      30 = </a:t>
            </a: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2 × 3 ×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anim_3_c"/>
          <p:cNvSpPr/>
          <p:nvPr/>
        </p:nvSpPr>
        <p:spPr>
          <a:xfrm>
            <a:off x="548640" y="297180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anim_3_c"/>
          <p:cNvSpPr/>
          <p:nvPr/>
        </p:nvSpPr>
        <p:spPr>
          <a:xfrm>
            <a:off x="841320" y="3136320"/>
            <a:ext cx="4571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HCF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anim_3_c"/>
          <p:cNvSpPr/>
          <p:nvPr/>
        </p:nvSpPr>
        <p:spPr>
          <a:xfrm>
            <a:off x="841320" y="355716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a7269"/>
                </a:solidFill>
                <a:latin typeface="Calibri"/>
                <a:ea typeface="Calibri"/>
              </a:rPr>
              <a:t>common primes · lowest power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anim_3_c"/>
          <p:cNvSpPr/>
          <p:nvPr/>
        </p:nvSpPr>
        <p:spPr>
          <a:xfrm>
            <a:off x="841320" y="388620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Primes shared by </a:t>
            </a:r>
            <a:r>
              <a:rPr b="1" lang="en-US" sz="1350" spc="-1" strike="noStrike">
                <a:solidFill>
                  <a:srgbClr val="c84f2f"/>
                </a:solidFill>
                <a:latin typeface="Calibri"/>
                <a:ea typeface="Calibri"/>
              </a:rPr>
              <a:t>all three</a:t>
            </a: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:  2 and 3, lowest power.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anim_3_c"/>
          <p:cNvSpPr/>
          <p:nvPr/>
        </p:nvSpPr>
        <p:spPr>
          <a:xfrm>
            <a:off x="841320" y="4544640"/>
            <a:ext cx="489168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anim_3_c"/>
          <p:cNvSpPr/>
          <p:nvPr/>
        </p:nvSpPr>
        <p:spPr>
          <a:xfrm>
            <a:off x="1024200" y="4544640"/>
            <a:ext cx="4525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HCF = 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 × 3</a:t>
            </a:r>
            <a:r>
              <a:rPr b="1" lang="en-US" sz="1800" spc="-1" strike="noStrike">
                <a:solidFill>
                  <a:srgbClr val="e0ac2b"/>
                </a:solidFill>
                <a:latin typeface="Cambria"/>
                <a:ea typeface="Cambria"/>
              </a:rPr>
              <a:t> = 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anim_4_c"/>
          <p:cNvSpPr/>
          <p:nvPr/>
        </p:nvSpPr>
        <p:spPr>
          <a:xfrm>
            <a:off x="6199560" y="297180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fbf3dd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anim_4_c"/>
          <p:cNvSpPr/>
          <p:nvPr/>
        </p:nvSpPr>
        <p:spPr>
          <a:xfrm>
            <a:off x="6492240" y="3136320"/>
            <a:ext cx="4571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LCM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anim_4_c"/>
          <p:cNvSpPr/>
          <p:nvPr/>
        </p:nvSpPr>
        <p:spPr>
          <a:xfrm>
            <a:off x="6492240" y="355716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a7269"/>
                </a:solidFill>
                <a:latin typeface="Calibri"/>
                <a:ea typeface="Calibri"/>
              </a:rPr>
              <a:t>all primes · highest power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anim_4_c"/>
          <p:cNvSpPr/>
          <p:nvPr/>
        </p:nvSpPr>
        <p:spPr>
          <a:xfrm>
            <a:off x="6492240" y="388620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Every prime that appears, highest power:  2</a:t>
            </a:r>
            <a:r>
              <a:rPr b="0" lang="en-US" sz="13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, 3</a:t>
            </a:r>
            <a:r>
              <a:rPr b="0" lang="en-US" sz="13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, 5.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anim_4_c"/>
          <p:cNvSpPr/>
          <p:nvPr/>
        </p:nvSpPr>
        <p:spPr>
          <a:xfrm>
            <a:off x="6492240" y="4544640"/>
            <a:ext cx="489168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anim_4_c"/>
          <p:cNvSpPr/>
          <p:nvPr/>
        </p:nvSpPr>
        <p:spPr>
          <a:xfrm>
            <a:off x="6675120" y="4544640"/>
            <a:ext cx="4525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LCM = 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18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 × 5</a:t>
            </a:r>
            <a:r>
              <a:rPr b="1" lang="en-US" sz="1800" spc="-1" strike="noStrike">
                <a:solidFill>
                  <a:srgbClr val="e0ac2b"/>
                </a:solidFill>
                <a:latin typeface="Cambria"/>
                <a:ea typeface="Cambria"/>
              </a:rPr>
              <a:t> = 180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4" dur="indefinite" restart="never" nodeType="tmRoot">
          <p:childTnLst>
            <p:seq>
              <p:cTn id="575" dur="indefinite" nodeType="mainSeq">
                <p:childTnLst>
                  <p:par>
                    <p:cTn id="576" fill="hold">
                      <p:stCondLst>
                        <p:cond delay="0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indefinite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8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3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6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5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8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6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PART B · EXAMPLE 3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HCF &amp; LCM of A and B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anim_1_a"/>
          <p:cNvSpPr/>
          <p:nvPr/>
        </p:nvSpPr>
        <p:spPr>
          <a:xfrm>
            <a:off x="548640" y="1463040"/>
            <a:ext cx="11091240" cy="868320"/>
          </a:xfrm>
          <a:prstGeom prst="roundRect">
            <a:avLst>
              <a:gd name="adj" fmla="val 10526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anim_1_a"/>
          <p:cNvSpPr/>
          <p:nvPr/>
        </p:nvSpPr>
        <p:spPr>
          <a:xfrm>
            <a:off x="548640" y="1463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A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 × 5</a:t>
            </a: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          B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7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anim_2_c"/>
          <p:cNvSpPr/>
          <p:nvPr/>
        </p:nvSpPr>
        <p:spPr>
          <a:xfrm>
            <a:off x="548640" y="269748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anim_2_c"/>
          <p:cNvSpPr/>
          <p:nvPr/>
        </p:nvSpPr>
        <p:spPr>
          <a:xfrm>
            <a:off x="841320" y="2862000"/>
            <a:ext cx="4571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HCF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anim_2_c"/>
          <p:cNvSpPr/>
          <p:nvPr/>
        </p:nvSpPr>
        <p:spPr>
          <a:xfrm>
            <a:off x="841320" y="328284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a7269"/>
                </a:solidFill>
                <a:latin typeface="Calibri"/>
                <a:ea typeface="Calibri"/>
              </a:rPr>
              <a:t>common primes · lowest power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anim_2_c"/>
          <p:cNvSpPr/>
          <p:nvPr/>
        </p:nvSpPr>
        <p:spPr>
          <a:xfrm>
            <a:off x="841320" y="361188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2: min(3,2)→2</a:t>
            </a:r>
            <a:r>
              <a:rPr b="1" lang="en-US" sz="13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   3: min(1,2)→3   (5, 7 not shared)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anim_2_c"/>
          <p:cNvSpPr/>
          <p:nvPr/>
        </p:nvSpPr>
        <p:spPr>
          <a:xfrm>
            <a:off x="841320" y="4270320"/>
            <a:ext cx="489168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anim_2_c"/>
          <p:cNvSpPr/>
          <p:nvPr/>
        </p:nvSpPr>
        <p:spPr>
          <a:xfrm>
            <a:off x="1024200" y="4270320"/>
            <a:ext cx="4525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HCF = 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  (= 12)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anim_3_c"/>
          <p:cNvSpPr/>
          <p:nvPr/>
        </p:nvSpPr>
        <p:spPr>
          <a:xfrm>
            <a:off x="6199560" y="269748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fbf3dd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anim_3_c"/>
          <p:cNvSpPr/>
          <p:nvPr/>
        </p:nvSpPr>
        <p:spPr>
          <a:xfrm>
            <a:off x="6492240" y="2862000"/>
            <a:ext cx="4571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LCM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anim_3_c"/>
          <p:cNvSpPr/>
          <p:nvPr/>
        </p:nvSpPr>
        <p:spPr>
          <a:xfrm>
            <a:off x="6492240" y="328284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a7269"/>
                </a:solidFill>
                <a:latin typeface="Calibri"/>
                <a:ea typeface="Calibri"/>
              </a:rPr>
              <a:t>all primes · highest power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anim_3_c"/>
          <p:cNvSpPr/>
          <p:nvPr/>
        </p:nvSpPr>
        <p:spPr>
          <a:xfrm>
            <a:off x="6492240" y="361188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2: max→2</a:t>
            </a:r>
            <a:r>
              <a:rPr b="1" lang="en-US" sz="13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   3: max→3</a:t>
            </a:r>
            <a:r>
              <a:rPr b="1" lang="en-US" sz="13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   5   7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anim_3_c"/>
          <p:cNvSpPr/>
          <p:nvPr/>
        </p:nvSpPr>
        <p:spPr>
          <a:xfrm>
            <a:off x="6492240" y="4270320"/>
            <a:ext cx="489168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anim_3_c"/>
          <p:cNvSpPr/>
          <p:nvPr/>
        </p:nvSpPr>
        <p:spPr>
          <a:xfrm>
            <a:off x="6675120" y="4270320"/>
            <a:ext cx="4525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LCM = 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5 × 7</a:t>
            </a:r>
            <a:r>
              <a:rPr b="1" lang="en-US" sz="1400" spc="-1" strike="noStrike">
                <a:solidFill>
                  <a:srgbClr val="e0ac2b"/>
                </a:solidFill>
                <a:latin typeface="Cambria"/>
                <a:ea typeface="Cambria"/>
              </a:rPr>
              <a:t>  (= 2520)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9" dur="indefinite" restart="never" nodeType="tmRoot">
          <p:childTnLst>
            <p:seq>
              <p:cTn id="630" dur="indefinite" nodeType="mainSeq"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8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3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6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9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2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8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indefinite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3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6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9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5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8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PART B · EXAMPLE 4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HCF &amp; LCM of 2A and B²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anim_1_a"/>
          <p:cNvSpPr/>
          <p:nvPr/>
        </p:nvSpPr>
        <p:spPr>
          <a:xfrm>
            <a:off x="548640" y="1463040"/>
            <a:ext cx="11091240" cy="868320"/>
          </a:xfrm>
          <a:prstGeom prst="roundRect">
            <a:avLst>
              <a:gd name="adj" fmla="val 10526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anim_1_a"/>
          <p:cNvSpPr/>
          <p:nvPr/>
        </p:nvSpPr>
        <p:spPr>
          <a:xfrm>
            <a:off x="548640" y="1463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A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 × 5</a:t>
            </a: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          B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7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anim_2_c"/>
          <p:cNvSpPr/>
          <p:nvPr/>
        </p:nvSpPr>
        <p:spPr>
          <a:xfrm>
            <a:off x="548640" y="2450520"/>
            <a:ext cx="11091240" cy="6397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anim_2_c"/>
          <p:cNvSpPr/>
          <p:nvPr/>
        </p:nvSpPr>
        <p:spPr>
          <a:xfrm>
            <a:off x="868680" y="24505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4332d"/>
                </a:solidFill>
                <a:latin typeface="Calibri"/>
                <a:ea typeface="Calibri"/>
              </a:rPr>
              <a:t>First rewrite:   </a:t>
            </a: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2A = 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4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 × 3 × 5</a:t>
            </a: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      B</a:t>
            </a:r>
            <a:r>
              <a:rPr b="1" lang="en-US" sz="17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 = 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4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 × 3</a:t>
            </a:r>
            <a:r>
              <a:rPr b="1" lang="en-US" sz="17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4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 × 7</a:t>
            </a:r>
            <a:r>
              <a:rPr b="1" lang="en-US" sz="17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anim_3_c"/>
          <p:cNvSpPr/>
          <p:nvPr/>
        </p:nvSpPr>
        <p:spPr>
          <a:xfrm>
            <a:off x="548640" y="329184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anim_3_c"/>
          <p:cNvSpPr/>
          <p:nvPr/>
        </p:nvSpPr>
        <p:spPr>
          <a:xfrm>
            <a:off x="841320" y="3456360"/>
            <a:ext cx="4571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HCF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anim_3_c"/>
          <p:cNvSpPr/>
          <p:nvPr/>
        </p:nvSpPr>
        <p:spPr>
          <a:xfrm>
            <a:off x="841320" y="387720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a7269"/>
                </a:solidFill>
                <a:latin typeface="Calibri"/>
                <a:ea typeface="Calibri"/>
              </a:rPr>
              <a:t>common primes · lowest power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anim_3_c"/>
          <p:cNvSpPr/>
          <p:nvPr/>
        </p:nvSpPr>
        <p:spPr>
          <a:xfrm>
            <a:off x="841320" y="420624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2: min(4,4)→2</a:t>
            </a:r>
            <a:r>
              <a:rPr b="1" lang="en-US" sz="13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4</a:t>
            </a: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   3: min(1,4)→3   (5, 7 not shared)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anim_3_c"/>
          <p:cNvSpPr/>
          <p:nvPr/>
        </p:nvSpPr>
        <p:spPr>
          <a:xfrm>
            <a:off x="841320" y="4864680"/>
            <a:ext cx="489168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anim_3_c"/>
          <p:cNvSpPr/>
          <p:nvPr/>
        </p:nvSpPr>
        <p:spPr>
          <a:xfrm>
            <a:off x="1024200" y="4864680"/>
            <a:ext cx="4525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HCF = 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  (= 48)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anim_4_c"/>
          <p:cNvSpPr/>
          <p:nvPr/>
        </p:nvSpPr>
        <p:spPr>
          <a:xfrm>
            <a:off x="6199560" y="329184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fbf3dd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anim_4_c"/>
          <p:cNvSpPr/>
          <p:nvPr/>
        </p:nvSpPr>
        <p:spPr>
          <a:xfrm>
            <a:off x="6492240" y="3456360"/>
            <a:ext cx="4571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LCM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anim_4_c"/>
          <p:cNvSpPr/>
          <p:nvPr/>
        </p:nvSpPr>
        <p:spPr>
          <a:xfrm>
            <a:off x="6492240" y="387720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a7269"/>
                </a:solidFill>
                <a:latin typeface="Calibri"/>
                <a:ea typeface="Calibri"/>
              </a:rPr>
              <a:t>all primes · highest power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anim_4_c"/>
          <p:cNvSpPr/>
          <p:nvPr/>
        </p:nvSpPr>
        <p:spPr>
          <a:xfrm>
            <a:off x="6492240" y="420624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2: 2</a:t>
            </a:r>
            <a:r>
              <a:rPr b="1" lang="en-US" sz="13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4</a:t>
            </a: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   3: 3</a:t>
            </a:r>
            <a:r>
              <a:rPr b="1" lang="en-US" sz="13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4</a:t>
            </a: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   5   7</a:t>
            </a:r>
            <a:r>
              <a:rPr b="1" lang="en-US" sz="13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anim_4_c"/>
          <p:cNvSpPr/>
          <p:nvPr/>
        </p:nvSpPr>
        <p:spPr>
          <a:xfrm>
            <a:off x="6492240" y="4864680"/>
            <a:ext cx="489168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anim_4_c"/>
          <p:cNvSpPr/>
          <p:nvPr/>
        </p:nvSpPr>
        <p:spPr>
          <a:xfrm>
            <a:off x="6675120" y="4864680"/>
            <a:ext cx="4525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LCM = 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5 × 7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9" dur="indefinite" restart="never" nodeType="tmRoot">
          <p:childTnLst>
            <p:seq>
              <p:cTn id="680" dur="indefinite" nodeType="mainSeq">
                <p:childTnLst>
                  <p:par>
                    <p:cTn id="681" fill="hold">
                      <p:stCondLst>
                        <p:cond delay="0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5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9" fill="hold">
                      <p:stCondLst>
                        <p:cond delay="indefinite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indefinite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1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4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0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3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7" fill="hold">
                      <p:stCondLst>
                        <p:cond delay="indefinite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4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7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6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PART B · EXAMPLE 5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HCF &amp; LCM of A × B and B²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anim_1_a"/>
          <p:cNvSpPr/>
          <p:nvPr/>
        </p:nvSpPr>
        <p:spPr>
          <a:xfrm>
            <a:off x="548640" y="1463040"/>
            <a:ext cx="11091240" cy="868320"/>
          </a:xfrm>
          <a:prstGeom prst="roundRect">
            <a:avLst>
              <a:gd name="adj" fmla="val 10526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anim_1_a"/>
          <p:cNvSpPr/>
          <p:nvPr/>
        </p:nvSpPr>
        <p:spPr>
          <a:xfrm>
            <a:off x="548640" y="14630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A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 × 5</a:t>
            </a: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          B = 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21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2100" spc="-1" strike="noStrike">
                <a:solidFill>
                  <a:srgbClr val="ffffff"/>
                </a:solidFill>
                <a:latin typeface="Cambria"/>
                <a:ea typeface="Cambria"/>
              </a:rPr>
              <a:t> × 7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anim_2_c"/>
          <p:cNvSpPr/>
          <p:nvPr/>
        </p:nvSpPr>
        <p:spPr>
          <a:xfrm>
            <a:off x="548640" y="2450520"/>
            <a:ext cx="11091240" cy="6397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anim_2_c"/>
          <p:cNvSpPr/>
          <p:nvPr/>
        </p:nvSpPr>
        <p:spPr>
          <a:xfrm>
            <a:off x="868680" y="24505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4332d"/>
                </a:solidFill>
                <a:latin typeface="Calibri"/>
                <a:ea typeface="Calibri"/>
              </a:rPr>
              <a:t>First rewrite:   </a:t>
            </a: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A×B = 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5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 × 3</a:t>
            </a:r>
            <a:r>
              <a:rPr b="1" lang="en-US" sz="17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3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 × 5 × 7</a:t>
            </a: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      B</a:t>
            </a:r>
            <a:r>
              <a:rPr b="1" lang="en-US" sz="17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 = 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4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 × 3</a:t>
            </a:r>
            <a:r>
              <a:rPr b="1" lang="en-US" sz="17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4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 × 7</a:t>
            </a:r>
            <a:r>
              <a:rPr b="1" lang="en-US" sz="17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anim_3_c"/>
          <p:cNvSpPr/>
          <p:nvPr/>
        </p:nvSpPr>
        <p:spPr>
          <a:xfrm>
            <a:off x="548640" y="329184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anim_3_c"/>
          <p:cNvSpPr/>
          <p:nvPr/>
        </p:nvSpPr>
        <p:spPr>
          <a:xfrm>
            <a:off x="841320" y="3456360"/>
            <a:ext cx="4571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HCF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anim_3_c"/>
          <p:cNvSpPr/>
          <p:nvPr/>
        </p:nvSpPr>
        <p:spPr>
          <a:xfrm>
            <a:off x="841320" y="387720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a7269"/>
                </a:solidFill>
                <a:latin typeface="Calibri"/>
                <a:ea typeface="Calibri"/>
              </a:rPr>
              <a:t>common primes · lowest power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anim_3_c"/>
          <p:cNvSpPr/>
          <p:nvPr/>
        </p:nvSpPr>
        <p:spPr>
          <a:xfrm>
            <a:off x="841320" y="420624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4332d"/>
                </a:solidFill>
                <a:latin typeface="Calibri"/>
                <a:ea typeface="Calibri"/>
              </a:rPr>
              <a:t>2: min(5,4)→2</a:t>
            </a:r>
            <a:r>
              <a:rPr b="1" lang="en-US" sz="12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4</a:t>
            </a:r>
            <a:r>
              <a:rPr b="1" lang="en-US" sz="1250" spc="-1" strike="noStrike">
                <a:solidFill>
                  <a:srgbClr val="24332d"/>
                </a:solidFill>
                <a:latin typeface="Calibri"/>
                <a:ea typeface="Calibri"/>
              </a:rPr>
              <a:t>   3: min(3,4)→3</a:t>
            </a:r>
            <a:r>
              <a:rPr b="1" lang="en-US" sz="12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250" spc="-1" strike="noStrike">
                <a:solidFill>
                  <a:srgbClr val="24332d"/>
                </a:solidFill>
                <a:latin typeface="Calibri"/>
                <a:ea typeface="Calibri"/>
              </a:rPr>
              <a:t>   7: min(1,2)→7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anim_3_c"/>
          <p:cNvSpPr/>
          <p:nvPr/>
        </p:nvSpPr>
        <p:spPr>
          <a:xfrm>
            <a:off x="841320" y="4864680"/>
            <a:ext cx="489168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anim_3_c"/>
          <p:cNvSpPr/>
          <p:nvPr/>
        </p:nvSpPr>
        <p:spPr>
          <a:xfrm>
            <a:off x="1024200" y="4864680"/>
            <a:ext cx="4525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HCF = 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7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anim_4_c"/>
          <p:cNvSpPr/>
          <p:nvPr/>
        </p:nvSpPr>
        <p:spPr>
          <a:xfrm>
            <a:off x="6199560" y="329184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fbf3dd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anim_4_c"/>
          <p:cNvSpPr/>
          <p:nvPr/>
        </p:nvSpPr>
        <p:spPr>
          <a:xfrm>
            <a:off x="6492240" y="3456360"/>
            <a:ext cx="4571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LCM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anim_4_c"/>
          <p:cNvSpPr/>
          <p:nvPr/>
        </p:nvSpPr>
        <p:spPr>
          <a:xfrm>
            <a:off x="6492240" y="387720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a7269"/>
                </a:solidFill>
                <a:latin typeface="Calibri"/>
                <a:ea typeface="Calibri"/>
              </a:rPr>
              <a:t>all primes · highest power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anim_4_c"/>
          <p:cNvSpPr/>
          <p:nvPr/>
        </p:nvSpPr>
        <p:spPr>
          <a:xfrm>
            <a:off x="6492240" y="420624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2: 2</a:t>
            </a:r>
            <a:r>
              <a:rPr b="1" lang="en-US" sz="13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5</a:t>
            </a: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   3: 3</a:t>
            </a:r>
            <a:r>
              <a:rPr b="1" lang="en-US" sz="13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4</a:t>
            </a:r>
            <a:r>
              <a:rPr b="1" lang="en-US" sz="1300" spc="-1" strike="noStrike">
                <a:solidFill>
                  <a:srgbClr val="24332d"/>
                </a:solidFill>
                <a:latin typeface="Calibri"/>
                <a:ea typeface="Calibri"/>
              </a:rPr>
              <a:t>   5   7</a:t>
            </a:r>
            <a:r>
              <a:rPr b="1" lang="en-US" sz="13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anim_4_c"/>
          <p:cNvSpPr/>
          <p:nvPr/>
        </p:nvSpPr>
        <p:spPr>
          <a:xfrm>
            <a:off x="6492240" y="4864680"/>
            <a:ext cx="489168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anim_4_c"/>
          <p:cNvSpPr/>
          <p:nvPr/>
        </p:nvSpPr>
        <p:spPr>
          <a:xfrm>
            <a:off x="6675120" y="4864680"/>
            <a:ext cx="45259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LCM = 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3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5 × 7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37" dur="indefinite" restart="never" nodeType="tmRoot">
          <p:childTnLst>
            <p:seq>
              <p:cTn id="738" dur="indefinite" nodeType="mainSeq">
                <p:childTnLst>
                  <p:par>
                    <p:cTn id="739" fill="hold">
                      <p:stCondLst>
                        <p:cond delay="0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id="74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3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6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7" fill="hold">
                      <p:stCondLst>
                        <p:cond delay="indefinite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1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5" fill="hold">
                      <p:stCondLst>
                        <p:cond delay="indefinite"/>
                      </p:stCondLst>
                      <p:childTnLst>
                        <p:par>
                          <p:cTn id="756" fill="hold">
                            <p:stCondLst>
                              <p:cond delay="0"/>
                            </p:stCondLst>
                            <p:childTnLst>
                              <p:par>
                                <p:cTn id="7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9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2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5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8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1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4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5" fill="hold">
                      <p:stCondLst>
                        <p:cond delay="indefinite"/>
                      </p:stCondLst>
                      <p:childTnLst>
                        <p:par>
                          <p:cTn id="776" fill="hold">
                            <p:stCondLst>
                              <p:cond delay="0"/>
                            </p:stCondLst>
                            <p:childTnLst>
                              <p:par>
                                <p:cTn id="7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9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5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1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4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EXTENDING THE METHOD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Prime Factorisation with Algebra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548640" y="141732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6a7269"/>
                </a:solidFill>
                <a:latin typeface="Calibri"/>
                <a:ea typeface="Calibri"/>
              </a:rPr>
              <a:t>Break each term into prime factors and variables, then take the common parts.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anim_1_a"/>
          <p:cNvSpPr/>
          <p:nvPr/>
        </p:nvSpPr>
        <p:spPr>
          <a:xfrm>
            <a:off x="548640" y="1874520"/>
            <a:ext cx="5440320" cy="1782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anim_1_a"/>
          <p:cNvSpPr/>
          <p:nvPr/>
        </p:nvSpPr>
        <p:spPr>
          <a:xfrm>
            <a:off x="841320" y="2030040"/>
            <a:ext cx="4845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84f2f"/>
                </a:solidFill>
                <a:latin typeface="Calibri"/>
                <a:ea typeface="Calibri"/>
              </a:rPr>
              <a:t>Factorise 120x²y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anim_1_a"/>
          <p:cNvSpPr/>
          <p:nvPr/>
        </p:nvSpPr>
        <p:spPr>
          <a:xfrm>
            <a:off x="841320" y="2468880"/>
            <a:ext cx="4845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120 = 2</a:t>
            </a:r>
            <a:r>
              <a:rPr b="1" lang="en-US" sz="16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 × 3 × 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libri"/>
                <a:ea typeface="Calibri"/>
              </a:rPr>
              <a:t>⇒  </a:t>
            </a:r>
            <a:r>
              <a:rPr b="1" lang="en-US" sz="1600" spc="-1" strike="noStrike">
                <a:solidFill>
                  <a:srgbClr val="16261f"/>
                </a:solidFill>
                <a:latin typeface="Calibri"/>
                <a:ea typeface="Calibri"/>
              </a:rPr>
              <a:t>120x</a:t>
            </a:r>
            <a:r>
              <a:rPr b="1" lang="en-US" sz="16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r>
              <a:rPr b="1" lang="en-US" sz="1600" spc="-1" strike="noStrike">
                <a:solidFill>
                  <a:srgbClr val="16261f"/>
                </a:solidFill>
                <a:latin typeface="Calibri"/>
                <a:ea typeface="Calibri"/>
              </a:rPr>
              <a:t>y = 2</a:t>
            </a:r>
            <a:r>
              <a:rPr b="1" lang="en-US" sz="16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3</a:t>
            </a:r>
            <a:r>
              <a:rPr b="1" lang="en-US" sz="1600" spc="-1" strike="noStrike">
                <a:solidFill>
                  <a:srgbClr val="16261f"/>
                </a:solidFill>
                <a:latin typeface="Calibri"/>
                <a:ea typeface="Calibri"/>
              </a:rPr>
              <a:t> × 3 × 5 × x</a:t>
            </a:r>
            <a:r>
              <a:rPr b="1" lang="en-US" sz="16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r>
              <a:rPr b="1" lang="en-US" sz="1600" spc="-1" strike="noStrike">
                <a:solidFill>
                  <a:srgbClr val="16261f"/>
                </a:solidFill>
                <a:latin typeface="Calibri"/>
                <a:ea typeface="Calibri"/>
              </a:rPr>
              <a:t> × 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anim_2_c"/>
          <p:cNvSpPr/>
          <p:nvPr/>
        </p:nvSpPr>
        <p:spPr>
          <a:xfrm>
            <a:off x="6199560" y="1874520"/>
            <a:ext cx="5440320" cy="1782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anim_2_c"/>
          <p:cNvSpPr/>
          <p:nvPr/>
        </p:nvSpPr>
        <p:spPr>
          <a:xfrm>
            <a:off x="6492240" y="2030040"/>
            <a:ext cx="4845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84f2f"/>
                </a:solidFill>
                <a:latin typeface="Calibri"/>
                <a:ea typeface="Calibri"/>
              </a:rPr>
              <a:t>Factorise 200x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anim_2_c"/>
          <p:cNvSpPr/>
          <p:nvPr/>
        </p:nvSpPr>
        <p:spPr>
          <a:xfrm>
            <a:off x="6492240" y="2468880"/>
            <a:ext cx="4845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200 = 2</a:t>
            </a:r>
            <a:r>
              <a:rPr b="1" lang="en-US" sz="16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 × 5</a:t>
            </a:r>
            <a:r>
              <a:rPr b="1" lang="en-US" sz="16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libri"/>
                <a:ea typeface="Calibri"/>
              </a:rPr>
              <a:t>⇒  </a:t>
            </a:r>
            <a:r>
              <a:rPr b="1" lang="en-US" sz="1600" spc="-1" strike="noStrike">
                <a:solidFill>
                  <a:srgbClr val="16261f"/>
                </a:solidFill>
                <a:latin typeface="Calibri"/>
                <a:ea typeface="Calibri"/>
              </a:rPr>
              <a:t>200x = 2</a:t>
            </a:r>
            <a:r>
              <a:rPr b="1" lang="en-US" sz="16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3</a:t>
            </a:r>
            <a:r>
              <a:rPr b="1" lang="en-US" sz="1600" spc="-1" strike="noStrike">
                <a:solidFill>
                  <a:srgbClr val="16261f"/>
                </a:solidFill>
                <a:latin typeface="Calibri"/>
                <a:ea typeface="Calibri"/>
              </a:rPr>
              <a:t> × 5</a:t>
            </a:r>
            <a:r>
              <a:rPr b="1" lang="en-US" sz="1600" spc="-1" strike="noStrike" baseline="30000">
                <a:solidFill>
                  <a:srgbClr val="16261f"/>
                </a:solidFill>
                <a:latin typeface="Calibri"/>
                <a:ea typeface="Calibri"/>
              </a:rPr>
              <a:t>2</a:t>
            </a:r>
            <a:r>
              <a:rPr b="1" lang="en-US" sz="1600" spc="-1" strike="noStrike">
                <a:solidFill>
                  <a:srgbClr val="16261f"/>
                </a:solidFill>
                <a:latin typeface="Calibri"/>
                <a:ea typeface="Calibri"/>
              </a:rPr>
              <a:t> × 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anim_3_c"/>
          <p:cNvSpPr/>
          <p:nvPr/>
        </p:nvSpPr>
        <p:spPr>
          <a:xfrm>
            <a:off x="548640" y="3794760"/>
            <a:ext cx="11091240" cy="2331360"/>
          </a:xfrm>
          <a:prstGeom prst="roundRect">
            <a:avLst>
              <a:gd name="adj" fmla="val 3922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anim_3_c"/>
          <p:cNvSpPr/>
          <p:nvPr/>
        </p:nvSpPr>
        <p:spPr>
          <a:xfrm>
            <a:off x="868680" y="39686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Find the HCF of 120x²y and 200x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anim_3_c"/>
          <p:cNvSpPr/>
          <p:nvPr/>
        </p:nvSpPr>
        <p:spPr>
          <a:xfrm>
            <a:off x="868680" y="4389120"/>
            <a:ext cx="10058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Take the lowest power of each </a:t>
            </a:r>
            <a:r>
              <a:rPr b="1" lang="en-US" sz="1350" spc="-1" strike="noStrike">
                <a:solidFill>
                  <a:srgbClr val="c84f2f"/>
                </a:solidFill>
                <a:latin typeface="Calibri"/>
                <a:ea typeface="Calibri"/>
              </a:rPr>
              <a:t>common</a:t>
            </a:r>
            <a:r>
              <a:rPr b="0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 factor: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anim_3_c"/>
          <p:cNvSpPr/>
          <p:nvPr/>
        </p:nvSpPr>
        <p:spPr>
          <a:xfrm>
            <a:off x="868680" y="475488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Common primes:  2</a:t>
            </a:r>
            <a:r>
              <a:rPr b="1" lang="en-US" sz="15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  and  5        Common variable:  x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anim_4_c"/>
          <p:cNvSpPr/>
          <p:nvPr/>
        </p:nvSpPr>
        <p:spPr>
          <a:xfrm>
            <a:off x="868680" y="5303520"/>
            <a:ext cx="585180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anim_4_c"/>
          <p:cNvSpPr/>
          <p:nvPr/>
        </p:nvSpPr>
        <p:spPr>
          <a:xfrm>
            <a:off x="868680" y="5303520"/>
            <a:ext cx="5851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ac2b"/>
                </a:solidFill>
                <a:latin typeface="Cambria"/>
                <a:ea typeface="Cambria"/>
              </a:rPr>
              <a:t>HCF = 2</a:t>
            </a:r>
            <a:r>
              <a:rPr b="1" lang="en-US" sz="18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3</a:t>
            </a:r>
            <a:r>
              <a:rPr b="1" lang="en-US" sz="1800" spc="-1" strike="noStrike">
                <a:solidFill>
                  <a:srgbClr val="e0ac2b"/>
                </a:solidFill>
                <a:latin typeface="Cambria"/>
                <a:ea typeface="Cambria"/>
              </a:rPr>
              <a:t> × 5 × x  =  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40x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5" dur="indefinite" restart="never" nodeType="tmRoot">
          <p:childTnLst>
            <p:seq>
              <p:cTn id="796" dur="indefinite" nodeType="mainSeq">
                <p:childTnLst>
                  <p:par>
                    <p:cTn id="797" fill="hold">
                      <p:stCondLst>
                        <p:cond delay="0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4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8" fill="hold">
                      <p:stCondLst>
                        <p:cond delay="indefinite"/>
                      </p:stCondLst>
                      <p:childTnLst>
                        <p:par>
                          <p:cTn id="809" fill="hold">
                            <p:stCondLst>
                              <p:cond delay="0"/>
                            </p:stCondLst>
                            <p:childTnLst>
                              <p:par>
                                <p:cTn id="8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8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indefinite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3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6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9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2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3" fill="hold">
                      <p:stCondLst>
                        <p:cond delay="indefinite"/>
                      </p:stCondLst>
                      <p:childTnLst>
                        <p:par>
                          <p:cTn id="834" fill="hold">
                            <p:stCondLst>
                              <p:cond delay="0"/>
                            </p:stCondLst>
                            <p:childTnLst>
                              <p:par>
                                <p:cTn id="8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0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CHALLENGE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Apply It — Problem Solving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anim_1_a"/>
          <p:cNvSpPr/>
          <p:nvPr/>
        </p:nvSpPr>
        <p:spPr>
          <a:xfrm>
            <a:off x="548640" y="1572840"/>
            <a:ext cx="7040520" cy="42058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anim_1_a"/>
          <p:cNvSpPr/>
          <p:nvPr/>
        </p:nvSpPr>
        <p:spPr>
          <a:xfrm>
            <a:off x="868680" y="179208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84f2f"/>
                </a:solidFill>
                <a:latin typeface="Calibri"/>
                <a:ea typeface="Calibri"/>
              </a:rPr>
              <a:t>THE GARDEN PROBLEM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anim_1_a"/>
          <p:cNvSpPr/>
          <p:nvPr/>
        </p:nvSpPr>
        <p:spPr>
          <a:xfrm>
            <a:off x="868680" y="2157840"/>
            <a:ext cx="6446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A rectangular garden in Al Wakrah measures 84 m by 56 m. It is to be divided into the smallest possible number of equal square plots for traditional Qatari plants.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anim_1_a"/>
          <p:cNvSpPr/>
          <p:nvPr/>
        </p:nvSpPr>
        <p:spPr>
          <a:xfrm>
            <a:off x="868680" y="3611880"/>
            <a:ext cx="6446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What is the side length of each square plot?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anim_2_c"/>
          <p:cNvSpPr/>
          <p:nvPr/>
        </p:nvSpPr>
        <p:spPr>
          <a:xfrm>
            <a:off x="868680" y="4297680"/>
            <a:ext cx="6400440" cy="1234080"/>
          </a:xfrm>
          <a:prstGeom prst="roundRect">
            <a:avLst>
              <a:gd name="adj" fmla="val 7407"/>
            </a:avLst>
          </a:prstGeom>
          <a:solidFill>
            <a:srgbClr val="ee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anim_2_c"/>
          <p:cNvSpPr/>
          <p:nvPr/>
        </p:nvSpPr>
        <p:spPr>
          <a:xfrm>
            <a:off x="1097280" y="44258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c84f2f"/>
                </a:solidFill>
                <a:latin typeface="Calibri"/>
                <a:ea typeface="Calibri"/>
              </a:rPr>
              <a:t>HINT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anim_2_c"/>
          <p:cNvSpPr/>
          <p:nvPr/>
        </p:nvSpPr>
        <p:spPr>
          <a:xfrm>
            <a:off x="1097280" y="4681800"/>
            <a:ext cx="5943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Largest square that tiles both sides → the HCF of 84 and 56.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anim_3_c"/>
          <p:cNvSpPr/>
          <p:nvPr/>
        </p:nvSpPr>
        <p:spPr>
          <a:xfrm>
            <a:off x="7818120" y="1572840"/>
            <a:ext cx="3821760" cy="4205880"/>
          </a:xfrm>
          <a:prstGeom prst="roundRect">
            <a:avLst>
              <a:gd name="adj" fmla="val 2871"/>
            </a:avLst>
          </a:prstGeom>
          <a:solidFill>
            <a:srgbClr val="16261f"/>
          </a:solidFill>
          <a:ln w="0">
            <a:noFill/>
          </a:ln>
          <a:effectLst>
            <a:outerShdw algn="bl" blurRad="12708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anim_3_c"/>
          <p:cNvSpPr/>
          <p:nvPr/>
        </p:nvSpPr>
        <p:spPr>
          <a:xfrm>
            <a:off x="8092440" y="181044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e0ac2b"/>
                </a:solidFill>
                <a:latin typeface="Calibri"/>
                <a:ea typeface="Calibri"/>
              </a:rPr>
              <a:t>SOLUTION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anim_3_c"/>
          <p:cNvSpPr/>
          <p:nvPr/>
        </p:nvSpPr>
        <p:spPr>
          <a:xfrm>
            <a:off x="8092440" y="228600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84 = 2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3 × 7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56 = 2</a:t>
            </a:r>
            <a:r>
              <a:rPr b="1" lang="en-US" sz="1700" spc="-1" strike="noStrike" baseline="30000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 × 7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anim_3_c"/>
          <p:cNvSpPr/>
          <p:nvPr/>
        </p:nvSpPr>
        <p:spPr>
          <a:xfrm>
            <a:off x="8092440" y="338328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ac2b"/>
                </a:solidFill>
                <a:latin typeface="Cambria"/>
                <a:ea typeface="Cambria"/>
              </a:rPr>
              <a:t>HCF = 2</a:t>
            </a:r>
            <a:r>
              <a:rPr b="1" lang="en-US" sz="1800" spc="-1" strike="noStrike" baseline="30000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e0ac2b"/>
                </a:solidFill>
                <a:latin typeface="Cambria"/>
                <a:ea typeface="Cambria"/>
              </a:rPr>
              <a:t> × 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anim_3_c"/>
          <p:cNvSpPr/>
          <p:nvPr/>
        </p:nvSpPr>
        <p:spPr>
          <a:xfrm>
            <a:off x="8092440" y="39776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debdd"/>
                </a:solidFill>
                <a:latin typeface="Calibri"/>
                <a:ea typeface="Calibri"/>
              </a:rPr>
              <a:t>Each square plot has side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anim_3_c"/>
          <p:cNvSpPr/>
          <p:nvPr/>
        </p:nvSpPr>
        <p:spPr>
          <a:xfrm>
            <a:off x="8092440" y="426096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e0ac2b"/>
                </a:solidFill>
                <a:latin typeface="Cambria"/>
                <a:ea typeface="Cambria"/>
              </a:rPr>
              <a:t>28 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anim_3_c"/>
          <p:cNvSpPr/>
          <p:nvPr/>
        </p:nvSpPr>
        <p:spPr>
          <a:xfrm>
            <a:off x="8092440" y="50292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edebdd"/>
                </a:solidFill>
                <a:latin typeface="Calibri"/>
                <a:ea typeface="Calibri"/>
              </a:rPr>
              <a:t>giving 3 × 2 = 6 equal plots.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1" dur="indefinite" restart="never" nodeType="tmRoot">
          <p:childTnLst>
            <p:seq>
              <p:cTn id="842" dur="indefinite" nodeType="mainSeq"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0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6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7" fill="hold">
                      <p:stCondLst>
                        <p:cond delay="indefinite"/>
                      </p:stCondLst>
                      <p:childTnLst>
                        <p:par>
                          <p:cTn id="858" fill="hold">
                            <p:stCondLst>
                              <p:cond delay="0"/>
                            </p:stCondLst>
                            <p:childTnLst>
                              <p:par>
                                <p:cTn id="8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1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4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7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8" fill="hold">
                      <p:stCondLst>
                        <p:cond delay="indefinite"/>
                      </p:stCondLst>
                      <p:childTnLst>
                        <p:par>
                          <p:cTn id="869" fill="hold">
                            <p:stCondLst>
                              <p:cond delay="0"/>
                            </p:stCondLst>
                            <p:childTnLst>
                              <p:par>
                                <p:cTn id="8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5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8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1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4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0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EDEXCEL IGCSE · HIGHER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Exam Practice — Set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anim_1_a"/>
          <p:cNvSpPr/>
          <p:nvPr/>
        </p:nvSpPr>
        <p:spPr>
          <a:xfrm>
            <a:off x="548640" y="1600200"/>
            <a:ext cx="5440320" cy="2057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anim_1_a"/>
          <p:cNvSpPr/>
          <p:nvPr/>
        </p:nvSpPr>
        <p:spPr>
          <a:xfrm>
            <a:off x="822960" y="1856160"/>
            <a:ext cx="566640" cy="566640"/>
          </a:xfrm>
          <a:prstGeom prst="ellipse">
            <a:avLst/>
          </a:prstGeom>
          <a:solidFill>
            <a:srgbClr val="c84f2f"/>
          </a:solidFill>
          <a:ln w="0">
            <a:noFill/>
          </a:ln>
          <a:effectLst>
            <a:outerShdw algn="bl" blurRad="63360" dir="5400000" dist="1260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anim_1_a"/>
          <p:cNvSpPr/>
          <p:nvPr/>
        </p:nvSpPr>
        <p:spPr>
          <a:xfrm>
            <a:off x="822960" y="18561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anim_1_a"/>
          <p:cNvSpPr/>
          <p:nvPr/>
        </p:nvSpPr>
        <p:spPr>
          <a:xfrm>
            <a:off x="1536120" y="1837800"/>
            <a:ext cx="4160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Find the highest common factor (HCF) of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200  and  420.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anim_1_a"/>
          <p:cNvSpPr/>
          <p:nvPr/>
        </p:nvSpPr>
        <p:spPr>
          <a:xfrm>
            <a:off x="859680" y="3054240"/>
            <a:ext cx="481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6261f"/>
                </a:solidFill>
                <a:latin typeface="Calibri"/>
                <a:ea typeface="Calibri"/>
              </a:rPr>
              <a:t>Write your answer as an integer.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anim_2_c"/>
          <p:cNvSpPr/>
          <p:nvPr/>
        </p:nvSpPr>
        <p:spPr>
          <a:xfrm>
            <a:off x="6199560" y="1600200"/>
            <a:ext cx="5440320" cy="2057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anim_2_c"/>
          <p:cNvSpPr/>
          <p:nvPr/>
        </p:nvSpPr>
        <p:spPr>
          <a:xfrm>
            <a:off x="6473880" y="1856160"/>
            <a:ext cx="566640" cy="566640"/>
          </a:xfrm>
          <a:prstGeom prst="ellipse">
            <a:avLst/>
          </a:prstGeom>
          <a:solidFill>
            <a:srgbClr val="c84f2f"/>
          </a:solidFill>
          <a:ln w="0">
            <a:noFill/>
          </a:ln>
          <a:effectLst>
            <a:outerShdw algn="bl" blurRad="63360" dir="5400000" dist="1260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anim_2_c"/>
          <p:cNvSpPr/>
          <p:nvPr/>
        </p:nvSpPr>
        <p:spPr>
          <a:xfrm>
            <a:off x="6473880" y="18561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anim_2_c"/>
          <p:cNvSpPr/>
          <p:nvPr/>
        </p:nvSpPr>
        <p:spPr>
          <a:xfrm>
            <a:off x="7187040" y="1837800"/>
            <a:ext cx="4160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A = 2</a:t>
            </a:r>
            <a:r>
              <a:rPr b="1" lang="en-US" sz="15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 × 3 × 5 × 7</a:t>
            </a:r>
            <a:r>
              <a:rPr b="1" lang="en-US" sz="15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B = 2 × 3</a:t>
            </a:r>
            <a:r>
              <a:rPr b="1" lang="en-US" sz="15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 × 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C = 3 × 5</a:t>
            </a:r>
            <a:r>
              <a:rPr b="1" lang="en-US" sz="15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 × 11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anim_2_c"/>
          <p:cNvSpPr/>
          <p:nvPr/>
        </p:nvSpPr>
        <p:spPr>
          <a:xfrm>
            <a:off x="6510600" y="3054240"/>
            <a:ext cx="481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6261f"/>
                </a:solidFill>
                <a:latin typeface="Calibri"/>
                <a:ea typeface="Calibri"/>
              </a:rPr>
              <a:t>Find the LCM of A, B and C as a product of powers of primes.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anim_3_c"/>
          <p:cNvSpPr/>
          <p:nvPr/>
        </p:nvSpPr>
        <p:spPr>
          <a:xfrm>
            <a:off x="548640" y="3840480"/>
            <a:ext cx="11091240" cy="233136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anim_3_c"/>
          <p:cNvSpPr/>
          <p:nvPr/>
        </p:nvSpPr>
        <p:spPr>
          <a:xfrm>
            <a:off x="822960" y="4096440"/>
            <a:ext cx="566640" cy="566640"/>
          </a:xfrm>
          <a:prstGeom prst="ellipse">
            <a:avLst/>
          </a:prstGeom>
          <a:solidFill>
            <a:srgbClr val="c84f2f"/>
          </a:solidFill>
          <a:ln w="0">
            <a:noFill/>
          </a:ln>
          <a:effectLst>
            <a:outerShdw algn="bl" blurRad="63360" dir="5400000" dist="1260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anim_3_c"/>
          <p:cNvSpPr/>
          <p:nvPr/>
        </p:nvSpPr>
        <p:spPr>
          <a:xfrm>
            <a:off x="822960" y="40964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anim_3_c"/>
          <p:cNvSpPr/>
          <p:nvPr/>
        </p:nvSpPr>
        <p:spPr>
          <a:xfrm>
            <a:off x="1536120" y="4078080"/>
            <a:ext cx="98110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libri"/>
                <a:ea typeface="Calibri"/>
              </a:rPr>
              <a:t>A = 3</a:t>
            </a:r>
            <a:r>
              <a:rPr b="1" lang="en-US" sz="17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1" lang="en-US" sz="1700" spc="-1" strike="noStrike">
                <a:solidFill>
                  <a:srgbClr val="24332d"/>
                </a:solidFill>
                <a:latin typeface="Calibri"/>
                <a:ea typeface="Calibri"/>
              </a:rPr>
              <a:t> × 5</a:t>
            </a:r>
            <a:r>
              <a:rPr b="1" lang="en-US" sz="17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4</a:t>
            </a:r>
            <a:r>
              <a:rPr b="1" lang="en-US" sz="1700" spc="-1" strike="noStrike">
                <a:solidFill>
                  <a:srgbClr val="24332d"/>
                </a:solidFill>
                <a:latin typeface="Calibri"/>
                <a:ea typeface="Calibri"/>
              </a:rPr>
              <a:t> × 7          B = 3</a:t>
            </a:r>
            <a:r>
              <a:rPr b="1" lang="en-US" sz="17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4</a:t>
            </a:r>
            <a:r>
              <a:rPr b="1" lang="en-US" sz="1700" spc="-1" strike="noStrike">
                <a:solidFill>
                  <a:srgbClr val="24332d"/>
                </a:solidFill>
                <a:latin typeface="Calibri"/>
                <a:ea typeface="Calibri"/>
              </a:rPr>
              <a:t> × 5</a:t>
            </a:r>
            <a:r>
              <a:rPr b="1" lang="en-US" sz="17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700" spc="-1" strike="noStrike">
                <a:solidFill>
                  <a:srgbClr val="24332d"/>
                </a:solidFill>
                <a:latin typeface="Calibri"/>
                <a:ea typeface="Calibri"/>
              </a:rPr>
              <a:t> × 7 × 11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anim_3_c"/>
          <p:cNvSpPr/>
          <p:nvPr/>
        </p:nvSpPr>
        <p:spPr>
          <a:xfrm>
            <a:off x="859680" y="5568840"/>
            <a:ext cx="10469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6261f"/>
                </a:solidFill>
                <a:latin typeface="Calibri"/>
                <a:ea typeface="Calibri"/>
              </a:rPr>
              <a:t>(a)  Find the HCF of A and B.        (b)  Find the LCM of A and B.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91" dur="indefinite" restart="never" nodeType="tmRoot">
          <p:childTnLst>
            <p:seq>
              <p:cTn id="892" dur="indefinite" nodeType="mainSeq">
                <p:childTnLst>
                  <p:par>
                    <p:cTn id="893" fill="hold">
                      <p:stCondLst>
                        <p:cond delay="0"/>
                      </p:stCondLst>
                      <p:childTnLst>
                        <p:par>
                          <p:cTn id="894" fill="hold">
                            <p:stCondLst>
                              <p:cond delay="0"/>
                            </p:stCondLst>
                            <p:childTnLst>
                              <p:par>
                                <p:cTn id="89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7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0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3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6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9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0" fill="hold">
                      <p:stCondLst>
                        <p:cond delay="indefinite"/>
                      </p:stCondLst>
                      <p:childTnLst>
                        <p:par>
                          <p:cTn id="911" fill="hold">
                            <p:stCondLst>
                              <p:cond delay="0"/>
                            </p:stCondLst>
                            <p:childTnLst>
                              <p:par>
                                <p:cTn id="9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4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7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0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3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6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7" fill="hold">
                      <p:stCondLst>
                        <p:cond delay="indefinite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1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4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7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0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3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EDEXCEL IGCSE · HIGHER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Exam Practice — Set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anim_1_a"/>
          <p:cNvSpPr/>
          <p:nvPr/>
        </p:nvSpPr>
        <p:spPr>
          <a:xfrm>
            <a:off x="548640" y="1600200"/>
            <a:ext cx="5440320" cy="2468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anim_1_a"/>
          <p:cNvSpPr/>
          <p:nvPr/>
        </p:nvSpPr>
        <p:spPr>
          <a:xfrm>
            <a:off x="822960" y="1856160"/>
            <a:ext cx="566640" cy="566640"/>
          </a:xfrm>
          <a:prstGeom prst="ellipse">
            <a:avLst/>
          </a:prstGeom>
          <a:solidFill>
            <a:srgbClr val="c84f2f"/>
          </a:solidFill>
          <a:ln w="0">
            <a:noFill/>
          </a:ln>
          <a:effectLst>
            <a:outerShdw algn="bl" blurRad="63360" dir="5400000" dist="1260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anim_1_a"/>
          <p:cNvSpPr/>
          <p:nvPr/>
        </p:nvSpPr>
        <p:spPr>
          <a:xfrm>
            <a:off x="822960" y="18561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anim_1_a"/>
          <p:cNvSpPr/>
          <p:nvPr/>
        </p:nvSpPr>
        <p:spPr>
          <a:xfrm>
            <a:off x="1536120" y="1837800"/>
            <a:ext cx="4160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A = 2</a:t>
            </a:r>
            <a:r>
              <a:rPr b="1" lang="en-US" sz="16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4</a:t>
            </a:r>
            <a:r>
              <a:rPr b="1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 × 3</a:t>
            </a:r>
            <a:r>
              <a:rPr b="1" lang="en-US" sz="16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 × 5 × 11</a:t>
            </a:r>
            <a:r>
              <a:rPr b="1" lang="en-US" sz="16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B = 2</a:t>
            </a:r>
            <a:r>
              <a:rPr b="1" lang="en-US" sz="16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 × 3</a:t>
            </a:r>
            <a:r>
              <a:rPr b="1" lang="en-US" sz="16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600" spc="-1" strike="noStrike">
                <a:solidFill>
                  <a:srgbClr val="24332d"/>
                </a:solidFill>
                <a:latin typeface="Calibri"/>
                <a:ea typeface="Calibri"/>
              </a:rPr>
              <a:t> × 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anim_1_a"/>
          <p:cNvSpPr/>
          <p:nvPr/>
        </p:nvSpPr>
        <p:spPr>
          <a:xfrm>
            <a:off x="859680" y="3465720"/>
            <a:ext cx="481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6261f"/>
                </a:solidFill>
                <a:latin typeface="Calibri"/>
                <a:ea typeface="Calibri"/>
              </a:rPr>
              <a:t>Find the HCF of 2A and 3B as a product of powers of primes.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anim_2_c"/>
          <p:cNvSpPr/>
          <p:nvPr/>
        </p:nvSpPr>
        <p:spPr>
          <a:xfrm>
            <a:off x="6199560" y="1600200"/>
            <a:ext cx="5440320" cy="2468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anim_2_c"/>
          <p:cNvSpPr/>
          <p:nvPr/>
        </p:nvSpPr>
        <p:spPr>
          <a:xfrm>
            <a:off x="6473880" y="1856160"/>
            <a:ext cx="566640" cy="566640"/>
          </a:xfrm>
          <a:prstGeom prst="ellipse">
            <a:avLst/>
          </a:prstGeom>
          <a:solidFill>
            <a:srgbClr val="c84f2f"/>
          </a:solidFill>
          <a:ln w="0">
            <a:noFill/>
          </a:ln>
          <a:effectLst>
            <a:outerShdw algn="bl" blurRad="63360" dir="5400000" dist="1260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anim_2_c"/>
          <p:cNvSpPr/>
          <p:nvPr/>
        </p:nvSpPr>
        <p:spPr>
          <a:xfrm>
            <a:off x="6473880" y="18561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anim_2_c"/>
          <p:cNvSpPr/>
          <p:nvPr/>
        </p:nvSpPr>
        <p:spPr>
          <a:xfrm>
            <a:off x="7187040" y="1837800"/>
            <a:ext cx="4160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A = 5</a:t>
            </a:r>
            <a:r>
              <a:rPr b="1" lang="en-US" sz="15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 × 7</a:t>
            </a:r>
            <a:r>
              <a:rPr b="1" lang="en-US" sz="15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4</a:t>
            </a: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 × 11</a:t>
            </a:r>
            <a:r>
              <a:rPr b="1" i="1" lang="en-US" sz="15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B = 5</a:t>
            </a:r>
            <a:r>
              <a:rPr b="1" i="1" lang="en-US" sz="15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m</a:t>
            </a: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 × 7</a:t>
            </a:r>
            <a:r>
              <a:rPr b="1" i="1" lang="en-US" sz="15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n−5</a:t>
            </a: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 × 11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6a7269"/>
                </a:solidFill>
                <a:latin typeface="Calibri"/>
                <a:ea typeface="Calibri"/>
              </a:rPr>
              <a:t>m &gt; 2,  n &gt; 10,  p &gt; 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anim_2_c"/>
          <p:cNvSpPr/>
          <p:nvPr/>
        </p:nvSpPr>
        <p:spPr>
          <a:xfrm>
            <a:off x="6510600" y="3465720"/>
            <a:ext cx="481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6261f"/>
                </a:solidFill>
                <a:latin typeface="Calibri"/>
                <a:ea typeface="Calibri"/>
              </a:rPr>
              <a:t>Find the HCF of A and B as a product of powers of primes.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anim_3_c"/>
          <p:cNvSpPr/>
          <p:nvPr/>
        </p:nvSpPr>
        <p:spPr>
          <a:xfrm>
            <a:off x="548640" y="4251960"/>
            <a:ext cx="11091240" cy="1919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anim_3_c"/>
          <p:cNvSpPr/>
          <p:nvPr/>
        </p:nvSpPr>
        <p:spPr>
          <a:xfrm>
            <a:off x="822960" y="4507920"/>
            <a:ext cx="566640" cy="566640"/>
          </a:xfrm>
          <a:prstGeom prst="ellipse">
            <a:avLst/>
          </a:prstGeom>
          <a:solidFill>
            <a:srgbClr val="c84f2f"/>
          </a:solidFill>
          <a:ln w="0">
            <a:noFill/>
          </a:ln>
          <a:effectLst>
            <a:outerShdw algn="bl" blurRad="63360" dir="5400000" dist="1260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anim_3_c"/>
          <p:cNvSpPr/>
          <p:nvPr/>
        </p:nvSpPr>
        <p:spPr>
          <a:xfrm>
            <a:off x="822960" y="4507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anim_3_c"/>
          <p:cNvSpPr/>
          <p:nvPr/>
        </p:nvSpPr>
        <p:spPr>
          <a:xfrm>
            <a:off x="1536120" y="4489560"/>
            <a:ext cx="9811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A = 3</a:t>
            </a:r>
            <a:r>
              <a:rPr b="1" lang="en-US" sz="14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5</a:t>
            </a:r>
            <a:r>
              <a:rPr b="1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× 5 × 7</a:t>
            </a:r>
            <a:r>
              <a:rPr b="1" lang="en-US" sz="14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    B = 2</a:t>
            </a:r>
            <a:r>
              <a:rPr b="1" lang="en-US" sz="14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× 3 × 7</a:t>
            </a:r>
            <a:r>
              <a:rPr b="1" lang="en-US" sz="14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4</a:t>
            </a:r>
            <a:r>
              <a:rPr b="1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    C = 2</a:t>
            </a:r>
            <a:r>
              <a:rPr b="1" i="1" lang="en-US" sz="14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p</a:t>
            </a:r>
            <a:r>
              <a:rPr b="1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× 5</a:t>
            </a:r>
            <a:r>
              <a:rPr b="1" i="1" lang="en-US" sz="14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q</a:t>
            </a:r>
            <a:r>
              <a:rPr b="1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× 7</a:t>
            </a:r>
            <a:r>
              <a:rPr b="1" i="1" lang="en-US" sz="14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r</a:t>
            </a:r>
            <a:r>
              <a:rPr b="0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    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6a7269"/>
                </a:solidFill>
                <a:latin typeface="Calibri"/>
                <a:ea typeface="Calibri"/>
              </a:rPr>
              <a:t>HCF of B and C = 2</a:t>
            </a:r>
            <a:r>
              <a:rPr b="0" i="1" lang="en-US" sz="1450" spc="-1" strike="noStrike" baseline="30000">
                <a:solidFill>
                  <a:srgbClr val="6a7269"/>
                </a:solidFill>
                <a:latin typeface="Calibri"/>
                <a:ea typeface="Calibri"/>
              </a:rPr>
              <a:t>3</a:t>
            </a:r>
            <a:r>
              <a:rPr b="0" i="1" lang="en-US" sz="1450" spc="-1" strike="noStrike">
                <a:solidFill>
                  <a:srgbClr val="6a7269"/>
                </a:solidFill>
                <a:latin typeface="Calibri"/>
                <a:ea typeface="Calibri"/>
              </a:rPr>
              <a:t> × 7      LCM of A and C = 2</a:t>
            </a:r>
            <a:r>
              <a:rPr b="0" i="1" lang="en-US" sz="1450" spc="-1" strike="noStrike" baseline="30000">
                <a:solidFill>
                  <a:srgbClr val="6a7269"/>
                </a:solidFill>
                <a:latin typeface="Calibri"/>
                <a:ea typeface="Calibri"/>
              </a:rPr>
              <a:t>4</a:t>
            </a:r>
            <a:r>
              <a:rPr b="0" i="1" lang="en-US" sz="1450" spc="-1" strike="noStrike">
                <a:solidFill>
                  <a:srgbClr val="6a7269"/>
                </a:solidFill>
                <a:latin typeface="Calibri"/>
                <a:ea typeface="Calibri"/>
              </a:rPr>
              <a:t> × 3</a:t>
            </a:r>
            <a:r>
              <a:rPr b="0" i="1" lang="en-US" sz="1450" spc="-1" strike="noStrike" baseline="30000">
                <a:solidFill>
                  <a:srgbClr val="6a7269"/>
                </a:solidFill>
                <a:latin typeface="Calibri"/>
                <a:ea typeface="Calibri"/>
              </a:rPr>
              <a:t>5</a:t>
            </a:r>
            <a:r>
              <a:rPr b="0" i="1" lang="en-US" sz="1450" spc="-1" strike="noStrike">
                <a:solidFill>
                  <a:srgbClr val="6a7269"/>
                </a:solidFill>
                <a:latin typeface="Calibri"/>
                <a:ea typeface="Calibri"/>
              </a:rPr>
              <a:t> × 5</a:t>
            </a:r>
            <a:r>
              <a:rPr b="0" i="1" lang="en-US" sz="1450" spc="-1" strike="noStrike" baseline="30000">
                <a:solidFill>
                  <a:srgbClr val="6a7269"/>
                </a:solidFill>
                <a:latin typeface="Calibri"/>
                <a:ea typeface="Calibri"/>
              </a:rPr>
              <a:t>2</a:t>
            </a:r>
            <a:r>
              <a:rPr b="0" i="1" lang="en-US" sz="1450" spc="-1" strike="noStrike">
                <a:solidFill>
                  <a:srgbClr val="6a7269"/>
                </a:solidFill>
                <a:latin typeface="Calibri"/>
                <a:ea typeface="Calibri"/>
              </a:rPr>
              <a:t> × 7</a:t>
            </a:r>
            <a:r>
              <a:rPr b="0" i="1" lang="en-US" sz="1450" spc="-1" strike="noStrike" baseline="30000">
                <a:solidFill>
                  <a:srgbClr val="6a7269"/>
                </a:solidFill>
                <a:latin typeface="Calibri"/>
                <a:ea typeface="Calibri"/>
              </a:rPr>
              <a:t>3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anim_3_c"/>
          <p:cNvSpPr/>
          <p:nvPr/>
        </p:nvSpPr>
        <p:spPr>
          <a:xfrm>
            <a:off x="859680" y="5568840"/>
            <a:ext cx="10469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6261f"/>
                </a:solidFill>
                <a:latin typeface="Calibri"/>
                <a:ea typeface="Calibri"/>
              </a:rPr>
              <a:t>Find the value of p, the value of q and the value of 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44" dur="indefinite" restart="never" nodeType="tmRoot">
          <p:childTnLst>
            <p:seq>
              <p:cTn id="945" dur="indefinite" nodeType="mainSeq">
                <p:childTnLst>
                  <p:par>
                    <p:cTn id="946" fill="hold">
                      <p:stCondLst>
                        <p:cond delay="0"/>
                      </p:stCondLst>
                      <p:childTnLst>
                        <p:par>
                          <p:cTn id="947" fill="hold">
                            <p:stCondLst>
                              <p:cond delay="0"/>
                            </p:stCondLst>
                            <p:childTnLst>
                              <p:par>
                                <p:cTn id="94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6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9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2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3" fill="hold">
                      <p:stCondLst>
                        <p:cond delay="indefinite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3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6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0" fill="hold">
                      <p:stCondLst>
                        <p:cond delay="indefinite"/>
                      </p:stCondLst>
                      <p:childTnLst>
                        <p:par>
                          <p:cTn id="981" fill="hold">
                            <p:stCondLst>
                              <p:cond delay="0"/>
                            </p:stCondLst>
                            <p:childTnLst>
                              <p:par>
                                <p:cTn id="9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4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7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0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3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6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EDEXCEL IGCSE · HIGHER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Exam Practice — Set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anim_1_a"/>
          <p:cNvSpPr/>
          <p:nvPr/>
        </p:nvSpPr>
        <p:spPr>
          <a:xfrm>
            <a:off x="548640" y="1645920"/>
            <a:ext cx="11091240" cy="2194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anim_1_a"/>
          <p:cNvSpPr/>
          <p:nvPr/>
        </p:nvSpPr>
        <p:spPr>
          <a:xfrm>
            <a:off x="822960" y="1901880"/>
            <a:ext cx="566640" cy="566640"/>
          </a:xfrm>
          <a:prstGeom prst="ellipse">
            <a:avLst/>
          </a:prstGeom>
          <a:solidFill>
            <a:srgbClr val="c84f2f"/>
          </a:solidFill>
          <a:ln w="0">
            <a:noFill/>
          </a:ln>
          <a:effectLst>
            <a:outerShdw algn="bl" blurRad="63360" dir="5400000" dist="1260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anim_1_a"/>
          <p:cNvSpPr/>
          <p:nvPr/>
        </p:nvSpPr>
        <p:spPr>
          <a:xfrm>
            <a:off x="822960" y="19018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anim_1_a"/>
          <p:cNvSpPr/>
          <p:nvPr/>
        </p:nvSpPr>
        <p:spPr>
          <a:xfrm>
            <a:off x="1536120" y="1883520"/>
            <a:ext cx="9811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libri"/>
                <a:ea typeface="Calibri"/>
              </a:rPr>
              <a:t>A = 2</a:t>
            </a:r>
            <a:r>
              <a:rPr b="1" lang="en-US" sz="17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700" spc="-1" strike="noStrike">
                <a:solidFill>
                  <a:srgbClr val="24332d"/>
                </a:solidFill>
                <a:latin typeface="Calibri"/>
                <a:ea typeface="Calibri"/>
              </a:rPr>
              <a:t> × 3</a:t>
            </a:r>
            <a:r>
              <a:rPr b="1" i="1" lang="en-US" sz="17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x</a:t>
            </a:r>
            <a:r>
              <a:rPr b="1" lang="en-US" sz="1700" spc="-1" strike="noStrike">
                <a:solidFill>
                  <a:srgbClr val="24332d"/>
                </a:solidFill>
                <a:latin typeface="Calibri"/>
                <a:ea typeface="Calibri"/>
              </a:rPr>
              <a:t>            B = 2</a:t>
            </a:r>
            <a:r>
              <a:rPr b="1" i="1" lang="en-US" sz="17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y</a:t>
            </a:r>
            <a:r>
              <a:rPr b="1" lang="en-US" sz="1700" spc="-1" strike="noStrike">
                <a:solidFill>
                  <a:srgbClr val="24332d"/>
                </a:solidFill>
                <a:latin typeface="Calibri"/>
                <a:ea typeface="Calibri"/>
              </a:rPr>
              <a:t> × 3</a:t>
            </a:r>
            <a:r>
              <a:rPr b="1" lang="en-US" sz="170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2</a:t>
            </a:r>
            <a:r>
              <a:rPr b="0" lang="en-US" sz="1700" spc="-1" strike="noStrike">
                <a:solidFill>
                  <a:srgbClr val="24332d"/>
                </a:solidFill>
                <a:latin typeface="Calibri"/>
                <a:ea typeface="Calibri"/>
              </a:rPr>
              <a:t>     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libri"/>
                <a:ea typeface="Calibri"/>
              </a:rPr>
              <a:t>The HCF of A and B is 12.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anim_1_a"/>
          <p:cNvSpPr/>
          <p:nvPr/>
        </p:nvSpPr>
        <p:spPr>
          <a:xfrm>
            <a:off x="859680" y="3237120"/>
            <a:ext cx="10469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6261f"/>
                </a:solidFill>
                <a:latin typeface="Calibri"/>
                <a:ea typeface="Calibri"/>
              </a:rPr>
              <a:t>Find the value of x and the value of 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anim_2_c"/>
          <p:cNvSpPr/>
          <p:nvPr/>
        </p:nvSpPr>
        <p:spPr>
          <a:xfrm>
            <a:off x="548640" y="4069080"/>
            <a:ext cx="11091240" cy="2057040"/>
          </a:xfrm>
          <a:prstGeom prst="roundRect">
            <a:avLst>
              <a:gd name="adj" fmla="val 4444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anim_2_c"/>
          <p:cNvSpPr/>
          <p:nvPr/>
        </p:nvSpPr>
        <p:spPr>
          <a:xfrm>
            <a:off x="868680" y="42429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c84f2f"/>
                </a:solidFill>
                <a:latin typeface="Calibri"/>
                <a:ea typeface="Calibri"/>
              </a:rPr>
              <a:t>METHOD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anim_2_c"/>
          <p:cNvSpPr/>
          <p:nvPr/>
        </p:nvSpPr>
        <p:spPr>
          <a:xfrm>
            <a:off x="868680" y="4553640"/>
            <a:ext cx="1033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Compare the powers of each prime with HCF = 12 = </a:t>
            </a: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5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 × 3</a:t>
            </a:r>
            <a:r>
              <a:rPr b="0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 :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anim_3_c"/>
          <p:cNvSpPr/>
          <p:nvPr/>
        </p:nvSpPr>
        <p:spPr>
          <a:xfrm>
            <a:off x="868680" y="50292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power of 2:  min(3, y) = 2  ⇒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y = 2</a:t>
            </a:r>
            <a:r>
              <a:rPr b="1" lang="en-US" sz="1500" spc="-1" strike="noStrike">
                <a:solidFill>
                  <a:srgbClr val="24332d"/>
                </a:solidFill>
                <a:latin typeface="Calibri"/>
                <a:ea typeface="Calibri"/>
              </a:rPr>
              <a:t>          power of 3:  min(x, 2) = 1  ⇒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 =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anim_3_c"/>
          <p:cNvSpPr/>
          <p:nvPr/>
        </p:nvSpPr>
        <p:spPr>
          <a:xfrm>
            <a:off x="868680" y="5532120"/>
            <a:ext cx="4205880" cy="456840"/>
          </a:xfrm>
          <a:prstGeom prst="roundRect">
            <a:avLst>
              <a:gd name="adj" fmla="val 240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anim_3_c"/>
          <p:cNvSpPr/>
          <p:nvPr/>
        </p:nvSpPr>
        <p:spPr>
          <a:xfrm>
            <a:off x="1051560" y="553212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x = 1,   y = 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7" dur="indefinite" restart="never" nodeType="tmRoot">
          <p:childTnLst>
            <p:seq>
              <p:cTn id="998" dur="indefinite" nodeType="mainSeq"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3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6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9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2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5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6" fill="hold">
                      <p:stCondLst>
                        <p:cond delay="indefinite"/>
                      </p:stCondLst>
                      <p:childTnLst>
                        <p:par>
                          <p:cTn id="1017" fill="hold">
                            <p:stCondLst>
                              <p:cond delay="0"/>
                            </p:stCondLst>
                            <p:childTnLst>
                              <p:par>
                                <p:cTn id="10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0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3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6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7" fill="hold">
                      <p:stCondLst>
                        <p:cond delay="indefinite"/>
                      </p:stCondLst>
                      <p:childTnLst>
                        <p:par>
                          <p:cTn id="1028" fill="hold">
                            <p:stCondLst>
                              <p:cond delay="0"/>
                            </p:stCondLst>
                            <p:childTnLst>
                              <p:par>
                                <p:cTn id="10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1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4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7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EDEXCEL IGCSE · HIGHER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61f"/>
                </a:solidFill>
                <a:latin typeface="Cambria"/>
                <a:ea typeface="Cambria"/>
              </a:rPr>
              <a:t>Exam Practice — Set 4 · Applying HCF &amp; LCM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anim_1_a"/>
          <p:cNvSpPr/>
          <p:nvPr/>
        </p:nvSpPr>
        <p:spPr>
          <a:xfrm>
            <a:off x="548640" y="1600200"/>
            <a:ext cx="5440320" cy="2057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anim_1_a"/>
          <p:cNvSpPr/>
          <p:nvPr/>
        </p:nvSpPr>
        <p:spPr>
          <a:xfrm>
            <a:off x="822960" y="1856160"/>
            <a:ext cx="566640" cy="566640"/>
          </a:xfrm>
          <a:prstGeom prst="ellipse">
            <a:avLst/>
          </a:prstGeom>
          <a:solidFill>
            <a:srgbClr val="c84f2f"/>
          </a:solidFill>
          <a:ln w="0">
            <a:noFill/>
          </a:ln>
          <a:effectLst>
            <a:outerShdw algn="bl" blurRad="63360" dir="5400000" dist="1260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anim_1_a"/>
          <p:cNvSpPr/>
          <p:nvPr/>
        </p:nvSpPr>
        <p:spPr>
          <a:xfrm>
            <a:off x="822960" y="18561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anim_1_a"/>
          <p:cNvSpPr/>
          <p:nvPr/>
        </p:nvSpPr>
        <p:spPr>
          <a:xfrm>
            <a:off x="1536120" y="1837800"/>
            <a:ext cx="4160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libri"/>
                <a:ea typeface="Calibri"/>
              </a:rPr>
              <a:t>168 = 2</a:t>
            </a:r>
            <a:r>
              <a:rPr b="1" lang="en-US" sz="1550" spc="-1" strike="noStrike" baseline="30000">
                <a:solidFill>
                  <a:srgbClr val="24332d"/>
                </a:solidFill>
                <a:latin typeface="Calibri"/>
                <a:ea typeface="Calibri"/>
              </a:rPr>
              <a:t>3</a:t>
            </a:r>
            <a:r>
              <a:rPr b="1" lang="en-US" sz="1550" spc="-1" strike="noStrike">
                <a:solidFill>
                  <a:srgbClr val="24332d"/>
                </a:solidFill>
                <a:latin typeface="Calibri"/>
                <a:ea typeface="Calibri"/>
              </a:rPr>
              <a:t> × 3 × 7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24332d"/>
                </a:solidFill>
                <a:latin typeface="Calibri"/>
                <a:ea typeface="Calibri"/>
              </a:rPr>
              <a:t>n is a positive integer.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anim_1_a"/>
          <p:cNvSpPr/>
          <p:nvPr/>
        </p:nvSpPr>
        <p:spPr>
          <a:xfrm>
            <a:off x="859680" y="3054240"/>
            <a:ext cx="481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6261f"/>
                </a:solidFill>
                <a:latin typeface="Calibri"/>
                <a:ea typeface="Calibri"/>
              </a:rPr>
              <a:t>Find the smallest n such that 168n is a square number.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anim_2_c"/>
          <p:cNvSpPr/>
          <p:nvPr/>
        </p:nvSpPr>
        <p:spPr>
          <a:xfrm>
            <a:off x="6199560" y="1600200"/>
            <a:ext cx="5440320" cy="2057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anim_2_c"/>
          <p:cNvSpPr/>
          <p:nvPr/>
        </p:nvSpPr>
        <p:spPr>
          <a:xfrm>
            <a:off x="6473880" y="1856160"/>
            <a:ext cx="566640" cy="566640"/>
          </a:xfrm>
          <a:prstGeom prst="ellipse">
            <a:avLst/>
          </a:prstGeom>
          <a:solidFill>
            <a:srgbClr val="c84f2f"/>
          </a:solidFill>
          <a:ln w="0">
            <a:noFill/>
          </a:ln>
          <a:effectLst>
            <a:outerShdw algn="bl" blurRad="63360" dir="5400000" dist="1260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anim_2_c"/>
          <p:cNvSpPr/>
          <p:nvPr/>
        </p:nvSpPr>
        <p:spPr>
          <a:xfrm>
            <a:off x="6473880" y="18561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anim_2_c"/>
          <p:cNvSpPr/>
          <p:nvPr/>
        </p:nvSpPr>
        <p:spPr>
          <a:xfrm>
            <a:off x="7187040" y="1837800"/>
            <a:ext cx="4160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libri"/>
                <a:ea typeface="Calibri"/>
              </a:rPr>
              <a:t>Two numbers have HCF 8 and LCM 240.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libri"/>
                <a:ea typeface="Calibri"/>
              </a:rPr>
              <a:t>One of the numbers is 48.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anim_2_c"/>
          <p:cNvSpPr/>
          <p:nvPr/>
        </p:nvSpPr>
        <p:spPr>
          <a:xfrm>
            <a:off x="6510600" y="3054240"/>
            <a:ext cx="481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6261f"/>
                </a:solidFill>
                <a:latin typeface="Calibri"/>
                <a:ea typeface="Calibri"/>
              </a:rPr>
              <a:t>Find the other number.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anim_3_c"/>
          <p:cNvSpPr/>
          <p:nvPr/>
        </p:nvSpPr>
        <p:spPr>
          <a:xfrm>
            <a:off x="548640" y="384048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anim_3_c"/>
          <p:cNvSpPr/>
          <p:nvPr/>
        </p:nvSpPr>
        <p:spPr>
          <a:xfrm>
            <a:off x="822960" y="4096440"/>
            <a:ext cx="566640" cy="566640"/>
          </a:xfrm>
          <a:prstGeom prst="ellipse">
            <a:avLst/>
          </a:prstGeom>
          <a:solidFill>
            <a:srgbClr val="c84f2f"/>
          </a:solidFill>
          <a:ln w="0">
            <a:noFill/>
          </a:ln>
          <a:effectLst>
            <a:outerShdw algn="bl" blurRad="63360" dir="5400000" dist="1260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anim_3_c"/>
          <p:cNvSpPr/>
          <p:nvPr/>
        </p:nvSpPr>
        <p:spPr>
          <a:xfrm>
            <a:off x="822960" y="40964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anim_3_c"/>
          <p:cNvSpPr/>
          <p:nvPr/>
        </p:nvSpPr>
        <p:spPr>
          <a:xfrm>
            <a:off x="1536120" y="4078080"/>
            <a:ext cx="41601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libri"/>
                <a:ea typeface="Calibri"/>
              </a:rPr>
              <a:t>Light A flashes every 20 seconds.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libri"/>
                <a:ea typeface="Calibri"/>
              </a:rPr>
              <a:t>Light B flashes every 30 seconds.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libri"/>
                <a:ea typeface="Calibri"/>
              </a:rPr>
              <a:t>They flash together now.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anim_3_c"/>
          <p:cNvSpPr/>
          <p:nvPr/>
        </p:nvSpPr>
        <p:spPr>
          <a:xfrm>
            <a:off x="859680" y="5568840"/>
            <a:ext cx="481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6261f"/>
                </a:solidFill>
                <a:latin typeface="Calibri"/>
                <a:ea typeface="Calibri"/>
              </a:rPr>
              <a:t>After how many seconds do they next flash together?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anim_4_c"/>
          <p:cNvSpPr/>
          <p:nvPr/>
        </p:nvSpPr>
        <p:spPr>
          <a:xfrm>
            <a:off x="6199560" y="3840480"/>
            <a:ext cx="5440320" cy="233136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anim_4_c"/>
          <p:cNvSpPr/>
          <p:nvPr/>
        </p:nvSpPr>
        <p:spPr>
          <a:xfrm>
            <a:off x="6473880" y="4096440"/>
            <a:ext cx="566640" cy="566640"/>
          </a:xfrm>
          <a:prstGeom prst="ellipse">
            <a:avLst/>
          </a:prstGeom>
          <a:solidFill>
            <a:srgbClr val="c84f2f"/>
          </a:solidFill>
          <a:ln w="0">
            <a:noFill/>
          </a:ln>
          <a:effectLst>
            <a:outerShdw algn="bl" blurRad="63360" dir="5400000" dist="1260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anim_4_c"/>
          <p:cNvSpPr/>
          <p:nvPr/>
        </p:nvSpPr>
        <p:spPr>
          <a:xfrm>
            <a:off x="6473880" y="40964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anim_4_c"/>
          <p:cNvSpPr/>
          <p:nvPr/>
        </p:nvSpPr>
        <p:spPr>
          <a:xfrm>
            <a:off x="7187040" y="4078080"/>
            <a:ext cx="41601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libri"/>
                <a:ea typeface="Calibri"/>
              </a:rPr>
              <a:t>Two ribbons measure 24 cm and 40 cm.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libri"/>
                <a:ea typeface="Calibri"/>
              </a:rPr>
              <a:t>Each is cut into equal whole-cm pieces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libri"/>
                <a:ea typeface="Calibri"/>
              </a:rPr>
              <a:t>with none left over.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anim_4_c"/>
          <p:cNvSpPr/>
          <p:nvPr/>
        </p:nvSpPr>
        <p:spPr>
          <a:xfrm>
            <a:off x="6510600" y="5568840"/>
            <a:ext cx="481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6261f"/>
                </a:solidFill>
                <a:latin typeface="Calibri"/>
                <a:ea typeface="Calibri"/>
              </a:rPr>
              <a:t>Find the greatest possible length of each piece.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38" dur="indefinite" restart="never" nodeType="tmRoot">
          <p:childTnLst>
            <p:seq>
              <p:cTn id="1039" dur="indefinite" nodeType="mainSeq">
                <p:childTnLst>
                  <p:par>
                    <p:cTn id="1040" fill="hold">
                      <p:stCondLst>
                        <p:cond delay="0"/>
                      </p:stCondLst>
                      <p:childTnLst>
                        <p:par>
                          <p:cTn id="1041" fill="hold">
                            <p:stCondLst>
                              <p:cond delay="0"/>
                            </p:stCondLst>
                            <p:childTnLst>
                              <p:par>
                                <p:cTn id="104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4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7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0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3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6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7" fill="hold">
                      <p:stCondLst>
                        <p:cond delay="indefinite"/>
                      </p:stCondLst>
                      <p:childTnLst>
                        <p:par>
                          <p:cTn id="1058" fill="hold">
                            <p:stCondLst>
                              <p:cond delay="0"/>
                            </p:stCondLst>
                            <p:childTnLst>
                              <p:par>
                                <p:cTn id="10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1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4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7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0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3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4" fill="hold">
                      <p:stCondLst>
                        <p:cond delay="indefinite"/>
                      </p:stCondLst>
                      <p:childTnLst>
                        <p:par>
                          <p:cTn id="1075" fill="hold">
                            <p:stCondLst>
                              <p:cond delay="0"/>
                            </p:stCondLst>
                            <p:childTnLst>
                              <p:par>
                                <p:cTn id="10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8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1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4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7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0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fill="hold">
                      <p:stCondLst>
                        <p:cond delay="indefinite"/>
                      </p:stCondLst>
                      <p:childTnLst>
                        <p:par>
                          <p:cTn id="1092" fill="hold">
                            <p:stCondLst>
                              <p:cond delay="0"/>
                            </p:stCondLst>
                            <p:childTnLst>
                              <p:par>
                                <p:cTn id="10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5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8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1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4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7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 0"/>
          <p:cNvSpPr/>
          <p:nvPr/>
        </p:nvSpPr>
        <p:spPr>
          <a:xfrm>
            <a:off x="9784080" y="274320"/>
            <a:ext cx="2742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0" spc="-1" strike="noStrike">
                <a:solidFill>
                  <a:srgbClr val="283731"/>
                </a:solidFill>
                <a:latin typeface="Cambria"/>
                <a:ea typeface="Cambria"/>
              </a:rPr>
              <a:t>Σ</a:t>
            </a:r>
            <a:endParaRPr b="0" lang="en-US" sz="1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1"/>
          <p:cNvSpPr/>
          <p:nvPr/>
        </p:nvSpPr>
        <p:spPr>
          <a:xfrm>
            <a:off x="731520" y="640080"/>
            <a:ext cx="639720" cy="63972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2"/>
          <p:cNvSpPr/>
          <p:nvPr/>
        </p:nvSpPr>
        <p:spPr>
          <a:xfrm>
            <a:off x="731520" y="621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4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2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3"/>
          <p:cNvSpPr/>
          <p:nvPr/>
        </p:nvSpPr>
        <p:spPr>
          <a:xfrm>
            <a:off x="1517760" y="676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48" strike="noStrike">
                <a:solidFill>
                  <a:srgbClr val="e0ac2b"/>
                </a:solidFill>
                <a:latin typeface="Calibri"/>
                <a:ea typeface="Calibri"/>
              </a:rPr>
              <a:t>Zπ MATHS HUB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4"/>
          <p:cNvSpPr/>
          <p:nvPr/>
        </p:nvSpPr>
        <p:spPr>
          <a:xfrm>
            <a:off x="731520" y="129852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e0ac2b"/>
                </a:solidFill>
                <a:latin typeface="Cambria"/>
                <a:ea typeface="Cambria"/>
              </a:rPr>
              <a:t>Resources &amp; Reflection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anim_1_a"/>
          <p:cNvSpPr/>
          <p:nvPr/>
        </p:nvSpPr>
        <p:spPr>
          <a:xfrm>
            <a:off x="731520" y="2148840"/>
            <a:ext cx="5348880" cy="1599840"/>
          </a:xfrm>
          <a:prstGeom prst="roundRect">
            <a:avLst>
              <a:gd name="adj" fmla="val 6857"/>
            </a:avLst>
          </a:prstGeom>
          <a:solidFill>
            <a:srgbClr val="283731"/>
          </a:solidFill>
          <a:ln w="0">
            <a:noFill/>
          </a:ln>
          <a:effectLst>
            <a:outerShdw algn="bl" blurRad="152280" dir="5400000" dist="50760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anim_1_a"/>
          <p:cNvSpPr/>
          <p:nvPr/>
        </p:nvSpPr>
        <p:spPr>
          <a:xfrm>
            <a:off x="987480" y="2386440"/>
            <a:ext cx="1782720" cy="365400"/>
          </a:xfrm>
          <a:prstGeom prst="roundRect">
            <a:avLst>
              <a:gd name="adj" fmla="val 50000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anim_1_a"/>
          <p:cNvSpPr/>
          <p:nvPr/>
        </p:nvSpPr>
        <p:spPr>
          <a:xfrm>
            <a:off x="987480" y="238644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17" strike="noStrike">
                <a:solidFill>
                  <a:srgbClr val="ffffff"/>
                </a:solidFill>
                <a:latin typeface="Calibri"/>
                <a:ea typeface="Calibri"/>
              </a:rPr>
              <a:t>PLENARY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anim_1_a"/>
          <p:cNvSpPr/>
          <p:nvPr/>
        </p:nvSpPr>
        <p:spPr>
          <a:xfrm>
            <a:off x="1005840" y="28072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Transum — HCF &amp; LCM starter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anim_1_a">
            <a:hlinkClick r:id="rId2"/>
          </p:cNvPr>
          <p:cNvSpPr/>
          <p:nvPr/>
        </p:nvSpPr>
        <p:spPr>
          <a:xfrm>
            <a:off x="1005840" y="317304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050" spc="-1" strike="noStrike" u="sng">
                <a:solidFill>
                  <a:srgbClr val="e0ac2b"/>
                </a:solidFill>
                <a:uFillTx/>
                <a:latin typeface="Calibri"/>
                <a:ea typeface="Calibri"/>
                <a:hlinkClick r:id="rId3"/>
              </a:rPr>
              <a:t>transum.org/software/SW/Starter_of_the_day/Students/HCF_LCM.asp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anim_1_a"/>
          <p:cNvSpPr/>
          <p:nvPr/>
        </p:nvSpPr>
        <p:spPr>
          <a:xfrm>
            <a:off x="6355080" y="2148840"/>
            <a:ext cx="5120280" cy="1599840"/>
          </a:xfrm>
          <a:prstGeom prst="roundRect">
            <a:avLst>
              <a:gd name="adj" fmla="val 6857"/>
            </a:avLst>
          </a:prstGeom>
          <a:solidFill>
            <a:srgbClr val="283731"/>
          </a:solidFill>
          <a:ln w="0">
            <a:noFill/>
          </a:ln>
          <a:effectLst>
            <a:outerShdw algn="bl" blurRad="152280" dir="5400000" dist="50760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anim_1_a"/>
          <p:cNvSpPr/>
          <p:nvPr/>
        </p:nvSpPr>
        <p:spPr>
          <a:xfrm>
            <a:off x="6611040" y="2386440"/>
            <a:ext cx="1782720" cy="365400"/>
          </a:xfrm>
          <a:prstGeom prst="roundRect">
            <a:avLst>
              <a:gd name="adj" fmla="val 50000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anim_1_a"/>
          <p:cNvSpPr/>
          <p:nvPr/>
        </p:nvSpPr>
        <p:spPr>
          <a:xfrm>
            <a:off x="6611040" y="238644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17" strike="noStrike">
                <a:solidFill>
                  <a:srgbClr val="ffffff"/>
                </a:solidFill>
                <a:latin typeface="Calibri"/>
                <a:ea typeface="Calibri"/>
              </a:rPr>
              <a:t>INTERACTIVE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anim_1_a"/>
          <p:cNvSpPr/>
          <p:nvPr/>
        </p:nvSpPr>
        <p:spPr>
          <a:xfrm>
            <a:off x="6629400" y="280728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Wordwall — Product of primes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anim_1_a">
            <a:hlinkClick r:id="rId4"/>
          </p:cNvPr>
          <p:cNvSpPr/>
          <p:nvPr/>
        </p:nvSpPr>
        <p:spPr>
          <a:xfrm>
            <a:off x="6629400" y="3173040"/>
            <a:ext cx="4617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050" spc="-1" strike="noStrike" u="sng">
                <a:solidFill>
                  <a:srgbClr val="e0ac2b"/>
                </a:solidFill>
                <a:uFillTx/>
                <a:latin typeface="Calibri"/>
                <a:ea typeface="Calibri"/>
                <a:hlinkClick r:id="rId5"/>
              </a:rPr>
              <a:t>wordwall.net/resource/98053136/product-of-primes-hcf-and-lcm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anim_2_a"/>
          <p:cNvSpPr/>
          <p:nvPr/>
        </p:nvSpPr>
        <p:spPr>
          <a:xfrm>
            <a:off x="731520" y="3886200"/>
            <a:ext cx="5348880" cy="1554120"/>
          </a:xfrm>
          <a:prstGeom prst="roundRect">
            <a:avLst>
              <a:gd name="adj" fmla="val 7059"/>
            </a:avLst>
          </a:prstGeom>
          <a:solidFill>
            <a:srgbClr val="283731"/>
          </a:solidFill>
          <a:ln w="0">
            <a:noFill/>
          </a:ln>
          <a:effectLst>
            <a:outerShdw algn="bl" blurRad="152280" dir="5400000" dist="50760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anim_2_a"/>
          <p:cNvSpPr/>
          <p:nvPr/>
        </p:nvSpPr>
        <p:spPr>
          <a:xfrm>
            <a:off x="987480" y="4123800"/>
            <a:ext cx="1782720" cy="365400"/>
          </a:xfrm>
          <a:prstGeom prst="roundRect">
            <a:avLst>
              <a:gd name="adj" fmla="val 50000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anim_2_a"/>
          <p:cNvSpPr/>
          <p:nvPr/>
        </p:nvSpPr>
        <p:spPr>
          <a:xfrm>
            <a:off x="987480" y="412380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17" strike="noStrike">
                <a:solidFill>
                  <a:srgbClr val="ffffff"/>
                </a:solidFill>
                <a:latin typeface="Calibri"/>
                <a:ea typeface="Calibri"/>
              </a:rPr>
              <a:t>PAST PAPERS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anim_2_a"/>
          <p:cNvSpPr/>
          <p:nvPr/>
        </p:nvSpPr>
        <p:spPr>
          <a:xfrm>
            <a:off x="1005840" y="45446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Physics &amp; Maths Tutor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anim_2_a">
            <a:hlinkClick r:id="rId6"/>
          </p:cNvPr>
          <p:cNvSpPr/>
          <p:nvPr/>
        </p:nvSpPr>
        <p:spPr>
          <a:xfrm>
            <a:off x="1005840" y="491040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050" spc="-1" strike="noStrike" u="sng">
                <a:solidFill>
                  <a:srgbClr val="e0ac2b"/>
                </a:solidFill>
                <a:uFillTx/>
                <a:latin typeface="Calibri"/>
                <a:ea typeface="Calibri"/>
                <a:hlinkClick r:id="rId7"/>
              </a:rPr>
              <a:t>pmt.physicsandmathstutor.com — HCF and LCM (QP)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anim_2_a"/>
          <p:cNvSpPr/>
          <p:nvPr/>
        </p:nvSpPr>
        <p:spPr>
          <a:xfrm>
            <a:off x="6355080" y="3886200"/>
            <a:ext cx="5120280" cy="1554120"/>
          </a:xfrm>
          <a:prstGeom prst="roundRect">
            <a:avLst>
              <a:gd name="adj" fmla="val 7059"/>
            </a:avLst>
          </a:prstGeom>
          <a:solidFill>
            <a:srgbClr val="283731"/>
          </a:solidFill>
          <a:ln w="0">
            <a:noFill/>
          </a:ln>
          <a:effectLst>
            <a:outerShdw algn="bl" blurRad="152280" dir="5400000" dist="50760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anim_2_a"/>
          <p:cNvSpPr/>
          <p:nvPr/>
        </p:nvSpPr>
        <p:spPr>
          <a:xfrm>
            <a:off x="6611040" y="4123800"/>
            <a:ext cx="1782720" cy="365400"/>
          </a:xfrm>
          <a:prstGeom prst="roundRect">
            <a:avLst>
              <a:gd name="adj" fmla="val 50000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anim_2_a"/>
          <p:cNvSpPr/>
          <p:nvPr/>
        </p:nvSpPr>
        <p:spPr>
          <a:xfrm>
            <a:off x="6611040" y="412380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17" strike="noStrike">
                <a:solidFill>
                  <a:srgbClr val="ffffff"/>
                </a:solidFill>
                <a:latin typeface="Calibri"/>
                <a:ea typeface="Calibri"/>
              </a:rPr>
              <a:t>PAST PAPERS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anim_2_a"/>
          <p:cNvSpPr/>
          <p:nvPr/>
        </p:nvSpPr>
        <p:spPr>
          <a:xfrm>
            <a:off x="6629400" y="454464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Maths Genie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anim_2_a">
            <a:hlinkClick r:id="rId8"/>
          </p:cNvPr>
          <p:cNvSpPr/>
          <p:nvPr/>
        </p:nvSpPr>
        <p:spPr>
          <a:xfrm>
            <a:off x="6629400" y="4910400"/>
            <a:ext cx="4617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050" spc="-1" strike="noStrike" u="sng">
                <a:solidFill>
                  <a:srgbClr val="e0ac2b"/>
                </a:solidFill>
                <a:uFillTx/>
                <a:latin typeface="Calibri"/>
                <a:ea typeface="Calibri"/>
                <a:hlinkClick r:id="rId9"/>
              </a:rPr>
              <a:t>mathsgenie.co.uk/resources/4-HCF-and-LCM.pdf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anim_3_a"/>
          <p:cNvSpPr/>
          <p:nvPr/>
        </p:nvSpPr>
        <p:spPr>
          <a:xfrm>
            <a:off x="731520" y="559620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97" strike="noStrike">
                <a:solidFill>
                  <a:srgbClr val="edebdd"/>
                </a:solidFill>
                <a:latin typeface="Calibri"/>
                <a:ea typeface="Calibri"/>
              </a:rPr>
              <a:t>EVALUATE &amp; REFLECT — how do you feel about today's lesson?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anim_3_a"/>
          <p:cNvSpPr/>
          <p:nvPr/>
        </p:nvSpPr>
        <p:spPr>
          <a:xfrm>
            <a:off x="731520" y="5943600"/>
            <a:ext cx="3456000" cy="566640"/>
          </a:xfrm>
          <a:prstGeom prst="roundRect">
            <a:avLst>
              <a:gd name="adj" fmla="val 48387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anim_3_a"/>
          <p:cNvSpPr/>
          <p:nvPr/>
        </p:nvSpPr>
        <p:spPr>
          <a:xfrm>
            <a:off x="731520" y="5943600"/>
            <a:ext cx="3456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 don't understand yet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anim_3_a"/>
          <p:cNvSpPr/>
          <p:nvPr/>
        </p:nvSpPr>
        <p:spPr>
          <a:xfrm>
            <a:off x="4370760" y="5943600"/>
            <a:ext cx="3456000" cy="566640"/>
          </a:xfrm>
          <a:prstGeom prst="roundRect">
            <a:avLst>
              <a:gd name="adj" fmla="val 48387"/>
            </a:avLst>
          </a:prstGeom>
          <a:solidFill>
            <a:srgbClr val="e0ac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anim_3_a"/>
          <p:cNvSpPr/>
          <p:nvPr/>
        </p:nvSpPr>
        <p:spPr>
          <a:xfrm>
            <a:off x="4370760" y="5943600"/>
            <a:ext cx="3456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61f"/>
                </a:solidFill>
                <a:latin typeface="Calibri"/>
                <a:ea typeface="Calibri"/>
              </a:rPr>
              <a:t>I nearly understand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anim_3_a"/>
          <p:cNvSpPr/>
          <p:nvPr/>
        </p:nvSpPr>
        <p:spPr>
          <a:xfrm>
            <a:off x="8010000" y="5943600"/>
            <a:ext cx="3456000" cy="566640"/>
          </a:xfrm>
          <a:prstGeom prst="roundRect">
            <a:avLst>
              <a:gd name="adj" fmla="val 48387"/>
            </a:avLst>
          </a:prstGeom>
          <a:solidFill>
            <a:srgbClr val="2837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anim_3_a"/>
          <p:cNvSpPr/>
          <p:nvPr/>
        </p:nvSpPr>
        <p:spPr>
          <a:xfrm>
            <a:off x="8010000" y="5943600"/>
            <a:ext cx="3456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 fully understand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08" dur="indefinite" restart="never" nodeType="tmRoot">
          <p:childTnLst>
            <p:seq>
              <p:cTn id="1109" dur="indefinite" nodeType="mainSeq">
                <p:childTnLst>
                  <p:par>
                    <p:cTn id="1110" fill="hold">
                      <p:stCondLst>
                        <p:cond delay="0"/>
                      </p:stCondLst>
                      <p:childTnLst>
                        <p:par>
                          <p:cTn id="1111" fill="hold">
                            <p:stCondLst>
                              <p:cond delay="0"/>
                            </p:stCondLst>
                            <p:childTnLst>
                              <p:par>
                                <p:cTn id="111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4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7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0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3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6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9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2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5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8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1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2" fill="hold">
                      <p:stCondLst>
                        <p:cond delay="indefinite"/>
                      </p:stCondLst>
                      <p:childTnLst>
                        <p:par>
                          <p:cTn id="1143" fill="hold">
                            <p:stCondLst>
                              <p:cond delay="0"/>
                            </p:stCondLst>
                            <p:childTnLst>
                              <p:par>
                                <p:cTn id="114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6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9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2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5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8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1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4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7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0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3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4" fill="hold">
                      <p:stCondLst>
                        <p:cond delay="indefinite"/>
                      </p:stCondLst>
                      <p:childTnLst>
                        <p:par>
                          <p:cTn id="1175" fill="hold">
                            <p:stCondLst>
                              <p:cond delay="0"/>
                            </p:stCondLst>
                            <p:childTnLst>
                              <p:par>
                                <p:cTn id="117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8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1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4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7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0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3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6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2083</Words>
  <Paragraphs>414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2026-06-27T18:50:11Z</dcterms:created>
  <dc:creator>Zahra Sheikh Ali</dc:creator>
  <dc:description/>
  <dc:language>en-US</dc:language>
  <cp:lastModifiedBy>zahraa sheik ali</cp:lastModifiedBy>
  <dcterms:modified xsi:type="dcterms:W3CDTF">2026-06-28T08:05:27Z</dcterms:modified>
  <cp:revision>2</cp:revision>
  <dc:subject>PptxGenJS Presentation</dc:subject>
  <dc:title>HCF &amp; LCM with Prime Factorisation — Worked Examples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Custom</vt:lpwstr>
  </property>
  <property fmtid="{D5CDD505-2E9C-101B-9397-08002B2CF9AE}" pid="4" name="Slides">
    <vt:r8>21</vt:r8>
  </property>
</Properties>
</file>