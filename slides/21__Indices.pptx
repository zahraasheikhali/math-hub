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7561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9144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5200" b="1" i="1" baseline="30000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a+b</a:t>
            </a:r>
            <a:endParaRPr lang="en-US" sz="52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Laws of Indices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· Divide · Power of a Power · Zero · Negative · Fractional Indices &amp; Roots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Rules for Powers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(power) tells you how many times to multiply.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cover everything — including negative powers (fractions) and fractional powers (roots).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powers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powers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of a power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indices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Fractional indices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· power · base · reciprocal · root · evaluate · simplify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Laws of Indices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these six — every question uses one or more of them.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0312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41248" y="2249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— ADD POWERS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1248" y="256032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x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x</a:t>
            </a:r>
            <a:r>
              <a:rPr lang="en-US" sz="20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a+b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236208" y="210312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510528" y="224942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— SUBTRACT POWERS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510528" y="256032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x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x</a:t>
            </a:r>
            <a:r>
              <a:rPr lang="en-US" sz="20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a−b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566928" y="3419856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41248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A POWER — MULTIPLY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41248" y="387705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x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x</a:t>
            </a:r>
            <a:r>
              <a:rPr lang="en-US" sz="2000" b="1" baseline="30000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6236208" y="3419856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510528" y="35661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ZERO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10528" y="387705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0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r>
              <a:rPr lang="en-US" sz="20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20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566928" y="4736592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41248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RECIPROCAL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" y="5212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2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3063240" y="5257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3063240" y="5532120"/>
            <a:ext cx="137160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63240" y="5559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8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236208" y="4736592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510528" y="48646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— ROOT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537960" y="5212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2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1/n</a:t>
            </a: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</a:t>
            </a:r>
            <a:endParaRPr 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 65"/>
              <p:cNvSpPr/>
              <p:nvPr/>
            </p:nvSpPr>
            <p:spPr>
              <a:xfrm>
                <a:off x="7635240" y="5321808"/>
                <a:ext cx="4572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20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</m:ctrlPr>
                        </m:radPr>
                        <m:deg>
                          <m:r>
                            <m:rPr>
                              <m:nor/>
                            </m:rPr>
                            <a:rPr lang="en-US" sz="2000" b="1" baseline="30000" dirty="0">
                              <a:solidFill>
                                <a:srgbClr val="1C2A22"/>
                              </a:solidFill>
                              <a:latin typeface="Cambria" pitchFamily="34" charset="0"/>
                              <a:ea typeface="Cambria" pitchFamily="34" charset="-122"/>
                              <a:cs typeface="Cambria" pitchFamily="34" charset="-120"/>
                            </a:rPr>
                            <m:t>n</m:t>
                          </m:r>
                        </m:deg>
                        <m:e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1C2A22"/>
                              </a:solidFill>
                              <a:latin typeface="Cambria" pitchFamily="34" charset="0"/>
                              <a:ea typeface="Cambria" pitchFamily="34" charset="-122"/>
                              <a:cs typeface="Cambria" pitchFamily="34" charset="-120"/>
                            </a:rPr>
                            <m:t>x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7" name="Text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5240" y="5321808"/>
                <a:ext cx="457200" cy="365760"/>
              </a:xfrm>
              <a:prstGeom prst="rect">
                <a:avLst/>
              </a:prstGeom>
              <a:blipFill rotWithShape="1">
                <a:blip r:embed="rId3"/>
                <a:stretch>
                  <a:fillRect t="-6667" r="-2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SIMPLIFY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&amp; Dividing Powers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idea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base: add powers to multiply, subtract to divide.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the numbers separately (9 ÷ 3 = 3).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means x¹ (a hidden power of 1).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add or subtract powers when the BASE is the same.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→ ADD:  a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a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</a:t>
            </a:r>
            <a:r>
              <a:rPr lang="en-US" sz="1400" b="1" baseline="300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→ SUBTRACT:  9a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÷ 3a = </a:t>
            </a:r>
            <a:r>
              <a:rPr lang="en-US" sz="1400" b="1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</a:t>
            </a:r>
            <a:r>
              <a:rPr lang="en-US" sz="1400" b="1" baseline="300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12w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÷ 6w = 2w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en-US" sz="1400" b="1" baseline="300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divide; letters follow the power rule.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× a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,    9a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÷ 3a = 3a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SIMPLIFY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of a Power (and Zero)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number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(2x³)²: square the 2 as well → 4.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a power → MULTIPLY the powers.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x⁰ = 1 for any non-zero x.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ab )ⁿ = aⁿ bⁿ : the power applies to everything in the bracket.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powers:  ( x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x</a:t>
            </a:r>
            <a:r>
              <a:rPr lang="en-US" sz="1400" b="1" baseline="300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number:  ( 2x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4x</a:t>
            </a:r>
            <a:r>
              <a:rPr lang="en-US" sz="1400" b="1" baseline="300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( 3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( 3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3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3</a:t>
            </a:r>
            <a:r>
              <a:rPr lang="en-US" sz="1400" b="1" baseline="3000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to the power 0 is 1:  5</a:t>
            </a:r>
            <a:r>
              <a:rPr lang="en-US" sz="1400" baseline="300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( 2x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4x</a:t>
            </a:r>
            <a:r>
              <a:rPr lang="en-US" sz="2300" b="1" baseline="300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INDICES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Negative Power Means ‘One Over’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index gives the reciprocal: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it to make the power positive.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1440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2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292608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566160" y="2441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3566160" y="2715768"/>
            <a:ext cx="137160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7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5212080" y="2468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852160" y="2441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5852160" y="2715768"/>
            <a:ext cx="128016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5216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566928" y="33832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91440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22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292608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56616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3566160" y="3904488"/>
            <a:ext cx="137160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3931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7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5212080" y="3657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852160" y="3630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1" name="Shape 59"/>
          <p:cNvSpPr/>
          <p:nvPr/>
        </p:nvSpPr>
        <p:spPr>
          <a:xfrm>
            <a:off x="5852160" y="3904488"/>
            <a:ext cx="128016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852160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700" dirty="0"/>
          </a:p>
        </p:txBody>
      </p:sp>
      <p:sp>
        <p:nvSpPr>
          <p:cNvPr id="63" name="Shape 61"/>
          <p:cNvSpPr/>
          <p:nvPr/>
        </p:nvSpPr>
        <p:spPr>
          <a:xfrm>
            <a:off x="566928" y="4572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14400" y="4846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2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−n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2926080" y="4846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3566160" y="4818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3566160" y="5093208"/>
            <a:ext cx="137160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5120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7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5212080" y="4846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5852160" y="4818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1" name="Shape 69"/>
          <p:cNvSpPr/>
          <p:nvPr/>
        </p:nvSpPr>
        <p:spPr>
          <a:xfrm>
            <a:off x="5852160" y="5093208"/>
            <a:ext cx="128016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0" y="51206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73" name="Text 71"/>
          <p:cNvSpPr/>
          <p:nvPr/>
        </p:nvSpPr>
        <p:spPr>
          <a:xfrm>
            <a:off x="566928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to a fraction, turn the power positive, then evaluate.  x⁻¹ = 1/x.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INDICES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Fraction Power Means a Root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of the fraction is the ROOT, the top is the POWER.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root first — the numbers stay small.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14400" y="2441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r>
              <a:rPr lang="en-US" sz="23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</a:t>
            </a:r>
            <a:r>
              <a:rPr lang="en-US" sz="2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=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 46"/>
              <p:cNvSpPr/>
              <p:nvPr/>
            </p:nvSpPr>
            <p:spPr>
              <a:xfrm>
                <a:off x="3611880" y="2569464"/>
                <a:ext cx="923544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0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</m:ctrlPr>
                        </m:radPr>
                        <m:deg/>
                        <m:e>
                          <m:r>
                            <a:rPr lang="en-US" sz="20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  <m:t>𝟒𝟗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8" name="Text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880" y="2569464"/>
                <a:ext cx="923544" cy="365760"/>
              </a:xfrm>
              <a:prstGeom prst="rect">
                <a:avLst/>
              </a:prstGeom>
              <a:blipFill rotWithShape="1">
                <a:blip r:embed="rId3"/>
                <a:stretch>
                  <a:fillRect b="-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 47"/>
          <p:cNvSpPr/>
          <p:nvPr/>
        </p:nvSpPr>
        <p:spPr>
          <a:xfrm>
            <a:off x="5029200" y="24414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  </a:t>
            </a:r>
            <a:r>
              <a:rPr lang="en-US" sz="2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566928" y="33832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144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en-US" sz="23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⅓</a:t>
            </a:r>
            <a:r>
              <a:rPr lang="en-US" sz="2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=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 53"/>
              <p:cNvSpPr/>
              <p:nvPr/>
            </p:nvSpPr>
            <p:spPr>
              <a:xfrm>
                <a:off x="3506724" y="3758184"/>
                <a:ext cx="475488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20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20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  <m:t>𝟑</m:t>
                          </m:r>
                        </m:deg>
                        <m:e>
                          <m:r>
                            <a:rPr lang="en-US" sz="20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  <m:t>𝟖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5" name="Text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724" y="3758184"/>
                <a:ext cx="475488" cy="365760"/>
              </a:xfrm>
              <a:prstGeom prst="rect">
                <a:avLst/>
              </a:prstGeom>
              <a:blipFill rotWithShape="1">
                <a:blip r:embed="rId4"/>
                <a:stretch>
                  <a:fillRect r="-6410" b="-3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55"/>
          <p:cNvSpPr/>
          <p:nvPr/>
        </p:nvSpPr>
        <p:spPr>
          <a:xfrm>
            <a:off x="4846320" y="36301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  </a:t>
            </a:r>
            <a:r>
              <a:rPr lang="en-US" sz="2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58" name="Shape 56"/>
          <p:cNvSpPr/>
          <p:nvPr/>
        </p:nvSpPr>
        <p:spPr>
          <a:xfrm>
            <a:off x="566928" y="45720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14400" y="48188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r>
              <a:rPr lang="en-US" sz="23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⅔</a:t>
            </a:r>
            <a:r>
              <a:rPr lang="en-US" sz="2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=    (</a:t>
            </a:r>
            <a:endParaRPr lang="en-US" sz="2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 61"/>
              <p:cNvSpPr/>
              <p:nvPr/>
            </p:nvSpPr>
            <p:spPr>
              <a:xfrm>
                <a:off x="3977640" y="4946904"/>
                <a:ext cx="475488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3" name="Text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7640" y="4946904"/>
                <a:ext cx="475488" cy="365760"/>
              </a:xfrm>
              <a:prstGeom prst="rect">
                <a:avLst/>
              </a:prstGeom>
              <a:blipFill rotWithShape="1">
                <a:blip r:embed="rId5"/>
                <a:stretch>
                  <a:fillRect r="-3846" b="-16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 63"/>
          <p:cNvSpPr/>
          <p:nvPr/>
        </p:nvSpPr>
        <p:spPr>
          <a:xfrm>
            <a:off x="4480560" y="48188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21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1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2</a:t>
            </a:r>
            <a:r>
              <a:rPr lang="en-US" sz="21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21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r>
              <a:rPr lang="en-US" sz="21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66" name="Text 64"/>
          <p:cNvSpPr/>
          <p:nvPr/>
        </p:nvSpPr>
        <p:spPr>
          <a:xfrm>
            <a:off x="566928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first, then power — e.g. the cube root of 8 is 2, then 2² = 4.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AND Fractional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with the negative first (flip), then the fraction (root, then power).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3268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flip the negative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68680" y="2880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r>
              <a:rPr lang="en-US" sz="22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−⅔</a:t>
            </a:r>
            <a:r>
              <a:rPr lang="en-US" sz="22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154680" y="29260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3154680" y="3200400"/>
            <a:ext cx="141732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54680" y="32278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r>
              <a:rPr lang="en-US" sz="17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⅔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190488" y="2194560"/>
            <a:ext cx="5440680" cy="1554480"/>
          </a:xfrm>
          <a:prstGeom prst="roundRect">
            <a:avLst>
              <a:gd name="adj" fmla="val 3529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556248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root, then power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492240" y="2880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r>
              <a:rPr lang="en-US" sz="21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⅔</a:t>
            </a:r>
            <a:r>
              <a:rPr lang="en-US" sz="21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(</a:t>
            </a:r>
            <a:endParaRPr lang="en-US" sz="2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53"/>
              <p:cNvSpPr/>
              <p:nvPr/>
            </p:nvSpPr>
            <p:spPr>
              <a:xfrm>
                <a:off x="7470648" y="3035808"/>
                <a:ext cx="621792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US" sz="18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US" sz="18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  <m:t>𝟑</m:t>
                          </m:r>
                        </m:deg>
                        <m:e>
                          <m:r>
                            <a:rPr lang="en-US" sz="1800" b="1" i="1" smtClean="0">
                              <a:solidFill>
                                <a:srgbClr val="1C2A22"/>
                              </a:solidFill>
                              <a:latin typeface="Cambria Math"/>
                              <a:ea typeface="Cambria" pitchFamily="34" charset="-122"/>
                            </a:rPr>
                            <m:t>𝟔𝟒</m:t>
                          </m:r>
                        </m:e>
                      </m:ra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5" name="Text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0648" y="3035808"/>
                <a:ext cx="621792" cy="36576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55"/>
          <p:cNvSpPr/>
          <p:nvPr/>
        </p:nvSpPr>
        <p:spPr>
          <a:xfrm>
            <a:off x="8025223" y="2911963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r>
              <a:rPr lang="en-US" sz="19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9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4</a:t>
            </a:r>
            <a:r>
              <a:rPr lang="en-US" sz="1900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9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r>
              <a:rPr lang="en-US" sz="19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3383280" y="4160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  64</a:t>
            </a:r>
            <a:r>
              <a:rPr lang="en-US" sz="2400" b="1" baseline="300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−⅔</a:t>
            </a:r>
            <a:r>
              <a:rPr lang="en-US" sz="24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6309360" y="4251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0" name="Shape 58"/>
          <p:cNvSpPr/>
          <p:nvPr/>
        </p:nvSpPr>
        <p:spPr>
          <a:xfrm>
            <a:off x="6309360" y="4526280"/>
            <a:ext cx="1280160" cy="0"/>
          </a:xfrm>
          <a:prstGeom prst="line">
            <a:avLst/>
          </a:prstGeom>
          <a:noFill/>
          <a:ln w="19050">
            <a:solidFill>
              <a:srgbClr val="1C2A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4553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566928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841248" y="54406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negative fractional index: flip, take the root, then apply the power.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exam questions — shown as printed so every power and fraction is exact.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law(s) does it use?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with numbers and letters separately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→ flip;  fraction → root then power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clear working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(1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64635" y="1408176"/>
            <a:ext cx="7232251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499" y="1463040"/>
            <a:ext cx="7122523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2537872" y="4014216"/>
            <a:ext cx="7085776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2736" y="4069080"/>
            <a:ext cx="6976048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(2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94031" y="1408176"/>
            <a:ext cx="897345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895" y="1463040"/>
            <a:ext cx="886373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198250" y="4014216"/>
            <a:ext cx="9765019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3114" y="4069080"/>
            <a:ext cx="9655291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(3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43355" y="1408176"/>
            <a:ext cx="7274811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219" y="1463040"/>
            <a:ext cx="7165083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2736706" y="4014216"/>
            <a:ext cx="6688107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1570" y="4069080"/>
            <a:ext cx="6578379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(4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551246" y="1408176"/>
            <a:ext cx="905902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110" y="1463040"/>
            <a:ext cx="894930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2905039" y="4014216"/>
            <a:ext cx="6351441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903" y="4069080"/>
            <a:ext cx="6241713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(5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334191" y="1408176"/>
            <a:ext cx="549313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9055" y="1463040"/>
            <a:ext cx="5383410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5265123" y="4014216"/>
            <a:ext cx="1631274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987" y="4069080"/>
            <a:ext cx="1521546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(6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4778616" y="1408176"/>
            <a:ext cx="2604287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480" y="1463040"/>
            <a:ext cx="2494559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582001" y="4014216"/>
            <a:ext cx="899751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865" y="4069080"/>
            <a:ext cx="8887790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(7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407899" y="1408176"/>
            <a:ext cx="7345723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763" y="1463040"/>
            <a:ext cx="7235995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1729041" y="4014216"/>
            <a:ext cx="8703438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905" y="4069080"/>
            <a:ext cx="8593710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(8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880438" y="1408176"/>
            <a:ext cx="4400645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302" y="1463040"/>
            <a:ext cx="4290917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047288" y="4014216"/>
            <a:ext cx="6066944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152" y="4069080"/>
            <a:ext cx="5957216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(9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212911" y="1408176"/>
            <a:ext cx="1735697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75" y="1463040"/>
            <a:ext cx="1625969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96696" y="4183410"/>
            <a:ext cx="10168128" cy="2103059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238274"/>
            <a:ext cx="10058400" cy="1993331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(10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2544690" y="1408176"/>
            <a:ext cx="7072139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554" y="1463040"/>
            <a:ext cx="6962411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2128349" y="4014216"/>
            <a:ext cx="7904821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6" name="Image 1" descr="/tmp/work/idxq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213" y="4069080"/>
            <a:ext cx="7795093" cy="2331720"/>
          </a:xfrm>
          <a:prstGeom prst="rect">
            <a:avLst/>
          </a:prstGeom>
        </p:spPr>
      </p:pic>
      <p:sp>
        <p:nvSpPr>
          <p:cNvPr id="47" name="Shape 43"/>
          <p:cNvSpPr/>
          <p:nvPr/>
        </p:nvSpPr>
        <p:spPr>
          <a:xfrm>
            <a:off x="1005840" y="408736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8" name="Text 44"/>
          <p:cNvSpPr/>
          <p:nvPr/>
        </p:nvSpPr>
        <p:spPr>
          <a:xfrm>
            <a:off x="10058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(11 of 11)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Printed in the Exam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3065553" y="1408176"/>
            <a:ext cx="6030414" cy="2441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prstDash val="solid"/>
          </a:ln>
          <a:effectLst>
            <a:outerShdw blurRad="635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2" name="Image 0" descr="/tmp/work/idxq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417" y="1463040"/>
            <a:ext cx="5920686" cy="233172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" y="148132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0058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→ add powers;  divide → subtract powers  (same base only).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a power → multiply the powers;  x⁰ = 1.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index → reciprocal:  x⁻ⁿ = 1 over xⁿ.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index → root:  bottom is the root, top is the power.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carefully: flip for the negative, then root and power for the fraction.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base — add, subtract or multiply the powers; a fraction power is a root.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992</Words>
  <Application>Microsoft Office PowerPoint</Application>
  <PresentationFormat>Custom</PresentationFormat>
  <Paragraphs>229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3</cp:revision>
  <dcterms:created xsi:type="dcterms:W3CDTF">2026-07-11T20:09:36Z</dcterms:created>
  <dcterms:modified xsi:type="dcterms:W3CDTF">2026-07-20T12:25:26Z</dcterms:modified>
</cp:coreProperties>
</file>