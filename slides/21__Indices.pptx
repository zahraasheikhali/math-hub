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2.png" ContentType="image/png"/>
  <Override PartName="/ppt/media/image3.png" ContentType="image/png"/>
  <Override PartName="/ppt/media/image8.png" ContentType="image/png"/>
  <Override PartName="/ppt/media/image17.png" ContentType="image/png"/>
  <Override PartName="/ppt/media/image11.png" ContentType="image/png"/>
  <Override PartName="/ppt/media/image2.png" ContentType="image/png"/>
  <Override PartName="/ppt/media/image7.png" ContentType="image/png"/>
  <Override PartName="/ppt/media/image16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14.png" ContentType="image/png"/>
  <Override PartName="/ppt/media/image5.png" ContentType="image/png"/>
  <Override PartName="/ppt/media/image21.png" ContentType="image/png"/>
  <Override PartName="/ppt/media/image19.png" ContentType="image/png"/>
  <Override PartName="/ppt/media/image6.png" ContentType="image/png"/>
  <Override PartName="/ppt/media/image15.png" ContentType="image/png"/>
  <Override PartName="/ppt/media/image10.png" ContentType="image/png"/>
  <Override PartName="/ppt/media/image1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F682B99-D427-4023-B319-15310ECCC73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70633451-B868-4028-BC99-4E68992A5845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5018D22-B16F-4644-A656-78B811E3B5B3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5EA62F39-B271-4A4F-ACB3-8274F30BD680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3417353-8A25-48F9-8AA8-7DF30CB2FFC7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3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B2542B7-A8BB-40CF-9788-57BC1D70CA44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A93B8C3-F82C-4A78-8677-7ED43908FC35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ACA5F0A5-2756-4D6F-B7F3-F9D6FA77505E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54DFEF2-6D3C-4F82-83DA-DC19DAA6D53F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5F2B9E4-917B-47B5-8118-ED705D50E8D7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AF9EEC0F-E1B8-4EF9-B79A-A5C0C4B22D04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FE2FDA2-6BA9-4720-A581-220E16F92B30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52DD87EA-D20A-4980-A211-91E949096D33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433617C-8825-4F2F-AE47-40C0ADAF2C3D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C13D549-B329-440F-B23B-A5B6BB97A05F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1600883-438C-423F-910B-95BE3F5E3883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B128BD16-F26A-41DF-9631-32571F2714CC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8417E0E-C94F-40C7-B179-68C064E997A0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41A98DE-5C44-42AC-A271-1A6142736F6C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7233B97D-5F6C-49E6-BD9F-958FD4B7487E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8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D047916-FB3F-430D-AABD-ECA6FC89456E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1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539A9A0-F782-4027-BECF-28AC85413009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8595360" y="914400"/>
            <a:ext cx="31086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5200" spc="-1" strike="noStrike">
                <a:solidFill>
                  <a:srgbClr val="33463a"/>
                </a:solidFill>
                <a:latin typeface="Cambria"/>
                <a:ea typeface="Cambria"/>
              </a:rPr>
              <a:t>x</a:t>
            </a:r>
            <a:r>
              <a:rPr b="1" i="1" lang="en-US" sz="5200" spc="-1" strike="noStrike" baseline="30000">
                <a:solidFill>
                  <a:srgbClr val="33463a"/>
                </a:solidFill>
                <a:latin typeface="Cambria"/>
                <a:ea typeface="Cambria"/>
              </a:rPr>
              <a:t>a+b</a:t>
            </a:r>
            <a:endParaRPr b="0" lang="en-US" sz="5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37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e0ac2b"/>
                </a:solidFill>
                <a:latin typeface="Cambria"/>
                <a:ea typeface="Cambria"/>
              </a:rPr>
              <a:t>Laws of Indices</a:t>
            </a:r>
            <a:endParaRPr b="0" lang="en-US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Multiply · Divide · Power of a Power · Zero · Negative · Fractional Indices &amp; Roots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42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43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Six Rules for Powers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An index (power) tells you how many times to multiply.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Six rules cover everything — including negative powers (fractions) and fractional powers (roots).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Multiplying powers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Dividing powers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Power of a power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Negative indices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Fractional indices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index · power · base · reciprocal · root · evaluate · simplify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KEY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Laws of Indices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39"/>
          <p:cNvSpPr/>
          <p:nvPr/>
        </p:nvSpPr>
        <p:spPr>
          <a:xfrm>
            <a:off x="567000" y="1371600"/>
            <a:ext cx="11063880" cy="566640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40"/>
          <p:cNvSpPr/>
          <p:nvPr/>
        </p:nvSpPr>
        <p:spPr>
          <a:xfrm>
            <a:off x="887040" y="137160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Learn these six — every question uses one or more of them.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41"/>
          <p:cNvSpPr/>
          <p:nvPr/>
        </p:nvSpPr>
        <p:spPr>
          <a:xfrm>
            <a:off x="567000" y="2103120"/>
            <a:ext cx="5394600" cy="1170000"/>
          </a:xfrm>
          <a:prstGeom prst="roundRect">
            <a:avLst>
              <a:gd name="adj" fmla="val 468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42"/>
          <p:cNvSpPr/>
          <p:nvPr/>
        </p:nvSpPr>
        <p:spPr>
          <a:xfrm>
            <a:off x="841320" y="224928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48" strike="noStrike">
                <a:solidFill>
                  <a:srgbClr val="c84f2f"/>
                </a:solidFill>
                <a:latin typeface="Calibri"/>
                <a:ea typeface="Calibri"/>
              </a:rPr>
              <a:t>MULTIPLY — ADD POWERS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43"/>
          <p:cNvSpPr/>
          <p:nvPr/>
        </p:nvSpPr>
        <p:spPr>
          <a:xfrm>
            <a:off x="841320" y="2560320"/>
            <a:ext cx="48459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c2a22"/>
                </a:solidFill>
                <a:latin typeface="Cambria"/>
                <a:ea typeface="Cambria"/>
              </a:rPr>
              <a:t>x</a:t>
            </a:r>
            <a:r>
              <a:rPr b="1" lang="en-US" sz="20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a</a:t>
            </a:r>
            <a:r>
              <a:rPr b="1" lang="en-US" sz="2000" spc="-1" strike="noStrike">
                <a:solidFill>
                  <a:srgbClr val="1c2a22"/>
                </a:solidFill>
                <a:latin typeface="Cambria"/>
                <a:ea typeface="Cambria"/>
              </a:rPr>
              <a:t> × x</a:t>
            </a:r>
            <a:r>
              <a:rPr b="1" lang="en-US" sz="20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b</a:t>
            </a:r>
            <a:r>
              <a:rPr b="1" lang="en-US" sz="2000" spc="-1" strike="noStrike">
                <a:solidFill>
                  <a:srgbClr val="1c2a22"/>
                </a:solidFill>
                <a:latin typeface="Cambria"/>
                <a:ea typeface="Cambria"/>
              </a:rPr>
              <a:t> = x</a:t>
            </a:r>
            <a:r>
              <a:rPr b="1" lang="en-US" sz="2000" spc="-1" strike="noStrike" baseline="30000">
                <a:solidFill>
                  <a:srgbClr val="c84f2f"/>
                </a:solidFill>
                <a:latin typeface="Cambria"/>
                <a:ea typeface="Cambria"/>
              </a:rPr>
              <a:t>a+b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44"/>
          <p:cNvSpPr/>
          <p:nvPr/>
        </p:nvSpPr>
        <p:spPr>
          <a:xfrm>
            <a:off x="6236280" y="2103120"/>
            <a:ext cx="5394600" cy="1170000"/>
          </a:xfrm>
          <a:prstGeom prst="roundRect">
            <a:avLst>
              <a:gd name="adj" fmla="val 468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45"/>
          <p:cNvSpPr/>
          <p:nvPr/>
        </p:nvSpPr>
        <p:spPr>
          <a:xfrm>
            <a:off x="6510600" y="224928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48" strike="noStrike">
                <a:solidFill>
                  <a:srgbClr val="c84f2f"/>
                </a:solidFill>
                <a:latin typeface="Calibri"/>
                <a:ea typeface="Calibri"/>
              </a:rPr>
              <a:t>DIVIDE — SUBTRACT POWERS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46"/>
          <p:cNvSpPr/>
          <p:nvPr/>
        </p:nvSpPr>
        <p:spPr>
          <a:xfrm>
            <a:off x="6510600" y="2560320"/>
            <a:ext cx="48459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c2a22"/>
                </a:solidFill>
                <a:latin typeface="Cambria"/>
                <a:ea typeface="Cambria"/>
              </a:rPr>
              <a:t>x</a:t>
            </a:r>
            <a:r>
              <a:rPr b="1" lang="en-US" sz="20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a</a:t>
            </a:r>
            <a:r>
              <a:rPr b="1" lang="en-US" sz="2000" spc="-1" strike="noStrike">
                <a:solidFill>
                  <a:srgbClr val="1c2a22"/>
                </a:solidFill>
                <a:latin typeface="Cambria"/>
                <a:ea typeface="Cambria"/>
              </a:rPr>
              <a:t> ÷ x</a:t>
            </a:r>
            <a:r>
              <a:rPr b="1" lang="en-US" sz="20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b</a:t>
            </a:r>
            <a:r>
              <a:rPr b="1" lang="en-US" sz="2000" spc="-1" strike="noStrike">
                <a:solidFill>
                  <a:srgbClr val="1c2a22"/>
                </a:solidFill>
                <a:latin typeface="Cambria"/>
                <a:ea typeface="Cambria"/>
              </a:rPr>
              <a:t> = x</a:t>
            </a:r>
            <a:r>
              <a:rPr b="1" lang="en-US" sz="2000" spc="-1" strike="noStrike" baseline="30000">
                <a:solidFill>
                  <a:srgbClr val="c84f2f"/>
                </a:solidFill>
                <a:latin typeface="Cambria"/>
                <a:ea typeface="Cambria"/>
              </a:rPr>
              <a:t>a−b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47"/>
          <p:cNvSpPr/>
          <p:nvPr/>
        </p:nvSpPr>
        <p:spPr>
          <a:xfrm>
            <a:off x="567000" y="3420000"/>
            <a:ext cx="5394600" cy="1170000"/>
          </a:xfrm>
          <a:prstGeom prst="roundRect">
            <a:avLst>
              <a:gd name="adj" fmla="val 468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48"/>
          <p:cNvSpPr/>
          <p:nvPr/>
        </p:nvSpPr>
        <p:spPr>
          <a:xfrm>
            <a:off x="841320" y="356616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48" strike="noStrike">
                <a:solidFill>
                  <a:srgbClr val="c84f2f"/>
                </a:solidFill>
                <a:latin typeface="Calibri"/>
                <a:ea typeface="Calibri"/>
              </a:rPr>
              <a:t>POWER OF A POWER — MULTIPLY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49"/>
          <p:cNvSpPr/>
          <p:nvPr/>
        </p:nvSpPr>
        <p:spPr>
          <a:xfrm>
            <a:off x="841320" y="3877200"/>
            <a:ext cx="48459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c2a22"/>
                </a:solidFill>
                <a:latin typeface="Cambria"/>
                <a:ea typeface="Cambria"/>
              </a:rPr>
              <a:t>( x</a:t>
            </a:r>
            <a:r>
              <a:rPr b="1" lang="en-US" sz="20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a</a:t>
            </a:r>
            <a:r>
              <a:rPr b="1" lang="en-US" sz="2000" spc="-1" strike="noStrike">
                <a:solidFill>
                  <a:srgbClr val="1c2a22"/>
                </a:solidFill>
                <a:latin typeface="Cambria"/>
                <a:ea typeface="Cambria"/>
              </a:rPr>
              <a:t> )</a:t>
            </a:r>
            <a:r>
              <a:rPr b="1" lang="en-US" sz="20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b</a:t>
            </a:r>
            <a:r>
              <a:rPr b="1" lang="en-US" sz="2000" spc="-1" strike="noStrike">
                <a:solidFill>
                  <a:srgbClr val="1c2a22"/>
                </a:solidFill>
                <a:latin typeface="Cambria"/>
                <a:ea typeface="Cambria"/>
              </a:rPr>
              <a:t> = x</a:t>
            </a:r>
            <a:r>
              <a:rPr b="1" lang="en-US" sz="2000" spc="-1" strike="noStrike" baseline="30000">
                <a:solidFill>
                  <a:srgbClr val="c84f2f"/>
                </a:solidFill>
                <a:latin typeface="Cambria"/>
                <a:ea typeface="Cambria"/>
              </a:rPr>
              <a:t>ab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Shape 50"/>
          <p:cNvSpPr/>
          <p:nvPr/>
        </p:nvSpPr>
        <p:spPr>
          <a:xfrm>
            <a:off x="6236280" y="3420000"/>
            <a:ext cx="5394600" cy="1170000"/>
          </a:xfrm>
          <a:prstGeom prst="roundRect">
            <a:avLst>
              <a:gd name="adj" fmla="val 468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51"/>
          <p:cNvSpPr/>
          <p:nvPr/>
        </p:nvSpPr>
        <p:spPr>
          <a:xfrm>
            <a:off x="6510600" y="356616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48" strike="noStrike">
                <a:solidFill>
                  <a:srgbClr val="c84f2f"/>
                </a:solidFill>
                <a:latin typeface="Calibri"/>
                <a:ea typeface="Calibri"/>
              </a:rPr>
              <a:t>POWER OF ZERO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52"/>
          <p:cNvSpPr/>
          <p:nvPr/>
        </p:nvSpPr>
        <p:spPr>
          <a:xfrm>
            <a:off x="6510600" y="3877200"/>
            <a:ext cx="48459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c2a22"/>
                </a:solidFill>
                <a:latin typeface="Cambria"/>
                <a:ea typeface="Cambria"/>
              </a:rPr>
              <a:t>x</a:t>
            </a:r>
            <a:r>
              <a:rPr b="1" lang="en-US" sz="20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0</a:t>
            </a:r>
            <a:r>
              <a:rPr b="1" lang="en-US" sz="2000" spc="-1" strike="noStrike">
                <a:solidFill>
                  <a:srgbClr val="1c2a22"/>
                </a:solidFill>
                <a:latin typeface="Cambria"/>
                <a:ea typeface="Cambria"/>
              </a:rPr>
              <a:t> = </a:t>
            </a:r>
            <a:r>
              <a:rPr b="1" lang="en-US" sz="2000" spc="-1" strike="noStrike">
                <a:solidFill>
                  <a:srgbClr val="c84f2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53"/>
          <p:cNvSpPr/>
          <p:nvPr/>
        </p:nvSpPr>
        <p:spPr>
          <a:xfrm>
            <a:off x="567000" y="4736520"/>
            <a:ext cx="539460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54"/>
          <p:cNvSpPr/>
          <p:nvPr/>
        </p:nvSpPr>
        <p:spPr>
          <a:xfrm>
            <a:off x="841320" y="486468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48" strike="noStrike">
                <a:solidFill>
                  <a:srgbClr val="c84f2f"/>
                </a:solidFill>
                <a:latin typeface="Calibri"/>
                <a:ea typeface="Calibri"/>
              </a:rPr>
              <a:t>NEGATIVE — RECIPROCAL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55"/>
          <p:cNvSpPr/>
          <p:nvPr/>
        </p:nvSpPr>
        <p:spPr>
          <a:xfrm>
            <a:off x="868680" y="5212080"/>
            <a:ext cx="20113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c2a22"/>
                </a:solidFill>
                <a:latin typeface="Cambria"/>
                <a:ea typeface="Cambria"/>
              </a:rPr>
              <a:t>x</a:t>
            </a:r>
            <a:r>
              <a:rPr b="1" lang="en-US" sz="22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−n</a:t>
            </a:r>
            <a:r>
              <a:rPr b="1" lang="en-US" sz="2200" spc="-1" strike="noStrike">
                <a:solidFill>
                  <a:srgbClr val="1c2a22"/>
                </a:solidFill>
                <a:latin typeface="Cambria"/>
                <a:ea typeface="Cambria"/>
              </a:rPr>
              <a:t>  =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56"/>
          <p:cNvSpPr/>
          <p:nvPr/>
        </p:nvSpPr>
        <p:spPr>
          <a:xfrm>
            <a:off x="3063240" y="525780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mbria"/>
                <a:ea typeface="Cambria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57"/>
          <p:cNvSpPr/>
          <p:nvPr/>
        </p:nvSpPr>
        <p:spPr>
          <a:xfrm>
            <a:off x="3063240" y="5532120"/>
            <a:ext cx="1371600" cy="360"/>
          </a:xfrm>
          <a:prstGeom prst="line">
            <a:avLst/>
          </a:prstGeom>
          <a:ln w="1905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58"/>
          <p:cNvSpPr/>
          <p:nvPr/>
        </p:nvSpPr>
        <p:spPr>
          <a:xfrm>
            <a:off x="3063240" y="555948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c2a22"/>
                </a:solidFill>
                <a:latin typeface="Cambria"/>
                <a:ea typeface="Cambria"/>
              </a:rPr>
              <a:t>x</a:t>
            </a:r>
            <a:r>
              <a:rPr b="0" lang="en-US" sz="18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59"/>
          <p:cNvSpPr/>
          <p:nvPr/>
        </p:nvSpPr>
        <p:spPr>
          <a:xfrm>
            <a:off x="6236280" y="4736520"/>
            <a:ext cx="5394600" cy="141696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60"/>
          <p:cNvSpPr/>
          <p:nvPr/>
        </p:nvSpPr>
        <p:spPr>
          <a:xfrm>
            <a:off x="6510600" y="486468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48" strike="noStrike">
                <a:solidFill>
                  <a:srgbClr val="c84f2f"/>
                </a:solidFill>
                <a:latin typeface="Calibri"/>
                <a:ea typeface="Calibri"/>
              </a:rPr>
              <a:t>FRACTIONAL — ROOT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61"/>
          <p:cNvSpPr/>
          <p:nvPr/>
        </p:nvSpPr>
        <p:spPr>
          <a:xfrm>
            <a:off x="6537960" y="5212080"/>
            <a:ext cx="1554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c2a22"/>
                </a:solidFill>
                <a:latin typeface="Cambria"/>
                <a:ea typeface="Cambria"/>
              </a:rPr>
              <a:t>x</a:t>
            </a:r>
            <a:r>
              <a:rPr b="1" lang="en-US" sz="22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1/n</a:t>
            </a:r>
            <a:r>
              <a:rPr b="1" lang="en-US" sz="2200" spc="-1" strike="noStrike">
                <a:solidFill>
                  <a:srgbClr val="1c2a22"/>
                </a:solidFill>
                <a:latin typeface="Cambria"/>
                <a:ea typeface="Cambria"/>
              </a:rPr>
              <a:t>   =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65"/>
          <p:cNvSpPr/>
          <p:nvPr/>
        </p:nvSpPr>
        <p:spPr>
          <a:xfrm>
            <a:off x="7635240" y="5321880"/>
            <a:ext cx="456840" cy="36540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>
                    <a:alpha val="1000"/>
                  </a:srgbClr>
                </a:solidFill>
                <a:latin typeface="Calibri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· SIMPLIFY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Multiplying &amp; Dividing Powers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Key idea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Same base: add powers to multiply, subtract to divide.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Deal with the numbers separately (9 ÷ 3 = 3).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x means x¹ (a hidden power of 1).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Only add or subtract powers when the BASE is the same.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Multiply → ADD:  a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7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× a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2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= a</a:t>
            </a:r>
            <a:r>
              <a:rPr b="1" lang="en-US" sz="1400" spc="-1" strike="noStrike" baseline="30000">
                <a:solidFill>
                  <a:srgbClr val="c84f2f"/>
                </a:solidFill>
                <a:latin typeface="Calibri"/>
                <a:ea typeface="Calibri"/>
              </a:rPr>
              <a:t>9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Divide → SUBTRACT:  9a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4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÷ 3a = </a:t>
            </a:r>
            <a:r>
              <a:rPr b="1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3a</a:t>
            </a:r>
            <a:r>
              <a:rPr b="1" lang="en-US" sz="1400" spc="-1" strike="noStrike" baseline="30000">
                <a:solidFill>
                  <a:srgbClr val="c84f2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12w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3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y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2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÷ 6w = 2w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2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y</a:t>
            </a:r>
            <a:r>
              <a:rPr b="1" lang="en-US" sz="1400" spc="-1" strike="noStrike" baseline="30000">
                <a:solidFill>
                  <a:srgbClr val="c84f2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Numbers divide; letters follow the power rule.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a</a:t>
            </a:r>
            <a:r>
              <a:rPr b="1" lang="en-US" sz="23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7</a:t>
            </a: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 × a</a:t>
            </a:r>
            <a:r>
              <a:rPr b="1" lang="en-US" sz="23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 = a</a:t>
            </a:r>
            <a:r>
              <a:rPr b="1" lang="en-US" sz="23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9</a:t>
            </a: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 ,    9a</a:t>
            </a:r>
            <a:r>
              <a:rPr b="1" lang="en-US" sz="23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4</a:t>
            </a: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 ÷ 3a = 3a</a:t>
            </a:r>
            <a:r>
              <a:rPr b="1" lang="en-US" sz="23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3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· SIMPLIFY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Power of a Power (and Zero)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Watch the number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(2x³)²: square the 2 as well → 4.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Power of a power → MULTIPLY the powers.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x⁰ = 1 for any non-zero x.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( ab )ⁿ = aⁿ bⁿ : the power applies to everything in the bracket.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Multiply the powers:  ( x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2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)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3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= x</a:t>
            </a:r>
            <a:r>
              <a:rPr b="1" lang="en-US" sz="1400" spc="-1" strike="noStrike" baseline="30000">
                <a:solidFill>
                  <a:srgbClr val="c84f2f"/>
                </a:solidFill>
                <a:latin typeface="Calibri"/>
                <a:ea typeface="Calibri"/>
              </a:rPr>
              <a:t>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Include the number:  ( 2x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3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)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2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= 4x</a:t>
            </a:r>
            <a:r>
              <a:rPr b="1" lang="en-US" sz="1400" spc="-1" strike="noStrike" baseline="30000">
                <a:solidFill>
                  <a:srgbClr val="c84f2f"/>
                </a:solidFill>
                <a:latin typeface="Calibri"/>
                <a:ea typeface="Calibri"/>
              </a:rPr>
              <a:t>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( 3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2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)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2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× ( 3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3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)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3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= 3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4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× 3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9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= 3</a:t>
            </a:r>
            <a:r>
              <a:rPr b="1" lang="en-US" sz="1400" spc="-1" strike="noStrike" baseline="30000">
                <a:solidFill>
                  <a:srgbClr val="c84f2f"/>
                </a:solidFill>
                <a:latin typeface="Calibri"/>
                <a:ea typeface="Calibri"/>
              </a:rPr>
              <a:t>13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Anything to the power 0 is 1:  5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0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( 2x</a:t>
            </a:r>
            <a:r>
              <a:rPr b="1" lang="en-US" sz="23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3</a:t>
            </a: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 )</a:t>
            </a:r>
            <a:r>
              <a:rPr b="1" lang="en-US" sz="23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 = 4x</a:t>
            </a:r>
            <a:r>
              <a:rPr b="1" lang="en-US" sz="23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6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NEGATIVE INDICES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 Negative Power Means ‘One Over’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39"/>
          <p:cNvSpPr/>
          <p:nvPr/>
        </p:nvSpPr>
        <p:spPr>
          <a:xfrm>
            <a:off x="567000" y="137160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 40"/>
          <p:cNvSpPr/>
          <p:nvPr/>
        </p:nvSpPr>
        <p:spPr>
          <a:xfrm>
            <a:off x="887040" y="137160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 negative index gives the reciprocal: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flip it to make the power positive.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hape 41"/>
          <p:cNvSpPr/>
          <p:nvPr/>
        </p:nvSpPr>
        <p:spPr>
          <a:xfrm>
            <a:off x="567000" y="2194560"/>
            <a:ext cx="1106388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 42"/>
          <p:cNvSpPr/>
          <p:nvPr/>
        </p:nvSpPr>
        <p:spPr>
          <a:xfrm>
            <a:off x="914400" y="2468880"/>
            <a:ext cx="2011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c2a22"/>
                </a:solidFill>
                <a:latin typeface="Cambria"/>
                <a:ea typeface="Cambria"/>
              </a:rPr>
              <a:t>2</a:t>
            </a:r>
            <a:r>
              <a:rPr b="1" lang="en-US" sz="22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−3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 43"/>
          <p:cNvSpPr/>
          <p:nvPr/>
        </p:nvSpPr>
        <p:spPr>
          <a:xfrm>
            <a:off x="2926080" y="2468880"/>
            <a:ext cx="456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5c6b60"/>
                </a:solidFill>
                <a:latin typeface="Cambria"/>
                <a:ea typeface="Cambria"/>
              </a:rPr>
              <a:t>=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 44"/>
          <p:cNvSpPr/>
          <p:nvPr/>
        </p:nvSpPr>
        <p:spPr>
          <a:xfrm>
            <a:off x="3566160" y="24415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45"/>
          <p:cNvSpPr/>
          <p:nvPr/>
        </p:nvSpPr>
        <p:spPr>
          <a:xfrm>
            <a:off x="3566160" y="2715480"/>
            <a:ext cx="1371600" cy="360"/>
          </a:xfrm>
          <a:prstGeom prst="line">
            <a:avLst/>
          </a:prstGeom>
          <a:ln w="1905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 46"/>
          <p:cNvSpPr/>
          <p:nvPr/>
        </p:nvSpPr>
        <p:spPr>
          <a:xfrm>
            <a:off x="3566160" y="274320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2</a:t>
            </a:r>
            <a:r>
              <a:rPr b="0" lang="en-US" sz="17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 47"/>
          <p:cNvSpPr/>
          <p:nvPr/>
        </p:nvSpPr>
        <p:spPr>
          <a:xfrm>
            <a:off x="5212080" y="2468880"/>
            <a:ext cx="456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5c6b60"/>
                </a:solidFill>
                <a:latin typeface="Cambria"/>
                <a:ea typeface="Cambria"/>
              </a:rPr>
              <a:t>=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Text 48"/>
          <p:cNvSpPr/>
          <p:nvPr/>
        </p:nvSpPr>
        <p:spPr>
          <a:xfrm>
            <a:off x="5852160" y="244152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49"/>
          <p:cNvSpPr/>
          <p:nvPr/>
        </p:nvSpPr>
        <p:spPr>
          <a:xfrm>
            <a:off x="5852160" y="2715480"/>
            <a:ext cx="1280160" cy="360"/>
          </a:xfrm>
          <a:prstGeom prst="line">
            <a:avLst/>
          </a:prstGeom>
          <a:ln w="1905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 50"/>
          <p:cNvSpPr/>
          <p:nvPr/>
        </p:nvSpPr>
        <p:spPr>
          <a:xfrm>
            <a:off x="5852160" y="274320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8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51"/>
          <p:cNvSpPr/>
          <p:nvPr/>
        </p:nvSpPr>
        <p:spPr>
          <a:xfrm>
            <a:off x="567000" y="3383280"/>
            <a:ext cx="1106388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 52"/>
          <p:cNvSpPr/>
          <p:nvPr/>
        </p:nvSpPr>
        <p:spPr>
          <a:xfrm>
            <a:off x="914400" y="3657600"/>
            <a:ext cx="2011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c2a22"/>
                </a:solidFill>
                <a:latin typeface="Cambria"/>
                <a:ea typeface="Cambria"/>
              </a:rPr>
              <a:t>5</a:t>
            </a:r>
            <a:r>
              <a:rPr b="1" lang="en-US" sz="22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−2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53"/>
          <p:cNvSpPr/>
          <p:nvPr/>
        </p:nvSpPr>
        <p:spPr>
          <a:xfrm>
            <a:off x="2926080" y="3657600"/>
            <a:ext cx="456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5c6b60"/>
                </a:solidFill>
                <a:latin typeface="Cambria"/>
                <a:ea typeface="Cambria"/>
              </a:rPr>
              <a:t>=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 54"/>
          <p:cNvSpPr/>
          <p:nvPr/>
        </p:nvSpPr>
        <p:spPr>
          <a:xfrm>
            <a:off x="3566160" y="363024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55"/>
          <p:cNvSpPr/>
          <p:nvPr/>
        </p:nvSpPr>
        <p:spPr>
          <a:xfrm>
            <a:off x="3566160" y="3904200"/>
            <a:ext cx="1371600" cy="360"/>
          </a:xfrm>
          <a:prstGeom prst="line">
            <a:avLst/>
          </a:prstGeom>
          <a:ln w="1905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 56"/>
          <p:cNvSpPr/>
          <p:nvPr/>
        </p:nvSpPr>
        <p:spPr>
          <a:xfrm>
            <a:off x="3566160" y="39319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5</a:t>
            </a:r>
            <a:r>
              <a:rPr b="0" lang="en-US" sz="17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 57"/>
          <p:cNvSpPr/>
          <p:nvPr/>
        </p:nvSpPr>
        <p:spPr>
          <a:xfrm>
            <a:off x="5212080" y="3657600"/>
            <a:ext cx="456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5c6b60"/>
                </a:solidFill>
                <a:latin typeface="Cambria"/>
                <a:ea typeface="Cambria"/>
              </a:rPr>
              <a:t>=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 58"/>
          <p:cNvSpPr/>
          <p:nvPr/>
        </p:nvSpPr>
        <p:spPr>
          <a:xfrm>
            <a:off x="5852160" y="363024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59"/>
          <p:cNvSpPr/>
          <p:nvPr/>
        </p:nvSpPr>
        <p:spPr>
          <a:xfrm>
            <a:off x="5852160" y="3904200"/>
            <a:ext cx="1280160" cy="360"/>
          </a:xfrm>
          <a:prstGeom prst="line">
            <a:avLst/>
          </a:prstGeom>
          <a:ln w="1905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5852160" y="393192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25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61"/>
          <p:cNvSpPr/>
          <p:nvPr/>
        </p:nvSpPr>
        <p:spPr>
          <a:xfrm>
            <a:off x="567000" y="4572000"/>
            <a:ext cx="1106388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 62"/>
          <p:cNvSpPr/>
          <p:nvPr/>
        </p:nvSpPr>
        <p:spPr>
          <a:xfrm>
            <a:off x="914400" y="4846320"/>
            <a:ext cx="2011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c2a22"/>
                </a:solidFill>
                <a:latin typeface="Cambria"/>
                <a:ea typeface="Cambria"/>
              </a:rPr>
              <a:t>x</a:t>
            </a:r>
            <a:r>
              <a:rPr b="1" lang="en-US" sz="22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−n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 63"/>
          <p:cNvSpPr/>
          <p:nvPr/>
        </p:nvSpPr>
        <p:spPr>
          <a:xfrm>
            <a:off x="2926080" y="4846320"/>
            <a:ext cx="456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5c6b60"/>
                </a:solidFill>
                <a:latin typeface="Cambria"/>
                <a:ea typeface="Cambria"/>
              </a:rPr>
              <a:t>=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 64"/>
          <p:cNvSpPr/>
          <p:nvPr/>
        </p:nvSpPr>
        <p:spPr>
          <a:xfrm>
            <a:off x="3566160" y="481896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65"/>
          <p:cNvSpPr/>
          <p:nvPr/>
        </p:nvSpPr>
        <p:spPr>
          <a:xfrm>
            <a:off x="3566160" y="5092920"/>
            <a:ext cx="1371600" cy="360"/>
          </a:xfrm>
          <a:prstGeom prst="line">
            <a:avLst/>
          </a:prstGeom>
          <a:ln w="1905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Text 66"/>
          <p:cNvSpPr/>
          <p:nvPr/>
        </p:nvSpPr>
        <p:spPr>
          <a:xfrm>
            <a:off x="3566160" y="512064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x</a:t>
            </a:r>
            <a:r>
              <a:rPr b="0" lang="en-US" sz="17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 67"/>
          <p:cNvSpPr/>
          <p:nvPr/>
        </p:nvSpPr>
        <p:spPr>
          <a:xfrm>
            <a:off x="5212080" y="4846320"/>
            <a:ext cx="456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5c6b60"/>
                </a:solidFill>
                <a:latin typeface="Cambria"/>
                <a:ea typeface="Cambria"/>
              </a:rPr>
              <a:t>=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 68"/>
          <p:cNvSpPr/>
          <p:nvPr/>
        </p:nvSpPr>
        <p:spPr>
          <a:xfrm>
            <a:off x="5852160" y="481896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7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8" name="Shape 69"/>
          <p:cNvSpPr/>
          <p:nvPr/>
        </p:nvSpPr>
        <p:spPr>
          <a:xfrm>
            <a:off x="5852160" y="5092920"/>
            <a:ext cx="1280160" cy="360"/>
          </a:xfrm>
          <a:prstGeom prst="line">
            <a:avLst/>
          </a:prstGeom>
          <a:ln w="1905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 70"/>
          <p:cNvSpPr/>
          <p:nvPr/>
        </p:nvSpPr>
        <p:spPr>
          <a:xfrm>
            <a:off x="5852160" y="512064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7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0" name="Text 71"/>
          <p:cNvSpPr/>
          <p:nvPr/>
        </p:nvSpPr>
        <p:spPr>
          <a:xfrm>
            <a:off x="567000" y="585216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Flip to a fraction, turn the power positive, then evaluate.  x⁻¹ = 1/x.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FRACTIONAL INDICES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 Fraction Power Means a Root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39"/>
          <p:cNvSpPr/>
          <p:nvPr/>
        </p:nvSpPr>
        <p:spPr>
          <a:xfrm>
            <a:off x="567000" y="137160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 40"/>
          <p:cNvSpPr/>
          <p:nvPr/>
        </p:nvSpPr>
        <p:spPr>
          <a:xfrm>
            <a:off x="887040" y="137160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The bottom of the fraction is the ROOT, the top is the POWER.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Do the root first — the numbers stay small.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41"/>
          <p:cNvSpPr/>
          <p:nvPr/>
        </p:nvSpPr>
        <p:spPr>
          <a:xfrm>
            <a:off x="567000" y="2194560"/>
            <a:ext cx="1106388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 42"/>
          <p:cNvSpPr/>
          <p:nvPr/>
        </p:nvSpPr>
        <p:spPr>
          <a:xfrm>
            <a:off x="914400" y="2441520"/>
            <a:ext cx="21027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1c2a22"/>
                </a:solidFill>
                <a:latin typeface="Cambria"/>
                <a:ea typeface="Cambria"/>
              </a:rPr>
              <a:t>49</a:t>
            </a:r>
            <a:r>
              <a:rPr b="1" lang="en-US" sz="23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½</a:t>
            </a:r>
            <a:r>
              <a:rPr b="1" lang="en-US" sz="2300" spc="-1" strike="noStrike">
                <a:solidFill>
                  <a:srgbClr val="1c2a22"/>
                </a:solidFill>
                <a:latin typeface="Cambria"/>
                <a:ea typeface="Cambria"/>
              </a:rPr>
              <a:t>     =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Text 46"/>
          <p:cNvSpPr/>
          <p:nvPr/>
        </p:nvSpPr>
        <p:spPr>
          <a:xfrm>
            <a:off x="3611880" y="2569320"/>
            <a:ext cx="923040" cy="36540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>
                    <a:alpha val="1000"/>
                  </a:srgbClr>
                </a:solidFill>
                <a:latin typeface="Calibri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 47"/>
          <p:cNvSpPr/>
          <p:nvPr/>
        </p:nvSpPr>
        <p:spPr>
          <a:xfrm>
            <a:off x="5029200" y="2441520"/>
            <a:ext cx="1828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rgbClr val="1c2a22"/>
                </a:solidFill>
                <a:latin typeface="Cambria"/>
                <a:ea typeface="Cambria"/>
              </a:rPr>
              <a:t>=    </a:t>
            </a:r>
            <a:r>
              <a:rPr b="1" lang="en-US" sz="2100" spc="-1" strike="noStrike">
                <a:solidFill>
                  <a:srgbClr val="c84f2f"/>
                </a:solidFill>
                <a:latin typeface="Cambria"/>
                <a:ea typeface="Cambria"/>
              </a:rPr>
              <a:t>7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48"/>
          <p:cNvSpPr/>
          <p:nvPr/>
        </p:nvSpPr>
        <p:spPr>
          <a:xfrm>
            <a:off x="567000" y="3383280"/>
            <a:ext cx="1106388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 49"/>
          <p:cNvSpPr/>
          <p:nvPr/>
        </p:nvSpPr>
        <p:spPr>
          <a:xfrm>
            <a:off x="914400" y="3630240"/>
            <a:ext cx="21027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1c2a22"/>
                </a:solidFill>
                <a:latin typeface="Cambria"/>
                <a:ea typeface="Cambria"/>
              </a:rPr>
              <a:t>8</a:t>
            </a:r>
            <a:r>
              <a:rPr b="1" lang="en-US" sz="23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⅓</a:t>
            </a:r>
            <a:r>
              <a:rPr b="1" lang="en-US" sz="2300" spc="-1" strike="noStrike">
                <a:solidFill>
                  <a:srgbClr val="1c2a22"/>
                </a:solidFill>
                <a:latin typeface="Cambria"/>
                <a:ea typeface="Cambria"/>
              </a:rPr>
              <a:t>     =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 53"/>
          <p:cNvSpPr/>
          <p:nvPr/>
        </p:nvSpPr>
        <p:spPr>
          <a:xfrm>
            <a:off x="3506760" y="3758040"/>
            <a:ext cx="475200" cy="36540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>
                    <a:alpha val="1000"/>
                  </a:srgbClr>
                </a:solidFill>
                <a:latin typeface="Calibri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Text 55"/>
          <p:cNvSpPr/>
          <p:nvPr/>
        </p:nvSpPr>
        <p:spPr>
          <a:xfrm>
            <a:off x="4846320" y="3630240"/>
            <a:ext cx="1828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rgbClr val="1c2a22"/>
                </a:solidFill>
                <a:latin typeface="Cambria"/>
                <a:ea typeface="Cambria"/>
              </a:rPr>
              <a:t>=    </a:t>
            </a:r>
            <a:r>
              <a:rPr b="1" lang="en-US" sz="2100" spc="-1" strike="noStrike">
                <a:solidFill>
                  <a:srgbClr val="c84f2f"/>
                </a:solidFill>
                <a:latin typeface="Cambria"/>
                <a:ea typeface="Cambria"/>
              </a:rPr>
              <a:t>2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56"/>
          <p:cNvSpPr/>
          <p:nvPr/>
        </p:nvSpPr>
        <p:spPr>
          <a:xfrm>
            <a:off x="567000" y="4572000"/>
            <a:ext cx="1106388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 57"/>
          <p:cNvSpPr/>
          <p:nvPr/>
        </p:nvSpPr>
        <p:spPr>
          <a:xfrm>
            <a:off x="914400" y="4818960"/>
            <a:ext cx="2559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1c2a22"/>
                </a:solidFill>
                <a:latin typeface="Cambria"/>
                <a:ea typeface="Cambria"/>
              </a:rPr>
              <a:t>8</a:t>
            </a:r>
            <a:r>
              <a:rPr b="1" lang="en-US" sz="23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⅔</a:t>
            </a:r>
            <a:r>
              <a:rPr b="1" lang="en-US" sz="2300" spc="-1" strike="noStrike">
                <a:solidFill>
                  <a:srgbClr val="1c2a22"/>
                </a:solidFill>
                <a:latin typeface="Cambria"/>
                <a:ea typeface="Cambria"/>
              </a:rPr>
              <a:t>     =    (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Text 61"/>
          <p:cNvSpPr/>
          <p:nvPr/>
        </p:nvSpPr>
        <p:spPr>
          <a:xfrm>
            <a:off x="3977640" y="4946760"/>
            <a:ext cx="475200" cy="36540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>
                    <a:alpha val="1000"/>
                  </a:srgbClr>
                </a:solidFill>
                <a:latin typeface="Calibri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 63"/>
          <p:cNvSpPr/>
          <p:nvPr/>
        </p:nvSpPr>
        <p:spPr>
          <a:xfrm>
            <a:off x="4480560" y="4818960"/>
            <a:ext cx="4205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rgbClr val="1c2a22"/>
                </a:solidFill>
                <a:latin typeface="Cambria"/>
                <a:ea typeface="Cambria"/>
              </a:rPr>
              <a:t>)</a:t>
            </a:r>
            <a:r>
              <a:rPr b="0" lang="en-US" sz="21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2</a:t>
            </a:r>
            <a:r>
              <a:rPr b="0" lang="en-US" sz="2100" spc="-1" strike="noStrike">
                <a:solidFill>
                  <a:srgbClr val="1c2a22"/>
                </a:solidFill>
                <a:latin typeface="Cambria"/>
                <a:ea typeface="Cambria"/>
              </a:rPr>
              <a:t>   =   2</a:t>
            </a:r>
            <a:r>
              <a:rPr b="0" lang="en-US" sz="21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2</a:t>
            </a:r>
            <a:r>
              <a:rPr b="0" lang="en-US" sz="2100" spc="-1" strike="noStrike">
                <a:solidFill>
                  <a:srgbClr val="1c2a22"/>
                </a:solidFill>
                <a:latin typeface="Cambria"/>
                <a:ea typeface="Cambria"/>
              </a:rPr>
              <a:t>   =   </a:t>
            </a:r>
            <a:r>
              <a:rPr b="1" lang="en-US" sz="2100" spc="-1" strike="noStrike">
                <a:solidFill>
                  <a:srgbClr val="c84f2f"/>
                </a:solidFill>
                <a:latin typeface="Cambria"/>
                <a:ea typeface="Cambria"/>
              </a:rPr>
              <a:t>4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 64"/>
          <p:cNvSpPr/>
          <p:nvPr/>
        </p:nvSpPr>
        <p:spPr>
          <a:xfrm>
            <a:off x="567000" y="585216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Root first, then power — e.g. the cube root of 8 is 2, then 2² = 4.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PUTTING IT TOGETHER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Negative AND Fractional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39"/>
          <p:cNvSpPr/>
          <p:nvPr/>
        </p:nvSpPr>
        <p:spPr>
          <a:xfrm>
            <a:off x="567000" y="137160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Text 40"/>
          <p:cNvSpPr/>
          <p:nvPr/>
        </p:nvSpPr>
        <p:spPr>
          <a:xfrm>
            <a:off x="887040" y="137160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Deal with the negative first (flip), then the fraction (root, then power).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Shape 41"/>
          <p:cNvSpPr/>
          <p:nvPr/>
        </p:nvSpPr>
        <p:spPr>
          <a:xfrm>
            <a:off x="567000" y="2194560"/>
            <a:ext cx="5440320" cy="1554120"/>
          </a:xfrm>
          <a:prstGeom prst="roundRect">
            <a:avLst>
              <a:gd name="adj" fmla="val 3529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 42"/>
          <p:cNvSpPr/>
          <p:nvPr/>
        </p:nvSpPr>
        <p:spPr>
          <a:xfrm>
            <a:off x="932760" y="243216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Step 1 — flip the negative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 43"/>
          <p:cNvSpPr/>
          <p:nvPr/>
        </p:nvSpPr>
        <p:spPr>
          <a:xfrm>
            <a:off x="868680" y="2880360"/>
            <a:ext cx="20113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c2a22"/>
                </a:solidFill>
                <a:latin typeface="Cambria"/>
                <a:ea typeface="Cambria"/>
              </a:rPr>
              <a:t>64</a:t>
            </a:r>
            <a:r>
              <a:rPr b="1" lang="en-US" sz="22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−⅔</a:t>
            </a:r>
            <a:r>
              <a:rPr b="1" lang="en-US" sz="2200" spc="-1" strike="noStrike">
                <a:solidFill>
                  <a:srgbClr val="1c2a22"/>
                </a:solidFill>
                <a:latin typeface="Cambria"/>
                <a:ea typeface="Cambria"/>
              </a:rPr>
              <a:t>   =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 44"/>
          <p:cNvSpPr/>
          <p:nvPr/>
        </p:nvSpPr>
        <p:spPr>
          <a:xfrm>
            <a:off x="3154680" y="2926080"/>
            <a:ext cx="1416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45"/>
          <p:cNvSpPr/>
          <p:nvPr/>
        </p:nvSpPr>
        <p:spPr>
          <a:xfrm>
            <a:off x="3154680" y="3200400"/>
            <a:ext cx="1417320" cy="360"/>
          </a:xfrm>
          <a:prstGeom prst="line">
            <a:avLst/>
          </a:prstGeom>
          <a:ln w="1905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 46"/>
          <p:cNvSpPr/>
          <p:nvPr/>
        </p:nvSpPr>
        <p:spPr>
          <a:xfrm>
            <a:off x="3154680" y="3227760"/>
            <a:ext cx="1416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64</a:t>
            </a:r>
            <a:r>
              <a:rPr b="0" lang="en-US" sz="17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⅔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47"/>
          <p:cNvSpPr/>
          <p:nvPr/>
        </p:nvSpPr>
        <p:spPr>
          <a:xfrm>
            <a:off x="6190560" y="2194560"/>
            <a:ext cx="5440320" cy="1554120"/>
          </a:xfrm>
          <a:prstGeom prst="roundRect">
            <a:avLst>
              <a:gd name="adj" fmla="val 3529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 48"/>
          <p:cNvSpPr/>
          <p:nvPr/>
        </p:nvSpPr>
        <p:spPr>
          <a:xfrm>
            <a:off x="6556320" y="243216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Step 2 — root, then power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 49"/>
          <p:cNvSpPr/>
          <p:nvPr/>
        </p:nvSpPr>
        <p:spPr>
          <a:xfrm>
            <a:off x="6492240" y="2880360"/>
            <a:ext cx="1599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1c2a22"/>
                </a:solidFill>
                <a:latin typeface="Cambria"/>
                <a:ea typeface="Cambria"/>
              </a:rPr>
              <a:t>64</a:t>
            </a:r>
            <a:r>
              <a:rPr b="1" lang="en-US" sz="21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⅔</a:t>
            </a:r>
            <a:r>
              <a:rPr b="1" lang="en-US" sz="2100" spc="-1" strike="noStrike">
                <a:solidFill>
                  <a:srgbClr val="1c2a22"/>
                </a:solidFill>
                <a:latin typeface="Cambria"/>
                <a:ea typeface="Cambria"/>
              </a:rPr>
              <a:t>  = (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 53"/>
          <p:cNvSpPr/>
          <p:nvPr/>
        </p:nvSpPr>
        <p:spPr>
          <a:xfrm>
            <a:off x="7470720" y="3035880"/>
            <a:ext cx="621360" cy="36540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>
                    <a:alpha val="1000"/>
                  </a:srgbClr>
                </a:solidFill>
                <a:latin typeface="Calibri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 55"/>
          <p:cNvSpPr/>
          <p:nvPr/>
        </p:nvSpPr>
        <p:spPr>
          <a:xfrm>
            <a:off x="8025120" y="2912040"/>
            <a:ext cx="2377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1c2a22"/>
                </a:solidFill>
                <a:latin typeface="Cambria"/>
                <a:ea typeface="Cambria"/>
              </a:rPr>
              <a:t>)</a:t>
            </a:r>
            <a:r>
              <a:rPr b="0" lang="en-US" sz="19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2</a:t>
            </a:r>
            <a:r>
              <a:rPr b="0" lang="en-US" sz="1900" spc="-1" strike="noStrike">
                <a:solidFill>
                  <a:srgbClr val="1c2a22"/>
                </a:solidFill>
                <a:latin typeface="Cambria"/>
                <a:ea typeface="Cambria"/>
              </a:rPr>
              <a:t> = 4</a:t>
            </a:r>
            <a:r>
              <a:rPr b="0" lang="en-US" sz="19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2</a:t>
            </a:r>
            <a:r>
              <a:rPr b="0" lang="en-US" sz="1900" spc="-1" strike="noStrike">
                <a:solidFill>
                  <a:srgbClr val="1c2a22"/>
                </a:solidFill>
                <a:latin typeface="Cambria"/>
                <a:ea typeface="Cambria"/>
              </a:rPr>
              <a:t> = </a:t>
            </a:r>
            <a:r>
              <a:rPr b="1" lang="en-US" sz="1900" spc="-1" strike="noStrike">
                <a:solidFill>
                  <a:srgbClr val="c84f2f"/>
                </a:solidFill>
                <a:latin typeface="Cambria"/>
                <a:ea typeface="Cambria"/>
              </a:rPr>
              <a:t>16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 56"/>
          <p:cNvSpPr/>
          <p:nvPr/>
        </p:nvSpPr>
        <p:spPr>
          <a:xfrm>
            <a:off x="3383280" y="4160520"/>
            <a:ext cx="2742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c2a22"/>
                </a:solidFill>
                <a:latin typeface="Cambria"/>
                <a:ea typeface="Cambria"/>
              </a:rPr>
              <a:t>So   64</a:t>
            </a:r>
            <a:r>
              <a:rPr b="1" lang="en-US" sz="2400" spc="-1" strike="noStrike" baseline="30000">
                <a:solidFill>
                  <a:srgbClr val="1c2a22"/>
                </a:solidFill>
                <a:latin typeface="Cambria"/>
                <a:ea typeface="Cambria"/>
              </a:rPr>
              <a:t>−⅔</a:t>
            </a:r>
            <a:r>
              <a:rPr b="1" lang="en-US" sz="2400" spc="-1" strike="noStrike">
                <a:solidFill>
                  <a:srgbClr val="1c2a22"/>
                </a:solidFill>
                <a:latin typeface="Cambria"/>
                <a:ea typeface="Cambria"/>
              </a:rPr>
              <a:t>   =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 57"/>
          <p:cNvSpPr/>
          <p:nvPr/>
        </p:nvSpPr>
        <p:spPr>
          <a:xfrm>
            <a:off x="6309360" y="425196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1c2a22"/>
                </a:solidFill>
                <a:latin typeface="Cambria"/>
                <a:ea typeface="Cambria"/>
              </a:rPr>
              <a:t>1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Shape 58"/>
          <p:cNvSpPr/>
          <p:nvPr/>
        </p:nvSpPr>
        <p:spPr>
          <a:xfrm>
            <a:off x="6309360" y="4526280"/>
            <a:ext cx="1280160" cy="360"/>
          </a:xfrm>
          <a:prstGeom prst="line">
            <a:avLst/>
          </a:prstGeom>
          <a:ln w="1905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 59"/>
          <p:cNvSpPr/>
          <p:nvPr/>
        </p:nvSpPr>
        <p:spPr>
          <a:xfrm>
            <a:off x="6309360" y="455364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1c2a22"/>
                </a:solidFill>
                <a:latin typeface="Cambria"/>
                <a:ea typeface="Cambria"/>
              </a:rPr>
              <a:t>16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60"/>
          <p:cNvSpPr/>
          <p:nvPr/>
        </p:nvSpPr>
        <p:spPr>
          <a:xfrm>
            <a:off x="567000" y="5440680"/>
            <a:ext cx="110638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 61"/>
          <p:cNvSpPr/>
          <p:nvPr/>
        </p:nvSpPr>
        <p:spPr>
          <a:xfrm>
            <a:off x="841320" y="5440680"/>
            <a:ext cx="10515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A negative fractional index: flip, take the root, then apply the power.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Original exam questions — shown as printed so every power and fraction is exact.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Which law(s) does it use?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Deal with numbers and letters separately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Negative → flip;  fraction → root then power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Show clear working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(1 of 11)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As Printed in the Exam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Shape 39"/>
          <p:cNvSpPr/>
          <p:nvPr/>
        </p:nvSpPr>
        <p:spPr>
          <a:xfrm>
            <a:off x="2464560" y="1408320"/>
            <a:ext cx="723204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75" name="Image 0" descr="/tmp/work/idxq-08.png"/>
          <p:cNvPicPr/>
          <p:nvPr/>
        </p:nvPicPr>
        <p:blipFill>
          <a:blip r:embed="rId1"/>
          <a:stretch/>
        </p:blipFill>
        <p:spPr>
          <a:xfrm>
            <a:off x="2519640" y="1463040"/>
            <a:ext cx="7122240" cy="2331360"/>
          </a:xfrm>
          <a:prstGeom prst="rect">
            <a:avLst/>
          </a:prstGeom>
          <a:ln w="0">
            <a:noFill/>
          </a:ln>
        </p:spPr>
      </p:pic>
      <p:sp>
        <p:nvSpPr>
          <p:cNvPr id="576" name="Shape 40"/>
          <p:cNvSpPr/>
          <p:nvPr/>
        </p:nvSpPr>
        <p:spPr>
          <a:xfrm>
            <a:off x="1005840" y="14814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" name="Text 41"/>
          <p:cNvSpPr/>
          <p:nvPr/>
        </p:nvSpPr>
        <p:spPr>
          <a:xfrm>
            <a:off x="1005840" y="1481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Shape 42"/>
          <p:cNvSpPr/>
          <p:nvPr/>
        </p:nvSpPr>
        <p:spPr>
          <a:xfrm>
            <a:off x="2538000" y="4014360"/>
            <a:ext cx="708552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79" name="Image 1" descr="/tmp/work/idxq-09.png"/>
          <p:cNvPicPr/>
          <p:nvPr/>
        </p:nvPicPr>
        <p:blipFill>
          <a:blip r:embed="rId2"/>
          <a:stretch/>
        </p:blipFill>
        <p:spPr>
          <a:xfrm>
            <a:off x="2592720" y="4069080"/>
            <a:ext cx="6975720" cy="2331360"/>
          </a:xfrm>
          <a:prstGeom prst="rect">
            <a:avLst/>
          </a:prstGeom>
          <a:ln w="0">
            <a:noFill/>
          </a:ln>
        </p:spPr>
      </p:pic>
      <p:sp>
        <p:nvSpPr>
          <p:cNvPr id="580" name="Shape 43"/>
          <p:cNvSpPr/>
          <p:nvPr/>
        </p:nvSpPr>
        <p:spPr>
          <a:xfrm>
            <a:off x="1005840" y="40874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" name="Text 44"/>
          <p:cNvSpPr/>
          <p:nvPr/>
        </p:nvSpPr>
        <p:spPr>
          <a:xfrm>
            <a:off x="1005840" y="40874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(2 of 11)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As Printed in the Exam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39"/>
          <p:cNvSpPr/>
          <p:nvPr/>
        </p:nvSpPr>
        <p:spPr>
          <a:xfrm>
            <a:off x="1594080" y="1408320"/>
            <a:ext cx="897300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2" name="Image 0" descr="/tmp/work/idxq-10.png"/>
          <p:cNvPicPr/>
          <p:nvPr/>
        </p:nvPicPr>
        <p:blipFill>
          <a:blip r:embed="rId1"/>
          <a:stretch/>
        </p:blipFill>
        <p:spPr>
          <a:xfrm>
            <a:off x="1648800" y="1463040"/>
            <a:ext cx="8863200" cy="2331360"/>
          </a:xfrm>
          <a:prstGeom prst="rect">
            <a:avLst/>
          </a:prstGeom>
          <a:ln w="0">
            <a:noFill/>
          </a:ln>
        </p:spPr>
      </p:pic>
      <p:sp>
        <p:nvSpPr>
          <p:cNvPr id="623" name="Shape 40"/>
          <p:cNvSpPr/>
          <p:nvPr/>
        </p:nvSpPr>
        <p:spPr>
          <a:xfrm>
            <a:off x="1005840" y="14814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 41"/>
          <p:cNvSpPr/>
          <p:nvPr/>
        </p:nvSpPr>
        <p:spPr>
          <a:xfrm>
            <a:off x="1005840" y="1481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Shape 42"/>
          <p:cNvSpPr/>
          <p:nvPr/>
        </p:nvSpPr>
        <p:spPr>
          <a:xfrm>
            <a:off x="1198080" y="4014360"/>
            <a:ext cx="976464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6" name="Image 1" descr="/tmp/work/idxq-11.png"/>
          <p:cNvPicPr/>
          <p:nvPr/>
        </p:nvPicPr>
        <p:blipFill>
          <a:blip r:embed="rId2"/>
          <a:stretch/>
        </p:blipFill>
        <p:spPr>
          <a:xfrm>
            <a:off x="1253160" y="4069080"/>
            <a:ext cx="9654840" cy="2331360"/>
          </a:xfrm>
          <a:prstGeom prst="rect">
            <a:avLst/>
          </a:prstGeom>
          <a:ln w="0">
            <a:noFill/>
          </a:ln>
        </p:spPr>
      </p:pic>
      <p:sp>
        <p:nvSpPr>
          <p:cNvPr id="627" name="Shape 43"/>
          <p:cNvSpPr/>
          <p:nvPr/>
        </p:nvSpPr>
        <p:spPr>
          <a:xfrm>
            <a:off x="1005840" y="40874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Text 44"/>
          <p:cNvSpPr/>
          <p:nvPr/>
        </p:nvSpPr>
        <p:spPr>
          <a:xfrm>
            <a:off x="1005840" y="40874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(3 of 11)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As Printed in the Exam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39"/>
          <p:cNvSpPr/>
          <p:nvPr/>
        </p:nvSpPr>
        <p:spPr>
          <a:xfrm>
            <a:off x="2443320" y="1408320"/>
            <a:ext cx="727452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69" name="Image 0" descr="/tmp/work/idxq-12.png"/>
          <p:cNvPicPr/>
          <p:nvPr/>
        </p:nvPicPr>
        <p:blipFill>
          <a:blip r:embed="rId1"/>
          <a:stretch/>
        </p:blipFill>
        <p:spPr>
          <a:xfrm>
            <a:off x="2498040" y="1463040"/>
            <a:ext cx="7164720" cy="2331360"/>
          </a:xfrm>
          <a:prstGeom prst="rect">
            <a:avLst/>
          </a:prstGeom>
          <a:ln w="0">
            <a:noFill/>
          </a:ln>
        </p:spPr>
      </p:pic>
      <p:sp>
        <p:nvSpPr>
          <p:cNvPr id="670" name="Shape 40"/>
          <p:cNvSpPr/>
          <p:nvPr/>
        </p:nvSpPr>
        <p:spPr>
          <a:xfrm>
            <a:off x="1005840" y="14814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 41"/>
          <p:cNvSpPr/>
          <p:nvPr/>
        </p:nvSpPr>
        <p:spPr>
          <a:xfrm>
            <a:off x="1005840" y="1481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42"/>
          <p:cNvSpPr/>
          <p:nvPr/>
        </p:nvSpPr>
        <p:spPr>
          <a:xfrm>
            <a:off x="2736720" y="4014360"/>
            <a:ext cx="668772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3" name="Image 1" descr="/tmp/work/idxq-13.png"/>
          <p:cNvPicPr/>
          <p:nvPr/>
        </p:nvPicPr>
        <p:blipFill>
          <a:blip r:embed="rId2"/>
          <a:stretch/>
        </p:blipFill>
        <p:spPr>
          <a:xfrm>
            <a:off x="2791440" y="4069080"/>
            <a:ext cx="6577920" cy="2331360"/>
          </a:xfrm>
          <a:prstGeom prst="rect">
            <a:avLst/>
          </a:prstGeom>
          <a:ln w="0">
            <a:noFill/>
          </a:ln>
        </p:spPr>
      </p:pic>
      <p:sp>
        <p:nvSpPr>
          <p:cNvPr id="674" name="Shape 43"/>
          <p:cNvSpPr/>
          <p:nvPr/>
        </p:nvSpPr>
        <p:spPr>
          <a:xfrm>
            <a:off x="1005840" y="40874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Text 44"/>
          <p:cNvSpPr/>
          <p:nvPr/>
        </p:nvSpPr>
        <p:spPr>
          <a:xfrm>
            <a:off x="1005840" y="40874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(4 of 11)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As Printed in the Exam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39"/>
          <p:cNvSpPr/>
          <p:nvPr/>
        </p:nvSpPr>
        <p:spPr>
          <a:xfrm>
            <a:off x="1551240" y="1408320"/>
            <a:ext cx="905868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16" name="Image 0" descr="/tmp/work/idxq-14.png"/>
          <p:cNvPicPr/>
          <p:nvPr/>
        </p:nvPicPr>
        <p:blipFill>
          <a:blip r:embed="rId1"/>
          <a:stretch/>
        </p:blipFill>
        <p:spPr>
          <a:xfrm>
            <a:off x="1605960" y="1463040"/>
            <a:ext cx="8948880" cy="2331360"/>
          </a:xfrm>
          <a:prstGeom prst="rect">
            <a:avLst/>
          </a:prstGeom>
          <a:ln w="0">
            <a:noFill/>
          </a:ln>
        </p:spPr>
      </p:pic>
      <p:sp>
        <p:nvSpPr>
          <p:cNvPr id="717" name="Shape 40"/>
          <p:cNvSpPr/>
          <p:nvPr/>
        </p:nvSpPr>
        <p:spPr>
          <a:xfrm>
            <a:off x="1005840" y="14814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8" name="Text 41"/>
          <p:cNvSpPr/>
          <p:nvPr/>
        </p:nvSpPr>
        <p:spPr>
          <a:xfrm>
            <a:off x="1005840" y="1481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7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Shape 42"/>
          <p:cNvSpPr/>
          <p:nvPr/>
        </p:nvSpPr>
        <p:spPr>
          <a:xfrm>
            <a:off x="2905200" y="4014360"/>
            <a:ext cx="635112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20" name="Image 1" descr="/tmp/work/idxq-15.png"/>
          <p:cNvPicPr/>
          <p:nvPr/>
        </p:nvPicPr>
        <p:blipFill>
          <a:blip r:embed="rId2"/>
          <a:stretch/>
        </p:blipFill>
        <p:spPr>
          <a:xfrm>
            <a:off x="2959920" y="4069080"/>
            <a:ext cx="6241320" cy="2331360"/>
          </a:xfrm>
          <a:prstGeom prst="rect">
            <a:avLst/>
          </a:prstGeom>
          <a:ln w="0">
            <a:noFill/>
          </a:ln>
        </p:spPr>
      </p:pic>
      <p:sp>
        <p:nvSpPr>
          <p:cNvPr id="721" name="Shape 43"/>
          <p:cNvSpPr/>
          <p:nvPr/>
        </p:nvSpPr>
        <p:spPr>
          <a:xfrm>
            <a:off x="1005840" y="40874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2" name="Text 44"/>
          <p:cNvSpPr/>
          <p:nvPr/>
        </p:nvSpPr>
        <p:spPr>
          <a:xfrm>
            <a:off x="1005840" y="40874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8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(5 of 11)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As Printed in the Exam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Shape 39"/>
          <p:cNvSpPr/>
          <p:nvPr/>
        </p:nvSpPr>
        <p:spPr>
          <a:xfrm>
            <a:off x="3334320" y="1408320"/>
            <a:ext cx="549288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63" name="Image 0" descr="/tmp/work/idxq-16.png"/>
          <p:cNvPicPr/>
          <p:nvPr/>
        </p:nvPicPr>
        <p:blipFill>
          <a:blip r:embed="rId1"/>
          <a:stretch/>
        </p:blipFill>
        <p:spPr>
          <a:xfrm>
            <a:off x="3389040" y="1463040"/>
            <a:ext cx="5383080" cy="2331360"/>
          </a:xfrm>
          <a:prstGeom prst="rect">
            <a:avLst/>
          </a:prstGeom>
          <a:ln w="0">
            <a:noFill/>
          </a:ln>
        </p:spPr>
      </p:pic>
      <p:sp>
        <p:nvSpPr>
          <p:cNvPr id="764" name="Shape 40"/>
          <p:cNvSpPr/>
          <p:nvPr/>
        </p:nvSpPr>
        <p:spPr>
          <a:xfrm>
            <a:off x="1005840" y="14814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Text 41"/>
          <p:cNvSpPr/>
          <p:nvPr/>
        </p:nvSpPr>
        <p:spPr>
          <a:xfrm>
            <a:off x="1005840" y="1481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9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Shape 42"/>
          <p:cNvSpPr/>
          <p:nvPr/>
        </p:nvSpPr>
        <p:spPr>
          <a:xfrm>
            <a:off x="5265000" y="4014360"/>
            <a:ext cx="163080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67" name="Image 1" descr="/tmp/work/idxq-17.png"/>
          <p:cNvPicPr/>
          <p:nvPr/>
        </p:nvPicPr>
        <p:blipFill>
          <a:blip r:embed="rId2"/>
          <a:stretch/>
        </p:blipFill>
        <p:spPr>
          <a:xfrm>
            <a:off x="5320080" y="4069080"/>
            <a:ext cx="1521360" cy="2331360"/>
          </a:xfrm>
          <a:prstGeom prst="rect">
            <a:avLst/>
          </a:prstGeom>
          <a:ln w="0">
            <a:noFill/>
          </a:ln>
        </p:spPr>
      </p:pic>
      <p:sp>
        <p:nvSpPr>
          <p:cNvPr id="768" name="Shape 43"/>
          <p:cNvSpPr/>
          <p:nvPr/>
        </p:nvSpPr>
        <p:spPr>
          <a:xfrm>
            <a:off x="1005840" y="40874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9" name="Text 44"/>
          <p:cNvSpPr/>
          <p:nvPr/>
        </p:nvSpPr>
        <p:spPr>
          <a:xfrm>
            <a:off x="1005840" y="40874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10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(6 of 11)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As Printed in the Exam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Shape 39"/>
          <p:cNvSpPr/>
          <p:nvPr/>
        </p:nvSpPr>
        <p:spPr>
          <a:xfrm>
            <a:off x="4778640" y="1408320"/>
            <a:ext cx="260388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0" name="Image 0" descr="/tmp/work/idxq-18.png"/>
          <p:cNvPicPr/>
          <p:nvPr/>
        </p:nvPicPr>
        <p:blipFill>
          <a:blip r:embed="rId1"/>
          <a:stretch/>
        </p:blipFill>
        <p:spPr>
          <a:xfrm>
            <a:off x="4833360" y="1463040"/>
            <a:ext cx="2494080" cy="2331360"/>
          </a:xfrm>
          <a:prstGeom prst="rect">
            <a:avLst/>
          </a:prstGeom>
          <a:ln w="0">
            <a:noFill/>
          </a:ln>
        </p:spPr>
      </p:pic>
      <p:sp>
        <p:nvSpPr>
          <p:cNvPr id="811" name="Shape 40"/>
          <p:cNvSpPr/>
          <p:nvPr/>
        </p:nvSpPr>
        <p:spPr>
          <a:xfrm>
            <a:off x="1005840" y="14814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2" name="Text 41"/>
          <p:cNvSpPr/>
          <p:nvPr/>
        </p:nvSpPr>
        <p:spPr>
          <a:xfrm>
            <a:off x="1005840" y="1481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11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Shape 42"/>
          <p:cNvSpPr/>
          <p:nvPr/>
        </p:nvSpPr>
        <p:spPr>
          <a:xfrm>
            <a:off x="1581840" y="4014360"/>
            <a:ext cx="899712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4" name="Image 1" descr="/tmp/work/idxq-19.png"/>
          <p:cNvPicPr/>
          <p:nvPr/>
        </p:nvPicPr>
        <p:blipFill>
          <a:blip r:embed="rId2"/>
          <a:stretch/>
        </p:blipFill>
        <p:spPr>
          <a:xfrm>
            <a:off x="1636920" y="4069080"/>
            <a:ext cx="8887320" cy="2331360"/>
          </a:xfrm>
          <a:prstGeom prst="rect">
            <a:avLst/>
          </a:prstGeom>
          <a:ln w="0">
            <a:noFill/>
          </a:ln>
        </p:spPr>
      </p:pic>
      <p:sp>
        <p:nvSpPr>
          <p:cNvPr id="815" name="Shape 43"/>
          <p:cNvSpPr/>
          <p:nvPr/>
        </p:nvSpPr>
        <p:spPr>
          <a:xfrm>
            <a:off x="1005840" y="40874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Text 44"/>
          <p:cNvSpPr/>
          <p:nvPr/>
        </p:nvSpPr>
        <p:spPr>
          <a:xfrm>
            <a:off x="1005840" y="40874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(7 of 11)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As Printed in the Exam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Shape 39"/>
          <p:cNvSpPr/>
          <p:nvPr/>
        </p:nvSpPr>
        <p:spPr>
          <a:xfrm>
            <a:off x="2408040" y="1408320"/>
            <a:ext cx="734544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57" name="Image 0" descr="/tmp/work/idxq-20.png"/>
          <p:cNvPicPr/>
          <p:nvPr/>
        </p:nvPicPr>
        <p:blipFill>
          <a:blip r:embed="rId1"/>
          <a:stretch/>
        </p:blipFill>
        <p:spPr>
          <a:xfrm>
            <a:off x="2462760" y="1463040"/>
            <a:ext cx="7235640" cy="2331360"/>
          </a:xfrm>
          <a:prstGeom prst="rect">
            <a:avLst/>
          </a:prstGeom>
          <a:ln w="0">
            <a:noFill/>
          </a:ln>
        </p:spPr>
      </p:pic>
      <p:sp>
        <p:nvSpPr>
          <p:cNvPr id="858" name="Shape 40"/>
          <p:cNvSpPr/>
          <p:nvPr/>
        </p:nvSpPr>
        <p:spPr>
          <a:xfrm>
            <a:off x="1005840" y="14814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9" name="Text 41"/>
          <p:cNvSpPr/>
          <p:nvPr/>
        </p:nvSpPr>
        <p:spPr>
          <a:xfrm>
            <a:off x="1005840" y="1481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13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Shape 42"/>
          <p:cNvSpPr/>
          <p:nvPr/>
        </p:nvSpPr>
        <p:spPr>
          <a:xfrm>
            <a:off x="1729080" y="4014360"/>
            <a:ext cx="870300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61" name="Image 1" descr="/tmp/work/idxq-21.png"/>
          <p:cNvPicPr/>
          <p:nvPr/>
        </p:nvPicPr>
        <p:blipFill>
          <a:blip r:embed="rId2"/>
          <a:stretch/>
        </p:blipFill>
        <p:spPr>
          <a:xfrm>
            <a:off x="1783800" y="4069080"/>
            <a:ext cx="8593200" cy="2331360"/>
          </a:xfrm>
          <a:prstGeom prst="rect">
            <a:avLst/>
          </a:prstGeom>
          <a:ln w="0">
            <a:noFill/>
          </a:ln>
        </p:spPr>
      </p:pic>
      <p:sp>
        <p:nvSpPr>
          <p:cNvPr id="862" name="Shape 43"/>
          <p:cNvSpPr/>
          <p:nvPr/>
        </p:nvSpPr>
        <p:spPr>
          <a:xfrm>
            <a:off x="1005840" y="40874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3" name="Text 44"/>
          <p:cNvSpPr/>
          <p:nvPr/>
        </p:nvSpPr>
        <p:spPr>
          <a:xfrm>
            <a:off x="1005840" y="40874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14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(8 of 11)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As Printed in the Exam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Shape 39"/>
          <p:cNvSpPr/>
          <p:nvPr/>
        </p:nvSpPr>
        <p:spPr>
          <a:xfrm>
            <a:off x="3880440" y="1408320"/>
            <a:ext cx="440028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04" name="Image 0" descr="/tmp/work/idxq-22.png"/>
          <p:cNvPicPr/>
          <p:nvPr/>
        </p:nvPicPr>
        <p:blipFill>
          <a:blip r:embed="rId1"/>
          <a:stretch/>
        </p:blipFill>
        <p:spPr>
          <a:xfrm>
            <a:off x="3935160" y="1463040"/>
            <a:ext cx="4290480" cy="2331360"/>
          </a:xfrm>
          <a:prstGeom prst="rect">
            <a:avLst/>
          </a:prstGeom>
          <a:ln w="0">
            <a:noFill/>
          </a:ln>
        </p:spPr>
      </p:pic>
      <p:sp>
        <p:nvSpPr>
          <p:cNvPr id="905" name="Shape 40"/>
          <p:cNvSpPr/>
          <p:nvPr/>
        </p:nvSpPr>
        <p:spPr>
          <a:xfrm>
            <a:off x="1005840" y="14814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6" name="Text 41"/>
          <p:cNvSpPr/>
          <p:nvPr/>
        </p:nvSpPr>
        <p:spPr>
          <a:xfrm>
            <a:off x="1005840" y="1481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15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Shape 42"/>
          <p:cNvSpPr/>
          <p:nvPr/>
        </p:nvSpPr>
        <p:spPr>
          <a:xfrm>
            <a:off x="3047400" y="4014360"/>
            <a:ext cx="606672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08" name="Image 1" descr="/tmp/work/idxq-23.png"/>
          <p:cNvPicPr/>
          <p:nvPr/>
        </p:nvPicPr>
        <p:blipFill>
          <a:blip r:embed="rId2"/>
          <a:stretch/>
        </p:blipFill>
        <p:spPr>
          <a:xfrm>
            <a:off x="3102120" y="4069080"/>
            <a:ext cx="5956920" cy="2331360"/>
          </a:xfrm>
          <a:prstGeom prst="rect">
            <a:avLst/>
          </a:prstGeom>
          <a:ln w="0">
            <a:noFill/>
          </a:ln>
        </p:spPr>
      </p:pic>
      <p:sp>
        <p:nvSpPr>
          <p:cNvPr id="909" name="Shape 43"/>
          <p:cNvSpPr/>
          <p:nvPr/>
        </p:nvSpPr>
        <p:spPr>
          <a:xfrm>
            <a:off x="1005840" y="40874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0" name="Text 44"/>
          <p:cNvSpPr/>
          <p:nvPr/>
        </p:nvSpPr>
        <p:spPr>
          <a:xfrm>
            <a:off x="1005840" y="40874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16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(9 of 11)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As Printed in the Exam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Shape 39"/>
          <p:cNvSpPr/>
          <p:nvPr/>
        </p:nvSpPr>
        <p:spPr>
          <a:xfrm>
            <a:off x="5212800" y="1408320"/>
            <a:ext cx="173520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1" name="Image 0" descr="/tmp/work/idxq-24.png"/>
          <p:cNvPicPr/>
          <p:nvPr/>
        </p:nvPicPr>
        <p:blipFill>
          <a:blip r:embed="rId1"/>
          <a:stretch/>
        </p:blipFill>
        <p:spPr>
          <a:xfrm>
            <a:off x="5267880" y="1463040"/>
            <a:ext cx="1625760" cy="2331360"/>
          </a:xfrm>
          <a:prstGeom prst="rect">
            <a:avLst/>
          </a:prstGeom>
          <a:ln w="0">
            <a:noFill/>
          </a:ln>
        </p:spPr>
      </p:pic>
      <p:sp>
        <p:nvSpPr>
          <p:cNvPr id="952" name="Shape 40"/>
          <p:cNvSpPr/>
          <p:nvPr/>
        </p:nvSpPr>
        <p:spPr>
          <a:xfrm>
            <a:off x="1005840" y="14814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3" name="Text 41"/>
          <p:cNvSpPr/>
          <p:nvPr/>
        </p:nvSpPr>
        <p:spPr>
          <a:xfrm>
            <a:off x="1005840" y="1481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17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Shape 42"/>
          <p:cNvSpPr/>
          <p:nvPr/>
        </p:nvSpPr>
        <p:spPr>
          <a:xfrm>
            <a:off x="996840" y="4183560"/>
            <a:ext cx="10167840" cy="2102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5" name="Image 1" descr="/tmp/work/idxq-25.png"/>
          <p:cNvPicPr/>
          <p:nvPr/>
        </p:nvPicPr>
        <p:blipFill>
          <a:blip r:embed="rId2"/>
          <a:stretch/>
        </p:blipFill>
        <p:spPr>
          <a:xfrm>
            <a:off x="1051560" y="4238280"/>
            <a:ext cx="10058040" cy="1992960"/>
          </a:xfrm>
          <a:prstGeom prst="rect">
            <a:avLst/>
          </a:prstGeom>
          <a:ln w="0">
            <a:noFill/>
          </a:ln>
        </p:spPr>
      </p:pic>
      <p:sp>
        <p:nvSpPr>
          <p:cNvPr id="956" name="Shape 43"/>
          <p:cNvSpPr/>
          <p:nvPr/>
        </p:nvSpPr>
        <p:spPr>
          <a:xfrm>
            <a:off x="1005840" y="40874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7" name="Text 44"/>
          <p:cNvSpPr/>
          <p:nvPr/>
        </p:nvSpPr>
        <p:spPr>
          <a:xfrm>
            <a:off x="1005840" y="40874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18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(10 of 11)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As Printed in the Exam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Shape 39"/>
          <p:cNvSpPr/>
          <p:nvPr/>
        </p:nvSpPr>
        <p:spPr>
          <a:xfrm>
            <a:off x="2544840" y="1408320"/>
            <a:ext cx="707184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98" name="Image 0" descr="/tmp/work/idxq-26.png"/>
          <p:cNvPicPr/>
          <p:nvPr/>
        </p:nvPicPr>
        <p:blipFill>
          <a:blip r:embed="rId1"/>
          <a:stretch/>
        </p:blipFill>
        <p:spPr>
          <a:xfrm>
            <a:off x="2599560" y="1463040"/>
            <a:ext cx="6962040" cy="2331360"/>
          </a:xfrm>
          <a:prstGeom prst="rect">
            <a:avLst/>
          </a:prstGeom>
          <a:ln w="0">
            <a:noFill/>
          </a:ln>
        </p:spPr>
      </p:pic>
      <p:sp>
        <p:nvSpPr>
          <p:cNvPr id="999" name="Shape 40"/>
          <p:cNvSpPr/>
          <p:nvPr/>
        </p:nvSpPr>
        <p:spPr>
          <a:xfrm>
            <a:off x="1005840" y="14814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0" name="Text 41"/>
          <p:cNvSpPr/>
          <p:nvPr/>
        </p:nvSpPr>
        <p:spPr>
          <a:xfrm>
            <a:off x="1005840" y="1481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19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Shape 42"/>
          <p:cNvSpPr/>
          <p:nvPr/>
        </p:nvSpPr>
        <p:spPr>
          <a:xfrm>
            <a:off x="2128320" y="4014360"/>
            <a:ext cx="790452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02" name="Image 1" descr="/tmp/work/idxq-27.png"/>
          <p:cNvPicPr/>
          <p:nvPr/>
        </p:nvPicPr>
        <p:blipFill>
          <a:blip r:embed="rId2"/>
          <a:stretch/>
        </p:blipFill>
        <p:spPr>
          <a:xfrm>
            <a:off x="2183040" y="4069080"/>
            <a:ext cx="7794720" cy="2331360"/>
          </a:xfrm>
          <a:prstGeom prst="rect">
            <a:avLst/>
          </a:prstGeom>
          <a:ln w="0">
            <a:noFill/>
          </a:ln>
        </p:spPr>
      </p:pic>
      <p:sp>
        <p:nvSpPr>
          <p:cNvPr id="1003" name="Shape 43"/>
          <p:cNvSpPr/>
          <p:nvPr/>
        </p:nvSpPr>
        <p:spPr>
          <a:xfrm>
            <a:off x="1005840" y="40874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4" name="Text 44"/>
          <p:cNvSpPr/>
          <p:nvPr/>
        </p:nvSpPr>
        <p:spPr>
          <a:xfrm>
            <a:off x="1005840" y="40874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20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(11 of 11)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As Printed in the Exam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Shape 39"/>
          <p:cNvSpPr/>
          <p:nvPr/>
        </p:nvSpPr>
        <p:spPr>
          <a:xfrm>
            <a:off x="3065400" y="1408320"/>
            <a:ext cx="6030000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63360" dir="5400000" dist="25560" rotWithShape="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5" name="Image 0" descr="/tmp/work/idxq-28.png"/>
          <p:cNvPicPr/>
          <p:nvPr/>
        </p:nvPicPr>
        <p:blipFill>
          <a:blip r:embed="rId1"/>
          <a:stretch/>
        </p:blipFill>
        <p:spPr>
          <a:xfrm>
            <a:off x="3120480" y="1463040"/>
            <a:ext cx="5920200" cy="2331360"/>
          </a:xfrm>
          <a:prstGeom prst="rect">
            <a:avLst/>
          </a:prstGeom>
          <a:ln w="0">
            <a:noFill/>
          </a:ln>
        </p:spPr>
      </p:pic>
      <p:sp>
        <p:nvSpPr>
          <p:cNvPr id="1046" name="Shape 40"/>
          <p:cNvSpPr/>
          <p:nvPr/>
        </p:nvSpPr>
        <p:spPr>
          <a:xfrm>
            <a:off x="1005840" y="14814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7" name="Text 41"/>
          <p:cNvSpPr/>
          <p:nvPr/>
        </p:nvSpPr>
        <p:spPr>
          <a:xfrm>
            <a:off x="1005840" y="1481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21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3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4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5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6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7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8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Multiply → add powers;  divide → subtract powers  (same base only).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9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0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Power of a power → multiply the powers;  x⁰ = 1.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1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2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Negative index → reciprocal:  x⁻ⁿ = 1 over xⁿ.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3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4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Fractional index → root:  bottom is the root, top is the power.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5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6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Combine carefully: flip for the negative, then root and power for the fraction.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7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8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same base — add, subtract or multiply the powers; a fraction power is a root.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992</Words>
  <Paragraphs>229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2026-07-11T20:09:36Z</dcterms:created>
  <dc:creator>Zahra Sheikh Ali</dc:creator>
  <dc:description/>
  <dc:language>en-US</dc:language>
  <cp:lastModifiedBy>zahraa sheik ali</cp:lastModifiedBy>
  <dcterms:modified xsi:type="dcterms:W3CDTF">2026-07-20T12:25:26Z</dcterms:modified>
  <cp:revision>3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21</vt:r8>
  </property>
  <property fmtid="{D5CDD505-2E9C-101B-9397-08002B2CF9AE}" pid="3" name="PresentationFormat">
    <vt:lpwstr>Custom</vt:lpwstr>
  </property>
  <property fmtid="{D5CDD505-2E9C-101B-9397-08002B2CF9AE}" pid="4" name="Slides">
    <vt:r8>21</vt:r8>
  </property>
</Properties>
</file>