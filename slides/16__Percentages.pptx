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notesMasterIdLst>
    <p:notesMasterId r:id="rId31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notesMaster" Target="notesMasters/notesMaster1.xml"/><Relationship Id="rId32" Type="http://schemas.openxmlformats.org/officeDocument/2006/relationships/presProps" Target="presProps.xml"/><Relationship Id="rId33" Type="http://schemas.openxmlformats.org/officeDocument/2006/relationships/viewProps" Target="viewProps.xml"/><Relationship Id="rId34" Type="http://schemas.openxmlformats.org/officeDocument/2006/relationships/theme" Target="theme/theme1.xml"/><Relationship Id="rId3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C2A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8229600" y="868680"/>
            <a:ext cx="3474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200" b="1" i="1" dirty="0">
                <a:solidFill>
                  <a:srgbClr val="3346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× 1.2</a:t>
            </a:r>
            <a:endParaRPr lang="en-US" sz="5200" dirty="0"/>
          </a:p>
        </p:txBody>
      </p:sp>
      <p:sp>
        <p:nvSpPr>
          <p:cNvPr id="38" name="Text 36"/>
          <p:cNvSpPr/>
          <p:nvPr/>
        </p:nvSpPr>
        <p:spPr>
          <a:xfrm>
            <a:off x="8229600" y="1554480"/>
            <a:ext cx="3474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200" b="1" i="1" dirty="0">
                <a:solidFill>
                  <a:srgbClr val="3346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× 0.85</a:t>
            </a:r>
            <a:endParaRPr lang="en-US" sz="5200" dirty="0"/>
          </a:p>
        </p:txBody>
      </p:sp>
      <p:sp>
        <p:nvSpPr>
          <p:cNvPr id="39" name="Shape 37"/>
          <p:cNvSpPr/>
          <p:nvPr/>
        </p:nvSpPr>
        <p:spPr>
          <a:xfrm>
            <a:off x="777240" y="640080"/>
            <a:ext cx="658368" cy="658368"/>
          </a:xfrm>
          <a:prstGeom prst="roundRect">
            <a:avLst>
              <a:gd name="adj" fmla="val 13889"/>
            </a:avLst>
          </a:prstGeom>
          <a:solidFill>
            <a:srgbClr val="E8623D"/>
          </a:solidFill>
          <a:ln/>
        </p:spPr>
      </p:sp>
      <p:sp>
        <p:nvSpPr>
          <p:cNvPr id="40" name="Text 38"/>
          <p:cNvSpPr/>
          <p:nvPr/>
        </p:nvSpPr>
        <p:spPr>
          <a:xfrm>
            <a:off x="777240" y="64008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6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pPr algn="ctr" indent="0" marL="0">
              <a:buNone/>
            </a:pPr>
            <a:r>
              <a:rPr lang="en-US" sz="216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π</a:t>
            </a:r>
            <a:endParaRPr lang="en-US" sz="2160" dirty="0"/>
          </a:p>
        </p:txBody>
      </p:sp>
      <p:sp>
        <p:nvSpPr>
          <p:cNvPr id="41" name="Text 39"/>
          <p:cNvSpPr/>
          <p:nvPr/>
        </p:nvSpPr>
        <p:spPr>
          <a:xfrm>
            <a:off x="1600200" y="603504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0A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Zπ  MATHS HUB</a:t>
            </a:r>
            <a:endParaRPr lang="en-US" sz="1300" dirty="0"/>
          </a:p>
        </p:txBody>
      </p:sp>
      <p:sp>
        <p:nvSpPr>
          <p:cNvPr id="42" name="Text 40"/>
          <p:cNvSpPr/>
          <p:nvPr/>
        </p:nvSpPr>
        <p:spPr>
          <a:xfrm>
            <a:off x="1600200" y="9144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9D2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Pearson Edexcel IGCSE (9–1) · Higher Tier</a:t>
            </a:r>
            <a:endParaRPr lang="en-US" sz="1150" dirty="0"/>
          </a:p>
        </p:txBody>
      </p:sp>
      <p:sp>
        <p:nvSpPr>
          <p:cNvPr id="43" name="Text 41"/>
          <p:cNvSpPr/>
          <p:nvPr/>
        </p:nvSpPr>
        <p:spPr>
          <a:xfrm>
            <a:off x="777240" y="2240280"/>
            <a:ext cx="10789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E0AC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Percentages</a:t>
            </a:r>
            <a:endParaRPr lang="en-US" sz="4600" dirty="0"/>
          </a:p>
        </p:txBody>
      </p:sp>
      <p:sp>
        <p:nvSpPr>
          <p:cNvPr id="44" name="Text 42"/>
          <p:cNvSpPr/>
          <p:nvPr/>
        </p:nvSpPr>
        <p:spPr>
          <a:xfrm>
            <a:off x="804672" y="3310128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EDEBD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% of an Amount · Increase &amp; Decrease · The Multiplier · Percentage Change · Profit &amp; Loss · Reverse</a:t>
            </a:r>
            <a:endParaRPr lang="en-US" sz="1600" dirty="0"/>
          </a:p>
        </p:txBody>
      </p:sp>
      <p:sp>
        <p:nvSpPr>
          <p:cNvPr id="45" name="Shape 43"/>
          <p:cNvSpPr/>
          <p:nvPr/>
        </p:nvSpPr>
        <p:spPr>
          <a:xfrm>
            <a:off x="777240" y="4297680"/>
            <a:ext cx="6766560" cy="1691640"/>
          </a:xfrm>
          <a:prstGeom prst="roundRect">
            <a:avLst>
              <a:gd name="adj" fmla="val 3243"/>
            </a:avLst>
          </a:prstGeom>
          <a:solidFill>
            <a:srgbClr val="16261F"/>
          </a:solidFill>
          <a:ln/>
          <a:effectLst>
            <a:outerShdw sx="100000" sy="100000" kx="0" ky="0" algn="bl" rotWithShape="0" blurRad="88900" dist="38100" dir="5400000">
              <a:srgbClr val="000000">
                <a:alpha val="18000"/>
              </a:srgbClr>
            </a:outerShdw>
          </a:effectLst>
        </p:spPr>
      </p:sp>
      <p:sp>
        <p:nvSpPr>
          <p:cNvPr id="46" name="Text 44"/>
          <p:cNvSpPr/>
          <p:nvPr/>
        </p:nvSpPr>
        <p:spPr>
          <a:xfrm>
            <a:off x="1097280" y="4498848"/>
            <a:ext cx="6126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0AC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Zahra Sheikh Ali</a:t>
            </a:r>
            <a:endParaRPr lang="en-US" sz="2200" dirty="0"/>
          </a:p>
        </p:txBody>
      </p:sp>
      <p:sp>
        <p:nvSpPr>
          <p:cNvPr id="47" name="Text 45"/>
          <p:cNvSpPr/>
          <p:nvPr/>
        </p:nvSpPr>
        <p:spPr>
          <a:xfrm>
            <a:off x="1097280" y="4956048"/>
            <a:ext cx="6217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C9D2C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IGCSE Mathematics Teacher  ·  M.Sc. Differential Geometry &amp; Geometric Control</a:t>
            </a:r>
            <a:endParaRPr lang="en-US" sz="1250" dirty="0"/>
          </a:p>
        </p:txBody>
      </p:sp>
      <p:sp>
        <p:nvSpPr>
          <p:cNvPr id="48" name="Text 46"/>
          <p:cNvSpPr/>
          <p:nvPr/>
        </p:nvSpPr>
        <p:spPr>
          <a:xfrm>
            <a:off x="1097280" y="5394960"/>
            <a:ext cx="6217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62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☎  66613748</a:t>
            </a:r>
            <a:pPr indent="0" marL="0">
              <a:buNone/>
            </a:pPr>
            <a:r>
              <a:rPr lang="en-US" sz="1250" b="1" dirty="0">
                <a:solidFill>
                  <a:srgbClr val="E862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 ✉  zahraa.sheikhali@outlook.com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50" kern="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OVERVIEW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Everything Runs on the Multiplier</a:t>
            </a:r>
            <a:endParaRPr lang="en-US" sz="2700" dirty="0"/>
          </a:p>
        </p:txBody>
      </p:sp>
      <p:sp>
        <p:nvSpPr>
          <p:cNvPr id="41" name="Shape 39"/>
          <p:cNvSpPr/>
          <p:nvPr/>
        </p:nvSpPr>
        <p:spPr>
          <a:xfrm>
            <a:off x="566928" y="1481328"/>
            <a:ext cx="11064240" cy="822960"/>
          </a:xfrm>
          <a:prstGeom prst="roundRect">
            <a:avLst>
              <a:gd name="adj" fmla="val 6667"/>
            </a:avLst>
          </a:prstGeom>
          <a:solidFill>
            <a:srgbClr val="16261F"/>
          </a:solidFill>
          <a:ln/>
          <a:effectLst>
            <a:outerShdw sx="100000" sy="100000" kx="0" ky="0" algn="bl" rotWithShape="0" blurRad="88900" dist="38100" dir="5400000">
              <a:srgbClr val="000000">
                <a:alpha val="18000"/>
              </a:srgbClr>
            </a:outerShdw>
          </a:effectLst>
        </p:spPr>
      </p:sp>
      <p:sp>
        <p:nvSpPr>
          <p:cNvPr id="42" name="Text 40"/>
          <p:cNvSpPr/>
          <p:nvPr/>
        </p:nvSpPr>
        <p:spPr>
          <a:xfrm>
            <a:off x="886968" y="1481328"/>
            <a:ext cx="10424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E0A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idea ties it all together: the multiplier. </a:t>
            </a:r>
            <a:pPr algn="l" indent="0" marL="0">
              <a:buNone/>
            </a:pPr>
            <a:r>
              <a:rPr lang="en-US" sz="1400" dirty="0">
                <a:solidFill>
                  <a:srgbClr val="EDE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 a percentage into a decimal, then multiply. It handles ‘% of’, increase, decrease, change, profit, loss, and even working backwards.</a:t>
            </a:r>
            <a:endParaRPr lang="en-US" sz="1400" dirty="0"/>
          </a:p>
        </p:txBody>
      </p:sp>
      <p:sp>
        <p:nvSpPr>
          <p:cNvPr id="43" name="Shape 41"/>
          <p:cNvSpPr/>
          <p:nvPr/>
        </p:nvSpPr>
        <p:spPr>
          <a:xfrm>
            <a:off x="566928" y="2651760"/>
            <a:ext cx="3502152" cy="1051560"/>
          </a:xfrm>
          <a:prstGeom prst="roundRect">
            <a:avLst>
              <a:gd name="adj" fmla="val 5217"/>
            </a:avLst>
          </a:prstGeom>
          <a:solidFill>
            <a:srgbClr val="EEF1E8"/>
          </a:solidFill>
          <a:ln/>
          <a:effectLst>
            <a:outerShdw sx="100000" sy="100000" kx="0" ky="0" algn="bl" rotWithShape="0" blurRad="88900" dist="38100" dir="5400000">
              <a:srgbClr val="000000">
                <a:alpha val="18000"/>
              </a:srgbClr>
            </a:outerShdw>
          </a:effectLst>
        </p:spPr>
      </p:sp>
      <p:sp>
        <p:nvSpPr>
          <p:cNvPr id="44" name="Shape 42"/>
          <p:cNvSpPr/>
          <p:nvPr/>
        </p:nvSpPr>
        <p:spPr>
          <a:xfrm>
            <a:off x="822960" y="2948940"/>
            <a:ext cx="457200" cy="457200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45" name="Text 43"/>
          <p:cNvSpPr/>
          <p:nvPr/>
        </p:nvSpPr>
        <p:spPr>
          <a:xfrm>
            <a:off x="822960" y="29489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46" name="Text 44"/>
          <p:cNvSpPr/>
          <p:nvPr/>
        </p:nvSpPr>
        <p:spPr>
          <a:xfrm>
            <a:off x="1435608" y="2651760"/>
            <a:ext cx="254203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Finding a % of an amount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4343400" y="2651760"/>
            <a:ext cx="3502152" cy="1051560"/>
          </a:xfrm>
          <a:prstGeom prst="roundRect">
            <a:avLst>
              <a:gd name="adj" fmla="val 5217"/>
            </a:avLst>
          </a:prstGeom>
          <a:solidFill>
            <a:srgbClr val="EEF1E8"/>
          </a:solidFill>
          <a:ln/>
          <a:effectLst>
            <a:outerShdw sx="100000" sy="100000" kx="0" ky="0" algn="bl" rotWithShape="0" blurRad="88900" dist="38100" dir="5400000">
              <a:srgbClr val="000000">
                <a:alpha val="18000"/>
              </a:srgbClr>
            </a:outerShdw>
          </a:effectLst>
        </p:spPr>
      </p:sp>
      <p:sp>
        <p:nvSpPr>
          <p:cNvPr id="48" name="Shape 46"/>
          <p:cNvSpPr/>
          <p:nvPr/>
        </p:nvSpPr>
        <p:spPr>
          <a:xfrm>
            <a:off x="4599432" y="2948940"/>
            <a:ext cx="457200" cy="457200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49" name="Text 47"/>
          <p:cNvSpPr/>
          <p:nvPr/>
        </p:nvSpPr>
        <p:spPr>
          <a:xfrm>
            <a:off x="4599432" y="29489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50" name="Text 48"/>
          <p:cNvSpPr/>
          <p:nvPr/>
        </p:nvSpPr>
        <p:spPr>
          <a:xfrm>
            <a:off x="5212080" y="2651760"/>
            <a:ext cx="254203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Increase &amp; decrease</a:t>
            </a:r>
            <a:endParaRPr lang="en-US" sz="1400" dirty="0"/>
          </a:p>
        </p:txBody>
      </p:sp>
      <p:sp>
        <p:nvSpPr>
          <p:cNvPr id="51" name="Shape 49"/>
          <p:cNvSpPr/>
          <p:nvPr/>
        </p:nvSpPr>
        <p:spPr>
          <a:xfrm>
            <a:off x="8119872" y="2651760"/>
            <a:ext cx="3502152" cy="1051560"/>
          </a:xfrm>
          <a:prstGeom prst="roundRect">
            <a:avLst>
              <a:gd name="adj" fmla="val 5217"/>
            </a:avLst>
          </a:prstGeom>
          <a:solidFill>
            <a:srgbClr val="EEF1E8"/>
          </a:solidFill>
          <a:ln/>
          <a:effectLst>
            <a:outerShdw sx="100000" sy="100000" kx="0" ky="0" algn="bl" rotWithShape="0" blurRad="88900" dist="38100" dir="5400000">
              <a:srgbClr val="000000">
                <a:alpha val="18000"/>
              </a:srgbClr>
            </a:outerShdw>
          </a:effectLst>
        </p:spPr>
      </p:sp>
      <p:sp>
        <p:nvSpPr>
          <p:cNvPr id="52" name="Shape 50"/>
          <p:cNvSpPr/>
          <p:nvPr/>
        </p:nvSpPr>
        <p:spPr>
          <a:xfrm>
            <a:off x="8375904" y="2948940"/>
            <a:ext cx="457200" cy="457200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53" name="Text 51"/>
          <p:cNvSpPr/>
          <p:nvPr/>
        </p:nvSpPr>
        <p:spPr>
          <a:xfrm>
            <a:off x="8375904" y="29489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54" name="Text 52"/>
          <p:cNvSpPr/>
          <p:nvPr/>
        </p:nvSpPr>
        <p:spPr>
          <a:xfrm>
            <a:off x="8988552" y="2651760"/>
            <a:ext cx="254203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multiplier method</a:t>
            </a:r>
            <a:endParaRPr lang="en-US" sz="1400" dirty="0"/>
          </a:p>
        </p:txBody>
      </p:sp>
      <p:sp>
        <p:nvSpPr>
          <p:cNvPr id="55" name="Shape 53"/>
          <p:cNvSpPr/>
          <p:nvPr/>
        </p:nvSpPr>
        <p:spPr>
          <a:xfrm>
            <a:off x="566928" y="3995928"/>
            <a:ext cx="3502152" cy="1051560"/>
          </a:xfrm>
          <a:prstGeom prst="roundRect">
            <a:avLst>
              <a:gd name="adj" fmla="val 5217"/>
            </a:avLst>
          </a:prstGeom>
          <a:solidFill>
            <a:srgbClr val="FBF3DD"/>
          </a:solidFill>
          <a:ln/>
          <a:effectLst>
            <a:outerShdw sx="100000" sy="100000" kx="0" ky="0" algn="bl" rotWithShape="0" blurRad="88900" dist="38100" dir="5400000">
              <a:srgbClr val="000000">
                <a:alpha val="18000"/>
              </a:srgbClr>
            </a:outerShdw>
          </a:effectLst>
        </p:spPr>
      </p:sp>
      <p:sp>
        <p:nvSpPr>
          <p:cNvPr id="56" name="Shape 54"/>
          <p:cNvSpPr/>
          <p:nvPr/>
        </p:nvSpPr>
        <p:spPr>
          <a:xfrm>
            <a:off x="822960" y="4293108"/>
            <a:ext cx="457200" cy="457200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57" name="Text 55"/>
          <p:cNvSpPr/>
          <p:nvPr/>
        </p:nvSpPr>
        <p:spPr>
          <a:xfrm>
            <a:off x="822960" y="42931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000" dirty="0"/>
          </a:p>
        </p:txBody>
      </p:sp>
      <p:sp>
        <p:nvSpPr>
          <p:cNvPr id="58" name="Text 56"/>
          <p:cNvSpPr/>
          <p:nvPr/>
        </p:nvSpPr>
        <p:spPr>
          <a:xfrm>
            <a:off x="1435608" y="3995928"/>
            <a:ext cx="254203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Percentage change</a:t>
            </a:r>
            <a:endParaRPr lang="en-US" sz="1400" dirty="0"/>
          </a:p>
        </p:txBody>
      </p:sp>
      <p:sp>
        <p:nvSpPr>
          <p:cNvPr id="59" name="Shape 57"/>
          <p:cNvSpPr/>
          <p:nvPr/>
        </p:nvSpPr>
        <p:spPr>
          <a:xfrm>
            <a:off x="4343400" y="3995928"/>
            <a:ext cx="3502152" cy="1051560"/>
          </a:xfrm>
          <a:prstGeom prst="roundRect">
            <a:avLst>
              <a:gd name="adj" fmla="val 5217"/>
            </a:avLst>
          </a:prstGeom>
          <a:solidFill>
            <a:srgbClr val="FBF3DD"/>
          </a:solidFill>
          <a:ln/>
          <a:effectLst>
            <a:outerShdw sx="100000" sy="100000" kx="0" ky="0" algn="bl" rotWithShape="0" blurRad="88900" dist="38100" dir="5400000">
              <a:srgbClr val="000000">
                <a:alpha val="18000"/>
              </a:srgbClr>
            </a:outerShdw>
          </a:effectLst>
        </p:spPr>
      </p:sp>
      <p:sp>
        <p:nvSpPr>
          <p:cNvPr id="60" name="Shape 58"/>
          <p:cNvSpPr/>
          <p:nvPr/>
        </p:nvSpPr>
        <p:spPr>
          <a:xfrm>
            <a:off x="4599432" y="4293108"/>
            <a:ext cx="457200" cy="457200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61" name="Text 59"/>
          <p:cNvSpPr/>
          <p:nvPr/>
        </p:nvSpPr>
        <p:spPr>
          <a:xfrm>
            <a:off x="4599432" y="42931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2000" dirty="0"/>
          </a:p>
        </p:txBody>
      </p:sp>
      <p:sp>
        <p:nvSpPr>
          <p:cNvPr id="62" name="Text 60"/>
          <p:cNvSpPr/>
          <p:nvPr/>
        </p:nvSpPr>
        <p:spPr>
          <a:xfrm>
            <a:off x="5212080" y="3995928"/>
            <a:ext cx="254203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Profit &amp; loss</a:t>
            </a:r>
            <a:endParaRPr lang="en-US" sz="1400" dirty="0"/>
          </a:p>
        </p:txBody>
      </p:sp>
      <p:sp>
        <p:nvSpPr>
          <p:cNvPr id="63" name="Shape 61"/>
          <p:cNvSpPr/>
          <p:nvPr/>
        </p:nvSpPr>
        <p:spPr>
          <a:xfrm>
            <a:off x="8119872" y="3995928"/>
            <a:ext cx="3502152" cy="1051560"/>
          </a:xfrm>
          <a:prstGeom prst="roundRect">
            <a:avLst>
              <a:gd name="adj" fmla="val 5217"/>
            </a:avLst>
          </a:prstGeom>
          <a:solidFill>
            <a:srgbClr val="FBF3DD"/>
          </a:solidFill>
          <a:ln/>
          <a:effectLst>
            <a:outerShdw sx="100000" sy="100000" kx="0" ky="0" algn="bl" rotWithShape="0" blurRad="88900" dist="38100" dir="5400000">
              <a:srgbClr val="000000">
                <a:alpha val="18000"/>
              </a:srgbClr>
            </a:outerShdw>
          </a:effectLst>
        </p:spPr>
      </p:sp>
      <p:sp>
        <p:nvSpPr>
          <p:cNvPr id="64" name="Shape 62"/>
          <p:cNvSpPr/>
          <p:nvPr/>
        </p:nvSpPr>
        <p:spPr>
          <a:xfrm>
            <a:off x="8375904" y="4293108"/>
            <a:ext cx="457200" cy="457200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65" name="Text 63"/>
          <p:cNvSpPr/>
          <p:nvPr/>
        </p:nvSpPr>
        <p:spPr>
          <a:xfrm>
            <a:off x="8375904" y="42931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2000" dirty="0"/>
          </a:p>
        </p:txBody>
      </p:sp>
      <p:sp>
        <p:nvSpPr>
          <p:cNvPr id="66" name="Text 64"/>
          <p:cNvSpPr/>
          <p:nvPr/>
        </p:nvSpPr>
        <p:spPr>
          <a:xfrm>
            <a:off x="8988552" y="3995928"/>
            <a:ext cx="254203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Reverse percentages</a:t>
            </a:r>
            <a:endParaRPr lang="en-US" sz="1400" dirty="0"/>
          </a:p>
        </p:txBody>
      </p:sp>
      <p:sp>
        <p:nvSpPr>
          <p:cNvPr id="67" name="Text 65"/>
          <p:cNvSpPr/>
          <p:nvPr/>
        </p:nvSpPr>
        <p:spPr>
          <a:xfrm>
            <a:off x="566928" y="61722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words:  </a:t>
            </a:r>
            <a:pPr algn="ctr" indent="0" marL="0">
              <a:buNone/>
            </a:pPr>
            <a:r>
              <a:rPr lang="en-US" sz="130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increase · decrease · multiplier · discount · VAT · profit · loss · original amount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50" kern="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STARTER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Increase or Decrease?</a:t>
            </a:r>
            <a:endParaRPr lang="en-US" sz="2700" dirty="0"/>
          </a:p>
        </p:txBody>
      </p:sp>
      <p:sp>
        <p:nvSpPr>
          <p:cNvPr id="41" name="Shape 39"/>
          <p:cNvSpPr/>
          <p:nvPr/>
        </p:nvSpPr>
        <p:spPr>
          <a:xfrm>
            <a:off x="566928" y="1417320"/>
            <a:ext cx="11064240" cy="640080"/>
          </a:xfrm>
          <a:prstGeom prst="roundRect">
            <a:avLst>
              <a:gd name="adj" fmla="val 8571"/>
            </a:avLst>
          </a:prstGeom>
          <a:solidFill>
            <a:srgbClr val="16261F"/>
          </a:solidFill>
          <a:ln/>
          <a:effectLst>
            <a:outerShdw sx="100000" sy="100000" kx="0" ky="0" algn="bl" rotWithShape="0" blurRad="88900" dist="38100" dir="5400000">
              <a:srgbClr val="000000">
                <a:alpha val="18000"/>
              </a:srgbClr>
            </a:outerShdw>
          </a:effectLst>
        </p:spPr>
      </p:sp>
      <p:sp>
        <p:nvSpPr>
          <p:cNvPr id="42" name="Text 40"/>
          <p:cNvSpPr/>
          <p:nvPr/>
        </p:nvSpPr>
        <p:spPr>
          <a:xfrm>
            <a:off x="886968" y="141732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E0A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Spot the key words. </a:t>
            </a:r>
            <a:pPr algn="l" indent="0" marL="0">
              <a:buNone/>
            </a:pPr>
            <a:r>
              <a:rPr lang="en-US" sz="1350" dirty="0">
                <a:solidFill>
                  <a:srgbClr val="EDE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of these mean the amount goes UP, and which mean it goes DOWN?</a:t>
            </a:r>
            <a:endParaRPr lang="en-US" sz="1350" dirty="0"/>
          </a:p>
        </p:txBody>
      </p:sp>
      <p:sp>
        <p:nvSpPr>
          <p:cNvPr id="43" name="Shape 41"/>
          <p:cNvSpPr/>
          <p:nvPr/>
        </p:nvSpPr>
        <p:spPr>
          <a:xfrm>
            <a:off x="566928" y="2194560"/>
            <a:ext cx="5440680" cy="3383280"/>
          </a:xfrm>
          <a:prstGeom prst="roundRect">
            <a:avLst>
              <a:gd name="adj" fmla="val 1622"/>
            </a:avLst>
          </a:prstGeom>
          <a:solidFill>
            <a:srgbClr val="EEF1E8"/>
          </a:solidFill>
          <a:ln/>
          <a:effectLst>
            <a:outerShdw sx="100000" sy="100000" kx="0" ky="0" algn="bl" rotWithShape="0" blurRad="88900" dist="38100" dir="5400000">
              <a:srgbClr val="000000">
                <a:alpha val="18000"/>
              </a:srgbClr>
            </a:outerShdw>
          </a:effectLst>
        </p:spPr>
      </p:sp>
      <p:sp>
        <p:nvSpPr>
          <p:cNvPr id="44" name="Text 42"/>
          <p:cNvSpPr/>
          <p:nvPr/>
        </p:nvSpPr>
        <p:spPr>
          <a:xfrm>
            <a:off x="932688" y="2432304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INCREASE  (goes up)</a:t>
            </a:r>
            <a:endParaRPr lang="en-US" sz="1700" dirty="0"/>
          </a:p>
        </p:txBody>
      </p:sp>
      <p:sp>
        <p:nvSpPr>
          <p:cNvPr id="45" name="Shape 43"/>
          <p:cNvSpPr/>
          <p:nvPr/>
        </p:nvSpPr>
        <p:spPr>
          <a:xfrm>
            <a:off x="868680" y="2944368"/>
            <a:ext cx="164592" cy="164592"/>
          </a:xfrm>
          <a:prstGeom prst="ellipse">
            <a:avLst/>
          </a:prstGeom>
          <a:solidFill>
            <a:srgbClr val="E8623D"/>
          </a:solidFill>
          <a:ln/>
        </p:spPr>
      </p:sp>
      <p:sp>
        <p:nvSpPr>
          <p:cNvPr id="46" name="Text 44"/>
          <p:cNvSpPr/>
          <p:nvPr/>
        </p:nvSpPr>
        <p:spPr>
          <a:xfrm>
            <a:off x="1143000" y="288036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“15% pay increase”</a:t>
            </a:r>
            <a:endParaRPr lang="en-US" sz="1550" dirty="0"/>
          </a:p>
        </p:txBody>
      </p:sp>
      <p:sp>
        <p:nvSpPr>
          <p:cNvPr id="47" name="Shape 45"/>
          <p:cNvSpPr/>
          <p:nvPr/>
        </p:nvSpPr>
        <p:spPr>
          <a:xfrm>
            <a:off x="868680" y="3566160"/>
            <a:ext cx="164592" cy="164592"/>
          </a:xfrm>
          <a:prstGeom prst="ellipse">
            <a:avLst/>
          </a:prstGeom>
          <a:solidFill>
            <a:srgbClr val="E8623D"/>
          </a:solidFill>
          <a:ln/>
        </p:spPr>
      </p:sp>
      <p:sp>
        <p:nvSpPr>
          <p:cNvPr id="48" name="Text 46"/>
          <p:cNvSpPr/>
          <p:nvPr/>
        </p:nvSpPr>
        <p:spPr>
          <a:xfrm>
            <a:off x="1143000" y="3502152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“Fares set to rise by 30%”</a:t>
            </a:r>
            <a:endParaRPr lang="en-US" sz="1550" dirty="0"/>
          </a:p>
        </p:txBody>
      </p:sp>
      <p:sp>
        <p:nvSpPr>
          <p:cNvPr id="49" name="Shape 47"/>
          <p:cNvSpPr/>
          <p:nvPr/>
        </p:nvSpPr>
        <p:spPr>
          <a:xfrm>
            <a:off x="868680" y="4187952"/>
            <a:ext cx="164592" cy="164592"/>
          </a:xfrm>
          <a:prstGeom prst="ellipse">
            <a:avLst/>
          </a:prstGeom>
          <a:solidFill>
            <a:srgbClr val="E8623D"/>
          </a:solidFill>
          <a:ln/>
        </p:spPr>
      </p:sp>
      <p:sp>
        <p:nvSpPr>
          <p:cNvPr id="50" name="Text 48"/>
          <p:cNvSpPr/>
          <p:nvPr/>
        </p:nvSpPr>
        <p:spPr>
          <a:xfrm>
            <a:off x="1143000" y="4123944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“25% extra free!”</a:t>
            </a:r>
            <a:endParaRPr lang="en-US" sz="1550" dirty="0"/>
          </a:p>
        </p:txBody>
      </p:sp>
      <p:sp>
        <p:nvSpPr>
          <p:cNvPr id="51" name="Shape 49"/>
          <p:cNvSpPr/>
          <p:nvPr/>
        </p:nvSpPr>
        <p:spPr>
          <a:xfrm>
            <a:off x="868680" y="4809744"/>
            <a:ext cx="164592" cy="164592"/>
          </a:xfrm>
          <a:prstGeom prst="ellipse">
            <a:avLst/>
          </a:prstGeom>
          <a:solidFill>
            <a:srgbClr val="E8623D"/>
          </a:solidFill>
          <a:ln/>
        </p:spPr>
      </p:sp>
      <p:sp>
        <p:nvSpPr>
          <p:cNvPr id="52" name="Text 50"/>
          <p:cNvSpPr/>
          <p:nvPr/>
        </p:nvSpPr>
        <p:spPr>
          <a:xfrm>
            <a:off x="1143000" y="4745736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“Plus 17½% VAT”</a:t>
            </a:r>
            <a:endParaRPr lang="en-US" sz="1550" dirty="0"/>
          </a:p>
        </p:txBody>
      </p:sp>
      <p:sp>
        <p:nvSpPr>
          <p:cNvPr id="53" name="Shape 51"/>
          <p:cNvSpPr/>
          <p:nvPr/>
        </p:nvSpPr>
        <p:spPr>
          <a:xfrm>
            <a:off x="6190488" y="2194560"/>
            <a:ext cx="5440680" cy="3383280"/>
          </a:xfrm>
          <a:prstGeom prst="roundRect">
            <a:avLst>
              <a:gd name="adj" fmla="val 1622"/>
            </a:avLst>
          </a:prstGeom>
          <a:solidFill>
            <a:srgbClr val="FBF3DD"/>
          </a:solidFill>
          <a:ln/>
          <a:effectLst>
            <a:outerShdw sx="100000" sy="100000" kx="0" ky="0" algn="bl" rotWithShape="0" blurRad="88900" dist="38100" dir="5400000">
              <a:srgbClr val="000000">
                <a:alpha val="18000"/>
              </a:srgbClr>
            </a:outerShdw>
          </a:effectLst>
        </p:spPr>
      </p:sp>
      <p:sp>
        <p:nvSpPr>
          <p:cNvPr id="54" name="Text 52"/>
          <p:cNvSpPr/>
          <p:nvPr/>
        </p:nvSpPr>
        <p:spPr>
          <a:xfrm>
            <a:off x="6556248" y="2432304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DECREASE  (goes down)</a:t>
            </a:r>
            <a:endParaRPr lang="en-US" sz="1700" dirty="0"/>
          </a:p>
        </p:txBody>
      </p:sp>
      <p:sp>
        <p:nvSpPr>
          <p:cNvPr id="55" name="Shape 53"/>
          <p:cNvSpPr/>
          <p:nvPr/>
        </p:nvSpPr>
        <p:spPr>
          <a:xfrm>
            <a:off x="6492240" y="2944368"/>
            <a:ext cx="164592" cy="164592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56" name="Text 54"/>
          <p:cNvSpPr/>
          <p:nvPr/>
        </p:nvSpPr>
        <p:spPr>
          <a:xfrm>
            <a:off x="6766560" y="288036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“20% off all marked prices!”</a:t>
            </a:r>
            <a:endParaRPr lang="en-US" sz="1550" dirty="0"/>
          </a:p>
        </p:txBody>
      </p:sp>
      <p:sp>
        <p:nvSpPr>
          <p:cNvPr id="57" name="Shape 55"/>
          <p:cNvSpPr/>
          <p:nvPr/>
        </p:nvSpPr>
        <p:spPr>
          <a:xfrm>
            <a:off x="6492240" y="3566160"/>
            <a:ext cx="164592" cy="164592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58" name="Text 56"/>
          <p:cNvSpPr/>
          <p:nvPr/>
        </p:nvSpPr>
        <p:spPr>
          <a:xfrm>
            <a:off x="6766560" y="3502152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“House prices to fall by 2%”</a:t>
            </a:r>
            <a:endParaRPr lang="en-US" sz="1550" dirty="0"/>
          </a:p>
        </p:txBody>
      </p:sp>
      <p:sp>
        <p:nvSpPr>
          <p:cNvPr id="59" name="Shape 57"/>
          <p:cNvSpPr/>
          <p:nvPr/>
        </p:nvSpPr>
        <p:spPr>
          <a:xfrm>
            <a:off x="6492240" y="4187952"/>
            <a:ext cx="164592" cy="164592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60" name="Text 58"/>
          <p:cNvSpPr/>
          <p:nvPr/>
        </p:nvSpPr>
        <p:spPr>
          <a:xfrm>
            <a:off x="6766560" y="4123944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“SALE — now only £568”</a:t>
            </a:r>
            <a:endParaRPr lang="en-US" sz="1550" dirty="0"/>
          </a:p>
        </p:txBody>
      </p:sp>
      <p:sp>
        <p:nvSpPr>
          <p:cNvPr id="61" name="Shape 59"/>
          <p:cNvSpPr/>
          <p:nvPr/>
        </p:nvSpPr>
        <p:spPr>
          <a:xfrm>
            <a:off x="6492240" y="4809744"/>
            <a:ext cx="164592" cy="164592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62" name="Text 60"/>
          <p:cNvSpPr/>
          <p:nvPr/>
        </p:nvSpPr>
        <p:spPr>
          <a:xfrm>
            <a:off x="6766560" y="4745736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“30% discount today”</a:t>
            </a:r>
            <a:endParaRPr lang="en-US" sz="1550" dirty="0"/>
          </a:p>
        </p:txBody>
      </p:sp>
      <p:sp>
        <p:nvSpPr>
          <p:cNvPr id="63" name="Text 61"/>
          <p:cNvSpPr/>
          <p:nvPr/>
        </p:nvSpPr>
        <p:spPr>
          <a:xfrm>
            <a:off x="566928" y="580644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VAT, pay rises and ‘extra free’ add on; sales, discounts and ‘off’ take away.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50" kern="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 · % OF AN AMOUNT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Finding a Percentage of an Amount</a:t>
            </a:r>
            <a:endParaRPr lang="en-US" sz="2700" dirty="0"/>
          </a:p>
        </p:txBody>
      </p:sp>
      <p:sp>
        <p:nvSpPr>
          <p:cNvPr id="41" name="Shape 39"/>
          <p:cNvSpPr/>
          <p:nvPr/>
        </p:nvSpPr>
        <p:spPr>
          <a:xfrm>
            <a:off x="566928" y="1554480"/>
            <a:ext cx="6126480" cy="3246120"/>
          </a:xfrm>
          <a:prstGeom prst="roundRect">
            <a:avLst>
              <a:gd name="adj" fmla="val 1690"/>
            </a:avLst>
          </a:prstGeom>
          <a:solidFill>
            <a:srgbClr val="EEF1E8"/>
          </a:solidFill>
          <a:ln/>
          <a:effectLst>
            <a:outerShdw sx="100000" sy="100000" kx="0" ky="0" algn="bl" rotWithShape="0" blurRad="88900" dist="38100" dir="5400000">
              <a:srgbClr val="000000">
                <a:alpha val="18000"/>
              </a:srgbClr>
            </a:outerShdw>
          </a:effectLst>
        </p:spPr>
      </p:sp>
      <p:sp>
        <p:nvSpPr>
          <p:cNvPr id="42" name="Shape 40"/>
          <p:cNvSpPr/>
          <p:nvPr/>
        </p:nvSpPr>
        <p:spPr>
          <a:xfrm>
            <a:off x="6903720" y="1554480"/>
            <a:ext cx="4727448" cy="3246120"/>
          </a:xfrm>
          <a:prstGeom prst="roundRect">
            <a:avLst>
              <a:gd name="adj" fmla="val 1690"/>
            </a:avLst>
          </a:prstGeom>
          <a:solidFill>
            <a:srgbClr val="FBF3DD"/>
          </a:solidFill>
          <a:ln/>
          <a:effectLst>
            <a:outerShdw sx="100000" sy="100000" kx="0" ky="0" algn="bl" rotWithShape="0" blurRad="88900" dist="38100" dir="5400000">
              <a:srgbClr val="000000">
                <a:alpha val="18000"/>
              </a:srgbClr>
            </a:outerShdw>
          </a:effectLst>
        </p:spPr>
      </p:sp>
      <p:sp>
        <p:nvSpPr>
          <p:cNvPr id="43" name="Text 41"/>
          <p:cNvSpPr/>
          <p:nvPr/>
        </p:nvSpPr>
        <p:spPr>
          <a:xfrm>
            <a:off x="7178040" y="1755648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i="1" dirty="0">
                <a:solidFill>
                  <a:srgbClr val="C84F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ways</a:t>
            </a:r>
            <a:endParaRPr lang="en-US" sz="1400" dirty="0"/>
          </a:p>
        </p:txBody>
      </p:sp>
      <p:sp>
        <p:nvSpPr>
          <p:cNvPr id="44" name="Text 42"/>
          <p:cNvSpPr/>
          <p:nvPr/>
        </p:nvSpPr>
        <p:spPr>
          <a:xfrm>
            <a:off x="7223760" y="2240280"/>
            <a:ext cx="42062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35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Multiplier: turn the % into a decimal, then multiply.</a:t>
            </a:r>
            <a:endParaRPr lang="en-US" sz="135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35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Non-calculator: find 10% (÷ 10), then scale up.</a:t>
            </a:r>
            <a:endParaRPr lang="en-US" sz="135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35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20% is just double 10%.</a:t>
            </a:r>
            <a:endParaRPr lang="en-US" sz="1350" dirty="0"/>
          </a:p>
        </p:txBody>
      </p:sp>
      <p:sp>
        <p:nvSpPr>
          <p:cNvPr id="45" name="Text 43"/>
          <p:cNvSpPr/>
          <p:nvPr/>
        </p:nvSpPr>
        <p:spPr>
          <a:xfrm>
            <a:off x="566928" y="63276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multiplier for ‘% of’ is 0.__ — the percentage written as a decimal.</a:t>
            </a:r>
            <a:endParaRPr lang="en-US" sz="1300" dirty="0"/>
          </a:p>
        </p:txBody>
      </p:sp>
      <p:sp>
        <p:nvSpPr>
          <p:cNvPr id="46" name="Shape 44"/>
          <p:cNvSpPr/>
          <p:nvPr/>
        </p:nvSpPr>
        <p:spPr>
          <a:xfrm>
            <a:off x="868680" y="1847088"/>
            <a:ext cx="329184" cy="329184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47" name="Text 45"/>
          <p:cNvSpPr/>
          <p:nvPr/>
        </p:nvSpPr>
        <p:spPr>
          <a:xfrm>
            <a:off x="868680" y="18470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48" name="Text 46"/>
          <p:cNvSpPr/>
          <p:nvPr/>
        </p:nvSpPr>
        <p:spPr>
          <a:xfrm>
            <a:off x="1362456" y="1810512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 </a:t>
            </a:r>
            <a:pPr indent="0" marL="0">
              <a:buNone/>
            </a:pPr>
            <a:r>
              <a:rPr lang="en-US" sz="1400" b="1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20% of £150</a:t>
            </a:r>
            <a:endParaRPr lang="en-US" sz="1400" dirty="0"/>
          </a:p>
        </p:txBody>
      </p:sp>
      <p:sp>
        <p:nvSpPr>
          <p:cNvPr id="49" name="Shape 47"/>
          <p:cNvSpPr/>
          <p:nvPr/>
        </p:nvSpPr>
        <p:spPr>
          <a:xfrm>
            <a:off x="868680" y="2578608"/>
            <a:ext cx="329184" cy="329184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50" name="Text 48"/>
          <p:cNvSpPr/>
          <p:nvPr/>
        </p:nvSpPr>
        <p:spPr>
          <a:xfrm>
            <a:off x="868680" y="25786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51" name="Text 49"/>
          <p:cNvSpPr/>
          <p:nvPr/>
        </p:nvSpPr>
        <p:spPr>
          <a:xfrm>
            <a:off x="1362456" y="2542032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Multiplier:  20% = 20 ÷ 100 = 0.2</a:t>
            </a:r>
            <a:endParaRPr lang="en-US" sz="1400" dirty="0"/>
          </a:p>
        </p:txBody>
      </p:sp>
      <p:sp>
        <p:nvSpPr>
          <p:cNvPr id="52" name="Shape 50"/>
          <p:cNvSpPr/>
          <p:nvPr/>
        </p:nvSpPr>
        <p:spPr>
          <a:xfrm>
            <a:off x="868680" y="3310128"/>
            <a:ext cx="329184" cy="329184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53" name="Text 51"/>
          <p:cNvSpPr/>
          <p:nvPr/>
        </p:nvSpPr>
        <p:spPr>
          <a:xfrm>
            <a:off x="868680" y="331012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54" name="Text 52"/>
          <p:cNvSpPr/>
          <p:nvPr/>
        </p:nvSpPr>
        <p:spPr>
          <a:xfrm>
            <a:off x="1362456" y="3273552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0.2 × £150  =  </a:t>
            </a:r>
            <a:pPr indent="0" marL="0">
              <a:buNone/>
            </a:pPr>
            <a:r>
              <a:rPr lang="en-US" sz="1400" b="1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£30</a:t>
            </a:r>
            <a:endParaRPr lang="en-US" sz="1400" dirty="0"/>
          </a:p>
        </p:txBody>
      </p:sp>
      <p:sp>
        <p:nvSpPr>
          <p:cNvPr id="55" name="Shape 53"/>
          <p:cNvSpPr/>
          <p:nvPr/>
        </p:nvSpPr>
        <p:spPr>
          <a:xfrm>
            <a:off x="868680" y="4041648"/>
            <a:ext cx="329184" cy="329184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56" name="Text 54"/>
          <p:cNvSpPr/>
          <p:nvPr/>
        </p:nvSpPr>
        <p:spPr>
          <a:xfrm>
            <a:off x="868680" y="40416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57" name="Text 55"/>
          <p:cNvSpPr/>
          <p:nvPr/>
        </p:nvSpPr>
        <p:spPr>
          <a:xfrm>
            <a:off x="1362456" y="4005072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Non-calc check: 10% = £15, so 20% = £30</a:t>
            </a:r>
            <a:endParaRPr lang="en-US" sz="1400" dirty="0"/>
          </a:p>
        </p:txBody>
      </p:sp>
      <p:sp>
        <p:nvSpPr>
          <p:cNvPr id="58" name="Shape 56"/>
          <p:cNvSpPr/>
          <p:nvPr/>
        </p:nvSpPr>
        <p:spPr>
          <a:xfrm>
            <a:off x="566928" y="5074920"/>
            <a:ext cx="11064240" cy="1143000"/>
          </a:xfrm>
          <a:prstGeom prst="roundRect">
            <a:avLst>
              <a:gd name="adj" fmla="val 4800"/>
            </a:avLst>
          </a:prstGeom>
          <a:solidFill>
            <a:srgbClr val="16261F"/>
          </a:solidFill>
          <a:ln/>
          <a:effectLst>
            <a:outerShdw sx="100000" sy="100000" kx="0" ky="0" algn="bl" rotWithShape="0" blurRad="88900" dist="38100" dir="5400000">
              <a:srgbClr val="000000">
                <a:alpha val="18000"/>
              </a:srgbClr>
            </a:outerShdw>
          </a:effectLst>
        </p:spPr>
      </p:sp>
      <p:sp>
        <p:nvSpPr>
          <p:cNvPr id="59" name="Text 57"/>
          <p:cNvSpPr/>
          <p:nvPr/>
        </p:nvSpPr>
        <p:spPr>
          <a:xfrm>
            <a:off x="841248" y="5074920"/>
            <a:ext cx="10515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E0AC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20% of £150 = £30</a:t>
            </a:r>
            <a:endParaRPr lang="en-US" sz="2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50" kern="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KEY IDEA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Multiplier</a:t>
            </a:r>
            <a:endParaRPr lang="en-US" sz="2700" dirty="0"/>
          </a:p>
        </p:txBody>
      </p:sp>
      <p:sp>
        <p:nvSpPr>
          <p:cNvPr id="41" name="Shape 39"/>
          <p:cNvSpPr/>
          <p:nvPr/>
        </p:nvSpPr>
        <p:spPr>
          <a:xfrm>
            <a:off x="566928" y="1371600"/>
            <a:ext cx="11064240" cy="749808"/>
          </a:xfrm>
          <a:prstGeom prst="roundRect">
            <a:avLst>
              <a:gd name="adj" fmla="val 7317"/>
            </a:avLst>
          </a:prstGeom>
          <a:solidFill>
            <a:srgbClr val="16261F"/>
          </a:solidFill>
          <a:ln/>
          <a:effectLst>
            <a:outerShdw sx="100000" sy="100000" kx="0" ky="0" algn="bl" rotWithShape="0" blurRad="88900" dist="38100" dir="5400000">
              <a:srgbClr val="000000">
                <a:alpha val="18000"/>
              </a:srgbClr>
            </a:outerShdw>
          </a:effectLst>
        </p:spPr>
      </p:sp>
      <p:sp>
        <p:nvSpPr>
          <p:cNvPr id="42" name="Text 40"/>
          <p:cNvSpPr/>
          <p:nvPr/>
        </p:nvSpPr>
        <p:spPr>
          <a:xfrm>
            <a:off x="886968" y="1371600"/>
            <a:ext cx="104241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E0A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percentage question is a multiplication. </a:t>
            </a:r>
            <a:pPr algn="l" indent="0" marL="0">
              <a:buNone/>
            </a:pPr>
            <a:r>
              <a:rPr lang="en-US" sz="1400" dirty="0">
                <a:solidFill>
                  <a:srgbClr val="EDE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Decide the multiplier first, then multiply the amount by it.</a:t>
            </a:r>
            <a:endParaRPr lang="en-US" sz="1400" dirty="0"/>
          </a:p>
        </p:txBody>
      </p:sp>
      <p:sp>
        <p:nvSpPr>
          <p:cNvPr id="43" name="Shape 41"/>
          <p:cNvSpPr/>
          <p:nvPr/>
        </p:nvSpPr>
        <p:spPr>
          <a:xfrm>
            <a:off x="566928" y="2331720"/>
            <a:ext cx="3291840" cy="548640"/>
          </a:xfrm>
          <a:prstGeom prst="rect">
            <a:avLst/>
          </a:prstGeom>
          <a:solidFill>
            <a:srgbClr val="16261F"/>
          </a:solidFill>
          <a:ln/>
        </p:spPr>
      </p:sp>
      <p:sp>
        <p:nvSpPr>
          <p:cNvPr id="44" name="Text 42"/>
          <p:cNvSpPr/>
          <p:nvPr/>
        </p:nvSpPr>
        <p:spPr>
          <a:xfrm>
            <a:off x="704088" y="2331720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0AC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 …</a:t>
            </a:r>
            <a:endParaRPr lang="en-US" sz="1500" dirty="0"/>
          </a:p>
        </p:txBody>
      </p:sp>
      <p:sp>
        <p:nvSpPr>
          <p:cNvPr id="45" name="Shape 43"/>
          <p:cNvSpPr/>
          <p:nvPr/>
        </p:nvSpPr>
        <p:spPr>
          <a:xfrm>
            <a:off x="4041648" y="2331720"/>
            <a:ext cx="3566160" cy="548640"/>
          </a:xfrm>
          <a:prstGeom prst="rect">
            <a:avLst/>
          </a:prstGeom>
          <a:solidFill>
            <a:srgbClr val="16261F"/>
          </a:solidFill>
          <a:ln/>
        </p:spPr>
      </p:sp>
      <p:sp>
        <p:nvSpPr>
          <p:cNvPr id="46" name="Text 44"/>
          <p:cNvSpPr/>
          <p:nvPr/>
        </p:nvSpPr>
        <p:spPr>
          <a:xfrm>
            <a:off x="4178808" y="2331720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0AC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Multiply by</a:t>
            </a:r>
            <a:endParaRPr lang="en-US" sz="1500" dirty="0"/>
          </a:p>
        </p:txBody>
      </p:sp>
      <p:sp>
        <p:nvSpPr>
          <p:cNvPr id="47" name="Shape 45"/>
          <p:cNvSpPr/>
          <p:nvPr/>
        </p:nvSpPr>
        <p:spPr>
          <a:xfrm>
            <a:off x="7790688" y="2331720"/>
            <a:ext cx="3840480" cy="548640"/>
          </a:xfrm>
          <a:prstGeom prst="rect">
            <a:avLst/>
          </a:prstGeom>
          <a:solidFill>
            <a:srgbClr val="16261F"/>
          </a:solidFill>
          <a:ln/>
        </p:spPr>
      </p:sp>
      <p:sp>
        <p:nvSpPr>
          <p:cNvPr id="48" name="Text 46"/>
          <p:cNvSpPr/>
          <p:nvPr/>
        </p:nvSpPr>
        <p:spPr>
          <a:xfrm>
            <a:off x="7927848" y="2331720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0AC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Example</a:t>
            </a:r>
            <a:endParaRPr lang="en-US" sz="1500" dirty="0"/>
          </a:p>
        </p:txBody>
      </p:sp>
      <p:sp>
        <p:nvSpPr>
          <p:cNvPr id="49" name="Shape 47"/>
          <p:cNvSpPr/>
          <p:nvPr/>
        </p:nvSpPr>
        <p:spPr>
          <a:xfrm>
            <a:off x="566928" y="2926080"/>
            <a:ext cx="3291840" cy="960120"/>
          </a:xfrm>
          <a:prstGeom prst="rect">
            <a:avLst/>
          </a:prstGeom>
          <a:solidFill>
            <a:srgbClr val="EEF1E8"/>
          </a:solidFill>
          <a:ln w="12700">
            <a:solidFill>
              <a:srgbClr val="E4E2D6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704088" y="2926080"/>
            <a:ext cx="30175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find a % of an amount</a:t>
            </a:r>
            <a:endParaRPr lang="en-US" sz="1650" dirty="0"/>
          </a:p>
        </p:txBody>
      </p:sp>
      <p:sp>
        <p:nvSpPr>
          <p:cNvPr id="51" name="Shape 49"/>
          <p:cNvSpPr/>
          <p:nvPr/>
        </p:nvSpPr>
        <p:spPr>
          <a:xfrm>
            <a:off x="4041648" y="2926080"/>
            <a:ext cx="3566160" cy="960120"/>
          </a:xfrm>
          <a:prstGeom prst="rect">
            <a:avLst/>
          </a:prstGeom>
          <a:solidFill>
            <a:srgbClr val="EEF1E8"/>
          </a:solidFill>
          <a:ln w="12700">
            <a:solidFill>
              <a:srgbClr val="E4E2D6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178808" y="2926080"/>
            <a:ext cx="32918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C84F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0.__</a:t>
            </a:r>
            <a:pPr algn="ctr" indent="0" marL="0">
              <a:buNone/>
            </a:pPr>
            <a:r>
              <a:rPr lang="en-US" sz="1200" dirty="0">
                <a:solidFill>
                  <a:srgbClr val="5C6B6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  (% ÷ 100)</a:t>
            </a:r>
            <a:endParaRPr lang="en-US" sz="1650" dirty="0"/>
          </a:p>
        </p:txBody>
      </p:sp>
      <p:sp>
        <p:nvSpPr>
          <p:cNvPr id="53" name="Shape 51"/>
          <p:cNvSpPr/>
          <p:nvPr/>
        </p:nvSpPr>
        <p:spPr>
          <a:xfrm>
            <a:off x="7790688" y="2926080"/>
            <a:ext cx="3840480" cy="960120"/>
          </a:xfrm>
          <a:prstGeom prst="rect">
            <a:avLst/>
          </a:prstGeom>
          <a:solidFill>
            <a:srgbClr val="EEF1E8"/>
          </a:solidFill>
          <a:ln w="12700">
            <a:solidFill>
              <a:srgbClr val="E4E2D6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927848" y="2926080"/>
            <a:ext cx="35661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20%  →  × 0.20</a:t>
            </a:r>
            <a:endParaRPr lang="en-US" sz="1650" dirty="0"/>
          </a:p>
        </p:txBody>
      </p:sp>
      <p:sp>
        <p:nvSpPr>
          <p:cNvPr id="55" name="Shape 53"/>
          <p:cNvSpPr/>
          <p:nvPr/>
        </p:nvSpPr>
        <p:spPr>
          <a:xfrm>
            <a:off x="566928" y="3950208"/>
            <a:ext cx="3291840" cy="960120"/>
          </a:xfrm>
          <a:prstGeom prst="rect">
            <a:avLst/>
          </a:prstGeom>
          <a:solidFill>
            <a:srgbClr val="FBF3DD"/>
          </a:solidFill>
          <a:ln w="12700">
            <a:solidFill>
              <a:srgbClr val="E4E2D6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704088" y="3950208"/>
            <a:ext cx="30175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increase by a %</a:t>
            </a:r>
            <a:endParaRPr lang="en-US" sz="1650" dirty="0"/>
          </a:p>
        </p:txBody>
      </p:sp>
      <p:sp>
        <p:nvSpPr>
          <p:cNvPr id="57" name="Shape 55"/>
          <p:cNvSpPr/>
          <p:nvPr/>
        </p:nvSpPr>
        <p:spPr>
          <a:xfrm>
            <a:off x="4041648" y="3950208"/>
            <a:ext cx="3566160" cy="960120"/>
          </a:xfrm>
          <a:prstGeom prst="rect">
            <a:avLst/>
          </a:prstGeom>
          <a:solidFill>
            <a:srgbClr val="FBF3DD"/>
          </a:solidFill>
          <a:ln w="12700">
            <a:solidFill>
              <a:srgbClr val="E4E2D6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4178808" y="3950208"/>
            <a:ext cx="32918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C84F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1.__</a:t>
            </a:r>
            <a:pPr algn="ctr" indent="0" marL="0">
              <a:buNone/>
            </a:pPr>
            <a:r>
              <a:rPr lang="en-US" sz="1200" dirty="0">
                <a:solidFill>
                  <a:srgbClr val="5C6B6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  (100 + %)</a:t>
            </a:r>
            <a:endParaRPr lang="en-US" sz="1650" dirty="0"/>
          </a:p>
        </p:txBody>
      </p:sp>
      <p:sp>
        <p:nvSpPr>
          <p:cNvPr id="59" name="Shape 57"/>
          <p:cNvSpPr/>
          <p:nvPr/>
        </p:nvSpPr>
        <p:spPr>
          <a:xfrm>
            <a:off x="7790688" y="3950208"/>
            <a:ext cx="3840480" cy="960120"/>
          </a:xfrm>
          <a:prstGeom prst="rect">
            <a:avLst/>
          </a:prstGeom>
          <a:solidFill>
            <a:srgbClr val="FBF3DD"/>
          </a:solidFill>
          <a:ln w="12700">
            <a:solidFill>
              <a:srgbClr val="E4E2D6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7927848" y="3950208"/>
            <a:ext cx="35661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+20%  →  × 1.20</a:t>
            </a:r>
            <a:endParaRPr lang="en-US" sz="1650" dirty="0"/>
          </a:p>
        </p:txBody>
      </p:sp>
      <p:sp>
        <p:nvSpPr>
          <p:cNvPr id="61" name="Shape 59"/>
          <p:cNvSpPr/>
          <p:nvPr/>
        </p:nvSpPr>
        <p:spPr>
          <a:xfrm>
            <a:off x="566928" y="4974336"/>
            <a:ext cx="3291840" cy="960120"/>
          </a:xfrm>
          <a:prstGeom prst="rect">
            <a:avLst/>
          </a:prstGeom>
          <a:solidFill>
            <a:srgbClr val="EEF1E8"/>
          </a:solidFill>
          <a:ln w="12700">
            <a:solidFill>
              <a:srgbClr val="E4E2D6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704088" y="4974336"/>
            <a:ext cx="30175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decrease by a %</a:t>
            </a:r>
            <a:endParaRPr lang="en-US" sz="1650" dirty="0"/>
          </a:p>
        </p:txBody>
      </p:sp>
      <p:sp>
        <p:nvSpPr>
          <p:cNvPr id="63" name="Shape 61"/>
          <p:cNvSpPr/>
          <p:nvPr/>
        </p:nvSpPr>
        <p:spPr>
          <a:xfrm>
            <a:off x="4041648" y="4974336"/>
            <a:ext cx="3566160" cy="960120"/>
          </a:xfrm>
          <a:prstGeom prst="rect">
            <a:avLst/>
          </a:prstGeom>
          <a:solidFill>
            <a:srgbClr val="EEF1E8"/>
          </a:solidFill>
          <a:ln w="12700">
            <a:solidFill>
              <a:srgbClr val="E4E2D6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4178808" y="4974336"/>
            <a:ext cx="32918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C84F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0.__</a:t>
            </a:r>
            <a:pPr algn="ctr" indent="0" marL="0">
              <a:buNone/>
            </a:pPr>
            <a:r>
              <a:rPr lang="en-US" sz="1200" dirty="0">
                <a:solidFill>
                  <a:srgbClr val="5C6B6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  (100 − %)</a:t>
            </a:r>
            <a:endParaRPr lang="en-US" sz="1650" dirty="0"/>
          </a:p>
        </p:txBody>
      </p:sp>
      <p:sp>
        <p:nvSpPr>
          <p:cNvPr id="65" name="Shape 63"/>
          <p:cNvSpPr/>
          <p:nvPr/>
        </p:nvSpPr>
        <p:spPr>
          <a:xfrm>
            <a:off x="7790688" y="4974336"/>
            <a:ext cx="3840480" cy="960120"/>
          </a:xfrm>
          <a:prstGeom prst="rect">
            <a:avLst/>
          </a:prstGeom>
          <a:solidFill>
            <a:srgbClr val="EEF1E8"/>
          </a:solidFill>
          <a:ln w="12700">
            <a:solidFill>
              <a:srgbClr val="E4E2D6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7927848" y="4974336"/>
            <a:ext cx="35661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−30%  →  × 0.70</a:t>
            </a:r>
            <a:endParaRPr lang="en-US" sz="1650" dirty="0"/>
          </a:p>
        </p:txBody>
      </p:sp>
      <p:sp>
        <p:nvSpPr>
          <p:cNvPr id="67" name="Text 65"/>
          <p:cNvSpPr/>
          <p:nvPr/>
        </p:nvSpPr>
        <p:spPr>
          <a:xfrm>
            <a:off x="566928" y="608076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Increase adds onto 100%; decrease takes away from 100%.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50" kern="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2 · INCREASE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Increasing by a Percentage</a:t>
            </a:r>
            <a:endParaRPr lang="en-US" sz="2700" dirty="0"/>
          </a:p>
        </p:txBody>
      </p:sp>
      <p:sp>
        <p:nvSpPr>
          <p:cNvPr id="41" name="Shape 39"/>
          <p:cNvSpPr/>
          <p:nvPr/>
        </p:nvSpPr>
        <p:spPr>
          <a:xfrm>
            <a:off x="566928" y="1554480"/>
            <a:ext cx="6126480" cy="3246120"/>
          </a:xfrm>
          <a:prstGeom prst="roundRect">
            <a:avLst>
              <a:gd name="adj" fmla="val 1690"/>
            </a:avLst>
          </a:prstGeom>
          <a:solidFill>
            <a:srgbClr val="EEF1E8"/>
          </a:solidFill>
          <a:ln/>
          <a:effectLst>
            <a:outerShdw sx="100000" sy="100000" kx="0" ky="0" algn="bl" rotWithShape="0" blurRad="88900" dist="38100" dir="5400000">
              <a:srgbClr val="000000">
                <a:alpha val="18000"/>
              </a:srgbClr>
            </a:outerShdw>
          </a:effectLst>
        </p:spPr>
      </p:sp>
      <p:sp>
        <p:nvSpPr>
          <p:cNvPr id="42" name="Shape 40"/>
          <p:cNvSpPr/>
          <p:nvPr/>
        </p:nvSpPr>
        <p:spPr>
          <a:xfrm>
            <a:off x="6903720" y="1554480"/>
            <a:ext cx="4727448" cy="3246120"/>
          </a:xfrm>
          <a:prstGeom prst="roundRect">
            <a:avLst>
              <a:gd name="adj" fmla="val 1690"/>
            </a:avLst>
          </a:prstGeom>
          <a:solidFill>
            <a:srgbClr val="FBF3DD"/>
          </a:solidFill>
          <a:ln/>
          <a:effectLst>
            <a:outerShdw sx="100000" sy="100000" kx="0" ky="0" algn="bl" rotWithShape="0" blurRad="88900" dist="38100" dir="5400000">
              <a:srgbClr val="000000">
                <a:alpha val="18000"/>
              </a:srgbClr>
            </a:outerShdw>
          </a:effectLst>
        </p:spPr>
      </p:sp>
      <p:sp>
        <p:nvSpPr>
          <p:cNvPr id="43" name="Text 41"/>
          <p:cNvSpPr/>
          <p:nvPr/>
        </p:nvSpPr>
        <p:spPr>
          <a:xfrm>
            <a:off x="7178040" y="1755648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i="1" dirty="0">
                <a:solidFill>
                  <a:srgbClr val="C84F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1.2?</a:t>
            </a:r>
            <a:endParaRPr lang="en-US" sz="1400" dirty="0"/>
          </a:p>
        </p:txBody>
      </p:sp>
      <p:sp>
        <p:nvSpPr>
          <p:cNvPr id="44" name="Text 42"/>
          <p:cNvSpPr/>
          <p:nvPr/>
        </p:nvSpPr>
        <p:spPr>
          <a:xfrm>
            <a:off x="7223760" y="2240280"/>
            <a:ext cx="42062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35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original is 100% of itself.</a:t>
            </a:r>
            <a:endParaRPr lang="en-US" sz="135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35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Adding 20% gives 120% = 1.2.</a:t>
            </a:r>
            <a:endParaRPr lang="en-US" sz="135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35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multiplication does it in a single step.</a:t>
            </a:r>
            <a:endParaRPr lang="en-US" sz="1350" dirty="0"/>
          </a:p>
        </p:txBody>
      </p:sp>
      <p:sp>
        <p:nvSpPr>
          <p:cNvPr id="45" name="Text 43"/>
          <p:cNvSpPr/>
          <p:nvPr/>
        </p:nvSpPr>
        <p:spPr>
          <a:xfrm>
            <a:off x="566928" y="63276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Increase by p% → multiply by (1 + p/100).</a:t>
            </a:r>
            <a:endParaRPr lang="en-US" sz="1300" dirty="0"/>
          </a:p>
        </p:txBody>
      </p:sp>
      <p:sp>
        <p:nvSpPr>
          <p:cNvPr id="46" name="Shape 44"/>
          <p:cNvSpPr/>
          <p:nvPr/>
        </p:nvSpPr>
        <p:spPr>
          <a:xfrm>
            <a:off x="868680" y="1847088"/>
            <a:ext cx="329184" cy="329184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47" name="Text 45"/>
          <p:cNvSpPr/>
          <p:nvPr/>
        </p:nvSpPr>
        <p:spPr>
          <a:xfrm>
            <a:off x="868680" y="18470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48" name="Text 46"/>
          <p:cNvSpPr/>
          <p:nvPr/>
        </p:nvSpPr>
        <p:spPr>
          <a:xfrm>
            <a:off x="1362456" y="1810512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Frank’s house (£150,000) rises by 20%.</a:t>
            </a:r>
            <a:endParaRPr lang="en-US" sz="1400" dirty="0"/>
          </a:p>
        </p:txBody>
      </p:sp>
      <p:sp>
        <p:nvSpPr>
          <p:cNvPr id="49" name="Shape 47"/>
          <p:cNvSpPr/>
          <p:nvPr/>
        </p:nvSpPr>
        <p:spPr>
          <a:xfrm>
            <a:off x="868680" y="2578608"/>
            <a:ext cx="329184" cy="329184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50" name="Text 48"/>
          <p:cNvSpPr/>
          <p:nvPr/>
        </p:nvSpPr>
        <p:spPr>
          <a:xfrm>
            <a:off x="868680" y="25786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51" name="Text 49"/>
          <p:cNvSpPr/>
          <p:nvPr/>
        </p:nvSpPr>
        <p:spPr>
          <a:xfrm>
            <a:off x="1362456" y="2542032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 + 20% = 120%</a:t>
            </a:r>
            <a:endParaRPr lang="en-US" sz="1400" dirty="0"/>
          </a:p>
        </p:txBody>
      </p:sp>
      <p:sp>
        <p:nvSpPr>
          <p:cNvPr id="52" name="Shape 50"/>
          <p:cNvSpPr/>
          <p:nvPr/>
        </p:nvSpPr>
        <p:spPr>
          <a:xfrm>
            <a:off x="868680" y="3310128"/>
            <a:ext cx="329184" cy="329184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53" name="Text 51"/>
          <p:cNvSpPr/>
          <p:nvPr/>
        </p:nvSpPr>
        <p:spPr>
          <a:xfrm>
            <a:off x="868680" y="331012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54" name="Text 52"/>
          <p:cNvSpPr/>
          <p:nvPr/>
        </p:nvSpPr>
        <p:spPr>
          <a:xfrm>
            <a:off x="1362456" y="3273552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Multiplier = 1.2</a:t>
            </a:r>
            <a:endParaRPr lang="en-US" sz="1400" dirty="0"/>
          </a:p>
        </p:txBody>
      </p:sp>
      <p:sp>
        <p:nvSpPr>
          <p:cNvPr id="55" name="Shape 53"/>
          <p:cNvSpPr/>
          <p:nvPr/>
        </p:nvSpPr>
        <p:spPr>
          <a:xfrm>
            <a:off x="868680" y="4041648"/>
            <a:ext cx="329184" cy="329184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56" name="Text 54"/>
          <p:cNvSpPr/>
          <p:nvPr/>
        </p:nvSpPr>
        <p:spPr>
          <a:xfrm>
            <a:off x="868680" y="40416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57" name="Text 55"/>
          <p:cNvSpPr/>
          <p:nvPr/>
        </p:nvSpPr>
        <p:spPr>
          <a:xfrm>
            <a:off x="1362456" y="4005072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1.2 × £150,000  =  </a:t>
            </a:r>
            <a:pPr indent="0" marL="0">
              <a:buNone/>
            </a:pPr>
            <a:r>
              <a:rPr lang="en-US" sz="1400" b="1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£180,000</a:t>
            </a:r>
            <a:endParaRPr lang="en-US" sz="1400" dirty="0"/>
          </a:p>
        </p:txBody>
      </p:sp>
      <p:sp>
        <p:nvSpPr>
          <p:cNvPr id="58" name="Shape 56"/>
          <p:cNvSpPr/>
          <p:nvPr/>
        </p:nvSpPr>
        <p:spPr>
          <a:xfrm>
            <a:off x="566928" y="5074920"/>
            <a:ext cx="11064240" cy="1143000"/>
          </a:xfrm>
          <a:prstGeom prst="roundRect">
            <a:avLst>
              <a:gd name="adj" fmla="val 4800"/>
            </a:avLst>
          </a:prstGeom>
          <a:solidFill>
            <a:srgbClr val="16261F"/>
          </a:solidFill>
          <a:ln/>
          <a:effectLst>
            <a:outerShdw sx="100000" sy="100000" kx="0" ky="0" algn="bl" rotWithShape="0" blurRad="88900" dist="38100" dir="5400000">
              <a:srgbClr val="000000">
                <a:alpha val="18000"/>
              </a:srgbClr>
            </a:outerShdw>
          </a:effectLst>
        </p:spPr>
      </p:sp>
      <p:sp>
        <p:nvSpPr>
          <p:cNvPr id="59" name="Text 57"/>
          <p:cNvSpPr/>
          <p:nvPr/>
        </p:nvSpPr>
        <p:spPr>
          <a:xfrm>
            <a:off x="841248" y="5074920"/>
            <a:ext cx="10515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E0AC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New value = £180,000</a:t>
            </a:r>
            <a:endParaRPr lang="en-US" sz="2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50" kern="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2 · DECREASE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Decreasing by a Percentage</a:t>
            </a:r>
            <a:endParaRPr lang="en-US" sz="2700" dirty="0"/>
          </a:p>
        </p:txBody>
      </p:sp>
      <p:sp>
        <p:nvSpPr>
          <p:cNvPr id="41" name="Shape 39"/>
          <p:cNvSpPr/>
          <p:nvPr/>
        </p:nvSpPr>
        <p:spPr>
          <a:xfrm>
            <a:off x="566928" y="1554480"/>
            <a:ext cx="6126480" cy="3246120"/>
          </a:xfrm>
          <a:prstGeom prst="roundRect">
            <a:avLst>
              <a:gd name="adj" fmla="val 1690"/>
            </a:avLst>
          </a:prstGeom>
          <a:solidFill>
            <a:srgbClr val="EEF1E8"/>
          </a:solidFill>
          <a:ln/>
          <a:effectLst>
            <a:outerShdw sx="100000" sy="100000" kx="0" ky="0" algn="bl" rotWithShape="0" blurRad="88900" dist="38100" dir="5400000">
              <a:srgbClr val="000000">
                <a:alpha val="18000"/>
              </a:srgbClr>
            </a:outerShdw>
          </a:effectLst>
        </p:spPr>
      </p:sp>
      <p:sp>
        <p:nvSpPr>
          <p:cNvPr id="42" name="Shape 40"/>
          <p:cNvSpPr/>
          <p:nvPr/>
        </p:nvSpPr>
        <p:spPr>
          <a:xfrm>
            <a:off x="6903720" y="1554480"/>
            <a:ext cx="4727448" cy="3246120"/>
          </a:xfrm>
          <a:prstGeom prst="roundRect">
            <a:avLst>
              <a:gd name="adj" fmla="val 1690"/>
            </a:avLst>
          </a:prstGeom>
          <a:solidFill>
            <a:srgbClr val="FBF3DD"/>
          </a:solidFill>
          <a:ln/>
          <a:effectLst>
            <a:outerShdw sx="100000" sy="100000" kx="0" ky="0" algn="bl" rotWithShape="0" blurRad="88900" dist="38100" dir="5400000">
              <a:srgbClr val="000000">
                <a:alpha val="18000"/>
              </a:srgbClr>
            </a:outerShdw>
          </a:effectLst>
        </p:spPr>
      </p:sp>
      <p:sp>
        <p:nvSpPr>
          <p:cNvPr id="43" name="Text 41"/>
          <p:cNvSpPr/>
          <p:nvPr/>
        </p:nvSpPr>
        <p:spPr>
          <a:xfrm>
            <a:off x="7178040" y="1755648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i="1" dirty="0">
                <a:solidFill>
                  <a:srgbClr val="C84F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0.7?</a:t>
            </a:r>
            <a:endParaRPr lang="en-US" sz="1400" dirty="0"/>
          </a:p>
        </p:txBody>
      </p:sp>
      <p:sp>
        <p:nvSpPr>
          <p:cNvPr id="44" name="Text 42"/>
          <p:cNvSpPr/>
          <p:nvPr/>
        </p:nvSpPr>
        <p:spPr>
          <a:xfrm>
            <a:off x="7223760" y="2240280"/>
            <a:ext cx="42062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35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original is 100%.</a:t>
            </a:r>
            <a:endParaRPr lang="en-US" sz="135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35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Taking 30% away leaves 70% = 0.7.</a:t>
            </a:r>
            <a:endParaRPr lang="en-US" sz="135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35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need to find 30% then subtract — one step.</a:t>
            </a:r>
            <a:endParaRPr lang="en-US" sz="1350" dirty="0"/>
          </a:p>
        </p:txBody>
      </p:sp>
      <p:sp>
        <p:nvSpPr>
          <p:cNvPr id="45" name="Text 43"/>
          <p:cNvSpPr/>
          <p:nvPr/>
        </p:nvSpPr>
        <p:spPr>
          <a:xfrm>
            <a:off x="566928" y="63276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Decrease by p% → multiply by (1 − p/100).</a:t>
            </a:r>
            <a:endParaRPr lang="en-US" sz="1300" dirty="0"/>
          </a:p>
        </p:txBody>
      </p:sp>
      <p:sp>
        <p:nvSpPr>
          <p:cNvPr id="46" name="Shape 44"/>
          <p:cNvSpPr/>
          <p:nvPr/>
        </p:nvSpPr>
        <p:spPr>
          <a:xfrm>
            <a:off x="868680" y="1847088"/>
            <a:ext cx="329184" cy="329184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47" name="Text 45"/>
          <p:cNvSpPr/>
          <p:nvPr/>
        </p:nvSpPr>
        <p:spPr>
          <a:xfrm>
            <a:off x="868680" y="18470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48" name="Text 46"/>
          <p:cNvSpPr/>
          <p:nvPr/>
        </p:nvSpPr>
        <p:spPr>
          <a:xfrm>
            <a:off x="1362456" y="1810512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£75 CD player is reduced by 30% in a sale.</a:t>
            </a:r>
            <a:endParaRPr lang="en-US" sz="1400" dirty="0"/>
          </a:p>
        </p:txBody>
      </p:sp>
      <p:sp>
        <p:nvSpPr>
          <p:cNvPr id="49" name="Shape 47"/>
          <p:cNvSpPr/>
          <p:nvPr/>
        </p:nvSpPr>
        <p:spPr>
          <a:xfrm>
            <a:off x="868680" y="2578608"/>
            <a:ext cx="329184" cy="329184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50" name="Text 48"/>
          <p:cNvSpPr/>
          <p:nvPr/>
        </p:nvSpPr>
        <p:spPr>
          <a:xfrm>
            <a:off x="868680" y="25786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51" name="Text 49"/>
          <p:cNvSpPr/>
          <p:nvPr/>
        </p:nvSpPr>
        <p:spPr>
          <a:xfrm>
            <a:off x="1362456" y="2542032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 − 30% = 70%</a:t>
            </a:r>
            <a:endParaRPr lang="en-US" sz="1400" dirty="0"/>
          </a:p>
        </p:txBody>
      </p:sp>
      <p:sp>
        <p:nvSpPr>
          <p:cNvPr id="52" name="Shape 50"/>
          <p:cNvSpPr/>
          <p:nvPr/>
        </p:nvSpPr>
        <p:spPr>
          <a:xfrm>
            <a:off x="868680" y="3310128"/>
            <a:ext cx="329184" cy="329184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53" name="Text 51"/>
          <p:cNvSpPr/>
          <p:nvPr/>
        </p:nvSpPr>
        <p:spPr>
          <a:xfrm>
            <a:off x="868680" y="331012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54" name="Text 52"/>
          <p:cNvSpPr/>
          <p:nvPr/>
        </p:nvSpPr>
        <p:spPr>
          <a:xfrm>
            <a:off x="1362456" y="3273552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Multiplier = 0.7</a:t>
            </a:r>
            <a:endParaRPr lang="en-US" sz="1400" dirty="0"/>
          </a:p>
        </p:txBody>
      </p:sp>
      <p:sp>
        <p:nvSpPr>
          <p:cNvPr id="55" name="Shape 53"/>
          <p:cNvSpPr/>
          <p:nvPr/>
        </p:nvSpPr>
        <p:spPr>
          <a:xfrm>
            <a:off x="868680" y="4041648"/>
            <a:ext cx="329184" cy="329184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56" name="Text 54"/>
          <p:cNvSpPr/>
          <p:nvPr/>
        </p:nvSpPr>
        <p:spPr>
          <a:xfrm>
            <a:off x="868680" y="40416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57" name="Text 55"/>
          <p:cNvSpPr/>
          <p:nvPr/>
        </p:nvSpPr>
        <p:spPr>
          <a:xfrm>
            <a:off x="1362456" y="4005072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0.7 × £75  =  </a:t>
            </a:r>
            <a:pPr indent="0" marL="0">
              <a:buNone/>
            </a:pPr>
            <a:r>
              <a:rPr lang="en-US" sz="1400" b="1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£52.50</a:t>
            </a:r>
            <a:endParaRPr lang="en-US" sz="1400" dirty="0"/>
          </a:p>
        </p:txBody>
      </p:sp>
      <p:sp>
        <p:nvSpPr>
          <p:cNvPr id="58" name="Shape 56"/>
          <p:cNvSpPr/>
          <p:nvPr/>
        </p:nvSpPr>
        <p:spPr>
          <a:xfrm>
            <a:off x="566928" y="5074920"/>
            <a:ext cx="11064240" cy="1143000"/>
          </a:xfrm>
          <a:prstGeom prst="roundRect">
            <a:avLst>
              <a:gd name="adj" fmla="val 4800"/>
            </a:avLst>
          </a:prstGeom>
          <a:solidFill>
            <a:srgbClr val="16261F"/>
          </a:solidFill>
          <a:ln/>
          <a:effectLst>
            <a:outerShdw sx="100000" sy="100000" kx="0" ky="0" algn="bl" rotWithShape="0" blurRad="88900" dist="38100" dir="5400000">
              <a:srgbClr val="000000">
                <a:alpha val="18000"/>
              </a:srgbClr>
            </a:outerShdw>
          </a:effectLst>
        </p:spPr>
      </p:sp>
      <p:sp>
        <p:nvSpPr>
          <p:cNvPr id="59" name="Text 57"/>
          <p:cNvSpPr/>
          <p:nvPr/>
        </p:nvSpPr>
        <p:spPr>
          <a:xfrm>
            <a:off x="841248" y="5074920"/>
            <a:ext cx="10515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E0AC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Sale price = £52.50</a:t>
            </a:r>
            <a:endParaRPr lang="en-US" sz="2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50" kern="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TURN · PRACTICE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Increase &amp; Decrease</a:t>
            </a:r>
            <a:endParaRPr lang="en-US" sz="2700" dirty="0"/>
          </a:p>
        </p:txBody>
      </p:sp>
      <p:sp>
        <p:nvSpPr>
          <p:cNvPr id="41" name="Shape 39"/>
          <p:cNvSpPr/>
          <p:nvPr/>
        </p:nvSpPr>
        <p:spPr>
          <a:xfrm>
            <a:off x="566928" y="1417320"/>
            <a:ext cx="11064240" cy="548640"/>
          </a:xfrm>
          <a:prstGeom prst="roundRect">
            <a:avLst>
              <a:gd name="adj" fmla="val 10000"/>
            </a:avLst>
          </a:prstGeom>
          <a:solidFill>
            <a:srgbClr val="16261F"/>
          </a:solidFill>
          <a:ln/>
          <a:effectLst>
            <a:outerShdw sx="100000" sy="100000" kx="0" ky="0" algn="bl" rotWithShape="0" blurRad="88900" dist="38100" dir="5400000">
              <a:srgbClr val="000000">
                <a:alpha val="18000"/>
              </a:srgbClr>
            </a:outerShdw>
          </a:effectLst>
        </p:spPr>
      </p:sp>
      <p:sp>
        <p:nvSpPr>
          <p:cNvPr id="42" name="Text 40"/>
          <p:cNvSpPr/>
          <p:nvPr/>
        </p:nvSpPr>
        <p:spPr>
          <a:xfrm>
            <a:off x="886968" y="141732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EDE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 the multiplier, then multiply. Watch the units.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566928" y="2103120"/>
            <a:ext cx="5394960" cy="603504"/>
          </a:xfrm>
          <a:prstGeom prst="roundRect">
            <a:avLst>
              <a:gd name="adj" fmla="val 9091"/>
            </a:avLst>
          </a:prstGeom>
          <a:solidFill>
            <a:srgbClr val="EEF1E8"/>
          </a:solidFill>
          <a:ln/>
          <a:effectLst>
            <a:outerShdw sx="100000" sy="100000" kx="0" ky="0" algn="bl" rotWithShape="0" blurRad="88900" dist="38100" dir="5400000">
              <a:srgbClr val="000000">
                <a:alpha val="18000"/>
              </a:srgbClr>
            </a:outerShdw>
          </a:effectLst>
        </p:spPr>
      </p:sp>
      <p:sp>
        <p:nvSpPr>
          <p:cNvPr id="44" name="Shape 42"/>
          <p:cNvSpPr/>
          <p:nvPr/>
        </p:nvSpPr>
        <p:spPr>
          <a:xfrm>
            <a:off x="749808" y="2221992"/>
            <a:ext cx="365760" cy="365760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45" name="Text 43"/>
          <p:cNvSpPr/>
          <p:nvPr/>
        </p:nvSpPr>
        <p:spPr>
          <a:xfrm>
            <a:off x="749808" y="22219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400" dirty="0"/>
          </a:p>
        </p:txBody>
      </p:sp>
      <p:sp>
        <p:nvSpPr>
          <p:cNvPr id="46" name="Text 44"/>
          <p:cNvSpPr/>
          <p:nvPr/>
        </p:nvSpPr>
        <p:spPr>
          <a:xfrm>
            <a:off x="1252728" y="2103120"/>
            <a:ext cx="3566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Increase QAR50 by 15%</a:t>
            </a:r>
            <a:endParaRPr lang="en-US" sz="1350" dirty="0"/>
          </a:p>
        </p:txBody>
      </p:sp>
      <p:sp>
        <p:nvSpPr>
          <p:cNvPr id="47" name="Text 45"/>
          <p:cNvSpPr/>
          <p:nvPr/>
        </p:nvSpPr>
        <p:spPr>
          <a:xfrm>
            <a:off x="4681728" y="2103120"/>
            <a:ext cx="1234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C84F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= 57.50</a:t>
            </a:r>
            <a:endParaRPr lang="en-US" sz="1300" dirty="0"/>
          </a:p>
        </p:txBody>
      </p:sp>
      <p:sp>
        <p:nvSpPr>
          <p:cNvPr id="48" name="Shape 46"/>
          <p:cNvSpPr/>
          <p:nvPr/>
        </p:nvSpPr>
        <p:spPr>
          <a:xfrm>
            <a:off x="566928" y="2816352"/>
            <a:ext cx="5394960" cy="603504"/>
          </a:xfrm>
          <a:prstGeom prst="roundRect">
            <a:avLst>
              <a:gd name="adj" fmla="val 9091"/>
            </a:avLst>
          </a:prstGeom>
          <a:solidFill>
            <a:srgbClr val="FBF3DD"/>
          </a:solidFill>
          <a:ln/>
          <a:effectLst>
            <a:outerShdw sx="100000" sy="100000" kx="0" ky="0" algn="bl" rotWithShape="0" blurRad="88900" dist="38100" dir="5400000">
              <a:srgbClr val="000000">
                <a:alpha val="18000"/>
              </a:srgbClr>
            </a:outerShdw>
          </a:effectLst>
        </p:spPr>
      </p:sp>
      <p:sp>
        <p:nvSpPr>
          <p:cNvPr id="49" name="Shape 47"/>
          <p:cNvSpPr/>
          <p:nvPr/>
        </p:nvSpPr>
        <p:spPr>
          <a:xfrm>
            <a:off x="749808" y="2935224"/>
            <a:ext cx="365760" cy="365760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50" name="Text 48"/>
          <p:cNvSpPr/>
          <p:nvPr/>
        </p:nvSpPr>
        <p:spPr>
          <a:xfrm>
            <a:off x="749808" y="293522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400" dirty="0"/>
          </a:p>
        </p:txBody>
      </p:sp>
      <p:sp>
        <p:nvSpPr>
          <p:cNvPr id="51" name="Text 49"/>
          <p:cNvSpPr/>
          <p:nvPr/>
        </p:nvSpPr>
        <p:spPr>
          <a:xfrm>
            <a:off x="1252728" y="2816352"/>
            <a:ext cx="3566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Decrease QAR50 by 15%</a:t>
            </a:r>
            <a:endParaRPr lang="en-US" sz="1350" dirty="0"/>
          </a:p>
        </p:txBody>
      </p:sp>
      <p:sp>
        <p:nvSpPr>
          <p:cNvPr id="52" name="Text 50"/>
          <p:cNvSpPr/>
          <p:nvPr/>
        </p:nvSpPr>
        <p:spPr>
          <a:xfrm>
            <a:off x="4681728" y="2816352"/>
            <a:ext cx="1234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C84F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= 42.50</a:t>
            </a:r>
            <a:endParaRPr lang="en-US" sz="1300" dirty="0"/>
          </a:p>
        </p:txBody>
      </p:sp>
      <p:sp>
        <p:nvSpPr>
          <p:cNvPr id="53" name="Shape 51"/>
          <p:cNvSpPr/>
          <p:nvPr/>
        </p:nvSpPr>
        <p:spPr>
          <a:xfrm>
            <a:off x="566928" y="3529584"/>
            <a:ext cx="5394960" cy="603504"/>
          </a:xfrm>
          <a:prstGeom prst="roundRect">
            <a:avLst>
              <a:gd name="adj" fmla="val 9091"/>
            </a:avLst>
          </a:prstGeom>
          <a:solidFill>
            <a:srgbClr val="EEF1E8"/>
          </a:solidFill>
          <a:ln/>
          <a:effectLst>
            <a:outerShdw sx="100000" sy="100000" kx="0" ky="0" algn="bl" rotWithShape="0" blurRad="88900" dist="38100" dir="5400000">
              <a:srgbClr val="000000">
                <a:alpha val="18000"/>
              </a:srgbClr>
            </a:outerShdw>
          </a:effectLst>
        </p:spPr>
      </p:sp>
      <p:sp>
        <p:nvSpPr>
          <p:cNvPr id="54" name="Shape 52"/>
          <p:cNvSpPr/>
          <p:nvPr/>
        </p:nvSpPr>
        <p:spPr>
          <a:xfrm>
            <a:off x="749808" y="3648456"/>
            <a:ext cx="365760" cy="365760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55" name="Text 53"/>
          <p:cNvSpPr/>
          <p:nvPr/>
        </p:nvSpPr>
        <p:spPr>
          <a:xfrm>
            <a:off x="749808" y="364845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400" dirty="0"/>
          </a:p>
        </p:txBody>
      </p:sp>
      <p:sp>
        <p:nvSpPr>
          <p:cNvPr id="56" name="Text 54"/>
          <p:cNvSpPr/>
          <p:nvPr/>
        </p:nvSpPr>
        <p:spPr>
          <a:xfrm>
            <a:off x="1252728" y="3529584"/>
            <a:ext cx="3566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Increase 160 m by 25%</a:t>
            </a:r>
            <a:endParaRPr lang="en-US" sz="1350" dirty="0"/>
          </a:p>
        </p:txBody>
      </p:sp>
      <p:sp>
        <p:nvSpPr>
          <p:cNvPr id="57" name="Text 55"/>
          <p:cNvSpPr/>
          <p:nvPr/>
        </p:nvSpPr>
        <p:spPr>
          <a:xfrm>
            <a:off x="4681728" y="3529584"/>
            <a:ext cx="1234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C84F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= 200 m</a:t>
            </a:r>
            <a:endParaRPr lang="en-US" sz="1300" dirty="0"/>
          </a:p>
        </p:txBody>
      </p:sp>
      <p:sp>
        <p:nvSpPr>
          <p:cNvPr id="58" name="Shape 56"/>
          <p:cNvSpPr/>
          <p:nvPr/>
        </p:nvSpPr>
        <p:spPr>
          <a:xfrm>
            <a:off x="566928" y="4242816"/>
            <a:ext cx="5394960" cy="603504"/>
          </a:xfrm>
          <a:prstGeom prst="roundRect">
            <a:avLst>
              <a:gd name="adj" fmla="val 9091"/>
            </a:avLst>
          </a:prstGeom>
          <a:solidFill>
            <a:srgbClr val="FBF3DD"/>
          </a:solidFill>
          <a:ln/>
          <a:effectLst>
            <a:outerShdw sx="100000" sy="100000" kx="0" ky="0" algn="bl" rotWithShape="0" blurRad="88900" dist="38100" dir="5400000">
              <a:srgbClr val="000000">
                <a:alpha val="18000"/>
              </a:srgbClr>
            </a:outerShdw>
          </a:effectLst>
        </p:spPr>
      </p:sp>
      <p:sp>
        <p:nvSpPr>
          <p:cNvPr id="59" name="Shape 57"/>
          <p:cNvSpPr/>
          <p:nvPr/>
        </p:nvSpPr>
        <p:spPr>
          <a:xfrm>
            <a:off x="749808" y="4361688"/>
            <a:ext cx="365760" cy="365760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60" name="Text 58"/>
          <p:cNvSpPr/>
          <p:nvPr/>
        </p:nvSpPr>
        <p:spPr>
          <a:xfrm>
            <a:off x="749808" y="436168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400" dirty="0"/>
          </a:p>
        </p:txBody>
      </p:sp>
      <p:sp>
        <p:nvSpPr>
          <p:cNvPr id="61" name="Text 59"/>
          <p:cNvSpPr/>
          <p:nvPr/>
        </p:nvSpPr>
        <p:spPr>
          <a:xfrm>
            <a:off x="1252728" y="4242816"/>
            <a:ext cx="3566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Decrease 360° by 10%</a:t>
            </a:r>
            <a:endParaRPr lang="en-US" sz="1350" dirty="0"/>
          </a:p>
        </p:txBody>
      </p:sp>
      <p:sp>
        <p:nvSpPr>
          <p:cNvPr id="62" name="Text 60"/>
          <p:cNvSpPr/>
          <p:nvPr/>
        </p:nvSpPr>
        <p:spPr>
          <a:xfrm>
            <a:off x="4681728" y="4242816"/>
            <a:ext cx="1234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C84F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= 324°</a:t>
            </a:r>
            <a:endParaRPr lang="en-US" sz="1300" dirty="0"/>
          </a:p>
        </p:txBody>
      </p:sp>
      <p:sp>
        <p:nvSpPr>
          <p:cNvPr id="63" name="Shape 61"/>
          <p:cNvSpPr/>
          <p:nvPr/>
        </p:nvSpPr>
        <p:spPr>
          <a:xfrm>
            <a:off x="566928" y="4956048"/>
            <a:ext cx="5394960" cy="603504"/>
          </a:xfrm>
          <a:prstGeom prst="roundRect">
            <a:avLst>
              <a:gd name="adj" fmla="val 9091"/>
            </a:avLst>
          </a:prstGeom>
          <a:solidFill>
            <a:srgbClr val="EEF1E8"/>
          </a:solidFill>
          <a:ln/>
          <a:effectLst>
            <a:outerShdw sx="100000" sy="100000" kx="0" ky="0" algn="bl" rotWithShape="0" blurRad="88900" dist="38100" dir="5400000">
              <a:srgbClr val="000000">
                <a:alpha val="18000"/>
              </a:srgbClr>
            </a:outerShdw>
          </a:effectLst>
        </p:spPr>
      </p:sp>
      <p:sp>
        <p:nvSpPr>
          <p:cNvPr id="64" name="Shape 62"/>
          <p:cNvSpPr/>
          <p:nvPr/>
        </p:nvSpPr>
        <p:spPr>
          <a:xfrm>
            <a:off x="749808" y="5074920"/>
            <a:ext cx="365760" cy="365760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65" name="Text 63"/>
          <p:cNvSpPr/>
          <p:nvPr/>
        </p:nvSpPr>
        <p:spPr>
          <a:xfrm>
            <a:off x="749808" y="50749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400" dirty="0"/>
          </a:p>
        </p:txBody>
      </p:sp>
      <p:sp>
        <p:nvSpPr>
          <p:cNvPr id="66" name="Text 64"/>
          <p:cNvSpPr/>
          <p:nvPr/>
        </p:nvSpPr>
        <p:spPr>
          <a:xfrm>
            <a:off x="1252728" y="4956048"/>
            <a:ext cx="3566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Increase 60 kg by 5%</a:t>
            </a:r>
            <a:endParaRPr lang="en-US" sz="1350" dirty="0"/>
          </a:p>
        </p:txBody>
      </p:sp>
      <p:sp>
        <p:nvSpPr>
          <p:cNvPr id="67" name="Text 65"/>
          <p:cNvSpPr/>
          <p:nvPr/>
        </p:nvSpPr>
        <p:spPr>
          <a:xfrm>
            <a:off x="4681728" y="4956048"/>
            <a:ext cx="1234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C84F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= 63 kg</a:t>
            </a:r>
            <a:endParaRPr lang="en-US" sz="1300" dirty="0"/>
          </a:p>
        </p:txBody>
      </p:sp>
      <p:sp>
        <p:nvSpPr>
          <p:cNvPr id="68" name="Shape 66"/>
          <p:cNvSpPr/>
          <p:nvPr/>
        </p:nvSpPr>
        <p:spPr>
          <a:xfrm>
            <a:off x="6217920" y="2103120"/>
            <a:ext cx="5394960" cy="603504"/>
          </a:xfrm>
          <a:prstGeom prst="roundRect">
            <a:avLst>
              <a:gd name="adj" fmla="val 9091"/>
            </a:avLst>
          </a:prstGeom>
          <a:solidFill>
            <a:srgbClr val="FBF3DD"/>
          </a:solidFill>
          <a:ln/>
          <a:effectLst>
            <a:outerShdw sx="100000" sy="100000" kx="0" ky="0" algn="bl" rotWithShape="0" blurRad="88900" dist="38100" dir="5400000">
              <a:srgbClr val="000000">
                <a:alpha val="18000"/>
              </a:srgbClr>
            </a:outerShdw>
          </a:effectLst>
        </p:spPr>
      </p:sp>
      <p:sp>
        <p:nvSpPr>
          <p:cNvPr id="69" name="Shape 67"/>
          <p:cNvSpPr/>
          <p:nvPr/>
        </p:nvSpPr>
        <p:spPr>
          <a:xfrm>
            <a:off x="6400800" y="2221992"/>
            <a:ext cx="365760" cy="365760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70" name="Text 68"/>
          <p:cNvSpPr/>
          <p:nvPr/>
        </p:nvSpPr>
        <p:spPr>
          <a:xfrm>
            <a:off x="6400800" y="22219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400" dirty="0"/>
          </a:p>
        </p:txBody>
      </p:sp>
      <p:sp>
        <p:nvSpPr>
          <p:cNvPr id="71" name="Text 69"/>
          <p:cNvSpPr/>
          <p:nvPr/>
        </p:nvSpPr>
        <p:spPr>
          <a:xfrm>
            <a:off x="6903720" y="2103120"/>
            <a:ext cx="3566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Decrease QAR1700 by 13%</a:t>
            </a:r>
            <a:endParaRPr lang="en-US" sz="1350" dirty="0"/>
          </a:p>
        </p:txBody>
      </p:sp>
      <p:sp>
        <p:nvSpPr>
          <p:cNvPr id="72" name="Text 70"/>
          <p:cNvSpPr/>
          <p:nvPr/>
        </p:nvSpPr>
        <p:spPr>
          <a:xfrm>
            <a:off x="10332720" y="2103120"/>
            <a:ext cx="1234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C84F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= 1479</a:t>
            </a:r>
            <a:endParaRPr lang="en-US" sz="1300" dirty="0"/>
          </a:p>
        </p:txBody>
      </p:sp>
      <p:sp>
        <p:nvSpPr>
          <p:cNvPr id="73" name="Shape 71"/>
          <p:cNvSpPr/>
          <p:nvPr/>
        </p:nvSpPr>
        <p:spPr>
          <a:xfrm>
            <a:off x="6217920" y="2816352"/>
            <a:ext cx="5394960" cy="603504"/>
          </a:xfrm>
          <a:prstGeom prst="roundRect">
            <a:avLst>
              <a:gd name="adj" fmla="val 9091"/>
            </a:avLst>
          </a:prstGeom>
          <a:solidFill>
            <a:srgbClr val="EEF1E8"/>
          </a:solidFill>
          <a:ln/>
          <a:effectLst>
            <a:outerShdw sx="100000" sy="100000" kx="0" ky="0" algn="bl" rotWithShape="0" blurRad="88900" dist="38100" dir="5400000">
              <a:srgbClr val="000000">
                <a:alpha val="18000"/>
              </a:srgbClr>
            </a:outerShdw>
          </a:effectLst>
        </p:spPr>
      </p:sp>
      <p:sp>
        <p:nvSpPr>
          <p:cNvPr id="74" name="Shape 72"/>
          <p:cNvSpPr/>
          <p:nvPr/>
        </p:nvSpPr>
        <p:spPr>
          <a:xfrm>
            <a:off x="6400800" y="2935224"/>
            <a:ext cx="365760" cy="365760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75" name="Text 73"/>
          <p:cNvSpPr/>
          <p:nvPr/>
        </p:nvSpPr>
        <p:spPr>
          <a:xfrm>
            <a:off x="6400800" y="293522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1400" dirty="0"/>
          </a:p>
        </p:txBody>
      </p:sp>
      <p:sp>
        <p:nvSpPr>
          <p:cNvPr id="76" name="Text 74"/>
          <p:cNvSpPr/>
          <p:nvPr/>
        </p:nvSpPr>
        <p:spPr>
          <a:xfrm>
            <a:off x="6903720" y="2816352"/>
            <a:ext cx="3566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Increase QAR240 by 45%</a:t>
            </a:r>
            <a:endParaRPr lang="en-US" sz="1350" dirty="0"/>
          </a:p>
        </p:txBody>
      </p:sp>
      <p:sp>
        <p:nvSpPr>
          <p:cNvPr id="77" name="Text 75"/>
          <p:cNvSpPr/>
          <p:nvPr/>
        </p:nvSpPr>
        <p:spPr>
          <a:xfrm>
            <a:off x="10332720" y="2816352"/>
            <a:ext cx="1234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C84F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= 348</a:t>
            </a:r>
            <a:endParaRPr lang="en-US" sz="1300" dirty="0"/>
          </a:p>
        </p:txBody>
      </p:sp>
      <p:sp>
        <p:nvSpPr>
          <p:cNvPr id="78" name="Shape 76"/>
          <p:cNvSpPr/>
          <p:nvPr/>
        </p:nvSpPr>
        <p:spPr>
          <a:xfrm>
            <a:off x="6217920" y="3529584"/>
            <a:ext cx="5394960" cy="603504"/>
          </a:xfrm>
          <a:prstGeom prst="roundRect">
            <a:avLst>
              <a:gd name="adj" fmla="val 9091"/>
            </a:avLst>
          </a:prstGeom>
          <a:solidFill>
            <a:srgbClr val="FBF3DD"/>
          </a:solidFill>
          <a:ln/>
          <a:effectLst>
            <a:outerShdw sx="100000" sy="100000" kx="0" ky="0" algn="bl" rotWithShape="0" blurRad="88900" dist="38100" dir="5400000">
              <a:srgbClr val="000000">
                <a:alpha val="18000"/>
              </a:srgbClr>
            </a:outerShdw>
          </a:effectLst>
        </p:spPr>
      </p:sp>
      <p:sp>
        <p:nvSpPr>
          <p:cNvPr id="79" name="Shape 77"/>
          <p:cNvSpPr/>
          <p:nvPr/>
        </p:nvSpPr>
        <p:spPr>
          <a:xfrm>
            <a:off x="6400800" y="3648456"/>
            <a:ext cx="365760" cy="365760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80" name="Text 78"/>
          <p:cNvSpPr/>
          <p:nvPr/>
        </p:nvSpPr>
        <p:spPr>
          <a:xfrm>
            <a:off x="6400800" y="364845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1400" dirty="0"/>
          </a:p>
        </p:txBody>
      </p:sp>
      <p:sp>
        <p:nvSpPr>
          <p:cNvPr id="81" name="Text 79"/>
          <p:cNvSpPr/>
          <p:nvPr/>
        </p:nvSpPr>
        <p:spPr>
          <a:xfrm>
            <a:off x="6903720" y="3529584"/>
            <a:ext cx="3566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Decrease 240 m by 36%</a:t>
            </a:r>
            <a:endParaRPr lang="en-US" sz="1350" dirty="0"/>
          </a:p>
        </p:txBody>
      </p:sp>
      <p:sp>
        <p:nvSpPr>
          <p:cNvPr id="82" name="Text 80"/>
          <p:cNvSpPr/>
          <p:nvPr/>
        </p:nvSpPr>
        <p:spPr>
          <a:xfrm>
            <a:off x="10332720" y="3529584"/>
            <a:ext cx="1234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C84F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= 153.6 m</a:t>
            </a:r>
            <a:endParaRPr lang="en-US" sz="1300" dirty="0"/>
          </a:p>
        </p:txBody>
      </p:sp>
      <p:sp>
        <p:nvSpPr>
          <p:cNvPr id="83" name="Shape 81"/>
          <p:cNvSpPr/>
          <p:nvPr/>
        </p:nvSpPr>
        <p:spPr>
          <a:xfrm>
            <a:off x="6217920" y="4242816"/>
            <a:ext cx="5394960" cy="603504"/>
          </a:xfrm>
          <a:prstGeom prst="roundRect">
            <a:avLst>
              <a:gd name="adj" fmla="val 9091"/>
            </a:avLst>
          </a:prstGeom>
          <a:solidFill>
            <a:srgbClr val="EEF1E8"/>
          </a:solidFill>
          <a:ln/>
          <a:effectLst>
            <a:outerShdw sx="100000" sy="100000" kx="0" ky="0" algn="bl" rotWithShape="0" blurRad="88900" dist="38100" dir="5400000">
              <a:srgbClr val="000000">
                <a:alpha val="18000"/>
              </a:srgbClr>
            </a:outerShdw>
          </a:effectLst>
        </p:spPr>
      </p:sp>
      <p:sp>
        <p:nvSpPr>
          <p:cNvPr id="84" name="Shape 82"/>
          <p:cNvSpPr/>
          <p:nvPr/>
        </p:nvSpPr>
        <p:spPr>
          <a:xfrm>
            <a:off x="6400800" y="4361688"/>
            <a:ext cx="365760" cy="365760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85" name="Text 83"/>
          <p:cNvSpPr/>
          <p:nvPr/>
        </p:nvSpPr>
        <p:spPr>
          <a:xfrm>
            <a:off x="6400800" y="436168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</a:t>
            </a:r>
            <a:endParaRPr lang="en-US" sz="1400" dirty="0"/>
          </a:p>
        </p:txBody>
      </p:sp>
      <p:sp>
        <p:nvSpPr>
          <p:cNvPr id="86" name="Text 84"/>
          <p:cNvSpPr/>
          <p:nvPr/>
        </p:nvSpPr>
        <p:spPr>
          <a:xfrm>
            <a:off x="6903720" y="4242816"/>
            <a:ext cx="3566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Increase 150 g by 12%</a:t>
            </a:r>
            <a:endParaRPr lang="en-US" sz="1350" dirty="0"/>
          </a:p>
        </p:txBody>
      </p:sp>
      <p:sp>
        <p:nvSpPr>
          <p:cNvPr id="87" name="Text 85"/>
          <p:cNvSpPr/>
          <p:nvPr/>
        </p:nvSpPr>
        <p:spPr>
          <a:xfrm>
            <a:off x="10332720" y="4242816"/>
            <a:ext cx="1234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C84F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= 168 g</a:t>
            </a:r>
            <a:endParaRPr lang="en-US" sz="1300" dirty="0"/>
          </a:p>
        </p:txBody>
      </p:sp>
      <p:sp>
        <p:nvSpPr>
          <p:cNvPr id="88" name="Shape 86"/>
          <p:cNvSpPr/>
          <p:nvPr/>
        </p:nvSpPr>
        <p:spPr>
          <a:xfrm>
            <a:off x="6217920" y="4956048"/>
            <a:ext cx="5394960" cy="603504"/>
          </a:xfrm>
          <a:prstGeom prst="roundRect">
            <a:avLst>
              <a:gd name="adj" fmla="val 9091"/>
            </a:avLst>
          </a:prstGeom>
          <a:solidFill>
            <a:srgbClr val="FBF3DD"/>
          </a:solidFill>
          <a:ln/>
          <a:effectLst>
            <a:outerShdw sx="100000" sy="100000" kx="0" ky="0" algn="bl" rotWithShape="0" blurRad="88900" dist="38100" dir="5400000">
              <a:srgbClr val="000000">
                <a:alpha val="18000"/>
              </a:srgbClr>
            </a:outerShdw>
          </a:effectLst>
        </p:spPr>
      </p:sp>
      <p:sp>
        <p:nvSpPr>
          <p:cNvPr id="89" name="Shape 87"/>
          <p:cNvSpPr/>
          <p:nvPr/>
        </p:nvSpPr>
        <p:spPr>
          <a:xfrm>
            <a:off x="6400800" y="5074920"/>
            <a:ext cx="365760" cy="365760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90" name="Text 88"/>
          <p:cNvSpPr/>
          <p:nvPr/>
        </p:nvSpPr>
        <p:spPr>
          <a:xfrm>
            <a:off x="6400800" y="50749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1400" dirty="0"/>
          </a:p>
        </p:txBody>
      </p:sp>
      <p:sp>
        <p:nvSpPr>
          <p:cNvPr id="91" name="Text 89"/>
          <p:cNvSpPr/>
          <p:nvPr/>
        </p:nvSpPr>
        <p:spPr>
          <a:xfrm>
            <a:off x="6903720" y="4956048"/>
            <a:ext cx="3566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Decrease QAR300 by 43%</a:t>
            </a:r>
            <a:endParaRPr lang="en-US" sz="1350" dirty="0"/>
          </a:p>
        </p:txBody>
      </p:sp>
      <p:sp>
        <p:nvSpPr>
          <p:cNvPr id="92" name="Text 90"/>
          <p:cNvSpPr/>
          <p:nvPr/>
        </p:nvSpPr>
        <p:spPr>
          <a:xfrm>
            <a:off x="10332720" y="4956048"/>
            <a:ext cx="1234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C84F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= 171</a:t>
            </a:r>
            <a:endParaRPr lang="en-US" sz="1300" dirty="0"/>
          </a:p>
        </p:txBody>
      </p:sp>
      <p:sp>
        <p:nvSpPr>
          <p:cNvPr id="93" name="Text 91"/>
          <p:cNvSpPr/>
          <p:nvPr/>
        </p:nvSpPr>
        <p:spPr>
          <a:xfrm>
            <a:off x="566928" y="585216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Answers shown — cover the right column and work each one out first.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50" kern="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CONTEXT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Sales, Discounts &amp; VAT</a:t>
            </a:r>
            <a:endParaRPr lang="en-US" sz="2700" dirty="0"/>
          </a:p>
        </p:txBody>
      </p:sp>
      <p:sp>
        <p:nvSpPr>
          <p:cNvPr id="41" name="Shape 39"/>
          <p:cNvSpPr/>
          <p:nvPr/>
        </p:nvSpPr>
        <p:spPr>
          <a:xfrm>
            <a:off x="566928" y="1463040"/>
            <a:ext cx="5440680" cy="2286000"/>
          </a:xfrm>
          <a:prstGeom prst="roundRect">
            <a:avLst>
              <a:gd name="adj" fmla="val 2400"/>
            </a:avLst>
          </a:prstGeom>
          <a:solidFill>
            <a:srgbClr val="FBF3DD"/>
          </a:solidFill>
          <a:ln/>
          <a:effectLst>
            <a:outerShdw sx="100000" sy="100000" kx="0" ky="0" algn="bl" rotWithShape="0" blurRad="88900" dist="38100" dir="5400000">
              <a:srgbClr val="000000">
                <a:alpha val="18000"/>
              </a:srgbClr>
            </a:outerShdw>
          </a:effectLst>
        </p:spPr>
      </p:sp>
      <p:sp>
        <p:nvSpPr>
          <p:cNvPr id="42" name="Text 40"/>
          <p:cNvSpPr/>
          <p:nvPr/>
        </p:nvSpPr>
        <p:spPr>
          <a:xfrm>
            <a:off x="932688" y="1700784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Discount: 10% off QAR400</a:t>
            </a:r>
            <a:endParaRPr lang="en-US" sz="1700" dirty="0"/>
          </a:p>
        </p:txBody>
      </p:sp>
      <p:sp>
        <p:nvSpPr>
          <p:cNvPr id="43" name="Text 41"/>
          <p:cNvSpPr/>
          <p:nvPr/>
        </p:nvSpPr>
        <p:spPr>
          <a:xfrm>
            <a:off x="914400" y="2286000"/>
            <a:ext cx="47548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70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Multiplier = 0.90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0.9 × 400 = </a:t>
            </a:r>
            <a:pPr indent="0" marL="0">
              <a:buNone/>
            </a:pPr>
            <a:r>
              <a:rPr lang="en-US" sz="1700" b="1" dirty="0">
                <a:solidFill>
                  <a:srgbClr val="C84F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QAR360</a:t>
            </a:r>
            <a:pPr indent="0" marL="0">
              <a:buNone/>
            </a:pPr>
            <a:r>
              <a:rPr lang="en-US" sz="1200" i="1" dirty="0">
                <a:solidFill>
                  <a:srgbClr val="5C6B6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    (or 400 − 40)</a:t>
            </a:r>
            <a:endParaRPr lang="en-US" sz="1700" dirty="0"/>
          </a:p>
        </p:txBody>
      </p:sp>
      <p:sp>
        <p:nvSpPr>
          <p:cNvPr id="44" name="Shape 42"/>
          <p:cNvSpPr/>
          <p:nvPr/>
        </p:nvSpPr>
        <p:spPr>
          <a:xfrm>
            <a:off x="6190488" y="1463040"/>
            <a:ext cx="5440680" cy="2286000"/>
          </a:xfrm>
          <a:prstGeom prst="roundRect">
            <a:avLst>
              <a:gd name="adj" fmla="val 2400"/>
            </a:avLst>
          </a:prstGeom>
          <a:solidFill>
            <a:srgbClr val="EEF1E8"/>
          </a:solidFill>
          <a:ln/>
          <a:effectLst>
            <a:outerShdw sx="100000" sy="100000" kx="0" ky="0" algn="bl" rotWithShape="0" blurRad="88900" dist="38100" dir="5400000">
              <a:srgbClr val="000000">
                <a:alpha val="18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6556248" y="1700784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Add 20% VAT to QAR320</a:t>
            </a:r>
            <a:endParaRPr lang="en-US" sz="1700" dirty="0"/>
          </a:p>
        </p:txBody>
      </p:sp>
      <p:sp>
        <p:nvSpPr>
          <p:cNvPr id="46" name="Text 44"/>
          <p:cNvSpPr/>
          <p:nvPr/>
        </p:nvSpPr>
        <p:spPr>
          <a:xfrm>
            <a:off x="6537960" y="2286000"/>
            <a:ext cx="47548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70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Multiplier = 1.20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1.2 × 320 = </a:t>
            </a:r>
            <a:pPr indent="0" marL="0">
              <a:buNone/>
            </a:pPr>
            <a:r>
              <a:rPr lang="en-US" sz="1700" b="1" dirty="0">
                <a:solidFill>
                  <a:srgbClr val="C84F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QAR384</a:t>
            </a:r>
            <a:pPr indent="0" marL="0">
              <a:buNone/>
            </a:pPr>
            <a:r>
              <a:rPr lang="en-US" sz="1200" i="1" dirty="0">
                <a:solidFill>
                  <a:srgbClr val="5C6B6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    (or 320 + 64)</a:t>
            </a:r>
            <a:endParaRPr lang="en-US" sz="1700" dirty="0"/>
          </a:p>
        </p:txBody>
      </p:sp>
      <p:sp>
        <p:nvSpPr>
          <p:cNvPr id="47" name="Shape 45"/>
          <p:cNvSpPr/>
          <p:nvPr/>
        </p:nvSpPr>
        <p:spPr>
          <a:xfrm>
            <a:off x="566928" y="3977640"/>
            <a:ext cx="11064240" cy="566928"/>
          </a:xfrm>
          <a:prstGeom prst="roundRect">
            <a:avLst>
              <a:gd name="adj" fmla="val 9677"/>
            </a:avLst>
          </a:prstGeom>
          <a:solidFill>
            <a:srgbClr val="16261F"/>
          </a:solidFill>
          <a:ln/>
          <a:effectLst>
            <a:outerShdw sx="100000" sy="100000" kx="0" ky="0" algn="bl" rotWithShape="0" blurRad="88900" dist="38100" dir="5400000">
              <a:srgbClr val="000000">
                <a:alpha val="18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886968" y="3977640"/>
            <a:ext cx="10424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E0A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try (10% off): </a:t>
            </a:r>
            <a:pPr algn="l" indent="0" marL="0">
              <a:buNone/>
            </a:pPr>
            <a:r>
              <a:rPr lang="en-US" sz="1300" dirty="0">
                <a:solidFill>
                  <a:srgbClr val="EDE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iPad QAR350, Nissan QAR15000, Mini QAR13000.   (50% off): Holiday QAR3640, Kindle QAR69.</a:t>
            </a:r>
            <a:endParaRPr lang="en-US" sz="1300" dirty="0"/>
          </a:p>
        </p:txBody>
      </p:sp>
      <p:sp>
        <p:nvSpPr>
          <p:cNvPr id="49" name="Shape 47"/>
          <p:cNvSpPr/>
          <p:nvPr/>
        </p:nvSpPr>
        <p:spPr>
          <a:xfrm>
            <a:off x="566928" y="4663440"/>
            <a:ext cx="11064240" cy="1371600"/>
          </a:xfrm>
          <a:prstGeom prst="roundRect">
            <a:avLst>
              <a:gd name="adj" fmla="val 4000"/>
            </a:avLst>
          </a:prstGeom>
          <a:solidFill>
            <a:srgbClr val="16261F"/>
          </a:solidFill>
          <a:ln/>
        </p:spPr>
      </p:sp>
      <p:sp>
        <p:nvSpPr>
          <p:cNvPr id="50" name="Text 48"/>
          <p:cNvSpPr/>
          <p:nvPr/>
        </p:nvSpPr>
        <p:spPr>
          <a:xfrm>
            <a:off x="868680" y="4773168"/>
            <a:ext cx="10515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E0AC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Answers:  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EDEBD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iPad → QAR315      Nissan → QAR13,500      Mini → QAR11,700      Holiday → QAR1,820      Kindle → QAR34.50</a:t>
            </a:r>
            <a:endParaRPr lang="en-US" sz="1400" dirty="0"/>
          </a:p>
          <a:p>
            <a:pPr indent="0" marL="0">
              <a:buNone/>
            </a:pPr>
            <a:r>
              <a:rPr lang="en-US" sz="1250" i="1" dirty="0">
                <a:solidFill>
                  <a:srgbClr val="D9D6C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Extension:  reduce each by 20%, then add 20% VAT — do the two multipliers 0.8 then 1.2.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C2A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777240" y="640080"/>
            <a:ext cx="603504" cy="603504"/>
          </a:xfrm>
          <a:prstGeom prst="roundRect">
            <a:avLst>
              <a:gd name="adj" fmla="val 15152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777240" y="640080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8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pPr algn="ctr" indent="0" marL="0">
              <a:buNone/>
            </a:pPr>
            <a:r>
              <a:rPr lang="en-US" sz="198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π</a:t>
            </a:r>
            <a:endParaRPr lang="en-US" sz="1980" dirty="0"/>
          </a:p>
        </p:txBody>
      </p:sp>
      <p:sp>
        <p:nvSpPr>
          <p:cNvPr id="39" name="Text 37"/>
          <p:cNvSpPr/>
          <p:nvPr/>
        </p:nvSpPr>
        <p:spPr>
          <a:xfrm>
            <a:off x="1554480" y="676656"/>
            <a:ext cx="8229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E0A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3</a:t>
            </a:r>
            <a:endParaRPr lang="en-US" sz="1250" dirty="0"/>
          </a:p>
        </p:txBody>
      </p:sp>
      <p:sp>
        <p:nvSpPr>
          <p:cNvPr id="40" name="Text 38"/>
          <p:cNvSpPr/>
          <p:nvPr/>
        </p:nvSpPr>
        <p:spPr>
          <a:xfrm>
            <a:off x="777240" y="1691640"/>
            <a:ext cx="10789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E0AC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Percentage Change, Profit &amp; Loss</a:t>
            </a:r>
            <a:endParaRPr lang="en-US" sz="4400" dirty="0"/>
          </a:p>
        </p:txBody>
      </p:sp>
      <p:sp>
        <p:nvSpPr>
          <p:cNvPr id="41" name="Text 39"/>
          <p:cNvSpPr/>
          <p:nvPr/>
        </p:nvSpPr>
        <p:spPr>
          <a:xfrm>
            <a:off x="804672" y="269748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EDEBD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When you are GIVEN the old and new amounts and must find the percentage.</a:t>
            </a:r>
            <a:endParaRPr lang="en-US" sz="1800" dirty="0"/>
          </a:p>
        </p:txBody>
      </p:sp>
      <p:sp>
        <p:nvSpPr>
          <p:cNvPr id="42" name="Shape 40"/>
          <p:cNvSpPr/>
          <p:nvPr/>
        </p:nvSpPr>
        <p:spPr>
          <a:xfrm>
            <a:off x="868680" y="3611880"/>
            <a:ext cx="475488" cy="475488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43" name="Text 41"/>
          <p:cNvSpPr/>
          <p:nvPr/>
        </p:nvSpPr>
        <p:spPr>
          <a:xfrm>
            <a:off x="868680" y="361188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44" name="Text 42"/>
          <p:cNvSpPr/>
          <p:nvPr/>
        </p:nvSpPr>
        <p:spPr>
          <a:xfrm>
            <a:off x="1554480" y="3611880"/>
            <a:ext cx="10058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DEBD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Find the actual change (new − old)</a:t>
            </a:r>
            <a:endParaRPr lang="en-US" sz="1800" dirty="0"/>
          </a:p>
        </p:txBody>
      </p:sp>
      <p:sp>
        <p:nvSpPr>
          <p:cNvPr id="45" name="Shape 43"/>
          <p:cNvSpPr/>
          <p:nvPr/>
        </p:nvSpPr>
        <p:spPr>
          <a:xfrm>
            <a:off x="868680" y="4325112"/>
            <a:ext cx="475488" cy="475488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46" name="Text 44"/>
          <p:cNvSpPr/>
          <p:nvPr/>
        </p:nvSpPr>
        <p:spPr>
          <a:xfrm>
            <a:off x="868680" y="432511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200" dirty="0"/>
          </a:p>
        </p:txBody>
      </p:sp>
      <p:sp>
        <p:nvSpPr>
          <p:cNvPr id="47" name="Text 45"/>
          <p:cNvSpPr/>
          <p:nvPr/>
        </p:nvSpPr>
        <p:spPr>
          <a:xfrm>
            <a:off x="1554480" y="4325112"/>
            <a:ext cx="10058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DEBD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Divide by the ORIGINAL amount</a:t>
            </a:r>
            <a:endParaRPr lang="en-US" sz="1800" dirty="0"/>
          </a:p>
        </p:txBody>
      </p:sp>
      <p:sp>
        <p:nvSpPr>
          <p:cNvPr id="48" name="Shape 46"/>
          <p:cNvSpPr/>
          <p:nvPr/>
        </p:nvSpPr>
        <p:spPr>
          <a:xfrm>
            <a:off x="868680" y="5038344"/>
            <a:ext cx="475488" cy="475488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49" name="Text 47"/>
          <p:cNvSpPr/>
          <p:nvPr/>
        </p:nvSpPr>
        <p:spPr>
          <a:xfrm>
            <a:off x="868680" y="503834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200" dirty="0"/>
          </a:p>
        </p:txBody>
      </p:sp>
      <p:sp>
        <p:nvSpPr>
          <p:cNvPr id="50" name="Text 48"/>
          <p:cNvSpPr/>
          <p:nvPr/>
        </p:nvSpPr>
        <p:spPr>
          <a:xfrm>
            <a:off x="1554480" y="5038344"/>
            <a:ext cx="10058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DEBD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Multiply by 100</a:t>
            </a:r>
            <a:endParaRPr lang="en-US" sz="1800" dirty="0"/>
          </a:p>
        </p:txBody>
      </p:sp>
      <p:sp>
        <p:nvSpPr>
          <p:cNvPr id="51" name="Shape 49"/>
          <p:cNvSpPr/>
          <p:nvPr/>
        </p:nvSpPr>
        <p:spPr>
          <a:xfrm>
            <a:off x="868680" y="5751576"/>
            <a:ext cx="475488" cy="475488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52" name="Text 50"/>
          <p:cNvSpPr/>
          <p:nvPr/>
        </p:nvSpPr>
        <p:spPr>
          <a:xfrm>
            <a:off x="868680" y="575157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200" dirty="0"/>
          </a:p>
        </p:txBody>
      </p:sp>
      <p:sp>
        <p:nvSpPr>
          <p:cNvPr id="53" name="Text 51"/>
          <p:cNvSpPr/>
          <p:nvPr/>
        </p:nvSpPr>
        <p:spPr>
          <a:xfrm>
            <a:off x="1554480" y="5751576"/>
            <a:ext cx="10058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DEBD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Profit / loss uses the same steps</a:t>
            </a:r>
            <a:endParaRPr lang="en-US" sz="1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50" kern="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PERCENTAGE CHANGE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Finding the Percentage Change</a:t>
            </a:r>
            <a:endParaRPr lang="en-US" sz="2700" dirty="0"/>
          </a:p>
        </p:txBody>
      </p:sp>
      <p:sp>
        <p:nvSpPr>
          <p:cNvPr id="41" name="Shape 39"/>
          <p:cNvSpPr/>
          <p:nvPr/>
        </p:nvSpPr>
        <p:spPr>
          <a:xfrm>
            <a:off x="566928" y="1554480"/>
            <a:ext cx="6126480" cy="3246120"/>
          </a:xfrm>
          <a:prstGeom prst="roundRect">
            <a:avLst>
              <a:gd name="adj" fmla="val 1690"/>
            </a:avLst>
          </a:prstGeom>
          <a:solidFill>
            <a:srgbClr val="EEF1E8"/>
          </a:solidFill>
          <a:ln/>
          <a:effectLst>
            <a:outerShdw sx="100000" sy="100000" kx="0" ky="0" algn="bl" rotWithShape="0" blurRad="88900" dist="38100" dir="5400000">
              <a:srgbClr val="000000">
                <a:alpha val="18000"/>
              </a:srgbClr>
            </a:outerShdw>
          </a:effectLst>
        </p:spPr>
      </p:sp>
      <p:sp>
        <p:nvSpPr>
          <p:cNvPr id="42" name="Shape 40"/>
          <p:cNvSpPr/>
          <p:nvPr/>
        </p:nvSpPr>
        <p:spPr>
          <a:xfrm>
            <a:off x="6903720" y="1554480"/>
            <a:ext cx="4727448" cy="3246120"/>
          </a:xfrm>
          <a:prstGeom prst="roundRect">
            <a:avLst>
              <a:gd name="adj" fmla="val 1690"/>
            </a:avLst>
          </a:prstGeom>
          <a:solidFill>
            <a:srgbClr val="FBF3DD"/>
          </a:solidFill>
          <a:ln/>
          <a:effectLst>
            <a:outerShdw sx="100000" sy="100000" kx="0" ky="0" algn="bl" rotWithShape="0" blurRad="88900" dist="38100" dir="5400000">
              <a:srgbClr val="000000">
                <a:alpha val="18000"/>
              </a:srgbClr>
            </a:outerShdw>
          </a:effectLst>
        </p:spPr>
      </p:sp>
      <p:sp>
        <p:nvSpPr>
          <p:cNvPr id="43" name="Text 41"/>
          <p:cNvSpPr/>
          <p:nvPr/>
        </p:nvSpPr>
        <p:spPr>
          <a:xfrm>
            <a:off x="7178040" y="1755648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i="1" dirty="0">
                <a:solidFill>
                  <a:srgbClr val="C84F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rule</a:t>
            </a:r>
            <a:endParaRPr lang="en-US" sz="1400" dirty="0"/>
          </a:p>
        </p:txBody>
      </p:sp>
      <p:sp>
        <p:nvSpPr>
          <p:cNvPr id="44" name="Text 42"/>
          <p:cNvSpPr/>
          <p:nvPr/>
        </p:nvSpPr>
        <p:spPr>
          <a:xfrm>
            <a:off x="7223760" y="2240280"/>
            <a:ext cx="42062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35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Always divide by the ORIGINAL (the starting amount).</a:t>
            </a:r>
            <a:endParaRPr lang="en-US" sz="135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35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 100 turns the fraction into a percentage.</a:t>
            </a:r>
            <a:endParaRPr lang="en-US" sz="135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35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Increase → rise; decrease → fall.</a:t>
            </a:r>
            <a:endParaRPr lang="en-US" sz="1350" dirty="0"/>
          </a:p>
        </p:txBody>
      </p:sp>
      <p:sp>
        <p:nvSpPr>
          <p:cNvPr id="45" name="Text 43"/>
          <p:cNvSpPr/>
          <p:nvPr/>
        </p:nvSpPr>
        <p:spPr>
          <a:xfrm>
            <a:off x="566928" y="63276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Dividing by the original (not the new) amount is the most common exam slip.</a:t>
            </a:r>
            <a:endParaRPr lang="en-US" sz="1300" dirty="0"/>
          </a:p>
        </p:txBody>
      </p:sp>
      <p:sp>
        <p:nvSpPr>
          <p:cNvPr id="46" name="Shape 44"/>
          <p:cNvSpPr/>
          <p:nvPr/>
        </p:nvSpPr>
        <p:spPr>
          <a:xfrm>
            <a:off x="868680" y="1847088"/>
            <a:ext cx="329184" cy="329184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47" name="Text 45"/>
          <p:cNvSpPr/>
          <p:nvPr/>
        </p:nvSpPr>
        <p:spPr>
          <a:xfrm>
            <a:off x="868680" y="18470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48" name="Text 46"/>
          <p:cNvSpPr/>
          <p:nvPr/>
        </p:nvSpPr>
        <p:spPr>
          <a:xfrm>
            <a:off x="1362456" y="1810512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printer’s price rises from £80 to £100.</a:t>
            </a:r>
            <a:endParaRPr lang="en-US" sz="1400" dirty="0"/>
          </a:p>
        </p:txBody>
      </p:sp>
      <p:sp>
        <p:nvSpPr>
          <p:cNvPr id="49" name="Shape 47"/>
          <p:cNvSpPr/>
          <p:nvPr/>
        </p:nvSpPr>
        <p:spPr>
          <a:xfrm>
            <a:off x="868680" y="2578608"/>
            <a:ext cx="329184" cy="329184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50" name="Text 48"/>
          <p:cNvSpPr/>
          <p:nvPr/>
        </p:nvSpPr>
        <p:spPr>
          <a:xfrm>
            <a:off x="868680" y="25786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51" name="Text 49"/>
          <p:cNvSpPr/>
          <p:nvPr/>
        </p:nvSpPr>
        <p:spPr>
          <a:xfrm>
            <a:off x="1362456" y="2542032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= 100 − 80 = £20</a:t>
            </a:r>
            <a:endParaRPr lang="en-US" sz="1400" dirty="0"/>
          </a:p>
        </p:txBody>
      </p:sp>
      <p:sp>
        <p:nvSpPr>
          <p:cNvPr id="52" name="Shape 50"/>
          <p:cNvSpPr/>
          <p:nvPr/>
        </p:nvSpPr>
        <p:spPr>
          <a:xfrm>
            <a:off x="868680" y="3310128"/>
            <a:ext cx="329184" cy="329184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53" name="Text 51"/>
          <p:cNvSpPr/>
          <p:nvPr/>
        </p:nvSpPr>
        <p:spPr>
          <a:xfrm>
            <a:off x="868680" y="331012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54" name="Text 52"/>
          <p:cNvSpPr/>
          <p:nvPr/>
        </p:nvSpPr>
        <p:spPr>
          <a:xfrm>
            <a:off x="1362456" y="3273552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 change = (change ÷ original) × 100</a:t>
            </a:r>
            <a:endParaRPr lang="en-US" sz="1400" dirty="0"/>
          </a:p>
        </p:txBody>
      </p:sp>
      <p:sp>
        <p:nvSpPr>
          <p:cNvPr id="55" name="Shape 53"/>
          <p:cNvSpPr/>
          <p:nvPr/>
        </p:nvSpPr>
        <p:spPr>
          <a:xfrm>
            <a:off x="868680" y="4041648"/>
            <a:ext cx="329184" cy="329184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56" name="Text 54"/>
          <p:cNvSpPr/>
          <p:nvPr/>
        </p:nvSpPr>
        <p:spPr>
          <a:xfrm>
            <a:off x="868680" y="40416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57" name="Text 55"/>
          <p:cNvSpPr/>
          <p:nvPr/>
        </p:nvSpPr>
        <p:spPr>
          <a:xfrm>
            <a:off x="1362456" y="4005072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(20 ÷ 80) × 100 = </a:t>
            </a:r>
            <a:pPr indent="0" marL="0">
              <a:buNone/>
            </a:pPr>
            <a:r>
              <a:rPr lang="en-US" sz="1400" b="1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25%</a:t>
            </a:r>
            <a:endParaRPr lang="en-US" sz="1400" dirty="0"/>
          </a:p>
        </p:txBody>
      </p:sp>
      <p:sp>
        <p:nvSpPr>
          <p:cNvPr id="58" name="Shape 56"/>
          <p:cNvSpPr/>
          <p:nvPr/>
        </p:nvSpPr>
        <p:spPr>
          <a:xfrm>
            <a:off x="566928" y="5074920"/>
            <a:ext cx="11064240" cy="1143000"/>
          </a:xfrm>
          <a:prstGeom prst="roundRect">
            <a:avLst>
              <a:gd name="adj" fmla="val 4800"/>
            </a:avLst>
          </a:prstGeom>
          <a:solidFill>
            <a:srgbClr val="16261F"/>
          </a:solidFill>
          <a:ln/>
          <a:effectLst>
            <a:outerShdw sx="100000" sy="100000" kx="0" ky="0" algn="bl" rotWithShape="0" blurRad="88900" dist="38100" dir="5400000">
              <a:srgbClr val="000000">
                <a:alpha val="18000"/>
              </a:srgbClr>
            </a:outerShdw>
          </a:effectLst>
        </p:spPr>
      </p:sp>
      <p:sp>
        <p:nvSpPr>
          <p:cNvPr id="59" name="Text 57"/>
          <p:cNvSpPr/>
          <p:nvPr/>
        </p:nvSpPr>
        <p:spPr>
          <a:xfrm>
            <a:off x="841248" y="5074920"/>
            <a:ext cx="10515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E0AC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25% increase</a:t>
            </a:r>
            <a:endParaRPr lang="en-US" sz="2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50" kern="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TURN · PERCENTAGE CHANGE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Find the Percentage Change</a:t>
            </a:r>
            <a:endParaRPr lang="en-US" sz="2700" dirty="0"/>
          </a:p>
        </p:txBody>
      </p:sp>
      <p:sp>
        <p:nvSpPr>
          <p:cNvPr id="41" name="Shape 39"/>
          <p:cNvSpPr/>
          <p:nvPr/>
        </p:nvSpPr>
        <p:spPr>
          <a:xfrm>
            <a:off x="566928" y="1417320"/>
            <a:ext cx="11064240" cy="548640"/>
          </a:xfrm>
          <a:prstGeom prst="roundRect">
            <a:avLst>
              <a:gd name="adj" fmla="val 10000"/>
            </a:avLst>
          </a:prstGeom>
          <a:solidFill>
            <a:srgbClr val="16261F"/>
          </a:solidFill>
          <a:ln/>
          <a:effectLst>
            <a:outerShdw sx="100000" sy="100000" kx="0" ky="0" algn="bl" rotWithShape="0" blurRad="88900" dist="38100" dir="5400000">
              <a:srgbClr val="000000">
                <a:alpha val="18000"/>
              </a:srgbClr>
            </a:outerShdw>
          </a:effectLst>
        </p:spPr>
      </p:sp>
      <p:sp>
        <p:nvSpPr>
          <p:cNvPr id="42" name="Text 40"/>
          <p:cNvSpPr/>
          <p:nvPr/>
        </p:nvSpPr>
        <p:spPr>
          <a:xfrm>
            <a:off x="886968" y="141732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EDE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÷ original × 100. Give decimals to 1 d.p. where needed.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566928" y="2194560"/>
            <a:ext cx="11064240" cy="841248"/>
          </a:xfrm>
          <a:prstGeom prst="roundRect">
            <a:avLst>
              <a:gd name="adj" fmla="val 6522"/>
            </a:avLst>
          </a:prstGeom>
          <a:solidFill>
            <a:srgbClr val="EEF1E8"/>
          </a:solidFill>
          <a:ln/>
          <a:effectLst>
            <a:outerShdw sx="100000" sy="100000" kx="0" ky="0" algn="bl" rotWithShape="0" blurRad="88900" dist="38100" dir="5400000">
              <a:srgbClr val="000000">
                <a:alpha val="18000"/>
              </a:srgbClr>
            </a:outerShdw>
          </a:effectLst>
        </p:spPr>
      </p:sp>
      <p:sp>
        <p:nvSpPr>
          <p:cNvPr id="44" name="Shape 42"/>
          <p:cNvSpPr/>
          <p:nvPr/>
        </p:nvSpPr>
        <p:spPr>
          <a:xfrm>
            <a:off x="841248" y="2404872"/>
            <a:ext cx="420624" cy="420624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45" name="Text 43"/>
          <p:cNvSpPr/>
          <p:nvPr/>
        </p:nvSpPr>
        <p:spPr>
          <a:xfrm>
            <a:off x="841248" y="240487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700" dirty="0"/>
          </a:p>
        </p:txBody>
      </p:sp>
      <p:sp>
        <p:nvSpPr>
          <p:cNvPr id="46" name="Text 44"/>
          <p:cNvSpPr/>
          <p:nvPr/>
        </p:nvSpPr>
        <p:spPr>
          <a:xfrm>
            <a:off x="1463040" y="2194560"/>
            <a:ext cx="758952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Temperature rises 20°C → 30°C. Find the % increase.</a:t>
            </a:r>
            <a:endParaRPr lang="en-US" sz="1550" dirty="0"/>
          </a:p>
        </p:txBody>
      </p:sp>
      <p:sp>
        <p:nvSpPr>
          <p:cNvPr id="47" name="Text 45"/>
          <p:cNvSpPr/>
          <p:nvPr/>
        </p:nvSpPr>
        <p:spPr>
          <a:xfrm>
            <a:off x="9052560" y="2194560"/>
            <a:ext cx="24688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C84F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50% increase</a:t>
            </a:r>
            <a:endParaRPr lang="en-US" sz="1400" dirty="0"/>
          </a:p>
        </p:txBody>
      </p:sp>
      <p:sp>
        <p:nvSpPr>
          <p:cNvPr id="48" name="Shape 46"/>
          <p:cNvSpPr/>
          <p:nvPr/>
        </p:nvSpPr>
        <p:spPr>
          <a:xfrm>
            <a:off x="566928" y="3145536"/>
            <a:ext cx="11064240" cy="841248"/>
          </a:xfrm>
          <a:prstGeom prst="roundRect">
            <a:avLst>
              <a:gd name="adj" fmla="val 6522"/>
            </a:avLst>
          </a:prstGeom>
          <a:solidFill>
            <a:srgbClr val="FBF3DD"/>
          </a:solidFill>
          <a:ln/>
          <a:effectLst>
            <a:outerShdw sx="100000" sy="100000" kx="0" ky="0" algn="bl" rotWithShape="0" blurRad="88900" dist="38100" dir="5400000">
              <a:srgbClr val="000000">
                <a:alpha val="18000"/>
              </a:srgbClr>
            </a:outerShdw>
          </a:effectLst>
        </p:spPr>
      </p:sp>
      <p:sp>
        <p:nvSpPr>
          <p:cNvPr id="49" name="Shape 47"/>
          <p:cNvSpPr/>
          <p:nvPr/>
        </p:nvSpPr>
        <p:spPr>
          <a:xfrm>
            <a:off x="841248" y="3355848"/>
            <a:ext cx="420624" cy="420624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50" name="Text 48"/>
          <p:cNvSpPr/>
          <p:nvPr/>
        </p:nvSpPr>
        <p:spPr>
          <a:xfrm>
            <a:off x="841248" y="335584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700" dirty="0"/>
          </a:p>
        </p:txBody>
      </p:sp>
      <p:sp>
        <p:nvSpPr>
          <p:cNvPr id="51" name="Text 49"/>
          <p:cNvSpPr/>
          <p:nvPr/>
        </p:nvSpPr>
        <p:spPr>
          <a:xfrm>
            <a:off x="1463040" y="3145536"/>
            <a:ext cx="758952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car falls from £3950 to £3300. Find the % decrease.</a:t>
            </a:r>
            <a:endParaRPr lang="en-US" sz="1550" dirty="0"/>
          </a:p>
        </p:txBody>
      </p:sp>
      <p:sp>
        <p:nvSpPr>
          <p:cNvPr id="52" name="Text 50"/>
          <p:cNvSpPr/>
          <p:nvPr/>
        </p:nvSpPr>
        <p:spPr>
          <a:xfrm>
            <a:off x="9052560" y="3145536"/>
            <a:ext cx="24688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C84F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16.5% decrease</a:t>
            </a:r>
            <a:endParaRPr lang="en-US" sz="1400" dirty="0"/>
          </a:p>
        </p:txBody>
      </p:sp>
      <p:sp>
        <p:nvSpPr>
          <p:cNvPr id="53" name="Shape 51"/>
          <p:cNvSpPr/>
          <p:nvPr/>
        </p:nvSpPr>
        <p:spPr>
          <a:xfrm>
            <a:off x="566928" y="4096512"/>
            <a:ext cx="11064240" cy="841248"/>
          </a:xfrm>
          <a:prstGeom prst="roundRect">
            <a:avLst>
              <a:gd name="adj" fmla="val 6522"/>
            </a:avLst>
          </a:prstGeom>
          <a:solidFill>
            <a:srgbClr val="EEF1E8"/>
          </a:solidFill>
          <a:ln/>
          <a:effectLst>
            <a:outerShdw sx="100000" sy="100000" kx="0" ky="0" algn="bl" rotWithShape="0" blurRad="88900" dist="38100" dir="5400000">
              <a:srgbClr val="000000">
                <a:alpha val="18000"/>
              </a:srgbClr>
            </a:outerShdw>
          </a:effectLst>
        </p:spPr>
      </p:sp>
      <p:sp>
        <p:nvSpPr>
          <p:cNvPr id="54" name="Shape 52"/>
          <p:cNvSpPr/>
          <p:nvPr/>
        </p:nvSpPr>
        <p:spPr>
          <a:xfrm>
            <a:off x="841248" y="4306824"/>
            <a:ext cx="420624" cy="420624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55" name="Text 53"/>
          <p:cNvSpPr/>
          <p:nvPr/>
        </p:nvSpPr>
        <p:spPr>
          <a:xfrm>
            <a:off x="841248" y="430682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700" dirty="0"/>
          </a:p>
        </p:txBody>
      </p:sp>
      <p:sp>
        <p:nvSpPr>
          <p:cNvPr id="56" name="Text 54"/>
          <p:cNvSpPr/>
          <p:nvPr/>
        </p:nvSpPr>
        <p:spPr>
          <a:xfrm>
            <a:off x="1463040" y="4096512"/>
            <a:ext cx="758952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house rises from £250,000 to £280,000. % increase?</a:t>
            </a:r>
            <a:endParaRPr lang="en-US" sz="1550" dirty="0"/>
          </a:p>
        </p:txBody>
      </p:sp>
      <p:sp>
        <p:nvSpPr>
          <p:cNvPr id="57" name="Text 55"/>
          <p:cNvSpPr/>
          <p:nvPr/>
        </p:nvSpPr>
        <p:spPr>
          <a:xfrm>
            <a:off x="9052560" y="4096512"/>
            <a:ext cx="24688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C84F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12% increase</a:t>
            </a:r>
            <a:endParaRPr lang="en-US" sz="1400" dirty="0"/>
          </a:p>
        </p:txBody>
      </p:sp>
      <p:sp>
        <p:nvSpPr>
          <p:cNvPr id="58" name="Shape 56"/>
          <p:cNvSpPr/>
          <p:nvPr/>
        </p:nvSpPr>
        <p:spPr>
          <a:xfrm>
            <a:off x="566928" y="5047488"/>
            <a:ext cx="11064240" cy="841248"/>
          </a:xfrm>
          <a:prstGeom prst="roundRect">
            <a:avLst>
              <a:gd name="adj" fmla="val 6522"/>
            </a:avLst>
          </a:prstGeom>
          <a:solidFill>
            <a:srgbClr val="FBF3DD"/>
          </a:solidFill>
          <a:ln/>
          <a:effectLst>
            <a:outerShdw sx="100000" sy="100000" kx="0" ky="0" algn="bl" rotWithShape="0" blurRad="88900" dist="38100" dir="5400000">
              <a:srgbClr val="000000">
                <a:alpha val="18000"/>
              </a:srgbClr>
            </a:outerShdw>
          </a:effectLst>
        </p:spPr>
      </p:sp>
      <p:sp>
        <p:nvSpPr>
          <p:cNvPr id="59" name="Shape 57"/>
          <p:cNvSpPr/>
          <p:nvPr/>
        </p:nvSpPr>
        <p:spPr>
          <a:xfrm>
            <a:off x="841248" y="5257800"/>
            <a:ext cx="420624" cy="420624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60" name="Text 58"/>
          <p:cNvSpPr/>
          <p:nvPr/>
        </p:nvSpPr>
        <p:spPr>
          <a:xfrm>
            <a:off x="841248" y="52578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700" dirty="0"/>
          </a:p>
        </p:txBody>
      </p:sp>
      <p:sp>
        <p:nvSpPr>
          <p:cNvPr id="61" name="Text 59"/>
          <p:cNvSpPr/>
          <p:nvPr/>
        </p:nvSpPr>
        <p:spPr>
          <a:xfrm>
            <a:off x="1463040" y="5047488"/>
            <a:ext cx="758952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coat drops from £60 to £45. Find the % decrease.</a:t>
            </a:r>
            <a:endParaRPr lang="en-US" sz="1550" dirty="0"/>
          </a:p>
        </p:txBody>
      </p:sp>
      <p:sp>
        <p:nvSpPr>
          <p:cNvPr id="62" name="Text 60"/>
          <p:cNvSpPr/>
          <p:nvPr/>
        </p:nvSpPr>
        <p:spPr>
          <a:xfrm>
            <a:off x="9052560" y="5047488"/>
            <a:ext cx="24688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C84F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25% decrease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50" kern="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PROFIT &amp; LOSS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Same Idea, Different Words</a:t>
            </a:r>
            <a:endParaRPr lang="en-US" sz="2700" dirty="0"/>
          </a:p>
        </p:txBody>
      </p:sp>
      <p:sp>
        <p:nvSpPr>
          <p:cNvPr id="41" name="Shape 39"/>
          <p:cNvSpPr/>
          <p:nvPr/>
        </p:nvSpPr>
        <p:spPr>
          <a:xfrm>
            <a:off x="566928" y="1371600"/>
            <a:ext cx="11064240" cy="749808"/>
          </a:xfrm>
          <a:prstGeom prst="roundRect">
            <a:avLst>
              <a:gd name="adj" fmla="val 7317"/>
            </a:avLst>
          </a:prstGeom>
          <a:solidFill>
            <a:srgbClr val="16261F"/>
          </a:solidFill>
          <a:ln/>
          <a:effectLst>
            <a:outerShdw sx="100000" sy="100000" kx="0" ky="0" algn="bl" rotWithShape="0" blurRad="88900" dist="38100" dir="5400000">
              <a:srgbClr val="000000">
                <a:alpha val="18000"/>
              </a:srgbClr>
            </a:outerShdw>
          </a:effectLst>
        </p:spPr>
      </p:sp>
      <p:sp>
        <p:nvSpPr>
          <p:cNvPr id="42" name="Text 40"/>
          <p:cNvSpPr/>
          <p:nvPr/>
        </p:nvSpPr>
        <p:spPr>
          <a:xfrm>
            <a:off x="886968" y="1371600"/>
            <a:ext cx="104241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E0A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 profit or loss = (actual profit or loss ÷ original cost) × 100. </a:t>
            </a:r>
            <a:pPr algn="l" indent="0" marL="0">
              <a:buNone/>
            </a:pPr>
            <a:r>
              <a:rPr lang="en-US" sz="1350" dirty="0">
                <a:solidFill>
                  <a:srgbClr val="EDE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‘original’ is the buying (cost) price.</a:t>
            </a:r>
            <a:endParaRPr lang="en-US" sz="1350" dirty="0"/>
          </a:p>
        </p:txBody>
      </p:sp>
      <p:sp>
        <p:nvSpPr>
          <p:cNvPr id="43" name="Shape 41"/>
          <p:cNvSpPr/>
          <p:nvPr/>
        </p:nvSpPr>
        <p:spPr>
          <a:xfrm>
            <a:off x="566928" y="2286000"/>
            <a:ext cx="5440680" cy="3108960"/>
          </a:xfrm>
          <a:prstGeom prst="roundRect">
            <a:avLst>
              <a:gd name="adj" fmla="val 1765"/>
            </a:avLst>
          </a:prstGeom>
          <a:solidFill>
            <a:srgbClr val="EEF1E8"/>
          </a:solidFill>
          <a:ln/>
          <a:effectLst>
            <a:outerShdw sx="100000" sy="100000" kx="0" ky="0" algn="bl" rotWithShape="0" blurRad="88900" dist="38100" dir="5400000">
              <a:srgbClr val="000000">
                <a:alpha val="18000"/>
              </a:srgbClr>
            </a:outerShdw>
          </a:effectLst>
        </p:spPr>
      </p:sp>
      <p:sp>
        <p:nvSpPr>
          <p:cNvPr id="44" name="Text 42"/>
          <p:cNvSpPr/>
          <p:nvPr/>
        </p:nvSpPr>
        <p:spPr>
          <a:xfrm>
            <a:off x="932688" y="2523744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Profit — an antique chair</a:t>
            </a:r>
            <a:endParaRPr lang="en-US" sz="1700" dirty="0"/>
          </a:p>
        </p:txBody>
      </p:sp>
      <p:sp>
        <p:nvSpPr>
          <p:cNvPr id="45" name="Text 43"/>
          <p:cNvSpPr/>
          <p:nvPr/>
        </p:nvSpPr>
        <p:spPr>
          <a:xfrm>
            <a:off x="914400" y="2971800"/>
            <a:ext cx="47548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700"/>
              </a:spcAft>
              <a:buNone/>
            </a:pPr>
            <a:r>
              <a:rPr lang="en-US" sz="165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Buy £250, sell £300</a:t>
            </a:r>
            <a:endParaRPr lang="en-US" sz="165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65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Profit = 300 − 250 = £50</a:t>
            </a:r>
            <a:endParaRPr lang="en-US" sz="165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65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% profit = (50 ÷ 250) × 100</a:t>
            </a:r>
            <a:endParaRPr lang="en-US" sz="1650" dirty="0"/>
          </a:p>
          <a:p>
            <a:pPr indent="0" marL="0">
              <a:buNone/>
            </a:pPr>
            <a:r>
              <a:rPr lang="en-US" sz="1650" b="1" dirty="0">
                <a:solidFill>
                  <a:srgbClr val="C84F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= 20% profit</a:t>
            </a:r>
            <a:endParaRPr lang="en-US" sz="1650" dirty="0"/>
          </a:p>
        </p:txBody>
      </p:sp>
      <p:sp>
        <p:nvSpPr>
          <p:cNvPr id="46" name="Shape 44"/>
          <p:cNvSpPr/>
          <p:nvPr/>
        </p:nvSpPr>
        <p:spPr>
          <a:xfrm>
            <a:off x="6190488" y="2286000"/>
            <a:ext cx="5440680" cy="3108960"/>
          </a:xfrm>
          <a:prstGeom prst="roundRect">
            <a:avLst>
              <a:gd name="adj" fmla="val 1765"/>
            </a:avLst>
          </a:prstGeom>
          <a:solidFill>
            <a:srgbClr val="FBF3DD"/>
          </a:solidFill>
          <a:ln/>
          <a:effectLst>
            <a:outerShdw sx="100000" sy="100000" kx="0" ky="0" algn="bl" rotWithShape="0" blurRad="88900" dist="38100" dir="5400000">
              <a:srgbClr val="000000">
                <a:alpha val="18000"/>
              </a:srgbClr>
            </a:outerShdw>
          </a:effectLst>
        </p:spPr>
      </p:sp>
      <p:sp>
        <p:nvSpPr>
          <p:cNvPr id="47" name="Text 45"/>
          <p:cNvSpPr/>
          <p:nvPr/>
        </p:nvSpPr>
        <p:spPr>
          <a:xfrm>
            <a:off x="6556248" y="2523744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Loss — a used guitar</a:t>
            </a:r>
            <a:endParaRPr lang="en-US" sz="1700" dirty="0"/>
          </a:p>
        </p:txBody>
      </p:sp>
      <p:sp>
        <p:nvSpPr>
          <p:cNvPr id="48" name="Text 46"/>
          <p:cNvSpPr/>
          <p:nvPr/>
        </p:nvSpPr>
        <p:spPr>
          <a:xfrm>
            <a:off x="6537960" y="2971800"/>
            <a:ext cx="47548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700"/>
              </a:spcAft>
              <a:buNone/>
            </a:pPr>
            <a:r>
              <a:rPr lang="en-US" sz="165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Buy £140, sell £100</a:t>
            </a:r>
            <a:endParaRPr lang="en-US" sz="165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65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Loss = 140 − 100 = £40</a:t>
            </a:r>
            <a:endParaRPr lang="en-US" sz="165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65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% loss = (40 ÷ 140) × 100</a:t>
            </a:r>
            <a:endParaRPr lang="en-US" sz="1650" dirty="0"/>
          </a:p>
          <a:p>
            <a:pPr indent="0" marL="0">
              <a:buNone/>
            </a:pPr>
            <a:r>
              <a:rPr lang="en-US" sz="1650" b="1" dirty="0">
                <a:solidFill>
                  <a:srgbClr val="C84F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= 28.6% loss  (1 d.p.)</a:t>
            </a:r>
            <a:endParaRPr lang="en-US" sz="1650" dirty="0"/>
          </a:p>
        </p:txBody>
      </p:sp>
      <p:sp>
        <p:nvSpPr>
          <p:cNvPr id="49" name="Text 47"/>
          <p:cNvSpPr/>
          <p:nvPr/>
        </p:nvSpPr>
        <p:spPr>
          <a:xfrm>
            <a:off x="566928" y="562356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Try: the Robinsons buy a house for £180,000 and sell for £230,000 — find the % profit.  (Answer: 27.8%)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C2A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777240" y="640080"/>
            <a:ext cx="603504" cy="603504"/>
          </a:xfrm>
          <a:prstGeom prst="roundRect">
            <a:avLst>
              <a:gd name="adj" fmla="val 15152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777240" y="640080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8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pPr algn="ctr" indent="0" marL="0">
              <a:buNone/>
            </a:pPr>
            <a:r>
              <a:rPr lang="en-US" sz="198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π</a:t>
            </a:r>
            <a:endParaRPr lang="en-US" sz="1980" dirty="0"/>
          </a:p>
        </p:txBody>
      </p:sp>
      <p:sp>
        <p:nvSpPr>
          <p:cNvPr id="39" name="Text 37"/>
          <p:cNvSpPr/>
          <p:nvPr/>
        </p:nvSpPr>
        <p:spPr>
          <a:xfrm>
            <a:off x="1554480" y="676656"/>
            <a:ext cx="8229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E0A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4</a:t>
            </a:r>
            <a:endParaRPr lang="en-US" sz="1250" dirty="0"/>
          </a:p>
        </p:txBody>
      </p:sp>
      <p:sp>
        <p:nvSpPr>
          <p:cNvPr id="40" name="Text 38"/>
          <p:cNvSpPr/>
          <p:nvPr/>
        </p:nvSpPr>
        <p:spPr>
          <a:xfrm>
            <a:off x="777240" y="1691640"/>
            <a:ext cx="10789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E0AC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Reverse Percentages</a:t>
            </a:r>
            <a:endParaRPr lang="en-US" sz="4400" dirty="0"/>
          </a:p>
        </p:txBody>
      </p:sp>
      <p:sp>
        <p:nvSpPr>
          <p:cNvPr id="41" name="Text 39"/>
          <p:cNvSpPr/>
          <p:nvPr/>
        </p:nvSpPr>
        <p:spPr>
          <a:xfrm>
            <a:off x="804672" y="269748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EDEBD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 are given the NEW amount and must find the ORIGINAL — work backwards.</a:t>
            </a:r>
            <a:endParaRPr lang="en-US" sz="1800" dirty="0"/>
          </a:p>
        </p:txBody>
      </p:sp>
      <p:sp>
        <p:nvSpPr>
          <p:cNvPr id="42" name="Shape 40"/>
          <p:cNvSpPr/>
          <p:nvPr/>
        </p:nvSpPr>
        <p:spPr>
          <a:xfrm>
            <a:off x="868680" y="3611880"/>
            <a:ext cx="475488" cy="475488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43" name="Text 41"/>
          <p:cNvSpPr/>
          <p:nvPr/>
        </p:nvSpPr>
        <p:spPr>
          <a:xfrm>
            <a:off x="868680" y="361188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44" name="Text 42"/>
          <p:cNvSpPr/>
          <p:nvPr/>
        </p:nvSpPr>
        <p:spPr>
          <a:xfrm>
            <a:off x="1554480" y="3611880"/>
            <a:ext cx="10058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DEBD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Write ORIGINAL × multiplier = NEW</a:t>
            </a:r>
            <a:endParaRPr lang="en-US" sz="1800" dirty="0"/>
          </a:p>
        </p:txBody>
      </p:sp>
      <p:sp>
        <p:nvSpPr>
          <p:cNvPr id="45" name="Shape 43"/>
          <p:cNvSpPr/>
          <p:nvPr/>
        </p:nvSpPr>
        <p:spPr>
          <a:xfrm>
            <a:off x="868680" y="4325112"/>
            <a:ext cx="475488" cy="475488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46" name="Text 44"/>
          <p:cNvSpPr/>
          <p:nvPr/>
        </p:nvSpPr>
        <p:spPr>
          <a:xfrm>
            <a:off x="868680" y="432511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200" dirty="0"/>
          </a:p>
        </p:txBody>
      </p:sp>
      <p:sp>
        <p:nvSpPr>
          <p:cNvPr id="47" name="Text 45"/>
          <p:cNvSpPr/>
          <p:nvPr/>
        </p:nvSpPr>
        <p:spPr>
          <a:xfrm>
            <a:off x="1554480" y="4325112"/>
            <a:ext cx="10058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DEBD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Rearrange: ORIGINAL = NEW ÷ multiplier</a:t>
            </a:r>
            <a:endParaRPr lang="en-US" sz="1800" dirty="0"/>
          </a:p>
        </p:txBody>
      </p:sp>
      <p:sp>
        <p:nvSpPr>
          <p:cNvPr id="48" name="Shape 46"/>
          <p:cNvSpPr/>
          <p:nvPr/>
        </p:nvSpPr>
        <p:spPr>
          <a:xfrm>
            <a:off x="868680" y="5038344"/>
            <a:ext cx="475488" cy="475488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49" name="Text 47"/>
          <p:cNvSpPr/>
          <p:nvPr/>
        </p:nvSpPr>
        <p:spPr>
          <a:xfrm>
            <a:off x="868680" y="503834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200" dirty="0"/>
          </a:p>
        </p:txBody>
      </p:sp>
      <p:sp>
        <p:nvSpPr>
          <p:cNvPr id="50" name="Text 48"/>
          <p:cNvSpPr/>
          <p:nvPr/>
        </p:nvSpPr>
        <p:spPr>
          <a:xfrm>
            <a:off x="1554480" y="5038344"/>
            <a:ext cx="10058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DEBD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Use the SAME multiplier as a forward change</a:t>
            </a:r>
            <a:endParaRPr lang="en-US" sz="1800" dirty="0"/>
          </a:p>
        </p:txBody>
      </p:sp>
      <p:sp>
        <p:nvSpPr>
          <p:cNvPr id="51" name="Shape 49"/>
          <p:cNvSpPr/>
          <p:nvPr/>
        </p:nvSpPr>
        <p:spPr>
          <a:xfrm>
            <a:off x="868680" y="5751576"/>
            <a:ext cx="475488" cy="475488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52" name="Text 50"/>
          <p:cNvSpPr/>
          <p:nvPr/>
        </p:nvSpPr>
        <p:spPr>
          <a:xfrm>
            <a:off x="868680" y="575157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200" dirty="0"/>
          </a:p>
        </p:txBody>
      </p:sp>
      <p:sp>
        <p:nvSpPr>
          <p:cNvPr id="53" name="Text 51"/>
          <p:cNvSpPr/>
          <p:nvPr/>
        </p:nvSpPr>
        <p:spPr>
          <a:xfrm>
            <a:off x="1554480" y="5751576"/>
            <a:ext cx="10058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DEBD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Never just take the % off the new amount</a:t>
            </a:r>
            <a:endParaRPr lang="en-US" sz="1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50" kern="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REVERSE PERCENTAGES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Finding the Original Amount</a:t>
            </a:r>
            <a:endParaRPr lang="en-US" sz="2700" dirty="0"/>
          </a:p>
        </p:txBody>
      </p:sp>
      <p:sp>
        <p:nvSpPr>
          <p:cNvPr id="41" name="Shape 39"/>
          <p:cNvSpPr/>
          <p:nvPr/>
        </p:nvSpPr>
        <p:spPr>
          <a:xfrm>
            <a:off x="566928" y="1417320"/>
            <a:ext cx="11064240" cy="777240"/>
          </a:xfrm>
          <a:prstGeom prst="roundRect">
            <a:avLst>
              <a:gd name="adj" fmla="val 7059"/>
            </a:avLst>
          </a:prstGeom>
          <a:solidFill>
            <a:srgbClr val="16261F"/>
          </a:solidFill>
          <a:ln/>
          <a:effectLst>
            <a:outerShdw sx="100000" sy="100000" kx="0" ky="0" algn="bl" rotWithShape="0" blurRad="88900" dist="38100" dir="5400000">
              <a:srgbClr val="000000">
                <a:alpha val="18000"/>
              </a:srgbClr>
            </a:outerShdw>
          </a:effectLst>
        </p:spPr>
      </p:sp>
      <p:sp>
        <p:nvSpPr>
          <p:cNvPr id="42" name="Text 40"/>
          <p:cNvSpPr/>
          <p:nvPr/>
        </p:nvSpPr>
        <p:spPr>
          <a:xfrm>
            <a:off x="886968" y="1417320"/>
            <a:ext cx="10424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E0A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forward rule is  ORIGINAL × multiplier = NEW. </a:t>
            </a:r>
            <a:pPr algn="l" indent="0" marL="0">
              <a:buNone/>
            </a:pPr>
            <a:r>
              <a:rPr lang="en-US" sz="1400" dirty="0">
                <a:solidFill>
                  <a:srgbClr val="EDE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to go back, DIVIDE by the multiplier.</a:t>
            </a:r>
            <a:endParaRPr lang="en-US" sz="1400" dirty="0"/>
          </a:p>
        </p:txBody>
      </p:sp>
      <p:sp>
        <p:nvSpPr>
          <p:cNvPr id="43" name="Shape 41"/>
          <p:cNvSpPr/>
          <p:nvPr/>
        </p:nvSpPr>
        <p:spPr>
          <a:xfrm>
            <a:off x="2194560" y="2468880"/>
            <a:ext cx="7799832" cy="1051560"/>
          </a:xfrm>
          <a:prstGeom prst="roundRect">
            <a:avLst>
              <a:gd name="adj" fmla="val 5217"/>
            </a:avLst>
          </a:prstGeom>
          <a:solidFill>
            <a:srgbClr val="16261F"/>
          </a:solidFill>
          <a:ln/>
          <a:effectLst>
            <a:outerShdw sx="100000" sy="100000" kx="0" ky="0" algn="bl" rotWithShape="0" blurRad="88900" dist="38100" dir="5400000">
              <a:srgbClr val="000000">
                <a:alpha val="18000"/>
              </a:srgbClr>
            </a:outerShdw>
          </a:effectLst>
        </p:spPr>
      </p:sp>
      <p:sp>
        <p:nvSpPr>
          <p:cNvPr id="44" name="Text 42"/>
          <p:cNvSpPr/>
          <p:nvPr/>
        </p:nvSpPr>
        <p:spPr>
          <a:xfrm>
            <a:off x="2194560" y="2468880"/>
            <a:ext cx="779983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E0AC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ORIGINAL  =  NEW  ÷  multiplier</a:t>
            </a:r>
            <a:endParaRPr lang="en-US" sz="2600" dirty="0"/>
          </a:p>
        </p:txBody>
      </p:sp>
      <p:sp>
        <p:nvSpPr>
          <p:cNvPr id="45" name="Shape 43"/>
          <p:cNvSpPr/>
          <p:nvPr/>
        </p:nvSpPr>
        <p:spPr>
          <a:xfrm>
            <a:off x="566928" y="3840480"/>
            <a:ext cx="5440680" cy="2011680"/>
          </a:xfrm>
          <a:prstGeom prst="roundRect">
            <a:avLst>
              <a:gd name="adj" fmla="val 2727"/>
            </a:avLst>
          </a:prstGeom>
          <a:solidFill>
            <a:srgbClr val="EEF1E8"/>
          </a:solidFill>
          <a:ln/>
          <a:effectLst>
            <a:outerShdw sx="100000" sy="100000" kx="0" ky="0" algn="bl" rotWithShape="0" blurRad="88900" dist="38100" dir="5400000">
              <a:srgbClr val="000000">
                <a:alpha val="18000"/>
              </a:srgbClr>
            </a:outerShdw>
          </a:effectLst>
        </p:spPr>
      </p:sp>
      <p:sp>
        <p:nvSpPr>
          <p:cNvPr id="46" name="Text 44"/>
          <p:cNvSpPr/>
          <p:nvPr/>
        </p:nvSpPr>
        <p:spPr>
          <a:xfrm>
            <a:off x="932688" y="4078224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After a 20% increase</a:t>
            </a:r>
            <a:endParaRPr lang="en-US" sz="1700" dirty="0"/>
          </a:p>
        </p:txBody>
      </p:sp>
      <p:sp>
        <p:nvSpPr>
          <p:cNvPr id="47" name="Text 45"/>
          <p:cNvSpPr/>
          <p:nvPr/>
        </p:nvSpPr>
        <p:spPr>
          <a:xfrm>
            <a:off x="914400" y="4572000"/>
            <a:ext cx="4754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multiplier = 1.20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5C6B6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original = new ÷ 1.2</a:t>
            </a:r>
            <a:endParaRPr lang="en-US" sz="1600" dirty="0"/>
          </a:p>
        </p:txBody>
      </p:sp>
      <p:sp>
        <p:nvSpPr>
          <p:cNvPr id="48" name="Shape 46"/>
          <p:cNvSpPr/>
          <p:nvPr/>
        </p:nvSpPr>
        <p:spPr>
          <a:xfrm>
            <a:off x="6190488" y="3840480"/>
            <a:ext cx="5440680" cy="2011680"/>
          </a:xfrm>
          <a:prstGeom prst="roundRect">
            <a:avLst>
              <a:gd name="adj" fmla="val 2727"/>
            </a:avLst>
          </a:prstGeom>
          <a:solidFill>
            <a:srgbClr val="FBF3DD"/>
          </a:solidFill>
          <a:ln/>
          <a:effectLst>
            <a:outerShdw sx="100000" sy="100000" kx="0" ky="0" algn="bl" rotWithShape="0" blurRad="88900" dist="38100" dir="5400000">
              <a:srgbClr val="000000">
                <a:alpha val="18000"/>
              </a:srgbClr>
            </a:outerShdw>
          </a:effectLst>
        </p:spPr>
      </p:sp>
      <p:sp>
        <p:nvSpPr>
          <p:cNvPr id="49" name="Text 47"/>
          <p:cNvSpPr/>
          <p:nvPr/>
        </p:nvSpPr>
        <p:spPr>
          <a:xfrm>
            <a:off x="6556248" y="4078224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After a 30% decrease</a:t>
            </a:r>
            <a:endParaRPr lang="en-US" sz="1700" dirty="0"/>
          </a:p>
        </p:txBody>
      </p:sp>
      <p:sp>
        <p:nvSpPr>
          <p:cNvPr id="50" name="Text 48"/>
          <p:cNvSpPr/>
          <p:nvPr/>
        </p:nvSpPr>
        <p:spPr>
          <a:xfrm>
            <a:off x="6537960" y="4572000"/>
            <a:ext cx="4754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multiplier = 0.70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5C6B6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original = new ÷ 0.7</a:t>
            </a:r>
            <a:endParaRPr lang="en-US" sz="16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7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50" kern="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REVERSE · WORKED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Working Backwards</a:t>
            </a:r>
            <a:endParaRPr lang="en-US" sz="2700" dirty="0"/>
          </a:p>
        </p:txBody>
      </p:sp>
      <p:sp>
        <p:nvSpPr>
          <p:cNvPr id="41" name="Shape 39"/>
          <p:cNvSpPr/>
          <p:nvPr/>
        </p:nvSpPr>
        <p:spPr>
          <a:xfrm>
            <a:off x="566928" y="1554480"/>
            <a:ext cx="6126480" cy="3246120"/>
          </a:xfrm>
          <a:prstGeom prst="roundRect">
            <a:avLst>
              <a:gd name="adj" fmla="val 1690"/>
            </a:avLst>
          </a:prstGeom>
          <a:solidFill>
            <a:srgbClr val="EEF1E8"/>
          </a:solidFill>
          <a:ln/>
          <a:effectLst>
            <a:outerShdw sx="100000" sy="100000" kx="0" ky="0" algn="bl" rotWithShape="0" blurRad="88900" dist="38100" dir="5400000">
              <a:srgbClr val="000000">
                <a:alpha val="18000"/>
              </a:srgbClr>
            </a:outerShdw>
          </a:effectLst>
        </p:spPr>
      </p:sp>
      <p:sp>
        <p:nvSpPr>
          <p:cNvPr id="42" name="Shape 40"/>
          <p:cNvSpPr/>
          <p:nvPr/>
        </p:nvSpPr>
        <p:spPr>
          <a:xfrm>
            <a:off x="6903720" y="1554480"/>
            <a:ext cx="4727448" cy="3246120"/>
          </a:xfrm>
          <a:prstGeom prst="roundRect">
            <a:avLst>
              <a:gd name="adj" fmla="val 1690"/>
            </a:avLst>
          </a:prstGeom>
          <a:solidFill>
            <a:srgbClr val="FBF3DD"/>
          </a:solidFill>
          <a:ln/>
          <a:effectLst>
            <a:outerShdw sx="100000" sy="100000" kx="0" ky="0" algn="bl" rotWithShape="0" blurRad="88900" dist="38100" dir="5400000">
              <a:srgbClr val="000000">
                <a:alpha val="18000"/>
              </a:srgbClr>
            </a:outerShdw>
          </a:effectLst>
        </p:spPr>
      </p:sp>
      <p:sp>
        <p:nvSpPr>
          <p:cNvPr id="43" name="Text 41"/>
          <p:cNvSpPr/>
          <p:nvPr/>
        </p:nvSpPr>
        <p:spPr>
          <a:xfrm>
            <a:off x="7178040" y="1755648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i="1" dirty="0">
                <a:solidFill>
                  <a:srgbClr val="C84F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Common trap</a:t>
            </a:r>
            <a:endParaRPr lang="en-US" sz="1400" dirty="0"/>
          </a:p>
        </p:txBody>
      </p:sp>
      <p:sp>
        <p:nvSpPr>
          <p:cNvPr id="44" name="Text 42"/>
          <p:cNvSpPr/>
          <p:nvPr/>
        </p:nvSpPr>
        <p:spPr>
          <a:xfrm>
            <a:off x="7223760" y="2240280"/>
            <a:ext cx="42062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35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NOT take 10% off £600 — that gives the wrong answer.</a:t>
            </a:r>
            <a:endParaRPr lang="en-US" sz="135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35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£600 is 110% of the original, not 100%.</a:t>
            </a:r>
            <a:endParaRPr lang="en-US" sz="135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35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Divide by 1.1 to undo the increase.</a:t>
            </a:r>
            <a:endParaRPr lang="en-US" sz="1350" dirty="0"/>
          </a:p>
        </p:txBody>
      </p:sp>
      <p:sp>
        <p:nvSpPr>
          <p:cNvPr id="45" name="Text 43"/>
          <p:cNvSpPr/>
          <p:nvPr/>
        </p:nvSpPr>
        <p:spPr>
          <a:xfrm>
            <a:off x="566928" y="63276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Also: a sideboard is £540 after a 23% rise → 540 ÷ 1.23 = £439.02.</a:t>
            </a:r>
            <a:endParaRPr lang="en-US" sz="1300" dirty="0"/>
          </a:p>
        </p:txBody>
      </p:sp>
      <p:sp>
        <p:nvSpPr>
          <p:cNvPr id="46" name="Shape 44"/>
          <p:cNvSpPr/>
          <p:nvPr/>
        </p:nvSpPr>
        <p:spPr>
          <a:xfrm>
            <a:off x="868680" y="1847088"/>
            <a:ext cx="329184" cy="329184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47" name="Text 45"/>
          <p:cNvSpPr/>
          <p:nvPr/>
        </p:nvSpPr>
        <p:spPr>
          <a:xfrm>
            <a:off x="868680" y="18470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48" name="Text 46"/>
          <p:cNvSpPr/>
          <p:nvPr/>
        </p:nvSpPr>
        <p:spPr>
          <a:xfrm>
            <a:off x="1362456" y="1810512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camcorder’s price rose 10%. It now costs £600.</a:t>
            </a:r>
            <a:endParaRPr lang="en-US" sz="1400" dirty="0"/>
          </a:p>
        </p:txBody>
      </p:sp>
      <p:sp>
        <p:nvSpPr>
          <p:cNvPr id="49" name="Shape 47"/>
          <p:cNvSpPr/>
          <p:nvPr/>
        </p:nvSpPr>
        <p:spPr>
          <a:xfrm>
            <a:off x="868680" y="2578608"/>
            <a:ext cx="329184" cy="329184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50" name="Text 48"/>
          <p:cNvSpPr/>
          <p:nvPr/>
        </p:nvSpPr>
        <p:spPr>
          <a:xfrm>
            <a:off x="868680" y="25786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51" name="Text 49"/>
          <p:cNvSpPr/>
          <p:nvPr/>
        </p:nvSpPr>
        <p:spPr>
          <a:xfrm>
            <a:off x="1362456" y="2542032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Increase 10% → multiplier = 1.1</a:t>
            </a:r>
            <a:endParaRPr lang="en-US" sz="1400" dirty="0"/>
          </a:p>
        </p:txBody>
      </p:sp>
      <p:sp>
        <p:nvSpPr>
          <p:cNvPr id="52" name="Shape 50"/>
          <p:cNvSpPr/>
          <p:nvPr/>
        </p:nvSpPr>
        <p:spPr>
          <a:xfrm>
            <a:off x="868680" y="3310128"/>
            <a:ext cx="329184" cy="329184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53" name="Text 51"/>
          <p:cNvSpPr/>
          <p:nvPr/>
        </p:nvSpPr>
        <p:spPr>
          <a:xfrm>
            <a:off x="868680" y="331012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54" name="Text 52"/>
          <p:cNvSpPr/>
          <p:nvPr/>
        </p:nvSpPr>
        <p:spPr>
          <a:xfrm>
            <a:off x="1362456" y="3273552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 = NEW ÷ multiplier = 600 ÷ 1.1</a:t>
            </a:r>
            <a:endParaRPr lang="en-US" sz="1400" dirty="0"/>
          </a:p>
        </p:txBody>
      </p:sp>
      <p:sp>
        <p:nvSpPr>
          <p:cNvPr id="55" name="Shape 53"/>
          <p:cNvSpPr/>
          <p:nvPr/>
        </p:nvSpPr>
        <p:spPr>
          <a:xfrm>
            <a:off x="868680" y="4041648"/>
            <a:ext cx="329184" cy="329184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56" name="Text 54"/>
          <p:cNvSpPr/>
          <p:nvPr/>
        </p:nvSpPr>
        <p:spPr>
          <a:xfrm>
            <a:off x="868680" y="40416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57" name="Text 55"/>
          <p:cNvSpPr/>
          <p:nvPr/>
        </p:nvSpPr>
        <p:spPr>
          <a:xfrm>
            <a:off x="1362456" y="4005072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</a:t>
            </a:r>
            <a:pPr indent="0" marL="0">
              <a:buNone/>
            </a:pPr>
            <a:r>
              <a:rPr lang="en-US" sz="1400" b="1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£545.45</a:t>
            </a:r>
            <a:pPr indent="0" marL="0">
              <a:buNone/>
            </a:pPr>
            <a:r>
              <a:rPr lang="en-US" sz="140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(nearest penny)</a:t>
            </a:r>
            <a:endParaRPr lang="en-US" sz="1400" dirty="0"/>
          </a:p>
        </p:txBody>
      </p:sp>
      <p:sp>
        <p:nvSpPr>
          <p:cNvPr id="58" name="Shape 56"/>
          <p:cNvSpPr/>
          <p:nvPr/>
        </p:nvSpPr>
        <p:spPr>
          <a:xfrm>
            <a:off x="566928" y="5074920"/>
            <a:ext cx="11064240" cy="1143000"/>
          </a:xfrm>
          <a:prstGeom prst="roundRect">
            <a:avLst>
              <a:gd name="adj" fmla="val 4800"/>
            </a:avLst>
          </a:prstGeom>
          <a:solidFill>
            <a:srgbClr val="16261F"/>
          </a:solidFill>
          <a:ln/>
          <a:effectLst>
            <a:outerShdw sx="100000" sy="100000" kx="0" ky="0" algn="bl" rotWithShape="0" blurRad="88900" dist="38100" dir="5400000">
              <a:srgbClr val="000000">
                <a:alpha val="18000"/>
              </a:srgbClr>
            </a:outerShdw>
          </a:effectLst>
        </p:spPr>
      </p:sp>
      <p:sp>
        <p:nvSpPr>
          <p:cNvPr id="59" name="Text 57"/>
          <p:cNvSpPr/>
          <p:nvPr/>
        </p:nvSpPr>
        <p:spPr>
          <a:xfrm>
            <a:off x="841248" y="5074920"/>
            <a:ext cx="10515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E0AC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Original price = £545.45</a:t>
            </a:r>
            <a:endParaRPr lang="en-US" sz="23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C2A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777240" y="640080"/>
            <a:ext cx="603504" cy="603504"/>
          </a:xfrm>
          <a:prstGeom prst="roundRect">
            <a:avLst>
              <a:gd name="adj" fmla="val 15152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777240" y="640080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8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pPr algn="ctr" indent="0" marL="0">
              <a:buNone/>
            </a:pPr>
            <a:r>
              <a:rPr lang="en-US" sz="198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π</a:t>
            </a:r>
            <a:endParaRPr lang="en-US" sz="1980" dirty="0"/>
          </a:p>
        </p:txBody>
      </p:sp>
      <p:sp>
        <p:nvSpPr>
          <p:cNvPr id="39" name="Text 37"/>
          <p:cNvSpPr/>
          <p:nvPr/>
        </p:nvSpPr>
        <p:spPr>
          <a:xfrm>
            <a:off x="1554480" y="676656"/>
            <a:ext cx="8229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E0A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THE EXAM</a:t>
            </a:r>
            <a:endParaRPr lang="en-US" sz="1250" dirty="0"/>
          </a:p>
        </p:txBody>
      </p:sp>
      <p:sp>
        <p:nvSpPr>
          <p:cNvPr id="40" name="Text 38"/>
          <p:cNvSpPr/>
          <p:nvPr/>
        </p:nvSpPr>
        <p:spPr>
          <a:xfrm>
            <a:off x="777240" y="1691640"/>
            <a:ext cx="10789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E0AC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Past-Paper Questions</a:t>
            </a:r>
            <a:endParaRPr lang="en-US" sz="4400" dirty="0"/>
          </a:p>
        </p:txBody>
      </p:sp>
      <p:sp>
        <p:nvSpPr>
          <p:cNvPr id="41" name="Text 39"/>
          <p:cNvSpPr/>
          <p:nvPr/>
        </p:nvSpPr>
        <p:spPr>
          <a:xfrm>
            <a:off x="804672" y="269748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EDEBD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Original past-paper questions — apply the multiplier method to each; watch for reverse ones.</a:t>
            </a:r>
            <a:endParaRPr lang="en-US" sz="1800" dirty="0"/>
          </a:p>
        </p:txBody>
      </p:sp>
      <p:sp>
        <p:nvSpPr>
          <p:cNvPr id="42" name="Shape 40"/>
          <p:cNvSpPr/>
          <p:nvPr/>
        </p:nvSpPr>
        <p:spPr>
          <a:xfrm>
            <a:off x="868680" y="3611880"/>
            <a:ext cx="475488" cy="475488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43" name="Text 41"/>
          <p:cNvSpPr/>
          <p:nvPr/>
        </p:nvSpPr>
        <p:spPr>
          <a:xfrm>
            <a:off x="868680" y="361188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44" name="Text 42"/>
          <p:cNvSpPr/>
          <p:nvPr/>
        </p:nvSpPr>
        <p:spPr>
          <a:xfrm>
            <a:off x="1554480" y="3611880"/>
            <a:ext cx="10058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DEBD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 carefully: increase, decrease or reverse?</a:t>
            </a:r>
            <a:endParaRPr lang="en-US" sz="1800" dirty="0"/>
          </a:p>
        </p:txBody>
      </p:sp>
      <p:sp>
        <p:nvSpPr>
          <p:cNvPr id="45" name="Shape 43"/>
          <p:cNvSpPr/>
          <p:nvPr/>
        </p:nvSpPr>
        <p:spPr>
          <a:xfrm>
            <a:off x="868680" y="4325112"/>
            <a:ext cx="475488" cy="475488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46" name="Text 44"/>
          <p:cNvSpPr/>
          <p:nvPr/>
        </p:nvSpPr>
        <p:spPr>
          <a:xfrm>
            <a:off x="868680" y="432511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200" dirty="0"/>
          </a:p>
        </p:txBody>
      </p:sp>
      <p:sp>
        <p:nvSpPr>
          <p:cNvPr id="47" name="Text 45"/>
          <p:cNvSpPr/>
          <p:nvPr/>
        </p:nvSpPr>
        <p:spPr>
          <a:xfrm>
            <a:off x="1554480" y="4325112"/>
            <a:ext cx="10058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DEBD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Choose the correct multiplier</a:t>
            </a:r>
            <a:endParaRPr lang="en-US" sz="1800" dirty="0"/>
          </a:p>
        </p:txBody>
      </p:sp>
      <p:sp>
        <p:nvSpPr>
          <p:cNvPr id="48" name="Shape 46"/>
          <p:cNvSpPr/>
          <p:nvPr/>
        </p:nvSpPr>
        <p:spPr>
          <a:xfrm>
            <a:off x="868680" y="5038344"/>
            <a:ext cx="475488" cy="475488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49" name="Text 47"/>
          <p:cNvSpPr/>
          <p:nvPr/>
        </p:nvSpPr>
        <p:spPr>
          <a:xfrm>
            <a:off x="868680" y="503834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200" dirty="0"/>
          </a:p>
        </p:txBody>
      </p:sp>
      <p:sp>
        <p:nvSpPr>
          <p:cNvPr id="50" name="Text 48"/>
          <p:cNvSpPr/>
          <p:nvPr/>
        </p:nvSpPr>
        <p:spPr>
          <a:xfrm>
            <a:off x="1554480" y="5038344"/>
            <a:ext cx="10058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DEBD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 ‘original amount’ → divide</a:t>
            </a:r>
            <a:endParaRPr lang="en-US" sz="1800" dirty="0"/>
          </a:p>
        </p:txBody>
      </p:sp>
      <p:sp>
        <p:nvSpPr>
          <p:cNvPr id="51" name="Shape 49"/>
          <p:cNvSpPr/>
          <p:nvPr/>
        </p:nvSpPr>
        <p:spPr>
          <a:xfrm>
            <a:off x="868680" y="5751576"/>
            <a:ext cx="475488" cy="475488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52" name="Text 50"/>
          <p:cNvSpPr/>
          <p:nvPr/>
        </p:nvSpPr>
        <p:spPr>
          <a:xfrm>
            <a:off x="868680" y="575157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200" dirty="0"/>
          </a:p>
        </p:txBody>
      </p:sp>
      <p:sp>
        <p:nvSpPr>
          <p:cNvPr id="53" name="Text 51"/>
          <p:cNvSpPr/>
          <p:nvPr/>
        </p:nvSpPr>
        <p:spPr>
          <a:xfrm>
            <a:off x="1554480" y="5751576"/>
            <a:ext cx="10058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DEBD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Show clear working</a:t>
            </a:r>
            <a:endParaRPr lang="en-US" sz="1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7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50" kern="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PAST-PAPER QUESTION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Question 1</a:t>
            </a:r>
            <a:endParaRPr lang="en-US" sz="2700" dirty="0"/>
          </a:p>
        </p:txBody>
      </p:sp>
      <p:sp>
        <p:nvSpPr>
          <p:cNvPr id="41" name="Shape 39"/>
          <p:cNvSpPr/>
          <p:nvPr/>
        </p:nvSpPr>
        <p:spPr>
          <a:xfrm>
            <a:off x="856336" y="2999559"/>
            <a:ext cx="10479024" cy="2139043"/>
          </a:xfrm>
          <a:prstGeom prst="rect">
            <a:avLst/>
          </a:prstGeom>
          <a:solidFill>
            <a:srgbClr val="FFFFFF"/>
          </a:solidFill>
          <a:ln w="12700">
            <a:solidFill>
              <a:srgbClr val="E4E2D6"/>
            </a:solidFill>
            <a:prstDash val="solid"/>
          </a:ln>
          <a:effectLst>
            <a:outerShdw sx="100000" sy="100000" kx="0" ky="0" algn="bl" rotWithShape="0" blurRad="76200" dist="38100" dir="5400000">
              <a:srgbClr val="000000">
                <a:alpha val="15000"/>
              </a:srgbClr>
            </a:outerShdw>
          </a:effectLst>
        </p:spPr>
      </p:sp>
      <p:pic>
        <p:nvPicPr>
          <p:cNvPr id="42" name="Image 0" descr="/tmp/work/ppslide-2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9488" y="3072711"/>
            <a:ext cx="10332720" cy="1992739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7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50" kern="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PAST-PAPER QUESTION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Question 2</a:t>
            </a:r>
            <a:endParaRPr lang="en-US" sz="2700" dirty="0"/>
          </a:p>
        </p:txBody>
      </p:sp>
      <p:sp>
        <p:nvSpPr>
          <p:cNvPr id="41" name="Shape 39"/>
          <p:cNvSpPr/>
          <p:nvPr/>
        </p:nvSpPr>
        <p:spPr>
          <a:xfrm>
            <a:off x="856336" y="2847848"/>
            <a:ext cx="10479024" cy="2442464"/>
          </a:xfrm>
          <a:prstGeom prst="rect">
            <a:avLst/>
          </a:prstGeom>
          <a:solidFill>
            <a:srgbClr val="FFFFFF"/>
          </a:solidFill>
          <a:ln w="12700">
            <a:solidFill>
              <a:srgbClr val="E4E2D6"/>
            </a:solidFill>
            <a:prstDash val="solid"/>
          </a:ln>
          <a:effectLst>
            <a:outerShdw sx="100000" sy="100000" kx="0" ky="0" algn="bl" rotWithShape="0" blurRad="76200" dist="38100" dir="5400000">
              <a:srgbClr val="000000">
                <a:alpha val="15000"/>
              </a:srgbClr>
            </a:outerShdw>
          </a:effectLst>
        </p:spPr>
      </p:sp>
      <p:pic>
        <p:nvPicPr>
          <p:cNvPr id="42" name="Image 0" descr="/tmp/work/ppslide-2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9488" y="2921000"/>
            <a:ext cx="10332720" cy="229616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7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50" kern="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PAST-PAPER QUESTION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Question 3</a:t>
            </a:r>
            <a:endParaRPr lang="en-US" sz="2700" dirty="0"/>
          </a:p>
        </p:txBody>
      </p:sp>
      <p:sp>
        <p:nvSpPr>
          <p:cNvPr id="41" name="Shape 39"/>
          <p:cNvSpPr/>
          <p:nvPr/>
        </p:nvSpPr>
        <p:spPr>
          <a:xfrm>
            <a:off x="3737850" y="1458468"/>
            <a:ext cx="4715994" cy="5221224"/>
          </a:xfrm>
          <a:prstGeom prst="rect">
            <a:avLst/>
          </a:prstGeom>
          <a:solidFill>
            <a:srgbClr val="FFFFFF"/>
          </a:solidFill>
          <a:ln w="12700">
            <a:solidFill>
              <a:srgbClr val="E4E2D6"/>
            </a:solidFill>
            <a:prstDash val="solid"/>
          </a:ln>
          <a:effectLst>
            <a:outerShdw sx="100000" sy="100000" kx="0" ky="0" algn="bl" rotWithShape="0" blurRad="76200" dist="38100" dir="5400000">
              <a:srgbClr val="000000">
                <a:alpha val="15000"/>
              </a:srgbClr>
            </a:outerShdw>
          </a:effectLst>
        </p:spPr>
      </p:sp>
      <p:pic>
        <p:nvPicPr>
          <p:cNvPr id="42" name="Image 0" descr="/tmp/work/ppslide-2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811002" y="1531620"/>
            <a:ext cx="4569690" cy="507492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7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50" kern="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PAST-PAPER QUESTION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Question 4</a:t>
            </a:r>
            <a:endParaRPr lang="en-US" sz="2700" dirty="0"/>
          </a:p>
        </p:txBody>
      </p:sp>
      <p:sp>
        <p:nvSpPr>
          <p:cNvPr id="41" name="Shape 39"/>
          <p:cNvSpPr/>
          <p:nvPr/>
        </p:nvSpPr>
        <p:spPr>
          <a:xfrm>
            <a:off x="3293670" y="1458468"/>
            <a:ext cx="5604355" cy="5221224"/>
          </a:xfrm>
          <a:prstGeom prst="rect">
            <a:avLst/>
          </a:prstGeom>
          <a:solidFill>
            <a:srgbClr val="FFFFFF"/>
          </a:solidFill>
          <a:ln w="12700">
            <a:solidFill>
              <a:srgbClr val="E4E2D6"/>
            </a:solidFill>
            <a:prstDash val="solid"/>
          </a:ln>
          <a:effectLst>
            <a:outerShdw sx="100000" sy="100000" kx="0" ky="0" algn="bl" rotWithShape="0" blurRad="76200" dist="38100" dir="5400000">
              <a:srgbClr val="000000">
                <a:alpha val="15000"/>
              </a:srgbClr>
            </a:outerShdw>
          </a:effectLst>
        </p:spPr>
      </p:sp>
      <p:pic>
        <p:nvPicPr>
          <p:cNvPr id="42" name="Image 0" descr="/tmp/work/ppslide-2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366822" y="1531620"/>
            <a:ext cx="5458051" cy="507492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7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50" kern="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PAST-PAPER QUESTION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Question 5</a:t>
            </a:r>
            <a:endParaRPr lang="en-US" sz="2700" dirty="0"/>
          </a:p>
        </p:txBody>
      </p:sp>
      <p:sp>
        <p:nvSpPr>
          <p:cNvPr id="41" name="Shape 39"/>
          <p:cNvSpPr/>
          <p:nvPr/>
        </p:nvSpPr>
        <p:spPr>
          <a:xfrm>
            <a:off x="2781747" y="1458468"/>
            <a:ext cx="6628202" cy="5221224"/>
          </a:xfrm>
          <a:prstGeom prst="rect">
            <a:avLst/>
          </a:prstGeom>
          <a:solidFill>
            <a:srgbClr val="FFFFFF"/>
          </a:solidFill>
          <a:ln w="12700">
            <a:solidFill>
              <a:srgbClr val="E4E2D6"/>
            </a:solidFill>
            <a:prstDash val="solid"/>
          </a:ln>
          <a:effectLst>
            <a:outerShdw sx="100000" sy="100000" kx="0" ky="0" algn="bl" rotWithShape="0" blurRad="76200" dist="38100" dir="5400000">
              <a:srgbClr val="000000">
                <a:alpha val="15000"/>
              </a:srgbClr>
            </a:outerShdw>
          </a:effectLst>
        </p:spPr>
      </p:sp>
      <p:pic>
        <p:nvPicPr>
          <p:cNvPr id="42" name="Image 0" descr="/tmp/work/ppslide-3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854899" y="1531620"/>
            <a:ext cx="6481898" cy="507492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7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50" kern="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PAST-PAPER QUESTION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Question 6</a:t>
            </a:r>
            <a:endParaRPr lang="en-US" sz="2700" dirty="0"/>
          </a:p>
        </p:txBody>
      </p:sp>
      <p:sp>
        <p:nvSpPr>
          <p:cNvPr id="41" name="Shape 39"/>
          <p:cNvSpPr/>
          <p:nvPr/>
        </p:nvSpPr>
        <p:spPr>
          <a:xfrm>
            <a:off x="856336" y="2544830"/>
            <a:ext cx="10479024" cy="30485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2D6"/>
            </a:solidFill>
            <a:prstDash val="solid"/>
          </a:ln>
          <a:effectLst>
            <a:outerShdw sx="100000" sy="100000" kx="0" ky="0" algn="bl" rotWithShape="0" blurRad="76200" dist="38100" dir="5400000">
              <a:srgbClr val="000000">
                <a:alpha val="15000"/>
              </a:srgbClr>
            </a:outerShdw>
          </a:effectLst>
        </p:spPr>
      </p:sp>
      <p:pic>
        <p:nvPicPr>
          <p:cNvPr id="42" name="Image 0" descr="/tmp/work/ppslide-3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9488" y="2617982"/>
            <a:ext cx="10332720" cy="2902196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7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50" kern="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PAST-PAPER QUESTION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Question 7</a:t>
            </a:r>
            <a:endParaRPr lang="en-US" sz="2700" dirty="0"/>
          </a:p>
        </p:txBody>
      </p:sp>
      <p:sp>
        <p:nvSpPr>
          <p:cNvPr id="41" name="Shape 39"/>
          <p:cNvSpPr/>
          <p:nvPr/>
        </p:nvSpPr>
        <p:spPr>
          <a:xfrm>
            <a:off x="2761760" y="1458468"/>
            <a:ext cx="6668176" cy="5221224"/>
          </a:xfrm>
          <a:prstGeom prst="rect">
            <a:avLst/>
          </a:prstGeom>
          <a:solidFill>
            <a:srgbClr val="FFFFFF"/>
          </a:solidFill>
          <a:ln w="12700">
            <a:solidFill>
              <a:srgbClr val="E4E2D6"/>
            </a:solidFill>
            <a:prstDash val="solid"/>
          </a:ln>
          <a:effectLst>
            <a:outerShdw sx="100000" sy="100000" kx="0" ky="0" algn="bl" rotWithShape="0" blurRad="76200" dist="38100" dir="5400000">
              <a:srgbClr val="000000">
                <a:alpha val="15000"/>
              </a:srgbClr>
            </a:outerShdw>
          </a:effectLst>
        </p:spPr>
      </p:sp>
      <p:pic>
        <p:nvPicPr>
          <p:cNvPr id="42" name="Image 0" descr="/tmp/work/ppslide-3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834912" y="1531620"/>
            <a:ext cx="6521872" cy="507492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7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50" kern="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PAST-PAPER QUESTION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Question 8</a:t>
            </a:r>
            <a:endParaRPr lang="en-US" sz="2700" dirty="0"/>
          </a:p>
        </p:txBody>
      </p:sp>
      <p:sp>
        <p:nvSpPr>
          <p:cNvPr id="41" name="Shape 39"/>
          <p:cNvSpPr/>
          <p:nvPr/>
        </p:nvSpPr>
        <p:spPr>
          <a:xfrm>
            <a:off x="3826881" y="1458468"/>
            <a:ext cx="4537934" cy="5221224"/>
          </a:xfrm>
          <a:prstGeom prst="rect">
            <a:avLst/>
          </a:prstGeom>
          <a:solidFill>
            <a:srgbClr val="FFFFFF"/>
          </a:solidFill>
          <a:ln w="12700">
            <a:solidFill>
              <a:srgbClr val="E4E2D6"/>
            </a:solidFill>
            <a:prstDash val="solid"/>
          </a:ln>
          <a:effectLst>
            <a:outerShdw sx="100000" sy="100000" kx="0" ky="0" algn="bl" rotWithShape="0" blurRad="76200" dist="38100" dir="5400000">
              <a:srgbClr val="000000">
                <a:alpha val="15000"/>
              </a:srgbClr>
            </a:outerShdw>
          </a:effectLst>
        </p:spPr>
      </p:sp>
      <p:pic>
        <p:nvPicPr>
          <p:cNvPr id="42" name="Image 0" descr="/tmp/work/ppslide-3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900033" y="1531620"/>
            <a:ext cx="4391630" cy="507492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7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50" kern="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PAST-PAPER QUESTION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Question 9</a:t>
            </a:r>
            <a:endParaRPr lang="en-US" sz="2700" dirty="0"/>
          </a:p>
        </p:txBody>
      </p:sp>
      <p:sp>
        <p:nvSpPr>
          <p:cNvPr id="41" name="Shape 39"/>
          <p:cNvSpPr/>
          <p:nvPr/>
        </p:nvSpPr>
        <p:spPr>
          <a:xfrm>
            <a:off x="3696950" y="1458468"/>
            <a:ext cx="4797795" cy="5221224"/>
          </a:xfrm>
          <a:prstGeom prst="rect">
            <a:avLst/>
          </a:prstGeom>
          <a:solidFill>
            <a:srgbClr val="FFFFFF"/>
          </a:solidFill>
          <a:ln w="12700">
            <a:solidFill>
              <a:srgbClr val="E4E2D6"/>
            </a:solidFill>
            <a:prstDash val="solid"/>
          </a:ln>
          <a:effectLst>
            <a:outerShdw sx="100000" sy="100000" kx="0" ky="0" algn="bl" rotWithShape="0" blurRad="76200" dist="38100" dir="5400000">
              <a:srgbClr val="000000">
                <a:alpha val="15000"/>
              </a:srgbClr>
            </a:outerShdw>
          </a:effectLst>
        </p:spPr>
      </p:sp>
      <p:pic>
        <p:nvPicPr>
          <p:cNvPr id="42" name="Image 0" descr="/tmp/work/ppslide-3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770102" y="1531620"/>
            <a:ext cx="4651491" cy="507492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7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50" kern="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PAST-PAPER QUESTION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Question 10</a:t>
            </a:r>
            <a:endParaRPr lang="en-US" sz="2700" dirty="0"/>
          </a:p>
        </p:txBody>
      </p:sp>
      <p:sp>
        <p:nvSpPr>
          <p:cNvPr id="41" name="Shape 39"/>
          <p:cNvSpPr/>
          <p:nvPr/>
        </p:nvSpPr>
        <p:spPr>
          <a:xfrm>
            <a:off x="3268501" y="1458468"/>
            <a:ext cx="5654693" cy="5221224"/>
          </a:xfrm>
          <a:prstGeom prst="rect">
            <a:avLst/>
          </a:prstGeom>
          <a:solidFill>
            <a:srgbClr val="FFFFFF"/>
          </a:solidFill>
          <a:ln w="12700">
            <a:solidFill>
              <a:srgbClr val="E4E2D6"/>
            </a:solidFill>
            <a:prstDash val="solid"/>
          </a:ln>
          <a:effectLst>
            <a:outerShdw sx="100000" sy="100000" kx="0" ky="0" algn="bl" rotWithShape="0" blurRad="76200" dist="38100" dir="5400000">
              <a:srgbClr val="000000">
                <a:alpha val="15000"/>
              </a:srgbClr>
            </a:outerShdw>
          </a:effectLst>
        </p:spPr>
      </p:sp>
      <p:pic>
        <p:nvPicPr>
          <p:cNvPr id="42" name="Image 0" descr="/tmp/work/ppslide-3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341653" y="1531620"/>
            <a:ext cx="5508389" cy="507492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7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50" kern="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PAST-PAPER QUESTION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Question 11</a:t>
            </a:r>
            <a:endParaRPr lang="en-US" sz="2700" dirty="0"/>
          </a:p>
        </p:txBody>
      </p:sp>
      <p:sp>
        <p:nvSpPr>
          <p:cNvPr id="41" name="Shape 39"/>
          <p:cNvSpPr/>
          <p:nvPr/>
        </p:nvSpPr>
        <p:spPr>
          <a:xfrm>
            <a:off x="2993407" y="1458468"/>
            <a:ext cx="6204881" cy="5221224"/>
          </a:xfrm>
          <a:prstGeom prst="rect">
            <a:avLst/>
          </a:prstGeom>
          <a:solidFill>
            <a:srgbClr val="FFFFFF"/>
          </a:solidFill>
          <a:ln w="12700">
            <a:solidFill>
              <a:srgbClr val="E4E2D6"/>
            </a:solidFill>
            <a:prstDash val="solid"/>
          </a:ln>
          <a:effectLst>
            <a:outerShdw sx="100000" sy="100000" kx="0" ky="0" algn="bl" rotWithShape="0" blurRad="76200" dist="38100" dir="5400000">
              <a:srgbClr val="000000">
                <a:alpha val="15000"/>
              </a:srgbClr>
            </a:outerShdw>
          </a:effectLst>
        </p:spPr>
      </p:sp>
      <p:pic>
        <p:nvPicPr>
          <p:cNvPr id="42" name="Image 0" descr="/tmp/work/ppslide-3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66559" y="1531620"/>
            <a:ext cx="6058577" cy="507492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1C2A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777240" y="640080"/>
            <a:ext cx="603504" cy="603504"/>
          </a:xfrm>
          <a:prstGeom prst="roundRect">
            <a:avLst>
              <a:gd name="adj" fmla="val 15152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777240" y="640080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8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pPr algn="ctr" indent="0" marL="0">
              <a:buNone/>
            </a:pPr>
            <a:r>
              <a:rPr lang="en-US" sz="198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π</a:t>
            </a:r>
            <a:endParaRPr lang="en-US" sz="1980" dirty="0"/>
          </a:p>
        </p:txBody>
      </p:sp>
      <p:sp>
        <p:nvSpPr>
          <p:cNvPr id="39" name="Text 37"/>
          <p:cNvSpPr/>
          <p:nvPr/>
        </p:nvSpPr>
        <p:spPr>
          <a:xfrm>
            <a:off x="1554480" y="676656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E0A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RECAP</a:t>
            </a:r>
            <a:endParaRPr lang="en-US" sz="1250" dirty="0"/>
          </a:p>
        </p:txBody>
      </p:sp>
      <p:sp>
        <p:nvSpPr>
          <p:cNvPr id="40" name="Text 38"/>
          <p:cNvSpPr/>
          <p:nvPr/>
        </p:nvSpPr>
        <p:spPr>
          <a:xfrm>
            <a:off x="777240" y="137160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E0AC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Key Takeaways</a:t>
            </a:r>
            <a:endParaRPr lang="en-US" sz="3800" dirty="0"/>
          </a:p>
        </p:txBody>
      </p:sp>
      <p:sp>
        <p:nvSpPr>
          <p:cNvPr id="41" name="Shape 39"/>
          <p:cNvSpPr/>
          <p:nvPr/>
        </p:nvSpPr>
        <p:spPr>
          <a:xfrm>
            <a:off x="868680" y="2368296"/>
            <a:ext cx="182880" cy="182880"/>
          </a:xfrm>
          <a:prstGeom prst="ellipse">
            <a:avLst/>
          </a:prstGeom>
          <a:solidFill>
            <a:srgbClr val="E8623D"/>
          </a:solidFill>
          <a:ln/>
        </p:spPr>
      </p:sp>
      <p:sp>
        <p:nvSpPr>
          <p:cNvPr id="42" name="Text 40"/>
          <p:cNvSpPr/>
          <p:nvPr/>
        </p:nvSpPr>
        <p:spPr>
          <a:xfrm>
            <a:off x="1234440" y="2331720"/>
            <a:ext cx="10424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DE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 the percentage into a MULTIPLIER, then multiply — one step.</a:t>
            </a:r>
            <a:endParaRPr lang="en-US" sz="1500" dirty="0"/>
          </a:p>
        </p:txBody>
      </p:sp>
      <p:sp>
        <p:nvSpPr>
          <p:cNvPr id="43" name="Shape 41"/>
          <p:cNvSpPr/>
          <p:nvPr/>
        </p:nvSpPr>
        <p:spPr>
          <a:xfrm>
            <a:off x="868680" y="2935224"/>
            <a:ext cx="182880" cy="182880"/>
          </a:xfrm>
          <a:prstGeom prst="ellipse">
            <a:avLst/>
          </a:prstGeom>
          <a:solidFill>
            <a:srgbClr val="E8623D"/>
          </a:solidFill>
          <a:ln/>
        </p:spPr>
      </p:sp>
      <p:sp>
        <p:nvSpPr>
          <p:cNvPr id="44" name="Text 42"/>
          <p:cNvSpPr/>
          <p:nvPr/>
        </p:nvSpPr>
        <p:spPr>
          <a:xfrm>
            <a:off x="1234440" y="2898648"/>
            <a:ext cx="10424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DE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 of an amount → ×0.__ ;  increase → ×1.__ ;  decrease → ×0.__ .</a:t>
            </a:r>
            <a:endParaRPr lang="en-US" sz="1500" dirty="0"/>
          </a:p>
        </p:txBody>
      </p:sp>
      <p:sp>
        <p:nvSpPr>
          <p:cNvPr id="45" name="Shape 43"/>
          <p:cNvSpPr/>
          <p:nvPr/>
        </p:nvSpPr>
        <p:spPr>
          <a:xfrm>
            <a:off x="868680" y="3502152"/>
            <a:ext cx="182880" cy="182880"/>
          </a:xfrm>
          <a:prstGeom prst="ellipse">
            <a:avLst/>
          </a:prstGeom>
          <a:solidFill>
            <a:srgbClr val="E8623D"/>
          </a:solidFill>
          <a:ln/>
        </p:spPr>
      </p:sp>
      <p:sp>
        <p:nvSpPr>
          <p:cNvPr id="46" name="Text 44"/>
          <p:cNvSpPr/>
          <p:nvPr/>
        </p:nvSpPr>
        <p:spPr>
          <a:xfrm>
            <a:off x="1234440" y="3465576"/>
            <a:ext cx="10424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DE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Percentage change = (change ÷ ORIGINAL) × 100.</a:t>
            </a:r>
            <a:endParaRPr lang="en-US" sz="1500" dirty="0"/>
          </a:p>
        </p:txBody>
      </p:sp>
      <p:sp>
        <p:nvSpPr>
          <p:cNvPr id="47" name="Shape 45"/>
          <p:cNvSpPr/>
          <p:nvPr/>
        </p:nvSpPr>
        <p:spPr>
          <a:xfrm>
            <a:off x="868680" y="4069080"/>
            <a:ext cx="182880" cy="182880"/>
          </a:xfrm>
          <a:prstGeom prst="ellipse">
            <a:avLst/>
          </a:prstGeom>
          <a:solidFill>
            <a:srgbClr val="E8623D"/>
          </a:solidFill>
          <a:ln/>
        </p:spPr>
      </p:sp>
      <p:sp>
        <p:nvSpPr>
          <p:cNvPr id="48" name="Text 46"/>
          <p:cNvSpPr/>
          <p:nvPr/>
        </p:nvSpPr>
        <p:spPr>
          <a:xfrm>
            <a:off x="1234440" y="4032504"/>
            <a:ext cx="10424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DE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Profit / loss % uses the buying price as the original.</a:t>
            </a:r>
            <a:endParaRPr lang="en-US" sz="1500" dirty="0"/>
          </a:p>
        </p:txBody>
      </p:sp>
      <p:sp>
        <p:nvSpPr>
          <p:cNvPr id="49" name="Shape 47"/>
          <p:cNvSpPr/>
          <p:nvPr/>
        </p:nvSpPr>
        <p:spPr>
          <a:xfrm>
            <a:off x="868680" y="4636008"/>
            <a:ext cx="182880" cy="182880"/>
          </a:xfrm>
          <a:prstGeom prst="ellipse">
            <a:avLst/>
          </a:prstGeom>
          <a:solidFill>
            <a:srgbClr val="E8623D"/>
          </a:solidFill>
          <a:ln/>
        </p:spPr>
      </p:sp>
      <p:sp>
        <p:nvSpPr>
          <p:cNvPr id="50" name="Text 48"/>
          <p:cNvSpPr/>
          <p:nvPr/>
        </p:nvSpPr>
        <p:spPr>
          <a:xfrm>
            <a:off x="1234440" y="4599432"/>
            <a:ext cx="10424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DE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Reverse: ORIGINAL = NEW ÷ multiplier — never just take the % off.</a:t>
            </a:r>
            <a:endParaRPr lang="en-US" sz="1500" dirty="0"/>
          </a:p>
        </p:txBody>
      </p:sp>
      <p:sp>
        <p:nvSpPr>
          <p:cNvPr id="51" name="Shape 49"/>
          <p:cNvSpPr/>
          <p:nvPr/>
        </p:nvSpPr>
        <p:spPr>
          <a:xfrm>
            <a:off x="777240" y="5440680"/>
            <a:ext cx="10607040" cy="868680"/>
          </a:xfrm>
          <a:prstGeom prst="roundRect">
            <a:avLst>
              <a:gd name="adj" fmla="val 6316"/>
            </a:avLst>
          </a:prstGeom>
          <a:solidFill>
            <a:srgbClr val="16261F"/>
          </a:solidFill>
          <a:ln/>
          <a:effectLst>
            <a:outerShdw sx="100000" sy="100000" kx="0" ky="0" algn="bl" rotWithShape="0" blurRad="88900" dist="38100" dir="5400000">
              <a:srgbClr val="000000">
                <a:alpha val="18000"/>
              </a:srgbClr>
            </a:outerShdw>
          </a:effectLst>
        </p:spPr>
      </p:sp>
      <p:sp>
        <p:nvSpPr>
          <p:cNvPr id="52" name="Text 50"/>
          <p:cNvSpPr/>
          <p:nvPr/>
        </p:nvSpPr>
        <p:spPr>
          <a:xfrm>
            <a:off x="777240" y="5440680"/>
            <a:ext cx="10607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E0AC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Golden rule:  </a:t>
            </a:r>
            <a:pPr algn="ctr" indent="0" marL="0">
              <a:buNone/>
            </a:pPr>
            <a:r>
              <a:rPr lang="en-US" sz="1700" dirty="0">
                <a:solidFill>
                  <a:srgbClr val="EDEBD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decide the multiplier first — it drives every percentage question.</a:t>
            </a:r>
            <a:endParaRPr lang="en-US" sz="1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29</Slides>
  <Notes>29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Zahra Sheikh Ali</dc:creator>
  <cp:lastModifiedBy>Zahra Sheikh Ali</cp:lastModifiedBy>
  <cp:revision>1</cp:revision>
  <dcterms:created xsi:type="dcterms:W3CDTF">2026-07-11T08:59:45Z</dcterms:created>
  <dcterms:modified xsi:type="dcterms:W3CDTF">2026-07-11T08:59:45Z</dcterms:modified>
</cp:coreProperties>
</file>