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10.png" ContentType="image/png"/>
  <Override PartName="/ppt/media/image7.png" ContentType="image/png"/>
  <Override PartName="/ppt/media/image11.png" ContentType="image/png"/>
  <Override PartName="/ppt/media/image8.png" ContentType="image/png"/>
  <Override PartName="/ppt/media/image9.png" ContentType="image/png"/>
  <Override PartName="/ppt/slides/_rels/slide20.xml.rels" ContentType="application/vnd.openxmlformats-package.relationships+xml"/>
  <Override PartName="/ppt/slides/_rels/slide18.xml.rels" ContentType="application/vnd.openxmlformats-package.relationships+xml"/>
  <Override PartName="/ppt/slides/_rels/slide3.xml.rels" ContentType="application/vnd.openxmlformats-package.relationships+xml"/>
  <Override PartName="/ppt/slides/_rels/slide14.xml.rels" ContentType="application/vnd.openxmlformats-package.relationships+xml"/>
  <Override PartName="/ppt/slides/_rels/slide26.xml.rels" ContentType="application/vnd.openxmlformats-package.relationships+xml"/>
  <Override PartName="/ppt/slides/_rels/slide15.xml.rels" ContentType="application/vnd.openxmlformats-package.relationships+xml"/>
  <Override PartName="/ppt/slides/_rels/slide27.xml.rels" ContentType="application/vnd.openxmlformats-package.relationships+xml"/>
  <Override PartName="/ppt/slides/_rels/slide16.xml.rels" ContentType="application/vnd.openxmlformats-package.relationships+xml"/>
  <Override PartName="/ppt/slides/_rels/slide1.xml.rels" ContentType="application/vnd.openxmlformats-package.relationships+xml"/>
  <Override PartName="/ppt/slides/_rels/slide28.xml.rels" ContentType="application/vnd.openxmlformats-package.relationships+xml"/>
  <Override PartName="/ppt/slides/_rels/slide17.xml.rels" ContentType="application/vnd.openxmlformats-package.relationships+xml"/>
  <Override PartName="/ppt/slides/_rels/slide2.xml.rels" ContentType="application/vnd.openxmlformats-package.relationships+xml"/>
  <Override PartName="/ppt/slides/_rels/slide29.xml.rels" ContentType="application/vnd.openxmlformats-package.relationships+xml"/>
  <Override PartName="/ppt/slides/_rels/slide4.xml.rels" ContentType="application/vnd.openxmlformats-package.relationships+xml"/>
  <Override PartName="/ppt/slides/_rels/slide21.xml.rels" ContentType="application/vnd.openxmlformats-package.relationships+xml"/>
  <Override PartName="/ppt/slides/_rels/slide19.xml.rels" ContentType="application/vnd.openxmlformats-package.relationships+xml"/>
  <Override PartName="/ppt/slides/_rels/slide13.xml.rels" ContentType="application/vnd.openxmlformats-package.relationships+xml"/>
  <Override PartName="/ppt/slides/_rels/slide25.xml.rels" ContentType="application/vnd.openxmlformats-package.relationships+xml"/>
  <Override PartName="/ppt/slides/_rels/slide12.xml.rels" ContentType="application/vnd.openxmlformats-package.relationships+xml"/>
  <Override PartName="/ppt/slides/_rels/slide24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23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22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slide20.xml" ContentType="application/vnd.openxmlformats-officedocument.presentationml.slide+xml"/>
  <Override PartName="/ppt/slides/slide18.xml" ContentType="application/vnd.openxmlformats-officedocument.presentationml.slide+xml"/>
  <Override PartName="/ppt/slides/slide26.xml" ContentType="application/vnd.openxmlformats-officedocument.presentationml.slide+xml"/>
  <Override PartName="/ppt/slides/slide1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21.xml" ContentType="application/vnd.openxmlformats-officedocument.presentationml.slide+xml"/>
  <Override PartName="/ppt/slides/slide19.xml" ContentType="application/vnd.openxmlformats-officedocument.presentationml.slide+xml"/>
  <Override PartName="/ppt/slides/slide22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23.xml" ContentType="application/vnd.openxmlformats-officedocument.presentationml.slide+xml"/>
  <Override PartName="/ppt/slides/slide15.xml" ContentType="application/vnd.openxmlformats-officedocument.presentationml.slide+xml"/>
  <Override PartName="/ppt/slides/slide7.xml" ContentType="application/vnd.openxmlformats-officedocument.presentationml.slide+xml"/>
  <Override PartName="/ppt/slides/slide2.xml" ContentType="application/vnd.openxmlformats-officedocument.presentationml.slide+xml"/>
  <Override PartName="/ppt/slides/slide10.xml" ContentType="application/vnd.openxmlformats-officedocument.presentationml.slide+xml"/>
  <Override PartName="/ppt/slides/slide24.xml" ContentType="application/vnd.openxmlformats-officedocument.presentationml.slide+xml"/>
  <Override PartName="/ppt/slides/slide16.xml" ContentType="application/vnd.openxmlformats-officedocument.presentationml.slide+xml"/>
  <Override PartName="/ppt/slides/slide8.xml" ContentType="application/vnd.openxmlformats-officedocument.presentationml.slide+xml"/>
  <Override PartName="/ppt/slides/slide3.xml" ContentType="application/vnd.openxmlformats-officedocument.presentationml.slide+xml"/>
  <Override PartName="/ppt/slides/slide11.xml" ContentType="application/vnd.openxmlformats-officedocument.presentationml.slide+xml"/>
  <Override PartName="/ppt/slides/slide25.xml" ContentType="application/vnd.openxmlformats-officedocument.presentationml.slide+xml"/>
  <Override PartName="/ppt/slides/slide17.xml" ContentType="application/vnd.openxmlformats-officedocument.presentationml.slide+xml"/>
  <Override PartName="/ppt/slides/slide9.xml" ContentType="application/vnd.openxmlformats-officedocument.presentationml.slide+xml"/>
  <Override PartName="/ppt/slides/slide4.xml" ContentType="application/vnd.openxmlformats-officedocument.presentationml.slide+xml"/>
  <Override PartName="/ppt/slides/slide12.xml" ContentType="application/vnd.openxmlformats-officedocument.presentationml.slide+xml"/>
  <Override PartName="/ppt/slides/slide5.xml" ContentType="application/vnd.openxmlformats-officedocument.presentationml.slide+xml"/>
  <Override PartName="/ppt/slides/slide13.xml" ContentType="application/vnd.openxmlformats-officedocument.presentationml.slide+xml"/>
  <Override PartName="/ppt/notesSlides/_rels/notesSlide15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6.xml.rels" ContentType="application/vnd.openxmlformats-package.relationships+xml"/>
  <Override PartName="/ppt/notesSlides/_rels/notesSlide3.xml.rels" ContentType="application/vnd.openxmlformats-package.relationships+xml"/>
  <Override PartName="/ppt/notesSlides/_rels/notesSlide17.xml.rels" ContentType="application/vnd.openxmlformats-package.relationships+xml"/>
  <Override PartName="/ppt/notesSlides/_rels/notesSlide4.xml.rels" ContentType="application/vnd.openxmlformats-package.relationships+xml"/>
  <Override PartName="/ppt/notesSlides/_rels/notesSlide18.xml.rels" ContentType="application/vnd.openxmlformats-package.relationships+xml"/>
  <Override PartName="/ppt/notesSlides/_rels/notesSlide20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9.xml.rels" ContentType="application/vnd.openxmlformats-package.relationships+xml"/>
  <Override PartName="/ppt/notesSlides/_rels/notesSlide21.xml.rels" ContentType="application/vnd.openxmlformats-package.relationships+xml"/>
  <Override PartName="/ppt/notesSlides/_rels/notesSlide6.xml.rels" ContentType="application/vnd.openxmlformats-package.relationships+xml"/>
  <Override PartName="/ppt/notesSlides/_rels/notesSlide22.xml.rels" ContentType="application/vnd.openxmlformats-package.relationships+xml"/>
  <Override PartName="/ppt/notesSlides/_rels/notesSlide7.xml.rels" ContentType="application/vnd.openxmlformats-package.relationships+xml"/>
  <Override PartName="/ppt/notesSlides/_rels/notesSlide23.xml.rels" ContentType="application/vnd.openxmlformats-package.relationships+xml"/>
  <Override PartName="/ppt/notesSlides/_rels/notesSlide8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25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29.xml.rels" ContentType="application/vnd.openxmlformats-package.relationships+xml"/>
  <Override PartName="/ppt/notesSlides/_rels/notesSlide28.xml.rels" ContentType="application/vnd.openxmlformats-package.relationships+xml"/>
  <Override PartName="/ppt/notesSlides/_rels/notesSlide24.xml.rels" ContentType="application/vnd.openxmlformats-package.relationships+xml"/>
  <Override PartName="/ppt/notesSlides/_rels/notesSlide9.xml.rels" ContentType="application/vnd.openxmlformats-package.relationships+xml"/>
  <Override PartName="/ppt/notesSlides/_rels/notesSlide27.xml.rels" ContentType="application/vnd.openxmlformats-package.relationships+xml"/>
  <Override PartName="/ppt/notesSlides/_rels/notesSlide26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1.xml.rels" ContentType="application/vnd.openxmlformats-package.relationships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move the slide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48707C64-CB6A-4FF7-A955-B4FCA53CDA1B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
</Relationships>
</file>

<file path=ppt/notesSlides/_rels/notesSlide23.xml.rels><?xml version="1.0" encoding="UTF-8"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
</Relationships>
</file>

<file path=ppt/notesSlides/_rels/notesSlide24.xml.rels><?xml version="1.0" encoding="UTF-8"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
</Relationships>
</file>

<file path=ppt/notesSlides/_rels/notesSlide25.xml.rels><?xml version="1.0" encoding="UTF-8"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
</Relationships>
</file>

<file path=ppt/notesSlides/_rels/notesSlide26.xml.rels><?xml version="1.0" encoding="UTF-8"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
</Relationships>
</file>

<file path=ppt/notesSlides/_rels/notesSlide27.xml.rels><?xml version="1.0" encoding="UTF-8"?>
<Relationships xmlns="http://schemas.openxmlformats.org/package/2006/relationships"><Relationship Id="rId1" Type="http://schemas.openxmlformats.org/officeDocument/2006/relationships/slide" Target="../slides/slide27.xml"/><Relationship Id="rId2" Type="http://schemas.openxmlformats.org/officeDocument/2006/relationships/notesMaster" Target="../notesMasters/notesMaster1.xml"/>
</Relationships>
</file>

<file path=ppt/notesSlides/_rels/notesSlide28.xml.rels><?xml version="1.0" encoding="UTF-8"?>
<Relationships xmlns="http://schemas.openxmlformats.org/package/2006/relationships"><Relationship Id="rId1" Type="http://schemas.openxmlformats.org/officeDocument/2006/relationships/slide" Target="../slides/slide28.xml"/><Relationship Id="rId2" Type="http://schemas.openxmlformats.org/officeDocument/2006/relationships/notesMaster" Target="../notesMasters/notesMaster1.xml"/>
</Relationships>
</file>

<file path=ppt/notesSlides/_rels/notesSlide29.xml.rels><?xml version="1.0" encoding="UTF-8"?>
<Relationships xmlns="http://schemas.openxmlformats.org/package/2006/relationships"><Relationship Id="rId1" Type="http://schemas.openxmlformats.org/officeDocument/2006/relationships/slide" Target="../slides/slide29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49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8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D8EE280-1ED2-4AE5-9D2D-F5D3E48B7BF6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1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007D7C0-7651-4041-8852-C43C66402F34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0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4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5C7421C-0DEE-4BD9-B094-41B759543E10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0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7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0E014BE-F2DC-4740-92AB-25A677F899CA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0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0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634D624-2ECE-4D70-94A5-D3AFAAE8AE83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1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3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118577D-AF78-4451-9ECA-B30F58C36673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1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6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8FC07F0-34C2-4621-9125-B75E88F362A7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1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9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4DDE40E-D48D-46FF-9196-668508331348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2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2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BB7F6B2-A135-4BF5-B762-5009211D2359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2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5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8D2170C-1A97-4982-9C70-90A9699CBEAF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2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8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8140388-80BD-48A2-AE23-3421FB65999E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3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1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DFD5A9E-9226-4C25-90DE-A83670966D6E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3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4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7589275-246D-44AF-B442-41D9E4B2808E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3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7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00F17AE-2335-4025-AA86-1A49F96B72AA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3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0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A3BA285-EFAD-46E1-B644-93DF0C8BC2EF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4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3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29AB961-6171-4F4F-B544-262A4472C01D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4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6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C79D12D-9D85-4FE4-89D4-CD5B169A83F7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4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9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2F67093-C058-48CD-AF26-5E6FB727FD35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5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2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18874B8-5744-45E9-9105-0ED81B974C60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5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5" name="PlaceHolder 3"/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D8294EB-1D58-4771-BD84-E0905F96F9BA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5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8" name="PlaceHolder 3"/>
          <p:cNvSpPr>
            <a:spLocks noGrp="1"/>
          </p:cNvSpPr>
          <p:nvPr>
            <p:ph type="sldNum" idx="2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3790CA0-68D4-4FA3-8890-CE239887F5ED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6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1" name="PlaceHolder 3"/>
          <p:cNvSpPr>
            <a:spLocks noGrp="1"/>
          </p:cNvSpPr>
          <p:nvPr>
            <p:ph type="sldNum" idx="2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2A7E75C-4EBC-4F89-857F-ED5D20D797FB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6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4" name="PlaceHolder 3"/>
          <p:cNvSpPr>
            <a:spLocks noGrp="1"/>
          </p:cNvSpPr>
          <p:nvPr>
            <p:ph type="sldNum" idx="2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BAF1A74-D2F8-4552-8DFA-A5E48BA1162F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7" name="PlaceHolder 3"/>
          <p:cNvSpPr>
            <a:spLocks noGrp="1"/>
          </p:cNvSpPr>
          <p:nvPr>
            <p:ph type="sldNum" idx="2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C55E3A7-BA3C-4489-B5AE-F2B6BC159C42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6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0" name="PlaceHolder 3"/>
          <p:cNvSpPr>
            <a:spLocks noGrp="1"/>
          </p:cNvSpPr>
          <p:nvPr>
            <p:ph type="sldNum" idx="2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39D5BA8-2D07-4E28-AAC3-649E864A5F7E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7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3" name="PlaceHolder 3"/>
          <p:cNvSpPr>
            <a:spLocks noGrp="1"/>
          </p:cNvSpPr>
          <p:nvPr>
            <p:ph type="sldNum" idx="2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68CA154-F639-4FC9-A3A0-1348FA14E119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7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6" name="PlaceHolder 3"/>
          <p:cNvSpPr>
            <a:spLocks noGrp="1"/>
          </p:cNvSpPr>
          <p:nvPr>
            <p:ph type="sldNum" idx="3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53736C2-883E-4A3C-AF99-F7F6A7120AB7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7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9" name="PlaceHolder 3"/>
          <p:cNvSpPr>
            <a:spLocks noGrp="1"/>
          </p:cNvSpPr>
          <p:nvPr>
            <p:ph type="sldNum" idx="3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A21F1B4-383B-4D52-BF26-E6D365369F5A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8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2" name="PlaceHolder 3"/>
          <p:cNvSpPr>
            <a:spLocks noGrp="1"/>
          </p:cNvSpPr>
          <p:nvPr>
            <p:ph type="sldNum" idx="3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44641C8-5D67-4161-824F-CF5EED47FCF3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c2a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" name="Text 35"/>
          <p:cNvSpPr/>
          <p:nvPr/>
        </p:nvSpPr>
        <p:spPr>
          <a:xfrm>
            <a:off x="8229600" y="868680"/>
            <a:ext cx="34743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en-US" sz="5200" spc="-1" strike="noStrike">
                <a:solidFill>
                  <a:srgbClr val="33463a"/>
                </a:solidFill>
                <a:latin typeface="Cambria"/>
                <a:ea typeface="Cambria"/>
              </a:rPr>
              <a:t>× 1.2</a:t>
            </a:r>
            <a:endParaRPr b="0" lang="en-US" sz="5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" name="Text 36"/>
          <p:cNvSpPr/>
          <p:nvPr/>
        </p:nvSpPr>
        <p:spPr>
          <a:xfrm>
            <a:off x="8229600" y="1554480"/>
            <a:ext cx="34743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en-US" sz="5200" spc="-1" strike="noStrike">
                <a:solidFill>
                  <a:srgbClr val="33463a"/>
                </a:solidFill>
                <a:latin typeface="Cambria"/>
                <a:ea typeface="Cambria"/>
              </a:rPr>
              <a:t>× 0.85</a:t>
            </a:r>
            <a:endParaRPr b="0" lang="en-US" sz="5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" name="Shape 37"/>
          <p:cNvSpPr/>
          <p:nvPr/>
        </p:nvSpPr>
        <p:spPr>
          <a:xfrm>
            <a:off x="777240" y="640080"/>
            <a:ext cx="658080" cy="658080"/>
          </a:xfrm>
          <a:prstGeom prst="roundRect">
            <a:avLst>
              <a:gd name="adj" fmla="val 13889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" name="Text 38"/>
          <p:cNvSpPr/>
          <p:nvPr/>
        </p:nvSpPr>
        <p:spPr>
          <a:xfrm>
            <a:off x="777240" y="640080"/>
            <a:ext cx="65808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16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216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" name="Text 39"/>
          <p:cNvSpPr/>
          <p:nvPr/>
        </p:nvSpPr>
        <p:spPr>
          <a:xfrm>
            <a:off x="1600200" y="603360"/>
            <a:ext cx="73148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299" strike="noStrike">
                <a:solidFill>
                  <a:srgbClr val="e0ac2b"/>
                </a:solidFill>
                <a:latin typeface="Calibri"/>
                <a:ea typeface="Calibri"/>
              </a:rPr>
              <a:t>Zπ  MATHS HUB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" name="Text 40"/>
          <p:cNvSpPr/>
          <p:nvPr/>
        </p:nvSpPr>
        <p:spPr>
          <a:xfrm>
            <a:off x="1600200" y="91440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c9d2c5"/>
                </a:solidFill>
                <a:latin typeface="Calibri"/>
                <a:ea typeface="Calibri"/>
              </a:rPr>
              <a:t>Pearson Edexcel IGCSE (9–1) · Higher Tier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" name="Text 41"/>
          <p:cNvSpPr/>
          <p:nvPr/>
        </p:nvSpPr>
        <p:spPr>
          <a:xfrm>
            <a:off x="777240" y="2240280"/>
            <a:ext cx="1078956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600" spc="-1" strike="noStrike">
                <a:solidFill>
                  <a:srgbClr val="e0ac2b"/>
                </a:solidFill>
                <a:latin typeface="Cambria"/>
                <a:ea typeface="Cambria"/>
              </a:rPr>
              <a:t>Percentages</a:t>
            </a:r>
            <a:endParaRPr b="0" lang="en-US" sz="4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" name="Text 42"/>
          <p:cNvSpPr/>
          <p:nvPr/>
        </p:nvSpPr>
        <p:spPr>
          <a:xfrm>
            <a:off x="804600" y="3310200"/>
            <a:ext cx="107895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600" spc="-1" strike="noStrike">
                <a:solidFill>
                  <a:srgbClr val="edebdd"/>
                </a:solidFill>
                <a:latin typeface="Cambria"/>
                <a:ea typeface="Cambria"/>
              </a:rPr>
              <a:t>% of an Amount · Increase &amp; Decrease · The Multiplier · Percentage Change · Profit &amp; Loss · Reverse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" name="Shape 43"/>
          <p:cNvSpPr/>
          <p:nvPr/>
        </p:nvSpPr>
        <p:spPr>
          <a:xfrm>
            <a:off x="777240" y="4297680"/>
            <a:ext cx="6766200" cy="1691280"/>
          </a:xfrm>
          <a:prstGeom prst="roundRect">
            <a:avLst>
              <a:gd name="adj" fmla="val 3243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" name="Text 44"/>
          <p:cNvSpPr/>
          <p:nvPr/>
        </p:nvSpPr>
        <p:spPr>
          <a:xfrm>
            <a:off x="1097280" y="4498920"/>
            <a:ext cx="61261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e0ac2b"/>
                </a:solidFill>
                <a:latin typeface="Cambria"/>
                <a:ea typeface="Cambria"/>
              </a:rPr>
              <a:t>Zahra Sheikh Ali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" name="Text 45"/>
          <p:cNvSpPr/>
          <p:nvPr/>
        </p:nvSpPr>
        <p:spPr>
          <a:xfrm>
            <a:off x="1097280" y="4956120"/>
            <a:ext cx="62175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50" spc="-1" strike="noStrike">
                <a:solidFill>
                  <a:srgbClr val="c9d2c5"/>
                </a:solidFill>
                <a:latin typeface="Cambria"/>
                <a:ea typeface="Cambria"/>
              </a:rPr>
              <a:t>IGCSE Mathematics Teacher  ·  M.Sc. Differential Geometry &amp; Geometric Control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" name="Text 46"/>
          <p:cNvSpPr/>
          <p:nvPr/>
        </p:nvSpPr>
        <p:spPr>
          <a:xfrm>
            <a:off x="1097280" y="5394960"/>
            <a:ext cx="62175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e8623d"/>
                </a:solidFill>
                <a:latin typeface="Calibri"/>
                <a:ea typeface="Calibri"/>
              </a:rPr>
              <a:t>☎  </a:t>
            </a:r>
            <a:r>
              <a:rPr b="1" lang="en-US" sz="1250" spc="-1" strike="noStrike">
                <a:solidFill>
                  <a:srgbClr val="e8623d"/>
                </a:solidFill>
                <a:latin typeface="Calibri"/>
                <a:ea typeface="Calibri"/>
              </a:rPr>
              <a:t>66613748      ✉  zahraa.sheikhali@outlook.com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1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LESSON OVERVIEW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Everything Runs on the Multiplier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Shape 39"/>
          <p:cNvSpPr/>
          <p:nvPr/>
        </p:nvSpPr>
        <p:spPr>
          <a:xfrm>
            <a:off x="567000" y="1481400"/>
            <a:ext cx="11063880" cy="822600"/>
          </a:xfrm>
          <a:prstGeom prst="roundRect">
            <a:avLst>
              <a:gd name="adj" fmla="val 6667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" name="Text 40"/>
          <p:cNvSpPr/>
          <p:nvPr/>
        </p:nvSpPr>
        <p:spPr>
          <a:xfrm>
            <a:off x="887040" y="1481400"/>
            <a:ext cx="104238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e0ac2b"/>
                </a:solidFill>
                <a:latin typeface="Calibri"/>
                <a:ea typeface="Calibri"/>
              </a:rPr>
              <a:t>One idea ties it all together: the multiplier. </a:t>
            </a:r>
            <a:r>
              <a:rPr b="0" lang="en-US" sz="1400" spc="-1" strike="noStrike">
                <a:solidFill>
                  <a:srgbClr val="edebdd"/>
                </a:solidFill>
                <a:latin typeface="Calibri"/>
                <a:ea typeface="Calibri"/>
              </a:rPr>
              <a:t>Turn a percentage into a decimal, then multiply. It handles ‘% of’, increase, decrease, change, profit, loss, and even working backwards.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Shape 41"/>
          <p:cNvSpPr/>
          <p:nvPr/>
        </p:nvSpPr>
        <p:spPr>
          <a:xfrm>
            <a:off x="567000" y="2651760"/>
            <a:ext cx="3501720" cy="1051200"/>
          </a:xfrm>
          <a:prstGeom prst="roundRect">
            <a:avLst>
              <a:gd name="adj" fmla="val 5217"/>
            </a:avLst>
          </a:prstGeom>
          <a:solidFill>
            <a:srgbClr val="eef1e8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Shape 42"/>
          <p:cNvSpPr/>
          <p:nvPr/>
        </p:nvSpPr>
        <p:spPr>
          <a:xfrm>
            <a:off x="822960" y="2949120"/>
            <a:ext cx="456840" cy="45684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8" name="Text 43"/>
          <p:cNvSpPr/>
          <p:nvPr/>
        </p:nvSpPr>
        <p:spPr>
          <a:xfrm>
            <a:off x="822960" y="294912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ambria"/>
                <a:ea typeface="Cambria"/>
              </a:rPr>
              <a:t>1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Text 44"/>
          <p:cNvSpPr/>
          <p:nvPr/>
        </p:nvSpPr>
        <p:spPr>
          <a:xfrm>
            <a:off x="1435680" y="2651760"/>
            <a:ext cx="254160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c2a22"/>
                </a:solidFill>
                <a:latin typeface="Cambria"/>
                <a:ea typeface="Cambria"/>
              </a:rPr>
              <a:t>Finding a % of an amount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Shape 45"/>
          <p:cNvSpPr/>
          <p:nvPr/>
        </p:nvSpPr>
        <p:spPr>
          <a:xfrm>
            <a:off x="4343400" y="2651760"/>
            <a:ext cx="3501720" cy="1051200"/>
          </a:xfrm>
          <a:prstGeom prst="roundRect">
            <a:avLst>
              <a:gd name="adj" fmla="val 5217"/>
            </a:avLst>
          </a:prstGeom>
          <a:solidFill>
            <a:srgbClr val="eef1e8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Shape 46"/>
          <p:cNvSpPr/>
          <p:nvPr/>
        </p:nvSpPr>
        <p:spPr>
          <a:xfrm>
            <a:off x="4599360" y="2949120"/>
            <a:ext cx="456840" cy="45684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2" name="Text 47"/>
          <p:cNvSpPr/>
          <p:nvPr/>
        </p:nvSpPr>
        <p:spPr>
          <a:xfrm>
            <a:off x="4599360" y="294912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ambria"/>
                <a:ea typeface="Cambria"/>
              </a:rPr>
              <a:t>2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Text 48"/>
          <p:cNvSpPr/>
          <p:nvPr/>
        </p:nvSpPr>
        <p:spPr>
          <a:xfrm>
            <a:off x="5212080" y="2651760"/>
            <a:ext cx="254160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c2a22"/>
                </a:solidFill>
                <a:latin typeface="Cambria"/>
                <a:ea typeface="Cambria"/>
              </a:rPr>
              <a:t>Increase &amp; decrease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Shape 49"/>
          <p:cNvSpPr/>
          <p:nvPr/>
        </p:nvSpPr>
        <p:spPr>
          <a:xfrm>
            <a:off x="8119800" y="2651760"/>
            <a:ext cx="3501720" cy="1051200"/>
          </a:xfrm>
          <a:prstGeom prst="roundRect">
            <a:avLst>
              <a:gd name="adj" fmla="val 5217"/>
            </a:avLst>
          </a:prstGeom>
          <a:solidFill>
            <a:srgbClr val="eef1e8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Shape 50"/>
          <p:cNvSpPr/>
          <p:nvPr/>
        </p:nvSpPr>
        <p:spPr>
          <a:xfrm>
            <a:off x="8375760" y="2949120"/>
            <a:ext cx="456840" cy="45684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6" name="Text 51"/>
          <p:cNvSpPr/>
          <p:nvPr/>
        </p:nvSpPr>
        <p:spPr>
          <a:xfrm>
            <a:off x="8375760" y="294912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ambria"/>
                <a:ea typeface="Cambria"/>
              </a:rPr>
              <a:t>3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Text 52"/>
          <p:cNvSpPr/>
          <p:nvPr/>
        </p:nvSpPr>
        <p:spPr>
          <a:xfrm>
            <a:off x="8988480" y="2651760"/>
            <a:ext cx="254160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c2a22"/>
                </a:solidFill>
                <a:latin typeface="Cambria"/>
                <a:ea typeface="Cambria"/>
              </a:rPr>
              <a:t>The multiplier method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Shape 53"/>
          <p:cNvSpPr/>
          <p:nvPr/>
        </p:nvSpPr>
        <p:spPr>
          <a:xfrm>
            <a:off x="567000" y="3996000"/>
            <a:ext cx="3501720" cy="1051200"/>
          </a:xfrm>
          <a:prstGeom prst="roundRect">
            <a:avLst>
              <a:gd name="adj" fmla="val 5217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Shape 54"/>
          <p:cNvSpPr/>
          <p:nvPr/>
        </p:nvSpPr>
        <p:spPr>
          <a:xfrm>
            <a:off x="822960" y="4293000"/>
            <a:ext cx="456840" cy="45684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0" name="Text 55"/>
          <p:cNvSpPr/>
          <p:nvPr/>
        </p:nvSpPr>
        <p:spPr>
          <a:xfrm>
            <a:off x="822960" y="429300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ambria"/>
                <a:ea typeface="Cambria"/>
              </a:rPr>
              <a:t>4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Text 56"/>
          <p:cNvSpPr/>
          <p:nvPr/>
        </p:nvSpPr>
        <p:spPr>
          <a:xfrm>
            <a:off x="1435680" y="3996000"/>
            <a:ext cx="254160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c2a22"/>
                </a:solidFill>
                <a:latin typeface="Cambria"/>
                <a:ea typeface="Cambria"/>
              </a:rPr>
              <a:t>Percentage change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Shape 57"/>
          <p:cNvSpPr/>
          <p:nvPr/>
        </p:nvSpPr>
        <p:spPr>
          <a:xfrm>
            <a:off x="4343400" y="3996000"/>
            <a:ext cx="3501720" cy="1051200"/>
          </a:xfrm>
          <a:prstGeom prst="roundRect">
            <a:avLst>
              <a:gd name="adj" fmla="val 5217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Shape 58"/>
          <p:cNvSpPr/>
          <p:nvPr/>
        </p:nvSpPr>
        <p:spPr>
          <a:xfrm>
            <a:off x="4599360" y="4293000"/>
            <a:ext cx="456840" cy="45684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4" name="Text 59"/>
          <p:cNvSpPr/>
          <p:nvPr/>
        </p:nvSpPr>
        <p:spPr>
          <a:xfrm>
            <a:off x="4599360" y="429300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ambria"/>
                <a:ea typeface="Cambria"/>
              </a:rPr>
              <a:t>5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Text 60"/>
          <p:cNvSpPr/>
          <p:nvPr/>
        </p:nvSpPr>
        <p:spPr>
          <a:xfrm>
            <a:off x="5212080" y="3996000"/>
            <a:ext cx="254160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c2a22"/>
                </a:solidFill>
                <a:latin typeface="Cambria"/>
                <a:ea typeface="Cambria"/>
              </a:rPr>
              <a:t>Profit &amp; loss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Shape 61"/>
          <p:cNvSpPr/>
          <p:nvPr/>
        </p:nvSpPr>
        <p:spPr>
          <a:xfrm>
            <a:off x="8119800" y="3996000"/>
            <a:ext cx="3501720" cy="1051200"/>
          </a:xfrm>
          <a:prstGeom prst="roundRect">
            <a:avLst>
              <a:gd name="adj" fmla="val 5217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Shape 62"/>
          <p:cNvSpPr/>
          <p:nvPr/>
        </p:nvSpPr>
        <p:spPr>
          <a:xfrm>
            <a:off x="8375760" y="4293000"/>
            <a:ext cx="456840" cy="45684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8" name="Text 63"/>
          <p:cNvSpPr/>
          <p:nvPr/>
        </p:nvSpPr>
        <p:spPr>
          <a:xfrm>
            <a:off x="8375760" y="429300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ambria"/>
                <a:ea typeface="Cambria"/>
              </a:rPr>
              <a:t>6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Text 64"/>
          <p:cNvSpPr/>
          <p:nvPr/>
        </p:nvSpPr>
        <p:spPr>
          <a:xfrm>
            <a:off x="8988480" y="3996000"/>
            <a:ext cx="254160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c2a22"/>
                </a:solidFill>
                <a:latin typeface="Cambria"/>
                <a:ea typeface="Cambria"/>
              </a:rPr>
              <a:t>Reverse percentages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Text 65"/>
          <p:cNvSpPr/>
          <p:nvPr/>
        </p:nvSpPr>
        <p:spPr>
          <a:xfrm>
            <a:off x="567000" y="6172200"/>
            <a:ext cx="11063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c84f2f"/>
                </a:solidFill>
                <a:latin typeface="Calibri"/>
                <a:ea typeface="Calibri"/>
              </a:rPr>
              <a:t>Key words:  </a:t>
            </a:r>
            <a:r>
              <a:rPr b="0" lang="en-US" sz="1300" spc="-1" strike="noStrike">
                <a:solidFill>
                  <a:srgbClr val="5c6b60"/>
                </a:solidFill>
                <a:latin typeface="Calibri"/>
                <a:ea typeface="Calibri"/>
              </a:rPr>
              <a:t>increase · decrease · multiplier · discount · VAT · profit · loss · original amount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7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STARTER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Increase or Decrease?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Shape 39"/>
          <p:cNvSpPr/>
          <p:nvPr/>
        </p:nvSpPr>
        <p:spPr>
          <a:xfrm>
            <a:off x="567000" y="1417320"/>
            <a:ext cx="11063880" cy="639720"/>
          </a:xfrm>
          <a:prstGeom prst="roundRect">
            <a:avLst>
              <a:gd name="adj" fmla="val 8571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1" name="Text 40"/>
          <p:cNvSpPr/>
          <p:nvPr/>
        </p:nvSpPr>
        <p:spPr>
          <a:xfrm>
            <a:off x="887040" y="1417320"/>
            <a:ext cx="10423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e0ac2b"/>
                </a:solidFill>
                <a:latin typeface="Calibri"/>
                <a:ea typeface="Calibri"/>
              </a:rPr>
              <a:t>Spot the key words. </a:t>
            </a:r>
            <a:r>
              <a:rPr b="0" lang="en-US" sz="1350" spc="-1" strike="noStrike">
                <a:solidFill>
                  <a:srgbClr val="edebdd"/>
                </a:solidFill>
                <a:latin typeface="Calibri"/>
                <a:ea typeface="Calibri"/>
              </a:rPr>
              <a:t>Which of these mean the amount goes UP, and which mean it goes DOWN?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Shape 41"/>
          <p:cNvSpPr/>
          <p:nvPr/>
        </p:nvSpPr>
        <p:spPr>
          <a:xfrm>
            <a:off x="567000" y="2194560"/>
            <a:ext cx="5440320" cy="3382920"/>
          </a:xfrm>
          <a:prstGeom prst="roundRect">
            <a:avLst>
              <a:gd name="adj" fmla="val 1622"/>
            </a:avLst>
          </a:prstGeom>
          <a:solidFill>
            <a:srgbClr val="eef1e8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Text 42"/>
          <p:cNvSpPr/>
          <p:nvPr/>
        </p:nvSpPr>
        <p:spPr>
          <a:xfrm>
            <a:off x="932760" y="2432160"/>
            <a:ext cx="47088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1c2a22"/>
                </a:solidFill>
                <a:latin typeface="Cambria"/>
                <a:ea typeface="Cambria"/>
              </a:rPr>
              <a:t>INCREASE  (goes up)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Shape 43"/>
          <p:cNvSpPr/>
          <p:nvPr/>
        </p:nvSpPr>
        <p:spPr>
          <a:xfrm>
            <a:off x="868680" y="2944440"/>
            <a:ext cx="164160" cy="164160"/>
          </a:xfrm>
          <a:prstGeom prst="ellipse">
            <a:avLst/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5" name="Text 44"/>
          <p:cNvSpPr/>
          <p:nvPr/>
        </p:nvSpPr>
        <p:spPr>
          <a:xfrm>
            <a:off x="1143000" y="2880360"/>
            <a:ext cx="46630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50" spc="-1" strike="noStrike">
                <a:solidFill>
                  <a:srgbClr val="1c2a22"/>
                </a:solidFill>
                <a:latin typeface="Cambria"/>
                <a:ea typeface="Cambria"/>
              </a:rPr>
              <a:t>“</a:t>
            </a:r>
            <a:r>
              <a:rPr b="0" lang="en-US" sz="1550" spc="-1" strike="noStrike">
                <a:solidFill>
                  <a:srgbClr val="1c2a22"/>
                </a:solidFill>
                <a:latin typeface="Cambria"/>
                <a:ea typeface="Cambria"/>
              </a:rPr>
              <a:t>15% pay increase”</a:t>
            </a:r>
            <a:endParaRPr b="0" lang="en-US" sz="15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Shape 45"/>
          <p:cNvSpPr/>
          <p:nvPr/>
        </p:nvSpPr>
        <p:spPr>
          <a:xfrm>
            <a:off x="868680" y="3566160"/>
            <a:ext cx="164160" cy="164160"/>
          </a:xfrm>
          <a:prstGeom prst="ellipse">
            <a:avLst/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7" name="Text 46"/>
          <p:cNvSpPr/>
          <p:nvPr/>
        </p:nvSpPr>
        <p:spPr>
          <a:xfrm>
            <a:off x="1143000" y="3502080"/>
            <a:ext cx="46630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50" spc="-1" strike="noStrike">
                <a:solidFill>
                  <a:srgbClr val="1c2a22"/>
                </a:solidFill>
                <a:latin typeface="Cambria"/>
                <a:ea typeface="Cambria"/>
              </a:rPr>
              <a:t>“</a:t>
            </a:r>
            <a:r>
              <a:rPr b="0" lang="en-US" sz="1550" spc="-1" strike="noStrike">
                <a:solidFill>
                  <a:srgbClr val="1c2a22"/>
                </a:solidFill>
                <a:latin typeface="Cambria"/>
                <a:ea typeface="Cambria"/>
              </a:rPr>
              <a:t>Fares set to rise by 30%”</a:t>
            </a:r>
            <a:endParaRPr b="0" lang="en-US" sz="15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Shape 47"/>
          <p:cNvSpPr/>
          <p:nvPr/>
        </p:nvSpPr>
        <p:spPr>
          <a:xfrm>
            <a:off x="868680" y="4187880"/>
            <a:ext cx="164160" cy="164160"/>
          </a:xfrm>
          <a:prstGeom prst="ellipse">
            <a:avLst/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9" name="Text 48"/>
          <p:cNvSpPr/>
          <p:nvPr/>
        </p:nvSpPr>
        <p:spPr>
          <a:xfrm>
            <a:off x="1143000" y="4123800"/>
            <a:ext cx="46630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50" spc="-1" strike="noStrike">
                <a:solidFill>
                  <a:srgbClr val="1c2a22"/>
                </a:solidFill>
                <a:latin typeface="Cambria"/>
                <a:ea typeface="Cambria"/>
              </a:rPr>
              <a:t>“</a:t>
            </a:r>
            <a:r>
              <a:rPr b="0" lang="en-US" sz="1550" spc="-1" strike="noStrike">
                <a:solidFill>
                  <a:srgbClr val="1c2a22"/>
                </a:solidFill>
                <a:latin typeface="Cambria"/>
                <a:ea typeface="Cambria"/>
              </a:rPr>
              <a:t>25% extra free!”</a:t>
            </a:r>
            <a:endParaRPr b="0" lang="en-US" sz="15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Shape 49"/>
          <p:cNvSpPr/>
          <p:nvPr/>
        </p:nvSpPr>
        <p:spPr>
          <a:xfrm>
            <a:off x="868680" y="4809600"/>
            <a:ext cx="164160" cy="164160"/>
          </a:xfrm>
          <a:prstGeom prst="ellipse">
            <a:avLst/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1" name="Text 50"/>
          <p:cNvSpPr/>
          <p:nvPr/>
        </p:nvSpPr>
        <p:spPr>
          <a:xfrm>
            <a:off x="1143000" y="4745880"/>
            <a:ext cx="46630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50" spc="-1" strike="noStrike">
                <a:solidFill>
                  <a:srgbClr val="1c2a22"/>
                </a:solidFill>
                <a:latin typeface="Cambria"/>
                <a:ea typeface="Cambria"/>
              </a:rPr>
              <a:t>“</a:t>
            </a:r>
            <a:r>
              <a:rPr b="0" lang="en-US" sz="1550" spc="-1" strike="noStrike">
                <a:solidFill>
                  <a:srgbClr val="1c2a22"/>
                </a:solidFill>
                <a:latin typeface="Cambria"/>
                <a:ea typeface="Cambria"/>
              </a:rPr>
              <a:t>Plus 17½% VAT”</a:t>
            </a:r>
            <a:endParaRPr b="0" lang="en-US" sz="15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Shape 51"/>
          <p:cNvSpPr/>
          <p:nvPr/>
        </p:nvSpPr>
        <p:spPr>
          <a:xfrm>
            <a:off x="6190560" y="2194560"/>
            <a:ext cx="5440320" cy="3382920"/>
          </a:xfrm>
          <a:prstGeom prst="roundRect">
            <a:avLst>
              <a:gd name="adj" fmla="val 1622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Text 52"/>
          <p:cNvSpPr/>
          <p:nvPr/>
        </p:nvSpPr>
        <p:spPr>
          <a:xfrm>
            <a:off x="6556320" y="2432160"/>
            <a:ext cx="47088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1c2a22"/>
                </a:solidFill>
                <a:latin typeface="Cambria"/>
                <a:ea typeface="Cambria"/>
              </a:rPr>
              <a:t>DECREASE  (goes down)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Shape 53"/>
          <p:cNvSpPr/>
          <p:nvPr/>
        </p:nvSpPr>
        <p:spPr>
          <a:xfrm>
            <a:off x="6492240" y="2944440"/>
            <a:ext cx="164160" cy="16416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5" name="Text 54"/>
          <p:cNvSpPr/>
          <p:nvPr/>
        </p:nvSpPr>
        <p:spPr>
          <a:xfrm>
            <a:off x="6766560" y="2880360"/>
            <a:ext cx="46630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50" spc="-1" strike="noStrike">
                <a:solidFill>
                  <a:srgbClr val="1c2a22"/>
                </a:solidFill>
                <a:latin typeface="Cambria"/>
                <a:ea typeface="Cambria"/>
              </a:rPr>
              <a:t>“</a:t>
            </a:r>
            <a:r>
              <a:rPr b="0" lang="en-US" sz="1550" spc="-1" strike="noStrike">
                <a:solidFill>
                  <a:srgbClr val="1c2a22"/>
                </a:solidFill>
                <a:latin typeface="Cambria"/>
                <a:ea typeface="Cambria"/>
              </a:rPr>
              <a:t>20% off all marked prices!”</a:t>
            </a:r>
            <a:endParaRPr b="0" lang="en-US" sz="15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" name="Shape 55"/>
          <p:cNvSpPr/>
          <p:nvPr/>
        </p:nvSpPr>
        <p:spPr>
          <a:xfrm>
            <a:off x="6492240" y="3566160"/>
            <a:ext cx="164160" cy="16416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7" name="Text 56"/>
          <p:cNvSpPr/>
          <p:nvPr/>
        </p:nvSpPr>
        <p:spPr>
          <a:xfrm>
            <a:off x="6766560" y="3502080"/>
            <a:ext cx="46630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50" spc="-1" strike="noStrike">
                <a:solidFill>
                  <a:srgbClr val="1c2a22"/>
                </a:solidFill>
                <a:latin typeface="Cambria"/>
                <a:ea typeface="Cambria"/>
              </a:rPr>
              <a:t>“</a:t>
            </a:r>
            <a:r>
              <a:rPr b="0" lang="en-US" sz="1550" spc="-1" strike="noStrike">
                <a:solidFill>
                  <a:srgbClr val="1c2a22"/>
                </a:solidFill>
                <a:latin typeface="Cambria"/>
                <a:ea typeface="Cambria"/>
              </a:rPr>
              <a:t>House prices to fall by 2%”</a:t>
            </a:r>
            <a:endParaRPr b="0" lang="en-US" sz="15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" name="Shape 57"/>
          <p:cNvSpPr/>
          <p:nvPr/>
        </p:nvSpPr>
        <p:spPr>
          <a:xfrm>
            <a:off x="6492240" y="4187880"/>
            <a:ext cx="164160" cy="16416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9" name="Text 58"/>
          <p:cNvSpPr/>
          <p:nvPr/>
        </p:nvSpPr>
        <p:spPr>
          <a:xfrm>
            <a:off x="6766560" y="4123800"/>
            <a:ext cx="46630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50" spc="-1" strike="noStrike">
                <a:solidFill>
                  <a:srgbClr val="1c2a22"/>
                </a:solidFill>
                <a:latin typeface="Cambria"/>
                <a:ea typeface="Cambria"/>
              </a:rPr>
              <a:t>“</a:t>
            </a:r>
            <a:r>
              <a:rPr b="0" lang="en-US" sz="1550" spc="-1" strike="noStrike">
                <a:solidFill>
                  <a:srgbClr val="1c2a22"/>
                </a:solidFill>
                <a:latin typeface="Cambria"/>
                <a:ea typeface="Cambria"/>
              </a:rPr>
              <a:t>SALE — now only £568”</a:t>
            </a:r>
            <a:endParaRPr b="0" lang="en-US" sz="15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Shape 59"/>
          <p:cNvSpPr/>
          <p:nvPr/>
        </p:nvSpPr>
        <p:spPr>
          <a:xfrm>
            <a:off x="6492240" y="4809600"/>
            <a:ext cx="164160" cy="16416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1" name="Text 60"/>
          <p:cNvSpPr/>
          <p:nvPr/>
        </p:nvSpPr>
        <p:spPr>
          <a:xfrm>
            <a:off x="6766560" y="4745880"/>
            <a:ext cx="46630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50" spc="-1" strike="noStrike">
                <a:solidFill>
                  <a:srgbClr val="1c2a22"/>
                </a:solidFill>
                <a:latin typeface="Cambria"/>
                <a:ea typeface="Cambria"/>
              </a:rPr>
              <a:t>“</a:t>
            </a:r>
            <a:r>
              <a:rPr b="0" lang="en-US" sz="1550" spc="-1" strike="noStrike">
                <a:solidFill>
                  <a:srgbClr val="1c2a22"/>
                </a:solidFill>
                <a:latin typeface="Cambria"/>
                <a:ea typeface="Cambria"/>
              </a:rPr>
              <a:t>30% discount today”</a:t>
            </a:r>
            <a:endParaRPr b="0" lang="en-US" sz="15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" name="Text 61"/>
          <p:cNvSpPr/>
          <p:nvPr/>
        </p:nvSpPr>
        <p:spPr>
          <a:xfrm>
            <a:off x="567000" y="5806440"/>
            <a:ext cx="11063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5c6b60"/>
                </a:solidFill>
                <a:latin typeface="Calibri"/>
                <a:ea typeface="Calibri"/>
              </a:rPr>
              <a:t>VAT, pay rises and ‘extra free’ add on; sales, discounts and ‘off’ take away.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3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6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0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2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3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5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6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8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9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PART 1 · % OF AN AMOUNT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1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Finding a Percentage of an Amount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2" name="Shape 39"/>
          <p:cNvSpPr/>
          <p:nvPr/>
        </p:nvSpPr>
        <p:spPr>
          <a:xfrm>
            <a:off x="567000" y="1554480"/>
            <a:ext cx="6126120" cy="3245760"/>
          </a:xfrm>
          <a:prstGeom prst="roundRect">
            <a:avLst>
              <a:gd name="adj" fmla="val 1690"/>
            </a:avLst>
          </a:prstGeom>
          <a:solidFill>
            <a:srgbClr val="eef1e8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3" name="Shape 40"/>
          <p:cNvSpPr/>
          <p:nvPr/>
        </p:nvSpPr>
        <p:spPr>
          <a:xfrm>
            <a:off x="6903720" y="1554480"/>
            <a:ext cx="4727160" cy="3245760"/>
          </a:xfrm>
          <a:prstGeom prst="roundRect">
            <a:avLst>
              <a:gd name="adj" fmla="val 1690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4" name="Text 41"/>
          <p:cNvSpPr/>
          <p:nvPr/>
        </p:nvSpPr>
        <p:spPr>
          <a:xfrm>
            <a:off x="7178040" y="1755720"/>
            <a:ext cx="4205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en-US" sz="1400" spc="-1" strike="noStrike">
                <a:solidFill>
                  <a:srgbClr val="c84f2f"/>
                </a:solidFill>
                <a:latin typeface="Cambria"/>
                <a:ea typeface="Cambria"/>
              </a:rPr>
              <a:t>Two ways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5" name="Text 42"/>
          <p:cNvSpPr/>
          <p:nvPr/>
        </p:nvSpPr>
        <p:spPr>
          <a:xfrm>
            <a:off x="7223760" y="2240280"/>
            <a:ext cx="4205880" cy="23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350" spc="-1" strike="noStrike">
                <a:solidFill>
                  <a:srgbClr val="1c2a22"/>
                </a:solidFill>
                <a:latin typeface="Calibri"/>
                <a:ea typeface="Calibri"/>
              </a:rPr>
              <a:t>Multiplier: turn the % into a decimal, then multiply.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350" spc="-1" strike="noStrike">
                <a:solidFill>
                  <a:srgbClr val="1c2a22"/>
                </a:solidFill>
                <a:latin typeface="Calibri"/>
                <a:ea typeface="Calibri"/>
              </a:rPr>
              <a:t>Non-calculator: find 10% (÷ 10), then scale up.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350" spc="-1" strike="noStrike">
                <a:solidFill>
                  <a:srgbClr val="1c2a22"/>
                </a:solidFill>
                <a:latin typeface="Calibri"/>
                <a:ea typeface="Calibri"/>
              </a:rPr>
              <a:t>20% is just double 10%.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6" name="Text 43"/>
          <p:cNvSpPr/>
          <p:nvPr/>
        </p:nvSpPr>
        <p:spPr>
          <a:xfrm>
            <a:off x="567000" y="6327720"/>
            <a:ext cx="11063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5c6b60"/>
                </a:solidFill>
                <a:latin typeface="Calibri"/>
                <a:ea typeface="Calibri"/>
              </a:rPr>
              <a:t>The multiplier for ‘% of’ is 0.__ — the percentage written as a decimal.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7" name="Shape 44"/>
          <p:cNvSpPr/>
          <p:nvPr/>
        </p:nvSpPr>
        <p:spPr>
          <a:xfrm>
            <a:off x="868680" y="1847160"/>
            <a:ext cx="328680" cy="32868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8" name="Text 45"/>
          <p:cNvSpPr/>
          <p:nvPr/>
        </p:nvSpPr>
        <p:spPr>
          <a:xfrm>
            <a:off x="868680" y="184716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1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" name="Text 46"/>
          <p:cNvSpPr/>
          <p:nvPr/>
        </p:nvSpPr>
        <p:spPr>
          <a:xfrm>
            <a:off x="1362600" y="1810440"/>
            <a:ext cx="548604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c2a22"/>
                </a:solidFill>
                <a:latin typeface="Calibri"/>
                <a:ea typeface="Calibri"/>
              </a:rPr>
              <a:t>Find  </a:t>
            </a:r>
            <a:r>
              <a:rPr b="1" lang="en-US" sz="1400" spc="-1" strike="noStrike">
                <a:solidFill>
                  <a:srgbClr val="1c2a22"/>
                </a:solidFill>
                <a:latin typeface="Calibri"/>
                <a:ea typeface="Calibri"/>
              </a:rPr>
              <a:t>20% of £150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0" name="Shape 47"/>
          <p:cNvSpPr/>
          <p:nvPr/>
        </p:nvSpPr>
        <p:spPr>
          <a:xfrm>
            <a:off x="868680" y="2578680"/>
            <a:ext cx="328680" cy="32868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1" name="Text 48"/>
          <p:cNvSpPr/>
          <p:nvPr/>
        </p:nvSpPr>
        <p:spPr>
          <a:xfrm>
            <a:off x="868680" y="257868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2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2" name="Text 49"/>
          <p:cNvSpPr/>
          <p:nvPr/>
        </p:nvSpPr>
        <p:spPr>
          <a:xfrm>
            <a:off x="1362600" y="2541960"/>
            <a:ext cx="548604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c2a22"/>
                </a:solidFill>
                <a:latin typeface="Calibri"/>
                <a:ea typeface="Calibri"/>
              </a:rPr>
              <a:t>Multiplier:  20% = 20 ÷ 100 = 0.2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3" name="Shape 50"/>
          <p:cNvSpPr/>
          <p:nvPr/>
        </p:nvSpPr>
        <p:spPr>
          <a:xfrm>
            <a:off x="868680" y="3310200"/>
            <a:ext cx="328680" cy="32868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4" name="Text 51"/>
          <p:cNvSpPr/>
          <p:nvPr/>
        </p:nvSpPr>
        <p:spPr>
          <a:xfrm>
            <a:off x="868680" y="331020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3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5" name="Text 52"/>
          <p:cNvSpPr/>
          <p:nvPr/>
        </p:nvSpPr>
        <p:spPr>
          <a:xfrm>
            <a:off x="1362600" y="3273480"/>
            <a:ext cx="548604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c2a22"/>
                </a:solidFill>
                <a:latin typeface="Calibri"/>
                <a:ea typeface="Calibri"/>
              </a:rPr>
              <a:t>0.2 × £150  =  </a:t>
            </a:r>
            <a:r>
              <a:rPr b="1" lang="en-US" sz="1400" spc="-1" strike="noStrike">
                <a:solidFill>
                  <a:srgbClr val="c84f2f"/>
                </a:solidFill>
                <a:latin typeface="Calibri"/>
                <a:ea typeface="Calibri"/>
              </a:rPr>
              <a:t>£30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6" name="Shape 53"/>
          <p:cNvSpPr/>
          <p:nvPr/>
        </p:nvSpPr>
        <p:spPr>
          <a:xfrm>
            <a:off x="868680" y="4041720"/>
            <a:ext cx="328680" cy="32868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7" name="Text 54"/>
          <p:cNvSpPr/>
          <p:nvPr/>
        </p:nvSpPr>
        <p:spPr>
          <a:xfrm>
            <a:off x="868680" y="404172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4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8" name="Text 55"/>
          <p:cNvSpPr/>
          <p:nvPr/>
        </p:nvSpPr>
        <p:spPr>
          <a:xfrm>
            <a:off x="1362600" y="4005000"/>
            <a:ext cx="548604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c2a22"/>
                </a:solidFill>
                <a:latin typeface="Calibri"/>
                <a:ea typeface="Calibri"/>
              </a:rPr>
              <a:t>Non-calc check: 10% = £15, so 20% = £30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9" name="Shape 56"/>
          <p:cNvSpPr/>
          <p:nvPr/>
        </p:nvSpPr>
        <p:spPr>
          <a:xfrm>
            <a:off x="567000" y="5074920"/>
            <a:ext cx="11063880" cy="1142640"/>
          </a:xfrm>
          <a:prstGeom prst="roundRect">
            <a:avLst>
              <a:gd name="adj" fmla="val 4800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0" name="Text 57"/>
          <p:cNvSpPr/>
          <p:nvPr/>
        </p:nvSpPr>
        <p:spPr>
          <a:xfrm>
            <a:off x="841320" y="5074920"/>
            <a:ext cx="1051524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300" spc="-1" strike="noStrike">
                <a:solidFill>
                  <a:srgbClr val="e0ac2b"/>
                </a:solidFill>
                <a:latin typeface="Cambria"/>
                <a:ea typeface="Cambria"/>
              </a:rPr>
              <a:t>20% of £150 = £30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2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3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4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5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6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7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8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9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0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1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2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3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4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5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6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7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8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9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0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1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2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3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4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5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6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7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8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9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0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1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2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3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4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5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6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7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8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THE KEY IDEA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9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The Multiplier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0" name="Shape 39"/>
          <p:cNvSpPr/>
          <p:nvPr/>
        </p:nvSpPr>
        <p:spPr>
          <a:xfrm>
            <a:off x="567000" y="1371600"/>
            <a:ext cx="11063880" cy="749520"/>
          </a:xfrm>
          <a:prstGeom prst="roundRect">
            <a:avLst>
              <a:gd name="adj" fmla="val 7317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1" name="Text 40"/>
          <p:cNvSpPr/>
          <p:nvPr/>
        </p:nvSpPr>
        <p:spPr>
          <a:xfrm>
            <a:off x="887040" y="1371600"/>
            <a:ext cx="1042380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e0ac2b"/>
                </a:solidFill>
                <a:latin typeface="Calibri"/>
                <a:ea typeface="Calibri"/>
              </a:rPr>
              <a:t>Every percentage question is a multiplication. </a:t>
            </a:r>
            <a:r>
              <a:rPr b="0" lang="en-US" sz="1400" spc="-1" strike="noStrike">
                <a:solidFill>
                  <a:srgbClr val="edebdd"/>
                </a:solidFill>
                <a:latin typeface="Calibri"/>
                <a:ea typeface="Calibri"/>
              </a:rPr>
              <a:t>Decide the multiplier first, then multiply the amount by it.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2" name="Shape 41"/>
          <p:cNvSpPr/>
          <p:nvPr/>
        </p:nvSpPr>
        <p:spPr>
          <a:xfrm>
            <a:off x="567000" y="2331720"/>
            <a:ext cx="3291480" cy="548280"/>
          </a:xfrm>
          <a:prstGeom prst="rect">
            <a:avLst/>
          </a:prstGeom>
          <a:solidFill>
            <a:srgbClr val="16261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3" name="Text 42"/>
          <p:cNvSpPr/>
          <p:nvPr/>
        </p:nvSpPr>
        <p:spPr>
          <a:xfrm>
            <a:off x="704160" y="2331720"/>
            <a:ext cx="30171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e0ac2b"/>
                </a:solidFill>
                <a:latin typeface="Cambria"/>
                <a:ea typeface="Cambria"/>
              </a:rPr>
              <a:t>To …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4" name="Shape 43"/>
          <p:cNvSpPr/>
          <p:nvPr/>
        </p:nvSpPr>
        <p:spPr>
          <a:xfrm>
            <a:off x="4041720" y="2331720"/>
            <a:ext cx="3565800" cy="548280"/>
          </a:xfrm>
          <a:prstGeom prst="rect">
            <a:avLst/>
          </a:prstGeom>
          <a:solidFill>
            <a:srgbClr val="16261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5" name="Text 44"/>
          <p:cNvSpPr/>
          <p:nvPr/>
        </p:nvSpPr>
        <p:spPr>
          <a:xfrm>
            <a:off x="4178880" y="2331720"/>
            <a:ext cx="32914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e0ac2b"/>
                </a:solidFill>
                <a:latin typeface="Cambria"/>
                <a:ea typeface="Cambria"/>
              </a:rPr>
              <a:t>Multiply by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6" name="Shape 45"/>
          <p:cNvSpPr/>
          <p:nvPr/>
        </p:nvSpPr>
        <p:spPr>
          <a:xfrm>
            <a:off x="7790760" y="2331720"/>
            <a:ext cx="3840120" cy="548280"/>
          </a:xfrm>
          <a:prstGeom prst="rect">
            <a:avLst/>
          </a:prstGeom>
          <a:solidFill>
            <a:srgbClr val="16261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7" name="Text 46"/>
          <p:cNvSpPr/>
          <p:nvPr/>
        </p:nvSpPr>
        <p:spPr>
          <a:xfrm>
            <a:off x="7927920" y="2331720"/>
            <a:ext cx="35658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e0ac2b"/>
                </a:solidFill>
                <a:latin typeface="Cambria"/>
                <a:ea typeface="Cambria"/>
              </a:rPr>
              <a:t>Example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8" name="Shape 47"/>
          <p:cNvSpPr/>
          <p:nvPr/>
        </p:nvSpPr>
        <p:spPr>
          <a:xfrm>
            <a:off x="567000" y="2926080"/>
            <a:ext cx="3291480" cy="959760"/>
          </a:xfrm>
          <a:prstGeom prst="rect">
            <a:avLst/>
          </a:prstGeom>
          <a:solidFill>
            <a:srgbClr val="eef1e8"/>
          </a:solidFill>
          <a:ln w="1270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9" name="Text 48"/>
          <p:cNvSpPr/>
          <p:nvPr/>
        </p:nvSpPr>
        <p:spPr>
          <a:xfrm>
            <a:off x="704160" y="2926080"/>
            <a:ext cx="301716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50" spc="-1" strike="noStrike">
                <a:solidFill>
                  <a:srgbClr val="1c2a22"/>
                </a:solidFill>
                <a:latin typeface="Cambria"/>
                <a:ea typeface="Cambria"/>
              </a:rPr>
              <a:t>find a % of an amount</a:t>
            </a:r>
            <a:endParaRPr b="0" lang="en-US" sz="16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0" name="Shape 49"/>
          <p:cNvSpPr/>
          <p:nvPr/>
        </p:nvSpPr>
        <p:spPr>
          <a:xfrm>
            <a:off x="4041720" y="2926080"/>
            <a:ext cx="3565800" cy="959760"/>
          </a:xfrm>
          <a:prstGeom prst="rect">
            <a:avLst/>
          </a:prstGeom>
          <a:solidFill>
            <a:srgbClr val="eef1e8"/>
          </a:solidFill>
          <a:ln w="1270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1" name="Text 50"/>
          <p:cNvSpPr/>
          <p:nvPr/>
        </p:nvSpPr>
        <p:spPr>
          <a:xfrm>
            <a:off x="4178880" y="2926080"/>
            <a:ext cx="329148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50" spc="-1" strike="noStrike">
                <a:solidFill>
                  <a:srgbClr val="c84f2f"/>
                </a:solidFill>
                <a:latin typeface="Cambria"/>
                <a:ea typeface="Cambria"/>
              </a:rPr>
              <a:t>0.__</a:t>
            </a:r>
            <a:r>
              <a:rPr b="0" lang="en-US" sz="1200" spc="-1" strike="noStrike">
                <a:solidFill>
                  <a:srgbClr val="5c6b60"/>
                </a:solidFill>
                <a:latin typeface="Cambria"/>
                <a:ea typeface="Cambria"/>
              </a:rPr>
              <a:t>   (% ÷ 100)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2" name="Shape 51"/>
          <p:cNvSpPr/>
          <p:nvPr/>
        </p:nvSpPr>
        <p:spPr>
          <a:xfrm>
            <a:off x="7790760" y="2926080"/>
            <a:ext cx="3840120" cy="959760"/>
          </a:xfrm>
          <a:prstGeom prst="rect">
            <a:avLst/>
          </a:prstGeom>
          <a:solidFill>
            <a:srgbClr val="eef1e8"/>
          </a:solidFill>
          <a:ln w="1270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3" name="Text 52"/>
          <p:cNvSpPr/>
          <p:nvPr/>
        </p:nvSpPr>
        <p:spPr>
          <a:xfrm>
            <a:off x="7927920" y="2926080"/>
            <a:ext cx="356580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50" spc="-1" strike="noStrike">
                <a:solidFill>
                  <a:srgbClr val="1c2a22"/>
                </a:solidFill>
                <a:latin typeface="Cambria"/>
                <a:ea typeface="Cambria"/>
              </a:rPr>
              <a:t>20%  →  × 0.20</a:t>
            </a:r>
            <a:endParaRPr b="0" lang="en-US" sz="16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4" name="Shape 53"/>
          <p:cNvSpPr/>
          <p:nvPr/>
        </p:nvSpPr>
        <p:spPr>
          <a:xfrm>
            <a:off x="567000" y="3950280"/>
            <a:ext cx="3291480" cy="959760"/>
          </a:xfrm>
          <a:prstGeom prst="rect">
            <a:avLst/>
          </a:prstGeom>
          <a:solidFill>
            <a:srgbClr val="fbf3dd"/>
          </a:solidFill>
          <a:ln w="1270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5" name="Text 54"/>
          <p:cNvSpPr/>
          <p:nvPr/>
        </p:nvSpPr>
        <p:spPr>
          <a:xfrm>
            <a:off x="704160" y="3950280"/>
            <a:ext cx="301716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50" spc="-1" strike="noStrike">
                <a:solidFill>
                  <a:srgbClr val="1c2a22"/>
                </a:solidFill>
                <a:latin typeface="Cambria"/>
                <a:ea typeface="Cambria"/>
              </a:rPr>
              <a:t>increase by a %</a:t>
            </a:r>
            <a:endParaRPr b="0" lang="en-US" sz="16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6" name="Shape 55"/>
          <p:cNvSpPr/>
          <p:nvPr/>
        </p:nvSpPr>
        <p:spPr>
          <a:xfrm>
            <a:off x="4041720" y="3950280"/>
            <a:ext cx="3565800" cy="959760"/>
          </a:xfrm>
          <a:prstGeom prst="rect">
            <a:avLst/>
          </a:prstGeom>
          <a:solidFill>
            <a:srgbClr val="fbf3dd"/>
          </a:solidFill>
          <a:ln w="1270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7" name="Text 56"/>
          <p:cNvSpPr/>
          <p:nvPr/>
        </p:nvSpPr>
        <p:spPr>
          <a:xfrm>
            <a:off x="4178880" y="3950280"/>
            <a:ext cx="329148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50" spc="-1" strike="noStrike">
                <a:solidFill>
                  <a:srgbClr val="c84f2f"/>
                </a:solidFill>
                <a:latin typeface="Cambria"/>
                <a:ea typeface="Cambria"/>
              </a:rPr>
              <a:t>1.__</a:t>
            </a:r>
            <a:r>
              <a:rPr b="0" lang="en-US" sz="1200" spc="-1" strike="noStrike">
                <a:solidFill>
                  <a:srgbClr val="5c6b60"/>
                </a:solidFill>
                <a:latin typeface="Cambria"/>
                <a:ea typeface="Cambria"/>
              </a:rPr>
              <a:t>   (100 + %)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8" name="Shape 57"/>
          <p:cNvSpPr/>
          <p:nvPr/>
        </p:nvSpPr>
        <p:spPr>
          <a:xfrm>
            <a:off x="7790760" y="3950280"/>
            <a:ext cx="3840120" cy="959760"/>
          </a:xfrm>
          <a:prstGeom prst="rect">
            <a:avLst/>
          </a:prstGeom>
          <a:solidFill>
            <a:srgbClr val="fbf3dd"/>
          </a:solidFill>
          <a:ln w="1270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9" name="Text 58"/>
          <p:cNvSpPr/>
          <p:nvPr/>
        </p:nvSpPr>
        <p:spPr>
          <a:xfrm>
            <a:off x="7927920" y="3950280"/>
            <a:ext cx="356580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50" spc="-1" strike="noStrike">
                <a:solidFill>
                  <a:srgbClr val="1c2a22"/>
                </a:solidFill>
                <a:latin typeface="Cambria"/>
                <a:ea typeface="Cambria"/>
              </a:rPr>
              <a:t>+20%  →  × 1.20</a:t>
            </a:r>
            <a:endParaRPr b="0" lang="en-US" sz="16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0" name="Shape 59"/>
          <p:cNvSpPr/>
          <p:nvPr/>
        </p:nvSpPr>
        <p:spPr>
          <a:xfrm>
            <a:off x="567000" y="4974480"/>
            <a:ext cx="3291480" cy="959760"/>
          </a:xfrm>
          <a:prstGeom prst="rect">
            <a:avLst/>
          </a:prstGeom>
          <a:solidFill>
            <a:srgbClr val="eef1e8"/>
          </a:solidFill>
          <a:ln w="1270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1" name="Text 60"/>
          <p:cNvSpPr/>
          <p:nvPr/>
        </p:nvSpPr>
        <p:spPr>
          <a:xfrm>
            <a:off x="704160" y="4974480"/>
            <a:ext cx="301716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50" spc="-1" strike="noStrike">
                <a:solidFill>
                  <a:srgbClr val="1c2a22"/>
                </a:solidFill>
                <a:latin typeface="Cambria"/>
                <a:ea typeface="Cambria"/>
              </a:rPr>
              <a:t>decrease by a %</a:t>
            </a:r>
            <a:endParaRPr b="0" lang="en-US" sz="16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2" name="Shape 61"/>
          <p:cNvSpPr/>
          <p:nvPr/>
        </p:nvSpPr>
        <p:spPr>
          <a:xfrm>
            <a:off x="4041720" y="4974480"/>
            <a:ext cx="3565800" cy="959760"/>
          </a:xfrm>
          <a:prstGeom prst="rect">
            <a:avLst/>
          </a:prstGeom>
          <a:solidFill>
            <a:srgbClr val="eef1e8"/>
          </a:solidFill>
          <a:ln w="1270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3" name="Text 62"/>
          <p:cNvSpPr/>
          <p:nvPr/>
        </p:nvSpPr>
        <p:spPr>
          <a:xfrm>
            <a:off x="4178880" y="4974480"/>
            <a:ext cx="329148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50" spc="-1" strike="noStrike">
                <a:solidFill>
                  <a:srgbClr val="c84f2f"/>
                </a:solidFill>
                <a:latin typeface="Cambria"/>
                <a:ea typeface="Cambria"/>
              </a:rPr>
              <a:t>0.__</a:t>
            </a:r>
            <a:r>
              <a:rPr b="0" lang="en-US" sz="1200" spc="-1" strike="noStrike">
                <a:solidFill>
                  <a:srgbClr val="5c6b60"/>
                </a:solidFill>
                <a:latin typeface="Cambria"/>
                <a:ea typeface="Cambria"/>
              </a:rPr>
              <a:t>   (100 − %)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4" name="Shape 63"/>
          <p:cNvSpPr/>
          <p:nvPr/>
        </p:nvSpPr>
        <p:spPr>
          <a:xfrm>
            <a:off x="7790760" y="4974480"/>
            <a:ext cx="3840120" cy="959760"/>
          </a:xfrm>
          <a:prstGeom prst="rect">
            <a:avLst/>
          </a:prstGeom>
          <a:solidFill>
            <a:srgbClr val="eef1e8"/>
          </a:solidFill>
          <a:ln w="1270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5" name="Text 64"/>
          <p:cNvSpPr/>
          <p:nvPr/>
        </p:nvSpPr>
        <p:spPr>
          <a:xfrm>
            <a:off x="7927920" y="4974480"/>
            <a:ext cx="356580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50" spc="-1" strike="noStrike">
                <a:solidFill>
                  <a:srgbClr val="1c2a22"/>
                </a:solidFill>
                <a:latin typeface="Cambria"/>
                <a:ea typeface="Cambria"/>
              </a:rPr>
              <a:t>−</a:t>
            </a:r>
            <a:r>
              <a:rPr b="1" lang="en-US" sz="1650" spc="-1" strike="noStrike">
                <a:solidFill>
                  <a:srgbClr val="1c2a22"/>
                </a:solidFill>
                <a:latin typeface="Cambria"/>
                <a:ea typeface="Cambria"/>
              </a:rPr>
              <a:t>30%  →  × 0.70</a:t>
            </a:r>
            <a:endParaRPr b="0" lang="en-US" sz="16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6" name="Text 65"/>
          <p:cNvSpPr/>
          <p:nvPr/>
        </p:nvSpPr>
        <p:spPr>
          <a:xfrm>
            <a:off x="567000" y="6080760"/>
            <a:ext cx="11063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5c6b60"/>
                </a:solidFill>
                <a:latin typeface="Calibri"/>
                <a:ea typeface="Calibri"/>
              </a:rPr>
              <a:t>Increase adds onto 100%; decrease takes away from 100%.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8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9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0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1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2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3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4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5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6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7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8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9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0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1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2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3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4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5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6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7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8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9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0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1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2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3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4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5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6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7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8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9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0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1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2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3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4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PART 2 · INCREASE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5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Increasing by a Percentage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6" name="Shape 39"/>
          <p:cNvSpPr/>
          <p:nvPr/>
        </p:nvSpPr>
        <p:spPr>
          <a:xfrm>
            <a:off x="567000" y="1554480"/>
            <a:ext cx="6126120" cy="3245760"/>
          </a:xfrm>
          <a:prstGeom prst="roundRect">
            <a:avLst>
              <a:gd name="adj" fmla="val 1690"/>
            </a:avLst>
          </a:prstGeom>
          <a:solidFill>
            <a:srgbClr val="eef1e8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7" name="Shape 40"/>
          <p:cNvSpPr/>
          <p:nvPr/>
        </p:nvSpPr>
        <p:spPr>
          <a:xfrm>
            <a:off x="6903720" y="1554480"/>
            <a:ext cx="4727160" cy="3245760"/>
          </a:xfrm>
          <a:prstGeom prst="roundRect">
            <a:avLst>
              <a:gd name="adj" fmla="val 1690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8" name="Text 41"/>
          <p:cNvSpPr/>
          <p:nvPr/>
        </p:nvSpPr>
        <p:spPr>
          <a:xfrm>
            <a:off x="7178040" y="1755720"/>
            <a:ext cx="4205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en-US" sz="1400" spc="-1" strike="noStrike">
                <a:solidFill>
                  <a:srgbClr val="c84f2f"/>
                </a:solidFill>
                <a:latin typeface="Cambria"/>
                <a:ea typeface="Cambria"/>
              </a:rPr>
              <a:t>Why 1.2?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9" name="Text 42"/>
          <p:cNvSpPr/>
          <p:nvPr/>
        </p:nvSpPr>
        <p:spPr>
          <a:xfrm>
            <a:off x="7223760" y="2240280"/>
            <a:ext cx="4205880" cy="23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350" spc="-1" strike="noStrike">
                <a:solidFill>
                  <a:srgbClr val="1c2a22"/>
                </a:solidFill>
                <a:latin typeface="Calibri"/>
                <a:ea typeface="Calibri"/>
              </a:rPr>
              <a:t>The original is 100% of itself.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350" spc="-1" strike="noStrike">
                <a:solidFill>
                  <a:srgbClr val="1c2a22"/>
                </a:solidFill>
                <a:latin typeface="Calibri"/>
                <a:ea typeface="Calibri"/>
              </a:rPr>
              <a:t>Adding 20% gives 120% = 1.2.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350" spc="-1" strike="noStrike">
                <a:solidFill>
                  <a:srgbClr val="1c2a22"/>
                </a:solidFill>
                <a:latin typeface="Calibri"/>
                <a:ea typeface="Calibri"/>
              </a:rPr>
              <a:t>One multiplication does it in a single step.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0" name="Text 43"/>
          <p:cNvSpPr/>
          <p:nvPr/>
        </p:nvSpPr>
        <p:spPr>
          <a:xfrm>
            <a:off x="567000" y="6327720"/>
            <a:ext cx="11063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5c6b60"/>
                </a:solidFill>
                <a:latin typeface="Calibri"/>
                <a:ea typeface="Calibri"/>
              </a:rPr>
              <a:t>Increase by p% → multiply by (1 + p/100).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1" name="Shape 44"/>
          <p:cNvSpPr/>
          <p:nvPr/>
        </p:nvSpPr>
        <p:spPr>
          <a:xfrm>
            <a:off x="868680" y="1847160"/>
            <a:ext cx="328680" cy="32868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2" name="Text 45"/>
          <p:cNvSpPr/>
          <p:nvPr/>
        </p:nvSpPr>
        <p:spPr>
          <a:xfrm>
            <a:off x="868680" y="184716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1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3" name="Text 46"/>
          <p:cNvSpPr/>
          <p:nvPr/>
        </p:nvSpPr>
        <p:spPr>
          <a:xfrm>
            <a:off x="1362600" y="1810440"/>
            <a:ext cx="548604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c2a22"/>
                </a:solidFill>
                <a:latin typeface="Calibri"/>
                <a:ea typeface="Calibri"/>
              </a:rPr>
              <a:t>Frank’s house (£150,000) rises by 20%.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4" name="Shape 47"/>
          <p:cNvSpPr/>
          <p:nvPr/>
        </p:nvSpPr>
        <p:spPr>
          <a:xfrm>
            <a:off x="868680" y="2578680"/>
            <a:ext cx="328680" cy="32868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5" name="Text 48"/>
          <p:cNvSpPr/>
          <p:nvPr/>
        </p:nvSpPr>
        <p:spPr>
          <a:xfrm>
            <a:off x="868680" y="257868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2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6" name="Text 49"/>
          <p:cNvSpPr/>
          <p:nvPr/>
        </p:nvSpPr>
        <p:spPr>
          <a:xfrm>
            <a:off x="1362600" y="2541960"/>
            <a:ext cx="548604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c2a22"/>
                </a:solidFill>
                <a:latin typeface="Calibri"/>
                <a:ea typeface="Calibri"/>
              </a:rPr>
              <a:t>100% + 20% = 120%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7" name="Shape 50"/>
          <p:cNvSpPr/>
          <p:nvPr/>
        </p:nvSpPr>
        <p:spPr>
          <a:xfrm>
            <a:off x="868680" y="3310200"/>
            <a:ext cx="328680" cy="32868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8" name="Text 51"/>
          <p:cNvSpPr/>
          <p:nvPr/>
        </p:nvSpPr>
        <p:spPr>
          <a:xfrm>
            <a:off x="868680" y="331020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3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9" name="Text 52"/>
          <p:cNvSpPr/>
          <p:nvPr/>
        </p:nvSpPr>
        <p:spPr>
          <a:xfrm>
            <a:off x="1362600" y="3273480"/>
            <a:ext cx="548604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c2a22"/>
                </a:solidFill>
                <a:latin typeface="Calibri"/>
                <a:ea typeface="Calibri"/>
              </a:rPr>
              <a:t>Multiplier = 1.2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0" name="Shape 53"/>
          <p:cNvSpPr/>
          <p:nvPr/>
        </p:nvSpPr>
        <p:spPr>
          <a:xfrm>
            <a:off x="868680" y="4041720"/>
            <a:ext cx="328680" cy="32868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1" name="Text 54"/>
          <p:cNvSpPr/>
          <p:nvPr/>
        </p:nvSpPr>
        <p:spPr>
          <a:xfrm>
            <a:off x="868680" y="404172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4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2" name="Text 55"/>
          <p:cNvSpPr/>
          <p:nvPr/>
        </p:nvSpPr>
        <p:spPr>
          <a:xfrm>
            <a:off x="1362600" y="4005000"/>
            <a:ext cx="548604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c2a22"/>
                </a:solidFill>
                <a:latin typeface="Calibri"/>
                <a:ea typeface="Calibri"/>
              </a:rPr>
              <a:t>1.2 × £150,000  =  </a:t>
            </a:r>
            <a:r>
              <a:rPr b="1" lang="en-US" sz="1400" spc="-1" strike="noStrike">
                <a:solidFill>
                  <a:srgbClr val="c84f2f"/>
                </a:solidFill>
                <a:latin typeface="Calibri"/>
                <a:ea typeface="Calibri"/>
              </a:rPr>
              <a:t>£180,000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3" name="Shape 56"/>
          <p:cNvSpPr/>
          <p:nvPr/>
        </p:nvSpPr>
        <p:spPr>
          <a:xfrm>
            <a:off x="567000" y="5074920"/>
            <a:ext cx="11063880" cy="1142640"/>
          </a:xfrm>
          <a:prstGeom prst="roundRect">
            <a:avLst>
              <a:gd name="adj" fmla="val 4800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4" name="Text 57"/>
          <p:cNvSpPr/>
          <p:nvPr/>
        </p:nvSpPr>
        <p:spPr>
          <a:xfrm>
            <a:off x="841320" y="5074920"/>
            <a:ext cx="1051524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300" spc="-1" strike="noStrike">
                <a:solidFill>
                  <a:srgbClr val="e0ac2b"/>
                </a:solidFill>
                <a:latin typeface="Cambria"/>
                <a:ea typeface="Cambria"/>
              </a:rPr>
              <a:t>New value = £180,000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6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7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8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9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0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1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2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3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4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5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6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7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8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9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0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1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2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3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4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5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6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7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8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9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0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1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2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3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4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5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6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7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8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9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0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1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2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PART 2 · DECREASE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3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Decreasing by a Percentage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4" name="Shape 39"/>
          <p:cNvSpPr/>
          <p:nvPr/>
        </p:nvSpPr>
        <p:spPr>
          <a:xfrm>
            <a:off x="567000" y="1554480"/>
            <a:ext cx="6126120" cy="3245760"/>
          </a:xfrm>
          <a:prstGeom prst="roundRect">
            <a:avLst>
              <a:gd name="adj" fmla="val 1690"/>
            </a:avLst>
          </a:prstGeom>
          <a:solidFill>
            <a:srgbClr val="eef1e8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5" name="Shape 40"/>
          <p:cNvSpPr/>
          <p:nvPr/>
        </p:nvSpPr>
        <p:spPr>
          <a:xfrm>
            <a:off x="6903720" y="1554480"/>
            <a:ext cx="4727160" cy="3245760"/>
          </a:xfrm>
          <a:prstGeom prst="roundRect">
            <a:avLst>
              <a:gd name="adj" fmla="val 1690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6" name="Text 41"/>
          <p:cNvSpPr/>
          <p:nvPr/>
        </p:nvSpPr>
        <p:spPr>
          <a:xfrm>
            <a:off x="7178040" y="1755720"/>
            <a:ext cx="4205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en-US" sz="1400" spc="-1" strike="noStrike">
                <a:solidFill>
                  <a:srgbClr val="c84f2f"/>
                </a:solidFill>
                <a:latin typeface="Cambria"/>
                <a:ea typeface="Cambria"/>
              </a:rPr>
              <a:t>Why 0.7?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7" name="Text 42"/>
          <p:cNvSpPr/>
          <p:nvPr/>
        </p:nvSpPr>
        <p:spPr>
          <a:xfrm>
            <a:off x="7223760" y="2240280"/>
            <a:ext cx="4205880" cy="23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350" spc="-1" strike="noStrike">
                <a:solidFill>
                  <a:srgbClr val="1c2a22"/>
                </a:solidFill>
                <a:latin typeface="Calibri"/>
                <a:ea typeface="Calibri"/>
              </a:rPr>
              <a:t>The original is 100%.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350" spc="-1" strike="noStrike">
                <a:solidFill>
                  <a:srgbClr val="1c2a22"/>
                </a:solidFill>
                <a:latin typeface="Calibri"/>
                <a:ea typeface="Calibri"/>
              </a:rPr>
              <a:t>Taking 30% away leaves 70% = 0.7.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350" spc="-1" strike="noStrike">
                <a:solidFill>
                  <a:srgbClr val="1c2a22"/>
                </a:solidFill>
                <a:latin typeface="Calibri"/>
                <a:ea typeface="Calibri"/>
              </a:rPr>
              <a:t>No need to find 30% then subtract — one step.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8" name="Text 43"/>
          <p:cNvSpPr/>
          <p:nvPr/>
        </p:nvSpPr>
        <p:spPr>
          <a:xfrm>
            <a:off x="567000" y="6327720"/>
            <a:ext cx="11063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5c6b60"/>
                </a:solidFill>
                <a:latin typeface="Calibri"/>
                <a:ea typeface="Calibri"/>
              </a:rPr>
              <a:t>Decrease by p% → multiply by (1 − p/100).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9" name="Shape 44"/>
          <p:cNvSpPr/>
          <p:nvPr/>
        </p:nvSpPr>
        <p:spPr>
          <a:xfrm>
            <a:off x="868680" y="1847160"/>
            <a:ext cx="328680" cy="32868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0" name="Text 45"/>
          <p:cNvSpPr/>
          <p:nvPr/>
        </p:nvSpPr>
        <p:spPr>
          <a:xfrm>
            <a:off x="868680" y="184716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1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1" name="Text 46"/>
          <p:cNvSpPr/>
          <p:nvPr/>
        </p:nvSpPr>
        <p:spPr>
          <a:xfrm>
            <a:off x="1362600" y="1810440"/>
            <a:ext cx="548604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c2a22"/>
                </a:solidFill>
                <a:latin typeface="Calibri"/>
                <a:ea typeface="Calibri"/>
              </a:rPr>
              <a:t>A £75 CD player is reduced by 30% in a sale.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2" name="Shape 47"/>
          <p:cNvSpPr/>
          <p:nvPr/>
        </p:nvSpPr>
        <p:spPr>
          <a:xfrm>
            <a:off x="868680" y="2578680"/>
            <a:ext cx="328680" cy="32868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3" name="Text 48"/>
          <p:cNvSpPr/>
          <p:nvPr/>
        </p:nvSpPr>
        <p:spPr>
          <a:xfrm>
            <a:off x="868680" y="257868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2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4" name="Text 49"/>
          <p:cNvSpPr/>
          <p:nvPr/>
        </p:nvSpPr>
        <p:spPr>
          <a:xfrm>
            <a:off x="1362600" y="2541960"/>
            <a:ext cx="548604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c2a22"/>
                </a:solidFill>
                <a:latin typeface="Calibri"/>
                <a:ea typeface="Calibri"/>
              </a:rPr>
              <a:t>100% − 30% = 70%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5" name="Shape 50"/>
          <p:cNvSpPr/>
          <p:nvPr/>
        </p:nvSpPr>
        <p:spPr>
          <a:xfrm>
            <a:off x="868680" y="3310200"/>
            <a:ext cx="328680" cy="32868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6" name="Text 51"/>
          <p:cNvSpPr/>
          <p:nvPr/>
        </p:nvSpPr>
        <p:spPr>
          <a:xfrm>
            <a:off x="868680" y="331020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3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7" name="Text 52"/>
          <p:cNvSpPr/>
          <p:nvPr/>
        </p:nvSpPr>
        <p:spPr>
          <a:xfrm>
            <a:off x="1362600" y="3273480"/>
            <a:ext cx="548604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c2a22"/>
                </a:solidFill>
                <a:latin typeface="Calibri"/>
                <a:ea typeface="Calibri"/>
              </a:rPr>
              <a:t>Multiplier = 0.7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8" name="Shape 53"/>
          <p:cNvSpPr/>
          <p:nvPr/>
        </p:nvSpPr>
        <p:spPr>
          <a:xfrm>
            <a:off x="868680" y="4041720"/>
            <a:ext cx="328680" cy="32868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9" name="Text 54"/>
          <p:cNvSpPr/>
          <p:nvPr/>
        </p:nvSpPr>
        <p:spPr>
          <a:xfrm>
            <a:off x="868680" y="404172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4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0" name="Text 55"/>
          <p:cNvSpPr/>
          <p:nvPr/>
        </p:nvSpPr>
        <p:spPr>
          <a:xfrm>
            <a:off x="1362600" y="4005000"/>
            <a:ext cx="548604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c2a22"/>
                </a:solidFill>
                <a:latin typeface="Calibri"/>
                <a:ea typeface="Calibri"/>
              </a:rPr>
              <a:t>0.7 × £75  =  </a:t>
            </a:r>
            <a:r>
              <a:rPr b="1" lang="en-US" sz="1400" spc="-1" strike="noStrike">
                <a:solidFill>
                  <a:srgbClr val="c84f2f"/>
                </a:solidFill>
                <a:latin typeface="Calibri"/>
                <a:ea typeface="Calibri"/>
              </a:rPr>
              <a:t>£52.50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1" name="Shape 56"/>
          <p:cNvSpPr/>
          <p:nvPr/>
        </p:nvSpPr>
        <p:spPr>
          <a:xfrm>
            <a:off x="567000" y="5074920"/>
            <a:ext cx="11063880" cy="1142640"/>
          </a:xfrm>
          <a:prstGeom prst="roundRect">
            <a:avLst>
              <a:gd name="adj" fmla="val 4800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2" name="Text 57"/>
          <p:cNvSpPr/>
          <p:nvPr/>
        </p:nvSpPr>
        <p:spPr>
          <a:xfrm>
            <a:off x="841320" y="5074920"/>
            <a:ext cx="1051524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300" spc="-1" strike="noStrike">
                <a:solidFill>
                  <a:srgbClr val="e0ac2b"/>
                </a:solidFill>
                <a:latin typeface="Cambria"/>
                <a:ea typeface="Cambria"/>
              </a:rPr>
              <a:t>Sale price = £52.50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4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5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6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7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8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9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0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1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2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3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4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5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6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7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8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9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0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1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2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3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4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5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6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7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8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9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0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1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2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3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4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5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6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7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8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9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0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YOUR TURN · PRACTICE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1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Increase &amp; Decrease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2" name="Shape 39"/>
          <p:cNvSpPr/>
          <p:nvPr/>
        </p:nvSpPr>
        <p:spPr>
          <a:xfrm>
            <a:off x="567000" y="1417320"/>
            <a:ext cx="11063880" cy="548280"/>
          </a:xfrm>
          <a:prstGeom prst="roundRect">
            <a:avLst>
              <a:gd name="adj" fmla="val 10000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3" name="Text 40"/>
          <p:cNvSpPr/>
          <p:nvPr/>
        </p:nvSpPr>
        <p:spPr>
          <a:xfrm>
            <a:off x="887040" y="1417320"/>
            <a:ext cx="104238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edebdd"/>
                </a:solidFill>
                <a:latin typeface="Calibri"/>
                <a:ea typeface="Calibri"/>
              </a:rPr>
              <a:t>Choose the multiplier, then multiply. Watch the units.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4" name="Shape 41"/>
          <p:cNvSpPr/>
          <p:nvPr/>
        </p:nvSpPr>
        <p:spPr>
          <a:xfrm>
            <a:off x="567000" y="2103120"/>
            <a:ext cx="5394600" cy="603000"/>
          </a:xfrm>
          <a:prstGeom prst="roundRect">
            <a:avLst>
              <a:gd name="adj" fmla="val 9091"/>
            </a:avLst>
          </a:prstGeom>
          <a:solidFill>
            <a:srgbClr val="eef1e8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5" name="Shape 42"/>
          <p:cNvSpPr/>
          <p:nvPr/>
        </p:nvSpPr>
        <p:spPr>
          <a:xfrm>
            <a:off x="749880" y="2221920"/>
            <a:ext cx="365400" cy="36540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6" name="Text 43"/>
          <p:cNvSpPr/>
          <p:nvPr/>
        </p:nvSpPr>
        <p:spPr>
          <a:xfrm>
            <a:off x="749880" y="2221920"/>
            <a:ext cx="365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mbria"/>
                <a:ea typeface="Cambria"/>
              </a:rPr>
              <a:t>1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7" name="Text 44"/>
          <p:cNvSpPr/>
          <p:nvPr/>
        </p:nvSpPr>
        <p:spPr>
          <a:xfrm>
            <a:off x="1252800" y="2103120"/>
            <a:ext cx="356580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1c2a22"/>
                </a:solidFill>
                <a:latin typeface="Cambria"/>
                <a:ea typeface="Cambria"/>
              </a:rPr>
              <a:t>Increase QAR50 by 15%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8" name="Text 45"/>
          <p:cNvSpPr/>
          <p:nvPr/>
        </p:nvSpPr>
        <p:spPr>
          <a:xfrm>
            <a:off x="4681800" y="2103120"/>
            <a:ext cx="123408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c84f2f"/>
                </a:solidFill>
                <a:latin typeface="Cambria"/>
                <a:ea typeface="Cambria"/>
              </a:rPr>
              <a:t>= 57.50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9" name="Shape 46"/>
          <p:cNvSpPr/>
          <p:nvPr/>
        </p:nvSpPr>
        <p:spPr>
          <a:xfrm>
            <a:off x="567000" y="2816280"/>
            <a:ext cx="5394600" cy="603000"/>
          </a:xfrm>
          <a:prstGeom prst="roundRect">
            <a:avLst>
              <a:gd name="adj" fmla="val 9091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0" name="Shape 47"/>
          <p:cNvSpPr/>
          <p:nvPr/>
        </p:nvSpPr>
        <p:spPr>
          <a:xfrm>
            <a:off x="749880" y="2935080"/>
            <a:ext cx="365400" cy="36540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1" name="Text 48"/>
          <p:cNvSpPr/>
          <p:nvPr/>
        </p:nvSpPr>
        <p:spPr>
          <a:xfrm>
            <a:off x="749880" y="2935080"/>
            <a:ext cx="365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mbria"/>
                <a:ea typeface="Cambria"/>
              </a:rPr>
              <a:t>2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2" name="Text 49"/>
          <p:cNvSpPr/>
          <p:nvPr/>
        </p:nvSpPr>
        <p:spPr>
          <a:xfrm>
            <a:off x="1252800" y="2816280"/>
            <a:ext cx="356580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1c2a22"/>
                </a:solidFill>
                <a:latin typeface="Cambria"/>
                <a:ea typeface="Cambria"/>
              </a:rPr>
              <a:t>Decrease QAR50 by 15%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3" name="Text 50"/>
          <p:cNvSpPr/>
          <p:nvPr/>
        </p:nvSpPr>
        <p:spPr>
          <a:xfrm>
            <a:off x="4681800" y="2816280"/>
            <a:ext cx="123408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c84f2f"/>
                </a:solidFill>
                <a:latin typeface="Cambria"/>
                <a:ea typeface="Cambria"/>
              </a:rPr>
              <a:t>= 42.50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4" name="Shape 51"/>
          <p:cNvSpPr/>
          <p:nvPr/>
        </p:nvSpPr>
        <p:spPr>
          <a:xfrm>
            <a:off x="567000" y="3529440"/>
            <a:ext cx="5394600" cy="603000"/>
          </a:xfrm>
          <a:prstGeom prst="roundRect">
            <a:avLst>
              <a:gd name="adj" fmla="val 9091"/>
            </a:avLst>
          </a:prstGeom>
          <a:solidFill>
            <a:srgbClr val="eef1e8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5" name="Shape 52"/>
          <p:cNvSpPr/>
          <p:nvPr/>
        </p:nvSpPr>
        <p:spPr>
          <a:xfrm>
            <a:off x="749880" y="3648600"/>
            <a:ext cx="365400" cy="36540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6" name="Text 53"/>
          <p:cNvSpPr/>
          <p:nvPr/>
        </p:nvSpPr>
        <p:spPr>
          <a:xfrm>
            <a:off x="749880" y="3648600"/>
            <a:ext cx="365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mbria"/>
                <a:ea typeface="Cambria"/>
              </a:rPr>
              <a:t>3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7" name="Text 54"/>
          <p:cNvSpPr/>
          <p:nvPr/>
        </p:nvSpPr>
        <p:spPr>
          <a:xfrm>
            <a:off x="1252800" y="3529440"/>
            <a:ext cx="356580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1c2a22"/>
                </a:solidFill>
                <a:latin typeface="Cambria"/>
                <a:ea typeface="Cambria"/>
              </a:rPr>
              <a:t>Increase 160 m by 25%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8" name="Text 55"/>
          <p:cNvSpPr/>
          <p:nvPr/>
        </p:nvSpPr>
        <p:spPr>
          <a:xfrm>
            <a:off x="4681800" y="3529440"/>
            <a:ext cx="123408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c84f2f"/>
                </a:solidFill>
                <a:latin typeface="Cambria"/>
                <a:ea typeface="Cambria"/>
              </a:rPr>
              <a:t>= 200 m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9" name="Shape 56"/>
          <p:cNvSpPr/>
          <p:nvPr/>
        </p:nvSpPr>
        <p:spPr>
          <a:xfrm>
            <a:off x="567000" y="4242960"/>
            <a:ext cx="5394600" cy="603000"/>
          </a:xfrm>
          <a:prstGeom prst="roundRect">
            <a:avLst>
              <a:gd name="adj" fmla="val 9091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0" name="Shape 57"/>
          <p:cNvSpPr/>
          <p:nvPr/>
        </p:nvSpPr>
        <p:spPr>
          <a:xfrm>
            <a:off x="749880" y="4361760"/>
            <a:ext cx="365400" cy="36540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1" name="Text 58"/>
          <p:cNvSpPr/>
          <p:nvPr/>
        </p:nvSpPr>
        <p:spPr>
          <a:xfrm>
            <a:off x="749880" y="4361760"/>
            <a:ext cx="365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mbria"/>
                <a:ea typeface="Cambria"/>
              </a:rPr>
              <a:t>4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2" name="Text 59"/>
          <p:cNvSpPr/>
          <p:nvPr/>
        </p:nvSpPr>
        <p:spPr>
          <a:xfrm>
            <a:off x="1252800" y="4242960"/>
            <a:ext cx="356580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1c2a22"/>
                </a:solidFill>
                <a:latin typeface="Cambria"/>
                <a:ea typeface="Cambria"/>
              </a:rPr>
              <a:t>Decrease 360° by 10%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3" name="Text 60"/>
          <p:cNvSpPr/>
          <p:nvPr/>
        </p:nvSpPr>
        <p:spPr>
          <a:xfrm>
            <a:off x="4681800" y="4242960"/>
            <a:ext cx="123408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c84f2f"/>
                </a:solidFill>
                <a:latin typeface="Cambria"/>
                <a:ea typeface="Cambria"/>
              </a:rPr>
              <a:t>= 324°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4" name="Shape 61"/>
          <p:cNvSpPr/>
          <p:nvPr/>
        </p:nvSpPr>
        <p:spPr>
          <a:xfrm>
            <a:off x="567000" y="4956120"/>
            <a:ext cx="5394600" cy="603000"/>
          </a:xfrm>
          <a:prstGeom prst="roundRect">
            <a:avLst>
              <a:gd name="adj" fmla="val 9091"/>
            </a:avLst>
          </a:prstGeom>
          <a:solidFill>
            <a:srgbClr val="eef1e8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5" name="Shape 62"/>
          <p:cNvSpPr/>
          <p:nvPr/>
        </p:nvSpPr>
        <p:spPr>
          <a:xfrm>
            <a:off x="749880" y="5074920"/>
            <a:ext cx="365400" cy="36540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6" name="Text 63"/>
          <p:cNvSpPr/>
          <p:nvPr/>
        </p:nvSpPr>
        <p:spPr>
          <a:xfrm>
            <a:off x="749880" y="5074920"/>
            <a:ext cx="365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mbria"/>
                <a:ea typeface="Cambria"/>
              </a:rPr>
              <a:t>5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7" name="Text 64"/>
          <p:cNvSpPr/>
          <p:nvPr/>
        </p:nvSpPr>
        <p:spPr>
          <a:xfrm>
            <a:off x="1252800" y="4956120"/>
            <a:ext cx="356580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1c2a22"/>
                </a:solidFill>
                <a:latin typeface="Cambria"/>
                <a:ea typeface="Cambria"/>
              </a:rPr>
              <a:t>Increase 60 kg by 5%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8" name="Text 65"/>
          <p:cNvSpPr/>
          <p:nvPr/>
        </p:nvSpPr>
        <p:spPr>
          <a:xfrm>
            <a:off x="4681800" y="4956120"/>
            <a:ext cx="123408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c84f2f"/>
                </a:solidFill>
                <a:latin typeface="Cambria"/>
                <a:ea typeface="Cambria"/>
              </a:rPr>
              <a:t>= 63 kg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9" name="Shape 66"/>
          <p:cNvSpPr/>
          <p:nvPr/>
        </p:nvSpPr>
        <p:spPr>
          <a:xfrm>
            <a:off x="6217920" y="2103120"/>
            <a:ext cx="5394600" cy="603000"/>
          </a:xfrm>
          <a:prstGeom prst="roundRect">
            <a:avLst>
              <a:gd name="adj" fmla="val 9091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0" name="Shape 67"/>
          <p:cNvSpPr/>
          <p:nvPr/>
        </p:nvSpPr>
        <p:spPr>
          <a:xfrm>
            <a:off x="6400800" y="2221920"/>
            <a:ext cx="365400" cy="36540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1" name="Text 68"/>
          <p:cNvSpPr/>
          <p:nvPr/>
        </p:nvSpPr>
        <p:spPr>
          <a:xfrm>
            <a:off x="6400800" y="2221920"/>
            <a:ext cx="365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mbria"/>
                <a:ea typeface="Cambria"/>
              </a:rPr>
              <a:t>6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2" name="Text 69"/>
          <p:cNvSpPr/>
          <p:nvPr/>
        </p:nvSpPr>
        <p:spPr>
          <a:xfrm>
            <a:off x="6903720" y="2103120"/>
            <a:ext cx="356580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1c2a22"/>
                </a:solidFill>
                <a:latin typeface="Cambria"/>
                <a:ea typeface="Cambria"/>
              </a:rPr>
              <a:t>Decrease QAR1700 by 13%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3" name="Text 70"/>
          <p:cNvSpPr/>
          <p:nvPr/>
        </p:nvSpPr>
        <p:spPr>
          <a:xfrm>
            <a:off x="10332720" y="2103120"/>
            <a:ext cx="123408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c84f2f"/>
                </a:solidFill>
                <a:latin typeface="Cambria"/>
                <a:ea typeface="Cambria"/>
              </a:rPr>
              <a:t>= 1479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4" name="Shape 71"/>
          <p:cNvSpPr/>
          <p:nvPr/>
        </p:nvSpPr>
        <p:spPr>
          <a:xfrm>
            <a:off x="6217920" y="2816280"/>
            <a:ext cx="5394600" cy="603000"/>
          </a:xfrm>
          <a:prstGeom prst="roundRect">
            <a:avLst>
              <a:gd name="adj" fmla="val 9091"/>
            </a:avLst>
          </a:prstGeom>
          <a:solidFill>
            <a:srgbClr val="eef1e8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5" name="Shape 72"/>
          <p:cNvSpPr/>
          <p:nvPr/>
        </p:nvSpPr>
        <p:spPr>
          <a:xfrm>
            <a:off x="6400800" y="2935080"/>
            <a:ext cx="365400" cy="36540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6" name="Text 73"/>
          <p:cNvSpPr/>
          <p:nvPr/>
        </p:nvSpPr>
        <p:spPr>
          <a:xfrm>
            <a:off x="6400800" y="2935080"/>
            <a:ext cx="365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mbria"/>
                <a:ea typeface="Cambria"/>
              </a:rPr>
              <a:t>7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7" name="Text 74"/>
          <p:cNvSpPr/>
          <p:nvPr/>
        </p:nvSpPr>
        <p:spPr>
          <a:xfrm>
            <a:off x="6903720" y="2816280"/>
            <a:ext cx="356580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1c2a22"/>
                </a:solidFill>
                <a:latin typeface="Cambria"/>
                <a:ea typeface="Cambria"/>
              </a:rPr>
              <a:t>Increase QAR240 by 45%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8" name="Text 75"/>
          <p:cNvSpPr/>
          <p:nvPr/>
        </p:nvSpPr>
        <p:spPr>
          <a:xfrm>
            <a:off x="10332720" y="2816280"/>
            <a:ext cx="123408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c84f2f"/>
                </a:solidFill>
                <a:latin typeface="Cambria"/>
                <a:ea typeface="Cambria"/>
              </a:rPr>
              <a:t>= 348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9" name="Shape 76"/>
          <p:cNvSpPr/>
          <p:nvPr/>
        </p:nvSpPr>
        <p:spPr>
          <a:xfrm>
            <a:off x="6217920" y="3529440"/>
            <a:ext cx="5394600" cy="603000"/>
          </a:xfrm>
          <a:prstGeom prst="roundRect">
            <a:avLst>
              <a:gd name="adj" fmla="val 9091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0" name="Shape 77"/>
          <p:cNvSpPr/>
          <p:nvPr/>
        </p:nvSpPr>
        <p:spPr>
          <a:xfrm>
            <a:off x="6400800" y="3648600"/>
            <a:ext cx="365400" cy="36540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1" name="Text 78"/>
          <p:cNvSpPr/>
          <p:nvPr/>
        </p:nvSpPr>
        <p:spPr>
          <a:xfrm>
            <a:off x="6400800" y="3648600"/>
            <a:ext cx="365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mbria"/>
                <a:ea typeface="Cambria"/>
              </a:rPr>
              <a:t>8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2" name="Text 79"/>
          <p:cNvSpPr/>
          <p:nvPr/>
        </p:nvSpPr>
        <p:spPr>
          <a:xfrm>
            <a:off x="6903720" y="3529440"/>
            <a:ext cx="356580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1c2a22"/>
                </a:solidFill>
                <a:latin typeface="Cambria"/>
                <a:ea typeface="Cambria"/>
              </a:rPr>
              <a:t>Decrease 240 m by 36%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3" name="Text 80"/>
          <p:cNvSpPr/>
          <p:nvPr/>
        </p:nvSpPr>
        <p:spPr>
          <a:xfrm>
            <a:off x="10332720" y="3529440"/>
            <a:ext cx="123408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c84f2f"/>
                </a:solidFill>
                <a:latin typeface="Cambria"/>
                <a:ea typeface="Cambria"/>
              </a:rPr>
              <a:t>= 153.6 m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4" name="Shape 81"/>
          <p:cNvSpPr/>
          <p:nvPr/>
        </p:nvSpPr>
        <p:spPr>
          <a:xfrm>
            <a:off x="6217920" y="4242960"/>
            <a:ext cx="5394600" cy="603000"/>
          </a:xfrm>
          <a:prstGeom prst="roundRect">
            <a:avLst>
              <a:gd name="adj" fmla="val 9091"/>
            </a:avLst>
          </a:prstGeom>
          <a:solidFill>
            <a:srgbClr val="eef1e8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5" name="Shape 82"/>
          <p:cNvSpPr/>
          <p:nvPr/>
        </p:nvSpPr>
        <p:spPr>
          <a:xfrm>
            <a:off x="6400800" y="4361760"/>
            <a:ext cx="365400" cy="36540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6" name="Text 83"/>
          <p:cNvSpPr/>
          <p:nvPr/>
        </p:nvSpPr>
        <p:spPr>
          <a:xfrm>
            <a:off x="6400800" y="4361760"/>
            <a:ext cx="365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mbria"/>
                <a:ea typeface="Cambria"/>
              </a:rPr>
              <a:t>9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7" name="Text 84"/>
          <p:cNvSpPr/>
          <p:nvPr/>
        </p:nvSpPr>
        <p:spPr>
          <a:xfrm>
            <a:off x="6903720" y="4242960"/>
            <a:ext cx="356580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1c2a22"/>
                </a:solidFill>
                <a:latin typeface="Cambria"/>
                <a:ea typeface="Cambria"/>
              </a:rPr>
              <a:t>Increase 150 g by 12%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8" name="Text 85"/>
          <p:cNvSpPr/>
          <p:nvPr/>
        </p:nvSpPr>
        <p:spPr>
          <a:xfrm>
            <a:off x="10332720" y="4242960"/>
            <a:ext cx="123408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c84f2f"/>
                </a:solidFill>
                <a:latin typeface="Cambria"/>
                <a:ea typeface="Cambria"/>
              </a:rPr>
              <a:t>= 168 g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9" name="Shape 86"/>
          <p:cNvSpPr/>
          <p:nvPr/>
        </p:nvSpPr>
        <p:spPr>
          <a:xfrm>
            <a:off x="6217920" y="4956120"/>
            <a:ext cx="5394600" cy="603000"/>
          </a:xfrm>
          <a:prstGeom prst="roundRect">
            <a:avLst>
              <a:gd name="adj" fmla="val 9091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0" name="Shape 87"/>
          <p:cNvSpPr/>
          <p:nvPr/>
        </p:nvSpPr>
        <p:spPr>
          <a:xfrm>
            <a:off x="6400800" y="5074920"/>
            <a:ext cx="365400" cy="36540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1" name="Text 88"/>
          <p:cNvSpPr/>
          <p:nvPr/>
        </p:nvSpPr>
        <p:spPr>
          <a:xfrm>
            <a:off x="6400800" y="5074920"/>
            <a:ext cx="365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mbria"/>
                <a:ea typeface="Cambria"/>
              </a:rPr>
              <a:t>10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2" name="Text 89"/>
          <p:cNvSpPr/>
          <p:nvPr/>
        </p:nvSpPr>
        <p:spPr>
          <a:xfrm>
            <a:off x="6903720" y="4956120"/>
            <a:ext cx="356580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1c2a22"/>
                </a:solidFill>
                <a:latin typeface="Cambria"/>
                <a:ea typeface="Cambria"/>
              </a:rPr>
              <a:t>Decrease QAR300 by 43%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3" name="Text 90"/>
          <p:cNvSpPr/>
          <p:nvPr/>
        </p:nvSpPr>
        <p:spPr>
          <a:xfrm>
            <a:off x="10332720" y="4956120"/>
            <a:ext cx="123408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c84f2f"/>
                </a:solidFill>
                <a:latin typeface="Cambria"/>
                <a:ea typeface="Cambria"/>
              </a:rPr>
              <a:t>= 171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4" name="Text 91"/>
          <p:cNvSpPr/>
          <p:nvPr/>
        </p:nvSpPr>
        <p:spPr>
          <a:xfrm>
            <a:off x="567000" y="5852160"/>
            <a:ext cx="11063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50" spc="-1" strike="noStrike">
                <a:solidFill>
                  <a:srgbClr val="5c6b60"/>
                </a:solidFill>
                <a:latin typeface="Calibri"/>
                <a:ea typeface="Calibri"/>
              </a:rPr>
              <a:t>Answers shown — cover the right column and work each one out first.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6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7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8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9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0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1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2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3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4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5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6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7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8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9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0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1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2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3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4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5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6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7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8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9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0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1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2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3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4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5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6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7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8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9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0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1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2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IN CONTEXT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3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Sales, Discounts &amp; VAT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4" name="Shape 39"/>
          <p:cNvSpPr/>
          <p:nvPr/>
        </p:nvSpPr>
        <p:spPr>
          <a:xfrm>
            <a:off x="567000" y="1463040"/>
            <a:ext cx="5440320" cy="2285640"/>
          </a:xfrm>
          <a:prstGeom prst="roundRect">
            <a:avLst>
              <a:gd name="adj" fmla="val 2400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5" name="Text 40"/>
          <p:cNvSpPr/>
          <p:nvPr/>
        </p:nvSpPr>
        <p:spPr>
          <a:xfrm>
            <a:off x="932760" y="1700640"/>
            <a:ext cx="47088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1c2a22"/>
                </a:solidFill>
                <a:latin typeface="Cambria"/>
                <a:ea typeface="Cambria"/>
              </a:rPr>
              <a:t>Discount: 10% off QAR400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6" name="Text 41"/>
          <p:cNvSpPr/>
          <p:nvPr/>
        </p:nvSpPr>
        <p:spPr>
          <a:xfrm>
            <a:off x="914400" y="2286000"/>
            <a:ext cx="475452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799"/>
              </a:spcAft>
              <a:tabLst>
                <a:tab algn="l" pos="0"/>
              </a:tabLst>
            </a:pPr>
            <a:r>
              <a:rPr b="1" lang="en-US" sz="1700" spc="-1" strike="noStrike">
                <a:solidFill>
                  <a:srgbClr val="000000"/>
                </a:solidFill>
                <a:latin typeface="Cambria"/>
                <a:ea typeface="Cambria"/>
              </a:rPr>
              <a:t>Multiplier = 0.90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000000"/>
                </a:solidFill>
                <a:latin typeface="Cambria"/>
                <a:ea typeface="Cambria"/>
              </a:rPr>
              <a:t>0.9 × 400 = </a:t>
            </a:r>
            <a:r>
              <a:rPr b="1" lang="en-US" sz="1700" spc="-1" strike="noStrike">
                <a:solidFill>
                  <a:srgbClr val="c84f2f"/>
                </a:solidFill>
                <a:latin typeface="Cambria"/>
                <a:ea typeface="Cambria"/>
              </a:rPr>
              <a:t>QAR360</a:t>
            </a:r>
            <a:r>
              <a:rPr b="0" i="1" lang="en-US" sz="1200" spc="-1" strike="noStrike">
                <a:solidFill>
                  <a:srgbClr val="5c6b60"/>
                </a:solidFill>
                <a:latin typeface="Cambria"/>
                <a:ea typeface="Cambria"/>
              </a:rPr>
              <a:t>     (or 400 − 40)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7" name="Shape 42"/>
          <p:cNvSpPr/>
          <p:nvPr/>
        </p:nvSpPr>
        <p:spPr>
          <a:xfrm>
            <a:off x="6190560" y="1463040"/>
            <a:ext cx="5440320" cy="2285640"/>
          </a:xfrm>
          <a:prstGeom prst="roundRect">
            <a:avLst>
              <a:gd name="adj" fmla="val 2400"/>
            </a:avLst>
          </a:prstGeom>
          <a:solidFill>
            <a:srgbClr val="eef1e8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8" name="Text 43"/>
          <p:cNvSpPr/>
          <p:nvPr/>
        </p:nvSpPr>
        <p:spPr>
          <a:xfrm>
            <a:off x="6556320" y="1700640"/>
            <a:ext cx="47088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1c2a22"/>
                </a:solidFill>
                <a:latin typeface="Cambria"/>
                <a:ea typeface="Cambria"/>
              </a:rPr>
              <a:t>Add 20% VAT to QAR320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9" name="Text 44"/>
          <p:cNvSpPr/>
          <p:nvPr/>
        </p:nvSpPr>
        <p:spPr>
          <a:xfrm>
            <a:off x="6537960" y="2286000"/>
            <a:ext cx="475452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799"/>
              </a:spcAft>
              <a:tabLst>
                <a:tab algn="l" pos="0"/>
              </a:tabLst>
            </a:pPr>
            <a:r>
              <a:rPr b="1" lang="en-US" sz="1700" spc="-1" strike="noStrike">
                <a:solidFill>
                  <a:srgbClr val="000000"/>
                </a:solidFill>
                <a:latin typeface="Cambria"/>
                <a:ea typeface="Cambria"/>
              </a:rPr>
              <a:t>Multiplier = 1.20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000000"/>
                </a:solidFill>
                <a:latin typeface="Cambria"/>
                <a:ea typeface="Cambria"/>
              </a:rPr>
              <a:t>1.2 × 320 = </a:t>
            </a:r>
            <a:r>
              <a:rPr b="1" lang="en-US" sz="1700" spc="-1" strike="noStrike">
                <a:solidFill>
                  <a:srgbClr val="c84f2f"/>
                </a:solidFill>
                <a:latin typeface="Cambria"/>
                <a:ea typeface="Cambria"/>
              </a:rPr>
              <a:t>QAR384</a:t>
            </a:r>
            <a:r>
              <a:rPr b="0" i="1" lang="en-US" sz="1200" spc="-1" strike="noStrike">
                <a:solidFill>
                  <a:srgbClr val="5c6b60"/>
                </a:solidFill>
                <a:latin typeface="Cambria"/>
                <a:ea typeface="Cambria"/>
              </a:rPr>
              <a:t>     (or 320 + 64)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0" name="Shape 45"/>
          <p:cNvSpPr/>
          <p:nvPr/>
        </p:nvSpPr>
        <p:spPr>
          <a:xfrm>
            <a:off x="567000" y="3977640"/>
            <a:ext cx="11063880" cy="566640"/>
          </a:xfrm>
          <a:prstGeom prst="roundRect">
            <a:avLst>
              <a:gd name="adj" fmla="val 9677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1" name="Text 46"/>
          <p:cNvSpPr/>
          <p:nvPr/>
        </p:nvSpPr>
        <p:spPr>
          <a:xfrm>
            <a:off x="887040" y="3977640"/>
            <a:ext cx="1042380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e0ac2b"/>
                </a:solidFill>
                <a:latin typeface="Calibri"/>
                <a:ea typeface="Calibri"/>
              </a:rPr>
              <a:t>Now try (10% off): </a:t>
            </a:r>
            <a:r>
              <a:rPr b="0" lang="en-US" sz="1300" spc="-1" strike="noStrike">
                <a:solidFill>
                  <a:srgbClr val="edebdd"/>
                </a:solidFill>
                <a:latin typeface="Calibri"/>
                <a:ea typeface="Calibri"/>
              </a:rPr>
              <a:t>iPad QAR350, Nissan QAR15000, Mini QAR13000.   (50% off): Holiday QAR3640, Kindle QAR69.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2" name="Shape 47"/>
          <p:cNvSpPr/>
          <p:nvPr/>
        </p:nvSpPr>
        <p:spPr>
          <a:xfrm>
            <a:off x="567000" y="4663440"/>
            <a:ext cx="11063880" cy="1371240"/>
          </a:xfrm>
          <a:prstGeom prst="roundRect">
            <a:avLst>
              <a:gd name="adj" fmla="val 4000"/>
            </a:avLst>
          </a:prstGeom>
          <a:solidFill>
            <a:srgbClr val="16261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3" name="Text 48"/>
          <p:cNvSpPr/>
          <p:nvPr/>
        </p:nvSpPr>
        <p:spPr>
          <a:xfrm>
            <a:off x="868680" y="4773240"/>
            <a:ext cx="1051524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r>
              <a:rPr b="1" lang="en-US" sz="1400" spc="-1" strike="noStrike">
                <a:solidFill>
                  <a:srgbClr val="e0ac2b"/>
                </a:solidFill>
                <a:latin typeface="Cambria"/>
                <a:ea typeface="Cambria"/>
              </a:rPr>
              <a:t>Answers:  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400" spc="-1" strike="noStrike">
                <a:solidFill>
                  <a:srgbClr val="edebdd"/>
                </a:solidFill>
                <a:latin typeface="Cambria"/>
                <a:ea typeface="Cambria"/>
              </a:rPr>
              <a:t>iPad → QAR315      Nissan → QAR13,500      Mini → QAR11,700      Holiday → QAR1,820      Kindle → QAR34.50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50" spc="-1" strike="noStrike">
                <a:solidFill>
                  <a:srgbClr val="d9d6c4"/>
                </a:solidFill>
                <a:latin typeface="Cambria"/>
                <a:ea typeface="Cambria"/>
              </a:rPr>
              <a:t>Extension:  reduce each by 20%, then add 20% VAT — do the two multipliers 0.8 then 1.2.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c2a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5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6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7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8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9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0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1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2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3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4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5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6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7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8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9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0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1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2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3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4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5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6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7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8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9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0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1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2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3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4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5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6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7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8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9" name="Shape 35"/>
          <p:cNvSpPr/>
          <p:nvPr/>
        </p:nvSpPr>
        <p:spPr>
          <a:xfrm>
            <a:off x="777240" y="640080"/>
            <a:ext cx="603000" cy="603000"/>
          </a:xfrm>
          <a:prstGeom prst="roundRect">
            <a:avLst>
              <a:gd name="adj" fmla="val 15152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0" name="Text 36"/>
          <p:cNvSpPr/>
          <p:nvPr/>
        </p:nvSpPr>
        <p:spPr>
          <a:xfrm>
            <a:off x="777240" y="640080"/>
            <a:ext cx="60300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79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979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1" name="Text 37"/>
          <p:cNvSpPr/>
          <p:nvPr/>
        </p:nvSpPr>
        <p:spPr>
          <a:xfrm>
            <a:off x="1554480" y="676800"/>
            <a:ext cx="82292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299" strike="noStrike">
                <a:solidFill>
                  <a:srgbClr val="e0ac2b"/>
                </a:solidFill>
                <a:latin typeface="Calibri"/>
                <a:ea typeface="Calibri"/>
              </a:rPr>
              <a:t>PART 3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2" name="Text 38"/>
          <p:cNvSpPr/>
          <p:nvPr/>
        </p:nvSpPr>
        <p:spPr>
          <a:xfrm>
            <a:off x="777240" y="1691640"/>
            <a:ext cx="1078956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400" spc="-1" strike="noStrike">
                <a:solidFill>
                  <a:srgbClr val="e0ac2b"/>
                </a:solidFill>
                <a:latin typeface="Cambria"/>
                <a:ea typeface="Cambria"/>
              </a:rPr>
              <a:t>Percentage Change, Profit &amp; Loss</a:t>
            </a: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3" name="Text 39"/>
          <p:cNvSpPr/>
          <p:nvPr/>
        </p:nvSpPr>
        <p:spPr>
          <a:xfrm>
            <a:off x="804600" y="2697480"/>
            <a:ext cx="106066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800" spc="-1" strike="noStrike">
                <a:solidFill>
                  <a:srgbClr val="edebdd"/>
                </a:solidFill>
                <a:latin typeface="Cambria"/>
                <a:ea typeface="Cambria"/>
              </a:rPr>
              <a:t>When you are GIVEN the old and new amounts and must find the percentage.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4" name="Shape 40"/>
          <p:cNvSpPr/>
          <p:nvPr/>
        </p:nvSpPr>
        <p:spPr>
          <a:xfrm>
            <a:off x="868680" y="3611880"/>
            <a:ext cx="475200" cy="47520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5" name="Text 41"/>
          <p:cNvSpPr/>
          <p:nvPr/>
        </p:nvSpPr>
        <p:spPr>
          <a:xfrm>
            <a:off x="868680" y="3611880"/>
            <a:ext cx="4752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mbria"/>
                <a:ea typeface="Cambria"/>
              </a:rPr>
              <a:t>1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6" name="Text 42"/>
          <p:cNvSpPr/>
          <p:nvPr/>
        </p:nvSpPr>
        <p:spPr>
          <a:xfrm>
            <a:off x="1554480" y="3611880"/>
            <a:ext cx="100580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edebdd"/>
                </a:solidFill>
                <a:latin typeface="Cambria"/>
                <a:ea typeface="Cambria"/>
              </a:rPr>
              <a:t>Find the actual change (new − old)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7" name="Shape 43"/>
          <p:cNvSpPr/>
          <p:nvPr/>
        </p:nvSpPr>
        <p:spPr>
          <a:xfrm>
            <a:off x="868680" y="4325040"/>
            <a:ext cx="475200" cy="47520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8" name="Text 44"/>
          <p:cNvSpPr/>
          <p:nvPr/>
        </p:nvSpPr>
        <p:spPr>
          <a:xfrm>
            <a:off x="868680" y="4325040"/>
            <a:ext cx="4752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mbria"/>
                <a:ea typeface="Cambria"/>
              </a:rPr>
              <a:t>2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9" name="Text 45"/>
          <p:cNvSpPr/>
          <p:nvPr/>
        </p:nvSpPr>
        <p:spPr>
          <a:xfrm>
            <a:off x="1554480" y="4325040"/>
            <a:ext cx="100580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edebdd"/>
                </a:solidFill>
                <a:latin typeface="Cambria"/>
                <a:ea typeface="Cambria"/>
              </a:rPr>
              <a:t>Divide by the ORIGINAL amount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0" name="Shape 46"/>
          <p:cNvSpPr/>
          <p:nvPr/>
        </p:nvSpPr>
        <p:spPr>
          <a:xfrm>
            <a:off x="868680" y="5038200"/>
            <a:ext cx="475200" cy="47520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1" name="Text 47"/>
          <p:cNvSpPr/>
          <p:nvPr/>
        </p:nvSpPr>
        <p:spPr>
          <a:xfrm>
            <a:off x="868680" y="5038200"/>
            <a:ext cx="4752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mbria"/>
                <a:ea typeface="Cambria"/>
              </a:rPr>
              <a:t>3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2" name="Text 48"/>
          <p:cNvSpPr/>
          <p:nvPr/>
        </p:nvSpPr>
        <p:spPr>
          <a:xfrm>
            <a:off x="1554480" y="5038200"/>
            <a:ext cx="100580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edebdd"/>
                </a:solidFill>
                <a:latin typeface="Cambria"/>
                <a:ea typeface="Cambria"/>
              </a:rPr>
              <a:t>Multiply by 100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3" name="Shape 49"/>
          <p:cNvSpPr/>
          <p:nvPr/>
        </p:nvSpPr>
        <p:spPr>
          <a:xfrm>
            <a:off x="868680" y="5751720"/>
            <a:ext cx="475200" cy="47520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4" name="Text 50"/>
          <p:cNvSpPr/>
          <p:nvPr/>
        </p:nvSpPr>
        <p:spPr>
          <a:xfrm>
            <a:off x="868680" y="5751720"/>
            <a:ext cx="4752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mbria"/>
                <a:ea typeface="Cambria"/>
              </a:rPr>
              <a:t>4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5" name="Text 51"/>
          <p:cNvSpPr/>
          <p:nvPr/>
        </p:nvSpPr>
        <p:spPr>
          <a:xfrm>
            <a:off x="1554480" y="5751720"/>
            <a:ext cx="100580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edebdd"/>
                </a:solidFill>
                <a:latin typeface="Cambria"/>
                <a:ea typeface="Cambria"/>
              </a:rPr>
              <a:t>Profit / loss uses the same steps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7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8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9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0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1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2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3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4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5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6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7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8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9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0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1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2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3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4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5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6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7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8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9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0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1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2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3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4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5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6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7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8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9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0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1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2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3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PERCENTAGE CHANGE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4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Finding the Percentage Change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5" name="Shape 39"/>
          <p:cNvSpPr/>
          <p:nvPr/>
        </p:nvSpPr>
        <p:spPr>
          <a:xfrm>
            <a:off x="567000" y="1554480"/>
            <a:ext cx="6126120" cy="3245760"/>
          </a:xfrm>
          <a:prstGeom prst="roundRect">
            <a:avLst>
              <a:gd name="adj" fmla="val 1690"/>
            </a:avLst>
          </a:prstGeom>
          <a:solidFill>
            <a:srgbClr val="eef1e8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6" name="Shape 40"/>
          <p:cNvSpPr/>
          <p:nvPr/>
        </p:nvSpPr>
        <p:spPr>
          <a:xfrm>
            <a:off x="6903720" y="1554480"/>
            <a:ext cx="4727160" cy="3245760"/>
          </a:xfrm>
          <a:prstGeom prst="roundRect">
            <a:avLst>
              <a:gd name="adj" fmla="val 1690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7" name="Text 41"/>
          <p:cNvSpPr/>
          <p:nvPr/>
        </p:nvSpPr>
        <p:spPr>
          <a:xfrm>
            <a:off x="7178040" y="1755720"/>
            <a:ext cx="4205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en-US" sz="1400" spc="-1" strike="noStrike">
                <a:solidFill>
                  <a:srgbClr val="c84f2f"/>
                </a:solidFill>
                <a:latin typeface="Cambria"/>
                <a:ea typeface="Cambria"/>
              </a:rPr>
              <a:t>The rule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8" name="Text 42"/>
          <p:cNvSpPr/>
          <p:nvPr/>
        </p:nvSpPr>
        <p:spPr>
          <a:xfrm>
            <a:off x="7223760" y="2240280"/>
            <a:ext cx="4205880" cy="23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350" spc="-1" strike="noStrike">
                <a:solidFill>
                  <a:srgbClr val="1c2a22"/>
                </a:solidFill>
                <a:latin typeface="Calibri"/>
                <a:ea typeface="Calibri"/>
              </a:rPr>
              <a:t>Always divide by the ORIGINAL (the starting amount).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350" spc="-1" strike="noStrike">
                <a:solidFill>
                  <a:srgbClr val="1c2a22"/>
                </a:solidFill>
                <a:latin typeface="Calibri"/>
                <a:ea typeface="Calibri"/>
              </a:rPr>
              <a:t>× 100 turns the fraction into a percentage.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350" spc="-1" strike="noStrike">
                <a:solidFill>
                  <a:srgbClr val="1c2a22"/>
                </a:solidFill>
                <a:latin typeface="Calibri"/>
                <a:ea typeface="Calibri"/>
              </a:rPr>
              <a:t>Increase → rise; decrease → fall.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9" name="Text 43"/>
          <p:cNvSpPr/>
          <p:nvPr/>
        </p:nvSpPr>
        <p:spPr>
          <a:xfrm>
            <a:off x="567000" y="6327720"/>
            <a:ext cx="11063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5c6b60"/>
                </a:solidFill>
                <a:latin typeface="Calibri"/>
                <a:ea typeface="Calibri"/>
              </a:rPr>
              <a:t>Dividing by the original (not the new) amount is the most common exam slip.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0" name="Shape 44"/>
          <p:cNvSpPr/>
          <p:nvPr/>
        </p:nvSpPr>
        <p:spPr>
          <a:xfrm>
            <a:off x="868680" y="1847160"/>
            <a:ext cx="328680" cy="32868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1" name="Text 45"/>
          <p:cNvSpPr/>
          <p:nvPr/>
        </p:nvSpPr>
        <p:spPr>
          <a:xfrm>
            <a:off x="868680" y="184716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1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2" name="Text 46"/>
          <p:cNvSpPr/>
          <p:nvPr/>
        </p:nvSpPr>
        <p:spPr>
          <a:xfrm>
            <a:off x="1362600" y="1810440"/>
            <a:ext cx="548604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c2a22"/>
                </a:solidFill>
                <a:latin typeface="Calibri"/>
                <a:ea typeface="Calibri"/>
              </a:rPr>
              <a:t>A printer’s price rises from £80 to £100.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3" name="Shape 47"/>
          <p:cNvSpPr/>
          <p:nvPr/>
        </p:nvSpPr>
        <p:spPr>
          <a:xfrm>
            <a:off x="868680" y="2578680"/>
            <a:ext cx="328680" cy="32868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4" name="Text 48"/>
          <p:cNvSpPr/>
          <p:nvPr/>
        </p:nvSpPr>
        <p:spPr>
          <a:xfrm>
            <a:off x="868680" y="257868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2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5" name="Text 49"/>
          <p:cNvSpPr/>
          <p:nvPr/>
        </p:nvSpPr>
        <p:spPr>
          <a:xfrm>
            <a:off x="1362600" y="2541960"/>
            <a:ext cx="548604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c2a22"/>
                </a:solidFill>
                <a:latin typeface="Calibri"/>
                <a:ea typeface="Calibri"/>
              </a:rPr>
              <a:t>Change = 100 − 80 = £20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6" name="Shape 50"/>
          <p:cNvSpPr/>
          <p:nvPr/>
        </p:nvSpPr>
        <p:spPr>
          <a:xfrm>
            <a:off x="868680" y="3310200"/>
            <a:ext cx="328680" cy="32868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7" name="Text 51"/>
          <p:cNvSpPr/>
          <p:nvPr/>
        </p:nvSpPr>
        <p:spPr>
          <a:xfrm>
            <a:off x="868680" y="331020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3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8" name="Text 52"/>
          <p:cNvSpPr/>
          <p:nvPr/>
        </p:nvSpPr>
        <p:spPr>
          <a:xfrm>
            <a:off x="1362600" y="3273480"/>
            <a:ext cx="548604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c2a22"/>
                </a:solidFill>
                <a:latin typeface="Calibri"/>
                <a:ea typeface="Calibri"/>
              </a:rPr>
              <a:t>% change = (change ÷ original) × 100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9" name="Shape 53"/>
          <p:cNvSpPr/>
          <p:nvPr/>
        </p:nvSpPr>
        <p:spPr>
          <a:xfrm>
            <a:off x="868680" y="4041720"/>
            <a:ext cx="328680" cy="32868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0" name="Text 54"/>
          <p:cNvSpPr/>
          <p:nvPr/>
        </p:nvSpPr>
        <p:spPr>
          <a:xfrm>
            <a:off x="868680" y="404172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4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1" name="Text 55"/>
          <p:cNvSpPr/>
          <p:nvPr/>
        </p:nvSpPr>
        <p:spPr>
          <a:xfrm>
            <a:off x="1362600" y="4005000"/>
            <a:ext cx="548604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c2a22"/>
                </a:solidFill>
                <a:latin typeface="Calibri"/>
                <a:ea typeface="Calibri"/>
              </a:rPr>
              <a:t>= (20 ÷ 80) × 100 = </a:t>
            </a:r>
            <a:r>
              <a:rPr b="1" lang="en-US" sz="1400" spc="-1" strike="noStrike">
                <a:solidFill>
                  <a:srgbClr val="c84f2f"/>
                </a:solidFill>
                <a:latin typeface="Calibri"/>
                <a:ea typeface="Calibri"/>
              </a:rPr>
              <a:t>25%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2" name="Shape 56"/>
          <p:cNvSpPr/>
          <p:nvPr/>
        </p:nvSpPr>
        <p:spPr>
          <a:xfrm>
            <a:off x="567000" y="5074920"/>
            <a:ext cx="11063880" cy="1142640"/>
          </a:xfrm>
          <a:prstGeom prst="roundRect">
            <a:avLst>
              <a:gd name="adj" fmla="val 4800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3" name="Text 57"/>
          <p:cNvSpPr/>
          <p:nvPr/>
        </p:nvSpPr>
        <p:spPr>
          <a:xfrm>
            <a:off x="841320" y="5074920"/>
            <a:ext cx="1051524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300" spc="-1" strike="noStrike">
                <a:solidFill>
                  <a:srgbClr val="e0ac2b"/>
                </a:solidFill>
                <a:latin typeface="Cambria"/>
                <a:ea typeface="Cambria"/>
              </a:rPr>
              <a:t>25% increase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5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6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7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8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9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0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1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2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3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4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5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6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7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8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9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0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1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2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3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4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5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6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7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8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9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0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1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2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3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4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5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6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7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8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9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0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1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YOUR TURN · PERCENTAGE CHANGE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2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Find the Percentage Change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3" name="Shape 39"/>
          <p:cNvSpPr/>
          <p:nvPr/>
        </p:nvSpPr>
        <p:spPr>
          <a:xfrm>
            <a:off x="567000" y="1417320"/>
            <a:ext cx="11063880" cy="548280"/>
          </a:xfrm>
          <a:prstGeom prst="roundRect">
            <a:avLst>
              <a:gd name="adj" fmla="val 10000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4" name="Text 40"/>
          <p:cNvSpPr/>
          <p:nvPr/>
        </p:nvSpPr>
        <p:spPr>
          <a:xfrm>
            <a:off x="887040" y="1417320"/>
            <a:ext cx="104238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edebdd"/>
                </a:solidFill>
                <a:latin typeface="Calibri"/>
                <a:ea typeface="Calibri"/>
              </a:rPr>
              <a:t>Change ÷ original × 100. Give decimals to 1 d.p. where needed.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5" name="Shape 41"/>
          <p:cNvSpPr/>
          <p:nvPr/>
        </p:nvSpPr>
        <p:spPr>
          <a:xfrm>
            <a:off x="567000" y="2194560"/>
            <a:ext cx="11063880" cy="840960"/>
          </a:xfrm>
          <a:prstGeom prst="roundRect">
            <a:avLst>
              <a:gd name="adj" fmla="val 6522"/>
            </a:avLst>
          </a:prstGeom>
          <a:solidFill>
            <a:srgbClr val="eef1e8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6" name="Shape 42"/>
          <p:cNvSpPr/>
          <p:nvPr/>
        </p:nvSpPr>
        <p:spPr>
          <a:xfrm>
            <a:off x="841320" y="2404800"/>
            <a:ext cx="420120" cy="42012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7" name="Text 43"/>
          <p:cNvSpPr/>
          <p:nvPr/>
        </p:nvSpPr>
        <p:spPr>
          <a:xfrm>
            <a:off x="841320" y="2404800"/>
            <a:ext cx="4201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ffffff"/>
                </a:solidFill>
                <a:latin typeface="Cambria"/>
                <a:ea typeface="Cambria"/>
              </a:rPr>
              <a:t>1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8" name="Text 44"/>
          <p:cNvSpPr/>
          <p:nvPr/>
        </p:nvSpPr>
        <p:spPr>
          <a:xfrm>
            <a:off x="1463040" y="2194560"/>
            <a:ext cx="7589160" cy="84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50" spc="-1" strike="noStrike">
                <a:solidFill>
                  <a:srgbClr val="1c2a22"/>
                </a:solidFill>
                <a:latin typeface="Cambria"/>
                <a:ea typeface="Cambria"/>
              </a:rPr>
              <a:t>Temperature rises 20°C → 30°C. Find the % increase.</a:t>
            </a:r>
            <a:endParaRPr b="0" lang="en-US" sz="15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9" name="Text 45"/>
          <p:cNvSpPr/>
          <p:nvPr/>
        </p:nvSpPr>
        <p:spPr>
          <a:xfrm>
            <a:off x="9052560" y="2194560"/>
            <a:ext cx="2468520" cy="84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c84f2f"/>
                </a:solidFill>
                <a:latin typeface="Cambria"/>
                <a:ea typeface="Cambria"/>
              </a:rPr>
              <a:t>50% increase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0" name="Shape 46"/>
          <p:cNvSpPr/>
          <p:nvPr/>
        </p:nvSpPr>
        <p:spPr>
          <a:xfrm>
            <a:off x="567000" y="3145680"/>
            <a:ext cx="11063880" cy="840960"/>
          </a:xfrm>
          <a:prstGeom prst="roundRect">
            <a:avLst>
              <a:gd name="adj" fmla="val 6522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1" name="Shape 47"/>
          <p:cNvSpPr/>
          <p:nvPr/>
        </p:nvSpPr>
        <p:spPr>
          <a:xfrm>
            <a:off x="841320" y="3355920"/>
            <a:ext cx="420120" cy="42012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22" name="Text 48"/>
          <p:cNvSpPr/>
          <p:nvPr/>
        </p:nvSpPr>
        <p:spPr>
          <a:xfrm>
            <a:off x="841320" y="3355920"/>
            <a:ext cx="4201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ffffff"/>
                </a:solidFill>
                <a:latin typeface="Cambria"/>
                <a:ea typeface="Cambria"/>
              </a:rPr>
              <a:t>2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3" name="Text 49"/>
          <p:cNvSpPr/>
          <p:nvPr/>
        </p:nvSpPr>
        <p:spPr>
          <a:xfrm>
            <a:off x="1463040" y="3145680"/>
            <a:ext cx="7589160" cy="84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50" spc="-1" strike="noStrike">
                <a:solidFill>
                  <a:srgbClr val="1c2a22"/>
                </a:solidFill>
                <a:latin typeface="Cambria"/>
                <a:ea typeface="Cambria"/>
              </a:rPr>
              <a:t>A car falls from £3950 to £3300. Find the % decrease.</a:t>
            </a:r>
            <a:endParaRPr b="0" lang="en-US" sz="15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4" name="Text 50"/>
          <p:cNvSpPr/>
          <p:nvPr/>
        </p:nvSpPr>
        <p:spPr>
          <a:xfrm>
            <a:off x="9052560" y="3145680"/>
            <a:ext cx="2468520" cy="84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c84f2f"/>
                </a:solidFill>
                <a:latin typeface="Cambria"/>
                <a:ea typeface="Cambria"/>
              </a:rPr>
              <a:t>16.5% decrease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5" name="Shape 51"/>
          <p:cNvSpPr/>
          <p:nvPr/>
        </p:nvSpPr>
        <p:spPr>
          <a:xfrm>
            <a:off x="567000" y="4096440"/>
            <a:ext cx="11063880" cy="840960"/>
          </a:xfrm>
          <a:prstGeom prst="roundRect">
            <a:avLst>
              <a:gd name="adj" fmla="val 6522"/>
            </a:avLst>
          </a:prstGeom>
          <a:solidFill>
            <a:srgbClr val="eef1e8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6" name="Shape 52"/>
          <p:cNvSpPr/>
          <p:nvPr/>
        </p:nvSpPr>
        <p:spPr>
          <a:xfrm>
            <a:off x="841320" y="4306680"/>
            <a:ext cx="420120" cy="42012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27" name="Text 53"/>
          <p:cNvSpPr/>
          <p:nvPr/>
        </p:nvSpPr>
        <p:spPr>
          <a:xfrm>
            <a:off x="841320" y="4306680"/>
            <a:ext cx="4201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ffffff"/>
                </a:solidFill>
                <a:latin typeface="Cambria"/>
                <a:ea typeface="Cambria"/>
              </a:rPr>
              <a:t>3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8" name="Text 54"/>
          <p:cNvSpPr/>
          <p:nvPr/>
        </p:nvSpPr>
        <p:spPr>
          <a:xfrm>
            <a:off x="1463040" y="4096440"/>
            <a:ext cx="7589160" cy="84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50" spc="-1" strike="noStrike">
                <a:solidFill>
                  <a:srgbClr val="1c2a22"/>
                </a:solidFill>
                <a:latin typeface="Cambria"/>
                <a:ea typeface="Cambria"/>
              </a:rPr>
              <a:t>A house rises from £250,000 to £280,000. % increase?</a:t>
            </a:r>
            <a:endParaRPr b="0" lang="en-US" sz="15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9" name="Text 55"/>
          <p:cNvSpPr/>
          <p:nvPr/>
        </p:nvSpPr>
        <p:spPr>
          <a:xfrm>
            <a:off x="9052560" y="4096440"/>
            <a:ext cx="2468520" cy="84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c84f2f"/>
                </a:solidFill>
                <a:latin typeface="Cambria"/>
                <a:ea typeface="Cambria"/>
              </a:rPr>
              <a:t>12% increase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0" name="Shape 56"/>
          <p:cNvSpPr/>
          <p:nvPr/>
        </p:nvSpPr>
        <p:spPr>
          <a:xfrm>
            <a:off x="567000" y="5047560"/>
            <a:ext cx="11063880" cy="840960"/>
          </a:xfrm>
          <a:prstGeom prst="roundRect">
            <a:avLst>
              <a:gd name="adj" fmla="val 6522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1" name="Shape 57"/>
          <p:cNvSpPr/>
          <p:nvPr/>
        </p:nvSpPr>
        <p:spPr>
          <a:xfrm>
            <a:off x="841320" y="5257800"/>
            <a:ext cx="420120" cy="42012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2" name="Text 58"/>
          <p:cNvSpPr/>
          <p:nvPr/>
        </p:nvSpPr>
        <p:spPr>
          <a:xfrm>
            <a:off x="841320" y="5257800"/>
            <a:ext cx="4201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ffffff"/>
                </a:solidFill>
                <a:latin typeface="Cambria"/>
                <a:ea typeface="Cambria"/>
              </a:rPr>
              <a:t>4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3" name="Text 59"/>
          <p:cNvSpPr/>
          <p:nvPr/>
        </p:nvSpPr>
        <p:spPr>
          <a:xfrm>
            <a:off x="1463040" y="5047560"/>
            <a:ext cx="7589160" cy="84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50" spc="-1" strike="noStrike">
                <a:solidFill>
                  <a:srgbClr val="1c2a22"/>
                </a:solidFill>
                <a:latin typeface="Cambria"/>
                <a:ea typeface="Cambria"/>
              </a:rPr>
              <a:t>A coat drops from £60 to £45. Find the % decrease.</a:t>
            </a:r>
            <a:endParaRPr b="0" lang="en-US" sz="15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4" name="Text 60"/>
          <p:cNvSpPr/>
          <p:nvPr/>
        </p:nvSpPr>
        <p:spPr>
          <a:xfrm>
            <a:off x="9052560" y="5047560"/>
            <a:ext cx="2468520" cy="84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c84f2f"/>
                </a:solidFill>
                <a:latin typeface="Cambria"/>
                <a:ea typeface="Cambria"/>
              </a:rPr>
              <a:t>25% decrease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6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7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8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9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0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1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2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3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4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5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6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7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8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9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0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1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2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3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4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5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6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7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8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9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0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1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2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3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4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5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6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7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8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9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0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71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2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PROFIT &amp; LOSS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3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Same Idea, Different Words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4" name="Shape 39"/>
          <p:cNvSpPr/>
          <p:nvPr/>
        </p:nvSpPr>
        <p:spPr>
          <a:xfrm>
            <a:off x="567000" y="1371600"/>
            <a:ext cx="11063880" cy="749520"/>
          </a:xfrm>
          <a:prstGeom prst="roundRect">
            <a:avLst>
              <a:gd name="adj" fmla="val 7317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75" name="Text 40"/>
          <p:cNvSpPr/>
          <p:nvPr/>
        </p:nvSpPr>
        <p:spPr>
          <a:xfrm>
            <a:off x="887040" y="1371600"/>
            <a:ext cx="1042380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e0ac2b"/>
                </a:solidFill>
                <a:latin typeface="Calibri"/>
                <a:ea typeface="Calibri"/>
              </a:rPr>
              <a:t>% profit or loss = (actual profit or loss ÷ original cost) × 100. </a:t>
            </a:r>
            <a:r>
              <a:rPr b="0" lang="en-US" sz="1350" spc="-1" strike="noStrike">
                <a:solidFill>
                  <a:srgbClr val="edebdd"/>
                </a:solidFill>
                <a:latin typeface="Calibri"/>
                <a:ea typeface="Calibri"/>
              </a:rPr>
              <a:t>The ‘original’ is the buying (cost) price.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6" name="Shape 41"/>
          <p:cNvSpPr/>
          <p:nvPr/>
        </p:nvSpPr>
        <p:spPr>
          <a:xfrm>
            <a:off x="567000" y="2286000"/>
            <a:ext cx="5440320" cy="3108600"/>
          </a:xfrm>
          <a:prstGeom prst="roundRect">
            <a:avLst>
              <a:gd name="adj" fmla="val 1765"/>
            </a:avLst>
          </a:prstGeom>
          <a:solidFill>
            <a:srgbClr val="eef1e8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7" name="Text 42"/>
          <p:cNvSpPr/>
          <p:nvPr/>
        </p:nvSpPr>
        <p:spPr>
          <a:xfrm>
            <a:off x="932760" y="2523600"/>
            <a:ext cx="47088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1c2a22"/>
                </a:solidFill>
                <a:latin typeface="Cambria"/>
                <a:ea typeface="Cambria"/>
              </a:rPr>
              <a:t>Profit — an antique chair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8" name="Text 43"/>
          <p:cNvSpPr/>
          <p:nvPr/>
        </p:nvSpPr>
        <p:spPr>
          <a:xfrm>
            <a:off x="914400" y="2971800"/>
            <a:ext cx="4754520" cy="219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700"/>
              </a:spcAft>
              <a:tabLst>
                <a:tab algn="l" pos="0"/>
              </a:tabLst>
            </a:pPr>
            <a:r>
              <a:rPr b="0" lang="en-US" sz="1650" spc="-1" strike="noStrike">
                <a:solidFill>
                  <a:srgbClr val="000000"/>
                </a:solidFill>
                <a:latin typeface="Cambria"/>
                <a:ea typeface="Cambria"/>
              </a:rPr>
              <a:t>Buy £250, sell £300</a:t>
            </a:r>
            <a:endParaRPr b="0" lang="en-US" sz="16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700"/>
              </a:spcAft>
              <a:tabLst>
                <a:tab algn="l" pos="0"/>
              </a:tabLst>
            </a:pPr>
            <a:r>
              <a:rPr b="0" lang="en-US" sz="1650" spc="-1" strike="noStrike">
                <a:solidFill>
                  <a:srgbClr val="000000"/>
                </a:solidFill>
                <a:latin typeface="Cambria"/>
                <a:ea typeface="Cambria"/>
              </a:rPr>
              <a:t>Profit = 300 − 250 = £50</a:t>
            </a:r>
            <a:endParaRPr b="0" lang="en-US" sz="16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700"/>
              </a:spcAft>
              <a:tabLst>
                <a:tab algn="l" pos="0"/>
              </a:tabLst>
            </a:pPr>
            <a:r>
              <a:rPr b="0" lang="en-US" sz="1650" spc="-1" strike="noStrike">
                <a:solidFill>
                  <a:srgbClr val="000000"/>
                </a:solidFill>
                <a:latin typeface="Cambria"/>
                <a:ea typeface="Cambria"/>
              </a:rPr>
              <a:t>% profit = (50 ÷ 250) × 100</a:t>
            </a:r>
            <a:endParaRPr b="0" lang="en-US" sz="16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50" spc="-1" strike="noStrike">
                <a:solidFill>
                  <a:srgbClr val="c84f2f"/>
                </a:solidFill>
                <a:latin typeface="Cambria"/>
                <a:ea typeface="Cambria"/>
              </a:rPr>
              <a:t>= 20% profit</a:t>
            </a:r>
            <a:endParaRPr b="0" lang="en-US" sz="16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9" name="Shape 44"/>
          <p:cNvSpPr/>
          <p:nvPr/>
        </p:nvSpPr>
        <p:spPr>
          <a:xfrm>
            <a:off x="6190560" y="2286000"/>
            <a:ext cx="5440320" cy="3108600"/>
          </a:xfrm>
          <a:prstGeom prst="roundRect">
            <a:avLst>
              <a:gd name="adj" fmla="val 1765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0" name="Text 45"/>
          <p:cNvSpPr/>
          <p:nvPr/>
        </p:nvSpPr>
        <p:spPr>
          <a:xfrm>
            <a:off x="6556320" y="2523600"/>
            <a:ext cx="47088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1c2a22"/>
                </a:solidFill>
                <a:latin typeface="Cambria"/>
                <a:ea typeface="Cambria"/>
              </a:rPr>
              <a:t>Loss — a used guitar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1" name="Text 46"/>
          <p:cNvSpPr/>
          <p:nvPr/>
        </p:nvSpPr>
        <p:spPr>
          <a:xfrm>
            <a:off x="6537960" y="2971800"/>
            <a:ext cx="4754520" cy="219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700"/>
              </a:spcAft>
              <a:tabLst>
                <a:tab algn="l" pos="0"/>
              </a:tabLst>
            </a:pPr>
            <a:r>
              <a:rPr b="0" lang="en-US" sz="1650" spc="-1" strike="noStrike">
                <a:solidFill>
                  <a:srgbClr val="000000"/>
                </a:solidFill>
                <a:latin typeface="Cambria"/>
                <a:ea typeface="Cambria"/>
              </a:rPr>
              <a:t>Buy £140, sell £100</a:t>
            </a:r>
            <a:endParaRPr b="0" lang="en-US" sz="16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700"/>
              </a:spcAft>
              <a:tabLst>
                <a:tab algn="l" pos="0"/>
              </a:tabLst>
            </a:pPr>
            <a:r>
              <a:rPr b="0" lang="en-US" sz="1650" spc="-1" strike="noStrike">
                <a:solidFill>
                  <a:srgbClr val="000000"/>
                </a:solidFill>
                <a:latin typeface="Cambria"/>
                <a:ea typeface="Cambria"/>
              </a:rPr>
              <a:t>Loss = 140 − 100 = £40</a:t>
            </a:r>
            <a:endParaRPr b="0" lang="en-US" sz="16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700"/>
              </a:spcAft>
              <a:tabLst>
                <a:tab algn="l" pos="0"/>
              </a:tabLst>
            </a:pPr>
            <a:r>
              <a:rPr b="0" lang="en-US" sz="1650" spc="-1" strike="noStrike">
                <a:solidFill>
                  <a:srgbClr val="000000"/>
                </a:solidFill>
                <a:latin typeface="Cambria"/>
                <a:ea typeface="Cambria"/>
              </a:rPr>
              <a:t>% loss = (40 ÷ 140) × 100</a:t>
            </a:r>
            <a:endParaRPr b="0" lang="en-US" sz="16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50" spc="-1" strike="noStrike">
                <a:solidFill>
                  <a:srgbClr val="c84f2f"/>
                </a:solidFill>
                <a:latin typeface="Cambria"/>
                <a:ea typeface="Cambria"/>
              </a:rPr>
              <a:t>= 28.6% loss  (1 d.p.)</a:t>
            </a:r>
            <a:endParaRPr b="0" lang="en-US" sz="16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2" name="Text 47"/>
          <p:cNvSpPr/>
          <p:nvPr/>
        </p:nvSpPr>
        <p:spPr>
          <a:xfrm>
            <a:off x="567000" y="5623560"/>
            <a:ext cx="11063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5c6b60"/>
                </a:solidFill>
                <a:latin typeface="Calibri"/>
                <a:ea typeface="Calibri"/>
              </a:rPr>
              <a:t>Try: the Robinsons buy a house for £180,000 and sell for £230,000 — find the % profit.  (Answer: 27.8%)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c2a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4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5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6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7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8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9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0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1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2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3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4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5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6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7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8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9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0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1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2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3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4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5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6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7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8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9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0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1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2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3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4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5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6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7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8" name="Shape 35"/>
          <p:cNvSpPr/>
          <p:nvPr/>
        </p:nvSpPr>
        <p:spPr>
          <a:xfrm>
            <a:off x="777240" y="640080"/>
            <a:ext cx="603000" cy="603000"/>
          </a:xfrm>
          <a:prstGeom prst="roundRect">
            <a:avLst>
              <a:gd name="adj" fmla="val 15152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9" name="Text 36"/>
          <p:cNvSpPr/>
          <p:nvPr/>
        </p:nvSpPr>
        <p:spPr>
          <a:xfrm>
            <a:off x="777240" y="640080"/>
            <a:ext cx="60300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79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979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20" name="Text 37"/>
          <p:cNvSpPr/>
          <p:nvPr/>
        </p:nvSpPr>
        <p:spPr>
          <a:xfrm>
            <a:off x="1554480" y="676800"/>
            <a:ext cx="82292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299" strike="noStrike">
                <a:solidFill>
                  <a:srgbClr val="e0ac2b"/>
                </a:solidFill>
                <a:latin typeface="Calibri"/>
                <a:ea typeface="Calibri"/>
              </a:rPr>
              <a:t>PART 4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21" name="Text 38"/>
          <p:cNvSpPr/>
          <p:nvPr/>
        </p:nvSpPr>
        <p:spPr>
          <a:xfrm>
            <a:off x="777240" y="1691640"/>
            <a:ext cx="1078956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400" spc="-1" strike="noStrike">
                <a:solidFill>
                  <a:srgbClr val="e0ac2b"/>
                </a:solidFill>
                <a:latin typeface="Cambria"/>
                <a:ea typeface="Cambria"/>
              </a:rPr>
              <a:t>Reverse Percentages</a:t>
            </a: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22" name="Text 39"/>
          <p:cNvSpPr/>
          <p:nvPr/>
        </p:nvSpPr>
        <p:spPr>
          <a:xfrm>
            <a:off x="804600" y="2697480"/>
            <a:ext cx="106066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800" spc="-1" strike="noStrike">
                <a:solidFill>
                  <a:srgbClr val="edebdd"/>
                </a:solidFill>
                <a:latin typeface="Cambria"/>
                <a:ea typeface="Cambria"/>
              </a:rPr>
              <a:t>You are given the NEW amount and must find the ORIGINAL — work backwards.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23" name="Shape 40"/>
          <p:cNvSpPr/>
          <p:nvPr/>
        </p:nvSpPr>
        <p:spPr>
          <a:xfrm>
            <a:off x="868680" y="3611880"/>
            <a:ext cx="475200" cy="47520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24" name="Text 41"/>
          <p:cNvSpPr/>
          <p:nvPr/>
        </p:nvSpPr>
        <p:spPr>
          <a:xfrm>
            <a:off x="868680" y="3611880"/>
            <a:ext cx="4752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mbria"/>
                <a:ea typeface="Cambria"/>
              </a:rPr>
              <a:t>1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25" name="Text 42"/>
          <p:cNvSpPr/>
          <p:nvPr/>
        </p:nvSpPr>
        <p:spPr>
          <a:xfrm>
            <a:off x="1554480" y="3611880"/>
            <a:ext cx="100580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edebdd"/>
                </a:solidFill>
                <a:latin typeface="Cambria"/>
                <a:ea typeface="Cambria"/>
              </a:rPr>
              <a:t>Write ORIGINAL × multiplier = NEW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26" name="Shape 43"/>
          <p:cNvSpPr/>
          <p:nvPr/>
        </p:nvSpPr>
        <p:spPr>
          <a:xfrm>
            <a:off x="868680" y="4325040"/>
            <a:ext cx="475200" cy="47520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27" name="Text 44"/>
          <p:cNvSpPr/>
          <p:nvPr/>
        </p:nvSpPr>
        <p:spPr>
          <a:xfrm>
            <a:off x="868680" y="4325040"/>
            <a:ext cx="4752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mbria"/>
                <a:ea typeface="Cambria"/>
              </a:rPr>
              <a:t>2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28" name="Text 45"/>
          <p:cNvSpPr/>
          <p:nvPr/>
        </p:nvSpPr>
        <p:spPr>
          <a:xfrm>
            <a:off x="1554480" y="4325040"/>
            <a:ext cx="100580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edebdd"/>
                </a:solidFill>
                <a:latin typeface="Cambria"/>
                <a:ea typeface="Cambria"/>
              </a:rPr>
              <a:t>Rearrange: ORIGINAL = NEW ÷ multiplier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29" name="Shape 46"/>
          <p:cNvSpPr/>
          <p:nvPr/>
        </p:nvSpPr>
        <p:spPr>
          <a:xfrm>
            <a:off x="868680" y="5038200"/>
            <a:ext cx="475200" cy="47520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30" name="Text 47"/>
          <p:cNvSpPr/>
          <p:nvPr/>
        </p:nvSpPr>
        <p:spPr>
          <a:xfrm>
            <a:off x="868680" y="5038200"/>
            <a:ext cx="4752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mbria"/>
                <a:ea typeface="Cambria"/>
              </a:rPr>
              <a:t>3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31" name="Text 48"/>
          <p:cNvSpPr/>
          <p:nvPr/>
        </p:nvSpPr>
        <p:spPr>
          <a:xfrm>
            <a:off x="1554480" y="5038200"/>
            <a:ext cx="100580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edebdd"/>
                </a:solidFill>
                <a:latin typeface="Cambria"/>
                <a:ea typeface="Cambria"/>
              </a:rPr>
              <a:t>Use the SAME multiplier as a forward change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32" name="Shape 49"/>
          <p:cNvSpPr/>
          <p:nvPr/>
        </p:nvSpPr>
        <p:spPr>
          <a:xfrm>
            <a:off x="868680" y="5751720"/>
            <a:ext cx="475200" cy="47520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33" name="Text 50"/>
          <p:cNvSpPr/>
          <p:nvPr/>
        </p:nvSpPr>
        <p:spPr>
          <a:xfrm>
            <a:off x="868680" y="5751720"/>
            <a:ext cx="4752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mbria"/>
                <a:ea typeface="Cambria"/>
              </a:rPr>
              <a:t>4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34" name="Text 51"/>
          <p:cNvSpPr/>
          <p:nvPr/>
        </p:nvSpPr>
        <p:spPr>
          <a:xfrm>
            <a:off x="1554480" y="5751720"/>
            <a:ext cx="100580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edebdd"/>
                </a:solidFill>
                <a:latin typeface="Cambria"/>
                <a:ea typeface="Cambria"/>
              </a:rPr>
              <a:t>Never just take the % off the new amount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5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6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7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8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9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0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1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2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3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4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5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6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7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8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9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0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1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2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3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4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5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6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7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8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9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0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1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2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3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4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5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6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7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8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9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0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71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2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REVERSE PERCENTAGES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3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Finding the Original Amount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4" name="Shape 39"/>
          <p:cNvSpPr/>
          <p:nvPr/>
        </p:nvSpPr>
        <p:spPr>
          <a:xfrm>
            <a:off x="567000" y="1417320"/>
            <a:ext cx="11063880" cy="776880"/>
          </a:xfrm>
          <a:prstGeom prst="roundRect">
            <a:avLst>
              <a:gd name="adj" fmla="val 7059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75" name="Text 40"/>
          <p:cNvSpPr/>
          <p:nvPr/>
        </p:nvSpPr>
        <p:spPr>
          <a:xfrm>
            <a:off x="887040" y="1417320"/>
            <a:ext cx="1042380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e0ac2b"/>
                </a:solidFill>
                <a:latin typeface="Calibri"/>
                <a:ea typeface="Calibri"/>
              </a:rPr>
              <a:t>The forward rule is  ORIGINAL × multiplier = NEW. </a:t>
            </a:r>
            <a:r>
              <a:rPr b="0" lang="en-US" sz="1400" spc="-1" strike="noStrike">
                <a:solidFill>
                  <a:srgbClr val="edebdd"/>
                </a:solidFill>
                <a:latin typeface="Calibri"/>
                <a:ea typeface="Calibri"/>
              </a:rPr>
              <a:t>So to go back, DIVIDE by the multiplier.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6" name="Shape 41"/>
          <p:cNvSpPr/>
          <p:nvPr/>
        </p:nvSpPr>
        <p:spPr>
          <a:xfrm>
            <a:off x="2194560" y="2468880"/>
            <a:ext cx="7799400" cy="1051200"/>
          </a:xfrm>
          <a:prstGeom prst="roundRect">
            <a:avLst>
              <a:gd name="adj" fmla="val 5217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77" name="Text 42"/>
          <p:cNvSpPr/>
          <p:nvPr/>
        </p:nvSpPr>
        <p:spPr>
          <a:xfrm>
            <a:off x="2194560" y="2468880"/>
            <a:ext cx="779940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e0ac2b"/>
                </a:solidFill>
                <a:latin typeface="Cambria"/>
                <a:ea typeface="Cambria"/>
              </a:rPr>
              <a:t>ORIGINAL  =  NEW  ÷  multiplier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8" name="Shape 43"/>
          <p:cNvSpPr/>
          <p:nvPr/>
        </p:nvSpPr>
        <p:spPr>
          <a:xfrm>
            <a:off x="567000" y="3840480"/>
            <a:ext cx="5440320" cy="2011320"/>
          </a:xfrm>
          <a:prstGeom prst="roundRect">
            <a:avLst>
              <a:gd name="adj" fmla="val 2727"/>
            </a:avLst>
          </a:prstGeom>
          <a:solidFill>
            <a:srgbClr val="eef1e8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9" name="Text 44"/>
          <p:cNvSpPr/>
          <p:nvPr/>
        </p:nvSpPr>
        <p:spPr>
          <a:xfrm>
            <a:off x="932760" y="4078080"/>
            <a:ext cx="47088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1c2a22"/>
                </a:solidFill>
                <a:latin typeface="Cambria"/>
                <a:ea typeface="Cambria"/>
              </a:rPr>
              <a:t>After a 20% increase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0" name="Text 45"/>
          <p:cNvSpPr/>
          <p:nvPr/>
        </p:nvSpPr>
        <p:spPr>
          <a:xfrm>
            <a:off x="914400" y="4572000"/>
            <a:ext cx="475452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r>
              <a:rPr b="1" lang="en-US" sz="1600" spc="-1" strike="noStrike">
                <a:solidFill>
                  <a:srgbClr val="000000"/>
                </a:solidFill>
                <a:latin typeface="Cambria"/>
                <a:ea typeface="Cambria"/>
              </a:rPr>
              <a:t>multiplier = 1.20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600" spc="-1" strike="noStrike">
                <a:solidFill>
                  <a:srgbClr val="5c6b60"/>
                </a:solidFill>
                <a:latin typeface="Cambria"/>
                <a:ea typeface="Cambria"/>
              </a:rPr>
              <a:t>original = new ÷ 1.2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1" name="Shape 46"/>
          <p:cNvSpPr/>
          <p:nvPr/>
        </p:nvSpPr>
        <p:spPr>
          <a:xfrm>
            <a:off x="6190560" y="3840480"/>
            <a:ext cx="5440320" cy="2011320"/>
          </a:xfrm>
          <a:prstGeom prst="roundRect">
            <a:avLst>
              <a:gd name="adj" fmla="val 2727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2" name="Text 47"/>
          <p:cNvSpPr/>
          <p:nvPr/>
        </p:nvSpPr>
        <p:spPr>
          <a:xfrm>
            <a:off x="6556320" y="4078080"/>
            <a:ext cx="47088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1c2a22"/>
                </a:solidFill>
                <a:latin typeface="Cambria"/>
                <a:ea typeface="Cambria"/>
              </a:rPr>
              <a:t>After a 30% decrease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3" name="Text 48"/>
          <p:cNvSpPr/>
          <p:nvPr/>
        </p:nvSpPr>
        <p:spPr>
          <a:xfrm>
            <a:off x="6537960" y="4572000"/>
            <a:ext cx="475452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r>
              <a:rPr b="1" lang="en-US" sz="1600" spc="-1" strike="noStrike">
                <a:solidFill>
                  <a:srgbClr val="000000"/>
                </a:solidFill>
                <a:latin typeface="Cambria"/>
                <a:ea typeface="Cambria"/>
              </a:rPr>
              <a:t>multiplier = 0.70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600" spc="-1" strike="noStrike">
                <a:solidFill>
                  <a:srgbClr val="5c6b60"/>
                </a:solidFill>
                <a:latin typeface="Cambria"/>
                <a:ea typeface="Cambria"/>
              </a:rPr>
              <a:t>original = new ÷ 0.7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5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6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7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8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9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0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1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2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3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4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5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6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7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8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9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0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1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2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3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4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5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6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7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8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9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0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1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2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3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4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5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6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7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8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9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0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1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REVERSE · WORKED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2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Working Backwards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3" name="Shape 39"/>
          <p:cNvSpPr/>
          <p:nvPr/>
        </p:nvSpPr>
        <p:spPr>
          <a:xfrm>
            <a:off x="567000" y="1554480"/>
            <a:ext cx="6126120" cy="3245760"/>
          </a:xfrm>
          <a:prstGeom prst="roundRect">
            <a:avLst>
              <a:gd name="adj" fmla="val 1690"/>
            </a:avLst>
          </a:prstGeom>
          <a:solidFill>
            <a:srgbClr val="eef1e8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4" name="Shape 40"/>
          <p:cNvSpPr/>
          <p:nvPr/>
        </p:nvSpPr>
        <p:spPr>
          <a:xfrm>
            <a:off x="6903720" y="1554480"/>
            <a:ext cx="4727160" cy="3245760"/>
          </a:xfrm>
          <a:prstGeom prst="roundRect">
            <a:avLst>
              <a:gd name="adj" fmla="val 1690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5" name="Text 41"/>
          <p:cNvSpPr/>
          <p:nvPr/>
        </p:nvSpPr>
        <p:spPr>
          <a:xfrm>
            <a:off x="7178040" y="1755720"/>
            <a:ext cx="4205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en-US" sz="1400" spc="-1" strike="noStrike">
                <a:solidFill>
                  <a:srgbClr val="c84f2f"/>
                </a:solidFill>
                <a:latin typeface="Cambria"/>
                <a:ea typeface="Cambria"/>
              </a:rPr>
              <a:t>Common trap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6" name="Text 42"/>
          <p:cNvSpPr/>
          <p:nvPr/>
        </p:nvSpPr>
        <p:spPr>
          <a:xfrm>
            <a:off x="7223760" y="2240280"/>
            <a:ext cx="4205880" cy="23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350" spc="-1" strike="noStrike">
                <a:solidFill>
                  <a:srgbClr val="1c2a22"/>
                </a:solidFill>
                <a:latin typeface="Calibri"/>
                <a:ea typeface="Calibri"/>
              </a:rPr>
              <a:t>Do NOT take 10% off £600 — that gives the wrong answer.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350" spc="-1" strike="noStrike">
                <a:solidFill>
                  <a:srgbClr val="1c2a22"/>
                </a:solidFill>
                <a:latin typeface="Calibri"/>
                <a:ea typeface="Calibri"/>
              </a:rPr>
              <a:t>£600 is 110% of the original, not 100%.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350" spc="-1" strike="noStrike">
                <a:solidFill>
                  <a:srgbClr val="1c2a22"/>
                </a:solidFill>
                <a:latin typeface="Calibri"/>
                <a:ea typeface="Calibri"/>
              </a:rPr>
              <a:t>Divide by 1.1 to undo the increase.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7" name="Text 43"/>
          <p:cNvSpPr/>
          <p:nvPr/>
        </p:nvSpPr>
        <p:spPr>
          <a:xfrm>
            <a:off x="567000" y="6327720"/>
            <a:ext cx="11063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5c6b60"/>
                </a:solidFill>
                <a:latin typeface="Calibri"/>
                <a:ea typeface="Calibri"/>
              </a:rPr>
              <a:t>Also: a sideboard is £540 after a 23% rise → 540 ÷ 1.23 = £439.02.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8" name="Shape 44"/>
          <p:cNvSpPr/>
          <p:nvPr/>
        </p:nvSpPr>
        <p:spPr>
          <a:xfrm>
            <a:off x="868680" y="1847160"/>
            <a:ext cx="328680" cy="32868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9" name="Text 45"/>
          <p:cNvSpPr/>
          <p:nvPr/>
        </p:nvSpPr>
        <p:spPr>
          <a:xfrm>
            <a:off x="868680" y="184716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1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0" name="Text 46"/>
          <p:cNvSpPr/>
          <p:nvPr/>
        </p:nvSpPr>
        <p:spPr>
          <a:xfrm>
            <a:off x="1362600" y="1810440"/>
            <a:ext cx="548604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c2a22"/>
                </a:solidFill>
                <a:latin typeface="Calibri"/>
                <a:ea typeface="Calibri"/>
              </a:rPr>
              <a:t>A camcorder’s price rose 10%. It now costs £600.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1" name="Shape 47"/>
          <p:cNvSpPr/>
          <p:nvPr/>
        </p:nvSpPr>
        <p:spPr>
          <a:xfrm>
            <a:off x="868680" y="2578680"/>
            <a:ext cx="328680" cy="32868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2" name="Text 48"/>
          <p:cNvSpPr/>
          <p:nvPr/>
        </p:nvSpPr>
        <p:spPr>
          <a:xfrm>
            <a:off x="868680" y="257868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2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3" name="Text 49"/>
          <p:cNvSpPr/>
          <p:nvPr/>
        </p:nvSpPr>
        <p:spPr>
          <a:xfrm>
            <a:off x="1362600" y="2541960"/>
            <a:ext cx="548604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c2a22"/>
                </a:solidFill>
                <a:latin typeface="Calibri"/>
                <a:ea typeface="Calibri"/>
              </a:rPr>
              <a:t>Increase 10% → multiplier = 1.1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4" name="Shape 50"/>
          <p:cNvSpPr/>
          <p:nvPr/>
        </p:nvSpPr>
        <p:spPr>
          <a:xfrm>
            <a:off x="868680" y="3310200"/>
            <a:ext cx="328680" cy="32868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5" name="Text 51"/>
          <p:cNvSpPr/>
          <p:nvPr/>
        </p:nvSpPr>
        <p:spPr>
          <a:xfrm>
            <a:off x="868680" y="331020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3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6" name="Text 52"/>
          <p:cNvSpPr/>
          <p:nvPr/>
        </p:nvSpPr>
        <p:spPr>
          <a:xfrm>
            <a:off x="1362600" y="3273480"/>
            <a:ext cx="548604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c2a22"/>
                </a:solidFill>
                <a:latin typeface="Calibri"/>
                <a:ea typeface="Calibri"/>
              </a:rPr>
              <a:t>ORIGINAL = NEW ÷ multiplier = 600 ÷ 1.1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7" name="Shape 53"/>
          <p:cNvSpPr/>
          <p:nvPr/>
        </p:nvSpPr>
        <p:spPr>
          <a:xfrm>
            <a:off x="868680" y="4041720"/>
            <a:ext cx="328680" cy="32868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8" name="Text 54"/>
          <p:cNvSpPr/>
          <p:nvPr/>
        </p:nvSpPr>
        <p:spPr>
          <a:xfrm>
            <a:off x="868680" y="404172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4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9" name="Text 55"/>
          <p:cNvSpPr/>
          <p:nvPr/>
        </p:nvSpPr>
        <p:spPr>
          <a:xfrm>
            <a:off x="1362600" y="4005000"/>
            <a:ext cx="548604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c2a22"/>
                </a:solidFill>
                <a:latin typeface="Calibri"/>
                <a:ea typeface="Calibri"/>
              </a:rPr>
              <a:t>= </a:t>
            </a:r>
            <a:r>
              <a:rPr b="1" lang="en-US" sz="1400" spc="-1" strike="noStrike">
                <a:solidFill>
                  <a:srgbClr val="c84f2f"/>
                </a:solidFill>
                <a:latin typeface="Calibri"/>
                <a:ea typeface="Calibri"/>
              </a:rPr>
              <a:t>£545.45</a:t>
            </a:r>
            <a:r>
              <a:rPr b="0" lang="en-US" sz="1400" spc="-1" strike="noStrike">
                <a:solidFill>
                  <a:srgbClr val="1c2a22"/>
                </a:solidFill>
                <a:latin typeface="Calibri"/>
                <a:ea typeface="Calibri"/>
              </a:rPr>
              <a:t>  (nearest penny)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0" name="Shape 56"/>
          <p:cNvSpPr/>
          <p:nvPr/>
        </p:nvSpPr>
        <p:spPr>
          <a:xfrm>
            <a:off x="567000" y="5074920"/>
            <a:ext cx="11063880" cy="1142640"/>
          </a:xfrm>
          <a:prstGeom prst="roundRect">
            <a:avLst>
              <a:gd name="adj" fmla="val 4800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1" name="Text 57"/>
          <p:cNvSpPr/>
          <p:nvPr/>
        </p:nvSpPr>
        <p:spPr>
          <a:xfrm>
            <a:off x="841320" y="5074920"/>
            <a:ext cx="1051524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300" spc="-1" strike="noStrike">
                <a:solidFill>
                  <a:srgbClr val="e0ac2b"/>
                </a:solidFill>
                <a:latin typeface="Cambria"/>
                <a:ea typeface="Cambria"/>
              </a:rPr>
              <a:t>Original price = £545.45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c2a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3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4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5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6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7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8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9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0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1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2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3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4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5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6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7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8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9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0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1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2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3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4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5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6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7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8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9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0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1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2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3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4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5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6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7" name="Shape 35"/>
          <p:cNvSpPr/>
          <p:nvPr/>
        </p:nvSpPr>
        <p:spPr>
          <a:xfrm>
            <a:off x="777240" y="640080"/>
            <a:ext cx="603000" cy="603000"/>
          </a:xfrm>
          <a:prstGeom prst="roundRect">
            <a:avLst>
              <a:gd name="adj" fmla="val 15152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8" name="Text 36"/>
          <p:cNvSpPr/>
          <p:nvPr/>
        </p:nvSpPr>
        <p:spPr>
          <a:xfrm>
            <a:off x="777240" y="640080"/>
            <a:ext cx="60300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79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979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9" name="Text 37"/>
          <p:cNvSpPr/>
          <p:nvPr/>
        </p:nvSpPr>
        <p:spPr>
          <a:xfrm>
            <a:off x="1554480" y="676800"/>
            <a:ext cx="82292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299" strike="noStrike">
                <a:solidFill>
                  <a:srgbClr val="e0ac2b"/>
                </a:solidFill>
                <a:latin typeface="Calibri"/>
                <a:ea typeface="Calibri"/>
              </a:rPr>
              <a:t>FROM THE EXAM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80" name="Text 38"/>
          <p:cNvSpPr/>
          <p:nvPr/>
        </p:nvSpPr>
        <p:spPr>
          <a:xfrm>
            <a:off x="777240" y="1691640"/>
            <a:ext cx="1078956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400" spc="-1" strike="noStrike">
                <a:solidFill>
                  <a:srgbClr val="e0ac2b"/>
                </a:solidFill>
                <a:latin typeface="Cambria"/>
                <a:ea typeface="Cambria"/>
              </a:rPr>
              <a:t>Past-Paper Questions</a:t>
            </a: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81" name="Text 39"/>
          <p:cNvSpPr/>
          <p:nvPr/>
        </p:nvSpPr>
        <p:spPr>
          <a:xfrm>
            <a:off x="804600" y="2697480"/>
            <a:ext cx="106066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800" spc="-1" strike="noStrike">
                <a:solidFill>
                  <a:srgbClr val="edebdd"/>
                </a:solidFill>
                <a:latin typeface="Cambria"/>
                <a:ea typeface="Cambria"/>
              </a:rPr>
              <a:t>Original past-paper questions — apply the multiplier method to each; watch for reverse ones.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82" name="Shape 40"/>
          <p:cNvSpPr/>
          <p:nvPr/>
        </p:nvSpPr>
        <p:spPr>
          <a:xfrm>
            <a:off x="868680" y="3611880"/>
            <a:ext cx="475200" cy="47520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83" name="Text 41"/>
          <p:cNvSpPr/>
          <p:nvPr/>
        </p:nvSpPr>
        <p:spPr>
          <a:xfrm>
            <a:off x="868680" y="3611880"/>
            <a:ext cx="4752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mbria"/>
                <a:ea typeface="Cambria"/>
              </a:rPr>
              <a:t>1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84" name="Text 42"/>
          <p:cNvSpPr/>
          <p:nvPr/>
        </p:nvSpPr>
        <p:spPr>
          <a:xfrm>
            <a:off x="1554480" y="3611880"/>
            <a:ext cx="100580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edebdd"/>
                </a:solidFill>
                <a:latin typeface="Cambria"/>
                <a:ea typeface="Cambria"/>
              </a:rPr>
              <a:t>Read carefully: increase, decrease or reverse?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85" name="Shape 43"/>
          <p:cNvSpPr/>
          <p:nvPr/>
        </p:nvSpPr>
        <p:spPr>
          <a:xfrm>
            <a:off x="868680" y="4325040"/>
            <a:ext cx="475200" cy="47520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86" name="Text 44"/>
          <p:cNvSpPr/>
          <p:nvPr/>
        </p:nvSpPr>
        <p:spPr>
          <a:xfrm>
            <a:off x="868680" y="4325040"/>
            <a:ext cx="4752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mbria"/>
                <a:ea typeface="Cambria"/>
              </a:rPr>
              <a:t>2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87" name="Text 45"/>
          <p:cNvSpPr/>
          <p:nvPr/>
        </p:nvSpPr>
        <p:spPr>
          <a:xfrm>
            <a:off x="1554480" y="4325040"/>
            <a:ext cx="100580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edebdd"/>
                </a:solidFill>
                <a:latin typeface="Cambria"/>
                <a:ea typeface="Cambria"/>
              </a:rPr>
              <a:t>Choose the correct multiplier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88" name="Shape 46"/>
          <p:cNvSpPr/>
          <p:nvPr/>
        </p:nvSpPr>
        <p:spPr>
          <a:xfrm>
            <a:off x="868680" y="5038200"/>
            <a:ext cx="475200" cy="47520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89" name="Text 47"/>
          <p:cNvSpPr/>
          <p:nvPr/>
        </p:nvSpPr>
        <p:spPr>
          <a:xfrm>
            <a:off x="868680" y="5038200"/>
            <a:ext cx="4752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mbria"/>
                <a:ea typeface="Cambria"/>
              </a:rPr>
              <a:t>3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90" name="Text 48"/>
          <p:cNvSpPr/>
          <p:nvPr/>
        </p:nvSpPr>
        <p:spPr>
          <a:xfrm>
            <a:off x="1554480" y="5038200"/>
            <a:ext cx="100580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edebdd"/>
                </a:solidFill>
                <a:latin typeface="Cambria"/>
                <a:ea typeface="Cambria"/>
              </a:rPr>
              <a:t>For ‘original amount’ → divide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91" name="Shape 49"/>
          <p:cNvSpPr/>
          <p:nvPr/>
        </p:nvSpPr>
        <p:spPr>
          <a:xfrm>
            <a:off x="868680" y="5751720"/>
            <a:ext cx="475200" cy="47520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92" name="Text 50"/>
          <p:cNvSpPr/>
          <p:nvPr/>
        </p:nvSpPr>
        <p:spPr>
          <a:xfrm>
            <a:off x="868680" y="5751720"/>
            <a:ext cx="4752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mbria"/>
                <a:ea typeface="Cambria"/>
              </a:rPr>
              <a:t>4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93" name="Text 51"/>
          <p:cNvSpPr/>
          <p:nvPr/>
        </p:nvSpPr>
        <p:spPr>
          <a:xfrm>
            <a:off x="1554480" y="5751720"/>
            <a:ext cx="100580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edebdd"/>
                </a:solidFill>
                <a:latin typeface="Cambria"/>
                <a:ea typeface="Cambria"/>
              </a:rPr>
              <a:t>Show clear working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4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5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6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7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8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9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0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1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2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3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4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5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6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7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8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9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0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1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2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3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4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5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6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7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8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9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0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1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2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3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4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5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6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7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8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9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30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1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PAST-PAPER QUESTION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2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Question 1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3" name="Shape 39"/>
          <p:cNvSpPr/>
          <p:nvPr/>
        </p:nvSpPr>
        <p:spPr>
          <a:xfrm>
            <a:off x="856440" y="2999520"/>
            <a:ext cx="10478520" cy="213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round/>
          </a:ln>
          <a:effectLst>
            <a:outerShdw algn="bl" blurRad="76320" dir="5400000" dist="38160" kx="0" ky="0" rotWithShape="0" sx="100000" sy="10000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34" name="Image 0" descr="/tmp/work/ppslide-26.png"/>
          <p:cNvPicPr/>
          <p:nvPr/>
        </p:nvPicPr>
        <p:blipFill>
          <a:blip r:embed="rId1"/>
          <a:stretch/>
        </p:blipFill>
        <p:spPr>
          <a:xfrm>
            <a:off x="929520" y="3072600"/>
            <a:ext cx="10332360" cy="19922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5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6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7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8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9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0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1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2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3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4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5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6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7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9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0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1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2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3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4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5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6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7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8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9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0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1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2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3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4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5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6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7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8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9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0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71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2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PAST-PAPER QUESTION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3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Question 2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4" name="Shape 39"/>
          <p:cNvSpPr/>
          <p:nvPr/>
        </p:nvSpPr>
        <p:spPr>
          <a:xfrm>
            <a:off x="856440" y="2847960"/>
            <a:ext cx="10478520" cy="2442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round/>
          </a:ln>
          <a:effectLst>
            <a:outerShdw algn="bl" blurRad="76320" dir="5400000" dist="38160" kx="0" ky="0" rotWithShape="0" sx="100000" sy="10000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75" name="Image 0" descr="/tmp/work/ppslide-27.png"/>
          <p:cNvPicPr/>
          <p:nvPr/>
        </p:nvPicPr>
        <p:blipFill>
          <a:blip r:embed="rId1"/>
          <a:stretch/>
        </p:blipFill>
        <p:spPr>
          <a:xfrm>
            <a:off x="929520" y="2921040"/>
            <a:ext cx="10332360" cy="22957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6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7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8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9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0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1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2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3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4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5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6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7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8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9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0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1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2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3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4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5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6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7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8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9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0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1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2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3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4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5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6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7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8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9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0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1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12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3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PAST-PAPER QUESTION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4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Question 3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5" name="Shape 39"/>
          <p:cNvSpPr/>
          <p:nvPr/>
        </p:nvSpPr>
        <p:spPr>
          <a:xfrm>
            <a:off x="3737880" y="1458360"/>
            <a:ext cx="4715640" cy="5220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round/>
          </a:ln>
          <a:effectLst>
            <a:outerShdw algn="bl" blurRad="76320" dir="5400000" dist="38160" kx="0" ky="0" rotWithShape="0" sx="100000" sy="10000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16" name="Image 0" descr="/tmp/work/ppslide-28.png"/>
          <p:cNvPicPr/>
          <p:nvPr/>
        </p:nvPicPr>
        <p:blipFill>
          <a:blip r:embed="rId1"/>
          <a:stretch/>
        </p:blipFill>
        <p:spPr>
          <a:xfrm>
            <a:off x="3810960" y="1531800"/>
            <a:ext cx="4569480" cy="5074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7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8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9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0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1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2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3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4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5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6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7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8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9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0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1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2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3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4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5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6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7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8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9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0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1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2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3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4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5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6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7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8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9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0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1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2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53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4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PAST-PAPER QUESTION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5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Question 4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6" name="Shape 39"/>
          <p:cNvSpPr/>
          <p:nvPr/>
        </p:nvSpPr>
        <p:spPr>
          <a:xfrm>
            <a:off x="3293640" y="1458360"/>
            <a:ext cx="5604120" cy="5220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round/>
          </a:ln>
          <a:effectLst>
            <a:outerShdw algn="bl" blurRad="76320" dir="5400000" dist="38160" kx="0" ky="0" rotWithShape="0" sx="100000" sy="10000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57" name="Image 0" descr="/tmp/work/ppslide-29.png"/>
          <p:cNvPicPr/>
          <p:nvPr/>
        </p:nvPicPr>
        <p:blipFill>
          <a:blip r:embed="rId1"/>
          <a:stretch/>
        </p:blipFill>
        <p:spPr>
          <a:xfrm>
            <a:off x="3366720" y="1531800"/>
            <a:ext cx="5457600" cy="5074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8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9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0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1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2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3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4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5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6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7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8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9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0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1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2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3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4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5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6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7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8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9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0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1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2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3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4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5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6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7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8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9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0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1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2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3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94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5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PAST-PAPER QUESTION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6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Question 5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7" name="Shape 39"/>
          <p:cNvSpPr/>
          <p:nvPr/>
        </p:nvSpPr>
        <p:spPr>
          <a:xfrm>
            <a:off x="2781720" y="1458360"/>
            <a:ext cx="6627960" cy="5220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round/>
          </a:ln>
          <a:effectLst>
            <a:outerShdw algn="bl" blurRad="76320" dir="5400000" dist="38160" kx="0" ky="0" rotWithShape="0" sx="100000" sy="10000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98" name="Image 0" descr="/tmp/work/ppslide-30.png"/>
          <p:cNvPicPr/>
          <p:nvPr/>
        </p:nvPicPr>
        <p:blipFill>
          <a:blip r:embed="rId1"/>
          <a:stretch/>
        </p:blipFill>
        <p:spPr>
          <a:xfrm>
            <a:off x="2854800" y="1531800"/>
            <a:ext cx="6481440" cy="5074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9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0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1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2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3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4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5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6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7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8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9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0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1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2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3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4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5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6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7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8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9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0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1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2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3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4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5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6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7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8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9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0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1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2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3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4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35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6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PAST-PAPER QUESTION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7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Question 6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8" name="Shape 39"/>
          <p:cNvSpPr/>
          <p:nvPr/>
        </p:nvSpPr>
        <p:spPr>
          <a:xfrm>
            <a:off x="856440" y="2544840"/>
            <a:ext cx="10478520" cy="3048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round/>
          </a:ln>
          <a:effectLst>
            <a:outerShdw algn="bl" blurRad="76320" dir="5400000" dist="38160" kx="0" ky="0" rotWithShape="0" sx="100000" sy="10000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39" name="Image 0" descr="/tmp/work/ppslide-31.png"/>
          <p:cNvPicPr/>
          <p:nvPr/>
        </p:nvPicPr>
        <p:blipFill>
          <a:blip r:embed="rId1"/>
          <a:stretch/>
        </p:blipFill>
        <p:spPr>
          <a:xfrm>
            <a:off x="929520" y="2617920"/>
            <a:ext cx="10332360" cy="29019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0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1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2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3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4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5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6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7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8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9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0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1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2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3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4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5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6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7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8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9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0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1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2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3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4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5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6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7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8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9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0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1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2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3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4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5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76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7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PAST-PAPER QUESTION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8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Question 7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9" name="Shape 39"/>
          <p:cNvSpPr/>
          <p:nvPr/>
        </p:nvSpPr>
        <p:spPr>
          <a:xfrm>
            <a:off x="2761920" y="1458360"/>
            <a:ext cx="6667920" cy="5220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round/>
          </a:ln>
          <a:effectLst>
            <a:outerShdw algn="bl" blurRad="76320" dir="5400000" dist="38160" kx="0" ky="0" rotWithShape="0" sx="100000" sy="10000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80" name="Image 0" descr="/tmp/work/ppslide-32.png"/>
          <p:cNvPicPr/>
          <p:nvPr/>
        </p:nvPicPr>
        <p:blipFill>
          <a:blip r:embed="rId1"/>
          <a:stretch/>
        </p:blipFill>
        <p:spPr>
          <a:xfrm>
            <a:off x="2835000" y="1531800"/>
            <a:ext cx="6521400" cy="5074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1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2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3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4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5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6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7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8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9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0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1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2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3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4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5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6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7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8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9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0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1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2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3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4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5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6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7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8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9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0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1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2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3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4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5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6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17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8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PAST-PAPER QUESTION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9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Question 8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0" name="Shape 39"/>
          <p:cNvSpPr/>
          <p:nvPr/>
        </p:nvSpPr>
        <p:spPr>
          <a:xfrm>
            <a:off x="3826800" y="1458360"/>
            <a:ext cx="4537440" cy="5220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round/>
          </a:ln>
          <a:effectLst>
            <a:outerShdw algn="bl" blurRad="76320" dir="5400000" dist="38160" kx="0" ky="0" rotWithShape="0" sx="100000" sy="10000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21" name="Image 0" descr="/tmp/work/ppslide-33.png"/>
          <p:cNvPicPr/>
          <p:nvPr/>
        </p:nvPicPr>
        <p:blipFill>
          <a:blip r:embed="rId1"/>
          <a:stretch/>
        </p:blipFill>
        <p:spPr>
          <a:xfrm>
            <a:off x="3899880" y="1531800"/>
            <a:ext cx="4391280" cy="5074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2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3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4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5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6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7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8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9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0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1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2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3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4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5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6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7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8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9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0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1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2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3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4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5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6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7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8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9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0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1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2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3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4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5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6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7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58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9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PAST-PAPER QUESTION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0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Question 9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1" name="Shape 39"/>
          <p:cNvSpPr/>
          <p:nvPr/>
        </p:nvSpPr>
        <p:spPr>
          <a:xfrm>
            <a:off x="3696840" y="1458360"/>
            <a:ext cx="4797360" cy="5220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round/>
          </a:ln>
          <a:effectLst>
            <a:outerShdw algn="bl" blurRad="76320" dir="5400000" dist="38160" kx="0" ky="0" rotWithShape="0" sx="100000" sy="10000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62" name="Image 0" descr="/tmp/work/ppslide-34.png"/>
          <p:cNvPicPr/>
          <p:nvPr/>
        </p:nvPicPr>
        <p:blipFill>
          <a:blip r:embed="rId1"/>
          <a:stretch/>
        </p:blipFill>
        <p:spPr>
          <a:xfrm>
            <a:off x="3770280" y="1531800"/>
            <a:ext cx="4651200" cy="5074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3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4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5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6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7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8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9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0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1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2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3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4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5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6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7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8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9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0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1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2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3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4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5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6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7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8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9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0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1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2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3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4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5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6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7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8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99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0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PAST-PAPER QUESTION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1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Question 10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2" name="Shape 39"/>
          <p:cNvSpPr/>
          <p:nvPr/>
        </p:nvSpPr>
        <p:spPr>
          <a:xfrm>
            <a:off x="3268440" y="1458360"/>
            <a:ext cx="5654160" cy="5220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round/>
          </a:ln>
          <a:effectLst>
            <a:outerShdw algn="bl" blurRad="76320" dir="5400000" dist="38160" kx="0" ky="0" rotWithShape="0" sx="100000" sy="10000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403" name="Image 0" descr="/tmp/work/ppslide-35.png"/>
          <p:cNvPicPr/>
          <p:nvPr/>
        </p:nvPicPr>
        <p:blipFill>
          <a:blip r:embed="rId1"/>
          <a:stretch/>
        </p:blipFill>
        <p:spPr>
          <a:xfrm>
            <a:off x="3341520" y="1531800"/>
            <a:ext cx="5508000" cy="5074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4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5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6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7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8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9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0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1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2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3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4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5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6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7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8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9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0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1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2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3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4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5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6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7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8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9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0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1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2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3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4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5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6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7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8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9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40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1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PAST-PAPER QUESTION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2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Question 11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3" name="Shape 39"/>
          <p:cNvSpPr/>
          <p:nvPr/>
        </p:nvSpPr>
        <p:spPr>
          <a:xfrm>
            <a:off x="2993400" y="1458360"/>
            <a:ext cx="6204600" cy="5220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round/>
          </a:ln>
          <a:effectLst>
            <a:outerShdw algn="bl" blurRad="76320" dir="5400000" dist="38160" kx="0" ky="0" rotWithShape="0" sx="100000" sy="10000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444" name="Image 0" descr="/tmp/work/ppslide-36.png"/>
          <p:cNvPicPr/>
          <p:nvPr/>
        </p:nvPicPr>
        <p:blipFill>
          <a:blip r:embed="rId1"/>
          <a:stretch/>
        </p:blipFill>
        <p:spPr>
          <a:xfrm>
            <a:off x="3066480" y="1531800"/>
            <a:ext cx="6058080" cy="5074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c2a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5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46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47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48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49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50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51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52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53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54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55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56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57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58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59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60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61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62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63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64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65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66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67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68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69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70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71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72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73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74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75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76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77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78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79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80" name="Shape 35"/>
          <p:cNvSpPr/>
          <p:nvPr/>
        </p:nvSpPr>
        <p:spPr>
          <a:xfrm>
            <a:off x="777240" y="640080"/>
            <a:ext cx="603000" cy="603000"/>
          </a:xfrm>
          <a:prstGeom prst="roundRect">
            <a:avLst>
              <a:gd name="adj" fmla="val 15152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81" name="Text 36"/>
          <p:cNvSpPr/>
          <p:nvPr/>
        </p:nvSpPr>
        <p:spPr>
          <a:xfrm>
            <a:off x="777240" y="640080"/>
            <a:ext cx="60300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79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979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82" name="Text 37"/>
          <p:cNvSpPr/>
          <p:nvPr/>
        </p:nvSpPr>
        <p:spPr>
          <a:xfrm>
            <a:off x="1554480" y="676800"/>
            <a:ext cx="73148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299" strike="noStrike">
                <a:solidFill>
                  <a:srgbClr val="e0ac2b"/>
                </a:solidFill>
                <a:latin typeface="Calibri"/>
                <a:ea typeface="Calibri"/>
              </a:rPr>
              <a:t>RECAP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83" name="Text 38"/>
          <p:cNvSpPr/>
          <p:nvPr/>
        </p:nvSpPr>
        <p:spPr>
          <a:xfrm>
            <a:off x="777240" y="1371600"/>
            <a:ext cx="106066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800" spc="-1" strike="noStrike">
                <a:solidFill>
                  <a:srgbClr val="e0ac2b"/>
                </a:solidFill>
                <a:latin typeface="Cambria"/>
                <a:ea typeface="Cambria"/>
              </a:rPr>
              <a:t>Key Takeaways</a:t>
            </a:r>
            <a:endParaRPr b="0" lang="en-US" sz="3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84" name="Shape 39"/>
          <p:cNvSpPr/>
          <p:nvPr/>
        </p:nvSpPr>
        <p:spPr>
          <a:xfrm>
            <a:off x="868680" y="2368440"/>
            <a:ext cx="182520" cy="182520"/>
          </a:xfrm>
          <a:prstGeom prst="ellipse">
            <a:avLst/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85" name="Text 40"/>
          <p:cNvSpPr/>
          <p:nvPr/>
        </p:nvSpPr>
        <p:spPr>
          <a:xfrm>
            <a:off x="1234440" y="2331720"/>
            <a:ext cx="104238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edebdd"/>
                </a:solidFill>
                <a:latin typeface="Calibri"/>
                <a:ea typeface="Calibri"/>
              </a:rPr>
              <a:t>Turn the percentage into a MULTIPLIER, then multiply — one step.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86" name="Shape 41"/>
          <p:cNvSpPr/>
          <p:nvPr/>
        </p:nvSpPr>
        <p:spPr>
          <a:xfrm>
            <a:off x="868680" y="2935080"/>
            <a:ext cx="182520" cy="182520"/>
          </a:xfrm>
          <a:prstGeom prst="ellipse">
            <a:avLst/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87" name="Text 42"/>
          <p:cNvSpPr/>
          <p:nvPr/>
        </p:nvSpPr>
        <p:spPr>
          <a:xfrm>
            <a:off x="1234440" y="2898720"/>
            <a:ext cx="104238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edebdd"/>
                </a:solidFill>
                <a:latin typeface="Calibri"/>
                <a:ea typeface="Calibri"/>
              </a:rPr>
              <a:t>% of an amount → ×0.__ ;  increase → ×1.__ ;  decrease → ×0.__ .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88" name="Shape 43"/>
          <p:cNvSpPr/>
          <p:nvPr/>
        </p:nvSpPr>
        <p:spPr>
          <a:xfrm>
            <a:off x="868680" y="3502080"/>
            <a:ext cx="182520" cy="182520"/>
          </a:xfrm>
          <a:prstGeom prst="ellipse">
            <a:avLst/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89" name="Text 44"/>
          <p:cNvSpPr/>
          <p:nvPr/>
        </p:nvSpPr>
        <p:spPr>
          <a:xfrm>
            <a:off x="1234440" y="3465720"/>
            <a:ext cx="104238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edebdd"/>
                </a:solidFill>
                <a:latin typeface="Calibri"/>
                <a:ea typeface="Calibri"/>
              </a:rPr>
              <a:t>Percentage change = (change ÷ ORIGINAL) × 100.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90" name="Shape 45"/>
          <p:cNvSpPr/>
          <p:nvPr/>
        </p:nvSpPr>
        <p:spPr>
          <a:xfrm>
            <a:off x="868680" y="4069080"/>
            <a:ext cx="182520" cy="182520"/>
          </a:xfrm>
          <a:prstGeom prst="ellipse">
            <a:avLst/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91" name="Text 46"/>
          <p:cNvSpPr/>
          <p:nvPr/>
        </p:nvSpPr>
        <p:spPr>
          <a:xfrm>
            <a:off x="1234440" y="4032360"/>
            <a:ext cx="104238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edebdd"/>
                </a:solidFill>
                <a:latin typeface="Calibri"/>
                <a:ea typeface="Calibri"/>
              </a:rPr>
              <a:t>Profit / loss % uses the buying price as the original.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92" name="Shape 47"/>
          <p:cNvSpPr/>
          <p:nvPr/>
        </p:nvSpPr>
        <p:spPr>
          <a:xfrm>
            <a:off x="868680" y="4636080"/>
            <a:ext cx="182520" cy="182520"/>
          </a:xfrm>
          <a:prstGeom prst="ellipse">
            <a:avLst/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93" name="Text 48"/>
          <p:cNvSpPr/>
          <p:nvPr/>
        </p:nvSpPr>
        <p:spPr>
          <a:xfrm>
            <a:off x="1234440" y="4599360"/>
            <a:ext cx="104238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edebdd"/>
                </a:solidFill>
                <a:latin typeface="Calibri"/>
                <a:ea typeface="Calibri"/>
              </a:rPr>
              <a:t>Reverse: ORIGINAL = NEW ÷ multiplier — never just take the % off.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94" name="Shape 49"/>
          <p:cNvSpPr/>
          <p:nvPr/>
        </p:nvSpPr>
        <p:spPr>
          <a:xfrm>
            <a:off x="777240" y="5440680"/>
            <a:ext cx="10606680" cy="868320"/>
          </a:xfrm>
          <a:prstGeom prst="roundRect">
            <a:avLst>
              <a:gd name="adj" fmla="val 6316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95" name="Text 50"/>
          <p:cNvSpPr/>
          <p:nvPr/>
        </p:nvSpPr>
        <p:spPr>
          <a:xfrm>
            <a:off x="777240" y="5440680"/>
            <a:ext cx="1060668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e0ac2b"/>
                </a:solidFill>
                <a:latin typeface="Cambria"/>
                <a:ea typeface="Cambria"/>
              </a:rPr>
              <a:t>Golden rule:  </a:t>
            </a:r>
            <a:r>
              <a:rPr b="0" lang="en-US" sz="1700" spc="-1" strike="noStrike">
                <a:solidFill>
                  <a:srgbClr val="edebdd"/>
                </a:solidFill>
                <a:latin typeface="Cambria"/>
                <a:ea typeface="Cambria"/>
              </a:rPr>
              <a:t>decide the multiplier first — it drives every percentage question.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2026-07-11T08:59:45Z</dcterms:created>
  <dc:creator>Zahra Sheikh Ali</dc:creator>
  <dc:description/>
  <dc:language>en-US</dc:language>
  <cp:lastModifiedBy>Zahra Sheikh Ali</cp:lastModifiedBy>
  <dcterms:modified xsi:type="dcterms:W3CDTF">2026-07-11T08:59:45Z</dcterms:modified>
  <cp:revision>1</cp:revision>
  <dc:subject>PptxGenJS Presentation</dc:subject>
  <dc:title>PptxGenJS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29</vt:r8>
  </property>
  <property fmtid="{D5CDD505-2E9C-101B-9397-08002B2CF9AE}" pid="3" name="PresentationFormat">
    <vt:lpwstr>On-screen Show (16:9)</vt:lpwstr>
  </property>
  <property fmtid="{D5CDD505-2E9C-101B-9397-08002B2CF9AE}" pid="4" name="Slides">
    <vt:r8>29</vt:r8>
  </property>
</Properties>
</file>