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wmf" ContentType="image/x-wmf"/>
  <Override PartName="/ppt/media/image4.gif" ContentType="image/gif"/>
  <Override PartName="/ppt/media/image5.gif" ContentType="image/gif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A32C813-D655-4603-8E71-3AEB352D82C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9E5C1B9-358F-4E95-90A2-DEA157019CD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F7A3C34-2260-425C-8BD5-4A3EC5EDFDC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50EC0A-8BEC-4720-9465-B5AB1A3DB35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83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E57E20-2199-4552-969E-5B402E03F0C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CC8CE0D-EB32-4C9F-A91B-A3F2F39336A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D5F2BC2-2DA3-4B4E-9D72-825D8777B3B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84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2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90C9DD9-5CA3-4E89-B14A-EE021A13160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84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08A29B8-6485-484A-AFA4-1785709ADE3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84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D2702E-8673-443E-9F7D-2F6FEC5BB90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AD3D88-1F25-456E-8544-F55592DBAEF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FD11F3-D6C0-402E-8920-48921FF980A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3BFEBA-500B-4AAB-A215-F856B0B1587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53961B7-1D04-402D-9343-130E86B3DA8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1457644-1AA7-45DE-95C6-068D85ABFF2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6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9BD898-3D6E-4823-87E1-731260BA21D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869680" y="914400"/>
            <a:ext cx="360" cy="1463040"/>
          </a:xfrm>
          <a:prstGeom prst="line">
            <a:avLst/>
          </a:prstGeom>
          <a:ln w="16510">
            <a:solidFill>
              <a:srgbClr val="5c6b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869680" y="2377440"/>
            <a:ext cx="2377440" cy="360"/>
          </a:xfrm>
          <a:prstGeom prst="line">
            <a:avLst/>
          </a:prstGeom>
          <a:ln w="16510">
            <a:solidFill>
              <a:srgbClr val="5c6b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8869680" y="23612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8968680" y="23540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9067680" y="234360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9166680" y="23288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9265680" y="23079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9364680" y="227844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9464040" y="22377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9563040" y="218268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9662040" y="21103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9761040" y="20185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9860040" y="190800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9959040" y="178128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10058400" y="16459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10157400" y="151020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0256400" y="138348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10355400" y="12729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10454400" y="11811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10553400" y="110880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0652760" y="10537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56"/>
          <p:cNvSpPr/>
          <p:nvPr/>
        </p:nvSpPr>
        <p:spPr>
          <a:xfrm>
            <a:off x="10751760" y="10130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10850760" y="9835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10949760" y="9626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11048760" y="94788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60"/>
          <p:cNvSpPr/>
          <p:nvPr/>
        </p:nvSpPr>
        <p:spPr>
          <a:xfrm>
            <a:off x="11147760" y="93744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62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63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64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65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e0ac2b"/>
                </a:solidFill>
                <a:latin typeface="Cambria"/>
                <a:ea typeface="Cambria"/>
              </a:rPr>
              <a:t>Cumulative Frequency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66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Running Totals · Plotting the Curve · Median, Quartiles &amp; IQR from the Graph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67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68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69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70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Adding Up the Frequencies as You Go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Cumulative frequency is a RUNNING TOTAL of the frequencies.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Plotting it gives an S-shaped curve you can read the median and quartiles from.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What cumulative frequency is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Working out the running total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Plotting the curve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Median &amp; quartiles from the graph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interquartile range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cumulative frequency · running total · ogive · median · quartiles · IQR · upper boundary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Cumulative Frequency = Running Total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Keep adding on the next frequency — ‘how many so far’.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41"/>
          <p:cNvSpPr/>
          <p:nvPr/>
        </p:nvSpPr>
        <p:spPr>
          <a:xfrm>
            <a:off x="567000" y="1965960"/>
            <a:ext cx="27428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42"/>
          <p:cNvSpPr/>
          <p:nvPr/>
        </p:nvSpPr>
        <p:spPr>
          <a:xfrm>
            <a:off x="612720" y="19659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Height h (cm)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43"/>
          <p:cNvSpPr/>
          <p:nvPr/>
        </p:nvSpPr>
        <p:spPr>
          <a:xfrm>
            <a:off x="3310200" y="1965960"/>
            <a:ext cx="164556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44"/>
          <p:cNvSpPr/>
          <p:nvPr/>
        </p:nvSpPr>
        <p:spPr>
          <a:xfrm>
            <a:off x="3355920" y="19659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Freq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45"/>
          <p:cNvSpPr/>
          <p:nvPr/>
        </p:nvSpPr>
        <p:spPr>
          <a:xfrm>
            <a:off x="4956120" y="1965960"/>
            <a:ext cx="27428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46"/>
          <p:cNvSpPr/>
          <p:nvPr/>
        </p:nvSpPr>
        <p:spPr>
          <a:xfrm>
            <a:off x="5001840" y="19659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Cumulative freq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7"/>
          <p:cNvSpPr/>
          <p:nvPr/>
        </p:nvSpPr>
        <p:spPr>
          <a:xfrm>
            <a:off x="567000" y="2423160"/>
            <a:ext cx="2742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8"/>
          <p:cNvSpPr/>
          <p:nvPr/>
        </p:nvSpPr>
        <p:spPr>
          <a:xfrm>
            <a:off x="612720" y="242316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0 &lt; h ≤ 10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49"/>
          <p:cNvSpPr/>
          <p:nvPr/>
        </p:nvSpPr>
        <p:spPr>
          <a:xfrm>
            <a:off x="3310200" y="2423160"/>
            <a:ext cx="164556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0"/>
          <p:cNvSpPr/>
          <p:nvPr/>
        </p:nvSpPr>
        <p:spPr>
          <a:xfrm>
            <a:off x="3355920" y="24231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51"/>
          <p:cNvSpPr/>
          <p:nvPr/>
        </p:nvSpPr>
        <p:spPr>
          <a:xfrm>
            <a:off x="4956120" y="2423160"/>
            <a:ext cx="2742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52"/>
          <p:cNvSpPr/>
          <p:nvPr/>
        </p:nvSpPr>
        <p:spPr>
          <a:xfrm>
            <a:off x="5001840" y="242316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53"/>
          <p:cNvSpPr/>
          <p:nvPr/>
        </p:nvSpPr>
        <p:spPr>
          <a:xfrm>
            <a:off x="567000" y="2843640"/>
            <a:ext cx="2742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54"/>
          <p:cNvSpPr/>
          <p:nvPr/>
        </p:nvSpPr>
        <p:spPr>
          <a:xfrm>
            <a:off x="612720" y="28436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10 &lt; h ≤ 20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55"/>
          <p:cNvSpPr/>
          <p:nvPr/>
        </p:nvSpPr>
        <p:spPr>
          <a:xfrm>
            <a:off x="3310200" y="2843640"/>
            <a:ext cx="164556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56"/>
          <p:cNvSpPr/>
          <p:nvPr/>
        </p:nvSpPr>
        <p:spPr>
          <a:xfrm>
            <a:off x="3355920" y="28436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9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57"/>
          <p:cNvSpPr/>
          <p:nvPr/>
        </p:nvSpPr>
        <p:spPr>
          <a:xfrm>
            <a:off x="4956120" y="2843640"/>
            <a:ext cx="2742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58"/>
          <p:cNvSpPr/>
          <p:nvPr/>
        </p:nvSpPr>
        <p:spPr>
          <a:xfrm>
            <a:off x="5001840" y="28436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13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9"/>
          <p:cNvSpPr/>
          <p:nvPr/>
        </p:nvSpPr>
        <p:spPr>
          <a:xfrm>
            <a:off x="567000" y="3264480"/>
            <a:ext cx="2742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60"/>
          <p:cNvSpPr/>
          <p:nvPr/>
        </p:nvSpPr>
        <p:spPr>
          <a:xfrm>
            <a:off x="612720" y="326448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20 &lt; h ≤ 30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61"/>
          <p:cNvSpPr/>
          <p:nvPr/>
        </p:nvSpPr>
        <p:spPr>
          <a:xfrm>
            <a:off x="3310200" y="3264480"/>
            <a:ext cx="164556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62"/>
          <p:cNvSpPr/>
          <p:nvPr/>
        </p:nvSpPr>
        <p:spPr>
          <a:xfrm>
            <a:off x="3355920" y="32644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15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63"/>
          <p:cNvSpPr/>
          <p:nvPr/>
        </p:nvSpPr>
        <p:spPr>
          <a:xfrm>
            <a:off x="4956120" y="3264480"/>
            <a:ext cx="2742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64"/>
          <p:cNvSpPr/>
          <p:nvPr/>
        </p:nvSpPr>
        <p:spPr>
          <a:xfrm>
            <a:off x="5001840" y="326448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28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65"/>
          <p:cNvSpPr/>
          <p:nvPr/>
        </p:nvSpPr>
        <p:spPr>
          <a:xfrm>
            <a:off x="567000" y="3684960"/>
            <a:ext cx="2742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66"/>
          <p:cNvSpPr/>
          <p:nvPr/>
        </p:nvSpPr>
        <p:spPr>
          <a:xfrm>
            <a:off x="612720" y="368496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30 &lt; h ≤ 40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67"/>
          <p:cNvSpPr/>
          <p:nvPr/>
        </p:nvSpPr>
        <p:spPr>
          <a:xfrm>
            <a:off x="3310200" y="3684960"/>
            <a:ext cx="164556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68"/>
          <p:cNvSpPr/>
          <p:nvPr/>
        </p:nvSpPr>
        <p:spPr>
          <a:xfrm>
            <a:off x="3355920" y="3684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69"/>
          <p:cNvSpPr/>
          <p:nvPr/>
        </p:nvSpPr>
        <p:spPr>
          <a:xfrm>
            <a:off x="4956120" y="3684960"/>
            <a:ext cx="2742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70"/>
          <p:cNvSpPr/>
          <p:nvPr/>
        </p:nvSpPr>
        <p:spPr>
          <a:xfrm>
            <a:off x="5001840" y="368496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40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71"/>
          <p:cNvSpPr/>
          <p:nvPr/>
        </p:nvSpPr>
        <p:spPr>
          <a:xfrm>
            <a:off x="7406640" y="1965960"/>
            <a:ext cx="4224240" cy="320004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72"/>
          <p:cNvSpPr/>
          <p:nvPr/>
        </p:nvSpPr>
        <p:spPr>
          <a:xfrm>
            <a:off x="7772400" y="2203560"/>
            <a:ext cx="349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How the total builds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73"/>
          <p:cNvSpPr/>
          <p:nvPr/>
        </p:nvSpPr>
        <p:spPr>
          <a:xfrm>
            <a:off x="7726680" y="2697480"/>
            <a:ext cx="3657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4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 →  4+9 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13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 →  13+15 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28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 →  28+12 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40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The last total = the number of items (40).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74"/>
          <p:cNvSpPr/>
          <p:nvPr/>
        </p:nvSpPr>
        <p:spPr>
          <a:xfrm>
            <a:off x="567000" y="566928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75"/>
          <p:cNvSpPr/>
          <p:nvPr/>
        </p:nvSpPr>
        <p:spPr>
          <a:xfrm>
            <a:off x="841320" y="56692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Each cumulative frequency = the one above it + the next frequency.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5"/>
          <p:cNvSpPr/>
          <p:nvPr/>
        </p:nvSpPr>
        <p:spPr>
          <a:xfrm>
            <a:off x="-3240" y="1836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6"/>
          <p:cNvSpPr/>
          <p:nvPr/>
        </p:nvSpPr>
        <p:spPr>
          <a:xfrm>
            <a:off x="32760" y="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7"/>
          <p:cNvSpPr/>
          <p:nvPr/>
        </p:nvSpPr>
        <p:spPr>
          <a:xfrm>
            <a:off x="560160" y="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PLOTTING THE CURVE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38"/>
          <p:cNvSpPr/>
          <p:nvPr/>
        </p:nvSpPr>
        <p:spPr>
          <a:xfrm>
            <a:off x="545400" y="13716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Plot at the UPPER Class Boundary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9"/>
          <p:cNvSpPr/>
          <p:nvPr/>
        </p:nvSpPr>
        <p:spPr>
          <a:xfrm>
            <a:off x="835560" y="613080"/>
            <a:ext cx="11063880" cy="27396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40"/>
          <p:cNvSpPr/>
          <p:nvPr/>
        </p:nvSpPr>
        <p:spPr>
          <a:xfrm>
            <a:off x="888840" y="613080"/>
            <a:ext cx="10423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Plot each cumulative frequency at the TOP end of its class,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then join the points with a smooth curve.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69"/>
          <p:cNvSpPr/>
          <p:nvPr/>
        </p:nvSpPr>
        <p:spPr>
          <a:xfrm>
            <a:off x="6821280" y="932400"/>
            <a:ext cx="5230080" cy="2219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70"/>
          <p:cNvSpPr/>
          <p:nvPr/>
        </p:nvSpPr>
        <p:spPr>
          <a:xfrm>
            <a:off x="7040880" y="1003680"/>
            <a:ext cx="449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Two rules for plotting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71"/>
          <p:cNvSpPr/>
          <p:nvPr/>
        </p:nvSpPr>
        <p:spPr>
          <a:xfrm>
            <a:off x="6949440" y="15429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72"/>
          <p:cNvSpPr/>
          <p:nvPr/>
        </p:nvSpPr>
        <p:spPr>
          <a:xfrm>
            <a:off x="7196400" y="131112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Plot at the UPPER boundary of each class (10, 20, 30, 40 …).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73"/>
          <p:cNvSpPr/>
          <p:nvPr/>
        </p:nvSpPr>
        <p:spPr>
          <a:xfrm>
            <a:off x="6967800" y="19490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74"/>
          <p:cNvSpPr/>
          <p:nvPr/>
        </p:nvSpPr>
        <p:spPr>
          <a:xfrm>
            <a:off x="7196400" y="166860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Cumulative frequency goes up the vertical axis.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75"/>
          <p:cNvSpPr/>
          <p:nvPr/>
        </p:nvSpPr>
        <p:spPr>
          <a:xfrm>
            <a:off x="6949440" y="23187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76"/>
          <p:cNvSpPr/>
          <p:nvPr/>
        </p:nvSpPr>
        <p:spPr>
          <a:xfrm>
            <a:off x="7182360" y="209592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Start the curve on the horizontal axis (0 so far).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77"/>
          <p:cNvSpPr/>
          <p:nvPr/>
        </p:nvSpPr>
        <p:spPr>
          <a:xfrm>
            <a:off x="6949440" y="264960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78"/>
          <p:cNvSpPr/>
          <p:nvPr/>
        </p:nvSpPr>
        <p:spPr>
          <a:xfrm>
            <a:off x="7182360" y="246528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Join the points with a smooth curve — not straight lines.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79"/>
          <p:cNvSpPr/>
          <p:nvPr/>
        </p:nvSpPr>
        <p:spPr>
          <a:xfrm>
            <a:off x="618120" y="6449760"/>
            <a:ext cx="11063880" cy="34272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80"/>
          <p:cNvSpPr/>
          <p:nvPr/>
        </p:nvSpPr>
        <p:spPr>
          <a:xfrm>
            <a:off x="841320" y="6449760"/>
            <a:ext cx="10515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Always plot each point at the TOP value of its class — never the midpoint.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4" name="Group 390"/>
          <p:cNvGrpSpPr/>
          <p:nvPr/>
        </p:nvGrpSpPr>
        <p:grpSpPr>
          <a:xfrm>
            <a:off x="86400" y="763200"/>
            <a:ext cx="4150800" cy="5680440"/>
            <a:chOff x="86400" y="763200"/>
            <a:chExt cx="4150800" cy="5680440"/>
          </a:xfrm>
        </p:grpSpPr>
        <p:pic>
          <p:nvPicPr>
            <p:cNvPr id="275" name="Picture 387" descr=""/>
            <p:cNvPicPr/>
            <p:nvPr/>
          </p:nvPicPr>
          <p:blipFill>
            <a:blip r:embed="rId1"/>
            <a:stretch/>
          </p:blipFill>
          <p:spPr>
            <a:xfrm>
              <a:off x="832320" y="936360"/>
              <a:ext cx="3404880" cy="4854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6" name="Line 325"/>
            <p:cNvSpPr/>
            <p:nvPr/>
          </p:nvSpPr>
          <p:spPr>
            <a:xfrm>
              <a:off x="832320" y="937800"/>
              <a:ext cx="360" cy="48528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7" name="Line 326"/>
            <p:cNvSpPr/>
            <p:nvPr/>
          </p:nvSpPr>
          <p:spPr>
            <a:xfrm>
              <a:off x="832320" y="5790600"/>
              <a:ext cx="33732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8" name="Text Box 327"/>
            <p:cNvSpPr/>
            <p:nvPr/>
          </p:nvSpPr>
          <p:spPr>
            <a:xfrm>
              <a:off x="1467000" y="6079680"/>
              <a:ext cx="1663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800" spc="-1" strike="noStrike">
                  <a:solidFill>
                    <a:schemeClr val="dk1"/>
                  </a:solidFill>
                  <a:latin typeface="Calibri"/>
                </a:rPr>
                <a:t>Time in seconds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Text Box 328"/>
            <p:cNvSpPr/>
            <p:nvPr/>
          </p:nvSpPr>
          <p:spPr>
            <a:xfrm rot="16200000">
              <a:off x="-837360" y="2989080"/>
              <a:ext cx="2212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800" spc="-1" strike="noStrike">
                  <a:solidFill>
                    <a:schemeClr val="dk1"/>
                  </a:solidFill>
                  <a:latin typeface="Calibri"/>
                </a:rPr>
                <a:t>Cumulative frequency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" name="Line 330"/>
            <p:cNvSpPr/>
            <p:nvPr/>
          </p:nvSpPr>
          <p:spPr>
            <a:xfrm>
              <a:off x="759240" y="530496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1" name="Line 331"/>
            <p:cNvSpPr/>
            <p:nvPr/>
          </p:nvSpPr>
          <p:spPr>
            <a:xfrm>
              <a:off x="759240" y="481932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2" name="Line 332"/>
            <p:cNvSpPr/>
            <p:nvPr/>
          </p:nvSpPr>
          <p:spPr>
            <a:xfrm>
              <a:off x="759240" y="433332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3" name="Line 333"/>
            <p:cNvSpPr/>
            <p:nvPr/>
          </p:nvSpPr>
          <p:spPr>
            <a:xfrm>
              <a:off x="759240" y="384768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4" name="Line 334"/>
            <p:cNvSpPr/>
            <p:nvPr/>
          </p:nvSpPr>
          <p:spPr>
            <a:xfrm>
              <a:off x="759240" y="336348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5" name="Line 335"/>
            <p:cNvSpPr/>
            <p:nvPr/>
          </p:nvSpPr>
          <p:spPr>
            <a:xfrm>
              <a:off x="759240" y="287748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Line 336"/>
            <p:cNvSpPr/>
            <p:nvPr/>
          </p:nvSpPr>
          <p:spPr>
            <a:xfrm>
              <a:off x="759240" y="239184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7" name="Line 337"/>
            <p:cNvSpPr/>
            <p:nvPr/>
          </p:nvSpPr>
          <p:spPr>
            <a:xfrm>
              <a:off x="759240" y="190620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8" name="Line 338"/>
            <p:cNvSpPr/>
            <p:nvPr/>
          </p:nvSpPr>
          <p:spPr>
            <a:xfrm>
              <a:off x="759240" y="142020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9" name="Line 339"/>
            <p:cNvSpPr/>
            <p:nvPr/>
          </p:nvSpPr>
          <p:spPr>
            <a:xfrm>
              <a:off x="759240" y="93600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0" name="Line 340"/>
            <p:cNvSpPr/>
            <p:nvPr/>
          </p:nvSpPr>
          <p:spPr>
            <a:xfrm flipV="1">
              <a:off x="832320" y="579060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1" name="Line 341"/>
            <p:cNvSpPr/>
            <p:nvPr/>
          </p:nvSpPr>
          <p:spPr>
            <a:xfrm flipV="1">
              <a:off x="1316520" y="579060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2" name="Line 342"/>
            <p:cNvSpPr/>
            <p:nvPr/>
          </p:nvSpPr>
          <p:spPr>
            <a:xfrm flipV="1">
              <a:off x="1800720" y="579060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3" name="Line 343"/>
            <p:cNvSpPr/>
            <p:nvPr/>
          </p:nvSpPr>
          <p:spPr>
            <a:xfrm flipV="1">
              <a:off x="2286360" y="579060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4" name="Line 344"/>
            <p:cNvSpPr/>
            <p:nvPr/>
          </p:nvSpPr>
          <p:spPr>
            <a:xfrm flipV="1">
              <a:off x="2770560" y="579060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5" name="Line 345"/>
            <p:cNvSpPr/>
            <p:nvPr/>
          </p:nvSpPr>
          <p:spPr>
            <a:xfrm flipV="1">
              <a:off x="3256200" y="579060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6" name="Line 346"/>
            <p:cNvSpPr/>
            <p:nvPr/>
          </p:nvSpPr>
          <p:spPr>
            <a:xfrm flipV="1">
              <a:off x="3740400" y="579060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7" name="Text Box 353"/>
            <p:cNvSpPr/>
            <p:nvPr/>
          </p:nvSpPr>
          <p:spPr>
            <a:xfrm>
              <a:off x="617400" y="579096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30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" name="Text Box 354"/>
            <p:cNvSpPr/>
            <p:nvPr/>
          </p:nvSpPr>
          <p:spPr>
            <a:xfrm>
              <a:off x="1122120" y="579096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35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" name="Text Box 355"/>
            <p:cNvSpPr/>
            <p:nvPr/>
          </p:nvSpPr>
          <p:spPr>
            <a:xfrm>
              <a:off x="1607760" y="579096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40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" name="Text Box 356"/>
            <p:cNvSpPr/>
            <p:nvPr/>
          </p:nvSpPr>
          <p:spPr>
            <a:xfrm>
              <a:off x="2091960" y="579096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45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" name="Text Box 357"/>
            <p:cNvSpPr/>
            <p:nvPr/>
          </p:nvSpPr>
          <p:spPr>
            <a:xfrm>
              <a:off x="2576160" y="579096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50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" name="Text Box 358"/>
            <p:cNvSpPr/>
            <p:nvPr/>
          </p:nvSpPr>
          <p:spPr>
            <a:xfrm>
              <a:off x="3060360" y="579096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55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" name="Text Box 359"/>
            <p:cNvSpPr/>
            <p:nvPr/>
          </p:nvSpPr>
          <p:spPr>
            <a:xfrm>
              <a:off x="3544560" y="579096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60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4" name="Text Box 367"/>
            <p:cNvSpPr/>
            <p:nvPr/>
          </p:nvSpPr>
          <p:spPr>
            <a:xfrm>
              <a:off x="423720" y="512712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10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" name="Text Box 368"/>
            <p:cNvSpPr/>
            <p:nvPr/>
          </p:nvSpPr>
          <p:spPr>
            <a:xfrm>
              <a:off x="423720" y="464148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20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" name="Text Box 369"/>
            <p:cNvSpPr/>
            <p:nvPr/>
          </p:nvSpPr>
          <p:spPr>
            <a:xfrm>
              <a:off x="423720" y="415728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30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" name="Text Box 370"/>
            <p:cNvSpPr/>
            <p:nvPr/>
          </p:nvSpPr>
          <p:spPr>
            <a:xfrm>
              <a:off x="423720" y="367164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40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" name="Text Box 371"/>
            <p:cNvSpPr/>
            <p:nvPr/>
          </p:nvSpPr>
          <p:spPr>
            <a:xfrm>
              <a:off x="423720" y="318744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50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" name="Text Box 372"/>
            <p:cNvSpPr/>
            <p:nvPr/>
          </p:nvSpPr>
          <p:spPr>
            <a:xfrm>
              <a:off x="423720" y="270144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60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Text Box 373"/>
            <p:cNvSpPr/>
            <p:nvPr/>
          </p:nvSpPr>
          <p:spPr>
            <a:xfrm>
              <a:off x="423720" y="221724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70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" name="Text Box 374"/>
            <p:cNvSpPr/>
            <p:nvPr/>
          </p:nvSpPr>
          <p:spPr>
            <a:xfrm>
              <a:off x="423720" y="173160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80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" name="Text Box 375"/>
            <p:cNvSpPr/>
            <p:nvPr/>
          </p:nvSpPr>
          <p:spPr>
            <a:xfrm>
              <a:off x="423720" y="1247400"/>
              <a:ext cx="3852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90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" name="Text Box 376"/>
            <p:cNvSpPr/>
            <p:nvPr/>
          </p:nvSpPr>
          <p:spPr>
            <a:xfrm>
              <a:off x="310680" y="763200"/>
              <a:ext cx="48888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100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" name="Rectangle 386"/>
            <p:cNvSpPr/>
            <p:nvPr/>
          </p:nvSpPr>
          <p:spPr>
            <a:xfrm>
              <a:off x="538920" y="5609880"/>
              <a:ext cx="28332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chemeClr val="dk1"/>
                  </a:solidFill>
                  <a:latin typeface="Calibri"/>
                </a:rPr>
                <a:t>0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" name="Line 329"/>
            <p:cNvSpPr/>
            <p:nvPr/>
          </p:nvSpPr>
          <p:spPr>
            <a:xfrm>
              <a:off x="759240" y="5790600"/>
              <a:ext cx="73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16" name="Freeform 391"/>
          <p:cNvSpPr/>
          <p:nvPr/>
        </p:nvSpPr>
        <p:spPr>
          <a:xfrm>
            <a:off x="835560" y="936360"/>
            <a:ext cx="2901600" cy="4844520"/>
          </a:xfrm>
          <a:custGeom>
            <a:avLst/>
            <a:gdLst>
              <a:gd name="textAreaLeft" fmla="*/ 0 w 2901600"/>
              <a:gd name="textAreaRight" fmla="*/ 2901960 w 2901600"/>
              <a:gd name="textAreaTop" fmla="*/ 0 h 4844520"/>
              <a:gd name="textAreaBottom" fmla="*/ 4844880 h 4844520"/>
            </a:gdLst>
            <a:ahLst/>
            <a:rect l="textAreaLeft" t="textAreaTop" r="textAreaRight" b="textAreaBottom"/>
            <a:pathLst>
              <a:path w="1828" h="3052">
                <a:moveTo>
                  <a:pt x="0" y="3052"/>
                </a:moveTo>
                <a:cubicBezTo>
                  <a:pt x="52" y="3005"/>
                  <a:pt x="205" y="2879"/>
                  <a:pt x="308" y="2772"/>
                </a:cubicBezTo>
                <a:cubicBezTo>
                  <a:pt x="411" y="2665"/>
                  <a:pt x="519" y="2589"/>
                  <a:pt x="620" y="2408"/>
                </a:cubicBezTo>
                <a:cubicBezTo>
                  <a:pt x="721" y="2227"/>
                  <a:pt x="815" y="1948"/>
                  <a:pt x="916" y="1684"/>
                </a:cubicBezTo>
                <a:cubicBezTo>
                  <a:pt x="1017" y="1420"/>
                  <a:pt x="1121" y="1050"/>
                  <a:pt x="1224" y="824"/>
                </a:cubicBezTo>
                <a:cubicBezTo>
                  <a:pt x="1327" y="598"/>
                  <a:pt x="1431" y="465"/>
                  <a:pt x="1532" y="328"/>
                </a:cubicBezTo>
                <a:cubicBezTo>
                  <a:pt x="1633" y="191"/>
                  <a:pt x="1767" y="68"/>
                  <a:pt x="1828" y="0"/>
                </a:cubicBezTo>
              </a:path>
            </a:pathLst>
          </a:custGeom>
          <a:noFill/>
          <a:ln w="28575">
            <a:solidFill>
              <a:srgbClr val="ff6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7" name="Oval 392"/>
          <p:cNvSpPr/>
          <p:nvPr/>
        </p:nvSpPr>
        <p:spPr>
          <a:xfrm>
            <a:off x="1294200" y="5302080"/>
            <a:ext cx="72720" cy="7272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840" bIns="68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8" name="Oval 393"/>
          <p:cNvSpPr/>
          <p:nvPr/>
        </p:nvSpPr>
        <p:spPr>
          <a:xfrm>
            <a:off x="1781640" y="4730400"/>
            <a:ext cx="72720" cy="7272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840" bIns="68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9" name="Oval 394"/>
          <p:cNvSpPr/>
          <p:nvPr/>
        </p:nvSpPr>
        <p:spPr>
          <a:xfrm>
            <a:off x="2257920" y="3570120"/>
            <a:ext cx="72720" cy="7272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840" bIns="68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Oval 395"/>
          <p:cNvSpPr/>
          <p:nvPr/>
        </p:nvSpPr>
        <p:spPr>
          <a:xfrm>
            <a:off x="2738880" y="2212560"/>
            <a:ext cx="72720" cy="7272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840" bIns="68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1" name="Oval 396"/>
          <p:cNvSpPr/>
          <p:nvPr/>
        </p:nvSpPr>
        <p:spPr>
          <a:xfrm>
            <a:off x="3229560" y="1426680"/>
            <a:ext cx="72720" cy="7272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840" bIns="68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2" name="Oval 397"/>
          <p:cNvSpPr/>
          <p:nvPr/>
        </p:nvSpPr>
        <p:spPr>
          <a:xfrm>
            <a:off x="3711960" y="894960"/>
            <a:ext cx="72720" cy="7272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840" bIns="68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3" name="Rectangle 138"/>
          <p:cNvSpPr/>
          <p:nvPr/>
        </p:nvSpPr>
        <p:spPr>
          <a:xfrm>
            <a:off x="7761960" y="3958560"/>
            <a:ext cx="359640" cy="2242800"/>
          </a:xfrm>
          <a:prstGeom prst="rect">
            <a:avLst/>
          </a:prstGeom>
          <a:solidFill>
            <a:srgbClr val="ffffff"/>
          </a:solidFill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4" name="Rectangle 139"/>
          <p:cNvSpPr/>
          <p:nvPr/>
        </p:nvSpPr>
        <p:spPr>
          <a:xfrm>
            <a:off x="6096240" y="3941640"/>
            <a:ext cx="359640" cy="224280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325" name="Group 124"/>
          <p:cNvGraphicFramePr/>
          <p:nvPr/>
        </p:nvGraphicFramePr>
        <p:xfrm>
          <a:off x="4773960" y="3151800"/>
          <a:ext cx="4058280" cy="3081960"/>
        </p:xfrm>
        <a:graphic>
          <a:graphicData uri="http://schemas.openxmlformats.org/drawingml/2006/table">
            <a:tbl>
              <a:tblPr/>
              <a:tblGrid>
                <a:gridCol w="2258280"/>
                <a:gridCol w="1800000"/>
              </a:tblGrid>
              <a:tr h="493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Time in seconds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Cumulative frequency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 &lt;</a:t>
                      </a:r>
                      <a:r>
                        <a:rPr b="0" i="1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t</a:t>
                      </a: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≤ 35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06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 &lt; </a:t>
                      </a:r>
                      <a:r>
                        <a:rPr b="0" i="1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</a:t>
                      </a: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≤ 40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 &lt; </a:t>
                      </a:r>
                      <a:r>
                        <a:rPr b="0" i="1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</a:t>
                      </a: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≤ 45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06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 &lt; </a:t>
                      </a:r>
                      <a:r>
                        <a:rPr b="0" i="1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</a:t>
                      </a: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≤ 50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73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 &lt;</a:t>
                      </a:r>
                      <a:r>
                        <a:rPr b="0" i="1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t </a:t>
                      </a: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≤ 55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89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9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 &lt;</a:t>
                      </a:r>
                      <a:r>
                        <a:rPr b="0" i="1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t</a:t>
                      </a: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≤ 60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</a:tabLst>
                      </a:pPr>
                      <a:r>
                        <a:rPr b="0" lang="en-GB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9" dur="3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READING THE GRAPH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Median, Quartiles &amp; IQR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Go across from the cumulative-frequency axis to the curve, then straight down.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For n = 40: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41"/>
          <p:cNvSpPr/>
          <p:nvPr/>
        </p:nvSpPr>
        <p:spPr>
          <a:xfrm>
            <a:off x="1554480" y="2331720"/>
            <a:ext cx="360" cy="2743200"/>
          </a:xfrm>
          <a:prstGeom prst="line">
            <a:avLst/>
          </a:prstGeom>
          <a:ln w="16510">
            <a:solidFill>
              <a:srgbClr val="5c6b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42"/>
          <p:cNvSpPr/>
          <p:nvPr/>
        </p:nvSpPr>
        <p:spPr>
          <a:xfrm>
            <a:off x="1554480" y="5074920"/>
            <a:ext cx="4114800" cy="360"/>
          </a:xfrm>
          <a:prstGeom prst="line">
            <a:avLst/>
          </a:prstGeom>
          <a:ln w="16510">
            <a:solidFill>
              <a:srgbClr val="5c6b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43"/>
          <p:cNvSpPr/>
          <p:nvPr/>
        </p:nvSpPr>
        <p:spPr>
          <a:xfrm>
            <a:off x="1554480" y="504468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44"/>
          <p:cNvSpPr/>
          <p:nvPr/>
        </p:nvSpPr>
        <p:spPr>
          <a:xfrm>
            <a:off x="1725840" y="503100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45"/>
          <p:cNvSpPr/>
          <p:nvPr/>
        </p:nvSpPr>
        <p:spPr>
          <a:xfrm>
            <a:off x="1897200" y="501156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46"/>
          <p:cNvSpPr/>
          <p:nvPr/>
        </p:nvSpPr>
        <p:spPr>
          <a:xfrm>
            <a:off x="2068560" y="4983840"/>
            <a:ext cx="17172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47"/>
          <p:cNvSpPr/>
          <p:nvPr/>
        </p:nvSpPr>
        <p:spPr>
          <a:xfrm>
            <a:off x="2240280" y="494460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48"/>
          <p:cNvSpPr/>
          <p:nvPr/>
        </p:nvSpPr>
        <p:spPr>
          <a:xfrm>
            <a:off x="2411640" y="488952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49"/>
          <p:cNvSpPr/>
          <p:nvPr/>
        </p:nvSpPr>
        <p:spPr>
          <a:xfrm>
            <a:off x="2583000" y="481320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50"/>
          <p:cNvSpPr/>
          <p:nvPr/>
        </p:nvSpPr>
        <p:spPr>
          <a:xfrm>
            <a:off x="2754360" y="4709880"/>
            <a:ext cx="17172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51"/>
          <p:cNvSpPr/>
          <p:nvPr/>
        </p:nvSpPr>
        <p:spPr>
          <a:xfrm>
            <a:off x="2926080" y="457416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52"/>
          <p:cNvSpPr/>
          <p:nvPr/>
        </p:nvSpPr>
        <p:spPr>
          <a:xfrm>
            <a:off x="3097440" y="440244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53"/>
          <p:cNvSpPr/>
          <p:nvPr/>
        </p:nvSpPr>
        <p:spPr>
          <a:xfrm>
            <a:off x="3268800" y="419472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54"/>
          <p:cNvSpPr/>
          <p:nvPr/>
        </p:nvSpPr>
        <p:spPr>
          <a:xfrm>
            <a:off x="3440160" y="3957480"/>
            <a:ext cx="17172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55"/>
          <p:cNvSpPr/>
          <p:nvPr/>
        </p:nvSpPr>
        <p:spPr>
          <a:xfrm>
            <a:off x="3611880" y="370332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56"/>
          <p:cNvSpPr/>
          <p:nvPr/>
        </p:nvSpPr>
        <p:spPr>
          <a:xfrm>
            <a:off x="3783240" y="344880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57"/>
          <p:cNvSpPr/>
          <p:nvPr/>
        </p:nvSpPr>
        <p:spPr>
          <a:xfrm>
            <a:off x="3954600" y="321156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58"/>
          <p:cNvSpPr/>
          <p:nvPr/>
        </p:nvSpPr>
        <p:spPr>
          <a:xfrm>
            <a:off x="4125960" y="3003840"/>
            <a:ext cx="17172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59"/>
          <p:cNvSpPr/>
          <p:nvPr/>
        </p:nvSpPr>
        <p:spPr>
          <a:xfrm>
            <a:off x="4297680" y="283212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60"/>
          <p:cNvSpPr/>
          <p:nvPr/>
        </p:nvSpPr>
        <p:spPr>
          <a:xfrm>
            <a:off x="4469040" y="269640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61"/>
          <p:cNvSpPr/>
          <p:nvPr/>
        </p:nvSpPr>
        <p:spPr>
          <a:xfrm>
            <a:off x="4640400" y="259308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62"/>
          <p:cNvSpPr/>
          <p:nvPr/>
        </p:nvSpPr>
        <p:spPr>
          <a:xfrm>
            <a:off x="4811760" y="2516760"/>
            <a:ext cx="17172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63"/>
          <p:cNvSpPr/>
          <p:nvPr/>
        </p:nvSpPr>
        <p:spPr>
          <a:xfrm>
            <a:off x="4983480" y="246168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64"/>
          <p:cNvSpPr/>
          <p:nvPr/>
        </p:nvSpPr>
        <p:spPr>
          <a:xfrm>
            <a:off x="5154840" y="242244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65"/>
          <p:cNvSpPr/>
          <p:nvPr/>
        </p:nvSpPr>
        <p:spPr>
          <a:xfrm>
            <a:off x="5326200" y="2394720"/>
            <a:ext cx="171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66"/>
          <p:cNvSpPr/>
          <p:nvPr/>
        </p:nvSpPr>
        <p:spPr>
          <a:xfrm>
            <a:off x="5497560" y="2375280"/>
            <a:ext cx="17172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67"/>
          <p:cNvSpPr/>
          <p:nvPr/>
        </p:nvSpPr>
        <p:spPr>
          <a:xfrm>
            <a:off x="1554480" y="4389120"/>
            <a:ext cx="1555200" cy="360"/>
          </a:xfrm>
          <a:prstGeom prst="line">
            <a:avLst/>
          </a:prstGeom>
          <a:ln w="16510">
            <a:solidFill>
              <a:srgbClr val="e0ac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68"/>
          <p:cNvSpPr/>
          <p:nvPr/>
        </p:nvSpPr>
        <p:spPr>
          <a:xfrm>
            <a:off x="3109680" y="4389120"/>
            <a:ext cx="360" cy="685800"/>
          </a:xfrm>
          <a:prstGeom prst="line">
            <a:avLst/>
          </a:prstGeom>
          <a:ln w="16510">
            <a:solidFill>
              <a:srgbClr val="e0ac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69"/>
          <p:cNvSpPr/>
          <p:nvPr/>
        </p:nvSpPr>
        <p:spPr>
          <a:xfrm>
            <a:off x="2652840" y="5120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84f2f"/>
                </a:solidFill>
                <a:latin typeface="Cambria"/>
                <a:ea typeface="Cambria"/>
              </a:rPr>
              <a:t>LQ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70"/>
          <p:cNvSpPr/>
          <p:nvPr/>
        </p:nvSpPr>
        <p:spPr>
          <a:xfrm>
            <a:off x="1554480" y="3703320"/>
            <a:ext cx="2057400" cy="360"/>
          </a:xfrm>
          <a:prstGeom prst="line">
            <a:avLst/>
          </a:prstGeom>
          <a:ln w="16510">
            <a:solidFill>
              <a:srgbClr val="e0ac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71"/>
          <p:cNvSpPr/>
          <p:nvPr/>
        </p:nvSpPr>
        <p:spPr>
          <a:xfrm>
            <a:off x="3611880" y="3703320"/>
            <a:ext cx="360" cy="1371600"/>
          </a:xfrm>
          <a:prstGeom prst="line">
            <a:avLst/>
          </a:prstGeom>
          <a:ln w="16510">
            <a:solidFill>
              <a:srgbClr val="e0ac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72"/>
          <p:cNvSpPr/>
          <p:nvPr/>
        </p:nvSpPr>
        <p:spPr>
          <a:xfrm>
            <a:off x="3154680" y="5120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84f2f"/>
                </a:solidFill>
                <a:latin typeface="Cambria"/>
                <a:ea typeface="Cambria"/>
              </a:rPr>
              <a:t>median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73"/>
          <p:cNvSpPr/>
          <p:nvPr/>
        </p:nvSpPr>
        <p:spPr>
          <a:xfrm>
            <a:off x="1554480" y="3017520"/>
            <a:ext cx="2559240" cy="360"/>
          </a:xfrm>
          <a:prstGeom prst="line">
            <a:avLst/>
          </a:prstGeom>
          <a:ln w="16510">
            <a:solidFill>
              <a:srgbClr val="e0ac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74"/>
          <p:cNvSpPr/>
          <p:nvPr/>
        </p:nvSpPr>
        <p:spPr>
          <a:xfrm>
            <a:off x="4113720" y="3017520"/>
            <a:ext cx="360" cy="2057400"/>
          </a:xfrm>
          <a:prstGeom prst="line">
            <a:avLst/>
          </a:prstGeom>
          <a:ln w="16510">
            <a:solidFill>
              <a:srgbClr val="e0ac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75"/>
          <p:cNvSpPr/>
          <p:nvPr/>
        </p:nvSpPr>
        <p:spPr>
          <a:xfrm>
            <a:off x="3656520" y="5120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84f2f"/>
                </a:solidFill>
                <a:latin typeface="Cambria"/>
                <a:ea typeface="Cambria"/>
              </a:rPr>
              <a:t>UQ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76"/>
          <p:cNvSpPr/>
          <p:nvPr/>
        </p:nvSpPr>
        <p:spPr>
          <a:xfrm>
            <a:off x="6400800" y="2286000"/>
            <a:ext cx="5230080" cy="3291480"/>
          </a:xfrm>
          <a:prstGeom prst="roundRect">
            <a:avLst>
              <a:gd name="adj" fmla="val 1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77"/>
          <p:cNvSpPr/>
          <p:nvPr/>
        </p:nvSpPr>
        <p:spPr>
          <a:xfrm>
            <a:off x="6766560" y="2523600"/>
            <a:ext cx="449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Where to read across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78"/>
          <p:cNvSpPr/>
          <p:nvPr/>
        </p:nvSpPr>
        <p:spPr>
          <a:xfrm>
            <a:off x="6720840" y="3017520"/>
            <a:ext cx="46630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Lower quartile:  n÷4 = 10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Median:  n÷2 = 20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Upper quartile:  3n÷4 = 30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IQR = UQ − LQ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the spread of the middle half of the data.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79"/>
          <p:cNvSpPr/>
          <p:nvPr/>
        </p:nvSpPr>
        <p:spPr>
          <a:xfrm>
            <a:off x="567000" y="571500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80"/>
          <p:cNvSpPr/>
          <p:nvPr/>
        </p:nvSpPr>
        <p:spPr>
          <a:xfrm>
            <a:off x="841320" y="5715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Median at n÷2, LQ at n÷4, UQ at 3n÷4;  IQR = UQ − LQ.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Each question comes with its cumulative-frequency graph — read n÷2, n÷4 and 3n÷4.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Cumulative freq = running total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Plot at the UPPER boundary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Median n÷2, LQ n÷4, UQ 3n÷4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IQR = UQ − LQ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39"/>
          <p:cNvSpPr/>
          <p:nvPr/>
        </p:nvSpPr>
        <p:spPr>
          <a:xfrm>
            <a:off x="1651680" y="1408320"/>
            <a:ext cx="9119520" cy="471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Rectangle 43"/>
          <p:cNvSpPr/>
          <p:nvPr/>
        </p:nvSpPr>
        <p:spPr>
          <a:xfrm>
            <a:off x="1651680" y="1294920"/>
            <a:ext cx="9168840" cy="494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500" name="Content Placeholder 4"/>
          <p:cNvGraphicFramePr/>
          <p:nvPr/>
        </p:nvGraphicFramePr>
        <p:xfrm>
          <a:off x="2011680" y="3770640"/>
          <a:ext cx="2699280" cy="2348640"/>
        </p:xfrm>
        <a:graphic>
          <a:graphicData uri="http://schemas.openxmlformats.org/drawingml/2006/table">
            <a:tbl>
              <a:tblPr/>
              <a:tblGrid>
                <a:gridCol w="1503000"/>
                <a:gridCol w="1196640"/>
              </a:tblGrid>
              <a:tr h="6710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Height</a:t>
                      </a:r>
                      <a:br>
                        <a:rPr sz="1100"/>
                      </a:b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b="0" i="1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cm)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Cumulative Frequency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5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170 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Symbol"/>
                          <a:ea typeface="Times New Roman"/>
                        </a:rPr>
                        <a:t>£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b="0" i="1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&lt; 175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endParaRPr b="0" lang="en-US" sz="1100" spc="-1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5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170 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Symbol"/>
                          <a:ea typeface="Times New Roman"/>
                        </a:rPr>
                        <a:t>£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b="0" i="1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&lt; 180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endParaRPr b="0" lang="en-US" sz="1100" spc="-1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5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170 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Symbol"/>
                          <a:ea typeface="Times New Roman"/>
                        </a:rPr>
                        <a:t>£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b="0" i="1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&lt; 185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endParaRPr b="0" lang="en-US" sz="1100" spc="-1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5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170 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Symbol"/>
                          <a:ea typeface="Times New Roman"/>
                        </a:rPr>
                        <a:t>£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b="0" i="1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&lt; 190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endParaRPr b="0" lang="en-US" sz="1100" spc="-1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5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170 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Symbol"/>
                          <a:ea typeface="Times New Roman"/>
                        </a:rPr>
                        <a:t>£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b="0" i="1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</a:t>
                      </a:r>
                      <a:r>
                        <a:rPr b="0" lang="en-US" sz="11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&lt; 195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algn="l" pos="457200"/>
                          <a:tab algn="l" pos="914400"/>
                          <a:tab algn="l" pos="1371600"/>
                          <a:tab algn="l" pos="1828800"/>
                          <a:tab algn="l" pos="2286000"/>
                          <a:tab algn="l" pos="2743200"/>
                          <a:tab algn="l" pos="3200400"/>
                          <a:tab algn="l" pos="3657600"/>
                          <a:tab algn="l" pos="4114800"/>
                          <a:tab algn="l" pos="4572000"/>
                          <a:tab algn="l" pos="5029200"/>
                          <a:tab algn="l" pos="5486400"/>
                          <a:tab algn="l" pos="5943600"/>
                          <a:tab algn="l" pos="6400800"/>
                        </a:tabLst>
                      </a:pPr>
                      <a:endParaRPr b="0" lang="en-US" sz="1100" spc="-1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01" name="Picture 7" descr=""/>
          <p:cNvPicPr/>
          <p:nvPr/>
        </p:nvPicPr>
        <p:blipFill>
          <a:blip r:embed="rId1"/>
          <a:srcRect l="0" t="0" r="0" b="54077"/>
          <a:stretch/>
        </p:blipFill>
        <p:spPr>
          <a:xfrm>
            <a:off x="1651680" y="1438920"/>
            <a:ext cx="3563640" cy="2025360"/>
          </a:xfrm>
          <a:prstGeom prst="rect">
            <a:avLst/>
          </a:prstGeom>
          <a:ln w="9525">
            <a:noFill/>
          </a:ln>
        </p:spPr>
      </p:pic>
      <p:pic>
        <p:nvPicPr>
          <p:cNvPr id="502" name="Picture 2" descr=""/>
          <p:cNvPicPr/>
          <p:nvPr/>
        </p:nvPicPr>
        <p:blipFill>
          <a:blip r:embed="rId2"/>
          <a:stretch/>
        </p:blipFill>
        <p:spPr>
          <a:xfrm>
            <a:off x="4783320" y="1410120"/>
            <a:ext cx="6037200" cy="48254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39"/>
          <p:cNvSpPr/>
          <p:nvPr/>
        </p:nvSpPr>
        <p:spPr>
          <a:xfrm>
            <a:off x="1700640" y="1165320"/>
            <a:ext cx="8840880" cy="546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Rectangle 43"/>
          <p:cNvSpPr/>
          <p:nvPr/>
        </p:nvSpPr>
        <p:spPr>
          <a:xfrm>
            <a:off x="2231640" y="1147680"/>
            <a:ext cx="7349760" cy="5534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4" name="Oval 262"/>
          <p:cNvSpPr/>
          <p:nvPr/>
        </p:nvSpPr>
        <p:spPr>
          <a:xfrm>
            <a:off x="4554360" y="4842000"/>
            <a:ext cx="95040" cy="950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5" name="Oval 263"/>
          <p:cNvSpPr/>
          <p:nvPr/>
        </p:nvSpPr>
        <p:spPr>
          <a:xfrm>
            <a:off x="5081400" y="4368960"/>
            <a:ext cx="95040" cy="950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6" name="Oval 264"/>
          <p:cNvSpPr/>
          <p:nvPr/>
        </p:nvSpPr>
        <p:spPr>
          <a:xfrm>
            <a:off x="5608440" y="3117960"/>
            <a:ext cx="95040" cy="950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7" name="Oval 265"/>
          <p:cNvSpPr/>
          <p:nvPr/>
        </p:nvSpPr>
        <p:spPr>
          <a:xfrm>
            <a:off x="6135480" y="2406600"/>
            <a:ext cx="95040" cy="950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8" name="Oval 266"/>
          <p:cNvSpPr/>
          <p:nvPr/>
        </p:nvSpPr>
        <p:spPr>
          <a:xfrm>
            <a:off x="6671880" y="1936800"/>
            <a:ext cx="95040" cy="950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" name="Oval 267"/>
          <p:cNvSpPr/>
          <p:nvPr/>
        </p:nvSpPr>
        <p:spPr>
          <a:xfrm>
            <a:off x="7189560" y="1673280"/>
            <a:ext cx="95040" cy="950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0" name="Freeform 268"/>
          <p:cNvSpPr/>
          <p:nvPr/>
        </p:nvSpPr>
        <p:spPr>
          <a:xfrm>
            <a:off x="4068360" y="1727280"/>
            <a:ext cx="3171600" cy="3457080"/>
          </a:xfrm>
          <a:custGeom>
            <a:avLst/>
            <a:gdLst>
              <a:gd name="textAreaLeft" fmla="*/ 0 w 3171600"/>
              <a:gd name="textAreaRight" fmla="*/ 3171960 w 3171600"/>
              <a:gd name="textAreaTop" fmla="*/ 0 h 3457080"/>
              <a:gd name="textAreaBottom" fmla="*/ 3457440 h 3457080"/>
            </a:gdLst>
            <a:ahLst/>
            <a:rect l="textAreaLeft" t="textAreaTop" r="textAreaRight" b="textAreaBottom"/>
            <a:pathLst>
              <a:path w="1998" h="2178">
                <a:moveTo>
                  <a:pt x="0" y="2178"/>
                </a:moveTo>
                <a:cubicBezTo>
                  <a:pt x="112" y="2128"/>
                  <a:pt x="225" y="2079"/>
                  <a:pt x="336" y="1998"/>
                </a:cubicBezTo>
                <a:cubicBezTo>
                  <a:pt x="447" y="1917"/>
                  <a:pt x="555" y="1873"/>
                  <a:pt x="666" y="1692"/>
                </a:cubicBezTo>
                <a:cubicBezTo>
                  <a:pt x="777" y="1511"/>
                  <a:pt x="891" y="1117"/>
                  <a:pt x="1002" y="912"/>
                </a:cubicBezTo>
                <a:cubicBezTo>
                  <a:pt x="1113" y="707"/>
                  <a:pt x="1221" y="586"/>
                  <a:pt x="1332" y="462"/>
                </a:cubicBezTo>
                <a:cubicBezTo>
                  <a:pt x="1443" y="338"/>
                  <a:pt x="1557" y="245"/>
                  <a:pt x="1668" y="168"/>
                </a:cubicBezTo>
                <a:cubicBezTo>
                  <a:pt x="1779" y="91"/>
                  <a:pt x="1929" y="35"/>
                  <a:pt x="1998" y="0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1" name="Rectangle 320"/>
          <p:cNvSpPr/>
          <p:nvPr/>
        </p:nvSpPr>
        <p:spPr>
          <a:xfrm>
            <a:off x="407484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2" name="Rectangle 321"/>
          <p:cNvSpPr/>
          <p:nvPr/>
        </p:nvSpPr>
        <p:spPr>
          <a:xfrm>
            <a:off x="4339800" y="11476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3" name="Rectangle 322"/>
          <p:cNvSpPr/>
          <p:nvPr/>
        </p:nvSpPr>
        <p:spPr>
          <a:xfrm>
            <a:off x="460332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4" name="Rectangle 323"/>
          <p:cNvSpPr/>
          <p:nvPr/>
        </p:nvSpPr>
        <p:spPr>
          <a:xfrm>
            <a:off x="486864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5" name="Rectangle 324"/>
          <p:cNvSpPr/>
          <p:nvPr/>
        </p:nvSpPr>
        <p:spPr>
          <a:xfrm>
            <a:off x="513360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6" name="Rectangle 325"/>
          <p:cNvSpPr/>
          <p:nvPr/>
        </p:nvSpPr>
        <p:spPr>
          <a:xfrm>
            <a:off x="5398920" y="11476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7" name="Rectangle 326"/>
          <p:cNvSpPr/>
          <p:nvPr/>
        </p:nvSpPr>
        <p:spPr>
          <a:xfrm>
            <a:off x="566244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8" name="Rectangle 327"/>
          <p:cNvSpPr/>
          <p:nvPr/>
        </p:nvSpPr>
        <p:spPr>
          <a:xfrm>
            <a:off x="592740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9" name="Rectangle 328"/>
          <p:cNvSpPr/>
          <p:nvPr/>
        </p:nvSpPr>
        <p:spPr>
          <a:xfrm>
            <a:off x="619236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0" name="Rectangle 329"/>
          <p:cNvSpPr/>
          <p:nvPr/>
        </p:nvSpPr>
        <p:spPr>
          <a:xfrm>
            <a:off x="6457680" y="11476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1" name="Rectangle 330"/>
          <p:cNvSpPr/>
          <p:nvPr/>
        </p:nvSpPr>
        <p:spPr>
          <a:xfrm>
            <a:off x="672120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2" name="Rectangle 331"/>
          <p:cNvSpPr/>
          <p:nvPr/>
        </p:nvSpPr>
        <p:spPr>
          <a:xfrm>
            <a:off x="6986160" y="11476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3" name="Rectangle 332"/>
          <p:cNvSpPr/>
          <p:nvPr/>
        </p:nvSpPr>
        <p:spPr>
          <a:xfrm>
            <a:off x="7251480" y="11476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4" name="Rectangle 333"/>
          <p:cNvSpPr/>
          <p:nvPr/>
        </p:nvSpPr>
        <p:spPr>
          <a:xfrm>
            <a:off x="407484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5" name="Rectangle 334"/>
          <p:cNvSpPr/>
          <p:nvPr/>
        </p:nvSpPr>
        <p:spPr>
          <a:xfrm>
            <a:off x="4339800" y="14349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6" name="Rectangle 335"/>
          <p:cNvSpPr/>
          <p:nvPr/>
        </p:nvSpPr>
        <p:spPr>
          <a:xfrm>
            <a:off x="460332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7" name="Rectangle 336"/>
          <p:cNvSpPr/>
          <p:nvPr/>
        </p:nvSpPr>
        <p:spPr>
          <a:xfrm>
            <a:off x="486864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8" name="Rectangle 337"/>
          <p:cNvSpPr/>
          <p:nvPr/>
        </p:nvSpPr>
        <p:spPr>
          <a:xfrm>
            <a:off x="513360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9" name="Rectangle 338"/>
          <p:cNvSpPr/>
          <p:nvPr/>
        </p:nvSpPr>
        <p:spPr>
          <a:xfrm>
            <a:off x="5398920" y="14349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0" name="Rectangle 339"/>
          <p:cNvSpPr/>
          <p:nvPr/>
        </p:nvSpPr>
        <p:spPr>
          <a:xfrm>
            <a:off x="566244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1" name="Rectangle 340"/>
          <p:cNvSpPr/>
          <p:nvPr/>
        </p:nvSpPr>
        <p:spPr>
          <a:xfrm>
            <a:off x="592740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2" name="Rectangle 341"/>
          <p:cNvSpPr/>
          <p:nvPr/>
        </p:nvSpPr>
        <p:spPr>
          <a:xfrm>
            <a:off x="619236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3" name="Rectangle 342"/>
          <p:cNvSpPr/>
          <p:nvPr/>
        </p:nvSpPr>
        <p:spPr>
          <a:xfrm>
            <a:off x="6457680" y="14349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4" name="Rectangle 343"/>
          <p:cNvSpPr/>
          <p:nvPr/>
        </p:nvSpPr>
        <p:spPr>
          <a:xfrm>
            <a:off x="672120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5" name="Rectangle 344"/>
          <p:cNvSpPr/>
          <p:nvPr/>
        </p:nvSpPr>
        <p:spPr>
          <a:xfrm>
            <a:off x="6986160" y="14349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6" name="Rectangle 345"/>
          <p:cNvSpPr/>
          <p:nvPr/>
        </p:nvSpPr>
        <p:spPr>
          <a:xfrm>
            <a:off x="7251480" y="14349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7" name="Rectangle 346"/>
          <p:cNvSpPr/>
          <p:nvPr/>
        </p:nvSpPr>
        <p:spPr>
          <a:xfrm>
            <a:off x="407484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8" name="Rectangle 347"/>
          <p:cNvSpPr/>
          <p:nvPr/>
        </p:nvSpPr>
        <p:spPr>
          <a:xfrm>
            <a:off x="4339800" y="172404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9" name="Rectangle 348"/>
          <p:cNvSpPr/>
          <p:nvPr/>
        </p:nvSpPr>
        <p:spPr>
          <a:xfrm>
            <a:off x="460332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0" name="Rectangle 349"/>
          <p:cNvSpPr/>
          <p:nvPr/>
        </p:nvSpPr>
        <p:spPr>
          <a:xfrm>
            <a:off x="486864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1" name="Rectangle 350"/>
          <p:cNvSpPr/>
          <p:nvPr/>
        </p:nvSpPr>
        <p:spPr>
          <a:xfrm>
            <a:off x="513360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2" name="Rectangle 351"/>
          <p:cNvSpPr/>
          <p:nvPr/>
        </p:nvSpPr>
        <p:spPr>
          <a:xfrm>
            <a:off x="5398920" y="172404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3" name="Rectangle 352"/>
          <p:cNvSpPr/>
          <p:nvPr/>
        </p:nvSpPr>
        <p:spPr>
          <a:xfrm>
            <a:off x="566244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4" name="Rectangle 353"/>
          <p:cNvSpPr/>
          <p:nvPr/>
        </p:nvSpPr>
        <p:spPr>
          <a:xfrm>
            <a:off x="592740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5" name="Rectangle 354"/>
          <p:cNvSpPr/>
          <p:nvPr/>
        </p:nvSpPr>
        <p:spPr>
          <a:xfrm>
            <a:off x="619236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6" name="Rectangle 355"/>
          <p:cNvSpPr/>
          <p:nvPr/>
        </p:nvSpPr>
        <p:spPr>
          <a:xfrm>
            <a:off x="6457680" y="172404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7" name="Rectangle 356"/>
          <p:cNvSpPr/>
          <p:nvPr/>
        </p:nvSpPr>
        <p:spPr>
          <a:xfrm>
            <a:off x="672120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8" name="Rectangle 357"/>
          <p:cNvSpPr/>
          <p:nvPr/>
        </p:nvSpPr>
        <p:spPr>
          <a:xfrm>
            <a:off x="6986160" y="172404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9" name="Rectangle 358"/>
          <p:cNvSpPr/>
          <p:nvPr/>
        </p:nvSpPr>
        <p:spPr>
          <a:xfrm>
            <a:off x="7251480" y="172404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0" name="Rectangle 359"/>
          <p:cNvSpPr/>
          <p:nvPr/>
        </p:nvSpPr>
        <p:spPr>
          <a:xfrm>
            <a:off x="407484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1" name="Rectangle 360"/>
          <p:cNvSpPr/>
          <p:nvPr/>
        </p:nvSpPr>
        <p:spPr>
          <a:xfrm>
            <a:off x="4339800" y="201132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2" name="Rectangle 361"/>
          <p:cNvSpPr/>
          <p:nvPr/>
        </p:nvSpPr>
        <p:spPr>
          <a:xfrm>
            <a:off x="460332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3" name="Rectangle 362"/>
          <p:cNvSpPr/>
          <p:nvPr/>
        </p:nvSpPr>
        <p:spPr>
          <a:xfrm>
            <a:off x="486864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4" name="Rectangle 363"/>
          <p:cNvSpPr/>
          <p:nvPr/>
        </p:nvSpPr>
        <p:spPr>
          <a:xfrm>
            <a:off x="513360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5" name="Rectangle 364"/>
          <p:cNvSpPr/>
          <p:nvPr/>
        </p:nvSpPr>
        <p:spPr>
          <a:xfrm>
            <a:off x="5398920" y="201132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6" name="Rectangle 365"/>
          <p:cNvSpPr/>
          <p:nvPr/>
        </p:nvSpPr>
        <p:spPr>
          <a:xfrm>
            <a:off x="566244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7" name="Rectangle 366"/>
          <p:cNvSpPr/>
          <p:nvPr/>
        </p:nvSpPr>
        <p:spPr>
          <a:xfrm>
            <a:off x="592740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8" name="Rectangle 367"/>
          <p:cNvSpPr/>
          <p:nvPr/>
        </p:nvSpPr>
        <p:spPr>
          <a:xfrm>
            <a:off x="619236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9" name="Rectangle 368"/>
          <p:cNvSpPr/>
          <p:nvPr/>
        </p:nvSpPr>
        <p:spPr>
          <a:xfrm>
            <a:off x="6457680" y="201132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0" name="Rectangle 369"/>
          <p:cNvSpPr/>
          <p:nvPr/>
        </p:nvSpPr>
        <p:spPr>
          <a:xfrm>
            <a:off x="672120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1" name="Rectangle 370"/>
          <p:cNvSpPr/>
          <p:nvPr/>
        </p:nvSpPr>
        <p:spPr>
          <a:xfrm>
            <a:off x="6986160" y="201132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2" name="Rectangle 371"/>
          <p:cNvSpPr/>
          <p:nvPr/>
        </p:nvSpPr>
        <p:spPr>
          <a:xfrm>
            <a:off x="7251480" y="201132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3" name="Rectangle 372"/>
          <p:cNvSpPr/>
          <p:nvPr/>
        </p:nvSpPr>
        <p:spPr>
          <a:xfrm>
            <a:off x="407484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4" name="Rectangle 373"/>
          <p:cNvSpPr/>
          <p:nvPr/>
        </p:nvSpPr>
        <p:spPr>
          <a:xfrm>
            <a:off x="4339800" y="2300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5" name="Rectangle 374"/>
          <p:cNvSpPr/>
          <p:nvPr/>
        </p:nvSpPr>
        <p:spPr>
          <a:xfrm>
            <a:off x="460332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6" name="Rectangle 375"/>
          <p:cNvSpPr/>
          <p:nvPr/>
        </p:nvSpPr>
        <p:spPr>
          <a:xfrm>
            <a:off x="486864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7" name="Rectangle 376"/>
          <p:cNvSpPr/>
          <p:nvPr/>
        </p:nvSpPr>
        <p:spPr>
          <a:xfrm>
            <a:off x="513360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8" name="Rectangle 377"/>
          <p:cNvSpPr/>
          <p:nvPr/>
        </p:nvSpPr>
        <p:spPr>
          <a:xfrm>
            <a:off x="5398920" y="2300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9" name="Rectangle 378"/>
          <p:cNvSpPr/>
          <p:nvPr/>
        </p:nvSpPr>
        <p:spPr>
          <a:xfrm>
            <a:off x="566244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0" name="Rectangle 379"/>
          <p:cNvSpPr/>
          <p:nvPr/>
        </p:nvSpPr>
        <p:spPr>
          <a:xfrm>
            <a:off x="592740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1" name="Rectangle 380"/>
          <p:cNvSpPr/>
          <p:nvPr/>
        </p:nvSpPr>
        <p:spPr>
          <a:xfrm>
            <a:off x="619236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2" name="Rectangle 381"/>
          <p:cNvSpPr/>
          <p:nvPr/>
        </p:nvSpPr>
        <p:spPr>
          <a:xfrm>
            <a:off x="6457680" y="2300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3" name="Rectangle 382"/>
          <p:cNvSpPr/>
          <p:nvPr/>
        </p:nvSpPr>
        <p:spPr>
          <a:xfrm>
            <a:off x="672120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4" name="Rectangle 383"/>
          <p:cNvSpPr/>
          <p:nvPr/>
        </p:nvSpPr>
        <p:spPr>
          <a:xfrm>
            <a:off x="6986160" y="2300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5" name="Rectangle 384"/>
          <p:cNvSpPr/>
          <p:nvPr/>
        </p:nvSpPr>
        <p:spPr>
          <a:xfrm>
            <a:off x="7251480" y="2300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6" name="Rectangle 385"/>
          <p:cNvSpPr/>
          <p:nvPr/>
        </p:nvSpPr>
        <p:spPr>
          <a:xfrm>
            <a:off x="407484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7" name="Rectangle 386"/>
          <p:cNvSpPr/>
          <p:nvPr/>
        </p:nvSpPr>
        <p:spPr>
          <a:xfrm>
            <a:off x="4339800" y="258768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8" name="Rectangle 387"/>
          <p:cNvSpPr/>
          <p:nvPr/>
        </p:nvSpPr>
        <p:spPr>
          <a:xfrm>
            <a:off x="460332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9" name="Rectangle 388"/>
          <p:cNvSpPr/>
          <p:nvPr/>
        </p:nvSpPr>
        <p:spPr>
          <a:xfrm>
            <a:off x="486864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0" name="Rectangle 389"/>
          <p:cNvSpPr/>
          <p:nvPr/>
        </p:nvSpPr>
        <p:spPr>
          <a:xfrm>
            <a:off x="513360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1" name="Rectangle 390"/>
          <p:cNvSpPr/>
          <p:nvPr/>
        </p:nvSpPr>
        <p:spPr>
          <a:xfrm>
            <a:off x="5398920" y="258768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2" name="Rectangle 391"/>
          <p:cNvSpPr/>
          <p:nvPr/>
        </p:nvSpPr>
        <p:spPr>
          <a:xfrm>
            <a:off x="566244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3" name="Rectangle 392"/>
          <p:cNvSpPr/>
          <p:nvPr/>
        </p:nvSpPr>
        <p:spPr>
          <a:xfrm>
            <a:off x="592740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4" name="Rectangle 393"/>
          <p:cNvSpPr/>
          <p:nvPr/>
        </p:nvSpPr>
        <p:spPr>
          <a:xfrm>
            <a:off x="619236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5" name="Rectangle 394"/>
          <p:cNvSpPr/>
          <p:nvPr/>
        </p:nvSpPr>
        <p:spPr>
          <a:xfrm>
            <a:off x="6457680" y="258768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6" name="Rectangle 395"/>
          <p:cNvSpPr/>
          <p:nvPr/>
        </p:nvSpPr>
        <p:spPr>
          <a:xfrm>
            <a:off x="672120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7" name="Rectangle 396"/>
          <p:cNvSpPr/>
          <p:nvPr/>
        </p:nvSpPr>
        <p:spPr>
          <a:xfrm>
            <a:off x="6986160" y="258768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8" name="Rectangle 397"/>
          <p:cNvSpPr/>
          <p:nvPr/>
        </p:nvSpPr>
        <p:spPr>
          <a:xfrm>
            <a:off x="7251480" y="258768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9" name="Rectangle 398"/>
          <p:cNvSpPr/>
          <p:nvPr/>
        </p:nvSpPr>
        <p:spPr>
          <a:xfrm>
            <a:off x="407484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0" name="Rectangle 399"/>
          <p:cNvSpPr/>
          <p:nvPr/>
        </p:nvSpPr>
        <p:spPr>
          <a:xfrm>
            <a:off x="4339800" y="2876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1" name="Rectangle 400"/>
          <p:cNvSpPr/>
          <p:nvPr/>
        </p:nvSpPr>
        <p:spPr>
          <a:xfrm>
            <a:off x="460332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2" name="Rectangle 401"/>
          <p:cNvSpPr/>
          <p:nvPr/>
        </p:nvSpPr>
        <p:spPr>
          <a:xfrm>
            <a:off x="486864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3" name="Rectangle 402"/>
          <p:cNvSpPr/>
          <p:nvPr/>
        </p:nvSpPr>
        <p:spPr>
          <a:xfrm>
            <a:off x="513360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4" name="Rectangle 403"/>
          <p:cNvSpPr/>
          <p:nvPr/>
        </p:nvSpPr>
        <p:spPr>
          <a:xfrm>
            <a:off x="5398920" y="2876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5" name="Rectangle 404"/>
          <p:cNvSpPr/>
          <p:nvPr/>
        </p:nvSpPr>
        <p:spPr>
          <a:xfrm>
            <a:off x="566244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6" name="Rectangle 405"/>
          <p:cNvSpPr/>
          <p:nvPr/>
        </p:nvSpPr>
        <p:spPr>
          <a:xfrm>
            <a:off x="592740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7" name="Rectangle 406"/>
          <p:cNvSpPr/>
          <p:nvPr/>
        </p:nvSpPr>
        <p:spPr>
          <a:xfrm>
            <a:off x="619236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8" name="Rectangle 407"/>
          <p:cNvSpPr/>
          <p:nvPr/>
        </p:nvSpPr>
        <p:spPr>
          <a:xfrm>
            <a:off x="6457680" y="2876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9" name="Rectangle 408"/>
          <p:cNvSpPr/>
          <p:nvPr/>
        </p:nvSpPr>
        <p:spPr>
          <a:xfrm>
            <a:off x="672120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0" name="Rectangle 409"/>
          <p:cNvSpPr/>
          <p:nvPr/>
        </p:nvSpPr>
        <p:spPr>
          <a:xfrm>
            <a:off x="6986160" y="287640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1" name="Rectangle 410"/>
          <p:cNvSpPr/>
          <p:nvPr/>
        </p:nvSpPr>
        <p:spPr>
          <a:xfrm>
            <a:off x="7251480" y="2876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2" name="Rectangle 411"/>
          <p:cNvSpPr/>
          <p:nvPr/>
        </p:nvSpPr>
        <p:spPr>
          <a:xfrm>
            <a:off x="407484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3" name="Rectangle 412"/>
          <p:cNvSpPr/>
          <p:nvPr/>
        </p:nvSpPr>
        <p:spPr>
          <a:xfrm>
            <a:off x="4339800" y="3164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4" name="Rectangle 413"/>
          <p:cNvSpPr/>
          <p:nvPr/>
        </p:nvSpPr>
        <p:spPr>
          <a:xfrm>
            <a:off x="460332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5" name="Rectangle 414"/>
          <p:cNvSpPr/>
          <p:nvPr/>
        </p:nvSpPr>
        <p:spPr>
          <a:xfrm>
            <a:off x="486864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6" name="Rectangle 415"/>
          <p:cNvSpPr/>
          <p:nvPr/>
        </p:nvSpPr>
        <p:spPr>
          <a:xfrm>
            <a:off x="513360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7" name="Rectangle 416"/>
          <p:cNvSpPr/>
          <p:nvPr/>
        </p:nvSpPr>
        <p:spPr>
          <a:xfrm>
            <a:off x="5398920" y="3164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8" name="Rectangle 417"/>
          <p:cNvSpPr/>
          <p:nvPr/>
        </p:nvSpPr>
        <p:spPr>
          <a:xfrm>
            <a:off x="566244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9" name="Rectangle 418"/>
          <p:cNvSpPr/>
          <p:nvPr/>
        </p:nvSpPr>
        <p:spPr>
          <a:xfrm>
            <a:off x="592740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0" name="Rectangle 419"/>
          <p:cNvSpPr/>
          <p:nvPr/>
        </p:nvSpPr>
        <p:spPr>
          <a:xfrm>
            <a:off x="619236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1" name="Rectangle 420"/>
          <p:cNvSpPr/>
          <p:nvPr/>
        </p:nvSpPr>
        <p:spPr>
          <a:xfrm>
            <a:off x="6457680" y="3164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2" name="Rectangle 421"/>
          <p:cNvSpPr/>
          <p:nvPr/>
        </p:nvSpPr>
        <p:spPr>
          <a:xfrm>
            <a:off x="672120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3" name="Rectangle 422"/>
          <p:cNvSpPr/>
          <p:nvPr/>
        </p:nvSpPr>
        <p:spPr>
          <a:xfrm>
            <a:off x="6986160" y="3164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4" name="Rectangle 423"/>
          <p:cNvSpPr/>
          <p:nvPr/>
        </p:nvSpPr>
        <p:spPr>
          <a:xfrm>
            <a:off x="7251480" y="3164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5" name="Rectangle 424"/>
          <p:cNvSpPr/>
          <p:nvPr/>
        </p:nvSpPr>
        <p:spPr>
          <a:xfrm>
            <a:off x="407484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6" name="Rectangle 425"/>
          <p:cNvSpPr/>
          <p:nvPr/>
        </p:nvSpPr>
        <p:spPr>
          <a:xfrm>
            <a:off x="4339800" y="345276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7" name="Rectangle 426"/>
          <p:cNvSpPr/>
          <p:nvPr/>
        </p:nvSpPr>
        <p:spPr>
          <a:xfrm>
            <a:off x="460332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8" name="Rectangle 427"/>
          <p:cNvSpPr/>
          <p:nvPr/>
        </p:nvSpPr>
        <p:spPr>
          <a:xfrm>
            <a:off x="486864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9" name="Rectangle 428"/>
          <p:cNvSpPr/>
          <p:nvPr/>
        </p:nvSpPr>
        <p:spPr>
          <a:xfrm>
            <a:off x="513360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0" name="Rectangle 429"/>
          <p:cNvSpPr/>
          <p:nvPr/>
        </p:nvSpPr>
        <p:spPr>
          <a:xfrm>
            <a:off x="5398920" y="345276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1" name="Rectangle 430"/>
          <p:cNvSpPr/>
          <p:nvPr/>
        </p:nvSpPr>
        <p:spPr>
          <a:xfrm>
            <a:off x="566244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2" name="Rectangle 431"/>
          <p:cNvSpPr/>
          <p:nvPr/>
        </p:nvSpPr>
        <p:spPr>
          <a:xfrm>
            <a:off x="592740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3" name="Rectangle 432"/>
          <p:cNvSpPr/>
          <p:nvPr/>
        </p:nvSpPr>
        <p:spPr>
          <a:xfrm>
            <a:off x="619236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4" name="Rectangle 433"/>
          <p:cNvSpPr/>
          <p:nvPr/>
        </p:nvSpPr>
        <p:spPr>
          <a:xfrm>
            <a:off x="6457680" y="345276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5" name="Rectangle 434"/>
          <p:cNvSpPr/>
          <p:nvPr/>
        </p:nvSpPr>
        <p:spPr>
          <a:xfrm>
            <a:off x="672120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6" name="Rectangle 435"/>
          <p:cNvSpPr/>
          <p:nvPr/>
        </p:nvSpPr>
        <p:spPr>
          <a:xfrm>
            <a:off x="6986160" y="345276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7" name="Rectangle 436"/>
          <p:cNvSpPr/>
          <p:nvPr/>
        </p:nvSpPr>
        <p:spPr>
          <a:xfrm>
            <a:off x="7251480" y="345276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8" name="Rectangle 437"/>
          <p:cNvSpPr/>
          <p:nvPr/>
        </p:nvSpPr>
        <p:spPr>
          <a:xfrm>
            <a:off x="407484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9" name="Rectangle 438"/>
          <p:cNvSpPr/>
          <p:nvPr/>
        </p:nvSpPr>
        <p:spPr>
          <a:xfrm>
            <a:off x="4339800" y="3740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0" name="Rectangle 439"/>
          <p:cNvSpPr/>
          <p:nvPr/>
        </p:nvSpPr>
        <p:spPr>
          <a:xfrm>
            <a:off x="460332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1" name="Rectangle 440"/>
          <p:cNvSpPr/>
          <p:nvPr/>
        </p:nvSpPr>
        <p:spPr>
          <a:xfrm>
            <a:off x="486864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2" name="Rectangle 441"/>
          <p:cNvSpPr/>
          <p:nvPr/>
        </p:nvSpPr>
        <p:spPr>
          <a:xfrm>
            <a:off x="513360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3" name="Rectangle 442"/>
          <p:cNvSpPr/>
          <p:nvPr/>
        </p:nvSpPr>
        <p:spPr>
          <a:xfrm>
            <a:off x="5398920" y="3740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4" name="Rectangle 443"/>
          <p:cNvSpPr/>
          <p:nvPr/>
        </p:nvSpPr>
        <p:spPr>
          <a:xfrm>
            <a:off x="566244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5" name="Rectangle 444"/>
          <p:cNvSpPr/>
          <p:nvPr/>
        </p:nvSpPr>
        <p:spPr>
          <a:xfrm>
            <a:off x="592740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6" name="Rectangle 445"/>
          <p:cNvSpPr/>
          <p:nvPr/>
        </p:nvSpPr>
        <p:spPr>
          <a:xfrm>
            <a:off x="619236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7" name="Rectangle 446"/>
          <p:cNvSpPr/>
          <p:nvPr/>
        </p:nvSpPr>
        <p:spPr>
          <a:xfrm>
            <a:off x="6457680" y="3740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8" name="Rectangle 447"/>
          <p:cNvSpPr/>
          <p:nvPr/>
        </p:nvSpPr>
        <p:spPr>
          <a:xfrm>
            <a:off x="672120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9" name="Rectangle 448"/>
          <p:cNvSpPr/>
          <p:nvPr/>
        </p:nvSpPr>
        <p:spPr>
          <a:xfrm>
            <a:off x="6986160" y="374004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0" name="Rectangle 449"/>
          <p:cNvSpPr/>
          <p:nvPr/>
        </p:nvSpPr>
        <p:spPr>
          <a:xfrm>
            <a:off x="7251480" y="3740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1" name="Rectangle 450"/>
          <p:cNvSpPr/>
          <p:nvPr/>
        </p:nvSpPr>
        <p:spPr>
          <a:xfrm>
            <a:off x="407484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2" name="Rectangle 451"/>
          <p:cNvSpPr/>
          <p:nvPr/>
        </p:nvSpPr>
        <p:spPr>
          <a:xfrm>
            <a:off x="4339800" y="402912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3" name="Rectangle 452"/>
          <p:cNvSpPr/>
          <p:nvPr/>
        </p:nvSpPr>
        <p:spPr>
          <a:xfrm>
            <a:off x="460332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4" name="Rectangle 453"/>
          <p:cNvSpPr/>
          <p:nvPr/>
        </p:nvSpPr>
        <p:spPr>
          <a:xfrm>
            <a:off x="486864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5" name="Rectangle 454"/>
          <p:cNvSpPr/>
          <p:nvPr/>
        </p:nvSpPr>
        <p:spPr>
          <a:xfrm>
            <a:off x="513360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6" name="Rectangle 455"/>
          <p:cNvSpPr/>
          <p:nvPr/>
        </p:nvSpPr>
        <p:spPr>
          <a:xfrm>
            <a:off x="5398920" y="402912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7" name="Rectangle 456"/>
          <p:cNvSpPr/>
          <p:nvPr/>
        </p:nvSpPr>
        <p:spPr>
          <a:xfrm>
            <a:off x="566244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8" name="Rectangle 457"/>
          <p:cNvSpPr/>
          <p:nvPr/>
        </p:nvSpPr>
        <p:spPr>
          <a:xfrm>
            <a:off x="592740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9" name="Rectangle 458"/>
          <p:cNvSpPr/>
          <p:nvPr/>
        </p:nvSpPr>
        <p:spPr>
          <a:xfrm>
            <a:off x="619236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0" name="Rectangle 459"/>
          <p:cNvSpPr/>
          <p:nvPr/>
        </p:nvSpPr>
        <p:spPr>
          <a:xfrm>
            <a:off x="6457680" y="402912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1" name="Rectangle 460"/>
          <p:cNvSpPr/>
          <p:nvPr/>
        </p:nvSpPr>
        <p:spPr>
          <a:xfrm>
            <a:off x="672120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2" name="Rectangle 461"/>
          <p:cNvSpPr/>
          <p:nvPr/>
        </p:nvSpPr>
        <p:spPr>
          <a:xfrm>
            <a:off x="6986160" y="402912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3" name="Rectangle 462"/>
          <p:cNvSpPr/>
          <p:nvPr/>
        </p:nvSpPr>
        <p:spPr>
          <a:xfrm>
            <a:off x="7251480" y="402912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4" name="Rectangle 463"/>
          <p:cNvSpPr/>
          <p:nvPr/>
        </p:nvSpPr>
        <p:spPr>
          <a:xfrm>
            <a:off x="407484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5" name="Rectangle 464"/>
          <p:cNvSpPr/>
          <p:nvPr/>
        </p:nvSpPr>
        <p:spPr>
          <a:xfrm>
            <a:off x="4339800" y="431640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6" name="Rectangle 465"/>
          <p:cNvSpPr/>
          <p:nvPr/>
        </p:nvSpPr>
        <p:spPr>
          <a:xfrm>
            <a:off x="460332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7" name="Rectangle 466"/>
          <p:cNvSpPr/>
          <p:nvPr/>
        </p:nvSpPr>
        <p:spPr>
          <a:xfrm>
            <a:off x="486864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8" name="Rectangle 467"/>
          <p:cNvSpPr/>
          <p:nvPr/>
        </p:nvSpPr>
        <p:spPr>
          <a:xfrm>
            <a:off x="513360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9" name="Rectangle 468"/>
          <p:cNvSpPr/>
          <p:nvPr/>
        </p:nvSpPr>
        <p:spPr>
          <a:xfrm>
            <a:off x="5398920" y="431640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0" name="Rectangle 469"/>
          <p:cNvSpPr/>
          <p:nvPr/>
        </p:nvSpPr>
        <p:spPr>
          <a:xfrm>
            <a:off x="566244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1" name="Rectangle 470"/>
          <p:cNvSpPr/>
          <p:nvPr/>
        </p:nvSpPr>
        <p:spPr>
          <a:xfrm>
            <a:off x="592740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2" name="Rectangle 471"/>
          <p:cNvSpPr/>
          <p:nvPr/>
        </p:nvSpPr>
        <p:spPr>
          <a:xfrm>
            <a:off x="619236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3" name="Rectangle 472"/>
          <p:cNvSpPr/>
          <p:nvPr/>
        </p:nvSpPr>
        <p:spPr>
          <a:xfrm>
            <a:off x="6457680" y="431640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4" name="Rectangle 473"/>
          <p:cNvSpPr/>
          <p:nvPr/>
        </p:nvSpPr>
        <p:spPr>
          <a:xfrm>
            <a:off x="672120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5" name="Rectangle 474"/>
          <p:cNvSpPr/>
          <p:nvPr/>
        </p:nvSpPr>
        <p:spPr>
          <a:xfrm>
            <a:off x="6986160" y="431640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6" name="Rectangle 475"/>
          <p:cNvSpPr/>
          <p:nvPr/>
        </p:nvSpPr>
        <p:spPr>
          <a:xfrm>
            <a:off x="7251480" y="431640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7" name="Rectangle 476"/>
          <p:cNvSpPr/>
          <p:nvPr/>
        </p:nvSpPr>
        <p:spPr>
          <a:xfrm>
            <a:off x="407484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8" name="Rectangle 477"/>
          <p:cNvSpPr/>
          <p:nvPr/>
        </p:nvSpPr>
        <p:spPr>
          <a:xfrm>
            <a:off x="4339800" y="46054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9" name="Rectangle 478"/>
          <p:cNvSpPr/>
          <p:nvPr/>
        </p:nvSpPr>
        <p:spPr>
          <a:xfrm>
            <a:off x="460332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0" name="Rectangle 479"/>
          <p:cNvSpPr/>
          <p:nvPr/>
        </p:nvSpPr>
        <p:spPr>
          <a:xfrm>
            <a:off x="486864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1" name="Rectangle 480"/>
          <p:cNvSpPr/>
          <p:nvPr/>
        </p:nvSpPr>
        <p:spPr>
          <a:xfrm>
            <a:off x="513360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2" name="Rectangle 481"/>
          <p:cNvSpPr/>
          <p:nvPr/>
        </p:nvSpPr>
        <p:spPr>
          <a:xfrm>
            <a:off x="5398920" y="46054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3" name="Rectangle 482"/>
          <p:cNvSpPr/>
          <p:nvPr/>
        </p:nvSpPr>
        <p:spPr>
          <a:xfrm>
            <a:off x="566244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4" name="Rectangle 483"/>
          <p:cNvSpPr/>
          <p:nvPr/>
        </p:nvSpPr>
        <p:spPr>
          <a:xfrm>
            <a:off x="592740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5" name="Rectangle 484"/>
          <p:cNvSpPr/>
          <p:nvPr/>
        </p:nvSpPr>
        <p:spPr>
          <a:xfrm>
            <a:off x="619236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6" name="Rectangle 485"/>
          <p:cNvSpPr/>
          <p:nvPr/>
        </p:nvSpPr>
        <p:spPr>
          <a:xfrm>
            <a:off x="6457680" y="46054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7" name="Rectangle 486"/>
          <p:cNvSpPr/>
          <p:nvPr/>
        </p:nvSpPr>
        <p:spPr>
          <a:xfrm>
            <a:off x="672120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8" name="Rectangle 487"/>
          <p:cNvSpPr/>
          <p:nvPr/>
        </p:nvSpPr>
        <p:spPr>
          <a:xfrm>
            <a:off x="6986160" y="4605480"/>
            <a:ext cx="26460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9" name="Rectangle 488"/>
          <p:cNvSpPr/>
          <p:nvPr/>
        </p:nvSpPr>
        <p:spPr>
          <a:xfrm>
            <a:off x="7251480" y="46054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0" name="Rectangle 489"/>
          <p:cNvSpPr/>
          <p:nvPr/>
        </p:nvSpPr>
        <p:spPr>
          <a:xfrm>
            <a:off x="407484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1" name="Rectangle 490"/>
          <p:cNvSpPr/>
          <p:nvPr/>
        </p:nvSpPr>
        <p:spPr>
          <a:xfrm>
            <a:off x="4339800" y="48927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2" name="Rectangle 491"/>
          <p:cNvSpPr/>
          <p:nvPr/>
        </p:nvSpPr>
        <p:spPr>
          <a:xfrm>
            <a:off x="460332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3" name="Rectangle 492"/>
          <p:cNvSpPr/>
          <p:nvPr/>
        </p:nvSpPr>
        <p:spPr>
          <a:xfrm>
            <a:off x="486864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4" name="Rectangle 493"/>
          <p:cNvSpPr/>
          <p:nvPr/>
        </p:nvSpPr>
        <p:spPr>
          <a:xfrm>
            <a:off x="513360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5" name="Rectangle 494"/>
          <p:cNvSpPr/>
          <p:nvPr/>
        </p:nvSpPr>
        <p:spPr>
          <a:xfrm>
            <a:off x="5398920" y="48927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6" name="Rectangle 495"/>
          <p:cNvSpPr/>
          <p:nvPr/>
        </p:nvSpPr>
        <p:spPr>
          <a:xfrm>
            <a:off x="566244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7" name="Rectangle 496"/>
          <p:cNvSpPr/>
          <p:nvPr/>
        </p:nvSpPr>
        <p:spPr>
          <a:xfrm>
            <a:off x="592740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8" name="Rectangle 497"/>
          <p:cNvSpPr/>
          <p:nvPr/>
        </p:nvSpPr>
        <p:spPr>
          <a:xfrm>
            <a:off x="619236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9" name="Rectangle 498"/>
          <p:cNvSpPr/>
          <p:nvPr/>
        </p:nvSpPr>
        <p:spPr>
          <a:xfrm>
            <a:off x="6457680" y="48927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0" name="Rectangle 499"/>
          <p:cNvSpPr/>
          <p:nvPr/>
        </p:nvSpPr>
        <p:spPr>
          <a:xfrm>
            <a:off x="672120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1" name="Rectangle 500"/>
          <p:cNvSpPr/>
          <p:nvPr/>
        </p:nvSpPr>
        <p:spPr>
          <a:xfrm>
            <a:off x="6986160" y="4892760"/>
            <a:ext cx="26460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2" name="Rectangle 501"/>
          <p:cNvSpPr/>
          <p:nvPr/>
        </p:nvSpPr>
        <p:spPr>
          <a:xfrm>
            <a:off x="7251480" y="48927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3" name="Text Box 502"/>
          <p:cNvSpPr/>
          <p:nvPr/>
        </p:nvSpPr>
        <p:spPr>
          <a:xfrm>
            <a:off x="3633480" y="441324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Box 503"/>
          <p:cNvSpPr/>
          <p:nvPr/>
        </p:nvSpPr>
        <p:spPr>
          <a:xfrm>
            <a:off x="3633480" y="383688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Box 504"/>
          <p:cNvSpPr/>
          <p:nvPr/>
        </p:nvSpPr>
        <p:spPr>
          <a:xfrm>
            <a:off x="3633480" y="326088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30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Box 505"/>
          <p:cNvSpPr/>
          <p:nvPr/>
        </p:nvSpPr>
        <p:spPr>
          <a:xfrm>
            <a:off x="3633480" y="268452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Box 506"/>
          <p:cNvSpPr/>
          <p:nvPr/>
        </p:nvSpPr>
        <p:spPr>
          <a:xfrm>
            <a:off x="3633480" y="210816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50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Box 507"/>
          <p:cNvSpPr/>
          <p:nvPr/>
        </p:nvSpPr>
        <p:spPr>
          <a:xfrm>
            <a:off x="3633480" y="153180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Box 509"/>
          <p:cNvSpPr/>
          <p:nvPr/>
        </p:nvSpPr>
        <p:spPr>
          <a:xfrm>
            <a:off x="3633480" y="498960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 Box 510"/>
          <p:cNvSpPr/>
          <p:nvPr/>
        </p:nvSpPr>
        <p:spPr>
          <a:xfrm rot="16200000">
            <a:off x="1848240" y="2633040"/>
            <a:ext cx="323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Cumulative Frequency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Box 511"/>
          <p:cNvSpPr/>
          <p:nvPr/>
        </p:nvSpPr>
        <p:spPr>
          <a:xfrm>
            <a:off x="4368600" y="523260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Box 512"/>
          <p:cNvSpPr/>
          <p:nvPr/>
        </p:nvSpPr>
        <p:spPr>
          <a:xfrm>
            <a:off x="4884480" y="5226120"/>
            <a:ext cx="52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Box 513"/>
          <p:cNvSpPr/>
          <p:nvPr/>
        </p:nvSpPr>
        <p:spPr>
          <a:xfrm>
            <a:off x="5427360" y="522612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30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Text Box 514"/>
          <p:cNvSpPr/>
          <p:nvPr/>
        </p:nvSpPr>
        <p:spPr>
          <a:xfrm>
            <a:off x="5936760" y="5207040"/>
            <a:ext cx="52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Box 515"/>
          <p:cNvSpPr/>
          <p:nvPr/>
        </p:nvSpPr>
        <p:spPr>
          <a:xfrm>
            <a:off x="6480000" y="521352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50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 Box 516"/>
          <p:cNvSpPr/>
          <p:nvPr/>
        </p:nvSpPr>
        <p:spPr>
          <a:xfrm>
            <a:off x="6989400" y="5226120"/>
            <a:ext cx="52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Box 517"/>
          <p:cNvSpPr/>
          <p:nvPr/>
        </p:nvSpPr>
        <p:spPr>
          <a:xfrm>
            <a:off x="7519680" y="5226120"/>
            <a:ext cx="5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70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Box 518"/>
          <p:cNvSpPr/>
          <p:nvPr/>
        </p:nvSpPr>
        <p:spPr>
          <a:xfrm>
            <a:off x="7200720" y="5394240"/>
            <a:ext cx="1934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Minutes Late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Rectangle 519"/>
          <p:cNvSpPr/>
          <p:nvPr/>
        </p:nvSpPr>
        <p:spPr>
          <a:xfrm>
            <a:off x="7515000" y="11476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0" name="Rectangle 520"/>
          <p:cNvSpPr/>
          <p:nvPr/>
        </p:nvSpPr>
        <p:spPr>
          <a:xfrm>
            <a:off x="7515000" y="14349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1" name="Rectangle 521"/>
          <p:cNvSpPr/>
          <p:nvPr/>
        </p:nvSpPr>
        <p:spPr>
          <a:xfrm>
            <a:off x="7515000" y="172404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2" name="Rectangle 522"/>
          <p:cNvSpPr/>
          <p:nvPr/>
        </p:nvSpPr>
        <p:spPr>
          <a:xfrm>
            <a:off x="7515000" y="201132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3" name="Rectangle 523"/>
          <p:cNvSpPr/>
          <p:nvPr/>
        </p:nvSpPr>
        <p:spPr>
          <a:xfrm>
            <a:off x="7515000" y="2300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4" name="Rectangle 524"/>
          <p:cNvSpPr/>
          <p:nvPr/>
        </p:nvSpPr>
        <p:spPr>
          <a:xfrm>
            <a:off x="7515000" y="258768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5" name="Rectangle 525"/>
          <p:cNvSpPr/>
          <p:nvPr/>
        </p:nvSpPr>
        <p:spPr>
          <a:xfrm>
            <a:off x="7515000" y="287640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6" name="Rectangle 526"/>
          <p:cNvSpPr/>
          <p:nvPr/>
        </p:nvSpPr>
        <p:spPr>
          <a:xfrm>
            <a:off x="7515000" y="3164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7" name="Rectangle 527"/>
          <p:cNvSpPr/>
          <p:nvPr/>
        </p:nvSpPr>
        <p:spPr>
          <a:xfrm>
            <a:off x="7515000" y="345276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8" name="Rectangle 528"/>
          <p:cNvSpPr/>
          <p:nvPr/>
        </p:nvSpPr>
        <p:spPr>
          <a:xfrm>
            <a:off x="7515000" y="374004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9" name="Rectangle 529"/>
          <p:cNvSpPr/>
          <p:nvPr/>
        </p:nvSpPr>
        <p:spPr>
          <a:xfrm>
            <a:off x="7515000" y="402912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0" name="Rectangle 530"/>
          <p:cNvSpPr/>
          <p:nvPr/>
        </p:nvSpPr>
        <p:spPr>
          <a:xfrm>
            <a:off x="7515000" y="431640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1" name="Rectangle 531"/>
          <p:cNvSpPr/>
          <p:nvPr/>
        </p:nvSpPr>
        <p:spPr>
          <a:xfrm>
            <a:off x="7515000" y="4605480"/>
            <a:ext cx="263160" cy="2869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2" name="Rectangle 532"/>
          <p:cNvSpPr/>
          <p:nvPr/>
        </p:nvSpPr>
        <p:spPr>
          <a:xfrm>
            <a:off x="7515000" y="4892760"/>
            <a:ext cx="263160" cy="288720"/>
          </a:xfrm>
          <a:prstGeom prst="rect">
            <a:avLst/>
          </a:prstGeom>
          <a:noFill/>
          <a:ln w="3175">
            <a:solidFill>
              <a:srgbClr val="954f7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3" name="Line 535"/>
          <p:cNvSpPr/>
          <p:nvPr/>
        </p:nvSpPr>
        <p:spPr>
          <a:xfrm>
            <a:off x="5531760" y="3450960"/>
            <a:ext cx="360" cy="1739880"/>
          </a:xfrm>
          <a:prstGeom prst="line">
            <a:avLst/>
          </a:prstGeom>
          <a:ln w="28575">
            <a:solidFill>
              <a:srgbClr val="5b9bd5">
                <a:lumMod val="75000"/>
              </a:srgbClr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4" name="Text Box 536"/>
          <p:cNvSpPr/>
          <p:nvPr/>
        </p:nvSpPr>
        <p:spPr>
          <a:xfrm rot="16200000">
            <a:off x="5157000" y="4392000"/>
            <a:ext cx="1244160" cy="30312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Median = 27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Line 538"/>
          <p:cNvSpPr/>
          <p:nvPr/>
        </p:nvSpPr>
        <p:spPr>
          <a:xfrm>
            <a:off x="5176440" y="4321080"/>
            <a:ext cx="360" cy="869760"/>
          </a:xfrm>
          <a:prstGeom prst="line">
            <a:avLst/>
          </a:prstGeom>
          <a:ln w="28575">
            <a:solidFill>
              <a:srgbClr val="a5a5a5">
                <a:lumMod val="75000"/>
              </a:srgbClr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6" name="Text Box 539"/>
          <p:cNvSpPr/>
          <p:nvPr/>
        </p:nvSpPr>
        <p:spPr>
          <a:xfrm rot="16200000">
            <a:off x="4393080" y="4625280"/>
            <a:ext cx="875880" cy="303120"/>
          </a:xfrm>
          <a:prstGeom prst="rect">
            <a:avLst/>
          </a:prstGeom>
          <a:solidFill>
            <a:srgbClr val="ffffff"/>
          </a:solidFill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LQ = 21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Line 541"/>
          <p:cNvSpPr/>
          <p:nvPr/>
        </p:nvSpPr>
        <p:spPr>
          <a:xfrm>
            <a:off x="6059160" y="2593800"/>
            <a:ext cx="360" cy="2590920"/>
          </a:xfrm>
          <a:prstGeom prst="line">
            <a:avLst/>
          </a:prstGeom>
          <a:ln w="28575">
            <a:solidFill>
              <a:srgbClr val="70ad47">
                <a:lumMod val="75000"/>
              </a:srgbClr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8" name="Text Box 542"/>
          <p:cNvSpPr/>
          <p:nvPr/>
        </p:nvSpPr>
        <p:spPr>
          <a:xfrm rot="16200000">
            <a:off x="5829840" y="4544280"/>
            <a:ext cx="961560" cy="30312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UQ = 38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Line 546"/>
          <p:cNvSpPr/>
          <p:nvPr/>
        </p:nvSpPr>
        <p:spPr>
          <a:xfrm>
            <a:off x="4084200" y="3450960"/>
            <a:ext cx="1447560" cy="360"/>
          </a:xfrm>
          <a:prstGeom prst="line">
            <a:avLst/>
          </a:prstGeom>
          <a:ln w="28575">
            <a:solidFill>
              <a:srgbClr val="5b9bd5">
                <a:lumMod val="75000"/>
              </a:srgbClr>
            </a:solidFill>
            <a:prstDash val="sysDot"/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0" name="Text Box 547"/>
          <p:cNvSpPr/>
          <p:nvPr/>
        </p:nvSpPr>
        <p:spPr>
          <a:xfrm>
            <a:off x="4201920" y="3032280"/>
            <a:ext cx="352080" cy="39456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½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Line 549"/>
          <p:cNvSpPr/>
          <p:nvPr/>
        </p:nvSpPr>
        <p:spPr>
          <a:xfrm>
            <a:off x="4084200" y="4314600"/>
            <a:ext cx="1098360" cy="360"/>
          </a:xfrm>
          <a:prstGeom prst="line">
            <a:avLst/>
          </a:prstGeom>
          <a:ln w="28575">
            <a:solidFill>
              <a:srgbClr val="a5a5a5">
                <a:lumMod val="75000"/>
              </a:srgbClr>
            </a:solidFill>
            <a:prstDash val="sysDot"/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2" name="Text Box 550"/>
          <p:cNvSpPr/>
          <p:nvPr/>
        </p:nvSpPr>
        <p:spPr>
          <a:xfrm>
            <a:off x="4201920" y="3898800"/>
            <a:ext cx="352080" cy="699480"/>
          </a:xfrm>
          <a:prstGeom prst="rect">
            <a:avLst/>
          </a:prstGeom>
          <a:solidFill>
            <a:srgbClr val="ffffff"/>
          </a:solidFill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¼ 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Line 552"/>
          <p:cNvSpPr/>
          <p:nvPr/>
        </p:nvSpPr>
        <p:spPr>
          <a:xfrm>
            <a:off x="4077720" y="2593800"/>
            <a:ext cx="1968480" cy="360"/>
          </a:xfrm>
          <a:prstGeom prst="line">
            <a:avLst/>
          </a:prstGeom>
          <a:ln w="28575">
            <a:solidFill>
              <a:srgbClr val="70ad47">
                <a:lumMod val="75000"/>
              </a:srgbClr>
            </a:solidFill>
            <a:prstDash val="sysDot"/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4" name="Text Box 553"/>
          <p:cNvSpPr/>
          <p:nvPr/>
        </p:nvSpPr>
        <p:spPr>
          <a:xfrm>
            <a:off x="4211280" y="2165400"/>
            <a:ext cx="352080" cy="39456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¾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Box 334"/>
          <p:cNvSpPr/>
          <p:nvPr/>
        </p:nvSpPr>
        <p:spPr>
          <a:xfrm>
            <a:off x="1807200" y="5702040"/>
            <a:ext cx="3819960" cy="36396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Get an estimate for the median.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Box 335"/>
          <p:cNvSpPr/>
          <p:nvPr/>
        </p:nvSpPr>
        <p:spPr>
          <a:xfrm>
            <a:off x="5927400" y="5702040"/>
            <a:ext cx="44406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the lower quartile.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 Box 336"/>
          <p:cNvSpPr/>
          <p:nvPr/>
        </p:nvSpPr>
        <p:spPr>
          <a:xfrm>
            <a:off x="1807200" y="6231600"/>
            <a:ext cx="3800880" cy="36396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the Upper Quartile.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Text Box 337"/>
          <p:cNvSpPr/>
          <p:nvPr/>
        </p:nvSpPr>
        <p:spPr>
          <a:xfrm>
            <a:off x="5927400" y="6231600"/>
            <a:ext cx="44406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5da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the Inter Quartile Range.(IQR = UQ - LQ)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 Box 337"/>
          <p:cNvSpPr/>
          <p:nvPr/>
        </p:nvSpPr>
        <p:spPr>
          <a:xfrm>
            <a:off x="7984440" y="1537560"/>
            <a:ext cx="2383920" cy="1141560"/>
          </a:xfrm>
          <a:prstGeom prst="rect">
            <a:avLst/>
          </a:prstGeom>
          <a:solidFill>
            <a:srgbClr val="ffffff"/>
          </a:solidFill>
          <a:ln>
            <a:solidFill>
              <a:srgbClr val="ff5da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IQR = UQ – LQ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= 38 – 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= 17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" dur="indefinite" restart="never" nodeType="tmRoot">
          <p:childTnLst>
            <p:seq>
              <p:cTn id="41" dur="indefinite" nodeType="mainSeq">
                <p:childTnLst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46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65"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84"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103"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108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39"/>
          <p:cNvSpPr/>
          <p:nvPr/>
        </p:nvSpPr>
        <p:spPr>
          <a:xfrm>
            <a:off x="1334880" y="1408320"/>
            <a:ext cx="8879400" cy="51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Rectangle 499"/>
          <p:cNvSpPr/>
          <p:nvPr/>
        </p:nvSpPr>
        <p:spPr>
          <a:xfrm>
            <a:off x="1334880" y="1454040"/>
            <a:ext cx="4948920" cy="4927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1" name="Text Box 202"/>
          <p:cNvSpPr/>
          <p:nvPr/>
        </p:nvSpPr>
        <p:spPr>
          <a:xfrm>
            <a:off x="5801400" y="5681520"/>
            <a:ext cx="5281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822" name="Group 221"/>
          <p:cNvGrpSpPr/>
          <p:nvPr/>
        </p:nvGrpSpPr>
        <p:grpSpPr>
          <a:xfrm>
            <a:off x="1553400" y="1454040"/>
            <a:ext cx="4506480" cy="4925160"/>
            <a:chOff x="1553400" y="1454040"/>
            <a:chExt cx="4506480" cy="4925160"/>
          </a:xfrm>
        </p:grpSpPr>
        <p:sp>
          <p:nvSpPr>
            <p:cNvPr id="823" name="Freeform 3"/>
            <p:cNvSpPr/>
            <p:nvPr/>
          </p:nvSpPr>
          <p:spPr>
            <a:xfrm>
              <a:off x="2350440" y="2182680"/>
              <a:ext cx="3171600" cy="3457080"/>
            </a:xfrm>
            <a:custGeom>
              <a:avLst/>
              <a:gdLst>
                <a:gd name="textAreaLeft" fmla="*/ 0 w 3171600"/>
                <a:gd name="textAreaRight" fmla="*/ 3171960 w 3171600"/>
                <a:gd name="textAreaTop" fmla="*/ 0 h 3457080"/>
                <a:gd name="textAreaBottom" fmla="*/ 3457440 h 3457080"/>
              </a:gdLst>
              <a:ahLst/>
              <a:rect l="textAreaLeft" t="textAreaTop" r="textAreaRight" b="textAreaBottom"/>
              <a:pathLst>
                <a:path w="1998" h="2178">
                  <a:moveTo>
                    <a:pt x="0" y="2178"/>
                  </a:moveTo>
                  <a:cubicBezTo>
                    <a:pt x="112" y="2128"/>
                    <a:pt x="225" y="2079"/>
                    <a:pt x="336" y="1998"/>
                  </a:cubicBezTo>
                  <a:cubicBezTo>
                    <a:pt x="447" y="1917"/>
                    <a:pt x="555" y="1873"/>
                    <a:pt x="666" y="1692"/>
                  </a:cubicBezTo>
                  <a:cubicBezTo>
                    <a:pt x="777" y="1511"/>
                    <a:pt x="891" y="1117"/>
                    <a:pt x="1002" y="912"/>
                  </a:cubicBezTo>
                  <a:cubicBezTo>
                    <a:pt x="1113" y="707"/>
                    <a:pt x="1221" y="586"/>
                    <a:pt x="1332" y="462"/>
                  </a:cubicBezTo>
                  <a:cubicBezTo>
                    <a:pt x="1443" y="338"/>
                    <a:pt x="1557" y="245"/>
                    <a:pt x="1668" y="168"/>
                  </a:cubicBezTo>
                  <a:cubicBezTo>
                    <a:pt x="1779" y="91"/>
                    <a:pt x="1929" y="35"/>
                    <a:pt x="1998" y="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4" name="Rectangle 503"/>
            <p:cNvSpPr/>
            <p:nvPr/>
          </p:nvSpPr>
          <p:spPr>
            <a:xfrm>
              <a:off x="235656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5" name="Rectangle 504"/>
            <p:cNvSpPr/>
            <p:nvPr/>
          </p:nvSpPr>
          <p:spPr>
            <a:xfrm>
              <a:off x="2621880" y="1603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6" name="Rectangle 505"/>
            <p:cNvSpPr/>
            <p:nvPr/>
          </p:nvSpPr>
          <p:spPr>
            <a:xfrm>
              <a:off x="288540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7" name="Rectangle 506"/>
            <p:cNvSpPr/>
            <p:nvPr/>
          </p:nvSpPr>
          <p:spPr>
            <a:xfrm>
              <a:off x="315036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8" name="Rectangle 507"/>
            <p:cNvSpPr/>
            <p:nvPr/>
          </p:nvSpPr>
          <p:spPr>
            <a:xfrm>
              <a:off x="341568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9" name="Rectangle 508"/>
            <p:cNvSpPr/>
            <p:nvPr/>
          </p:nvSpPr>
          <p:spPr>
            <a:xfrm>
              <a:off x="3680640" y="1603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0" name="Rectangle 509"/>
            <p:cNvSpPr/>
            <p:nvPr/>
          </p:nvSpPr>
          <p:spPr>
            <a:xfrm>
              <a:off x="394416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1" name="Rectangle 510"/>
            <p:cNvSpPr/>
            <p:nvPr/>
          </p:nvSpPr>
          <p:spPr>
            <a:xfrm>
              <a:off x="420912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2" name="Rectangle 511"/>
            <p:cNvSpPr/>
            <p:nvPr/>
          </p:nvSpPr>
          <p:spPr>
            <a:xfrm>
              <a:off x="447444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3" name="Rectangle 512"/>
            <p:cNvSpPr/>
            <p:nvPr/>
          </p:nvSpPr>
          <p:spPr>
            <a:xfrm>
              <a:off x="4739400" y="1603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4" name="Rectangle 513"/>
            <p:cNvSpPr/>
            <p:nvPr/>
          </p:nvSpPr>
          <p:spPr>
            <a:xfrm>
              <a:off x="500292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5" name="Rectangle 514"/>
            <p:cNvSpPr/>
            <p:nvPr/>
          </p:nvSpPr>
          <p:spPr>
            <a:xfrm>
              <a:off x="5268240" y="1603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6" name="Rectangle 515"/>
            <p:cNvSpPr/>
            <p:nvPr/>
          </p:nvSpPr>
          <p:spPr>
            <a:xfrm>
              <a:off x="5533200" y="1603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7" name="Rectangle 516"/>
            <p:cNvSpPr/>
            <p:nvPr/>
          </p:nvSpPr>
          <p:spPr>
            <a:xfrm>
              <a:off x="235656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8" name="Rectangle 517"/>
            <p:cNvSpPr/>
            <p:nvPr/>
          </p:nvSpPr>
          <p:spPr>
            <a:xfrm>
              <a:off x="2621880" y="1890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9" name="Rectangle 518"/>
            <p:cNvSpPr/>
            <p:nvPr/>
          </p:nvSpPr>
          <p:spPr>
            <a:xfrm>
              <a:off x="288540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0" name="Rectangle 519"/>
            <p:cNvSpPr/>
            <p:nvPr/>
          </p:nvSpPr>
          <p:spPr>
            <a:xfrm>
              <a:off x="315036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1" name="Rectangle 520"/>
            <p:cNvSpPr/>
            <p:nvPr/>
          </p:nvSpPr>
          <p:spPr>
            <a:xfrm>
              <a:off x="341568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2" name="Rectangle 521"/>
            <p:cNvSpPr/>
            <p:nvPr/>
          </p:nvSpPr>
          <p:spPr>
            <a:xfrm>
              <a:off x="3680640" y="1890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3" name="Rectangle 522"/>
            <p:cNvSpPr/>
            <p:nvPr/>
          </p:nvSpPr>
          <p:spPr>
            <a:xfrm>
              <a:off x="394416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4" name="Rectangle 523"/>
            <p:cNvSpPr/>
            <p:nvPr/>
          </p:nvSpPr>
          <p:spPr>
            <a:xfrm>
              <a:off x="420912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5" name="Rectangle 524"/>
            <p:cNvSpPr/>
            <p:nvPr/>
          </p:nvSpPr>
          <p:spPr>
            <a:xfrm>
              <a:off x="447444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6" name="Rectangle 525"/>
            <p:cNvSpPr/>
            <p:nvPr/>
          </p:nvSpPr>
          <p:spPr>
            <a:xfrm>
              <a:off x="4739400" y="1890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7" name="Rectangle 526"/>
            <p:cNvSpPr/>
            <p:nvPr/>
          </p:nvSpPr>
          <p:spPr>
            <a:xfrm>
              <a:off x="500292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8" name="Rectangle 527"/>
            <p:cNvSpPr/>
            <p:nvPr/>
          </p:nvSpPr>
          <p:spPr>
            <a:xfrm>
              <a:off x="5268240" y="1890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9" name="Rectangle 528"/>
            <p:cNvSpPr/>
            <p:nvPr/>
          </p:nvSpPr>
          <p:spPr>
            <a:xfrm>
              <a:off x="5533200" y="1890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0" name="Rectangle 529"/>
            <p:cNvSpPr/>
            <p:nvPr/>
          </p:nvSpPr>
          <p:spPr>
            <a:xfrm>
              <a:off x="235656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1" name="Rectangle 530"/>
            <p:cNvSpPr/>
            <p:nvPr/>
          </p:nvSpPr>
          <p:spPr>
            <a:xfrm>
              <a:off x="2621880" y="2179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2" name="Rectangle 531"/>
            <p:cNvSpPr/>
            <p:nvPr/>
          </p:nvSpPr>
          <p:spPr>
            <a:xfrm>
              <a:off x="288540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3" name="Rectangle 532"/>
            <p:cNvSpPr/>
            <p:nvPr/>
          </p:nvSpPr>
          <p:spPr>
            <a:xfrm>
              <a:off x="315036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4" name="Rectangle 533"/>
            <p:cNvSpPr/>
            <p:nvPr/>
          </p:nvSpPr>
          <p:spPr>
            <a:xfrm>
              <a:off x="341568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5" name="Rectangle 534"/>
            <p:cNvSpPr/>
            <p:nvPr/>
          </p:nvSpPr>
          <p:spPr>
            <a:xfrm>
              <a:off x="3680640" y="2179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6" name="Rectangle 535"/>
            <p:cNvSpPr/>
            <p:nvPr/>
          </p:nvSpPr>
          <p:spPr>
            <a:xfrm>
              <a:off x="394416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7" name="Rectangle 536"/>
            <p:cNvSpPr/>
            <p:nvPr/>
          </p:nvSpPr>
          <p:spPr>
            <a:xfrm>
              <a:off x="420912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8" name="Rectangle 537"/>
            <p:cNvSpPr/>
            <p:nvPr/>
          </p:nvSpPr>
          <p:spPr>
            <a:xfrm>
              <a:off x="447444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9" name="Rectangle 538"/>
            <p:cNvSpPr/>
            <p:nvPr/>
          </p:nvSpPr>
          <p:spPr>
            <a:xfrm>
              <a:off x="4739400" y="2179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0" name="Rectangle 539"/>
            <p:cNvSpPr/>
            <p:nvPr/>
          </p:nvSpPr>
          <p:spPr>
            <a:xfrm>
              <a:off x="500292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1" name="Rectangle 540"/>
            <p:cNvSpPr/>
            <p:nvPr/>
          </p:nvSpPr>
          <p:spPr>
            <a:xfrm>
              <a:off x="5268240" y="217944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2" name="Rectangle 541"/>
            <p:cNvSpPr/>
            <p:nvPr/>
          </p:nvSpPr>
          <p:spPr>
            <a:xfrm>
              <a:off x="5533200" y="2179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3" name="Rectangle 542"/>
            <p:cNvSpPr/>
            <p:nvPr/>
          </p:nvSpPr>
          <p:spPr>
            <a:xfrm>
              <a:off x="235656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4" name="Rectangle 543"/>
            <p:cNvSpPr/>
            <p:nvPr/>
          </p:nvSpPr>
          <p:spPr>
            <a:xfrm>
              <a:off x="2621880" y="2466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5" name="Rectangle 544"/>
            <p:cNvSpPr/>
            <p:nvPr/>
          </p:nvSpPr>
          <p:spPr>
            <a:xfrm>
              <a:off x="288540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6" name="Rectangle 545"/>
            <p:cNvSpPr/>
            <p:nvPr/>
          </p:nvSpPr>
          <p:spPr>
            <a:xfrm>
              <a:off x="315036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7" name="Rectangle 546"/>
            <p:cNvSpPr/>
            <p:nvPr/>
          </p:nvSpPr>
          <p:spPr>
            <a:xfrm>
              <a:off x="341568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8" name="Rectangle 547"/>
            <p:cNvSpPr/>
            <p:nvPr/>
          </p:nvSpPr>
          <p:spPr>
            <a:xfrm>
              <a:off x="3680640" y="2466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9" name="Rectangle 548"/>
            <p:cNvSpPr/>
            <p:nvPr/>
          </p:nvSpPr>
          <p:spPr>
            <a:xfrm>
              <a:off x="394416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0" name="Rectangle 549"/>
            <p:cNvSpPr/>
            <p:nvPr/>
          </p:nvSpPr>
          <p:spPr>
            <a:xfrm>
              <a:off x="420912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1" name="Rectangle 550"/>
            <p:cNvSpPr/>
            <p:nvPr/>
          </p:nvSpPr>
          <p:spPr>
            <a:xfrm>
              <a:off x="447444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2" name="Rectangle 551"/>
            <p:cNvSpPr/>
            <p:nvPr/>
          </p:nvSpPr>
          <p:spPr>
            <a:xfrm>
              <a:off x="4739400" y="2466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3" name="Rectangle 552"/>
            <p:cNvSpPr/>
            <p:nvPr/>
          </p:nvSpPr>
          <p:spPr>
            <a:xfrm>
              <a:off x="500292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4" name="Rectangle 553"/>
            <p:cNvSpPr/>
            <p:nvPr/>
          </p:nvSpPr>
          <p:spPr>
            <a:xfrm>
              <a:off x="5268240" y="246672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5" name="Rectangle 554"/>
            <p:cNvSpPr/>
            <p:nvPr/>
          </p:nvSpPr>
          <p:spPr>
            <a:xfrm>
              <a:off x="5533200" y="2466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6" name="Rectangle 555"/>
            <p:cNvSpPr/>
            <p:nvPr/>
          </p:nvSpPr>
          <p:spPr>
            <a:xfrm>
              <a:off x="235656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7" name="Rectangle 556"/>
            <p:cNvSpPr/>
            <p:nvPr/>
          </p:nvSpPr>
          <p:spPr>
            <a:xfrm>
              <a:off x="2621880" y="275580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8" name="Rectangle 557"/>
            <p:cNvSpPr/>
            <p:nvPr/>
          </p:nvSpPr>
          <p:spPr>
            <a:xfrm>
              <a:off x="288540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9" name="Rectangle 558"/>
            <p:cNvSpPr/>
            <p:nvPr/>
          </p:nvSpPr>
          <p:spPr>
            <a:xfrm>
              <a:off x="315036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0" name="Rectangle 559"/>
            <p:cNvSpPr/>
            <p:nvPr/>
          </p:nvSpPr>
          <p:spPr>
            <a:xfrm>
              <a:off x="341568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1" name="Rectangle 560"/>
            <p:cNvSpPr/>
            <p:nvPr/>
          </p:nvSpPr>
          <p:spPr>
            <a:xfrm>
              <a:off x="3680640" y="275580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2" name="Rectangle 561"/>
            <p:cNvSpPr/>
            <p:nvPr/>
          </p:nvSpPr>
          <p:spPr>
            <a:xfrm>
              <a:off x="394416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3" name="Rectangle 562"/>
            <p:cNvSpPr/>
            <p:nvPr/>
          </p:nvSpPr>
          <p:spPr>
            <a:xfrm>
              <a:off x="420912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4" name="Rectangle 563"/>
            <p:cNvSpPr/>
            <p:nvPr/>
          </p:nvSpPr>
          <p:spPr>
            <a:xfrm>
              <a:off x="447444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5" name="Rectangle 564"/>
            <p:cNvSpPr/>
            <p:nvPr/>
          </p:nvSpPr>
          <p:spPr>
            <a:xfrm>
              <a:off x="4739400" y="275580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6" name="Rectangle 565"/>
            <p:cNvSpPr/>
            <p:nvPr/>
          </p:nvSpPr>
          <p:spPr>
            <a:xfrm>
              <a:off x="500292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7" name="Rectangle 566"/>
            <p:cNvSpPr/>
            <p:nvPr/>
          </p:nvSpPr>
          <p:spPr>
            <a:xfrm>
              <a:off x="5268240" y="275580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8" name="Rectangle 567"/>
            <p:cNvSpPr/>
            <p:nvPr/>
          </p:nvSpPr>
          <p:spPr>
            <a:xfrm>
              <a:off x="5533200" y="275580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9" name="Rectangle 568"/>
            <p:cNvSpPr/>
            <p:nvPr/>
          </p:nvSpPr>
          <p:spPr>
            <a:xfrm>
              <a:off x="235656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0" name="Rectangle 569"/>
            <p:cNvSpPr/>
            <p:nvPr/>
          </p:nvSpPr>
          <p:spPr>
            <a:xfrm>
              <a:off x="2621880" y="304308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1" name="Rectangle 570"/>
            <p:cNvSpPr/>
            <p:nvPr/>
          </p:nvSpPr>
          <p:spPr>
            <a:xfrm>
              <a:off x="288540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2" name="Rectangle 571"/>
            <p:cNvSpPr/>
            <p:nvPr/>
          </p:nvSpPr>
          <p:spPr>
            <a:xfrm>
              <a:off x="315036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3" name="Rectangle 572"/>
            <p:cNvSpPr/>
            <p:nvPr/>
          </p:nvSpPr>
          <p:spPr>
            <a:xfrm>
              <a:off x="341568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4" name="Rectangle 573"/>
            <p:cNvSpPr/>
            <p:nvPr/>
          </p:nvSpPr>
          <p:spPr>
            <a:xfrm>
              <a:off x="3680640" y="304308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5" name="Rectangle 574"/>
            <p:cNvSpPr/>
            <p:nvPr/>
          </p:nvSpPr>
          <p:spPr>
            <a:xfrm>
              <a:off x="394416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6" name="Rectangle 575"/>
            <p:cNvSpPr/>
            <p:nvPr/>
          </p:nvSpPr>
          <p:spPr>
            <a:xfrm>
              <a:off x="420912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7" name="Rectangle 576"/>
            <p:cNvSpPr/>
            <p:nvPr/>
          </p:nvSpPr>
          <p:spPr>
            <a:xfrm>
              <a:off x="447444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8" name="Rectangle 577"/>
            <p:cNvSpPr/>
            <p:nvPr/>
          </p:nvSpPr>
          <p:spPr>
            <a:xfrm>
              <a:off x="4739400" y="304308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9" name="Rectangle 578"/>
            <p:cNvSpPr/>
            <p:nvPr/>
          </p:nvSpPr>
          <p:spPr>
            <a:xfrm>
              <a:off x="500292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0" name="Rectangle 579"/>
            <p:cNvSpPr/>
            <p:nvPr/>
          </p:nvSpPr>
          <p:spPr>
            <a:xfrm>
              <a:off x="5268240" y="304308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1" name="Rectangle 580"/>
            <p:cNvSpPr/>
            <p:nvPr/>
          </p:nvSpPr>
          <p:spPr>
            <a:xfrm>
              <a:off x="5533200" y="304308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2" name="Rectangle 581"/>
            <p:cNvSpPr/>
            <p:nvPr/>
          </p:nvSpPr>
          <p:spPr>
            <a:xfrm>
              <a:off x="235656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3" name="Rectangle 582"/>
            <p:cNvSpPr/>
            <p:nvPr/>
          </p:nvSpPr>
          <p:spPr>
            <a:xfrm>
              <a:off x="2621880" y="333216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4" name="Rectangle 583"/>
            <p:cNvSpPr/>
            <p:nvPr/>
          </p:nvSpPr>
          <p:spPr>
            <a:xfrm>
              <a:off x="288540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5" name="Rectangle 584"/>
            <p:cNvSpPr/>
            <p:nvPr/>
          </p:nvSpPr>
          <p:spPr>
            <a:xfrm>
              <a:off x="315036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6" name="Rectangle 585"/>
            <p:cNvSpPr/>
            <p:nvPr/>
          </p:nvSpPr>
          <p:spPr>
            <a:xfrm>
              <a:off x="341568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7" name="Rectangle 586"/>
            <p:cNvSpPr/>
            <p:nvPr/>
          </p:nvSpPr>
          <p:spPr>
            <a:xfrm>
              <a:off x="3680640" y="333216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8" name="Rectangle 587"/>
            <p:cNvSpPr/>
            <p:nvPr/>
          </p:nvSpPr>
          <p:spPr>
            <a:xfrm>
              <a:off x="394416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9" name="Rectangle 588"/>
            <p:cNvSpPr/>
            <p:nvPr/>
          </p:nvSpPr>
          <p:spPr>
            <a:xfrm>
              <a:off x="420912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0" name="Rectangle 589"/>
            <p:cNvSpPr/>
            <p:nvPr/>
          </p:nvSpPr>
          <p:spPr>
            <a:xfrm>
              <a:off x="447444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1" name="Rectangle 590"/>
            <p:cNvSpPr/>
            <p:nvPr/>
          </p:nvSpPr>
          <p:spPr>
            <a:xfrm>
              <a:off x="4739400" y="333216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2" name="Rectangle 591"/>
            <p:cNvSpPr/>
            <p:nvPr/>
          </p:nvSpPr>
          <p:spPr>
            <a:xfrm>
              <a:off x="500292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3" name="Rectangle 592"/>
            <p:cNvSpPr/>
            <p:nvPr/>
          </p:nvSpPr>
          <p:spPr>
            <a:xfrm>
              <a:off x="5268240" y="333216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4" name="Rectangle 593"/>
            <p:cNvSpPr/>
            <p:nvPr/>
          </p:nvSpPr>
          <p:spPr>
            <a:xfrm>
              <a:off x="5533200" y="333216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5" name="Rectangle 594"/>
            <p:cNvSpPr/>
            <p:nvPr/>
          </p:nvSpPr>
          <p:spPr>
            <a:xfrm>
              <a:off x="235656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6" name="Rectangle 595"/>
            <p:cNvSpPr/>
            <p:nvPr/>
          </p:nvSpPr>
          <p:spPr>
            <a:xfrm>
              <a:off x="2621880" y="361944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7" name="Rectangle 596"/>
            <p:cNvSpPr/>
            <p:nvPr/>
          </p:nvSpPr>
          <p:spPr>
            <a:xfrm>
              <a:off x="288540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8" name="Rectangle 597"/>
            <p:cNvSpPr/>
            <p:nvPr/>
          </p:nvSpPr>
          <p:spPr>
            <a:xfrm>
              <a:off x="315036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9" name="Rectangle 598"/>
            <p:cNvSpPr/>
            <p:nvPr/>
          </p:nvSpPr>
          <p:spPr>
            <a:xfrm>
              <a:off x="341568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0" name="Rectangle 599"/>
            <p:cNvSpPr/>
            <p:nvPr/>
          </p:nvSpPr>
          <p:spPr>
            <a:xfrm>
              <a:off x="3680640" y="361944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1" name="Rectangle 600"/>
            <p:cNvSpPr/>
            <p:nvPr/>
          </p:nvSpPr>
          <p:spPr>
            <a:xfrm>
              <a:off x="394416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2" name="Rectangle 601"/>
            <p:cNvSpPr/>
            <p:nvPr/>
          </p:nvSpPr>
          <p:spPr>
            <a:xfrm>
              <a:off x="420912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3" name="Rectangle 602"/>
            <p:cNvSpPr/>
            <p:nvPr/>
          </p:nvSpPr>
          <p:spPr>
            <a:xfrm>
              <a:off x="447444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4" name="Rectangle 603"/>
            <p:cNvSpPr/>
            <p:nvPr/>
          </p:nvSpPr>
          <p:spPr>
            <a:xfrm>
              <a:off x="4739400" y="361944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5" name="Rectangle 604"/>
            <p:cNvSpPr/>
            <p:nvPr/>
          </p:nvSpPr>
          <p:spPr>
            <a:xfrm>
              <a:off x="500292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6" name="Rectangle 605"/>
            <p:cNvSpPr/>
            <p:nvPr/>
          </p:nvSpPr>
          <p:spPr>
            <a:xfrm>
              <a:off x="5268240" y="361944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7" name="Rectangle 606"/>
            <p:cNvSpPr/>
            <p:nvPr/>
          </p:nvSpPr>
          <p:spPr>
            <a:xfrm>
              <a:off x="5533200" y="361944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8" name="Rectangle 607"/>
            <p:cNvSpPr/>
            <p:nvPr/>
          </p:nvSpPr>
          <p:spPr>
            <a:xfrm>
              <a:off x="235656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9" name="Rectangle 608"/>
            <p:cNvSpPr/>
            <p:nvPr/>
          </p:nvSpPr>
          <p:spPr>
            <a:xfrm>
              <a:off x="2621880" y="3908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0" name="Rectangle 609"/>
            <p:cNvSpPr/>
            <p:nvPr/>
          </p:nvSpPr>
          <p:spPr>
            <a:xfrm>
              <a:off x="288540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1" name="Rectangle 610"/>
            <p:cNvSpPr/>
            <p:nvPr/>
          </p:nvSpPr>
          <p:spPr>
            <a:xfrm>
              <a:off x="315036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2" name="Rectangle 611"/>
            <p:cNvSpPr/>
            <p:nvPr/>
          </p:nvSpPr>
          <p:spPr>
            <a:xfrm>
              <a:off x="341568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3" name="Rectangle 612"/>
            <p:cNvSpPr/>
            <p:nvPr/>
          </p:nvSpPr>
          <p:spPr>
            <a:xfrm>
              <a:off x="3680640" y="3908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4" name="Rectangle 613"/>
            <p:cNvSpPr/>
            <p:nvPr/>
          </p:nvSpPr>
          <p:spPr>
            <a:xfrm>
              <a:off x="394416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5" name="Rectangle 614"/>
            <p:cNvSpPr/>
            <p:nvPr/>
          </p:nvSpPr>
          <p:spPr>
            <a:xfrm>
              <a:off x="420912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6" name="Rectangle 615"/>
            <p:cNvSpPr/>
            <p:nvPr/>
          </p:nvSpPr>
          <p:spPr>
            <a:xfrm>
              <a:off x="447444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7" name="Rectangle 616"/>
            <p:cNvSpPr/>
            <p:nvPr/>
          </p:nvSpPr>
          <p:spPr>
            <a:xfrm>
              <a:off x="4739400" y="3908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8" name="Rectangle 617"/>
            <p:cNvSpPr/>
            <p:nvPr/>
          </p:nvSpPr>
          <p:spPr>
            <a:xfrm>
              <a:off x="500292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9" name="Rectangle 618"/>
            <p:cNvSpPr/>
            <p:nvPr/>
          </p:nvSpPr>
          <p:spPr>
            <a:xfrm>
              <a:off x="5268240" y="3908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0" name="Rectangle 619"/>
            <p:cNvSpPr/>
            <p:nvPr/>
          </p:nvSpPr>
          <p:spPr>
            <a:xfrm>
              <a:off x="5533200" y="3908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1" name="Rectangle 620"/>
            <p:cNvSpPr/>
            <p:nvPr/>
          </p:nvSpPr>
          <p:spPr>
            <a:xfrm>
              <a:off x="235656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2" name="Rectangle 621"/>
            <p:cNvSpPr/>
            <p:nvPr/>
          </p:nvSpPr>
          <p:spPr>
            <a:xfrm>
              <a:off x="2621880" y="4195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3" name="Rectangle 622"/>
            <p:cNvSpPr/>
            <p:nvPr/>
          </p:nvSpPr>
          <p:spPr>
            <a:xfrm>
              <a:off x="288540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4" name="Rectangle 623"/>
            <p:cNvSpPr/>
            <p:nvPr/>
          </p:nvSpPr>
          <p:spPr>
            <a:xfrm>
              <a:off x="315036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5" name="Rectangle 624"/>
            <p:cNvSpPr/>
            <p:nvPr/>
          </p:nvSpPr>
          <p:spPr>
            <a:xfrm>
              <a:off x="341568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6" name="Rectangle 625"/>
            <p:cNvSpPr/>
            <p:nvPr/>
          </p:nvSpPr>
          <p:spPr>
            <a:xfrm>
              <a:off x="3680640" y="4195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7" name="Rectangle 626"/>
            <p:cNvSpPr/>
            <p:nvPr/>
          </p:nvSpPr>
          <p:spPr>
            <a:xfrm>
              <a:off x="394416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8" name="Rectangle 627"/>
            <p:cNvSpPr/>
            <p:nvPr/>
          </p:nvSpPr>
          <p:spPr>
            <a:xfrm>
              <a:off x="420912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9" name="Rectangle 628"/>
            <p:cNvSpPr/>
            <p:nvPr/>
          </p:nvSpPr>
          <p:spPr>
            <a:xfrm>
              <a:off x="447444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0" name="Rectangle 629"/>
            <p:cNvSpPr/>
            <p:nvPr/>
          </p:nvSpPr>
          <p:spPr>
            <a:xfrm>
              <a:off x="4739400" y="4195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1" name="Rectangle 630"/>
            <p:cNvSpPr/>
            <p:nvPr/>
          </p:nvSpPr>
          <p:spPr>
            <a:xfrm>
              <a:off x="500292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2" name="Rectangle 631"/>
            <p:cNvSpPr/>
            <p:nvPr/>
          </p:nvSpPr>
          <p:spPr>
            <a:xfrm>
              <a:off x="5268240" y="4195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3" name="Rectangle 632"/>
            <p:cNvSpPr/>
            <p:nvPr/>
          </p:nvSpPr>
          <p:spPr>
            <a:xfrm>
              <a:off x="5533200" y="4195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4" name="Rectangle 633"/>
            <p:cNvSpPr/>
            <p:nvPr/>
          </p:nvSpPr>
          <p:spPr>
            <a:xfrm>
              <a:off x="235656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5" name="Rectangle 634"/>
            <p:cNvSpPr/>
            <p:nvPr/>
          </p:nvSpPr>
          <p:spPr>
            <a:xfrm>
              <a:off x="2621880" y="4484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6" name="Rectangle 635"/>
            <p:cNvSpPr/>
            <p:nvPr/>
          </p:nvSpPr>
          <p:spPr>
            <a:xfrm>
              <a:off x="288540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7" name="Rectangle 636"/>
            <p:cNvSpPr/>
            <p:nvPr/>
          </p:nvSpPr>
          <p:spPr>
            <a:xfrm>
              <a:off x="315036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8" name="Rectangle 637"/>
            <p:cNvSpPr/>
            <p:nvPr/>
          </p:nvSpPr>
          <p:spPr>
            <a:xfrm>
              <a:off x="341568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9" name="Rectangle 638"/>
            <p:cNvSpPr/>
            <p:nvPr/>
          </p:nvSpPr>
          <p:spPr>
            <a:xfrm>
              <a:off x="3680640" y="4484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0" name="Rectangle 639"/>
            <p:cNvSpPr/>
            <p:nvPr/>
          </p:nvSpPr>
          <p:spPr>
            <a:xfrm>
              <a:off x="394416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1" name="Rectangle 640"/>
            <p:cNvSpPr/>
            <p:nvPr/>
          </p:nvSpPr>
          <p:spPr>
            <a:xfrm>
              <a:off x="420912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2" name="Rectangle 641"/>
            <p:cNvSpPr/>
            <p:nvPr/>
          </p:nvSpPr>
          <p:spPr>
            <a:xfrm>
              <a:off x="447444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3" name="Rectangle 642"/>
            <p:cNvSpPr/>
            <p:nvPr/>
          </p:nvSpPr>
          <p:spPr>
            <a:xfrm>
              <a:off x="4739400" y="4484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4" name="Rectangle 643"/>
            <p:cNvSpPr/>
            <p:nvPr/>
          </p:nvSpPr>
          <p:spPr>
            <a:xfrm>
              <a:off x="500292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5" name="Rectangle 644"/>
            <p:cNvSpPr/>
            <p:nvPr/>
          </p:nvSpPr>
          <p:spPr>
            <a:xfrm>
              <a:off x="5268240" y="448452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6" name="Rectangle 645"/>
            <p:cNvSpPr/>
            <p:nvPr/>
          </p:nvSpPr>
          <p:spPr>
            <a:xfrm>
              <a:off x="5533200" y="4484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7" name="Rectangle 646"/>
            <p:cNvSpPr/>
            <p:nvPr/>
          </p:nvSpPr>
          <p:spPr>
            <a:xfrm>
              <a:off x="235656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8" name="Rectangle 647"/>
            <p:cNvSpPr/>
            <p:nvPr/>
          </p:nvSpPr>
          <p:spPr>
            <a:xfrm>
              <a:off x="2621880" y="4771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9" name="Rectangle 648"/>
            <p:cNvSpPr/>
            <p:nvPr/>
          </p:nvSpPr>
          <p:spPr>
            <a:xfrm>
              <a:off x="288540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0" name="Rectangle 649"/>
            <p:cNvSpPr/>
            <p:nvPr/>
          </p:nvSpPr>
          <p:spPr>
            <a:xfrm>
              <a:off x="315036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1" name="Rectangle 650"/>
            <p:cNvSpPr/>
            <p:nvPr/>
          </p:nvSpPr>
          <p:spPr>
            <a:xfrm>
              <a:off x="341568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2" name="Rectangle 651"/>
            <p:cNvSpPr/>
            <p:nvPr/>
          </p:nvSpPr>
          <p:spPr>
            <a:xfrm>
              <a:off x="3680640" y="4771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3" name="Rectangle 652"/>
            <p:cNvSpPr/>
            <p:nvPr/>
          </p:nvSpPr>
          <p:spPr>
            <a:xfrm>
              <a:off x="394416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4" name="Rectangle 653"/>
            <p:cNvSpPr/>
            <p:nvPr/>
          </p:nvSpPr>
          <p:spPr>
            <a:xfrm>
              <a:off x="420912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5" name="Rectangle 654"/>
            <p:cNvSpPr/>
            <p:nvPr/>
          </p:nvSpPr>
          <p:spPr>
            <a:xfrm>
              <a:off x="447444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6" name="Rectangle 655"/>
            <p:cNvSpPr/>
            <p:nvPr/>
          </p:nvSpPr>
          <p:spPr>
            <a:xfrm>
              <a:off x="4739400" y="4771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7" name="Rectangle 656"/>
            <p:cNvSpPr/>
            <p:nvPr/>
          </p:nvSpPr>
          <p:spPr>
            <a:xfrm>
              <a:off x="500292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8" name="Rectangle 657"/>
            <p:cNvSpPr/>
            <p:nvPr/>
          </p:nvSpPr>
          <p:spPr>
            <a:xfrm>
              <a:off x="5268240" y="477180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79" name="Rectangle 658"/>
            <p:cNvSpPr/>
            <p:nvPr/>
          </p:nvSpPr>
          <p:spPr>
            <a:xfrm>
              <a:off x="5533200" y="4771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0" name="Rectangle 659"/>
            <p:cNvSpPr/>
            <p:nvPr/>
          </p:nvSpPr>
          <p:spPr>
            <a:xfrm>
              <a:off x="235656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1" name="Rectangle 660"/>
            <p:cNvSpPr/>
            <p:nvPr/>
          </p:nvSpPr>
          <p:spPr>
            <a:xfrm>
              <a:off x="2621880" y="506088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2" name="Rectangle 661"/>
            <p:cNvSpPr/>
            <p:nvPr/>
          </p:nvSpPr>
          <p:spPr>
            <a:xfrm>
              <a:off x="288540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3" name="Rectangle 662"/>
            <p:cNvSpPr/>
            <p:nvPr/>
          </p:nvSpPr>
          <p:spPr>
            <a:xfrm>
              <a:off x="315036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4" name="Rectangle 663"/>
            <p:cNvSpPr/>
            <p:nvPr/>
          </p:nvSpPr>
          <p:spPr>
            <a:xfrm>
              <a:off x="341568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5" name="Rectangle 664"/>
            <p:cNvSpPr/>
            <p:nvPr/>
          </p:nvSpPr>
          <p:spPr>
            <a:xfrm>
              <a:off x="3680640" y="506088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6" name="Rectangle 665"/>
            <p:cNvSpPr/>
            <p:nvPr/>
          </p:nvSpPr>
          <p:spPr>
            <a:xfrm>
              <a:off x="394416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7" name="Rectangle 666"/>
            <p:cNvSpPr/>
            <p:nvPr/>
          </p:nvSpPr>
          <p:spPr>
            <a:xfrm>
              <a:off x="420912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8" name="Rectangle 667"/>
            <p:cNvSpPr/>
            <p:nvPr/>
          </p:nvSpPr>
          <p:spPr>
            <a:xfrm>
              <a:off x="447444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89" name="Rectangle 668"/>
            <p:cNvSpPr/>
            <p:nvPr/>
          </p:nvSpPr>
          <p:spPr>
            <a:xfrm>
              <a:off x="4739400" y="506088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0" name="Rectangle 669"/>
            <p:cNvSpPr/>
            <p:nvPr/>
          </p:nvSpPr>
          <p:spPr>
            <a:xfrm>
              <a:off x="500292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1" name="Rectangle 670"/>
            <p:cNvSpPr/>
            <p:nvPr/>
          </p:nvSpPr>
          <p:spPr>
            <a:xfrm>
              <a:off x="5268240" y="5060880"/>
              <a:ext cx="26460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2" name="Rectangle 671"/>
            <p:cNvSpPr/>
            <p:nvPr/>
          </p:nvSpPr>
          <p:spPr>
            <a:xfrm>
              <a:off x="5533200" y="506088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3" name="Rectangle 672"/>
            <p:cNvSpPr/>
            <p:nvPr/>
          </p:nvSpPr>
          <p:spPr>
            <a:xfrm>
              <a:off x="235656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4" name="Rectangle 673"/>
            <p:cNvSpPr/>
            <p:nvPr/>
          </p:nvSpPr>
          <p:spPr>
            <a:xfrm>
              <a:off x="2621880" y="534816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5" name="Rectangle 674"/>
            <p:cNvSpPr/>
            <p:nvPr/>
          </p:nvSpPr>
          <p:spPr>
            <a:xfrm>
              <a:off x="288540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6" name="Rectangle 675"/>
            <p:cNvSpPr/>
            <p:nvPr/>
          </p:nvSpPr>
          <p:spPr>
            <a:xfrm>
              <a:off x="315036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7" name="Rectangle 676"/>
            <p:cNvSpPr/>
            <p:nvPr/>
          </p:nvSpPr>
          <p:spPr>
            <a:xfrm>
              <a:off x="341568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8" name="Rectangle 677"/>
            <p:cNvSpPr/>
            <p:nvPr/>
          </p:nvSpPr>
          <p:spPr>
            <a:xfrm>
              <a:off x="3680640" y="534816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9" name="Rectangle 678"/>
            <p:cNvSpPr/>
            <p:nvPr/>
          </p:nvSpPr>
          <p:spPr>
            <a:xfrm>
              <a:off x="394416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0" name="Rectangle 679"/>
            <p:cNvSpPr/>
            <p:nvPr/>
          </p:nvSpPr>
          <p:spPr>
            <a:xfrm>
              <a:off x="420912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1" name="Rectangle 680"/>
            <p:cNvSpPr/>
            <p:nvPr/>
          </p:nvSpPr>
          <p:spPr>
            <a:xfrm>
              <a:off x="447444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2" name="Rectangle 681"/>
            <p:cNvSpPr/>
            <p:nvPr/>
          </p:nvSpPr>
          <p:spPr>
            <a:xfrm>
              <a:off x="4739400" y="534816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3" name="Rectangle 682"/>
            <p:cNvSpPr/>
            <p:nvPr/>
          </p:nvSpPr>
          <p:spPr>
            <a:xfrm>
              <a:off x="500292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4" name="Rectangle 683"/>
            <p:cNvSpPr/>
            <p:nvPr/>
          </p:nvSpPr>
          <p:spPr>
            <a:xfrm>
              <a:off x="5268240" y="5348160"/>
              <a:ext cx="26460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5" name="Rectangle 684"/>
            <p:cNvSpPr/>
            <p:nvPr/>
          </p:nvSpPr>
          <p:spPr>
            <a:xfrm>
              <a:off x="5533200" y="534816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6" name="Text Box 187"/>
            <p:cNvSpPr/>
            <p:nvPr/>
          </p:nvSpPr>
          <p:spPr>
            <a:xfrm>
              <a:off x="1915200" y="486864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10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7" name="Text Box 188"/>
            <p:cNvSpPr/>
            <p:nvPr/>
          </p:nvSpPr>
          <p:spPr>
            <a:xfrm>
              <a:off x="1915200" y="429264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20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8" name="Text Box 189"/>
            <p:cNvSpPr/>
            <p:nvPr/>
          </p:nvSpPr>
          <p:spPr>
            <a:xfrm>
              <a:off x="1915200" y="371628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30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9" name="Text Box 190"/>
            <p:cNvSpPr/>
            <p:nvPr/>
          </p:nvSpPr>
          <p:spPr>
            <a:xfrm>
              <a:off x="1915200" y="313992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40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0" name="Text Box 191"/>
            <p:cNvSpPr/>
            <p:nvPr/>
          </p:nvSpPr>
          <p:spPr>
            <a:xfrm>
              <a:off x="1915200" y="256356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50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1" name="Text Box 192"/>
            <p:cNvSpPr/>
            <p:nvPr/>
          </p:nvSpPr>
          <p:spPr>
            <a:xfrm>
              <a:off x="1915200" y="198756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60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2" name="Text Box 193"/>
            <p:cNvSpPr/>
            <p:nvPr/>
          </p:nvSpPr>
          <p:spPr>
            <a:xfrm>
              <a:off x="1915200" y="145404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70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3" name="Text Box 194"/>
            <p:cNvSpPr/>
            <p:nvPr/>
          </p:nvSpPr>
          <p:spPr>
            <a:xfrm>
              <a:off x="1915200" y="544500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4" name="Text Box 195"/>
            <p:cNvSpPr/>
            <p:nvPr/>
          </p:nvSpPr>
          <p:spPr>
            <a:xfrm rot="16200000">
              <a:off x="131400" y="3422160"/>
              <a:ext cx="32382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Cumulative Frequency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5" name="Text Box 196"/>
            <p:cNvSpPr/>
            <p:nvPr/>
          </p:nvSpPr>
          <p:spPr>
            <a:xfrm>
              <a:off x="2650320" y="568800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10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6" name="Text Box 197"/>
            <p:cNvSpPr/>
            <p:nvPr/>
          </p:nvSpPr>
          <p:spPr>
            <a:xfrm>
              <a:off x="3166200" y="5681520"/>
              <a:ext cx="529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20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7" name="Text Box 198"/>
            <p:cNvSpPr/>
            <p:nvPr/>
          </p:nvSpPr>
          <p:spPr>
            <a:xfrm>
              <a:off x="3709080" y="568152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30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8" name="Text Box 199"/>
            <p:cNvSpPr/>
            <p:nvPr/>
          </p:nvSpPr>
          <p:spPr>
            <a:xfrm>
              <a:off x="4218840" y="5662440"/>
              <a:ext cx="529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40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9" name="Text Box 200"/>
            <p:cNvSpPr/>
            <p:nvPr/>
          </p:nvSpPr>
          <p:spPr>
            <a:xfrm>
              <a:off x="4761720" y="5668920"/>
              <a:ext cx="528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50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0" name="Text Box 201"/>
            <p:cNvSpPr/>
            <p:nvPr/>
          </p:nvSpPr>
          <p:spPr>
            <a:xfrm>
              <a:off x="5271480" y="5681520"/>
              <a:ext cx="529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60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1" name="Text Box 203"/>
            <p:cNvSpPr/>
            <p:nvPr/>
          </p:nvSpPr>
          <p:spPr>
            <a:xfrm>
              <a:off x="3666240" y="5984640"/>
              <a:ext cx="10933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Marks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2" name="Rectangle 204"/>
            <p:cNvSpPr/>
            <p:nvPr/>
          </p:nvSpPr>
          <p:spPr>
            <a:xfrm>
              <a:off x="5796720" y="1603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3" name="Rectangle 205"/>
            <p:cNvSpPr/>
            <p:nvPr/>
          </p:nvSpPr>
          <p:spPr>
            <a:xfrm>
              <a:off x="5796720" y="1890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4" name="Rectangle 206"/>
            <p:cNvSpPr/>
            <p:nvPr/>
          </p:nvSpPr>
          <p:spPr>
            <a:xfrm>
              <a:off x="5796720" y="217944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5" name="Rectangle 207"/>
            <p:cNvSpPr/>
            <p:nvPr/>
          </p:nvSpPr>
          <p:spPr>
            <a:xfrm>
              <a:off x="5796720" y="246672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6" name="Rectangle 208"/>
            <p:cNvSpPr/>
            <p:nvPr/>
          </p:nvSpPr>
          <p:spPr>
            <a:xfrm>
              <a:off x="5796720" y="275580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7" name="Rectangle 209"/>
            <p:cNvSpPr/>
            <p:nvPr/>
          </p:nvSpPr>
          <p:spPr>
            <a:xfrm>
              <a:off x="5796720" y="304308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8" name="Rectangle 210"/>
            <p:cNvSpPr/>
            <p:nvPr/>
          </p:nvSpPr>
          <p:spPr>
            <a:xfrm>
              <a:off x="5796720" y="333216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9" name="Rectangle 211"/>
            <p:cNvSpPr/>
            <p:nvPr/>
          </p:nvSpPr>
          <p:spPr>
            <a:xfrm>
              <a:off x="5796720" y="361944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0" name="Rectangle 212"/>
            <p:cNvSpPr/>
            <p:nvPr/>
          </p:nvSpPr>
          <p:spPr>
            <a:xfrm>
              <a:off x="5796720" y="3908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1" name="Rectangle 213"/>
            <p:cNvSpPr/>
            <p:nvPr/>
          </p:nvSpPr>
          <p:spPr>
            <a:xfrm>
              <a:off x="5796720" y="4195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2" name="Rectangle 214"/>
            <p:cNvSpPr/>
            <p:nvPr/>
          </p:nvSpPr>
          <p:spPr>
            <a:xfrm>
              <a:off x="5796720" y="448452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3" name="Rectangle 215"/>
            <p:cNvSpPr/>
            <p:nvPr/>
          </p:nvSpPr>
          <p:spPr>
            <a:xfrm>
              <a:off x="5796720" y="477180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4" name="Rectangle 216"/>
            <p:cNvSpPr/>
            <p:nvPr/>
          </p:nvSpPr>
          <p:spPr>
            <a:xfrm>
              <a:off x="5796720" y="5060880"/>
              <a:ext cx="263160" cy="2869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5" name="Rectangle 217"/>
            <p:cNvSpPr/>
            <p:nvPr/>
          </p:nvSpPr>
          <p:spPr>
            <a:xfrm>
              <a:off x="5796720" y="5348160"/>
              <a:ext cx="263160" cy="288720"/>
            </a:xfrm>
            <a:prstGeom prst="rect">
              <a:avLst/>
            </a:prstGeom>
            <a:noFill/>
            <a:ln w="3175">
              <a:solidFill>
                <a:srgbClr val="954f7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36" name="Text Box 219"/>
          <p:cNvSpPr/>
          <p:nvPr/>
        </p:nvSpPr>
        <p:spPr>
          <a:xfrm>
            <a:off x="6500160" y="1381320"/>
            <a:ext cx="3714480" cy="3215160"/>
          </a:xfrm>
          <a:prstGeom prst="rect">
            <a:avLst/>
          </a:prstGeom>
          <a:solidFill>
            <a:srgbClr val="ffffff"/>
          </a:solidFill>
          <a:ln>
            <a:solidFill>
              <a:srgbClr val="ff5da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The graph shows the cumulative frequency curve of the marks for students in an examination. Use the graph to find: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(a) The median mark.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(b) The number of students who got less than 55 marks.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(c) The pass mark if ¾ of the students passed the test.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Line 222"/>
          <p:cNvSpPr/>
          <p:nvPr/>
        </p:nvSpPr>
        <p:spPr>
          <a:xfrm>
            <a:off x="2359800" y="3906720"/>
            <a:ext cx="1447560" cy="360"/>
          </a:xfrm>
          <a:prstGeom prst="line">
            <a:avLst/>
          </a:prstGeom>
          <a:ln w="19050">
            <a:solidFill>
              <a:srgbClr val="5b9bd5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8" name="Line 230"/>
          <p:cNvSpPr/>
          <p:nvPr/>
        </p:nvSpPr>
        <p:spPr>
          <a:xfrm flipV="1">
            <a:off x="5263200" y="2293560"/>
            <a:ext cx="360" cy="3338640"/>
          </a:xfrm>
          <a:prstGeom prst="line">
            <a:avLst/>
          </a:prstGeom>
          <a:ln w="19050">
            <a:solidFill>
              <a:srgbClr val="70ad47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039" name="Group 236"/>
          <p:cNvGrpSpPr/>
          <p:nvPr/>
        </p:nvGrpSpPr>
        <p:grpSpPr>
          <a:xfrm>
            <a:off x="3807360" y="3906720"/>
            <a:ext cx="347760" cy="1733400"/>
            <a:chOff x="3807360" y="3906720"/>
            <a:chExt cx="347760" cy="1733400"/>
          </a:xfrm>
        </p:grpSpPr>
        <p:sp>
          <p:nvSpPr>
            <p:cNvPr id="1040" name="Line 224"/>
            <p:cNvSpPr/>
            <p:nvPr/>
          </p:nvSpPr>
          <p:spPr>
            <a:xfrm>
              <a:off x="3807360" y="3906720"/>
              <a:ext cx="360" cy="1733400"/>
            </a:xfrm>
            <a:prstGeom prst="line">
              <a:avLst/>
            </a:prstGeom>
            <a:ln w="19050">
              <a:solidFill>
                <a:srgbClr val="5b9bd5">
                  <a:lumMod val="75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41" name="Text Box 234"/>
            <p:cNvSpPr/>
            <p:nvPr/>
          </p:nvSpPr>
          <p:spPr>
            <a:xfrm rot="16200000">
              <a:off x="3381480" y="4714200"/>
              <a:ext cx="1244160" cy="303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5b9bd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700"/>
                </a:spcBef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Median = 27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42" name="Line 231"/>
          <p:cNvSpPr/>
          <p:nvPr/>
        </p:nvSpPr>
        <p:spPr>
          <a:xfrm flipH="1">
            <a:off x="2350080" y="2296800"/>
            <a:ext cx="2914560" cy="360"/>
          </a:xfrm>
          <a:prstGeom prst="line">
            <a:avLst/>
          </a:prstGeom>
          <a:ln w="19050">
            <a:solidFill>
              <a:srgbClr val="70ad47">
                <a:lumMod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3" name="Text Box 239"/>
          <p:cNvSpPr/>
          <p:nvPr/>
        </p:nvSpPr>
        <p:spPr>
          <a:xfrm>
            <a:off x="3079080" y="1833480"/>
            <a:ext cx="4950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58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Text Box 241"/>
          <p:cNvSpPr/>
          <p:nvPr/>
        </p:nvSpPr>
        <p:spPr>
          <a:xfrm>
            <a:off x="6500160" y="4851360"/>
            <a:ext cx="3714480" cy="1004400"/>
          </a:xfrm>
          <a:prstGeom prst="rect">
            <a:avLst/>
          </a:prstGeom>
          <a:solidFill>
            <a:srgbClr val="ffffff"/>
          </a:solidFill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¾ of the students passing the test implies that ¼ failed. So read off from 15 students…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Line 242"/>
          <p:cNvSpPr/>
          <p:nvPr/>
        </p:nvSpPr>
        <p:spPr>
          <a:xfrm>
            <a:off x="2345400" y="4773240"/>
            <a:ext cx="1123920" cy="360"/>
          </a:xfrm>
          <a:prstGeom prst="line">
            <a:avLst/>
          </a:prstGeom>
          <a:ln w="19050">
            <a:solidFill>
              <a:srgbClr val="a5a5a5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6" name="Line 243"/>
          <p:cNvSpPr/>
          <p:nvPr/>
        </p:nvSpPr>
        <p:spPr>
          <a:xfrm>
            <a:off x="3454920" y="4773240"/>
            <a:ext cx="360" cy="866880"/>
          </a:xfrm>
          <a:prstGeom prst="line">
            <a:avLst/>
          </a:prstGeom>
          <a:ln w="19050">
            <a:solidFill>
              <a:srgbClr val="a5a5a5">
                <a:lumMod val="7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7" name="Text Box 244"/>
          <p:cNvSpPr/>
          <p:nvPr/>
        </p:nvSpPr>
        <p:spPr>
          <a:xfrm>
            <a:off x="3164760" y="6005520"/>
            <a:ext cx="4950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15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0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5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0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35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0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5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0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55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0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39"/>
          <p:cNvSpPr/>
          <p:nvPr/>
        </p:nvSpPr>
        <p:spPr>
          <a:xfrm>
            <a:off x="751680" y="1408320"/>
            <a:ext cx="9259200" cy="51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8" name="Picture 2" descr="A line graph, showing length along the x axis and cumulative frequency up the y axis. There are x points plotted at about 25 3, then 29 10, then 32 22, then 36 28, then 41 32."/>
          <p:cNvPicPr/>
          <p:nvPr/>
        </p:nvPicPr>
        <p:blipFill>
          <a:blip r:embed="rId1"/>
          <a:stretch/>
        </p:blipFill>
        <p:spPr>
          <a:xfrm>
            <a:off x="751680" y="1408320"/>
            <a:ext cx="5429160" cy="5121000"/>
          </a:xfrm>
          <a:prstGeom prst="rect">
            <a:avLst/>
          </a:prstGeom>
          <a:ln w="0">
            <a:noFill/>
          </a:ln>
        </p:spPr>
      </p:pic>
      <p:sp>
        <p:nvSpPr>
          <p:cNvPr id="1089" name="TextBox 43"/>
          <p:cNvSpPr/>
          <p:nvPr/>
        </p:nvSpPr>
        <p:spPr>
          <a:xfrm>
            <a:off x="6181200" y="1606320"/>
            <a:ext cx="3359880" cy="37764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What is the total frequency?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At what frequency is the median value?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What frequency will the lower quartile be at?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What frequency will the upper quartile be at?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TextBox 45"/>
          <p:cNvSpPr/>
          <p:nvPr/>
        </p:nvSpPr>
        <p:spPr>
          <a:xfrm>
            <a:off x="8517960" y="2015640"/>
            <a:ext cx="41256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32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TextBox 46"/>
          <p:cNvSpPr/>
          <p:nvPr/>
        </p:nvSpPr>
        <p:spPr>
          <a:xfrm>
            <a:off x="8110080" y="3300480"/>
            <a:ext cx="12812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(½ of 32)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16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TextBox 47"/>
          <p:cNvSpPr/>
          <p:nvPr/>
        </p:nvSpPr>
        <p:spPr>
          <a:xfrm>
            <a:off x="8111160" y="4288320"/>
            <a:ext cx="12600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(¼ of 32)  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TextBox 48"/>
          <p:cNvSpPr/>
          <p:nvPr/>
        </p:nvSpPr>
        <p:spPr>
          <a:xfrm>
            <a:off x="8110440" y="5423040"/>
            <a:ext cx="133308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(¾  of 32)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24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39"/>
          <p:cNvSpPr/>
          <p:nvPr/>
        </p:nvSpPr>
        <p:spPr>
          <a:xfrm>
            <a:off x="1115640" y="1331640"/>
            <a:ext cx="8895240" cy="520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TextBox 50"/>
          <p:cNvSpPr/>
          <p:nvPr/>
        </p:nvSpPr>
        <p:spPr>
          <a:xfrm>
            <a:off x="6650640" y="1529640"/>
            <a:ext cx="3359880" cy="41115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What is: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The shortest length and the longest length?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The median?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The lower quartile?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The upper quartile?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The inter-quartile range?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5" name="Picture 51" descr="A line graph, showing length along the x axis and cumulative frequency up the y axis. There are x points plotted at about 25 3, then 29 10, then 32 22, then 36 28, then 41 32. The lower quartile range is shown as being below 8 28, the median at 30 16, and the upper quartile at above 34 25."/>
          <p:cNvPicPr/>
          <p:nvPr/>
        </p:nvPicPr>
        <p:blipFill>
          <a:blip r:embed="rId1"/>
          <a:stretch/>
        </p:blipFill>
        <p:spPr>
          <a:xfrm>
            <a:off x="1221120" y="1331640"/>
            <a:ext cx="5429160" cy="5121000"/>
          </a:xfrm>
          <a:prstGeom prst="rect">
            <a:avLst/>
          </a:prstGeom>
          <a:ln w="0">
            <a:noFill/>
          </a:ln>
        </p:spPr>
      </p:pic>
      <p:sp>
        <p:nvSpPr>
          <p:cNvPr id="1136" name="TextBox 53"/>
          <p:cNvSpPr/>
          <p:nvPr/>
        </p:nvSpPr>
        <p:spPr>
          <a:xfrm>
            <a:off x="8573040" y="2555280"/>
            <a:ext cx="110448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20 and 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TextBox 54"/>
          <p:cNvSpPr/>
          <p:nvPr/>
        </p:nvSpPr>
        <p:spPr>
          <a:xfrm>
            <a:off x="8573040" y="3232440"/>
            <a:ext cx="41256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30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TextBox 55"/>
          <p:cNvSpPr/>
          <p:nvPr/>
        </p:nvSpPr>
        <p:spPr>
          <a:xfrm>
            <a:off x="8568720" y="3923280"/>
            <a:ext cx="41256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28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TextBox 56"/>
          <p:cNvSpPr/>
          <p:nvPr/>
        </p:nvSpPr>
        <p:spPr>
          <a:xfrm>
            <a:off x="8578800" y="5355000"/>
            <a:ext cx="119448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33 – 28 =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TextBox 57"/>
          <p:cNvSpPr/>
          <p:nvPr/>
        </p:nvSpPr>
        <p:spPr>
          <a:xfrm>
            <a:off x="8568720" y="4571280"/>
            <a:ext cx="41256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33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39"/>
          <p:cNvSpPr/>
          <p:nvPr/>
        </p:nvSpPr>
        <p:spPr>
          <a:xfrm>
            <a:off x="1397880" y="1408320"/>
            <a:ext cx="86918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81" name="Group 2"/>
          <p:cNvGrpSpPr/>
          <p:nvPr/>
        </p:nvGrpSpPr>
        <p:grpSpPr>
          <a:xfrm>
            <a:off x="1643040" y="1572840"/>
            <a:ext cx="8447040" cy="4969800"/>
            <a:chOff x="1643040" y="1572840"/>
            <a:chExt cx="8447040" cy="4969800"/>
          </a:xfrm>
        </p:grpSpPr>
        <p:sp>
          <p:nvSpPr>
            <p:cNvPr id="1182" name="Freeform 3"/>
            <p:cNvSpPr/>
            <p:nvPr/>
          </p:nvSpPr>
          <p:spPr>
            <a:xfrm>
              <a:off x="2441880" y="2301480"/>
              <a:ext cx="3171600" cy="3457080"/>
            </a:xfrm>
            <a:custGeom>
              <a:avLst/>
              <a:gdLst>
                <a:gd name="textAreaLeft" fmla="*/ 0 w 3171600"/>
                <a:gd name="textAreaRight" fmla="*/ 3171960 w 3171600"/>
                <a:gd name="textAreaTop" fmla="*/ 0 h 3457080"/>
                <a:gd name="textAreaBottom" fmla="*/ 3457440 h 3457080"/>
              </a:gdLst>
              <a:ahLst/>
              <a:rect l="textAreaLeft" t="textAreaTop" r="textAreaRight" b="textAreaBottom"/>
              <a:pathLst>
                <a:path w="1998" h="2178">
                  <a:moveTo>
                    <a:pt x="0" y="2178"/>
                  </a:moveTo>
                  <a:cubicBezTo>
                    <a:pt x="112" y="2128"/>
                    <a:pt x="225" y="2079"/>
                    <a:pt x="336" y="1998"/>
                  </a:cubicBezTo>
                  <a:cubicBezTo>
                    <a:pt x="447" y="1917"/>
                    <a:pt x="555" y="1873"/>
                    <a:pt x="666" y="1692"/>
                  </a:cubicBezTo>
                  <a:cubicBezTo>
                    <a:pt x="777" y="1511"/>
                    <a:pt x="891" y="1117"/>
                    <a:pt x="1002" y="912"/>
                  </a:cubicBezTo>
                  <a:cubicBezTo>
                    <a:pt x="1113" y="707"/>
                    <a:pt x="1221" y="586"/>
                    <a:pt x="1332" y="462"/>
                  </a:cubicBezTo>
                  <a:cubicBezTo>
                    <a:pt x="1443" y="338"/>
                    <a:pt x="1557" y="245"/>
                    <a:pt x="1668" y="168"/>
                  </a:cubicBezTo>
                  <a:cubicBezTo>
                    <a:pt x="1779" y="91"/>
                    <a:pt x="1929" y="35"/>
                    <a:pt x="1998" y="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1183" name="Group 4"/>
            <p:cNvGrpSpPr/>
            <p:nvPr/>
          </p:nvGrpSpPr>
          <p:grpSpPr>
            <a:xfrm>
              <a:off x="1643040" y="1572840"/>
              <a:ext cx="4777920" cy="4969800"/>
              <a:chOff x="1643040" y="1572840"/>
              <a:chExt cx="4777920" cy="4969800"/>
            </a:xfrm>
          </p:grpSpPr>
          <p:sp>
            <p:nvSpPr>
              <p:cNvPr id="1184" name="Rectangle 46"/>
              <p:cNvSpPr/>
              <p:nvPr/>
            </p:nvSpPr>
            <p:spPr>
              <a:xfrm>
                <a:off x="244800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85" name="Rectangle 47"/>
              <p:cNvSpPr/>
              <p:nvPr/>
            </p:nvSpPr>
            <p:spPr>
              <a:xfrm>
                <a:off x="2713320" y="17218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86" name="Rectangle 48"/>
              <p:cNvSpPr/>
              <p:nvPr/>
            </p:nvSpPr>
            <p:spPr>
              <a:xfrm>
                <a:off x="297684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87" name="Rectangle 49"/>
              <p:cNvSpPr/>
              <p:nvPr/>
            </p:nvSpPr>
            <p:spPr>
              <a:xfrm>
                <a:off x="324180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88" name="Rectangle 50"/>
              <p:cNvSpPr/>
              <p:nvPr/>
            </p:nvSpPr>
            <p:spPr>
              <a:xfrm>
                <a:off x="350676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89" name="Rectangle 51"/>
              <p:cNvSpPr/>
              <p:nvPr/>
            </p:nvSpPr>
            <p:spPr>
              <a:xfrm>
                <a:off x="3772080" y="17218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0" name="Rectangle 52"/>
              <p:cNvSpPr/>
              <p:nvPr/>
            </p:nvSpPr>
            <p:spPr>
              <a:xfrm>
                <a:off x="403560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1" name="Rectangle 53"/>
              <p:cNvSpPr/>
              <p:nvPr/>
            </p:nvSpPr>
            <p:spPr>
              <a:xfrm>
                <a:off x="430056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2" name="Rectangle 54"/>
              <p:cNvSpPr/>
              <p:nvPr/>
            </p:nvSpPr>
            <p:spPr>
              <a:xfrm>
                <a:off x="456588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3" name="Rectangle 55"/>
              <p:cNvSpPr/>
              <p:nvPr/>
            </p:nvSpPr>
            <p:spPr>
              <a:xfrm>
                <a:off x="4830840" y="17218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4" name="Rectangle 56"/>
              <p:cNvSpPr/>
              <p:nvPr/>
            </p:nvSpPr>
            <p:spPr>
              <a:xfrm>
                <a:off x="509436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5" name="Rectangle 57"/>
              <p:cNvSpPr/>
              <p:nvPr/>
            </p:nvSpPr>
            <p:spPr>
              <a:xfrm>
                <a:off x="5359680" y="17218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6" name="Rectangle 58"/>
              <p:cNvSpPr/>
              <p:nvPr/>
            </p:nvSpPr>
            <p:spPr>
              <a:xfrm>
                <a:off x="5624640" y="17218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7" name="Rectangle 59"/>
              <p:cNvSpPr/>
              <p:nvPr/>
            </p:nvSpPr>
            <p:spPr>
              <a:xfrm>
                <a:off x="244800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8" name="Rectangle 60"/>
              <p:cNvSpPr/>
              <p:nvPr/>
            </p:nvSpPr>
            <p:spPr>
              <a:xfrm>
                <a:off x="2713320" y="2009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99" name="Rectangle 61"/>
              <p:cNvSpPr/>
              <p:nvPr/>
            </p:nvSpPr>
            <p:spPr>
              <a:xfrm>
                <a:off x="297684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0" name="Rectangle 62"/>
              <p:cNvSpPr/>
              <p:nvPr/>
            </p:nvSpPr>
            <p:spPr>
              <a:xfrm>
                <a:off x="324180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1" name="Rectangle 63"/>
              <p:cNvSpPr/>
              <p:nvPr/>
            </p:nvSpPr>
            <p:spPr>
              <a:xfrm>
                <a:off x="350676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2" name="Rectangle 64"/>
              <p:cNvSpPr/>
              <p:nvPr/>
            </p:nvSpPr>
            <p:spPr>
              <a:xfrm>
                <a:off x="3772080" y="2009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3" name="Rectangle 65"/>
              <p:cNvSpPr/>
              <p:nvPr/>
            </p:nvSpPr>
            <p:spPr>
              <a:xfrm>
                <a:off x="403560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4" name="Rectangle 66"/>
              <p:cNvSpPr/>
              <p:nvPr/>
            </p:nvSpPr>
            <p:spPr>
              <a:xfrm>
                <a:off x="430056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5" name="Rectangle 67"/>
              <p:cNvSpPr/>
              <p:nvPr/>
            </p:nvSpPr>
            <p:spPr>
              <a:xfrm>
                <a:off x="456588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6" name="Rectangle 68"/>
              <p:cNvSpPr/>
              <p:nvPr/>
            </p:nvSpPr>
            <p:spPr>
              <a:xfrm>
                <a:off x="4830840" y="2009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7" name="Rectangle 69"/>
              <p:cNvSpPr/>
              <p:nvPr/>
            </p:nvSpPr>
            <p:spPr>
              <a:xfrm>
                <a:off x="509436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8" name="Rectangle 70"/>
              <p:cNvSpPr/>
              <p:nvPr/>
            </p:nvSpPr>
            <p:spPr>
              <a:xfrm>
                <a:off x="5359680" y="2009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09" name="Rectangle 71"/>
              <p:cNvSpPr/>
              <p:nvPr/>
            </p:nvSpPr>
            <p:spPr>
              <a:xfrm>
                <a:off x="5624640" y="2009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0" name="Rectangle 72"/>
              <p:cNvSpPr/>
              <p:nvPr/>
            </p:nvSpPr>
            <p:spPr>
              <a:xfrm>
                <a:off x="244800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1" name="Rectangle 73"/>
              <p:cNvSpPr/>
              <p:nvPr/>
            </p:nvSpPr>
            <p:spPr>
              <a:xfrm>
                <a:off x="2713320" y="22982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2" name="Rectangle 74"/>
              <p:cNvSpPr/>
              <p:nvPr/>
            </p:nvSpPr>
            <p:spPr>
              <a:xfrm>
                <a:off x="297684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3" name="Rectangle 75"/>
              <p:cNvSpPr/>
              <p:nvPr/>
            </p:nvSpPr>
            <p:spPr>
              <a:xfrm>
                <a:off x="324180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4" name="Rectangle 76"/>
              <p:cNvSpPr/>
              <p:nvPr/>
            </p:nvSpPr>
            <p:spPr>
              <a:xfrm>
                <a:off x="350676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5" name="Rectangle 77"/>
              <p:cNvSpPr/>
              <p:nvPr/>
            </p:nvSpPr>
            <p:spPr>
              <a:xfrm>
                <a:off x="3772080" y="22982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6" name="Rectangle 78"/>
              <p:cNvSpPr/>
              <p:nvPr/>
            </p:nvSpPr>
            <p:spPr>
              <a:xfrm>
                <a:off x="403560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7" name="Rectangle 79"/>
              <p:cNvSpPr/>
              <p:nvPr/>
            </p:nvSpPr>
            <p:spPr>
              <a:xfrm>
                <a:off x="430056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8" name="Rectangle 80"/>
              <p:cNvSpPr/>
              <p:nvPr/>
            </p:nvSpPr>
            <p:spPr>
              <a:xfrm>
                <a:off x="456588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19" name="Rectangle 81"/>
              <p:cNvSpPr/>
              <p:nvPr/>
            </p:nvSpPr>
            <p:spPr>
              <a:xfrm>
                <a:off x="4830840" y="22982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0" name="Rectangle 82"/>
              <p:cNvSpPr/>
              <p:nvPr/>
            </p:nvSpPr>
            <p:spPr>
              <a:xfrm>
                <a:off x="509436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1" name="Rectangle 83"/>
              <p:cNvSpPr/>
              <p:nvPr/>
            </p:nvSpPr>
            <p:spPr>
              <a:xfrm>
                <a:off x="5359680" y="22982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2" name="Rectangle 84"/>
              <p:cNvSpPr/>
              <p:nvPr/>
            </p:nvSpPr>
            <p:spPr>
              <a:xfrm>
                <a:off x="5624640" y="22982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3" name="Rectangle 85"/>
              <p:cNvSpPr/>
              <p:nvPr/>
            </p:nvSpPr>
            <p:spPr>
              <a:xfrm>
                <a:off x="244800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4" name="Rectangle 86"/>
              <p:cNvSpPr/>
              <p:nvPr/>
            </p:nvSpPr>
            <p:spPr>
              <a:xfrm>
                <a:off x="2713320" y="2585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5" name="Rectangle 87"/>
              <p:cNvSpPr/>
              <p:nvPr/>
            </p:nvSpPr>
            <p:spPr>
              <a:xfrm>
                <a:off x="297684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6" name="Rectangle 88"/>
              <p:cNvSpPr/>
              <p:nvPr/>
            </p:nvSpPr>
            <p:spPr>
              <a:xfrm>
                <a:off x="324180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7" name="Rectangle 89"/>
              <p:cNvSpPr/>
              <p:nvPr/>
            </p:nvSpPr>
            <p:spPr>
              <a:xfrm>
                <a:off x="350676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8" name="Rectangle 90"/>
              <p:cNvSpPr/>
              <p:nvPr/>
            </p:nvSpPr>
            <p:spPr>
              <a:xfrm>
                <a:off x="3772080" y="2585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29" name="Rectangle 91"/>
              <p:cNvSpPr/>
              <p:nvPr/>
            </p:nvSpPr>
            <p:spPr>
              <a:xfrm>
                <a:off x="403560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0" name="Rectangle 92"/>
              <p:cNvSpPr/>
              <p:nvPr/>
            </p:nvSpPr>
            <p:spPr>
              <a:xfrm>
                <a:off x="430056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1" name="Rectangle 93"/>
              <p:cNvSpPr/>
              <p:nvPr/>
            </p:nvSpPr>
            <p:spPr>
              <a:xfrm>
                <a:off x="456588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2" name="Rectangle 94"/>
              <p:cNvSpPr/>
              <p:nvPr/>
            </p:nvSpPr>
            <p:spPr>
              <a:xfrm>
                <a:off x="4830840" y="2585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3" name="Rectangle 95"/>
              <p:cNvSpPr/>
              <p:nvPr/>
            </p:nvSpPr>
            <p:spPr>
              <a:xfrm>
                <a:off x="509436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4" name="Rectangle 96"/>
              <p:cNvSpPr/>
              <p:nvPr/>
            </p:nvSpPr>
            <p:spPr>
              <a:xfrm>
                <a:off x="5359680" y="25855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5" name="Rectangle 97"/>
              <p:cNvSpPr/>
              <p:nvPr/>
            </p:nvSpPr>
            <p:spPr>
              <a:xfrm>
                <a:off x="5624640" y="2585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6" name="Rectangle 98"/>
              <p:cNvSpPr/>
              <p:nvPr/>
            </p:nvSpPr>
            <p:spPr>
              <a:xfrm>
                <a:off x="244800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7" name="Rectangle 99"/>
              <p:cNvSpPr/>
              <p:nvPr/>
            </p:nvSpPr>
            <p:spPr>
              <a:xfrm>
                <a:off x="2713320" y="28746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8" name="Rectangle 100"/>
              <p:cNvSpPr/>
              <p:nvPr/>
            </p:nvSpPr>
            <p:spPr>
              <a:xfrm>
                <a:off x="297684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39" name="Rectangle 101"/>
              <p:cNvSpPr/>
              <p:nvPr/>
            </p:nvSpPr>
            <p:spPr>
              <a:xfrm>
                <a:off x="324180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0" name="Rectangle 102"/>
              <p:cNvSpPr/>
              <p:nvPr/>
            </p:nvSpPr>
            <p:spPr>
              <a:xfrm>
                <a:off x="350676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1" name="Rectangle 103"/>
              <p:cNvSpPr/>
              <p:nvPr/>
            </p:nvSpPr>
            <p:spPr>
              <a:xfrm>
                <a:off x="3772080" y="28746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2" name="Rectangle 104"/>
              <p:cNvSpPr/>
              <p:nvPr/>
            </p:nvSpPr>
            <p:spPr>
              <a:xfrm>
                <a:off x="403560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3" name="Rectangle 105"/>
              <p:cNvSpPr/>
              <p:nvPr/>
            </p:nvSpPr>
            <p:spPr>
              <a:xfrm>
                <a:off x="430056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4" name="Rectangle 106"/>
              <p:cNvSpPr/>
              <p:nvPr/>
            </p:nvSpPr>
            <p:spPr>
              <a:xfrm>
                <a:off x="456588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5" name="Rectangle 107"/>
              <p:cNvSpPr/>
              <p:nvPr/>
            </p:nvSpPr>
            <p:spPr>
              <a:xfrm>
                <a:off x="4830840" y="28746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6" name="Rectangle 108"/>
              <p:cNvSpPr/>
              <p:nvPr/>
            </p:nvSpPr>
            <p:spPr>
              <a:xfrm>
                <a:off x="509436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7" name="Rectangle 109"/>
              <p:cNvSpPr/>
              <p:nvPr/>
            </p:nvSpPr>
            <p:spPr>
              <a:xfrm>
                <a:off x="5359680" y="28746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8" name="Rectangle 110"/>
              <p:cNvSpPr/>
              <p:nvPr/>
            </p:nvSpPr>
            <p:spPr>
              <a:xfrm>
                <a:off x="5624640" y="28746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49" name="Rectangle 111"/>
              <p:cNvSpPr/>
              <p:nvPr/>
            </p:nvSpPr>
            <p:spPr>
              <a:xfrm>
                <a:off x="244800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0" name="Rectangle 112"/>
              <p:cNvSpPr/>
              <p:nvPr/>
            </p:nvSpPr>
            <p:spPr>
              <a:xfrm>
                <a:off x="2713320" y="31618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1" name="Rectangle 113"/>
              <p:cNvSpPr/>
              <p:nvPr/>
            </p:nvSpPr>
            <p:spPr>
              <a:xfrm>
                <a:off x="297684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2" name="Rectangle 114"/>
              <p:cNvSpPr/>
              <p:nvPr/>
            </p:nvSpPr>
            <p:spPr>
              <a:xfrm>
                <a:off x="324180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3" name="Rectangle 115"/>
              <p:cNvSpPr/>
              <p:nvPr/>
            </p:nvSpPr>
            <p:spPr>
              <a:xfrm>
                <a:off x="350676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4" name="Rectangle 116"/>
              <p:cNvSpPr/>
              <p:nvPr/>
            </p:nvSpPr>
            <p:spPr>
              <a:xfrm>
                <a:off x="3772080" y="31618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5" name="Rectangle 117"/>
              <p:cNvSpPr/>
              <p:nvPr/>
            </p:nvSpPr>
            <p:spPr>
              <a:xfrm>
                <a:off x="403560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6" name="Rectangle 118"/>
              <p:cNvSpPr/>
              <p:nvPr/>
            </p:nvSpPr>
            <p:spPr>
              <a:xfrm>
                <a:off x="430056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7" name="Rectangle 119"/>
              <p:cNvSpPr/>
              <p:nvPr/>
            </p:nvSpPr>
            <p:spPr>
              <a:xfrm>
                <a:off x="456588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8" name="Rectangle 120"/>
              <p:cNvSpPr/>
              <p:nvPr/>
            </p:nvSpPr>
            <p:spPr>
              <a:xfrm>
                <a:off x="4830840" y="31618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59" name="Rectangle 121"/>
              <p:cNvSpPr/>
              <p:nvPr/>
            </p:nvSpPr>
            <p:spPr>
              <a:xfrm>
                <a:off x="509436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0" name="Rectangle 122"/>
              <p:cNvSpPr/>
              <p:nvPr/>
            </p:nvSpPr>
            <p:spPr>
              <a:xfrm>
                <a:off x="5359680" y="31618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1" name="Rectangle 123"/>
              <p:cNvSpPr/>
              <p:nvPr/>
            </p:nvSpPr>
            <p:spPr>
              <a:xfrm>
                <a:off x="5624640" y="31618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2" name="Rectangle 124"/>
              <p:cNvSpPr/>
              <p:nvPr/>
            </p:nvSpPr>
            <p:spPr>
              <a:xfrm>
                <a:off x="244800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3" name="Rectangle 125"/>
              <p:cNvSpPr/>
              <p:nvPr/>
            </p:nvSpPr>
            <p:spPr>
              <a:xfrm>
                <a:off x="2713320" y="3450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4" name="Rectangle 126"/>
              <p:cNvSpPr/>
              <p:nvPr/>
            </p:nvSpPr>
            <p:spPr>
              <a:xfrm>
                <a:off x="297684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5" name="Rectangle 127"/>
              <p:cNvSpPr/>
              <p:nvPr/>
            </p:nvSpPr>
            <p:spPr>
              <a:xfrm>
                <a:off x="324180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6" name="Rectangle 128"/>
              <p:cNvSpPr/>
              <p:nvPr/>
            </p:nvSpPr>
            <p:spPr>
              <a:xfrm>
                <a:off x="350676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7" name="Rectangle 129"/>
              <p:cNvSpPr/>
              <p:nvPr/>
            </p:nvSpPr>
            <p:spPr>
              <a:xfrm>
                <a:off x="3772080" y="3450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8" name="Rectangle 130"/>
              <p:cNvSpPr/>
              <p:nvPr/>
            </p:nvSpPr>
            <p:spPr>
              <a:xfrm>
                <a:off x="403560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69" name="Rectangle 131"/>
              <p:cNvSpPr/>
              <p:nvPr/>
            </p:nvSpPr>
            <p:spPr>
              <a:xfrm>
                <a:off x="430056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0" name="Rectangle 132"/>
              <p:cNvSpPr/>
              <p:nvPr/>
            </p:nvSpPr>
            <p:spPr>
              <a:xfrm>
                <a:off x="456588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1" name="Rectangle 133"/>
              <p:cNvSpPr/>
              <p:nvPr/>
            </p:nvSpPr>
            <p:spPr>
              <a:xfrm>
                <a:off x="4830840" y="3450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2" name="Rectangle 134"/>
              <p:cNvSpPr/>
              <p:nvPr/>
            </p:nvSpPr>
            <p:spPr>
              <a:xfrm>
                <a:off x="509436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3" name="Rectangle 135"/>
              <p:cNvSpPr/>
              <p:nvPr/>
            </p:nvSpPr>
            <p:spPr>
              <a:xfrm>
                <a:off x="5359680" y="3450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4" name="Rectangle 136"/>
              <p:cNvSpPr/>
              <p:nvPr/>
            </p:nvSpPr>
            <p:spPr>
              <a:xfrm>
                <a:off x="5624640" y="3450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5" name="Rectangle 137"/>
              <p:cNvSpPr/>
              <p:nvPr/>
            </p:nvSpPr>
            <p:spPr>
              <a:xfrm>
                <a:off x="244800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6" name="Rectangle 138"/>
              <p:cNvSpPr/>
              <p:nvPr/>
            </p:nvSpPr>
            <p:spPr>
              <a:xfrm>
                <a:off x="2713320" y="3738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7" name="Rectangle 139"/>
              <p:cNvSpPr/>
              <p:nvPr/>
            </p:nvSpPr>
            <p:spPr>
              <a:xfrm>
                <a:off x="297684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8" name="Rectangle 140"/>
              <p:cNvSpPr/>
              <p:nvPr/>
            </p:nvSpPr>
            <p:spPr>
              <a:xfrm>
                <a:off x="324180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9" name="Rectangle 141"/>
              <p:cNvSpPr/>
              <p:nvPr/>
            </p:nvSpPr>
            <p:spPr>
              <a:xfrm>
                <a:off x="350676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0" name="Rectangle 142"/>
              <p:cNvSpPr/>
              <p:nvPr/>
            </p:nvSpPr>
            <p:spPr>
              <a:xfrm>
                <a:off x="3772080" y="3738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1" name="Rectangle 143"/>
              <p:cNvSpPr/>
              <p:nvPr/>
            </p:nvSpPr>
            <p:spPr>
              <a:xfrm>
                <a:off x="403560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2" name="Rectangle 144"/>
              <p:cNvSpPr/>
              <p:nvPr/>
            </p:nvSpPr>
            <p:spPr>
              <a:xfrm>
                <a:off x="430056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3" name="Rectangle 145"/>
              <p:cNvSpPr/>
              <p:nvPr/>
            </p:nvSpPr>
            <p:spPr>
              <a:xfrm>
                <a:off x="456588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4" name="Rectangle 146"/>
              <p:cNvSpPr/>
              <p:nvPr/>
            </p:nvSpPr>
            <p:spPr>
              <a:xfrm>
                <a:off x="4830840" y="3738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5" name="Rectangle 147"/>
              <p:cNvSpPr/>
              <p:nvPr/>
            </p:nvSpPr>
            <p:spPr>
              <a:xfrm>
                <a:off x="509436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6" name="Rectangle 148"/>
              <p:cNvSpPr/>
              <p:nvPr/>
            </p:nvSpPr>
            <p:spPr>
              <a:xfrm>
                <a:off x="5359680" y="3738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7" name="Rectangle 149"/>
              <p:cNvSpPr/>
              <p:nvPr/>
            </p:nvSpPr>
            <p:spPr>
              <a:xfrm>
                <a:off x="5624640" y="3738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8" name="Rectangle 150"/>
              <p:cNvSpPr/>
              <p:nvPr/>
            </p:nvSpPr>
            <p:spPr>
              <a:xfrm>
                <a:off x="244800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89" name="Rectangle 151"/>
              <p:cNvSpPr/>
              <p:nvPr/>
            </p:nvSpPr>
            <p:spPr>
              <a:xfrm>
                <a:off x="2713320" y="4026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0" name="Rectangle 152"/>
              <p:cNvSpPr/>
              <p:nvPr/>
            </p:nvSpPr>
            <p:spPr>
              <a:xfrm>
                <a:off x="297684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1" name="Rectangle 153"/>
              <p:cNvSpPr/>
              <p:nvPr/>
            </p:nvSpPr>
            <p:spPr>
              <a:xfrm>
                <a:off x="324180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2" name="Rectangle 154"/>
              <p:cNvSpPr/>
              <p:nvPr/>
            </p:nvSpPr>
            <p:spPr>
              <a:xfrm>
                <a:off x="350676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3" name="Rectangle 155"/>
              <p:cNvSpPr/>
              <p:nvPr/>
            </p:nvSpPr>
            <p:spPr>
              <a:xfrm>
                <a:off x="3772080" y="4026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4" name="Rectangle 156"/>
              <p:cNvSpPr/>
              <p:nvPr/>
            </p:nvSpPr>
            <p:spPr>
              <a:xfrm>
                <a:off x="403560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5" name="Rectangle 157"/>
              <p:cNvSpPr/>
              <p:nvPr/>
            </p:nvSpPr>
            <p:spPr>
              <a:xfrm>
                <a:off x="430056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6" name="Rectangle 158"/>
              <p:cNvSpPr/>
              <p:nvPr/>
            </p:nvSpPr>
            <p:spPr>
              <a:xfrm>
                <a:off x="456588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7" name="Rectangle 159"/>
              <p:cNvSpPr/>
              <p:nvPr/>
            </p:nvSpPr>
            <p:spPr>
              <a:xfrm>
                <a:off x="4830840" y="4026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8" name="Rectangle 160"/>
              <p:cNvSpPr/>
              <p:nvPr/>
            </p:nvSpPr>
            <p:spPr>
              <a:xfrm>
                <a:off x="509436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99" name="Rectangle 161"/>
              <p:cNvSpPr/>
              <p:nvPr/>
            </p:nvSpPr>
            <p:spPr>
              <a:xfrm>
                <a:off x="5359680" y="40269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0" name="Rectangle 162"/>
              <p:cNvSpPr/>
              <p:nvPr/>
            </p:nvSpPr>
            <p:spPr>
              <a:xfrm>
                <a:off x="5624640" y="4026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1" name="Rectangle 163"/>
              <p:cNvSpPr/>
              <p:nvPr/>
            </p:nvSpPr>
            <p:spPr>
              <a:xfrm>
                <a:off x="244800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2" name="Rectangle 164"/>
              <p:cNvSpPr/>
              <p:nvPr/>
            </p:nvSpPr>
            <p:spPr>
              <a:xfrm>
                <a:off x="2713320" y="4314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3" name="Rectangle 165"/>
              <p:cNvSpPr/>
              <p:nvPr/>
            </p:nvSpPr>
            <p:spPr>
              <a:xfrm>
                <a:off x="297684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4" name="Rectangle 166"/>
              <p:cNvSpPr/>
              <p:nvPr/>
            </p:nvSpPr>
            <p:spPr>
              <a:xfrm>
                <a:off x="324180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5" name="Rectangle 167"/>
              <p:cNvSpPr/>
              <p:nvPr/>
            </p:nvSpPr>
            <p:spPr>
              <a:xfrm>
                <a:off x="350676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6" name="Rectangle 168"/>
              <p:cNvSpPr/>
              <p:nvPr/>
            </p:nvSpPr>
            <p:spPr>
              <a:xfrm>
                <a:off x="3772080" y="4314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7" name="Rectangle 169"/>
              <p:cNvSpPr/>
              <p:nvPr/>
            </p:nvSpPr>
            <p:spPr>
              <a:xfrm>
                <a:off x="403560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8" name="Rectangle 170"/>
              <p:cNvSpPr/>
              <p:nvPr/>
            </p:nvSpPr>
            <p:spPr>
              <a:xfrm>
                <a:off x="430056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09" name="Rectangle 171"/>
              <p:cNvSpPr/>
              <p:nvPr/>
            </p:nvSpPr>
            <p:spPr>
              <a:xfrm>
                <a:off x="456588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0" name="Rectangle 172"/>
              <p:cNvSpPr/>
              <p:nvPr/>
            </p:nvSpPr>
            <p:spPr>
              <a:xfrm>
                <a:off x="4830840" y="4314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1" name="Rectangle 173"/>
              <p:cNvSpPr/>
              <p:nvPr/>
            </p:nvSpPr>
            <p:spPr>
              <a:xfrm>
                <a:off x="509436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2" name="Rectangle 174"/>
              <p:cNvSpPr/>
              <p:nvPr/>
            </p:nvSpPr>
            <p:spPr>
              <a:xfrm>
                <a:off x="5359680" y="43142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3" name="Rectangle 175"/>
              <p:cNvSpPr/>
              <p:nvPr/>
            </p:nvSpPr>
            <p:spPr>
              <a:xfrm>
                <a:off x="5624640" y="4314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4" name="Rectangle 176"/>
              <p:cNvSpPr/>
              <p:nvPr/>
            </p:nvSpPr>
            <p:spPr>
              <a:xfrm>
                <a:off x="244800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5" name="Rectangle 177"/>
              <p:cNvSpPr/>
              <p:nvPr/>
            </p:nvSpPr>
            <p:spPr>
              <a:xfrm>
                <a:off x="2713320" y="46033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6" name="Rectangle 178"/>
              <p:cNvSpPr/>
              <p:nvPr/>
            </p:nvSpPr>
            <p:spPr>
              <a:xfrm>
                <a:off x="297684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7" name="Rectangle 179"/>
              <p:cNvSpPr/>
              <p:nvPr/>
            </p:nvSpPr>
            <p:spPr>
              <a:xfrm>
                <a:off x="324180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8" name="Rectangle 180"/>
              <p:cNvSpPr/>
              <p:nvPr/>
            </p:nvSpPr>
            <p:spPr>
              <a:xfrm>
                <a:off x="350676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19" name="Rectangle 181"/>
              <p:cNvSpPr/>
              <p:nvPr/>
            </p:nvSpPr>
            <p:spPr>
              <a:xfrm>
                <a:off x="3772080" y="46033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0" name="Rectangle 182"/>
              <p:cNvSpPr/>
              <p:nvPr/>
            </p:nvSpPr>
            <p:spPr>
              <a:xfrm>
                <a:off x="403560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1" name="Rectangle 183"/>
              <p:cNvSpPr/>
              <p:nvPr/>
            </p:nvSpPr>
            <p:spPr>
              <a:xfrm>
                <a:off x="430056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2" name="Rectangle 184"/>
              <p:cNvSpPr/>
              <p:nvPr/>
            </p:nvSpPr>
            <p:spPr>
              <a:xfrm>
                <a:off x="456588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3" name="Rectangle 185"/>
              <p:cNvSpPr/>
              <p:nvPr/>
            </p:nvSpPr>
            <p:spPr>
              <a:xfrm>
                <a:off x="4830840" y="46033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4" name="Rectangle 186"/>
              <p:cNvSpPr/>
              <p:nvPr/>
            </p:nvSpPr>
            <p:spPr>
              <a:xfrm>
                <a:off x="509436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5" name="Rectangle 187"/>
              <p:cNvSpPr/>
              <p:nvPr/>
            </p:nvSpPr>
            <p:spPr>
              <a:xfrm>
                <a:off x="5359680" y="46033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6" name="Rectangle 188"/>
              <p:cNvSpPr/>
              <p:nvPr/>
            </p:nvSpPr>
            <p:spPr>
              <a:xfrm>
                <a:off x="5624640" y="46033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7" name="Rectangle 189"/>
              <p:cNvSpPr/>
              <p:nvPr/>
            </p:nvSpPr>
            <p:spPr>
              <a:xfrm>
                <a:off x="244800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8" name="Rectangle 190"/>
              <p:cNvSpPr/>
              <p:nvPr/>
            </p:nvSpPr>
            <p:spPr>
              <a:xfrm>
                <a:off x="2713320" y="48906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29" name="Rectangle 191"/>
              <p:cNvSpPr/>
              <p:nvPr/>
            </p:nvSpPr>
            <p:spPr>
              <a:xfrm>
                <a:off x="297684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0" name="Rectangle 192"/>
              <p:cNvSpPr/>
              <p:nvPr/>
            </p:nvSpPr>
            <p:spPr>
              <a:xfrm>
                <a:off x="324180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1" name="Rectangle 193"/>
              <p:cNvSpPr/>
              <p:nvPr/>
            </p:nvSpPr>
            <p:spPr>
              <a:xfrm>
                <a:off x="350676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2" name="Rectangle 194"/>
              <p:cNvSpPr/>
              <p:nvPr/>
            </p:nvSpPr>
            <p:spPr>
              <a:xfrm>
                <a:off x="3772080" y="48906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3" name="Rectangle 195"/>
              <p:cNvSpPr/>
              <p:nvPr/>
            </p:nvSpPr>
            <p:spPr>
              <a:xfrm>
                <a:off x="403560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4" name="Rectangle 196"/>
              <p:cNvSpPr/>
              <p:nvPr/>
            </p:nvSpPr>
            <p:spPr>
              <a:xfrm>
                <a:off x="430056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5" name="Rectangle 197"/>
              <p:cNvSpPr/>
              <p:nvPr/>
            </p:nvSpPr>
            <p:spPr>
              <a:xfrm>
                <a:off x="456588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6" name="Rectangle 198"/>
              <p:cNvSpPr/>
              <p:nvPr/>
            </p:nvSpPr>
            <p:spPr>
              <a:xfrm>
                <a:off x="4830840" y="48906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7" name="Rectangle 199"/>
              <p:cNvSpPr/>
              <p:nvPr/>
            </p:nvSpPr>
            <p:spPr>
              <a:xfrm>
                <a:off x="509436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8" name="Rectangle 200"/>
              <p:cNvSpPr/>
              <p:nvPr/>
            </p:nvSpPr>
            <p:spPr>
              <a:xfrm>
                <a:off x="5359680" y="48906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9" name="Rectangle 201"/>
              <p:cNvSpPr/>
              <p:nvPr/>
            </p:nvSpPr>
            <p:spPr>
              <a:xfrm>
                <a:off x="5624640" y="48906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0" name="Rectangle 202"/>
              <p:cNvSpPr/>
              <p:nvPr/>
            </p:nvSpPr>
            <p:spPr>
              <a:xfrm>
                <a:off x="244800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1" name="Rectangle 203"/>
              <p:cNvSpPr/>
              <p:nvPr/>
            </p:nvSpPr>
            <p:spPr>
              <a:xfrm>
                <a:off x="2713320" y="51796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2" name="Rectangle 204"/>
              <p:cNvSpPr/>
              <p:nvPr/>
            </p:nvSpPr>
            <p:spPr>
              <a:xfrm>
                <a:off x="297684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3" name="Rectangle 205"/>
              <p:cNvSpPr/>
              <p:nvPr/>
            </p:nvSpPr>
            <p:spPr>
              <a:xfrm>
                <a:off x="324180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4" name="Rectangle 206"/>
              <p:cNvSpPr/>
              <p:nvPr/>
            </p:nvSpPr>
            <p:spPr>
              <a:xfrm>
                <a:off x="350676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5" name="Rectangle 207"/>
              <p:cNvSpPr/>
              <p:nvPr/>
            </p:nvSpPr>
            <p:spPr>
              <a:xfrm>
                <a:off x="3772080" y="51796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6" name="Rectangle 208"/>
              <p:cNvSpPr/>
              <p:nvPr/>
            </p:nvSpPr>
            <p:spPr>
              <a:xfrm>
                <a:off x="403560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7" name="Rectangle 209"/>
              <p:cNvSpPr/>
              <p:nvPr/>
            </p:nvSpPr>
            <p:spPr>
              <a:xfrm>
                <a:off x="430056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8" name="Rectangle 210"/>
              <p:cNvSpPr/>
              <p:nvPr/>
            </p:nvSpPr>
            <p:spPr>
              <a:xfrm>
                <a:off x="456588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49" name="Rectangle 211"/>
              <p:cNvSpPr/>
              <p:nvPr/>
            </p:nvSpPr>
            <p:spPr>
              <a:xfrm>
                <a:off x="4830840" y="51796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0" name="Rectangle 212"/>
              <p:cNvSpPr/>
              <p:nvPr/>
            </p:nvSpPr>
            <p:spPr>
              <a:xfrm>
                <a:off x="509436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1" name="Rectangle 213"/>
              <p:cNvSpPr/>
              <p:nvPr/>
            </p:nvSpPr>
            <p:spPr>
              <a:xfrm>
                <a:off x="5359680" y="51796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2" name="Rectangle 214"/>
              <p:cNvSpPr/>
              <p:nvPr/>
            </p:nvSpPr>
            <p:spPr>
              <a:xfrm>
                <a:off x="5624640" y="51796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3" name="Rectangle 215"/>
              <p:cNvSpPr/>
              <p:nvPr/>
            </p:nvSpPr>
            <p:spPr>
              <a:xfrm>
                <a:off x="244800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4" name="Rectangle 216"/>
              <p:cNvSpPr/>
              <p:nvPr/>
            </p:nvSpPr>
            <p:spPr>
              <a:xfrm>
                <a:off x="2713320" y="54669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5" name="Rectangle 217"/>
              <p:cNvSpPr/>
              <p:nvPr/>
            </p:nvSpPr>
            <p:spPr>
              <a:xfrm>
                <a:off x="297684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6" name="Rectangle 218"/>
              <p:cNvSpPr/>
              <p:nvPr/>
            </p:nvSpPr>
            <p:spPr>
              <a:xfrm>
                <a:off x="324180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7" name="Rectangle 219"/>
              <p:cNvSpPr/>
              <p:nvPr/>
            </p:nvSpPr>
            <p:spPr>
              <a:xfrm>
                <a:off x="350676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8" name="Rectangle 220"/>
              <p:cNvSpPr/>
              <p:nvPr/>
            </p:nvSpPr>
            <p:spPr>
              <a:xfrm>
                <a:off x="3772080" y="54669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59" name="Rectangle 221"/>
              <p:cNvSpPr/>
              <p:nvPr/>
            </p:nvSpPr>
            <p:spPr>
              <a:xfrm>
                <a:off x="403560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60" name="Rectangle 222"/>
              <p:cNvSpPr/>
              <p:nvPr/>
            </p:nvSpPr>
            <p:spPr>
              <a:xfrm>
                <a:off x="430056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61" name="Rectangle 223"/>
              <p:cNvSpPr/>
              <p:nvPr/>
            </p:nvSpPr>
            <p:spPr>
              <a:xfrm>
                <a:off x="456588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62" name="Rectangle 224"/>
              <p:cNvSpPr/>
              <p:nvPr/>
            </p:nvSpPr>
            <p:spPr>
              <a:xfrm>
                <a:off x="4830840" y="54669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63" name="Rectangle 225"/>
              <p:cNvSpPr/>
              <p:nvPr/>
            </p:nvSpPr>
            <p:spPr>
              <a:xfrm>
                <a:off x="509436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64" name="Rectangle 226"/>
              <p:cNvSpPr/>
              <p:nvPr/>
            </p:nvSpPr>
            <p:spPr>
              <a:xfrm>
                <a:off x="5359680" y="54669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65" name="Rectangle 227"/>
              <p:cNvSpPr/>
              <p:nvPr/>
            </p:nvSpPr>
            <p:spPr>
              <a:xfrm>
                <a:off x="5624640" y="54669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66" name="Text Box 187"/>
              <p:cNvSpPr/>
              <p:nvPr/>
            </p:nvSpPr>
            <p:spPr>
              <a:xfrm>
                <a:off x="2006640" y="498744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10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7" name="Text Box 188"/>
              <p:cNvSpPr/>
              <p:nvPr/>
            </p:nvSpPr>
            <p:spPr>
              <a:xfrm>
                <a:off x="2006640" y="441108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20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8" name="Text Box 189"/>
              <p:cNvSpPr/>
              <p:nvPr/>
            </p:nvSpPr>
            <p:spPr>
              <a:xfrm>
                <a:off x="2006640" y="383508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30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9" name="Text Box 190"/>
              <p:cNvSpPr/>
              <p:nvPr/>
            </p:nvSpPr>
            <p:spPr>
              <a:xfrm>
                <a:off x="2006640" y="325872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40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0" name="Text Box 191"/>
              <p:cNvSpPr/>
              <p:nvPr/>
            </p:nvSpPr>
            <p:spPr>
              <a:xfrm>
                <a:off x="2006640" y="268236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50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1" name="Text Box 192"/>
              <p:cNvSpPr/>
              <p:nvPr/>
            </p:nvSpPr>
            <p:spPr>
              <a:xfrm>
                <a:off x="2006640" y="210636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60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2" name="Text Box 193"/>
              <p:cNvSpPr/>
              <p:nvPr/>
            </p:nvSpPr>
            <p:spPr>
              <a:xfrm>
                <a:off x="2006640" y="157284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70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3" name="Text Box 194"/>
              <p:cNvSpPr/>
              <p:nvPr/>
            </p:nvSpPr>
            <p:spPr>
              <a:xfrm>
                <a:off x="2006640" y="556380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4" name="Text Box 195"/>
              <p:cNvSpPr/>
              <p:nvPr/>
            </p:nvSpPr>
            <p:spPr>
              <a:xfrm rot="16200000">
                <a:off x="221040" y="3540960"/>
                <a:ext cx="323820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1001"/>
                  </a:spcBef>
                </a:pPr>
                <a:r>
                  <a:rPr b="0" lang="en-US" sz="2000" spc="-1" strike="noStrike">
                    <a:solidFill>
                      <a:srgbClr val="000000"/>
                    </a:solidFill>
                    <a:latin typeface="Calibri"/>
                  </a:rPr>
                  <a:t>Cumulative Frequency</a:t>
                </a:r>
                <a:endParaRPr b="0" lang="en-US" sz="2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5" name="Text Box 196"/>
              <p:cNvSpPr/>
              <p:nvPr/>
            </p:nvSpPr>
            <p:spPr>
              <a:xfrm>
                <a:off x="2741760" y="580680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10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6" name="Text Box 197"/>
              <p:cNvSpPr/>
              <p:nvPr/>
            </p:nvSpPr>
            <p:spPr>
              <a:xfrm>
                <a:off x="3257640" y="5800320"/>
                <a:ext cx="5299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20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7" name="Text Box 198"/>
              <p:cNvSpPr/>
              <p:nvPr/>
            </p:nvSpPr>
            <p:spPr>
              <a:xfrm>
                <a:off x="3800520" y="580032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30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8" name="Text Box 199"/>
              <p:cNvSpPr/>
              <p:nvPr/>
            </p:nvSpPr>
            <p:spPr>
              <a:xfrm>
                <a:off x="4310280" y="5781240"/>
                <a:ext cx="5299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40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9" name="Text Box 200"/>
              <p:cNvSpPr/>
              <p:nvPr/>
            </p:nvSpPr>
            <p:spPr>
              <a:xfrm>
                <a:off x="4853160" y="578772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50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80" name="Text Box 201"/>
              <p:cNvSpPr/>
              <p:nvPr/>
            </p:nvSpPr>
            <p:spPr>
              <a:xfrm>
                <a:off x="5362560" y="5800320"/>
                <a:ext cx="5299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60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81" name="Text Box 202"/>
              <p:cNvSpPr/>
              <p:nvPr/>
            </p:nvSpPr>
            <p:spPr>
              <a:xfrm>
                <a:off x="5892840" y="580032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70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82" name="Text Box 203"/>
              <p:cNvSpPr/>
              <p:nvPr/>
            </p:nvSpPr>
            <p:spPr>
              <a:xfrm>
                <a:off x="3324240" y="6148080"/>
                <a:ext cx="193464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1001"/>
                  </a:spcBef>
                </a:pPr>
                <a:r>
                  <a:rPr b="0" lang="en-US" sz="2000" spc="-1" strike="noStrike">
                    <a:solidFill>
                      <a:srgbClr val="000000"/>
                    </a:solidFill>
                    <a:latin typeface="Calibri"/>
                  </a:rPr>
                  <a:t>Minutes Late</a:t>
                </a:r>
                <a:endParaRPr b="0" lang="en-US" sz="2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83" name="Rectangle 245"/>
              <p:cNvSpPr/>
              <p:nvPr/>
            </p:nvSpPr>
            <p:spPr>
              <a:xfrm>
                <a:off x="5888160" y="17218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84" name="Rectangle 246"/>
              <p:cNvSpPr/>
              <p:nvPr/>
            </p:nvSpPr>
            <p:spPr>
              <a:xfrm>
                <a:off x="5888160" y="2009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85" name="Rectangle 247"/>
              <p:cNvSpPr/>
              <p:nvPr/>
            </p:nvSpPr>
            <p:spPr>
              <a:xfrm>
                <a:off x="5888160" y="22982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86" name="Rectangle 248"/>
              <p:cNvSpPr/>
              <p:nvPr/>
            </p:nvSpPr>
            <p:spPr>
              <a:xfrm>
                <a:off x="5888160" y="25855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87" name="Rectangle 249"/>
              <p:cNvSpPr/>
              <p:nvPr/>
            </p:nvSpPr>
            <p:spPr>
              <a:xfrm>
                <a:off x="5888160" y="28746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88" name="Rectangle 250"/>
              <p:cNvSpPr/>
              <p:nvPr/>
            </p:nvSpPr>
            <p:spPr>
              <a:xfrm>
                <a:off x="5888160" y="31618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89" name="Rectangle 251"/>
              <p:cNvSpPr/>
              <p:nvPr/>
            </p:nvSpPr>
            <p:spPr>
              <a:xfrm>
                <a:off x="5888160" y="3450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90" name="Rectangle 252"/>
              <p:cNvSpPr/>
              <p:nvPr/>
            </p:nvSpPr>
            <p:spPr>
              <a:xfrm>
                <a:off x="5888160" y="3738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91" name="Rectangle 253"/>
              <p:cNvSpPr/>
              <p:nvPr/>
            </p:nvSpPr>
            <p:spPr>
              <a:xfrm>
                <a:off x="5888160" y="40269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92" name="Rectangle 254"/>
              <p:cNvSpPr/>
              <p:nvPr/>
            </p:nvSpPr>
            <p:spPr>
              <a:xfrm>
                <a:off x="5888160" y="43142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93" name="Rectangle 255"/>
              <p:cNvSpPr/>
              <p:nvPr/>
            </p:nvSpPr>
            <p:spPr>
              <a:xfrm>
                <a:off x="5888160" y="46033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94" name="Rectangle 256"/>
              <p:cNvSpPr/>
              <p:nvPr/>
            </p:nvSpPr>
            <p:spPr>
              <a:xfrm>
                <a:off x="5888160" y="48906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95" name="Rectangle 257"/>
              <p:cNvSpPr/>
              <p:nvPr/>
            </p:nvSpPr>
            <p:spPr>
              <a:xfrm>
                <a:off x="5888160" y="51796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96" name="Rectangle 258"/>
              <p:cNvSpPr/>
              <p:nvPr/>
            </p:nvSpPr>
            <p:spPr>
              <a:xfrm>
                <a:off x="5888160" y="54669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397" name="Text Box 219"/>
            <p:cNvSpPr/>
            <p:nvPr/>
          </p:nvSpPr>
          <p:spPr>
            <a:xfrm>
              <a:off x="6375600" y="1720440"/>
              <a:ext cx="3714480" cy="3647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The cumulative frequency curve gives information on aircraft arriving late at an airport. Use the curve to find estimates to 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(a) The median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(b) The inter-quartile range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(c) The number of aircraft arriving less than 45 minutes late.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(d) The number of aircraft arriving more than 25 minutes late.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98" name="TextBox 260"/>
          <p:cNvSpPr/>
          <p:nvPr/>
        </p:nvSpPr>
        <p:spPr>
          <a:xfrm>
            <a:off x="8271720" y="3121560"/>
            <a:ext cx="58968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27.5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TextBox 261"/>
          <p:cNvSpPr/>
          <p:nvPr/>
        </p:nvSpPr>
        <p:spPr>
          <a:xfrm>
            <a:off x="9128160" y="4418640"/>
            <a:ext cx="41256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52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TextBox 262"/>
          <p:cNvSpPr/>
          <p:nvPr/>
        </p:nvSpPr>
        <p:spPr>
          <a:xfrm>
            <a:off x="8268480" y="3738240"/>
            <a:ext cx="13100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38 – 21 =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17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TextBox 263"/>
          <p:cNvSpPr/>
          <p:nvPr/>
        </p:nvSpPr>
        <p:spPr>
          <a:xfrm>
            <a:off x="8268480" y="5406480"/>
            <a:ext cx="13100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60 – 25 =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35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1" dur="indefinite" restart="never" nodeType="tmRoot">
          <p:childTnLst>
            <p:seq>
              <p:cTn id="202" dur="indefinite" nodeType="mainSeq">
                <p:childTnLst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39"/>
          <p:cNvSpPr/>
          <p:nvPr/>
        </p:nvSpPr>
        <p:spPr>
          <a:xfrm>
            <a:off x="1134000" y="1408320"/>
            <a:ext cx="8996760" cy="515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42" name="Group 469"/>
          <p:cNvGrpSpPr/>
          <p:nvPr/>
        </p:nvGrpSpPr>
        <p:grpSpPr>
          <a:xfrm>
            <a:off x="1286640" y="1479240"/>
            <a:ext cx="8616960" cy="4982400"/>
            <a:chOff x="1286640" y="1479240"/>
            <a:chExt cx="8616960" cy="4982400"/>
          </a:xfrm>
        </p:grpSpPr>
        <p:sp>
          <p:nvSpPr>
            <p:cNvPr id="1443" name="Text Box 235"/>
            <p:cNvSpPr/>
            <p:nvPr/>
          </p:nvSpPr>
          <p:spPr>
            <a:xfrm>
              <a:off x="6189120" y="1626840"/>
              <a:ext cx="3714480" cy="4113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The lifetime of 120 projector bulbs was measured in a laboratory. The graph shows the cumulative frequency curve for the results. Use the graph to find: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(a) The median lifetime of a bulb.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(b) The number of bulbs that had a lifetime of between 200 and 400 hours?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(c) After how many hours were 80% of the bulbs dead?.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(d) What was the shortest lifetime of a bulb?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44" name="Group 236"/>
            <p:cNvGrpSpPr/>
            <p:nvPr/>
          </p:nvGrpSpPr>
          <p:grpSpPr>
            <a:xfrm>
              <a:off x="1286640" y="1479240"/>
              <a:ext cx="4947840" cy="4982400"/>
              <a:chOff x="1286640" y="1479240"/>
              <a:chExt cx="4947840" cy="4982400"/>
            </a:xfrm>
          </p:grpSpPr>
          <p:sp>
            <p:nvSpPr>
              <p:cNvPr id="1445" name="Text Box 237"/>
              <p:cNvSpPr/>
              <p:nvPr/>
            </p:nvSpPr>
            <p:spPr>
              <a:xfrm>
                <a:off x="5706360" y="5706720"/>
                <a:ext cx="528120" cy="3664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46" name="Freeform 238"/>
              <p:cNvSpPr/>
              <p:nvPr/>
            </p:nvSpPr>
            <p:spPr>
              <a:xfrm>
                <a:off x="2802960" y="2207880"/>
                <a:ext cx="2638080" cy="3452400"/>
              </a:xfrm>
              <a:custGeom>
                <a:avLst/>
                <a:gdLst>
                  <a:gd name="textAreaLeft" fmla="*/ 0 w 2638080"/>
                  <a:gd name="textAreaRight" fmla="*/ 2638440 w 2638080"/>
                  <a:gd name="textAreaTop" fmla="*/ 0 h 3452400"/>
                  <a:gd name="textAreaBottom" fmla="*/ 3452760 h 3452400"/>
                </a:gdLst>
                <a:ahLst/>
                <a:rect l="textAreaLeft" t="textAreaTop" r="textAreaRight" b="textAreaBottom"/>
                <a:pathLst>
                  <a:path w="1662" h="2175">
                    <a:moveTo>
                      <a:pt x="0" y="2175"/>
                    </a:moveTo>
                    <a:cubicBezTo>
                      <a:pt x="92" y="2125"/>
                      <a:pt x="185" y="2076"/>
                      <a:pt x="277" y="1996"/>
                    </a:cubicBezTo>
                    <a:cubicBezTo>
                      <a:pt x="368" y="1915"/>
                      <a:pt x="458" y="1871"/>
                      <a:pt x="549" y="1691"/>
                    </a:cubicBezTo>
                    <a:cubicBezTo>
                      <a:pt x="641" y="1511"/>
                      <a:pt x="734" y="1118"/>
                      <a:pt x="826" y="914"/>
                    </a:cubicBezTo>
                    <a:cubicBezTo>
                      <a:pt x="917" y="710"/>
                      <a:pt x="1007" y="590"/>
                      <a:pt x="1098" y="466"/>
                    </a:cubicBezTo>
                    <a:cubicBezTo>
                      <a:pt x="1190" y="343"/>
                      <a:pt x="1281" y="251"/>
                      <a:pt x="1375" y="173"/>
                    </a:cubicBezTo>
                    <a:cubicBezTo>
                      <a:pt x="1469" y="95"/>
                      <a:pt x="1602" y="36"/>
                      <a:pt x="1662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47" name="Rectangle 239"/>
              <p:cNvSpPr/>
              <p:nvPr/>
            </p:nvSpPr>
            <p:spPr>
              <a:xfrm>
                <a:off x="226152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48" name="Rectangle 240"/>
              <p:cNvSpPr/>
              <p:nvPr/>
            </p:nvSpPr>
            <p:spPr>
              <a:xfrm>
                <a:off x="2526480" y="16286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49" name="Rectangle 241"/>
              <p:cNvSpPr/>
              <p:nvPr/>
            </p:nvSpPr>
            <p:spPr>
              <a:xfrm>
                <a:off x="279000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0" name="Rectangle 242"/>
              <p:cNvSpPr/>
              <p:nvPr/>
            </p:nvSpPr>
            <p:spPr>
              <a:xfrm>
                <a:off x="305532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1" name="Rectangle 243"/>
              <p:cNvSpPr/>
              <p:nvPr/>
            </p:nvSpPr>
            <p:spPr>
              <a:xfrm>
                <a:off x="332028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2" name="Rectangle 244"/>
              <p:cNvSpPr/>
              <p:nvPr/>
            </p:nvSpPr>
            <p:spPr>
              <a:xfrm>
                <a:off x="3585600" y="16286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3" name="Rectangle 245"/>
              <p:cNvSpPr/>
              <p:nvPr/>
            </p:nvSpPr>
            <p:spPr>
              <a:xfrm>
                <a:off x="384912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4" name="Rectangle 246"/>
              <p:cNvSpPr/>
              <p:nvPr/>
            </p:nvSpPr>
            <p:spPr>
              <a:xfrm>
                <a:off x="411408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5" name="Rectangle 247"/>
              <p:cNvSpPr/>
              <p:nvPr/>
            </p:nvSpPr>
            <p:spPr>
              <a:xfrm>
                <a:off x="437940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6" name="Rectangle 248"/>
              <p:cNvSpPr/>
              <p:nvPr/>
            </p:nvSpPr>
            <p:spPr>
              <a:xfrm>
                <a:off x="4644360" y="16286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7" name="Rectangle 249"/>
              <p:cNvSpPr/>
              <p:nvPr/>
            </p:nvSpPr>
            <p:spPr>
              <a:xfrm>
                <a:off x="490788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8" name="Rectangle 250"/>
              <p:cNvSpPr/>
              <p:nvPr/>
            </p:nvSpPr>
            <p:spPr>
              <a:xfrm>
                <a:off x="5172840" y="162864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59" name="Rectangle 251"/>
              <p:cNvSpPr/>
              <p:nvPr/>
            </p:nvSpPr>
            <p:spPr>
              <a:xfrm>
                <a:off x="5438160" y="16286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0" name="Rectangle 252"/>
              <p:cNvSpPr/>
              <p:nvPr/>
            </p:nvSpPr>
            <p:spPr>
              <a:xfrm>
                <a:off x="226152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1" name="Rectangle 253"/>
              <p:cNvSpPr/>
              <p:nvPr/>
            </p:nvSpPr>
            <p:spPr>
              <a:xfrm>
                <a:off x="2526480" y="19159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2" name="Rectangle 254"/>
              <p:cNvSpPr/>
              <p:nvPr/>
            </p:nvSpPr>
            <p:spPr>
              <a:xfrm>
                <a:off x="279000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3" name="Rectangle 255"/>
              <p:cNvSpPr/>
              <p:nvPr/>
            </p:nvSpPr>
            <p:spPr>
              <a:xfrm>
                <a:off x="305532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4" name="Rectangle 256"/>
              <p:cNvSpPr/>
              <p:nvPr/>
            </p:nvSpPr>
            <p:spPr>
              <a:xfrm>
                <a:off x="332028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5" name="Rectangle 257"/>
              <p:cNvSpPr/>
              <p:nvPr/>
            </p:nvSpPr>
            <p:spPr>
              <a:xfrm>
                <a:off x="3585600" y="19159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6" name="Rectangle 258"/>
              <p:cNvSpPr/>
              <p:nvPr/>
            </p:nvSpPr>
            <p:spPr>
              <a:xfrm>
                <a:off x="384912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7" name="Rectangle 259"/>
              <p:cNvSpPr/>
              <p:nvPr/>
            </p:nvSpPr>
            <p:spPr>
              <a:xfrm>
                <a:off x="411408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8" name="Rectangle 260"/>
              <p:cNvSpPr/>
              <p:nvPr/>
            </p:nvSpPr>
            <p:spPr>
              <a:xfrm>
                <a:off x="437940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69" name="Rectangle 261"/>
              <p:cNvSpPr/>
              <p:nvPr/>
            </p:nvSpPr>
            <p:spPr>
              <a:xfrm>
                <a:off x="4644360" y="19159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0" name="Rectangle 262"/>
              <p:cNvSpPr/>
              <p:nvPr/>
            </p:nvSpPr>
            <p:spPr>
              <a:xfrm>
                <a:off x="490788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1" name="Rectangle 263"/>
              <p:cNvSpPr/>
              <p:nvPr/>
            </p:nvSpPr>
            <p:spPr>
              <a:xfrm>
                <a:off x="5172840" y="191592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2" name="Rectangle 264"/>
              <p:cNvSpPr/>
              <p:nvPr/>
            </p:nvSpPr>
            <p:spPr>
              <a:xfrm>
                <a:off x="5438160" y="19159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3" name="Rectangle 265"/>
              <p:cNvSpPr/>
              <p:nvPr/>
            </p:nvSpPr>
            <p:spPr>
              <a:xfrm>
                <a:off x="226152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4" name="Rectangle 266"/>
              <p:cNvSpPr/>
              <p:nvPr/>
            </p:nvSpPr>
            <p:spPr>
              <a:xfrm>
                <a:off x="2526480" y="2205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5" name="Rectangle 267"/>
              <p:cNvSpPr/>
              <p:nvPr/>
            </p:nvSpPr>
            <p:spPr>
              <a:xfrm>
                <a:off x="279000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6" name="Rectangle 268"/>
              <p:cNvSpPr/>
              <p:nvPr/>
            </p:nvSpPr>
            <p:spPr>
              <a:xfrm>
                <a:off x="305532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7" name="Rectangle 269"/>
              <p:cNvSpPr/>
              <p:nvPr/>
            </p:nvSpPr>
            <p:spPr>
              <a:xfrm>
                <a:off x="332028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8" name="Rectangle 270"/>
              <p:cNvSpPr/>
              <p:nvPr/>
            </p:nvSpPr>
            <p:spPr>
              <a:xfrm>
                <a:off x="3585600" y="2205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79" name="Rectangle 271"/>
              <p:cNvSpPr/>
              <p:nvPr/>
            </p:nvSpPr>
            <p:spPr>
              <a:xfrm>
                <a:off x="384912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0" name="Rectangle 272"/>
              <p:cNvSpPr/>
              <p:nvPr/>
            </p:nvSpPr>
            <p:spPr>
              <a:xfrm>
                <a:off x="411408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1" name="Rectangle 273"/>
              <p:cNvSpPr/>
              <p:nvPr/>
            </p:nvSpPr>
            <p:spPr>
              <a:xfrm>
                <a:off x="437940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2" name="Rectangle 274"/>
              <p:cNvSpPr/>
              <p:nvPr/>
            </p:nvSpPr>
            <p:spPr>
              <a:xfrm>
                <a:off x="4644360" y="2205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3" name="Rectangle 275"/>
              <p:cNvSpPr/>
              <p:nvPr/>
            </p:nvSpPr>
            <p:spPr>
              <a:xfrm>
                <a:off x="490788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4" name="Rectangle 276"/>
              <p:cNvSpPr/>
              <p:nvPr/>
            </p:nvSpPr>
            <p:spPr>
              <a:xfrm>
                <a:off x="5172840" y="2205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5" name="Rectangle 277"/>
              <p:cNvSpPr/>
              <p:nvPr/>
            </p:nvSpPr>
            <p:spPr>
              <a:xfrm>
                <a:off x="5438160" y="2205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6" name="Rectangle 278"/>
              <p:cNvSpPr/>
              <p:nvPr/>
            </p:nvSpPr>
            <p:spPr>
              <a:xfrm>
                <a:off x="226152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7" name="Rectangle 279"/>
              <p:cNvSpPr/>
              <p:nvPr/>
            </p:nvSpPr>
            <p:spPr>
              <a:xfrm>
                <a:off x="2526480" y="2492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8" name="Rectangle 280"/>
              <p:cNvSpPr/>
              <p:nvPr/>
            </p:nvSpPr>
            <p:spPr>
              <a:xfrm>
                <a:off x="279000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89" name="Rectangle 281"/>
              <p:cNvSpPr/>
              <p:nvPr/>
            </p:nvSpPr>
            <p:spPr>
              <a:xfrm>
                <a:off x="305532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0" name="Rectangle 282"/>
              <p:cNvSpPr/>
              <p:nvPr/>
            </p:nvSpPr>
            <p:spPr>
              <a:xfrm>
                <a:off x="332028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1" name="Rectangle 283"/>
              <p:cNvSpPr/>
              <p:nvPr/>
            </p:nvSpPr>
            <p:spPr>
              <a:xfrm>
                <a:off x="3585600" y="2492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2" name="Rectangle 284"/>
              <p:cNvSpPr/>
              <p:nvPr/>
            </p:nvSpPr>
            <p:spPr>
              <a:xfrm>
                <a:off x="384912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3" name="Rectangle 285"/>
              <p:cNvSpPr/>
              <p:nvPr/>
            </p:nvSpPr>
            <p:spPr>
              <a:xfrm>
                <a:off x="411408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4" name="Rectangle 286"/>
              <p:cNvSpPr/>
              <p:nvPr/>
            </p:nvSpPr>
            <p:spPr>
              <a:xfrm>
                <a:off x="437940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5" name="Rectangle 287"/>
              <p:cNvSpPr/>
              <p:nvPr/>
            </p:nvSpPr>
            <p:spPr>
              <a:xfrm>
                <a:off x="4644360" y="2492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6" name="Rectangle 288"/>
              <p:cNvSpPr/>
              <p:nvPr/>
            </p:nvSpPr>
            <p:spPr>
              <a:xfrm>
                <a:off x="490788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7" name="Rectangle 289"/>
              <p:cNvSpPr/>
              <p:nvPr/>
            </p:nvSpPr>
            <p:spPr>
              <a:xfrm>
                <a:off x="5172840" y="2492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8" name="Rectangle 290"/>
              <p:cNvSpPr/>
              <p:nvPr/>
            </p:nvSpPr>
            <p:spPr>
              <a:xfrm>
                <a:off x="5438160" y="2492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99" name="Rectangle 291"/>
              <p:cNvSpPr/>
              <p:nvPr/>
            </p:nvSpPr>
            <p:spPr>
              <a:xfrm>
                <a:off x="226152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0" name="Rectangle 292"/>
              <p:cNvSpPr/>
              <p:nvPr/>
            </p:nvSpPr>
            <p:spPr>
              <a:xfrm>
                <a:off x="2526480" y="2781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1" name="Rectangle 293"/>
              <p:cNvSpPr/>
              <p:nvPr/>
            </p:nvSpPr>
            <p:spPr>
              <a:xfrm>
                <a:off x="279000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2" name="Rectangle 294"/>
              <p:cNvSpPr/>
              <p:nvPr/>
            </p:nvSpPr>
            <p:spPr>
              <a:xfrm>
                <a:off x="305532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3" name="Rectangle 295"/>
              <p:cNvSpPr/>
              <p:nvPr/>
            </p:nvSpPr>
            <p:spPr>
              <a:xfrm>
                <a:off x="332028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4" name="Rectangle 296"/>
              <p:cNvSpPr/>
              <p:nvPr/>
            </p:nvSpPr>
            <p:spPr>
              <a:xfrm>
                <a:off x="3585600" y="2781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5" name="Rectangle 297"/>
              <p:cNvSpPr/>
              <p:nvPr/>
            </p:nvSpPr>
            <p:spPr>
              <a:xfrm>
                <a:off x="384912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6" name="Rectangle 298"/>
              <p:cNvSpPr/>
              <p:nvPr/>
            </p:nvSpPr>
            <p:spPr>
              <a:xfrm>
                <a:off x="411408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7" name="Rectangle 299"/>
              <p:cNvSpPr/>
              <p:nvPr/>
            </p:nvSpPr>
            <p:spPr>
              <a:xfrm>
                <a:off x="437940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8" name="Rectangle 300"/>
              <p:cNvSpPr/>
              <p:nvPr/>
            </p:nvSpPr>
            <p:spPr>
              <a:xfrm>
                <a:off x="4644360" y="2781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09" name="Rectangle 301"/>
              <p:cNvSpPr/>
              <p:nvPr/>
            </p:nvSpPr>
            <p:spPr>
              <a:xfrm>
                <a:off x="490788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0" name="Rectangle 302"/>
              <p:cNvSpPr/>
              <p:nvPr/>
            </p:nvSpPr>
            <p:spPr>
              <a:xfrm>
                <a:off x="5172840" y="278100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1" name="Rectangle 303"/>
              <p:cNvSpPr/>
              <p:nvPr/>
            </p:nvSpPr>
            <p:spPr>
              <a:xfrm>
                <a:off x="5438160" y="2781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2" name="Rectangle 304"/>
              <p:cNvSpPr/>
              <p:nvPr/>
            </p:nvSpPr>
            <p:spPr>
              <a:xfrm>
                <a:off x="226152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3" name="Rectangle 305"/>
              <p:cNvSpPr/>
              <p:nvPr/>
            </p:nvSpPr>
            <p:spPr>
              <a:xfrm>
                <a:off x="2526480" y="3068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4" name="Rectangle 306"/>
              <p:cNvSpPr/>
              <p:nvPr/>
            </p:nvSpPr>
            <p:spPr>
              <a:xfrm>
                <a:off x="279000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5" name="Rectangle 307"/>
              <p:cNvSpPr/>
              <p:nvPr/>
            </p:nvSpPr>
            <p:spPr>
              <a:xfrm>
                <a:off x="305532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6" name="Rectangle 308"/>
              <p:cNvSpPr/>
              <p:nvPr/>
            </p:nvSpPr>
            <p:spPr>
              <a:xfrm>
                <a:off x="332028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7" name="Rectangle 309"/>
              <p:cNvSpPr/>
              <p:nvPr/>
            </p:nvSpPr>
            <p:spPr>
              <a:xfrm>
                <a:off x="3585600" y="3068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8" name="Rectangle 310"/>
              <p:cNvSpPr/>
              <p:nvPr/>
            </p:nvSpPr>
            <p:spPr>
              <a:xfrm>
                <a:off x="384912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19" name="Rectangle 311"/>
              <p:cNvSpPr/>
              <p:nvPr/>
            </p:nvSpPr>
            <p:spPr>
              <a:xfrm>
                <a:off x="411408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0" name="Rectangle 312"/>
              <p:cNvSpPr/>
              <p:nvPr/>
            </p:nvSpPr>
            <p:spPr>
              <a:xfrm>
                <a:off x="437940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1" name="Rectangle 313"/>
              <p:cNvSpPr/>
              <p:nvPr/>
            </p:nvSpPr>
            <p:spPr>
              <a:xfrm>
                <a:off x="4644360" y="3068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2" name="Rectangle 314"/>
              <p:cNvSpPr/>
              <p:nvPr/>
            </p:nvSpPr>
            <p:spPr>
              <a:xfrm>
                <a:off x="490788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3" name="Rectangle 315"/>
              <p:cNvSpPr/>
              <p:nvPr/>
            </p:nvSpPr>
            <p:spPr>
              <a:xfrm>
                <a:off x="5172840" y="306828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4" name="Rectangle 316"/>
              <p:cNvSpPr/>
              <p:nvPr/>
            </p:nvSpPr>
            <p:spPr>
              <a:xfrm>
                <a:off x="5438160" y="3068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5" name="Rectangle 317"/>
              <p:cNvSpPr/>
              <p:nvPr/>
            </p:nvSpPr>
            <p:spPr>
              <a:xfrm>
                <a:off x="226152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6" name="Rectangle 318"/>
              <p:cNvSpPr/>
              <p:nvPr/>
            </p:nvSpPr>
            <p:spPr>
              <a:xfrm>
                <a:off x="2526480" y="33573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7" name="Rectangle 319"/>
              <p:cNvSpPr/>
              <p:nvPr/>
            </p:nvSpPr>
            <p:spPr>
              <a:xfrm>
                <a:off x="279000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8" name="Rectangle 320"/>
              <p:cNvSpPr/>
              <p:nvPr/>
            </p:nvSpPr>
            <p:spPr>
              <a:xfrm>
                <a:off x="305532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29" name="Rectangle 321"/>
              <p:cNvSpPr/>
              <p:nvPr/>
            </p:nvSpPr>
            <p:spPr>
              <a:xfrm>
                <a:off x="332028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0" name="Rectangle 322"/>
              <p:cNvSpPr/>
              <p:nvPr/>
            </p:nvSpPr>
            <p:spPr>
              <a:xfrm>
                <a:off x="3585600" y="33573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1" name="Rectangle 323"/>
              <p:cNvSpPr/>
              <p:nvPr/>
            </p:nvSpPr>
            <p:spPr>
              <a:xfrm>
                <a:off x="384912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2" name="Rectangle 324"/>
              <p:cNvSpPr/>
              <p:nvPr/>
            </p:nvSpPr>
            <p:spPr>
              <a:xfrm>
                <a:off x="411408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3" name="Rectangle 325"/>
              <p:cNvSpPr/>
              <p:nvPr/>
            </p:nvSpPr>
            <p:spPr>
              <a:xfrm>
                <a:off x="437940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4" name="Rectangle 326"/>
              <p:cNvSpPr/>
              <p:nvPr/>
            </p:nvSpPr>
            <p:spPr>
              <a:xfrm>
                <a:off x="4644360" y="33573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5" name="Rectangle 327"/>
              <p:cNvSpPr/>
              <p:nvPr/>
            </p:nvSpPr>
            <p:spPr>
              <a:xfrm>
                <a:off x="490788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6" name="Rectangle 328"/>
              <p:cNvSpPr/>
              <p:nvPr/>
            </p:nvSpPr>
            <p:spPr>
              <a:xfrm>
                <a:off x="5172840" y="335736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7" name="Rectangle 329"/>
              <p:cNvSpPr/>
              <p:nvPr/>
            </p:nvSpPr>
            <p:spPr>
              <a:xfrm>
                <a:off x="5438160" y="33573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8" name="Rectangle 330"/>
              <p:cNvSpPr/>
              <p:nvPr/>
            </p:nvSpPr>
            <p:spPr>
              <a:xfrm>
                <a:off x="226152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39" name="Rectangle 331"/>
              <p:cNvSpPr/>
              <p:nvPr/>
            </p:nvSpPr>
            <p:spPr>
              <a:xfrm>
                <a:off x="2526480" y="36446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0" name="Rectangle 332"/>
              <p:cNvSpPr/>
              <p:nvPr/>
            </p:nvSpPr>
            <p:spPr>
              <a:xfrm>
                <a:off x="279000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1" name="Rectangle 333"/>
              <p:cNvSpPr/>
              <p:nvPr/>
            </p:nvSpPr>
            <p:spPr>
              <a:xfrm>
                <a:off x="305532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2" name="Rectangle 334"/>
              <p:cNvSpPr/>
              <p:nvPr/>
            </p:nvSpPr>
            <p:spPr>
              <a:xfrm>
                <a:off x="332028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3" name="Rectangle 335"/>
              <p:cNvSpPr/>
              <p:nvPr/>
            </p:nvSpPr>
            <p:spPr>
              <a:xfrm>
                <a:off x="3585600" y="36446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4" name="Rectangle 336"/>
              <p:cNvSpPr/>
              <p:nvPr/>
            </p:nvSpPr>
            <p:spPr>
              <a:xfrm>
                <a:off x="384912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5" name="Rectangle 337"/>
              <p:cNvSpPr/>
              <p:nvPr/>
            </p:nvSpPr>
            <p:spPr>
              <a:xfrm>
                <a:off x="411408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6" name="Rectangle 338"/>
              <p:cNvSpPr/>
              <p:nvPr/>
            </p:nvSpPr>
            <p:spPr>
              <a:xfrm>
                <a:off x="437940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7" name="Rectangle 339"/>
              <p:cNvSpPr/>
              <p:nvPr/>
            </p:nvSpPr>
            <p:spPr>
              <a:xfrm>
                <a:off x="4644360" y="36446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8" name="Rectangle 340"/>
              <p:cNvSpPr/>
              <p:nvPr/>
            </p:nvSpPr>
            <p:spPr>
              <a:xfrm>
                <a:off x="490788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49" name="Rectangle 341"/>
              <p:cNvSpPr/>
              <p:nvPr/>
            </p:nvSpPr>
            <p:spPr>
              <a:xfrm>
                <a:off x="5172840" y="364464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0" name="Rectangle 342"/>
              <p:cNvSpPr/>
              <p:nvPr/>
            </p:nvSpPr>
            <p:spPr>
              <a:xfrm>
                <a:off x="5438160" y="36446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1" name="Rectangle 343"/>
              <p:cNvSpPr/>
              <p:nvPr/>
            </p:nvSpPr>
            <p:spPr>
              <a:xfrm>
                <a:off x="226152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2" name="Rectangle 344"/>
              <p:cNvSpPr/>
              <p:nvPr/>
            </p:nvSpPr>
            <p:spPr>
              <a:xfrm>
                <a:off x="2526480" y="3933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3" name="Rectangle 345"/>
              <p:cNvSpPr/>
              <p:nvPr/>
            </p:nvSpPr>
            <p:spPr>
              <a:xfrm>
                <a:off x="279000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4" name="Rectangle 346"/>
              <p:cNvSpPr/>
              <p:nvPr/>
            </p:nvSpPr>
            <p:spPr>
              <a:xfrm>
                <a:off x="305532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5" name="Rectangle 347"/>
              <p:cNvSpPr/>
              <p:nvPr/>
            </p:nvSpPr>
            <p:spPr>
              <a:xfrm>
                <a:off x="332028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6" name="Rectangle 348"/>
              <p:cNvSpPr/>
              <p:nvPr/>
            </p:nvSpPr>
            <p:spPr>
              <a:xfrm>
                <a:off x="3585600" y="3933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7" name="Rectangle 349"/>
              <p:cNvSpPr/>
              <p:nvPr/>
            </p:nvSpPr>
            <p:spPr>
              <a:xfrm>
                <a:off x="384912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8" name="Rectangle 350"/>
              <p:cNvSpPr/>
              <p:nvPr/>
            </p:nvSpPr>
            <p:spPr>
              <a:xfrm>
                <a:off x="411408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59" name="Rectangle 351"/>
              <p:cNvSpPr/>
              <p:nvPr/>
            </p:nvSpPr>
            <p:spPr>
              <a:xfrm>
                <a:off x="437940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0" name="Rectangle 352"/>
              <p:cNvSpPr/>
              <p:nvPr/>
            </p:nvSpPr>
            <p:spPr>
              <a:xfrm>
                <a:off x="4644360" y="3933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1" name="Rectangle 353"/>
              <p:cNvSpPr/>
              <p:nvPr/>
            </p:nvSpPr>
            <p:spPr>
              <a:xfrm>
                <a:off x="490788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2" name="Rectangle 354"/>
              <p:cNvSpPr/>
              <p:nvPr/>
            </p:nvSpPr>
            <p:spPr>
              <a:xfrm>
                <a:off x="5172840" y="3933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3" name="Rectangle 355"/>
              <p:cNvSpPr/>
              <p:nvPr/>
            </p:nvSpPr>
            <p:spPr>
              <a:xfrm>
                <a:off x="5438160" y="3933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4" name="Rectangle 356"/>
              <p:cNvSpPr/>
              <p:nvPr/>
            </p:nvSpPr>
            <p:spPr>
              <a:xfrm>
                <a:off x="226152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5" name="Rectangle 357"/>
              <p:cNvSpPr/>
              <p:nvPr/>
            </p:nvSpPr>
            <p:spPr>
              <a:xfrm>
                <a:off x="2526480" y="42210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6" name="Rectangle 358"/>
              <p:cNvSpPr/>
              <p:nvPr/>
            </p:nvSpPr>
            <p:spPr>
              <a:xfrm>
                <a:off x="279000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7" name="Rectangle 359"/>
              <p:cNvSpPr/>
              <p:nvPr/>
            </p:nvSpPr>
            <p:spPr>
              <a:xfrm>
                <a:off x="305532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8" name="Rectangle 360"/>
              <p:cNvSpPr/>
              <p:nvPr/>
            </p:nvSpPr>
            <p:spPr>
              <a:xfrm>
                <a:off x="332028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69" name="Rectangle 361"/>
              <p:cNvSpPr/>
              <p:nvPr/>
            </p:nvSpPr>
            <p:spPr>
              <a:xfrm>
                <a:off x="3585600" y="42210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0" name="Rectangle 362"/>
              <p:cNvSpPr/>
              <p:nvPr/>
            </p:nvSpPr>
            <p:spPr>
              <a:xfrm>
                <a:off x="384912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1" name="Rectangle 363"/>
              <p:cNvSpPr/>
              <p:nvPr/>
            </p:nvSpPr>
            <p:spPr>
              <a:xfrm>
                <a:off x="411408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2" name="Rectangle 364"/>
              <p:cNvSpPr/>
              <p:nvPr/>
            </p:nvSpPr>
            <p:spPr>
              <a:xfrm>
                <a:off x="437940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3" name="Rectangle 365"/>
              <p:cNvSpPr/>
              <p:nvPr/>
            </p:nvSpPr>
            <p:spPr>
              <a:xfrm>
                <a:off x="4644360" y="42210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4" name="Rectangle 366"/>
              <p:cNvSpPr/>
              <p:nvPr/>
            </p:nvSpPr>
            <p:spPr>
              <a:xfrm>
                <a:off x="490788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5" name="Rectangle 367"/>
              <p:cNvSpPr/>
              <p:nvPr/>
            </p:nvSpPr>
            <p:spPr>
              <a:xfrm>
                <a:off x="5172840" y="422100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6" name="Rectangle 368"/>
              <p:cNvSpPr/>
              <p:nvPr/>
            </p:nvSpPr>
            <p:spPr>
              <a:xfrm>
                <a:off x="5438160" y="42210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7" name="Rectangle 369"/>
              <p:cNvSpPr/>
              <p:nvPr/>
            </p:nvSpPr>
            <p:spPr>
              <a:xfrm>
                <a:off x="226152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8" name="Rectangle 370"/>
              <p:cNvSpPr/>
              <p:nvPr/>
            </p:nvSpPr>
            <p:spPr>
              <a:xfrm>
                <a:off x="2526480" y="4509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79" name="Rectangle 371"/>
              <p:cNvSpPr/>
              <p:nvPr/>
            </p:nvSpPr>
            <p:spPr>
              <a:xfrm>
                <a:off x="279000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0" name="Rectangle 372"/>
              <p:cNvSpPr/>
              <p:nvPr/>
            </p:nvSpPr>
            <p:spPr>
              <a:xfrm>
                <a:off x="305532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1" name="Rectangle 373"/>
              <p:cNvSpPr/>
              <p:nvPr/>
            </p:nvSpPr>
            <p:spPr>
              <a:xfrm>
                <a:off x="332028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2" name="Rectangle 374"/>
              <p:cNvSpPr/>
              <p:nvPr/>
            </p:nvSpPr>
            <p:spPr>
              <a:xfrm>
                <a:off x="3585600" y="4509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3" name="Rectangle 375"/>
              <p:cNvSpPr/>
              <p:nvPr/>
            </p:nvSpPr>
            <p:spPr>
              <a:xfrm>
                <a:off x="384912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4" name="Rectangle 376"/>
              <p:cNvSpPr/>
              <p:nvPr/>
            </p:nvSpPr>
            <p:spPr>
              <a:xfrm>
                <a:off x="411408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5" name="Rectangle 377"/>
              <p:cNvSpPr/>
              <p:nvPr/>
            </p:nvSpPr>
            <p:spPr>
              <a:xfrm>
                <a:off x="437940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6" name="Rectangle 378"/>
              <p:cNvSpPr/>
              <p:nvPr/>
            </p:nvSpPr>
            <p:spPr>
              <a:xfrm>
                <a:off x="4644360" y="4509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7" name="Rectangle 379"/>
              <p:cNvSpPr/>
              <p:nvPr/>
            </p:nvSpPr>
            <p:spPr>
              <a:xfrm>
                <a:off x="490788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8" name="Rectangle 380"/>
              <p:cNvSpPr/>
              <p:nvPr/>
            </p:nvSpPr>
            <p:spPr>
              <a:xfrm>
                <a:off x="5172840" y="450972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89" name="Rectangle 381"/>
              <p:cNvSpPr/>
              <p:nvPr/>
            </p:nvSpPr>
            <p:spPr>
              <a:xfrm>
                <a:off x="5438160" y="4509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0" name="Rectangle 382"/>
              <p:cNvSpPr/>
              <p:nvPr/>
            </p:nvSpPr>
            <p:spPr>
              <a:xfrm>
                <a:off x="226152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1" name="Rectangle 383"/>
              <p:cNvSpPr/>
              <p:nvPr/>
            </p:nvSpPr>
            <p:spPr>
              <a:xfrm>
                <a:off x="2526480" y="4797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2" name="Rectangle 384"/>
              <p:cNvSpPr/>
              <p:nvPr/>
            </p:nvSpPr>
            <p:spPr>
              <a:xfrm>
                <a:off x="279000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3" name="Rectangle 385"/>
              <p:cNvSpPr/>
              <p:nvPr/>
            </p:nvSpPr>
            <p:spPr>
              <a:xfrm>
                <a:off x="305532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4" name="Rectangle 386"/>
              <p:cNvSpPr/>
              <p:nvPr/>
            </p:nvSpPr>
            <p:spPr>
              <a:xfrm>
                <a:off x="332028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5" name="Rectangle 387"/>
              <p:cNvSpPr/>
              <p:nvPr/>
            </p:nvSpPr>
            <p:spPr>
              <a:xfrm>
                <a:off x="3585600" y="4797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6" name="Rectangle 388"/>
              <p:cNvSpPr/>
              <p:nvPr/>
            </p:nvSpPr>
            <p:spPr>
              <a:xfrm>
                <a:off x="384912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7" name="Rectangle 389"/>
              <p:cNvSpPr/>
              <p:nvPr/>
            </p:nvSpPr>
            <p:spPr>
              <a:xfrm>
                <a:off x="411408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8" name="Rectangle 390"/>
              <p:cNvSpPr/>
              <p:nvPr/>
            </p:nvSpPr>
            <p:spPr>
              <a:xfrm>
                <a:off x="437940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99" name="Rectangle 391"/>
              <p:cNvSpPr/>
              <p:nvPr/>
            </p:nvSpPr>
            <p:spPr>
              <a:xfrm>
                <a:off x="4644360" y="4797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0" name="Rectangle 392"/>
              <p:cNvSpPr/>
              <p:nvPr/>
            </p:nvSpPr>
            <p:spPr>
              <a:xfrm>
                <a:off x="490788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1" name="Rectangle 393"/>
              <p:cNvSpPr/>
              <p:nvPr/>
            </p:nvSpPr>
            <p:spPr>
              <a:xfrm>
                <a:off x="5172840" y="4797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2" name="Rectangle 394"/>
              <p:cNvSpPr/>
              <p:nvPr/>
            </p:nvSpPr>
            <p:spPr>
              <a:xfrm>
                <a:off x="5438160" y="4797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3" name="Rectangle 395"/>
              <p:cNvSpPr/>
              <p:nvPr/>
            </p:nvSpPr>
            <p:spPr>
              <a:xfrm>
                <a:off x="226152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4" name="Rectangle 396"/>
              <p:cNvSpPr/>
              <p:nvPr/>
            </p:nvSpPr>
            <p:spPr>
              <a:xfrm>
                <a:off x="2526480" y="50860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5" name="Rectangle 397"/>
              <p:cNvSpPr/>
              <p:nvPr/>
            </p:nvSpPr>
            <p:spPr>
              <a:xfrm>
                <a:off x="279000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6" name="Rectangle 398"/>
              <p:cNvSpPr/>
              <p:nvPr/>
            </p:nvSpPr>
            <p:spPr>
              <a:xfrm>
                <a:off x="305532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7" name="Rectangle 399"/>
              <p:cNvSpPr/>
              <p:nvPr/>
            </p:nvSpPr>
            <p:spPr>
              <a:xfrm>
                <a:off x="332028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8" name="Rectangle 400"/>
              <p:cNvSpPr/>
              <p:nvPr/>
            </p:nvSpPr>
            <p:spPr>
              <a:xfrm>
                <a:off x="3585600" y="50860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09" name="Rectangle 401"/>
              <p:cNvSpPr/>
              <p:nvPr/>
            </p:nvSpPr>
            <p:spPr>
              <a:xfrm>
                <a:off x="384912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0" name="Rectangle 402"/>
              <p:cNvSpPr/>
              <p:nvPr/>
            </p:nvSpPr>
            <p:spPr>
              <a:xfrm>
                <a:off x="411408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1" name="Rectangle 403"/>
              <p:cNvSpPr/>
              <p:nvPr/>
            </p:nvSpPr>
            <p:spPr>
              <a:xfrm>
                <a:off x="437940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2" name="Rectangle 404"/>
              <p:cNvSpPr/>
              <p:nvPr/>
            </p:nvSpPr>
            <p:spPr>
              <a:xfrm>
                <a:off x="4644360" y="50860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3" name="Rectangle 405"/>
              <p:cNvSpPr/>
              <p:nvPr/>
            </p:nvSpPr>
            <p:spPr>
              <a:xfrm>
                <a:off x="490788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4" name="Rectangle 406"/>
              <p:cNvSpPr/>
              <p:nvPr/>
            </p:nvSpPr>
            <p:spPr>
              <a:xfrm>
                <a:off x="5172840" y="5086080"/>
                <a:ext cx="26460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5" name="Rectangle 407"/>
              <p:cNvSpPr/>
              <p:nvPr/>
            </p:nvSpPr>
            <p:spPr>
              <a:xfrm>
                <a:off x="5438160" y="50860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6" name="Rectangle 408"/>
              <p:cNvSpPr/>
              <p:nvPr/>
            </p:nvSpPr>
            <p:spPr>
              <a:xfrm>
                <a:off x="226152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7" name="Rectangle 409"/>
              <p:cNvSpPr/>
              <p:nvPr/>
            </p:nvSpPr>
            <p:spPr>
              <a:xfrm>
                <a:off x="2526480" y="5373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8" name="Rectangle 410"/>
              <p:cNvSpPr/>
              <p:nvPr/>
            </p:nvSpPr>
            <p:spPr>
              <a:xfrm>
                <a:off x="279000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19" name="Rectangle 411"/>
              <p:cNvSpPr/>
              <p:nvPr/>
            </p:nvSpPr>
            <p:spPr>
              <a:xfrm>
                <a:off x="305532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0" name="Rectangle 412"/>
              <p:cNvSpPr/>
              <p:nvPr/>
            </p:nvSpPr>
            <p:spPr>
              <a:xfrm>
                <a:off x="332028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1" name="Rectangle 413"/>
              <p:cNvSpPr/>
              <p:nvPr/>
            </p:nvSpPr>
            <p:spPr>
              <a:xfrm>
                <a:off x="3585600" y="5373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2" name="Rectangle 414"/>
              <p:cNvSpPr/>
              <p:nvPr/>
            </p:nvSpPr>
            <p:spPr>
              <a:xfrm>
                <a:off x="384912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3" name="Rectangle 415"/>
              <p:cNvSpPr/>
              <p:nvPr/>
            </p:nvSpPr>
            <p:spPr>
              <a:xfrm>
                <a:off x="411408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4" name="Rectangle 416"/>
              <p:cNvSpPr/>
              <p:nvPr/>
            </p:nvSpPr>
            <p:spPr>
              <a:xfrm>
                <a:off x="437940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5" name="Rectangle 417"/>
              <p:cNvSpPr/>
              <p:nvPr/>
            </p:nvSpPr>
            <p:spPr>
              <a:xfrm>
                <a:off x="4644360" y="5373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6" name="Rectangle 418"/>
              <p:cNvSpPr/>
              <p:nvPr/>
            </p:nvSpPr>
            <p:spPr>
              <a:xfrm>
                <a:off x="490788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7" name="Rectangle 419"/>
              <p:cNvSpPr/>
              <p:nvPr/>
            </p:nvSpPr>
            <p:spPr>
              <a:xfrm>
                <a:off x="5172840" y="5373360"/>
                <a:ext cx="26460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8" name="Rectangle 420"/>
              <p:cNvSpPr/>
              <p:nvPr/>
            </p:nvSpPr>
            <p:spPr>
              <a:xfrm>
                <a:off x="5438160" y="5373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29" name="Text Box 421"/>
              <p:cNvSpPr/>
              <p:nvPr/>
            </p:nvSpPr>
            <p:spPr>
              <a:xfrm>
                <a:off x="1820160" y="489420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20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0" name="Text Box 422"/>
              <p:cNvSpPr/>
              <p:nvPr/>
            </p:nvSpPr>
            <p:spPr>
              <a:xfrm>
                <a:off x="1820160" y="431784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40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1" name="Text Box 423"/>
              <p:cNvSpPr/>
              <p:nvPr/>
            </p:nvSpPr>
            <p:spPr>
              <a:xfrm>
                <a:off x="1820160" y="374148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60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2" name="Text Box 424"/>
              <p:cNvSpPr/>
              <p:nvPr/>
            </p:nvSpPr>
            <p:spPr>
              <a:xfrm>
                <a:off x="1820160" y="316512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80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3" name="Text Box 425"/>
              <p:cNvSpPr/>
              <p:nvPr/>
            </p:nvSpPr>
            <p:spPr>
              <a:xfrm>
                <a:off x="1696320" y="2574720"/>
                <a:ext cx="89028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100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4" name="Text Box 426"/>
              <p:cNvSpPr/>
              <p:nvPr/>
            </p:nvSpPr>
            <p:spPr>
              <a:xfrm>
                <a:off x="1677240" y="2027160"/>
                <a:ext cx="75204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120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5" name="Text Box 427"/>
              <p:cNvSpPr/>
              <p:nvPr/>
            </p:nvSpPr>
            <p:spPr>
              <a:xfrm>
                <a:off x="1672560" y="1479240"/>
                <a:ext cx="67608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140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6" name="Text Box 428"/>
              <p:cNvSpPr/>
              <p:nvPr/>
            </p:nvSpPr>
            <p:spPr>
              <a:xfrm>
                <a:off x="1820160" y="5470200"/>
                <a:ext cx="528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7" name="Text Box 429"/>
              <p:cNvSpPr/>
              <p:nvPr/>
            </p:nvSpPr>
            <p:spPr>
              <a:xfrm rot="16200000">
                <a:off x="-135000" y="3418920"/>
                <a:ext cx="323820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1001"/>
                  </a:spcBef>
                </a:pPr>
                <a:r>
                  <a:rPr b="0" lang="en-US" sz="2000" spc="-1" strike="noStrike">
                    <a:solidFill>
                      <a:srgbClr val="000000"/>
                    </a:solidFill>
                    <a:latin typeface="Calibri"/>
                  </a:rPr>
                  <a:t>Cumulative Frequency</a:t>
                </a:r>
                <a:endParaRPr b="0" lang="en-US" sz="2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8" name="Text Box 430"/>
              <p:cNvSpPr/>
              <p:nvPr/>
            </p:nvSpPr>
            <p:spPr>
              <a:xfrm>
                <a:off x="2493360" y="5698800"/>
                <a:ext cx="7567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100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9" name="Text Box 431"/>
              <p:cNvSpPr/>
              <p:nvPr/>
            </p:nvSpPr>
            <p:spPr>
              <a:xfrm>
                <a:off x="3028320" y="5702040"/>
                <a:ext cx="64404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200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0" name="Text Box 432"/>
              <p:cNvSpPr/>
              <p:nvPr/>
            </p:nvSpPr>
            <p:spPr>
              <a:xfrm>
                <a:off x="3547440" y="5706720"/>
                <a:ext cx="7045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300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1" name="Text Box 433"/>
              <p:cNvSpPr/>
              <p:nvPr/>
            </p:nvSpPr>
            <p:spPr>
              <a:xfrm>
                <a:off x="4071240" y="5678280"/>
                <a:ext cx="74412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400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2" name="Text Box 434"/>
              <p:cNvSpPr/>
              <p:nvPr/>
            </p:nvSpPr>
            <p:spPr>
              <a:xfrm>
                <a:off x="4647600" y="5694120"/>
                <a:ext cx="70920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500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3" name="Text Box 435"/>
              <p:cNvSpPr/>
              <p:nvPr/>
            </p:nvSpPr>
            <p:spPr>
              <a:xfrm>
                <a:off x="5157000" y="5692680"/>
                <a:ext cx="658440" cy="3639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Calibri"/>
                  </a:rPr>
                  <a:t>600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4" name="Text Box 436"/>
              <p:cNvSpPr/>
              <p:nvPr/>
            </p:nvSpPr>
            <p:spPr>
              <a:xfrm>
                <a:off x="2428200" y="6067080"/>
                <a:ext cx="376056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1001"/>
                  </a:spcBef>
                </a:pPr>
                <a:r>
                  <a:rPr b="0" lang="en-US" sz="2000" spc="-1" strike="noStrike">
                    <a:solidFill>
                      <a:srgbClr val="000000"/>
                    </a:solidFill>
                    <a:latin typeface="Calibri"/>
                  </a:rPr>
                  <a:t>Lifetime of bulbs in hours</a:t>
                </a:r>
                <a:endParaRPr b="0" lang="en-US" sz="2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5" name="Rectangle 437"/>
              <p:cNvSpPr/>
              <p:nvPr/>
            </p:nvSpPr>
            <p:spPr>
              <a:xfrm>
                <a:off x="5701680" y="162864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46" name="Rectangle 438"/>
              <p:cNvSpPr/>
              <p:nvPr/>
            </p:nvSpPr>
            <p:spPr>
              <a:xfrm>
                <a:off x="5701680" y="191592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47" name="Rectangle 439"/>
              <p:cNvSpPr/>
              <p:nvPr/>
            </p:nvSpPr>
            <p:spPr>
              <a:xfrm>
                <a:off x="5701680" y="2205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48" name="Rectangle 440"/>
              <p:cNvSpPr/>
              <p:nvPr/>
            </p:nvSpPr>
            <p:spPr>
              <a:xfrm>
                <a:off x="5701680" y="2492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49" name="Rectangle 441"/>
              <p:cNvSpPr/>
              <p:nvPr/>
            </p:nvSpPr>
            <p:spPr>
              <a:xfrm>
                <a:off x="5701680" y="278100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0" name="Rectangle 442"/>
              <p:cNvSpPr/>
              <p:nvPr/>
            </p:nvSpPr>
            <p:spPr>
              <a:xfrm>
                <a:off x="5701680" y="306828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1" name="Rectangle 443"/>
              <p:cNvSpPr/>
              <p:nvPr/>
            </p:nvSpPr>
            <p:spPr>
              <a:xfrm>
                <a:off x="5701680" y="335736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2" name="Rectangle 444"/>
              <p:cNvSpPr/>
              <p:nvPr/>
            </p:nvSpPr>
            <p:spPr>
              <a:xfrm>
                <a:off x="5701680" y="364464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3" name="Rectangle 445"/>
              <p:cNvSpPr/>
              <p:nvPr/>
            </p:nvSpPr>
            <p:spPr>
              <a:xfrm>
                <a:off x="5701680" y="3933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4" name="Rectangle 446"/>
              <p:cNvSpPr/>
              <p:nvPr/>
            </p:nvSpPr>
            <p:spPr>
              <a:xfrm>
                <a:off x="5701680" y="422100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5" name="Rectangle 447"/>
              <p:cNvSpPr/>
              <p:nvPr/>
            </p:nvSpPr>
            <p:spPr>
              <a:xfrm>
                <a:off x="5701680" y="450972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6" name="Rectangle 448"/>
              <p:cNvSpPr/>
              <p:nvPr/>
            </p:nvSpPr>
            <p:spPr>
              <a:xfrm>
                <a:off x="5701680" y="4797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7" name="Rectangle 449"/>
              <p:cNvSpPr/>
              <p:nvPr/>
            </p:nvSpPr>
            <p:spPr>
              <a:xfrm>
                <a:off x="5701680" y="5086080"/>
                <a:ext cx="263160" cy="2869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8" name="Rectangle 450"/>
              <p:cNvSpPr/>
              <p:nvPr/>
            </p:nvSpPr>
            <p:spPr>
              <a:xfrm>
                <a:off x="5701680" y="5373360"/>
                <a:ext cx="263160" cy="28872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59" name="Line 451"/>
              <p:cNvSpPr/>
              <p:nvPr/>
            </p:nvSpPr>
            <p:spPr>
              <a:xfrm>
                <a:off x="2791440" y="5622480"/>
                <a:ext cx="360" cy="763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1320" bIns="3132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60" name="Line 452"/>
              <p:cNvSpPr/>
              <p:nvPr/>
            </p:nvSpPr>
            <p:spPr>
              <a:xfrm>
                <a:off x="3318480" y="5624280"/>
                <a:ext cx="360" cy="759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960" bIns="3096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61" name="Line 453"/>
              <p:cNvSpPr/>
              <p:nvPr/>
            </p:nvSpPr>
            <p:spPr>
              <a:xfrm>
                <a:off x="3848760" y="5621040"/>
                <a:ext cx="360" cy="759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960" bIns="3096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62" name="Line 454"/>
              <p:cNvSpPr/>
              <p:nvPr/>
            </p:nvSpPr>
            <p:spPr>
              <a:xfrm>
                <a:off x="4377600" y="5621040"/>
                <a:ext cx="360" cy="759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960" bIns="3096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63" name="Line 455"/>
              <p:cNvSpPr/>
              <p:nvPr/>
            </p:nvSpPr>
            <p:spPr>
              <a:xfrm>
                <a:off x="4906080" y="5622480"/>
                <a:ext cx="360" cy="763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1320" bIns="3132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64" name="Line 456"/>
              <p:cNvSpPr/>
              <p:nvPr/>
            </p:nvSpPr>
            <p:spPr>
              <a:xfrm>
                <a:off x="5437800" y="5624280"/>
                <a:ext cx="360" cy="759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960" bIns="3096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sp>
        <p:nvSpPr>
          <p:cNvPr id="1665" name="TextBox 266"/>
          <p:cNvSpPr/>
          <p:nvPr/>
        </p:nvSpPr>
        <p:spPr>
          <a:xfrm>
            <a:off x="9426960" y="3065040"/>
            <a:ext cx="52848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330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TextBox 267"/>
          <p:cNvSpPr/>
          <p:nvPr/>
        </p:nvSpPr>
        <p:spPr>
          <a:xfrm>
            <a:off x="7911360" y="4361760"/>
            <a:ext cx="2267640" cy="912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80% of 120 = 96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Reading off from 96 gives about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440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7" name="TextBox 268"/>
          <p:cNvSpPr/>
          <p:nvPr/>
        </p:nvSpPr>
        <p:spPr>
          <a:xfrm>
            <a:off x="8395200" y="3846600"/>
            <a:ext cx="13100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87 – 12 =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TextBox 269"/>
          <p:cNvSpPr/>
          <p:nvPr/>
        </p:nvSpPr>
        <p:spPr>
          <a:xfrm>
            <a:off x="7974000" y="5530320"/>
            <a:ext cx="528480" cy="363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4" name="Shape 35"/>
          <p:cNvSpPr/>
          <p:nvPr/>
        </p:nvSpPr>
        <p:spPr>
          <a:xfrm>
            <a:off x="118440" y="8532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5" name="Text 36"/>
          <p:cNvSpPr/>
          <p:nvPr/>
        </p:nvSpPr>
        <p:spPr>
          <a:xfrm>
            <a:off x="118440" y="867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6" name="Text 37"/>
          <p:cNvSpPr/>
          <p:nvPr/>
        </p:nvSpPr>
        <p:spPr>
          <a:xfrm>
            <a:off x="756000" y="6480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" name="Text 38"/>
          <p:cNvSpPr/>
          <p:nvPr/>
        </p:nvSpPr>
        <p:spPr>
          <a:xfrm>
            <a:off x="667080" y="33912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Shape 39"/>
          <p:cNvSpPr/>
          <p:nvPr/>
        </p:nvSpPr>
        <p:spPr>
          <a:xfrm>
            <a:off x="2537280" y="339120"/>
            <a:ext cx="9507960" cy="628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Slide Number Placeholder 3"/>
          <p:cNvSpPr/>
          <p:nvPr/>
        </p:nvSpPr>
        <p:spPr>
          <a:xfrm>
            <a:off x="9763920" y="625680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8F2E0307-495F-46E6-9797-3F7C2CE3025D}" type="slidenum">
              <a:rPr b="0" lang="en-US" sz="14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Line 3"/>
          <p:cNvSpPr/>
          <p:nvPr/>
        </p:nvSpPr>
        <p:spPr>
          <a:xfrm flipV="1">
            <a:off x="4012200" y="633600"/>
            <a:ext cx="360" cy="5113440"/>
          </a:xfrm>
          <a:prstGeom prst="line">
            <a:avLst/>
          </a:prstGeom>
          <a:ln w="5715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1" name="Text Box 4"/>
          <p:cNvSpPr/>
          <p:nvPr/>
        </p:nvSpPr>
        <p:spPr>
          <a:xfrm>
            <a:off x="4085280" y="6105960"/>
            <a:ext cx="8135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799"/>
              </a:spcBef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2" name="Text Box 5"/>
          <p:cNvSpPr/>
          <p:nvPr/>
        </p:nvSpPr>
        <p:spPr>
          <a:xfrm>
            <a:off x="3796560" y="6105960"/>
            <a:ext cx="50414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799"/>
              </a:spcBef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3" name="Line 6"/>
          <p:cNvSpPr/>
          <p:nvPr/>
        </p:nvSpPr>
        <p:spPr>
          <a:xfrm>
            <a:off x="4012200" y="5747040"/>
            <a:ext cx="6985080" cy="360"/>
          </a:xfrm>
          <a:prstGeom prst="line">
            <a:avLst/>
          </a:prstGeom>
          <a:ln w="5715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4" name="Text Box 7"/>
          <p:cNvSpPr/>
          <p:nvPr/>
        </p:nvSpPr>
        <p:spPr>
          <a:xfrm>
            <a:off x="3869640" y="5889960"/>
            <a:ext cx="6840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0      5     10    15    20    25    30    35    40    45    50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5" name="Line 8"/>
          <p:cNvSpPr/>
          <p:nvPr/>
        </p:nvSpPr>
        <p:spPr>
          <a:xfrm>
            <a:off x="401220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6" name="Line 9"/>
          <p:cNvSpPr/>
          <p:nvPr/>
        </p:nvSpPr>
        <p:spPr>
          <a:xfrm>
            <a:off x="466128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7" name="Line 10"/>
          <p:cNvSpPr/>
          <p:nvPr/>
        </p:nvSpPr>
        <p:spPr>
          <a:xfrm>
            <a:off x="530928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8" name="Line 11"/>
          <p:cNvSpPr/>
          <p:nvPr/>
        </p:nvSpPr>
        <p:spPr>
          <a:xfrm>
            <a:off x="595692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9" name="Line 12"/>
          <p:cNvSpPr/>
          <p:nvPr/>
        </p:nvSpPr>
        <p:spPr>
          <a:xfrm>
            <a:off x="660456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0" name="Line 13"/>
          <p:cNvSpPr/>
          <p:nvPr/>
        </p:nvSpPr>
        <p:spPr>
          <a:xfrm>
            <a:off x="718092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1" name="Line 14"/>
          <p:cNvSpPr/>
          <p:nvPr/>
        </p:nvSpPr>
        <p:spPr>
          <a:xfrm>
            <a:off x="783000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2" name="Line 15"/>
          <p:cNvSpPr/>
          <p:nvPr/>
        </p:nvSpPr>
        <p:spPr>
          <a:xfrm>
            <a:off x="847764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3" name="Line 16"/>
          <p:cNvSpPr/>
          <p:nvPr/>
        </p:nvSpPr>
        <p:spPr>
          <a:xfrm>
            <a:off x="912564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4" name="Line 17"/>
          <p:cNvSpPr/>
          <p:nvPr/>
        </p:nvSpPr>
        <p:spPr>
          <a:xfrm>
            <a:off x="977328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5" name="Line 18"/>
          <p:cNvSpPr/>
          <p:nvPr/>
        </p:nvSpPr>
        <p:spPr>
          <a:xfrm>
            <a:off x="10349640" y="57470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6" name="Text Box 19"/>
          <p:cNvSpPr/>
          <p:nvPr/>
        </p:nvSpPr>
        <p:spPr>
          <a:xfrm>
            <a:off x="8404920" y="6179040"/>
            <a:ext cx="3744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</a:rPr>
              <a:t>Height of Tree (m)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Line 20"/>
          <p:cNvSpPr/>
          <p:nvPr/>
        </p:nvSpPr>
        <p:spPr>
          <a:xfrm flipH="1">
            <a:off x="3869280" y="574704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8" name="Line 21"/>
          <p:cNvSpPr/>
          <p:nvPr/>
        </p:nvSpPr>
        <p:spPr>
          <a:xfrm flipH="1">
            <a:off x="3869280" y="509760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9" name="Line 22"/>
          <p:cNvSpPr/>
          <p:nvPr/>
        </p:nvSpPr>
        <p:spPr>
          <a:xfrm flipH="1">
            <a:off x="3869280" y="444996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0" name="Line 23"/>
          <p:cNvSpPr/>
          <p:nvPr/>
        </p:nvSpPr>
        <p:spPr>
          <a:xfrm flipH="1">
            <a:off x="3869280" y="380232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1" name="Line 24"/>
          <p:cNvSpPr/>
          <p:nvPr/>
        </p:nvSpPr>
        <p:spPr>
          <a:xfrm flipH="1">
            <a:off x="3869280" y="315468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2" name="Line 25"/>
          <p:cNvSpPr/>
          <p:nvPr/>
        </p:nvSpPr>
        <p:spPr>
          <a:xfrm flipH="1">
            <a:off x="3869280" y="250524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3" name="Line 26"/>
          <p:cNvSpPr/>
          <p:nvPr/>
        </p:nvSpPr>
        <p:spPr>
          <a:xfrm flipH="1">
            <a:off x="3869280" y="192888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4" name="Line 27"/>
          <p:cNvSpPr/>
          <p:nvPr/>
        </p:nvSpPr>
        <p:spPr>
          <a:xfrm flipH="1">
            <a:off x="3869280" y="1281240"/>
            <a:ext cx="142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5" name="Text Box 28"/>
          <p:cNvSpPr/>
          <p:nvPr/>
        </p:nvSpPr>
        <p:spPr>
          <a:xfrm>
            <a:off x="3509280" y="201960"/>
            <a:ext cx="1079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</a:rPr>
              <a:t>C.F.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" name="Text Box 29"/>
          <p:cNvSpPr/>
          <p:nvPr/>
        </p:nvSpPr>
        <p:spPr>
          <a:xfrm>
            <a:off x="3221640" y="4881960"/>
            <a:ext cx="791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10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" name="Text Box 30"/>
          <p:cNvSpPr/>
          <p:nvPr/>
        </p:nvSpPr>
        <p:spPr>
          <a:xfrm>
            <a:off x="3221640" y="4234320"/>
            <a:ext cx="720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20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" name="Text Box 31"/>
          <p:cNvSpPr/>
          <p:nvPr/>
        </p:nvSpPr>
        <p:spPr>
          <a:xfrm>
            <a:off x="3293280" y="3586680"/>
            <a:ext cx="647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30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" name="Text Box 32"/>
          <p:cNvSpPr/>
          <p:nvPr/>
        </p:nvSpPr>
        <p:spPr>
          <a:xfrm>
            <a:off x="3221640" y="3010320"/>
            <a:ext cx="7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40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0" name="Text Box 33"/>
          <p:cNvSpPr/>
          <p:nvPr/>
        </p:nvSpPr>
        <p:spPr>
          <a:xfrm>
            <a:off x="3293280" y="2362680"/>
            <a:ext cx="647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50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Text Box 34"/>
          <p:cNvSpPr/>
          <p:nvPr/>
        </p:nvSpPr>
        <p:spPr>
          <a:xfrm>
            <a:off x="3148920" y="1713240"/>
            <a:ext cx="936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60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2" name="Text Box 35"/>
          <p:cNvSpPr/>
          <p:nvPr/>
        </p:nvSpPr>
        <p:spPr>
          <a:xfrm>
            <a:off x="3221640" y="1065600"/>
            <a:ext cx="790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70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3" name="Text Box 36"/>
          <p:cNvSpPr/>
          <p:nvPr/>
        </p:nvSpPr>
        <p:spPr>
          <a:xfrm>
            <a:off x="5022000" y="4955040"/>
            <a:ext cx="576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Text Box 37"/>
          <p:cNvSpPr/>
          <p:nvPr/>
        </p:nvSpPr>
        <p:spPr>
          <a:xfrm>
            <a:off x="5596560" y="4329360"/>
            <a:ext cx="71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Text Box 38"/>
          <p:cNvSpPr/>
          <p:nvPr/>
        </p:nvSpPr>
        <p:spPr>
          <a:xfrm>
            <a:off x="6030000" y="3657960"/>
            <a:ext cx="107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6" name="Text Box 39"/>
          <p:cNvSpPr/>
          <p:nvPr/>
        </p:nvSpPr>
        <p:spPr>
          <a:xfrm>
            <a:off x="6604560" y="2362680"/>
            <a:ext cx="122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7" name="Text Box 40"/>
          <p:cNvSpPr/>
          <p:nvPr/>
        </p:nvSpPr>
        <p:spPr>
          <a:xfrm>
            <a:off x="7541280" y="171324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8" name="Text Box 41"/>
          <p:cNvSpPr/>
          <p:nvPr/>
        </p:nvSpPr>
        <p:spPr>
          <a:xfrm>
            <a:off x="8046360" y="1354680"/>
            <a:ext cx="79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" name="Text Box 42"/>
          <p:cNvSpPr/>
          <p:nvPr/>
        </p:nvSpPr>
        <p:spPr>
          <a:xfrm>
            <a:off x="8694000" y="1209960"/>
            <a:ext cx="86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" name="Text Box 43"/>
          <p:cNvSpPr/>
          <p:nvPr/>
        </p:nvSpPr>
        <p:spPr>
          <a:xfrm>
            <a:off x="9341640" y="1065600"/>
            <a:ext cx="79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" name="Text Box 44"/>
          <p:cNvSpPr/>
          <p:nvPr/>
        </p:nvSpPr>
        <p:spPr>
          <a:xfrm>
            <a:off x="10133640" y="945000"/>
            <a:ext cx="57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2" name="Freeform 45"/>
          <p:cNvSpPr/>
          <p:nvPr/>
        </p:nvSpPr>
        <p:spPr>
          <a:xfrm>
            <a:off x="5309280" y="1138680"/>
            <a:ext cx="5111280" cy="4032000"/>
          </a:xfrm>
          <a:custGeom>
            <a:avLst/>
            <a:gdLst>
              <a:gd name="textAreaLeft" fmla="*/ 0 w 5111280"/>
              <a:gd name="textAreaRight" fmla="*/ 5111640 w 5111280"/>
              <a:gd name="textAreaTop" fmla="*/ 0 h 4032000"/>
              <a:gd name="textAreaBottom" fmla="*/ 4032360 h 4032000"/>
            </a:gdLst>
            <a:ahLst/>
            <a:rect l="textAreaLeft" t="textAreaTop" r="textAreaRight" b="textAreaBottom"/>
            <a:pathLst>
              <a:path w="3220" h="2540">
                <a:moveTo>
                  <a:pt x="0" y="2540"/>
                </a:moveTo>
                <a:cubicBezTo>
                  <a:pt x="139" y="2403"/>
                  <a:pt x="279" y="2267"/>
                  <a:pt x="408" y="2131"/>
                </a:cubicBezTo>
                <a:cubicBezTo>
                  <a:pt x="537" y="1995"/>
                  <a:pt x="643" y="1927"/>
                  <a:pt x="771" y="1723"/>
                </a:cubicBezTo>
                <a:cubicBezTo>
                  <a:pt x="899" y="1519"/>
                  <a:pt x="1043" y="1111"/>
                  <a:pt x="1179" y="907"/>
                </a:cubicBezTo>
                <a:cubicBezTo>
                  <a:pt x="1315" y="703"/>
                  <a:pt x="1460" y="604"/>
                  <a:pt x="1588" y="498"/>
                </a:cubicBezTo>
                <a:cubicBezTo>
                  <a:pt x="1716" y="392"/>
                  <a:pt x="1814" y="332"/>
                  <a:pt x="1950" y="272"/>
                </a:cubicBezTo>
                <a:cubicBezTo>
                  <a:pt x="2086" y="212"/>
                  <a:pt x="2268" y="166"/>
                  <a:pt x="2404" y="136"/>
                </a:cubicBezTo>
                <a:cubicBezTo>
                  <a:pt x="2540" y="106"/>
                  <a:pt x="2631" y="113"/>
                  <a:pt x="2767" y="90"/>
                </a:cubicBezTo>
                <a:cubicBezTo>
                  <a:pt x="2903" y="67"/>
                  <a:pt x="3145" y="15"/>
                  <a:pt x="3220" y="0"/>
                </a:cubicBezTo>
              </a:path>
            </a:pathLst>
          </a:custGeom>
          <a:noFill/>
          <a:ln w="38100">
            <a:solidFill>
              <a:srgbClr val="00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3" name="Line 46"/>
          <p:cNvSpPr/>
          <p:nvPr/>
        </p:nvSpPr>
        <p:spPr>
          <a:xfrm>
            <a:off x="4012200" y="3441960"/>
            <a:ext cx="2736720" cy="360"/>
          </a:xfrm>
          <a:prstGeom prst="line">
            <a:avLst/>
          </a:prstGeom>
          <a:ln w="381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4" name="Line 47"/>
          <p:cNvSpPr/>
          <p:nvPr/>
        </p:nvSpPr>
        <p:spPr>
          <a:xfrm>
            <a:off x="6748920" y="3441960"/>
            <a:ext cx="360" cy="2305080"/>
          </a:xfrm>
          <a:prstGeom prst="line">
            <a:avLst/>
          </a:prstGeom>
          <a:ln w="381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5" name="Rectangle 48"/>
          <p:cNvSpPr/>
          <p:nvPr/>
        </p:nvSpPr>
        <p:spPr>
          <a:xfrm>
            <a:off x="5885640" y="6179040"/>
            <a:ext cx="2376000" cy="47592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Median = 21.5 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6" name="Line 49"/>
          <p:cNvSpPr/>
          <p:nvPr/>
        </p:nvSpPr>
        <p:spPr>
          <a:xfrm>
            <a:off x="4012200" y="4594320"/>
            <a:ext cx="1873080" cy="36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7" name="Line 50"/>
          <p:cNvSpPr/>
          <p:nvPr/>
        </p:nvSpPr>
        <p:spPr>
          <a:xfrm>
            <a:off x="5885280" y="4594320"/>
            <a:ext cx="360" cy="115272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8" name="Text Box 51"/>
          <p:cNvSpPr/>
          <p:nvPr/>
        </p:nvSpPr>
        <p:spPr>
          <a:xfrm>
            <a:off x="3940920" y="6179040"/>
            <a:ext cx="1800000" cy="39456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L.Q. = 14.5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Line 52"/>
          <p:cNvSpPr/>
          <p:nvPr/>
        </p:nvSpPr>
        <p:spPr>
          <a:xfrm>
            <a:off x="4012200" y="2289240"/>
            <a:ext cx="3384360" cy="36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0" name="Line 53"/>
          <p:cNvSpPr/>
          <p:nvPr/>
        </p:nvSpPr>
        <p:spPr>
          <a:xfrm>
            <a:off x="7396560" y="2289240"/>
            <a:ext cx="360" cy="34578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1" name="Text Box 54"/>
          <p:cNvSpPr/>
          <p:nvPr/>
        </p:nvSpPr>
        <p:spPr>
          <a:xfrm>
            <a:off x="9125640" y="5026320"/>
            <a:ext cx="2303280" cy="39456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U.Q. = 26.5 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Text Box 55"/>
          <p:cNvSpPr/>
          <p:nvPr/>
        </p:nvSpPr>
        <p:spPr>
          <a:xfrm>
            <a:off x="9089280" y="3802320"/>
            <a:ext cx="2808000" cy="113148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Interquartile Range  26.5 – 14.5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= 12 m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Line 56"/>
          <p:cNvSpPr/>
          <p:nvPr/>
        </p:nvSpPr>
        <p:spPr>
          <a:xfrm flipV="1">
            <a:off x="8980920" y="1354320"/>
            <a:ext cx="360" cy="4392720"/>
          </a:xfrm>
          <a:prstGeom prst="line">
            <a:avLst/>
          </a:prstGeom>
          <a:ln w="38100">
            <a:solidFill>
              <a:srgbClr val="990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4" name="Line 57"/>
          <p:cNvSpPr/>
          <p:nvPr/>
        </p:nvSpPr>
        <p:spPr>
          <a:xfrm flipH="1">
            <a:off x="4012200" y="1354320"/>
            <a:ext cx="4968720" cy="360"/>
          </a:xfrm>
          <a:prstGeom prst="line">
            <a:avLst/>
          </a:prstGeom>
          <a:ln w="38100">
            <a:solidFill>
              <a:srgbClr val="990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5" name="Text Box 58"/>
          <p:cNvSpPr/>
          <p:nvPr/>
        </p:nvSpPr>
        <p:spPr>
          <a:xfrm>
            <a:off x="9054360" y="1786320"/>
            <a:ext cx="2842920" cy="394560"/>
          </a:xfrm>
          <a:prstGeom prst="rect">
            <a:avLst/>
          </a:prstGeom>
          <a:solidFill>
            <a:schemeClr val="bg1"/>
          </a:solidFill>
          <a:ln w="0">
            <a:solidFill>
              <a:srgbClr val="7030a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69 trees under 38 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" name="Line 59"/>
          <p:cNvSpPr/>
          <p:nvPr/>
        </p:nvSpPr>
        <p:spPr>
          <a:xfrm flipH="1">
            <a:off x="4012200" y="1138320"/>
            <a:ext cx="6408720" cy="360"/>
          </a:xfrm>
          <a:prstGeom prst="line">
            <a:avLst/>
          </a:prstGeom>
          <a:ln w="57150">
            <a:solidFill>
              <a:srgbClr val="660033"/>
            </a:solidFill>
            <a:prstDash val="dash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7" name="Line 60"/>
          <p:cNvSpPr/>
          <p:nvPr/>
        </p:nvSpPr>
        <p:spPr>
          <a:xfrm flipV="1">
            <a:off x="7325280" y="2406960"/>
            <a:ext cx="360" cy="3330360"/>
          </a:xfrm>
          <a:prstGeom prst="line">
            <a:avLst/>
          </a:prstGeom>
          <a:ln w="38100">
            <a:solidFill>
              <a:srgbClr val="990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8" name="Line 61"/>
          <p:cNvSpPr/>
          <p:nvPr/>
        </p:nvSpPr>
        <p:spPr>
          <a:xfrm flipH="1">
            <a:off x="3994560" y="2406960"/>
            <a:ext cx="3330720" cy="360"/>
          </a:xfrm>
          <a:prstGeom prst="line">
            <a:avLst/>
          </a:prstGeom>
          <a:ln w="38100">
            <a:solidFill>
              <a:srgbClr val="990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9" name="Line 62"/>
          <p:cNvSpPr/>
          <p:nvPr/>
        </p:nvSpPr>
        <p:spPr>
          <a:xfrm flipV="1">
            <a:off x="4220280" y="1138320"/>
            <a:ext cx="9360" cy="1268640"/>
          </a:xfrm>
          <a:prstGeom prst="line">
            <a:avLst/>
          </a:prstGeom>
          <a:ln w="57150">
            <a:solidFill>
              <a:srgbClr val="990033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0" name="Text Box 63"/>
          <p:cNvSpPr/>
          <p:nvPr/>
        </p:nvSpPr>
        <p:spPr>
          <a:xfrm>
            <a:off x="4301280" y="1497240"/>
            <a:ext cx="2808000" cy="394560"/>
          </a:xfrm>
          <a:prstGeom prst="rect">
            <a:avLst/>
          </a:prstGeom>
          <a:solidFill>
            <a:schemeClr val="bg1"/>
          </a:solidFill>
          <a:ln w="0">
            <a:solidFill>
              <a:srgbClr val="990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20 trees over 26 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7" dur="indefinite" restart="never" nodeType="tmRoot">
          <p:childTnLst>
            <p:seq>
              <p:cTn id="238" dur="indefinite" nodeType="mainSeq">
                <p:childTnLst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243" dur="500"/>
                                        <p:tgtEl>
                                          <p:spTgt spid="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247" dur="500"/>
                                        <p:tgtEl>
                                          <p:spTgt spid="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252" dur="5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500"/>
                            </p:stCondLst>
                            <p:childTnLst>
                              <p:par>
                                <p:cTn id="254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256" dur="5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000"/>
                            </p:stCondLst>
                            <p:childTnLst>
                              <p:par>
                                <p:cTn id="25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0" dur="500"/>
                                        <p:tgtEl>
                                          <p:spTgt spid="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500"/>
                            </p:stCondLst>
                            <p:childTnLst>
                              <p:par>
                                <p:cTn id="26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4" dur="500"/>
                                        <p:tgtEl>
                                          <p:spTgt spid="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269" dur="500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500"/>
                            </p:stCondLst>
                            <p:childTnLst>
                              <p:par>
                                <p:cTn id="271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273" dur="5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000"/>
                            </p:stCondLst>
                            <p:childTnLst>
                              <p:par>
                                <p:cTn id="275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7" dur="500" fill="hold"/>
                                        <p:tgtEl>
                                          <p:spTgt spid="1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8" dur="500" fill="hold"/>
                                        <p:tgtEl>
                                          <p:spTgt spid="1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9" dur="500"/>
                                        <p:tgtEl>
                                          <p:spTgt spid="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1500"/>
                            </p:stCondLst>
                            <p:childTnLst>
                              <p:par>
                                <p:cTn id="281" nodeType="after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283" dur="500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2000"/>
                            </p:stCondLst>
                            <p:childTnLst>
                              <p:par>
                                <p:cTn id="285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287" dur="500"/>
                                        <p:tgtEl>
                                          <p:spTgt spid="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2500"/>
                            </p:stCondLst>
                            <p:childTnLst>
                              <p:par>
                                <p:cTn id="289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1" dur="500" fill="hold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2" dur="500" fill="hold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3" dur="500"/>
                                        <p:tgtEl>
                                          <p:spTgt spid="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8" dur="5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303" dur="5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"/>
                            </p:stCondLst>
                            <p:childTnLst>
                              <p:par>
                                <p:cTn id="305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307" dur="500"/>
                                        <p:tgtEl>
                                          <p:spTgt spid="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1000"/>
                            </p:stCondLst>
                            <p:childTnLst>
                              <p:par>
                                <p:cTn id="30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1" dur="500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316" dur="500"/>
                                        <p:tgtEl>
                                          <p:spTgt spid="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500"/>
                            </p:stCondLst>
                            <p:childTnLst>
                              <p:par>
                                <p:cTn id="318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320" dur="500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2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4" dur="5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1500"/>
                            </p:stCondLst>
                            <p:childTnLst>
                              <p:par>
                                <p:cTn id="32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0" dur="5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8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9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0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1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Cumulative frequency is a running total — keep adding the next frequency.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2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3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The final cumulative frequency equals the total number of items, 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4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5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Plot each cumulative frequency at the UPPER boundary of its class; join with a smooth curve.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6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7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From the graph: median at n÷2, lower quartile at n÷4, upper quartile at 3n÷4.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8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9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IQR = UQ − LQ — the spread of the middle half.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0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1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read across from n÷2 (median), n÷4 (LQ) and 3n÷4 (UQ), then down to the value.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LibreOffice/24.2.7.2$Linux_X86_64 LibreOffice_project/420$Build-2</Application>
  <AppVersion>15.0000</AppVersion>
  <Words>1252</Words>
  <Paragraphs>331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2026-07-17T11:16:52Z</dcterms:created>
  <dc:creator>Zahra Sheikh Ali</dc:creator>
  <dc:description/>
  <dc:language>en-US</dc:language>
  <cp:lastModifiedBy>zahraa sheik ali</cp:lastModifiedBy>
  <dcterms:modified xsi:type="dcterms:W3CDTF">2026-08-06T16:37:44Z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Custom</vt:lpwstr>
  </property>
  <property fmtid="{D5CDD505-2E9C-101B-9397-08002B2CF9AE}" pid="4" name="Slides">
    <vt:r8>15</vt:r8>
  </property>
</Properties>
</file>